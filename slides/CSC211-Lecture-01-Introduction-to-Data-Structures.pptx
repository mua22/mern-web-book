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uinotes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023360" cy="4023360"/>
          </a:xfrm>
          <a:prstGeom prst="ellipse">
            <a:avLst/>
          </a:prstGeom>
          <a:solidFill>
            <a:srgbClr val="2FE6C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8B7FD9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Data Structures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080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402336" cy="402336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data and information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487168"/>
            <a:ext cx="402336" cy="402336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4414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types, and how they relate to data structures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236976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236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1912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data structure actually is, formally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3986784"/>
            <a:ext cx="402336" cy="402336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94106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algorithm is, and how it depends on the data structure underneath it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4736592"/>
            <a:ext cx="402336" cy="402336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736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6908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 structures exist, and a timed example showing how much the choice matters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" y="5486400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486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54406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reason about picking the right structure for a real application</a:t>
            </a:r>
            <a:endParaRPr lang="en-US" sz="1600" dirty="0"/>
          </a:p>
        </p:txBody>
      </p:sp>
      <p:sp>
        <p:nvSpPr>
          <p:cNvPr id="2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Information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raw, unprocessed facts with no meaning attached.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data that has been organized or interpreted so it becomes useful.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51460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1418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0392" y="2514600"/>
            <a:ext cx="3099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19980304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23360" y="3108960"/>
            <a:ext cx="502920" cy="914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26280" y="251460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8B7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99432" y="2514600"/>
            <a:ext cx="3099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4, 1998 (as YYYYMMDD)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0" y="3108960"/>
            <a:ext cx="502920" cy="914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275320" y="251460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2FE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48472" y="2514600"/>
            <a:ext cx="3099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enough to vote?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4297680"/>
            <a:ext cx="10607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44805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raw data means something different depending on context: 19980304 interpreted as a quantity is simply the number 19,980,304. A data structure's job is to hold the raw values AND preserve enough context (arrangement, field names, interface) that they can reliably become information again.</a:t>
            </a:r>
            <a:endParaRPr lang="en-US" sz="13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type tells the compiler what KIND of data a value is, and therefore what operations are legal on it and how much memory it needs.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83180" cy="3840480"/>
          </a:xfrm>
          <a:prstGeom prst="roundRect">
            <a:avLst>
              <a:gd name="adj" fmla="val 2832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48840"/>
            <a:ext cx="2583180" cy="502920"/>
          </a:xfrm>
          <a:prstGeom prst="roundRect">
            <a:avLst>
              <a:gd name="adj" fmla="val 14545"/>
            </a:avLst>
          </a:prstGeom>
          <a:solidFill>
            <a:srgbClr val="2FE6C4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404872"/>
            <a:ext cx="2583180" cy="246888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2148840"/>
            <a:ext cx="21808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 (built-in)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807208"/>
            <a:ext cx="218084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double, char, bool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directly by the language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exactly one value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43300" y="2148840"/>
            <a:ext cx="2583180" cy="3840480"/>
          </a:xfrm>
          <a:prstGeom prst="roundRect">
            <a:avLst>
              <a:gd name="adj" fmla="val 2832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43300" y="2148840"/>
            <a:ext cx="2583180" cy="502920"/>
          </a:xfrm>
          <a:prstGeom prst="roundRect">
            <a:avLst>
              <a:gd name="adj" fmla="val 14545"/>
            </a:avLst>
          </a:prstGeom>
          <a:solidFill>
            <a:srgbClr val="8B7FD9"/>
          </a:solidFill>
          <a:ln/>
        </p:spPr>
      </p:sp>
      <p:sp>
        <p:nvSpPr>
          <p:cNvPr id="12" name="Shape 10"/>
          <p:cNvSpPr/>
          <p:nvPr/>
        </p:nvSpPr>
        <p:spPr>
          <a:xfrm>
            <a:off x="3543300" y="2404872"/>
            <a:ext cx="2583180" cy="246888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744468" y="2148840"/>
            <a:ext cx="21808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/ composite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744468" y="2807208"/>
            <a:ext cx="218084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struct, class, arrays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out of primitive types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values to represent something bigger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55080" y="2148840"/>
            <a:ext cx="5166360" cy="3840480"/>
          </a:xfrm>
          <a:prstGeom prst="roundRect">
            <a:avLst>
              <a:gd name="adj" fmla="val 1905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611112" y="2313432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declaring primitive types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611112" y="2624328"/>
            <a:ext cx="465429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studentCount = 320;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gpa = 3.42;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grade = 'A';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isEnrolled = true;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wrong type choice can silently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produce WRONG answers (overflow)</a:t>
            </a:r>
            <a:endParaRPr lang="en-US" sz="135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Wrong Type Is a Bug, Not a Style Slip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035040" cy="4297680"/>
          </a:xfrm>
          <a:prstGeom prst="roundRect">
            <a:avLst>
              <a:gd name="adj" fmla="val 1702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719072"/>
            <a:ext cx="5522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type_choice_matters.cpp (excerpt)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029968"/>
            <a:ext cx="5522976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bigStudents = 500000;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bigRevenue =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bigStudents * revenuePerStudent;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overflows silently!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long bigRevenueCorrect =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(long long)bigStudents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 revenuePerStudent;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does not overflow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49440" y="1554480"/>
            <a:ext cx="4572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86600" y="1664208"/>
            <a:ext cx="429768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1,025,163,520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086600" y="308152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result — WRONG (silently overflowed)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949440" y="3703320"/>
            <a:ext cx="4572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86600" y="3813048"/>
            <a:ext cx="429768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22,500,000,000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523036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long result — correct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32-bit int can only hold ~2.1 billion — no crash, no warning, just a confidently wrong number.</a:t>
            </a:r>
            <a:endParaRPr lang="en-US" sz="1250" dirty="0"/>
          </a:p>
        </p:txBody>
      </p:sp>
      <p:sp>
        <p:nvSpPr>
          <p:cNvPr id="1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Data Structure Actually 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418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417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structure is a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composed of the relationships between data elements, together with the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can be applied to that arrangement.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528066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807208"/>
            <a:ext cx="457200" cy="457200"/>
          </a:xfrm>
          <a:prstGeom prst="ellipse">
            <a:avLst/>
          </a:prstGeom>
          <a:solidFill>
            <a:srgbClr val="2FE6C4">
              <a:alpha val="88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770632"/>
            <a:ext cx="4274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Arrangement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081528"/>
            <a:ext cx="42748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of data relate to each other — in a row, in a hierarchy, connected in a network.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40780" y="2606040"/>
            <a:ext cx="528066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1948" y="2807208"/>
            <a:ext cx="457200" cy="457200"/>
          </a:xfrm>
          <a:prstGeom prst="ellipse">
            <a:avLst/>
          </a:prstGeom>
          <a:solidFill>
            <a:srgbClr val="8B7FD9">
              <a:alpha val="8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1948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63740" y="2770632"/>
            <a:ext cx="4274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7063740" y="3081528"/>
            <a:ext cx="42748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allowed to do with that arrangement — add, remove, look up, walk through.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61772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data structure is choosing WHICH operations you want to be fast — you can rarely make everything fast at once. That trade-off is the central theme of this entire course.</a:t>
            </a:r>
            <a:endParaRPr lang="en-US" sz="14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Algorithm Is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algorithm is a finite, well-defined, step-by-step procedure for solving a problem — a recipe the computer can follow with no ambiguity.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1376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350008"/>
            <a:ext cx="457200" cy="457200"/>
          </a:xfrm>
          <a:prstGeom prst="ellipse">
            <a:avLst/>
          </a:prstGeom>
          <a:solidFill>
            <a:srgbClr val="2FE6C4">
              <a:alpha val="8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13432"/>
            <a:ext cx="240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624328"/>
            <a:ext cx="2407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terminate after a finite number of steps.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73880" y="2148840"/>
            <a:ext cx="341376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5048" y="2350008"/>
            <a:ext cx="457200" cy="457200"/>
          </a:xfrm>
          <a:prstGeom prst="ellipse">
            <a:avLst/>
          </a:prstGeom>
          <a:solidFill>
            <a:srgbClr val="8B7FD9">
              <a:alpha val="8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5048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196840" y="2313432"/>
            <a:ext cx="240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Well-defined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196840" y="2624328"/>
            <a:ext cx="2407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precise and unambiguous.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7680" y="2148840"/>
            <a:ext cx="341376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8848" y="2350008"/>
            <a:ext cx="457200" cy="457200"/>
          </a:xfrm>
          <a:prstGeom prst="ellipse">
            <a:avLst/>
          </a:prstGeom>
          <a:solidFill>
            <a:srgbClr val="E8A33D">
              <a:alpha val="8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08848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930640" y="2313432"/>
            <a:ext cx="240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930640" y="2624328"/>
            <a:ext cx="2407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something the computer can actually do.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206240"/>
            <a:ext cx="10881360" cy="1874520"/>
          </a:xfrm>
          <a:prstGeom prst="roundRect">
            <a:avLst>
              <a:gd name="adj" fmla="val 3902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96112" y="4370832"/>
            <a:ext cx="1036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find_largest.cpp (excerpt)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4681728"/>
            <a:ext cx="1036929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findLargest(const vector&lt;int&gt;&amp; numbers)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largest = numbers[0];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1; i &lt; numbers.size(); i++)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(numbers[i] &gt; largest) largest = numbers[i];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largest;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Data Structures, and Algorithms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1418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76072" y="1920240"/>
            <a:ext cx="22768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facts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26080" y="2628900"/>
            <a:ext cx="320040" cy="914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46120" y="192024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8B7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19272" y="1920240"/>
            <a:ext cx="22768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organized way to store 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0" y="2628900"/>
            <a:ext cx="320040" cy="914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989320" y="192024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62472" y="1920240"/>
            <a:ext cx="22768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procedure that operates on it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412480" y="2628900"/>
            <a:ext cx="320040" cy="914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732520" y="192024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805672" y="1920240"/>
            <a:ext cx="22768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+ algorithms, at work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10881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16052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“Algorithms + Data Structures = Programs”</a:t>
            </a:r>
            <a:endParaRPr lang="en-US" sz="17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Niklaus Wirth, creator of Pascal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design a good algorithm without knowing how its data is organized, and you cannot pick a good data structure without knowing what operations your algorithms need. The two are designed together, never in isolation.</a:t>
            </a:r>
            <a:endParaRPr lang="en-US" sz="1700" dirty="0"/>
          </a:p>
        </p:txBody>
      </p:sp>
      <p:sp>
        <p:nvSpPr>
          <p:cNvPr id="1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MATTER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 for Data Structures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80660" cy="162306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755648"/>
            <a:ext cx="457200" cy="457200"/>
          </a:xfrm>
          <a:prstGeom prst="ellipse">
            <a:avLst/>
          </a:prstGeom>
          <a:solidFill>
            <a:srgbClr val="2FE6C4">
              <a:alpha val="88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19072"/>
            <a:ext cx="4274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29968"/>
            <a:ext cx="42748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structure turns an operation taking seconds on millions of records into one taking microseconds.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40780" y="1554480"/>
            <a:ext cx="5280660" cy="162306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1948" y="1755648"/>
            <a:ext cx="457200" cy="457200"/>
          </a:xfrm>
          <a:prstGeom prst="ellipse">
            <a:avLst/>
          </a:prstGeom>
          <a:solidFill>
            <a:srgbClr val="8B7FD9">
              <a:alpha val="8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194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63740" y="1719072"/>
            <a:ext cx="4274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063740" y="2029968"/>
            <a:ext cx="42748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 implemented once (a stack, queue, tree) is reused across many unrelated programs.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497580"/>
            <a:ext cx="5280660" cy="162306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3698748"/>
            <a:ext cx="457200" cy="457200"/>
          </a:xfrm>
          <a:prstGeom prst="ellipse">
            <a:avLst/>
          </a:prstGeom>
          <a:solidFill>
            <a:srgbClr val="E8A33D">
              <a:alpha val="8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" y="36987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662172"/>
            <a:ext cx="4274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973068"/>
            <a:ext cx="42748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 it (push, pop, insert, search) without needing to know exactly how it stores things.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0780" y="3497580"/>
            <a:ext cx="5280660" cy="162306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1948" y="3698748"/>
            <a:ext cx="457200" cy="457200"/>
          </a:xfrm>
          <a:prstGeom prst="ellipse">
            <a:avLst/>
          </a:prstGeom>
          <a:solidFill>
            <a:srgbClr val="2FE6C4">
              <a:alpha val="88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1948" y="36987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63740" y="3662172"/>
            <a:ext cx="4274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Manageable Complexity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063740" y="3973068"/>
            <a:ext cx="42748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related data together makes large programs easier to reason about.</a:t>
            </a:r>
            <a:endParaRPr lang="en-US" sz="115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JUST ASSERTION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One Student Among 200,000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200,000 IDs, stored two ways — a plain list scanned one entry at a time, vs. a hash-based lookup (unordered_set). Timed in the same run, same machine: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58568"/>
            <a:ext cx="49377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887 µs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9959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scan — checked up to 200,000 records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35040" y="214884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72200" y="2258568"/>
            <a:ext cx="49377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µs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39959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lookup — too fast for the clock to register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617720"/>
            <a:ext cx="10607040" cy="1417320"/>
          </a:xfrm>
          <a:prstGeom prst="roundRect">
            <a:avLst>
              <a:gd name="adj" fmla="val 5161"/>
            </a:avLst>
          </a:prstGeom>
          <a:solidFill>
            <a:srgbClr val="1418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4617720"/>
            <a:ext cx="10058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data. Same question. The linear scan is reliably tens of times slower, every single run — purely because of HOW the same 200,000 numbers were organized in memory. That gap is, almost word for word, the entire argument for why this course exists.</a:t>
            </a:r>
            <a:endParaRPr lang="en-US" sz="1300" dirty="0"/>
          </a:p>
        </p:txBody>
      </p:sp>
      <p:sp>
        <p:nvSpPr>
          <p:cNvPr id="1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JUST ASSERTION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Widens as Data Grows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5661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scan: worst-case comparisons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Hashed lookup: typical comparisons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160520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43434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million records, “check every one” and “jump straight to it” aren't a little different — they're operating in entirely different universes of cost. Lecture 3 gives this precise mathematical language (O(n) vs. O(1)) — the intuition starts right here: the data structure you choose determines which of those two columns your application lives in.</a:t>
            </a:r>
            <a:endParaRPr lang="en-US" sz="1300" dirty="0"/>
          </a:p>
        </p:txBody>
      </p:sp>
      <p:sp>
        <p:nvSpPr>
          <p:cNvPr id="1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EXAMPLES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of Data Structures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955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you already use 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spreadsheet row, exam scores, pixels in an image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“back” button, undo/redo, function calls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printer job queue, a checkout 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List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playlist's “next song,” steppable browser history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file system's folders, an org chart, site navigation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Maps road network, social-network friend links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Table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contacts app's instant name lookup, a spell-checker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Structure Fits First?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2514600"/>
            <a:ext cx="2103120" cy="731520"/>
          </a:xfrm>
          <a:prstGeom prst="diamond">
            <a:avLst/>
          </a:prstGeom>
          <a:solidFill>
            <a:srgbClr val="1418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20040" y="25146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data read far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written?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46120" y="1874520"/>
            <a:ext cx="2103120" cy="731520"/>
          </a:xfrm>
          <a:prstGeom prst="diamond">
            <a:avLst/>
          </a:prstGeom>
          <a:solidFill>
            <a:srgbClr val="1418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063240" y="18745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order/position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to the reader?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4160520"/>
            <a:ext cx="2103120" cy="731520"/>
          </a:xfrm>
          <a:prstGeom prst="diamond">
            <a:avLst/>
          </a:prstGeom>
          <a:solidFill>
            <a:srgbClr val="14181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63240" y="41605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Insert/delete mostly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one end?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123444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72200" y="12344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/ vector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260604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2FE6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72200" y="26060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table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avg lookup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379476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8B7F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72200" y="37947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or Queue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at that end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98280" y="4663440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8B7F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098280" y="46634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once positioned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flipV="1">
            <a:off x="2606040" y="2240280"/>
            <a:ext cx="640080" cy="64008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560320" y="1810512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7F8F9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60320" y="1810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54480" y="3246120"/>
            <a:ext cx="2743200" cy="91440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74420" y="3566160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F7F8F9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74420" y="35661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writes frequent too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 flipV="1">
            <a:off x="5349240" y="1600200"/>
            <a:ext cx="822960" cy="438912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074920" y="146304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7F8F9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74920" y="1463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need index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49240" y="2441448"/>
            <a:ext cx="822960" cy="530352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006340" y="2807208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F7F8F9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06340" y="28072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existence only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 flipV="1">
            <a:off x="5349240" y="4160520"/>
            <a:ext cx="822960" cy="164592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394960" y="3803904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F7F8F9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394960" y="38039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349240" y="4754880"/>
            <a:ext cx="3749040" cy="27432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720840" y="514807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7F8F9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720840" y="5148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anywhere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594360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on purpose — real decisions also weigh memory limits and how often data changes shape. But it captures the first question this course keeps returning to: what operation does the app do most, and which structure makes exactly that operation cheap?</a:t>
            </a:r>
            <a:endParaRPr lang="en-US" sz="1100" dirty="0"/>
          </a:p>
        </p:txBody>
      </p:sp>
      <p:sp>
        <p:nvSpPr>
          <p:cNvPr id="3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474720" cy="3474720"/>
          </a:xfrm>
          <a:prstGeom prst="ellipse">
            <a:avLst/>
          </a:prstGeom>
          <a:solidFill>
            <a:srgbClr val="2FE6C4">
              <a:alpha val="11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8686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310896" cy="310896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83080"/>
            <a:ext cx="10058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raw and meaningless on its own; information is data given context and interpretation.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2734056"/>
            <a:ext cx="310896" cy="310896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688336"/>
            <a:ext cx="10058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structure is an arrangement of data plus the operations defined on it — the arrangement decides which operations are fast.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3639312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639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593592"/>
            <a:ext cx="10058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algorithm is finite, well-defined, and effective — and always designed together with the data structure it operates on.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22960" y="4544568"/>
            <a:ext cx="310896" cy="310896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544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498848"/>
            <a:ext cx="10058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Data Structure + Algorithm = Program: each layer builds on the one before it.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22960" y="5449824"/>
            <a:ext cx="310896" cy="310896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5449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5404104"/>
            <a:ext cx="10058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timed measurement showed a linear scan reliably tens of times slower than a hashed lookup over the same 200,000 records — proof the structure choice can be the entire performance story.</a:t>
            </a:r>
            <a:endParaRPr lang="en-US" sz="1550" dirty="0"/>
          </a:p>
        </p:txBody>
      </p:sp>
      <p:sp>
        <p:nvSpPr>
          <p:cNvPr id="2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2026-09-23T18:51:24Z</dcterms:created>
  <dcterms:modified xsi:type="dcterms:W3CDTF">2026-09-23T18:51:24Z</dcterms:modified>
</cp:coreProperties>
</file>
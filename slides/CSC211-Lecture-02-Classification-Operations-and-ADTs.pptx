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8B7FD9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Operations, and Abstract Data Types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80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criteria used to classify any data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414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operations every data structure exposes in some 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912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Abstract Data Type (ADT) is, and why interface and implementation are separate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986784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41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ADT, implemented two different ways, proving that separation is real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736592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908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and encapsulation, and how C++ actually enforces them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440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 behind every data structure design choice</a:t>
            </a:r>
            <a:endParaRPr lang="en-US" sz="16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Any Data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07128" y="16916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07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2008480" y="2286000"/>
            <a:ext cx="4087368" cy="594360"/>
          </a:xfrm>
          <a:prstGeom prst="line">
            <a:avLst/>
          </a:prstGeom>
          <a:noFill/>
          <a:ln w="22225">
            <a:solidFill>
              <a:srgbClr val="C7CCD3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4040" y="2880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1200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composition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vs. Non-Primitive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4733392" y="2286000"/>
            <a:ext cx="1362456" cy="594360"/>
          </a:xfrm>
          <a:prstGeom prst="line">
            <a:avLst/>
          </a:prstGeom>
          <a:noFill/>
          <a:ln w="22225">
            <a:solidFill>
              <a:srgbClr val="C7CC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98952" y="2880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6112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arrangement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Non-Linear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5848" y="2286000"/>
            <a:ext cx="1362456" cy="594360"/>
          </a:xfrm>
          <a:prstGeom prst="line">
            <a:avLst/>
          </a:prstGeom>
          <a:noFill/>
          <a:ln w="22225">
            <a:solidFill>
              <a:srgbClr val="C7CC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23864" y="2880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1024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allocation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5848" y="2286000"/>
            <a:ext cx="4087368" cy="594360"/>
          </a:xfrm>
          <a:prstGeom prst="line">
            <a:avLst/>
          </a:prstGeom>
          <a:noFill/>
          <a:ln w="22225">
            <a:solidFill>
              <a:srgbClr val="C7CC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948776" y="2880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85936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access pattern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vs. Random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4348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std::vector and a linked list are both LINEAR, but one is static-ish (contiguous, resizes in chunks) and the other is genuinely DYNAMIC (grows one node at a time). Every data structure sits somewhere on ALL of these axes at once — there's no single “type.” A fifth axis, ephemeral vs. persistent, is covered separately next.</a:t>
            </a:r>
            <a:endParaRPr lang="en-US" sz="130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and Arrangement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806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64792"/>
            <a:ext cx="5280660" cy="24688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50876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67128"/>
            <a:ext cx="48783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types the language gives for free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char, float, bool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holds exactly one value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508760"/>
            <a:ext cx="52806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150876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8B7FD9"/>
          </a:solidFill>
          <a:ln/>
        </p:spPr>
      </p:sp>
      <p:sp>
        <p:nvSpPr>
          <p:cNvPr id="11" name="Shape 9"/>
          <p:cNvSpPr/>
          <p:nvPr/>
        </p:nvSpPr>
        <p:spPr>
          <a:xfrm>
            <a:off x="6240780" y="1764792"/>
            <a:ext cx="5280660" cy="24688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1948" y="150876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Non-Primitive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167128"/>
            <a:ext cx="48783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primitives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linked list, stack, queue, tree, graph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many values into one organized whole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806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8620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142232"/>
            <a:ext cx="5280660" cy="2468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88620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544568"/>
            <a:ext cx="48783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form a sequence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has one predecessor, one successor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linked list, stack, queue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3886200"/>
            <a:ext cx="52806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0780" y="388620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2FE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0780" y="4142232"/>
            <a:ext cx="5280660" cy="24688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1948" y="388620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1948" y="4544568"/>
            <a:ext cx="48783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can connect to MORE than one other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node can have several children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vertex can have many neighbors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Structures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structure has a fixed size decided at creation. A dynamic structure grows and shrinks while the program runs.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SmallArrayBag — static, capacity fixed at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868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2606040"/>
            <a:ext cx="868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26060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2606040"/>
            <a:ext cx="868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6060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60604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566160" y="26060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add(40) REJECTED — no room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GrowableBag — dynamic, no fixed ceiling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868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891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91640" y="4389120"/>
            <a:ext cx="868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43891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0" y="4389120"/>
            <a:ext cx="868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43891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4389120"/>
            <a:ext cx="868680" cy="685800"/>
          </a:xfrm>
          <a:prstGeom prst="rect">
            <a:avLst/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43891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4389120"/>
            <a:ext cx="868680" cy="685800"/>
          </a:xfrm>
          <a:prstGeom prst="rect">
            <a:avLst/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43891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add(40), add(50) accepted — reallocates automatically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add() calls through the same ADT interface — completely different behavior underneath. A fixed-capacity structure is simple with zero bookkeeping, but hits a hard wall; a dynamic one avoids the wall but pays a small ongoing reallocation cost.</a:t>
            </a:r>
            <a:endParaRPr lang="en-US" sz="1250" dirty="0"/>
          </a:p>
        </p:txBody>
      </p:sp>
      <p:sp>
        <p:nvSpPr>
          <p:cNvPr id="2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vs. Random Access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access — reaching element 5 means visiting 1–4 first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1168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4003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20116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33472" y="201168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24003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20116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418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201168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24003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20116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418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08192" y="201168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24003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0116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45552" y="201168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— scores[3] is exactly as fast as scores[0]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1417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867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160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40280" y="4160520"/>
            <a:ext cx="1417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40280" y="3867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4160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0" y="4160520"/>
            <a:ext cx="1417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0" y="3867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160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74920" y="4160520"/>
            <a:ext cx="1417320" cy="777240"/>
          </a:xfrm>
          <a:prstGeom prst="rect">
            <a:avLst/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74920" y="3867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4160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4160520"/>
            <a:ext cx="1417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3867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160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0" y="3749040"/>
            <a:ext cx="4617720" cy="365760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92811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scores[3] — one jump, O(1)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only supports sequential access — the only way to node 5 is through nodes 1–4. An array supports random access — the address formula (Lecture 4) computes any index directly.</a:t>
            </a:r>
            <a:endParaRPr lang="en-US" sz="1300" dirty="0"/>
          </a:p>
        </p:txBody>
      </p:sp>
      <p:sp>
        <p:nvSpPr>
          <p:cNvPr id="3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vs. Persistent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— modifying overwrites the only copy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6596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[10, 20]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2423160"/>
            <a:ext cx="73152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9659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19472" y="196596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[10, 20, 30]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[10, 20] version no longer exists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2084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append(30)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— modifying creates a new version, the old one survives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3657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1: [10, 20]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4114800"/>
            <a:ext cx="73152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4632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19472" y="3657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2: [10, 20, 30]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3776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3776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append(30)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681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is still reachable — nothing was overwritten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structure you build this course is ephemeral. Persistent structures preserve every previous version — the idea behind an editor's full undo history or Git's commit history.</a:t>
            </a:r>
            <a:endParaRPr lang="en-US" sz="130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Data Structures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every element, typically to process or display each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an existing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whether (and where) a given value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Rearrange elements into a defined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the value of an existing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two data structures of the same type into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lecture from here on answers the same question for a new structure: how efficiently can it perform each of these, and which is it actually good at?</a:t>
            </a:r>
            <a:endParaRPr lang="en-US" sz="125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 (ADT)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ADT is a mathematical, logical description of a data structure —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operations it supports and what they do — with no mention of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it's built underneath.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Stack ADT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413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21868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82112"/>
            <a:ext cx="240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93008"/>
            <a:ext cx="240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item to the top.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3880" y="3017520"/>
            <a:ext cx="3413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5048" y="321868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50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96840" y="3182112"/>
            <a:ext cx="240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196840" y="3493008"/>
            <a:ext cx="240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most recently pushed item.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7680" y="3017520"/>
            <a:ext cx="3413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8848" y="321868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88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30640" y="3182112"/>
            <a:ext cx="240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930640" y="3493008"/>
            <a:ext cx="240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top item without removing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Stack supports push, pop, and peek, and pop always removes the most recently pushed item” is a COMPLETE ADT description. Nothing says whether it's backed by an array or a linked list — that's the entire point.</a:t>
            </a:r>
            <a:endParaRPr lang="en-US" sz="13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the ADT's public promise. The implementation is the actual code that makes it work — C++'s class keeps them visibly separate.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3134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int_bag_demo.cpp (excerpt)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24328"/>
            <a:ext cx="103692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IntBag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add(int value) { data[count++] = value;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contains(int value) const { /* scan data[0..count) */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size() const { return count;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data[100];   // implementation detail — callers never see this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count = 0;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ASSERTION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ADT, Two Implementations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ArrayBag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data[100]; int count;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379476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164592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VectorBag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data;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2651760"/>
            <a:ext cx="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09160" y="32461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runSameOperations(bag)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069080"/>
            <a:ext cx="914" cy="5029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0" y="4572000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4572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output from both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3, contains(42): yes, contains(99): 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runSameOperations never touches data or count directly — it genuinely cannot tell which implementation it's holding.</a:t>
            </a:r>
            <a:endParaRPr lang="en-US" sz="125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ASSERTION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add() Calls, Different Outcomes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add(value)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SmallArrayBag (cap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GrowableBag (dynamic)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add(10)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add(20)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add(30)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add(40)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(full)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add(50)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(full)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size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94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bags received the exact same five add() calls, through the exact same interface — and behaved completely differently, purely because of what's happening behind that interface.</a:t>
            </a:r>
            <a:endParaRPr lang="en-US" sz="125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and Encapsulation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806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7335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84248"/>
            <a:ext cx="42748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only what a user needs to know (add, contains, size) and hiding everything else.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508760"/>
            <a:ext cx="52806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1948" y="170992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19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3740" y="167335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63740" y="1984248"/>
            <a:ext cx="42748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C++'s mechanism to enforce it: the private section physically prevents outside code from touching data or count.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6112" y="36850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 in action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995928"/>
            <a:ext cx="10369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bag.data[0] = 5;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^ ERROR: 'data' is private within this context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bag.add(5);   // OK — goes through the public interface</a:t>
            </a:r>
            <a:endParaRPr lang="en-US" sz="15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Is a Trade-off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806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7335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vs. Space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84248"/>
            <a:ext cx="42748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table answers “is this present?” almost instantly but spends extra memory. A plain array uses less memory but may check every element.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508760"/>
            <a:ext cx="52806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1948" y="170992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19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3740" y="167335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vs. Efficiency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63740" y="1984248"/>
            <a:ext cx="42748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unsorted array is trivial to insert into but slow to search. Keeping it sorted speeds up search but slows every insertion.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for selecting a structure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4048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operations does the application perform most often?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will it realistically hold — does that size change at runtime?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memory a hard constraint, or is speed the priority?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 application's needs likely change as it grows?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852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that's correct today can become wrong tomorrow — good engineers revisit their data structure choices as usage patterns become clear.</a:t>
            </a:r>
            <a:endParaRPr lang="en-US" sz="12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474720" cy="3474720"/>
          </a:xfrm>
          <a:prstGeom prst="ellipse">
            <a:avLst/>
          </a:prstGeom>
          <a:solidFill>
            <a:srgbClr val="2FE6C4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68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structure can be classified along several independent axes at once: composition, arrangement, allocation, access pattern, and persistence.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734056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88336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structure supports some combination of seven core operations: traversal, insertion, deletion, searching, sorting, updating, merging.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593592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Data Type describes WHAT a structure does, completely separate from HOW it's implemented.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544568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498848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ArrayBag and VectorBag produced byte-for-byte identical output through the same interface — proof that interface and implementation are independent.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449824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404104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is a trade-off — usually time vs. space, or simplicity vs. efficiency — and the right choice can shift as an application's requirements evolve.</a:t>
            </a:r>
            <a:endParaRPr lang="en-US" sz="15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2026-09-23T18:56:03Z</dcterms:created>
  <dcterms:modified xsi:type="dcterms:W3CDTF">2026-09-23T18:56:03Z</dcterms:modified>
</cp:coreProperties>
</file>
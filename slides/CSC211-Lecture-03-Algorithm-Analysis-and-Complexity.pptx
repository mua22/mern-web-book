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Comparisons</c:v>
                </c:pt>
              </c:strCache>
            </c:strRef>
          </c:tx>
          <c:spPr>
            <a:solidFill>
              <a:srgbClr val="2FE6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418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E6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Best case
(target=4, found @1st)</c:v>
                  </c:pt>
                  <c:pt idx="1">
                    <c:v>Worst case
(target=42, found @last)</c:v>
                  </c:pt>
                  <c:pt idx="2">
                    <c:v>Worst case
(target=99, not found)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6</c:v>
                </c:pt>
                <c:pt idx="2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418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42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</c:scaling>
        <c:delete val="0"/>
        <c:axPos val="l"/>
        <c:majorGridlines>
          <c:spPr>
            <a:ln w="12700" cap="flat">
              <a:solidFill>
                <a:srgbClr val="E4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Comparisons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181C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4181C"/>
                </a:solidFill>
                <a:latin typeface="Arial"/>
              </a:rPr>
              <a:t>Operations vs. input size 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O(1)</c:v>
                </c:pt>
              </c:strCache>
            </c:strRef>
          </c:tx>
          <c:spPr>
            <a:solidFill>
              <a:srgbClr val="6B7280"/>
            </a:solidFill>
            <a:ln w="31750" cap="flat">
              <a:solidFill>
                <a:srgbClr val="6B728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B7280"/>
              </a:solidFill>
              <a:ln w="9525" cap="flat">
                <a:solidFill>
                  <a:srgbClr val="6B728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O(log n)</c:v>
                </c:pt>
              </c:strCache>
            </c:strRef>
          </c:tx>
          <c:spPr>
            <a:solidFill>
              <a:srgbClr val="8B7FD9"/>
            </a:solidFill>
            <a:ln w="31750" cap="flat">
              <a:solidFill>
                <a:srgbClr val="8B7FD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B7FD9"/>
              </a:solidFill>
              <a:ln w="9525" cap="flat">
                <a:solidFill>
                  <a:srgbClr val="8B7FD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1.58</c:v>
                </c:pt>
                <c:pt idx="3">
                  <c:v>2</c:v>
                </c:pt>
                <c:pt idx="4">
                  <c:v>2.32</c:v>
                </c:pt>
                <c:pt idx="5">
                  <c:v>2.58</c:v>
                </c:pt>
                <c:pt idx="6">
                  <c:v>2.81</c:v>
                </c:pt>
                <c:pt idx="7">
                  <c:v>3</c:v>
                </c:pt>
                <c:pt idx="8">
                  <c:v>3.17</c:v>
                </c:pt>
                <c:pt idx="9">
                  <c:v>3.32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O(n)</c:v>
                </c:pt>
              </c:strCache>
            </c:strRef>
          </c:tx>
          <c:spPr>
            <a:solidFill>
              <a:srgbClr val="2FE6C4"/>
            </a:solidFill>
            <a:ln w="31750" cap="flat">
              <a:solidFill>
                <a:srgbClr val="2FE6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FE6C4"/>
              </a:solidFill>
              <a:ln w="9525" cap="flat">
                <a:solidFill>
                  <a:srgbClr val="2FE6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O(n²)</c:v>
                </c:pt>
              </c:strCache>
            </c:strRef>
          </c:tx>
          <c:spPr>
            <a:solidFill>
              <a:srgbClr val="E8A33D"/>
            </a:solidFill>
            <a:ln w="3175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1</c:v>
                </c:pt>
                <c:pt idx="1">
                  <c:v>4</c:v>
                </c:pt>
                <c:pt idx="2">
                  <c:v>9</c:v>
                </c:pt>
                <c:pt idx="3">
                  <c:v>16</c:v>
                </c:pt>
                <c:pt idx="4">
                  <c:v>25</c:v>
                </c:pt>
                <c:pt idx="5">
                  <c:v>36</c:v>
                </c:pt>
                <c:pt idx="6">
                  <c:v>49</c:v>
                </c:pt>
                <c:pt idx="7">
                  <c:v>64</c:v>
                </c:pt>
                <c:pt idx="8">
                  <c:v>81</c:v>
                </c:pt>
                <c:pt idx="9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operations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42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uinotes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uinotes.com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023360" cy="4023360"/>
          </a:xfrm>
          <a:prstGeom prst="ellipse">
            <a:avLst/>
          </a:prstGeom>
          <a:solidFill>
            <a:srgbClr val="2FE6C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8B7FD9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Analysis and Complexity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080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402336" cy="402336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916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measure algorithms by counting operations, not with a stopwatch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487168"/>
            <a:ext cx="402336" cy="402336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4414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 vs. space complexity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236976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236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1912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Best-case, average-case, and worst-case analysis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3986784"/>
            <a:ext cx="402336" cy="402336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986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94106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Asymptotic analysis: Big-O, Big-Theta, Big-Omega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4736592"/>
            <a:ext cx="402336" cy="402336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736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6908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complexity classes you'll see again and again this semester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" y="5486400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486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54406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Deriving Big-O by hand for a nested loop whose bound isn't obvious</a:t>
            </a:r>
            <a:endParaRPr lang="en-US" sz="1600" dirty="0"/>
          </a:p>
        </p:txBody>
      </p:sp>
      <p:sp>
        <p:nvSpPr>
          <p:cNvPr id="2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ALGORITHMS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Operations, Not Time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stopwatch depends on the CPU, the language, how busy the machine is. What we want is a measure that's true on ANY computer, forever: count how the number of basic operations grows as input size n grows.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669280" cy="3566160"/>
          </a:xfrm>
          <a:prstGeom prst="roundRect">
            <a:avLst>
              <a:gd name="adj" fmla="val 2051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96112" y="2359152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growth_demo.cpp (excerpt)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670048"/>
            <a:ext cx="5157216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n; i++)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j = 0; j &lt; n; j++)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comparisons++;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 x n nested loop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194560"/>
          <a:ext cx="5029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6,400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492240" y="50749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n doubles, the count QUADRUPLES — a mathematical property of n × n, true on any machine, any run.</a:t>
            </a:r>
            <a:endParaRPr lang="en-US" sz="1250" dirty="0"/>
          </a:p>
        </p:txBody>
      </p:sp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ALGORITHMS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 vs. Space Complexity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806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5280660" cy="502920"/>
          </a:xfrm>
          <a:prstGeom prst="roundRect">
            <a:avLst>
              <a:gd name="adj" fmla="val 14545"/>
            </a:avLst>
          </a:prstGeom>
          <a:solidFill>
            <a:srgbClr val="2FE6C4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47672"/>
            <a:ext cx="5280660" cy="246888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1691640"/>
            <a:ext cx="48783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350008"/>
            <a:ext cx="48783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number of basic operations grows as a function of n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course focuses on almost exclusively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0780" y="1691640"/>
            <a:ext cx="52806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40780" y="1691640"/>
            <a:ext cx="5280660" cy="502920"/>
          </a:xfrm>
          <a:prstGeom prst="roundRect">
            <a:avLst>
              <a:gd name="adj" fmla="val 14545"/>
            </a:avLst>
          </a:prstGeom>
          <a:solidFill>
            <a:srgbClr val="8B7FD9"/>
          </a:solidFill>
          <a:ln/>
        </p:spPr>
      </p:sp>
      <p:sp>
        <p:nvSpPr>
          <p:cNvPr id="11" name="Shape 9"/>
          <p:cNvSpPr/>
          <p:nvPr/>
        </p:nvSpPr>
        <p:spPr>
          <a:xfrm>
            <a:off x="6240780" y="1947672"/>
            <a:ext cx="5280660" cy="246888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1948" y="1691640"/>
            <a:ext cx="48783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41948" y="2350008"/>
            <a:ext cx="48783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EXTRA memory an algorithm needs, beyond the input itself, as a function of n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in tension with time — caching trades memory for speed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7091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4181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7091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algorithm can be sped up by using more memory (caching results instead of recomputing), or made more memory-frugal at the cost of extra time.</a:t>
            </a:r>
            <a:endParaRPr lang="en-US" sz="1300" dirty="0"/>
          </a:p>
        </p:txBody>
      </p:sp>
      <p:sp>
        <p:nvSpPr>
          <p:cNvPr id="1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ALGORITHMS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Best, Average, and Worst Case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 on {4, 8, 15, 16, 23, 42} — the SAME algorithm, different inputs: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920240"/>
          <a:ext cx="10881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(and the industry) defaults to WORST-CASE analysis when we say “the complexity of an algorithm.”</a:t>
            </a:r>
            <a:endParaRPr lang="en-US" sz="1350" dirty="0"/>
          </a:p>
        </p:txBody>
      </p:sp>
      <p:sp>
        <p:nvSpPr>
          <p:cNvPr id="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Asymptotic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418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55448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Asymptotic analysis studies how an algorithm's resource use grows as n approaches infinity, deliberately ignoring constant factors and lower-order terms — because for large enough n, they stop mattering.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528066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3493008"/>
            <a:ext cx="457200" cy="457200"/>
          </a:xfrm>
          <a:prstGeom prst="ellipse">
            <a:avLst/>
          </a:prstGeom>
          <a:solidFill>
            <a:srgbClr val="2FE6C4">
              <a:alpha val="88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3456432"/>
            <a:ext cx="4274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growth category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767328"/>
            <a:ext cx="42748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 + 20 and n both belong to the same class — O(n). Constants don't change the class.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40780" y="3291840"/>
            <a:ext cx="528066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1948" y="3493008"/>
            <a:ext cx="457200" cy="457200"/>
          </a:xfrm>
          <a:prstGeom prst="ellipse">
            <a:avLst/>
          </a:prstGeom>
          <a:solidFill>
            <a:srgbClr val="E8A33D">
              <a:alpha val="8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194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063740" y="3456432"/>
            <a:ext cx="4274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growth category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7063740" y="3767328"/>
            <a:ext cx="42748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n² belongs to a fundamentally different, worse class than n, no matter the constants.</a:t>
            </a:r>
            <a:endParaRPr lang="en-US" sz="1150" dirty="0"/>
          </a:p>
        </p:txBody>
      </p:sp>
      <p:sp>
        <p:nvSpPr>
          <p:cNvPr id="1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Big-O, Big-Omega, Big-Theta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25400">
            <a:solidFill>
              <a:srgbClr val="2FE6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91640"/>
            <a:ext cx="3291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O(f(n)) 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 — Upper Bound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 most.” Worst case never worse than this. The notation you'll use constantly.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537960" y="169164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25400">
            <a:solidFill>
              <a:srgbClr val="8B7F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0" y="1691640"/>
            <a:ext cx="3291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Ω(f(n)) 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Big-Omega — Lower Bound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 least.” Best case never better than this.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703320" y="384048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31920" y="3840480"/>
            <a:ext cx="3291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Θ(f(n)) 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Big-Theta — Tight Bound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“Exactly.” Used when the upper and lower bounds match.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697480" y="3108960"/>
            <a:ext cx="2880360" cy="731520"/>
          </a:xfrm>
          <a:prstGeom prst="line">
            <a:avLst/>
          </a:prstGeom>
          <a:noFill/>
          <a:ln w="22225">
            <a:solidFill>
              <a:srgbClr val="6B7280"/>
            </a:solidFill>
            <a:prstDash val="dash"/>
            <a:tailEnd type="none"/>
          </a:ln>
        </p:spPr>
      </p:sp>
      <p:sp>
        <p:nvSpPr>
          <p:cNvPr id="11" name="Shape 9"/>
          <p:cNvSpPr/>
          <p:nvPr/>
        </p:nvSpPr>
        <p:spPr>
          <a:xfrm flipH="1">
            <a:off x="5577840" y="3108960"/>
            <a:ext cx="2834640" cy="731520"/>
          </a:xfrm>
          <a:prstGeom prst="line">
            <a:avLst/>
          </a:prstGeom>
          <a:noFill/>
          <a:ln w="22225">
            <a:solidFill>
              <a:srgbClr val="6B7280"/>
            </a:solidFill>
            <a:prstDash val="dash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40080" y="55321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7F8F9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553212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 is Ω(1) (might get lucky on the first element) but also O(n) (might check every element). Summing an array is Θ(n) — it always visits every element, no more, no less.</a:t>
            </a:r>
            <a:endParaRPr lang="en-US" sz="1250" dirty="0"/>
          </a:p>
        </p:txBody>
      </p:sp>
      <p:sp>
        <p:nvSpPr>
          <p:cNvPr id="1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Complexity Classes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194560"/>
                <a:gridCol w="67665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Accessing array[5] — one step, regardless of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Logarithmic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search — halves the search space each 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search, printing every element once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Linearithmic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sort, quick sort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Quadratic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Bubble sort, nested loops over the same 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O(n³)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Cubic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matrix multiplication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O(2ⁿ)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Exponential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recursive Fibonacci — grows explosively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Rates, Plotted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08760"/>
          <a:ext cx="10881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pulls away fast — at n = 10 it's already at 100 while O(n) is only at 10. That gap only widens as n grows: a faster machine buys a constant-factor speedup, a better algorithm changes the entire curve.</a:t>
            </a:r>
            <a:endParaRPr lang="en-US" sz="1200" dirty="0"/>
          </a:p>
        </p:txBody>
      </p:sp>
      <p:sp>
        <p:nvSpPr>
          <p:cNvPr id="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Each Class Looks the Way It Does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280660" cy="1341120"/>
          </a:xfrm>
          <a:prstGeom prst="roundRect">
            <a:avLst>
              <a:gd name="adj" fmla="val 4773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709928"/>
            <a:ext cx="457200" cy="457200"/>
          </a:xfrm>
          <a:prstGeom prst="ellipse">
            <a:avLst/>
          </a:prstGeom>
          <a:solidFill>
            <a:srgbClr val="2FE6C4">
              <a:alpha val="88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673352"/>
            <a:ext cx="4274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— array access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984248"/>
            <a:ext cx="427482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multiplication, one addition — regardless of array size.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40780" y="1508760"/>
            <a:ext cx="5280660" cy="1341120"/>
          </a:xfrm>
          <a:prstGeom prst="roundRect">
            <a:avLst>
              <a:gd name="adj" fmla="val 4773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1948" y="1709928"/>
            <a:ext cx="457200" cy="457200"/>
          </a:xfrm>
          <a:prstGeom prst="ellipse">
            <a:avLst/>
          </a:prstGeom>
          <a:solidFill>
            <a:srgbClr val="8B7FD9">
              <a:alpha val="8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1948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63740" y="1673352"/>
            <a:ext cx="4274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 — binary search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063740" y="1984248"/>
            <a:ext cx="427482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comparison eliminates HALF of what's left: log₂ n halvings to reach 1 element.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169920"/>
            <a:ext cx="5280660" cy="1341120"/>
          </a:xfrm>
          <a:prstGeom prst="roundRect">
            <a:avLst>
              <a:gd name="adj" fmla="val 4773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3371088"/>
            <a:ext cx="457200" cy="457200"/>
          </a:xfrm>
          <a:prstGeom prst="ellipse">
            <a:avLst/>
          </a:prstGeom>
          <a:solidFill>
            <a:srgbClr val="E8A33D">
              <a:alpha val="8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" y="3371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334512"/>
            <a:ext cx="4274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— linear search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645408"/>
            <a:ext cx="427482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case: every one of the n elements gets exactly one comparison.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0780" y="3169920"/>
            <a:ext cx="5280660" cy="1341120"/>
          </a:xfrm>
          <a:prstGeom prst="roundRect">
            <a:avLst>
              <a:gd name="adj" fmla="val 4773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1948" y="3371088"/>
            <a:ext cx="457200" cy="457200"/>
          </a:xfrm>
          <a:prstGeom prst="ellipse">
            <a:avLst/>
          </a:prstGeom>
          <a:solidFill>
            <a:srgbClr val="2FE6C4">
              <a:alpha val="88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1948" y="3371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063740" y="3334512"/>
            <a:ext cx="4274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 — merge sort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063740" y="3645408"/>
            <a:ext cx="427482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n levels of splitting in half, each level doing a full O(n) merge pass.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831080"/>
            <a:ext cx="5280660" cy="1341120"/>
          </a:xfrm>
          <a:prstGeom prst="roundRect">
            <a:avLst>
              <a:gd name="adj" fmla="val 4773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" y="5032248"/>
            <a:ext cx="457200" cy="457200"/>
          </a:xfrm>
          <a:prstGeom prst="ellipse">
            <a:avLst/>
          </a:prstGeom>
          <a:solidFill>
            <a:srgbClr val="8B7FD9">
              <a:alpha val="88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1248" y="5032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4995672"/>
            <a:ext cx="4274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— nested loops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1463040" y="5306568"/>
            <a:ext cx="427482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one of the n elements, the inner loop does up to n more comparisons.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40780" y="4831080"/>
            <a:ext cx="5280660" cy="1341120"/>
          </a:xfrm>
          <a:prstGeom prst="roundRect">
            <a:avLst>
              <a:gd name="adj" fmla="val 4773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1948" y="5032248"/>
            <a:ext cx="457200" cy="457200"/>
          </a:xfrm>
          <a:prstGeom prst="ellipse">
            <a:avLst/>
          </a:prstGeom>
          <a:solidFill>
            <a:srgbClr val="E8A33D">
              <a:alpha val="88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41948" y="5032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063740" y="4995672"/>
            <a:ext cx="4274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O(2ⁿ) — recursive Fibonacci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7063740" y="5306568"/>
            <a:ext cx="427482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spawns two more, doubling the work at every level of recursion.</a:t>
            </a:r>
            <a:endParaRPr lang="en-US" sz="1150" dirty="0"/>
          </a:p>
        </p:txBody>
      </p:sp>
      <p:sp>
        <p:nvSpPr>
          <p:cNvPr id="3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DERIVING BIG-O BY HAND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Nested Loop With a Non-Obvious Bound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 = 0; i &lt; n; i++)  for (j = i+1; j &lt; n; j++)  count++;   — the inner bound depends on 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7315200" cy="420624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0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321040" y="196596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runs 1..5  (5 iterations)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2478024"/>
            <a:ext cx="5852160" cy="420624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478024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1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2478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runs 2..5  (4 iterations)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2990088"/>
            <a:ext cx="4389120" cy="420624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299008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2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299008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runs 3..5  (3 iterations)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502152"/>
            <a:ext cx="2926080" cy="420624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50215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3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350215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runs 4..5  (2 iterations)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4014216"/>
            <a:ext cx="1463040" cy="420624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01421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4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2468880" y="401421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runs 5..5  (1 iteration)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4526280"/>
            <a:ext cx="320040" cy="420624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526280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5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52628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runs 6..5  (0 iterations)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394960" y="1965960"/>
            <a:ext cx="6126480" cy="3072384"/>
          </a:xfrm>
          <a:prstGeom prst="roundRect">
            <a:avLst>
              <a:gd name="adj" fmla="val 2381"/>
            </a:avLst>
          </a:prstGeom>
          <a:solidFill>
            <a:srgbClr val="F7F8F9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23560" y="1965960"/>
            <a:ext cx="566928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TRIANGLE, not a rectangle.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loop's work shrinks by one every time the outer loop advances — which is exactly why the total works out to roughly HALF of the full n × n square.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 = 8, real output: 28 pairs checked — matches the shape above exactly.</a:t>
            </a:r>
            <a:endParaRPr lang="en-US" sz="1200" dirty="0"/>
          </a:p>
        </p:txBody>
      </p:sp>
      <p:sp>
        <p:nvSpPr>
          <p:cNvPr id="2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DERIVING BIG-O BY HAND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Sum to a Big-O Class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2743200"/>
          </a:xfrm>
          <a:prstGeom prst="roundRect">
            <a:avLst>
              <a:gd name="adj" fmla="val 2667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764792"/>
            <a:ext cx="10369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summing across every outer iteration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075688"/>
            <a:ext cx="1036929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(n-1) + (n-2) + (n-3) + ... + 1 + 0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= sum from k=0 to n-1 of k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= n(n-1) / 2          // standard sum 0..n-1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= (n² - n) / 2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57200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457200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lower-order term and the constant factor:</a:t>
            </a:r>
            <a:endParaRPr lang="en-US" sz="135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O((n² - n) / 2)  =  O(n²)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though this loop does roughly HALF the work of a naive n×n double loop, it is still, correctly, O(n²) — constant factors never change the complexity class.</a:t>
            </a:r>
            <a:endParaRPr lang="en-US" sz="135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JUST ASSERTION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Comparisons Across Complexity Classes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4,000, same run, same machine — sumAll (O(n)), countEqualPairs (O(n²)), binarySearch (O(log n)):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21408"/>
            <a:ext cx="32004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µs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5844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sumAll — O(n)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201168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2121408"/>
            <a:ext cx="32004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190,000 µs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35844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countEqualPairs — O(n²)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55280" y="201168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92440" y="2121408"/>
            <a:ext cx="32004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µs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092440" y="35844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binarySearch — O(log n), too fast to register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4181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25196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a 19,000-fold slowdown from a mere quadratic exponent, on the same input size — comfortably clearing the “at least 1000x slower” bar the program checks automatically.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4864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96112" y="5650992"/>
            <a:ext cx="103692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quadraticTime = duration_cast&lt;microseconds&gt;(e2 - s2).count();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quadraticTime &gt;= linearTime * 1000  -&gt;  yes, every run</a:t>
            </a:r>
            <a:endParaRPr lang="en-US" sz="125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Memorize the Order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841248" cy="1005840"/>
          </a:xfrm>
          <a:prstGeom prst="roundRect">
            <a:avLst>
              <a:gd name="adj" fmla="val 8696"/>
            </a:avLst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834640"/>
            <a:ext cx="841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2834640"/>
            <a:ext cx="832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313432" y="2834640"/>
            <a:ext cx="841248" cy="1005840"/>
          </a:xfrm>
          <a:prstGeom prst="roundRect">
            <a:avLst>
              <a:gd name="adj" fmla="val 8696"/>
            </a:avLst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313432" y="2834640"/>
            <a:ext cx="841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O(log n)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2834640"/>
            <a:ext cx="832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986784" y="2834640"/>
            <a:ext cx="841248" cy="1005840"/>
          </a:xfrm>
          <a:prstGeom prst="roundRect">
            <a:avLst>
              <a:gd name="adj" fmla="val 8696"/>
            </a:avLst>
          </a:prstGeom>
          <a:solidFill>
            <a:srgbClr val="8B7F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986784" y="2834640"/>
            <a:ext cx="841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28032" y="2834640"/>
            <a:ext cx="832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660136" y="2834640"/>
            <a:ext cx="841248" cy="1005840"/>
          </a:xfrm>
          <a:prstGeom prst="roundRect">
            <a:avLst>
              <a:gd name="adj" fmla="val 8696"/>
            </a:avLst>
          </a:prstGeom>
          <a:solidFill>
            <a:srgbClr val="8B7FD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0136" y="2834640"/>
            <a:ext cx="841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01384" y="2834640"/>
            <a:ext cx="832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33488" y="2834640"/>
            <a:ext cx="841248" cy="1005840"/>
          </a:xfrm>
          <a:prstGeom prst="roundRect">
            <a:avLst>
              <a:gd name="adj" fmla="val 8696"/>
            </a:avLst>
          </a:prstGeom>
          <a:solidFill>
            <a:srgbClr val="E8A3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33488" y="2834640"/>
            <a:ext cx="841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O(n²)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174736" y="2834640"/>
            <a:ext cx="832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006840" y="2834640"/>
            <a:ext cx="841248" cy="1005840"/>
          </a:xfrm>
          <a:prstGeom prst="roundRect">
            <a:avLst>
              <a:gd name="adj" fmla="val 8696"/>
            </a:avLst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06840" y="2834640"/>
            <a:ext cx="841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O(n³)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848088" y="2834640"/>
            <a:ext cx="832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680192" y="2834640"/>
            <a:ext cx="841248" cy="1005840"/>
          </a:xfrm>
          <a:prstGeom prst="roundRect">
            <a:avLst>
              <a:gd name="adj" fmla="val 8696"/>
            </a:avLst>
          </a:prstGeom>
          <a:solidFill>
            <a:srgbClr val="14181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680192" y="2834640"/>
            <a:ext cx="841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O(2ⁿ)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1605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fastest-growing (best) → slowest-growing (worst)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484632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7F8F9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484632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remaining lecture in this course will describe its operations in these exact terms — this ordering is the single most-used vocabulary of the semester.</a:t>
            </a:r>
            <a:endParaRPr lang="en-US" sz="1350" dirty="0"/>
          </a:p>
        </p:txBody>
      </p:sp>
      <p:sp>
        <p:nvSpPr>
          <p:cNvPr id="2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474720" cy="3474720"/>
          </a:xfrm>
          <a:prstGeom prst="ellipse">
            <a:avLst/>
          </a:prstGeom>
          <a:solidFill>
            <a:srgbClr val="2FE6C4">
              <a:alpha val="11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8686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310896" cy="310896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83080"/>
            <a:ext cx="10058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are analyzed by counting how basic operations grow with n, not by timing them — this makes the analysis true on any machine, forever.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2734056"/>
            <a:ext cx="310896" cy="310896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688336"/>
            <a:ext cx="10058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 measures operation growth; space complexity measures extra memory growth.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3639312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639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593592"/>
            <a:ext cx="10058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Best-, average-, and worst-case describe the same algorithm on different inputs; this course defaults to worst-case.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22960" y="4544568"/>
            <a:ext cx="310896" cy="310896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544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498848"/>
            <a:ext cx="10058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 is an upper bound, Big-Omega a lower bound, Big-Theta a tight bound where both match.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22960" y="5449824"/>
            <a:ext cx="310896" cy="310896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5449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5404104"/>
            <a:ext cx="10058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timing confirms the theory: at n = 4,000, an O(n²) loop measured roughly 20,000× slower than an O(n) loop, while O(log n) finished too fast to even register.</a:t>
            </a:r>
            <a:endParaRPr lang="en-US" sz="1550" dirty="0"/>
          </a:p>
        </p:txBody>
      </p:sp>
      <p:sp>
        <p:nvSpPr>
          <p:cNvPr id="2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2026-09-23T18:57:58Z</dcterms:created>
  <dcterms:modified xsi:type="dcterms:W3CDTF">2026-09-23T18:57:58Z</dcterms:modified>
</cp:coreProperties>
</file>
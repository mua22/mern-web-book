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cuinotes.com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cuinotes.com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cuinotes.com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cuinotes.com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cuinotes.com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cuinotes.com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cuinotes.com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cuinotes.com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cuinotes.com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cuinotes.com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cuinotes.com" TargetMode="Externa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cuinotes.com" TargetMode="Externa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cuinotes.com" TargetMode="Externa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cuinotes.com" TargetMode="Externa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s://cuinotes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8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822960"/>
            <a:ext cx="822960" cy="822960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8229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377440"/>
            <a:ext cx="10515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 Lists: Fundamentals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41605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CSC211 · Algorithms and Data Structures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61264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COMSATS University Islamabad, Lahore Campus</a:t>
            </a:r>
            <a:endParaRPr lang="en-US" sz="1300" dirty="0"/>
          </a:p>
        </p:txBody>
      </p:sp>
      <p:sp>
        <p:nvSpPr>
          <p:cNvPr id="7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/ Learning Objectives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11064240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2700">
            <a:solidFill>
              <a:srgbClr val="E1E4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77240" y="1536192"/>
            <a:ext cx="438912" cy="438912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53619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417320" y="1472184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arrays alone aren't enough</a:t>
            </a:r>
            <a:endParaRPr lang="en-US" sz="155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1783080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size and O(n) middle insertion motivate a new structure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258568"/>
            <a:ext cx="11064240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2700">
            <a:solidFill>
              <a:srgbClr val="E1E4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77240" y="2377440"/>
            <a:ext cx="438912" cy="438912"/>
          </a:xfrm>
          <a:prstGeom prst="ellipse">
            <a:avLst/>
          </a:prstGeom>
          <a:solidFill>
            <a:srgbClr val="8B7FD9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77240" y="23774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417320" y="2313432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Nodes, head, and tail</a:t>
            </a:r>
            <a:endParaRPr lang="en-US" sz="1550" dirty="0"/>
          </a:p>
        </p:txBody>
      </p:sp>
      <p:sp>
        <p:nvSpPr>
          <p:cNvPr id="12" name="Text 10"/>
          <p:cNvSpPr txBox="1"/>
          <p:nvPr/>
        </p:nvSpPr>
        <p:spPr>
          <a:xfrm>
            <a:off x="1417320" y="2624328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self-referential struct and how a list is organized in memory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099816"/>
            <a:ext cx="11064240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2700">
            <a:solidFill>
              <a:srgbClr val="E1E4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77240" y="3218688"/>
            <a:ext cx="438912" cy="43891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77240" y="321868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1417320" y="3154680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Traversal, insertion, deletion</a:t>
            </a:r>
            <a:endParaRPr lang="en-US" sz="1550" dirty="0"/>
          </a:p>
        </p:txBody>
      </p:sp>
      <p:sp>
        <p:nvSpPr>
          <p:cNvPr id="17" name="Text 15"/>
          <p:cNvSpPr txBox="1"/>
          <p:nvPr/>
        </p:nvSpPr>
        <p:spPr>
          <a:xfrm>
            <a:off x="1417320" y="3465576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the front, and at an arbitrary position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3941064"/>
            <a:ext cx="11064240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2700">
            <a:solidFill>
              <a:srgbClr val="E1E4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77240" y="4059936"/>
            <a:ext cx="438912" cy="438912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77240" y="405993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1417320" y="3995928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cases and the classic bug</a:t>
            </a:r>
            <a:endParaRPr lang="en-US" sz="1550" dirty="0"/>
          </a:p>
        </p:txBody>
      </p:sp>
      <p:sp>
        <p:nvSpPr>
          <p:cNvPr id="22" name="Text 20"/>
          <p:cNvSpPr txBox="1"/>
          <p:nvPr/>
        </p:nvSpPr>
        <p:spPr>
          <a:xfrm>
            <a:off x="1417320" y="4306824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one-node list, and deleting without saving next first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48640" y="4782312"/>
            <a:ext cx="11064240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2700">
            <a:solidFill>
              <a:srgbClr val="E1E4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77240" y="4901184"/>
            <a:ext cx="438912" cy="438912"/>
          </a:xfrm>
          <a:prstGeom prst="ellipse">
            <a:avLst/>
          </a:prstGeom>
          <a:solidFill>
            <a:srgbClr val="8B7FD9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77240" y="490118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1417320" y="4837176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Arrays vs. linked lists</a:t>
            </a:r>
            <a:endParaRPr lang="en-US" sz="1550" dirty="0"/>
          </a:p>
        </p:txBody>
      </p:sp>
      <p:sp>
        <p:nvSpPr>
          <p:cNvPr id="27" name="Text 25"/>
          <p:cNvSpPr txBox="1"/>
          <p:nvPr/>
        </p:nvSpPr>
        <p:spPr>
          <a:xfrm>
            <a:off x="1417320" y="5148072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direct trade-off comparison to close the lecture</a:t>
            </a:r>
            <a:endParaRPr lang="en-US" sz="1200" dirty="0"/>
          </a:p>
        </p:txBody>
      </p:sp>
      <p:sp>
        <p:nvSpPr>
          <p:cNvPr id="28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Arrays Alone Aren't Enough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B8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384048" cy="38404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70432" y="1362456"/>
            <a:ext cx="45902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size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1170432" y="1673352"/>
            <a:ext cx="45902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array's capacity is set at creation — growing it means allocating a new block and copying everything over.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2514600"/>
            <a:ext cx="384048" cy="38404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170432" y="2459736"/>
            <a:ext cx="45902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O(n) middle insertion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1170432" y="2770632"/>
            <a:ext cx="45902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Inserting or removing anywhere but the end shifts every later element.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3611880"/>
            <a:ext cx="384048" cy="384048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170432" y="3557016"/>
            <a:ext cx="45902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linked list fixes both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1170432" y="3867912"/>
            <a:ext cx="45902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grows one element at a time, and insertion/deletion only changes a couple of pointers — no shifting.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6492240" y="11887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 insert at index 1 — everything shifts right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92240" y="1554480"/>
            <a:ext cx="566928" cy="502920"/>
          </a:xfrm>
          <a:prstGeom prst="rect">
            <a:avLst/>
          </a:prstGeom>
          <a:solidFill>
            <a:srgbClr val="FFFFFF"/>
          </a:solidFill>
          <a:ln w="15875">
            <a:solidFill>
              <a:srgbClr val="8B7FD9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92240" y="1554480"/>
            <a:ext cx="566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114032" y="1554480"/>
            <a:ext cx="566928" cy="502920"/>
          </a:xfrm>
          <a:prstGeom prst="rect">
            <a:avLst/>
          </a:prstGeom>
          <a:solidFill>
            <a:srgbClr val="E8A33D"/>
          </a:solidFill>
          <a:ln w="15875">
            <a:solidFill>
              <a:srgbClr val="8B7FD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114032" y="1554480"/>
            <a:ext cx="566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418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735824" y="1554480"/>
            <a:ext cx="566928" cy="502920"/>
          </a:xfrm>
          <a:prstGeom prst="rect">
            <a:avLst/>
          </a:prstGeom>
          <a:solidFill>
            <a:srgbClr val="FFFFFF"/>
          </a:solidFill>
          <a:ln w="15875">
            <a:solidFill>
              <a:srgbClr val="8B7FD9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735824" y="1554480"/>
            <a:ext cx="566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357616" y="1554480"/>
            <a:ext cx="566928" cy="502920"/>
          </a:xfrm>
          <a:prstGeom prst="rect">
            <a:avLst/>
          </a:prstGeom>
          <a:solidFill>
            <a:srgbClr val="FFFFFF"/>
          </a:solidFill>
          <a:ln w="15875">
            <a:solidFill>
              <a:srgbClr val="8B7FD9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357616" y="1554480"/>
            <a:ext cx="566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8979408" y="1554480"/>
            <a:ext cx="566928" cy="502920"/>
          </a:xfrm>
          <a:prstGeom prst="rect">
            <a:avLst/>
          </a:prstGeom>
          <a:solidFill>
            <a:srgbClr val="FFFFFF"/>
          </a:solidFill>
          <a:ln w="15875">
            <a:solidFill>
              <a:srgbClr val="8B7FD9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979408" y="1554480"/>
            <a:ext cx="566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6492240" y="216712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→ shift → shift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6492240" y="26974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 list insert — only 2 pointers change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492240" y="3063240"/>
            <a:ext cx="91440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9050">
            <a:solidFill>
              <a:srgbClr val="2FE6C4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0000"/>
              </a:srgbClr>
            </a:outerShdw>
          </a:effectLst>
        </p:spPr>
      </p:sp>
      <p:sp>
        <p:nvSpPr>
          <p:cNvPr id="27" name="Text 25"/>
          <p:cNvSpPr txBox="1"/>
          <p:nvPr/>
        </p:nvSpPr>
        <p:spPr>
          <a:xfrm>
            <a:off x="6492240" y="309981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endParaRPr lang="en-US" sz="850" dirty="0"/>
          </a:p>
        </p:txBody>
      </p:sp>
      <p:sp>
        <p:nvSpPr>
          <p:cNvPr id="28" name="Text 26"/>
          <p:cNvSpPr txBox="1"/>
          <p:nvPr/>
        </p:nvSpPr>
        <p:spPr>
          <a:xfrm>
            <a:off x="6492240" y="3254350"/>
            <a:ext cx="914400" cy="2916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406640" y="3314700"/>
            <a:ext cx="502920" cy="0"/>
          </a:xfrm>
          <a:prstGeom prst="line">
            <a:avLst/>
          </a:prstGeom>
          <a:noFill/>
          <a:ln w="22225">
            <a:solidFill>
              <a:srgbClr val="2FE6C4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8001000" y="3063240"/>
            <a:ext cx="91440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9050">
            <a:solidFill>
              <a:srgbClr val="2FE6C4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0000"/>
              </a:srgbClr>
            </a:outerShdw>
          </a:effectLst>
        </p:spPr>
      </p:sp>
      <p:sp>
        <p:nvSpPr>
          <p:cNvPr id="31" name="Text 29"/>
          <p:cNvSpPr txBox="1"/>
          <p:nvPr/>
        </p:nvSpPr>
        <p:spPr>
          <a:xfrm>
            <a:off x="8001000" y="309981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endParaRPr lang="en-US" sz="850" dirty="0"/>
          </a:p>
        </p:txBody>
      </p:sp>
      <p:sp>
        <p:nvSpPr>
          <p:cNvPr id="32" name="Text 30"/>
          <p:cNvSpPr txBox="1"/>
          <p:nvPr/>
        </p:nvSpPr>
        <p:spPr>
          <a:xfrm>
            <a:off x="8001000" y="3254350"/>
            <a:ext cx="914400" cy="2916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8915400" y="3314700"/>
            <a:ext cx="502920" cy="0"/>
          </a:xfrm>
          <a:prstGeom prst="line">
            <a:avLst/>
          </a:prstGeom>
          <a:noFill/>
          <a:ln w="22225">
            <a:solidFill>
              <a:srgbClr val="2FE6C4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9509760" y="3063240"/>
            <a:ext cx="914400" cy="502920"/>
          </a:xfrm>
          <a:prstGeom prst="roundRect">
            <a:avLst>
              <a:gd name="adj" fmla="val 10909"/>
            </a:avLst>
          </a:prstGeom>
          <a:solidFill>
            <a:srgbClr val="E6FBF6"/>
          </a:solidFill>
          <a:ln w="19050">
            <a:solidFill>
              <a:srgbClr val="2FE6C4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0000"/>
              </a:srgbClr>
            </a:outerShdw>
          </a:effectLst>
        </p:spPr>
      </p:sp>
      <p:sp>
        <p:nvSpPr>
          <p:cNvPr id="35" name="Text 33"/>
          <p:cNvSpPr txBox="1"/>
          <p:nvPr/>
        </p:nvSpPr>
        <p:spPr>
          <a:xfrm>
            <a:off x="9509760" y="309981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endParaRPr lang="en-US" sz="850" dirty="0"/>
          </a:p>
        </p:txBody>
      </p:sp>
      <p:sp>
        <p:nvSpPr>
          <p:cNvPr id="36" name="Text 34"/>
          <p:cNvSpPr txBox="1"/>
          <p:nvPr/>
        </p:nvSpPr>
        <p:spPr>
          <a:xfrm>
            <a:off x="9509760" y="3254350"/>
            <a:ext cx="914400" cy="2916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6492240" y="374904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B8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node — 2 pointer writes only</a:t>
            </a:r>
            <a:endParaRPr lang="en-US" sz="1050" dirty="0"/>
          </a:p>
        </p:txBody>
      </p:sp>
      <p:sp>
        <p:nvSpPr>
          <p:cNvPr id="38" name="Text 36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CSC211 · Algorithms and Data Structures</a:t>
            </a:r>
            <a:endParaRPr lang="en-US" sz="900" dirty="0"/>
          </a:p>
        </p:txBody>
      </p:sp>
      <p:sp>
        <p:nvSpPr>
          <p:cNvPr id="39" name="Text 37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40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Linked List Concept &amp; Memory Layout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B8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IDEA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node is its own independently-allocated chunk of memory; the chain of pointers is what makes it a "list" — nodes can be scattered anywhere.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274320" y="2578608"/>
            <a:ext cx="548640" cy="512064"/>
          </a:xfrm>
          <a:prstGeom prst="roundRect">
            <a:avLst>
              <a:gd name="adj" fmla="val 50000"/>
            </a:avLst>
          </a:prstGeom>
          <a:solidFill>
            <a:srgbClr val="14181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274320" y="2578608"/>
            <a:ext cx="548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head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22960" y="2834640"/>
            <a:ext cx="182880" cy="0"/>
          </a:xfrm>
          <a:prstGeom prst="line">
            <a:avLst/>
          </a:prstGeom>
          <a:noFill/>
          <a:ln w="22225">
            <a:solidFill>
              <a:srgbClr val="8B7FD9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1005840" y="2377440"/>
            <a:ext cx="192024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8B7FD9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1005840" y="2414016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2724912"/>
            <a:ext cx="960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965960" y="2423160"/>
            <a:ext cx="0" cy="822960"/>
          </a:xfrm>
          <a:prstGeom prst="line">
            <a:avLst/>
          </a:prstGeom>
          <a:noFill/>
          <a:ln w="12700">
            <a:solidFill>
              <a:srgbClr val="8B7FD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965960" y="2414016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1965960" y="2724912"/>
            <a:ext cx="960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8A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926080" y="2834640"/>
            <a:ext cx="685800" cy="0"/>
          </a:xfrm>
          <a:prstGeom prst="line">
            <a:avLst/>
          </a:prstGeom>
          <a:noFill/>
          <a:ln w="22225">
            <a:solidFill>
              <a:srgbClr val="8B7FD9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3611880" y="2377440"/>
            <a:ext cx="192024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8B7FD9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3611880" y="2414016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850" dirty="0"/>
          </a:p>
        </p:txBody>
      </p:sp>
      <p:sp>
        <p:nvSpPr>
          <p:cNvPr id="17" name="Text 15"/>
          <p:cNvSpPr txBox="1"/>
          <p:nvPr/>
        </p:nvSpPr>
        <p:spPr>
          <a:xfrm>
            <a:off x="3611880" y="2724912"/>
            <a:ext cx="960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0" y="2423160"/>
            <a:ext cx="0" cy="822960"/>
          </a:xfrm>
          <a:prstGeom prst="line">
            <a:avLst/>
          </a:prstGeom>
          <a:noFill/>
          <a:ln w="12700">
            <a:solidFill>
              <a:srgbClr val="8B7FD9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572000" y="2414016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850" dirty="0"/>
          </a:p>
        </p:txBody>
      </p:sp>
      <p:sp>
        <p:nvSpPr>
          <p:cNvPr id="20" name="Text 18"/>
          <p:cNvSpPr txBox="1"/>
          <p:nvPr/>
        </p:nvSpPr>
        <p:spPr>
          <a:xfrm>
            <a:off x="4572000" y="2724912"/>
            <a:ext cx="960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8A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532120" y="2834640"/>
            <a:ext cx="685800" cy="0"/>
          </a:xfrm>
          <a:prstGeom prst="line">
            <a:avLst/>
          </a:prstGeom>
          <a:noFill/>
          <a:ln w="22225">
            <a:solidFill>
              <a:srgbClr val="8B7FD9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6217920" y="2377440"/>
            <a:ext cx="192024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8B7FD9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6217920" y="2414016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850" dirty="0"/>
          </a:p>
        </p:txBody>
      </p:sp>
      <p:sp>
        <p:nvSpPr>
          <p:cNvPr id="24" name="Text 22"/>
          <p:cNvSpPr txBox="1"/>
          <p:nvPr/>
        </p:nvSpPr>
        <p:spPr>
          <a:xfrm>
            <a:off x="6217920" y="2724912"/>
            <a:ext cx="960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178040" y="2423160"/>
            <a:ext cx="0" cy="822960"/>
          </a:xfrm>
          <a:prstGeom prst="line">
            <a:avLst/>
          </a:prstGeom>
          <a:noFill/>
          <a:ln w="12700">
            <a:solidFill>
              <a:srgbClr val="8B7FD9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178040" y="2414016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850" dirty="0"/>
          </a:p>
        </p:txBody>
      </p:sp>
      <p:sp>
        <p:nvSpPr>
          <p:cNvPr id="27" name="Text 25"/>
          <p:cNvSpPr txBox="1"/>
          <p:nvPr/>
        </p:nvSpPr>
        <p:spPr>
          <a:xfrm>
            <a:off x="7178040" y="2724912"/>
            <a:ext cx="960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8A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8138160" y="2834640"/>
            <a:ext cx="685800" cy="0"/>
          </a:xfrm>
          <a:prstGeom prst="line">
            <a:avLst/>
          </a:prstGeom>
          <a:noFill/>
          <a:ln w="22225">
            <a:solidFill>
              <a:srgbClr val="8B7FD9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8823960" y="2377440"/>
            <a:ext cx="1920240" cy="914400"/>
          </a:xfrm>
          <a:prstGeom prst="roundRect">
            <a:avLst>
              <a:gd name="adj" fmla="val 6000"/>
            </a:avLst>
          </a:prstGeom>
          <a:solidFill>
            <a:srgbClr val="EDEFF1"/>
          </a:solidFill>
          <a:ln w="12700">
            <a:solidFill>
              <a:srgbClr val="5A6570"/>
            </a:solidFill>
            <a:prstDash val="dash"/>
          </a:ln>
        </p:spPr>
      </p:sp>
      <p:sp>
        <p:nvSpPr>
          <p:cNvPr id="30" name="Text 28"/>
          <p:cNvSpPr txBox="1"/>
          <p:nvPr/>
        </p:nvSpPr>
        <p:spPr>
          <a:xfrm>
            <a:off x="8823960" y="237744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5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548640" y="37490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Nodes may live at completely different, non-contiguous addresses in memory.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CSC211 · Algorithms and Data Structures</a:t>
            </a:r>
            <a:endParaRPr lang="en-US" sz="900" dirty="0"/>
          </a:p>
        </p:txBody>
      </p:sp>
      <p:sp>
        <p:nvSpPr>
          <p:cNvPr id="33" name="Text 31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34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Node Structure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B8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IDEA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node bundles the data with a pointer to the next node — a self-referential structure.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5669280" cy="2286000"/>
          </a:xfrm>
          <a:prstGeom prst="roundRect">
            <a:avLst>
              <a:gd name="adj" fmla="val 4000"/>
            </a:avLst>
          </a:prstGeom>
          <a:solidFill>
            <a:srgbClr val="14181C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68680" y="196596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E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linked_list_basics.cpp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896112" y="2331720"/>
            <a:ext cx="5157216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Node {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data;       // the value this node holds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2FE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Node* next;     // address of the next node,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2FE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// or nullptr if this is last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675120" y="2011680"/>
            <a:ext cx="384048" cy="384048"/>
          </a:xfrm>
          <a:prstGeom prst="ellipse">
            <a:avLst/>
          </a:prstGeom>
          <a:solidFill>
            <a:srgbClr val="8B7FD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205472" y="1956816"/>
            <a:ext cx="42245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Self-referential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7205472" y="2267712"/>
            <a:ext cx="4224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Node contains a pointer to another Node of the exact same type.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675120" y="3063240"/>
            <a:ext cx="384048" cy="384048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205472" y="3008376"/>
            <a:ext cx="42245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idea behind everything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7205472" y="3319272"/>
            <a:ext cx="4224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single pattern makes linked lists — and later, trees and graphs — possible.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CSC211 · Algorithms and Data Structures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16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and Tail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B8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IDEA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463040" y="2103120"/>
            <a:ext cx="173736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9050">
            <a:solidFill>
              <a:srgbClr val="8B7FD9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1463040" y="2139696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1463040" y="2433218"/>
            <a:ext cx="868680" cy="503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331720" y="2148840"/>
            <a:ext cx="0" cy="777240"/>
          </a:xfrm>
          <a:prstGeom prst="line">
            <a:avLst/>
          </a:prstGeom>
          <a:noFill/>
          <a:ln w="12700">
            <a:solidFill>
              <a:srgbClr val="8B7FD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331720" y="2139696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850" dirty="0"/>
          </a:p>
        </p:txBody>
      </p:sp>
      <p:sp>
        <p:nvSpPr>
          <p:cNvPr id="9" name="Text 7"/>
          <p:cNvSpPr txBox="1"/>
          <p:nvPr/>
        </p:nvSpPr>
        <p:spPr>
          <a:xfrm>
            <a:off x="2331720" y="2433218"/>
            <a:ext cx="868680" cy="503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8A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00400" y="2537460"/>
            <a:ext cx="548640" cy="0"/>
          </a:xfrm>
          <a:prstGeom prst="line">
            <a:avLst/>
          </a:prstGeom>
          <a:noFill/>
          <a:ln w="22225">
            <a:solidFill>
              <a:srgbClr val="8B7FD9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749040" y="2103120"/>
            <a:ext cx="173736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9050">
            <a:solidFill>
              <a:srgbClr val="8B7FD9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3749040" y="2139696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3749040" y="2433218"/>
            <a:ext cx="868680" cy="503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617720" y="2148840"/>
            <a:ext cx="0" cy="777240"/>
          </a:xfrm>
          <a:prstGeom prst="line">
            <a:avLst/>
          </a:prstGeom>
          <a:noFill/>
          <a:ln w="12700">
            <a:solidFill>
              <a:srgbClr val="8B7FD9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617720" y="2139696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850" dirty="0"/>
          </a:p>
        </p:txBody>
      </p:sp>
      <p:sp>
        <p:nvSpPr>
          <p:cNvPr id="16" name="Text 14"/>
          <p:cNvSpPr txBox="1"/>
          <p:nvPr/>
        </p:nvSpPr>
        <p:spPr>
          <a:xfrm>
            <a:off x="4617720" y="2433218"/>
            <a:ext cx="868680" cy="503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8A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0" y="2537460"/>
            <a:ext cx="548640" cy="0"/>
          </a:xfrm>
          <a:prstGeom prst="line">
            <a:avLst/>
          </a:prstGeom>
          <a:noFill/>
          <a:ln w="22225">
            <a:solidFill>
              <a:srgbClr val="8B7FD9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6035040" y="2103120"/>
            <a:ext cx="173736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9050">
            <a:solidFill>
              <a:srgbClr val="8B7FD9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6035040" y="2139696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850" dirty="0"/>
          </a:p>
        </p:txBody>
      </p:sp>
      <p:sp>
        <p:nvSpPr>
          <p:cNvPr id="20" name="Text 18"/>
          <p:cNvSpPr txBox="1"/>
          <p:nvPr/>
        </p:nvSpPr>
        <p:spPr>
          <a:xfrm>
            <a:off x="6035040" y="2433218"/>
            <a:ext cx="868680" cy="503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903720" y="2148840"/>
            <a:ext cx="0" cy="777240"/>
          </a:xfrm>
          <a:prstGeom prst="line">
            <a:avLst/>
          </a:prstGeom>
          <a:noFill/>
          <a:ln w="12700">
            <a:solidFill>
              <a:srgbClr val="8B7FD9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903720" y="2139696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850" dirty="0"/>
          </a:p>
        </p:txBody>
      </p:sp>
      <p:sp>
        <p:nvSpPr>
          <p:cNvPr id="23" name="Text 21"/>
          <p:cNvSpPr txBox="1"/>
          <p:nvPr/>
        </p:nvSpPr>
        <p:spPr>
          <a:xfrm>
            <a:off x="6903720" y="2433218"/>
            <a:ext cx="868680" cy="503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8A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7772400" y="2537460"/>
            <a:ext cx="457200" cy="0"/>
          </a:xfrm>
          <a:prstGeom prst="line">
            <a:avLst/>
          </a:prstGeom>
          <a:noFill/>
          <a:ln w="22225">
            <a:solidFill>
              <a:srgbClr val="8B7FD9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8229600" y="2103120"/>
            <a:ext cx="1371600" cy="868680"/>
          </a:xfrm>
          <a:prstGeom prst="roundRect">
            <a:avLst>
              <a:gd name="adj" fmla="val 6316"/>
            </a:avLst>
          </a:prstGeom>
          <a:solidFill>
            <a:srgbClr val="EDEFF1"/>
          </a:solidFill>
          <a:ln w="12700">
            <a:solidFill>
              <a:srgbClr val="5A6570"/>
            </a:solidFill>
            <a:prstDash val="dash"/>
          </a:ln>
        </p:spPr>
      </p:sp>
      <p:sp>
        <p:nvSpPr>
          <p:cNvPr id="26" name="Text 24"/>
          <p:cNvSpPr txBox="1"/>
          <p:nvPr/>
        </p:nvSpPr>
        <p:spPr>
          <a:xfrm>
            <a:off x="8229600" y="2103120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5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1280160" y="16002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8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2331720" y="1901952"/>
            <a:ext cx="0" cy="201168"/>
          </a:xfrm>
          <a:prstGeom prst="line">
            <a:avLst/>
          </a:prstGeom>
          <a:noFill/>
          <a:ln w="22225">
            <a:solidFill>
              <a:srgbClr val="1B8A77"/>
            </a:solidFill>
            <a:prstDash val="solid"/>
            <a:tailEnd type="triangle"/>
          </a:ln>
        </p:spPr>
      </p:sp>
      <p:sp>
        <p:nvSpPr>
          <p:cNvPr id="29" name="Text 27"/>
          <p:cNvSpPr txBox="1"/>
          <p:nvPr/>
        </p:nvSpPr>
        <p:spPr>
          <a:xfrm>
            <a:off x="5852160" y="31546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 flipV="1">
            <a:off x="6903720" y="2971800"/>
            <a:ext cx="0" cy="182880"/>
          </a:xfrm>
          <a:prstGeom prst="line">
            <a:avLst/>
          </a:prstGeom>
          <a:noFill/>
          <a:ln w="22225">
            <a:solidFill>
              <a:srgbClr val="E8A33D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640080" y="3794760"/>
            <a:ext cx="384048" cy="384048"/>
          </a:xfrm>
          <a:prstGeom prst="ellipse">
            <a:avLst/>
          </a:prstGeom>
          <a:solidFill>
            <a:srgbClr val="1B8A77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1170432" y="3739896"/>
            <a:ext cx="45902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</a:t>
            </a:r>
            <a:endParaRPr lang="en-US" sz="1450" dirty="0"/>
          </a:p>
        </p:txBody>
      </p:sp>
      <p:sp>
        <p:nvSpPr>
          <p:cNvPr id="33" name="Text 31"/>
          <p:cNvSpPr txBox="1"/>
          <p:nvPr/>
        </p:nvSpPr>
        <p:spPr>
          <a:xfrm>
            <a:off x="1170432" y="4050792"/>
            <a:ext cx="45902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Pointer to the first node — the only thing needed to reach the entire list. nullptr means the list is empty.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6309360" y="3794760"/>
            <a:ext cx="384048" cy="38404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6839712" y="3739896"/>
            <a:ext cx="45902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</a:t>
            </a:r>
            <a:endParaRPr lang="en-US" sz="1450" dirty="0"/>
          </a:p>
        </p:txBody>
      </p:sp>
      <p:sp>
        <p:nvSpPr>
          <p:cNvPr id="36" name="Text 34"/>
          <p:cNvSpPr txBox="1"/>
          <p:nvPr/>
        </p:nvSpPr>
        <p:spPr>
          <a:xfrm>
            <a:off x="6839712" y="4050792"/>
            <a:ext cx="45902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last node — the one whose next is nullptr, marking the end of the chain.</a:t>
            </a:r>
            <a:endParaRPr lang="en-US" sz="1250" dirty="0"/>
          </a:p>
        </p:txBody>
      </p:sp>
      <p:sp>
        <p:nvSpPr>
          <p:cNvPr id="37" name="Text 35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CSC211 · Algorithms and Data Structures</a:t>
            </a:r>
            <a:endParaRPr lang="en-US" sz="900" dirty="0"/>
          </a:p>
        </p:txBody>
      </p:sp>
      <p:sp>
        <p:nvSpPr>
          <p:cNvPr id="38" name="Text 36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39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Creating and Traversing a List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B8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40080" y="1280160"/>
            <a:ext cx="5669280" cy="3520440"/>
          </a:xfrm>
          <a:prstGeom prst="roundRect">
            <a:avLst>
              <a:gd name="adj" fmla="val 2597"/>
            </a:avLst>
          </a:prstGeom>
          <a:solidFill>
            <a:srgbClr val="14181C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68680" y="137160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E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linked_list_basics.cpp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896112" y="1737360"/>
            <a:ext cx="5157216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Node* createNode(int value) {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Node* newNode = new Node();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newNode-&gt;data = value;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newNode-&gt;next = nullptr;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newNode;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2FE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traverse(Node* head) {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2FE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Node* current = head;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2FE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while (current != nullptr) {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2FE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cout &lt;&lt; current-&gt;data;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2FE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current = current-&gt;next;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2FE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2FE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675120" y="1280160"/>
            <a:ext cx="4754880" cy="1005840"/>
          </a:xfrm>
          <a:prstGeom prst="roundRect">
            <a:avLst>
              <a:gd name="adj" fmla="val 9091"/>
            </a:avLst>
          </a:prstGeom>
          <a:solidFill>
            <a:srgbClr val="14181C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931152" y="1481328"/>
            <a:ext cx="4242816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./linked_list_basics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2FE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List: 10 -&gt; 20 -&gt; 30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675120" y="2606040"/>
            <a:ext cx="384048" cy="384048"/>
          </a:xfrm>
          <a:prstGeom prst="ellipse">
            <a:avLst/>
          </a:prstGeom>
          <a:solidFill>
            <a:srgbClr val="8B7FD9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205472" y="2551176"/>
            <a:ext cx="42245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createNode(value)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7205472" y="2862072"/>
            <a:ext cx="4224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Allocates one node on the heap, sets its data, and nulls its next pointer.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675120" y="3566160"/>
            <a:ext cx="384048" cy="384048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205472" y="3511296"/>
            <a:ext cx="42245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traverse(head)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7205472" y="3822192"/>
            <a:ext cx="4224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Walks from head until current is nullptr — the standard O(n) walk pattern.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CSC211 · Algorithms and Data Structures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17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Insertion at the Front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B8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new node, point its next at the current head, then make the new node the head. No existing node moves.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874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651760" y="2194560"/>
            <a:ext cx="146304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9050">
            <a:solidFill>
              <a:srgbClr val="8B7FD9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2651760" y="2231136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2651760" y="2489911"/>
            <a:ext cx="731520" cy="4507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383280" y="2240280"/>
            <a:ext cx="0" cy="685800"/>
          </a:xfrm>
          <a:prstGeom prst="line">
            <a:avLst/>
          </a:prstGeom>
          <a:noFill/>
          <a:ln w="12700">
            <a:solidFill>
              <a:srgbClr val="8B7FD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383280" y="2231136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850" dirty="0"/>
          </a:p>
        </p:txBody>
      </p:sp>
      <p:sp>
        <p:nvSpPr>
          <p:cNvPr id="11" name="Text 9"/>
          <p:cNvSpPr txBox="1"/>
          <p:nvPr/>
        </p:nvSpPr>
        <p:spPr>
          <a:xfrm>
            <a:off x="3383280" y="2489911"/>
            <a:ext cx="731520" cy="4507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8A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114800" y="2583180"/>
            <a:ext cx="502920" cy="0"/>
          </a:xfrm>
          <a:prstGeom prst="line">
            <a:avLst/>
          </a:prstGeom>
          <a:noFill/>
          <a:ln w="22225">
            <a:solidFill>
              <a:srgbClr val="8B7FD9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617720" y="2194560"/>
            <a:ext cx="146304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9050">
            <a:solidFill>
              <a:srgbClr val="8B7FD9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4617720" y="2231136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850" dirty="0"/>
          </a:p>
        </p:txBody>
      </p:sp>
      <p:sp>
        <p:nvSpPr>
          <p:cNvPr id="15" name="Text 13"/>
          <p:cNvSpPr txBox="1"/>
          <p:nvPr/>
        </p:nvSpPr>
        <p:spPr>
          <a:xfrm>
            <a:off x="4617720" y="2489911"/>
            <a:ext cx="731520" cy="4507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349240" y="2240280"/>
            <a:ext cx="0" cy="685800"/>
          </a:xfrm>
          <a:prstGeom prst="line">
            <a:avLst/>
          </a:prstGeom>
          <a:noFill/>
          <a:ln w="12700">
            <a:solidFill>
              <a:srgbClr val="8B7FD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349240" y="2231136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850" dirty="0"/>
          </a:p>
        </p:txBody>
      </p:sp>
      <p:sp>
        <p:nvSpPr>
          <p:cNvPr id="18" name="Text 16"/>
          <p:cNvSpPr txBox="1"/>
          <p:nvPr/>
        </p:nvSpPr>
        <p:spPr>
          <a:xfrm>
            <a:off x="5349240" y="2489911"/>
            <a:ext cx="731520" cy="4507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8A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080760" y="2583180"/>
            <a:ext cx="502920" cy="0"/>
          </a:xfrm>
          <a:prstGeom prst="line">
            <a:avLst/>
          </a:prstGeom>
          <a:noFill/>
          <a:ln w="22225">
            <a:solidFill>
              <a:srgbClr val="8B7FD9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6583680" y="2194560"/>
            <a:ext cx="146304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9050">
            <a:solidFill>
              <a:srgbClr val="8B7FD9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6583680" y="2231136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850" dirty="0"/>
          </a:p>
        </p:txBody>
      </p:sp>
      <p:sp>
        <p:nvSpPr>
          <p:cNvPr id="22" name="Text 20"/>
          <p:cNvSpPr txBox="1"/>
          <p:nvPr/>
        </p:nvSpPr>
        <p:spPr>
          <a:xfrm>
            <a:off x="6583680" y="2489911"/>
            <a:ext cx="731520" cy="4507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7315200" y="2240280"/>
            <a:ext cx="0" cy="685800"/>
          </a:xfrm>
          <a:prstGeom prst="line">
            <a:avLst/>
          </a:prstGeom>
          <a:noFill/>
          <a:ln w="12700">
            <a:solidFill>
              <a:srgbClr val="8B7FD9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315200" y="2231136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850" dirty="0"/>
          </a:p>
        </p:txBody>
      </p:sp>
      <p:sp>
        <p:nvSpPr>
          <p:cNvPr id="25" name="Text 23"/>
          <p:cNvSpPr txBox="1"/>
          <p:nvPr/>
        </p:nvSpPr>
        <p:spPr>
          <a:xfrm>
            <a:off x="7315200" y="2489911"/>
            <a:ext cx="731520" cy="4507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8A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600200" y="24460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B8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2514600" y="2583180"/>
            <a:ext cx="137160" cy="0"/>
          </a:xfrm>
          <a:prstGeom prst="line">
            <a:avLst/>
          </a:prstGeom>
          <a:noFill/>
          <a:ln w="22225">
            <a:solidFill>
              <a:srgbClr val="1B8A77"/>
            </a:solidFill>
            <a:prstDash val="solid"/>
            <a:tailEnd type="triangle"/>
          </a:ln>
        </p:spPr>
      </p:sp>
      <p:sp>
        <p:nvSpPr>
          <p:cNvPr id="28" name="Text 26"/>
          <p:cNvSpPr txBox="1"/>
          <p:nvPr/>
        </p:nvSpPr>
        <p:spPr>
          <a:xfrm>
            <a:off x="548640" y="34290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 insertAtFront(head, 5)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417320" y="3749040"/>
            <a:ext cx="1463040" cy="777240"/>
          </a:xfrm>
          <a:prstGeom prst="roundRect">
            <a:avLst>
              <a:gd name="adj" fmla="val 7059"/>
            </a:avLst>
          </a:prstGeom>
          <a:solidFill>
            <a:srgbClr val="E6FBF6"/>
          </a:solidFill>
          <a:ln w="19050">
            <a:solidFill>
              <a:srgbClr val="2FE6C4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0000"/>
              </a:srgbClr>
            </a:outerShdw>
          </a:effectLst>
        </p:spPr>
      </p:sp>
      <p:sp>
        <p:nvSpPr>
          <p:cNvPr id="30" name="Text 28"/>
          <p:cNvSpPr txBox="1"/>
          <p:nvPr/>
        </p:nvSpPr>
        <p:spPr>
          <a:xfrm>
            <a:off x="1417320" y="3785616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850" dirty="0"/>
          </a:p>
        </p:txBody>
      </p:sp>
      <p:sp>
        <p:nvSpPr>
          <p:cNvPr id="31" name="Text 29"/>
          <p:cNvSpPr txBox="1"/>
          <p:nvPr/>
        </p:nvSpPr>
        <p:spPr>
          <a:xfrm>
            <a:off x="1417320" y="4044391"/>
            <a:ext cx="731520" cy="4507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2148840" y="3794760"/>
            <a:ext cx="0" cy="685800"/>
          </a:xfrm>
          <a:prstGeom prst="line">
            <a:avLst/>
          </a:prstGeom>
          <a:noFill/>
          <a:ln w="12700">
            <a:solidFill>
              <a:srgbClr val="2FE6C4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2148840" y="3785616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850" dirty="0"/>
          </a:p>
        </p:txBody>
      </p:sp>
      <p:sp>
        <p:nvSpPr>
          <p:cNvPr id="34" name="Text 32"/>
          <p:cNvSpPr txBox="1"/>
          <p:nvPr/>
        </p:nvSpPr>
        <p:spPr>
          <a:xfrm>
            <a:off x="2148840" y="4044391"/>
            <a:ext cx="731520" cy="4507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8A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2880360" y="4137660"/>
            <a:ext cx="457200" cy="0"/>
          </a:xfrm>
          <a:prstGeom prst="line">
            <a:avLst/>
          </a:prstGeom>
          <a:noFill/>
          <a:ln w="22225">
            <a:solidFill>
              <a:srgbClr val="2FE6C4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3337560" y="3749040"/>
            <a:ext cx="146304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9050">
            <a:solidFill>
              <a:srgbClr val="8B7FD9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0000"/>
              </a:srgbClr>
            </a:outerShdw>
          </a:effectLst>
        </p:spPr>
      </p:sp>
      <p:sp>
        <p:nvSpPr>
          <p:cNvPr id="37" name="Text 35"/>
          <p:cNvSpPr txBox="1"/>
          <p:nvPr/>
        </p:nvSpPr>
        <p:spPr>
          <a:xfrm>
            <a:off x="3337560" y="3785616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850" dirty="0"/>
          </a:p>
        </p:txBody>
      </p:sp>
      <p:sp>
        <p:nvSpPr>
          <p:cNvPr id="38" name="Text 36"/>
          <p:cNvSpPr txBox="1"/>
          <p:nvPr/>
        </p:nvSpPr>
        <p:spPr>
          <a:xfrm>
            <a:off x="3337560" y="4044391"/>
            <a:ext cx="731520" cy="4507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4069080" y="3794760"/>
            <a:ext cx="0" cy="685800"/>
          </a:xfrm>
          <a:prstGeom prst="line">
            <a:avLst/>
          </a:prstGeom>
          <a:noFill/>
          <a:ln w="12700">
            <a:solidFill>
              <a:srgbClr val="8B7FD9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4069080" y="3785616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850" dirty="0"/>
          </a:p>
        </p:txBody>
      </p:sp>
      <p:sp>
        <p:nvSpPr>
          <p:cNvPr id="41" name="Text 39"/>
          <p:cNvSpPr txBox="1"/>
          <p:nvPr/>
        </p:nvSpPr>
        <p:spPr>
          <a:xfrm>
            <a:off x="4069080" y="4044391"/>
            <a:ext cx="731520" cy="4507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8A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4800600" y="4137660"/>
            <a:ext cx="457200" cy="0"/>
          </a:xfrm>
          <a:prstGeom prst="line">
            <a:avLst/>
          </a:prstGeom>
          <a:noFill/>
          <a:ln w="22225">
            <a:solidFill>
              <a:srgbClr val="8B7FD9"/>
            </a:solidFill>
            <a:prstDash val="solid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5257800" y="3749040"/>
            <a:ext cx="146304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9050">
            <a:solidFill>
              <a:srgbClr val="8B7FD9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0000"/>
              </a:srgbClr>
            </a:outerShdw>
          </a:effectLst>
        </p:spPr>
      </p:sp>
      <p:sp>
        <p:nvSpPr>
          <p:cNvPr id="44" name="Text 42"/>
          <p:cNvSpPr txBox="1"/>
          <p:nvPr/>
        </p:nvSpPr>
        <p:spPr>
          <a:xfrm>
            <a:off x="5257800" y="3785616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850" dirty="0"/>
          </a:p>
        </p:txBody>
      </p:sp>
      <p:sp>
        <p:nvSpPr>
          <p:cNvPr id="45" name="Text 43"/>
          <p:cNvSpPr txBox="1"/>
          <p:nvPr/>
        </p:nvSpPr>
        <p:spPr>
          <a:xfrm>
            <a:off x="5257800" y="4044391"/>
            <a:ext cx="731520" cy="4507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5989320" y="3794760"/>
            <a:ext cx="0" cy="685800"/>
          </a:xfrm>
          <a:prstGeom prst="line">
            <a:avLst/>
          </a:prstGeom>
          <a:noFill/>
          <a:ln w="12700">
            <a:solidFill>
              <a:srgbClr val="8B7FD9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5989320" y="3785616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850" dirty="0"/>
          </a:p>
        </p:txBody>
      </p:sp>
      <p:sp>
        <p:nvSpPr>
          <p:cNvPr id="48" name="Text 46"/>
          <p:cNvSpPr txBox="1"/>
          <p:nvPr/>
        </p:nvSpPr>
        <p:spPr>
          <a:xfrm>
            <a:off x="5989320" y="4044391"/>
            <a:ext cx="731520" cy="4507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8A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>
            <a:off x="6720840" y="4137660"/>
            <a:ext cx="457200" cy="0"/>
          </a:xfrm>
          <a:prstGeom prst="line">
            <a:avLst/>
          </a:prstGeom>
          <a:noFill/>
          <a:ln w="22225">
            <a:solidFill>
              <a:srgbClr val="8B7FD9"/>
            </a:solidFill>
            <a:prstDash val="solid"/>
            <a:tailEnd type="triangle"/>
          </a:ln>
        </p:spPr>
      </p:sp>
      <p:sp>
        <p:nvSpPr>
          <p:cNvPr id="50" name="Shape 48"/>
          <p:cNvSpPr/>
          <p:nvPr/>
        </p:nvSpPr>
        <p:spPr>
          <a:xfrm>
            <a:off x="7178040" y="3749040"/>
            <a:ext cx="146304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9050">
            <a:solidFill>
              <a:srgbClr val="8B7FD9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0000"/>
              </a:srgbClr>
            </a:outerShdw>
          </a:effectLst>
        </p:spPr>
      </p:sp>
      <p:sp>
        <p:nvSpPr>
          <p:cNvPr id="51" name="Text 49"/>
          <p:cNvSpPr txBox="1"/>
          <p:nvPr/>
        </p:nvSpPr>
        <p:spPr>
          <a:xfrm>
            <a:off x="7178040" y="3785616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850" dirty="0"/>
          </a:p>
        </p:txBody>
      </p:sp>
      <p:sp>
        <p:nvSpPr>
          <p:cNvPr id="52" name="Text 50"/>
          <p:cNvSpPr txBox="1"/>
          <p:nvPr/>
        </p:nvSpPr>
        <p:spPr>
          <a:xfrm>
            <a:off x="7178040" y="4044391"/>
            <a:ext cx="731520" cy="4507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300" dirty="0"/>
          </a:p>
        </p:txBody>
      </p:sp>
      <p:sp>
        <p:nvSpPr>
          <p:cNvPr id="53" name="Shape 51"/>
          <p:cNvSpPr/>
          <p:nvPr/>
        </p:nvSpPr>
        <p:spPr>
          <a:xfrm>
            <a:off x="7909560" y="3794760"/>
            <a:ext cx="0" cy="685800"/>
          </a:xfrm>
          <a:prstGeom prst="line">
            <a:avLst/>
          </a:prstGeom>
          <a:noFill/>
          <a:ln w="12700">
            <a:solidFill>
              <a:srgbClr val="8B7FD9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7909560" y="3785616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850" dirty="0"/>
          </a:p>
        </p:txBody>
      </p:sp>
      <p:sp>
        <p:nvSpPr>
          <p:cNvPr id="55" name="Text 53"/>
          <p:cNvSpPr txBox="1"/>
          <p:nvPr/>
        </p:nvSpPr>
        <p:spPr>
          <a:xfrm>
            <a:off x="7909560" y="4044391"/>
            <a:ext cx="731520" cy="4507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8A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</a:t>
            </a:r>
            <a:endParaRPr lang="en-US" sz="1300" dirty="0"/>
          </a:p>
        </p:txBody>
      </p:sp>
      <p:sp>
        <p:nvSpPr>
          <p:cNvPr id="56" name="Text 54"/>
          <p:cNvSpPr txBox="1"/>
          <p:nvPr/>
        </p:nvSpPr>
        <p:spPr>
          <a:xfrm>
            <a:off x="365760" y="40005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B8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1280160" y="4137660"/>
            <a:ext cx="137160" cy="0"/>
          </a:xfrm>
          <a:prstGeom prst="line">
            <a:avLst/>
          </a:prstGeom>
          <a:noFill/>
          <a:ln w="22225">
            <a:solidFill>
              <a:srgbClr val="1B8A77"/>
            </a:solidFill>
            <a:prstDash val="solid"/>
            <a:tailEnd type="triangle"/>
          </a:ln>
        </p:spPr>
      </p:sp>
      <p:sp>
        <p:nvSpPr>
          <p:cNvPr id="58" name="Text 56"/>
          <p:cNvSpPr txBox="1"/>
          <p:nvPr/>
        </p:nvSpPr>
        <p:spPr>
          <a:xfrm>
            <a:off x="1417320" y="46360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B8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new node's next = old head   2. head = new node</a:t>
            </a:r>
            <a:endParaRPr lang="en-US" sz="1100" dirty="0"/>
          </a:p>
        </p:txBody>
      </p:sp>
      <p:sp>
        <p:nvSpPr>
          <p:cNvPr id="59" name="Text 57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CSC211 · Algorithms and Data Structures</a:t>
            </a:r>
            <a:endParaRPr lang="en-US" sz="900" dirty="0"/>
          </a:p>
        </p:txBody>
      </p:sp>
      <p:sp>
        <p:nvSpPr>
          <p:cNvPr id="60" name="Text 58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61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Insertion &amp; Deletion at the Front — Code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B8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40080" y="1280160"/>
            <a:ext cx="5486400" cy="2377440"/>
          </a:xfrm>
          <a:prstGeom prst="roundRect">
            <a:avLst>
              <a:gd name="adj" fmla="val 3846"/>
            </a:avLst>
          </a:prstGeom>
          <a:solidFill>
            <a:srgbClr val="14181C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68680" y="13716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E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linked_list_insert.cpp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896112" y="1737360"/>
            <a:ext cx="4974336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Insert value at the front; returns the new head.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Node* insertAtFront(Node* head, int value) {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Node* newNode = createNode(value);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2FE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newNode-&gt;next = head;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2FE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newNode;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309360" y="1280160"/>
            <a:ext cx="5120640" cy="2377440"/>
          </a:xfrm>
          <a:prstGeom prst="roundRect">
            <a:avLst>
              <a:gd name="adj" fmla="val 3846"/>
            </a:avLst>
          </a:prstGeom>
          <a:solidFill>
            <a:srgbClr val="14181C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537960" y="137160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E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linked_list_delete.cpp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6565392" y="1737360"/>
            <a:ext cx="4608576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Delete the front node; returns the new head.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Node* deleteFromFront(Node* head) {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(head == nullptr) return nullptr;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2FE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Node* oldHead = head;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2FE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head = head-&gt;next;   // save first!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delete oldHead;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head;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3977640"/>
            <a:ext cx="338328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1E4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40080" y="4114800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B8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O(1)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493776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operations — only pointer assignments happen, no other node moves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297680" y="4069080"/>
            <a:ext cx="7132320" cy="1234440"/>
          </a:xfrm>
          <a:prstGeom prst="rect">
            <a:avLst/>
          </a:prstGeom>
          <a:solidFill>
            <a:srgbClr val="FFF3E0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update the pointer BEFORE calling delete — reading a freed node's fields is undefined behavior.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CSC211 · Algorithms and Data Structures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16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Insertion at an Arbitrary Position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B8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from head until you're standing on the node just before the target position, then apply the same two-pointer trick, anchored there.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914400" y="2103120"/>
            <a:ext cx="155448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9050">
            <a:solidFill>
              <a:srgbClr val="2FE6C4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914400" y="2139696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415845"/>
            <a:ext cx="777240" cy="4773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691640" y="2148840"/>
            <a:ext cx="0" cy="731520"/>
          </a:xfrm>
          <a:prstGeom prst="line">
            <a:avLst/>
          </a:prstGeom>
          <a:noFill/>
          <a:ln w="12700">
            <a:solidFill>
              <a:srgbClr val="2FE6C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691640" y="2139696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1691640" y="2415845"/>
            <a:ext cx="777240" cy="4773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8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023360" y="2103120"/>
            <a:ext cx="155448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9050">
            <a:solidFill>
              <a:srgbClr val="8B7FD9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4023360" y="2139696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4023360" y="2415845"/>
            <a:ext cx="1554480" cy="4773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126480" y="2103120"/>
            <a:ext cx="155448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9050">
            <a:solidFill>
              <a:srgbClr val="8B7FD9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6126480" y="2139696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850" dirty="0"/>
          </a:p>
        </p:txBody>
      </p:sp>
      <p:sp>
        <p:nvSpPr>
          <p:cNvPr id="16" name="Text 14"/>
          <p:cNvSpPr txBox="1"/>
          <p:nvPr/>
        </p:nvSpPr>
        <p:spPr>
          <a:xfrm>
            <a:off x="6126480" y="2415845"/>
            <a:ext cx="1554480" cy="4773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577840" y="2514600"/>
            <a:ext cx="548640" cy="0"/>
          </a:xfrm>
          <a:prstGeom prst="line">
            <a:avLst/>
          </a:prstGeom>
          <a:noFill/>
          <a:ln w="22225">
            <a:solidFill>
              <a:srgbClr val="8B7FD9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2468880" y="3611880"/>
            <a:ext cx="1554480" cy="822960"/>
          </a:xfrm>
          <a:prstGeom prst="roundRect">
            <a:avLst>
              <a:gd name="adj" fmla="val 6667"/>
            </a:avLst>
          </a:prstGeom>
          <a:solidFill>
            <a:srgbClr val="FFF3E0"/>
          </a:solidFill>
          <a:ln w="19050">
            <a:solidFill>
              <a:srgbClr val="E8A33D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2468880" y="3648456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850" dirty="0"/>
          </a:p>
        </p:txBody>
      </p:sp>
      <p:sp>
        <p:nvSpPr>
          <p:cNvPr id="20" name="Text 18"/>
          <p:cNvSpPr txBox="1"/>
          <p:nvPr/>
        </p:nvSpPr>
        <p:spPr>
          <a:xfrm>
            <a:off x="2468880" y="3924605"/>
            <a:ext cx="777240" cy="4773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246120" y="3657600"/>
            <a:ext cx="0" cy="731520"/>
          </a:xfrm>
          <a:prstGeom prst="line">
            <a:avLst/>
          </a:prstGeom>
          <a:noFill/>
          <a:ln w="12700">
            <a:solidFill>
              <a:srgbClr val="E8A33D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246120" y="3648456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endParaRPr lang="en-US" sz="850" dirty="0"/>
          </a:p>
        </p:txBody>
      </p:sp>
      <p:sp>
        <p:nvSpPr>
          <p:cNvPr id="23" name="Text 21"/>
          <p:cNvSpPr txBox="1"/>
          <p:nvPr/>
        </p:nvSpPr>
        <p:spPr>
          <a:xfrm>
            <a:off x="3246120" y="3924605"/>
            <a:ext cx="777240" cy="4773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023360" y="4023360"/>
            <a:ext cx="0" cy="0"/>
          </a:xfrm>
          <a:prstGeom prst="line">
            <a:avLst/>
          </a:prstGeom>
          <a:noFill/>
          <a:ln w="22225">
            <a:solidFill>
              <a:srgbClr val="E8A33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023360" y="4023360"/>
            <a:ext cx="0" cy="0"/>
          </a:xfrm>
          <a:prstGeom prst="line">
            <a:avLst/>
          </a:prstGeom>
          <a:noFill/>
          <a:ln w="22225">
            <a:solidFill>
              <a:srgbClr val="E8A33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 flipV="1">
            <a:off x="4023360" y="2514600"/>
            <a:ext cx="0" cy="1508760"/>
          </a:xfrm>
          <a:prstGeom prst="line">
            <a:avLst/>
          </a:prstGeom>
          <a:noFill/>
          <a:ln w="22225">
            <a:solidFill>
              <a:srgbClr val="E8A33D"/>
            </a:solidFill>
            <a:prstDash val="solid"/>
            <a:tailEnd type="triangle"/>
          </a:ln>
        </p:spPr>
      </p:sp>
      <p:sp>
        <p:nvSpPr>
          <p:cNvPr id="27" name="Text 25"/>
          <p:cNvSpPr txBox="1"/>
          <p:nvPr/>
        </p:nvSpPr>
        <p:spPr>
          <a:xfrm>
            <a:off x="2194560" y="44805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newNode-&gt;next = current-&gt;next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1691640" y="2926080"/>
            <a:ext cx="0" cy="320040"/>
          </a:xfrm>
          <a:prstGeom prst="line">
            <a:avLst/>
          </a:prstGeom>
          <a:noFill/>
          <a:ln w="22225">
            <a:solidFill>
              <a:srgbClr val="2FE6C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691640" y="3246120"/>
            <a:ext cx="0" cy="0"/>
          </a:xfrm>
          <a:prstGeom prst="line">
            <a:avLst/>
          </a:prstGeom>
          <a:noFill/>
          <a:ln w="22225">
            <a:solidFill>
              <a:srgbClr val="2FE6C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691640" y="3246120"/>
            <a:ext cx="0" cy="502920"/>
          </a:xfrm>
          <a:prstGeom prst="line">
            <a:avLst/>
          </a:prstGeom>
          <a:noFill/>
          <a:ln w="22225">
            <a:solidFill>
              <a:srgbClr val="2FE6C4"/>
            </a:solidFill>
            <a:prstDash val="solid"/>
            <a:tailEnd type="triangle"/>
          </a:ln>
        </p:spPr>
      </p:sp>
      <p:sp>
        <p:nvSpPr>
          <p:cNvPr id="31" name="Text 29"/>
          <p:cNvSpPr txBox="1"/>
          <p:nvPr/>
        </p:nvSpPr>
        <p:spPr>
          <a:xfrm>
            <a:off x="91440" y="32918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1B8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current-&gt;next = newNode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CSC211 · Algorithms and Data Structures</a:t>
            </a:r>
            <a:endParaRPr lang="en-US" sz="900" dirty="0"/>
          </a:p>
        </p:txBody>
      </p:sp>
      <p:sp>
        <p:nvSpPr>
          <p:cNvPr id="33" name="Text 31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34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Deletion at an Arbitrary Position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B8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to the node just before the target, remember the node to delete, splice it out, then free it.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1097280" y="2148840"/>
            <a:ext cx="155448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9050">
            <a:solidFill>
              <a:srgbClr val="2FE6C4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1097280" y="2185416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2461565"/>
            <a:ext cx="777240" cy="4773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874520" y="2194560"/>
            <a:ext cx="0" cy="731520"/>
          </a:xfrm>
          <a:prstGeom prst="line">
            <a:avLst/>
          </a:prstGeom>
          <a:noFill/>
          <a:ln w="12700">
            <a:solidFill>
              <a:srgbClr val="2FE6C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874520" y="2185416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1874520" y="2461565"/>
            <a:ext cx="777240" cy="4773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8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46120" y="2148840"/>
            <a:ext cx="1554480" cy="822960"/>
          </a:xfrm>
          <a:prstGeom prst="roundRect">
            <a:avLst>
              <a:gd name="adj" fmla="val 6667"/>
            </a:avLst>
          </a:prstGeom>
          <a:solidFill>
            <a:srgbClr val="FFF3E0"/>
          </a:solidFill>
          <a:ln w="19050">
            <a:solidFill>
              <a:srgbClr val="E8A33D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3246120" y="2185416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3246120" y="2461565"/>
            <a:ext cx="777240" cy="4773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023360" y="2194560"/>
            <a:ext cx="0" cy="731520"/>
          </a:xfrm>
          <a:prstGeom prst="line">
            <a:avLst/>
          </a:prstGeom>
          <a:noFill/>
          <a:ln w="12700">
            <a:solidFill>
              <a:srgbClr val="E8A33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023360" y="2185416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endParaRPr lang="en-US" sz="850" dirty="0"/>
          </a:p>
        </p:txBody>
      </p:sp>
      <p:sp>
        <p:nvSpPr>
          <p:cNvPr id="16" name="Text 14"/>
          <p:cNvSpPr txBox="1"/>
          <p:nvPr/>
        </p:nvSpPr>
        <p:spPr>
          <a:xfrm>
            <a:off x="4023360" y="2461565"/>
            <a:ext cx="777240" cy="4773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394960" y="2148840"/>
            <a:ext cx="155448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9050">
            <a:solidFill>
              <a:srgbClr val="8B7FD9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5394960" y="2185416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850" dirty="0"/>
          </a:p>
        </p:txBody>
      </p:sp>
      <p:sp>
        <p:nvSpPr>
          <p:cNvPr id="19" name="Text 17"/>
          <p:cNvSpPr txBox="1"/>
          <p:nvPr/>
        </p:nvSpPr>
        <p:spPr>
          <a:xfrm>
            <a:off x="5394960" y="2461565"/>
            <a:ext cx="1554480" cy="4773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651760" y="2560320"/>
            <a:ext cx="594360" cy="0"/>
          </a:xfrm>
          <a:prstGeom prst="line">
            <a:avLst/>
          </a:prstGeom>
          <a:noFill/>
          <a:ln w="22225">
            <a:solidFill>
              <a:srgbClr val="5A6570"/>
            </a:solidFill>
            <a:prstDash val="dash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4800600" y="2560320"/>
            <a:ext cx="594360" cy="0"/>
          </a:xfrm>
          <a:prstGeom prst="line">
            <a:avLst/>
          </a:prstGeom>
          <a:noFill/>
          <a:ln w="22225">
            <a:solidFill>
              <a:srgbClr val="5A6570"/>
            </a:solidFill>
            <a:prstDash val="dash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1874520" y="2971800"/>
            <a:ext cx="0" cy="502920"/>
          </a:xfrm>
          <a:prstGeom prst="line">
            <a:avLst/>
          </a:prstGeom>
          <a:noFill/>
          <a:ln w="22225">
            <a:solidFill>
              <a:srgbClr val="2FE6C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874520" y="3474720"/>
            <a:ext cx="4297680" cy="0"/>
          </a:xfrm>
          <a:prstGeom prst="line">
            <a:avLst/>
          </a:prstGeom>
          <a:noFill/>
          <a:ln w="22225">
            <a:solidFill>
              <a:srgbClr val="2FE6C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 flipV="1">
            <a:off x="6172200" y="2971800"/>
            <a:ext cx="0" cy="502920"/>
          </a:xfrm>
          <a:prstGeom prst="line">
            <a:avLst/>
          </a:prstGeom>
          <a:noFill/>
          <a:ln w="22225">
            <a:solidFill>
              <a:srgbClr val="2FE6C4"/>
            </a:solidFill>
            <a:prstDash val="solid"/>
            <a:tailEnd type="triangle"/>
          </a:ln>
        </p:spPr>
      </p:sp>
      <p:sp>
        <p:nvSpPr>
          <p:cNvPr id="25" name="Text 23"/>
          <p:cNvSpPr txBox="1"/>
          <p:nvPr/>
        </p:nvSpPr>
        <p:spPr>
          <a:xfrm>
            <a:off x="548640" y="3749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B8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current-&gt;next = toDelete-&gt;next  (save this link BEFORE deleting toDelete)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48640" y="4480560"/>
            <a:ext cx="320040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1E4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7" name="Text 25"/>
          <p:cNvSpPr txBox="1"/>
          <p:nvPr/>
        </p:nvSpPr>
        <p:spPr>
          <a:xfrm>
            <a:off x="548640" y="461772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O(k)</a:t>
            </a:r>
            <a:endParaRPr lang="en-US" sz="3000" dirty="0"/>
          </a:p>
        </p:txBody>
      </p:sp>
      <p:sp>
        <p:nvSpPr>
          <p:cNvPr id="28" name="Text 26"/>
          <p:cNvSpPr txBox="1"/>
          <p:nvPr/>
        </p:nvSpPr>
        <p:spPr>
          <a:xfrm>
            <a:off x="640080" y="521208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Walking k nodes in from the head to find the splice point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CSC211 · Algorithms and Data Structures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31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Case: The One-Node List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B8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CORRECTNESS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430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Here, "beginning" and "end" collide — head and the only node's next == nullptr describe the same node. Off-by-one bugs like to hide exactly here.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1828800" y="2148840"/>
            <a:ext cx="173736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9050">
            <a:solidFill>
              <a:srgbClr val="8B7FD9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1828800" y="2185416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1828800" y="2478938"/>
            <a:ext cx="868680" cy="503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697480" y="2194560"/>
            <a:ext cx="0" cy="777240"/>
          </a:xfrm>
          <a:prstGeom prst="line">
            <a:avLst/>
          </a:prstGeom>
          <a:noFill/>
          <a:ln w="12700">
            <a:solidFill>
              <a:srgbClr val="8B7FD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697480" y="2185416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2697480" y="2478938"/>
            <a:ext cx="868680" cy="503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566160" y="2583180"/>
            <a:ext cx="548640" cy="0"/>
          </a:xfrm>
          <a:prstGeom prst="line">
            <a:avLst/>
          </a:prstGeom>
          <a:noFill/>
          <a:ln w="22225">
            <a:solidFill>
              <a:srgbClr val="8B7FD9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114800" y="2148840"/>
            <a:ext cx="1463040" cy="868680"/>
          </a:xfrm>
          <a:prstGeom prst="roundRect">
            <a:avLst>
              <a:gd name="adj" fmla="val 6316"/>
            </a:avLst>
          </a:prstGeom>
          <a:solidFill>
            <a:srgbClr val="EDEFF1"/>
          </a:solidFill>
          <a:ln w="12700">
            <a:solidFill>
              <a:srgbClr val="5A6570"/>
            </a:solidFill>
            <a:prstDash val="dash"/>
          </a:ln>
        </p:spPr>
      </p:sp>
      <p:sp>
        <p:nvSpPr>
          <p:cNvPr id="13" name="Text 11"/>
          <p:cNvSpPr txBox="1"/>
          <p:nvPr/>
        </p:nvSpPr>
        <p:spPr>
          <a:xfrm>
            <a:off x="4114800" y="2148840"/>
            <a:ext cx="1463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5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24460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B8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783080" y="2583180"/>
            <a:ext cx="45720" cy="0"/>
          </a:xfrm>
          <a:prstGeom prst="line">
            <a:avLst/>
          </a:prstGeom>
          <a:noFill/>
          <a:ln w="22225">
            <a:solidFill>
              <a:srgbClr val="1B8A77"/>
            </a:solidFill>
            <a:prstDash val="solid"/>
            <a:tailEnd type="triangle"/>
          </a:ln>
        </p:spPr>
      </p:sp>
      <p:sp>
        <p:nvSpPr>
          <p:cNvPr id="16" name="Text 14"/>
          <p:cNvSpPr txBox="1"/>
          <p:nvPr/>
        </p:nvSpPr>
        <p:spPr>
          <a:xfrm>
            <a:off x="1828800" y="31089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0" y="2103120"/>
            <a:ext cx="384048" cy="384048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931152" y="2048256"/>
            <a:ext cx="45902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the only node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6931152" y="2359152"/>
            <a:ext cx="45902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head-&gt;next is nullptr, so head correctly becomes nullptr — an empty list, not a dangling pointer.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400800" y="3246120"/>
            <a:ext cx="384048" cy="384048"/>
          </a:xfrm>
          <a:prstGeom prst="ellipse">
            <a:avLst/>
          </a:prstGeom>
          <a:solidFill>
            <a:srgbClr val="8B7FD9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931152" y="3191256"/>
            <a:ext cx="45902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into an empty list</a:t>
            </a:r>
            <a:endParaRPr lang="en-US" sz="1450" dirty="0"/>
          </a:p>
        </p:txBody>
      </p:sp>
      <p:sp>
        <p:nvSpPr>
          <p:cNvPr id="22" name="Text 20"/>
          <p:cNvSpPr txBox="1"/>
          <p:nvPr/>
        </p:nvSpPr>
        <p:spPr>
          <a:xfrm>
            <a:off x="6931152" y="3502152"/>
            <a:ext cx="45902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newNode-&gt;next = head (which is nullptr) rebuilds a valid one-node list automatically.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400800" y="4389120"/>
            <a:ext cx="384048" cy="38404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931152" y="4334256"/>
            <a:ext cx="45902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special branch</a:t>
            </a:r>
            <a:endParaRPr lang="en-US" sz="1450" dirty="0"/>
          </a:p>
        </p:txBody>
      </p:sp>
      <p:sp>
        <p:nvSpPr>
          <p:cNvPr id="25" name="Text 23"/>
          <p:cNvSpPr txBox="1"/>
          <p:nvPr/>
        </p:nvSpPr>
        <p:spPr>
          <a:xfrm>
            <a:off x="6931152" y="4645152"/>
            <a:ext cx="45902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that checks nullptr correctly everywhere handles this case for free.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CSC211 · Algorithms and Data Structures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28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Classic Bug: Delete Without Saving next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B8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CORRECTNESS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212080" cy="1828800"/>
          </a:xfrm>
          <a:prstGeom prst="roundRect">
            <a:avLst>
              <a:gd name="adj" fmla="val 5000"/>
            </a:avLst>
          </a:prstGeom>
          <a:solidFill>
            <a:srgbClr val="FDEDEC"/>
          </a:solidFill>
          <a:ln w="19050">
            <a:solidFill>
              <a:srgbClr val="D9534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50876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2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Broken order — undefined behavior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777240" y="1920240"/>
            <a:ext cx="4754880" cy="1143000"/>
          </a:xfrm>
          <a:prstGeom prst="roundRect">
            <a:avLst>
              <a:gd name="adj" fmla="val 8000"/>
            </a:avLst>
          </a:prstGeom>
          <a:solidFill>
            <a:srgbClr val="14181C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1033272" y="2121408"/>
            <a:ext cx="424281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 head;         // memory freed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head = head-&gt;next;   // reads FREED memory!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309360" y="1371600"/>
            <a:ext cx="5212080" cy="1828800"/>
          </a:xfrm>
          <a:prstGeom prst="roundRect">
            <a:avLst>
              <a:gd name="adj" fmla="val 5000"/>
            </a:avLst>
          </a:prstGeom>
          <a:solidFill>
            <a:srgbClr val="E6FBF6"/>
          </a:solidFill>
          <a:ln w="19050">
            <a:solidFill>
              <a:srgbClr val="1B8A7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37960" y="150876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8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Correct order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537960" y="1920240"/>
            <a:ext cx="4754880" cy="1143000"/>
          </a:xfrm>
          <a:prstGeom prst="roundRect">
            <a:avLst>
              <a:gd name="adj" fmla="val 8000"/>
            </a:avLst>
          </a:prstGeom>
          <a:solidFill>
            <a:srgbClr val="14181C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793992" y="2121408"/>
            <a:ext cx="424281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Node* oldHead = head;   // still valid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2FE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head = head-&gt;next;      // read BEFORE freeing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2FE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 oldHead;         // safe now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35204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broken order, freed memory might still "look" correct — many systems don't overwrite it immediately. That's what makes this bug dangerous: it can pass testing and fail unpredictably once that memory is reused.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CSC211 · Algorithms and Data Structures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15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 &amp; Limitations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B8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40080" y="1325880"/>
            <a:ext cx="384048" cy="384048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70432" y="1271016"/>
            <a:ext cx="46817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1170432" y="1581912"/>
            <a:ext cx="46817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Genuinely dynamic size, no wasted pre-allocation. Front insert/delete never shifts other elements.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2468880"/>
            <a:ext cx="384048" cy="38404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170432" y="2414016"/>
            <a:ext cx="46817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1170432" y="2724912"/>
            <a:ext cx="46817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random access (O(n) walk to reach node[i]); extra memory per node; worse cache locality than an array.</a:t>
            </a:r>
            <a:endParaRPr lang="en-US" sz="125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3657600"/>
          <a:ext cx="521208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600200"/>
                <a:gridCol w="160020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Array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Linked List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Access by index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Insert/delete at front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Extra mem / element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pointer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3"/>
                    </a:solidFill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6400800" y="1325880"/>
            <a:ext cx="23774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1E4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6400800" y="146304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B8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O(1)</a:t>
            </a:r>
            <a:endParaRPr lang="en-US" sz="3000" dirty="0"/>
          </a:p>
        </p:txBody>
      </p:sp>
      <p:sp>
        <p:nvSpPr>
          <p:cNvPr id="13" name="Text 10"/>
          <p:cNvSpPr txBox="1"/>
          <p:nvPr/>
        </p:nvSpPr>
        <p:spPr>
          <a:xfrm>
            <a:off x="6492240" y="224028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 insert / delete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8961120" y="1325880"/>
            <a:ext cx="23774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1E4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Text 12"/>
          <p:cNvSpPr txBox="1"/>
          <p:nvPr/>
        </p:nvSpPr>
        <p:spPr>
          <a:xfrm>
            <a:off x="8961120" y="146304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O(n)</a:t>
            </a:r>
            <a:endParaRPr lang="en-US" sz="3000" dirty="0"/>
          </a:p>
        </p:txBody>
      </p:sp>
      <p:sp>
        <p:nvSpPr>
          <p:cNvPr id="16" name="Text 13"/>
          <p:cNvSpPr txBox="1"/>
          <p:nvPr/>
        </p:nvSpPr>
        <p:spPr>
          <a:xfrm>
            <a:off x="9052560" y="224028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Indexed access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6400800" y="283464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6 builds the full toolkit: insert/delete at the end, at a position, searching, and reversing.</a:t>
            </a:r>
            <a:endParaRPr lang="en-US" sz="1250" dirty="0"/>
          </a:p>
        </p:txBody>
      </p:sp>
      <p:sp>
        <p:nvSpPr>
          <p:cNvPr id="18" name="Text 15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CSC211 · Algorithms and Data Structures</a:t>
            </a:r>
            <a:endParaRPr lang="en-US" sz="900" dirty="0"/>
          </a:p>
        </p:txBody>
      </p:sp>
      <p:sp>
        <p:nvSpPr>
          <p:cNvPr id="19" name="Text 16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20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418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KT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417320"/>
            <a:ext cx="1051560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■"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linked list stores each element in its own node, scattered anywhere in memory, connected by next pointers — contiguity is traded for dynamic size.</a:t>
            </a:r>
            <a:endParaRPr lang="en-US" sz="1550" dirty="0"/>
          </a:p>
          <a:p>
            <a:pPr marL="228600" indent="-228600">
              <a:spcAft>
                <a:spcPts val="1400"/>
              </a:spcAft>
              <a:buSzPct val="100000"/>
              <a:buChar char="■"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node is self-referential: it holds data plus a pointer to another node of the same type.</a:t>
            </a:r>
            <a:endParaRPr lang="en-US" sz="1550" dirty="0"/>
          </a:p>
          <a:p>
            <a:pPr marL="228600" indent="-228600">
              <a:spcAft>
                <a:spcPts val="1400"/>
              </a:spcAft>
              <a:buSzPct val="100000"/>
              <a:buChar char="■"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is the entry point to the list; a nullptr next marks the tail.</a:t>
            </a:r>
            <a:endParaRPr lang="en-US" sz="1550" dirty="0"/>
          </a:p>
          <a:p>
            <a:pPr marL="228600" indent="-228600">
              <a:spcAft>
                <a:spcPts val="1400"/>
              </a:spcAft>
              <a:buSzPct val="100000"/>
              <a:buChar char="■"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 insert/delete is O(1) — only pointer assignments happen — but reaching any position needs an O(n) walk from head.</a:t>
            </a:r>
            <a:endParaRPr lang="en-US" sz="1550" dirty="0"/>
          </a:p>
          <a:p>
            <a:pPr marL="228600" indent="-228600">
              <a:spcAft>
                <a:spcPts val="1400"/>
              </a:spcAft>
              <a:buSzPct val="100000"/>
              <a:buChar char="■"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save the pointer you'll need before calling delete — reading a freed node's field is undefined behavior.</a:t>
            </a:r>
            <a:endParaRPr lang="en-US" sz="1550" dirty="0"/>
          </a:p>
        </p:txBody>
      </p:sp>
      <p:sp>
        <p:nvSpPr>
          <p:cNvPr id="6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CSC211</dc:creator>
  <cp:lastModifiedBy>CSC211</cp:lastModifiedBy>
  <cp:revision>1</cp:revision>
  <dcterms:created xsi:type="dcterms:W3CDTF">2026-09-23T19:02:04Z</dcterms:created>
  <dcterms:modified xsi:type="dcterms:W3CDTF">2026-09-23T19:02:04Z</dcterms:modified>
</cp:coreProperties>
</file>
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 Operations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/ Learning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36192"/>
            <a:ext cx="438912" cy="43891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7218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SinglyLinkedList class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node-pointer logic into one reusable, self-contained ADT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377440"/>
            <a:ext cx="438912" cy="43891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31343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delete at end and at a position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2432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O(n) and O(k) operations Lecture 5 didn't cover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99816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218688"/>
            <a:ext cx="438912" cy="43891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218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1546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by value, search, update, count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655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operation toolkit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41064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059936"/>
            <a:ext cx="438912" cy="43891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059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99592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a list in place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30682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three-pointer, single-pass algorithm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782312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901184"/>
            <a:ext cx="438912" cy="43891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901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83717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of every operation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14807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table, compared directly against arrays</a:t>
            </a:r>
            <a:endParaRPr lang="en-US" sz="1200" dirty="0"/>
          </a:p>
        </p:txBody>
      </p:sp>
      <p:sp>
        <p:nvSpPr>
          <p:cNvPr id="2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Singly Linked List Class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points only forward — there is no way to go backward. Wrapping the pointer logic in a class keeps head private and turns every operation into a method.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577840" cy="3383280"/>
          </a:xfrm>
          <a:prstGeom prst="roundRect">
            <a:avLst>
              <a:gd name="adj" fmla="val 2703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singly_linked_list.cpp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31720"/>
            <a:ext cx="506577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SinglyLinkedList {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head;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SinglyLinkedList() : head(nullptr) {}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insertAtBeginning(int value);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insertAtEnd(int value);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insertAtPosition(int v, int pos);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deleteByValue(int value);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 search(int value) const;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reverse();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0" y="2011680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14032" y="1956816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head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114032" y="226771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never touches Node or head directly — only the class's public methods.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30632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3008376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class, one program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331927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below is a method on this same class, compiled and run together.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0" y="41148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14032" y="4059936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Lecture 5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14032" y="437083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insertAtBeginning / deleteFromBeginning are the same O(1) logic, just as methods.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insertAtEnd: Walk, Then Attach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tail pointer to shortcut with — must walk every node until current-&gt;next is nullptr. This walk is the entire reason the operation is O(n).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185416"/>
            <a:ext cx="7086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54615"/>
            <a:ext cx="70866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23060" y="2194560"/>
            <a:ext cx="0" cy="713232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23060" y="2185416"/>
            <a:ext cx="7086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623060" y="2454615"/>
            <a:ext cx="70866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31720" y="2551176"/>
            <a:ext cx="45720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88920" y="214884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788920" y="2185416"/>
            <a:ext cx="7086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454615"/>
            <a:ext cx="70866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97580" y="2194560"/>
            <a:ext cx="0" cy="713232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97580" y="2185416"/>
            <a:ext cx="7086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497580" y="2454615"/>
            <a:ext cx="70866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2551176"/>
            <a:ext cx="45720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63440" y="214884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63440" y="2185416"/>
            <a:ext cx="7086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2454615"/>
            <a:ext cx="70866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72100" y="2194560"/>
            <a:ext cx="0" cy="713232"/>
          </a:xfrm>
          <a:prstGeom prst="line">
            <a:avLst/>
          </a:prstGeom>
          <a:noFill/>
          <a:ln w="12700">
            <a:solidFill>
              <a:srgbClr val="2FE6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72100" y="2185416"/>
            <a:ext cx="7086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372100" y="2454615"/>
            <a:ext cx="70866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20840" y="214884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720840" y="2185416"/>
            <a:ext cx="7086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2454615"/>
            <a:ext cx="70866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29500" y="2194560"/>
            <a:ext cx="0" cy="713232"/>
          </a:xfrm>
          <a:prstGeom prst="line">
            <a:avLst/>
          </a:prstGeom>
          <a:noFill/>
          <a:ln w="12700">
            <a:solidFill>
              <a:srgbClr val="E8A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29500" y="2185416"/>
            <a:ext cx="7086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429500" y="2454615"/>
            <a:ext cx="70866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80760" y="3273552"/>
            <a:ext cx="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3273552"/>
            <a:ext cx="64008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6720840" y="2551176"/>
            <a:ext cx="0" cy="722376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4663440" y="3410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current-&gt;next = newNode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778240" y="21488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778240" y="22860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3000" dirty="0"/>
          </a:p>
        </p:txBody>
      </p:sp>
      <p:sp>
        <p:nvSpPr>
          <p:cNvPr id="37" name="Text 35"/>
          <p:cNvSpPr txBox="1"/>
          <p:nvPr/>
        </p:nvSpPr>
        <p:spPr>
          <a:xfrm>
            <a:off x="8869680" y="3108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shortcut — Lecture 7's doubly linked list adds a tail pointer to fix this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insertAtPosition &amp; deleteByValue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insertAtPosition — splice in the middle (same pattern as Lecture 5)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545336"/>
            <a:ext cx="708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786738"/>
            <a:ext cx="70866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23060" y="1554480"/>
            <a:ext cx="0" cy="640080"/>
          </a:xfrm>
          <a:prstGeom prst="line">
            <a:avLst/>
          </a:prstGeom>
          <a:noFill/>
          <a:ln w="12700">
            <a:solidFill>
              <a:srgbClr val="2FE6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23060" y="1545336"/>
            <a:ext cx="708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623060" y="1786738"/>
            <a:ext cx="70866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5087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20440" y="15453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786738"/>
            <a:ext cx="141732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27432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651760" y="2779776"/>
            <a:ext cx="708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3021178"/>
            <a:ext cx="70866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60420" y="2788920"/>
            <a:ext cx="0" cy="640080"/>
          </a:xfrm>
          <a:prstGeom prst="line">
            <a:avLst/>
          </a:prstGeom>
          <a:noFill/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60420" y="2779776"/>
            <a:ext cx="708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360420" y="3021178"/>
            <a:ext cx="70866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069080" y="3108960"/>
            <a:ext cx="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9080" y="3108960"/>
            <a:ext cx="16002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4229100" y="2240280"/>
            <a:ext cx="0" cy="86868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623060" y="2240280"/>
            <a:ext cx="0" cy="18288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23060" y="2423160"/>
            <a:ext cx="1737360" cy="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0420" y="2423160"/>
            <a:ext cx="0" cy="32004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new→next=cur→next   2. cur→next=new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1143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deleteByValue — search, then splice out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150876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309360" y="154533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1786738"/>
            <a:ext cx="68580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995160" y="1554480"/>
            <a:ext cx="0" cy="640080"/>
          </a:xfrm>
          <a:prstGeom prst="line">
            <a:avLst/>
          </a:prstGeom>
          <a:noFill/>
          <a:ln w="12700">
            <a:solidFill>
              <a:srgbClr val="2FE6C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95160" y="154533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1786738"/>
            <a:ext cx="68580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46720" y="150876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046720" y="154533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1786738"/>
            <a:ext cx="68580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732520" y="1554480"/>
            <a:ext cx="0" cy="640080"/>
          </a:xfrm>
          <a:prstGeom prst="line">
            <a:avLst/>
          </a:prstGeom>
          <a:noFill/>
          <a:ln w="12700">
            <a:solidFill>
              <a:srgbClr val="E8A33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732520" y="154533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732520" y="1786738"/>
            <a:ext cx="68580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784080" y="150876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784080" y="15453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9784080" y="1786738"/>
            <a:ext cx="137160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680960" y="1874520"/>
            <a:ext cx="365760" cy="0"/>
          </a:xfrm>
          <a:prstGeom prst="line">
            <a:avLst/>
          </a:prstGeom>
          <a:noFill/>
          <a:ln w="22225">
            <a:solidFill>
              <a:srgbClr val="5A6570"/>
            </a:solidFill>
            <a:prstDash val="dash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418320" y="1874520"/>
            <a:ext cx="365760" cy="0"/>
          </a:xfrm>
          <a:prstGeom prst="line">
            <a:avLst/>
          </a:prstGeom>
          <a:noFill/>
          <a:ln w="22225">
            <a:solidFill>
              <a:srgbClr val="5A6570"/>
            </a:solidFill>
            <a:prstDash val="dash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995160" y="2240280"/>
            <a:ext cx="0" cy="45720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95160" y="2697480"/>
            <a:ext cx="3474720" cy="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0469880" y="2240280"/>
            <a:ext cx="0" cy="45720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630936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current-&gt;next = toDelete-&gt;next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6309360" y="32461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like search (checks current-&gt;next-&gt;data), then splices like deleteAtPosition.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reverse(): Every next Pointer Flips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pass, three pointers (previous, current, nextNode) — every next pointer ends up pointing backward, and head moves to the old tail.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reverse()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1965960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194560" y="2002536"/>
            <a:ext cx="1371600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2250887"/>
            <a:ext cx="1371600" cy="43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2340864"/>
            <a:ext cx="45720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23360" y="1965960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023360" y="2002536"/>
            <a:ext cx="1371600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250887"/>
            <a:ext cx="1371600" cy="43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94960" y="2340864"/>
            <a:ext cx="45720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52160" y="1965960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852160" y="2002536"/>
            <a:ext cx="1371600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2250887"/>
            <a:ext cx="1371600" cy="43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23760" y="2340864"/>
            <a:ext cx="45720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80960" y="1965960"/>
            <a:ext cx="1188720" cy="749808"/>
          </a:xfrm>
          <a:prstGeom prst="roundRect">
            <a:avLst>
              <a:gd name="adj" fmla="val 7317"/>
            </a:avLst>
          </a:prstGeom>
          <a:solidFill>
            <a:srgbClr val="EDEFF1"/>
          </a:solidFill>
          <a:ln w="12700">
            <a:solidFill>
              <a:srgbClr val="5A6570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7680960" y="19659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2037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57400" y="2340864"/>
            <a:ext cx="137160" cy="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4864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reverse()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88720" y="3721608"/>
            <a:ext cx="1188720" cy="749808"/>
          </a:xfrm>
          <a:prstGeom prst="roundRect">
            <a:avLst>
              <a:gd name="adj" fmla="val 7317"/>
            </a:avLst>
          </a:prstGeom>
          <a:solidFill>
            <a:srgbClr val="EDEFF1"/>
          </a:solidFill>
          <a:ln w="12700">
            <a:solidFill>
              <a:srgbClr val="5A6570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1188720" y="372160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17520" y="3721608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E6FBF6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017520" y="3758184"/>
            <a:ext cx="1371600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4006535"/>
            <a:ext cx="1371600" cy="43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721608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846320" y="3758184"/>
            <a:ext cx="1371600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4006535"/>
            <a:ext cx="1371600" cy="43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75120" y="3721608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675120" y="3758184"/>
            <a:ext cx="1371600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675120" y="4006535"/>
            <a:ext cx="1371600" cy="43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 flipH="1">
            <a:off x="6217920" y="4096512"/>
            <a:ext cx="45720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4389120" y="4096512"/>
            <a:ext cx="45720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2377440" y="4096512"/>
            <a:ext cx="64008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6492240" y="3355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60920" y="3630168"/>
            <a:ext cx="0" cy="9144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reverse() — Code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852160" cy="3017520"/>
          </a:xfrm>
          <a:prstGeom prst="roundRect">
            <a:avLst>
              <a:gd name="adj" fmla="val 303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463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singly_linked_list.cpp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828800"/>
            <a:ext cx="53400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reverse() 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previous = nullptr;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current = head;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(current != nullptr) 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nextNode = current-&gt;next;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current-&gt;next = previous;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previous = current;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 = nextNode;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 = previous;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0" y="14630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96912" y="1408176"/>
            <a:ext cx="4133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nextNode saved first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296912" y="1719072"/>
            <a:ext cx="4133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before current-&gt;next is overwritten — otherwise the rest of the list is lost.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66560" y="260604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96912" y="2551176"/>
            <a:ext cx="4133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current-&gt;next = previous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296912" y="2862072"/>
            <a:ext cx="4133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actual flip — the pointer now points backward instead of forward.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66560" y="3749040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96912" y="3694176"/>
            <a:ext cx="4133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= previous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296912" y="4005072"/>
            <a:ext cx="4133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finishes the walk sitting on the old last node — the new head.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66560" y="4892040"/>
            <a:ext cx="46634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766560" y="5029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O(n), one pass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53949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nodes allocated, no data copied — only pointers move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Update, and Count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70432" y="1316736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search(value)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627632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data against every node from head, in order, until a match or the end. No shortcut — the same "no random access" limitation from Lecture 5.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0432" y="2551176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updateAt(position, newValue)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862072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position nodes in from head, then overwrites data directly.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0432" y="3785616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countNodes()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4096512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every node once, incrementing a counter — no length field is stored anywhere.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66560" y="146304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66560" y="14996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723644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0" y="1805940"/>
            <a:ext cx="22860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29600" y="146304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E6FBF6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0" y="14996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1723644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464040" y="1805940"/>
            <a:ext cx="22860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92640" y="146304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692640" y="14996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1723644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search(20) walks index 0 → 1, finds a match, returns 1.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743200"/>
          <a:ext cx="46634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updateAt(k)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countNodes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of Singly Linked List Operations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04088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2103120"/>
              </a:tblGrid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at beginning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at 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at position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from beginning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from 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at position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by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280160"/>
            <a:ext cx="3703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09560" y="14173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1945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front insert / delete — everything else needs a walk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909560" y="2834640"/>
            <a:ext cx="3703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909560" y="29718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tail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749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insertAtEnd is O(n) here — Lecture 7 fixes this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438912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singly linked list flips the array's trade-off: cheap front insert/delete, expensive access by position.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2763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53312" y="157276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the rest of the list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883664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Overwriting next before saving what it pointed to silently detaches every later node — a memory leak with no crash.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3716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1627632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59752" y="157276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Off-by-one position indices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1883664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insertAtPosition walks to position-1, not position — the single most common typo in this code.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913632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53312" y="385876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empty-list check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"is head valid?" and the first call on a fresh list dereferences nullptr.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36576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391363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9752" y="385876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Dereferencing after delete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4169664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any field of a node after delete-ing it is undefined behavior, not just risky.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node-pointer logic inside a class turns loose functions into a reusable, self-contained ADT — the caller never touches Node or head directly.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Insert/delete at the beginning are O(1); insert/delete at the end or a specific position are O(n) or O(k) — reaching that point requires walking the list.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by value combines a search-style walk with a deleteAtPosition-style splice — O(n) because the position isn't known ahead of time.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is a classic O(n), single-pass algorithm using three pointers to flip every next pointer — the old tail becomes the new head.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operation's complexity comes down to one fact: a singly linked list can only be walked forward, one node at a time, from the head.</a:t>
            </a:r>
            <a:endParaRPr lang="en-US" sz="1550" dirty="0"/>
          </a:p>
        </p:txBody>
      </p:sp>
      <p:sp>
        <p:nvSpPr>
          <p:cNvPr id="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CSC211</dc:creator>
  <cp:lastModifiedBy>CSC211</cp:lastModifiedBy>
  <cp:revision>1</cp:revision>
  <dcterms:created xsi:type="dcterms:W3CDTF">2026-09-23T19:08:14Z</dcterms:created>
  <dcterms:modified xsi:type="dcterms:W3CDTF">2026-09-23T19:08:14Z</dcterms:modified>
</cp:coreProperties>
</file>
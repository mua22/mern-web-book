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cuinotes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uinotes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cuinotes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cuinotes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cuinotes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cuinotes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cuinotes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cuinotes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cuinotes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cuinotes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cuinotes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cuinotes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cuinotes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097280"/>
            <a:ext cx="3840480" cy="3840480"/>
          </a:xfrm>
          <a:prstGeom prst="ellipse">
            <a:avLst/>
          </a:prstGeom>
          <a:solidFill>
            <a:srgbClr val="2FE6C4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572000"/>
            <a:ext cx="3291840" cy="3291840"/>
          </a:xfrm>
          <a:prstGeom prst="ellipse">
            <a:avLst/>
          </a:prstGeom>
          <a:solidFill>
            <a:srgbClr val="8B7FD9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· LINEAR DATA STRUCTURES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Linear Structures: Applications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160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CSC211 · Algorithms and Data Structures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617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COMSATS University Islamabad, Lahore Campus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2588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framework: array vs. linked list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212848"/>
            <a:ext cx="457200" cy="457200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16712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waiting-list problem, solved and timed both ways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054096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054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008376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Josephus problem: a circular linked list in action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895344"/>
            <a:ext cx="457200" cy="45720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895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849624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structures — and real-world applications</a:t>
            </a:r>
            <a:endParaRPr lang="en-US" sz="1600" dirty="0"/>
          </a:p>
        </p:txBody>
      </p:sp>
      <p:sp>
        <p:nvSpPr>
          <p:cNvPr id="1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an Appropriate Linear Structure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almost always comes down to which operation your application performs most often.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297680" y="1508760"/>
            <a:ext cx="35661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297680" y="15087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elements by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frequently (arr[i])?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3291840" cy="914400"/>
          </a:xfrm>
          <a:prstGeom prst="roundRect">
            <a:avLst>
              <a:gd name="adj" fmla="val 6000"/>
            </a:avLst>
          </a:prstGeom>
          <a:solidFill>
            <a:srgbClr val="14181C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926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 a Linked List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insert/delete at the ends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34840" y="2926080"/>
            <a:ext cx="32918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34840" y="29260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size change often,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is it roughly fixed?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75320" y="4480560"/>
            <a:ext cx="3337560" cy="914400"/>
          </a:xfrm>
          <a:prstGeom prst="roundRect">
            <a:avLst>
              <a:gd name="adj" fmla="val 6000"/>
            </a:avLst>
          </a:prstGeom>
          <a:solidFill>
            <a:srgbClr val="2FE6C4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5320" y="448056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 an Array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indexed access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434840" y="4480560"/>
            <a:ext cx="3291840" cy="1051560"/>
          </a:xfrm>
          <a:prstGeom prst="roundRect">
            <a:avLst>
              <a:gd name="adj" fmla="val 5217"/>
            </a:avLst>
          </a:prstGeom>
          <a:solidFill>
            <a:srgbClr val="8B7FD9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34840" y="448056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std::vector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(array-backed, resizes for you)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 hybrid structure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 flipH="1">
            <a:off x="2194560" y="1828800"/>
            <a:ext cx="2103120" cy="1097280"/>
          </a:xfrm>
          <a:prstGeom prst="line">
            <a:avLst/>
          </a:prstGeom>
          <a:noFill/>
          <a:ln w="19050">
            <a:solidFill>
              <a:srgbClr val="5A6470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2286000" y="2148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mostly insert/delete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80760" y="2286000"/>
            <a:ext cx="914" cy="640080"/>
          </a:xfrm>
          <a:prstGeom prst="line">
            <a:avLst/>
          </a:prstGeom>
          <a:noFill/>
          <a:ln w="19050">
            <a:solidFill>
              <a:srgbClr val="5A6470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6172200" y="23317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80760" y="3703320"/>
            <a:ext cx="3794760" cy="777240"/>
          </a:xfrm>
          <a:prstGeom prst="line">
            <a:avLst/>
          </a:prstGeom>
          <a:noFill/>
          <a:ln w="19050">
            <a:solidFill>
              <a:srgbClr val="5A6470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8138160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fixed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80760" y="3703320"/>
            <a:ext cx="914" cy="777240"/>
          </a:xfrm>
          <a:prstGeom prst="line">
            <a:avLst/>
          </a:prstGeom>
          <a:noFill/>
          <a:ln w="19050">
            <a:solidFill>
              <a:srgbClr val="5A6470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6172200" y="3977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a lot</a:t>
            </a:r>
            <a:endParaRPr lang="en-US" sz="1050" dirty="0"/>
          </a:p>
        </p:txBody>
      </p:sp>
      <p:sp>
        <p:nvSpPr>
          <p:cNvPr id="22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→ Better Fit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6675120"/>
                <a:gridCol w="438912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priority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 fit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lookup by position, size roughly known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Frequent insertion/deletion, especially at the front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 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Frequent insertion/deletion AND occasional indexed access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std::vector or a later structure (tree, hash table)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is extremely tight, every byte counts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 — no per-element pointer overhead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3977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“Dynamic” data — size unknown ahead of time, or constantly changing — is where linked lists earn their keep: notification lists, open-document lists, active-enemy lists.</a:t>
            </a:r>
            <a:endParaRPr lang="en-US" sz="1300" dirty="0"/>
          </a:p>
        </p:txBody>
      </p:sp>
      <p:sp>
        <p:nvSpPr>
          <p:cNvPr id="6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Problem, Solved Both Ways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 waiting list: serve strictly in arrival order — remove from the front, add at the end.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4297680"/>
          </a:xfrm>
          <a:prstGeom prst="roundRect">
            <a:avLst>
              <a:gd name="adj" fmla="val 1702"/>
            </a:avLst>
          </a:prstGeom>
          <a:solidFill>
            <a:srgbClr val="14181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609344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array-based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01952"/>
            <a:ext cx="49834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ArrayWaitingList {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data[10000];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frontIndex = 0, count = 0;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arrive(int id) {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data[frontIndex + count] = id;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count++;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serve() {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id = data[frontIndex];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frontIndex++;  // just move marker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count--;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id;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463040"/>
            <a:ext cx="5440680" cy="4297680"/>
          </a:xfrm>
          <a:prstGeom prst="roundRect">
            <a:avLst>
              <a:gd name="adj" fmla="val 1702"/>
            </a:avLst>
          </a:prstGeom>
          <a:solidFill>
            <a:srgbClr val="14181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0" y="1609344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linked-list-based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1901952"/>
            <a:ext cx="49834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LinkedWaitingList {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Node *head=nullptr, *tail=nullptr;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arrive(int id) {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Node* n = new Node(id);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(!tail) { head=tail=n; return; }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tail-&gt;next = n; tail = n;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serve() {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id = head-&gt;data;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Node* old = head;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head = head-&gt;next;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delete old;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id;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00" dirty="0"/>
          </a:p>
        </p:txBody>
      </p:sp>
      <p:sp>
        <p:nvSpPr>
          <p:cNvPr id="1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O(1) per Operation — But Not Equal in Practice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5000 arrivals + 5000 serves. arrive()/serve() only ever touch the ends — the cheap access pattern for both structures.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801368"/>
            <a:ext cx="3200400" cy="11137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882189"/>
            <a:ext cx="3200400" cy="652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Array-based finishes first — contiguous memory, no new/delete overhead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06240" y="169164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343400" y="1801368"/>
            <a:ext cx="3200400" cy="11137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2x+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4343400" y="2882189"/>
            <a:ext cx="3200400" cy="652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Linked-based takes at least 2x longer, same machine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863840" y="1691640"/>
            <a:ext cx="37490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001000" y="1801368"/>
            <a:ext cx="3474720" cy="11137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8001000" y="2882189"/>
            <a:ext cx="3474720" cy="652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Big-O identical for both — the gap is constant-factor, not complexity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4069080"/>
            <a:ext cx="10424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 verdict or ratio, never a raw timing number.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microsecond counts don’t reproduce across machines or even across runs on the same machine (CPU scheduling noise, cache warmup, background load). If a middle-removal were needed too, the array would need O(n) shifting while the linked list — given a pointer — would not: the “right” answer depends entirely on which operations the application performs.</a:t>
            </a:r>
            <a:endParaRPr lang="en-US" sz="1300" dirty="0"/>
          </a:p>
        </p:txBody>
      </p:sp>
      <p:sp>
        <p:nvSpPr>
          <p:cNvPr id="1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Josephus Problem: A Circular List's Strength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people stand in a circle, numbered 1..n. Starting from person 1, count around and eliminate every k-th person. Who survives?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206240" y="2057400"/>
            <a:ext cx="1465559" cy="705776"/>
          </a:xfrm>
          <a:prstGeom prst="line">
            <a:avLst/>
          </a:prstGeom>
          <a:noFill/>
          <a:ln w="19050">
            <a:solidFill>
              <a:srgbClr val="5A6470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5671799" y="2763176"/>
            <a:ext cx="361963" cy="1585864"/>
          </a:xfrm>
          <a:prstGeom prst="line">
            <a:avLst/>
          </a:prstGeom>
          <a:noFill/>
          <a:ln w="19050">
            <a:solidFill>
              <a:srgbClr val="5A6470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 flipH="1">
            <a:off x="5019564" y="4349040"/>
            <a:ext cx="1014198" cy="1271764"/>
          </a:xfrm>
          <a:prstGeom prst="line">
            <a:avLst/>
          </a:prstGeom>
          <a:noFill/>
          <a:ln w="19050">
            <a:solidFill>
              <a:srgbClr val="5A6470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 flipH="1">
            <a:off x="3392916" y="5620804"/>
            <a:ext cx="1626647" cy="914"/>
          </a:xfrm>
          <a:prstGeom prst="line">
            <a:avLst/>
          </a:prstGeom>
          <a:noFill/>
          <a:ln w="19050">
            <a:solidFill>
              <a:srgbClr val="5A6470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 flipH="1" flipV="1">
            <a:off x="2378718" y="4349040"/>
            <a:ext cx="1014198" cy="1271764"/>
          </a:xfrm>
          <a:prstGeom prst="line">
            <a:avLst/>
          </a:prstGeom>
          <a:noFill/>
          <a:ln w="19050">
            <a:solidFill>
              <a:srgbClr val="5A6470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 flipV="1">
            <a:off x="2378718" y="2763176"/>
            <a:ext cx="361963" cy="1585864"/>
          </a:xfrm>
          <a:prstGeom prst="line">
            <a:avLst/>
          </a:prstGeom>
          <a:noFill/>
          <a:ln w="19050">
            <a:solidFill>
              <a:srgbClr val="5A6470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 flipV="1">
            <a:off x="2740681" y="2057400"/>
            <a:ext cx="1465559" cy="705776"/>
          </a:xfrm>
          <a:prstGeom prst="line">
            <a:avLst/>
          </a:prstGeom>
          <a:noFill/>
          <a:ln w="19050">
            <a:solidFill>
              <a:srgbClr val="5A6470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909060" y="1760220"/>
            <a:ext cx="594360" cy="594360"/>
          </a:xfrm>
          <a:prstGeom prst="ellipse">
            <a:avLst/>
          </a:prstGeom>
          <a:solidFill>
            <a:srgbClr val="2FE6C4"/>
          </a:solidFill>
          <a:ln w="19050">
            <a:solidFill>
              <a:srgbClr val="14181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09060" y="17602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374619" y="2465996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4181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74619" y="246599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736582" y="4051860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4181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36582" y="40518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722384" y="5323624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4181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22384" y="532362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095736" y="5323624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4181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095736" y="532362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081538" y="4051860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4181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081538" y="40518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2443501" y="2465996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4181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443501" y="246599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1722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node's next pointer wraps back to node 1 — no “end” to fall off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360920" y="169164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shape shows up in: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Round-robin CPU scheduling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Multiplayer turn rotation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“repeat” playlist skipping removed tracks</a:t>
            </a:r>
            <a:endParaRPr lang="en-US" sz="1300" dirty="0"/>
          </a:p>
        </p:txBody>
      </p:sp>
      <p:sp>
        <p:nvSpPr>
          <p:cNvPr id="27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Josephus: Splice Before Delete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4480560"/>
          </a:xfrm>
          <a:prstGeom prst="roundRect">
            <a:avLst>
              <a:gd name="adj" fmla="val 1633"/>
            </a:avLst>
          </a:prstGeom>
          <a:solidFill>
            <a:srgbClr val="14181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335024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josephus.cpp — core loop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627632"/>
            <a:ext cx="10607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= last;   // start counting from person 1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(current-&gt;next != current) {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step = 1; step &lt; k; step++)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current = current-&gt;next;         // walk k-1 steps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Node* toEliminate = current-&gt;next;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current-&gt;next = toEliminate-&gt;next;  // splice out BEFORE delete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delete toEliminate;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current = current-&gt;next;              // continue from next survivor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8064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current-&gt;next != current</a:t>
            </a:r>
            <a:pPr indent="0" marL="0">
              <a:buNone/>
            </a:pPr>
            <a:r>
              <a:rPr lang="en-US" sz="12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is the loop condition: once one node is left, that node's own next points back to itself — mirroring how head == nullptr signals an empty singly linked list.</a:t>
            </a:r>
            <a:endParaRPr lang="en-US" sz="1250" dirty="0"/>
          </a:p>
        </p:txBody>
      </p:sp>
      <p:sp>
        <p:nvSpPr>
          <p:cNvPr id="7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the Elimination: n=7, k=3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26060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2606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30759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618488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Circle: 1 2 3 4 5 6 7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91840" y="1234440"/>
            <a:ext cx="26060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91840" y="1234440"/>
            <a:ext cx="2606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401568" y="130759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4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401568" y="1618488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Circle: 1 2 3 5 6 7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35040" y="1234440"/>
            <a:ext cx="26060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35040" y="1234440"/>
            <a:ext cx="2606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144768" y="130759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144768" y="1618488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Circle: 2 3 5 6 7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778240" y="1234440"/>
            <a:ext cx="26060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778240" y="1234440"/>
            <a:ext cx="2606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887968" y="130759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6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887968" y="1618488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Circle: 2 3 5 7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2834640"/>
            <a:ext cx="26060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2834640"/>
            <a:ext cx="2606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290779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3218688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Circle: 2 3 7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291840" y="2834640"/>
            <a:ext cx="26060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291840" y="2834640"/>
            <a:ext cx="2606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3401568" y="290779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7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401568" y="3218688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Circle: 2 3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035040" y="2834640"/>
            <a:ext cx="2606040" cy="1417320"/>
          </a:xfrm>
          <a:prstGeom prst="roundRect">
            <a:avLst>
              <a:gd name="adj" fmla="val 3871"/>
            </a:avLst>
          </a:prstGeom>
          <a:solidFill>
            <a:srgbClr val="2FE6C4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035040" y="2834640"/>
            <a:ext cx="2606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144768" y="290779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Survivor: 2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144768" y="3218688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Circle: 2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4480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elimination is O(1) once positioned — splice the node out, no shifting.</a:t>
            </a:r>
            <a:endParaRPr lang="en-US" sz="1250" dirty="0"/>
          </a:p>
        </p:txBody>
      </p:sp>
      <p:sp>
        <p:nvSpPr>
          <p:cNvPr id="32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Circular List, Not a Circular Array?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371600"/>
          <a:ext cx="10515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3200400"/>
                <a:gridCol w="32004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Circular array (shifting)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Circular linked 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Counting k steps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Removing counted person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 — shift everything after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— splice 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for n-1 eliminations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O(n·k + n²)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O(n·k)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22960" y="37490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outer loop runs n-1 times; each iteration walks k-1 steps before eliminating — O(n·k) total either way. The difference is entirely in the elimination step itself: splice (O(1)) vs. shift (O(n)).</a:t>
            </a:r>
            <a:endParaRPr lang="en-US" sz="1300" dirty="0"/>
          </a:p>
        </p:txBody>
      </p:sp>
      <p:sp>
        <p:nvSpPr>
          <p:cNvPr id="12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Linear Structure Operations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640080" cy="64008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↶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135331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editor undo history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783080"/>
            <a:ext cx="9966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for the visible document (fast rendering, indexed access) + a linked list/stack of past edits (cheap push/pop of recent changes).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520440"/>
            <a:ext cx="640080" cy="640080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♫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35021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player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3931920"/>
            <a:ext cx="9966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to display the playlist (jump to song #7 instantly) + a doubly linked list's prev/next for skip forward/back playback.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problems often need more than one structure working together — not a single winner.</a:t>
            </a:r>
            <a:endParaRPr lang="en-US" sz="1250" dirty="0"/>
          </a:p>
        </p:txBody>
      </p:sp>
      <p:sp>
        <p:nvSpPr>
          <p:cNvPr id="12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743200"/>
                <a:gridCol w="502920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 used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Undo/redo in an editor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 (linked list)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recent change undone first — LIFO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 job queue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 (linked list)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Jobs print in submission order — FIFO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Autocomplete suggestions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 (sorted)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Frequent lookups, rarely modified after load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Infinite-scroll feed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 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Constantly appending; never jumps to post #500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pixel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2D array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pixel needs instant O(1) (row, col) access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655064"/>
            <a:ext cx="146304" cy="146304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234440" y="1490472"/>
            <a:ext cx="100584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between an array and a linked list is a trade-off, not a search for one objectively “best” structure — it depends on the operations the application performs most.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596896"/>
            <a:ext cx="146304" cy="146304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34440" y="2432304"/>
            <a:ext cx="100584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win on indexed access with predictable size; linked lists win on frequent insertion/deletion, especially at the ends, with unpredictable size.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538728"/>
            <a:ext cx="146304" cy="146304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34440" y="3374136"/>
            <a:ext cx="100584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Big-O doesn't mean equal speed: arrays are typically faster in practice thanks to cache-friendly contiguous memory. Report a verdict or ratio, never a raw timing number.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480560"/>
            <a:ext cx="146304" cy="146304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34440" y="4315968"/>
            <a:ext cx="100584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circular linked list is the natural fit for cycling through a shrinking set of participants without a fixed end — the Josephus problem, round-robin scheduling, turn rotation.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5422392"/>
            <a:ext cx="146304" cy="146304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34440" y="5257800"/>
            <a:ext cx="100584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applications frequently combine multiple structures, each handling the part it's naturally good at.</a:t>
            </a:r>
            <a:endParaRPr lang="en-US" sz="1500" dirty="0"/>
          </a:p>
        </p:txBody>
      </p:sp>
      <p:sp>
        <p:nvSpPr>
          <p:cNvPr id="13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2026-09-23T18:44:08Z</dcterms:created>
  <dcterms:modified xsi:type="dcterms:W3CDTF">2026-09-23T18:44:08Z</dcterms:modified>
</cp:coreProperties>
</file>
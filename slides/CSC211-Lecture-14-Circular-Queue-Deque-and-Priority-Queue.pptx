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· LINEAR STRUCTURES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10881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Circular Queue, Deque,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Priority Queue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081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136245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Limitation, Recalled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66420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13's array queue permanently wastes freed slots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41732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150608" y="136245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50608" y="166420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Wraparound indices via the modulo operator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&lt;&gt;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277977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08152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and deletion allowed at both ends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28346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277977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Deques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50608" y="308152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Input-restricted and output-restricted variants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19709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49884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FIFO on purpose — priority over arrival order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425196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50608" y="4197096"/>
            <a:ext cx="4736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vs. Max-Heap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50608" y="4498848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entirely a function of the comparator</a:t>
            </a:r>
            <a:endParaRPr lang="en-US" sz="125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LECTURE 13'S WASTE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Queue: The Array as a Ring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frontIndex and rearIndex advance with % CAPACITY, so they wrap around and reuse freed slots instead of abandoning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46420" y="1988820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46420" y="19888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24818" y="3062939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E6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24818" y="3062939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60120" y="4800901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E6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60120" y="4800901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32720" y="4800901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E6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2720" y="4800901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68022" y="3062939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E6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68022" y="3062939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6035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4 wraps back to index 0 via % CAPACITY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1089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218688"/>
            <a:ext cx="26517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51376"/>
            <a:ext cx="2377440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wraparound mechanism: one modulo operator</a:t>
            </a:r>
            <a:endParaRPr lang="en-US" sz="115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CircularQueue: count Replaces rearIndex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4480560"/>
          </a:xfrm>
          <a:prstGeom prst="roundRect">
            <a:avLst>
              <a:gd name="adj" fmla="val 1633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62763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circular_queue.cpp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38528"/>
            <a:ext cx="1036929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CircularQueue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data[CAPACITY];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frontIndex, count;   // count = elements stored right now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isFull() const { return count == CAPACITY; }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enqueue(int value)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(isFull()) throw overflow_error("Queue is full");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rearIndex = (frontIndex + count) % CAPACITY;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data[rearIndex] = value;  count++;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dequeue()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value = data[frontIndex];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frontIndex = (frontIndex + 1) % CAPACITY;  count--;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value;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5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TRIPS STUDENTS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the Wraparound, Step by Step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enqueue(60): frontIndex=2, count=3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371600" y="178308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EDEFF1"/>
          </a:solidFill>
          <a:ln w="19050">
            <a:solidFill>
              <a:srgbClr val="B7BE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783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43784" y="178308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EDEFF1"/>
          </a:solidFill>
          <a:ln w="19050">
            <a:solidFill>
              <a:srgbClr val="B7BE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43784" y="1783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178308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15968" y="1783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24528" y="14904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88152" y="178308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88152" y="1783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60336" y="178308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60336" y="1783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11696" y="24597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would be here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80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 + 3) % 5 = 0  -&gt;  wraps!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enqueue(60): rearIndex wraps 5 -&gt; 0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371600" y="400507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E9FBF7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71600" y="400507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7124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43784" y="400507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EDEFF1"/>
          </a:solidFill>
          <a:ln w="19050">
            <a:solidFill>
              <a:srgbClr val="B7BE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43784" y="400507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15968" y="400507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15968" y="400507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224528" y="37124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88152" y="400507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88152" y="400507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60336" y="4005072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60336" y="400507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400" dirty="0"/>
          </a:p>
        </p:txBody>
      </p:sp>
      <p:sp>
        <p:nvSpPr>
          <p:cNvPr id="3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of a Circular Queue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682496"/>
            <a:ext cx="9674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Memory Efficiently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984248"/>
            <a:ext cx="9674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slot is ever permanently wasted — every freed slot gets reused.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81328" y="3054096"/>
            <a:ext cx="9674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O(1)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3355848"/>
            <a:ext cx="9674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stays O(1), with none of a linked list's per-node pointer overhead.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471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425696"/>
            <a:ext cx="9674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Standard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4727448"/>
            <a:ext cx="9674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Audio/video streaming buffers, keyboard input buffers, and network packet buffers are all circular queues under the hood.</a:t>
            </a:r>
            <a:endParaRPr lang="en-US" sz="140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GENERALIZING FURTHER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Deque: Double-Ended Queue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and deletion are both allowed at either end — not just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23360" y="310896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023360" y="3108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23560" y="310896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23560" y="3108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23760" y="310896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242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3108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insertFront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0" y="2651760"/>
            <a:ext cx="320040" cy="36576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737360" y="4343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deleteFront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H="1">
            <a:off x="3840480" y="4114800"/>
            <a:ext cx="320040" cy="36576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740664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insertRear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8458200" y="2651760"/>
            <a:ext cx="320040" cy="36576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7406640" y="4343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deleteRear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58200" y="4114800"/>
            <a:ext cx="320040" cy="365760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" y="512064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FFF6E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512064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= a deque using only push_back + pop_front. A stack = a deque using only push_back + pop_back. The deque is the more general structure both are built from.</a:t>
            </a:r>
            <a:endParaRPr lang="en-US" sz="13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ArrayDeque: frontIndex Moves Backward Too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4480560"/>
          </a:xfrm>
          <a:prstGeom prst="roundRect">
            <a:avLst>
              <a:gd name="adj" fmla="val 1633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62763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array_deque.cpp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938528"/>
            <a:ext cx="1036929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insertRear(int value)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rearIndex = (frontIndex + count) % CAPACITY;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data[rearIndex] = value;  count++;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insertFront(int value)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moves BACKWARD, wrapping to CAPACITY - 1 instead of -1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frontIndex = (frontIndex - 1 + CAPACITY) % CAPACITY;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data[frontIndex] = value;  count++;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deleteRear() {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rearIndex = (frontIndex + count - 1) % CAPACITY;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count--;  return data[rearIndex];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END LOCKED DOWN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Input-Restricted &amp; Output-Restricted Deques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Input-Restricted Deque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allowed at only ONE end.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allowed at BOTH ends.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3749040"/>
            <a:ext cx="9144" cy="365760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1463040" y="3703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(one end only)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8B7F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Output-Restricted Deque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606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allowed at only ONE end.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allowed at BOTH ends.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a problem is mostly a plain queue or stack, but occasionally needs one extra flexibility at just one end.</a:t>
            </a:r>
            <a:endParaRPr lang="en-US" sz="135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FIFO ON PURPOSE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Queue: Priority Over Arrival Order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in this order: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4173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Popped in this order (highest priority first):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288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Send weekly report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[9] Fix production outage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38328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Reply to a comment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16052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[8] Patch a security bug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14181C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18288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[9] Fix production outage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60604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26060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[8] Patch a security bug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338328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33832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Send weekly report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4160520"/>
            <a:ext cx="5212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1605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Reply to a comment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5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production outage" was pushed 2nd but processed 1st — its priority (9) beats every other task's.</a:t>
            </a:r>
            <a:endParaRPr lang="en-US" sz="1350" dirty="0"/>
          </a:p>
        </p:txBody>
      </p:sp>
      <p:sp>
        <p:nvSpPr>
          <p:cNvPr id="2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JUST THE COMPARATOR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vs. Max-Heap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max-heap&lt;int&gt;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34640" y="182880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3464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0" y="2103120"/>
            <a:ext cx="228600" cy="9144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51960" y="182880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40680" y="2103120"/>
            <a:ext cx="228600" cy="9144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0" y="182880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2103120"/>
            <a:ext cx="228600" cy="9144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86600" y="182880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8660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75320" y="2103120"/>
            <a:ext cx="228600" cy="9144"/>
          </a:xfrm>
          <a:prstGeom prst="line">
            <a:avLst/>
          </a:prstGeom>
          <a:noFill/>
          <a:ln w="22225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03920" y="182880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03920" y="1828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(default: less&lt;T&gt;)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0175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min-heap&lt;int&gt;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34640" y="30175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3464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023360" y="3291840"/>
            <a:ext cx="228600" cy="9144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251960" y="30175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5196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40680" y="3291840"/>
            <a:ext cx="228600" cy="9144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669280" y="30175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58000" y="3291840"/>
            <a:ext cx="228600" cy="9144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086600" y="30175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8660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75320" y="3291840"/>
            <a:ext cx="228600" cy="9144"/>
          </a:xfrm>
          <a:prstGeom prst="line">
            <a:avLst/>
          </a:prstGeom>
          <a:noFill/>
          <a:ln w="22225">
            <a:solidFill>
              <a:srgbClr val="2FE6C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03920" y="301752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03920" y="3017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A73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(greater&lt;int&gt;)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724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3520440" y="4297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top() returns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263640" y="42976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for...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40080" y="4754880"/>
            <a:ext cx="10881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7240" y="47548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less&lt;T&gt; (default)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520440" y="47548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element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6263640" y="47548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urgent first" — outage tickets, leaderboard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" y="5349240"/>
            <a:ext cx="10881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3E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" y="5349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greater&lt;T&gt;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3520440" y="53492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element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6263640" y="53492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"Soonest first" — nearest deadline, lowest bid</a:t>
            </a:r>
            <a:endParaRPr lang="en-US" sz="1250" dirty="0"/>
          </a:p>
        </p:txBody>
      </p:sp>
      <p:sp>
        <p:nvSpPr>
          <p:cNvPr id="4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0939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1737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queue reuses freed array slots by wrapping indices with the modulo operator, fixing wasted space while staying O(1).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651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rearIndex = (frontIndex + count) % CAPACITY, recomputed fresh every time, is what makes the wraparound arithmetic safe to reason about.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9227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5661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deque generalizes the queue to allow insertion and deletion at both ends — stacks and queues are both special cases of a deque.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48371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44805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Input-restricted and output-restricted deques lock down one end when a problem needs only a little extra flexibility.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5751576"/>
            <a:ext cx="201168" cy="201168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53949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 queue breaks FIFO deliberately; whether std::priority_queue is a max-heap or min-heap is entirely a function of its comparator.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 — COMSATS University Islamabad, Lahore Campus</a:t>
            </a:r>
            <a:endParaRPr lang="en-US" sz="11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2026-09-24T05:35:44Z</dcterms:created>
  <dcterms:modified xsi:type="dcterms:W3CDTF">2026-09-24T05:35:44Z</dcterms:modified>
</cp:coreProperties>
</file>
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· NON-LINEAR STRUCTURES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Trees and General Trees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Non-Linear Structures?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can branch into many children at once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Concept &amp; Terminology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5060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parent, child, sibling, leaf, depth, height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two children — full, complete, and skewed shapes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vs. Linked Representation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store a binary tree in memory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Tree -&gt; Binary Tree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first-child/next-sibling (FCNS) trick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systems, org charts, the DOM, compilers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"ONE NEXT" RESTRICTION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Concept and Terminology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>
            <a:off x="3621024" y="2167128"/>
            <a:ext cx="2103120" cy="43891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724144" y="2167128"/>
            <a:ext cx="2103120" cy="43891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2432304" y="3264408"/>
            <a:ext cx="1188720" cy="43891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21024" y="3264408"/>
            <a:ext cx="1188720" cy="43891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827264" y="3264408"/>
            <a:ext cx="9144" cy="43891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15087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94960" y="1508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6060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26060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0312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9808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463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16824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parent — the top (A)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2121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23408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children (D, E, F)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277977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2999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parent (B, C)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34381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869680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from root down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40965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3159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root-to-leaf path (2)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06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tree places no limit on how many children a node can have — binary trees add one restriction to simplify analysis.</a:t>
            </a:r>
            <a:endParaRPr lang="en-US" sz="125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Tree vs. Binary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0" y="16916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H="1">
            <a:off x="1335024" y="2350008"/>
            <a:ext cx="173736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28346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flipH="1">
            <a:off x="2569464" y="2350008"/>
            <a:ext cx="50292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03120" y="28346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72384" y="2350008"/>
            <a:ext cx="73152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37560" y="28346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72384" y="2350008"/>
            <a:ext cx="196596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8346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0" y="2834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tree — any number of children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has FOUR children — perfectly normal for a folder.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95360" y="16916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8101584" y="2350008"/>
            <a:ext cx="82296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24544" y="2350008"/>
            <a:ext cx="822960" cy="4846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0" y="28346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418320" y="28346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0" y="2834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— at most 2 children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 or fourth pointer to use — needs a different strategy entirely.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6E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cosmetic: it's the reason binary trees need a completely different strategy (first-child/next-sibling, later this lecture) to represent a general tree's unlimited branching at all.</a:t>
            </a:r>
            <a:endParaRPr lang="en-US" sz="1350" dirty="0"/>
          </a:p>
        </p:txBody>
      </p:sp>
      <p:sp>
        <p:nvSpPr>
          <p:cNvPr id="3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POINTER ASSIGNMENT AT A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Tree, Node by Node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+ CTO, CFO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6210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782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22402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290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434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862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+ Eng Lead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63642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214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64224" y="3675888"/>
            <a:ext cx="9144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2402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150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866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434340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4745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869680" y="1463040"/>
            <a:ext cx="2606040" cy="4572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+ Engineer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flipH="1">
            <a:off x="91074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564624" y="2624328"/>
            <a:ext cx="457200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107424" y="3675888"/>
            <a:ext cx="9144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07424" y="4727448"/>
            <a:ext cx="9144" cy="667512"/>
          </a:xfrm>
          <a:prstGeom prst="line">
            <a:avLst/>
          </a:prstGeom>
          <a:noFill/>
          <a:ln w="15875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72600" y="22402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1540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154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582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829800" y="329184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72600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15400" y="434340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458200" y="4745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15400" y="53949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FE6C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58200" y="57972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after Step 4: 3 edges from root (CEO) to deepest leaf (Engineer).</a:t>
            </a:r>
            <a:endParaRPr lang="en-US" sz="1250" dirty="0"/>
          </a:p>
        </p:txBody>
      </p:sp>
      <p:sp>
        <p:nvSpPr>
          <p:cNvPr id="4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SHAPES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Complete, and Skewed Binary Trees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 flipH="1">
            <a:off x="1563624" y="2852928"/>
            <a:ext cx="77724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40864" y="2852928"/>
            <a:ext cx="77724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152144" y="3767328"/>
            <a:ext cx="41148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63624" y="3767328"/>
            <a:ext cx="41148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11680" y="21945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1168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3108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3108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592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912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 flipH="1">
            <a:off x="5312664" y="2852928"/>
            <a:ext cx="77724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9904" y="2852928"/>
            <a:ext cx="77724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4901184" y="3767328"/>
            <a:ext cx="41148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12664" y="3767328"/>
            <a:ext cx="41148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6455664" y="3767328"/>
            <a:ext cx="41148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60720" y="21945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6072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3108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3108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9496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12648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3816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21040" y="1691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473184" y="2852928"/>
            <a:ext cx="50292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976104" y="3767328"/>
            <a:ext cx="502920" cy="25603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0" y="21945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44000" y="21945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646920" y="3108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46920" y="3108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149840" y="40233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4984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every node has 0 or 2 children.   Complete: every level full except possibly the last, left to right.   Skewed: every node has one child — the worst case for search (Lecture 21).</a:t>
            </a:r>
            <a:endParaRPr lang="en-US" sz="1250" dirty="0"/>
          </a:p>
        </p:txBody>
      </p:sp>
      <p:sp>
        <p:nvSpPr>
          <p:cNvPr id="5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 TREES SPECIFICALLY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(Array) Representation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arithmetic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4608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 = 2*i + 1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= 2*i + 2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= (i - 1) /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H="1">
            <a:off x="7278624" y="2212848"/>
            <a:ext cx="1188720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67344" y="2212848"/>
            <a:ext cx="1188720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6638544" y="3172968"/>
            <a:ext cx="640080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78624" y="3172968"/>
            <a:ext cx="640080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56064" y="3172968"/>
            <a:ext cx="9144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38160" y="155448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554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2311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251460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1912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326880" y="251460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5146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1912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34747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474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513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34747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3474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1513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26880" y="34747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26880" y="3474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41513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06240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38344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38344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038344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70448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70448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870448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02552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02552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02552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34656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34656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534656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366760" y="489204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66760" y="4892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366760" y="4636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and cache-friendly — but wastes space badly for a skewed (incomplete) tree.</a:t>
            </a:r>
            <a:endParaRPr lang="en-US" sz="1250" dirty="0"/>
          </a:p>
        </p:txBody>
      </p:sp>
      <p:sp>
        <p:nvSpPr>
          <p:cNvPr id="4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SHAPE, NO WASTE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Representation of Binary Trees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TreeNode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4974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TreeNode {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TreeNode* left;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TreeNode* right;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TreeNode(int v) : data(v),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left(nullptr), right(nullptr) {}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 flipH="1">
            <a:off x="6638544" y="2258568"/>
            <a:ext cx="109728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35824" y="2258568"/>
            <a:ext cx="109728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6089904" y="3310128"/>
            <a:ext cx="54864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38544" y="3310128"/>
            <a:ext cx="54864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833104" y="3310128"/>
            <a:ext cx="9144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60020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6517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26517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37033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3703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10881360" cy="41148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343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4343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Representation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343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Representation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75488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754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47548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trees (heaps)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7548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binary tree shape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25780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2578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703320" y="52578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wastes on gaps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257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+ 2 pointers each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10881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760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child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703320" y="57607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arithmetic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57607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pointer dereference</a:t>
            </a:r>
            <a:endParaRPr lang="en-US" sz="120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TREE -&gt; BINARY TREE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First-Child / Next-Sibling (FCNS)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7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= this node's FIRST CHILD.   right = this node's NEXT SIBLING.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51760" y="196596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H="1">
            <a:off x="1609344" y="2624328"/>
            <a:ext cx="137160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80160" y="30175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017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80944" y="2624328"/>
            <a:ext cx="9144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51760" y="30175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017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80944" y="2624328"/>
            <a:ext cx="137160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30175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23360" y="30175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2295144" y="3675888"/>
            <a:ext cx="68580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80944" y="3675888"/>
            <a:ext cx="685800" cy="39319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406908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965960" y="4069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406908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4069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tree (Documents: 3 children)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82880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58784" y="2487168"/>
            <a:ext cx="9144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0" y="27889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87968" y="3118104"/>
            <a:ext cx="438912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26880" y="27889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985248" y="3118104"/>
            <a:ext cx="438912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424160" y="278892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7F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2416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56064" y="3447288"/>
            <a:ext cx="9144" cy="301752"/>
          </a:xfrm>
          <a:prstGeom prst="line">
            <a:avLst/>
          </a:prstGeom>
          <a:noFill/>
          <a:ln w="19050">
            <a:solidFill>
              <a:srgbClr val="B7BEC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26880" y="37490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985248" y="4078224"/>
            <a:ext cx="438912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424160" y="3749040"/>
            <a:ext cx="658368" cy="65836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E6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2416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4526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FCNS binary encoding (down=firstChild, right=nextSibling)</a:t>
            </a:r>
            <a:endParaRPr lang="en-US" sz="1200" dirty="0"/>
          </a:p>
        </p:txBody>
      </p:sp>
      <p:sp>
        <p:nvSpPr>
          <p:cNvPr id="4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LOSSLESS, BY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FCNS Node and Conversion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general_to_binary.cpp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103692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FCNSNode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FCNSNode* firstChild;   // was "left"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FCNSNode* nextSibling;  // was "right"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FCNSNode* convert(GeneralNode* node)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FCNSNode* converted = new FCNSNode(node-&gt;name);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converted-&gt;firstChild = convert(node-&gt;children[0]);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FCNSNode* sibling = converted-&gt;firstChild;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(size_t i = 1; i &lt; node-&gt;children.size(); i++)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sibling-&gt;nextSibling = convert(node-&gt;children[i]);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sibling = sibling-&gt;nextSibling;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converted;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TREES SHOW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of Trees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can hold any number of items — navigation is naturally hierarchical.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54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20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manager's "next" isn't one person — it's a whole team of direct reports.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&lt;div&gt; can contain any number of children — rendering &amp; events walk this tree.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063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200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566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branches to a completely different next question.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* c nests b * c inside the addition — the structure IS a tree.</a:t>
            </a:r>
            <a:endParaRPr lang="en-US" sz="12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939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is a hierarchical, non-linear structure — one node can have multiple children, unlike every linear structure so far.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terminology — root, parent, child, sibling, leaf, depth, height, subtree — is used throughout the rest of this unit.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227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66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tree restricts every node to at most two children; it can be full, complete, or skewed, which affects search efficiency.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8371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representation is compact but only efficient for complete trees; the linked representation handles any shape.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7515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tree can be represented with ordinary two-pointer nodes via first-child/next-sibling (FCNS) encoding.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 — COMSATS University Islamabad, Lahore Campus</a:t>
            </a:r>
            <a:endParaRPr lang="en-US" sz="11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2026-09-23T18:47:32Z</dcterms:created>
  <dcterms:modified xsi:type="dcterms:W3CDTF">2026-09-23T18:47:32Z</dcterms:modified>
</cp:coreProperties>
</file>
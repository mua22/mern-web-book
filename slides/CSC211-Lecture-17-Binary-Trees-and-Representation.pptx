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840480" cy="3840480"/>
          </a:xfrm>
          <a:prstGeom prst="ellipse">
            <a:avLst/>
          </a:prstGeom>
          <a:solidFill>
            <a:srgbClr val="2FE6C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8B7FD9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Binary Trees and Representation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 insertion, the array representation, and the index math that connects them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Tree ADT, formalized as an interface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6712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 insertion, and why it needs a queue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0837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working BinaryTree class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4962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 representation: level-order insertion as plain push_back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736592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69087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math — 2i+1, 2i+2, (i-1)/2 — and its one pitfall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5778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5321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array representation wastes space on anything but a complete tree</a:t>
            </a:r>
            <a:endParaRPr lang="en-US" sz="16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Tree ADT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7724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insert(value)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new node holding value at the next available position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isEmpty()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whether the tree has any nodes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the tree's height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Traversal operations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every node in some defined order (Lecture 19)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5074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“Next available position” </a:t>
            </a:r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scanning the tree level by level, left to right — a breadth-first walk.</a:t>
            </a:r>
            <a:endParaRPr lang="en-US" sz="145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 Insertion Needs a Queue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2377440" cy="1005840"/>
          </a:xfrm>
          <a:prstGeom prst="roundRect">
            <a:avLst>
              <a:gd name="adj" fmla="val 5455"/>
            </a:avLst>
          </a:prstGeom>
          <a:solidFill>
            <a:srgbClr val="14181C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root 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017520" y="2148840"/>
            <a:ext cx="777240" cy="914"/>
          </a:xfrm>
          <a:prstGeom prst="line">
            <a:avLst/>
          </a:prstGeom>
          <a:noFill/>
          <a:ln w="25400">
            <a:solidFill>
              <a:srgbClr val="5A647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840480" y="1234440"/>
            <a:ext cx="42062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2FE6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40480" y="12344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a node.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child free? → insert there.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child free? → insert there.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enqueue both children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keep going.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V="1">
            <a:off x="8046720" y="914400"/>
            <a:ext cx="685800" cy="1234440"/>
          </a:xfrm>
          <a:prstGeom prst="line">
            <a:avLst/>
          </a:prstGeom>
          <a:noFill/>
          <a:ln w="25400">
            <a:solidFill>
              <a:srgbClr val="2FE6C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046720" y="2148840"/>
            <a:ext cx="685800" cy="1143000"/>
          </a:xfrm>
          <a:prstGeom prst="line">
            <a:avLst/>
          </a:prstGeom>
          <a:noFill/>
          <a:ln w="25400">
            <a:solidFill>
              <a:srgbClr val="2FE6C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778240" y="50292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F7F8F9"/>
          </a:solidFill>
          <a:ln w="15875">
            <a:solidFill>
              <a:srgbClr val="2FE6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0" y="502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new node here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78240" y="288036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F7F8F9"/>
          </a:solidFill>
          <a:ln w="15875">
            <a:solidFill>
              <a:srgbClr val="8B7F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0" y="2880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Re-enqueue and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scanning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1148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Breadth-first, not depth-first: </a:t>
            </a:r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finish checking every node at the current level before moving deeper — exactly what a queue's FIFO order gives you, and a stack cannot.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 flipV="1">
            <a:off x="7863840" y="4343400"/>
            <a:ext cx="1188720" cy="73152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0" y="4343400"/>
            <a:ext cx="1188720" cy="73152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7269480" y="5074920"/>
            <a:ext cx="594360" cy="73152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5074920"/>
            <a:ext cx="594360" cy="73152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9646920" y="5074920"/>
            <a:ext cx="594360" cy="73152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0" y="5074920"/>
            <a:ext cx="594360" cy="73152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51392" y="4142232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51392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62672" y="4873752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62672" y="4873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040112" y="4873752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40112" y="4873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68312" y="5605272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68312" y="5605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57032" y="5605272"/>
            <a:ext cx="402336" cy="402336"/>
          </a:xfrm>
          <a:prstGeom prst="ellipse">
            <a:avLst/>
          </a:prstGeom>
          <a:solidFill>
            <a:srgbClr val="2FE6C4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57032" y="5605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445752" y="5605272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445752" y="5605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634472" y="5605272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634472" y="5605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589520" y="6172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= next open slot</a:t>
            </a:r>
            <a:endParaRPr lang="en-US" sz="1050" dirty="0"/>
          </a:p>
        </p:txBody>
      </p:sp>
      <p:sp>
        <p:nvSpPr>
          <p:cNvPr id="3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insert(): Level-Order via a Queue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10698480" cy="4206240"/>
          </a:xfrm>
          <a:prstGeom prst="roundRect">
            <a:avLst>
              <a:gd name="adj" fmla="val 1739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47218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binary_tree.cpp — BinaryTree::insert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764792"/>
            <a:ext cx="10241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insert(int value) {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TreeNode* newNode = new TreeNode(value);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(root == nullptr) { root = newNode; return; }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queue&lt;TreeNode*&gt; toVisit;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toVisit.push(root);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(!toVisit.empty()) {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TreeNode* current = toVisit.front(); toVisit.pop();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(current-&gt;left == nullptr) { current-&gt;left = newNode; return; }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toVisit.push(current-&gt;left);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(current-&gt;right == nullptr) { current-&gt;right = newNode; return; }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toVisit.push(current-&gt;right);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lines: a full child gets re-enqueued so its own children are checked next.</a:t>
            </a:r>
            <a:endParaRPr lang="en-US" sz="125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A Complete Tree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 flipV="1">
            <a:off x="2286000" y="1554480"/>
            <a:ext cx="1920240" cy="141732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0" y="1554480"/>
            <a:ext cx="1920240" cy="141732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325880" y="2971800"/>
            <a:ext cx="960120" cy="141732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2971800"/>
            <a:ext cx="960120" cy="141732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5166360" y="2971800"/>
            <a:ext cx="960120" cy="141732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2971800"/>
            <a:ext cx="960120" cy="141732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118872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20240" y="260604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2024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60720" y="260604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402336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023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880360" y="402336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80360" y="4023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00600" y="402336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4023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20840" y="402336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0840" y="4023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623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1..7 in order, level by level, left to right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321040" y="173736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58200" y="1847088"/>
            <a:ext cx="2743200" cy="9015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40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2701138"/>
            <a:ext cx="274320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height() — 3 levels, root at height 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21040" y="352044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458200" y="3630168"/>
            <a:ext cx="2743200" cy="9015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gaps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8458200" y="4484218"/>
            <a:ext cx="274320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is fully packed: no missing slots</a:t>
            </a:r>
            <a:endParaRPr lang="en-US" sz="1200" dirty="0"/>
          </a:p>
        </p:txBody>
      </p:sp>
      <p:sp>
        <p:nvSpPr>
          <p:cNvPr id="3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Representation — Same Tree, No Queue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 flipV="1">
            <a:off x="1463040" y="1600200"/>
            <a:ext cx="1371600" cy="123444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34640" y="1600200"/>
            <a:ext cx="1371600" cy="123444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777240" y="2834640"/>
            <a:ext cx="685800" cy="123444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834640"/>
            <a:ext cx="685800" cy="123444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520440" y="2834640"/>
            <a:ext cx="685800" cy="123444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2834640"/>
            <a:ext cx="685800" cy="123444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42032" y="130759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42032" y="1307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70432" y="254203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70432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913632" y="254203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13632" y="25420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" y="377647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" y="3776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56232" y="377647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56232" y="3776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27832" y="377647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27832" y="3776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99432" y="377647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99432" y="37764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representation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1417320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14181C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141732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78040" y="1417320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78040" y="14173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1984248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14181C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9360" y="198424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78040" y="1984248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78040" y="19842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9360" y="2551176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14181C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255117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78040" y="2551176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8040" y="255117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09360" y="3118104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14181C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09360" y="311810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178040" y="3118104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78040" y="311810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09360" y="3685032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14181C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09360" y="368503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78040" y="3685032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178040" y="368503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309360" y="4251960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14181C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09360" y="425196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178040" y="4251960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178040" y="42519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309360" y="4818888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14181C"/>
          </a:solidFill>
          <a:ln w="15875">
            <a:solidFill>
              <a:srgbClr val="E1E4E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09360" y="481888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178040" y="4818888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178040" y="48188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6035040" y="5477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representation (level order)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297680" y="3017520"/>
            <a:ext cx="1874520" cy="914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  <a:headEnd type="none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434340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tree,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encodings</a:t>
            </a:r>
            <a:endParaRPr lang="en-US" sz="1000" dirty="0"/>
          </a:p>
        </p:txBody>
      </p:sp>
      <p:sp>
        <p:nvSpPr>
          <p:cNvPr id="5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insert() on the Array: Just push_back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6309360" cy="2377440"/>
          </a:xfrm>
          <a:prstGeom prst="roundRect">
            <a:avLst>
              <a:gd name="adj" fmla="val 3077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47218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array_binary_tree.cpp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764792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vector&lt;int&gt; nodes;  // level-order storage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insert(int value) {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nodes.push_back(value);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3192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already IS the tree, stored level by level. </a:t>
            </a:r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open slot in level order is always the next index — no searching required.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0" y="132588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543800" y="1435608"/>
            <a:ext cx="3657600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543800" y="2403043"/>
            <a:ext cx="36576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insert — rediscovers the slot by walking the tree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324612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543800" y="3355848"/>
            <a:ext cx="3657600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4323283"/>
            <a:ext cx="36576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insert — the slot is always nodes.size()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51663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operation, same result — the array never has to search for the slot at all.</a:t>
            </a:r>
            <a:endParaRPr lang="en-US" sz="1250" dirty="0"/>
          </a:p>
        </p:txBody>
      </p:sp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Math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child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2·i + 1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434840" y="146304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43484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child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20116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2·i + 2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13816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20116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− 1) / 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749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are always safe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check index &lt; nodes.size() before using the result. The parent formula has a sharp edge (next slide).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663440"/>
          <a:ext cx="10698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55448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Parent-Index Pitfall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463040" y="2011680"/>
            <a:ext cx="2834640" cy="914"/>
          </a:xfrm>
          <a:prstGeom prst="line">
            <a:avLst/>
          </a:prstGeom>
          <a:noFill/>
          <a:ln w="25400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4297680" y="2011680"/>
            <a:ext cx="2834640" cy="914"/>
          </a:xfrm>
          <a:prstGeom prst="line">
            <a:avLst/>
          </a:prstGeom>
          <a:noFill/>
          <a:ln w="25400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960120" y="1508760"/>
            <a:ext cx="1005840" cy="10058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508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94760" y="1508760"/>
            <a:ext cx="1005840" cy="10058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94760" y="1508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29400" y="1508760"/>
            <a:ext cx="1005840" cy="10058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1508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(root)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parentIndex(6) = 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parentIndex(2) = 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0" y="1051560"/>
            <a:ext cx="1371600" cy="54864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7772400" y="1600200"/>
            <a:ext cx="1371600" cy="50292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635240" y="502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parentIndex(0) = 0 ✗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(looks valid, isn't!)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3346704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0 -&gt; (i-1)/2  (C++ truncates toward zero)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63931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parent = (i - 1) / 2;   // (0-1)/2 = -1/2 truncates to 0, not -1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Fix: guard with an explicit "is this the root?" check before trusting it.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892040"/>
          <a:ext cx="10698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265176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(i−1)/2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 ← wrong!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Efficiency: Skewed Trees Waste Exponentially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0" y="1371600"/>
            <a:ext cx="502920" cy="77724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1720" y="2148840"/>
            <a:ext cx="502920" cy="77724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2926080"/>
            <a:ext cx="502920" cy="777240"/>
          </a:xfrm>
          <a:prstGeom prst="line">
            <a:avLst/>
          </a:prstGeom>
          <a:noFill/>
          <a:ln w="22225">
            <a:solidFill>
              <a:srgbClr val="9AA3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109728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1874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26517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63240" y="342900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97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tree, height 3: 4 real nodes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82880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nodes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slots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48640" y="48463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2ʰ⁺¹ − 1 slots </a:t>
            </a:r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for only h+1 real values — the array representation only stays efficient for </a:t>
            </a:r>
            <a:pPr indent="0" marL="0">
              <a:buNone/>
            </a:pPr>
            <a:r>
              <a:rPr lang="en-US" sz="145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trees, which is exactly why heaps (Lecture 23) are the structure built to exploit it.</a:t>
            </a:r>
            <a:endParaRPr lang="en-US" sz="1450" dirty="0"/>
          </a:p>
        </p:txBody>
      </p:sp>
      <p:sp>
        <p:nvSpPr>
          <p:cNvPr id="1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55064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34440" y="1490472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Tree ADT's core operation is insertion at the next available position — level-order (breadth-first) insertion.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96896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2432304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 insertion needs a queue, not a stack: it must fully process one level before moving to the next.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38728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3374136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array representation, level-order insertion is just push_back — storage order already IS level order.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4315968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2i+1, 2i+2, and (i-1)/2 connect a node to its children and parent in O(1) — but (i-1)/2 silently returns 0 at the root.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422392"/>
            <a:ext cx="146304" cy="14630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5257800"/>
            <a:ext cx="10058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representation's compactness bets on the tree staying complete — a skewed tree pays with array space that grows exponentially in height.</a:t>
            </a:r>
            <a:endParaRPr lang="en-US" sz="150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2026-09-23T18:49:53Z</dcterms:created>
  <dcterms:modified xsi:type="dcterms:W3CDTF">2026-09-23T18:49:53Z</dcterms:modified>
</cp:coreProperties>
</file>
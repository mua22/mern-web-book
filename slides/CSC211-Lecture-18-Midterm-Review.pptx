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840480" cy="3840480"/>
          </a:xfrm>
          <a:prstGeom prst="ellipse">
            <a:avLst/>
          </a:prstGeom>
          <a:solidFill>
            <a:srgbClr val="2FE6C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8B7FD9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Midterm Review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checkpoint: everything from Unit 1 (foundations) through the start of Unit 5 (trees)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Review Covers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map: how every unit builds on the one before it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671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comparison of every structure covered so far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complexity cheat sheet, Units 1–5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4962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self-tests: trace the code, predict the output, then verify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736592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6908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test yourself before the exam</a:t>
            </a:r>
            <a:endParaRPr lang="en-US" sz="16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Map: Every Unit Builds on the Last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514600"/>
            <a:ext cx="19659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25400">
            <a:solidFill>
              <a:srgbClr val="2FE6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51460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624328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898648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337560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vs. information,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ADTs, Big-O, arrays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3314700"/>
            <a:ext cx="256032" cy="914"/>
          </a:xfrm>
          <a:prstGeom prst="line">
            <a:avLst/>
          </a:prstGeom>
          <a:noFill/>
          <a:ln w="2540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70632" y="2514600"/>
            <a:ext cx="19659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25400">
            <a:solidFill>
              <a:srgbClr val="8B7F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70632" y="251460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2624328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2898648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3337560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Singly, doubly, circular;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and nodes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36592" y="3314700"/>
            <a:ext cx="256032" cy="914"/>
          </a:xfrm>
          <a:prstGeom prst="line">
            <a:avLst/>
          </a:prstGeom>
          <a:noFill/>
          <a:ln w="2540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992624" y="2514600"/>
            <a:ext cx="19659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92624" y="251460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02352" y="2624328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102352" y="2898648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&amp; Recursion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102352" y="3337560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LIFO, expression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conversion, call stack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58584" y="3314700"/>
            <a:ext cx="256032" cy="914"/>
          </a:xfrm>
          <a:prstGeom prst="line">
            <a:avLst/>
          </a:prstGeom>
          <a:noFill/>
          <a:ln w="2540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14616" y="2514600"/>
            <a:ext cx="19659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25400">
            <a:solidFill>
              <a:srgbClr val="2FE6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14616" y="251460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24344" y="2624328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24344" y="2898648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24344" y="3337560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FIFO, circular queue,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deque, priority queue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80576" y="3314700"/>
            <a:ext cx="256032" cy="914"/>
          </a:xfrm>
          <a:prstGeom prst="line">
            <a:avLst/>
          </a:prstGeom>
          <a:noFill/>
          <a:ln w="2540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436608" y="2514600"/>
            <a:ext cx="19659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25400">
            <a:solidFill>
              <a:srgbClr val="8B7F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36608" y="251460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546336" y="2624328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546336" y="2898648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(started)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546336" y="3337560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structures,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 representation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11887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Big-O vocabulary describes every structure's operations from here 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531620" y="1508760"/>
            <a:ext cx="8887968" cy="1005840"/>
          </a:xfrm>
          <a:prstGeom prst="line">
            <a:avLst/>
          </a:prstGeom>
          <a:noFill/>
          <a:ln w="19050">
            <a:solidFill>
              <a:srgbClr val="E8A33D"/>
            </a:solidFill>
            <a:prstDash val="dash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3044952" y="1874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node is a linked-list node with TWO next pointers instead of one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753612" y="2212848"/>
            <a:ext cx="6665976" cy="301752"/>
          </a:xfrm>
          <a:prstGeom prst="line">
            <a:avLst/>
          </a:prstGeom>
          <a:noFill/>
          <a:ln w="19050">
            <a:solidFill>
              <a:srgbClr val="8B7FD9"/>
            </a:solidFill>
            <a:prstDash val="dash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48640" y="44348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threads worth tracing before the exam: </a:t>
            </a:r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recursion's call stack (Unit 3) is the hidden mechanism behind every depth-first tree traversal (Unit 5); the queue (Unit 4) reappears verbatim as the mechanism behind level-order insertion and traversal.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idea was re-taught in Unit 5 — both were simply reused.</a:t>
            </a:r>
            <a:endParaRPr lang="en-US" sz="1300" dirty="0"/>
          </a:p>
        </p:txBody>
      </p:sp>
      <p:sp>
        <p:nvSpPr>
          <p:cNvPr id="3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Zooming In: Core Operations Per Unit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2FE6C4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084832" cy="83210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965960"/>
            <a:ext cx="2084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Big-O/θ/Ω: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best, avg, worst case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935224"/>
            <a:ext cx="2084832" cy="1088136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935224"/>
            <a:ext cx="20848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access,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middle insert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52344" y="137160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8B7FD9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2344" y="13716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52344" y="1965960"/>
            <a:ext cx="2084832" cy="83210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52344" y="1965960"/>
            <a:ext cx="2084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LL: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front, O(n) else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52344" y="2935224"/>
            <a:ext cx="2084832" cy="1088136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52344" y="2935224"/>
            <a:ext cx="20848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LL: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front/end,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both ways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52344" y="4160520"/>
            <a:ext cx="2084832" cy="83210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52344" y="4160520"/>
            <a:ext cx="2084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LL: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tail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01768" y="137160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01768" y="13716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01768" y="1965960"/>
            <a:ext cx="2084832" cy="83210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01768" y="1965960"/>
            <a:ext cx="2084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(LIFO):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push/pop at TOP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01768" y="2935224"/>
            <a:ext cx="2084832" cy="1088136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01768" y="2935224"/>
            <a:ext cx="20848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stack IS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51192" y="137160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2FE6C4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51192" y="13716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251192" y="1965960"/>
            <a:ext cx="2084832" cy="83210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51192" y="1965960"/>
            <a:ext cx="2084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(FIFO):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enqueue/dequeue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251192" y="2935224"/>
            <a:ext cx="2084832" cy="83210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51192" y="2935224"/>
            <a:ext cx="2084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queue: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freed slots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500616" y="137160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8B7FD9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00616" y="13716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500616" y="1965960"/>
            <a:ext cx="2084832" cy="832104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00616" y="1965960"/>
            <a:ext cx="2084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 children/node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500616" y="2935224"/>
            <a:ext cx="2084832" cy="1088136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500616" y="2935224"/>
            <a:ext cx="20848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pre/in/post (recursive),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 (queue)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Recursion's call stack → drives depth-first traversal.  ·  Queue → drives level-order insertion and traversal.</a:t>
            </a:r>
            <a:endParaRPr lang="en-US" sz="1250" dirty="0"/>
          </a:p>
        </p:txBody>
      </p:sp>
      <p:sp>
        <p:nvSpPr>
          <p:cNvPr id="3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vs. Linked List vs. Stack vs. Queue vs. Tree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84832"/>
                <a:gridCol w="2084832"/>
                <a:gridCol w="2084832"/>
                <a:gridCol w="208483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mid, O(1) 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mid, O(1) 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front, O(n) else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front, O(n) else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top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push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pop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front/rear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enqueue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dequeue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comes down to one question: </a:t>
            </a:r>
            <a:pPr indent="0" marL="0">
              <a:buNone/>
            </a:pPr>
            <a:r>
              <a:rPr lang="en-US" sz="15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reaching this position require walking past other elements first, or can you get there directly?</a:t>
            </a:r>
            <a:endParaRPr lang="en-US" sz="150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Cheat Sheet, Units 1–5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737360"/>
                <a:gridCol w="1737360"/>
                <a:gridCol w="2377440"/>
                <a:gridCol w="23774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mid, O(1) end (if space)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mid, O(1) 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Singly linked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front, O(n) elsewhere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front, O(n) elsewhere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Doubly linked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front/end, O(n) mid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front/end, O(n) mid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linked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at known node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at known node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top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pop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front/rear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enqueue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dequeue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queue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front/rear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O(1), wraps via % capacity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dequeue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tree (linked)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— find next open slot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BST (preview, L20)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tree height. For a roughly balanced BST, h ≈ log₂ n — O(log n). Nothing forces balance; a BST from sorted input degrades to h = n−1, i.e. O(n).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Self-Test: Singly Linked List Reversal (Unit 2)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head → 10 → 20 → 30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8229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002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737360" y="1897380"/>
            <a:ext cx="685800" cy="914"/>
          </a:xfrm>
          <a:prstGeom prst="line">
            <a:avLst/>
          </a:prstGeom>
          <a:noFill/>
          <a:ln w="2540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23160" y="1600200"/>
            <a:ext cx="8229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23160" y="16002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1897380"/>
            <a:ext cx="685800" cy="914"/>
          </a:xfrm>
          <a:prstGeom prst="line">
            <a:avLst/>
          </a:prstGeom>
          <a:noFill/>
          <a:ln w="2540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31920" y="1600200"/>
            <a:ext cx="8229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16002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514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reversal: head → 30 → 20 → 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2880360"/>
            <a:ext cx="8229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8803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737360" y="3177540"/>
            <a:ext cx="685800" cy="914"/>
          </a:xfrm>
          <a:prstGeom prst="line">
            <a:avLst/>
          </a:prstGeom>
          <a:noFill/>
          <a:ln w="25400">
            <a:solidFill>
              <a:srgbClr val="2FE6C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423160" y="2880360"/>
            <a:ext cx="8229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23160" y="28803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46120" y="3177540"/>
            <a:ext cx="685800" cy="914"/>
          </a:xfrm>
          <a:prstGeom prst="line">
            <a:avLst/>
          </a:prstGeom>
          <a:noFill/>
          <a:ln w="25400">
            <a:solidFill>
              <a:srgbClr val="2FE6C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931920" y="2880360"/>
            <a:ext cx="8229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28803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5852160" cy="2194560"/>
          </a:xfrm>
          <a:prstGeom prst="roundRect">
            <a:avLst>
              <a:gd name="adj" fmla="val 3333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407822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self_test.cpp — in-place reversal (Lecture 6)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370832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 previous = nullptr;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 current = head;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(current != nullptr)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nextNode = current-&gt;next;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current-&gt;next = previous;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previous = current; current = nextNode;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= previous;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0" y="3931920"/>
            <a:ext cx="4937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812280" y="4041648"/>
            <a:ext cx="4663440" cy="127284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30 -&gt; 20 -&gt; 10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5292547"/>
            <a:ext cx="466344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— trace previous / current / nextNode one line at a time</a:t>
            </a:r>
            <a:endParaRPr lang="en-US" sz="120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Self-Test: Stack-Based Bracket Matching (Unit 3)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280160" y="429768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80160" y="42976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80160" y="3675888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367588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80160" y="3054096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2FE6C4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305409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82880" y="305409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→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983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after pushing ( [ {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8138160" cy="2331720"/>
          </a:xfrm>
          <a:prstGeom prst="roundRect">
            <a:avLst>
              <a:gd name="adj" fmla="val 3137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20440" y="14264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trace_stack.cpp — core loop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719072"/>
            <a:ext cx="7680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(char c : expression)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(isOpener(c)) brackets.push(c);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char opener = brackets.pop();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(!matches(opener, c)) balanced = false;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3794760"/>
            <a:ext cx="8138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429000" y="3904488"/>
            <a:ext cx="7863840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[ { } ] )  →  Balanced: yes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4871923"/>
            <a:ext cx="78638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recently opened bracket must be the next one closed — exactly what pop() gives you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806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expression = "([{}])"</a:t>
            </a:r>
            <a:endParaRPr lang="en-US" sz="11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Self-Test: Circular Queue Wraparound (Unit 4)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0" y="182880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28800" y="1828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46120" y="182880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828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828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82880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80760" y="1828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0" y="1828800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0" y="1828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23160" y="3017520"/>
            <a:ext cx="5669280" cy="914"/>
          </a:xfrm>
          <a:prstGeom prst="line">
            <a:avLst/>
          </a:prstGeom>
          <a:noFill/>
          <a:ln w="25400">
            <a:solidFill>
              <a:srgbClr val="8B7FD9"/>
            </a:solidFill>
            <a:prstDash val="dash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423160" y="31089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wraps: (4 + 1) % 5 = 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74904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68680" y="38953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trace_circular_queue.cpp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187952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enqueue(int v)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rear = (rear + 1) % capacity;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data[rear] = v; count++;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after 5 enqueues + 3 dequeues,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enqueue(6); enqueue(7); wraps to [0],[1]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374904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46520" y="3858768"/>
            <a:ext cx="5029200" cy="13789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4 5 6 7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5223053"/>
            <a:ext cx="5029200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order after the wrap — % capacity reuses slots dequeue() already freed</a:t>
            </a:r>
            <a:endParaRPr lang="en-US" sz="1200" dirty="0"/>
          </a:p>
        </p:txBody>
      </p:sp>
      <p:sp>
        <p:nvSpPr>
          <p:cNvPr id="2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Self-Test: Doubly Linked List, Both Directions (Unit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0" y="210312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91840" y="2304288"/>
            <a:ext cx="1188720" cy="914"/>
          </a:xfrm>
          <a:prstGeom prst="line">
            <a:avLst/>
          </a:prstGeom>
          <a:noFill/>
          <a:ln w="25400">
            <a:solidFill>
              <a:srgbClr val="2FE6C4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3291840" y="2606040"/>
            <a:ext cx="1188720" cy="914"/>
          </a:xfrm>
          <a:prstGeom prst="line">
            <a:avLst/>
          </a:prstGeom>
          <a:noFill/>
          <a:ln w="25400">
            <a:solidFill>
              <a:srgbClr val="8B7FD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80560" y="210312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210312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0" y="2304288"/>
            <a:ext cx="1188720" cy="914"/>
          </a:xfrm>
          <a:prstGeom prst="line">
            <a:avLst/>
          </a:prstGeom>
          <a:noFill/>
          <a:ln w="25400">
            <a:solidFill>
              <a:srgbClr val="2FE6C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 flipH="1">
            <a:off x="5486400" y="2606040"/>
            <a:ext cx="1188720" cy="914"/>
          </a:xfrm>
          <a:prstGeom prst="line">
            <a:avLst/>
          </a:prstGeom>
          <a:noFill/>
          <a:ln w="25400">
            <a:solidFill>
              <a:srgbClr val="8B7FD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675120" y="210312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10312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1810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0" y="3383280"/>
          <a:ext cx="8778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7665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2  3   (walk cur = cur-&gt;next from head)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Backward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2  1   (walk cur = cur-&gt;prev from tail)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1645920" y="46634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doubly linked list's prev pointers do what a singly linked list cannot: walk backward from an arbitrary node without ever touching head.</a:t>
            </a:r>
            <a:endParaRPr lang="en-US" sz="1400" dirty="0"/>
          </a:p>
        </p:txBody>
      </p:sp>
      <p:sp>
        <p:nvSpPr>
          <p:cNvPr id="1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Self-Test: Recursion's Call Order (Unit 3, previews Unit 5)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3807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trace_recursion.cpp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73352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mystery(int n)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&lt;= 1) return 1;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print("entering", n);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 = n * mystery(n - 1);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print("leaving", n, r);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503920" y="30632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0392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mystery(4)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503920" y="2505456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0" y="25054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mystery(3)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03920" y="1947672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0" y="1947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mystery(2)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03920" y="1389888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E8A33D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1389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mystery(1)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923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stack, deepest at top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7498080" cy="2148840"/>
          </a:xfrm>
          <a:prstGeom prst="roundRect">
            <a:avLst>
              <a:gd name="adj" fmla="val 3404"/>
            </a:avLst>
          </a:prstGeom>
          <a:solidFill>
            <a:srgbClr val="1418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456432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entering mystery(4)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entering mystery(3)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entering mystery(2)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leaving mystery(2), returning 2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leaving mystery(3), returning 6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leaving mystery(4), returning 24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“entering” happens before the recursive call returns; every “leaving” happens after — the same mechanism Lecture 19 uses for pre-order (“entering”) and post-order (“leaving”) traversal.</a:t>
            </a:r>
            <a:endParaRPr lang="en-US" sz="13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Test Yourself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9844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vs. average-case complexity — which does this course default to?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411480" cy="41148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636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129844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front-insertion O(1) for a linked list but O(n) for an array?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80720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and a queue both restrict access to a linear sequence — what's the one-sentence difference?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880360"/>
            <a:ext cx="411480" cy="41148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80720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a circular queue solve that a plain array-based queue doesn't?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411480" cy="41148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31596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vs. complete vs. skewed binary tree — which shape matches a linked list?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438912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431596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 insertion (L17) and level-order traversal (L19) both use a queue — same reason, or two reasons that happen to both need FIFO?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of these feel shaky, revisit that lecture before the exam — everything after this point builds directly on these foundations.</a:t>
            </a:r>
            <a:endParaRPr lang="en-US" sz="1250" dirty="0"/>
          </a:p>
        </p:txBody>
      </p:sp>
      <p:sp>
        <p:nvSpPr>
          <p:cNvPr id="2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55064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34440" y="1490472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1–4 built every linear structure — array, linked list, stack, queue — each a different trade-off between fast access, insertion, and deletion.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96896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432304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vocabulary from Unit 1 does not get re-taught, only re-applied — Unit 5 adds one refinement: complexity can depend on shape, not just size.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38728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3374136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has just begun the shift from linear to non-linear structures — a single node can now connect to more than one “next.”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4315968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mechanisms get reused, not re-taught, in Unit 5: the queue drives level-order insertion and traversal; the call stack drives every depth-first traversal.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422392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5257800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self-test above felt shaky, revisit that lecture before the exam — everything after this point builds directly on these foundations.</a:t>
            </a:r>
            <a:endParaRPr lang="en-US" sz="150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2026-09-23T19:03:23Z</dcterms:created>
  <dcterms:modified xsi:type="dcterms:W3CDTF">2026-09-23T19:03:23Z</dcterms:modified>
</cp:coreProperties>
</file>
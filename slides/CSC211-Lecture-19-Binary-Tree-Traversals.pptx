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2FE6C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8B7FD9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Binary Tree Traversals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Pre-order, in-order, post-order, and level-order — four ways to visit every node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tree has more than one natural visiting order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67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Pre-order, in-order, and post-order (all depth-first)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traversal (breadth-first, from Lecture 17)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96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in-order traversal sorts a BST for free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908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bug: when you print vs. which order you recurse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532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all four, and when to reach for each one</a:t>
            </a:r>
            <a:endParaRPr lang="en-US" sz="16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Tree, Several Visiting Orders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 flipV="1">
            <a:off x="2286000" y="1554480"/>
            <a:ext cx="192024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1554480"/>
            <a:ext cx="192024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325880" y="2971800"/>
            <a:ext cx="96012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971800"/>
            <a:ext cx="96012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166360" y="2971800"/>
            <a:ext cx="96012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2971800"/>
            <a:ext cx="96012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11887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20240" y="260604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202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60720" y="260604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402336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80360" y="402336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8036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402336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20840" y="402336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623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traversal below runs on this exact tree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12480" y="13716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132588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node: 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left first, process the node first, or go right first? Each choice defines a different traversal, each useful for a different real purpose.</a:t>
            </a:r>
            <a:endParaRPr lang="en-US" sz="140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Functions, One Shape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698480" cy="5074920"/>
          </a:xfrm>
          <a:prstGeom prst="roundRect">
            <a:avLst>
              <a:gd name="adj" fmla="val 144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33502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tree_traversals.cpp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27632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preOrder(TreeNode* node)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nullptr) return;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node-&gt;data &lt;&lt; " ";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preOrder(node-&gt;left); preOrder(node-&gt;right);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inOrder(TreeNode* node)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nullptr) return;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inOrder(node-&gt;left);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node-&gt;data &lt;&lt; " ";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inOrder(node-&gt;right);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postOrder(TreeNode* node)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nullptr) return;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postOrder(node-&gt;left); postOrder(node-&gt;right);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node-&gt;data &lt;&lt; " ";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lines, rearranged — only the position of the print (relative to the two recursive calls) changes.</a:t>
            </a:r>
            <a:endParaRPr lang="en-US" sz="115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Rules, Three Different Outputs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029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order rule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on this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Pre-order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Left → Right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1 2 4 5 3 6 7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In-order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→ Node → Right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4 2 5 1 6 3 7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Post-order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→ Right → Node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4 5 2 6 7 3 1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1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first in pre-order, last in post-order, and in the middle of in-order — exactly where “Node” sits in each rule. No two traversals ever match for a tree with more than one node.</a:t>
            </a:r>
            <a:endParaRPr lang="en-US" sz="15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 Order, Annotated on the Tree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 flipV="1">
            <a:off x="1143000" y="1691640"/>
            <a:ext cx="1051560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1691640"/>
            <a:ext cx="1051560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12648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715768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7672" y="144475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47672" y="1444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18004" y="1291133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18004" y="12911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" y="231343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2313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66444" y="2159813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66444" y="21598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99232" y="231343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99232" y="2313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69564" y="2159813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69564" y="21598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6092" y="3028493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6092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426464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26464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796796" y="3028493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96796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68880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68880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839212" y="3028493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839212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29584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29584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899916" y="3028493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99916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4709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(Node, Left, Right)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 flipV="1">
            <a:off x="5029200" y="1691640"/>
            <a:ext cx="1051560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1691640"/>
            <a:ext cx="1051560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498848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601968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0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33872" y="144475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833872" y="1444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04204" y="1291133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04204" y="12911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82312" y="231343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82312" y="2313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152644" y="2159813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52644" y="21598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885432" y="231343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85432" y="2313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255764" y="2159813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255764" y="21598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251960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251960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622292" y="3028493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622292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312664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312664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682996" y="3028493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682996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355080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55080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725412" y="3028493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725412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415784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415784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7786116" y="3028493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786116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4251960" y="4709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(Left, Node, Right)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 flipV="1">
            <a:off x="8915400" y="1691640"/>
            <a:ext cx="1051560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966960" y="1691640"/>
            <a:ext cx="1051560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8385048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15400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10488168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018520" y="2560320"/>
            <a:ext cx="530352" cy="86868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720072" y="144475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720072" y="1444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10090404" y="1291133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090404" y="12911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8668512" y="231343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668512" y="2313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9038844" y="2159813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038844" y="21598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0771632" y="231343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771632" y="2313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11141964" y="2159813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1141964" y="21598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8138160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138160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8508492" y="3028493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508492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9198864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9198864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9569196" y="3028493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569196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10241280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0241280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50" dirty="0"/>
          </a:p>
        </p:txBody>
      </p:sp>
      <p:sp>
        <p:nvSpPr>
          <p:cNvPr id="101" name="Shape 99"/>
          <p:cNvSpPr/>
          <p:nvPr/>
        </p:nvSpPr>
        <p:spPr>
          <a:xfrm>
            <a:off x="10611612" y="3028493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0611612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11301984" y="3182112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1301984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50" dirty="0"/>
          </a:p>
        </p:txBody>
      </p:sp>
      <p:sp>
        <p:nvSpPr>
          <p:cNvPr id="105" name="Shape 103"/>
          <p:cNvSpPr/>
          <p:nvPr/>
        </p:nvSpPr>
        <p:spPr>
          <a:xfrm>
            <a:off x="11672316" y="3028493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1672316" y="30284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107" name="Text 105"/>
          <p:cNvSpPr txBox="1"/>
          <p:nvPr/>
        </p:nvSpPr>
        <p:spPr>
          <a:xfrm>
            <a:off x="8138160" y="4709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 (Left, Right, Node)</a:t>
            </a:r>
            <a:endParaRPr lang="en-US" sz="1250" dirty="0"/>
          </a:p>
        </p:txBody>
      </p:sp>
      <p:sp>
        <p:nvSpPr>
          <p:cNvPr id="108" name="Text 106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BST, same 7 nodes — the orange/teal/purple badges show the position in each visit order.</a:t>
            </a:r>
            <a:endParaRPr lang="en-US" sz="1250" dirty="0"/>
          </a:p>
        </p:txBody>
      </p:sp>
      <p:sp>
        <p:nvSpPr>
          <p:cNvPr id="10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Traversal Sorts a BST — For Free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 flipV="1">
            <a:off x="1554480" y="1463040"/>
            <a:ext cx="1737360" cy="12801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1463040"/>
            <a:ext cx="1737360" cy="12801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85800" y="2743200"/>
            <a:ext cx="868680" cy="12801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743200"/>
            <a:ext cx="868680" cy="12801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160520" y="2743200"/>
            <a:ext cx="868680" cy="12801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2743200"/>
            <a:ext cx="868680" cy="12801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44368" y="111556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44368" y="1115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65576" y="961949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65576" y="9619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07008" y="239572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2395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728216" y="2242109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28216" y="22421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1728" y="239572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81728" y="2395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202936" y="2242109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02936" y="22421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8328" y="367588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" y="36758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59536" y="3522269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" y="35222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75688" y="367588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75688" y="36758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596896" y="3522269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96896" y="35222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13048" y="367588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13048" y="36758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334256" y="3522269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34256" y="35222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50408" y="367588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50408" y="36758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071616" y="3522269"/>
            <a:ext cx="256032" cy="256032"/>
          </a:xfrm>
          <a:prstGeom prst="ellipse">
            <a:avLst/>
          </a:prstGeom>
          <a:solidFill>
            <a:srgbClr val="8B7FD9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71616" y="35222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visit numbers shown in purple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0" y="1645920"/>
            <a:ext cx="4480560" cy="2103120"/>
          </a:xfrm>
          <a:prstGeom prst="roundRect">
            <a:avLst>
              <a:gd name="adj" fmla="val 4348"/>
            </a:avLst>
          </a:prstGeom>
          <a:solidFill>
            <a:srgbClr val="14181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2376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left to right, bottom of tree: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223760" y="2240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20  30  40  50  60  70  80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7223760" y="2880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...already sorted. Zero extra sorting work.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39776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most important fact about in-order traversal in the course: </a:t>
            </a:r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left-subtree-smaller, right-subtree-larger, applied recursively at every node, plus “left, node, right”, produces sorted output — the whole reason BSTs (Lecture 20) are useful.</a:t>
            </a:r>
            <a:endParaRPr lang="en-US" sz="1350" dirty="0"/>
          </a:p>
        </p:txBody>
      </p:sp>
      <p:sp>
        <p:nvSpPr>
          <p:cNvPr id="4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Real Code, Not Just the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6309360" cy="2377440"/>
          </a:xfrm>
          <a:prstGeom prst="roundRect">
            <a:avLst>
              <a:gd name="adj" fmla="val 307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42646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bst_traversal_orders.cpp — same BST (50,30,70,20,40,60,80)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719072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inOrder(root);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Left, Node, Right — recurses into the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smaller side first, prints, then the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larger side — at every node, recursively.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931920"/>
          <a:ext cx="6309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480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50 30 20 40 70 60 80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20 30 40 50 60 70 80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20 40 30 60 80 70 50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2801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543800" y="1389888"/>
            <a:ext cx="3749040" cy="20683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3491179"/>
            <a:ext cx="3749040" cy="121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sorting operations performed — the order falls straight out of the BST property</a:t>
            </a:r>
            <a:endParaRPr lang="en-US" sz="1200" dirty="0"/>
          </a:p>
        </p:txBody>
      </p:sp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Post-Order: Children Before Parent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→ Right → Node </a:t>
            </a:r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every node's children are fully processed before the node itself.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deleting a tree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97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every child before freeing the parent — never touch freed memory.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840480"/>
            <a:ext cx="594360" cy="5943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an expression tree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4251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operands must be computed before the operator above them (Lecture 24).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7680960" y="2194560"/>
            <a:ext cx="1371600" cy="10058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2194560"/>
            <a:ext cx="1371600" cy="10058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995160" y="3200400"/>
            <a:ext cx="685800" cy="10058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3200400"/>
            <a:ext cx="685800" cy="10058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738360" y="3200400"/>
            <a:ext cx="685800" cy="10058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4160" y="3200400"/>
            <a:ext cx="685800" cy="10058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19202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89720" y="1766621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9720" y="17666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06640" y="29260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18120" y="2772461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18120" y="27724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149840" y="29260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498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561320" y="2772461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61320" y="27724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20840" y="39319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208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32320" y="3778301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0" y="37783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39319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924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03920" y="3778301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03920" y="37783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464040" y="39319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640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875520" y="3778301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75520" y="37783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835640" y="39319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835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1247120" y="3778301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247120" y="37783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949440" y="5029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 visit numbers — root visited last</a:t>
            </a:r>
            <a:endParaRPr lang="en-US" sz="1150" dirty="0"/>
          </a:p>
        </p:txBody>
      </p:sp>
      <p:sp>
        <p:nvSpPr>
          <p:cNvPr id="4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When You Print vs. Which Order You Recurse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choices — mixing up either produces a real, different, wrong traversal that still compiles and runs cleanly.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938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inOrderCorrect  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21992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inOrderCorrect(TreeNode* n)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== nullptr) return;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inOrderCorrect(n-&gt;left);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n-&gt;data &lt;&lt; " ";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inOrderCorrect(n-&gt;right);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192938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inOrderBuggy  ✗  (print moved to top)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21992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inOrderBuggy(TreeNode* n)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== nullptr) return;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n-&gt;data &lt;&lt; " ";  // moved!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inOrderBuggy(n-&gt;left);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inOrderBuggy(n-&gt;right);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44398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postOrderCorrect  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73659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postOrderCorrect(n-&gt;left);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postOrderCorrect(n-&gt;right);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n-&gt;data &lt;&lt; " ";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42976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0" y="444398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postOrderBuggy  ✗  (left/right swapped)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postOrderBuggy(n-&gt;right);  // swapped!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postOrderBuggy(n-&gt;left);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n-&gt;data &lt;&lt; " ";</a:t>
            </a:r>
            <a:endParaRPr lang="en-US" sz="130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Bug Crashes — They Just Return the Wrong Answer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863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inOrderCorrect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20 30 40 50 60 70 80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inOrderBuggy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50 30 20 40 70 60 80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postOrderCorrect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20 40 30 60 80 70 50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postOrderBuggy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80 60 70 40 20 30 50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5262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4636008"/>
            <a:ext cx="4937760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inOrderBuggy ≡ preOrder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490058"/>
            <a:ext cx="493776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print to the top didn't create a new traversal — it silently became pre-order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0" y="45262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172200" y="4636008"/>
            <a:ext cx="5120640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postOrderBuggy = mirrored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5490058"/>
            <a:ext cx="512064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the two calls visits every right subtree before every left one</a:t>
            </a:r>
            <a:endParaRPr lang="en-US" sz="12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Level-Order: The One Breadth-First Traversal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309360" cy="3017520"/>
          </a:xfrm>
          <a:prstGeom prst="roundRect">
            <a:avLst>
              <a:gd name="adj" fmla="val 2424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2646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level_order.cpp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19072"/>
            <a:ext cx="5852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levelOrder(TreeNode* root)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queue&lt;TreeNode*&gt; toVisit;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toVisit.push(root);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(!toVisit.empty())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TreeNode* cur = toVisit.front(); toVisit.pop();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cur-&gt;data &lt;&lt; " ";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(cur-&gt;left)  toVisit.push(cur-&gt;left);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(cur-&gt;right) toVisit.push(cur-&gt;right);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 flipV="1">
            <a:off x="7772400" y="1737360"/>
            <a:ext cx="1280160" cy="9144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1737360"/>
            <a:ext cx="1280160" cy="9144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132320" y="2651760"/>
            <a:ext cx="640080" cy="9144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2651760"/>
            <a:ext cx="640080" cy="9144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692640" y="2651760"/>
            <a:ext cx="640080" cy="9144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2651760"/>
            <a:ext cx="640080" cy="9144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14630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89720" y="1309421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13094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0" y="23774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09560" y="2223821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22238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0" y="23774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469880" y="2223821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69880" y="22238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32918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9480" y="3138221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69480" y="31382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38160" y="32918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3816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49640" y="3138221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49640" y="31382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18320" y="32918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1832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829800" y="3138221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29800" y="31382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698480" y="32918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9848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1109960" y="3138221"/>
            <a:ext cx="256032" cy="256032"/>
          </a:xfrm>
          <a:prstGeom prst="ellipse">
            <a:avLst/>
          </a:prstGeom>
          <a:solidFill>
            <a:srgbClr val="2FE6C4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1109960" y="31382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4526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0, then depth 1, then depth 2 — via a queue, not recursion.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traversal that uses an explicit data structure instead of the call stack.</a:t>
            </a:r>
            <a:endParaRPr lang="en-US" sz="1300" dirty="0"/>
          </a:p>
        </p:txBody>
      </p:sp>
      <p:sp>
        <p:nvSpPr>
          <p:cNvPr id="4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Traversals, Side by Side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2377440"/>
                <a:gridCol w="34747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application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Node, Left, Right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Recursion (call stack)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Copying/cloning a tree; serialization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Left, Node, Right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a BST's values in sorted 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Left, Right, Node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deletion; expression-tree evaluation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Level-order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0, 1, 2, 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queue, explicitly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Printing shape; shortest path (BFS)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Pre-order, in-order, and post-order all secretly use the call stack (Lecture 12). </a:t>
            </a:r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is the only one that reaches for an explicit data structure.</a:t>
            </a:r>
            <a:endParaRPr lang="en-US" sz="145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Tree Traversal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4708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BST values in sorted order — zero extra sorting work.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84708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whenever children must be fully processed before their parent.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703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3308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way to copy a tree: create the root first, then attach copied subtrees.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749040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703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413308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tree's actual shape; generalizes to BFS on graphs (Lecture 26).</a:t>
            </a:r>
            <a:endParaRPr lang="en-US" sz="130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55064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490472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Pre-order, in-order, and post-order are depth-first, differing only in when the current node is processed relative to its subtrees.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96896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432304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traversal of a Binary Search Tree visits nodes in sorted order — the single most important fact in this lecture.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38728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374136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 guarantees children are processed before their parent — required for safe deletion and bottom-up expression evaluation.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4315968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is the only breadth-first traversal, built on a queue rather than recursion.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422392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5257800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traversal wrong is a silent bug: it compiles and runs, but quietly produces the wrong sequence — always check against real output.</a:t>
            </a:r>
            <a:endParaRPr lang="en-US" sz="15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2026-09-23T18:54:07Z</dcterms:created>
  <dcterms:modified xsi:type="dcterms:W3CDTF">2026-09-23T18:54:07Z</dcterms:modified>
</cp:coreProperties>
</file>
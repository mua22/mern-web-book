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2FE6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8B7FD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BST: Search and Insertion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ordering rule turns a plain binary tree into a fast-searchable structure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property, and how it differs from a plain binary tree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 BST, both recursively and iteratively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into a BST while preserving the property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minimum and maximum values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08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of every BST operation — and why shape matters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532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vs. skewed: a real, measured search-speed comparison</a:t>
            </a:r>
            <a:endParaRPr lang="en-US" sz="16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1737360" y="1554480"/>
            <a:ext cx="18288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1554480"/>
            <a:ext cx="18288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22960" y="2926080"/>
            <a:ext cx="9144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926080"/>
            <a:ext cx="9144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480560" y="2926080"/>
            <a:ext cx="9144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2926080"/>
            <a:ext cx="9144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887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5603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25603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39319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0" y="39319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39319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1554480"/>
            <a:ext cx="46634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04088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node: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Left subtree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only smaller values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743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 subtree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only larger values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4747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 20, 40 &lt; 50 &lt; 60, 70, 80 — and the same rule holds recursively at every node (20 &lt; 30 &lt; 40; 60 &lt; 70 &lt; 80), not just the root.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23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left of 50 is smaller; every value right is larger.</a:t>
            </a:r>
            <a:endParaRPr lang="en-US" sz="1250" dirty="0"/>
          </a:p>
        </p:txBody>
      </p:sp>
      <p:sp>
        <p:nvSpPr>
          <p:cNvPr id="2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 vs. BST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Binary Tree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880360" y="2286000"/>
            <a:ext cx="640080" cy="64008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803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00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no promise about where values sit — shape only, no order.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062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must potentially check both subtrees at every node.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549640" y="2286000"/>
            <a:ext cx="640080" cy="6400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200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ordering constraint on top of the plain binary tree shape.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2062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comparison tells you which one subtree the target must be in.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669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BST is a binary tree — the ordering promise is the entire source of a BST's value, since it's what makes fast search possible at all.</a:t>
            </a:r>
            <a:endParaRPr lang="en-US" sz="14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Searching: One Comparison Picks the Side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264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19072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search(TreeNode* node, int target)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nullptr) return false;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(target == node-&gt;data) return true;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(target &lt; node-&gt;data)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search(node-&gt;left, target);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search(node-&gt;right, target);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0" y="142646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iterative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719072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search(TreeNode* root, int target)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TreeNode* cur = root;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 != nullptr)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(target == cur-&gt;data) return true;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 = (target &lt; cur-&gt;data)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? cur-&gt;left : cur-&gt;right;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074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 exactly the same comparisons in exactly the same order.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iterative version avoids call overhead and can't stack-overflow on a very deep tree — which is why real library implementations are usually iterative.</a:t>
            </a:r>
            <a:endParaRPr lang="en-US" sz="1450" dirty="0"/>
          </a:p>
        </p:txBody>
      </p:sp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Search: Find 60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1737360" y="1554480"/>
            <a:ext cx="18288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1554480"/>
            <a:ext cx="1828800" cy="137160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22960" y="2926080"/>
            <a:ext cx="9144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926080"/>
            <a:ext cx="9144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480560" y="2926080"/>
            <a:ext cx="914400" cy="137160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2926080"/>
            <a:ext cx="9144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88720"/>
            <a:ext cx="731520" cy="731520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5603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2560320"/>
            <a:ext cx="731520" cy="731520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39319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0" y="3931920"/>
            <a:ext cx="731520" cy="731520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39319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1554480"/>
            <a:ext cx="4663440" cy="4114800"/>
          </a:xfrm>
          <a:prstGeom prst="roundRect">
            <a:avLst>
              <a:gd name="adj" fmla="val 2222"/>
            </a:avLst>
          </a:prstGeom>
          <a:solidFill>
            <a:srgbClr val="14181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4088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trace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19456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vs 50  →  60 &gt; 50, go right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vs 70  →  60 &lt; 70, go left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vs 60  →  match — found!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1148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comparisons for a 7-node tree — one per level walked, never all 7 nodes.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06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the BST property, search never checks both subtrees — the comparison at each node tells you the single subtree that must hold the target.</a:t>
            </a:r>
            <a:endParaRPr lang="en-US" sz="125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Insertion: Same Logic, Walk to an Empty Spot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80160" y="1371600"/>
            <a:ext cx="9601200" cy="2560320"/>
          </a:xfrm>
          <a:prstGeom prst="roundRect">
            <a:avLst>
              <a:gd name="adj" fmla="val 285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508760" y="151790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bst.cpp — BST::insertHelper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810512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TreeNode* insertHelper(TreeNode* node, int value)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nullptr) return new TreeNode(value);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(value &lt; node-&gt;data)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node-&gt;left = insertHelper(node-&gt;left, value);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(value &gt; node-&gt;data)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node-&gt;right = insertHelper(node-&gt;right, value);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node;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41605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follows the exact same “which side does it belong on?” logic as search, </a:t>
            </a:r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down until it finds an empty spot (nullptr) — then places the new node there.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5074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duplicates: if value == node-&gt;data, the recursion returns node unchanged — nothing is inserted.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an Insert: Add 65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2194560" y="1463040"/>
            <a:ext cx="173736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1463040"/>
            <a:ext cx="1737360" cy="128016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325880" y="2743200"/>
            <a:ext cx="86868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2743200"/>
            <a:ext cx="86868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800600" y="2743200"/>
            <a:ext cx="868680" cy="128016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2743200"/>
            <a:ext cx="868680" cy="12801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4023360"/>
            <a:ext cx="868680" cy="1280160"/>
          </a:xfrm>
          <a:prstGeom prst="line">
            <a:avLst/>
          </a:prstGeom>
          <a:noFill/>
          <a:ln w="31750">
            <a:solidFill>
              <a:srgbClr val="E8A33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584448" y="1115568"/>
            <a:ext cx="694944" cy="694944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448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47088" y="239572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47088" y="2395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694944" cy="694944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78408" y="367588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36758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715768" y="367588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15768" y="36758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53128" y="3675888"/>
            <a:ext cx="694944" cy="694944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53128" y="36758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90488" y="367588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90488" y="36758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40096" y="4974336"/>
            <a:ext cx="658368" cy="658368"/>
          </a:xfrm>
          <a:prstGeom prst="ellipse">
            <a:avLst/>
          </a:prstGeom>
          <a:solidFill>
            <a:srgbClr val="E8A33D"/>
          </a:solidFill>
          <a:ln w="22225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40096" y="4974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69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is a new right child of 60 (dashed = newly inserted)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63840" y="1554480"/>
            <a:ext cx="3657600" cy="3931920"/>
          </a:xfrm>
          <a:prstGeom prst="roundRect">
            <a:avLst>
              <a:gd name="adj" fmla="val 2500"/>
            </a:avLst>
          </a:prstGeom>
          <a:solidFill>
            <a:srgbClr val="14181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trace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21945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vs 50 → right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vs 70 → left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vs 60 → right</a:t>
            </a:r>
            <a:endParaRPr lang="en-US" sz="13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 → insert here</a:t>
            </a:r>
            <a:endParaRPr lang="en-US" sz="1300" dirty="0"/>
          </a:p>
        </p:txBody>
      </p:sp>
      <p:sp>
        <p:nvSpPr>
          <p:cNvPr id="3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and Maximum: No Comparisons Needed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1737360" y="1463040"/>
            <a:ext cx="1828800" cy="137160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1463040"/>
            <a:ext cx="1828800" cy="1371600"/>
          </a:xfrm>
          <a:prstGeom prst="line">
            <a:avLst/>
          </a:prstGeom>
          <a:noFill/>
          <a:ln w="38100">
            <a:solidFill>
              <a:srgbClr val="8B7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22960" y="2834640"/>
            <a:ext cx="914400" cy="1371600"/>
          </a:xfrm>
          <a:prstGeom prst="line">
            <a:avLst/>
          </a:prstGeom>
          <a:noFill/>
          <a:ln w="38100">
            <a:solidFill>
              <a:srgbClr val="2FE6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834640"/>
            <a:ext cx="9144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480560" y="2834640"/>
            <a:ext cx="914400" cy="137160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2834640"/>
            <a:ext cx="914400" cy="1371600"/>
          </a:xfrm>
          <a:prstGeom prst="line">
            <a:avLst/>
          </a:prstGeom>
          <a:noFill/>
          <a:ln w="38100">
            <a:solidFill>
              <a:srgbClr val="8B7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1115568"/>
            <a:ext cx="694944" cy="694944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18688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89888" y="2487168"/>
            <a:ext cx="694944" cy="694944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89888" y="24871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47488" y="2487168"/>
            <a:ext cx="694944" cy="694944"/>
          </a:xfrm>
          <a:prstGeom prst="ellipse">
            <a:avLst/>
          </a:prstGeom>
          <a:solidFill>
            <a:srgbClr val="8B7FD9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7488" y="24871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" y="3858768"/>
            <a:ext cx="694944" cy="694944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38587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04288" y="385876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04288" y="38587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33088" y="3858768"/>
            <a:ext cx="694944" cy="6949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33088" y="38587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61888" y="3858768"/>
            <a:ext cx="694944" cy="694944"/>
          </a:xfrm>
          <a:prstGeom prst="ellipse">
            <a:avLst/>
          </a:prstGeom>
          <a:solidFill>
            <a:srgbClr val="8B7FD9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61888" y="38587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5623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follow left to minimum · purple = follow right to maximum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137160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635240" y="1517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findMin() / findMax()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181051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(cur-&gt;left) cur = cur-&gt;left;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cur-&gt;data;  // minimum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(cur-&gt;right) cur = cur-&gt;right;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cur-&gt;data;  // maximum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4290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 gives a direct shortcut: no need to check every value, just follow one pointer chain to the end.</a:t>
            </a:r>
            <a:endParaRPr lang="en-US" sz="13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Everything Depends on Height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BST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Skewed BST (worst case)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min / 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9776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4181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BST's speed depends entirely on its shape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10, 20, 30, 40, 50 in already-sorted order and every node ends up with only a right child — a completely skewed tree, structurally identical to a linked list, with search degrading to O(n). Nothing guarantees balance; Lecture 22's AVL tree actively rebalances after every insertion to fix this.</a:t>
            </a:r>
            <a:endParaRPr lang="en-US" sz="125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Same-ish Values, Wildly Different Shapes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1645920" y="1554480"/>
            <a:ext cx="1371600" cy="10515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554480"/>
            <a:ext cx="1371600" cy="10515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60120" y="2606040"/>
            <a:ext cx="685800" cy="10515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606040"/>
            <a:ext cx="685800" cy="10515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703320" y="2606040"/>
            <a:ext cx="685800" cy="10515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2606040"/>
            <a:ext cx="685800" cy="105156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24912" y="126187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4912" y="1261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53312" y="23134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53312" y="2313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96512" y="23134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96512" y="2313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" y="33649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" y="3364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39112" y="33649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39112" y="3364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0712" y="33649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3364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82312" y="33649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82312" y="3364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434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order: 30, 15, 45, 7, 22, 37, 50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188720" y="48006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325880" y="4910328"/>
            <a:ext cx="33832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537606"/>
            <a:ext cx="3383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7 nodes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40880" y="1463040"/>
            <a:ext cx="566928" cy="62179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07808" y="2084832"/>
            <a:ext cx="566928" cy="62179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74736" y="2706624"/>
            <a:ext cx="566928" cy="62179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41664" y="3328416"/>
            <a:ext cx="566928" cy="62179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11887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33488" y="181051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33488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900416" y="2432304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00416" y="2432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67344" y="3054096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67344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034272" y="3675888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34272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Sorted-order insertion: 10, 20, 30, 40, 50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223760" y="48006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7360920" y="4910328"/>
            <a:ext cx="33832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44" name="Text 42"/>
          <p:cNvSpPr txBox="1"/>
          <p:nvPr/>
        </p:nvSpPr>
        <p:spPr>
          <a:xfrm>
            <a:off x="7360920" y="5537606"/>
            <a:ext cx="3383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only 5 nodes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nodes fit in height 2 for the balanced tree; the skewed tree needs height 4 for only 5 — “linked list wearing a tree's clothing.”</a:t>
            </a:r>
            <a:endParaRPr lang="en-US" sz="1250" dirty="0"/>
          </a:p>
        </p:txBody>
      </p:sp>
      <p:sp>
        <p:nvSpPr>
          <p:cNvPr id="4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Guessed: Search Speed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309360" cy="3474720"/>
          </a:xfrm>
          <a:prstGeom prst="roundRect">
            <a:avLst>
              <a:gd name="adj" fmla="val 2105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2646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bst_timing.cpp (excerpt)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19072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Balanced: insert the MIDDLE of the range first,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recursively — keeps height ~ log2(n).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insertBalanced(root, values, 0, N-1);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Skewed: insert already-sorted values in order.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v : values) skewedRoot =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insertNode(skewedRoot, v);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Then: search for every value, 20 passes, N = 6000.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23760" y="1280160"/>
            <a:ext cx="42976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verdict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423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120,000 total searches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(6,000 values × 20 passes, both trees)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6,000 values found in both trees — correctness is identical. Shape alone makes the difference.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skewed BST with n nodes has height n−1,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searching it degrades to the same O(n) walk as a linked list — the BST property only constrains order, never shape.</a:t>
            </a:r>
            <a:endParaRPr lang="en-US" sz="145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BST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ordered lookup tables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4708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you need both fast search and sorted retrieval (via in-order traversal, Lecture 19).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594360" cy="5943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{}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880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and maps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31012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C++'s std::set and std::map are typically backed by a self-balancing BST.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343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queries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7731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all values between X and Y” can skip entire subtrees outside the range.</a:t>
            </a:r>
            <a:endParaRPr lang="en-US" sz="13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55064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490472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BST property — left subtree smaller, right subtree larger, at every node — is the one rule that makes fast search possible.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96896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432304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insertion both work by repeatedly choosing left or right based on a single comparison, walking one path from the root.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38728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374136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and maximum are found directly by following left or right pointers to the end — no need to check every value.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4315968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order, not just the set of values, determines shape: already-sorted input produces a skewed tree, height n-1.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22392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5257800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BST is O(log n) only if it stays roughly balanced — a skewed BST degrades to O(n), exactly what Lecture 22's AVL tree exists to prevent.</a:t>
            </a:r>
            <a:endParaRPr lang="en-US" sz="15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2026-09-23T18:58:07Z</dcterms:created>
  <dcterms:modified xsi:type="dcterms:W3CDTF">2026-09-23T18:58:07Z</dcterms:modified>
</cp:coreProperties>
</file>
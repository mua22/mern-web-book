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05840"/>
            <a:ext cx="1188720" cy="0"/>
          </a:xfrm>
          <a:prstGeom prst="line">
            <a:avLst/>
          </a:prstGeom>
          <a:noFill/>
          <a:ln w="19050">
            <a:solidFill>
              <a:srgbClr val="2FE6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914400"/>
            <a:ext cx="182880" cy="182880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914400"/>
            <a:ext cx="182880" cy="182880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1005840"/>
            <a:ext cx="822960" cy="50292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417320"/>
            <a:ext cx="182880" cy="1828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25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and Representation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12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23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400" dirty="0"/>
          </a:p>
        </p:txBody>
      </p:sp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8988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graph terminology: vertices, edges, directed/undirected, weighted/unweighted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13969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Degree, path, cycle, and connectivity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16936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895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graphs in practice: in-degree vs. out-degree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6393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 vs. adjacency list representation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57200" cy="45720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891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between representations, and why sparsity matters</a:t>
            </a:r>
            <a:endParaRPr lang="en-US" sz="1500" dirty="0"/>
          </a:p>
        </p:txBody>
      </p:sp>
      <p:sp>
        <p:nvSpPr>
          <p:cNvPr id="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Graph?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G = (V, E) is a set of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connected by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restriction on cycles or a single parent, unlike a tree.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(node)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point in the graph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52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28529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connection between two vertices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369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3236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edges touching a vertex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6210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6210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edges vertex-to-vertex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005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40050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that returns to its start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89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graph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vertex can reach every other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1234440"/>
            <a:ext cx="5669280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126480" y="1371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 graph — Lectures 25-28's running example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 flipV="1">
            <a:off x="7381522" y="2315911"/>
            <a:ext cx="809188" cy="497962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81522" y="3120583"/>
            <a:ext cx="809188" cy="497962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9114" y="2315911"/>
            <a:ext cx="809188" cy="497962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8689114" y="3120583"/>
            <a:ext cx="809188" cy="497962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40112" y="2967228"/>
            <a:ext cx="722376" cy="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9712" y="2674620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39712" y="26746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147304" y="1869948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47304" y="18699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47304" y="347929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47304" y="34792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454896" y="2674620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54896" y="26746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762488" y="2674620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762488" y="26746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GRAPHS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Directed, Undirected, Weighted, Unweighted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 flipV="1">
            <a:off x="2025641" y="2427576"/>
            <a:ext cx="1526558" cy="265488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25641" y="2793336"/>
            <a:ext cx="1526558" cy="265488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44752" y="245059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44752" y="2450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47872" y="208483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47872" y="2084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547872" y="281635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47872" y="28163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89320" y="137160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21792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(DAG) — task dependencies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7002773" y="2364315"/>
            <a:ext cx="1082054" cy="300571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02773" y="2821515"/>
            <a:ext cx="1082054" cy="300571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48693" y="2364315"/>
            <a:ext cx="1082054" cy="300571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8648693" y="2821515"/>
            <a:ext cx="1082054" cy="300571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28232" y="2450592"/>
            <a:ext cx="585216" cy="585216"/>
          </a:xfrm>
          <a:prstGeom prst="ellipse">
            <a:avLst/>
          </a:prstGeom>
          <a:solidFill>
            <a:srgbClr val="E8A33D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28232" y="2450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074152" y="199339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74152" y="19933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74152" y="290779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74152" y="2907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720072" y="245059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20072" y="2450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7724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+ directed — task durations (hrs)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 flipV="1">
            <a:off x="1562093" y="4924635"/>
            <a:ext cx="1082054" cy="300571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968541" y="5087871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968541" y="5087871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562093" y="5381835"/>
            <a:ext cx="1082054" cy="300571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890227" y="5545071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890227" y="5545071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8013" y="4924635"/>
            <a:ext cx="1082054" cy="300571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536147" y="5087871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536147" y="5087871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 flipV="1">
            <a:off x="3208013" y="5381835"/>
            <a:ext cx="1082054" cy="300571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614461" y="5545071"/>
            <a:ext cx="347472" cy="256032"/>
          </a:xfrm>
          <a:prstGeom prst="roundRect">
            <a:avLst>
              <a:gd name="adj" fmla="val 17857"/>
            </a:avLst>
          </a:prstGeom>
          <a:solidFill>
            <a:srgbClr val="F7F8F9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14461" y="5545071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87552" y="5010912"/>
            <a:ext cx="585216" cy="585216"/>
          </a:xfrm>
          <a:prstGeom prst="ellipse">
            <a:avLst/>
          </a:prstGeom>
          <a:solidFill>
            <a:srgbClr val="E8A33D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87552" y="5010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2633472" y="45537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633472" y="45537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2633472" y="54681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633472" y="54681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4279392" y="50109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279392" y="5010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5989320" y="3840480"/>
            <a:ext cx="5120640" cy="2148840"/>
          </a:xfrm>
          <a:prstGeom prst="roundRect">
            <a:avLst>
              <a:gd name="adj" fmla="val 3404"/>
            </a:avLst>
          </a:prstGeom>
          <a:solidFill>
            <a:srgbClr val="14181C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6263640" y="4069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/ undirected and weighted / unweighted are independent choices — four combinations total.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263640" y="4983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D8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 map with one-way streets + distances is directed AND weighted. A friendship graph is typically undirected and unweighted.</a:t>
            </a:r>
            <a:endParaRPr lang="en-US" sz="1150" dirty="0"/>
          </a:p>
        </p:txBody>
      </p:sp>
      <p:sp>
        <p:nvSpPr>
          <p:cNvPr id="5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GRAPHS IN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Edges: In-Degree vs. Out-Degree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directed addEdge(u, v) writes only into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adjList[u]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"u points to v" says nothing about v pointing back.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577840" cy="3566160"/>
          </a:xfrm>
          <a:prstGeom prst="roundRect">
            <a:avLst>
              <a:gd name="adj" fmla="val 2051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4780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directed_graph.cpp — excerpt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70632"/>
            <a:ext cx="51206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addEdge(int u, int v)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adjList[u].push_back(v);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i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only u -&gt; v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in-degree can't be read off adjList[i] --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scan every OTHER vertex's list for i.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printDegrees() const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vector&lt;int&gt; inDegree(numVertices, 0);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0; i &lt; numVertices; i++)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nb : adjList[i]) inDegree[nb]++;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52120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417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0: source (in-degree 0)  ·  Vertex 4: sink (out-degree 0)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flipV="1">
            <a:off x="7485477" y="2233978"/>
            <a:ext cx="756727" cy="378363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85477" y="2874058"/>
            <a:ext cx="756727" cy="378363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65637" y="2233978"/>
            <a:ext cx="756727" cy="378363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8765637" y="2874058"/>
            <a:ext cx="756727" cy="378363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076688" y="2743200"/>
            <a:ext cx="694944" cy="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31152" y="2450592"/>
            <a:ext cx="585216" cy="585216"/>
          </a:xfrm>
          <a:prstGeom prst="ellipse">
            <a:avLst/>
          </a:prstGeom>
          <a:solidFill>
            <a:srgbClr val="E8A33D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31152" y="2450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11312" y="18105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11312" y="18105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11312" y="309067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11312" y="3090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491472" y="245059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91472" y="2450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771632" y="2450592"/>
            <a:ext cx="585216" cy="585216"/>
          </a:xfrm>
          <a:prstGeom prst="ellipse">
            <a:avLst/>
          </a:prstGeom>
          <a:solidFill>
            <a:srgbClr val="D8DCE0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771632" y="2450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out-deg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in-deg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4434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4434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0" y="4434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46908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4690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6908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4946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223760" y="4946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946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675120" y="52029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223760" y="5202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0" y="5202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675120" y="54589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223760" y="5458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229600" y="5458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#1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× V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2D array. matrix[i][j] = 1 (or the weight) if an edge connects i and j, 0 otherwise.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12064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flipV="1">
            <a:off x="1065271" y="2376874"/>
            <a:ext cx="704097" cy="47662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5271" y="3181546"/>
            <a:ext cx="704097" cy="47662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53991" y="2376874"/>
            <a:ext cx="704097" cy="47662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253991" y="3181546"/>
            <a:ext cx="704097" cy="47662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08" y="3017520"/>
            <a:ext cx="603504" cy="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7249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" y="2724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719072" y="1920240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19072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719072" y="3529584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19072" y="35295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907792" y="27249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07792" y="2724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096512" y="27249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96512" y="2724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1883664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matrix[i][j]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2194560"/>
            <a:ext cx="420624" cy="42062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12864" y="2194560"/>
            <a:ext cx="420624" cy="42062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12864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33488" y="2194560"/>
            <a:ext cx="420624" cy="42062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33488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54112" y="2194560"/>
            <a:ext cx="420624" cy="42062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54112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74736" y="2194560"/>
            <a:ext cx="420624" cy="42062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74736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95360" y="2194560"/>
            <a:ext cx="420624" cy="42062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9536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2615184"/>
            <a:ext cx="420624" cy="42062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0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12864" y="2615184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12864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333488" y="2615184"/>
            <a:ext cx="420624" cy="420624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33488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754112" y="2615184"/>
            <a:ext cx="420624" cy="420624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54112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174736" y="2615184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174736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595360" y="2615184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95360" y="2615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92240" y="3035808"/>
            <a:ext cx="420624" cy="42062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12864" y="3035808"/>
            <a:ext cx="420624" cy="420624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912864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333488" y="3035808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333488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754112" y="3035808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754112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174736" y="3035808"/>
            <a:ext cx="420624" cy="420624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174736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595360" y="3035808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59536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492240" y="3456432"/>
            <a:ext cx="420624" cy="42062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49224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912864" y="3456432"/>
            <a:ext cx="420624" cy="420624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912864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333488" y="3456432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333488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7754112" y="3456432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754112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174736" y="3456432"/>
            <a:ext cx="420624" cy="420624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8174736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8595360" y="3456432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595360" y="3456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6492240" y="3877056"/>
            <a:ext cx="420624" cy="42062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49224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912864" y="3877056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912864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7333488" y="3877056"/>
            <a:ext cx="420624" cy="420624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333488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7754112" y="3877056"/>
            <a:ext cx="420624" cy="420624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754112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8174736" y="3877056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174736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8595360" y="3877056"/>
            <a:ext cx="420624" cy="420624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8595360" y="3877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6492240" y="4297680"/>
            <a:ext cx="420624" cy="420624"/>
          </a:xfrm>
          <a:prstGeom prst="rect">
            <a:avLst/>
          </a:prstGeom>
          <a:solidFill>
            <a:srgbClr val="14181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49224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912864" y="4297680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6912864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7333488" y="4297680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7333488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7754112" y="4297680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754112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8174736" y="4297680"/>
            <a:ext cx="420624" cy="420624"/>
          </a:xfrm>
          <a:prstGeom prst="rect">
            <a:avLst/>
          </a:prstGeom>
          <a:solidFill>
            <a:srgbClr val="E9FBF6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8174736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8595360" y="4297680"/>
            <a:ext cx="420624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8595360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6492240" y="507492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94" name="Text 92"/>
          <p:cNvSpPr txBox="1"/>
          <p:nvPr/>
        </p:nvSpPr>
        <p:spPr>
          <a:xfrm>
            <a:off x="6583680" y="5184648"/>
            <a:ext cx="219456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000" dirty="0"/>
          </a:p>
        </p:txBody>
      </p:sp>
      <p:sp>
        <p:nvSpPr>
          <p:cNvPr id="95" name="Text 93"/>
          <p:cNvSpPr txBox="1"/>
          <p:nvPr/>
        </p:nvSpPr>
        <p:spPr>
          <a:xfrm>
            <a:off x="6601968" y="5726887"/>
            <a:ext cx="2157984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lookup</a:t>
            </a:r>
            <a:endParaRPr lang="en-US" sz="1150" dirty="0"/>
          </a:p>
        </p:txBody>
      </p:sp>
      <p:sp>
        <p:nvSpPr>
          <p:cNvPr id="96" name="Shape 94"/>
          <p:cNvSpPr/>
          <p:nvPr/>
        </p:nvSpPr>
        <p:spPr>
          <a:xfrm>
            <a:off x="9052560" y="5074920"/>
            <a:ext cx="2377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97" name="Text 95"/>
          <p:cNvSpPr txBox="1"/>
          <p:nvPr/>
        </p:nvSpPr>
        <p:spPr>
          <a:xfrm>
            <a:off x="9144000" y="5184648"/>
            <a:ext cx="219456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O(V²)</a:t>
            </a:r>
            <a:endParaRPr lang="en-US" sz="3000" dirty="0"/>
          </a:p>
        </p:txBody>
      </p:sp>
      <p:sp>
        <p:nvSpPr>
          <p:cNvPr id="98" name="Text 96"/>
          <p:cNvSpPr txBox="1"/>
          <p:nvPr/>
        </p:nvSpPr>
        <p:spPr>
          <a:xfrm>
            <a:off x="9162288" y="5726887"/>
            <a:ext cx="2157984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space, regardless of edges</a:t>
            </a:r>
            <a:endParaRPr lang="en-US" sz="1150" dirty="0"/>
          </a:p>
        </p:txBody>
      </p:sp>
      <p:sp>
        <p:nvSpPr>
          <p:cNvPr id="9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#2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vertex, store only the vertices it's actually connected to — using the linked structures from Units 2-4.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12064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flipV="1">
            <a:off x="1065271" y="2376874"/>
            <a:ext cx="704097" cy="47662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5271" y="3181546"/>
            <a:ext cx="704097" cy="47662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53991" y="2376874"/>
            <a:ext cx="704097" cy="47662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253991" y="3181546"/>
            <a:ext cx="704097" cy="47662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3008" y="3017520"/>
            <a:ext cx="603504" cy="0"/>
          </a:xfrm>
          <a:prstGeom prst="line">
            <a:avLst/>
          </a:prstGeom>
          <a:noFill/>
          <a:ln w="19050">
            <a:solidFill>
              <a:srgbClr val="6B74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7249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" y="2724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719072" y="1920240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19072" y="19202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719072" y="3529584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19072" y="35295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907792" y="27249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07792" y="2724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096512" y="272491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418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96512" y="2724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06654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adjList[i] (same graph)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2377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4181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922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2377440"/>
            <a:ext cx="46634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59168" y="23774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1 -&gt; 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0" y="28346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4181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922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2834640"/>
            <a:ext cx="46634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59168" y="28346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0 -&gt; 3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92240" y="32918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4181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922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3291840"/>
            <a:ext cx="46634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59168" y="32918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0 -&gt; 3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92240" y="37490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4181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922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49440" y="3749040"/>
            <a:ext cx="46634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059168" y="37490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1 -&gt; 2 -&gt; 4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92240" y="42062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4181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922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949440" y="4206240"/>
            <a:ext cx="466344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8DCE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059168" y="42062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492240" y="525780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583680" y="5367528"/>
            <a:ext cx="219456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O(deg)</a:t>
            </a:r>
            <a:endParaRPr lang="en-US" sz="3000" dirty="0"/>
          </a:p>
        </p:txBody>
      </p:sp>
      <p:sp>
        <p:nvSpPr>
          <p:cNvPr id="44" name="Text 42"/>
          <p:cNvSpPr txBox="1"/>
          <p:nvPr/>
        </p:nvSpPr>
        <p:spPr>
          <a:xfrm>
            <a:off x="6601968" y="5796382"/>
            <a:ext cx="215798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neighbor list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052560" y="525780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9144000" y="5367528"/>
            <a:ext cx="219456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O(V+E)</a:t>
            </a:r>
            <a:endParaRPr lang="en-US" sz="3000" dirty="0"/>
          </a:p>
        </p:txBody>
      </p:sp>
      <p:sp>
        <p:nvSpPr>
          <p:cNvPr id="47" name="Text 45"/>
          <p:cNvSpPr txBox="1"/>
          <p:nvPr/>
        </p:nvSpPr>
        <p:spPr>
          <a:xfrm>
            <a:off x="9162288" y="5796382"/>
            <a:ext cx="215798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space used</a:t>
            </a:r>
            <a:endParaRPr lang="en-US" sz="1150" dirty="0"/>
          </a:p>
        </p:txBody>
      </p:sp>
      <p:sp>
        <p:nvSpPr>
          <p:cNvPr id="4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BETWEEN REPRESENTATIONS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Facts, Two Structures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representations describe the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graph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building both from one shared edge list and cross-checking a fact proves they agree.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577840" cy="3931920"/>
          </a:xfrm>
          <a:prstGeom prst="roundRect">
            <a:avLst>
              <a:gd name="adj" fmla="val 1860"/>
            </a:avLst>
          </a:prstGeom>
          <a:solidFill>
            <a:srgbClr val="14181C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20370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A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graph_conversion.cpp — excerpt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96312"/>
            <a:ext cx="512064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Edge { int u, v, weight; };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buildMatrix(..., vector&lt;vector&lt;int&gt;&gt;&amp; matrix)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(auto&amp; e : edges)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matrix[e.u][e.v] = e.weight;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matrix[e.v][e.u] = e.weight;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buildList(..., vector&lt;list&lt;pair&lt;int,int&gt;&gt;&gt;&amp; adjList)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(auto&amp; e : edges)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adjList[e.u].push_back({e.v, e.weight});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adjList[e.v].push_back({e.u, e.weight});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20574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Cross-check: weight of edge 3-1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606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matrix[3][1]  =  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adjList[3] for 1  =  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0" y="3429000"/>
            <a:ext cx="4846320" cy="0"/>
          </a:xfrm>
          <a:prstGeom prst="line">
            <a:avLst/>
          </a:prstGeom>
          <a:noFill/>
          <a:ln w="12700">
            <a:solidFill>
              <a:srgbClr val="D8DC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3611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fact, retrieved two different ways: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83680" y="39776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675120" y="4087368"/>
            <a:ext cx="2194560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693408" y="5054803"/>
            <a:ext cx="215798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index jumps straight to the answer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0" y="3977640"/>
            <a:ext cx="2377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35440" y="4087368"/>
            <a:ext cx="2194560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O(deg)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9253728" y="5054803"/>
            <a:ext cx="215798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scans neighbors one at a time</a:t>
            </a:r>
            <a:endParaRPr lang="en-US" sz="1150" dirty="0"/>
          </a:p>
        </p:txBody>
      </p:sp>
      <p:sp>
        <p:nvSpPr>
          <p:cNvPr id="2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vs. List: A Direct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91840" cy="45720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1732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931920" y="1417320"/>
            <a:ext cx="3840480" cy="45720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041648" y="141732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63840" y="1417320"/>
            <a:ext cx="3840480" cy="457200"/>
          </a:xfrm>
          <a:prstGeom prst="rect">
            <a:avLst/>
          </a:prstGeom>
          <a:solidFill>
            <a:srgbClr val="1418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973568" y="141732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3291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1874520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931920" y="1874520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41648" y="1874520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O(V²), regardless of edges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63840" y="1874520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73568" y="1874520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 — proportional to reality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441448"/>
            <a:ext cx="3291840" cy="566928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2441448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edge (u, v) exists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931920" y="2441448"/>
            <a:ext cx="3840480" cy="566928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41648" y="2441448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63840" y="2441448"/>
            <a:ext cx="3840480" cy="566928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73568" y="2441448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O(degree of u)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008376"/>
            <a:ext cx="32918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008376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all neighbors of v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931920" y="3008376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041648" y="3008376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 — scan whole row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863840" y="3008376"/>
            <a:ext cx="3840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73568" y="3008376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O(degree of u) — exactly the neighbors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575304"/>
            <a:ext cx="3291840" cy="566928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3575304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931920" y="3575304"/>
            <a:ext cx="3840480" cy="566928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41648" y="3575304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graphs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863840" y="3575304"/>
            <a:ext cx="3840480" cy="566928"/>
          </a:xfrm>
          <a:prstGeom prst="rect">
            <a:avLst/>
          </a:prstGeom>
          <a:solidFill>
            <a:srgbClr val="EEF1F3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973568" y="3575304"/>
            <a:ext cx="3621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graphs (most real-world graphs)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41655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graphs are almost always sparse — this is why the adjacency list is the representation Lectures 26-28 build on.</a:t>
            </a:r>
            <a:endParaRPr lang="en-US" sz="1300" dirty="0"/>
          </a:p>
        </p:txBody>
      </p:sp>
      <p:sp>
        <p:nvSpPr>
          <p:cNvPr id="3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REAL SCALE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Sparsity Matters, Concretely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 road network: V = 1,000,000 intersections, E ≈ 3,000,000 roads.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029968"/>
            <a:ext cx="3291840" cy="9015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trillion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884018"/>
            <a:ext cx="3255264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cells (V²)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89120" y="2029968"/>
            <a:ext cx="3291840" cy="9015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million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407408" y="2884018"/>
            <a:ext cx="3255264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entries (V + 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46720" y="1920240"/>
            <a:ext cx="3474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138160" y="2029968"/>
            <a:ext cx="3291840" cy="9015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250,000x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156448" y="2884018"/>
            <a:ext cx="3255264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footprint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3291840" cy="548640"/>
          </a:xfrm>
          <a:prstGeom prst="rect">
            <a:avLst/>
          </a:prstGeom>
          <a:solidFill>
            <a:srgbClr val="14181C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379476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vertex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31920" y="379476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41648" y="3794760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entire matrix (row + col)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3840" y="379476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73568" y="3794760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append an empty list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3291840" cy="548640"/>
          </a:xfrm>
          <a:prstGeom prst="rect">
            <a:avLst/>
          </a:prstGeom>
          <a:solidFill>
            <a:srgbClr val="14181C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389120"/>
            <a:ext cx="3072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all edges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31920" y="438912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41648" y="4389120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O(V²) — scan whole matrix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63840" y="4389120"/>
            <a:ext cx="3840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73568" y="4389120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 — walk each list once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BFS, DFS, Dijkstra's algorithm, and both MST algorithms (Lectures 26-28) all need to visit every edge — O(V+E) vs. O(V²) is the difference between instant and never-finishes.</a:t>
            </a:r>
            <a:endParaRPr lang="en-US" sz="130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289304"/>
            <a:ext cx="128016" cy="12801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1124712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generalizes a tree completely: any vertex can connect to any number of others, with no restriction on cycles or a single parent.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267712"/>
            <a:ext cx="128016" cy="12801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103120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edges only appear in their source vertex's adjacency list — which is why directed graphs need both in-degree and out-degree.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081528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matrix: O(1) edge lookup at O(V²) space. Adjacency list: compact O(V + E) space at the cost of scanning neighbors.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4224528"/>
            <a:ext cx="128016" cy="12801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4059936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representations encode the same facts about a graph — they just trade space for lookup speed in opposite directions.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5202936"/>
            <a:ext cx="128016" cy="12801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5038344"/>
            <a:ext cx="10149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real-world graphs are sparse, which is why the adjacency list is the representation used throughout the rest of this unit.</a:t>
            </a:r>
            <a:endParaRPr lang="en-US" sz="155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2026-09-24T05:06:25Z</dcterms:created>
  <dcterms:modified xsi:type="dcterms:W3CDTF">2026-09-24T05:06:25Z</dcterms:modified>
</cp:coreProperties>
</file>
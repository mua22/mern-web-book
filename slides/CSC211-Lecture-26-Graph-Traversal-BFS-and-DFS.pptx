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1188720" cy="0"/>
          </a:xfrm>
          <a:prstGeom prst="line">
            <a:avLst/>
          </a:prstGeom>
          <a:noFill/>
          <a:ln w="19050">
            <a:solidFill>
              <a:srgbClr val="2FE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0"/>
            <a:ext cx="182880" cy="1828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914400"/>
            <a:ext cx="182880" cy="1828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1005840"/>
            <a:ext cx="822960" cy="5029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Traversal: BFS and DFS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 traversal needs a “visited” set that tree traversal never did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39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(BFS), using a queue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89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(DFS), using recursion (the call stack)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93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both algorithms step by step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on a graph with a cycle, and when BFS wins vs. DFS wins</a:t>
            </a:r>
            <a:endParaRPr lang="en-US" sz="15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TRAVERSAL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Graphs Need a “Visited” 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never revisit a node — no cycles. A graph can cycle, so traversal needs one extra piece of bookkeeping: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set, so the algorithm can't loop forever.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traversals answer: “visit every vertex reachable from a starting point” — but explore in a different order.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flipV="1">
            <a:off x="6101362" y="3726830"/>
            <a:ext cx="975609" cy="600375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1362" y="4633915"/>
            <a:ext cx="975609" cy="600375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5375" y="3726830"/>
            <a:ext cx="975609" cy="600375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575375" y="4633915"/>
            <a:ext cx="975609" cy="600375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92794" y="4480560"/>
            <a:ext cx="888797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9552" y="418795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33565" y="3280867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33565" y="328086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33565" y="5095037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3565" y="509503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7578" y="418795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7578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81590" y="418795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81590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07238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335584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by level, using an explicit queue.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394106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422452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deep as possible, then backtrack, using recursion.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480974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visited[]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481328" y="50932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add this one array so a cycle can't loop forever.</a:t>
            </a:r>
            <a:endParaRPr lang="en-US" sz="125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STRATEGY #1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start, then all direct neighbors, then all of </a:t>
            </a:r>
            <a:pPr indent="0" marL="0">
              <a:buNone/>
            </a:pPr>
            <a:r>
              <a:rPr lang="en-US" sz="14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unvisited neighbors — level by level, using a </a:t>
            </a:r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graph_bfs.cpp — bfs()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67712"/>
            <a:ext cx="52120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bfs(int start) const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vector&lt;bool&gt; visited(numVertices, false);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queue&lt;int&gt; toVisit;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visited[start] = true;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toVisit.push(start);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(!toVisit.empty())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current = toVisit.front(); toVisit.pop();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nb : adjList[current])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(!visited[nb])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visited[nb] = true;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 on ENQUEUE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toVisit.push(nb);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0 1 2 3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7472962" y="323945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2962" y="397097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1682" y="323945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661682" y="397097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93808" y="3817620"/>
            <a:ext cx="60350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115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3115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7006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27934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9872" y="27934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58784" y="266547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58784" y="26654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19872" y="42565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19872" y="4256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58784" y="412851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58784" y="41285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0859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859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4750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4750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49731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9731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93622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93622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mark visited[] when ENQUEUING, not dequeuing — else a vertex can be pushed twice before it's processed.</a:t>
            </a:r>
            <a:endParaRPr lang="en-US" sz="1050" dirty="0"/>
          </a:p>
        </p:txBody>
      </p:sp>
      <p:sp>
        <p:nvSpPr>
          <p:cNvPr id="3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IN 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BFS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91440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417320"/>
            <a:ext cx="128016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6192" y="14173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73736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16352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before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182880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14173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enqueued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173736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2512" y="14173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after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01368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80136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180136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36192" y="180136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80136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180136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801368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3712" y="18013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80136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180136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167128"/>
            <a:ext cx="91440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16712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63040" y="2167128"/>
            <a:ext cx="12801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36192" y="21671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2167128"/>
            <a:ext cx="17373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16352" y="216712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2167128"/>
            <a:ext cx="182880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3712" y="21671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167128"/>
            <a:ext cx="17373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82512" y="216712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3]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2532888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253288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63040" y="253288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36192" y="253288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53288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16352" y="253288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3]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80560" y="2532888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53712" y="253288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253288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82512" y="253288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2898648"/>
            <a:ext cx="91440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289864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2898648"/>
            <a:ext cx="12801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536192" y="28986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2898648"/>
            <a:ext cx="17373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16352" y="289864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80560" y="2898648"/>
            <a:ext cx="182880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53712" y="28986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9360" y="2898648"/>
            <a:ext cx="1737360" cy="365760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82512" y="289864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3264408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792" y="326440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463040" y="326440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536192" y="326440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0" y="326440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16352" y="32644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480560" y="3264408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53712" y="3264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09360" y="326440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382512" y="326440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order, made visible on the graph: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 flipV="1">
            <a:off x="2352322" y="4515043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52322" y="5246563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541042" y="4515043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3541042" y="5246563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73168" y="5093208"/>
            <a:ext cx="60350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10512" y="480060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810512" y="4800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2249424" y="4672584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249424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999232" y="406908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999232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3438144" y="3941064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38144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999232" y="553212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999232" y="5532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3438144" y="5404104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38144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187952" y="480060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187952" y="4800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4626864" y="4672584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626864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376672" y="480060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376672" y="4800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5815584" y="4672584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815584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8321040" y="141732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1" name="Text 89"/>
          <p:cNvSpPr txBox="1"/>
          <p:nvPr/>
        </p:nvSpPr>
        <p:spPr>
          <a:xfrm>
            <a:off x="8503920" y="164592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top-to-bottom, left-to-right reproduces BFS's order exactly: 0, 1, 2, 3, 4 — everything at distance 1 (1,2) finishes before distance 2 (3), before distance 3 (4).</a:t>
            </a:r>
            <a:endParaRPr lang="en-US" sz="1250" dirty="0"/>
          </a:p>
        </p:txBody>
      </p:sp>
      <p:sp>
        <p:nvSpPr>
          <p:cNvPr id="9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STRATEGY #2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as far as possible down one path, then backtrack — using </a:t>
            </a:r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call stack).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graph_dfs.cpp — dfsHelper()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67712"/>
            <a:ext cx="52120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dfsHelper(int current, vector&lt;bool&gt;&amp; visited)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visited[current] = true;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current &lt;&lt; " 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nb : adjList[current])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(!visited[nb])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dfsHelper(nb, visited);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recurse deeper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5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0 1 3 2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7472962" y="323945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2962" y="397097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1682" y="323945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661682" y="3970975"/>
            <a:ext cx="690316" cy="42481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93808" y="3817620"/>
            <a:ext cx="60350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115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3115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7006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27934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9872" y="27934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58784" y="266547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58784" y="26654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19872" y="42565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19872" y="4256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58784" y="412851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58784" y="41285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0859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859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4750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4750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497312" y="35250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9731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936224" y="339699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936224" y="33969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to 1, then 3, then 2 (2's other neighbors already visited) — backtracks to 3, then visits 4.</a:t>
            </a:r>
            <a:endParaRPr lang="en-US" sz="1050" dirty="0"/>
          </a:p>
        </p:txBody>
      </p:sp>
      <p:sp>
        <p:nvSpPr>
          <p:cNvPr id="3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IN 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DFS: The Call Stack Made Visible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892040"/>
          </a:xfrm>
          <a:prstGeom prst="roundRect">
            <a:avLst>
              <a:gd name="adj" fmla="val 149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graph_dfs_trace.cpp 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5120640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0 (depth 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 1 (depth 1)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(skip 0, already visited)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 3 (depth 2)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(skip 1, already visited)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visit 2 (depth 3)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(skip 0, already visited)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(skip 3, already visited)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visit 4 (depth 3)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(skip 3, already visited)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(skip 2, already visited)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indentation IS the call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20574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dfsHelper(0)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58775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2587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dfsHelper(1)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311810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3118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dfsHelper(3)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648456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dfsHelper(2)  &lt;- top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40740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2 at depth 3 is nested 3 calls deep inside visit 3 inside visit 1 inside visit 0 — exactly the chain of open dfsHelper calls waiting on the stack.</a:t>
            </a:r>
            <a:endParaRPr lang="en-US" sz="12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versus DFS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38404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41648" y="14173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1417320"/>
            <a:ext cx="38404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73568" y="14173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87452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31920" y="187452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41648" y="187452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(explicit)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187452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(recursion)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329184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441448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pattern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31920" y="2441448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1648" y="244144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by level, outward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441448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244144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deep as possible, then backtrack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008376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00837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shortest path (unweighted)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31920" y="30083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1648" y="300837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fewest edges guaranteed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30083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300837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329184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575304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(worst case)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31920" y="3575304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1648" y="357530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— an entire level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0" y="3575304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357530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— recursion depth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0080" y="4572000"/>
            <a:ext cx="1088136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5114239"/>
            <a:ext cx="108447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BFS and DFS — every vertex visited once, every edge examined once per endpoint</a:t>
            </a:r>
            <a:endParaRPr lang="en-US" sz="1150" dirty="0"/>
          </a:p>
        </p:txBody>
      </p:sp>
      <p:sp>
        <p:nvSpPr>
          <p:cNvPr id="3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on a Graph With a Cycle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edge 4-0 closes a second loop, 0-2-3-4-0. Without a visited set, this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edge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restart the traversal forever.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620802" y="3037373"/>
            <a:ext cx="832962" cy="51259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0802" y="3856675"/>
            <a:ext cx="832962" cy="51259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2168" y="3037373"/>
            <a:ext cx="832962" cy="51259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952168" y="3856675"/>
            <a:ext cx="832962" cy="51259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6941" y="3703320"/>
            <a:ext cx="746150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664208" y="3703320"/>
            <a:ext cx="3408883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78992" y="34107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410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10358" y="259141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10358" y="259141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10358" y="4230014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0358" y="423001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41725" y="34107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1725" y="3410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73091" y="34107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3091" y="3410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edge = back edge. Reaching 4 then following it back to 0 would restart the traversal — the visited[] guard checks and discards it in O(1).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9659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cycle edge added: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BFS: 0 1 2 4 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DFS: 0 1 3 2 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383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orders changed (0 now discovers 4 directly) — but every vertex still appears exactly once. No special cycle-handling code was needed: the ordinary if (!visited[neighbor]) guard is entirely sufficient.</a:t>
            </a:r>
            <a:endParaRPr lang="en-US" sz="13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BFS Wins vs. When DFS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by hop 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26464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0" y="1426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385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 cycle?”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199339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054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k hops (social network)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5603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525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0723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maze (any path out)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12724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5256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639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narrow dependency chain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3694176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256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2062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crawler, breadth of coverage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52560" y="4261104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FE6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10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in the same O(V + E) time — the choice is about which question you're answering, and whether your graph is “wide” (favors DFS's low memory) or “deep” (favors care with recursion depth).</a:t>
            </a:r>
            <a:endParaRPr lang="en-US" sz="1200" dirty="0"/>
          </a:p>
        </p:txBody>
      </p:sp>
      <p:sp>
        <p:nvSpPr>
          <p:cNvPr id="2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9304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124712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needs a visited set that tree traversal never required, because graphs can contain cycles.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explores level by level using an explicit queue — the right choice for shortest-path-by-hop-count queries.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81528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explores as deep as possible before backtracking, using recursion (the call stack) — the right choice for cycle detection and exhaustive path exploration.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59936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graph with a genuine cycle, neither algorithm needs special-case code — the ordinary if (!visited[neighbor]) guard is exactly what makes traversal correct as well as efficient.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38344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in O(V + E), which is exactly why the adjacency list representation from Lecture 25 matters.</a:t>
            </a:r>
            <a:endParaRPr lang="en-US" sz="15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2026-09-24T05:06:25Z</dcterms:created>
  <dcterms:modified xsi:type="dcterms:W3CDTF">2026-09-24T05:06:25Z</dcterms:modified>
</cp:coreProperties>
</file>
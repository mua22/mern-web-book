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1188720" cy="0"/>
          </a:xfrm>
          <a:prstGeom prst="line">
            <a:avLst/>
          </a:prstGeom>
          <a:noFill/>
          <a:ln w="19050">
            <a:solidFill>
              <a:srgbClr val="2FE6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0"/>
            <a:ext cx="182880" cy="1828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914400"/>
            <a:ext cx="182880" cy="1828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1005840"/>
            <a:ext cx="822960" cy="5029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41732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 Dijkstra's Algorithm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shortest-path concept and single-source shortest path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396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algorithm, built on a min-heap priority queue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89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step-by-step trace: how distance[] evolves as vertices finalize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393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a disconnected graph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complexity, applications, and where the algorithm breaks down</a:t>
            </a:r>
            <a:endParaRPr lang="en-US" sz="15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Shortest-Path Concept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weighted graph, “shortest” means smallest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fewest edges. Find the shortest distance from one source to every other reachable vertex, all at once.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1625655" y="3206585"/>
            <a:ext cx="1335321" cy="76304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2166" y="358711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2166" y="358711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25655" y="4259974"/>
            <a:ext cx="1335321" cy="76304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6992" y="464050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46992" y="464050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V="1">
            <a:off x="3215030" y="3354019"/>
            <a:ext cx="0" cy="152156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702" y="398678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76702" y="39867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69085" y="3206585"/>
            <a:ext cx="1335321" cy="76304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90422" y="358711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90422" y="358711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469085" y="4259974"/>
            <a:ext cx="1335321" cy="76304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35597" y="464050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35597" y="464050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51069" y="4114800"/>
            <a:ext cx="1126541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0603" y="413308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40603" y="4133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78992" y="38221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922422" y="2768803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22422" y="2768803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922422" y="4875581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22422" y="487558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65853" y="38221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65853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77610" y="38221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77610" y="3822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80960" y="210312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8638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0 -&gt; 1 direct: weight 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0 -&gt; 2 -&gt; 1: 1 + 2 = 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863840" y="3154680"/>
            <a:ext cx="3566160" cy="0"/>
          </a:xfrm>
          <a:prstGeom prst="line">
            <a:avLst/>
          </a:prstGeom>
          <a:noFill/>
          <a:ln w="12700">
            <a:solidFill>
              <a:srgbClr val="3A41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33832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path from 0 to 1 is NOT the direct edge — it's the 2-hop path via vertex 2, beating the direct edge by 1. Dijkstra's algorithm finds exactly this kind of answer, systematically.</a:t>
            </a:r>
            <a:endParaRPr lang="en-US" sz="1300" dirty="0"/>
          </a:p>
        </p:txBody>
      </p:sp>
      <p:sp>
        <p:nvSpPr>
          <p:cNvPr id="3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+ PRIORITY QUEUE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running best-known </a:t>
            </a:r>
            <a:pPr indent="0" marL="0">
              <a:buNone/>
            </a:pPr>
            <a:r>
              <a:rPr lang="en-US" sz="13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distance[]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every vertex. Repeatedly pop the closest unprocessed vertex from a min-heap and </a:t>
            </a:r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neighbors.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751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dijkstra.cpp — dijkstra()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67712"/>
            <a:ext cx="557784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dijkstra(int source) const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vector&lt;int&gt; distance(numVertices, INT_MAX);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distance[source] = 0;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priority_queue&lt;pair&lt;int,int&gt;, vector&lt;pair&lt;int,int&gt;&gt;,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greater&lt;pair&lt;int,int&gt;&gt;&gt; pq;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pq.push({0, source});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(!pq.empty())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[currentDist, current] = pq.top(); pq.pop();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(currentDist &gt; distance[current]) continue;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stale entry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(auto&amp; [nb, w] : adjList[current])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newDist = distance[current] + w;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(newDist &lt; distance[nb])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distance[nb] = newDist;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relax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pq.push({newDist, nb});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distance;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49440" y="1965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distances from vertex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2331720"/>
            <a:ext cx="566928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23317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16368" y="2331720"/>
            <a:ext cx="566928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23317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2331720"/>
            <a:ext cx="566928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83296" y="23317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50224" y="2331720"/>
            <a:ext cx="566928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50224" y="23317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17152" y="2331720"/>
            <a:ext cx="566928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17152" y="23317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2331720"/>
            <a:ext cx="566928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0" y="23317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660904"/>
            <a:ext cx="566928" cy="365760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26609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16368" y="2660904"/>
            <a:ext cx="566928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16368" y="26609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83296" y="2660904"/>
            <a:ext cx="566928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83296" y="26609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50224" y="2660904"/>
            <a:ext cx="566928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50224" y="26609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17152" y="2660904"/>
            <a:ext cx="566928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17152" y="26609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84080" y="2660904"/>
            <a:ext cx="566928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84080" y="26609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474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hand: 0→2 costs 1; 0→2→1 costs 3; 0→2→1→3 costs 4; 0→2→1→3→4 costs 7 — every distance is a real, traceable path.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0292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stale entry can exist: a shorter path can be found AFTER an older, longer entry is already queued — the continue guard skips it.</a:t>
            </a:r>
            <a:endParaRPr lang="en-US" sz="1100" dirty="0"/>
          </a:p>
        </p:txBody>
      </p:sp>
      <p:sp>
        <p:nvSpPr>
          <p:cNvPr id="3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 (1/2)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Dijkstra: Finalizing Vertex 0, Then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finalize 0 (distance 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25655" y="2175142"/>
            <a:ext cx="900066" cy="514324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4539" y="2431315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4539" y="243131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25655" y="2979814"/>
            <a:ext cx="900066" cy="514324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9365" y="323598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9365" y="323598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V="1">
            <a:off x="2779776" y="2322576"/>
            <a:ext cx="0" cy="1024128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270662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41448" y="27066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33831" y="2175142"/>
            <a:ext cx="900066" cy="514324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37541" y="2431315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37541" y="2431315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033831" y="2979814"/>
            <a:ext cx="900066" cy="514324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2715" y="323598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2715" y="323598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2834640"/>
            <a:ext cx="722376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8012" y="285292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8012" y="28529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78992" y="2542032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17904" y="241401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17904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87168" y="173736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87168" y="17373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487168" y="3346704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87168" y="3346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895344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95344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202936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02936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77240" y="4846320"/>
            <a:ext cx="100584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83080" y="4846320"/>
            <a:ext cx="100584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83080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88920" y="4846320"/>
            <a:ext cx="100584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88920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94760" y="4846320"/>
            <a:ext cx="100584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94760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846320"/>
            <a:ext cx="100584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00600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06440" y="4846320"/>
            <a:ext cx="100584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806440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77240" y="5175504"/>
            <a:ext cx="1005840" cy="365760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7240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783080" y="5175504"/>
            <a:ext cx="1005840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783080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88920" y="5175504"/>
            <a:ext cx="1005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788920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794760" y="5175504"/>
            <a:ext cx="1005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794760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00600" y="5175504"/>
            <a:ext cx="1005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00600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806440" y="5175504"/>
            <a:ext cx="1005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806440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58000" y="1371600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708660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finalize 2 (distance 1)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 flipV="1">
            <a:off x="7724703" y="2292185"/>
            <a:ext cx="695241" cy="39728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7971174" y="248983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971174" y="248983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724703" y="2979814"/>
            <a:ext cx="695241" cy="39728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26000" y="317746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826000" y="317746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 flipV="1">
            <a:off x="8673998" y="2439619"/>
            <a:ext cx="0" cy="790042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35670" y="270662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335670" y="27066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928053" y="2292185"/>
            <a:ext cx="695241" cy="39728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29350" y="2489837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029350" y="2489837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 flipV="1">
            <a:off x="8928053" y="2979814"/>
            <a:ext cx="695241" cy="39728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74525" y="317746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174525" y="317746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0169957" y="2834640"/>
            <a:ext cx="532181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62311" y="285292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0262311" y="28529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178040" y="254203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178040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7616952" y="241401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616952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381390" y="1854403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381390" y="1854403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8381390" y="3229661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381390" y="322966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8820302" y="3101645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820302" y="31016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9584741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584741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10702138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702138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94" name="Text 92"/>
          <p:cNvSpPr txBox="1"/>
          <p:nvPr/>
        </p:nvSpPr>
        <p:spPr>
          <a:xfrm>
            <a:off x="708660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relax 1: 4 -&gt; 3 (via 0-2-1)   relax 3: inf -&gt; 6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7086600" y="4617720"/>
            <a:ext cx="82296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086600" y="4617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909560" y="4617720"/>
            <a:ext cx="82296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909560" y="4617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732520" y="4617720"/>
            <a:ext cx="82296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732520" y="4617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9555480" y="4617720"/>
            <a:ext cx="82296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555480" y="4617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0378440" y="4617720"/>
            <a:ext cx="82296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0378440" y="4617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1201400" y="4617720"/>
            <a:ext cx="822960" cy="32918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1201400" y="4617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086600" y="4946904"/>
            <a:ext cx="822960" cy="365760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086600" y="4946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909560" y="4946904"/>
            <a:ext cx="822960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7909560" y="4946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8732520" y="4946904"/>
            <a:ext cx="822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8732520" y="4946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9555480" y="4946904"/>
            <a:ext cx="822960" cy="365760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9555480" y="4946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10378440" y="4946904"/>
            <a:ext cx="822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0378440" y="4946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11201400" y="4946904"/>
            <a:ext cx="822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1201400" y="49469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</a:t>
            </a:r>
            <a:endParaRPr lang="en-US" sz="1200" dirty="0"/>
          </a:p>
        </p:txBody>
      </p:sp>
      <p:sp>
        <p:nvSpPr>
          <p:cNvPr id="1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 (2/2)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Dijkstra: The Full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37160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417320"/>
            <a:ext cx="201168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116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finalized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417320"/>
            <a:ext cx="164592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distance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512064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distance[0..4] after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8288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20240" y="182880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1828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182880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1828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1828800"/>
            <a:ext cx="5120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18288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4, 1, inf, inf]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249424"/>
            <a:ext cx="137160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2494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920240" y="2249424"/>
            <a:ext cx="201168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11680" y="2249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31920" y="2249424"/>
            <a:ext cx="164592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2494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77840" y="2249424"/>
            <a:ext cx="512064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224942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3, 1, 6, inf]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2670048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6700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920240" y="2670048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11680" y="2670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931920" y="267004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2336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77840" y="2670048"/>
            <a:ext cx="5120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0" y="26700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3, 1, 4, inf]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090672"/>
            <a:ext cx="137160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0906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920240" y="3090672"/>
            <a:ext cx="201168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11680" y="3090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931920" y="3090672"/>
            <a:ext cx="164592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23360" y="30906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577840" y="3090672"/>
            <a:ext cx="5120640" cy="420624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0" y="30906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3, 1, 4, 7]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3511296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35112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920240" y="3511296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011680" y="35112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931920" y="3511296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023360" y="351129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577840" y="3511296"/>
            <a:ext cx="5120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69280" y="35112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3, 1, 4, 7]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160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order is 0, 2, 1, 3, 4 — NOT vertex-number order. Vertex 1's entry changes twice (inf→4, then 4→3) before it's finalized; once finalized, a value never changes again.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4892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 flipV="1">
            <a:off x="1077015" y="5212779"/>
            <a:ext cx="464812" cy="265607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208272" y="534459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208272" y="534459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77015" y="5768734"/>
            <a:ext cx="464812" cy="265607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3098" y="5900549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63098" y="590054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 flipV="1">
            <a:off x="1795882" y="5360213"/>
            <a:ext cx="0" cy="526694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57554" y="549554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457554" y="54955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049936" y="5212779"/>
            <a:ext cx="464812" cy="265607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36019" y="534459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036019" y="534459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 flipV="1">
            <a:off x="2049936" y="5768734"/>
            <a:ext cx="464812" cy="265607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2181194" y="5900549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181194" y="590054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061411" y="5623560"/>
            <a:ext cx="318211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46781" y="564184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046781" y="56418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30352" y="53309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30352" y="5330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969264" y="520293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9264" y="5202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503274" y="4774997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503274" y="477499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1942186" y="4646981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942186" y="46469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503274" y="5886907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503274" y="588690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1942186" y="5758891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942186" y="57588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476195" y="53309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476195" y="5330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2915107" y="520293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915107" y="5202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379622" y="533095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379622" y="5330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3818534" y="520293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818534" y="5202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4206240" y="489204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tree from source 0, highlighted in teal</a:t>
            </a:r>
            <a:endParaRPr lang="en-US" sz="1250" dirty="0"/>
          </a:p>
        </p:txBody>
      </p:sp>
      <p:sp>
        <p:nvSpPr>
          <p:cNvPr id="9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VERTICES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a Disconnected Graph?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distance[] starts at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everyone. If a vertex has no path from the source, it's simply never pushed onto the queue — no crash, no special case.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8580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1534215" y="2895689"/>
            <a:ext cx="1079289" cy="616736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72710" y="3203069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2710" y="320306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34215" y="3802774"/>
            <a:ext cx="1079289" cy="616736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7536" y="411015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7536" y="411015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V="1">
            <a:off x="2867558" y="3043123"/>
            <a:ext cx="0" cy="1228954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9230" y="352958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29230" y="35295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21613" y="2895689"/>
            <a:ext cx="1079289" cy="616736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4934" y="3203069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4934" y="3203069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121613" y="3802774"/>
            <a:ext cx="1079289" cy="616736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560109" y="411015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0109" y="411015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47565" y="3657600"/>
            <a:ext cx="888797" cy="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8227" y="367588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18227" y="36758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7552" y="336499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426464" y="323697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2646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74950" y="2457907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74950" y="245790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013862" y="2329891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3862" y="23298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74950" y="4272077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74950" y="427207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013862" y="4144061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13862" y="41440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62349" y="336499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62349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601261" y="323697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01261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36362" y="3364992"/>
            <a:ext cx="585216" cy="58521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3636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075274" y="3236976"/>
            <a:ext cx="256032" cy="256032"/>
          </a:xfrm>
          <a:prstGeom prst="ellipse">
            <a:avLst/>
          </a:prstGeom>
          <a:solidFill>
            <a:srgbClr val="1418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7527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96128" y="5623560"/>
            <a:ext cx="786384" cy="0"/>
          </a:xfrm>
          <a:prstGeom prst="line">
            <a:avLst/>
          </a:prstGeom>
          <a:noFill/>
          <a:ln w="19050">
            <a:solidFill>
              <a:srgbClr val="D8DCE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815584" y="564184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15584" y="56418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10912" y="5330952"/>
            <a:ext cx="585216" cy="585216"/>
          </a:xfrm>
          <a:prstGeom prst="ellipse">
            <a:avLst/>
          </a:prstGeom>
          <a:solidFill>
            <a:srgbClr val="D8DCE0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10912" y="5330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382512" y="5330952"/>
            <a:ext cx="585216" cy="585216"/>
          </a:xfrm>
          <a:prstGeom prst="ellipse">
            <a:avLst/>
          </a:prstGeom>
          <a:solidFill>
            <a:srgbClr val="D8DCE0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82512" y="5330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4480560" y="5989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component — no edge reaches {0..4}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80960" y="2057400"/>
            <a:ext cx="3931920" cy="4343400"/>
          </a:xfrm>
          <a:prstGeom prst="roundRect">
            <a:avLst>
              <a:gd name="adj" fmla="val 1860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78638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distances from 0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86384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0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7863840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3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7863840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1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786384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4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786384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7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786384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unreachable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786384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unreachable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7863840" y="47091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INT_MAX is a stand-in for infinity. Vertices 5, 6 are never dequeued — not even once — because no relaxation step ever triggers for them.</a:t>
            </a:r>
            <a:endParaRPr lang="en-US" sz="1150" dirty="0"/>
          </a:p>
        </p:txBody>
      </p:sp>
      <p:sp>
        <p:nvSpPr>
          <p:cNvPr id="6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DIJKSTRA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Applications, and Limits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21992"/>
            <a:ext cx="3346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binary-heap priority queue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138928" y="1426464"/>
            <a:ext cx="6291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mapping software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38928" y="1709928"/>
            <a:ext cx="6291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this algorithm, finding shortest routes on a weighted road network.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2203704"/>
            <a:ext cx="6291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 protocols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2487168"/>
            <a:ext cx="6291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Lowest-cost path for data packets across routers.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301752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2980944"/>
            <a:ext cx="6291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 pathfinding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38928" y="3264408"/>
            <a:ext cx="6291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route on a weighted grid or map graph.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Dijkstra's Algorithm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26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negative edge weights.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vertex is finalized, its distance can never improve — a later negative edge could violate that.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only.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shortest paths from ONE start vertex — all-pairs needs a different algorithm.</a:t>
            </a:r>
            <a:endParaRPr lang="en-US" sz="13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289304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124712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solves single-source shortest path on a weighted graph, greedily processing the closest unprocessed vertex via a min-heap priority queue.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67712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03120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— checking whether going through the current vertex improves a neighbor's known distance — is the core operation.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81528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finalize in increasing order of shortest distance, not vertex-number order; a distance can be relaxed multiple times before finalizing, but never after.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224528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59936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disconnected graph, an unreachable vertex is simply never pushed onto the queue — no special-case code needed.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038344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O((V + E) log V), but fails on negative edge weights and only answers shortest-path-from-one-source.</a:t>
            </a:r>
            <a:endParaRPr lang="en-US" sz="15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2026-09-24T05:06:25Z</dcterms:created>
  <dcterms:modified xsi:type="dcterms:W3CDTF">2026-09-24T05:06:25Z</dcterms:modified>
</cp:coreProperties>
</file>
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1188720" cy="0"/>
          </a:xfrm>
          <a:prstGeom prst="line">
            <a:avLst/>
          </a:prstGeom>
          <a:noFill/>
          <a:ln w="19050">
            <a:solidFill>
              <a:srgbClr val="2FE6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0"/>
            <a:ext cx="182880" cy="1828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914400"/>
            <a:ext cx="182880" cy="18288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1005840"/>
            <a:ext cx="822960" cy="50292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417320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Spanning Trees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12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400" dirty="0"/>
          </a:p>
        </p:txBody>
      </p:sp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98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spanning tree concept, and what makes one “minimum”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3969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algorithm — grow one connected tree, greedily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16936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895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— sort all edges, greedily avoid cycles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6393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traces of both algorithms, side by side, on the same graph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89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comparison, and when each is the better fit</a:t>
            </a:r>
            <a:endParaRPr lang="en-US" sz="150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MST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 and Minimum Spanning Tree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connects every vertex, no cycles, exactly V-1 edges. The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spanning tree with the smallest total weight.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7665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29968" y="3474720"/>
            <a:ext cx="2523744" cy="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18104" y="349300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18104" y="349300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37360" y="3767328"/>
            <a:ext cx="0" cy="1404518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417320" y="4341571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434157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flipH="1">
            <a:off x="1983815" y="3632451"/>
            <a:ext cx="2616049" cy="1674272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6686" y="449560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16686" y="449560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767328"/>
            <a:ext cx="0" cy="1404518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4341571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434157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29968" y="5464454"/>
            <a:ext cx="2523744" cy="0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118104" y="5482742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18104" y="548274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444752" y="31821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44752" y="3182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53712" y="31821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53712" y="3182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444752" y="5171846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444752" y="517184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53712" y="5171846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53712" y="517184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8064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MST: edges 0-1 (2), 1-2 (1), 1-3 (4) — total weight 7. No cheaper combination connects all 4 vertices.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0" y="2103120"/>
            <a:ext cx="4114800" cy="4297680"/>
          </a:xfrm>
          <a:prstGeom prst="roundRect">
            <a:avLst>
              <a:gd name="adj" fmla="val 1778"/>
            </a:avLst>
          </a:prstGeom>
          <a:solidFill>
            <a:srgbClr val="14181C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680960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V-1 edges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2651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4-vertex spanning tree always has exactly 3 edges — the same edge-count fact from Lecture 16's binary trees.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classic algorithms find an MST: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680960" y="4160520"/>
            <a:ext cx="502920" cy="5029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680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339328" y="412394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339328" y="440740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one tree outward.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680960" y="49834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68096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8339328" y="494690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339328" y="523036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edges, avoid cycles.</a:t>
            </a:r>
            <a:endParaRPr lang="en-US" sz="1250" dirty="0"/>
          </a:p>
        </p:txBody>
      </p:sp>
      <p:sp>
        <p:nvSpPr>
          <p:cNvPr id="4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ONE TREE, GREEDILY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Algorithm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any vertex; repeatedly add the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edge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connects the growing tree to a vertex not yet in it — structurally close to Dijkstra's algorithm.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11226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prims_algorithm.cpp — primMST()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04872"/>
            <a:ext cx="55778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primMST() const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vector&lt;bool&gt; inMST(numVertices, false);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priority_queue&lt;...&gt; pq;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pq.push({0, 0});   // (weight, vertex)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totalWeight = 0;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(!pq.empty())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[weight, current] = pq.top(); pq.pop();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(inMST[current]) continue;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already added cheaper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inMST[current] = true;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totalWeight += weight;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(auto&amp; [nb, w] : adjList[current])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(!inMST[nb]) pq.push({w, nb});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totalWeight;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66560" y="1965960"/>
            <a:ext cx="48463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49440" y="2103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Output, starting from vertex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90688" y="3566160"/>
            <a:ext cx="1335024" cy="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84464" y="358444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4464" y="35844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0" y="3858768"/>
            <a:ext cx="0" cy="643738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178040" y="4052621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78040" y="405262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flipH="1">
            <a:off x="7744535" y="3723891"/>
            <a:ext cx="1427329" cy="913491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3046" y="4206655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83046" y="4206655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18320" y="3858768"/>
            <a:ext cx="0" cy="643738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4052621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98280" y="405262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90688" y="4795114"/>
            <a:ext cx="1335024" cy="0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284464" y="4813402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84464" y="481340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05472" y="3273552"/>
            <a:ext cx="585216" cy="585216"/>
          </a:xfrm>
          <a:prstGeom prst="ellipse">
            <a:avLst/>
          </a:prstGeom>
          <a:solidFill>
            <a:srgbClr val="E8A33D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0547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25712" y="327355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2571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205472" y="4502506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05472" y="450250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125712" y="4502506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25712" y="450250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5257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MST weight: 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5577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gray = considered but never won (a cheaper edge into the same vertex was tried first).</a:t>
            </a:r>
            <a:endParaRPr lang="en-US" sz="1050" dirty="0"/>
          </a:p>
        </p:txBody>
      </p:sp>
      <p:sp>
        <p:nvSpPr>
          <p:cNvPr id="3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TOTAL CLIMB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Prim's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88720" cy="41148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1417320"/>
            <a:ext cx="1920240" cy="41148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2880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added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1417320"/>
            <a:ext cx="1920240" cy="41148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4904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2286000" cy="41148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828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737360" y="1828800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28800" y="18288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0" y="1828800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49040" y="18288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77840" y="182880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0" y="18288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249424"/>
            <a:ext cx="118872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24942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737360" y="2249424"/>
            <a:ext cx="192024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828800" y="22494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0" y="2249424"/>
            <a:ext cx="192024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49040" y="22494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577840" y="2249424"/>
            <a:ext cx="228600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0" y="224942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2670048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267004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737360" y="2670048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828800" y="2670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0" y="2670048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49040" y="2670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577840" y="2670048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0" y="26700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3090672"/>
            <a:ext cx="118872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0906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737360" y="3090672"/>
            <a:ext cx="192024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828800" y="30906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657600" y="3090672"/>
            <a:ext cx="192024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749040" y="30906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577840" y="3090672"/>
            <a:ext cx="228600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0" y="30906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138160" y="1417320"/>
            <a:ext cx="3474720" cy="4846320"/>
          </a:xfrm>
          <a:prstGeom prst="roundRect">
            <a:avLst>
              <a:gd name="adj" fmla="val 2105"/>
            </a:avLst>
          </a:prstGeom>
          <a:solidFill>
            <a:srgbClr val="14181C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83210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MST weight: 7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321040" y="2011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0 is the implicit start (step ①). The tree's first edge, 0-1 (weight 2), is step ②.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395728" y="4700016"/>
            <a:ext cx="1929384" cy="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86684" y="471830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186684" y="47183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103120" y="4992624"/>
            <a:ext cx="0" cy="1024128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1783080" y="5376672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783080" y="53766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 flipH="1">
            <a:off x="2349575" y="4857747"/>
            <a:ext cx="2021689" cy="1293881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85266" y="5530707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285266" y="553070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617720" y="4992624"/>
            <a:ext cx="0" cy="1024128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97680" y="5376672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297680" y="53766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395728" y="6309360"/>
            <a:ext cx="1929384" cy="0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3186684" y="632764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186684" y="63276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810512" y="4407408"/>
            <a:ext cx="585216" cy="585216"/>
          </a:xfrm>
          <a:prstGeom prst="ellipse">
            <a:avLst/>
          </a:prstGeom>
          <a:solidFill>
            <a:srgbClr val="E8A33D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810512" y="4407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4325112" y="4407408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325112" y="4407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1810512" y="601675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810512" y="6016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4325112" y="601675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325112" y="6016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7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EDGES, AVOID CYCLES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every edge by weight; walk cheapest to most expensive, adding each edge unless it would create a cycle — checked with a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Set (Union-Find)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035040" cy="4251960"/>
          </a:xfrm>
          <a:prstGeom prst="roundRect">
            <a:avLst>
              <a:gd name="adj" fmla="val 172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06654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kruskals_algorithm.cpp — excerpt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55778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unite(int u, int v)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rootU = find(u), rootV = find(v);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(rootU == rootV) return false;   // same set: cycle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parent[rootU] = rootV;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true;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kruskalMST(int V, vector&lt;Edge&gt; edges)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sort(edges.begin(), edges.end(), byWeight);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DisjointSet ds(V); int total = 0;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(auto&amp; e : edges)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(ds.unite(e.u, e.v)) total += e.weight;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if no cycle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total;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66560" y="1920240"/>
            <a:ext cx="48463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49440" y="2057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 edges: 1-2(1), 0-1(2), 0-2(3), 1-3(4), 2-3(5)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22208" y="3383280"/>
            <a:ext cx="1335024" cy="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15984" y="340156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15984" y="34015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3675888"/>
            <a:ext cx="0" cy="643738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909560" y="3869741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09560" y="386974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flipH="1">
            <a:off x="8476055" y="3541011"/>
            <a:ext cx="1427329" cy="913491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14566" y="4023775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14566" y="4023775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49840" y="3675888"/>
            <a:ext cx="0" cy="643738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29800" y="3869741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29800" y="386974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22208" y="4612234"/>
            <a:ext cx="1335024" cy="0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015984" y="4630522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15984" y="463052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36992" y="309067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36992" y="3090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857232" y="309067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57232" y="3090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36992" y="4319626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36992" y="431962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857232" y="4319626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57232" y="431962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5394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MST weight: 7</a:t>
            </a:r>
            <a:endParaRPr lang="en-US" sz="1400" dirty="0"/>
          </a:p>
        </p:txBody>
      </p:sp>
      <p:sp>
        <p:nvSpPr>
          <p:cNvPr id="3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EDGE, SORTED ORDER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Kruskal's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28800" cy="384048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77440" y="1417320"/>
            <a:ext cx="1097280" cy="384048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68880" y="1417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1417320"/>
            <a:ext cx="4480560" cy="384048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4173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801368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8013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7440" y="180136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8880" y="18013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1801368"/>
            <a:ext cx="4480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6160" y="180136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— step 1, total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221992"/>
            <a:ext cx="182880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2219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2221992"/>
            <a:ext cx="109728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68880" y="222199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2221992"/>
            <a:ext cx="448056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66160" y="222199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— step 2, total 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42616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6426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77440" y="2642616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68880" y="264261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0" y="2642616"/>
            <a:ext cx="4480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66160" y="264261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— would cycle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063240"/>
            <a:ext cx="182880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06324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77440" y="3063240"/>
            <a:ext cx="109728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468880" y="30632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74720" y="3063240"/>
            <a:ext cx="448056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66160" y="306324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— step 3, total 7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483864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34838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77440" y="3483864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468880" y="34838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74720" y="3483864"/>
            <a:ext cx="4480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66160" y="348386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— would cycle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38160" y="1417320"/>
            <a:ext cx="3474720" cy="4846320"/>
          </a:xfrm>
          <a:prstGeom prst="roundRect">
            <a:avLst>
              <a:gd name="adj" fmla="val 2105"/>
            </a:avLst>
          </a:prstGeom>
          <a:solidFill>
            <a:srgbClr val="14181C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3210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0-2 and 2-3 are skipped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321040" y="20116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0-2 is considered, find(0) == find(2) already — 0 and 2 are connected indirectly through 0-1-2. The Disjoint Set answers this in near-constant time, no need to “see” the whole tree shape.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893808" y="4480560"/>
            <a:ext cx="877824" cy="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58984" y="449884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158984" y="44988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601200" y="4773168"/>
            <a:ext cx="0" cy="351130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9281160" y="4820717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81160" y="482071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 flipH="1">
            <a:off x="9847655" y="4638291"/>
            <a:ext cx="970129" cy="620883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57566" y="4974751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57566" y="497475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1064240" y="4773168"/>
            <a:ext cx="0" cy="35113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744200" y="4820717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744200" y="482071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893808" y="5416906"/>
            <a:ext cx="877824" cy="0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0158984" y="543519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158984" y="543519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308592" y="418795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308592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10771632" y="418795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771632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9308592" y="5124298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308592" y="512429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0771632" y="5124298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771632" y="512429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6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ORDER, SAME TOTAL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Side: Prim's and Kruskal's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22960" cy="45720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417320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417320"/>
            <a:ext cx="2926080" cy="45720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44752" y="14173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edge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1097280" cy="45720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70832" y="141732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total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1417320"/>
            <a:ext cx="3657600" cy="45720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68112" y="141732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edge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52560" y="1417320"/>
            <a:ext cx="1645920" cy="45720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25712" y="14173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total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74520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1874520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187452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44752" y="18745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(start at vertex 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187452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0832" y="187452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94960" y="1874520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68112" y="187452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1-2 (weight 1)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187452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25712" y="18745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331720"/>
            <a:ext cx="822960" cy="45720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2331720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2331720"/>
            <a:ext cx="2926080" cy="45720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444752" y="23317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0-1 (weight 2)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2331720"/>
            <a:ext cx="1097280" cy="45720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70832" y="233172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94960" y="2331720"/>
            <a:ext cx="3657600" cy="45720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68112" y="233172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0-1 (weight 2)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52560" y="2331720"/>
            <a:ext cx="1645920" cy="45720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25712" y="23317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2788920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2788920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371600" y="278892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444752" y="27889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1-2 (weight 1)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97680" y="278892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370832" y="278892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94960" y="2788920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68112" y="278892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(skip 0-2, would cycle)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52560" y="278892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25712" y="2788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3246120"/>
            <a:ext cx="822960" cy="45720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1792" y="3246120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371600" y="3246120"/>
            <a:ext cx="2926080" cy="45720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444752" y="32461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1-3 (weight 4)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97680" y="3246120"/>
            <a:ext cx="1097280" cy="45720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370832" y="324612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394960" y="3246120"/>
            <a:ext cx="3657600" cy="45720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68112" y="324612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1-3 (weight 4)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052560" y="3246120"/>
            <a:ext cx="1645920" cy="45720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125712" y="32461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3703320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21792" y="3703320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371600" y="370332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444752" y="37033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297680" y="370332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370832" y="370332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394960" y="3703320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468112" y="370332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(skip 2-3, would cycle)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052560" y="370332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125712" y="37033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4434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 at 7, using the exact same three edges (0-1, 1-2, 1-3) — arrived at in a completely different order, for completely different reasons.</a:t>
            </a:r>
            <a:endParaRPr lang="en-US" sz="1400" dirty="0"/>
          </a:p>
        </p:txBody>
      </p:sp>
      <p:sp>
        <p:nvSpPr>
          <p:cNvPr id="6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AND APPLICATIONS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vs. Kruskal's, and Where MSTs Are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91840" cy="420624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931920" y="1371600"/>
            <a:ext cx="3840480" cy="420624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041648" y="1371600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863840" y="1371600"/>
            <a:ext cx="3840480" cy="420624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73568" y="1371600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792224"/>
            <a:ext cx="32918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1792224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31920" y="1792224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41648" y="1792224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one tree outward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1792224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73568" y="1792224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edges, adds cheapest first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304288"/>
            <a:ext cx="3291840" cy="51206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304288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31920" y="2304288"/>
            <a:ext cx="3840480" cy="51206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41648" y="2304288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priority queue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63840" y="2304288"/>
            <a:ext cx="3840480" cy="51206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73568" y="2304288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edges + Disjoint Set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2816352"/>
            <a:ext cx="32918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2816352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931920" y="2816352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41648" y="2816352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 log V)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863840" y="2816352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73568" y="2816352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 log E), dominated by the sort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328416"/>
            <a:ext cx="3291840" cy="51206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3328416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931920" y="3328416"/>
            <a:ext cx="3840480" cy="51206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41648" y="3328416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graphs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63840" y="3328416"/>
            <a:ext cx="3840480" cy="51206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73568" y="3328416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graphs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1207008" y="403250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207008" y="43159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cable/pipeline layout, fully connected.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206240" y="4069080"/>
            <a:ext cx="502920" cy="50292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206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4864608" y="403250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 algos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4864608" y="43159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building block for e.g. traveling salesman.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863840" y="40690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8638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8522208" y="403250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analysis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8522208" y="43159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priciest MST edges to form clusters.</a:t>
            </a:r>
            <a:endParaRPr lang="en-US" sz="1250" dirty="0"/>
          </a:p>
        </p:txBody>
      </p:sp>
      <p:sp>
        <p:nvSpPr>
          <p:cNvPr id="4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289304"/>
            <a:ext cx="128016" cy="12801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1124712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spanning tree connects every vertex with exactly V-1 edges and no cycles; a Minimum Spanning Tree is the cheapest one possible.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267712"/>
            <a:ext cx="128016" cy="12801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103120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algorithm grows one tree outward using a min-heap — structurally close to Dijkstra's algorithm, just optimizing edge weight instead of cumulative distance.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081528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sorts all edges and greedily adds the cheapest one that doesn't create a cycle, using a Disjoint Set (Union-Find) to detect cycles.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224528"/>
            <a:ext cx="128016" cy="12801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059936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and Kruskal's pick different edges in a different order but always land on the same total MST weight for a given graph.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5202936"/>
            <a:ext cx="128016" cy="12801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5038344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closes Unit 6. Unit 7 returns to arrays and lists with a new lens: searching and sorting them efficiently.</a:t>
            </a:r>
            <a:endParaRPr lang="en-US" sz="155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2026-09-24T05:06:26Z</dcterms:created>
  <dcterms:modified xsi:type="dcterms:W3CDTF">2026-09-24T05:06:26Z</dcterms:modified>
</cp:coreProperties>
</file>
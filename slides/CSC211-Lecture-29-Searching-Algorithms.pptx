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81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181C"/>
                </a:solidFill>
                <a:latin typeface="Calibri"/>
              </a:rPr>
              <a:t>Worst-case comparisons vs. 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search</c:v>
                </c:pt>
              </c:strCache>
            </c:strRef>
          </c:tx>
          <c:spPr>
            <a:solidFill>
              <a:srgbClr val="E8A33D"/>
            </a:solidFill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A657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n=125</c:v>
                  </c:pt>
                  <c:pt idx="1">
                    <c:v>n=250</c:v>
                  </c:pt>
                  <c:pt idx="2">
                    <c:v>n=500</c:v>
                  </c:pt>
                  <c:pt idx="3">
                    <c:v>n=1000</c:v>
                  </c:pt>
                  <c:pt idx="4">
                    <c:v>n=2000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125</c:v>
                </c:pt>
                <c:pt idx="1">
                  <c:v>250</c:v>
                </c:pt>
                <c:pt idx="2">
                  <c:v>500</c:v>
                </c:pt>
                <c:pt idx="3">
                  <c:v>1000</c:v>
                </c:pt>
                <c:pt idx="4">
                  <c:v>2000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Binary search</c:v>
                </c:pt>
              </c:strCache>
            </c:strRef>
          </c:tx>
          <c:spPr>
            <a:solidFill>
              <a:srgbClr val="2FE6C4"/>
            </a:solidFill>
            <a:ln w="31750" cap="flat">
              <a:solidFill>
                <a:srgbClr val="2FE6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A657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E6C4"/>
              </a:solidFill>
              <a:ln w="9525" cap="flat">
                <a:solidFill>
                  <a:srgbClr val="2FE6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n=125</c:v>
                  </c:pt>
                  <c:pt idx="1">
                    <c:v>n=250</c:v>
                  </c:pt>
                  <c:pt idx="2">
                    <c:v>n=500</c:v>
                  </c:pt>
                  <c:pt idx="3">
                    <c:v>n=1000</c:v>
                  </c:pt>
                  <c:pt idx="4">
                    <c:v>n=2000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</c:v>
                </c:pt>
                <c:pt idx="1">
                  <c:v>8</c:v>
                </c:pt>
                <c:pt idx="2">
                  <c:v>9</c:v>
                </c:pt>
                <c:pt idx="3">
                  <c:v>10</c:v>
                </c:pt>
                <c:pt idx="4">
                  <c:v>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A657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8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57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6570"/>
                    </a:solidFill>
                    <a:latin typeface="Arial"/>
                  </a:rPr>
                  <a:t>Comparisons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Algorithms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LECTURE COVERS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34896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34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09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searching problem, formally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481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596896"/>
            <a:ext cx="365760" cy="36576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471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search, and its complexity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243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35889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358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233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linear search — a small optimization on the same idea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005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120896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120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995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— iterative and recursive — and its complexity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4767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882896"/>
            <a:ext cx="365760" cy="36576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882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757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variants: first and last occurrence of a duplicate value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40080" y="5529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564489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644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519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pitfalls, and a direct comparison of the two strategies</a:t>
            </a:r>
            <a:endParaRPr lang="en-US" sz="1450" dirty="0"/>
          </a:p>
        </p:txBody>
      </p:sp>
      <p:sp>
        <p:nvSpPr>
          <p:cNvPr id="2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Searching Problem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 elements and a target value, searching answers: does the target exist, and if so, at what position?</a:t>
            </a:r>
            <a:endParaRPr lang="en-US" sz="1550" dirty="0"/>
          </a:p>
          <a:p>
            <a:pPr marL="203200" indent="-2032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searching algorithm trades off how much work is needed per search against how much preparation (like sorting) is needed beforehand.</a:t>
            </a:r>
            <a:endParaRPr lang="en-US" sz="1550" dirty="0"/>
          </a:p>
          <a:p>
            <a:pPr marL="203200" indent="-2032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compares the two fundamental strategies precisely, and shows why one needs the data sorted first.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680960" y="1920240"/>
            <a:ext cx="3749040" cy="384048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01000" y="2468880"/>
            <a:ext cx="566928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01000" y="24688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67928" y="2468880"/>
            <a:ext cx="566928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67928" y="24688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34856" y="2468880"/>
            <a:ext cx="566928" cy="502920"/>
          </a:xfrm>
          <a:prstGeom prst="roundRect">
            <a:avLst>
              <a:gd name="adj" fmla="val 7273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34856" y="24688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701784" y="2468880"/>
            <a:ext cx="566928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01784" y="24688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268712" y="2468880"/>
            <a:ext cx="566928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68712" y="24688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00100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= 89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00100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 at index 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01000" y="4023360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010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4069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Present? Where?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4663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questions every search answers.</a:t>
            </a:r>
            <a:endParaRPr lang="en-US" sz="1200" dirty="0"/>
          </a:p>
        </p:txBody>
      </p:sp>
      <p:sp>
        <p:nvSpPr>
          <p:cNvPr id="2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element in order until it finds the target or exhausts the collection — no assumptions about data order required.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56: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777240" cy="594360"/>
          </a:xfrm>
          <a:prstGeom prst="roundRect">
            <a:avLst>
              <a:gd name="adj" fmla="val 6154"/>
            </a:avLst>
          </a:prstGeom>
          <a:solidFill>
            <a:srgbClr val="EDEFF1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8346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472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17320" y="2834640"/>
            <a:ext cx="777240" cy="594360"/>
          </a:xfrm>
          <a:prstGeom prst="roundRect">
            <a:avLst>
              <a:gd name="adj" fmla="val 6154"/>
            </a:avLst>
          </a:prstGeom>
          <a:solidFill>
            <a:srgbClr val="EDEFF1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28346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4472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94560" y="2834640"/>
            <a:ext cx="777240" cy="594360"/>
          </a:xfrm>
          <a:prstGeom prst="roundRect">
            <a:avLst>
              <a:gd name="adj" fmla="val 6154"/>
            </a:avLst>
          </a:prstGeom>
          <a:solidFill>
            <a:srgbClr val="EDEFF1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94560" y="28346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34472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71800" y="2834640"/>
            <a:ext cx="777240" cy="594360"/>
          </a:xfrm>
          <a:prstGeom prst="roundRect">
            <a:avLst>
              <a:gd name="adj" fmla="val 6154"/>
            </a:avLst>
          </a:prstGeom>
          <a:solidFill>
            <a:srgbClr val="EDEFF1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71800" y="28346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34472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49040" y="2834640"/>
            <a:ext cx="777240" cy="594360"/>
          </a:xfrm>
          <a:prstGeom prst="roundRect">
            <a:avLst>
              <a:gd name="adj" fmla="val 6154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49040" y="28346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34472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26280" y="2834640"/>
            <a:ext cx="77724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26280" y="28346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34472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03520" y="2834640"/>
            <a:ext cx="77724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03520" y="28346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34472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checked: 42, 17, 89, 3 → then found 56 at index 4 (5 comparisons)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78240" y="27432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778240" y="2871216"/>
            <a:ext cx="2743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8887968" y="387705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case: target absent or last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120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 (target first): O(1)   •   Worst case (last / absent): O(n)</a:t>
            </a:r>
            <a:endParaRPr lang="en-US" sz="1300" dirty="0"/>
          </a:p>
        </p:txBody>
      </p:sp>
      <p:sp>
        <p:nvSpPr>
          <p:cNvPr id="3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— Code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675120" cy="2377440"/>
          </a:xfrm>
          <a:prstGeom prst="roundRect">
            <a:avLst>
              <a:gd name="adj" fmla="val 3077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77824" y="1801368"/>
            <a:ext cx="6199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searching_algorithms.cpp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093976"/>
            <a:ext cx="619963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linearSearch(const vector&lt;int&gt;&amp; data, int target) 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data.size(); i++) 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(data[i] == target) return i;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-1;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43800" y="1691640"/>
            <a:ext cx="3977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comparison per element, checked in order.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index on the first match.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-1 if the loop finishes without finding the target.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44805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 search for 56 in unsorted data: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 search for 99 (absent):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-1</a:t>
            </a:r>
            <a:endParaRPr lang="en-US" sz="1250" dirty="0"/>
          </a:p>
        </p:txBody>
      </p:sp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OPTIMIZATION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Linear Search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plain loop does TWO comparisons per iteration: the bounds check (i &lt; n) and the actual value check.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search plants the target at the very last slot, guaranteeing the loop always finds a match — only ONE comparison per iteration remains.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O(n) worst case — same growth rate — but a real, measurable constant-factor speedup.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600200"/>
            <a:ext cx="5212080" cy="2514600"/>
          </a:xfrm>
          <a:prstGeom prst="roundRect">
            <a:avLst>
              <a:gd name="adj" fmla="val 2909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47104" y="1709928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sentinel_linear_search.cpp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547104" y="2002536"/>
            <a:ext cx="473659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last = data[n - 1];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data[n - 1] = target;   // plant sentinel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0;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(data[i] != target) i++;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only ONE comparison / iteration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14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with target 8 (the real last element) as sentinel-safe search: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7772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4348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17320" y="4434840"/>
            <a:ext cx="7772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17320" y="44348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94560" y="4434840"/>
            <a:ext cx="7772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94560" y="44348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71800" y="4434840"/>
            <a:ext cx="7772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71800" y="44348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49040" y="4434840"/>
            <a:ext cx="7772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49040" y="44348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26280" y="4434840"/>
            <a:ext cx="7772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26280" y="44348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03520" y="4434840"/>
            <a:ext cx="777240" cy="548640"/>
          </a:xfrm>
          <a:prstGeom prst="roundRect">
            <a:avLst>
              <a:gd name="adj" fmla="val 6667"/>
            </a:avLst>
          </a:prstGeom>
          <a:solidFill>
            <a:srgbClr val="8B7FD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03520" y="44348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501091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slot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69680" y="42976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869680" y="4425696"/>
            <a:ext cx="26517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8979408" y="5294376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count per iteration</a:t>
            </a:r>
            <a:endParaRPr lang="en-US" sz="1100" dirty="0"/>
          </a:p>
        </p:txBody>
      </p:sp>
      <p:sp>
        <p:nvSpPr>
          <p:cNvPr id="2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2 — REQUIRES SORTED DATA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sorted data — in exchange, eliminates HALF the remaining search space with every comparison.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full range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24688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54480" y="24688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544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24688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116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0" y="24688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688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24688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260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24688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154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mid=42. 56 &gt; 42 → search RIGHT half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31920" y="2697480"/>
            <a:ext cx="411480" cy="9144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448056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right half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80560" y="24688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7F8F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805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24688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377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94960" y="24688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7F8F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949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3154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mid=71. 56 &lt; 71 → search LEFT half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2697480"/>
            <a:ext cx="137160" cy="9144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832104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found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321040" y="24688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210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3154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mid=56. Found! (3 comparisons)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48920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8680" y="48920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comparisons found 56 in a 7-element array — linear search would have needed 5 (checking 3, 8, 17, 42 first).</a:t>
            </a:r>
            <a:endParaRPr lang="en-US" sz="1350" dirty="0"/>
          </a:p>
        </p:txBody>
      </p:sp>
      <p:sp>
        <p:nvSpPr>
          <p:cNvPr id="3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IMPLEMENTATION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— Code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858000" cy="2834640"/>
          </a:xfrm>
          <a:prstGeom prst="roundRect">
            <a:avLst>
              <a:gd name="adj" fmla="val 2581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77824" y="1801368"/>
            <a:ext cx="6382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searching_algorithms.cpp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093976"/>
            <a:ext cx="638251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low = 0, high = sortedData.size() - 1;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(low &lt;= high) {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mid = low + (high - low) / 2;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(sortedData[mid] == target) return mid;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(sortedData[mid] &lt; target) low = mid + 1;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high = mid - 1;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-1;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69164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`low + (high-low)/2` avoids integer overflow that `(low+high)/2` risks on large arrays.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comparison halves the search space by moving low or high.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recursive version follows the exact same logic.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49286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5477256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case: target is the middle element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480060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114800" y="49286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224528" y="5477256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case: target at an edge, or absent</a:t>
            </a:r>
            <a:endParaRPr lang="en-US" sz="1100" dirty="0"/>
          </a:p>
        </p:txBody>
      </p:sp>
      <p:sp>
        <p:nvSpPr>
          <p:cNvPr id="1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THE O(LOG N) PATTERN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Binary Search on 15 Elements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low=0, high=14, mid=7 → 44. 72 &gt; 44 → search right half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EDEFF1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0116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871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25880" y="20116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EDEFF1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20116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4871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0" y="20116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EDEFF1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11680" y="20116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4871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97480" y="20116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EDEFF1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97480" y="20116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24871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83280" y="20116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EDEFF1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0" y="20116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24871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69080" y="20116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EDEFF1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69080" y="20116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24871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20116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EDEFF1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54880" y="20116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24871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40680" y="20116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40680" y="20116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40680" y="24871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20116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F7F8F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26480" y="20116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126480" y="24871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12280" y="20116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F7F8F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12280" y="20116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812280" y="24871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498080" y="20116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F7F8F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98080" y="20116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498080" y="24871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183880" y="20116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F7F8F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183880" y="20116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8183880" y="24871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869680" y="20116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F7F8F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869680" y="20116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8869680" y="24871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555480" y="20116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F7F8F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555480" y="20116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9555480" y="24871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241280" y="20116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F7F8F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241280" y="20116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10241280" y="24871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640080" y="3200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low=8, high=14, mid=11 → 72. 72 == 72 → FOUND at index 11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640080" y="352044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EDEFF1"/>
          </a:solidFill>
          <a:ln w="15875">
            <a:solidFill>
              <a:srgbClr val="DDE1E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0080" y="3520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CD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640080" y="39959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325880" y="352044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EDEFF1"/>
          </a:solidFill>
          <a:ln w="15875">
            <a:solidFill>
              <a:srgbClr val="DDE1E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325880" y="3520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CD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1325880" y="39959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011680" y="352044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EDEFF1"/>
          </a:solidFill>
          <a:ln w="15875">
            <a:solidFill>
              <a:srgbClr val="DDE1E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011680" y="3520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CD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2011680" y="39959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697480" y="352044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EDEFF1"/>
          </a:solidFill>
          <a:ln w="15875">
            <a:solidFill>
              <a:srgbClr val="DDE1E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697480" y="3520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CD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50" dirty="0"/>
          </a:p>
        </p:txBody>
      </p:sp>
      <p:sp>
        <p:nvSpPr>
          <p:cNvPr id="62" name="Text 60"/>
          <p:cNvSpPr txBox="1"/>
          <p:nvPr/>
        </p:nvSpPr>
        <p:spPr>
          <a:xfrm>
            <a:off x="2697480" y="39959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383280" y="352044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EDEFF1"/>
          </a:solidFill>
          <a:ln w="15875">
            <a:solidFill>
              <a:srgbClr val="DDE1E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383280" y="3520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CD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250" dirty="0"/>
          </a:p>
        </p:txBody>
      </p:sp>
      <p:sp>
        <p:nvSpPr>
          <p:cNvPr id="65" name="Text 63"/>
          <p:cNvSpPr txBox="1"/>
          <p:nvPr/>
        </p:nvSpPr>
        <p:spPr>
          <a:xfrm>
            <a:off x="3383280" y="39959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069080" y="352044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EDEFF1"/>
          </a:solidFill>
          <a:ln w="15875">
            <a:solidFill>
              <a:srgbClr val="DDE1E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069080" y="3520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CD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250" dirty="0"/>
          </a:p>
        </p:txBody>
      </p:sp>
      <p:sp>
        <p:nvSpPr>
          <p:cNvPr id="68" name="Text 66"/>
          <p:cNvSpPr txBox="1"/>
          <p:nvPr/>
        </p:nvSpPr>
        <p:spPr>
          <a:xfrm>
            <a:off x="4069080" y="39959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754880" y="352044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EDEFF1"/>
          </a:solidFill>
          <a:ln w="15875">
            <a:solidFill>
              <a:srgbClr val="DDE1E4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754880" y="3520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CD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250" dirty="0"/>
          </a:p>
        </p:txBody>
      </p:sp>
      <p:sp>
        <p:nvSpPr>
          <p:cNvPr id="71" name="Text 69"/>
          <p:cNvSpPr txBox="1"/>
          <p:nvPr/>
        </p:nvSpPr>
        <p:spPr>
          <a:xfrm>
            <a:off x="4754880" y="39959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440680" y="352044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EDEFF1"/>
          </a:solidFill>
          <a:ln w="15875">
            <a:solidFill>
              <a:srgbClr val="DDE1E4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440680" y="3520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CD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</a:t>
            </a:r>
            <a:endParaRPr lang="en-US" sz="1250" dirty="0"/>
          </a:p>
        </p:txBody>
      </p:sp>
      <p:sp>
        <p:nvSpPr>
          <p:cNvPr id="74" name="Text 72"/>
          <p:cNvSpPr txBox="1"/>
          <p:nvPr/>
        </p:nvSpPr>
        <p:spPr>
          <a:xfrm>
            <a:off x="5440680" y="39959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126480" y="352044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F7F8F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126480" y="3520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</a:t>
            </a:r>
            <a:endParaRPr lang="en-US" sz="1250" dirty="0"/>
          </a:p>
        </p:txBody>
      </p:sp>
      <p:sp>
        <p:nvSpPr>
          <p:cNvPr id="77" name="Text 75"/>
          <p:cNvSpPr txBox="1"/>
          <p:nvPr/>
        </p:nvSpPr>
        <p:spPr>
          <a:xfrm>
            <a:off x="6126480" y="39959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812280" y="352044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F7F8F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6812280" y="3520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</a:t>
            </a:r>
            <a:endParaRPr lang="en-US" sz="1250" dirty="0"/>
          </a:p>
        </p:txBody>
      </p:sp>
      <p:sp>
        <p:nvSpPr>
          <p:cNvPr id="80" name="Text 78"/>
          <p:cNvSpPr txBox="1"/>
          <p:nvPr/>
        </p:nvSpPr>
        <p:spPr>
          <a:xfrm>
            <a:off x="6812280" y="39959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7498080" y="352044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F7F8F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7498080" y="3520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</a:t>
            </a:r>
            <a:endParaRPr lang="en-US" sz="1250" dirty="0"/>
          </a:p>
        </p:txBody>
      </p:sp>
      <p:sp>
        <p:nvSpPr>
          <p:cNvPr id="83" name="Text 81"/>
          <p:cNvSpPr txBox="1"/>
          <p:nvPr/>
        </p:nvSpPr>
        <p:spPr>
          <a:xfrm>
            <a:off x="7498080" y="39959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8183880" y="352044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8183880" y="3520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</a:t>
            </a:r>
            <a:endParaRPr lang="en-US" sz="1250" dirty="0"/>
          </a:p>
        </p:txBody>
      </p:sp>
      <p:sp>
        <p:nvSpPr>
          <p:cNvPr id="86" name="Text 84"/>
          <p:cNvSpPr txBox="1"/>
          <p:nvPr/>
        </p:nvSpPr>
        <p:spPr>
          <a:xfrm>
            <a:off x="8183880" y="39959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869680" y="352044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F7F8F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8869680" y="3520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</a:t>
            </a:r>
            <a:endParaRPr lang="en-US" sz="1250" dirty="0"/>
          </a:p>
        </p:txBody>
      </p:sp>
      <p:sp>
        <p:nvSpPr>
          <p:cNvPr id="89" name="Text 87"/>
          <p:cNvSpPr txBox="1"/>
          <p:nvPr/>
        </p:nvSpPr>
        <p:spPr>
          <a:xfrm>
            <a:off x="8869680" y="39959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9555480" y="352044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F7F8F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9555480" y="3520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250" dirty="0"/>
          </a:p>
        </p:txBody>
      </p:sp>
      <p:sp>
        <p:nvSpPr>
          <p:cNvPr id="92" name="Text 90"/>
          <p:cNvSpPr txBox="1"/>
          <p:nvPr/>
        </p:nvSpPr>
        <p:spPr>
          <a:xfrm>
            <a:off x="9555480" y="39959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0241280" y="352044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F7F8F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10241280" y="3520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</a:t>
            </a:r>
            <a:endParaRPr lang="en-US" sz="1250" dirty="0"/>
          </a:p>
        </p:txBody>
      </p:sp>
      <p:sp>
        <p:nvSpPr>
          <p:cNvPr id="95" name="Text 93"/>
          <p:cNvSpPr txBox="1"/>
          <p:nvPr/>
        </p:nvSpPr>
        <p:spPr>
          <a:xfrm>
            <a:off x="10241280" y="39959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8778240" y="429768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97" name="Text 95"/>
          <p:cNvSpPr txBox="1"/>
          <p:nvPr/>
        </p:nvSpPr>
        <p:spPr>
          <a:xfrm>
            <a:off x="8778240" y="442569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98" name="Text 96"/>
          <p:cNvSpPr txBox="1"/>
          <p:nvPr/>
        </p:nvSpPr>
        <p:spPr>
          <a:xfrm>
            <a:off x="8887968" y="506577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vs. 12 for linear search</a:t>
            </a:r>
            <a:endParaRPr lang="en-US" sz="1100" dirty="0"/>
          </a:p>
        </p:txBody>
      </p:sp>
      <p:sp>
        <p:nvSpPr>
          <p:cNvPr id="99" name="Text 97"/>
          <p:cNvSpPr txBox="1"/>
          <p:nvPr/>
        </p:nvSpPr>
        <p:spPr>
          <a:xfrm>
            <a:off x="640080" y="42976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comparisons located the target among 15 elements. The gap only widens as n grows.</a:t>
            </a:r>
            <a:endParaRPr lang="en-US" sz="1300" dirty="0"/>
          </a:p>
        </p:txBody>
      </p:sp>
      <p:sp>
        <p:nvSpPr>
          <p:cNvPr id="10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2,000-ELEMENT WORKED EXAMPLE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Advantage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7665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0020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680960" y="1728216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vs 11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790688" y="2551176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comparisons: linear vs. binary at n=2000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320040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search’s worst case scales linearly with n.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needs only ceil(log₂ n) comparisons — one more per doubling of n.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O(log n) is called "logarithmic."</a:t>
            </a:r>
            <a:endParaRPr lang="en-US" sz="125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VARIANTS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and Last Occurrence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finding a match, don’t stop — record it, then keep narrowing toward an earlier (or later) one.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findFirst(4) narrows LEFT after each match → index 1     findLast(4) narrows RIGHT → index 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7772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860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072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17320" y="2286000"/>
            <a:ext cx="777240" cy="502920"/>
          </a:xfrm>
          <a:prstGeom prst="roundRect">
            <a:avLst>
              <a:gd name="adj" fmla="val 7273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22860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8072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94560" y="2286000"/>
            <a:ext cx="777240" cy="502920"/>
          </a:xfrm>
          <a:prstGeom prst="roundRect">
            <a:avLst>
              <a:gd name="adj" fmla="val 7273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94560" y="22860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28072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71800" y="2286000"/>
            <a:ext cx="777240" cy="502920"/>
          </a:xfrm>
          <a:prstGeom prst="roundRect">
            <a:avLst>
              <a:gd name="adj" fmla="val 7273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71800" y="22860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28072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49040" y="2286000"/>
            <a:ext cx="777240" cy="502920"/>
          </a:xfrm>
          <a:prstGeom prst="roundRect">
            <a:avLst>
              <a:gd name="adj" fmla="val 7273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49040" y="22860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28072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26280" y="2286000"/>
            <a:ext cx="7772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26280" y="22860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28072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03520" y="2286000"/>
            <a:ext cx="7772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03520" y="22860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28072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80760" y="2286000"/>
            <a:ext cx="7772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80760" y="22860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080760" y="28072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2286000"/>
            <a:ext cx="7772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0" y="22860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28072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635240" y="2286000"/>
            <a:ext cx="7772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35240" y="22860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635240" y="28072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24128" y="2011680"/>
            <a:ext cx="9144" cy="22860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274320" y="1719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→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" y="365760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877824" y="376732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findFirst — the ONE line that differs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877824" y="4059936"/>
            <a:ext cx="478231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(sortedData[mid] == target)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mid;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high = mid - 1;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keep searching LEFT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172200" y="36576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6409944" y="3767328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findLast — the ONE line that differs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409944" y="4059936"/>
            <a:ext cx="48737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(sortedData[mid] == target)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mid;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 = mid + 1;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keep searching RIGHT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4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CODE, WELL-EARNED REPUTATION FOR BUGS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in Binary Search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overflow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6459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= (low+high)/2 can overflow on large arrays; use low + (high-low)/2 instead.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Off-by-one loop condition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697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(low &lt; high) silently skips the single-element case; use low &lt;= high.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Unenforced sorted precondition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37490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doesn’t fail loudly on unsorted data — it just returns wrong answers.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800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loops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480060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= mid instead of low = mid + 1 can leave the search space unchanged forever.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 Bentley’s Programming Pearls noted most published implementations, across decades, contained bugs.</a:t>
            </a:r>
            <a:endParaRPr lang="en-US" sz="115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SPEED — SHAPE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vs. Binary Search</a:t>
            </a:r>
            <a:endParaRPr lang="en-US" sz="2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65760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Search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sorted data?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Worst-case complexity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on a linked list?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(sequential access)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Poorly (needs random access)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02336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one-time search of unsorted data rarely justifies sorting first (which itself costs O(n log n)) plus a binary search.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the same data repeatedly: sorting once and reusing binary search every time wins decisively.</a:t>
            </a:r>
            <a:endParaRPr lang="en-US" sz="135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371600" y="704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972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37286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07008" y="2011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makes no assumptions about order (O(n) worst case); sentinel search halves the per-iteration comparisons.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24154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07008" y="28803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needs sorted, random-access data in exchange for O(log n) — confirmed with a 15-element trace and a 2,000-element count.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1102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07008" y="3749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findFirst / findLast generalize binary search to locate the boundaries of a run of duplicates.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97890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7008" y="46177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code hides real pitfalls: midpoint overflow, off-by-one loops, unenforced sort order, infinite loops.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584758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8B7FD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54864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choice depends on how the data is organized and how often it’s searched.</a:t>
            </a:r>
            <a:endParaRPr lang="en-US" sz="14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CSC211</dc:creator>
  <cp:lastModifiedBy>CSC211</cp:lastModifiedBy>
  <cp:revision>1</cp:revision>
  <dcterms:created xsi:type="dcterms:W3CDTF">2026-09-23T18:47:19Z</dcterms:created>
  <dcterms:modified xsi:type="dcterms:W3CDTF">2026-09-23T18:47:19Z</dcterms:modified>
</cp:coreProperties>
</file>
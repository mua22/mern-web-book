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81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181C"/>
                </a:solidFill>
                <a:latin typeface="Calibri"/>
              </a:rPr>
              <a:t>Comparisons and swaps by algorithm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Comparisons</c:v>
                </c:pt>
              </c:strCache>
            </c:strRef>
          </c:tx>
          <c:spPr>
            <a:solidFill>
              <a:srgbClr val="8B7F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A65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Bubble</c:v>
                  </c:pt>
                  <c:pt idx="1">
                    <c:v>Selection</c:v>
                  </c:pt>
                  <c:pt idx="2">
                    <c:v>Insertion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45</c:v>
                </c:pt>
                <c:pt idx="2">
                  <c:v>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Swaps / shifts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A65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Bubble</c:v>
                  </c:pt>
                  <c:pt idx="1">
                    <c:v>Selection</c:v>
                  </c:pt>
                  <c:pt idx="2">
                    <c:v>Insertion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</c:v>
                </c:pt>
                <c:pt idx="1">
                  <c:v>9</c:v>
                </c:pt>
                <c:pt idx="2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A657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case (bubble / insertion): O(n)</c:v>
                </c:pt>
              </c:strCache>
            </c:strRef>
          </c:tx>
          <c:spPr>
            <a:solidFill>
              <a:srgbClr val="2FE6C4"/>
            </a:solidFill>
            <a:ln w="31750" cap="flat">
              <a:solidFill>
                <a:srgbClr val="2FE6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E6C4"/>
              </a:solidFill>
              <a:ln w="9525" cap="flat">
                <a:solidFill>
                  <a:srgbClr val="2FE6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n=10</c:v>
                  </c:pt>
                  <c:pt idx="1">
                    <c:v>n=20</c:v>
                  </c:pt>
                  <c:pt idx="2">
                    <c:v>n=40</c:v>
                  </c:pt>
                  <c:pt idx="3">
                    <c:v>n=80</c:v>
                  </c:pt>
                  <c:pt idx="4">
                    <c:v>n=160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40</c:v>
                </c:pt>
                <c:pt idx="3">
                  <c:v>80</c:v>
                </c:pt>
                <c:pt idx="4">
                  <c:v>160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Worst case (all three): O(n²)</c:v>
                </c:pt>
              </c:strCache>
            </c:strRef>
          </c:tx>
          <c:spPr>
            <a:solidFill>
              <a:srgbClr val="E8A33D"/>
            </a:solidFill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n=10</c:v>
                  </c:pt>
                  <c:pt idx="1">
                    <c:v>n=20</c:v>
                  </c:pt>
                  <c:pt idx="2">
                    <c:v>n=40</c:v>
                  </c:pt>
                  <c:pt idx="3">
                    <c:v>n=80</c:v>
                  </c:pt>
                  <c:pt idx="4">
                    <c:v>n=160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400</c:v>
                </c:pt>
                <c:pt idx="2">
                  <c:v>1600</c:v>
                </c:pt>
                <c:pt idx="3">
                  <c:v>6400</c:v>
                </c:pt>
                <c:pt idx="4">
                  <c:v>25600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8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57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570"/>
                    </a:solidFill>
                    <a:latin typeface="Arial"/>
                  </a:rPr>
                  <a:t>Operations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5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Sorting: Elementary Algorithms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LECTURE COVERS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34896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34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09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sorting problem, and what characterizes a sorting algorithm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481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596896"/>
            <a:ext cx="365760" cy="36576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471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sort, selection sort, and insertion sort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243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35889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358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233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each algorithm pass by pass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005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120896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120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995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sorting, and proving bubble sort’s O(n) best case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4767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882896"/>
            <a:ext cx="365760" cy="36576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882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757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head-to-head comparison/swap count across all three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40080" y="5529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64489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644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519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comparison of all three algorithms</a:t>
            </a:r>
            <a:endParaRPr lang="en-US" sz="1450" dirty="0"/>
          </a:p>
        </p:txBody>
      </p:sp>
      <p:sp>
        <p:nvSpPr>
          <p:cNvPr id="2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Sorting Problem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rearranges a collection into a defined order, using two core operations: comparing and swapping (or shifting).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88036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comparisons/swaps grow with 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65176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2880360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118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931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memory beyond the input array.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265176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28803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931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equal elements keep their relative order?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69680" y="265176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98280" y="288036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982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3931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within the original array, or needs a copy?</a:t>
            </a:r>
            <a:endParaRPr lang="en-US" sz="1150" dirty="0"/>
          </a:p>
        </p:txBody>
      </p:sp>
      <p:sp>
        <p:nvSpPr>
          <p:cNvPr id="2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steps through the array, swapping adjacent elements that are in the wrong order — each pass "bubbles" the largest remaining value to the end.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76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6888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298448" y="246888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98448" y="246888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956816" y="246888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56816" y="246888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615184" y="246888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15184" y="246888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73552" y="246888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73552" y="246888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931920" y="246888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31920" y="246888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90288" y="246888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0288" y="246888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044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64,25 → swap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33756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33756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298448" y="333756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98448" y="333756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956816" y="333756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956816" y="333756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615184" y="333756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15184" y="333756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273552" y="333756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73552" y="333756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931920" y="333756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931920" y="333756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590288" y="333756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90288" y="333756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577840" y="3383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out-of-order pair gets swapped.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3913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pass 1: 90 bubbled to the end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420624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420624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1298448" y="420624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298448" y="420624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1956816" y="420624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956816" y="420624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2615184" y="420624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615184" y="420624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3273552" y="420624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273552" y="420624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3931920" y="420624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931920" y="420624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4590288" y="420624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90288" y="420624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5577840" y="4251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remaining value reaches its final position.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0080" y="51206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68680" y="5120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"swapped" flag lets the algorithm stop the instant a full pass makes zero swaps — giving bubble sort a best case of O(n).</a:t>
            </a:r>
            <a:endParaRPr lang="en-US" sz="1300" dirty="0"/>
          </a:p>
        </p:txBody>
      </p:sp>
      <p:sp>
        <p:nvSpPr>
          <p:cNvPr id="5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— Code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858000" cy="3291840"/>
          </a:xfrm>
          <a:prstGeom prst="roundRect">
            <a:avLst>
              <a:gd name="adj" fmla="val 2222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77824" y="1801368"/>
            <a:ext cx="6382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elementary_sorts.cpp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093976"/>
            <a:ext cx="638251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pass = 0; pass &lt; n - 1; pass++)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swapped = false;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n - 1 - pass; i++)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(arr[i] &gt; arr[i + 1])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swap(arr[i], arr[i + 1]);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swapped = true;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(!swapped) break;  // already sorted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69164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 shrinks by one each pass (n-1-pass) — the sorted tail never needs re-checking.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swapped flag triggers early exit on nearly-sorted input.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swaps are adjacent — the algorithm never looks more than one position ahead.</a:t>
            </a:r>
            <a:endParaRPr lang="en-US" sz="13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5-ELEMENT ARRAY: 5 1 4 2 8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Bubble Sort Pass by Pass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105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480560" y="182880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80560" y="1828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20640" y="182880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0" y="1828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182880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1828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828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0880" y="182880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0" y="1828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7706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pass 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80560" y="278892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2788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20640" y="278892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2788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60720" y="278892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0720" y="2788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278892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2788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40880" y="278892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0" y="2788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7307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pass 2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480560" y="374904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80560" y="3749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120640" y="374904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20640" y="3749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60720" y="374904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F7F8F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60720" y="3749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0" y="374904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0" y="3749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040880" y="374904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40880" y="3749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46908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pass 3 (no swaps — stop early)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480560" y="470916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480560" y="4709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120640" y="470916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120640" y="4709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60720" y="470916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60720" y="4709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00800" y="470916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0" y="4709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040880" y="4709160"/>
            <a:ext cx="640080" cy="502920"/>
          </a:xfrm>
          <a:prstGeom prst="roundRect">
            <a:avLst>
              <a:gd name="adj" fmla="val 7273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040880" y="4709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40080" y="58064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68680" y="58064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passes ran on a 5-element array, not the full n-1=4 the outer loop allows — confirming the early-exit optimization triggers in practice.</a:t>
            </a:r>
            <a:endParaRPr lang="en-US" sz="1300" dirty="0"/>
          </a:p>
        </p:txBody>
      </p:sp>
      <p:sp>
        <p:nvSpPr>
          <p:cNvPr id="5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1,000-ELEMENT INSTRUMENTED RUN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the Best Case with Real Counts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956816"/>
            <a:ext cx="52120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3419856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comparisons, 0 swaps — ALREADY-SORTED input (n=1000)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35040" y="18288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035040" y="1956816"/>
            <a:ext cx="5394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499,500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144768" y="3419856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comparisons, 499,500 swaps — REVERSE-SORTED input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11480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 comparisons is exactly n-1 — one full pass, confirming the best case directly, not just in theory.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499,500 = 999 × 1000 / 2, exactly the n(n-1)/2 the O(n²) bound predicts for a pass that never exits early.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size input (n=1000), differing only in starting order — almost a 500x gap in comparisons.</a:t>
            </a:r>
            <a:endParaRPr lang="en-US" sz="1350" dirty="0"/>
          </a:p>
        </p:txBody>
      </p:sp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MINIMUM of the remaining unsorted portion and swaps it directly into place — exactly one swap per outer-loop pass.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all 5, find min = 11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133856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33856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27632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27632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21408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21408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15184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15184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64408" y="2971800"/>
            <a:ext cx="100584" cy="9144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383280" y="2148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into position 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77056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77056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70832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70832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64608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64608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58384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58384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07608" y="2971800"/>
            <a:ext cx="100584" cy="9144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6126480" y="2148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remaining 4, find min = 12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26480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20256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20256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14032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14032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607808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7808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101584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01584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750808" y="2971800"/>
            <a:ext cx="100584" cy="9144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8869680" y="2148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into position 1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869680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869680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363456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363456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857232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857232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351008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351008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0844784" y="2743200"/>
            <a:ext cx="493776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844784" y="27432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0080" y="36576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68680" y="365760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round does the SAME amount of scanning regardless of how the data started — selection sort has no best-case advantage: best, average, and worst case are all O(n²).</a:t>
            </a:r>
            <a:endParaRPr lang="en-US" sz="1300" dirty="0"/>
          </a:p>
        </p:txBody>
      </p:sp>
      <p:sp>
        <p:nvSpPr>
          <p:cNvPr id="5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 — Code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858000" cy="3017520"/>
          </a:xfrm>
          <a:prstGeom prst="roundRect">
            <a:avLst>
              <a:gd name="adj" fmla="val 2424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77824" y="1801368"/>
            <a:ext cx="6382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elementary_sorts.cpp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093976"/>
            <a:ext cx="638251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 - 1; i++)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minIndex = i;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j = i + 1; j &lt; n; j++)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(arr[j] &lt; arr[minIndex])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minIndex = j;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swap(arr[i], arr[minIndex]);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69164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 always scans the entire remaining unsorted region — no early exit possible.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swap() call per outer-loop iteration: n-1 swaps total, always.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count is far lower than bubble sort’s, at the cost of always doing the full scan.</a:t>
            </a:r>
            <a:endParaRPr lang="en-US" sz="13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sorted portion one element at a time: each new element shifts backward through the sorted portion until it reaches its spot.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so far: 1 4 9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 insert: 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62407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743200"/>
            <a:ext cx="624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64158" y="2743200"/>
            <a:ext cx="62407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64158" y="2743200"/>
            <a:ext cx="624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88236" y="2743200"/>
            <a:ext cx="62407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88236" y="2743200"/>
            <a:ext cx="624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2314" y="2743200"/>
            <a:ext cx="624078" cy="4572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12314" y="2743200"/>
            <a:ext cx="624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64408" y="2971800"/>
            <a:ext cx="100584" cy="9144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38328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&lt; 9 — shift 9 right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0" y="2743200"/>
            <a:ext cx="62407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0" y="2743200"/>
            <a:ext cx="624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07358" y="2743200"/>
            <a:ext cx="62407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07358" y="2743200"/>
            <a:ext cx="624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31436" y="2743200"/>
            <a:ext cx="624078" cy="457200"/>
          </a:xfrm>
          <a:prstGeom prst="roundRect">
            <a:avLst>
              <a:gd name="adj" fmla="val 8000"/>
            </a:avLst>
          </a:prstGeom>
          <a:solidFill>
            <a:srgbClr val="EDEFF1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1436" y="2743200"/>
            <a:ext cx="624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55514" y="2743200"/>
            <a:ext cx="624078" cy="457200"/>
          </a:xfrm>
          <a:prstGeom prst="roundRect">
            <a:avLst>
              <a:gd name="adj" fmla="val 8000"/>
            </a:avLst>
          </a:prstGeom>
          <a:solidFill>
            <a:srgbClr val="8B7FD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55514" y="2743200"/>
            <a:ext cx="624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07608" y="2971800"/>
            <a:ext cx="100584" cy="9144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12648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&lt; 4 — shift 4 right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2743200"/>
            <a:ext cx="62407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26480" y="2743200"/>
            <a:ext cx="624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50558" y="2743200"/>
            <a:ext cx="624078" cy="457200"/>
          </a:xfrm>
          <a:prstGeom prst="roundRect">
            <a:avLst>
              <a:gd name="adj" fmla="val 8000"/>
            </a:avLst>
          </a:prstGeom>
          <a:solidFill>
            <a:srgbClr val="EDEFF1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50558" y="2743200"/>
            <a:ext cx="624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74636" y="2743200"/>
            <a:ext cx="624078" cy="457200"/>
          </a:xfrm>
          <a:prstGeom prst="roundRect">
            <a:avLst>
              <a:gd name="adj" fmla="val 8000"/>
            </a:avLst>
          </a:prstGeom>
          <a:solidFill>
            <a:srgbClr val="8B7FD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74636" y="2743200"/>
            <a:ext cx="624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98714" y="2743200"/>
            <a:ext cx="62407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98714" y="2743200"/>
            <a:ext cx="624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750808" y="2971800"/>
            <a:ext cx="100584" cy="9144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886968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≥ 1 — insert into gap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869680" y="2743200"/>
            <a:ext cx="62407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869680" y="2743200"/>
            <a:ext cx="624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493758" y="2743200"/>
            <a:ext cx="624078" cy="457200"/>
          </a:xfrm>
          <a:prstGeom prst="roundRect">
            <a:avLst>
              <a:gd name="adj" fmla="val 8000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493758" y="2743200"/>
            <a:ext cx="624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117836" y="2743200"/>
            <a:ext cx="62407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117836" y="2743200"/>
            <a:ext cx="624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741914" y="2743200"/>
            <a:ext cx="62407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741914" y="2743200"/>
            <a:ext cx="624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" y="36576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68680" y="365760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already-sorted element only shifts as far as it needs to — like bubble sort, best case O(n) on already-sorted input (the inner while loop never runs).</a:t>
            </a:r>
            <a:endParaRPr lang="en-US" sz="1300" dirty="0"/>
          </a:p>
        </p:txBody>
      </p:sp>
      <p:sp>
        <p:nvSpPr>
          <p:cNvPr id="4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 — Code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858000" cy="3200400"/>
          </a:xfrm>
          <a:prstGeom prst="roundRect">
            <a:avLst>
              <a:gd name="adj" fmla="val 228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77824" y="1801368"/>
            <a:ext cx="6382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elementary_sorts.cpp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093976"/>
            <a:ext cx="638251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 n; i++)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key = arr[i];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j = i - 1;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(j &gt;= 0 &amp;&amp; arr[j] &gt; key)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arr[j + 1] = arr[j];  // shift right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j--;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arr[j + 1] = key;  // insert key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69164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while loop shifts, not swaps — one comparison-driven pass moves the key directly to its spot.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already-sorted input the while condition is false immediately: O(n) best case.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hybrid library sorts (Lecture 31) fall back to insertion sort for small sub-arrays.</a:t>
            </a:r>
            <a:endParaRPr lang="en-US" sz="13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ADVANTAGE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Sorting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algorithms rearrange the array’s own elements using only a small, constant amount of extra memory (a few loop variables) — never a second array the size of the input.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11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526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space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34340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3611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4526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space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301752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3611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4526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space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advantage they share, despite their O(n²) time complexity.</a:t>
            </a:r>
            <a:endParaRPr lang="en-US" sz="13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10-ELEMENT INPUT: 64 25 12 22 11 90 5 34 77 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Head-to-Head Count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589520" y="1645920"/>
            <a:ext cx="3931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and selection both make 45 comparisons here — n(n-1)/2 for n=10.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Selection’s swaps (9 = n-1) are far lower than bubble’s (27) — it always does minimal swaps.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needed the fewest comparisons (31) — evidence it’s generally preferred in practice.</a:t>
            </a:r>
            <a:endParaRPr lang="en-US" sz="1250" dirty="0"/>
          </a:p>
        </p:txBody>
      </p:sp>
      <p:sp>
        <p:nvSpPr>
          <p:cNvPr id="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 VS. WORST CASE, ALL THREE ALGORITHMS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Growth: O(n) vs. O(n²)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691640"/>
          <a:ext cx="10424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/ AVERAGE / WORST / SPACE / STABILITY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Elementary Sorts</a:t>
            </a:r>
            <a:endParaRPr lang="en-US" sz="2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609344"/>
                <a:gridCol w="1609344"/>
                <a:gridCol w="1609344"/>
                <a:gridCol w="1609344"/>
                <a:gridCol w="160934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 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 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 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9776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39776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sharing the same worst-case complexity, insertion sort is generally preferred in practice — same best-case advantage as bubble sort, but does noticeably less work on average.</a:t>
            </a:r>
            <a:endParaRPr lang="en-US" sz="1300" dirty="0"/>
          </a:p>
        </p:txBody>
      </p:sp>
      <p:sp>
        <p:nvSpPr>
          <p:cNvPr id="1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371600" y="704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972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37286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07008" y="2011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sort’s early-exit "swapped" flag gives it O(n) best case — confirmed with 999 comparisons, 0 swaps on 1,000 sorted elements.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24154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07008" y="28803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 always scans the full remaining region — O(n²) in every case, with no benefit from partially-sorted input.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1102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7008" y="3749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 builds a sorted portion incrementally — O(n) best case and generally the most efficient of the three in practice.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97890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46177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an algorithm pass by pass turns an abstract "O(n) best case" claim into something you can actually see happen.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84758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8B7F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54864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O(1) extra space (in-place), but all three are O(n²) worst case — Lecture 31 covers algorithms that do better.</a:t>
            </a:r>
            <a:endParaRPr lang="en-US" sz="14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CSC211</dc:creator>
  <cp:lastModifiedBy>CSC211</cp:lastModifiedBy>
  <cp:revision>1</cp:revision>
  <dcterms:created xsi:type="dcterms:W3CDTF">2026-09-23T18:51:04Z</dcterms:created>
  <dcterms:modified xsi:type="dcterms:W3CDTF">2026-09-23T18:51:04Z</dcterms:modified>
</cp:coreProperties>
</file>
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Merge / Quick sort: O(n log n)</c:v>
                </c:pt>
              </c:strCache>
            </c:strRef>
          </c:tx>
          <c:spPr>
            <a:solidFill>
              <a:srgbClr val="2FE6C4"/>
            </a:solidFill>
            <a:ln w="31750" cap="flat">
              <a:solidFill>
                <a:srgbClr val="2FE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E6C4"/>
              </a:solidFill>
              <a:ln w="9525" cap="flat">
                <a:solidFill>
                  <a:srgbClr val="2FE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n=50</c:v>
                  </c:pt>
                  <c:pt idx="1">
                    <c:v>n=100</c:v>
                  </c:pt>
                  <c:pt idx="2">
                    <c:v>n=200</c:v>
                  </c:pt>
                  <c:pt idx="3">
                    <c:v>n=400</c:v>
                  </c:pt>
                  <c:pt idx="4">
                    <c:v>n=800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282</c:v>
                </c:pt>
                <c:pt idx="1">
                  <c:v>664</c:v>
                </c:pt>
                <c:pt idx="2">
                  <c:v>1529</c:v>
                </c:pt>
                <c:pt idx="3">
                  <c:v>3458</c:v>
                </c:pt>
                <c:pt idx="4">
                  <c:v>7715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Elementary sorts (worst): O(n²)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n=50</c:v>
                  </c:pt>
                  <c:pt idx="1">
                    <c:v>n=100</c:v>
                  </c:pt>
                  <c:pt idx="2">
                    <c:v>n=200</c:v>
                  </c:pt>
                  <c:pt idx="3">
                    <c:v>n=400</c:v>
                  </c:pt>
                  <c:pt idx="4">
                    <c:v>n=800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2500</c:v>
                </c:pt>
                <c:pt idx="1">
                  <c:v>10000</c:v>
                </c:pt>
                <c:pt idx="2">
                  <c:v>40000</c:v>
                </c:pt>
                <c:pt idx="3">
                  <c:v>160000</c:v>
                </c:pt>
                <c:pt idx="4">
                  <c:v>640000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570"/>
                    </a:solidFill>
                    <a:latin typeface="Arial"/>
                  </a:rPr>
                  <a:t>Operations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4181C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4181C"/>
                </a:solidFill>
                <a:latin typeface="Calibri"/>
              </a:rPr>
              <a:t>Comparisons on the same 2,000-element input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8B7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A65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Merge Sort</c:v>
                  </c:pt>
                  <c:pt idx="1">
                    <c:v>Quick Sort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19393</c:v>
                </c:pt>
                <c:pt idx="1">
                  <c:v>23831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A65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Sorting: Efficient Algorithms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4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3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0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divide-and-conquer strategy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81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596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71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sort: split, sort each half, merge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43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58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358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33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merge sort’s divide and merge phases as a recursion tree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2089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20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995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sort: partition around a pivot, then recurse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767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757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quick sort’s partition step swap by swap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40080" y="5529072"/>
            <a:ext cx="10881360" cy="615696"/>
          </a:xfrm>
          <a:prstGeom prst="roundRect">
            <a:avLst>
              <a:gd name="adj" fmla="val 1039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64489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4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519928"/>
            <a:ext cx="987552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counted comparison, and when each is the better choice</a:t>
            </a:r>
            <a:endParaRPr lang="en-US" sz="145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BEHIND BOTH ALGORITHMS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Divide-and-Conquer Strategy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sorts (Lecture 30) top out at O(n²). Merge sort and quick sort both break through to O(n log n) with the same three-step strategy.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Divide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06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problem into smaller subproblems of the same kind.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87368" y="4023360"/>
            <a:ext cx="146304" cy="9144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8346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310896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Conquer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206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subproblem recursively.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99248" y="4023360"/>
            <a:ext cx="146304" cy="9144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63840" y="28346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3108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381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794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2062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subproblems’ solutions into the final answer.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sort’s hard work happens in COMBINE. Quick sort’s hard work happens in DIVIDE.</a:t>
            </a:r>
            <a:endParaRPr lang="en-US" sz="130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SORT EACH HALF — MERGE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array in half, recursively sorts each half, then merges the two already-sorted halves back together in linear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[38,27,43,3,9,82,10]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>
            <a:off x="1371600" y="2834640"/>
            <a:ext cx="640080" cy="50292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2834640"/>
            <a:ext cx="640080" cy="50292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338328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[38,27,43,3]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338328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[9,82,10]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split further, down to single elements 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4343400"/>
            <a:ext cx="640080" cy="41148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2011680" y="4343400"/>
            <a:ext cx="640080" cy="41148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48006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2FE6C4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800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[3,9,10,27,38,43,82]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sorted halves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2011680"/>
            <a:ext cx="6858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 step is where the real work happens: given two sorted halves, build the fully sorted result in one linear pass, always comparing just the current front of each half.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idea as merging two sorted linked lists.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guarantees O(n log n) regardless of the input’s initial order — unlike quick sort.</a:t>
            </a:r>
            <a:endParaRPr lang="en-US" sz="13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3108960"/>
          </a:xfrm>
          <a:prstGeom prst="roundRect">
            <a:avLst>
              <a:gd name="adj" fmla="val 235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mergeSort(vector&lt;int&gt;&amp; arr, int left, int right)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(left &gt;= right) return;   // base case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mid = left + (right - left) / 2;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mergeSort(arr, left, mid);        // conquer left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mergeSort(arr, mid + 1, right);   // conquer right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merge(arr, left, mid, right);      // combine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0 or 1 elements are already "sorted."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recursive calls sort each half independently.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does the combine step: linear-time merge of two sorted halves.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51572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561441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levels of recursion × O(n) work merged per level = O(n log n) total</a:t>
            </a:r>
            <a:endParaRPr lang="en-US" sz="11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4-ELEMENT ARRAY: [38, 27, 43, 3]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Divide and Merge Phases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09160" y="178308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7F8F9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09160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 27, 43, 3]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25603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 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0" y="256032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[43, 3]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3383280" y="2167128"/>
            <a:ext cx="1737360" cy="393192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2167128"/>
            <a:ext cx="2651760" cy="393192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333756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337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33756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4600" y="3337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[27]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33756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337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[43]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09560" y="333756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3337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>
            <a:off x="1783080" y="2944368"/>
            <a:ext cx="960120" cy="393192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3017520" y="2944368"/>
            <a:ext cx="91440" cy="393192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7178040" y="2944368"/>
            <a:ext cx="960120" cy="393192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8412480" y="2944368"/>
            <a:ext cx="91440" cy="393192"/>
          </a:xfrm>
          <a:prstGeom prst="line">
            <a:avLst/>
          </a:prstGeom>
          <a:noFill/>
          <a:ln w="22225">
            <a:solidFill>
              <a:srgbClr val="5A65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77440" y="41148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2FE6C4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→ [27, 38]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41148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2FE6C4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→ [3, 43]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83080" y="3721608"/>
            <a:ext cx="960120" cy="393192"/>
          </a:xfrm>
          <a:prstGeom prst="line">
            <a:avLst/>
          </a:prstGeom>
          <a:noFill/>
          <a:ln w="22225">
            <a:solidFill>
              <a:srgbClr val="2FE6C4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17520" y="3721608"/>
            <a:ext cx="182880" cy="393192"/>
          </a:xfrm>
          <a:prstGeom prst="line">
            <a:avLst/>
          </a:prstGeom>
          <a:noFill/>
          <a:ln w="22225">
            <a:solidFill>
              <a:srgbClr val="2FE6C4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78040" y="3721608"/>
            <a:ext cx="960120" cy="393192"/>
          </a:xfrm>
          <a:prstGeom prst="line">
            <a:avLst/>
          </a:prstGeom>
          <a:noFill/>
          <a:ln w="22225">
            <a:solidFill>
              <a:srgbClr val="2FE6C4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0" y="3721608"/>
            <a:ext cx="182880" cy="393192"/>
          </a:xfrm>
          <a:prstGeom prst="line">
            <a:avLst/>
          </a:prstGeom>
          <a:noFill/>
          <a:ln w="22225">
            <a:solidFill>
              <a:srgbClr val="2FE6C4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480560" y="489204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2FE6C4"/>
          </a:solidFill>
          <a:ln w="12700">
            <a:solidFill>
              <a:srgbClr val="C7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0560" y="4892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→ [3, 27, 38, 43]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4498848"/>
            <a:ext cx="1737360" cy="393192"/>
          </a:xfrm>
          <a:prstGeom prst="line">
            <a:avLst/>
          </a:prstGeom>
          <a:noFill/>
          <a:ln w="22225">
            <a:solidFill>
              <a:srgbClr val="2FE6C4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6309360" y="4498848"/>
            <a:ext cx="2468880" cy="393192"/>
          </a:xfrm>
          <a:prstGeom prst="line">
            <a:avLst/>
          </a:prstGeom>
          <a:noFill/>
          <a:ln w="22225">
            <a:solidFill>
              <a:srgbClr val="2FE6C4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splits all the way to single-element base cases BEFORE any merging starts, then merges work back UP the tree, level by level.</a:t>
            </a:r>
            <a:endParaRPr lang="en-US" sz="1250" dirty="0"/>
          </a:p>
        </p:txBody>
      </p:sp>
      <p:sp>
        <p:nvSpPr>
          <p:cNvPr id="3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AROUND A PIVOT, THEN RECURSE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pivot, partitions the array so everything smaller ends up to its left and everything larger to its right, then recurses on each side.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partitioning (pivot = last element, 70):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53312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53312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066544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66544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79776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79776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493008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93008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06240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919472" y="256032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9472" y="256032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91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partitioning: smaller-than-pivot on the left, larger on the right, pivot in its FINAL position: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E7F9F5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14223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353312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E7F9F5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53312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066544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E7F9F5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66544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779776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E7F9F5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79776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493008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93008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355848" y="414223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(final)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BEEDC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06240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069080" y="414223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9472" y="3611880"/>
            <a:ext cx="713232" cy="502920"/>
          </a:xfrm>
          <a:prstGeom prst="roundRect">
            <a:avLst>
              <a:gd name="adj" fmla="val 7273"/>
            </a:avLst>
          </a:prstGeom>
          <a:solidFill>
            <a:srgbClr val="FBEEDC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19472" y="361188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merge sort, quick sort does its hard work BEFORE recursing (partitioning), and sorts entirely in-place — no second array needed.</a:t>
            </a:r>
            <a:endParaRPr lang="en-US" sz="1300" dirty="0"/>
          </a:p>
        </p:txBody>
      </p:sp>
      <p:sp>
        <p:nvSpPr>
          <p:cNvPr id="4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—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80136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quick_sort.cpp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093976"/>
            <a:ext cx="638251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partition(vector&lt;int&gt;&amp; arr, int low, int high)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pivot = arr[high];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 = low - 1;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low; j &lt; high; j++)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(arr[j] &lt; pivot)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i++;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swap(arr[i], arr[j]);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swap(arr[i + 1], arr[high]);  // place pivot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 + 1;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9164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tracks the boundary of "elements smaller than pivot so far."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smaller element found gets swapped just past that boundary.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is swapped into its final position last — already sorted, no further work needed.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47091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80960" y="48371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5385816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 — recursion stack only, sorts in-place</a:t>
            </a:r>
            <a:endParaRPr lang="en-US" sz="11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BY SWAP, PIVOT = 70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Partition Step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47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j=2: 30&lt;70, swap(1,2)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931920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0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53712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75504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8B7FD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75504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97296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97296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40880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62672" y="182880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62672" y="182880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898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j=4: 40&lt;70, swap(2,4)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31920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53712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53712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75504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75504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97296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97296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19088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8B7FD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9088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40880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62672" y="288036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28803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j=5: 50&lt;70, swap(3,5)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931920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31920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53712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53712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175504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75504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797296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97296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19088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19088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040880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8B7FD9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40880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662672" y="393192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62672" y="39319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001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pivot: swap(4,6)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931920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31920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553712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175504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175504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797296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797296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419088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2FE6C4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19088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040880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040880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7662672" y="4983480"/>
            <a:ext cx="62179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DD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662672" y="498348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40080" y="60807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68680" y="60807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&lt; 70 ends up left of index 4; every element &gt; 70 ends up right — the pivot never needs to be touched again.</a:t>
            </a:r>
            <a:endParaRPr lang="en-US" sz="1200" dirty="0"/>
          </a:p>
        </p:txBody>
      </p:sp>
      <p:sp>
        <p:nvSpPr>
          <p:cNvPr id="6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SORTS VS. ELEMENTARY SORTS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Growth: O(n log n) vs. O(n²)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45920"/>
          <a:ext cx="10424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RANDOM INTEGERS, FIXED SEED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Counted Comparison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69164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 close to the n log₂ n ≈ 22,000 estimate — neither is secretly doing quadratic work.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sort’s guaranteed, always-balanced split gave it slightly fewer comparisons here.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counts (not wall-clock time) are reproducible across machines and runs.</a:t>
            </a:r>
            <a:endParaRPr lang="en-US" sz="12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VS. USUALLY-FASTER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vs. Quick Sort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/ average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— always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— poor pivot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second 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— in-place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real-world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Consistently good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faster in practice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VS. REAL-WORLD LIBRARIES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Quick Sort’s Worst Case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input is already sorted (or reverse-sorted) and the pivot is always the last element, every partition splits the array as unevenly as possible — degrading to O(n²).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432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implementations avoid this by picking the pivot RANDOMLY, or as the median of a few sampled elements — making the worst case astronomically unlikely rather than eliminating it in theory.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9776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quick sort’s theoretical worst case, it is what most real standard libraries use by default (often hybridized with insertion sort for small sub-arrays) — its practical, average-case speed usually beats merge sort’s guaranteed-but-more-overhead performance.</a:t>
            </a:r>
            <a:endParaRPr lang="en-US" sz="13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704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3728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2011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— split, solve recursively, combine — achieves O(n log n) where elementary sorts only manage O(n²).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154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07008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sort’s work is in the combine step: always O(n log n), stable, but needs O(n) extra space.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1102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07008" y="3749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sort’s work is in the divide step: in-place with O(log n) space, but can degrade to O(n²) with a poor pivot.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9789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46177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counted comparison on 2,000 elements showed both algorithms landing close to the n log₂ n estimate.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8475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5486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quick sort (randomized pivot) usually beats merge sort, which is why most standard libraries default to it.</a:t>
            </a:r>
            <a:endParaRPr lang="en-US" sz="14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2026-09-23T18:53:02Z</dcterms:created>
  <dcterms:modified xsi:type="dcterms:W3CDTF">2026-09-23T18:53:02Z</dcterms:modified>
</cp:coreProperties>
</file>
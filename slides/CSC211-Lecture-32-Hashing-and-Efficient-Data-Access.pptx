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4181C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14181C"/>
                </a:solidFill>
                <a:latin typeface="Calibri"/>
              </a:rPr>
              <a:t>Load factor → chain length / probe count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chain length (chaining)</c:v>
                </c:pt>
              </c:strCache>
            </c:strRef>
          </c:tx>
          <c:spPr>
            <a:solidFill>
              <a:srgbClr val="2FE6C4"/>
            </a:solidFill>
            <a:ln w="31750" cap="flat">
              <a:solidFill>
                <a:srgbClr val="2FE6C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FE6C4"/>
              </a:solidFill>
              <a:ln w="9525" cap="flat">
                <a:solidFill>
                  <a:srgbClr val="2FE6C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0.50</c:v>
                  </c:pt>
                  <c:pt idx="1">
                    <c:v>0.70</c:v>
                  </c:pt>
                  <c:pt idx="2">
                    <c:v>0.90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3.08</c:v>
                </c:pt>
                <c:pt idx="1">
                  <c:v>3.16</c:v>
                </c:pt>
                <c:pt idx="2">
                  <c:v>3.16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probes/insert (linear probing)</c:v>
                </c:pt>
              </c:strCache>
            </c:strRef>
          </c:tx>
          <c:spPr>
            <a:solidFill>
              <a:srgbClr val="E8A33D"/>
            </a:solidFill>
            <a:ln w="31750" cap="flat">
              <a:solidFill>
                <a:srgbClr val="E8A3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0.50</c:v>
                  </c:pt>
                  <c:pt idx="1">
                    <c:v>0.70</c:v>
                  </c:pt>
                  <c:pt idx="2">
                    <c:v>0.90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23.62</c:v>
                </c:pt>
                <c:pt idx="1">
                  <c:v>23.75</c:v>
                </c:pt>
                <c:pt idx="2">
                  <c:v>27.04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5A6570"/>
                    </a:solidFill>
                    <a:latin typeface="Arial"/>
                  </a:defRPr>
                </a:pPr>
                <a:r>
                  <a:rPr sz="1050" b="0" i="0" u="none" strike="noStrike">
                    <a:solidFill>
                      <a:srgbClr val="5A6570"/>
                    </a:solidFill>
                    <a:latin typeface="Arial"/>
                  </a:rPr>
                  <a:t>Load factor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65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8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5A6570"/>
                    </a:solidFill>
                    <a:latin typeface="Arial"/>
                  </a:defRPr>
                </a:pPr>
                <a:r>
                  <a:rPr sz="1050" b="0" i="0" u="none" strike="noStrike">
                    <a:solidFill>
                      <a:srgbClr val="5A6570"/>
                    </a:solidFill>
                    <a:latin typeface="Arial"/>
                  </a:rPr>
                  <a:t>Avg per insert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5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uinotes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uinotes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uinotes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uinotes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uinotes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uinotes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uinotes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uinotes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uinotes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uinotes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4" Type="http://schemas.openxmlformats.org/officeDocument/2006/relationships/hyperlink" Target="https://cuinotes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cuinotes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cuinotes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cuinote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457200" cy="45720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and Efficient Data Access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434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300" dirty="0"/>
          </a:p>
        </p:txBody>
      </p:sp>
      <p:sp>
        <p:nvSpPr>
          <p:cNvPr id="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LECTURE COVERS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10881360" cy="615696"/>
          </a:xfrm>
          <a:prstGeom prst="roundRect">
            <a:avLst>
              <a:gd name="adj" fmla="val 10396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34896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834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09928"/>
            <a:ext cx="987552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need for O(1) data access, and the hashing concept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481072"/>
            <a:ext cx="10881360" cy="615696"/>
          </a:xfrm>
          <a:prstGeom prst="roundRect">
            <a:avLst>
              <a:gd name="adj" fmla="val 10396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596896"/>
            <a:ext cx="365760" cy="36576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2596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471928"/>
            <a:ext cx="987552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tables, hash functions, and what makes one "good"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3243072"/>
            <a:ext cx="10881360" cy="615696"/>
          </a:xfrm>
          <a:prstGeom prst="roundRect">
            <a:avLst>
              <a:gd name="adj" fmla="val 10396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3358896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3358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233928"/>
            <a:ext cx="987552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Collisions, and open vs. closed hashing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4005072"/>
            <a:ext cx="10881360" cy="615696"/>
          </a:xfrm>
          <a:prstGeom prst="roundRect">
            <a:avLst>
              <a:gd name="adj" fmla="val 10396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120896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4120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3995928"/>
            <a:ext cx="987552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chaining, linear probing, and double hashing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40080" y="4767072"/>
            <a:ext cx="10881360" cy="615696"/>
          </a:xfrm>
          <a:prstGeom prst="roundRect">
            <a:avLst>
              <a:gd name="adj" fmla="val 10396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4882896"/>
            <a:ext cx="365760" cy="36576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4882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4757928"/>
            <a:ext cx="987552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Rehashing, worked through with real before/after table sizes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40080" y="5529072"/>
            <a:ext cx="10881360" cy="615696"/>
          </a:xfrm>
          <a:prstGeom prst="roundRect">
            <a:avLst>
              <a:gd name="adj" fmla="val 10396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68680" y="5644896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68680" y="5644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463040" y="5519928"/>
            <a:ext cx="987552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Chaining vs. probing performance, and real applications of hashing</a:t>
            </a:r>
            <a:endParaRPr lang="en-US" sz="1450" dirty="0"/>
          </a:p>
        </p:txBody>
      </p:sp>
      <p:sp>
        <p:nvSpPr>
          <p:cNvPr id="2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FASTEST DATA ACCESS THIS COURSE COVERS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Concept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BST (Unit 5) gets search to O(log n). Hashing asks a bolder question: what if you could compute exactly where a value belongs, and skip comparisons entirely?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834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Key: "apple"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429000" y="3291840"/>
            <a:ext cx="731520" cy="9144"/>
          </a:xfrm>
          <a:prstGeom prst="line">
            <a:avLst/>
          </a:prstGeom>
          <a:noFill/>
          <a:ln w="25400">
            <a:solidFill>
              <a:srgbClr val="8B7FD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206240" y="269748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8B7F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206240" y="26974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Function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452360" y="3291840"/>
            <a:ext cx="731520" cy="9144"/>
          </a:xfrm>
          <a:prstGeom prst="line">
            <a:avLst/>
          </a:prstGeom>
          <a:noFill/>
          <a:ln w="25400">
            <a:solidFill>
              <a:srgbClr val="8B7FD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229600" y="283464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2FE6C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0" y="2834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Index: 5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2062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table[5] = ("apple", value)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66344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hash table stores key-value pairs, using a hash function to convert a key directly into an array index — the same O(1) array indexing from Lecture 4, now applied to arbitrary keys.</a:t>
            </a:r>
            <a:endParaRPr lang="en-US" sz="135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KEY INTO AN INDEX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Function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858000" cy="2011680"/>
          </a:xfrm>
          <a:prstGeom prst="roundRect">
            <a:avLst>
              <a:gd name="adj" fmla="val 3636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77824" y="1801368"/>
            <a:ext cx="6382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hash_table_chaining.cpp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77824" y="2093976"/>
            <a:ext cx="638251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hashFunction(const string&amp; key, int tableSize) {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sum = 0;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(char c : key) sum += c;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sum % tableSize;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931920"/>
            <a:ext cx="68580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40690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hash("apple", 7) =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40690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4531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hash("cherry", 7) =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445312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83717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hash("fig", 7) =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840480" y="483717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522122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hash("grape", 7) =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840480" y="522122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680960" y="1691640"/>
            <a:ext cx="38404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Sums ASCII values of every character, then takes modulo the table size.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hash — easy to understand, but poor in practice.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"cherry", "fig", and "grape" all hash to index 2 — a COLLISION.</a:t>
            </a:r>
            <a:endParaRPr lang="en-US" sz="1300" dirty="0"/>
          </a:p>
        </p:txBody>
      </p:sp>
      <p:sp>
        <p:nvSpPr>
          <p:cNvPr id="1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A COLLISION IS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of a Good Hash Function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38912" cy="438912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2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099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4434840" y="1709928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key always produces the same index.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438912" cy="438912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606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2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5786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compute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2578608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point is speed — a slow hash defeats the purpose.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474720"/>
            <a:ext cx="438912" cy="43891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4747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2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4472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distribution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434840" y="3447288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should spread evenly, not cluster in a few indices.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57200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14181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7091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collision happens when two different keys hash to the same index.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07492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COMMON, not rare — "cherry"/"fig"/"grape" collided at table size 7. A second, independent check confirms it isn’t a fluke: "lemon"/"melon"/"cocoa" all hash to 0 at table size 11, despite sharing no letters and different lengths.</a:t>
            </a:r>
            <a:endParaRPr lang="en-US" sz="1250" dirty="0"/>
          </a:p>
        </p:txBody>
      </p:sp>
      <p:sp>
        <p:nvSpPr>
          <p:cNvPr id="1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SIZE 7: INSERT APPLE, CHERRY, FIG, GRAPE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Collision, Visualized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640080" cy="457200"/>
          </a:xfrm>
          <a:prstGeom prst="roundRect">
            <a:avLst>
              <a:gd name="adj" fmla="val 8000"/>
            </a:avLst>
          </a:prstGeom>
          <a:solidFill>
            <a:srgbClr val="1418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202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1920240"/>
            <a:ext cx="59436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554480" y="19202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(empty)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487168"/>
            <a:ext cx="640080" cy="457200"/>
          </a:xfrm>
          <a:prstGeom prst="roundRect">
            <a:avLst>
              <a:gd name="adj" fmla="val 8000"/>
            </a:avLst>
          </a:prstGeom>
          <a:solidFill>
            <a:srgbClr val="14181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4871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0" y="2487168"/>
            <a:ext cx="59436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554480" y="248716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(empty)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054096"/>
            <a:ext cx="640080" cy="457200"/>
          </a:xfrm>
          <a:prstGeom prst="roundRect">
            <a:avLst>
              <a:gd name="adj" fmla="val 8000"/>
            </a:avLst>
          </a:prstGeom>
          <a:solidFill>
            <a:srgbClr val="14181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05409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371600" y="3054096"/>
            <a:ext cx="5943600" cy="457200"/>
          </a:xfrm>
          <a:prstGeom prst="roundRect">
            <a:avLst>
              <a:gd name="adj" fmla="val 8000"/>
            </a:avLst>
          </a:prstGeom>
          <a:solidFill>
            <a:srgbClr val="FBEEDC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554480" y="305409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cherry → fig → grape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621024"/>
            <a:ext cx="640080" cy="457200"/>
          </a:xfrm>
          <a:prstGeom prst="roundRect">
            <a:avLst>
              <a:gd name="adj" fmla="val 8000"/>
            </a:avLst>
          </a:prstGeom>
          <a:solidFill>
            <a:srgbClr val="14181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62102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371600" y="3621024"/>
            <a:ext cx="59436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554480" y="362102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(empty)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187952"/>
            <a:ext cx="640080" cy="457200"/>
          </a:xfrm>
          <a:prstGeom prst="roundRect">
            <a:avLst>
              <a:gd name="adj" fmla="val 8000"/>
            </a:avLst>
          </a:prstGeom>
          <a:solidFill>
            <a:srgbClr val="14181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418795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371600" y="4187952"/>
            <a:ext cx="59436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554480" y="418795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(empty)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754880"/>
            <a:ext cx="640080" cy="457200"/>
          </a:xfrm>
          <a:prstGeom prst="roundRect">
            <a:avLst>
              <a:gd name="adj" fmla="val 8000"/>
            </a:avLst>
          </a:prstGeom>
          <a:solidFill>
            <a:srgbClr val="14181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4754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371600" y="4754880"/>
            <a:ext cx="59436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554480" y="47548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5321808"/>
            <a:ext cx="640080" cy="457200"/>
          </a:xfrm>
          <a:prstGeom prst="roundRect">
            <a:avLst>
              <a:gd name="adj" fmla="val 8000"/>
            </a:avLst>
          </a:prstGeom>
          <a:solidFill>
            <a:srgbClr val="14181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" y="53218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371600" y="5321808"/>
            <a:ext cx="59436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554480" y="532180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(empty)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452360" y="305409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3-entry chain (collision)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40080" y="608076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68680" y="60807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of seven buckets sit empty while bucket 2 holds a three-entry chain — exactly the "clustering" a good hash function tries to avoid.</a:t>
            </a:r>
            <a:endParaRPr lang="en-US" sz="1300" dirty="0"/>
          </a:p>
        </p:txBody>
      </p:sp>
      <p:sp>
        <p:nvSpPr>
          <p:cNvPr id="3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COLLISIONS WITH A LIST PER BUCKET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Hashing: Separate Chaining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858000" cy="3657600"/>
          </a:xfrm>
          <a:prstGeom prst="roundRect">
            <a:avLst>
              <a:gd name="adj" fmla="val 2000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77824" y="1801368"/>
            <a:ext cx="6382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hash_table_chaining_full.cpp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77824" y="2093976"/>
            <a:ext cx="6382512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insert(const string&amp; key, int value) {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index = hashFunction(key);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table[index].push_back({key, value});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search(const string&amp; key, int&amp; valueOut) {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index = hashFunction(key);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(auto&amp; p : table[index])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(p.first == key) { valueOut = p.second; return true; }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false;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1691640"/>
            <a:ext cx="3840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key that hashes to an index gets appended to that index’s list.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search() still finds a match correctly — it just checks each entry in the bucket instead of one direct step.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"fig": 40 (correctly found despite the collision).</a:t>
            </a:r>
            <a:endParaRPr lang="en-US" sz="13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EVERY ENTRY IN THE ARRAY ITSELF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Hashing: Linear Probing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collision, checks index+1, then index+2, wrapping around, until an empty slot is found.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1463040" cy="548640"/>
          </a:xfrm>
          <a:prstGeom prst="roundRect">
            <a:avLst>
              <a:gd name="adj" fmla="val 6667"/>
            </a:avLst>
          </a:prstGeom>
          <a:solidFill>
            <a:srgbClr val="F7F8F9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377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3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(empty)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94436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03120" y="2377440"/>
            <a:ext cx="1463040" cy="548640"/>
          </a:xfrm>
          <a:prstGeom prst="roundRect">
            <a:avLst>
              <a:gd name="adj" fmla="val 6667"/>
            </a:avLst>
          </a:prstGeom>
          <a:solidFill>
            <a:srgbClr val="F7F8F9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03120" y="2377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3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(empty)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294436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566160" y="2377440"/>
            <a:ext cx="1463040" cy="548640"/>
          </a:xfrm>
          <a:prstGeom prst="roundRect">
            <a:avLst>
              <a:gd name="adj" fmla="val 6667"/>
            </a:avLst>
          </a:prstGeom>
          <a:solidFill>
            <a:srgbClr val="FBEEDC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66160" y="2377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cherry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94436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312724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slot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0" y="2377440"/>
            <a:ext cx="1463040" cy="548640"/>
          </a:xfrm>
          <a:prstGeom prst="roundRect">
            <a:avLst>
              <a:gd name="adj" fmla="val 6667"/>
            </a:avLst>
          </a:prstGeom>
          <a:solidFill>
            <a:srgbClr val="FBEEDC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0" y="2377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294436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12724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probe from home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92240" y="2377440"/>
            <a:ext cx="1463040" cy="548640"/>
          </a:xfrm>
          <a:prstGeom prst="roundRect">
            <a:avLst>
              <a:gd name="adj" fmla="val 6667"/>
            </a:avLst>
          </a:prstGeom>
          <a:solidFill>
            <a:srgbClr val="FBEEDC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92240" y="2377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294436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312724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probes from home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55280" y="2377440"/>
            <a:ext cx="1463040" cy="548640"/>
          </a:xfrm>
          <a:prstGeom prst="roundRect">
            <a:avLst>
              <a:gd name="adj" fmla="val 6667"/>
            </a:avLst>
          </a:prstGeom>
          <a:solidFill>
            <a:srgbClr val="E7F9F5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55280" y="2377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955280" y="294436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7818120" y="312724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slot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418320" y="2377440"/>
            <a:ext cx="1463040" cy="548640"/>
          </a:xfrm>
          <a:prstGeom prst="roundRect">
            <a:avLst>
              <a:gd name="adj" fmla="val 6667"/>
            </a:avLst>
          </a:prstGeom>
          <a:solidFill>
            <a:srgbClr val="F7F8F9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418320" y="2377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3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(empty)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418320" y="294436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297680" y="2240280"/>
            <a:ext cx="1463040" cy="9144"/>
          </a:xfrm>
          <a:prstGeom prst="line">
            <a:avLst/>
          </a:prstGeom>
          <a:noFill/>
          <a:ln w="22225">
            <a:solidFill>
              <a:srgbClr val="8B7FD9"/>
            </a:solidFill>
            <a:prstDash val="dash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760720" y="2240280"/>
            <a:ext cx="1463040" cy="9144"/>
          </a:xfrm>
          <a:prstGeom prst="line">
            <a:avLst/>
          </a:prstGeom>
          <a:noFill/>
          <a:ln w="22225">
            <a:solidFill>
              <a:srgbClr val="8B7FD9"/>
            </a:solidFill>
            <a:prstDash val="dash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40080" y="3611880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68680" y="361188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"cherry", "fig", and "grape" all "want" index 2 — instead of a list, linear probing physically walks forward: "fig" lands at 3 (1 probe), "grape" at 4 (2 probes).</a:t>
            </a:r>
            <a:endParaRPr lang="en-US" sz="1300" dirty="0"/>
          </a:p>
        </p:txBody>
      </p:sp>
      <p:sp>
        <p:nvSpPr>
          <p:cNvPr id="3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IMPLEMENTATION, PLUS TWO ALTERNATIVES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Probing — Code, and Beyond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858000" cy="2103120"/>
          </a:xfrm>
          <a:prstGeom prst="roundRect">
            <a:avLst>
              <a:gd name="adj" fmla="val 3478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77824" y="1801368"/>
            <a:ext cx="6382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hash_table_probing.cpp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77824" y="2093976"/>
            <a:ext cx="638251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index = hashFunction(key);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(occupied[index]) {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index = (index + 1) % tableSize;  // wrap around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keys[index] = key; occupied[index] = true;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402336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160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 probing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5262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index+1², +2², +3² — spreads probes out faster.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0" y="402336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97680" y="4160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hashing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45262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hash function computes the probe step size itself.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680960" y="1691640"/>
            <a:ext cx="38404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probing’s weakness: CLUSTERING — once keys land near each other, new collisions land there too, more often.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 probing and double hashing both address clustering by spreading probes out more.</a:t>
            </a:r>
            <a:endParaRPr lang="en-US" sz="1300" dirty="0"/>
          </a:p>
        </p:txBody>
      </p:sp>
      <p:sp>
        <p:nvSpPr>
          <p:cNvPr id="1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THE TABLE BEFORE LOAD FACTOR GETS TOO HIGH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Rehashing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load factor (entries ÷ table size) exceeds a threshold, a new, larger table is built and every key re-inserted.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57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rehash — size 4, load factor 1.00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457200" cy="347472"/>
          </a:xfrm>
          <a:prstGeom prst="roundRect">
            <a:avLst/>
          </a:prstGeom>
          <a:solidFill>
            <a:srgbClr val="14181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33172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3000" y="2331720"/>
            <a:ext cx="35661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23317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(empty)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743200"/>
            <a:ext cx="457200" cy="347472"/>
          </a:xfrm>
          <a:prstGeom prst="roundRect">
            <a:avLst/>
          </a:prstGeom>
          <a:solidFill>
            <a:srgbClr val="14181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7432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2743200"/>
            <a:ext cx="35661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80160" y="27432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cherry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154680"/>
            <a:ext cx="457200" cy="347472"/>
          </a:xfrm>
          <a:prstGeom prst="roundRect">
            <a:avLst/>
          </a:prstGeom>
          <a:solidFill>
            <a:srgbClr val="14181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1546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43000" y="3154680"/>
            <a:ext cx="35661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80160" y="31546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apple→fig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3566160"/>
            <a:ext cx="457200" cy="347472"/>
          </a:xfrm>
          <a:prstGeom prst="roundRect">
            <a:avLst/>
          </a:prstGeom>
          <a:solidFill>
            <a:srgbClr val="14181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356616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143000" y="3566160"/>
            <a:ext cx="35661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280160" y="35661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0" y="3154680"/>
            <a:ext cx="822960" cy="9144"/>
          </a:xfrm>
          <a:prstGeom prst="line">
            <a:avLst/>
          </a:prstGeom>
          <a:noFill/>
          <a:ln w="31750">
            <a:solidFill>
              <a:srgbClr val="2FE6C4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4846320" y="33832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size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→ 8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126480" y="2057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rehash — size 8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2331720"/>
            <a:ext cx="457200" cy="310896"/>
          </a:xfrm>
          <a:prstGeom prst="roundRect">
            <a:avLst/>
          </a:prstGeom>
          <a:solidFill>
            <a:srgbClr val="14181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26480" y="233172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29400" y="2331720"/>
            <a:ext cx="448056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66560" y="233172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(empty)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26480" y="2697480"/>
            <a:ext cx="457200" cy="310896"/>
          </a:xfrm>
          <a:prstGeom prst="roundRect">
            <a:avLst/>
          </a:prstGeom>
          <a:solidFill>
            <a:srgbClr val="14181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126480" y="269748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629400" y="2697480"/>
            <a:ext cx="448056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766560" y="269748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(empty)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26480" y="3063240"/>
            <a:ext cx="457200" cy="310896"/>
          </a:xfrm>
          <a:prstGeom prst="roundRect">
            <a:avLst/>
          </a:prstGeom>
          <a:solidFill>
            <a:srgbClr val="14181C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126480" y="306324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629400" y="3063240"/>
            <a:ext cx="448056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766560" y="30632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apple→mango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126480" y="3429000"/>
            <a:ext cx="457200" cy="310896"/>
          </a:xfrm>
          <a:prstGeom prst="roundRect">
            <a:avLst/>
          </a:prstGeom>
          <a:solidFill>
            <a:srgbClr val="14181C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126480" y="342900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629400" y="3429000"/>
            <a:ext cx="448056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766560" y="342900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lemon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126480" y="3794760"/>
            <a:ext cx="457200" cy="310896"/>
          </a:xfrm>
          <a:prstGeom prst="roundRect">
            <a:avLst/>
          </a:prstGeom>
          <a:solidFill>
            <a:srgbClr val="14181C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126480" y="37947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629400" y="3794760"/>
            <a:ext cx="448056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766560" y="379476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kiwi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126480" y="4160520"/>
            <a:ext cx="457200" cy="310896"/>
          </a:xfrm>
          <a:prstGeom prst="roundRect">
            <a:avLst/>
          </a:prstGeom>
          <a:solidFill>
            <a:srgbClr val="14181C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126480" y="416052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629400" y="4160520"/>
            <a:ext cx="448056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766560" y="416052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cherry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126480" y="4526280"/>
            <a:ext cx="457200" cy="310896"/>
          </a:xfrm>
          <a:prstGeom prst="roundRect">
            <a:avLst/>
          </a:prstGeom>
          <a:solidFill>
            <a:srgbClr val="14181C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126480" y="452628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629400" y="4526280"/>
            <a:ext cx="448056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766560" y="452628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126480" y="4892040"/>
            <a:ext cx="457200" cy="310896"/>
          </a:xfrm>
          <a:prstGeom prst="roundRect">
            <a:avLst/>
          </a:prstGeom>
          <a:solidFill>
            <a:srgbClr val="14181C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6126480" y="489204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629400" y="4892040"/>
            <a:ext cx="448056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766560" y="48920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grape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40080" y="55321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68680" y="553212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key’s index is recomputed from scratch at the new size — "fig" moved to bucket 6 alone, while "apple" stayed at bucket 2 (later joined by "mango"). Cost amortizes to O(1) per insertion.</a:t>
            </a:r>
            <a:endParaRPr lang="en-US" sz="1250" dirty="0"/>
          </a:p>
        </p:txBody>
      </p:sp>
      <p:sp>
        <p:nvSpPr>
          <p:cNvPr id="5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KEYS, WEAK HASH FUNCTION, THREE LOAD FACTORS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Chaining vs. Probing: Measured Data</a:t>
            </a:r>
            <a:endParaRPr lang="en-US" sz="2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66751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498080" y="1645920"/>
            <a:ext cx="4023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Chaining’s average chain length stays a modest ~3 across all load factors.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probing’s average probe count balloons past 20 and keeps climbing.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Probing is far more sensitive to a poor hash function than chaining is.</a:t>
            </a:r>
            <a:endParaRPr lang="en-US" sz="1250" dirty="0"/>
          </a:p>
        </p:txBody>
      </p:sp>
      <p:sp>
        <p:nvSpPr>
          <p:cNvPr id="6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SHOWS UP EVERY DAY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of Hashing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457200" cy="45720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&amp; maps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3756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dict, JS objects, C++ unordered_map.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18288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1880" y="2103120"/>
            <a:ext cx="457200" cy="45720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118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7432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33756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cache, CPU cache, CDN edge cache — "do I already have this?" in O(1).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8288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5080" y="210312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550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7432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storage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33756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are hashed so the original is never stored in plain text.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69680" y="18288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98280" y="2103120"/>
            <a:ext cx="457200" cy="45720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0982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052560" y="27432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052560" y="333756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if a value has been seen before, O(1) per check.</a:t>
            </a:r>
            <a:endParaRPr lang="en-US" sz="1150" dirty="0"/>
          </a:p>
        </p:txBody>
      </p:sp>
      <p:sp>
        <p:nvSpPr>
          <p:cNvPr id="2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371600" y="704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0972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37286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FE6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07008" y="20116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computes an index directly from a key — O(1) average-case access, at the cost of giving up ordering.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24154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8B7FD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07008" y="28803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collision — two keys hashing to the same index — is common, not rare; every real hash table needs a resolution strategy.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41102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07008" y="37490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chaining stores a list per index; linear probing keeps every entry in the array, searching forward for empty slots.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497890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FE6C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07008" y="46177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Rehashing grows the table and re-inserts everything once the load factor gets too high, keeping O(1) average performance.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584758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8B7FD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07008" y="54864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Chaining tolerates a weak hash function far better than probing does — measured data showed chain length ~3 vs. probes climbing past 20.</a:t>
            </a:r>
            <a:endParaRPr lang="en-US" sz="14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502920" cy="50292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COMPLETE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3258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You’ve Reached the End of CSC211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and Data Structures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10424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started with one question: "how should data be organized?" — and built, in real compiled C++, every major answer to it.</a:t>
            </a:r>
            <a:endParaRPr lang="en-US" sz="1350" dirty="0"/>
          </a:p>
          <a:p>
            <a:pPr marL="203200" indent="-2032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structures that trade access speed against insertion cost; trees that turn search into a logarithmic walk; graphs that model any network of relationships; and now hashing, which sidesteps search entirely with direct computation.</a:t>
            </a:r>
            <a:endParaRPr lang="en-US" sz="1350" dirty="0"/>
          </a:p>
          <a:p>
            <a:pPr marL="203200" indent="-2032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structure here reappears constantly ahead: databases index tables with trees and hash tables, operating systems schedule with queues, compilers parse with trees and stacks.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9436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was never to memorize implementations — it was to build the habit of asking: what does this problem need to do quickly, and which structure gives me that?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CSC211</dc:creator>
  <cp:lastModifiedBy>CSC211</cp:lastModifiedBy>
  <cp:revision>1</cp:revision>
  <dcterms:created xsi:type="dcterms:W3CDTF">2026-09-23T18:54:55Z</dcterms:created>
  <dcterms:modified xsi:type="dcterms:W3CDTF">2026-09-23T18:54:55Z</dcterms:modified>
</cp:coreProperties>
</file>
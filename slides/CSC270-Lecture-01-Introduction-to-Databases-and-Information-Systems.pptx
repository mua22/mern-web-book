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C"/>
        </a:solidFill>
      </p:bgPr>
    </p:bg>
    <p:spTree>
      <p:nvGrpSpPr>
        <p:cNvPr id="1" name=""/>
        <p:cNvGrpSpPr/>
        <p:nvPr/>
      </p:nvGrpSpPr>
      <p:grpSpPr>
        <a:xfrm>
          <a:off x="0" y="0"/>
          <a:ext cx="0" cy="0"/>
          <a:chOff x="0" y="0"/>
          <a:chExt cx="0" cy="0"/>
        </a:xfrm>
      </p:grpSpPr>
      <p:sp>
        <p:nvSpPr>
          <p:cNvPr id="2" name="Text 0"/>
          <p:cNvSpPr txBox="1"/>
          <p:nvPr/>
        </p:nvSpPr>
        <p:spPr>
          <a:xfrm>
            <a:off x="822960" y="2148840"/>
            <a:ext cx="10515600" cy="457200"/>
          </a:xfrm>
          <a:prstGeom prst="rect">
            <a:avLst/>
          </a:prstGeom>
          <a:noFill/>
          <a:ln/>
        </p:spPr>
        <p:txBody>
          <a:bodyPr wrap="square" lIns="0" tIns="0" rIns="0" bIns="0" rtlCol="0" anchor="ctr"/>
          <a:lstStyle/>
          <a:p>
            <a:pPr indent="0" marL="0">
              <a:buNone/>
            </a:pPr>
            <a:r>
              <a:rPr lang="en-US" sz="1600" b="1" spc="300" kern="0" dirty="0">
                <a:solidFill>
                  <a:srgbClr val="2FE6C4"/>
                </a:solidFill>
                <a:latin typeface="Calibri" pitchFamily="34" charset="0"/>
                <a:ea typeface="Calibri" pitchFamily="34" charset="-122"/>
                <a:cs typeface="Calibri" pitchFamily="34" charset="-120"/>
              </a:rPr>
              <a:t>LECTURE 1</a:t>
            </a:r>
            <a:endParaRPr lang="en-US" sz="1600" dirty="0"/>
          </a:p>
        </p:txBody>
      </p:sp>
      <p:sp>
        <p:nvSpPr>
          <p:cNvPr id="3" name="Text 1"/>
          <p:cNvSpPr txBox="1"/>
          <p:nvPr/>
        </p:nvSpPr>
        <p:spPr>
          <a:xfrm>
            <a:off x="822960" y="2606040"/>
            <a:ext cx="10515600" cy="17373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Introduction to Databases and Information Systems</a:t>
            </a:r>
            <a:endParaRPr lang="en-US" sz="4000" dirty="0"/>
          </a:p>
        </p:txBody>
      </p:sp>
      <p:sp>
        <p:nvSpPr>
          <p:cNvPr id="4" name="Text 2"/>
          <p:cNvSpPr txBox="1"/>
          <p:nvPr/>
        </p:nvSpPr>
        <p:spPr>
          <a:xfrm>
            <a:off x="822960" y="4343400"/>
            <a:ext cx="10515600" cy="457200"/>
          </a:xfrm>
          <a:prstGeom prst="rect">
            <a:avLst/>
          </a:prstGeom>
          <a:noFill/>
          <a:ln/>
        </p:spPr>
        <p:txBody>
          <a:bodyPr wrap="square" lIns="0" tIns="0" rIns="0" bIns="0" rtlCol="0" anchor="ctr"/>
          <a:lstStyle/>
          <a:p>
            <a:pPr indent="0" marL="0">
              <a:buNone/>
            </a:pPr>
            <a:r>
              <a:rPr lang="en-US" sz="1800" dirty="0">
                <a:solidFill>
                  <a:srgbClr val="2FE6C4"/>
                </a:solidFill>
                <a:latin typeface="Calibri" pitchFamily="34" charset="0"/>
                <a:ea typeface="Calibri" pitchFamily="34" charset="-122"/>
                <a:cs typeface="Calibri" pitchFamily="34" charset="-120"/>
              </a:rPr>
              <a:t>CSC270 · Database Systems</a:t>
            </a:r>
            <a:endParaRPr lang="en-US" sz="1800" dirty="0"/>
          </a:p>
        </p:txBody>
      </p:sp>
      <p:sp>
        <p:nvSpPr>
          <p:cNvPr id="5" name="Text 3"/>
          <p:cNvSpPr txBox="1"/>
          <p:nvPr/>
        </p:nvSpPr>
        <p:spPr>
          <a:xfrm>
            <a:off x="822960" y="4754880"/>
            <a:ext cx="10515600" cy="365760"/>
          </a:xfrm>
          <a:prstGeom prst="rect">
            <a:avLst/>
          </a:prstGeom>
          <a:noFill/>
          <a:ln/>
        </p:spPr>
        <p:txBody>
          <a:bodyPr wrap="square" lIns="0" tIns="0" rIns="0" bIns="0" rtlCol="0" anchor="ctr"/>
          <a:lstStyle/>
          <a:p>
            <a:pPr indent="0" marL="0">
              <a:buNone/>
            </a:pPr>
            <a:r>
              <a:rPr lang="en-US" sz="1300" dirty="0">
                <a:solidFill>
                  <a:srgbClr val="8A939B"/>
                </a:solidFill>
                <a:latin typeface="Calibri" pitchFamily="34" charset="0"/>
                <a:ea typeface="Calibri" pitchFamily="34" charset="-122"/>
                <a:cs typeface="Calibri" pitchFamily="34" charset="-120"/>
              </a:rPr>
              <a:t>COMSATS University Islamabad, Lahore Campus</a:t>
            </a:r>
            <a:endParaRPr lang="en-US" sz="1300" dirty="0"/>
          </a:p>
        </p:txBody>
      </p:sp>
      <p:sp>
        <p:nvSpPr>
          <p:cNvPr id="6" name="Text 4"/>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In This Lecture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2</a:t>
            </a:r>
            <a:endParaRPr lang="en-US" sz="10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600" dirty="0">
                <a:solidFill>
                  <a:srgbClr val="1F2429"/>
                </a:solidFill>
                <a:latin typeface="Calibri" pitchFamily="34" charset="0"/>
                <a:ea typeface="Calibri" pitchFamily="34" charset="-122"/>
                <a:cs typeface="Calibri" pitchFamily="34" charset="-120"/>
              </a:rPr>
              <a:t>What a database is, and how it differs from an information system built around one</a:t>
            </a:r>
            <a:endParaRPr lang="en-US" sz="1600" dirty="0"/>
          </a:p>
          <a:p>
            <a:pPr marL="342900" indent="-342900">
              <a:spcAft>
                <a:spcPts val="1800"/>
              </a:spcAft>
              <a:buSzPct val="100000"/>
              <a:buChar char="•"/>
            </a:pPr>
            <a:r>
              <a:rPr lang="en-US" sz="1600" dirty="0">
                <a:solidFill>
                  <a:srgbClr val="1F2429"/>
                </a:solidFill>
                <a:latin typeface="Calibri" pitchFamily="34" charset="0"/>
                <a:ea typeface="Calibri" pitchFamily="34" charset="-122"/>
                <a:cs typeface="Calibri" pitchFamily="34" charset="-120"/>
              </a:rPr>
              <a:t>Common categories of database applications you already use</a:t>
            </a:r>
            <a:endParaRPr lang="en-US" sz="1600" dirty="0"/>
          </a:p>
          <a:p>
            <a:pPr marL="342900" indent="-342900">
              <a:spcAft>
                <a:spcPts val="1800"/>
              </a:spcAft>
              <a:buSzPct val="100000"/>
              <a:buChar char="•"/>
            </a:pPr>
            <a:r>
              <a:rPr lang="en-US" sz="1600" dirty="0">
                <a:solidFill>
                  <a:srgbClr val="1F2429"/>
                </a:solidFill>
                <a:latin typeface="Calibri" pitchFamily="34" charset="0"/>
                <a:ea typeface="Calibri" pitchFamily="34" charset="-122"/>
                <a:cs typeface="Calibri" pitchFamily="34" charset="-120"/>
              </a:rPr>
              <a:t>How data management evolved from manual filing to file-based systems to databases</a:t>
            </a:r>
            <a:endParaRPr lang="en-US" sz="1600" dirty="0"/>
          </a:p>
          <a:p>
            <a:pPr marL="342900" indent="-342900">
              <a:spcAft>
                <a:spcPts val="1800"/>
              </a:spcAft>
              <a:buSzPct val="100000"/>
              <a:buChar char="•"/>
            </a:pPr>
            <a:r>
              <a:rPr lang="en-US" sz="1600" dirty="0">
                <a:solidFill>
                  <a:srgbClr val="1F2429"/>
                </a:solidFill>
                <a:latin typeface="Calibri" pitchFamily="34" charset="0"/>
                <a:ea typeface="Calibri" pitchFamily="34" charset="-122"/>
                <a:cs typeface="Calibri" pitchFamily="34" charset="-120"/>
              </a:rPr>
              <a:t>File-based systems: how they worked, and the problems that forced a rethink</a:t>
            </a:r>
            <a:endParaRPr lang="en-US" sz="1600" dirty="0"/>
          </a:p>
          <a:p>
            <a:pPr marL="342900" indent="-342900">
              <a:spcAft>
                <a:spcPts val="1800"/>
              </a:spcAft>
              <a:buSzPct val="100000"/>
              <a:buChar char="•"/>
            </a:pPr>
            <a:r>
              <a:rPr lang="en-US" sz="1600" dirty="0">
                <a:solidFill>
                  <a:srgbClr val="1F2429"/>
                </a:solidFill>
                <a:latin typeface="Calibri" pitchFamily="34" charset="0"/>
                <a:ea typeface="Calibri" pitchFamily="34" charset="-122"/>
                <a:cs typeface="Calibri" pitchFamily="34" charset="-120"/>
              </a:rPr>
              <a:t>The database approach: what changes, concretely, when data is centralized</a:t>
            </a:r>
            <a:endParaRPr lang="en-US" sz="1600" dirty="0"/>
          </a:p>
          <a:p>
            <a:pPr marL="342900" indent="-342900">
              <a:spcAft>
                <a:spcPts val="1800"/>
              </a:spcAft>
              <a:buSzPct val="100000"/>
              <a:buChar char="•"/>
            </a:pPr>
            <a:r>
              <a:rPr lang="en-US" sz="1600" dirty="0">
                <a:solidFill>
                  <a:srgbClr val="1F2429"/>
                </a:solidFill>
                <a:latin typeface="Calibri" pitchFamily="34" charset="0"/>
                <a:ea typeface="Calibri" pitchFamily="34" charset="-122"/>
                <a:cs typeface="Calibri" pitchFamily="34" charset="-120"/>
              </a:rPr>
              <a:t>The advantages a DBMS gives you — and the real costs it imposes in return</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Databases and Information Systems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3</a:t>
            </a:r>
            <a:endParaRPr lang="en-US" sz="1000" dirty="0"/>
          </a:p>
        </p:txBody>
      </p:sp>
      <p:sp>
        <p:nvSpPr>
          <p:cNvPr id="4" name="Text 2"/>
          <p:cNvSpPr txBox="1"/>
          <p:nvPr/>
        </p:nvSpPr>
        <p:spPr>
          <a:xfrm>
            <a:off x="640080" y="1234440"/>
            <a:ext cx="10332720" cy="685800"/>
          </a:xfrm>
          <a:prstGeom prst="rect">
            <a:avLst/>
          </a:prstGeom>
          <a:noFill/>
          <a:ln/>
        </p:spPr>
        <p:txBody>
          <a:bodyPr wrap="square" lIns="0" tIns="0" rIns="0" bIns="0" rtlCol="0" anchor="t"/>
          <a:lstStyle/>
          <a:p>
            <a:pPr indent="0" marL="0">
              <a:buNone/>
            </a:pPr>
            <a:r>
              <a:rPr lang="en-US" sz="1600" dirty="0">
                <a:solidFill>
                  <a:srgbClr val="1F2429"/>
                </a:solidFill>
                <a:latin typeface="Calibri" pitchFamily="34" charset="0"/>
                <a:ea typeface="Calibri" pitchFamily="34" charset="-122"/>
                <a:cs typeface="Calibri" pitchFamily="34" charset="-120"/>
              </a:rPr>
              <a:t>A </a:t>
            </a:r>
            <a:pPr indent="0" marL="0">
              <a:buNone/>
            </a:pPr>
            <a:r>
              <a:rPr lang="en-US" sz="1600" b="1" dirty="0">
                <a:solidFill>
                  <a:srgbClr val="8B7FD9"/>
                </a:solidFill>
                <a:latin typeface="Calibri" pitchFamily="34" charset="0"/>
                <a:ea typeface="Calibri" pitchFamily="34" charset="-122"/>
                <a:cs typeface="Calibri" pitchFamily="34" charset="-120"/>
              </a:rPr>
              <a:t>database</a:t>
            </a:r>
            <a:pPr indent="0" marL="0">
              <a:buNone/>
            </a:pPr>
            <a:r>
              <a:rPr lang="en-US" sz="1600" dirty="0">
                <a:solidFill>
                  <a:srgbClr val="1F2429"/>
                </a:solidFill>
                <a:latin typeface="Calibri" pitchFamily="34" charset="0"/>
                <a:ea typeface="Calibri" pitchFamily="34" charset="-122"/>
                <a:cs typeface="Calibri" pitchFamily="34" charset="-120"/>
              </a:rPr>
              <a:t> is a shared, organized collection of logically related data, designed to meet an organization's information needs.</a:t>
            </a:r>
            <a:endParaRPr lang="en-US" sz="1600" dirty="0"/>
          </a:p>
        </p:txBody>
      </p:sp>
      <p:sp>
        <p:nvSpPr>
          <p:cNvPr id="5" name="Text 3"/>
          <p:cNvSpPr txBox="1"/>
          <p:nvPr/>
        </p:nvSpPr>
        <p:spPr>
          <a:xfrm>
            <a:off x="640080" y="1965960"/>
            <a:ext cx="10332720" cy="155448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1F2429"/>
                </a:solidFill>
                <a:latin typeface="Calibri" pitchFamily="34" charset="0"/>
                <a:ea typeface="Calibri" pitchFamily="34" charset="-122"/>
                <a:cs typeface="Calibri" pitchFamily="34" charset="-120"/>
              </a:rPr>
              <a:t>Shared — many users and programs draw on the same data, not private copies</a:t>
            </a:r>
            <a:endParaRPr lang="en-US" sz="1350" dirty="0"/>
          </a:p>
          <a:p>
            <a:pPr marL="342900" indent="-342900">
              <a:spcAft>
                <a:spcPts val="800"/>
              </a:spcAft>
              <a:buSzPct val="100000"/>
              <a:buChar char="•"/>
            </a:pPr>
            <a:r>
              <a:rPr lang="en-US" sz="1350" dirty="0">
                <a:solidFill>
                  <a:srgbClr val="1F2429"/>
                </a:solidFill>
                <a:latin typeface="Calibri" pitchFamily="34" charset="0"/>
                <a:ea typeface="Calibri" pitchFamily="34" charset="-122"/>
                <a:cs typeface="Calibri" pitchFamily="34" charset="-120"/>
              </a:rPr>
              <a:t>Organized — structured so it can be found, related, and reasoned about</a:t>
            </a:r>
            <a:endParaRPr lang="en-US" sz="1350" dirty="0"/>
          </a:p>
          <a:p>
            <a:pPr marL="342900" indent="-342900">
              <a:spcAft>
                <a:spcPts val="800"/>
              </a:spcAft>
              <a:buSzPct val="100000"/>
              <a:buChar char="•"/>
            </a:pPr>
            <a:r>
              <a:rPr lang="en-US" sz="1350" dirty="0">
                <a:solidFill>
                  <a:srgbClr val="1F2429"/>
                </a:solidFill>
                <a:latin typeface="Calibri" pitchFamily="34" charset="0"/>
                <a:ea typeface="Calibri" pitchFamily="34" charset="-122"/>
                <a:cs typeface="Calibri" pitchFamily="34" charset="-120"/>
              </a:rPr>
              <a:t>Logically related — records about the same real-world entity are known to be connected</a:t>
            </a:r>
            <a:endParaRPr lang="en-US" sz="1350" dirty="0"/>
          </a:p>
        </p:txBody>
      </p:sp>
      <p:sp>
        <p:nvSpPr>
          <p:cNvPr id="6" name="Text 4"/>
          <p:cNvSpPr txBox="1"/>
          <p:nvPr/>
        </p:nvSpPr>
        <p:spPr>
          <a:xfrm>
            <a:off x="640080" y="3703320"/>
            <a:ext cx="10881360" cy="274320"/>
          </a:xfrm>
          <a:prstGeom prst="rect">
            <a:avLst/>
          </a:prstGeom>
          <a:noFill/>
          <a:ln/>
        </p:spPr>
        <p:txBody>
          <a:bodyPr wrap="square" lIns="0" tIns="0" rIns="0" bIns="0" rtlCol="0" anchor="ctr"/>
          <a:lstStyle/>
          <a:p>
            <a:pPr indent="0" marL="0">
              <a:buNone/>
            </a:pPr>
            <a:r>
              <a:rPr lang="en-US" sz="1200" b="1" dirty="0">
                <a:solidFill>
                  <a:srgbClr val="8A939B"/>
                </a:solidFill>
                <a:latin typeface="Calibri" pitchFamily="34" charset="0"/>
                <a:ea typeface="Calibri" pitchFamily="34" charset="-122"/>
                <a:cs typeface="Calibri" pitchFamily="34" charset="-120"/>
              </a:rPr>
              <a:t>From data to an information system</a:t>
            </a:r>
            <a:endParaRPr lang="en-US" sz="1200" dirty="0"/>
          </a:p>
        </p:txBody>
      </p:sp>
      <p:sp>
        <p:nvSpPr>
          <p:cNvPr id="7" name="Shape 5"/>
          <p:cNvSpPr/>
          <p:nvPr/>
        </p:nvSpPr>
        <p:spPr>
          <a:xfrm>
            <a:off x="640080" y="4023360"/>
            <a:ext cx="3352800" cy="1097280"/>
          </a:xfrm>
          <a:prstGeom prst="roundRect">
            <a:avLst>
              <a:gd name="adj" fmla="val 6667"/>
            </a:avLst>
          </a:prstGeom>
          <a:solidFill>
            <a:srgbClr val="2FE6C4"/>
          </a:solidFill>
          <a:ln/>
        </p:spPr>
      </p:sp>
      <p:sp>
        <p:nvSpPr>
          <p:cNvPr id="8" name="Text 6"/>
          <p:cNvSpPr txBox="1"/>
          <p:nvPr/>
        </p:nvSpPr>
        <p:spPr>
          <a:xfrm>
            <a:off x="777240" y="4133088"/>
            <a:ext cx="30784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Database</a:t>
            </a:r>
            <a:endParaRPr lang="en-US" sz="1300" dirty="0"/>
          </a:p>
        </p:txBody>
      </p:sp>
      <p:sp>
        <p:nvSpPr>
          <p:cNvPr id="9" name="Text 7"/>
          <p:cNvSpPr txBox="1"/>
          <p:nvPr/>
        </p:nvSpPr>
        <p:spPr>
          <a:xfrm>
            <a:off x="777240" y="4480560"/>
            <a:ext cx="3078480" cy="54864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Organized, shared, logically related data</a:t>
            </a:r>
            <a:endParaRPr lang="en-US" sz="1000" dirty="0"/>
          </a:p>
        </p:txBody>
      </p:sp>
      <p:sp>
        <p:nvSpPr>
          <p:cNvPr id="10" name="Shape 8"/>
          <p:cNvSpPr/>
          <p:nvPr/>
        </p:nvSpPr>
        <p:spPr>
          <a:xfrm>
            <a:off x="4038600" y="4489704"/>
            <a:ext cx="320040" cy="164592"/>
          </a:xfrm>
          <a:prstGeom prst="rightArrow">
            <a:avLst/>
          </a:prstGeom>
          <a:solidFill>
            <a:srgbClr val="8A939B"/>
          </a:solidFill>
          <a:ln/>
        </p:spPr>
      </p:sp>
      <p:sp>
        <p:nvSpPr>
          <p:cNvPr id="11" name="Shape 9"/>
          <p:cNvSpPr/>
          <p:nvPr/>
        </p:nvSpPr>
        <p:spPr>
          <a:xfrm>
            <a:off x="4404360" y="4023360"/>
            <a:ext cx="3352800" cy="1097280"/>
          </a:xfrm>
          <a:prstGeom prst="roundRect">
            <a:avLst>
              <a:gd name="adj" fmla="val 6667"/>
            </a:avLst>
          </a:prstGeom>
          <a:solidFill>
            <a:srgbClr val="8B7FD9"/>
          </a:solidFill>
          <a:ln/>
        </p:spPr>
      </p:sp>
      <p:sp>
        <p:nvSpPr>
          <p:cNvPr id="12" name="Text 10"/>
          <p:cNvSpPr txBox="1"/>
          <p:nvPr/>
        </p:nvSpPr>
        <p:spPr>
          <a:xfrm>
            <a:off x="4541520" y="4133088"/>
            <a:ext cx="30784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DBMS</a:t>
            </a:r>
            <a:endParaRPr lang="en-US" sz="1300" dirty="0"/>
          </a:p>
        </p:txBody>
      </p:sp>
      <p:sp>
        <p:nvSpPr>
          <p:cNvPr id="13" name="Text 11"/>
          <p:cNvSpPr txBox="1"/>
          <p:nvPr/>
        </p:nvSpPr>
        <p:spPr>
          <a:xfrm>
            <a:off x="4541520" y="4480560"/>
            <a:ext cx="3078480" cy="54864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Software that stores, retrieves, and protects that data</a:t>
            </a:r>
            <a:endParaRPr lang="en-US" sz="1000" dirty="0"/>
          </a:p>
        </p:txBody>
      </p:sp>
      <p:sp>
        <p:nvSpPr>
          <p:cNvPr id="14" name="Shape 12"/>
          <p:cNvSpPr/>
          <p:nvPr/>
        </p:nvSpPr>
        <p:spPr>
          <a:xfrm>
            <a:off x="7802880" y="4489704"/>
            <a:ext cx="320040" cy="164592"/>
          </a:xfrm>
          <a:prstGeom prst="rightArrow">
            <a:avLst/>
          </a:prstGeom>
          <a:solidFill>
            <a:srgbClr val="8A939B"/>
          </a:solidFill>
          <a:ln/>
        </p:spPr>
      </p:sp>
      <p:sp>
        <p:nvSpPr>
          <p:cNvPr id="15" name="Shape 13"/>
          <p:cNvSpPr/>
          <p:nvPr/>
        </p:nvSpPr>
        <p:spPr>
          <a:xfrm>
            <a:off x="8168640" y="4023360"/>
            <a:ext cx="3352800" cy="1097280"/>
          </a:xfrm>
          <a:prstGeom prst="roundRect">
            <a:avLst>
              <a:gd name="adj" fmla="val 6667"/>
            </a:avLst>
          </a:prstGeom>
          <a:solidFill>
            <a:srgbClr val="E8A33D"/>
          </a:solidFill>
          <a:ln/>
        </p:spPr>
      </p:sp>
      <p:sp>
        <p:nvSpPr>
          <p:cNvPr id="16" name="Text 14"/>
          <p:cNvSpPr txBox="1"/>
          <p:nvPr/>
        </p:nvSpPr>
        <p:spPr>
          <a:xfrm>
            <a:off x="8305800" y="4133088"/>
            <a:ext cx="30784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Information System</a:t>
            </a:r>
            <a:endParaRPr lang="en-US" sz="1300" dirty="0"/>
          </a:p>
        </p:txBody>
      </p:sp>
      <p:sp>
        <p:nvSpPr>
          <p:cNvPr id="17" name="Text 15"/>
          <p:cNvSpPr txBox="1"/>
          <p:nvPr/>
        </p:nvSpPr>
        <p:spPr>
          <a:xfrm>
            <a:off x="8305800" y="4480560"/>
            <a:ext cx="3078480" cy="54864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Database + DBMS + applications + people + procedures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Database Applications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3108960"/>
        </p:xfrm>
        <a:graphic>
          <a:graphicData uri="http://schemas.openxmlformats.org/drawingml/2006/table">
            <a:tbl>
              <a:tblPr/>
              <a:tblGrid>
                <a:gridCol w="2377440"/>
                <a:gridCol w="4663440"/>
                <a:gridCol w="3840480"/>
              </a:tblGrid>
              <a:tr h="444137">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Domain</a:t>
                      </a:r>
                      <a:endParaRPr lang="en-US" sz="12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What's stored</a:t>
                      </a:r>
                      <a:endParaRPr lang="en-US" sz="12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r>
              <a:tr h="444137">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Banking</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Accounts, balances, transactions</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Approving a debit card transaction</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444137">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Airlines</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Reservations, schedules, seat maps</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Confirming a seat on flight PK-301</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444137">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University records</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Students, courses, enrollments, grades</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Producing a graduate's transcript</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444137">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Telecom</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Call records, subscriber accounts</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Generating a monthly phone bill</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444137">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Sales / e-commerce</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Products, orders, customers, inventory</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“Only 3 left in stock”</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444137">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Human resources</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Employees, salaries, positions</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250" dirty="0">
                          <a:solidFill>
                            <a:srgbClr val="1F2429"/>
                          </a:solidFill>
                          <a:latin typeface="Calibri" pitchFamily="34" charset="0"/>
                          <a:ea typeface="Calibri" pitchFamily="34" charset="-122"/>
                          <a:cs typeface="Calibri" pitchFamily="34" charset="-120"/>
                        </a:rPr>
                        <a:t>Running monthly payroll</a:t>
                      </a:r>
                      <a:endParaRPr lang="en-US" sz="12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bl>
          </a:graphicData>
        </a:graphic>
      </p:graphicFrame>
      <p:sp>
        <p:nvSpPr>
          <p:cNvPr id="5" name="Shape 2"/>
          <p:cNvSpPr/>
          <p:nvPr/>
        </p:nvSpPr>
        <p:spPr>
          <a:xfrm>
            <a:off x="640080" y="4617720"/>
            <a:ext cx="10881360" cy="1417320"/>
          </a:xfrm>
          <a:prstGeom prst="roundRect">
            <a:avLst>
              <a:gd name="adj" fmla="val 5161"/>
            </a:avLst>
          </a:prstGeom>
          <a:solidFill>
            <a:srgbClr val="F7F8F9"/>
          </a:solidFill>
          <a:ln w="12700">
            <a:solidFill>
              <a:srgbClr val="E8A33D"/>
            </a:solidFill>
            <a:prstDash val="solid"/>
          </a:ln>
        </p:spPr>
      </p:sp>
      <p:sp>
        <p:nvSpPr>
          <p:cNvPr id="6" name="Text 3"/>
          <p:cNvSpPr txBox="1"/>
          <p:nvPr/>
        </p:nvSpPr>
        <p:spPr>
          <a:xfrm>
            <a:off x="868680" y="4754880"/>
            <a:ext cx="10424160" cy="1143000"/>
          </a:xfrm>
          <a:prstGeom prst="rect">
            <a:avLst/>
          </a:prstGeom>
          <a:noFill/>
          <a:ln/>
        </p:spPr>
        <p:txBody>
          <a:bodyPr wrap="square" lIns="0" tIns="0" rIns="0" bIns="0" rtlCol="0" anchor="t"/>
          <a:lstStyle/>
          <a:p>
            <a:pPr indent="0" marL="0">
              <a:buNone/>
            </a:pPr>
            <a:r>
              <a:rPr lang="en-US" sz="1250" b="1" dirty="0">
                <a:solidFill>
                  <a:srgbClr val="1F2429"/>
                </a:solidFill>
                <a:latin typeface="Calibri" pitchFamily="34" charset="0"/>
                <a:ea typeface="Calibri" pitchFamily="34" charset="-122"/>
                <a:cs typeface="Calibri" pitchFamily="34" charset="-120"/>
              </a:rPr>
              <a:t>A quick test: is this really a database problem?  </a:t>
            </a:r>
            <a:pPr indent="0" marL="0">
              <a:buNone/>
            </a:pPr>
            <a:r>
              <a:rPr lang="en-US" sz="1250" dirty="0">
                <a:solidFill>
                  <a:srgbClr val="1F2429"/>
                </a:solidFill>
                <a:latin typeface="Calibri" pitchFamily="34" charset="0"/>
                <a:ea typeface="Calibri" pitchFamily="34" charset="-122"/>
                <a:cs typeface="Calibri" pitchFamily="34" charset="-120"/>
              </a:rPr>
              <a:t>If the data must be shared by more than one person or program, stay accurate under concurrent access, and survive a crash without loss — it belongs in a database, not a private file.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Evolution of Data Management</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5</a:t>
            </a:r>
            <a:endParaRPr lang="en-US" sz="1000" dirty="0"/>
          </a:p>
        </p:txBody>
      </p:sp>
      <p:sp>
        <p:nvSpPr>
          <p:cNvPr id="4" name="Text 2"/>
          <p:cNvSpPr txBox="1"/>
          <p:nvPr/>
        </p:nvSpPr>
        <p:spPr>
          <a:xfrm>
            <a:off x="640080" y="1188720"/>
            <a:ext cx="10332720" cy="457200"/>
          </a:xfrm>
          <a:prstGeom prst="rect">
            <a:avLst/>
          </a:prstGeom>
          <a:noFill/>
          <a:ln/>
        </p:spPr>
        <p:txBody>
          <a:bodyPr wrap="square" lIns="0" tIns="0" rIns="0" bIns="0" rtlCol="0" anchor="ctr"/>
          <a:lstStyle/>
          <a:p>
            <a:pPr indent="0" marL="0">
              <a:buNone/>
            </a:pPr>
            <a:r>
              <a:rPr lang="en-US" sz="1400" dirty="0">
                <a:solidFill>
                  <a:srgbClr val="1F2429"/>
                </a:solidFill>
                <a:latin typeface="Calibri" pitchFamily="34" charset="0"/>
                <a:ea typeface="Calibri" pitchFamily="34" charset="-122"/>
                <a:cs typeface="Calibri" pitchFamily="34" charset="-120"/>
              </a:rPr>
              <a:t>Data management evolved in stages, each responding to the weaknesses of the one before it.</a:t>
            </a:r>
            <a:endParaRPr lang="en-US" sz="1400" dirty="0"/>
          </a:p>
        </p:txBody>
      </p:sp>
      <p:sp>
        <p:nvSpPr>
          <p:cNvPr id="5" name="Shape 3"/>
          <p:cNvSpPr/>
          <p:nvPr/>
        </p:nvSpPr>
        <p:spPr>
          <a:xfrm>
            <a:off x="822960" y="1828800"/>
            <a:ext cx="10515600" cy="1249680"/>
          </a:xfrm>
          <a:prstGeom prst="roundRect">
            <a:avLst>
              <a:gd name="adj" fmla="val 5854"/>
            </a:avLst>
          </a:prstGeom>
          <a:solidFill>
            <a:srgbClr val="2FE6C4"/>
          </a:solidFill>
          <a:ln/>
        </p:spPr>
      </p:sp>
      <p:sp>
        <p:nvSpPr>
          <p:cNvPr id="6" name="Text 4"/>
          <p:cNvSpPr txBox="1"/>
          <p:nvPr/>
        </p:nvSpPr>
        <p:spPr>
          <a:xfrm>
            <a:off x="1051560" y="1901952"/>
            <a:ext cx="1005840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Manual / paper filing</a:t>
            </a:r>
            <a:endParaRPr lang="en-US" sz="1400" dirty="0"/>
          </a:p>
        </p:txBody>
      </p:sp>
      <p:sp>
        <p:nvSpPr>
          <p:cNvPr id="7" name="Text 5"/>
          <p:cNvSpPr txBox="1"/>
          <p:nvPr/>
        </p:nvSpPr>
        <p:spPr>
          <a:xfrm>
            <a:off x="1051560" y="2157984"/>
            <a:ext cx="10058400" cy="86563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Ledgers, index cards, filing cabinets — slow, error-prone, one copy</a:t>
            </a:r>
            <a:endParaRPr lang="en-US" sz="1050" dirty="0"/>
          </a:p>
        </p:txBody>
      </p:sp>
      <p:sp>
        <p:nvSpPr>
          <p:cNvPr id="8" name="Shape 6"/>
          <p:cNvSpPr/>
          <p:nvPr/>
        </p:nvSpPr>
        <p:spPr>
          <a:xfrm rot="5400000">
            <a:off x="6007608" y="3085338"/>
            <a:ext cx="146304" cy="123444"/>
          </a:xfrm>
          <a:prstGeom prst="rightArrow">
            <a:avLst/>
          </a:prstGeom>
          <a:solidFill>
            <a:srgbClr val="8A939B"/>
          </a:solidFill>
          <a:ln/>
        </p:spPr>
      </p:sp>
      <p:sp>
        <p:nvSpPr>
          <p:cNvPr id="9" name="Shape 7"/>
          <p:cNvSpPr/>
          <p:nvPr/>
        </p:nvSpPr>
        <p:spPr>
          <a:xfrm>
            <a:off x="822960" y="3215640"/>
            <a:ext cx="10515600" cy="1249680"/>
          </a:xfrm>
          <a:prstGeom prst="roundRect">
            <a:avLst>
              <a:gd name="adj" fmla="val 5854"/>
            </a:avLst>
          </a:prstGeom>
          <a:solidFill>
            <a:srgbClr val="8B7FD9"/>
          </a:solidFill>
          <a:ln/>
        </p:spPr>
      </p:sp>
      <p:sp>
        <p:nvSpPr>
          <p:cNvPr id="10" name="Text 8"/>
          <p:cNvSpPr txBox="1"/>
          <p:nvPr/>
        </p:nvSpPr>
        <p:spPr>
          <a:xfrm>
            <a:off x="1051560" y="3288792"/>
            <a:ext cx="1005840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File-based systems</a:t>
            </a:r>
            <a:endParaRPr lang="en-US" sz="1400" dirty="0"/>
          </a:p>
        </p:txBody>
      </p:sp>
      <p:sp>
        <p:nvSpPr>
          <p:cNvPr id="11" name="Text 9"/>
          <p:cNvSpPr txBox="1"/>
          <p:nvPr/>
        </p:nvSpPr>
        <p:spPr>
          <a:xfrm>
            <a:off x="1051560" y="3544824"/>
            <a:ext cx="10058400" cy="86563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Each application owns its own files; no coordination between them</a:t>
            </a:r>
            <a:endParaRPr lang="en-US" sz="1050" dirty="0"/>
          </a:p>
        </p:txBody>
      </p:sp>
      <p:sp>
        <p:nvSpPr>
          <p:cNvPr id="12" name="Shape 10"/>
          <p:cNvSpPr/>
          <p:nvPr/>
        </p:nvSpPr>
        <p:spPr>
          <a:xfrm rot="5400000">
            <a:off x="6007608" y="4472178"/>
            <a:ext cx="146304" cy="123444"/>
          </a:xfrm>
          <a:prstGeom prst="rightArrow">
            <a:avLst/>
          </a:prstGeom>
          <a:solidFill>
            <a:srgbClr val="8A939B"/>
          </a:solidFill>
          <a:ln/>
        </p:spPr>
      </p:sp>
      <p:sp>
        <p:nvSpPr>
          <p:cNvPr id="13" name="Shape 11"/>
          <p:cNvSpPr/>
          <p:nvPr/>
        </p:nvSpPr>
        <p:spPr>
          <a:xfrm>
            <a:off x="822960" y="4602480"/>
            <a:ext cx="10515600" cy="1249680"/>
          </a:xfrm>
          <a:prstGeom prst="roundRect">
            <a:avLst>
              <a:gd name="adj" fmla="val 5854"/>
            </a:avLst>
          </a:prstGeom>
          <a:solidFill>
            <a:srgbClr val="E8A33D"/>
          </a:solidFill>
          <a:ln/>
        </p:spPr>
      </p:sp>
      <p:sp>
        <p:nvSpPr>
          <p:cNvPr id="14" name="Text 12"/>
          <p:cNvSpPr txBox="1"/>
          <p:nvPr/>
        </p:nvSpPr>
        <p:spPr>
          <a:xfrm>
            <a:off x="1051560" y="4675632"/>
            <a:ext cx="1005840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Database approach (DBMS)</a:t>
            </a:r>
            <a:endParaRPr lang="en-US" sz="1400" dirty="0"/>
          </a:p>
        </p:txBody>
      </p:sp>
      <p:sp>
        <p:nvSpPr>
          <p:cNvPr id="15" name="Text 13"/>
          <p:cNvSpPr txBox="1"/>
          <p:nvPr/>
        </p:nvSpPr>
        <p:spPr>
          <a:xfrm>
            <a:off x="1051560" y="4931664"/>
            <a:ext cx="10058400" cy="86563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One managed, shared collection of data serving every application</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File-Based Systems: A University Before Databases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6</a:t>
            </a:r>
            <a:endParaRPr lang="en-US" sz="1000" dirty="0"/>
          </a:p>
        </p:txBody>
      </p:sp>
      <p:sp>
        <p:nvSpPr>
          <p:cNvPr id="4" name="Text 2"/>
          <p:cNvSpPr txBox="1"/>
          <p:nvPr/>
        </p:nvSpPr>
        <p:spPr>
          <a:xfrm>
            <a:off x="640080" y="1188720"/>
            <a:ext cx="10332720" cy="457200"/>
          </a:xfrm>
          <a:prstGeom prst="rect">
            <a:avLst/>
          </a:prstGeom>
          <a:noFill/>
          <a:ln/>
        </p:spPr>
        <p:txBody>
          <a:bodyPr wrap="square" lIns="0" tIns="0" rIns="0" bIns="0" rtlCol="0" anchor="ctr"/>
          <a:lstStyle/>
          <a:p>
            <a:pPr indent="0" marL="0">
              <a:buNone/>
            </a:pPr>
            <a:r>
              <a:rPr lang="en-US" sz="1400" dirty="0">
                <a:solidFill>
                  <a:srgbClr val="1F2429"/>
                </a:solidFill>
                <a:latin typeface="Calibri" pitchFamily="34" charset="0"/>
                <a:ea typeface="Calibri" pitchFamily="34" charset="-122"/>
                <a:cs typeface="Calibri" pitchFamily="34" charset="-120"/>
              </a:rPr>
              <a:t>Suppose COMSATS ran three separate offices, each with its own file-based system, all needing student data:</a:t>
            </a:r>
            <a:endParaRPr lang="en-US" sz="1400" dirty="0"/>
          </a:p>
        </p:txBody>
      </p:sp>
      <p:sp>
        <p:nvSpPr>
          <p:cNvPr id="5" name="Shape 3"/>
          <p:cNvSpPr/>
          <p:nvPr/>
        </p:nvSpPr>
        <p:spPr>
          <a:xfrm>
            <a:off x="640080" y="1783080"/>
            <a:ext cx="3474720" cy="1554480"/>
          </a:xfrm>
          <a:prstGeom prst="roundRect">
            <a:avLst>
              <a:gd name="adj" fmla="val 4706"/>
            </a:avLst>
          </a:prstGeom>
          <a:solidFill>
            <a:srgbClr val="2FE6C4"/>
          </a:solidFill>
          <a:ln/>
        </p:spPr>
      </p:sp>
      <p:sp>
        <p:nvSpPr>
          <p:cNvPr id="6" name="Text 4"/>
          <p:cNvSpPr txBox="1"/>
          <p:nvPr/>
        </p:nvSpPr>
        <p:spPr>
          <a:xfrm>
            <a:off x="822960" y="1911096"/>
            <a:ext cx="3108960" cy="3200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Registrar's file</a:t>
            </a:r>
            <a:endParaRPr lang="en-US" sz="1350" dirty="0"/>
          </a:p>
        </p:txBody>
      </p:sp>
      <p:sp>
        <p:nvSpPr>
          <p:cNvPr id="7" name="Text 5"/>
          <p:cNvSpPr txBox="1"/>
          <p:nvPr/>
        </p:nvSpPr>
        <p:spPr>
          <a:xfrm>
            <a:off x="822960" y="2258568"/>
            <a:ext cx="3108960" cy="9875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RegNo, Name, CNIC, Address, Program</a:t>
            </a:r>
            <a:endParaRPr lang="en-US" sz="1050" dirty="0"/>
          </a:p>
        </p:txBody>
      </p:sp>
      <p:sp>
        <p:nvSpPr>
          <p:cNvPr id="8" name="Shape 6"/>
          <p:cNvSpPr/>
          <p:nvPr/>
        </p:nvSpPr>
        <p:spPr>
          <a:xfrm>
            <a:off x="4343400" y="1783080"/>
            <a:ext cx="3474720" cy="1554480"/>
          </a:xfrm>
          <a:prstGeom prst="roundRect">
            <a:avLst>
              <a:gd name="adj" fmla="val 4706"/>
            </a:avLst>
          </a:prstGeom>
          <a:solidFill>
            <a:srgbClr val="8B7FD9"/>
          </a:solidFill>
          <a:ln/>
        </p:spPr>
      </p:sp>
      <p:sp>
        <p:nvSpPr>
          <p:cNvPr id="9" name="Text 7"/>
          <p:cNvSpPr txBox="1"/>
          <p:nvPr/>
        </p:nvSpPr>
        <p:spPr>
          <a:xfrm>
            <a:off x="4526280" y="1911096"/>
            <a:ext cx="3108960" cy="3200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Library's file</a:t>
            </a:r>
            <a:endParaRPr lang="en-US" sz="1350" dirty="0"/>
          </a:p>
        </p:txBody>
      </p:sp>
      <p:sp>
        <p:nvSpPr>
          <p:cNvPr id="10" name="Text 8"/>
          <p:cNvSpPr txBox="1"/>
          <p:nvPr/>
        </p:nvSpPr>
        <p:spPr>
          <a:xfrm>
            <a:off x="4526280" y="2258568"/>
            <a:ext cx="3108960" cy="9875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RegNo, Name, Address, BooksIssued</a:t>
            </a:r>
            <a:endParaRPr lang="en-US" sz="1050" dirty="0"/>
          </a:p>
        </p:txBody>
      </p:sp>
      <p:sp>
        <p:nvSpPr>
          <p:cNvPr id="11" name="Shape 9"/>
          <p:cNvSpPr/>
          <p:nvPr/>
        </p:nvSpPr>
        <p:spPr>
          <a:xfrm>
            <a:off x="8046720" y="1783080"/>
            <a:ext cx="3474720" cy="1554480"/>
          </a:xfrm>
          <a:prstGeom prst="roundRect">
            <a:avLst>
              <a:gd name="adj" fmla="val 4706"/>
            </a:avLst>
          </a:prstGeom>
          <a:solidFill>
            <a:srgbClr val="E8A33D"/>
          </a:solidFill>
          <a:ln/>
        </p:spPr>
      </p:sp>
      <p:sp>
        <p:nvSpPr>
          <p:cNvPr id="12" name="Text 10"/>
          <p:cNvSpPr txBox="1"/>
          <p:nvPr/>
        </p:nvSpPr>
        <p:spPr>
          <a:xfrm>
            <a:off x="8229600" y="1911096"/>
            <a:ext cx="3108960" cy="3200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Finance office's file</a:t>
            </a:r>
            <a:endParaRPr lang="en-US" sz="1350" dirty="0"/>
          </a:p>
        </p:txBody>
      </p:sp>
      <p:sp>
        <p:nvSpPr>
          <p:cNvPr id="13" name="Text 11"/>
          <p:cNvSpPr txBox="1"/>
          <p:nvPr/>
        </p:nvSpPr>
        <p:spPr>
          <a:xfrm>
            <a:off x="8229600" y="2258568"/>
            <a:ext cx="3108960" cy="9875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RegNo, Name, Address, FeeBalance</a:t>
            </a:r>
            <a:endParaRPr lang="en-US" sz="1050" dirty="0"/>
          </a:p>
        </p:txBody>
      </p:sp>
      <p:sp>
        <p:nvSpPr>
          <p:cNvPr id="14" name="Shape 12"/>
          <p:cNvSpPr/>
          <p:nvPr/>
        </p:nvSpPr>
        <p:spPr>
          <a:xfrm>
            <a:off x="640080" y="3520440"/>
            <a:ext cx="10881360" cy="868680"/>
          </a:xfrm>
          <a:prstGeom prst="roundRect">
            <a:avLst>
              <a:gd name="adj" fmla="val 8421"/>
            </a:avLst>
          </a:prstGeom>
          <a:solidFill>
            <a:srgbClr val="FBEEDD"/>
          </a:solidFill>
          <a:ln w="12700">
            <a:solidFill>
              <a:srgbClr val="E8A33D"/>
            </a:solidFill>
            <a:prstDash val="solid"/>
          </a:ln>
        </p:spPr>
      </p:sp>
      <p:sp>
        <p:nvSpPr>
          <p:cNvPr id="15" name="Text 13"/>
          <p:cNvSpPr txBox="1"/>
          <p:nvPr/>
        </p:nvSpPr>
        <p:spPr>
          <a:xfrm>
            <a:off x="868680" y="3639312"/>
            <a:ext cx="10424160" cy="685800"/>
          </a:xfrm>
          <a:prstGeom prst="rect">
            <a:avLst/>
          </a:prstGeom>
          <a:noFill/>
          <a:ln/>
        </p:spPr>
        <p:txBody>
          <a:bodyPr wrap="square" lIns="0" tIns="0" rIns="0" bIns="0" rtlCol="0" anchor="t"/>
          <a:lstStyle/>
          <a:p>
            <a:pPr indent="0" marL="0">
              <a:buNone/>
            </a:pPr>
            <a:r>
              <a:rPr lang="en-US" sz="1300" b="1" dirty="0">
                <a:solidFill>
                  <a:srgbClr val="1F2429"/>
                </a:solidFill>
                <a:latin typeface="Calibri" pitchFamily="34" charset="0"/>
                <a:ea typeface="Calibri" pitchFamily="34" charset="-122"/>
                <a:cs typeface="Calibri" pitchFamily="34" charset="-120"/>
              </a:rPr>
              <a:t>Name and Address are stored three separate times</a:t>
            </a:r>
            <a:pPr indent="0" marL="0">
              <a:buNone/>
            </a:pPr>
            <a:r>
              <a:rPr lang="en-US" sz="1300" dirty="0">
                <a:solidFill>
                  <a:srgbClr val="1F2429"/>
                </a:solidFill>
                <a:latin typeface="Calibri" pitchFamily="34" charset="0"/>
                <a:ea typeface="Calibri" pitchFamily="34" charset="-122"/>
                <a:cs typeface="Calibri" pitchFamily="34" charset="-120"/>
              </a:rPr>
              <a:t> — once per office, each written by its own program. That single decision is the root of almost every problem file-based systems became known for.</a:t>
            </a:r>
            <a:endParaRPr lang="en-US" sz="1300" dirty="0"/>
          </a:p>
        </p:txBody>
      </p:sp>
      <p:sp>
        <p:nvSpPr>
          <p:cNvPr id="16" name="Text 14"/>
          <p:cNvSpPr txBox="1"/>
          <p:nvPr/>
        </p:nvSpPr>
        <p:spPr>
          <a:xfrm>
            <a:off x="640080" y="4572000"/>
            <a:ext cx="10881360" cy="18288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F2429"/>
                </a:solidFill>
                <a:latin typeface="Calibri" pitchFamily="34" charset="0"/>
                <a:ea typeface="Calibri" pitchFamily="34" charset="-122"/>
                <a:cs typeface="Calibri" pitchFamily="34" charset="-120"/>
              </a:rPr>
              <a:t>Data redundancy — the same facts duplicated across every file that needs them</a:t>
            </a:r>
            <a:endParaRPr lang="en-US" sz="1250" dirty="0"/>
          </a:p>
          <a:p>
            <a:pPr marL="342900" indent="-342900">
              <a:spcAft>
                <a:spcPts val="600"/>
              </a:spcAft>
              <a:buSzPct val="100000"/>
              <a:buChar char="•"/>
            </a:pPr>
            <a:r>
              <a:rPr lang="en-US" sz="1250" dirty="0">
                <a:solidFill>
                  <a:srgbClr val="1F2429"/>
                </a:solidFill>
                <a:latin typeface="Calibri" pitchFamily="34" charset="0"/>
                <a:ea typeface="Calibri" pitchFamily="34" charset="-122"/>
                <a:cs typeface="Calibri" pitchFamily="34" charset="-120"/>
              </a:rPr>
              <a:t>Data inconsistency — independent copies drift apart with no way to tell which is current</a:t>
            </a:r>
            <a:endParaRPr lang="en-US" sz="1250" dirty="0"/>
          </a:p>
          <a:p>
            <a:pPr marL="342900" indent="-342900">
              <a:spcAft>
                <a:spcPts val="600"/>
              </a:spcAft>
              <a:buSzPct val="100000"/>
              <a:buChar char="•"/>
            </a:pPr>
            <a:r>
              <a:rPr lang="en-US" sz="1250" dirty="0">
                <a:solidFill>
                  <a:srgbClr val="1F2429"/>
                </a:solidFill>
                <a:latin typeface="Calibri" pitchFamily="34" charset="0"/>
                <a:ea typeface="Calibri" pitchFamily="34" charset="-122"/>
                <a:cs typeface="Calibri" pitchFamily="34" charset="-120"/>
              </a:rPr>
              <a:t>Poor data sharing — files were never designed to talk to each other</a:t>
            </a:r>
            <a:endParaRPr lang="en-US" sz="1250" dirty="0"/>
          </a:p>
          <a:p>
            <a:pPr marL="342900" indent="-342900">
              <a:spcAft>
                <a:spcPts val="600"/>
              </a:spcAft>
              <a:buSzPct val="100000"/>
              <a:buChar char="•"/>
            </a:pPr>
            <a:r>
              <a:rPr lang="en-US" sz="1250" dirty="0">
                <a:solidFill>
                  <a:srgbClr val="1F2429"/>
                </a:solidFill>
                <a:latin typeface="Calibri" pitchFamily="34" charset="0"/>
                <a:ea typeface="Calibri" pitchFamily="34" charset="-122"/>
                <a:cs typeface="Calibri" pitchFamily="34" charset="-120"/>
              </a:rPr>
              <a:t>Program-data dependence — physical file layout is hard-coded into each program</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File-Based Systems: Why It Broke Down</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7</a:t>
            </a:r>
            <a:endParaRPr lang="en-US" sz="1000" dirty="0"/>
          </a:p>
        </p:txBody>
      </p:sp>
      <p:sp>
        <p:nvSpPr>
          <p:cNvPr id="4" name="Text 2"/>
          <p:cNvSpPr txBox="1"/>
          <p:nvPr/>
        </p:nvSpPr>
        <p:spPr>
          <a:xfrm>
            <a:off x="640080" y="1280160"/>
            <a:ext cx="10881360" cy="1920240"/>
          </a:xfrm>
          <a:prstGeom prst="rect">
            <a:avLst/>
          </a:prstGeom>
          <a:noFill/>
          <a:ln/>
        </p:spPr>
        <p:txBody>
          <a:bodyPr wrap="square" lIns="0" tIns="0" rIns="0" bIns="0" rtlCol="0" anchor="t"/>
          <a:lstStyle/>
          <a:p>
            <a:pPr marL="342900" indent="-342900">
              <a:spcAft>
                <a:spcPts val="1400"/>
              </a:spcAft>
              <a:buSzPct val="100000"/>
              <a:buChar char="•"/>
            </a:pPr>
            <a:r>
              <a:rPr lang="en-US" sz="1450" dirty="0">
                <a:solidFill>
                  <a:srgbClr val="1F2429"/>
                </a:solidFill>
                <a:latin typeface="Calibri" pitchFamily="34" charset="0"/>
                <a:ea typeface="Calibri" pitchFamily="34" charset="-122"/>
                <a:cs typeface="Calibri" pitchFamily="34" charset="-120"/>
              </a:rPr>
              <a:t>Limited sharing, unanticipated queries — “students who owe a library fine AND a tuition balance” spans two incompatible files; answering it means writing a brand-new program</a:t>
            </a:r>
            <a:endParaRPr lang="en-US" sz="1450" dirty="0"/>
          </a:p>
          <a:p>
            <a:pPr marL="342900" indent="-342900">
              <a:spcAft>
                <a:spcPts val="1400"/>
              </a:spcAft>
              <a:buSzPct val="100000"/>
              <a:buChar char="•"/>
            </a:pPr>
            <a:r>
              <a:rPr lang="en-US" sz="1450" dirty="0">
                <a:solidFill>
                  <a:srgbClr val="1F2429"/>
                </a:solidFill>
                <a:latin typeface="Calibri" pitchFamily="34" charset="0"/>
                <a:ea typeface="Calibri" pitchFamily="34" charset="-122"/>
                <a:cs typeface="Calibri" pitchFamily="34" charset="-120"/>
              </a:rPr>
              <a:t>Integrity and security are hard to enforce consistently — each program enforces its own rules (or doesn't); there's no single place to say “a fee balance can never be negative”</a:t>
            </a:r>
            <a:endParaRPr lang="en-US" sz="1450" dirty="0"/>
          </a:p>
        </p:txBody>
      </p:sp>
      <p:sp>
        <p:nvSpPr>
          <p:cNvPr id="5" name="Shape 3"/>
          <p:cNvSpPr/>
          <p:nvPr/>
        </p:nvSpPr>
        <p:spPr>
          <a:xfrm>
            <a:off x="640080" y="3383280"/>
            <a:ext cx="10881360" cy="2651760"/>
          </a:xfrm>
          <a:prstGeom prst="roundRect">
            <a:avLst>
              <a:gd name="adj" fmla="val 3448"/>
            </a:avLst>
          </a:prstGeom>
          <a:solidFill>
            <a:srgbClr val="14181C"/>
          </a:solidFill>
          <a:ln/>
        </p:spPr>
      </p:sp>
      <p:sp>
        <p:nvSpPr>
          <p:cNvPr id="6" name="Text 4"/>
          <p:cNvSpPr txBox="1"/>
          <p:nvPr/>
        </p:nvSpPr>
        <p:spPr>
          <a:xfrm>
            <a:off x="914400" y="3611880"/>
            <a:ext cx="10332720" cy="457200"/>
          </a:xfrm>
          <a:prstGeom prst="rect">
            <a:avLst/>
          </a:prstGeom>
          <a:noFill/>
          <a:ln/>
        </p:spPr>
        <p:txBody>
          <a:bodyPr wrap="square" lIns="0" tIns="0" rIns="0" bIns="0" rtlCol="0" anchor="ctr"/>
          <a:lstStyle/>
          <a:p>
            <a:pPr indent="0" marL="0">
              <a:buNone/>
            </a:pPr>
            <a:r>
              <a:rPr lang="en-US" sz="1600" b="1" dirty="0">
                <a:solidFill>
                  <a:srgbClr val="E8A33D"/>
                </a:solidFill>
                <a:latin typeface="Calibri" pitchFamily="34" charset="0"/>
                <a:ea typeface="Calibri" pitchFamily="34" charset="-122"/>
                <a:cs typeface="Calibri" pitchFamily="34" charset="-120"/>
              </a:rPr>
              <a:t>Inconsistency is the most dangerous failure mode — not the most obvious one</a:t>
            </a:r>
            <a:endParaRPr lang="en-US" sz="1600" dirty="0"/>
          </a:p>
        </p:txBody>
      </p:sp>
      <p:sp>
        <p:nvSpPr>
          <p:cNvPr id="7" name="Text 5"/>
          <p:cNvSpPr txBox="1"/>
          <p:nvPr/>
        </p:nvSpPr>
        <p:spPr>
          <a:xfrm>
            <a:off x="914400" y="4114800"/>
            <a:ext cx="10332720" cy="1737360"/>
          </a:xfrm>
          <a:prstGeom prst="rect">
            <a:avLst/>
          </a:prstGeom>
          <a:noFill/>
          <a:ln/>
        </p:spPr>
        <p:txBody>
          <a:bodyPr wrap="square" lIns="0" tIns="0" rIns="0" bIns="0" rtlCol="0" anchor="t"/>
          <a:lstStyle/>
          <a:p>
            <a:pPr indent="0" marL="0">
              <a:lnSpc>
                <a:spcPct val="125000"/>
              </a:lnSpc>
              <a:buNone/>
            </a:pPr>
            <a:r>
              <a:rPr lang="en-US" sz="1450" dirty="0">
                <a:solidFill>
                  <a:srgbClr val="FFFFFF"/>
                </a:solidFill>
                <a:latin typeface="Calibri" pitchFamily="34" charset="0"/>
                <a:ea typeface="Calibri" pitchFamily="34" charset="-122"/>
                <a:cs typeface="Calibri" pitchFamily="34" charset="-120"/>
              </a:rPr>
              <a:t>Wasted storage from redundancy is a cost you can measure and budget for. Inconsistency is worse precisely because it's invisible until it causes damage — a graduating student blocked from receiving their transcript because the finance office's stale copy of their fee balance still shows an unpaid amount that was actually settled weeks earlier, according to the registrar's copy.</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The Database Approach</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8</a:t>
            </a:r>
            <a:endParaRPr lang="en-US" sz="1000" dirty="0"/>
          </a:p>
        </p:txBody>
      </p:sp>
      <p:sp>
        <p:nvSpPr>
          <p:cNvPr id="4" name="Text 2"/>
          <p:cNvSpPr txBox="1"/>
          <p:nvPr/>
        </p:nvSpPr>
        <p:spPr>
          <a:xfrm>
            <a:off x="640080" y="1188720"/>
            <a:ext cx="10881360" cy="685800"/>
          </a:xfrm>
          <a:prstGeom prst="rect">
            <a:avLst/>
          </a:prstGeom>
          <a:noFill/>
          <a:ln/>
        </p:spPr>
        <p:txBody>
          <a:bodyPr wrap="square" lIns="0" tIns="0" rIns="0" bIns="0" rtlCol="0" anchor="t"/>
          <a:lstStyle/>
          <a:p>
            <a:pPr indent="0" marL="0">
              <a:buNone/>
            </a:pPr>
            <a:r>
              <a:rPr lang="en-US" sz="1500" dirty="0">
                <a:solidFill>
                  <a:srgbClr val="1F2429"/>
                </a:solidFill>
                <a:latin typeface="Calibri" pitchFamily="34" charset="0"/>
                <a:ea typeface="Calibri" pitchFamily="34" charset="-122"/>
                <a:cs typeface="Calibri" pitchFamily="34" charset="-120"/>
              </a:rPr>
              <a:t>Instead of every application owning a private copy of the data it needs, </a:t>
            </a:r>
            <a:pPr indent="0" marL="0">
              <a:buNone/>
            </a:pPr>
            <a:r>
              <a:rPr lang="en-US" sz="1500" b="1" dirty="0">
                <a:solidFill>
                  <a:srgbClr val="8B7FD9"/>
                </a:solidFill>
                <a:latin typeface="Calibri" pitchFamily="34" charset="0"/>
                <a:ea typeface="Calibri" pitchFamily="34" charset="-122"/>
                <a:cs typeface="Calibri" pitchFamily="34" charset="-120"/>
              </a:rPr>
              <a:t>store the data once, centrally, and let every application go through a DBMS to reach it.</a:t>
            </a:r>
            <a:endParaRPr lang="en-US" sz="1500" dirty="0"/>
          </a:p>
        </p:txBody>
      </p:sp>
      <p:sp>
        <p:nvSpPr>
          <p:cNvPr id="5" name="Shape 3"/>
          <p:cNvSpPr/>
          <p:nvPr/>
        </p:nvSpPr>
        <p:spPr>
          <a:xfrm>
            <a:off x="640080" y="2011680"/>
            <a:ext cx="5326380" cy="1554480"/>
          </a:xfrm>
          <a:prstGeom prst="roundRect">
            <a:avLst>
              <a:gd name="adj" fmla="val 4706"/>
            </a:avLst>
          </a:prstGeom>
          <a:solidFill>
            <a:srgbClr val="8B7FD9"/>
          </a:solidFill>
          <a:ln/>
        </p:spPr>
      </p:sp>
      <p:sp>
        <p:nvSpPr>
          <p:cNvPr id="6" name="Text 4"/>
          <p:cNvSpPr txBox="1"/>
          <p:nvPr/>
        </p:nvSpPr>
        <p:spPr>
          <a:xfrm>
            <a:off x="822960" y="2139696"/>
            <a:ext cx="4960620" cy="3200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File-based (before)</a:t>
            </a:r>
            <a:endParaRPr lang="en-US" sz="1350" dirty="0"/>
          </a:p>
        </p:txBody>
      </p:sp>
      <p:sp>
        <p:nvSpPr>
          <p:cNvPr id="7" name="Text 5"/>
          <p:cNvSpPr txBox="1"/>
          <p:nvPr/>
        </p:nvSpPr>
        <p:spPr>
          <a:xfrm>
            <a:off x="822960" y="2487168"/>
            <a:ext cx="4960620" cy="9875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Registrar, Library, and Finance each keep their own Name/Address copy — three files, three truths</a:t>
            </a:r>
            <a:endParaRPr lang="en-US" sz="1050" dirty="0"/>
          </a:p>
        </p:txBody>
      </p:sp>
      <p:sp>
        <p:nvSpPr>
          <p:cNvPr id="8" name="Shape 6"/>
          <p:cNvSpPr/>
          <p:nvPr/>
        </p:nvSpPr>
        <p:spPr>
          <a:xfrm>
            <a:off x="6195060" y="2011680"/>
            <a:ext cx="5326380" cy="1554480"/>
          </a:xfrm>
          <a:prstGeom prst="roundRect">
            <a:avLst>
              <a:gd name="adj" fmla="val 4706"/>
            </a:avLst>
          </a:prstGeom>
          <a:solidFill>
            <a:srgbClr val="2FE6C4"/>
          </a:solidFill>
          <a:ln/>
        </p:spPr>
      </p:sp>
      <p:sp>
        <p:nvSpPr>
          <p:cNvPr id="9" name="Text 7"/>
          <p:cNvSpPr txBox="1"/>
          <p:nvPr/>
        </p:nvSpPr>
        <p:spPr>
          <a:xfrm>
            <a:off x="6377940" y="2139696"/>
            <a:ext cx="4960620" cy="3200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Database approach (after)</a:t>
            </a:r>
            <a:endParaRPr lang="en-US" sz="1350" dirty="0"/>
          </a:p>
        </p:txBody>
      </p:sp>
      <p:sp>
        <p:nvSpPr>
          <p:cNvPr id="10" name="Text 8"/>
          <p:cNvSpPr txBox="1"/>
          <p:nvPr/>
        </p:nvSpPr>
        <p:spPr>
          <a:xfrm>
            <a:off x="6377940" y="2487168"/>
            <a:ext cx="4960620" cy="9875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One Student table holds Name/Address once; every office reads the same row through the DBMS</a:t>
            </a:r>
            <a:endParaRPr lang="en-US" sz="1050" dirty="0"/>
          </a:p>
        </p:txBody>
      </p:sp>
      <p:sp>
        <p:nvSpPr>
          <p:cNvPr id="11" name="Text 9"/>
          <p:cNvSpPr txBox="1"/>
          <p:nvPr/>
        </p:nvSpPr>
        <p:spPr>
          <a:xfrm>
            <a:off x="640080" y="3794760"/>
            <a:ext cx="7315200" cy="274320"/>
          </a:xfrm>
          <a:prstGeom prst="rect">
            <a:avLst/>
          </a:prstGeom>
          <a:noFill/>
          <a:ln/>
        </p:spPr>
        <p:txBody>
          <a:bodyPr wrap="square" lIns="0" tIns="0" rIns="0" bIns="0" rtlCol="0" anchor="ctr"/>
          <a:lstStyle/>
          <a:p>
            <a:pPr indent="0" marL="0">
              <a:buNone/>
            </a:pPr>
            <a:r>
              <a:rPr lang="en-US" sz="1300" b="1" dirty="0">
                <a:solidFill>
                  <a:srgbClr val="1F2429"/>
                </a:solidFill>
                <a:latin typeface="Calibri" pitchFamily="34" charset="0"/>
                <a:ea typeface="Calibri" pitchFamily="34" charset="-122"/>
                <a:cs typeface="Calibri" pitchFamily="34" charset="-120"/>
              </a:rPr>
              <a:t>Worked example: a single Student relation</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4114800"/>
          <a:ext cx="10881360" cy="777240"/>
        </p:xfrm>
        <a:graphic>
          <a:graphicData uri="http://schemas.openxmlformats.org/drawingml/2006/table">
            <a:tbl>
              <a:tblPr/>
              <a:tblGrid>
                <a:gridCol w="2377440"/>
                <a:gridCol w="2377440"/>
                <a:gridCol w="3383280"/>
                <a:gridCol w="2743200"/>
              </a:tblGrid>
              <a:tr h="3886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RegNo</a:t>
                      </a:r>
                      <a:endParaRPr lang="en-US" sz="12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Name</a:t>
                      </a:r>
                      <a:endParaRPr lang="en-US" sz="12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Address</a:t>
                      </a:r>
                      <a:endParaRPr lang="en-US" sz="12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Program</a:t>
                      </a:r>
                      <a:endParaRPr lang="en-US" sz="12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r>
              <a:tr h="388620">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FA21-BCS-001</a:t>
                      </a:r>
                      <a:endParaRPr lang="en-US" sz="12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Ali Raza</a:t>
                      </a:r>
                      <a:endParaRPr lang="en-US" sz="12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Model Town, Lahore</a:t>
                      </a:r>
                      <a:endParaRPr lang="en-US" sz="12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BS Computer Science</a:t>
                      </a:r>
                      <a:endParaRPr lang="en-US" sz="12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bl>
          </a:graphicData>
        </a:graphic>
      </p:graphicFrame>
      <p:sp>
        <p:nvSpPr>
          <p:cNvPr id="13" name="Text 10"/>
          <p:cNvSpPr txBox="1"/>
          <p:nvPr/>
        </p:nvSpPr>
        <p:spPr>
          <a:xfrm>
            <a:off x="640080" y="5074920"/>
            <a:ext cx="10881360" cy="777240"/>
          </a:xfrm>
          <a:prstGeom prst="rect">
            <a:avLst/>
          </a:prstGeom>
          <a:noFill/>
          <a:ln/>
        </p:spPr>
        <p:txBody>
          <a:bodyPr wrap="square" lIns="0" tIns="0" rIns="0" bIns="0" rtlCol="0" anchor="t"/>
          <a:lstStyle/>
          <a:p>
            <a:pPr indent="0" marL="0">
              <a:buNone/>
            </a:pPr>
            <a:r>
              <a:rPr lang="en-US" sz="1250" dirty="0">
                <a:solidFill>
                  <a:srgbClr val="8A939B"/>
                </a:solidFill>
                <a:latin typeface="Calibri" pitchFamily="34" charset="0"/>
                <a:ea typeface="Calibri" pitchFamily="34" charset="-122"/>
                <a:cs typeface="Calibri" pitchFamily="34" charset="-120"/>
              </a:rPr>
              <a:t>The library's and finance's systems no longer keep their own Name/Address copies — they store only BooksIssued / FeeBalance and reference the same shared row through the DBMS.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Advantages of the Database Approach (1/2)</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9</a:t>
            </a:r>
            <a:endParaRPr lang="en-US" sz="1000" dirty="0"/>
          </a:p>
        </p:txBody>
      </p:sp>
      <p:sp>
        <p:nvSpPr>
          <p:cNvPr id="4" name="Text 2"/>
          <p:cNvSpPr txBox="1"/>
          <p:nvPr/>
        </p:nvSpPr>
        <p:spPr>
          <a:xfrm>
            <a:off x="640080" y="1280160"/>
            <a:ext cx="10881360" cy="5120640"/>
          </a:xfrm>
          <a:prstGeom prst="rect">
            <a:avLst/>
          </a:prstGeom>
          <a:noFill/>
          <a:ln/>
        </p:spPr>
        <p:txBody>
          <a:bodyPr wrap="square" lIns="0" tIns="0" rIns="0" bIns="0" rtlCol="0" anchor="t"/>
          <a:lstStyle/>
          <a:p>
            <a:pPr marL="342900" indent="-342900">
              <a:spcAft>
                <a:spcPts val="1600"/>
              </a:spcAft>
              <a:buSzPct val="100000"/>
              <a:buChar char="•"/>
            </a:pPr>
            <a:r>
              <a:rPr lang="en-US" sz="1400" b="1" dirty="0">
                <a:solidFill>
                  <a:srgbClr val="1F2429"/>
                </a:solidFill>
                <a:latin typeface="Calibri" pitchFamily="34" charset="0"/>
                <a:ea typeface="Calibri" pitchFamily="34" charset="-122"/>
                <a:cs typeface="Calibri" pitchFamily="34" charset="-120"/>
              </a:rPr>
              <a:t>Control of data redundancy</a:t>
            </a:r>
            <a:pPr indent="0" marL="0">
              <a:spcAft>
                <a:spcPts val="1600"/>
              </a:spcAft>
              <a:buNone/>
            </a:pPr>
            <a:r>
              <a:rPr lang="en-US" sz="1400" dirty="0">
                <a:solidFill>
                  <a:srgbClr val="1F2429"/>
                </a:solidFill>
                <a:latin typeface="Calibri" pitchFamily="34" charset="0"/>
                <a:ea typeface="Calibri" pitchFamily="34" charset="-122"/>
                <a:cs typeface="Calibri" pitchFamily="34" charset="-120"/>
              </a:rPr>
              <a:t> — store each fact once wherever possible</a:t>
            </a:r>
            <a:endParaRPr lang="en-US" sz="1400" dirty="0"/>
          </a:p>
          <a:p>
            <a:pPr marL="342900" indent="-342900">
              <a:spcAft>
                <a:spcPts val="1600"/>
              </a:spcAft>
              <a:buSzPct val="100000"/>
              <a:buChar char="•"/>
            </a:pPr>
            <a:r>
              <a:rPr lang="en-US" sz="1400" b="1" dirty="0">
                <a:solidFill>
                  <a:srgbClr val="1F2429"/>
                </a:solidFill>
                <a:latin typeface="Calibri" pitchFamily="34" charset="0"/>
                <a:ea typeface="Calibri" pitchFamily="34" charset="-122"/>
                <a:cs typeface="Calibri" pitchFamily="34" charset="-120"/>
              </a:rPr>
              <a:t>Data consistency</a:t>
            </a:r>
            <a:pPr indent="0" marL="0">
              <a:spcAft>
                <a:spcPts val="1600"/>
              </a:spcAft>
              <a:buNone/>
            </a:pPr>
            <a:r>
              <a:rPr lang="en-US" sz="1400" dirty="0">
                <a:solidFill>
                  <a:srgbClr val="1F2429"/>
                </a:solidFill>
                <a:latin typeface="Calibri" pitchFamily="34" charset="0"/>
                <a:ea typeface="Calibri" pitchFamily="34" charset="-122"/>
                <a:cs typeface="Calibri" pitchFamily="34" charset="-120"/>
              </a:rPr>
              <a:t> — with redundancy controlled, copies can't disagree</a:t>
            </a:r>
            <a:endParaRPr lang="en-US" sz="1400" dirty="0"/>
          </a:p>
          <a:p>
            <a:pPr marL="342900" indent="-342900">
              <a:spcAft>
                <a:spcPts val="1600"/>
              </a:spcAft>
              <a:buSzPct val="100000"/>
              <a:buChar char="•"/>
            </a:pPr>
            <a:r>
              <a:rPr lang="en-US" sz="1400" b="1" dirty="0">
                <a:solidFill>
                  <a:srgbClr val="1F2429"/>
                </a:solidFill>
                <a:latin typeface="Calibri" pitchFamily="34" charset="0"/>
                <a:ea typeface="Calibri" pitchFamily="34" charset="-122"/>
                <a:cs typeface="Calibri" pitchFamily="34" charset="-120"/>
              </a:rPr>
              <a:t>More information from the same data</a:t>
            </a:r>
            <a:pPr indent="0" marL="0">
              <a:spcAft>
                <a:spcPts val="1600"/>
              </a:spcAft>
              <a:buNone/>
            </a:pPr>
            <a:r>
              <a:rPr lang="en-US" sz="1400" dirty="0">
                <a:solidFill>
                  <a:srgbClr val="1F2429"/>
                </a:solidFill>
                <a:latin typeface="Calibri" pitchFamily="34" charset="0"/>
                <a:ea typeface="Calibri" pitchFamily="34" charset="-122"/>
                <a:cs typeface="Calibri" pitchFamily="34" charset="-120"/>
              </a:rPr>
              <a:t> — combining files answers questions no single file could</a:t>
            </a:r>
            <a:endParaRPr lang="en-US" sz="1400" dirty="0"/>
          </a:p>
          <a:p>
            <a:pPr marL="342900" indent="-342900">
              <a:spcAft>
                <a:spcPts val="1600"/>
              </a:spcAft>
              <a:buSzPct val="100000"/>
              <a:buChar char="•"/>
            </a:pPr>
            <a:r>
              <a:rPr lang="en-US" sz="1400" b="1" dirty="0">
                <a:solidFill>
                  <a:srgbClr val="1F2429"/>
                </a:solidFill>
                <a:latin typeface="Calibri" pitchFamily="34" charset="0"/>
                <a:ea typeface="Calibri" pitchFamily="34" charset="-122"/>
                <a:cs typeface="Calibri" pitchFamily="34" charset="-120"/>
              </a:rPr>
              <a:t>Sharing of data</a:t>
            </a:r>
            <a:pPr indent="0" marL="0">
              <a:spcAft>
                <a:spcPts val="1600"/>
              </a:spcAft>
              <a:buNone/>
            </a:pPr>
            <a:r>
              <a:rPr lang="en-US" sz="1400" dirty="0">
                <a:solidFill>
                  <a:srgbClr val="1F2429"/>
                </a:solidFill>
                <a:latin typeface="Calibri" pitchFamily="34" charset="0"/>
                <a:ea typeface="Calibri" pitchFamily="34" charset="-122"/>
                <a:cs typeface="Calibri" pitchFamily="34" charset="-120"/>
              </a:rPr>
              <a:t> — existing data can be reused by new applications</a:t>
            </a:r>
            <a:endParaRPr lang="en-US" sz="1400" dirty="0"/>
          </a:p>
          <a:p>
            <a:pPr marL="342900" indent="-342900">
              <a:spcAft>
                <a:spcPts val="1600"/>
              </a:spcAft>
              <a:buSzPct val="100000"/>
              <a:buChar char="•"/>
            </a:pPr>
            <a:r>
              <a:rPr lang="en-US" sz="1400" b="1" dirty="0">
                <a:solidFill>
                  <a:srgbClr val="1F2429"/>
                </a:solidFill>
                <a:latin typeface="Calibri" pitchFamily="34" charset="0"/>
                <a:ea typeface="Calibri" pitchFamily="34" charset="-122"/>
                <a:cs typeface="Calibri" pitchFamily="34" charset="-120"/>
              </a:rPr>
              <a:t>Improved data integrity</a:t>
            </a:r>
            <a:pPr indent="0" marL="0">
              <a:spcAft>
                <a:spcPts val="1600"/>
              </a:spcAft>
              <a:buNone/>
            </a:pPr>
            <a:r>
              <a:rPr lang="en-US" sz="1400" dirty="0">
                <a:solidFill>
                  <a:srgbClr val="1F2429"/>
                </a:solidFill>
                <a:latin typeface="Calibri" pitchFamily="34" charset="0"/>
                <a:ea typeface="Calibri" pitchFamily="34" charset="-122"/>
                <a:cs typeface="Calibri" pitchFamily="34" charset="-120"/>
              </a:rPr>
              <a:t> — validation rules are defined once and enforced everywhere</a:t>
            </a:r>
            <a:endParaRPr lang="en-US" sz="1400" dirty="0"/>
          </a:p>
          <a:p>
            <a:pPr marL="342900" indent="-342900">
              <a:spcAft>
                <a:spcPts val="1600"/>
              </a:spcAft>
              <a:buSzPct val="100000"/>
              <a:buChar char="•"/>
            </a:pPr>
            <a:r>
              <a:rPr lang="en-US" sz="1400" b="1" dirty="0">
                <a:solidFill>
                  <a:srgbClr val="1F2429"/>
                </a:solidFill>
                <a:latin typeface="Calibri" pitchFamily="34" charset="0"/>
                <a:ea typeface="Calibri" pitchFamily="34" charset="-122"/>
                <a:cs typeface="Calibri" pitchFamily="34" charset="-120"/>
              </a:rPr>
              <a:t>Improved security</a:t>
            </a:r>
            <a:pPr indent="0" marL="0">
              <a:spcAft>
                <a:spcPts val="1600"/>
              </a:spcAft>
              <a:buNone/>
            </a:pPr>
            <a:r>
              <a:rPr lang="en-US" sz="1400" dirty="0">
                <a:solidFill>
                  <a:srgbClr val="1F2429"/>
                </a:solidFill>
                <a:latin typeface="Calibri" pitchFamily="34" charset="0"/>
                <a:ea typeface="Calibri" pitchFamily="34" charset="-122"/>
                <a:cs typeface="Calibri" pitchFamily="34" charset="-120"/>
              </a:rPr>
              <a:t> — access restricted per-user, down to individual columns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Advantages of the Database Approach (2/2)</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10</a:t>
            </a:r>
            <a:endParaRPr lang="en-US" sz="1000" dirty="0"/>
          </a:p>
        </p:txBody>
      </p:sp>
      <p:sp>
        <p:nvSpPr>
          <p:cNvPr id="4" name="Text 2"/>
          <p:cNvSpPr txBox="1"/>
          <p:nvPr/>
        </p:nvSpPr>
        <p:spPr>
          <a:xfrm>
            <a:off x="640080" y="1280160"/>
            <a:ext cx="10881360" cy="5120640"/>
          </a:xfrm>
          <a:prstGeom prst="rect">
            <a:avLst/>
          </a:prstGeom>
          <a:noFill/>
          <a:ln/>
        </p:spPr>
        <p:txBody>
          <a:bodyPr wrap="square" lIns="0" tIns="0" rIns="0" bIns="0" rtlCol="0" anchor="t"/>
          <a:lstStyle/>
          <a:p>
            <a:pPr marL="342900" indent="-342900">
              <a:spcAft>
                <a:spcPts val="1600"/>
              </a:spcAft>
              <a:buSzPct val="100000"/>
              <a:buChar char="•"/>
            </a:pPr>
            <a:r>
              <a:rPr lang="en-US" sz="1400" b="1" dirty="0">
                <a:solidFill>
                  <a:srgbClr val="1F2429"/>
                </a:solidFill>
                <a:latin typeface="Calibri" pitchFamily="34" charset="0"/>
                <a:ea typeface="Calibri" pitchFamily="34" charset="-122"/>
                <a:cs typeface="Calibri" pitchFamily="34" charset="-120"/>
              </a:rPr>
              <a:t>Enforcement of standards</a:t>
            </a:r>
            <a:pPr indent="0" marL="0">
              <a:spcAft>
                <a:spcPts val="1600"/>
              </a:spcAft>
              <a:buNone/>
            </a:pPr>
            <a:r>
              <a:rPr lang="en-US" sz="1400" dirty="0">
                <a:solidFill>
                  <a:srgbClr val="1F2429"/>
                </a:solidFill>
                <a:latin typeface="Calibri" pitchFamily="34" charset="0"/>
                <a:ea typeface="Calibri" pitchFamily="34" charset="-122"/>
                <a:cs typeface="Calibri" pitchFamily="34" charset="-120"/>
              </a:rPr>
              <a:t> — date and ID formats enforced centrally, not per-programmer</a:t>
            </a:r>
            <a:endParaRPr lang="en-US" sz="1400" dirty="0"/>
          </a:p>
          <a:p>
            <a:pPr marL="342900" indent="-342900">
              <a:spcAft>
                <a:spcPts val="1600"/>
              </a:spcAft>
              <a:buSzPct val="100000"/>
              <a:buChar char="•"/>
            </a:pPr>
            <a:r>
              <a:rPr lang="en-US" sz="1400" b="1" dirty="0">
                <a:solidFill>
                  <a:srgbClr val="1F2429"/>
                </a:solidFill>
                <a:latin typeface="Calibri" pitchFamily="34" charset="0"/>
                <a:ea typeface="Calibri" pitchFamily="34" charset="-122"/>
                <a:cs typeface="Calibri" pitchFamily="34" charset="-120"/>
              </a:rPr>
              <a:t>Economy of scale</a:t>
            </a:r>
            <a:pPr indent="0" marL="0">
              <a:spcAft>
                <a:spcPts val="1600"/>
              </a:spcAft>
              <a:buNone/>
            </a:pPr>
            <a:r>
              <a:rPr lang="en-US" sz="1400" dirty="0">
                <a:solidFill>
                  <a:srgbClr val="1F2429"/>
                </a:solidFill>
                <a:latin typeface="Calibri" pitchFamily="34" charset="0"/>
                <a:ea typeface="Calibri" pitchFamily="34" charset="-122"/>
                <a:cs typeface="Calibri" pitchFamily="34" charset="-120"/>
              </a:rPr>
              <a:t> — one managed system costs less overall than many small ones</a:t>
            </a:r>
            <a:endParaRPr lang="en-US" sz="1400" dirty="0"/>
          </a:p>
          <a:p>
            <a:pPr marL="342900" indent="-342900">
              <a:spcAft>
                <a:spcPts val="1600"/>
              </a:spcAft>
              <a:buSzPct val="100000"/>
              <a:buChar char="•"/>
            </a:pPr>
            <a:r>
              <a:rPr lang="en-US" sz="1400" b="1" dirty="0">
                <a:solidFill>
                  <a:srgbClr val="1F2429"/>
                </a:solidFill>
                <a:latin typeface="Calibri" pitchFamily="34" charset="0"/>
                <a:ea typeface="Calibri" pitchFamily="34" charset="-122"/>
                <a:cs typeface="Calibri" pitchFamily="34" charset="-120"/>
              </a:rPr>
              <a:t>Balance of conflicting requirements</a:t>
            </a:r>
            <a:pPr indent="0" marL="0">
              <a:spcAft>
                <a:spcPts val="1600"/>
              </a:spcAft>
              <a:buNone/>
            </a:pPr>
            <a:r>
              <a:rPr lang="en-US" sz="1400" dirty="0">
                <a:solidFill>
                  <a:srgbClr val="1F2429"/>
                </a:solidFill>
                <a:latin typeface="Calibri" pitchFamily="34" charset="0"/>
                <a:ea typeface="Calibri" pitchFamily="34" charset="-122"/>
                <a:cs typeface="Calibri" pitchFamily="34" charset="-120"/>
              </a:rPr>
              <a:t> — a DBA arranges data for the organization as a whole</a:t>
            </a:r>
            <a:endParaRPr lang="en-US" sz="1400" dirty="0"/>
          </a:p>
          <a:p>
            <a:pPr marL="342900" indent="-342900">
              <a:spcAft>
                <a:spcPts val="1600"/>
              </a:spcAft>
              <a:buSzPct val="100000"/>
              <a:buChar char="•"/>
            </a:pPr>
            <a:r>
              <a:rPr lang="en-US" sz="1400" b="1" dirty="0">
                <a:solidFill>
                  <a:srgbClr val="1F2429"/>
                </a:solidFill>
                <a:latin typeface="Calibri" pitchFamily="34" charset="0"/>
                <a:ea typeface="Calibri" pitchFamily="34" charset="-122"/>
                <a:cs typeface="Calibri" pitchFamily="34" charset="-120"/>
              </a:rPr>
              <a:t>Improved accessibility and responsiveness</a:t>
            </a:r>
            <a:pPr indent="0" marL="0">
              <a:spcAft>
                <a:spcPts val="1600"/>
              </a:spcAft>
              <a:buNone/>
            </a:pPr>
            <a:r>
              <a:rPr lang="en-US" sz="1400" dirty="0">
                <a:solidFill>
                  <a:srgbClr val="1F2429"/>
                </a:solidFill>
                <a:latin typeface="Calibri" pitchFamily="34" charset="0"/>
                <a:ea typeface="Calibri" pitchFamily="34" charset="-122"/>
                <a:cs typeface="Calibri" pitchFamily="34" charset="-120"/>
              </a:rPr>
              <a:t> — query languages answer unanticipated questions directly</a:t>
            </a:r>
            <a:endParaRPr lang="en-US" sz="1400" dirty="0"/>
          </a:p>
          <a:p>
            <a:pPr marL="342900" indent="-342900">
              <a:spcAft>
                <a:spcPts val="1600"/>
              </a:spcAft>
              <a:buSzPct val="100000"/>
              <a:buChar char="•"/>
            </a:pPr>
            <a:r>
              <a:rPr lang="en-US" sz="1400" b="1" dirty="0">
                <a:solidFill>
                  <a:srgbClr val="1F2429"/>
                </a:solidFill>
                <a:latin typeface="Calibri" pitchFamily="34" charset="0"/>
                <a:ea typeface="Calibri" pitchFamily="34" charset="-122"/>
                <a:cs typeface="Calibri" pitchFamily="34" charset="-120"/>
              </a:rPr>
              <a:t>Increased productivity</a:t>
            </a:r>
            <a:pPr indent="0" marL="0">
              <a:spcAft>
                <a:spcPts val="1600"/>
              </a:spcAft>
              <a:buNone/>
            </a:pPr>
            <a:r>
              <a:rPr lang="en-US" sz="1400" dirty="0">
                <a:solidFill>
                  <a:srgbClr val="1F2429"/>
                </a:solidFill>
                <a:latin typeface="Calibri" pitchFamily="34" charset="0"/>
                <a:ea typeface="Calibri" pitchFamily="34" charset="-122"/>
                <a:cs typeface="Calibri" pitchFamily="34" charset="-120"/>
              </a:rPr>
              <a:t> — the DBMS provides storage, retrieval, concurrency, and recovery</a:t>
            </a:r>
            <a:endParaRPr lang="en-US" sz="1400" dirty="0"/>
          </a:p>
          <a:p>
            <a:pPr marL="342900" indent="-342900">
              <a:spcAft>
                <a:spcPts val="1600"/>
              </a:spcAft>
              <a:buSzPct val="100000"/>
              <a:buChar char="•"/>
            </a:pPr>
            <a:r>
              <a:rPr lang="en-US" sz="1400" b="1" dirty="0">
                <a:solidFill>
                  <a:srgbClr val="1F2429"/>
                </a:solidFill>
                <a:latin typeface="Calibri" pitchFamily="34" charset="0"/>
                <a:ea typeface="Calibri" pitchFamily="34" charset="-122"/>
                <a:cs typeface="Calibri" pitchFamily="34" charset="-120"/>
              </a:rPr>
              <a:t>Improved backup and recovery</a:t>
            </a:r>
            <a:pPr indent="0" marL="0">
              <a:spcAft>
                <a:spcPts val="1600"/>
              </a:spcAft>
              <a:buNone/>
            </a:pPr>
            <a:r>
              <a:rPr lang="en-US" sz="1400" dirty="0">
                <a:solidFill>
                  <a:srgbClr val="1F2429"/>
                </a:solidFill>
                <a:latin typeface="Calibri" pitchFamily="34" charset="0"/>
                <a:ea typeface="Calibri" pitchFamily="34" charset="-122"/>
                <a:cs typeface="Calibri" pitchFamily="34" charset="-120"/>
              </a:rPr>
              <a:t> — far more robust than one programmer's ad hoc script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Disadvantages of the Database Approach</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11</a:t>
            </a:r>
            <a:endParaRPr lang="en-US" sz="1000" dirty="0"/>
          </a:p>
        </p:txBody>
      </p:sp>
      <p:sp>
        <p:nvSpPr>
          <p:cNvPr id="4" name="Text 2"/>
          <p:cNvSpPr txBox="1"/>
          <p:nvPr/>
        </p:nvSpPr>
        <p:spPr>
          <a:xfrm>
            <a:off x="640080" y="1188720"/>
            <a:ext cx="10881360" cy="457200"/>
          </a:xfrm>
          <a:prstGeom prst="rect">
            <a:avLst/>
          </a:prstGeom>
          <a:noFill/>
          <a:ln/>
        </p:spPr>
        <p:txBody>
          <a:bodyPr wrap="square" lIns="0" tIns="0" rIns="0" bIns="0" rtlCol="0" anchor="ctr"/>
          <a:lstStyle/>
          <a:p>
            <a:pPr indent="0" marL="0">
              <a:buNone/>
            </a:pPr>
            <a:r>
              <a:rPr lang="en-US" sz="1400" dirty="0">
                <a:solidFill>
                  <a:srgbClr val="1F2429"/>
                </a:solidFill>
                <a:latin typeface="Calibri" pitchFamily="34" charset="0"/>
                <a:ea typeface="Calibri" pitchFamily="34" charset="-122"/>
                <a:cs typeface="Calibri" pitchFamily="34" charset="-120"/>
              </a:rPr>
              <a:t>The database approach is not free — it trades one set of problems for another, smaller but real:</a:t>
            </a:r>
            <a:endParaRPr lang="en-US" sz="1400" dirty="0"/>
          </a:p>
        </p:txBody>
      </p:sp>
      <p:sp>
        <p:nvSpPr>
          <p:cNvPr id="5" name="Shape 3"/>
          <p:cNvSpPr/>
          <p:nvPr/>
        </p:nvSpPr>
        <p:spPr>
          <a:xfrm>
            <a:off x="640080" y="1783080"/>
            <a:ext cx="5326380" cy="1120140"/>
          </a:xfrm>
          <a:prstGeom prst="roundRect">
            <a:avLst>
              <a:gd name="adj" fmla="val 6531"/>
            </a:avLst>
          </a:prstGeom>
          <a:solidFill>
            <a:srgbClr val="E8A33D"/>
          </a:solidFill>
          <a:ln/>
        </p:spPr>
      </p:sp>
      <p:sp>
        <p:nvSpPr>
          <p:cNvPr id="6" name="Text 4"/>
          <p:cNvSpPr txBox="1"/>
          <p:nvPr/>
        </p:nvSpPr>
        <p:spPr>
          <a:xfrm>
            <a:off x="822960" y="1911096"/>
            <a:ext cx="4960620" cy="3200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Complexity</a:t>
            </a:r>
            <a:endParaRPr lang="en-US" sz="1350" dirty="0"/>
          </a:p>
        </p:txBody>
      </p:sp>
      <p:sp>
        <p:nvSpPr>
          <p:cNvPr id="7" name="Text 5"/>
          <p:cNvSpPr txBox="1"/>
          <p:nvPr/>
        </p:nvSpPr>
        <p:spPr>
          <a:xfrm>
            <a:off x="822960" y="2258568"/>
            <a:ext cx="4960620" cy="55321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Designers, developers, DBAs, and end users all need to understand enough of the DBMS to use it well</a:t>
            </a:r>
            <a:endParaRPr lang="en-US" sz="1050" dirty="0"/>
          </a:p>
        </p:txBody>
      </p:sp>
      <p:sp>
        <p:nvSpPr>
          <p:cNvPr id="8" name="Shape 6"/>
          <p:cNvSpPr/>
          <p:nvPr/>
        </p:nvSpPr>
        <p:spPr>
          <a:xfrm>
            <a:off x="6195060" y="1783080"/>
            <a:ext cx="5326380" cy="1120140"/>
          </a:xfrm>
          <a:prstGeom prst="roundRect">
            <a:avLst>
              <a:gd name="adj" fmla="val 6531"/>
            </a:avLst>
          </a:prstGeom>
          <a:solidFill>
            <a:srgbClr val="8B7FD9"/>
          </a:solidFill>
          <a:ln/>
        </p:spPr>
      </p:sp>
      <p:sp>
        <p:nvSpPr>
          <p:cNvPr id="9" name="Text 7"/>
          <p:cNvSpPr txBox="1"/>
          <p:nvPr/>
        </p:nvSpPr>
        <p:spPr>
          <a:xfrm>
            <a:off x="6377940" y="1911096"/>
            <a:ext cx="4960620" cy="3200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Cost</a:t>
            </a:r>
            <a:endParaRPr lang="en-US" sz="1350" dirty="0"/>
          </a:p>
        </p:txBody>
      </p:sp>
      <p:sp>
        <p:nvSpPr>
          <p:cNvPr id="10" name="Text 8"/>
          <p:cNvSpPr txBox="1"/>
          <p:nvPr/>
        </p:nvSpPr>
        <p:spPr>
          <a:xfrm>
            <a:off x="6377940" y="2258568"/>
            <a:ext cx="4960620" cy="55321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DBMS software and the hardware it demands add significant up-front and ongoing expense</a:t>
            </a:r>
            <a:endParaRPr lang="en-US" sz="1050" dirty="0"/>
          </a:p>
        </p:txBody>
      </p:sp>
      <p:sp>
        <p:nvSpPr>
          <p:cNvPr id="11" name="Shape 9"/>
          <p:cNvSpPr/>
          <p:nvPr/>
        </p:nvSpPr>
        <p:spPr>
          <a:xfrm>
            <a:off x="640080" y="3131820"/>
            <a:ext cx="5326380" cy="1120140"/>
          </a:xfrm>
          <a:prstGeom prst="roundRect">
            <a:avLst>
              <a:gd name="adj" fmla="val 6531"/>
            </a:avLst>
          </a:prstGeom>
          <a:solidFill>
            <a:srgbClr val="2FE6C4"/>
          </a:solidFill>
          <a:ln/>
        </p:spPr>
      </p:sp>
      <p:sp>
        <p:nvSpPr>
          <p:cNvPr id="12" name="Text 10"/>
          <p:cNvSpPr txBox="1"/>
          <p:nvPr/>
        </p:nvSpPr>
        <p:spPr>
          <a:xfrm>
            <a:off x="822960" y="3259836"/>
            <a:ext cx="4960620" cy="3200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Reduced performance for narrow needs</a:t>
            </a:r>
            <a:endParaRPr lang="en-US" sz="1350" dirty="0"/>
          </a:p>
        </p:txBody>
      </p:sp>
      <p:sp>
        <p:nvSpPr>
          <p:cNvPr id="13" name="Text 11"/>
          <p:cNvSpPr txBox="1"/>
          <p:nvPr/>
        </p:nvSpPr>
        <p:spPr>
          <a:xfrm>
            <a:off x="822960" y="3607308"/>
            <a:ext cx="4960620" cy="55321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A general-purpose DBMS can be slower than a program built for exactly one task</a:t>
            </a:r>
            <a:endParaRPr lang="en-US" sz="1050" dirty="0"/>
          </a:p>
        </p:txBody>
      </p:sp>
      <p:sp>
        <p:nvSpPr>
          <p:cNvPr id="14" name="Shape 12"/>
          <p:cNvSpPr/>
          <p:nvPr/>
        </p:nvSpPr>
        <p:spPr>
          <a:xfrm>
            <a:off x="6195060" y="3131820"/>
            <a:ext cx="5326380" cy="1120140"/>
          </a:xfrm>
          <a:prstGeom prst="roundRect">
            <a:avLst>
              <a:gd name="adj" fmla="val 6531"/>
            </a:avLst>
          </a:prstGeom>
          <a:solidFill>
            <a:srgbClr val="E8A33D"/>
          </a:solidFill>
          <a:ln/>
        </p:spPr>
      </p:sp>
      <p:sp>
        <p:nvSpPr>
          <p:cNvPr id="15" name="Text 13"/>
          <p:cNvSpPr txBox="1"/>
          <p:nvPr/>
        </p:nvSpPr>
        <p:spPr>
          <a:xfrm>
            <a:off x="6377940" y="3259836"/>
            <a:ext cx="4960620" cy="3200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Higher impact of a failure</a:t>
            </a:r>
            <a:endParaRPr lang="en-US" sz="1350" dirty="0"/>
          </a:p>
        </p:txBody>
      </p:sp>
      <p:sp>
        <p:nvSpPr>
          <p:cNvPr id="16" name="Text 14"/>
          <p:cNvSpPr txBox="1"/>
          <p:nvPr/>
        </p:nvSpPr>
        <p:spPr>
          <a:xfrm>
            <a:off x="6377940" y="3607308"/>
            <a:ext cx="4960620" cy="55321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A centralized, shared database means an outage affects every dependent application at once</a:t>
            </a:r>
            <a:endParaRPr lang="en-US" sz="1050" dirty="0"/>
          </a:p>
        </p:txBody>
      </p:sp>
      <p:sp>
        <p:nvSpPr>
          <p:cNvPr id="17" name="Shape 15"/>
          <p:cNvSpPr/>
          <p:nvPr/>
        </p:nvSpPr>
        <p:spPr>
          <a:xfrm>
            <a:off x="640080" y="4480560"/>
            <a:ext cx="10881360" cy="1554480"/>
          </a:xfrm>
          <a:prstGeom prst="roundRect">
            <a:avLst>
              <a:gd name="adj" fmla="val 4706"/>
            </a:avLst>
          </a:prstGeom>
          <a:solidFill>
            <a:srgbClr val="F7F8F9"/>
          </a:solidFill>
          <a:ln w="12700">
            <a:solidFill>
              <a:srgbClr val="D8DCE1"/>
            </a:solidFill>
            <a:prstDash val="solid"/>
          </a:ln>
        </p:spPr>
      </p:sp>
      <p:sp>
        <p:nvSpPr>
          <p:cNvPr id="18" name="Text 16"/>
          <p:cNvSpPr txBox="1"/>
          <p:nvPr/>
        </p:nvSpPr>
        <p:spPr>
          <a:xfrm>
            <a:off x="868680" y="4590288"/>
            <a:ext cx="10424160" cy="274320"/>
          </a:xfrm>
          <a:prstGeom prst="rect">
            <a:avLst/>
          </a:prstGeom>
          <a:noFill/>
          <a:ln/>
        </p:spPr>
        <p:txBody>
          <a:bodyPr wrap="square" lIns="0" tIns="0" rIns="0" bIns="0" rtlCol="0" anchor="ctr"/>
          <a:lstStyle/>
          <a:p>
            <a:pPr indent="0" marL="0">
              <a:buNone/>
            </a:pPr>
            <a:r>
              <a:rPr lang="en-US" sz="1250" b="1" dirty="0">
                <a:solidFill>
                  <a:srgbClr val="1F2429"/>
                </a:solidFill>
                <a:latin typeface="Calibri" pitchFamily="34" charset="0"/>
                <a:ea typeface="Calibri" pitchFamily="34" charset="-122"/>
                <a:cs typeface="Calibri" pitchFamily="34" charset="-120"/>
              </a:rPr>
              <a:t>Why organizations adopt the database approach anyway  </a:t>
            </a:r>
            <a:endParaRPr lang="en-US" sz="1250" dirty="0"/>
          </a:p>
        </p:txBody>
      </p:sp>
      <p:sp>
        <p:nvSpPr>
          <p:cNvPr id="19" name="Text 17"/>
          <p:cNvSpPr txBox="1"/>
          <p:nvPr/>
        </p:nvSpPr>
        <p:spPr>
          <a:xfrm>
            <a:off x="868680" y="4864608"/>
            <a:ext cx="10424160" cy="1097280"/>
          </a:xfrm>
          <a:prstGeom prst="rect">
            <a:avLst/>
          </a:prstGeom>
          <a:noFill/>
          <a:ln/>
        </p:spPr>
        <p:txBody>
          <a:bodyPr wrap="square" lIns="0" tIns="0" rIns="0" bIns="0" rtlCol="0" anchor="t"/>
          <a:lstStyle/>
          <a:p>
            <a:pPr indent="0" marL="0">
              <a:lnSpc>
                <a:spcPct val="120000"/>
              </a:lnSpc>
              <a:buNone/>
            </a:pPr>
            <a:r>
              <a:rPr lang="en-US" sz="1200" dirty="0">
                <a:solidFill>
                  <a:srgbClr val="8A939B"/>
                </a:solidFill>
                <a:latin typeface="Calibri" pitchFamily="34" charset="0"/>
                <a:ea typeface="Calibri" pitchFamily="34" charset="-122"/>
                <a:cs typeface="Calibri" pitchFamily="34" charset="-120"/>
              </a:rPr>
              <a:t>The redundancy and inconsistency problems only get worse as an organization grows, while the database approach's costs are largely one-time. A tiny, single-user tool with no sharing requirement may genuinely be better served by a plain file — it's a trade-off, not a universal law.</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81C"/>
        </a:solidFill>
      </p:bgPr>
    </p:bg>
    <p:spTree>
      <p:nvGrpSpPr>
        <p:cNvPr id="1" name=""/>
        <p:cNvGrpSpPr/>
        <p:nvPr/>
      </p:nvGrpSpPr>
      <p:grpSpPr>
        <a:xfrm>
          <a:off x="0" y="0"/>
          <a:ext cx="0" cy="0"/>
          <a:chOff x="0" y="0"/>
          <a:chExt cx="0" cy="0"/>
        </a:xfrm>
      </p:grpSpPr>
      <p:sp>
        <p:nvSpPr>
          <p:cNvPr id="2" name="Text 0"/>
          <p:cNvSpPr txBox="1"/>
          <p:nvPr/>
        </p:nvSpPr>
        <p:spPr>
          <a:xfrm>
            <a:off x="822960" y="640080"/>
            <a:ext cx="10515600"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Key Takeaways</a:t>
            </a:r>
            <a:endParaRPr lang="en-US" sz="3400" dirty="0"/>
          </a:p>
        </p:txBody>
      </p:sp>
      <p:sp>
        <p:nvSpPr>
          <p:cNvPr id="3" name="Text 1"/>
          <p:cNvSpPr txBox="1"/>
          <p:nvPr/>
        </p:nvSpPr>
        <p:spPr>
          <a:xfrm>
            <a:off x="822960" y="1645920"/>
            <a:ext cx="10332720" cy="4572000"/>
          </a:xfrm>
          <a:prstGeom prst="rect">
            <a:avLst/>
          </a:prstGeom>
          <a:noFill/>
          <a:ln/>
        </p:spPr>
        <p:txBody>
          <a:bodyPr wrap="square" lIns="0" tIns="0" rIns="0" bIns="0" rtlCol="0" anchor="t"/>
          <a:lstStyle/>
          <a:p>
            <a:pPr marL="342900" indent="-342900">
              <a:spcAft>
                <a:spcPts val="1600"/>
              </a:spcAft>
              <a:buSzPct val="100000"/>
              <a:buChar char="•"/>
            </a:pPr>
            <a:r>
              <a:rPr lang="en-US" sz="1600" dirty="0">
                <a:solidFill>
                  <a:srgbClr val="FFFFFF"/>
                </a:solidFill>
                <a:latin typeface="Calibri" pitchFamily="34" charset="0"/>
                <a:ea typeface="Calibri" pitchFamily="34" charset="-122"/>
                <a:cs typeface="Calibri" pitchFamily="34" charset="-120"/>
              </a:rPr>
              <a:t>A database is shared, organized, logically related data; a DBMS manages it; an information system is the database, DBMS, and applications together</a:t>
            </a:r>
            <a:endParaRPr lang="en-US" sz="1600" dirty="0"/>
          </a:p>
          <a:p>
            <a:pPr marL="342900" indent="-342900">
              <a:spcAft>
                <a:spcPts val="1600"/>
              </a:spcAft>
              <a:buSzPct val="100000"/>
              <a:buChar char="•"/>
            </a:pPr>
            <a:r>
              <a:rPr lang="en-US" sz="1600" dirty="0">
                <a:solidFill>
                  <a:srgbClr val="FFFFFF"/>
                </a:solidFill>
                <a:latin typeface="Calibri" pitchFamily="34" charset="0"/>
                <a:ea typeface="Calibri" pitchFamily="34" charset="-122"/>
                <a:cs typeface="Calibri" pitchFamily="34" charset="-120"/>
              </a:rPr>
              <a:t>Databases quietly power banking, airlines, university records, telecom, sales, and HR systems</a:t>
            </a:r>
            <a:endParaRPr lang="en-US" sz="1600" dirty="0"/>
          </a:p>
          <a:p>
            <a:pPr marL="342900" indent="-342900">
              <a:spcAft>
                <a:spcPts val="1600"/>
              </a:spcAft>
              <a:buSzPct val="100000"/>
              <a:buChar char="•"/>
            </a:pPr>
            <a:r>
              <a:rPr lang="en-US" sz="1600" dirty="0">
                <a:solidFill>
                  <a:srgbClr val="FFFFFF"/>
                </a:solidFill>
                <a:latin typeface="Calibri" pitchFamily="34" charset="0"/>
                <a:ea typeface="Calibri" pitchFamily="34" charset="-122"/>
                <a:cs typeface="Calibri" pitchFamily="34" charset="-120"/>
              </a:rPr>
              <a:t>File-based systems gave each application its own private files, causing redundancy, inconsistency, poor sharing, and program-data dependence</a:t>
            </a:r>
            <a:endParaRPr lang="en-US" sz="1600" dirty="0"/>
          </a:p>
          <a:p>
            <a:pPr marL="342900" indent="-342900">
              <a:spcAft>
                <a:spcPts val="1600"/>
              </a:spcAft>
              <a:buSzPct val="100000"/>
              <a:buChar char="•"/>
            </a:pPr>
            <a:r>
              <a:rPr lang="en-US" sz="1600" dirty="0">
                <a:solidFill>
                  <a:srgbClr val="FFFFFF"/>
                </a:solidFill>
                <a:latin typeface="Calibri" pitchFamily="34" charset="0"/>
                <a:ea typeface="Calibri" pitchFamily="34" charset="-122"/>
                <a:cs typeface="Calibri" pitchFamily="34" charset="-120"/>
              </a:rPr>
              <a:t>The database approach replaces many private files with one centrally managed, shared pool of data accessed through a DBMS</a:t>
            </a:r>
            <a:endParaRPr lang="en-US" sz="1600" dirty="0"/>
          </a:p>
          <a:p>
            <a:pPr marL="342900" indent="-342900">
              <a:spcAft>
                <a:spcPts val="1600"/>
              </a:spcAft>
              <a:buSzPct val="100000"/>
              <a:buChar char="•"/>
            </a:pPr>
            <a:r>
              <a:rPr lang="en-US" sz="1600" dirty="0">
                <a:solidFill>
                  <a:srgbClr val="FFFFFF"/>
                </a:solidFill>
                <a:latin typeface="Calibri" pitchFamily="34" charset="0"/>
                <a:ea typeface="Calibri" pitchFamily="34" charset="-122"/>
                <a:cs typeface="Calibri" pitchFamily="34" charset="-120"/>
              </a:rPr>
              <a:t>The database approach earns real advantages — consistency, integrity, security, standards, and recovery — at the cost of complexity, expense, and a bigger blast radius on failure</a:t>
            </a:r>
            <a:endParaRPr lang="en-US" sz="1600" dirty="0"/>
          </a:p>
        </p:txBody>
      </p:sp>
      <p:sp>
        <p:nvSpPr>
          <p:cNvPr id="4" name="Text 2"/>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2026-09-29T15:23:50Z</dcterms:created>
  <dcterms:modified xsi:type="dcterms:W3CDTF">2026-09-29T15:23:50Z</dcterms:modified>
</cp:coreProperties>
</file>
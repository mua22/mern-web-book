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Approach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between data and metadata, and why a database needs both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database environment: hardware, software, data, procedures, and people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roles people play around a database — DBA, designers, developers, end users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components a DBMS is built from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functions every DBMS performs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look at data dependence vs. data independence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Metadata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actual facts being stored. On its own, a raw value like 4500000 tells you nothing — a database needs a second layer describing the first: </a:t>
            </a:r>
            <a:pPr indent="0" marL="0">
              <a:buNone/>
            </a:pPr>
            <a:r>
              <a:rPr lang="en-US" sz="15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system catalog / data dictionary), data about the data.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vs. metadata, for a bank's Account table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3405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81528"/>
            <a:ext cx="49606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“SL21”, 4500000, “B003” — the actual stored values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5060" y="26060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77940" y="273405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77940" y="3081528"/>
            <a:ext cx="49606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accountNo is CHAR(5) and a primary key; balance is DECIMAL and must be &gt;= 0; branchNo is a foreign key to Branch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4805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is why a DBMS can reject bad requests before running them.  </a:t>
            </a:r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application tries to insert a letter into balance, the DBMS looks up balance's type in the catalog, sees it's numeric, and refuses the insert — general rule enforcement, not hand-coded per column.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Environment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database is never just “the data.” Connolly &amp; Begg describe the environment as five interacting components: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54480" y="1691640"/>
            <a:ext cx="9052560" cy="786384"/>
          </a:xfrm>
          <a:prstGeom prst="roundRect">
            <a:avLst>
              <a:gd name="adj" fmla="val 9302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1764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20824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storage devices, network — where the bytes physically live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rot="5400000">
            <a:off x="6007608" y="2484882"/>
            <a:ext cx="146304" cy="123444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2615184"/>
            <a:ext cx="9052560" cy="786384"/>
          </a:xfrm>
          <a:prstGeom prst="roundRect">
            <a:avLst>
              <a:gd name="adj" fmla="val 9302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83080" y="268833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94436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itself, the operating system, and application programs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6007608" y="3408426"/>
            <a:ext cx="146304" cy="123444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3538728"/>
            <a:ext cx="9052560" cy="786384"/>
          </a:xfrm>
          <a:prstGeom prst="roundRect">
            <a:avLst>
              <a:gd name="adj" fmla="val 9302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783080" y="3611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86791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 being stored, plus the metadata describing them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5400000">
            <a:off x="6007608" y="4331970"/>
            <a:ext cx="146304" cy="123444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4462272"/>
            <a:ext cx="9052560" cy="786384"/>
          </a:xfrm>
          <a:prstGeom prst="roundRect">
            <a:avLst>
              <a:gd name="adj" fmla="val 9302"/>
            </a:avLst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783080" y="45354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79145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instructions — backup schedules, login steps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5400000">
            <a:off x="6007608" y="5255514"/>
            <a:ext cx="146304" cy="123444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21" name="Shape 19"/>
          <p:cNvSpPr/>
          <p:nvPr/>
        </p:nvSpPr>
        <p:spPr>
          <a:xfrm>
            <a:off x="1554480" y="5385816"/>
            <a:ext cx="9052560" cy="786384"/>
          </a:xfrm>
          <a:prstGeom prst="roundRect">
            <a:avLst>
              <a:gd name="adj" fmla="val 9302"/>
            </a:avLst>
          </a:prstGeom>
          <a:solidFill>
            <a:srgbClr val="8B7F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783080" y="54589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571500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designs, administers, develops for, or uses the database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Around a Database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6576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concern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task at a bank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Administrator (DBA)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Security, performance, backup/recovery, availability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Granting a new teller SELECT-only access to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Designers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Deciding what data to store and how it relates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Deciding Account needs a branchNo foreign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Developers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the programs end users interact with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the teller's “process withdrawal” 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the finished application to do their 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teller processing a customer's withdrawal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88620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EDEAFB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0233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end user.  </a:t>
            </a:r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users interact only through a fixed application interface, unaware a database even exists (a teller using a withdrawal screen). Sophisticated users write their own queries directly against the database (a risk analyst querying total outstanding loans per branch).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DBA deserves particular emphasis: in a file-based world, no single person was responsible for the organization's data as a whole — the database approach concentrates that responsibility into one role.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a DBMS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in from the environment to the DBMS software itself, several cooperating components each handle a distinct concern: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74720" cy="1394460"/>
          </a:xfrm>
          <a:prstGeom prst="roundRect">
            <a:avLst>
              <a:gd name="adj" fmla="val 5246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65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310896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and optimizes queries submitted by users and applications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74720" cy="1394460"/>
          </a:xfrm>
          <a:prstGeom prst="roundRect">
            <a:avLst>
              <a:gd name="adj" fmla="val 5246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865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12848"/>
            <a:ext cx="310896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access to stored data; enforces integrity and security rules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474720" cy="1394460"/>
          </a:xfrm>
          <a:prstGeom prst="roundRect">
            <a:avLst>
              <a:gd name="adj" fmla="val 5246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865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212848"/>
            <a:ext cx="310896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concurrent operations stay correct and recoverable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360420"/>
            <a:ext cx="3474720" cy="1394460"/>
          </a:xfrm>
          <a:prstGeom prst="roundRect">
            <a:avLst>
              <a:gd name="adj" fmla="val 5246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4884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835908"/>
            <a:ext cx="310896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allocation of physical disk space for stored files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3360420"/>
            <a:ext cx="3474720" cy="1394460"/>
          </a:xfrm>
          <a:prstGeom prst="roundRect">
            <a:avLst>
              <a:gd name="adj" fmla="val 5246"/>
            </a:avLst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4884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/ DDL Precompiler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835908"/>
            <a:ext cx="310896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database statements embedded in application code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3360420"/>
            <a:ext cx="3474720" cy="1394460"/>
          </a:xfrm>
          <a:prstGeom prst="roundRect">
            <a:avLst>
              <a:gd name="adj" fmla="val 5246"/>
            </a:avLst>
          </a:prstGeom>
          <a:solidFill>
            <a:srgbClr val="8B7F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0" y="34884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/ Catalog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3835908"/>
            <a:ext cx="310896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metadata every other component consults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937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UPDATE Account SET balance = balance - 5000 WHERE accountNo = 'SL21' passes through the query processor, the catalog, the transaction manager, and finally the file manager to write the new value to disk.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of a DBMS (1/2)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storage, retrieval, and update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most basic function: store a value, get it back, change it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user-accessible catalog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metadata is itself queryable by tools and administrators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support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group of related operations either all complete or none do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correctness guarantees when many users access data at once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services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restoring correct state after a hardware or software failure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of a DBMS (2/2)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services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controlling who is allowed to do what, down to individual tables or columns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data communication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integrating with the network software applications use to reach the database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services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enforcing that stored data satisfies the organization's business rules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to promote data independence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insulating applications from physical storage details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services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import/export, performance monitoring, and analysis tools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Dependence vs. Data Independence — A First Look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 suffered from program-data dependence: application code was written assuming an exact physical file layout. Data independence is the DBMS's answer.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26380" cy="1645920"/>
          </a:xfrm>
          <a:prstGeom prst="roundRect">
            <a:avLst>
              <a:gd name="adj" fmla="val 4444"/>
            </a:avLst>
          </a:prstGeom>
          <a:solidFill>
            <a:srgbClr val="8B7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8541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dependence (file-based)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32888"/>
            <a:ext cx="49606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hard-codes field order and size; any physical change breaks every program that reads the file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5060" y="2057400"/>
            <a:ext cx="5326380" cy="1645920"/>
          </a:xfrm>
          <a:prstGeom prst="roundRect">
            <a:avLst>
              <a:gd name="adj" fmla="val 4444"/>
            </a:avLst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77940" y="218541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(database approach)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377940" y="2532888"/>
            <a:ext cx="49606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see a stable logical view; the DBMS absorbs physical changes underneath 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114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“independence” with “the schema never changes.”  </a:t>
            </a:r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does not mean the database's structure is frozen. It means changes at one level can be made without cascading into forced changes at another level. Lecture 4 splits this into logical and physical data independence, once the ANSI-SPARC three-schema architecture is on the table.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(the system catalog) describes the data and lets a DBMS enforce rules generically rather than through hand-coded logic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environment is hardware, software, data, procedures, and people together — excellent table design can still fail if procedures or people are neglected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roles — DBA, database designers, developers, and end users (naive and sophisticated) — divide responsibility for a shared database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is built from cooperating components (query processor, database manager, transaction manager, file manager, catalog) delivering storage, transactions, concurrency, recovery, security, integrity, and data independence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lets one level change without forcing dependent applications to change — expanded fully in Lecture 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2026-09-29T15:23:51Z</dcterms:created>
  <dcterms:modified xsi:type="dcterms:W3CDTF">2026-09-29T15:23:51Z</dcterms:modified>
</cp:coreProperties>
</file>
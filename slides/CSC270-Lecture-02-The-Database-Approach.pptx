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7" r:id="rId18"/>
    <p:sldId id="268" r:id="rId19"/>
    <p:sldId id="260" r:id="rId6"/>
    <p:sldId id="269" r:id="rId20"/>
    <p:sldId id="270" r:id="rId21"/>
    <p:sldId id="261" r:id="rId7"/>
    <p:sldId id="271" r:id="rId22"/>
    <p:sldId id="262" r:id="rId8"/>
    <p:sldId id="263" r:id="rId9"/>
    <p:sldId id="272" r:id="rId23"/>
    <p:sldId id="264" r:id="rId10"/>
    <p:sldId id="273" r:id="rId24"/>
    <p:sldId id="274" r:id="rId25"/>
    <p:sldId id="265" r:id="rId11"/>
    <p:sldId id="275" r:id="rId26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  <Relationship Id="rId17" Type="http://schemas.openxmlformats.org/officeDocument/2006/relationships/slide" Target="slides/slide11.xml"/>
  <Relationship Id="rId18" Type="http://schemas.openxmlformats.org/officeDocument/2006/relationships/slide" Target="slides/slide12.xml"/>
  <Relationship Id="rId19" Type="http://schemas.openxmlformats.org/officeDocument/2006/relationships/slide" Target="slides/slide13.xml"/>
  <Relationship Id="rId20" Type="http://schemas.openxmlformats.org/officeDocument/2006/relationships/slide" Target="slides/slide14.xml"/>
  <Relationship Id="rId21" Type="http://schemas.openxmlformats.org/officeDocument/2006/relationships/slide" Target="slides/slide15.xml"/>
  <Relationship Id="rId22" Type="http://schemas.openxmlformats.org/officeDocument/2006/relationships/slide" Target="slides/slide16.xml"/>
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06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Approach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Lecture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distinction between data and metadata, and why a database needs both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database environment: hardware, software, data, procedures, and people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roles people play around a database — DBA, designers, developers, end users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 components a DBMS is built from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functions every DBMS performs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look at data dependence vs. data independence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Metadata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actual facts being stored. On its own, a raw value like 4500000 tells you nothing — a database needs a second layer describing the first: </a:t>
            </a:r>
            <a:pPr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system catalog / data dictionary), data about the data.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vs. metadata, for a bank's Account table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326380" cy="1417320"/>
          </a:xfrm>
          <a:prstGeom prst="roundRect">
            <a:avLst>
              <a:gd name="adj" fmla="val 5161"/>
            </a:avLst>
          </a:prstGeom>
          <a:solidFill>
            <a:srgbClr val="2FE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34056"/>
            <a:ext cx="49606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81528"/>
            <a:ext cx="49606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“SL21”, 4500000, “B003” — the actual stored values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195060" y="2606040"/>
            <a:ext cx="5326380" cy="1417320"/>
          </a:xfrm>
          <a:prstGeom prst="roundRect">
            <a:avLst>
              <a:gd name="adj" fmla="val 5161"/>
            </a:avLst>
          </a:prstGeom>
          <a:solidFill>
            <a:srgbClr val="8B7F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77940" y="2734056"/>
            <a:ext cx="49606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377940" y="3081528"/>
            <a:ext cx="49606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accountNo is CHAR(5) and a primary key; balance is DECIMAL and must be &gt;= 0; branchNo is a foreign key to Branch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434340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F7F8F9"/>
          </a:solidFill>
          <a:ln w="12700">
            <a:solidFill>
              <a:srgbClr val="2FE6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48056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is why a DBMS can reject bad requests before running them.  </a:t>
            </a:r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application tries to insert a letter into balance, the DBMS looks up balance's type in the catalog, sees it's numeric, and refuses the insert — general rule enforcement, not hand-coded per column.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Environment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is five interacting components, per Connolly &amp; Begg: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554480" y="1691640"/>
            <a:ext cx="9052560" cy="786384"/>
          </a:xfrm>
          <a:prstGeom prst="roundRect">
            <a:avLst>
              <a:gd name="adj" fmla="val 9302"/>
            </a:avLst>
          </a:prstGeom>
          <a:solidFill>
            <a:srgbClr val="2FE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783080" y="176479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020824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Servers, storage devices, network — where the bytes physically live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 rot="5400000">
            <a:off x="6007608" y="2484882"/>
            <a:ext cx="146304" cy="123444"/>
          </a:xfrm>
          <a:prstGeom prst="rightArrow">
            <a:avLst/>
          </a:prstGeom>
          <a:solidFill>
            <a:srgbClr val="8A939B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615184"/>
            <a:ext cx="9052560" cy="786384"/>
          </a:xfrm>
          <a:prstGeom prst="roundRect">
            <a:avLst>
              <a:gd name="adj" fmla="val 9302"/>
            </a:avLst>
          </a:prstGeom>
          <a:solidFill>
            <a:srgbClr val="8B7FD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783080" y="26883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2944368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DBMS itself, the operating system, and application programs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 rot="5400000">
            <a:off x="6007608" y="3408426"/>
            <a:ext cx="146304" cy="123444"/>
          </a:xfrm>
          <a:prstGeom prst="rightArrow">
            <a:avLst/>
          </a:prstGeom>
          <a:solidFill>
            <a:srgbClr val="8A939B"/>
          </a:solidFill>
          <a:ln/>
        </p:spPr>
      </p:sp>
      <p:sp>
        <p:nvSpPr>
          <p:cNvPr id="13" name="Shape 11"/>
          <p:cNvSpPr/>
          <p:nvPr/>
        </p:nvSpPr>
        <p:spPr>
          <a:xfrm>
            <a:off x="1554480" y="3538728"/>
            <a:ext cx="9052560" cy="786384"/>
          </a:xfrm>
          <a:prstGeom prst="roundRect">
            <a:avLst>
              <a:gd name="adj" fmla="val 9302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783080" y="36118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3867912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 being stored, plus the metadata describing them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007608" y="4331970"/>
            <a:ext cx="146304" cy="123444"/>
          </a:xfrm>
          <a:prstGeom prst="rightArrow">
            <a:avLst/>
          </a:prstGeom>
          <a:solidFill>
            <a:srgbClr val="8A939B"/>
          </a:solidFill>
          <a:ln/>
        </p:spPr>
      </p:sp>
      <p:sp>
        <p:nvSpPr>
          <p:cNvPr id="17" name="Shape 15"/>
          <p:cNvSpPr/>
          <p:nvPr/>
        </p:nvSpPr>
        <p:spPr>
          <a:xfrm>
            <a:off x="1554480" y="4462272"/>
            <a:ext cx="9052560" cy="786384"/>
          </a:xfrm>
          <a:prstGeom prst="roundRect">
            <a:avLst>
              <a:gd name="adj" fmla="val 9302"/>
            </a:avLst>
          </a:prstGeom>
          <a:solidFill>
            <a:srgbClr val="2FE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783080" y="453542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791456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instructions — backup schedules, login steps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 rot="5400000">
            <a:off x="6007608" y="5255514"/>
            <a:ext cx="146304" cy="123444"/>
          </a:xfrm>
          <a:prstGeom prst="rightArrow">
            <a:avLst/>
          </a:prstGeom>
          <a:solidFill>
            <a:srgbClr val="8A939B"/>
          </a:solidFill>
          <a:ln/>
        </p:spPr>
      </p:sp>
      <p:sp>
        <p:nvSpPr>
          <p:cNvPr id="21" name="Shape 19"/>
          <p:cNvSpPr/>
          <p:nvPr/>
        </p:nvSpPr>
        <p:spPr>
          <a:xfrm>
            <a:off x="1554480" y="5385816"/>
            <a:ext cx="9052560" cy="786384"/>
          </a:xfrm>
          <a:prstGeom prst="roundRect">
            <a:avLst>
              <a:gd name="adj" fmla="val 9302"/>
            </a:avLst>
          </a:prstGeom>
          <a:solidFill>
            <a:srgbClr val="8B7FD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783080" y="545896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783080" y="5715000"/>
            <a:ext cx="8595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designs, administers, develops for, or uses the database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Around a Database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246888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65760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concern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task at a bank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Administrator (DBA)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Security, performance, backup/recovery, availability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Granting a new teller SELECT-only access to Account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Designers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Deciding what data to store and how it relates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Deciding Account needs a branchNo foreign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Developers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Writing the programs end users interact with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 the teller's “process withdrawal” screen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Users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the finished application to do their job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teller processing a customer's withdrawal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of a DBMS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Zooming in from the environment to the DBMS software itself, several cooperating components each handle a distinct concern: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474720" cy="1394460"/>
          </a:xfrm>
          <a:prstGeom prst="roundRect">
            <a:avLst>
              <a:gd name="adj" fmla="val 5246"/>
            </a:avLst>
          </a:prstGeom>
          <a:solidFill>
            <a:srgbClr val="2FE6C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653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Processor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12848"/>
            <a:ext cx="31089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and optimizes queries submitted by users and applications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474720" cy="1394460"/>
          </a:xfrm>
          <a:prstGeom prst="roundRect">
            <a:avLst>
              <a:gd name="adj" fmla="val 5246"/>
            </a:avLst>
          </a:prstGeom>
          <a:solidFill>
            <a:srgbClr val="8B7F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8653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Manager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212848"/>
            <a:ext cx="31089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access to stored data; enforces integrity and security rules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474720" cy="1394460"/>
          </a:xfrm>
          <a:prstGeom prst="roundRect">
            <a:avLst>
              <a:gd name="adj" fmla="val 5246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186537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Manager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212848"/>
            <a:ext cx="31089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concurrent operations stay correct and recoverable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360420"/>
            <a:ext cx="3474720" cy="1394460"/>
          </a:xfrm>
          <a:prstGeom prst="roundRect">
            <a:avLst>
              <a:gd name="adj" fmla="val 5246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48843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Manager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835908"/>
            <a:ext cx="31089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the allocation of physical disk space for stored files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43400" y="3360420"/>
            <a:ext cx="3474720" cy="1394460"/>
          </a:xfrm>
          <a:prstGeom prst="roundRect">
            <a:avLst>
              <a:gd name="adj" fmla="val 5246"/>
            </a:avLst>
          </a:prstGeom>
          <a:solidFill>
            <a:srgbClr val="2FE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26280" y="348843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DML / DDL Precompiler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835908"/>
            <a:ext cx="31089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Translates database statements embedded in application code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3360420"/>
            <a:ext cx="3474720" cy="1394460"/>
          </a:xfrm>
          <a:prstGeom prst="roundRect">
            <a:avLst>
              <a:gd name="adj" fmla="val 5246"/>
            </a:avLst>
          </a:prstGeom>
          <a:solidFill>
            <a:srgbClr val="8B7F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0" y="348843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Dictionary / Catalog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3835908"/>
            <a:ext cx="31089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metadata every other component consults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937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UPDATE Account SET balance = balance - 5000 WHERE accountNo = 'SL21' passes through the query processor, the catalog, the transaction manager, and finally the file manager to write the new value to disk.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of a DBMS (1/2)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storage, retrieval, and update</a:t>
            </a:r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most basic function: store a value, get it back, change it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user-accessible catalog</a:t>
            </a:r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metadata is itself queryable by tools and administrators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support</a:t>
            </a:r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group of related operations either all complete or none do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control</a:t>
            </a:r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correctness guarantees when many users access data at once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services</a:t>
            </a:r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restoring correct state after a hardware or software failure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of a DBMS (2/2)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services</a:t>
            </a:r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controlling who is allowed to do what, down to individual tables or columns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for data communication</a:t>
            </a:r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integrating with the network software applications use to reach the database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services</a:t>
            </a:r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enforcing that stored data satisfies the organization's business rules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to promote data independence</a:t>
            </a:r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insulating applications from physical storage details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services</a:t>
            </a:r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import/export, performance monitoring, and analysis tools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Dependence vs. Data Independence — A First Look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File-based systems suffered from program-data dependence: application code was written assuming an exact physical file layout. Data independence is the DBMS's answer.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26380" cy="1645920"/>
          </a:xfrm>
          <a:prstGeom prst="roundRect">
            <a:avLst>
              <a:gd name="adj" fmla="val 4444"/>
            </a:avLst>
          </a:prstGeom>
          <a:solidFill>
            <a:srgbClr val="8B7FD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85416"/>
            <a:ext cx="49606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dependence (file-based)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32888"/>
            <a:ext cx="49606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code hard-codes field order and size; any physical change breaks every program that reads the file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95060" y="2057400"/>
            <a:ext cx="5326380" cy="1645920"/>
          </a:xfrm>
          <a:prstGeom prst="roundRect">
            <a:avLst>
              <a:gd name="adj" fmla="val 4444"/>
            </a:avLst>
          </a:prstGeom>
          <a:solidFill>
            <a:srgbClr val="2FE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77940" y="2185416"/>
            <a:ext cx="49606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independence (database approach)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377940" y="2532888"/>
            <a:ext cx="49606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see a stable logical view; the DBMS absorbs physical changes underneath it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(the system catalog) describes the data and lets a DBMS enforce rules generically rather than through hand-coded logic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environment is hardware, software, data, procedures, and people together — excellent table design can still fail if procedures or people are neglected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roles — DBA, database designers, developers, and end users (naive and sophisticated) — divide responsibility for a shared database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DBMS is built from cooperating components (query processor, database manager, transaction manager, file manager, catalog) delivering storage, transactions, concurrency, recovery, security, integrity, and data independence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independence lets one level change without forcing dependent applications to change — expanded fully in Lecture 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Metadata Catching a Bad Insert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tries to insert the text “N/A” into the Account table's balance column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touching any data, the DBMS looks up balance in the catalog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 says balance is DECIMAL and must be &gt;= 0 — “N/A” satisfies neither rule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DBMS refuses the insert immediately, with no special-case code written for balance specifically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catalog lookup protects every column, in every table, automatically — that is general rule enforcement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metadata, the DBMS would have no way to know balance was ever supposed to be numeric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One Component Fails: A Worked Scenario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fails — the bank's database server goes down; even perfect table design can't serve a single query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fails — the DBMS crashes or the OS needs patching; the data exists but nothing can reach it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fails — metadata is wrong or missing, so bad values slip in silently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 fail — no documented backup schedule exists; a disk failure becomes permanent data loss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fail — the on-call DBA was never trained on the recovery tool; the outage runs for hours instead of minutes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Environment, Applied to COMSATS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— the servers in COMSATS's data center that physically hold the Student table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— the DBMS plus the registrar's, library's, and finance's application programs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— the Student relation itself, plus the metadata describing RegNo, Name, Address, Program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 — documented steps for enrolling a new student or restoring from last night's backup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— the DBA who manages the shared database, and the registrar, library, and finance staff who use it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vs. Sophisticated End Users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users interact only through a fixed application interface, unaware a database even exists underneath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bank teller using a withdrawal screen — they click buttons and never see a table or write a query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Sophisticated users write their own queries directly against the database, without a pre-built application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risk analyst querying total outstanding loans per branch, built from scratch for a one-off question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end users are naive by design — a well-built application means nobody needs to be sophisticated just to do their job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DBA Role Matters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file-based world, no single person was responsible for an organization's data as a whole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application programmer managed only their own files, with their own ad hoc rules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approach concentrates that responsibility into one role: the DBA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Centralizing the data means centralizing the risk if it is mismanaged — one bad decision now affects everyone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DBA's concerns — security, performance, backup/recovery, availability — cover the whole organization at once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Tracing One Query Through the DBMS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246888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65760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 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2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Processor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Parses the UPDATE statement and checks its syntax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 is valid and ready to execute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Dictionary / Catalog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Confirms Account and balance exist, and the update is permitted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is recognized as legal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 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the change safely alongside other concurrent activity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 is isolated and recoverable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Manager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the new balance value to disk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is physically stored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886200"/>
            <a:ext cx="10881360" cy="1508760"/>
          </a:xfrm>
          <a:prstGeom prst="roundRect">
            <a:avLst>
              <a:gd name="adj" fmla="val 4848"/>
            </a:avLst>
          </a:prstGeom>
          <a:solidFill>
            <a:srgbClr val="EDEAFB"/>
          </a:solidFill>
          <a:ln w="12700">
            <a:solidFill>
              <a:srgbClr val="8B7F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402336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query:  </a:t>
            </a:r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Account SET balance = balance - 5000 WHERE accountNo = 'SL21' — one statement, four components, each handling a distinct concern.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in Action: A Withdrawal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support — debit the account and log the withdrawal as one unit; both happen or neither does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control — two withdrawals hitting the same account at once can't both succeed and overdraw it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services — a rule rejects the withdrawal outright if it would push balance below zero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services — the teller's login can debit accounts but cannot change the bank's interest rate table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services — if the server crashes mid-withdrawal, the DBMS restores a correct state with no half-finished transaction left behind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Confuse Independence with “Never Changes”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independence does not mean the database's structure is frozen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means changes at one level can be made without cascading into forced changes at another level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still evolves — new columns get added, storage gets reorganized, indexes get built and dropped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independence buys you is containment: a DBA's change doesn't force every application programmer to rewrite their code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4 splits this into logical and physical data independence, once the ANSI-SPARC three-schema architecture is on the table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Data to a Working DBMS — Recap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opened the database up: data needs metadata beside it, or a raw value like 4500000 means nothing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database is five components together — hardware, software, data, procedures, and people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roles divide responsibility that file-based systems left scattered across every application programmer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DBMS's cooperating components together deliver its core functions — storage, transactions, concurrency, recovery, security, integrity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independence is the database's direct answer to Lecture 1's program-data dependence problem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Ahead: Lecture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 looks at the languages people and programs actually use to talk to a DBMS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meet DDL (defining structure), DML (querying and updating data), and DCL (controlling access)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from this lecture — the DBA, the designer, the developer, the end user — reaches the database through one of these languages</a:t>
            </a:r>
            <a:endParaRPr lang="en-US" sz="18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components and functions are the machinery; Lecture 3 is the interface everyone actually touches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2026-09-29T15:23:51Z</dcterms:created>
  <dcterms:modified xsi:type="dcterms:W3CDTF">2026-09-29T15:23:51Z</dcterms:modified>
</cp:coreProperties>
</file>
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2148840"/>
            <a:ext cx="10515600" cy="457200"/>
          </a:xfrm>
          <a:prstGeom prst="rect">
            <a:avLst/>
          </a:prstGeom>
          <a:noFill/>
          <a:ln/>
        </p:spPr>
        <p:txBody>
          <a:bodyPr wrap="square" lIns="0" tIns="0" rIns="0" bIns="0" rtlCol="0" anchor="ctr"/>
          <a:lstStyle/>
          <a:p>
            <a:pPr indent="0" marL="0">
              <a:buNone/>
            </a:pPr>
            <a:r>
              <a:rPr lang="en-US" sz="1600" b="1" spc="300" kern="0" dirty="0">
                <a:solidFill>
                  <a:srgbClr val="2FE6C4"/>
                </a:solidFill>
                <a:latin typeface="Calibri" pitchFamily="34" charset="0"/>
                <a:ea typeface="Calibri" pitchFamily="34" charset="-122"/>
                <a:cs typeface="Calibri" pitchFamily="34" charset="-120"/>
              </a:rPr>
              <a:t>LECTURE 3</a:t>
            </a:r>
            <a:endParaRPr lang="en-US" sz="1600" dirty="0"/>
          </a:p>
        </p:txBody>
      </p:sp>
      <p:sp>
        <p:nvSpPr>
          <p:cNvPr id="3" name="Text 1"/>
          <p:cNvSpPr txBox="1"/>
          <p:nvPr/>
        </p:nvSpPr>
        <p:spPr>
          <a:xfrm>
            <a:off x="822960" y="2606040"/>
            <a:ext cx="10515600" cy="17373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Database Languages and Functions</a:t>
            </a:r>
            <a:endParaRPr lang="en-US" sz="4000" dirty="0"/>
          </a:p>
        </p:txBody>
      </p:sp>
      <p:sp>
        <p:nvSpPr>
          <p:cNvPr id="4" name="Text 2"/>
          <p:cNvSpPr txBox="1"/>
          <p:nvPr/>
        </p:nvSpPr>
        <p:spPr>
          <a:xfrm>
            <a:off x="822960" y="4343400"/>
            <a:ext cx="10515600" cy="457200"/>
          </a:xfrm>
          <a:prstGeom prst="rect">
            <a:avLst/>
          </a:prstGeom>
          <a:noFill/>
          <a:ln/>
        </p:spPr>
        <p:txBody>
          <a:bodyPr wrap="square" lIns="0" tIns="0" rIns="0" bIns="0" rtlCol="0" anchor="ctr"/>
          <a:lstStyle/>
          <a:p>
            <a:pPr indent="0" marL="0">
              <a:buNone/>
            </a:pPr>
            <a:r>
              <a:rPr lang="en-US" sz="1800" dirty="0">
                <a:solidFill>
                  <a:srgbClr val="2FE6C4"/>
                </a:solidFill>
                <a:latin typeface="Calibri" pitchFamily="34" charset="0"/>
                <a:ea typeface="Calibri" pitchFamily="34" charset="-122"/>
                <a:cs typeface="Calibri" pitchFamily="34" charset="-120"/>
              </a:rPr>
              <a:t>CSC270 · Database Systems</a:t>
            </a:r>
            <a:endParaRPr lang="en-US" sz="1800" dirty="0"/>
          </a:p>
        </p:txBody>
      </p:sp>
      <p:sp>
        <p:nvSpPr>
          <p:cNvPr id="5" name="Text 3"/>
          <p:cNvSpPr txBox="1"/>
          <p:nvPr/>
        </p:nvSpPr>
        <p:spPr>
          <a:xfrm>
            <a:off x="822960" y="4754880"/>
            <a:ext cx="10515600" cy="365760"/>
          </a:xfrm>
          <a:prstGeom prst="rect">
            <a:avLst/>
          </a:prstGeom>
          <a:noFill/>
          <a:ln/>
        </p:spPr>
        <p:txBody>
          <a:bodyPr wrap="square" lIns="0" tIns="0" rIns="0" bIns="0" rtlCol="0" anchor="ctr"/>
          <a:lstStyle/>
          <a:p>
            <a:pPr indent="0" marL="0">
              <a:buNone/>
            </a:pPr>
            <a:r>
              <a:rPr lang="en-US" sz="1300" dirty="0">
                <a:solidFill>
                  <a:srgbClr val="8A939B"/>
                </a:solidFill>
                <a:latin typeface="Calibri" pitchFamily="34" charset="0"/>
                <a:ea typeface="Calibri" pitchFamily="34" charset="-122"/>
                <a:cs typeface="Calibri" pitchFamily="34" charset="-120"/>
              </a:rPr>
              <a:t>COMSATS University Islamabad, Lahore Campus</a:t>
            </a:r>
            <a:endParaRPr lang="en-US" sz="1300" dirty="0"/>
          </a:p>
        </p:txBody>
      </p:sp>
      <p:sp>
        <p:nvSpPr>
          <p:cNvPr id="6" name="Text 4"/>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In This Lecture</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a:t>
            </a:r>
            <a:endParaRPr lang="en-US" sz="1000" dirty="0"/>
          </a:p>
        </p:txBody>
      </p:sp>
      <p:sp>
        <p:nvSpPr>
          <p:cNvPr id="4" name="Text 2"/>
          <p:cNvSpPr txBox="1"/>
          <p:nvPr/>
        </p:nvSpPr>
        <p:spPr>
          <a:xfrm>
            <a:off x="640080" y="1371600"/>
            <a:ext cx="10332720" cy="4846320"/>
          </a:xfrm>
          <a:prstGeom prst="rect">
            <a:avLst/>
          </a:prstGeom>
          <a:noFill/>
          <a:ln/>
        </p:spPr>
        <p:txBody>
          <a:bodyPr wrap="square" lIns="0" tIns="0" rIns="0" bIns="0" rtlCol="0" anchor="t"/>
          <a:lstStyle/>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Why database languages are split into three sub-languages by purpose</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Data Definition Language (DDL): defining structure</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Data Manipulation Language (DML): working with data, procedural vs. declarative</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Data Control Language (DCL): security and access control</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The complete list of core DBMS functions, expanded from Lecture 2</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Database utilities and the day-to-day tasks of database administration</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Why Split the Language by Purpose?</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3</a:t>
            </a:r>
            <a:endParaRPr lang="en-US" sz="1000" dirty="0"/>
          </a:p>
        </p:txBody>
      </p:sp>
      <p:sp>
        <p:nvSpPr>
          <p:cNvPr id="4" name="Text 2"/>
          <p:cNvSpPr txBox="1"/>
          <p:nvPr/>
        </p:nvSpPr>
        <p:spPr>
          <a:xfrm>
            <a:off x="640080" y="1188720"/>
            <a:ext cx="10881360" cy="594360"/>
          </a:xfrm>
          <a:prstGeom prst="rect">
            <a:avLst/>
          </a:prstGeom>
          <a:noFill/>
          <a:ln/>
        </p:spPr>
        <p:txBody>
          <a:bodyPr wrap="square" lIns="0" tIns="0" rIns="0" bIns="0" rtlCol="0" anchor="t"/>
          <a:lstStyle/>
          <a:p>
            <a:pPr indent="0" marL="0">
              <a:buNone/>
            </a:pPr>
            <a:r>
              <a:rPr lang="en-US" sz="1450" dirty="0">
                <a:solidFill>
                  <a:srgbClr val="1F2429"/>
                </a:solidFill>
                <a:latin typeface="Calibri" pitchFamily="34" charset="0"/>
                <a:ea typeface="Calibri" pitchFamily="34" charset="-122"/>
                <a:cs typeface="Calibri" pitchFamily="34" charset="-120"/>
              </a:rPr>
              <a:t>Talking to a DBMS involves three genuinely different kinds of statements: what the data looks like, working with the data itself, and who is allowed to do either.</a:t>
            </a:r>
            <a:endParaRPr lang="en-US" sz="1450" dirty="0"/>
          </a:p>
        </p:txBody>
      </p:sp>
      <p:sp>
        <p:nvSpPr>
          <p:cNvPr id="5" name="Text 3"/>
          <p:cNvSpPr txBox="1"/>
          <p:nvPr/>
        </p:nvSpPr>
        <p:spPr>
          <a:xfrm>
            <a:off x="640080" y="2011680"/>
            <a:ext cx="10881360" cy="274320"/>
          </a:xfrm>
          <a:prstGeom prst="rect">
            <a:avLst/>
          </a:prstGeom>
          <a:noFill/>
          <a:ln/>
        </p:spPr>
        <p:txBody>
          <a:bodyPr wrap="square" lIns="0" tIns="0" rIns="0" bIns="0" rtlCol="0" anchor="ctr"/>
          <a:lstStyle/>
          <a:p>
            <a:pPr indent="0" marL="0">
              <a:buNone/>
            </a:pPr>
            <a:r>
              <a:rPr lang="en-US" sz="1200" b="1" dirty="0">
                <a:solidFill>
                  <a:srgbClr val="8A939B"/>
                </a:solidFill>
                <a:latin typeface="Calibri" pitchFamily="34" charset="0"/>
                <a:ea typeface="Calibri" pitchFamily="34" charset="-122"/>
                <a:cs typeface="Calibri" pitchFamily="34" charset="-120"/>
              </a:rPr>
              <a:t>The three sub-languages of a database language</a:t>
            </a:r>
            <a:endParaRPr lang="en-US" sz="1200" dirty="0"/>
          </a:p>
        </p:txBody>
      </p:sp>
      <p:sp>
        <p:nvSpPr>
          <p:cNvPr id="6" name="Shape 4"/>
          <p:cNvSpPr/>
          <p:nvPr/>
        </p:nvSpPr>
        <p:spPr>
          <a:xfrm>
            <a:off x="640080" y="2331720"/>
            <a:ext cx="3352800" cy="1234440"/>
          </a:xfrm>
          <a:prstGeom prst="roundRect">
            <a:avLst>
              <a:gd name="adj" fmla="val 5926"/>
            </a:avLst>
          </a:prstGeom>
          <a:solidFill>
            <a:srgbClr val="2FE6C4"/>
          </a:solidFill>
          <a:ln/>
        </p:spPr>
      </p:sp>
      <p:sp>
        <p:nvSpPr>
          <p:cNvPr id="7" name="Text 5"/>
          <p:cNvSpPr txBox="1"/>
          <p:nvPr/>
        </p:nvSpPr>
        <p:spPr>
          <a:xfrm>
            <a:off x="777240" y="2441448"/>
            <a:ext cx="30784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DDL</a:t>
            </a:r>
            <a:endParaRPr lang="en-US" sz="1300" dirty="0"/>
          </a:p>
        </p:txBody>
      </p:sp>
      <p:sp>
        <p:nvSpPr>
          <p:cNvPr id="8" name="Text 6"/>
          <p:cNvSpPr txBox="1"/>
          <p:nvPr/>
        </p:nvSpPr>
        <p:spPr>
          <a:xfrm>
            <a:off x="777240" y="2788920"/>
            <a:ext cx="3078480" cy="68580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Defines structure — tables, columns, constraints</a:t>
            </a:r>
            <a:endParaRPr lang="en-US" sz="1000" dirty="0"/>
          </a:p>
        </p:txBody>
      </p:sp>
      <p:sp>
        <p:nvSpPr>
          <p:cNvPr id="9" name="Shape 7"/>
          <p:cNvSpPr/>
          <p:nvPr/>
        </p:nvSpPr>
        <p:spPr>
          <a:xfrm>
            <a:off x="4038600" y="2866644"/>
            <a:ext cx="320040" cy="164592"/>
          </a:xfrm>
          <a:prstGeom prst="rightArrow">
            <a:avLst/>
          </a:prstGeom>
          <a:solidFill>
            <a:srgbClr val="8A939B"/>
          </a:solidFill>
          <a:ln/>
        </p:spPr>
      </p:sp>
      <p:sp>
        <p:nvSpPr>
          <p:cNvPr id="10" name="Shape 8"/>
          <p:cNvSpPr/>
          <p:nvPr/>
        </p:nvSpPr>
        <p:spPr>
          <a:xfrm>
            <a:off x="4404360" y="2331720"/>
            <a:ext cx="3352800" cy="1234440"/>
          </a:xfrm>
          <a:prstGeom prst="roundRect">
            <a:avLst>
              <a:gd name="adj" fmla="val 5926"/>
            </a:avLst>
          </a:prstGeom>
          <a:solidFill>
            <a:srgbClr val="8B7FD9"/>
          </a:solidFill>
          <a:ln/>
        </p:spPr>
      </p:sp>
      <p:sp>
        <p:nvSpPr>
          <p:cNvPr id="11" name="Text 9"/>
          <p:cNvSpPr txBox="1"/>
          <p:nvPr/>
        </p:nvSpPr>
        <p:spPr>
          <a:xfrm>
            <a:off x="4541520" y="2441448"/>
            <a:ext cx="30784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DML</a:t>
            </a:r>
            <a:endParaRPr lang="en-US" sz="1300" dirty="0"/>
          </a:p>
        </p:txBody>
      </p:sp>
      <p:sp>
        <p:nvSpPr>
          <p:cNvPr id="12" name="Text 10"/>
          <p:cNvSpPr txBox="1"/>
          <p:nvPr/>
        </p:nvSpPr>
        <p:spPr>
          <a:xfrm>
            <a:off x="4541520" y="2788920"/>
            <a:ext cx="3078480" cy="68580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Reads and modifies the data living inside that structure</a:t>
            </a:r>
            <a:endParaRPr lang="en-US" sz="1000" dirty="0"/>
          </a:p>
        </p:txBody>
      </p:sp>
      <p:sp>
        <p:nvSpPr>
          <p:cNvPr id="13" name="Shape 11"/>
          <p:cNvSpPr/>
          <p:nvPr/>
        </p:nvSpPr>
        <p:spPr>
          <a:xfrm>
            <a:off x="7802880" y="2866644"/>
            <a:ext cx="320040" cy="164592"/>
          </a:xfrm>
          <a:prstGeom prst="rightArrow">
            <a:avLst/>
          </a:prstGeom>
          <a:solidFill>
            <a:srgbClr val="8A939B"/>
          </a:solidFill>
          <a:ln/>
        </p:spPr>
      </p:sp>
      <p:sp>
        <p:nvSpPr>
          <p:cNvPr id="14" name="Shape 12"/>
          <p:cNvSpPr/>
          <p:nvPr/>
        </p:nvSpPr>
        <p:spPr>
          <a:xfrm>
            <a:off x="8168640" y="2331720"/>
            <a:ext cx="3352800" cy="1234440"/>
          </a:xfrm>
          <a:prstGeom prst="roundRect">
            <a:avLst>
              <a:gd name="adj" fmla="val 5926"/>
            </a:avLst>
          </a:prstGeom>
          <a:solidFill>
            <a:srgbClr val="E8A33D"/>
          </a:solidFill>
          <a:ln/>
        </p:spPr>
      </p:sp>
      <p:sp>
        <p:nvSpPr>
          <p:cNvPr id="15" name="Text 13"/>
          <p:cNvSpPr txBox="1"/>
          <p:nvPr/>
        </p:nvSpPr>
        <p:spPr>
          <a:xfrm>
            <a:off x="8305800" y="2441448"/>
            <a:ext cx="30784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DCL</a:t>
            </a:r>
            <a:endParaRPr lang="en-US" sz="1300" dirty="0"/>
          </a:p>
        </p:txBody>
      </p:sp>
      <p:sp>
        <p:nvSpPr>
          <p:cNvPr id="16" name="Text 14"/>
          <p:cNvSpPr txBox="1"/>
          <p:nvPr/>
        </p:nvSpPr>
        <p:spPr>
          <a:xfrm>
            <a:off x="8305800" y="2788920"/>
            <a:ext cx="3078480" cy="685800"/>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Controls who is allowed to use the DDL and DML above</a:t>
            </a:r>
            <a:endParaRPr lang="en-US" sz="1000" dirty="0"/>
          </a:p>
        </p:txBody>
      </p:sp>
      <p:sp>
        <p:nvSpPr>
          <p:cNvPr id="17" name="Shape 15"/>
          <p:cNvSpPr/>
          <p:nvPr/>
        </p:nvSpPr>
        <p:spPr>
          <a:xfrm>
            <a:off x="640080" y="3931920"/>
            <a:ext cx="10881360" cy="1783080"/>
          </a:xfrm>
          <a:prstGeom prst="roundRect">
            <a:avLst>
              <a:gd name="adj" fmla="val 4103"/>
            </a:avLst>
          </a:prstGeom>
          <a:solidFill>
            <a:srgbClr val="F7F8F9"/>
          </a:solidFill>
          <a:ln w="12700">
            <a:solidFill>
              <a:srgbClr val="D8DCE1"/>
            </a:solidFill>
            <a:prstDash val="solid"/>
          </a:ln>
        </p:spPr>
      </p:sp>
      <p:sp>
        <p:nvSpPr>
          <p:cNvPr id="18" name="Text 16"/>
          <p:cNvSpPr txBox="1"/>
          <p:nvPr/>
        </p:nvSpPr>
        <p:spPr>
          <a:xfrm>
            <a:off x="868680" y="4069080"/>
            <a:ext cx="10424160" cy="1554480"/>
          </a:xfrm>
          <a:prstGeom prst="rect">
            <a:avLst/>
          </a:prstGeom>
          <a:noFill/>
          <a:ln/>
        </p:spPr>
        <p:txBody>
          <a:bodyPr wrap="square" lIns="0" tIns="0" rIns="0" bIns="0" rtlCol="0" anchor="t"/>
          <a:lstStyle/>
          <a:p>
            <a:pPr indent="0" marL="0">
              <a:buNone/>
            </a:pPr>
            <a:r>
              <a:rPr lang="en-US" sz="1250" b="1" dirty="0">
                <a:solidFill>
                  <a:srgbClr val="1F2429"/>
                </a:solidFill>
                <a:latin typeface="Calibri" pitchFamily="34" charset="0"/>
                <a:ea typeface="Calibri" pitchFamily="34" charset="-122"/>
                <a:cs typeface="Calibri" pitchFamily="34" charset="-120"/>
              </a:rPr>
              <a:t>One language, three jobs.  </a:t>
            </a:r>
            <a:pPr indent="0" marL="0">
              <a:buNone/>
            </a:pPr>
            <a:r>
              <a:rPr lang="en-US" sz="1250" dirty="0">
                <a:solidFill>
                  <a:srgbClr val="1F2429"/>
                </a:solidFill>
                <a:latin typeface="Calibri" pitchFamily="34" charset="0"/>
                <a:ea typeface="Calibri" pitchFamily="34" charset="-122"/>
                <a:cs typeface="Calibri" pitchFamily="34" charset="-120"/>
              </a:rPr>
              <a:t>In a modern relational DBMS, DDL, DML, and DCL are usually all part of the same language — SQL — rather than three separate languages learned one at a time. The split here is by purpose, so each part can be reasoned about on its own; SQL itself is covered later in this course, once the relational model is established.</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Data Definition Language (DDL)</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4</a:t>
            </a:r>
            <a:endParaRPr lang="en-US" sz="1000" dirty="0"/>
          </a:p>
        </p:txBody>
      </p:sp>
      <p:sp>
        <p:nvSpPr>
          <p:cNvPr id="4" name="Text 2"/>
          <p:cNvSpPr txBox="1"/>
          <p:nvPr/>
        </p:nvSpPr>
        <p:spPr>
          <a:xfrm>
            <a:off x="640080" y="1188720"/>
            <a:ext cx="10881360" cy="822960"/>
          </a:xfrm>
          <a:prstGeom prst="rect">
            <a:avLst/>
          </a:prstGeom>
          <a:noFill/>
          <a:ln/>
        </p:spPr>
        <p:txBody>
          <a:bodyPr wrap="square" lIns="0" tIns="0" rIns="0" bIns="0" rtlCol="0" anchor="t"/>
          <a:lstStyle/>
          <a:p>
            <a:pPr indent="0" marL="0">
              <a:buNone/>
            </a:pPr>
            <a:r>
              <a:rPr lang="en-US" sz="1400" b="1" dirty="0">
                <a:solidFill>
                  <a:srgbClr val="2FE6C4"/>
                </a:solidFill>
                <a:latin typeface="Calibri" pitchFamily="34" charset="0"/>
                <a:ea typeface="Calibri" pitchFamily="34" charset="-122"/>
                <a:cs typeface="Calibri" pitchFamily="34" charset="-120"/>
              </a:rPr>
              <a:t>DDL</a:t>
            </a:r>
            <a:pPr indent="0" marL="0">
              <a:buNone/>
            </a:pPr>
            <a:r>
              <a:rPr lang="en-US" sz="1400" dirty="0">
                <a:solidFill>
                  <a:srgbClr val="1F2429"/>
                </a:solidFill>
                <a:latin typeface="Calibri" pitchFamily="34" charset="0"/>
                <a:ea typeface="Calibri" pitchFamily="34" charset="-122"/>
                <a:cs typeface="Calibri" pitchFamily="34" charset="-120"/>
              </a:rPr>
              <a:t> defines, alters, and removes the database's structure — its schema — rather than the data inside it. For a library system, DDL creates the Book and Member relations, and later adds a column Book didn't originally have.</a:t>
            </a:r>
            <a:endParaRPr lang="en-US" sz="1400" dirty="0"/>
          </a:p>
        </p:txBody>
      </p:sp>
      <p:sp>
        <p:nvSpPr>
          <p:cNvPr id="5" name="Text 3"/>
          <p:cNvSpPr txBox="1"/>
          <p:nvPr/>
        </p:nvSpPr>
        <p:spPr>
          <a:xfrm>
            <a:off x="640080" y="2057400"/>
            <a:ext cx="7315200" cy="274320"/>
          </a:xfrm>
          <a:prstGeom prst="rect">
            <a:avLst/>
          </a:prstGeom>
          <a:noFill/>
          <a:ln/>
        </p:spPr>
        <p:txBody>
          <a:bodyPr wrap="square" lIns="0" tIns="0" rIns="0" bIns="0" rtlCol="0" anchor="ctr"/>
          <a:lstStyle/>
          <a:p>
            <a:pPr indent="0" marL="0">
              <a:buNone/>
            </a:pPr>
            <a:r>
              <a:rPr lang="en-US" sz="1250" b="1" dirty="0">
                <a:solidFill>
                  <a:srgbClr val="1F2429"/>
                </a:solidFill>
                <a:latin typeface="Courier New" pitchFamily="34" charset="0"/>
                <a:ea typeface="Courier New" pitchFamily="34" charset="-122"/>
                <a:cs typeface="Courier New" pitchFamily="34" charset="-120"/>
              </a:rPr>
              <a:t>Book (isbn, title, author, available)</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2377440"/>
          <a:ext cx="10881360" cy="960120"/>
        </p:xfrm>
        <a:graphic>
          <a:graphicData uri="http://schemas.openxmlformats.org/drawingml/2006/table">
            <a:tbl>
              <a:tblPr/>
              <a:tblGrid>
                <a:gridCol w="2743200"/>
                <a:gridCol w="2926080"/>
                <a:gridCol w="3383280"/>
                <a:gridCol w="1828800"/>
              </a:tblGrid>
              <a:tr h="3200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isbn</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title</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author</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available</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r>
              <a:tr h="320040">
                <a:tc>
                  <a:txBody>
                    <a:bodyPr/>
                    <a:lstStyle/>
                    <a:p>
                      <a:pPr indent="0" marL="0">
                        <a:buNone/>
                      </a:pPr>
                      <a:r>
                        <a:rPr lang="en-US" sz="1150" dirty="0">
                          <a:solidFill>
                            <a:srgbClr val="1F2429"/>
                          </a:solidFill>
                          <a:latin typeface="Courier New" pitchFamily="34" charset="0"/>
                          <a:ea typeface="Courier New" pitchFamily="34" charset="-122"/>
                          <a:cs typeface="Courier New" pitchFamily="34" charset="-120"/>
                        </a:rPr>
                        <a:t>978-0132350884</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tcPr>
                </a:tc>
                <a:tc>
                  <a:txBody>
                    <a:bodyPr/>
                    <a:lstStyle/>
                    <a:p>
                      <a:pPr indent="0" marL="0">
                        <a:buNone/>
                      </a:pPr>
                      <a:r>
                        <a:rPr lang="en-US" sz="1150" dirty="0">
                          <a:solidFill>
                            <a:srgbClr val="1F2429"/>
                          </a:solidFill>
                          <a:latin typeface="Courier New" pitchFamily="34" charset="0"/>
                          <a:ea typeface="Courier New" pitchFamily="34" charset="-122"/>
                          <a:cs typeface="Courier New" pitchFamily="34" charset="-120"/>
                        </a:rPr>
                        <a:t>Clean Code</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tcPr>
                </a:tc>
                <a:tc>
                  <a:txBody>
                    <a:bodyPr/>
                    <a:lstStyle/>
                    <a:p>
                      <a:pPr indent="0" marL="0">
                        <a:buNone/>
                      </a:pPr>
                      <a:r>
                        <a:rPr lang="en-US" sz="1150" dirty="0">
                          <a:solidFill>
                            <a:srgbClr val="1F2429"/>
                          </a:solidFill>
                          <a:latin typeface="Courier New" pitchFamily="34" charset="0"/>
                          <a:ea typeface="Courier New" pitchFamily="34" charset="-122"/>
                          <a:cs typeface="Courier New" pitchFamily="34" charset="-120"/>
                        </a:rPr>
                        <a:t>Robert C. Martin</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tcPr>
                </a:tc>
                <a:tc>
                  <a:txBody>
                    <a:bodyPr/>
                    <a:lstStyle/>
                    <a:p>
                      <a:pPr indent="0" marL="0">
                        <a:buNone/>
                      </a:pPr>
                      <a:r>
                        <a:rPr lang="en-US" sz="1150" dirty="0">
                          <a:solidFill>
                            <a:srgbClr val="1F2429"/>
                          </a:solidFill>
                          <a:latin typeface="Courier New" pitchFamily="34" charset="0"/>
                          <a:ea typeface="Courier New" pitchFamily="34" charset="-122"/>
                          <a:cs typeface="Courier New" pitchFamily="34" charset="-120"/>
                        </a:rPr>
                        <a:t>true</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tcPr>
                </a:tc>
              </a:tr>
              <a:tr h="320040">
                <a:tc>
                  <a:txBody>
                    <a:bodyPr/>
                    <a:lstStyle/>
                    <a:p>
                      <a:pPr indent="0" marL="0">
                        <a:buNone/>
                      </a:pPr>
                      <a:r>
                        <a:rPr lang="en-US" sz="1150" dirty="0">
                          <a:solidFill>
                            <a:srgbClr val="1F2429"/>
                          </a:solidFill>
                          <a:latin typeface="Courier New" pitchFamily="34" charset="0"/>
                          <a:ea typeface="Courier New" pitchFamily="34" charset="-122"/>
                          <a:cs typeface="Courier New" pitchFamily="34" charset="-120"/>
                        </a:rPr>
                        <a:t>978-0201633610</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tcPr>
                </a:tc>
                <a:tc>
                  <a:txBody>
                    <a:bodyPr/>
                    <a:lstStyle/>
                    <a:p>
                      <a:pPr indent="0" marL="0">
                        <a:buNone/>
                      </a:pPr>
                      <a:r>
                        <a:rPr lang="en-US" sz="1150" dirty="0">
                          <a:solidFill>
                            <a:srgbClr val="1F2429"/>
                          </a:solidFill>
                          <a:latin typeface="Courier New" pitchFamily="34" charset="0"/>
                          <a:ea typeface="Courier New" pitchFamily="34" charset="-122"/>
                          <a:cs typeface="Courier New" pitchFamily="34" charset="-120"/>
                        </a:rPr>
                        <a:t>Design Patterns</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tcPr>
                </a:tc>
                <a:tc>
                  <a:txBody>
                    <a:bodyPr/>
                    <a:lstStyle/>
                    <a:p>
                      <a:pPr indent="0" marL="0">
                        <a:buNone/>
                      </a:pPr>
                      <a:r>
                        <a:rPr lang="en-US" sz="1150" dirty="0">
                          <a:solidFill>
                            <a:srgbClr val="1F2429"/>
                          </a:solidFill>
                          <a:latin typeface="Courier New" pitchFamily="34" charset="0"/>
                          <a:ea typeface="Courier New" pitchFamily="34" charset="-122"/>
                          <a:cs typeface="Courier New" pitchFamily="34" charset="-120"/>
                        </a:rPr>
                        <a:t>Gamma, Helm, Johnson, Vlissides</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tcPr>
                </a:tc>
                <a:tc>
                  <a:txBody>
                    <a:bodyPr/>
                    <a:lstStyle/>
                    <a:p>
                      <a:pPr indent="0" marL="0">
                        <a:buNone/>
                      </a:pPr>
                      <a:r>
                        <a:rPr lang="en-US" sz="1150" dirty="0">
                          <a:solidFill>
                            <a:srgbClr val="1F2429"/>
                          </a:solidFill>
                          <a:latin typeface="Courier New" pitchFamily="34" charset="0"/>
                          <a:ea typeface="Courier New" pitchFamily="34" charset="-122"/>
                          <a:cs typeface="Courier New" pitchFamily="34" charset="-120"/>
                        </a:rPr>
                        <a:t>false</a:t>
                      </a:r>
                      <a:endParaRPr lang="en-US" sz="1150" dirty="0">
                        <a:latin typeface="Courier New" charset="0"/>
                        <a:ea typeface="Courier New" charset="0"/>
                        <a:cs typeface="Courier New"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tcPr>
                </a:tc>
              </a:tr>
            </a:tbl>
          </a:graphicData>
        </a:graphic>
      </p:graphicFrame>
      <p:sp>
        <p:nvSpPr>
          <p:cNvPr id="7" name="Shape 4"/>
          <p:cNvSpPr/>
          <p:nvPr/>
        </p:nvSpPr>
        <p:spPr>
          <a:xfrm>
            <a:off x="640080" y="3703320"/>
            <a:ext cx="457200" cy="457200"/>
          </a:xfrm>
          <a:prstGeom prst="ellipse">
            <a:avLst/>
          </a:prstGeom>
          <a:solidFill>
            <a:srgbClr val="2FE6C4"/>
          </a:solidFill>
          <a:ln/>
        </p:spPr>
      </p:sp>
      <p:sp>
        <p:nvSpPr>
          <p:cNvPr id="8" name="Text 5"/>
          <p:cNvSpPr txBox="1"/>
          <p:nvPr/>
        </p:nvSpPr>
        <p:spPr>
          <a:xfrm>
            <a:off x="640080" y="3703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9" name="Text 6"/>
          <p:cNvSpPr txBox="1"/>
          <p:nvPr/>
        </p:nvSpPr>
        <p:spPr>
          <a:xfrm>
            <a:off x="1234440" y="3675888"/>
            <a:ext cx="2880360" cy="320040"/>
          </a:xfrm>
          <a:prstGeom prst="rect">
            <a:avLst/>
          </a:prstGeom>
          <a:noFill/>
          <a:ln/>
        </p:spPr>
        <p:txBody>
          <a:bodyPr wrap="square" lIns="0" tIns="0" rIns="0" bIns="0" rtlCol="0" anchor="ctr"/>
          <a:lstStyle/>
          <a:p>
            <a:pPr indent="0" marL="0">
              <a:buNone/>
            </a:pPr>
            <a:r>
              <a:rPr lang="en-US" sz="1500" b="1" dirty="0">
                <a:solidFill>
                  <a:srgbClr val="1F2429"/>
                </a:solidFill>
                <a:latin typeface="Calibri" pitchFamily="34" charset="0"/>
                <a:ea typeface="Calibri" pitchFamily="34" charset="-122"/>
                <a:cs typeface="Calibri" pitchFamily="34" charset="-120"/>
              </a:rPr>
              <a:t>Create</a:t>
            </a:r>
            <a:endParaRPr lang="en-US" sz="1500" dirty="0"/>
          </a:p>
        </p:txBody>
      </p:sp>
      <p:sp>
        <p:nvSpPr>
          <p:cNvPr id="10" name="Text 7"/>
          <p:cNvSpPr txBox="1"/>
          <p:nvPr/>
        </p:nvSpPr>
        <p:spPr>
          <a:xfrm>
            <a:off x="1234440" y="3977640"/>
            <a:ext cx="2880360" cy="457200"/>
          </a:xfrm>
          <a:prstGeom prst="rect">
            <a:avLst/>
          </a:prstGeom>
          <a:noFill/>
          <a:ln/>
        </p:spPr>
        <p:txBody>
          <a:bodyPr wrap="square" lIns="0" tIns="0" rIns="0" bIns="0" rtlCol="0" anchor="ctr"/>
          <a:lstStyle/>
          <a:p>
            <a:pPr indent="0" marL="0">
              <a:buNone/>
            </a:pPr>
            <a:r>
              <a:rPr lang="en-US" sz="1150" dirty="0">
                <a:solidFill>
                  <a:srgbClr val="8A939B"/>
                </a:solidFill>
                <a:latin typeface="Calibri" pitchFamily="34" charset="0"/>
                <a:ea typeface="Calibri" pitchFamily="34" charset="-122"/>
                <a:cs typeface="Calibri" pitchFamily="34" charset="-120"/>
              </a:rPr>
              <a:t>A new table, view, index, or entire database</a:t>
            </a:r>
            <a:endParaRPr lang="en-US" sz="1150" dirty="0"/>
          </a:p>
        </p:txBody>
      </p:sp>
      <p:sp>
        <p:nvSpPr>
          <p:cNvPr id="11" name="Shape 8"/>
          <p:cNvSpPr/>
          <p:nvPr/>
        </p:nvSpPr>
        <p:spPr>
          <a:xfrm>
            <a:off x="4389120" y="3703320"/>
            <a:ext cx="457200" cy="457200"/>
          </a:xfrm>
          <a:prstGeom prst="ellipse">
            <a:avLst/>
          </a:prstGeom>
          <a:solidFill>
            <a:srgbClr val="8B7FD9"/>
          </a:solidFill>
          <a:ln/>
        </p:spPr>
      </p:sp>
      <p:sp>
        <p:nvSpPr>
          <p:cNvPr id="12" name="Text 9"/>
          <p:cNvSpPr txBox="1"/>
          <p:nvPr/>
        </p:nvSpPr>
        <p:spPr>
          <a:xfrm>
            <a:off x="4389120" y="3703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3" name="Text 10"/>
          <p:cNvSpPr txBox="1"/>
          <p:nvPr/>
        </p:nvSpPr>
        <p:spPr>
          <a:xfrm>
            <a:off x="4983480" y="3675888"/>
            <a:ext cx="2880360" cy="320040"/>
          </a:xfrm>
          <a:prstGeom prst="rect">
            <a:avLst/>
          </a:prstGeom>
          <a:noFill/>
          <a:ln/>
        </p:spPr>
        <p:txBody>
          <a:bodyPr wrap="square" lIns="0" tIns="0" rIns="0" bIns="0" rtlCol="0" anchor="ctr"/>
          <a:lstStyle/>
          <a:p>
            <a:pPr indent="0" marL="0">
              <a:buNone/>
            </a:pPr>
            <a:r>
              <a:rPr lang="en-US" sz="1500" b="1" dirty="0">
                <a:solidFill>
                  <a:srgbClr val="1F2429"/>
                </a:solidFill>
                <a:latin typeface="Calibri" pitchFamily="34" charset="0"/>
                <a:ea typeface="Calibri" pitchFamily="34" charset="-122"/>
                <a:cs typeface="Calibri" pitchFamily="34" charset="-120"/>
              </a:rPr>
              <a:t>Alter</a:t>
            </a:r>
            <a:endParaRPr lang="en-US" sz="1500" dirty="0"/>
          </a:p>
        </p:txBody>
      </p:sp>
      <p:sp>
        <p:nvSpPr>
          <p:cNvPr id="14" name="Text 11"/>
          <p:cNvSpPr txBox="1"/>
          <p:nvPr/>
        </p:nvSpPr>
        <p:spPr>
          <a:xfrm>
            <a:off x="4983480" y="3977640"/>
            <a:ext cx="2880360" cy="457200"/>
          </a:xfrm>
          <a:prstGeom prst="rect">
            <a:avLst/>
          </a:prstGeom>
          <a:noFill/>
          <a:ln/>
        </p:spPr>
        <p:txBody>
          <a:bodyPr wrap="square" lIns="0" tIns="0" rIns="0" bIns="0" rtlCol="0" anchor="ctr"/>
          <a:lstStyle/>
          <a:p>
            <a:pPr indent="0" marL="0">
              <a:buNone/>
            </a:pPr>
            <a:r>
              <a:rPr lang="en-US" sz="1150" dirty="0">
                <a:solidFill>
                  <a:srgbClr val="8A939B"/>
                </a:solidFill>
                <a:latin typeface="Calibri" pitchFamily="34" charset="0"/>
                <a:ea typeface="Calibri" pitchFamily="34" charset="-122"/>
                <a:cs typeface="Calibri" pitchFamily="34" charset="-120"/>
              </a:rPr>
              <a:t>Add, remove, or modify a column; add a constraint</a:t>
            </a:r>
            <a:endParaRPr lang="en-US" sz="1150" dirty="0"/>
          </a:p>
        </p:txBody>
      </p:sp>
      <p:sp>
        <p:nvSpPr>
          <p:cNvPr id="15" name="Shape 12"/>
          <p:cNvSpPr/>
          <p:nvPr/>
        </p:nvSpPr>
        <p:spPr>
          <a:xfrm>
            <a:off x="8138160" y="3703320"/>
            <a:ext cx="457200" cy="457200"/>
          </a:xfrm>
          <a:prstGeom prst="ellipse">
            <a:avLst/>
          </a:prstGeom>
          <a:solidFill>
            <a:srgbClr val="E8A33D"/>
          </a:solidFill>
          <a:ln/>
        </p:spPr>
      </p:sp>
      <p:sp>
        <p:nvSpPr>
          <p:cNvPr id="16" name="Text 13"/>
          <p:cNvSpPr txBox="1"/>
          <p:nvPr/>
        </p:nvSpPr>
        <p:spPr>
          <a:xfrm>
            <a:off x="8138160" y="3703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7" name="Text 14"/>
          <p:cNvSpPr txBox="1"/>
          <p:nvPr/>
        </p:nvSpPr>
        <p:spPr>
          <a:xfrm>
            <a:off x="8732520" y="3675888"/>
            <a:ext cx="2788920" cy="320040"/>
          </a:xfrm>
          <a:prstGeom prst="rect">
            <a:avLst/>
          </a:prstGeom>
          <a:noFill/>
          <a:ln/>
        </p:spPr>
        <p:txBody>
          <a:bodyPr wrap="square" lIns="0" tIns="0" rIns="0" bIns="0" rtlCol="0" anchor="ctr"/>
          <a:lstStyle/>
          <a:p>
            <a:pPr indent="0" marL="0">
              <a:buNone/>
            </a:pPr>
            <a:r>
              <a:rPr lang="en-US" sz="1500" b="1" dirty="0">
                <a:solidFill>
                  <a:srgbClr val="1F2429"/>
                </a:solidFill>
                <a:latin typeface="Calibri" pitchFamily="34" charset="0"/>
                <a:ea typeface="Calibri" pitchFamily="34" charset="-122"/>
                <a:cs typeface="Calibri" pitchFamily="34" charset="-120"/>
              </a:rPr>
              <a:t>Drop</a:t>
            </a:r>
            <a:endParaRPr lang="en-US" sz="1500" dirty="0"/>
          </a:p>
        </p:txBody>
      </p:sp>
      <p:sp>
        <p:nvSpPr>
          <p:cNvPr id="18" name="Text 15"/>
          <p:cNvSpPr txBox="1"/>
          <p:nvPr/>
        </p:nvSpPr>
        <p:spPr>
          <a:xfrm>
            <a:off x="8732520" y="3977640"/>
            <a:ext cx="2788920" cy="457200"/>
          </a:xfrm>
          <a:prstGeom prst="rect">
            <a:avLst/>
          </a:prstGeom>
          <a:noFill/>
          <a:ln/>
        </p:spPr>
        <p:txBody>
          <a:bodyPr wrap="square" lIns="0" tIns="0" rIns="0" bIns="0" rtlCol="0" anchor="ctr"/>
          <a:lstStyle/>
          <a:p>
            <a:pPr indent="0" marL="0">
              <a:buNone/>
            </a:pPr>
            <a:r>
              <a:rPr lang="en-US" sz="1150" dirty="0">
                <a:solidFill>
                  <a:srgbClr val="8A939B"/>
                </a:solidFill>
                <a:latin typeface="Calibri" pitchFamily="34" charset="0"/>
                <a:ea typeface="Calibri" pitchFamily="34" charset="-122"/>
                <a:cs typeface="Calibri" pitchFamily="34" charset="-120"/>
              </a:rPr>
              <a:t>Remove a table, view, or index — and typically its data</a:t>
            </a:r>
            <a:endParaRPr lang="en-US" sz="1150" dirty="0"/>
          </a:p>
        </p:txBody>
      </p:sp>
      <p:sp>
        <p:nvSpPr>
          <p:cNvPr id="19" name="Shape 16"/>
          <p:cNvSpPr/>
          <p:nvPr/>
        </p:nvSpPr>
        <p:spPr>
          <a:xfrm>
            <a:off x="640080" y="4800600"/>
            <a:ext cx="10881360" cy="868680"/>
          </a:xfrm>
          <a:prstGeom prst="roundRect">
            <a:avLst>
              <a:gd name="adj" fmla="val 8421"/>
            </a:avLst>
          </a:prstGeom>
          <a:solidFill>
            <a:srgbClr val="E9FBF6"/>
          </a:solidFill>
          <a:ln w="12700">
            <a:solidFill>
              <a:srgbClr val="2FE6C4"/>
            </a:solidFill>
            <a:prstDash val="solid"/>
          </a:ln>
        </p:spPr>
      </p:sp>
      <p:sp>
        <p:nvSpPr>
          <p:cNvPr id="20" name="Text 17"/>
          <p:cNvSpPr txBox="1"/>
          <p:nvPr/>
        </p:nvSpPr>
        <p:spPr>
          <a:xfrm>
            <a:off x="868680" y="4919472"/>
            <a:ext cx="10424160" cy="685800"/>
          </a:xfrm>
          <a:prstGeom prst="rect">
            <a:avLst/>
          </a:prstGeom>
          <a:noFill/>
          <a:ln/>
        </p:spPr>
        <p:txBody>
          <a:bodyPr wrap="square" lIns="0" tIns="0" rIns="0" bIns="0" rtlCol="0" anchor="t"/>
          <a:lstStyle/>
          <a:p>
            <a:pPr indent="0" marL="0">
              <a:buNone/>
            </a:pPr>
            <a:r>
              <a:rPr lang="en-US" sz="1200" dirty="0">
                <a:solidFill>
                  <a:srgbClr val="1F2429"/>
                </a:solidFill>
                <a:latin typeface="Calibri" pitchFamily="34" charset="0"/>
                <a:ea typeface="Calibri" pitchFamily="34" charset="-122"/>
                <a:cs typeface="Calibri" pitchFamily="34" charset="-120"/>
              </a:rPr>
              <a:t>Every DDL statement, when executed, updates the system catalog — which is precisely why DDL changes are felt everywhere at once: every part of the DBMS that consults the catalog immediately sees the new structure.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Data Manipulation Language (DML)</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5</a:t>
            </a:r>
            <a:endParaRPr lang="en-US" sz="1000" dirty="0"/>
          </a:p>
        </p:txBody>
      </p:sp>
      <p:sp>
        <p:nvSpPr>
          <p:cNvPr id="4" name="Text 2"/>
          <p:cNvSpPr txBox="1"/>
          <p:nvPr/>
        </p:nvSpPr>
        <p:spPr>
          <a:xfrm>
            <a:off x="640080" y="1188720"/>
            <a:ext cx="10881360" cy="548640"/>
          </a:xfrm>
          <a:prstGeom prst="rect">
            <a:avLst/>
          </a:prstGeom>
          <a:noFill/>
          <a:ln/>
        </p:spPr>
        <p:txBody>
          <a:bodyPr wrap="square" lIns="0" tIns="0" rIns="0" bIns="0" rtlCol="0" anchor="t"/>
          <a:lstStyle/>
          <a:p>
            <a:pPr indent="0" marL="0">
              <a:buNone/>
            </a:pPr>
            <a:r>
              <a:rPr lang="en-US" sz="1450" dirty="0">
                <a:solidFill>
                  <a:srgbClr val="1F2429"/>
                </a:solidFill>
                <a:latin typeface="Calibri" pitchFamily="34" charset="0"/>
                <a:ea typeface="Calibri" pitchFamily="34" charset="-122"/>
                <a:cs typeface="Calibri" pitchFamily="34" charset="-120"/>
              </a:rPr>
              <a:t>Where DDL shapes the container, DML works with what's inside it: retrieving existing data and inserting, updating, or deleting rows.</a:t>
            </a:r>
            <a:endParaRPr lang="en-US" sz="1450" dirty="0"/>
          </a:p>
        </p:txBody>
      </p:sp>
      <p:sp>
        <p:nvSpPr>
          <p:cNvPr id="5" name="Shape 3"/>
          <p:cNvSpPr/>
          <p:nvPr/>
        </p:nvSpPr>
        <p:spPr>
          <a:xfrm>
            <a:off x="640080" y="1874520"/>
            <a:ext cx="5326380" cy="1234440"/>
          </a:xfrm>
          <a:prstGeom prst="roundRect">
            <a:avLst>
              <a:gd name="adj" fmla="val 5926"/>
            </a:avLst>
          </a:prstGeom>
          <a:solidFill>
            <a:srgbClr val="2FE6C4"/>
          </a:solidFill>
          <a:ln/>
        </p:spPr>
      </p:sp>
      <p:sp>
        <p:nvSpPr>
          <p:cNvPr id="6" name="Text 4"/>
          <p:cNvSpPr txBox="1"/>
          <p:nvPr/>
        </p:nvSpPr>
        <p:spPr>
          <a:xfrm>
            <a:off x="822960" y="2002536"/>
            <a:ext cx="496062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Retrieval</a:t>
            </a:r>
            <a:endParaRPr lang="en-US" sz="1350" dirty="0"/>
          </a:p>
        </p:txBody>
      </p:sp>
      <p:sp>
        <p:nvSpPr>
          <p:cNvPr id="7" name="Text 5"/>
          <p:cNvSpPr txBox="1"/>
          <p:nvPr/>
        </p:nvSpPr>
        <p:spPr>
          <a:xfrm>
            <a:off x="822960" y="2350008"/>
            <a:ext cx="4960620" cy="66751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Asking questions of existing data (“which books by Robert C. Martin are currently available?”) without changing anything</a:t>
            </a:r>
            <a:endParaRPr lang="en-US" sz="1050" dirty="0"/>
          </a:p>
        </p:txBody>
      </p:sp>
      <p:sp>
        <p:nvSpPr>
          <p:cNvPr id="8" name="Shape 6"/>
          <p:cNvSpPr/>
          <p:nvPr/>
        </p:nvSpPr>
        <p:spPr>
          <a:xfrm>
            <a:off x="6195060" y="1874520"/>
            <a:ext cx="5326380" cy="1234440"/>
          </a:xfrm>
          <a:prstGeom prst="roundRect">
            <a:avLst>
              <a:gd name="adj" fmla="val 5926"/>
            </a:avLst>
          </a:prstGeom>
          <a:solidFill>
            <a:srgbClr val="8B7FD9"/>
          </a:solidFill>
          <a:ln/>
        </p:spPr>
      </p:sp>
      <p:sp>
        <p:nvSpPr>
          <p:cNvPr id="9" name="Text 7"/>
          <p:cNvSpPr txBox="1"/>
          <p:nvPr/>
        </p:nvSpPr>
        <p:spPr>
          <a:xfrm>
            <a:off x="6377940" y="2002536"/>
            <a:ext cx="496062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Update</a:t>
            </a:r>
            <a:endParaRPr lang="en-US" sz="1350" dirty="0"/>
          </a:p>
        </p:txBody>
      </p:sp>
      <p:sp>
        <p:nvSpPr>
          <p:cNvPr id="10" name="Text 8"/>
          <p:cNvSpPr txBox="1"/>
          <p:nvPr/>
        </p:nvSpPr>
        <p:spPr>
          <a:xfrm>
            <a:off x="6377940" y="2350008"/>
            <a:ext cx="4960620" cy="66751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Inserting new data, modifying existing data, or deleting data</a:t>
            </a:r>
            <a:endParaRPr lang="en-US" sz="1050" dirty="0"/>
          </a:p>
        </p:txBody>
      </p:sp>
      <p:sp>
        <p:nvSpPr>
          <p:cNvPr id="11" name="Text 9"/>
          <p:cNvSpPr txBox="1"/>
          <p:nvPr/>
        </p:nvSpPr>
        <p:spPr>
          <a:xfrm>
            <a:off x="640080" y="3337560"/>
            <a:ext cx="10881360" cy="274320"/>
          </a:xfrm>
          <a:prstGeom prst="rect">
            <a:avLst/>
          </a:prstGeom>
          <a:noFill/>
          <a:ln/>
        </p:spPr>
        <p:txBody>
          <a:bodyPr wrap="square" lIns="0" tIns="0" rIns="0" bIns="0" rtlCol="0" anchor="ctr"/>
          <a:lstStyle/>
          <a:p>
            <a:pPr indent="0" marL="0">
              <a:buNone/>
            </a:pPr>
            <a:r>
              <a:rPr lang="en-US" sz="1200" b="1" dirty="0">
                <a:solidFill>
                  <a:srgbClr val="8A939B"/>
                </a:solidFill>
                <a:latin typeface="Calibri" pitchFamily="34" charset="0"/>
                <a:ea typeface="Calibri" pitchFamily="34" charset="-122"/>
                <a:cs typeface="Calibri" pitchFamily="34" charset="-120"/>
              </a:rPr>
              <a:t>Procedural vs. declarative DML — a distinction worth remembering early</a:t>
            </a:r>
            <a:endParaRPr lang="en-US" sz="1200" dirty="0"/>
          </a:p>
        </p:txBody>
      </p:sp>
      <p:sp>
        <p:nvSpPr>
          <p:cNvPr id="12" name="Shape 10"/>
          <p:cNvSpPr/>
          <p:nvPr/>
        </p:nvSpPr>
        <p:spPr>
          <a:xfrm>
            <a:off x="640080" y="3657600"/>
            <a:ext cx="5326380" cy="1097280"/>
          </a:xfrm>
          <a:prstGeom prst="roundRect">
            <a:avLst>
              <a:gd name="adj" fmla="val 6667"/>
            </a:avLst>
          </a:prstGeom>
          <a:solidFill>
            <a:srgbClr val="E8A33D"/>
          </a:solidFill>
          <a:ln/>
        </p:spPr>
      </p:sp>
      <p:sp>
        <p:nvSpPr>
          <p:cNvPr id="13" name="Text 11"/>
          <p:cNvSpPr txBox="1"/>
          <p:nvPr/>
        </p:nvSpPr>
        <p:spPr>
          <a:xfrm>
            <a:off x="822960" y="3785616"/>
            <a:ext cx="496062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Procedural DML</a:t>
            </a:r>
            <a:endParaRPr lang="en-US" sz="1350" dirty="0"/>
          </a:p>
        </p:txBody>
      </p:sp>
      <p:sp>
        <p:nvSpPr>
          <p:cNvPr id="14" name="Text 12"/>
          <p:cNvSpPr txBox="1"/>
          <p:nvPr/>
        </p:nvSpPr>
        <p:spPr>
          <a:xfrm>
            <a:off x="822960" y="4133088"/>
            <a:ext cx="4960620" cy="53035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Specify what data is needed AND how to get it, step by step — what relational algebra does (covered later)</a:t>
            </a:r>
            <a:endParaRPr lang="en-US" sz="1050" dirty="0"/>
          </a:p>
        </p:txBody>
      </p:sp>
      <p:sp>
        <p:nvSpPr>
          <p:cNvPr id="15" name="Shape 13"/>
          <p:cNvSpPr/>
          <p:nvPr/>
        </p:nvSpPr>
        <p:spPr>
          <a:xfrm>
            <a:off x="6195060" y="3657600"/>
            <a:ext cx="5326380" cy="1097280"/>
          </a:xfrm>
          <a:prstGeom prst="roundRect">
            <a:avLst>
              <a:gd name="adj" fmla="val 6667"/>
            </a:avLst>
          </a:prstGeom>
          <a:solidFill>
            <a:srgbClr val="2FE6C4"/>
          </a:solidFill>
          <a:ln/>
        </p:spPr>
      </p:sp>
      <p:sp>
        <p:nvSpPr>
          <p:cNvPr id="16" name="Text 14"/>
          <p:cNvSpPr txBox="1"/>
          <p:nvPr/>
        </p:nvSpPr>
        <p:spPr>
          <a:xfrm>
            <a:off x="6377940" y="3785616"/>
            <a:ext cx="496062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Declarative DML</a:t>
            </a:r>
            <a:endParaRPr lang="en-US" sz="1350" dirty="0"/>
          </a:p>
        </p:txBody>
      </p:sp>
      <p:sp>
        <p:nvSpPr>
          <p:cNvPr id="17" name="Text 15"/>
          <p:cNvSpPr txBox="1"/>
          <p:nvPr/>
        </p:nvSpPr>
        <p:spPr>
          <a:xfrm>
            <a:off x="6377940" y="4133088"/>
            <a:ext cx="4960620" cy="53035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Specify only what data is needed; the optimizer decides how — what SQL and relational calculus do</a:t>
            </a:r>
            <a:endParaRPr lang="en-US" sz="1050" dirty="0"/>
          </a:p>
        </p:txBody>
      </p:sp>
      <p:sp>
        <p:nvSpPr>
          <p:cNvPr id="18" name="Text 16"/>
          <p:cNvSpPr txBox="1"/>
          <p:nvPr/>
        </p:nvSpPr>
        <p:spPr>
          <a:xfrm>
            <a:off x="640080" y="5074920"/>
            <a:ext cx="10881360" cy="822960"/>
          </a:xfrm>
          <a:prstGeom prst="rect">
            <a:avLst/>
          </a:prstGeom>
          <a:noFill/>
          <a:ln/>
        </p:spPr>
        <p:txBody>
          <a:bodyPr wrap="square" lIns="0" tIns="0" rIns="0" bIns="0" rtlCol="0" anchor="t"/>
          <a:lstStyle/>
          <a:p>
            <a:pPr indent="0" marL="0">
              <a:buNone/>
            </a:pPr>
            <a:r>
              <a:rPr lang="en-US" sz="1200" dirty="0">
                <a:solidFill>
                  <a:srgbClr val="8A939B"/>
                </a:solidFill>
                <a:latin typeface="Calibri" pitchFamily="34" charset="0"/>
                <a:ea typeface="Calibri" pitchFamily="34" charset="-122"/>
                <a:cs typeface="Calibri" pitchFamily="34" charset="-120"/>
              </a:rPr>
              <a:t>A single logical action — “a member returns Clean Code” — typically involves more than one DML statement working together: marking the book available, and removing the corresponding loan record. Lecture 29's transaction concept guarantees such groups either all succeed or none do.</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Data Control &amp; Security (DCL)</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6</a:t>
            </a:r>
            <a:endParaRPr lang="en-US" sz="1000" dirty="0"/>
          </a:p>
        </p:txBody>
      </p:sp>
      <p:sp>
        <p:nvSpPr>
          <p:cNvPr id="4" name="Text 2"/>
          <p:cNvSpPr txBox="1"/>
          <p:nvPr/>
        </p:nvSpPr>
        <p:spPr>
          <a:xfrm>
            <a:off x="640080" y="1188720"/>
            <a:ext cx="10881360" cy="731520"/>
          </a:xfrm>
          <a:prstGeom prst="rect">
            <a:avLst/>
          </a:prstGeom>
          <a:noFill/>
          <a:ln/>
        </p:spPr>
        <p:txBody>
          <a:bodyPr wrap="square" lIns="0" tIns="0" rIns="0" bIns="0" rtlCol="0" anchor="t"/>
          <a:lstStyle/>
          <a:p>
            <a:pPr indent="0" marL="0">
              <a:buNone/>
            </a:pPr>
            <a:r>
              <a:rPr lang="en-US" sz="1450" b="1" dirty="0">
                <a:solidFill>
                  <a:srgbClr val="E8A33D"/>
                </a:solidFill>
                <a:latin typeface="Calibri" pitchFamily="34" charset="0"/>
                <a:ea typeface="Calibri" pitchFamily="34" charset="-122"/>
                <a:cs typeface="Calibri" pitchFamily="34" charset="-120"/>
              </a:rPr>
              <a:t>DCL</a:t>
            </a:r>
            <a:pPr indent="0" marL="0">
              <a:buNone/>
            </a:pPr>
            <a:r>
              <a:rPr lang="en-US" sz="1450" dirty="0">
                <a:solidFill>
                  <a:srgbClr val="1F2429"/>
                </a:solidFill>
                <a:latin typeface="Calibri" pitchFamily="34" charset="0"/>
                <a:ea typeface="Calibri" pitchFamily="34" charset="-122"/>
                <a:cs typeface="Calibri" pitchFamily="34" charset="-120"/>
              </a:rPr>
              <a:t> governs permissions: who may run which DDL and DML statements against which parts of the database. Without it, every user with any access would have unrestricted access to all of it.</a:t>
            </a:r>
            <a:endParaRPr lang="en-US" sz="1450" dirty="0"/>
          </a:p>
        </p:txBody>
      </p:sp>
      <p:sp>
        <p:nvSpPr>
          <p:cNvPr id="5" name="Text 3"/>
          <p:cNvSpPr txBox="1"/>
          <p:nvPr/>
        </p:nvSpPr>
        <p:spPr>
          <a:xfrm>
            <a:off x="640080" y="1965960"/>
            <a:ext cx="10881360" cy="100584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F2429"/>
                </a:solidFill>
                <a:latin typeface="Calibri" pitchFamily="34" charset="0"/>
                <a:ea typeface="Calibri" pitchFamily="34" charset="-122"/>
                <a:cs typeface="Calibri" pitchFamily="34" charset="-120"/>
              </a:rPr>
              <a:t>Grant — give a specific privilege (read, insert, update, delete, or the right to grant further privileges) to a named user or role</a:t>
            </a:r>
            <a:endParaRPr lang="en-US" sz="1350" dirty="0"/>
          </a:p>
          <a:p>
            <a:pPr marL="342900" indent="-342900">
              <a:spcAft>
                <a:spcPts val="800"/>
              </a:spcAft>
              <a:buSzPct val="100000"/>
              <a:buChar char="•"/>
            </a:pPr>
            <a:r>
              <a:rPr lang="en-US" sz="1350" dirty="0">
                <a:solidFill>
                  <a:srgbClr val="1F2429"/>
                </a:solidFill>
                <a:latin typeface="Calibri" pitchFamily="34" charset="0"/>
                <a:ea typeface="Calibri" pitchFamily="34" charset="-122"/>
                <a:cs typeface="Calibri" pitchFamily="34" charset="-120"/>
              </a:rPr>
              <a:t>Revoke — take back a previously granted privilege</a:t>
            </a:r>
            <a:endParaRPr lang="en-US" sz="1350" dirty="0"/>
          </a:p>
        </p:txBody>
      </p:sp>
      <p:sp>
        <p:nvSpPr>
          <p:cNvPr id="6" name="Text 4"/>
          <p:cNvSpPr txBox="1"/>
          <p:nvPr/>
        </p:nvSpPr>
        <p:spPr>
          <a:xfrm>
            <a:off x="640080" y="3108960"/>
            <a:ext cx="10881360" cy="274320"/>
          </a:xfrm>
          <a:prstGeom prst="rect">
            <a:avLst/>
          </a:prstGeom>
          <a:noFill/>
          <a:ln/>
        </p:spPr>
        <p:txBody>
          <a:bodyPr wrap="square" lIns="0" tIns="0" rIns="0" bIns="0" rtlCol="0" anchor="ctr"/>
          <a:lstStyle/>
          <a:p>
            <a:pPr indent="0" marL="0">
              <a:buNone/>
            </a:pPr>
            <a:r>
              <a:rPr lang="en-US" sz="1200" b="1" dirty="0">
                <a:solidFill>
                  <a:srgbClr val="8A939B"/>
                </a:solidFill>
                <a:latin typeface="Calibri" pitchFamily="34" charset="0"/>
                <a:ea typeface="Calibri" pitchFamily="34" charset="-122"/>
                <a:cs typeface="Calibri" pitchFamily="34" charset="-120"/>
              </a:rPr>
              <a:t>DCL in the library system — who can do what to Book</a:t>
            </a:r>
            <a:endParaRPr lang="en-US" sz="1200" dirty="0"/>
          </a:p>
        </p:txBody>
      </p:sp>
      <p:sp>
        <p:nvSpPr>
          <p:cNvPr id="7" name="Shape 5"/>
          <p:cNvSpPr/>
          <p:nvPr/>
        </p:nvSpPr>
        <p:spPr>
          <a:xfrm>
            <a:off x="640080" y="3429000"/>
            <a:ext cx="3474720" cy="1234440"/>
          </a:xfrm>
          <a:prstGeom prst="roundRect">
            <a:avLst>
              <a:gd name="adj" fmla="val 5926"/>
            </a:avLst>
          </a:prstGeom>
          <a:solidFill>
            <a:srgbClr val="2FE6C4"/>
          </a:solidFill>
          <a:ln/>
        </p:spPr>
      </p:sp>
      <p:sp>
        <p:nvSpPr>
          <p:cNvPr id="8" name="Text 6"/>
          <p:cNvSpPr txBox="1"/>
          <p:nvPr/>
        </p:nvSpPr>
        <p:spPr>
          <a:xfrm>
            <a:off x="822960" y="3557016"/>
            <a:ext cx="310896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Front-desk clerk</a:t>
            </a:r>
            <a:endParaRPr lang="en-US" sz="1350" dirty="0"/>
          </a:p>
        </p:txBody>
      </p:sp>
      <p:sp>
        <p:nvSpPr>
          <p:cNvPr id="9" name="Text 7"/>
          <p:cNvSpPr txBox="1"/>
          <p:nvPr/>
        </p:nvSpPr>
        <p:spPr>
          <a:xfrm>
            <a:off x="822960" y="3904488"/>
            <a:ext cx="3108960" cy="66751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Granted: SELECT, UPDATE (availability only)</a:t>
            </a:r>
            <a:endParaRPr lang="en-US" sz="1050" dirty="0"/>
          </a:p>
        </p:txBody>
      </p:sp>
      <p:sp>
        <p:nvSpPr>
          <p:cNvPr id="10" name="Shape 8"/>
          <p:cNvSpPr/>
          <p:nvPr/>
        </p:nvSpPr>
        <p:spPr>
          <a:xfrm>
            <a:off x="4343400" y="3429000"/>
            <a:ext cx="3474720" cy="1234440"/>
          </a:xfrm>
          <a:prstGeom prst="roundRect">
            <a:avLst>
              <a:gd name="adj" fmla="val 5926"/>
            </a:avLst>
          </a:prstGeom>
          <a:solidFill>
            <a:srgbClr val="8B7FD9"/>
          </a:solidFill>
          <a:ln/>
        </p:spPr>
      </p:sp>
      <p:sp>
        <p:nvSpPr>
          <p:cNvPr id="11" name="Text 9"/>
          <p:cNvSpPr txBox="1"/>
          <p:nvPr/>
        </p:nvSpPr>
        <p:spPr>
          <a:xfrm>
            <a:off x="4526280" y="3557016"/>
            <a:ext cx="310896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Cataloging librarian</a:t>
            </a:r>
            <a:endParaRPr lang="en-US" sz="1350" dirty="0"/>
          </a:p>
        </p:txBody>
      </p:sp>
      <p:sp>
        <p:nvSpPr>
          <p:cNvPr id="12" name="Text 10"/>
          <p:cNvSpPr txBox="1"/>
          <p:nvPr/>
        </p:nvSpPr>
        <p:spPr>
          <a:xfrm>
            <a:off x="4526280" y="3904488"/>
            <a:ext cx="3108960" cy="66751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Granted: SELECT, INSERT, UPDATE, DELETE</a:t>
            </a:r>
            <a:endParaRPr lang="en-US" sz="1050" dirty="0"/>
          </a:p>
        </p:txBody>
      </p:sp>
      <p:sp>
        <p:nvSpPr>
          <p:cNvPr id="13" name="Shape 11"/>
          <p:cNvSpPr/>
          <p:nvPr/>
        </p:nvSpPr>
        <p:spPr>
          <a:xfrm>
            <a:off x="8046720" y="3429000"/>
            <a:ext cx="3474720" cy="1234440"/>
          </a:xfrm>
          <a:prstGeom prst="roundRect">
            <a:avLst>
              <a:gd name="adj" fmla="val 5926"/>
            </a:avLst>
          </a:prstGeom>
          <a:solidFill>
            <a:srgbClr val="E8A33D"/>
          </a:solidFill>
          <a:ln/>
        </p:spPr>
      </p:sp>
      <p:sp>
        <p:nvSpPr>
          <p:cNvPr id="14" name="Text 12"/>
          <p:cNvSpPr txBox="1"/>
          <p:nvPr/>
        </p:nvSpPr>
        <p:spPr>
          <a:xfrm>
            <a:off x="8229600" y="3557016"/>
            <a:ext cx="3108960"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Library patron (self-service)</a:t>
            </a:r>
            <a:endParaRPr lang="en-US" sz="1350" dirty="0"/>
          </a:p>
        </p:txBody>
      </p:sp>
      <p:sp>
        <p:nvSpPr>
          <p:cNvPr id="15" name="Text 13"/>
          <p:cNvSpPr txBox="1"/>
          <p:nvPr/>
        </p:nvSpPr>
        <p:spPr>
          <a:xfrm>
            <a:off x="8229600" y="3904488"/>
            <a:ext cx="3108960" cy="66751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Granted: SELECT only</a:t>
            </a:r>
            <a:endParaRPr lang="en-US" sz="1050" dirty="0"/>
          </a:p>
        </p:txBody>
      </p:sp>
      <p:sp>
        <p:nvSpPr>
          <p:cNvPr id="16" name="Text 14"/>
          <p:cNvSpPr txBox="1"/>
          <p:nvPr/>
        </p:nvSpPr>
        <p:spPr>
          <a:xfrm>
            <a:off x="640080" y="4892040"/>
            <a:ext cx="10881360" cy="822960"/>
          </a:xfrm>
          <a:prstGeom prst="rect">
            <a:avLst/>
          </a:prstGeom>
          <a:noFill/>
          <a:ln/>
        </p:spPr>
        <p:txBody>
          <a:bodyPr wrap="square" lIns="0" tIns="0" rIns="0" bIns="0" rtlCol="0" anchor="t"/>
          <a:lstStyle/>
          <a:p>
            <a:pPr indent="0" marL="0">
              <a:buNone/>
            </a:pPr>
            <a:r>
              <a:rPr lang="en-US" sz="1250" dirty="0">
                <a:solidFill>
                  <a:srgbClr val="8A939B"/>
                </a:solidFill>
                <a:latin typeface="Calibri" pitchFamily="34" charset="0"/>
                <a:ea typeface="Calibri" pitchFamily="34" charset="-122"/>
                <a:cs typeface="Calibri" pitchFamily="34" charset="-120"/>
              </a:rPr>
              <a:t>DCL is one concrete mechanism behind the “authorization services” function named in Lecture 2 — the DBA uses it to translate an organization's security policy into rules the DBMS actually enforces on every request.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Database Utilities</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7</a:t>
            </a:r>
            <a:endParaRPr lang="en-US" sz="1000" dirty="0"/>
          </a:p>
        </p:txBody>
      </p:sp>
      <p:sp>
        <p:nvSpPr>
          <p:cNvPr id="4" name="Text 2"/>
          <p:cNvSpPr txBox="1"/>
          <p:nvPr/>
        </p:nvSpPr>
        <p:spPr>
          <a:xfrm>
            <a:off x="640080" y="1143000"/>
            <a:ext cx="10881360" cy="777240"/>
          </a:xfrm>
          <a:prstGeom prst="rect">
            <a:avLst/>
          </a:prstGeom>
          <a:noFill/>
          <a:ln/>
        </p:spPr>
        <p:txBody>
          <a:bodyPr wrap="square" lIns="0" tIns="0" rIns="0" bIns="0" rtlCol="0" anchor="t"/>
          <a:lstStyle/>
          <a:p>
            <a:pPr indent="0" marL="0">
              <a:buNone/>
            </a:pPr>
            <a:r>
              <a:rPr lang="en-US" sz="1350" dirty="0">
                <a:solidFill>
                  <a:srgbClr val="1F2429"/>
                </a:solidFill>
                <a:latin typeface="Calibri" pitchFamily="34" charset="0"/>
                <a:ea typeface="Calibri" pitchFamily="34" charset="-122"/>
                <a:cs typeface="Calibri" pitchFamily="34" charset="-120"/>
              </a:rPr>
              <a:t>Lecture 2's function list rounds out with the operational side. Utilities are supporting programs, usually bundled with the DBMS, that help administer the database without being part of the core query engine:</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011680"/>
          <a:ext cx="10881360" cy="4023360"/>
        </p:xfrm>
        <a:graphic>
          <a:graphicData uri="http://schemas.openxmlformats.org/drawingml/2006/table">
            <a:tbl>
              <a:tblPr/>
              <a:tblGrid>
                <a:gridCol w="2377440"/>
                <a:gridCol w="4572000"/>
                <a:gridCol w="3931920"/>
              </a:tblGrid>
              <a:tr h="57476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Utility</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Purpose</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Library-system example</a:t>
                      </a:r>
                      <a:endParaRPr lang="en-US" sz="12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F2429"/>
                    </a:solidFill>
                  </a:tcPr>
                </a:tc>
              </a:tr>
              <a:tr h="574766">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Loading</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Bulk-importing data from an external source</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Importing 10,000 records from the old system</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tcPr>
                </a:tc>
              </a:tr>
              <a:tr h="574766">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Unloading / export</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Extracting data out to a file</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Exporting overdue-loan records for a report</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tcPr>
                </a:tc>
              </a:tr>
              <a:tr h="574766">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Backup</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Making a recoverable copy of the database</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Nightly backup of the entire library database</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tcPr>
                </a:tc>
              </a:tr>
              <a:tr h="574766">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Reorganization</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Restructuring physical storage for performance</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Rebuilding a fragmented index on Book.isbn</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tcPr>
                </a:tc>
              </a:tr>
              <a:tr h="574766">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Performance monitoring</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Tracking query speed and resource use</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Noticing “search by author” has gotten slow</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tcPr>
                </a:tc>
              </a:tr>
              <a:tr h="574766">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Statistics analysis</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Gathering data distribution info for the optimizer</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tcPr>
                </a:tc>
                <a:tc>
                  <a:txBody>
                    <a:bodyPr/>
                    <a:lstStyle/>
                    <a:p>
                      <a:pPr indent="0" marL="0">
                        <a:buNone/>
                      </a:pPr>
                      <a:r>
                        <a:rPr lang="en-US" sz="1100" dirty="0">
                          <a:solidFill>
                            <a:srgbClr val="1F2429"/>
                          </a:solidFill>
                          <a:latin typeface="Calibri" pitchFamily="34" charset="0"/>
                          <a:ea typeface="Calibri" pitchFamily="34" charset="-122"/>
                          <a:cs typeface="Calibri" pitchFamily="34" charset="-120"/>
                        </a:rPr>
                        <a:t>Recording 40% of loans are computer-science books</a:t>
                      </a:r>
                      <a:endParaRPr lang="en-US" sz="11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Database Administration Functions</a:t>
            </a:r>
            <a:endParaRPr lang="en-US" sz="2800" dirty="0"/>
          </a:p>
        </p:txBody>
      </p:sp>
      <p:sp>
        <p:nvSpPr>
          <p:cNvPr id="3" name="Text 1"/>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8</a:t>
            </a:r>
            <a:endParaRPr lang="en-US" sz="1000" dirty="0"/>
          </a:p>
        </p:txBody>
      </p:sp>
      <p:sp>
        <p:nvSpPr>
          <p:cNvPr id="4" name="Text 2"/>
          <p:cNvSpPr txBox="1"/>
          <p:nvPr/>
        </p:nvSpPr>
        <p:spPr>
          <a:xfrm>
            <a:off x="640080" y="1143000"/>
            <a:ext cx="10881360" cy="457200"/>
          </a:xfrm>
          <a:prstGeom prst="rect">
            <a:avLst/>
          </a:prstGeom>
          <a:noFill/>
          <a:ln/>
        </p:spPr>
        <p:txBody>
          <a:bodyPr wrap="square" lIns="0" tIns="0" rIns="0" bIns="0" rtlCol="0" anchor="ctr"/>
          <a:lstStyle/>
          <a:p>
            <a:pPr indent="0" marL="0">
              <a:buNone/>
            </a:pPr>
            <a:r>
              <a:rPr lang="en-US" sz="1400" dirty="0">
                <a:solidFill>
                  <a:srgbClr val="1F2429"/>
                </a:solidFill>
                <a:latin typeface="Calibri" pitchFamily="34" charset="0"/>
                <a:ea typeface="Calibri" pitchFamily="34" charset="-122"/>
                <a:cs typeface="Calibri" pitchFamily="34" charset="-120"/>
              </a:rPr>
              <a:t>Database administration is the ongoing, human side of keeping a database healthy — the day-to-day work of the DBA role:</a:t>
            </a:r>
            <a:endParaRPr lang="en-US" sz="1400" dirty="0"/>
          </a:p>
        </p:txBody>
      </p:sp>
      <p:sp>
        <p:nvSpPr>
          <p:cNvPr id="5" name="Text 3"/>
          <p:cNvSpPr txBox="1"/>
          <p:nvPr/>
        </p:nvSpPr>
        <p:spPr>
          <a:xfrm>
            <a:off x="640080" y="1691640"/>
            <a:ext cx="10881360" cy="2834640"/>
          </a:xfrm>
          <a:prstGeom prst="rect">
            <a:avLst/>
          </a:prstGeom>
          <a:noFill/>
          <a:ln/>
        </p:spPr>
        <p:txBody>
          <a:bodyPr wrap="square" lIns="0" tIns="0" rIns="0" bIns="0" rtlCol="0" anchor="t"/>
          <a:lstStyle/>
          <a:p>
            <a:pPr marL="342900" indent="-342900">
              <a:spcAft>
                <a:spcPts val="800"/>
              </a:spcAft>
              <a:buSzPct val="100000"/>
              <a:buChar char="•"/>
            </a:pPr>
            <a:r>
              <a:rPr lang="en-US" sz="1250" b="1" dirty="0">
                <a:solidFill>
                  <a:srgbClr val="1F2429"/>
                </a:solidFill>
                <a:latin typeface="Calibri" pitchFamily="34" charset="0"/>
                <a:ea typeface="Calibri" pitchFamily="34" charset="-122"/>
                <a:cs typeface="Calibri" pitchFamily="34" charset="-120"/>
              </a:rPr>
              <a:t>Managing data storage and structure</a:t>
            </a:r>
            <a:pPr indent="0" marL="0">
              <a:spcAft>
                <a:spcPts val="800"/>
              </a:spcAft>
              <a:buNone/>
            </a:pPr>
            <a:r>
              <a:rPr lang="en-US" sz="1250" dirty="0">
                <a:solidFill>
                  <a:srgbClr val="1F2429"/>
                </a:solidFill>
                <a:latin typeface="Calibri" pitchFamily="34" charset="0"/>
                <a:ea typeface="Calibri" pitchFamily="34" charset="-122"/>
                <a:cs typeface="Calibri" pitchFamily="34" charset="-120"/>
              </a:rPr>
              <a:t> — physical storage decisions and creating DDL-defined structures</a:t>
            </a:r>
            <a:endParaRPr lang="en-US" sz="1250" dirty="0"/>
          </a:p>
          <a:p>
            <a:pPr marL="342900" indent="-342900">
              <a:spcAft>
                <a:spcPts val="800"/>
              </a:spcAft>
              <a:buSzPct val="100000"/>
              <a:buChar char="•"/>
            </a:pPr>
            <a:r>
              <a:rPr lang="en-US" sz="1250" b="1" dirty="0">
                <a:solidFill>
                  <a:srgbClr val="1F2429"/>
                </a:solidFill>
                <a:latin typeface="Calibri" pitchFamily="34" charset="0"/>
                <a:ea typeface="Calibri" pitchFamily="34" charset="-122"/>
                <a:cs typeface="Calibri" pitchFamily="34" charset="-120"/>
              </a:rPr>
              <a:t>Enforcing security and authorization</a:t>
            </a:r>
            <a:pPr indent="0" marL="0">
              <a:spcAft>
                <a:spcPts val="800"/>
              </a:spcAft>
              <a:buNone/>
            </a:pPr>
            <a:r>
              <a:rPr lang="en-US" sz="1250" dirty="0">
                <a:solidFill>
                  <a:srgbClr val="1F2429"/>
                </a:solidFill>
                <a:latin typeface="Calibri" pitchFamily="34" charset="0"/>
                <a:ea typeface="Calibri" pitchFamily="34" charset="-122"/>
                <a:cs typeface="Calibri" pitchFamily="34" charset="-120"/>
              </a:rPr>
              <a:t> — issuing and revoking DCL privileges as staff join, change roles, or leave</a:t>
            </a:r>
            <a:endParaRPr lang="en-US" sz="1250" dirty="0"/>
          </a:p>
          <a:p>
            <a:pPr marL="342900" indent="-342900">
              <a:spcAft>
                <a:spcPts val="800"/>
              </a:spcAft>
              <a:buSzPct val="100000"/>
              <a:buChar char="•"/>
            </a:pPr>
            <a:r>
              <a:rPr lang="en-US" sz="1250" b="1" dirty="0">
                <a:solidFill>
                  <a:srgbClr val="1F2429"/>
                </a:solidFill>
                <a:latin typeface="Calibri" pitchFamily="34" charset="0"/>
                <a:ea typeface="Calibri" pitchFamily="34" charset="-122"/>
                <a:cs typeface="Calibri" pitchFamily="34" charset="-120"/>
              </a:rPr>
              <a:t>Monitoring performance and tuning</a:t>
            </a:r>
            <a:pPr indent="0" marL="0">
              <a:spcAft>
                <a:spcPts val="800"/>
              </a:spcAft>
              <a:buNone/>
            </a:pPr>
            <a:r>
              <a:rPr lang="en-US" sz="1250" dirty="0">
                <a:solidFill>
                  <a:srgbClr val="1F2429"/>
                </a:solidFill>
                <a:latin typeface="Calibri" pitchFamily="34" charset="0"/>
                <a:ea typeface="Calibri" pitchFamily="34" charset="-122"/>
                <a:cs typeface="Calibri" pitchFamily="34" charset="-120"/>
              </a:rPr>
              <a:t> — watching for slow queries and adjusting indexes or configuration</a:t>
            </a:r>
            <a:endParaRPr lang="en-US" sz="1250" dirty="0"/>
          </a:p>
          <a:p>
            <a:pPr marL="342900" indent="-342900">
              <a:spcAft>
                <a:spcPts val="800"/>
              </a:spcAft>
              <a:buSzPct val="100000"/>
              <a:buChar char="•"/>
            </a:pPr>
            <a:r>
              <a:rPr lang="en-US" sz="1250" b="1" dirty="0">
                <a:solidFill>
                  <a:srgbClr val="1F2429"/>
                </a:solidFill>
                <a:latin typeface="Calibri" pitchFamily="34" charset="0"/>
                <a:ea typeface="Calibri" pitchFamily="34" charset="-122"/>
                <a:cs typeface="Calibri" pitchFamily="34" charset="-120"/>
              </a:rPr>
              <a:t>Managing backup and recovery</a:t>
            </a:r>
            <a:pPr indent="0" marL="0">
              <a:spcAft>
                <a:spcPts val="800"/>
              </a:spcAft>
              <a:buNone/>
            </a:pPr>
            <a:r>
              <a:rPr lang="en-US" sz="1250" dirty="0">
                <a:solidFill>
                  <a:srgbClr val="1F2429"/>
                </a:solidFill>
                <a:latin typeface="Calibri" pitchFamily="34" charset="0"/>
                <a:ea typeface="Calibri" pitchFamily="34" charset="-122"/>
                <a:cs typeface="Calibri" pitchFamily="34" charset="-120"/>
              </a:rPr>
              <a:t> — scheduling backups and rehearsing recovery before a real failure</a:t>
            </a:r>
            <a:endParaRPr lang="en-US" sz="1250" dirty="0"/>
          </a:p>
          <a:p>
            <a:pPr marL="342900" indent="-342900">
              <a:spcAft>
                <a:spcPts val="800"/>
              </a:spcAft>
              <a:buSzPct val="100000"/>
              <a:buChar char="•"/>
            </a:pPr>
            <a:r>
              <a:rPr lang="en-US" sz="1250" b="1" dirty="0">
                <a:solidFill>
                  <a:srgbClr val="1F2429"/>
                </a:solidFill>
                <a:latin typeface="Calibri" pitchFamily="34" charset="0"/>
                <a:ea typeface="Calibri" pitchFamily="34" charset="-122"/>
                <a:cs typeface="Calibri" pitchFamily="34" charset="-120"/>
              </a:rPr>
              <a:t>Maintaining data integrity</a:t>
            </a:r>
            <a:pPr indent="0" marL="0">
              <a:spcAft>
                <a:spcPts val="800"/>
              </a:spcAft>
              <a:buNone/>
            </a:pPr>
            <a:r>
              <a:rPr lang="en-US" sz="1250" dirty="0">
                <a:solidFill>
                  <a:srgbClr val="1F2429"/>
                </a:solidFill>
                <a:latin typeface="Calibri" pitchFamily="34" charset="0"/>
                <a:ea typeface="Calibri" pitchFamily="34" charset="-122"/>
                <a:cs typeface="Calibri" pitchFamily="34" charset="-120"/>
              </a:rPr>
              <a:t> — reviewing that constraints still reflect the organization's rules</a:t>
            </a:r>
            <a:endParaRPr lang="en-US" sz="1250" dirty="0"/>
          </a:p>
          <a:p>
            <a:pPr marL="342900" indent="-342900">
              <a:spcAft>
                <a:spcPts val="800"/>
              </a:spcAft>
              <a:buSzPct val="100000"/>
              <a:buChar char="•"/>
            </a:pPr>
            <a:r>
              <a:rPr lang="en-US" sz="1250" b="1" dirty="0">
                <a:solidFill>
                  <a:srgbClr val="1F2429"/>
                </a:solidFill>
                <a:latin typeface="Calibri" pitchFamily="34" charset="0"/>
                <a:ea typeface="Calibri" pitchFamily="34" charset="-122"/>
                <a:cs typeface="Calibri" pitchFamily="34" charset="-120"/>
              </a:rPr>
              <a:t>Liaising with users</a:t>
            </a:r>
            <a:pPr indent="0" marL="0">
              <a:spcAft>
                <a:spcPts val="800"/>
              </a:spcAft>
              <a:buNone/>
            </a:pPr>
            <a:r>
              <a:rPr lang="en-US" sz="1250" dirty="0">
                <a:solidFill>
                  <a:srgbClr val="1F2429"/>
                </a:solidFill>
                <a:latin typeface="Calibri" pitchFamily="34" charset="0"/>
                <a:ea typeface="Calibri" pitchFamily="34" charset="-122"/>
                <a:cs typeface="Calibri" pitchFamily="34" charset="-120"/>
              </a:rPr>
              <a:t> — translating user and developer needs into database changes</a:t>
            </a:r>
            <a:endParaRPr lang="en-US" sz="1250" dirty="0"/>
          </a:p>
        </p:txBody>
      </p:sp>
      <p:sp>
        <p:nvSpPr>
          <p:cNvPr id="6" name="Shape 4"/>
          <p:cNvSpPr/>
          <p:nvPr/>
        </p:nvSpPr>
        <p:spPr>
          <a:xfrm>
            <a:off x="640080" y="4709160"/>
            <a:ext cx="10881360" cy="1417320"/>
          </a:xfrm>
          <a:prstGeom prst="roundRect">
            <a:avLst>
              <a:gd name="adj" fmla="val 5161"/>
            </a:avLst>
          </a:prstGeom>
          <a:solidFill>
            <a:srgbClr val="FBEEDD"/>
          </a:solidFill>
          <a:ln w="12700">
            <a:solidFill>
              <a:srgbClr val="E8A33D"/>
            </a:solidFill>
            <a:prstDash val="solid"/>
          </a:ln>
        </p:spPr>
      </p:sp>
      <p:sp>
        <p:nvSpPr>
          <p:cNvPr id="7" name="Text 5"/>
          <p:cNvSpPr txBox="1"/>
          <p:nvPr/>
        </p:nvSpPr>
        <p:spPr>
          <a:xfrm>
            <a:off x="868680" y="4846320"/>
            <a:ext cx="10424160" cy="1143000"/>
          </a:xfrm>
          <a:prstGeom prst="rect">
            <a:avLst/>
          </a:prstGeom>
          <a:noFill/>
          <a:ln/>
        </p:spPr>
        <p:txBody>
          <a:bodyPr wrap="square" lIns="0" tIns="0" rIns="0" bIns="0" rtlCol="0" anchor="t"/>
          <a:lstStyle/>
          <a:p>
            <a:pPr indent="0" marL="0">
              <a:buNone/>
            </a:pPr>
            <a:r>
              <a:rPr lang="en-US" sz="1200" b="1" dirty="0">
                <a:solidFill>
                  <a:srgbClr val="1F2429"/>
                </a:solidFill>
                <a:latin typeface="Calibri" pitchFamily="34" charset="0"/>
                <a:ea typeface="Calibri" pitchFamily="34" charset="-122"/>
                <a:cs typeface="Calibri" pitchFamily="34" charset="-120"/>
              </a:rPr>
              <a:t>A common mix-up: utilities vs. administration.  </a:t>
            </a:r>
            <a:pPr indent="0" marL="0">
              <a:buNone/>
            </a:pPr>
            <a:r>
              <a:rPr lang="en-US" sz="1200" dirty="0">
                <a:solidFill>
                  <a:srgbClr val="1F2429"/>
                </a:solidFill>
                <a:latin typeface="Calibri" pitchFamily="34" charset="0"/>
                <a:ea typeface="Calibri" pitchFamily="34" charset="-122"/>
                <a:cs typeface="Calibri" pitchFamily="34" charset="-120"/>
              </a:rPr>
              <a:t>Utilities are tools; administration is the ongoing responsibility that uses those tools. A backup utility can exist for years without protecting anyone if no administrator schedules it to run.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640080"/>
            <a:ext cx="10515600"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Key Takeaways</a:t>
            </a:r>
            <a:endParaRPr lang="en-US" sz="3400" dirty="0"/>
          </a:p>
        </p:txBody>
      </p:sp>
      <p:sp>
        <p:nvSpPr>
          <p:cNvPr id="3" name="Text 1"/>
          <p:cNvSpPr txBox="1"/>
          <p:nvPr/>
        </p:nvSpPr>
        <p:spPr>
          <a:xfrm>
            <a:off x="822960" y="1645920"/>
            <a:ext cx="10332720" cy="4572000"/>
          </a:xfrm>
          <a:prstGeom prst="rect">
            <a:avLst/>
          </a:prstGeom>
          <a:noFill/>
          <a:ln/>
        </p:spPr>
        <p:txBody>
          <a:bodyPr wrap="square" lIns="0" tIns="0" rIns="0" bIns="0" rtlCol="0" anchor="t"/>
          <a:lstStyle/>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Database languages split by purpose into DDL (define structure), DML (work with data), and DCL (control access) — usually unified into one language such as SQL</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DDL creates, alters, and drops schema objects; every DDL statement updates the system catalog immediately</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DML retrieves and updates data; it can be procedural (specify how) or declarative (specify only what) — modern SQL is predominantly declarative</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DCL grants and revokes privileges, turning security policy into rules the DBMS enforces on every request</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Database utilities (load, backup, reorganize, monitor) are the tools; database administration is the DBA's ongoing responsibility that relies on them day to day</a:t>
            </a:r>
            <a:endParaRPr lang="en-US" sz="1600" dirty="0"/>
          </a:p>
        </p:txBody>
      </p:sp>
      <p:sp>
        <p:nvSpPr>
          <p:cNvPr id="4" name="Text 2"/>
          <p:cNvSpPr txBox="1"/>
          <p:nvPr/>
        </p:nvSpPr>
        <p:spPr>
          <a:xfrm>
            <a:off x="9951415" y="6455664"/>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9</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2026-09-29T15:23:51Z</dcterms:created>
  <dcterms:modified xsi:type="dcterms:W3CDTF">2026-09-29T15:23:51Z</dcterms:modified>
</cp:coreProperties>
</file>
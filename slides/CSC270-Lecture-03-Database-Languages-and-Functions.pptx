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5" r:id="rId16"/>
    <p:sldId id="266" r:id="rId17"/>
    <p:sldId id="260" r:id="rId6"/>
    <p:sldId id="267" r:id="rId18"/>
    <p:sldId id="268" r:id="rId19"/>
    <p:sldId id="269" r:id="rId20"/>
    <p:sldId id="261" r:id="rId7"/>
    <p:sldId id="270" r:id="rId21"/>
    <p:sldId id="271" r:id="rId22"/>
    <p:sldId id="262" r:id="rId8"/>
    <p:sldId id="272" r:id="rId23"/>
    <p:sldId id="263" r:id="rId9"/>
    <p:sldId id="273" r:id="rId24"/>
    <p:sldId id="274" r:id="rId25"/>
    <p:sldId id="264" r:id="rId10"/>
    <p:sldId id="275" r:id="rId26"/>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2148840"/>
            <a:ext cx="10515600" cy="457200"/>
          </a:xfrm>
          <a:prstGeom prst="rect">
            <a:avLst/>
          </a:prstGeom>
          <a:noFill/>
          <a:ln/>
        </p:spPr>
        <p:txBody>
          <a:bodyPr wrap="square" lIns="0" tIns="0" rIns="0" bIns="0" rtlCol="0" anchor="ctr"/>
          <a:lstStyle/>
          <a:p>
            <a:pPr indent="0" marL="0">
              <a:buNone/>
            </a:pPr>
            <a:r>
              <a:rPr lang="en-US" sz="1800" b="1" spc="300" kern="0" dirty="0">
                <a:solidFill>
                  <a:srgbClr val="2FE6C4"/>
                </a:solidFill>
                <a:latin typeface="Calibri" pitchFamily="34" charset="0"/>
                <a:ea typeface="Calibri" pitchFamily="34" charset="-122"/>
                <a:cs typeface="Calibri" pitchFamily="34" charset="-120"/>
              </a:rPr>
              <a:t>LECTURE 3</a:t>
            </a:r>
            <a:endParaRPr lang="en-US" sz="1800" dirty="0"/>
          </a:p>
        </p:txBody>
      </p:sp>
      <p:sp>
        <p:nvSpPr>
          <p:cNvPr id="3" name="Text 1"/>
          <p:cNvSpPr txBox="1"/>
          <p:nvPr/>
        </p:nvSpPr>
        <p:spPr>
          <a:xfrm>
            <a:off x="822960" y="2606040"/>
            <a:ext cx="10515600" cy="17373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Database Languages and Functions</a:t>
            </a:r>
            <a:endParaRPr lang="en-US" sz="4000" dirty="0"/>
          </a:p>
        </p:txBody>
      </p:sp>
      <p:sp>
        <p:nvSpPr>
          <p:cNvPr id="4" name="Text 2"/>
          <p:cNvSpPr txBox="1"/>
          <p:nvPr/>
        </p:nvSpPr>
        <p:spPr>
          <a:xfrm>
            <a:off x="822960" y="4343400"/>
            <a:ext cx="10515600" cy="457200"/>
          </a:xfrm>
          <a:prstGeom prst="rect">
            <a:avLst/>
          </a:prstGeom>
          <a:noFill/>
          <a:ln/>
        </p:spPr>
        <p:txBody>
          <a:bodyPr wrap="square" lIns="0" tIns="0" rIns="0" bIns="0" rtlCol="0" anchor="ctr"/>
          <a:lstStyle/>
          <a:p>
            <a:pPr indent="0" marL="0">
              <a:buNone/>
            </a:pPr>
            <a:r>
              <a:rPr lang="en-US" sz="1800" dirty="0">
                <a:solidFill>
                  <a:srgbClr val="2FE6C4"/>
                </a:solidFill>
                <a:latin typeface="Calibri" pitchFamily="34" charset="0"/>
                <a:ea typeface="Calibri" pitchFamily="34" charset="-122"/>
                <a:cs typeface="Calibri" pitchFamily="34" charset="-120"/>
              </a:rPr>
              <a:t>CSC270 · Database Systems</a:t>
            </a:r>
            <a:endParaRPr lang="en-US" sz="1800" dirty="0"/>
          </a:p>
        </p:txBody>
      </p:sp>
      <p:sp>
        <p:nvSpPr>
          <p:cNvPr id="5" name="Text 3"/>
          <p:cNvSpPr txBox="1"/>
          <p:nvPr/>
        </p:nvSpPr>
        <p:spPr>
          <a:xfrm>
            <a:off x="822960" y="4754880"/>
            <a:ext cx="10515600" cy="365760"/>
          </a:xfrm>
          <a:prstGeom prst="rect">
            <a:avLst/>
          </a:prstGeom>
          <a:noFill/>
          <a:ln/>
        </p:spPr>
        <p:txBody>
          <a:bodyPr wrap="square" lIns="0" tIns="0" rIns="0" bIns="0" rtlCol="0" anchor="ctr"/>
          <a:lstStyle/>
          <a:p>
            <a:pPr indent="0" marL="0">
              <a:buNone/>
            </a:pPr>
            <a:r>
              <a:rPr lang="en-US" sz="1800" dirty="0">
                <a:solidFill>
                  <a:srgbClr val="8A939B"/>
                </a:solidFill>
                <a:latin typeface="Calibri" pitchFamily="34" charset="0"/>
                <a:ea typeface="Calibri" pitchFamily="34" charset="-122"/>
                <a:cs typeface="Calibri" pitchFamily="34" charset="-120"/>
              </a:rPr>
              <a:t>COMSATS University Islamabad, Lahore Campus</a:t>
            </a:r>
            <a:endParaRPr lang="en-US" sz="1800" dirty="0"/>
          </a:p>
        </p:txBody>
      </p:sp>
      <p:sp>
        <p:nvSpPr>
          <p:cNvPr id="6" name="Text 4"/>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In This Lecture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Why database languages are split into three sub-languages by purpose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Data Definition Language (DDL): defining structure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Data Manipulation Language (DML): working with data, procedural vs. declarative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Data Control Language (DCL): security and access control</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complete list of core DBMS functions, expanded from Lecture 2</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Database utilities and the day-to-day tasks of database administration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Why Split the Language by Purpose?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3</a:t>
            </a:r>
            <a:endParaRPr lang="en-US" sz="1200" dirty="0"/>
          </a:p>
        </p:txBody>
      </p:sp>
      <p:sp>
        <p:nvSpPr>
          <p:cNvPr id="4" name="Text 2"/>
          <p:cNvSpPr txBox="1"/>
          <p:nvPr/>
        </p:nvSpPr>
        <p:spPr>
          <a:xfrm>
            <a:off x="640080" y="1188720"/>
            <a:ext cx="10881360" cy="59436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Talking to a DBMS involves three genuinely different kinds of statements: what the data looks like, working with the data itself, and who is allowed to do either.</a:t>
            </a:r>
            <a:endParaRPr lang="en-US" sz="1800" dirty="0"/>
          </a:p>
        </p:txBody>
      </p:sp>
      <p:sp>
        <p:nvSpPr>
          <p:cNvPr id="5" name="Text 3"/>
          <p:cNvSpPr txBox="1"/>
          <p:nvPr/>
        </p:nvSpPr>
        <p:spPr>
          <a:xfrm>
            <a:off x="640080" y="2011680"/>
            <a:ext cx="10881360" cy="274320"/>
          </a:xfrm>
          <a:prstGeom prst="rect">
            <a:avLst/>
          </a:prstGeom>
          <a:noFill/>
          <a:ln/>
        </p:spPr>
        <p:txBody>
          <a:bodyPr wrap="square" lIns="0" tIns="0" rIns="0" bIns="0" rtlCol="0" anchor="ctr"/>
          <a:lstStyle/>
          <a:p>
            <a:pPr indent="0" marL="0">
              <a:buNone/>
            </a:pPr>
            <a:r>
              <a:rPr lang="en-US" sz="1800" b="1" dirty="0">
                <a:solidFill>
                  <a:srgbClr val="8A939B"/>
                </a:solidFill>
                <a:latin typeface="Calibri" pitchFamily="34" charset="0"/>
                <a:ea typeface="Calibri" pitchFamily="34" charset="-122"/>
                <a:cs typeface="Calibri" pitchFamily="34" charset="-120"/>
              </a:rPr>
              <a:t>The three sub-languages of a database language</a:t>
            </a:r>
            <a:endParaRPr lang="en-US" sz="1800" dirty="0"/>
          </a:p>
        </p:txBody>
      </p:sp>
      <p:sp>
        <p:nvSpPr>
          <p:cNvPr id="6" name="Shape 4"/>
          <p:cNvSpPr/>
          <p:nvPr/>
        </p:nvSpPr>
        <p:spPr>
          <a:xfrm>
            <a:off x="640080" y="2331720"/>
            <a:ext cx="3352800" cy="1234440"/>
          </a:xfrm>
          <a:prstGeom prst="roundRect">
            <a:avLst>
              <a:gd name="adj" fmla="val 5926"/>
            </a:avLst>
          </a:prstGeom>
          <a:solidFill>
            <a:srgbClr val="2FE6C4"/>
          </a:solidFill>
          <a:ln/>
        </p:spPr>
      </p:sp>
      <p:sp>
        <p:nvSpPr>
          <p:cNvPr id="7" name="Text 5"/>
          <p:cNvSpPr txBox="1"/>
          <p:nvPr/>
        </p:nvSpPr>
        <p:spPr>
          <a:xfrm>
            <a:off x="777240" y="2441448"/>
            <a:ext cx="30784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DDL</a:t>
            </a:r>
            <a:endParaRPr lang="en-US" sz="1400" dirty="0"/>
          </a:p>
        </p:txBody>
      </p:sp>
      <p:sp>
        <p:nvSpPr>
          <p:cNvPr id="8" name="Text 6"/>
          <p:cNvSpPr txBox="1"/>
          <p:nvPr/>
        </p:nvSpPr>
        <p:spPr>
          <a:xfrm>
            <a:off x="777240" y="2788920"/>
            <a:ext cx="3078480" cy="6858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Defines structure — tables, columns, constraints</a:t>
            </a:r>
            <a:endParaRPr lang="en-US" sz="1400" dirty="0"/>
          </a:p>
        </p:txBody>
      </p:sp>
      <p:sp>
        <p:nvSpPr>
          <p:cNvPr id="9" name="Shape 7"/>
          <p:cNvSpPr/>
          <p:nvPr/>
        </p:nvSpPr>
        <p:spPr>
          <a:xfrm>
            <a:off x="4038600" y="2866644"/>
            <a:ext cx="320040" cy="164592"/>
          </a:xfrm>
          <a:prstGeom prst="rightArrow">
            <a:avLst/>
          </a:prstGeom>
          <a:solidFill>
            <a:srgbClr val="8A939B"/>
          </a:solidFill>
          <a:ln/>
        </p:spPr>
      </p:sp>
      <p:sp>
        <p:nvSpPr>
          <p:cNvPr id="10" name="Shape 8"/>
          <p:cNvSpPr/>
          <p:nvPr/>
        </p:nvSpPr>
        <p:spPr>
          <a:xfrm>
            <a:off x="4404360" y="2331720"/>
            <a:ext cx="3352800" cy="1234440"/>
          </a:xfrm>
          <a:prstGeom prst="roundRect">
            <a:avLst>
              <a:gd name="adj" fmla="val 5926"/>
            </a:avLst>
          </a:prstGeom>
          <a:solidFill>
            <a:srgbClr val="8B7FD9"/>
          </a:solidFill>
          <a:ln/>
        </p:spPr>
      </p:sp>
      <p:sp>
        <p:nvSpPr>
          <p:cNvPr id="11" name="Text 9"/>
          <p:cNvSpPr txBox="1"/>
          <p:nvPr/>
        </p:nvSpPr>
        <p:spPr>
          <a:xfrm>
            <a:off x="4541520" y="2441448"/>
            <a:ext cx="30784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DML</a:t>
            </a:r>
            <a:endParaRPr lang="en-US" sz="1400" dirty="0"/>
          </a:p>
        </p:txBody>
      </p:sp>
      <p:sp>
        <p:nvSpPr>
          <p:cNvPr id="12" name="Text 10"/>
          <p:cNvSpPr txBox="1"/>
          <p:nvPr/>
        </p:nvSpPr>
        <p:spPr>
          <a:xfrm>
            <a:off x="4541520" y="2788920"/>
            <a:ext cx="3078480" cy="6858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Reads and modifies the data living inside that structure</a:t>
            </a:r>
            <a:endParaRPr lang="en-US" sz="1400" dirty="0"/>
          </a:p>
        </p:txBody>
      </p:sp>
      <p:sp>
        <p:nvSpPr>
          <p:cNvPr id="13" name="Shape 11"/>
          <p:cNvSpPr/>
          <p:nvPr/>
        </p:nvSpPr>
        <p:spPr>
          <a:xfrm>
            <a:off x="7802880" y="2866644"/>
            <a:ext cx="320040" cy="164592"/>
          </a:xfrm>
          <a:prstGeom prst="rightArrow">
            <a:avLst/>
          </a:prstGeom>
          <a:solidFill>
            <a:srgbClr val="8A939B"/>
          </a:solidFill>
          <a:ln/>
        </p:spPr>
      </p:sp>
      <p:sp>
        <p:nvSpPr>
          <p:cNvPr id="14" name="Shape 12"/>
          <p:cNvSpPr/>
          <p:nvPr/>
        </p:nvSpPr>
        <p:spPr>
          <a:xfrm>
            <a:off x="8168640" y="2331720"/>
            <a:ext cx="3352800" cy="1234440"/>
          </a:xfrm>
          <a:prstGeom prst="roundRect">
            <a:avLst>
              <a:gd name="adj" fmla="val 5926"/>
            </a:avLst>
          </a:prstGeom>
          <a:solidFill>
            <a:srgbClr val="E8A33D"/>
          </a:solidFill>
          <a:ln/>
        </p:spPr>
      </p:sp>
      <p:sp>
        <p:nvSpPr>
          <p:cNvPr id="15" name="Text 13"/>
          <p:cNvSpPr txBox="1"/>
          <p:nvPr/>
        </p:nvSpPr>
        <p:spPr>
          <a:xfrm>
            <a:off x="8305800" y="2441448"/>
            <a:ext cx="30784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DCL</a:t>
            </a:r>
            <a:endParaRPr lang="en-US" sz="1400" dirty="0"/>
          </a:p>
        </p:txBody>
      </p:sp>
      <p:sp>
        <p:nvSpPr>
          <p:cNvPr id="16" name="Text 14"/>
          <p:cNvSpPr txBox="1"/>
          <p:nvPr/>
        </p:nvSpPr>
        <p:spPr>
          <a:xfrm>
            <a:off x="8305800" y="2788920"/>
            <a:ext cx="3078480" cy="6858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Controls who is allowed to use the DDL and DML above</a:t>
            </a:r>
            <a:endParaRPr lang="en-US" sz="1400" dirty="0"/>
          </a:p>
        </p:txBody>
      </p:sp>
      <p:sp>
        <p:nvSpPr>
          <p:cNvPr id="17" name="Shape 15"/>
          <p:cNvSpPr/>
          <p:nvPr/>
        </p:nvSpPr>
        <p:spPr>
          <a:xfrm>
            <a:off x="640080" y="3931920"/>
            <a:ext cx="10881360" cy="1783080"/>
          </a:xfrm>
          <a:prstGeom prst="roundRect">
            <a:avLst>
              <a:gd name="adj" fmla="val 4103"/>
            </a:avLst>
          </a:prstGeom>
          <a:solidFill>
            <a:srgbClr val="F7F8F9"/>
          </a:solidFill>
          <a:ln w="12700">
            <a:solidFill>
              <a:srgbClr val="D8DCE1"/>
            </a:solidFill>
            <a:prstDash val="solid"/>
          </a:ln>
        </p:spPr>
      </p:sp>
      <p:sp>
        <p:nvSpPr>
          <p:cNvPr id="18" name="Text 16"/>
          <p:cNvSpPr txBox="1"/>
          <p:nvPr/>
        </p:nvSpPr>
        <p:spPr>
          <a:xfrm>
            <a:off x="868680" y="4069080"/>
            <a:ext cx="10424160" cy="1554480"/>
          </a:xfrm>
          <a:prstGeom prst="rect">
            <a:avLst/>
          </a:prstGeom>
          <a:noFill/>
          <a:ln/>
        </p:spPr>
        <p:txBody>
          <a:bodyPr wrap="square" lIns="0" tIns="0" rIns="0" bIns="0" rtlCol="0" anchor="t"/>
          <a:lstStyle/>
          <a:p>
            <a:pPr indent="0" marL="0">
              <a:buNone/>
            </a:pPr>
            <a:r>
              <a:rPr lang="en-US" sz="1800" b="1" dirty="0">
                <a:solidFill>
                  <a:srgbClr val="1F2429"/>
                </a:solidFill>
                <a:latin typeface="Calibri" pitchFamily="34" charset="0"/>
                <a:ea typeface="Calibri" pitchFamily="34" charset="-122"/>
                <a:cs typeface="Calibri" pitchFamily="34" charset="-120"/>
              </a:rPr>
              <a:t>One language, three jobs.  </a:t>
            </a:r>
            <a:pPr indent="0" marL="0">
              <a:buNone/>
            </a:pPr>
            <a:r>
              <a:rPr lang="en-US" sz="1800" dirty="0">
                <a:solidFill>
                  <a:srgbClr val="1F2429"/>
                </a:solidFill>
                <a:latin typeface="Calibri" pitchFamily="34" charset="0"/>
                <a:ea typeface="Calibri" pitchFamily="34" charset="-122"/>
                <a:cs typeface="Calibri" pitchFamily="34" charset="-120"/>
              </a:rPr>
              <a:t>In a modern relational DBMS, DDL, DML, and DCL are usually all part of the same language — SQL — rather than three separate languages learned one at a time. The split here is by purpose, so each part can be reasoned about on its own; SQL itself is covered later in this course, once the relational model is established.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Data Definition Language (DDL)</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4</a:t>
            </a:r>
            <a:endParaRPr lang="en-US" sz="1200" dirty="0"/>
          </a:p>
        </p:txBody>
      </p:sp>
      <p:sp>
        <p:nvSpPr>
          <p:cNvPr id="4" name="Text 2"/>
          <p:cNvSpPr txBox="1"/>
          <p:nvPr/>
        </p:nvSpPr>
        <p:spPr>
          <a:xfrm>
            <a:off x="640080" y="1188720"/>
            <a:ext cx="10881360" cy="822960"/>
          </a:xfrm>
          <a:prstGeom prst="rect">
            <a:avLst/>
          </a:prstGeom>
          <a:noFill/>
          <a:ln/>
        </p:spPr>
        <p:txBody>
          <a:bodyPr wrap="square" lIns="0" tIns="0" rIns="0" bIns="0" rtlCol="0" anchor="t"/>
          <a:lstStyle/>
          <a:p>
            <a:pPr indent="0" marL="0">
              <a:buNone/>
            </a:pPr>
            <a:r>
              <a:rPr lang="en-US" sz="1800" b="1" dirty="0">
                <a:solidFill>
                  <a:srgbClr val="2FE6C4"/>
                </a:solidFill>
                <a:latin typeface="Calibri" pitchFamily="34" charset="0"/>
                <a:ea typeface="Calibri" pitchFamily="34" charset="-122"/>
                <a:cs typeface="Calibri" pitchFamily="34" charset="-120"/>
              </a:rPr>
              <a:t>DDL</a:t>
            </a:r>
            <a:pPr indent="0" marL="0">
              <a:buNone/>
            </a:pPr>
            <a:r>
              <a:rPr lang="en-US" sz="1800" dirty="0">
                <a:solidFill>
                  <a:srgbClr val="1F2429"/>
                </a:solidFill>
                <a:latin typeface="Calibri" pitchFamily="34" charset="0"/>
                <a:ea typeface="Calibri" pitchFamily="34" charset="-122"/>
                <a:cs typeface="Calibri" pitchFamily="34" charset="-120"/>
              </a:rPr>
              <a:t> defines, alters, and removes the database's structure — its schema — rather than the data inside it. For a library system, DDL creates the Book and Member relations, and later adds a column Book didn't originally have.</a:t>
            </a:r>
            <a:endParaRPr lang="en-US" sz="1800" dirty="0"/>
          </a:p>
        </p:txBody>
      </p:sp>
      <p:sp>
        <p:nvSpPr>
          <p:cNvPr id="5" name="Text 3"/>
          <p:cNvSpPr txBox="1"/>
          <p:nvPr/>
        </p:nvSpPr>
        <p:spPr>
          <a:xfrm>
            <a:off x="640080" y="2057400"/>
            <a:ext cx="7315200" cy="274320"/>
          </a:xfrm>
          <a:prstGeom prst="rect">
            <a:avLst/>
          </a:prstGeom>
          <a:noFill/>
          <a:ln/>
        </p:spPr>
        <p:txBody>
          <a:bodyPr wrap="square" lIns="0" tIns="0" rIns="0" bIns="0" rtlCol="0" anchor="ctr"/>
          <a:lstStyle/>
          <a:p>
            <a:pPr indent="0" marL="0">
              <a:buNone/>
            </a:pPr>
            <a:r>
              <a:rPr lang="en-US" sz="1800" b="1" dirty="0">
                <a:solidFill>
                  <a:srgbClr val="1F2429"/>
                </a:solidFill>
                <a:latin typeface="Courier New" pitchFamily="34" charset="0"/>
                <a:ea typeface="Courier New" pitchFamily="34" charset="-122"/>
                <a:cs typeface="Courier New" pitchFamily="34" charset="-120"/>
              </a:rPr>
              <a:t>Book (isbn, title, author, available)</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2377440"/>
          <a:ext cx="10881360" cy="960120"/>
        </p:xfrm>
        <a:graphic>
          <a:graphicData uri="http://schemas.openxmlformats.org/drawingml/2006/table">
            <a:tbl>
              <a:tblPr/>
              <a:tblGrid>
                <a:gridCol w="2743200"/>
                <a:gridCol w="2926080"/>
                <a:gridCol w="3383280"/>
                <a:gridCol w="1828800"/>
              </a:tblGrid>
              <a:tr h="3200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isbn</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author</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available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r>
              <a:tr h="320040">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978-0132350884</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Clean Code</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Robert C. Martin</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true</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320040">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978-0201633610</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Design Patterns</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Gamma, Helm, Johnson, Vlissides</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ourier New" pitchFamily="34" charset="0"/>
                          <a:ea typeface="Courier New" pitchFamily="34" charset="-122"/>
                          <a:cs typeface="Courier New" pitchFamily="34" charset="-120"/>
                        </a:rPr>
                        <a:t>false</a:t>
                      </a:r>
                      <a:endParaRPr lang="en-US" sz="1400" dirty="0">
                        <a:latin typeface="Courier New" charset="0"/>
                        <a:ea typeface="Courier New" charset="0"/>
                        <a:cs typeface="Courier New"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bl>
          </a:graphicData>
        </a:graphic>
      </p:graphicFrame>
      <p:sp>
        <p:nvSpPr>
          <p:cNvPr id="7" name="Shape 4"/>
          <p:cNvSpPr/>
          <p:nvPr/>
        </p:nvSpPr>
        <p:spPr>
          <a:xfrm>
            <a:off x="640080" y="3703320"/>
            <a:ext cx="457200" cy="457200"/>
          </a:xfrm>
          <a:prstGeom prst="ellipse">
            <a:avLst/>
          </a:prstGeom>
          <a:solidFill>
            <a:srgbClr val="2FE6C4"/>
          </a:solidFill>
          <a:ln/>
        </p:spPr>
      </p:sp>
      <p:sp>
        <p:nvSpPr>
          <p:cNvPr id="8" name="Text 5"/>
          <p:cNvSpPr txBox="1"/>
          <p:nvPr/>
        </p:nvSpPr>
        <p:spPr>
          <a:xfrm>
            <a:off x="640080" y="37033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9" name="Text 6"/>
          <p:cNvSpPr txBox="1"/>
          <p:nvPr/>
        </p:nvSpPr>
        <p:spPr>
          <a:xfrm>
            <a:off x="1234440" y="3675888"/>
            <a:ext cx="2880360" cy="320040"/>
          </a:xfrm>
          <a:prstGeom prst="rect">
            <a:avLst/>
          </a:prstGeom>
          <a:noFill/>
          <a:ln/>
        </p:spPr>
        <p:txBody>
          <a:bodyPr wrap="square" lIns="0" tIns="0" rIns="0" bIns="0" rtlCol="0" anchor="ctr"/>
          <a:lstStyle/>
          <a:p>
            <a:pPr indent="0" marL="0">
              <a:buNone/>
            </a:pPr>
            <a:r>
              <a:rPr lang="en-US" sz="1600" b="1" dirty="0">
                <a:solidFill>
                  <a:srgbClr val="1F2429"/>
                </a:solidFill>
                <a:latin typeface="Calibri" pitchFamily="34" charset="0"/>
                <a:ea typeface="Calibri" pitchFamily="34" charset="-122"/>
                <a:cs typeface="Calibri" pitchFamily="34" charset="-120"/>
              </a:rPr>
              <a:t>Create</a:t>
            </a:r>
            <a:endParaRPr lang="en-US" sz="1500" dirty="0"/>
          </a:p>
        </p:txBody>
      </p:sp>
      <p:sp>
        <p:nvSpPr>
          <p:cNvPr id="10" name="Text 7"/>
          <p:cNvSpPr txBox="1"/>
          <p:nvPr/>
        </p:nvSpPr>
        <p:spPr>
          <a:xfrm>
            <a:off x="1234440" y="3977640"/>
            <a:ext cx="2880360" cy="457200"/>
          </a:xfrm>
          <a:prstGeom prst="rect">
            <a:avLst/>
          </a:prstGeom>
          <a:noFill/>
          <a:ln/>
        </p:spPr>
        <p:txBody>
          <a:bodyPr wrap="square" lIns="0" tIns="0" rIns="0" bIns="0" rtlCol="0" anchor="ctr"/>
          <a:lstStyle/>
          <a:p>
            <a:pPr indent="0" marL="0">
              <a:buNone/>
            </a:pPr>
            <a:r>
              <a:rPr lang="en-US" sz="1400" dirty="0">
                <a:solidFill>
                  <a:srgbClr val="8A939B"/>
                </a:solidFill>
                <a:latin typeface="Calibri" pitchFamily="34" charset="0"/>
                <a:ea typeface="Calibri" pitchFamily="34" charset="-122"/>
                <a:cs typeface="Calibri" pitchFamily="34" charset="-120"/>
              </a:rPr>
              <a:t>A new table, view, index, or entire database</a:t>
            </a:r>
            <a:endParaRPr lang="en-US" sz="1400" dirty="0"/>
          </a:p>
        </p:txBody>
      </p:sp>
      <p:sp>
        <p:nvSpPr>
          <p:cNvPr id="11" name="Shape 8"/>
          <p:cNvSpPr/>
          <p:nvPr/>
        </p:nvSpPr>
        <p:spPr>
          <a:xfrm>
            <a:off x="4389120" y="3703320"/>
            <a:ext cx="457200" cy="457200"/>
          </a:xfrm>
          <a:prstGeom prst="ellipse">
            <a:avLst/>
          </a:prstGeom>
          <a:solidFill>
            <a:srgbClr val="8B7FD9"/>
          </a:solidFill>
          <a:ln/>
        </p:spPr>
      </p:sp>
      <p:sp>
        <p:nvSpPr>
          <p:cNvPr id="12" name="Text 9"/>
          <p:cNvSpPr txBox="1"/>
          <p:nvPr/>
        </p:nvSpPr>
        <p:spPr>
          <a:xfrm>
            <a:off x="4389120" y="37033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3" name="Text 10"/>
          <p:cNvSpPr txBox="1"/>
          <p:nvPr/>
        </p:nvSpPr>
        <p:spPr>
          <a:xfrm>
            <a:off x="4983480" y="3675888"/>
            <a:ext cx="2880360" cy="320040"/>
          </a:xfrm>
          <a:prstGeom prst="rect">
            <a:avLst/>
          </a:prstGeom>
          <a:noFill/>
          <a:ln/>
        </p:spPr>
        <p:txBody>
          <a:bodyPr wrap="square" lIns="0" tIns="0" rIns="0" bIns="0" rtlCol="0" anchor="ctr"/>
          <a:lstStyle/>
          <a:p>
            <a:pPr indent="0" marL="0">
              <a:buNone/>
            </a:pPr>
            <a:r>
              <a:rPr lang="en-US" sz="1600" b="1" dirty="0">
                <a:solidFill>
                  <a:srgbClr val="1F2429"/>
                </a:solidFill>
                <a:latin typeface="Calibri" pitchFamily="34" charset="0"/>
                <a:ea typeface="Calibri" pitchFamily="34" charset="-122"/>
                <a:cs typeface="Calibri" pitchFamily="34" charset="-120"/>
              </a:rPr>
              <a:t>Alter</a:t>
            </a:r>
            <a:endParaRPr lang="en-US" sz="1500" dirty="0"/>
          </a:p>
        </p:txBody>
      </p:sp>
      <p:sp>
        <p:nvSpPr>
          <p:cNvPr id="14" name="Text 11"/>
          <p:cNvSpPr txBox="1"/>
          <p:nvPr/>
        </p:nvSpPr>
        <p:spPr>
          <a:xfrm>
            <a:off x="4983480" y="3977640"/>
            <a:ext cx="2880360" cy="457200"/>
          </a:xfrm>
          <a:prstGeom prst="rect">
            <a:avLst/>
          </a:prstGeom>
          <a:noFill/>
          <a:ln/>
        </p:spPr>
        <p:txBody>
          <a:bodyPr wrap="square" lIns="0" tIns="0" rIns="0" bIns="0" rtlCol="0" anchor="ctr"/>
          <a:lstStyle/>
          <a:p>
            <a:pPr indent="0" marL="0">
              <a:buNone/>
            </a:pPr>
            <a:r>
              <a:rPr lang="en-US" sz="1400" dirty="0">
                <a:solidFill>
                  <a:srgbClr val="8A939B"/>
                </a:solidFill>
                <a:latin typeface="Calibri" pitchFamily="34" charset="0"/>
                <a:ea typeface="Calibri" pitchFamily="34" charset="-122"/>
                <a:cs typeface="Calibri" pitchFamily="34" charset="-120"/>
              </a:rPr>
              <a:t>Add, remove, or modify a column; add a constraint</a:t>
            </a:r>
            <a:endParaRPr lang="en-US" sz="1400" dirty="0"/>
          </a:p>
        </p:txBody>
      </p:sp>
      <p:sp>
        <p:nvSpPr>
          <p:cNvPr id="15" name="Shape 12"/>
          <p:cNvSpPr/>
          <p:nvPr/>
        </p:nvSpPr>
        <p:spPr>
          <a:xfrm>
            <a:off x="8138160" y="3703320"/>
            <a:ext cx="457200" cy="457200"/>
          </a:xfrm>
          <a:prstGeom prst="ellipse">
            <a:avLst/>
          </a:prstGeom>
          <a:solidFill>
            <a:srgbClr val="E8A33D"/>
          </a:solidFill>
          <a:ln/>
        </p:spPr>
      </p:sp>
      <p:sp>
        <p:nvSpPr>
          <p:cNvPr id="16" name="Text 13"/>
          <p:cNvSpPr txBox="1"/>
          <p:nvPr/>
        </p:nvSpPr>
        <p:spPr>
          <a:xfrm>
            <a:off x="8138160" y="37033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7" name="Text 14"/>
          <p:cNvSpPr txBox="1"/>
          <p:nvPr/>
        </p:nvSpPr>
        <p:spPr>
          <a:xfrm>
            <a:off x="8732520" y="3675888"/>
            <a:ext cx="2788920" cy="320040"/>
          </a:xfrm>
          <a:prstGeom prst="rect">
            <a:avLst/>
          </a:prstGeom>
          <a:noFill/>
          <a:ln/>
        </p:spPr>
        <p:txBody>
          <a:bodyPr wrap="square" lIns="0" tIns="0" rIns="0" bIns="0" rtlCol="0" anchor="ctr"/>
          <a:lstStyle/>
          <a:p>
            <a:pPr indent="0" marL="0">
              <a:buNone/>
            </a:pPr>
            <a:r>
              <a:rPr lang="en-US" sz="1600" b="1" dirty="0">
                <a:solidFill>
                  <a:srgbClr val="1F2429"/>
                </a:solidFill>
                <a:latin typeface="Calibri" pitchFamily="34" charset="0"/>
                <a:ea typeface="Calibri" pitchFamily="34" charset="-122"/>
                <a:cs typeface="Calibri" pitchFamily="34" charset="-120"/>
              </a:rPr>
              <a:t>Drop</a:t>
            </a:r>
            <a:endParaRPr lang="en-US" sz="1500" dirty="0"/>
          </a:p>
        </p:txBody>
      </p:sp>
      <p:sp>
        <p:nvSpPr>
          <p:cNvPr id="18" name="Text 15"/>
          <p:cNvSpPr txBox="1"/>
          <p:nvPr/>
        </p:nvSpPr>
        <p:spPr>
          <a:xfrm>
            <a:off x="8732520" y="3977640"/>
            <a:ext cx="2788920" cy="457200"/>
          </a:xfrm>
          <a:prstGeom prst="rect">
            <a:avLst/>
          </a:prstGeom>
          <a:noFill/>
          <a:ln/>
        </p:spPr>
        <p:txBody>
          <a:bodyPr wrap="square" lIns="0" tIns="0" rIns="0" bIns="0" rtlCol="0" anchor="ctr"/>
          <a:lstStyle/>
          <a:p>
            <a:pPr indent="0" marL="0">
              <a:buNone/>
            </a:pPr>
            <a:r>
              <a:rPr lang="en-US" sz="1400" dirty="0">
                <a:solidFill>
                  <a:srgbClr val="8A939B"/>
                </a:solidFill>
                <a:latin typeface="Calibri" pitchFamily="34" charset="0"/>
                <a:ea typeface="Calibri" pitchFamily="34" charset="-122"/>
                <a:cs typeface="Calibri" pitchFamily="34" charset="-120"/>
              </a:rPr>
              <a:t>Remove a table, view, or index — and typically its data</a:t>
            </a:r>
            <a:endParaRPr lang="en-US" sz="1400" dirty="0"/>
          </a:p>
        </p:txBody>
      </p:sp>
      <p:sp>
        <p:nvSpPr>
          <p:cNvPr id="19" name="Shape 16"/>
          <p:cNvSpPr/>
          <p:nvPr/>
        </p:nvSpPr>
        <p:spPr>
          <a:xfrm>
            <a:off x="640080" y="4800600"/>
            <a:ext cx="10881360" cy="868680"/>
          </a:xfrm>
          <a:prstGeom prst="roundRect">
            <a:avLst>
              <a:gd name="adj" fmla="val 8421"/>
            </a:avLst>
          </a:prstGeom>
          <a:solidFill>
            <a:srgbClr val="E9FBF6"/>
          </a:solidFill>
          <a:ln w="12700">
            <a:solidFill>
              <a:srgbClr val="2FE6C4"/>
            </a:solidFill>
            <a:prstDash val="solid"/>
          </a:ln>
        </p:spPr>
      </p:sp>
      <p:sp>
        <p:nvSpPr>
          <p:cNvPr id="20" name="Text 17"/>
          <p:cNvSpPr txBox="1"/>
          <p:nvPr/>
        </p:nvSpPr>
        <p:spPr>
          <a:xfrm>
            <a:off x="868680" y="4919472"/>
            <a:ext cx="10424160" cy="68580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Every DDL statement, when executed, updates the system catalog — which is precisely why DDL changes are felt everywhere at once: every part of the DBMS that consults the catalog immediately sees the new structure.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Data Manipulation Language (DML)</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7</a:t>
            </a:r>
            <a:endParaRPr lang="en-US" sz="1200" dirty="0"/>
          </a:p>
        </p:txBody>
      </p:sp>
      <p:sp>
        <p:nvSpPr>
          <p:cNvPr id="4" name="Text 2"/>
          <p:cNvSpPr txBox="1"/>
          <p:nvPr/>
        </p:nvSpPr>
        <p:spPr>
          <a:xfrm>
            <a:off x="640080" y="1188720"/>
            <a:ext cx="10881360" cy="54864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Where DDL shapes the container, DML works with what's inside it: retrieving existing data and inserting, updating, or deleting rows.</a:t>
            </a:r>
            <a:endParaRPr lang="en-US" sz="1800" dirty="0"/>
          </a:p>
        </p:txBody>
      </p:sp>
      <p:sp>
        <p:nvSpPr>
          <p:cNvPr id="5" name="Shape 3"/>
          <p:cNvSpPr/>
          <p:nvPr/>
        </p:nvSpPr>
        <p:spPr>
          <a:xfrm>
            <a:off x="640080" y="1874520"/>
            <a:ext cx="5326380" cy="1234440"/>
          </a:xfrm>
          <a:prstGeom prst="roundRect">
            <a:avLst>
              <a:gd name="adj" fmla="val 5926"/>
            </a:avLst>
          </a:prstGeom>
          <a:solidFill>
            <a:srgbClr val="2FE6C4"/>
          </a:solidFill>
          <a:ln/>
        </p:spPr>
      </p:sp>
      <p:sp>
        <p:nvSpPr>
          <p:cNvPr id="6" name="Text 4"/>
          <p:cNvSpPr txBox="1"/>
          <p:nvPr/>
        </p:nvSpPr>
        <p:spPr>
          <a:xfrm>
            <a:off x="822960" y="200253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Retrieval</a:t>
            </a:r>
            <a:endParaRPr lang="en-US" sz="1800" dirty="0"/>
          </a:p>
        </p:txBody>
      </p:sp>
      <p:sp>
        <p:nvSpPr>
          <p:cNvPr id="7" name="Text 5"/>
          <p:cNvSpPr txBox="1"/>
          <p:nvPr/>
        </p:nvSpPr>
        <p:spPr>
          <a:xfrm>
            <a:off x="822960" y="2350008"/>
            <a:ext cx="4960620" cy="66751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Asking questions of existing data without changing anything</a:t>
            </a:r>
            <a:endParaRPr lang="en-US" sz="1800" dirty="0"/>
          </a:p>
        </p:txBody>
      </p:sp>
      <p:sp>
        <p:nvSpPr>
          <p:cNvPr id="8" name="Shape 6"/>
          <p:cNvSpPr/>
          <p:nvPr/>
        </p:nvSpPr>
        <p:spPr>
          <a:xfrm>
            <a:off x="6195060" y="1874520"/>
            <a:ext cx="5326380" cy="1234440"/>
          </a:xfrm>
          <a:prstGeom prst="roundRect">
            <a:avLst>
              <a:gd name="adj" fmla="val 5926"/>
            </a:avLst>
          </a:prstGeom>
          <a:solidFill>
            <a:srgbClr val="8B7FD9"/>
          </a:solidFill>
          <a:ln/>
        </p:spPr>
      </p:sp>
      <p:sp>
        <p:nvSpPr>
          <p:cNvPr id="9" name="Text 7"/>
          <p:cNvSpPr txBox="1"/>
          <p:nvPr/>
        </p:nvSpPr>
        <p:spPr>
          <a:xfrm>
            <a:off x="6377940" y="200253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Update</a:t>
            </a:r>
            <a:endParaRPr lang="en-US" sz="1800" dirty="0"/>
          </a:p>
        </p:txBody>
      </p:sp>
      <p:sp>
        <p:nvSpPr>
          <p:cNvPr id="10" name="Text 8"/>
          <p:cNvSpPr txBox="1"/>
          <p:nvPr/>
        </p:nvSpPr>
        <p:spPr>
          <a:xfrm>
            <a:off x="6377940" y="2350008"/>
            <a:ext cx="4960620" cy="66751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Inserting new data, modifying existing data, or deleting data</a:t>
            </a:r>
            <a:endParaRPr lang="en-US" sz="1800" dirty="0"/>
          </a:p>
        </p:txBody>
      </p:sp>
      <p:sp>
        <p:nvSpPr>
          <p:cNvPr id="11" name="Text 9"/>
          <p:cNvSpPr txBox="1"/>
          <p:nvPr/>
        </p:nvSpPr>
        <p:spPr>
          <a:xfrm>
            <a:off x="640080" y="3337560"/>
            <a:ext cx="10881360" cy="274320"/>
          </a:xfrm>
          <a:prstGeom prst="rect">
            <a:avLst/>
          </a:prstGeom>
          <a:noFill/>
          <a:ln/>
        </p:spPr>
        <p:txBody>
          <a:bodyPr wrap="square" lIns="0" tIns="0" rIns="0" bIns="0" rtlCol="0" anchor="ctr"/>
          <a:lstStyle/>
          <a:p>
            <a:pPr indent="0" marL="0">
              <a:buNone/>
            </a:pPr>
            <a:r>
              <a:rPr lang="en-US" sz="1800" b="1" dirty="0">
                <a:solidFill>
                  <a:srgbClr val="8A939B"/>
                </a:solidFill>
                <a:latin typeface="Calibri" pitchFamily="34" charset="0"/>
                <a:ea typeface="Calibri" pitchFamily="34" charset="-122"/>
                <a:cs typeface="Calibri" pitchFamily="34" charset="-120"/>
              </a:rPr>
              <a:t>Procedural vs. declarative DML — a distinction worth remembering early</a:t>
            </a:r>
            <a:endParaRPr lang="en-US" sz="1800" dirty="0"/>
          </a:p>
        </p:txBody>
      </p:sp>
      <p:sp>
        <p:nvSpPr>
          <p:cNvPr id="12" name="Shape 10"/>
          <p:cNvSpPr/>
          <p:nvPr/>
        </p:nvSpPr>
        <p:spPr>
          <a:xfrm>
            <a:off x="640080" y="3657600"/>
            <a:ext cx="5326380" cy="1097280"/>
          </a:xfrm>
          <a:prstGeom prst="roundRect">
            <a:avLst>
              <a:gd name="adj" fmla="val 6667"/>
            </a:avLst>
          </a:prstGeom>
          <a:solidFill>
            <a:srgbClr val="E8A33D"/>
          </a:solidFill>
          <a:ln/>
        </p:spPr>
      </p:sp>
      <p:sp>
        <p:nvSpPr>
          <p:cNvPr id="13" name="Text 11"/>
          <p:cNvSpPr txBox="1"/>
          <p:nvPr/>
        </p:nvSpPr>
        <p:spPr>
          <a:xfrm>
            <a:off x="822960" y="378561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Procedural DML</a:t>
            </a:r>
            <a:endParaRPr lang="en-US" sz="1800" dirty="0"/>
          </a:p>
        </p:txBody>
      </p:sp>
      <p:sp>
        <p:nvSpPr>
          <p:cNvPr id="14" name="Text 12"/>
          <p:cNvSpPr txBox="1"/>
          <p:nvPr/>
        </p:nvSpPr>
        <p:spPr>
          <a:xfrm>
            <a:off x="822960" y="4133088"/>
            <a:ext cx="4960620" cy="53035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Say what data is needed AND how to get it, step by step (relational algebra)</a:t>
            </a:r>
            <a:endParaRPr lang="en-US" sz="1800" dirty="0"/>
          </a:p>
        </p:txBody>
      </p:sp>
      <p:sp>
        <p:nvSpPr>
          <p:cNvPr id="15" name="Shape 13"/>
          <p:cNvSpPr/>
          <p:nvPr/>
        </p:nvSpPr>
        <p:spPr>
          <a:xfrm>
            <a:off x="6195060" y="3657600"/>
            <a:ext cx="5326380" cy="1097280"/>
          </a:xfrm>
          <a:prstGeom prst="roundRect">
            <a:avLst>
              <a:gd name="adj" fmla="val 6667"/>
            </a:avLst>
          </a:prstGeom>
          <a:solidFill>
            <a:srgbClr val="2FE6C4"/>
          </a:solidFill>
          <a:ln/>
        </p:spPr>
      </p:sp>
      <p:sp>
        <p:nvSpPr>
          <p:cNvPr id="16" name="Text 14"/>
          <p:cNvSpPr txBox="1"/>
          <p:nvPr/>
        </p:nvSpPr>
        <p:spPr>
          <a:xfrm>
            <a:off x="6377940" y="3785616"/>
            <a:ext cx="496062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Declarative DML</a:t>
            </a:r>
            <a:endParaRPr lang="en-US" sz="1800" dirty="0"/>
          </a:p>
        </p:txBody>
      </p:sp>
      <p:sp>
        <p:nvSpPr>
          <p:cNvPr id="17" name="Text 15"/>
          <p:cNvSpPr txBox="1"/>
          <p:nvPr/>
        </p:nvSpPr>
        <p:spPr>
          <a:xfrm>
            <a:off x="6377940" y="4133088"/>
            <a:ext cx="4960620" cy="530352"/>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Specify only what data is needed; the optimizer decides how — what SQL and relational calculus do</a:t>
            </a:r>
            <a:endParaRPr lang="en-US" sz="1800" dirty="0"/>
          </a:p>
        </p:txBody>
      </p:sp>
      <p:sp>
        <p:nvSpPr>
          <p:cNvPr id="18" name="Text 16"/>
          <p:cNvSpPr txBox="1"/>
          <p:nvPr/>
        </p:nvSpPr>
        <p:spPr>
          <a:xfrm>
            <a:off x="640080" y="5074920"/>
            <a:ext cx="10881360" cy="822960"/>
          </a:xfrm>
          <a:prstGeom prst="rect">
            <a:avLst/>
          </a:prstGeom>
          <a:noFill/>
          <a:ln/>
        </p:spPr>
        <p:txBody>
          <a:bodyPr wrap="square" lIns="0" tIns="0" rIns="0" bIns="0" rtlCol="0" anchor="t"/>
          <a:lstStyle/>
          <a:p>
            <a:pPr indent="0" marL="0">
              <a:buNone/>
            </a:pPr>
            <a:r>
              <a:rPr lang="en-US" sz="1800" dirty="0">
                <a:solidFill>
                  <a:srgbClr val="8A939B"/>
                </a:solidFill>
                <a:latin typeface="Calibri" pitchFamily="34" charset="0"/>
                <a:ea typeface="Calibri" pitchFamily="34" charset="-122"/>
                <a:cs typeface="Calibri" pitchFamily="34" charset="-120"/>
              </a:rPr>
              <a:t>A single logical action — “a member returns Clean Code” — typically involves more than one DML statement working together: marking the book available, and removing the corresponding loan record. Lecture 29's transaction concept guarantees such groups either all succeed or none do.</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Data Control &amp; Security (DCL)</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11</a:t>
            </a:r>
            <a:endParaRPr lang="en-US" sz="1200" dirty="0"/>
          </a:p>
        </p:txBody>
      </p:sp>
      <p:sp>
        <p:nvSpPr>
          <p:cNvPr id="4" name="Text 2"/>
          <p:cNvSpPr txBox="1"/>
          <p:nvPr/>
        </p:nvSpPr>
        <p:spPr>
          <a:xfrm>
            <a:off x="640080" y="1188720"/>
            <a:ext cx="10881360" cy="731520"/>
          </a:xfrm>
          <a:prstGeom prst="rect">
            <a:avLst/>
          </a:prstGeom>
          <a:noFill/>
          <a:ln/>
        </p:spPr>
        <p:txBody>
          <a:bodyPr wrap="square" lIns="0" tIns="0" rIns="0" bIns="0" rtlCol="0" anchor="t"/>
          <a:lstStyle/>
          <a:p>
            <a:pPr indent="0" marL="0">
              <a:buNone/>
            </a:pPr>
            <a:r>
              <a:rPr lang="en-US" sz="1800" b="1" dirty="0">
                <a:solidFill>
                  <a:srgbClr val="E8A33D"/>
                </a:solidFill>
                <a:latin typeface="Calibri" pitchFamily="34" charset="0"/>
                <a:ea typeface="Calibri" pitchFamily="34" charset="-122"/>
                <a:cs typeface="Calibri" pitchFamily="34" charset="-120"/>
              </a:rPr>
              <a:t>DCL</a:t>
            </a:r>
            <a:pPr indent="0" marL="0">
              <a:buNone/>
            </a:pPr>
            <a:r>
              <a:rPr lang="en-US" sz="1800" dirty="0">
                <a:solidFill>
                  <a:srgbClr val="1F2429"/>
                </a:solidFill>
                <a:latin typeface="Calibri" pitchFamily="34" charset="0"/>
                <a:ea typeface="Calibri" pitchFamily="34" charset="-122"/>
                <a:cs typeface="Calibri" pitchFamily="34" charset="-120"/>
              </a:rPr>
              <a:t> governs permissions: who may run which DDL and DML statements against which parts of the database. Without it, every user with any access would have unrestricted access to all of it.</a:t>
            </a:r>
            <a:endParaRPr lang="en-US" sz="1800" dirty="0"/>
          </a:p>
        </p:txBody>
      </p:sp>
      <p:sp>
        <p:nvSpPr>
          <p:cNvPr id="5" name="Text 3"/>
          <p:cNvSpPr txBox="1"/>
          <p:nvPr/>
        </p:nvSpPr>
        <p:spPr>
          <a:xfrm>
            <a:off x="640080" y="1965960"/>
            <a:ext cx="10881360" cy="10058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Grant — give a specific privilege (read, insert, update, delete, or the right to grant further privileges) to a named user or role</a:t>
            </a:r>
            <a:endParaRPr lang="en-US" sz="1800" dirty="0"/>
          </a:p>
          <a:p>
            <a:pPr marL="342900" indent="-342900">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Revoke — take back a previously granted privilege</a:t>
            </a:r>
            <a:endParaRPr lang="en-US" sz="1800" dirty="0"/>
          </a:p>
        </p:txBody>
      </p:sp>
      <p:sp>
        <p:nvSpPr>
          <p:cNvPr id="6" name="Text 4"/>
          <p:cNvSpPr txBox="1"/>
          <p:nvPr/>
        </p:nvSpPr>
        <p:spPr>
          <a:xfrm>
            <a:off x="640080" y="3108960"/>
            <a:ext cx="10881360" cy="274320"/>
          </a:xfrm>
          <a:prstGeom prst="rect">
            <a:avLst/>
          </a:prstGeom>
          <a:noFill/>
          <a:ln/>
        </p:spPr>
        <p:txBody>
          <a:bodyPr wrap="square" lIns="0" tIns="0" rIns="0" bIns="0" rtlCol="0" anchor="ctr"/>
          <a:lstStyle/>
          <a:p>
            <a:pPr indent="0" marL="0">
              <a:buNone/>
            </a:pPr>
            <a:r>
              <a:rPr lang="en-US" sz="1800" b="1" dirty="0">
                <a:solidFill>
                  <a:srgbClr val="8A939B"/>
                </a:solidFill>
                <a:latin typeface="Calibri" pitchFamily="34" charset="0"/>
                <a:ea typeface="Calibri" pitchFamily="34" charset="-122"/>
                <a:cs typeface="Calibri" pitchFamily="34" charset="-120"/>
              </a:rPr>
              <a:t>DCL in the library system — who can do what to Book</a:t>
            </a:r>
            <a:endParaRPr lang="en-US" sz="1800" dirty="0"/>
          </a:p>
        </p:txBody>
      </p:sp>
      <p:sp>
        <p:nvSpPr>
          <p:cNvPr id="7" name="Shape 5"/>
          <p:cNvSpPr/>
          <p:nvPr/>
        </p:nvSpPr>
        <p:spPr>
          <a:xfrm>
            <a:off x="640080" y="3429000"/>
            <a:ext cx="3474720" cy="1234440"/>
          </a:xfrm>
          <a:prstGeom prst="roundRect">
            <a:avLst>
              <a:gd name="adj" fmla="val 5926"/>
            </a:avLst>
          </a:prstGeom>
          <a:solidFill>
            <a:srgbClr val="2FE6C4"/>
          </a:solidFill>
          <a:ln/>
        </p:spPr>
      </p:sp>
      <p:sp>
        <p:nvSpPr>
          <p:cNvPr id="8" name="Text 6"/>
          <p:cNvSpPr txBox="1"/>
          <p:nvPr/>
        </p:nvSpPr>
        <p:spPr>
          <a:xfrm>
            <a:off x="822960" y="3557016"/>
            <a:ext cx="310896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Front-desk clerk</a:t>
            </a:r>
            <a:endParaRPr lang="en-US" sz="1400" dirty="0"/>
          </a:p>
        </p:txBody>
      </p:sp>
      <p:sp>
        <p:nvSpPr>
          <p:cNvPr id="9" name="Text 7"/>
          <p:cNvSpPr txBox="1"/>
          <p:nvPr/>
        </p:nvSpPr>
        <p:spPr>
          <a:xfrm>
            <a:off x="822960" y="3904488"/>
            <a:ext cx="3108960" cy="667512"/>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Granted: SELECT, UPDATE (availability only)</a:t>
            </a:r>
            <a:endParaRPr lang="en-US" sz="1400" dirty="0"/>
          </a:p>
        </p:txBody>
      </p:sp>
      <p:sp>
        <p:nvSpPr>
          <p:cNvPr id="10" name="Shape 8"/>
          <p:cNvSpPr/>
          <p:nvPr/>
        </p:nvSpPr>
        <p:spPr>
          <a:xfrm>
            <a:off x="4343400" y="3429000"/>
            <a:ext cx="3474720" cy="1234440"/>
          </a:xfrm>
          <a:prstGeom prst="roundRect">
            <a:avLst>
              <a:gd name="adj" fmla="val 5926"/>
            </a:avLst>
          </a:prstGeom>
          <a:solidFill>
            <a:srgbClr val="8B7FD9"/>
          </a:solidFill>
          <a:ln/>
        </p:spPr>
      </p:sp>
      <p:sp>
        <p:nvSpPr>
          <p:cNvPr id="11" name="Text 9"/>
          <p:cNvSpPr txBox="1"/>
          <p:nvPr/>
        </p:nvSpPr>
        <p:spPr>
          <a:xfrm>
            <a:off x="4526280" y="3557016"/>
            <a:ext cx="310896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Cataloging librarian</a:t>
            </a:r>
            <a:endParaRPr lang="en-US" sz="1400" dirty="0"/>
          </a:p>
        </p:txBody>
      </p:sp>
      <p:sp>
        <p:nvSpPr>
          <p:cNvPr id="12" name="Text 10"/>
          <p:cNvSpPr txBox="1"/>
          <p:nvPr/>
        </p:nvSpPr>
        <p:spPr>
          <a:xfrm>
            <a:off x="4526280" y="3904488"/>
            <a:ext cx="3108960" cy="667512"/>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Granted: SELECT, INSERT, UPDATE, DELETE</a:t>
            </a:r>
            <a:endParaRPr lang="en-US" sz="1400" dirty="0"/>
          </a:p>
        </p:txBody>
      </p:sp>
      <p:sp>
        <p:nvSpPr>
          <p:cNvPr id="13" name="Shape 11"/>
          <p:cNvSpPr/>
          <p:nvPr/>
        </p:nvSpPr>
        <p:spPr>
          <a:xfrm>
            <a:off x="8046720" y="3429000"/>
            <a:ext cx="3474720" cy="1234440"/>
          </a:xfrm>
          <a:prstGeom prst="roundRect">
            <a:avLst>
              <a:gd name="adj" fmla="val 5926"/>
            </a:avLst>
          </a:prstGeom>
          <a:solidFill>
            <a:srgbClr val="E8A33D"/>
          </a:solidFill>
          <a:ln/>
        </p:spPr>
      </p:sp>
      <p:sp>
        <p:nvSpPr>
          <p:cNvPr id="14" name="Text 12"/>
          <p:cNvSpPr txBox="1"/>
          <p:nvPr/>
        </p:nvSpPr>
        <p:spPr>
          <a:xfrm>
            <a:off x="8229600" y="3557016"/>
            <a:ext cx="310896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Library patron (self-service)</a:t>
            </a:r>
            <a:endParaRPr lang="en-US" sz="1400" dirty="0"/>
          </a:p>
        </p:txBody>
      </p:sp>
      <p:sp>
        <p:nvSpPr>
          <p:cNvPr id="15" name="Text 13"/>
          <p:cNvSpPr txBox="1"/>
          <p:nvPr/>
        </p:nvSpPr>
        <p:spPr>
          <a:xfrm>
            <a:off x="8229600" y="3904488"/>
            <a:ext cx="3108960" cy="667512"/>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Granted: SELECT only</a:t>
            </a:r>
            <a:endParaRPr lang="en-US" sz="1400" dirty="0"/>
          </a:p>
        </p:txBody>
      </p:sp>
      <p:sp>
        <p:nvSpPr>
          <p:cNvPr id="16" name="Text 14"/>
          <p:cNvSpPr txBox="1"/>
          <p:nvPr/>
        </p:nvSpPr>
        <p:spPr>
          <a:xfrm>
            <a:off x="640080" y="4892040"/>
            <a:ext cx="10881360" cy="822960"/>
          </a:xfrm>
          <a:prstGeom prst="rect">
            <a:avLst/>
          </a:prstGeom>
          <a:noFill/>
          <a:ln/>
        </p:spPr>
        <p:txBody>
          <a:bodyPr wrap="square" lIns="0" tIns="0" rIns="0" bIns="0" rtlCol="0" anchor="t"/>
          <a:lstStyle/>
          <a:p>
            <a:pPr indent="0" marL="0">
              <a:buNone/>
            </a:pPr>
            <a:r>
              <a:rPr lang="en-US" sz="1800" dirty="0">
                <a:solidFill>
                  <a:srgbClr val="8A939B"/>
                </a:solidFill>
                <a:latin typeface="Calibri" pitchFamily="34" charset="0"/>
                <a:ea typeface="Calibri" pitchFamily="34" charset="-122"/>
                <a:cs typeface="Calibri" pitchFamily="34" charset="-120"/>
              </a:rPr>
              <a:t>DCL is one concrete mechanism behind the “authorization services” function named in Lecture 2 — the DBA uses it to translate an organization's security policy into rules the DBMS actually enforces on every request.</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Database Utilities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14</a:t>
            </a:r>
            <a:endParaRPr lang="en-US" sz="1200" dirty="0"/>
          </a:p>
        </p:txBody>
      </p:sp>
      <p:sp>
        <p:nvSpPr>
          <p:cNvPr id="4" name="Text 2"/>
          <p:cNvSpPr txBox="1"/>
          <p:nvPr/>
        </p:nvSpPr>
        <p:spPr>
          <a:xfrm>
            <a:off x="640080" y="1143000"/>
            <a:ext cx="10881360" cy="77724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Lecture 2's function list rounds out with the operational side. Utilities are supporting programs, usually bundled with the DBMS, that help administer the database without being part of the core query engine:</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10881360" cy="4023360"/>
        </p:xfrm>
        <a:graphic>
          <a:graphicData uri="http://schemas.openxmlformats.org/drawingml/2006/table">
            <a:tbl>
              <a:tblPr/>
              <a:tblGrid>
                <a:gridCol w="2377440"/>
                <a:gridCol w="4572000"/>
                <a:gridCol w="3931920"/>
              </a:tblGrid>
              <a:tr h="57476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Utility</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Purpose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Library-system example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Loading</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Bulk-importing data from an external source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Importing 10,000 records from the old system</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Unloading / export</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Extracting data out to a file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Exporting overdue-loan records for a report</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Backup</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Making a recoverable copy of the database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Nightly backup of the entire library database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Reorganization</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Restructuring physical storage for performance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Rebuilding a fragmented index on Book.isbn</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Performance monitoring</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Tracking query speed and resource use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Noticing “search by author” has gotten slow</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Statistics analysis</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Gathering data distribution info for the optimizer</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Recording 40% of loans are computer-science books</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Database Administration Functions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16</a:t>
            </a:r>
            <a:endParaRPr lang="en-US" sz="1200" dirty="0"/>
          </a:p>
        </p:txBody>
      </p:sp>
      <p:sp>
        <p:nvSpPr>
          <p:cNvPr id="4" name="Text 2"/>
          <p:cNvSpPr txBox="1"/>
          <p:nvPr/>
        </p:nvSpPr>
        <p:spPr>
          <a:xfrm>
            <a:off x="640080" y="1143000"/>
            <a:ext cx="10881360" cy="457200"/>
          </a:xfrm>
          <a:prstGeom prst="rect">
            <a:avLst/>
          </a:prstGeom>
          <a:noFill/>
          <a:ln/>
        </p:spPr>
        <p:txBody>
          <a:bodyPr wrap="square" lIns="0" tIns="0" rIns="0" bIns="0" rtlCol="0" anchor="ctr"/>
          <a:lstStyle/>
          <a:p>
            <a:pPr indent="0" marL="0">
              <a:buNone/>
            </a:pPr>
            <a:r>
              <a:rPr lang="en-US" sz="1800" dirty="0">
                <a:solidFill>
                  <a:srgbClr val="1F2429"/>
                </a:solidFill>
                <a:latin typeface="Calibri" pitchFamily="34" charset="0"/>
                <a:ea typeface="Calibri" pitchFamily="34" charset="-122"/>
                <a:cs typeface="Calibri" pitchFamily="34" charset="-120"/>
              </a:rPr>
              <a:t>Database administration is the ongoing, human side of keeping a database healthy — the day-to-day work of the DBA role:</a:t>
            </a:r>
            <a:endParaRPr lang="en-US" sz="1800" dirty="0"/>
          </a:p>
        </p:txBody>
      </p:sp>
      <p:sp>
        <p:nvSpPr>
          <p:cNvPr id="5" name="Text 3"/>
          <p:cNvSpPr txBox="1"/>
          <p:nvPr/>
        </p:nvSpPr>
        <p:spPr>
          <a:xfrm>
            <a:off x="640080" y="1691640"/>
            <a:ext cx="10881360" cy="2834640"/>
          </a:xfrm>
          <a:prstGeom prst="rect">
            <a:avLst/>
          </a:prstGeom>
          <a:noFill/>
          <a:ln/>
        </p:spPr>
        <p:txBody>
          <a:bodyPr wrap="square" lIns="0" tIns="0" rIns="0" bIns="0" rtlCol="0" anchor="t"/>
          <a:lstStyle/>
          <a:p>
            <a:pPr marL="342900" indent="-342900">
              <a:spcAft>
                <a:spcPts val="800"/>
              </a:spcAft>
              <a:buSzPct val="100000"/>
              <a:buChar char="•"/>
            </a:pPr>
            <a:r>
              <a:rPr lang="en-US" sz="1800" b="1" dirty="0">
                <a:solidFill>
                  <a:srgbClr val="1F2429"/>
                </a:solidFill>
                <a:latin typeface="Calibri" pitchFamily="34" charset="0"/>
                <a:ea typeface="Calibri" pitchFamily="34" charset="-122"/>
                <a:cs typeface="Calibri" pitchFamily="34" charset="-120"/>
              </a:rPr>
              <a:t>Managing data storage and structure</a:t>
            </a:r>
            <a:pPr indent="0" marL="0">
              <a:spcAft>
                <a:spcPts val="800"/>
              </a:spcAft>
              <a:buNone/>
            </a:pPr>
            <a:r>
              <a:rPr lang="en-US" sz="1800" dirty="0">
                <a:solidFill>
                  <a:srgbClr val="1F2429"/>
                </a:solidFill>
                <a:latin typeface="Calibri" pitchFamily="34" charset="0"/>
                <a:ea typeface="Calibri" pitchFamily="34" charset="-122"/>
                <a:cs typeface="Calibri" pitchFamily="34" charset="-120"/>
              </a:rPr>
              <a:t> — physical storage decisions and creating DDL-defined structures</a:t>
            </a:r>
            <a:endParaRPr lang="en-US" sz="1800" dirty="0"/>
          </a:p>
          <a:p>
            <a:pPr marL="342900" indent="-342900">
              <a:spcAft>
                <a:spcPts val="800"/>
              </a:spcAft>
              <a:buSzPct val="100000"/>
              <a:buChar char="•"/>
            </a:pPr>
            <a:r>
              <a:rPr lang="en-US" sz="1800" b="1" dirty="0">
                <a:solidFill>
                  <a:srgbClr val="1F2429"/>
                </a:solidFill>
                <a:latin typeface="Calibri" pitchFamily="34" charset="0"/>
                <a:ea typeface="Calibri" pitchFamily="34" charset="-122"/>
                <a:cs typeface="Calibri" pitchFamily="34" charset="-120"/>
              </a:rPr>
              <a:t>Enforcing security and authorization</a:t>
            </a:r>
            <a:pPr indent="0" marL="0">
              <a:spcAft>
                <a:spcPts val="800"/>
              </a:spcAft>
              <a:buNone/>
            </a:pPr>
            <a:r>
              <a:rPr lang="en-US" sz="1800" dirty="0">
                <a:solidFill>
                  <a:srgbClr val="1F2429"/>
                </a:solidFill>
                <a:latin typeface="Calibri" pitchFamily="34" charset="0"/>
                <a:ea typeface="Calibri" pitchFamily="34" charset="-122"/>
                <a:cs typeface="Calibri" pitchFamily="34" charset="-120"/>
              </a:rPr>
              <a:t> — issuing and revoking DCL privileges as staff join, change roles, or leave</a:t>
            </a:r>
            <a:endParaRPr lang="en-US" sz="1800" dirty="0"/>
          </a:p>
          <a:p>
            <a:pPr marL="342900" indent="-342900">
              <a:spcAft>
                <a:spcPts val="800"/>
              </a:spcAft>
              <a:buSzPct val="100000"/>
              <a:buChar char="•"/>
            </a:pPr>
            <a:r>
              <a:rPr lang="en-US" sz="1800" b="1" dirty="0">
                <a:solidFill>
                  <a:srgbClr val="1F2429"/>
                </a:solidFill>
                <a:latin typeface="Calibri" pitchFamily="34" charset="0"/>
                <a:ea typeface="Calibri" pitchFamily="34" charset="-122"/>
                <a:cs typeface="Calibri" pitchFamily="34" charset="-120"/>
              </a:rPr>
              <a:t>Monitoring performance and tuning</a:t>
            </a:r>
            <a:pPr indent="0" marL="0">
              <a:spcAft>
                <a:spcPts val="800"/>
              </a:spcAft>
              <a:buNone/>
            </a:pPr>
            <a:r>
              <a:rPr lang="en-US" sz="1800" dirty="0">
                <a:solidFill>
                  <a:srgbClr val="1F2429"/>
                </a:solidFill>
                <a:latin typeface="Calibri" pitchFamily="34" charset="0"/>
                <a:ea typeface="Calibri" pitchFamily="34" charset="-122"/>
                <a:cs typeface="Calibri" pitchFamily="34" charset="-120"/>
              </a:rPr>
              <a:t> — watching for slow queries and adjusting indexes or configuration</a:t>
            </a:r>
            <a:endParaRPr lang="en-US" sz="1800" dirty="0"/>
          </a:p>
          <a:p>
            <a:pPr marL="342900" indent="-342900">
              <a:spcAft>
                <a:spcPts val="800"/>
              </a:spcAft>
              <a:buSzPct val="100000"/>
              <a:buChar char="•"/>
            </a:pPr>
            <a:r>
              <a:rPr lang="en-US" sz="1800" b="1" dirty="0">
                <a:solidFill>
                  <a:srgbClr val="1F2429"/>
                </a:solidFill>
                <a:latin typeface="Calibri" pitchFamily="34" charset="0"/>
                <a:ea typeface="Calibri" pitchFamily="34" charset="-122"/>
                <a:cs typeface="Calibri" pitchFamily="34" charset="-120"/>
              </a:rPr>
              <a:t>Managing backup and recovery</a:t>
            </a:r>
            <a:pPr indent="0" marL="0">
              <a:spcAft>
                <a:spcPts val="800"/>
              </a:spcAft>
              <a:buNone/>
            </a:pPr>
            <a:r>
              <a:rPr lang="en-US" sz="1800" dirty="0">
                <a:solidFill>
                  <a:srgbClr val="1F2429"/>
                </a:solidFill>
                <a:latin typeface="Calibri" pitchFamily="34" charset="0"/>
                <a:ea typeface="Calibri" pitchFamily="34" charset="-122"/>
                <a:cs typeface="Calibri" pitchFamily="34" charset="-120"/>
              </a:rPr>
              <a:t> — scheduling backups and rehearsing recovery before a real failure</a:t>
            </a:r>
            <a:endParaRPr lang="en-US" sz="1800" dirty="0"/>
          </a:p>
          <a:p>
            <a:pPr marL="342900" indent="-342900">
              <a:spcAft>
                <a:spcPts val="800"/>
              </a:spcAft>
              <a:buSzPct val="100000"/>
              <a:buChar char="•"/>
            </a:pPr>
            <a:r>
              <a:rPr lang="en-US" sz="1800" b="1" dirty="0">
                <a:solidFill>
                  <a:srgbClr val="1F2429"/>
                </a:solidFill>
                <a:latin typeface="Calibri" pitchFamily="34" charset="0"/>
                <a:ea typeface="Calibri" pitchFamily="34" charset="-122"/>
                <a:cs typeface="Calibri" pitchFamily="34" charset="-120"/>
              </a:rPr>
              <a:t>Maintaining data integrity</a:t>
            </a:r>
            <a:pPr indent="0" marL="0">
              <a:spcAft>
                <a:spcPts val="800"/>
              </a:spcAft>
              <a:buNone/>
            </a:pPr>
            <a:r>
              <a:rPr lang="en-US" sz="1800" dirty="0">
                <a:solidFill>
                  <a:srgbClr val="1F2429"/>
                </a:solidFill>
                <a:latin typeface="Calibri" pitchFamily="34" charset="0"/>
                <a:ea typeface="Calibri" pitchFamily="34" charset="-122"/>
                <a:cs typeface="Calibri" pitchFamily="34" charset="-120"/>
              </a:rPr>
              <a:t> — reviewing that constraints still reflect the organization's rules</a:t>
            </a:r>
            <a:endParaRPr lang="en-US" sz="1800" dirty="0"/>
          </a:p>
          <a:p>
            <a:pPr marL="342900" indent="-342900">
              <a:spcAft>
                <a:spcPts val="800"/>
              </a:spcAft>
              <a:buSzPct val="100000"/>
              <a:buChar char="•"/>
            </a:pPr>
            <a:r>
              <a:rPr lang="en-US" sz="1800" b="1" dirty="0">
                <a:solidFill>
                  <a:srgbClr val="1F2429"/>
                </a:solidFill>
                <a:latin typeface="Calibri" pitchFamily="34" charset="0"/>
                <a:ea typeface="Calibri" pitchFamily="34" charset="-122"/>
                <a:cs typeface="Calibri" pitchFamily="34" charset="-120"/>
              </a:rPr>
              <a:t>Liaising with users</a:t>
            </a:r>
            <a:pPr indent="0" marL="0">
              <a:spcAft>
                <a:spcPts val="800"/>
              </a:spcAft>
              <a:buNone/>
            </a:pPr>
            <a:r>
              <a:rPr lang="en-US" sz="1800" dirty="0">
                <a:solidFill>
                  <a:srgbClr val="1F2429"/>
                </a:solidFill>
                <a:latin typeface="Calibri" pitchFamily="34" charset="0"/>
                <a:ea typeface="Calibri" pitchFamily="34" charset="-122"/>
                <a:cs typeface="Calibri" pitchFamily="34" charset="-120"/>
              </a:rPr>
              <a:t> — translating user and developer needs into database changes</a:t>
            </a:r>
            <a:endParaRPr lang="en-US" sz="1800" dirty="0"/>
          </a:p>
        </p:txBody>
      </p:sp>
      <p:sp>
        <p:nvSpPr>
          <p:cNvPr id="6" name="Shape 4"/>
          <p:cNvSpPr/>
          <p:nvPr/>
        </p:nvSpPr>
        <p:spPr>
          <a:xfrm>
            <a:off x="640080" y="4709160"/>
            <a:ext cx="10881360" cy="1417320"/>
          </a:xfrm>
          <a:prstGeom prst="roundRect">
            <a:avLst>
              <a:gd name="adj" fmla="val 5161"/>
            </a:avLst>
          </a:prstGeom>
          <a:solidFill>
            <a:srgbClr val="FBEEDD"/>
          </a:solidFill>
          <a:ln w="12700">
            <a:solidFill>
              <a:srgbClr val="E8A33D"/>
            </a:solidFill>
            <a:prstDash val="solid"/>
          </a:ln>
        </p:spPr>
      </p:sp>
      <p:sp>
        <p:nvSpPr>
          <p:cNvPr id="7" name="Text 5"/>
          <p:cNvSpPr txBox="1"/>
          <p:nvPr/>
        </p:nvSpPr>
        <p:spPr>
          <a:xfrm>
            <a:off x="868680" y="4846320"/>
            <a:ext cx="10424160" cy="1143000"/>
          </a:xfrm>
          <a:prstGeom prst="rect">
            <a:avLst/>
          </a:prstGeom>
          <a:noFill/>
          <a:ln/>
        </p:spPr>
        <p:txBody>
          <a:bodyPr wrap="square" lIns="0" tIns="0" rIns="0" bIns="0" rtlCol="0" anchor="t"/>
          <a:lstStyle/>
          <a:p>
            <a:pPr indent="0" marL="0">
              <a:buNone/>
            </a:pPr>
            <a:r>
              <a:rPr lang="en-US" sz="1800" b="1" dirty="0">
                <a:solidFill>
                  <a:srgbClr val="1F2429"/>
                </a:solidFill>
                <a:latin typeface="Calibri" pitchFamily="34" charset="0"/>
                <a:ea typeface="Calibri" pitchFamily="34" charset="-122"/>
                <a:cs typeface="Calibri" pitchFamily="34" charset="-120"/>
              </a:rPr>
              <a:t>A common mix-up: utilities vs. administration.  </a:t>
            </a:r>
            <a:pPr indent="0" marL="0">
              <a:buNone/>
            </a:pPr>
            <a:r>
              <a:rPr lang="en-US" sz="1800" dirty="0">
                <a:solidFill>
                  <a:srgbClr val="1F2429"/>
                </a:solidFill>
                <a:latin typeface="Calibri" pitchFamily="34" charset="0"/>
                <a:ea typeface="Calibri" pitchFamily="34" charset="-122"/>
                <a:cs typeface="Calibri" pitchFamily="34" charset="-120"/>
              </a:rPr>
              <a:t>Utilities are tools; administration is the ongoing responsibility that uses those tools. A backup utility can exist for years without protecting anyone if no administrator schedules it to run.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64008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Key Takeaways</a:t>
            </a:r>
            <a:endParaRPr lang="en-US" sz="3400" dirty="0"/>
          </a:p>
        </p:txBody>
      </p:sp>
      <p:sp>
        <p:nvSpPr>
          <p:cNvPr id="3" name="Text 1"/>
          <p:cNvSpPr txBox="1"/>
          <p:nvPr/>
        </p:nvSpPr>
        <p:spPr>
          <a:xfrm>
            <a:off x="822960" y="1645920"/>
            <a:ext cx="10332720" cy="457200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Database languages split by purpose into DDL (define structure), DML (work with data), and DCL (control access) — usually unified into one language such as SQL</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DDL creates, alters, and drops schema objects; every DDL statement updates the system catalog immediately</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DML retrieves and updates data; it can be procedural (specify how) or declarative (specify only what) — modern SQL is predominantly declarative</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DCL grants and revokes privileges, turning security policy into rules the DBMS enforces on every request</a:t>
            </a:r>
            <a:endParaRPr lang="en-US" sz="1800" dirty="0"/>
          </a:p>
          <a:p>
            <a:pPr marL="342900" indent="-342900">
              <a:spcAft>
                <a:spcPts val="1600"/>
              </a:spcAft>
              <a:buSzPct val="100000"/>
              <a:buChar char="•"/>
            </a:pPr>
            <a:r>
              <a:rPr lang="en-US" sz="1800" dirty="0">
                <a:solidFill>
                  <a:srgbClr val="FFFFFF"/>
                </a:solidFill>
                <a:latin typeface="Calibri" pitchFamily="34" charset="0"/>
                <a:ea typeface="Calibri" pitchFamily="34" charset="-122"/>
                <a:cs typeface="Calibri" pitchFamily="34" charset="-120"/>
              </a:rPr>
              <a:t>Database utilities (load, backup, reorganize, monitor) are the tools; database administration is the DBA's ongoing responsibility that relies on them day to day</a:t>
            </a:r>
            <a:endParaRPr lang="en-US" sz="1800" dirty="0"/>
          </a:p>
        </p:txBody>
      </p:sp>
      <p:sp>
        <p:nvSpPr>
          <p:cNvPr id="4" name="Text 2"/>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Building the Library Schema, Step by Step</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5</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1 — CREATE TABLE Book declares isbn, title, author, and available, with isbn as the primary key</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2 — CREATE TABLE Member declares the member's ID, name, and contact details, again with a primary key</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3 — ALTER TABLE Book ADD publicationYear: the library starts tracking a year it never recorded before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4 — every existing Book row gets a NULL publicationYear until someone fills it in; no data is lost</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5 — the catalog records the new column, so every later query and application sees it immediately</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Why DDL Changes Are Felt Everywhere at Once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6</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Every DDL statement writes to the system catalog — the metadata layer introduced in Lecture 2</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Any component that consults the catalog sees the change at once: the query processor, the optimizer, the authorization checks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So a column added from one terminal is immediately queryable by the cataloging librarian's reports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flip side: a DROP is equally immediate, which is why DDL is restricted to a small set of trusted accounts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One DDL statement can change what every application sees — treat it as a high-impact operation</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Retrieval, Step by Step: Which Books Are Available?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8</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question: which books by Robert C. Martin are currently available?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1 — identify the author, Robert C. Martin, and the column that holds it (Book.author)</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2 — keep only rows where author matches and available is true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3 — return only the columns the question needs, such as title and isbn</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Notice: nothing in the question says how to scan, which index to use, or what order to read rows in</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That gap is exactly what declarative DML hands over to the query optimizer</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Procedural vs. Declarative: The Same Question Two Ways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9</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Procedural (relational-algebra style): take Book, select rows where author is Martin, select rows where available is true, then project title and isbn</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Every step is spelled out in order; the writer of the query controls the evaluation sequence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Declarative (SQL style): SELECT title, isbn FROM Book WHERE author = 'Robert C. Martin' AND available = true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declarative version states only the result wanted; the optimizer chooses an index or a full scan</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Both produce the same rows — the difference is who decides how the rows are fetched</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Returning a Book: One Action, Several Statements</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10</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logical action: a member returns Clean Code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Statement 1 (UPDATE): set Book.available to true for that isbn</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Statement 2 (DELETE): remove the matching loan record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Neither statement alone describes “the return” — the business event needs both</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If the server fails between them, the book shows as available while the loan still exists, or the reverse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Lecture 29's transactions guarantee the group either completes together or not at all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Granting and Revoking Privileges, Step by Step</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12</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1 — GRANT SELECT, UPDATE ON Book TO front_desk_clerk: the clerk can look up and change availability</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2 — GRANT SELECT, INSERT, UPDATE, DELETE ON Book TO cataloging_librarian: full catalog maintenance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3 — GRANT SELECT ON Book TO patron_portal: read-only access for self-service search</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Step 4 — when a clerk leaves: REVOKE SELECT, UPDATE ON Book FROM front_desk_clerk takes the privilege back</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The policy lives in these statements, and the DBMS enforces it on every request — not only on the ones an application remembers to check</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Which Language Does This Task Use?</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13</a:t>
            </a:r>
            <a:endParaRPr lang="en-US" sz="1200" dirty="0"/>
          </a:p>
        </p:txBody>
      </p:sp>
      <p:sp>
        <p:nvSpPr>
          <p:cNvPr id="4" name="Text 2"/>
          <p:cNvSpPr txBox="1"/>
          <p:nvPr/>
        </p:nvSpPr>
        <p:spPr>
          <a:xfrm>
            <a:off x="640080" y="1143000"/>
            <a:ext cx="10881360" cy="777240"/>
          </a:xfrm>
          <a:prstGeom prst="rect">
            <a:avLst/>
          </a:prstGeom>
          <a:noFill/>
          <a:ln/>
        </p:spPr>
        <p:txBody>
          <a:bodyPr wrap="square" lIns="0" tIns="0" rIns="0" bIns="0" rtlCol="0" anchor="t"/>
          <a:lstStyle/>
          <a:p>
            <a:pPr indent="0" marL="0">
              <a:buNone/>
            </a:pPr>
            <a:r>
              <a:rPr lang="en-US" sz="1800" dirty="0">
                <a:solidFill>
                  <a:srgbClr val="1F2429"/>
                </a:solidFill>
                <a:latin typeface="Calibri" pitchFamily="34" charset="0"/>
                <a:ea typeface="Calibri" pitchFamily="34" charset="-122"/>
                <a:cs typeface="Calibri" pitchFamily="34" charset="-120"/>
              </a:rPr>
              <a:t>The same few statement types cover almost every library task. Match each task to the sub-language that owns it.</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10881360" cy="4023360"/>
        </p:xfrm>
        <a:graphic>
          <a:graphicData uri="http://schemas.openxmlformats.org/drawingml/2006/table">
            <a:tbl>
              <a:tblPr/>
              <a:tblGrid>
                <a:gridCol w="2377440"/>
                <a:gridCol w="4572000"/>
                <a:gridCol w="3931920"/>
              </a:tblGrid>
              <a:tr h="57476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Task</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Language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Example statement</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solidFill>
                      <a:srgbClr val="1F2429"/>
                    </a:solidFill>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Create the Book table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DDL</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CREATE TABLE Book (...)</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Add a publication year</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DDL</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ALTER TABLE Book ADD publicationYear</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Find available Martin books</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DML (retrieval)</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SELECT title FROM Book WHERE ...</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Record a returned book</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DML (update)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UPDATE Book SET available = true ...</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Let a clerk update availability</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DCL</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GRANT SELECT, UPDATE ON Book TO ...</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r h="574766">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Retire the old catalog table</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DDL</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c>
                  <a:txBody>
                    <a:bodyPr/>
                    <a:lstStyle/>
                    <a:p>
                      <a:pPr indent="0" marL="0">
                        <a:buNone/>
                      </a:pPr>
                      <a:r>
                        <a:rPr lang="en-US" sz="1400" dirty="0">
                          <a:solidFill>
                            <a:srgbClr val="1F2429"/>
                          </a:solidFill>
                          <a:latin typeface="Calibri" pitchFamily="34" charset="0"/>
                          <a:ea typeface="Calibri" pitchFamily="34" charset="-122"/>
                          <a:cs typeface="Calibri" pitchFamily="34" charset="-120"/>
                        </a:rPr>
                        <a:t>DROP TABLE OldBook</a:t>
                      </a:r>
                      <a:endParaRPr lang="en-US" sz="1400" dirty="0">
                        <a:latin typeface="Calibri" charset="0"/>
                        <a:ea typeface="Calibri" charset="0"/>
                        <a:cs typeface="Calibri" charset="0"/>
                      </a:endParaRPr>
                    </a:p>
                  </a:txBody>
                  <a:tcPr marL="91440" marR="91440" marT="45720" marB="45720" anchor="ctr">
                    <a:lnL w="9525" cap="flat" cmpd="sng" algn="ctr">
                      <a:solidFill>
                        <a:srgbClr val="E1E4E8"/>
                      </a:solidFill>
                      <a:prstDash val="solid"/>
                      <a:round/>
                      <a:headEnd type="none" w="med" len="med"/>
                      <a:tailEnd type="none" w="med" len="med"/>
                    </a:lnL>
                    <a:lnR w="9525" cap="flat" cmpd="sng" algn="ctr">
                      <a:solidFill>
                        <a:srgbClr val="E1E4E8"/>
                      </a:solidFill>
                      <a:prstDash val="solid"/>
                      <a:round/>
                      <a:headEnd type="none" w="med" len="med"/>
                      <a:tailEnd type="none" w="med" len="med"/>
                    </a:lnR>
                    <a:lnT w="9525" cap="flat" cmpd="sng" algn="ctr">
                      <a:solidFill>
                        <a:srgbClr val="E1E4E8"/>
                      </a:solidFill>
                      <a:prstDash val="solid"/>
                      <a:round/>
                      <a:headEnd type="none" w="med" len="med"/>
                      <a:tailEnd type="none" w="med" len="med"/>
                    </a:lnT>
                    <a:lnB w="9525" cap="flat" cmpd="sng" algn="ctr">
                      <a:solidFill>
                        <a:srgbClr val="E1E4E8"/>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Utilities in One Library Day</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15</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Morning — a loading job imports 10,000 records from the old catalog system</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Midday — performance monitoring flags that “search by author” has slowed as the catalog grew</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Afternoon — a reorganization rebuilds the fragmented index on Book.isbn to restore speed</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Evening — a statistics run records that 40% of loans are computer-science books, so the optimizer plans better</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Night — a backup captures the whole library database, and an export produces the overdue-loan report</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None of these tools runs itself: someone scheduled each one, which is the next slide's point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Administration Is a Routine, Not an Event</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17</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Administration runs continuously — not just at go-live or when something breaks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Weekly: review integrity constraints against the library's current rules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Monthly: rehearse recovery from last night's backup, so the first real test is not during a real failure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Ongoing: revoke privileges as staff join, change roles, or leave — stale access is a security hole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Ongoing: tune indexes and configuration in response to monitoring results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Always: turn new requests from librarians and developers into schema changes the DDL can deliver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From Languages to Administration: Recap</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18</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We separated database languages by purpose: DDL defines, DML works with data, DCL controls access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DDL changes the catalog; DML changes rows; DCL changes who may do either</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DML can be procedural (say how) or declarative (say what) — modern SQL is declarative</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Utilities are the tools; administration is the DBA's ongoing responsibility that uses them</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Together these make Lecture 2's functions real: storage, transactions, security, recovery, and more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2800" b="1" dirty="0">
                <a:solidFill>
                  <a:srgbClr val="1F2429"/>
                </a:solidFill>
                <a:latin typeface="Calibri" pitchFamily="34" charset="0"/>
                <a:ea typeface="Calibri" pitchFamily="34" charset="-122"/>
                <a:cs typeface="Calibri" pitchFamily="34" charset="-120"/>
              </a:rPr>
              <a:t>Looking Ahead: Lecture 4</a:t>
            </a:r>
            <a:endParaRPr lang="en-US" sz="2800" dirty="0"/>
          </a:p>
        </p:txBody>
      </p:sp>
      <p:sp>
        <p:nvSpPr>
          <p:cNvPr id="3" name="Text 1"/>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20</a:t>
            </a:r>
            <a:endParaRPr lang="en-US" sz="1200" dirty="0"/>
          </a:p>
        </p:txBody>
      </p:sp>
      <p:sp>
        <p:nvSpPr>
          <p:cNvPr id="4" name="Text 2"/>
          <p:cNvSpPr txBox="1"/>
          <p:nvPr/>
        </p:nvSpPr>
        <p:spPr>
          <a:xfrm>
            <a:off x="640080" y="1371600"/>
            <a:ext cx="10332720" cy="484632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Lecture 4 shifts from what you can say to a DBMS to how a DBMS is architected internally</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You'll meet the client-server structure that connects applications to the DBMS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You'll see the three-schema architecture: external, conceptual, and internal levels</a:t>
            </a:r>
            <a:endParaRPr lang="en-US" sz="1800" dirty="0"/>
          </a:p>
          <a:p>
            <a:pPr marL="342900" indent="-342900">
              <a:spcAft>
                <a:spcPts val="1800"/>
              </a:spcAft>
              <a:buSzPct val="100000"/>
              <a:buChar char="•"/>
            </a:pPr>
            <a:r>
              <a:rPr lang="en-US" sz="1800" dirty="0">
                <a:solidFill>
                  <a:srgbClr val="1F2429"/>
                </a:solidFill>
                <a:latin typeface="Calibri" pitchFamily="34" charset="0"/>
                <a:ea typeface="Calibri" pitchFamily="34" charset="-122"/>
                <a:cs typeface="Calibri" pitchFamily="34" charset="-120"/>
              </a:rPr>
              <a:t>That architecture is what makes data independence possible — the mechanism behind Lecture 2's promise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2026-09-29T15:23:51Z</dcterms:created>
  <dcterms:modified xsi:type="dcterms:W3CDTF">2026-09-29T15:23:51Z</dcterms:modified>
</cp:coreProperties>
</file>
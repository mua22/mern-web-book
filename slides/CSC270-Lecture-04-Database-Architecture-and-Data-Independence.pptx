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48840"/>
            <a:ext cx="10515600"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4</a:t>
            </a:r>
            <a:endParaRPr lang="en-US" sz="1600" dirty="0"/>
          </a:p>
        </p:txBody>
      </p:sp>
      <p:sp>
        <p:nvSpPr>
          <p:cNvPr id="3" name="Text 1"/>
          <p:cNvSpPr txBox="1"/>
          <p:nvPr/>
        </p:nvSpPr>
        <p:spPr>
          <a:xfrm>
            <a:off x="822960" y="2606040"/>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Database Architecture and Data Independence</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CSC270 · Database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Two-tier client-server architecture, and its limitations</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Three-tier client-server architecture, and why it emerged</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ANSI-SPARC three-schema architecture: external, conceptual, and internal levels</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External/conceptual and conceptual/internal mappings, and what each one does</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Logical vs. physical data independence — precisely defined, with worked examples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Two-Tier Client-Server Architecture</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4" name="Text 2"/>
          <p:cNvSpPr txBox="1"/>
          <p:nvPr/>
        </p:nvSpPr>
        <p:spPr>
          <a:xfrm>
            <a:off x="640080" y="1188720"/>
            <a:ext cx="10881360" cy="548640"/>
          </a:xfrm>
          <a:prstGeom prst="rect">
            <a:avLst/>
          </a:prstGeom>
          <a:noFill/>
          <a:ln/>
        </p:spPr>
        <p:txBody>
          <a:bodyPr wrap="square" lIns="0" tIns="0" rIns="0" bIns="0" rtlCol="0" anchor="t"/>
          <a:lstStyle/>
          <a:p>
            <a:pPr indent="0" marL="0">
              <a:buNone/>
            </a:pPr>
            <a:r>
              <a:rPr lang="en-US" sz="1450" dirty="0">
                <a:solidFill>
                  <a:srgbClr val="1F2429"/>
                </a:solidFill>
                <a:latin typeface="Calibri" pitchFamily="34" charset="0"/>
                <a:ea typeface="Calibri" pitchFamily="34" charset="-122"/>
                <a:cs typeface="Calibri" pitchFamily="34" charset="-120"/>
              </a:rPr>
              <a:t>Before looking inside a DBMS, it's worth asking where it physically runs. In a two-tier architecture, the system splits into exactly two parts:</a:t>
            </a:r>
            <a:endParaRPr lang="en-US" sz="1450" dirty="0"/>
          </a:p>
        </p:txBody>
      </p:sp>
      <p:sp>
        <p:nvSpPr>
          <p:cNvPr id="5" name="Text 3"/>
          <p:cNvSpPr txBox="1"/>
          <p:nvPr/>
        </p:nvSpPr>
        <p:spPr>
          <a:xfrm>
            <a:off x="1737360" y="1920240"/>
            <a:ext cx="868680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Two-tier client-server architecture</a:t>
            </a:r>
            <a:endParaRPr lang="en-US" sz="1200" dirty="0"/>
          </a:p>
        </p:txBody>
      </p:sp>
      <p:sp>
        <p:nvSpPr>
          <p:cNvPr id="6" name="Shape 4"/>
          <p:cNvSpPr/>
          <p:nvPr/>
        </p:nvSpPr>
        <p:spPr>
          <a:xfrm>
            <a:off x="1737360" y="2240280"/>
            <a:ext cx="4137660" cy="1051560"/>
          </a:xfrm>
          <a:prstGeom prst="roundRect">
            <a:avLst>
              <a:gd name="adj" fmla="val 6957"/>
            </a:avLst>
          </a:prstGeom>
          <a:solidFill>
            <a:srgbClr val="2FE6C4"/>
          </a:solidFill>
          <a:ln/>
        </p:spPr>
      </p:sp>
      <p:sp>
        <p:nvSpPr>
          <p:cNvPr id="7" name="Text 5"/>
          <p:cNvSpPr txBox="1"/>
          <p:nvPr/>
        </p:nvSpPr>
        <p:spPr>
          <a:xfrm>
            <a:off x="1874520" y="2350008"/>
            <a:ext cx="38633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p:txBody>
      </p:sp>
      <p:sp>
        <p:nvSpPr>
          <p:cNvPr id="8" name="Text 6"/>
          <p:cNvSpPr txBox="1"/>
          <p:nvPr/>
        </p:nvSpPr>
        <p:spPr>
          <a:xfrm>
            <a:off x="1874520" y="2697480"/>
            <a:ext cx="3863340" cy="50292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UI + application/business logic (e.g. a bank teller's desktop application)</a:t>
            </a:r>
            <a:endParaRPr lang="en-US" sz="1000" dirty="0"/>
          </a:p>
        </p:txBody>
      </p:sp>
      <p:sp>
        <p:nvSpPr>
          <p:cNvPr id="9" name="Shape 7"/>
          <p:cNvSpPr/>
          <p:nvPr/>
        </p:nvSpPr>
        <p:spPr>
          <a:xfrm>
            <a:off x="5920740" y="2683764"/>
            <a:ext cx="320040" cy="164592"/>
          </a:xfrm>
          <a:prstGeom prst="rightArrow">
            <a:avLst/>
          </a:prstGeom>
          <a:solidFill>
            <a:srgbClr val="8A939B"/>
          </a:solidFill>
          <a:ln/>
        </p:spPr>
      </p:sp>
      <p:sp>
        <p:nvSpPr>
          <p:cNvPr id="10" name="Shape 8"/>
          <p:cNvSpPr/>
          <p:nvPr/>
        </p:nvSpPr>
        <p:spPr>
          <a:xfrm>
            <a:off x="6286500" y="2240280"/>
            <a:ext cx="4137660" cy="1051560"/>
          </a:xfrm>
          <a:prstGeom prst="roundRect">
            <a:avLst>
              <a:gd name="adj" fmla="val 6957"/>
            </a:avLst>
          </a:prstGeom>
          <a:solidFill>
            <a:srgbClr val="8B7FD9"/>
          </a:solidFill>
          <a:ln/>
        </p:spPr>
      </p:sp>
      <p:sp>
        <p:nvSpPr>
          <p:cNvPr id="11" name="Text 9"/>
          <p:cNvSpPr txBox="1"/>
          <p:nvPr/>
        </p:nvSpPr>
        <p:spPr>
          <a:xfrm>
            <a:off x="6423660" y="2350008"/>
            <a:ext cx="38633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Server</a:t>
            </a:r>
            <a:endParaRPr lang="en-US" sz="1300" dirty="0"/>
          </a:p>
        </p:txBody>
      </p:sp>
      <p:sp>
        <p:nvSpPr>
          <p:cNvPr id="12" name="Text 10"/>
          <p:cNvSpPr txBox="1"/>
          <p:nvPr/>
        </p:nvSpPr>
        <p:spPr>
          <a:xfrm>
            <a:off x="6423660" y="2697480"/>
            <a:ext cx="3863340" cy="50292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DBMS + the stored database</a:t>
            </a:r>
            <a:endParaRPr lang="en-US" sz="1000" dirty="0"/>
          </a:p>
        </p:txBody>
      </p:sp>
      <p:sp>
        <p:nvSpPr>
          <p:cNvPr id="13" name="Text 11"/>
          <p:cNvSpPr txBox="1"/>
          <p:nvPr/>
        </p:nvSpPr>
        <p:spPr>
          <a:xfrm>
            <a:off x="640080" y="3520440"/>
            <a:ext cx="10881360" cy="59436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A classic example: an old-style desktop banking application on each teller's workstation, connecting straight to a central database server over the bank's internal network.</a:t>
            </a:r>
            <a:endParaRPr lang="en-US" sz="1300" dirty="0"/>
          </a:p>
        </p:txBody>
      </p:sp>
      <p:sp>
        <p:nvSpPr>
          <p:cNvPr id="14" name="Shape 12"/>
          <p:cNvSpPr/>
          <p:nvPr/>
        </p:nvSpPr>
        <p:spPr>
          <a:xfrm>
            <a:off x="640080" y="4206240"/>
            <a:ext cx="10881360" cy="1920240"/>
          </a:xfrm>
          <a:prstGeom prst="roundRect">
            <a:avLst>
              <a:gd name="adj" fmla="val 3810"/>
            </a:avLst>
          </a:prstGeom>
          <a:solidFill>
            <a:srgbClr val="F7F8F9"/>
          </a:solidFill>
          <a:ln w="12700">
            <a:solidFill>
              <a:srgbClr val="D8DCE1"/>
            </a:solidFill>
            <a:prstDash val="solid"/>
          </a:ln>
        </p:spPr>
      </p:sp>
      <p:sp>
        <p:nvSpPr>
          <p:cNvPr id="15" name="Text 13"/>
          <p:cNvSpPr txBox="1"/>
          <p:nvPr/>
        </p:nvSpPr>
        <p:spPr>
          <a:xfrm>
            <a:off x="868680" y="4343400"/>
            <a:ext cx="10424160" cy="1691640"/>
          </a:xfrm>
          <a:prstGeom prst="rect">
            <a:avLst/>
          </a:prstGeom>
          <a:noFill/>
          <a:ln/>
        </p:spPr>
        <p:txBody>
          <a:bodyPr wrap="square" lIns="0" tIns="0" rIns="0" bIns="0" rtlCol="0" anchor="t"/>
          <a:lstStyle/>
          <a:p>
            <a:pPr indent="0" marL="0">
              <a:buNone/>
            </a:pPr>
            <a:r>
              <a:rPr lang="en-US" sz="1300" b="1" dirty="0">
                <a:solidFill>
                  <a:srgbClr val="1F2429"/>
                </a:solidFill>
                <a:latin typeface="Calibri" pitchFamily="34" charset="0"/>
                <a:ea typeface="Calibri" pitchFamily="34" charset="-122"/>
                <a:cs typeface="Calibri" pitchFamily="34" charset="-120"/>
              </a:rPr>
              <a:t>The limits of two tiers.  </a:t>
            </a:r>
            <a:pPr indent="0" marL="0">
              <a:buNone/>
            </a:pPr>
            <a:r>
              <a:rPr lang="en-US" sz="1300" dirty="0">
                <a:solidFill>
                  <a:srgbClr val="1F2429"/>
                </a:solidFill>
                <a:latin typeface="Calibri" pitchFamily="34" charset="0"/>
                <a:ea typeface="Calibri" pitchFamily="34" charset="-122"/>
                <a:cs typeface="Calibri" pitchFamily="34" charset="-120"/>
              </a:rPr>
              <a:t>This works well for a limited number of clients on a trusted internal network, but every client machine needs the full application installed and updated, business logic is duplicated across every client, and the database server must handle a direct connection from every single client — it stops scaling gracefully as users grow.</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Three-Tier Client-Server Architecture</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4" name="Text 2"/>
          <p:cNvSpPr txBox="1"/>
          <p:nvPr/>
        </p:nvSpPr>
        <p:spPr>
          <a:xfrm>
            <a:off x="640080" y="1188720"/>
            <a:ext cx="10881360" cy="548640"/>
          </a:xfrm>
          <a:prstGeom prst="rect">
            <a:avLst/>
          </a:prstGeom>
          <a:noFill/>
          <a:ln/>
        </p:spPr>
        <p:txBody>
          <a:bodyPr wrap="square" lIns="0" tIns="0" rIns="0" bIns="0" rtlCol="0" anchor="t"/>
          <a:lstStyle/>
          <a:p>
            <a:pPr indent="0" marL="0">
              <a:buNone/>
            </a:pPr>
            <a:r>
              <a:rPr lang="en-US" sz="1450" dirty="0">
                <a:solidFill>
                  <a:srgbClr val="1F2429"/>
                </a:solidFill>
                <a:latin typeface="Calibri" pitchFamily="34" charset="0"/>
                <a:ea typeface="Calibri" pitchFamily="34" charset="-122"/>
                <a:cs typeface="Calibri" pitchFamily="34" charset="-120"/>
              </a:rPr>
              <a:t>A three-tier architecture splits the client's responsibilities further, inserting a middle layer between the user-facing client and the database server:</a:t>
            </a:r>
            <a:endParaRPr lang="en-US" sz="1450" dirty="0"/>
          </a:p>
        </p:txBody>
      </p:sp>
      <p:sp>
        <p:nvSpPr>
          <p:cNvPr id="5" name="Text 3"/>
          <p:cNvSpPr txBox="1"/>
          <p:nvPr/>
        </p:nvSpPr>
        <p:spPr>
          <a:xfrm>
            <a:off x="640080" y="192024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Three-tier client-server architecture</a:t>
            </a:r>
            <a:endParaRPr lang="en-US" sz="1200" dirty="0"/>
          </a:p>
        </p:txBody>
      </p:sp>
      <p:sp>
        <p:nvSpPr>
          <p:cNvPr id="6" name="Shape 4"/>
          <p:cNvSpPr/>
          <p:nvPr/>
        </p:nvSpPr>
        <p:spPr>
          <a:xfrm>
            <a:off x="640080" y="2240280"/>
            <a:ext cx="3352800" cy="1143000"/>
          </a:xfrm>
          <a:prstGeom prst="roundRect">
            <a:avLst>
              <a:gd name="adj" fmla="val 6400"/>
            </a:avLst>
          </a:prstGeom>
          <a:solidFill>
            <a:srgbClr val="2FE6C4"/>
          </a:solidFill>
          <a:ln/>
        </p:spPr>
      </p:sp>
      <p:sp>
        <p:nvSpPr>
          <p:cNvPr id="7" name="Text 5"/>
          <p:cNvSpPr txBox="1"/>
          <p:nvPr/>
        </p:nvSpPr>
        <p:spPr>
          <a:xfrm>
            <a:off x="777240" y="2350008"/>
            <a:ext cx="30784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Presentation tier</a:t>
            </a:r>
            <a:endParaRPr lang="en-US" sz="1300" dirty="0"/>
          </a:p>
        </p:txBody>
      </p:sp>
      <p:sp>
        <p:nvSpPr>
          <p:cNvPr id="8" name="Text 6"/>
          <p:cNvSpPr txBox="1"/>
          <p:nvPr/>
        </p:nvSpPr>
        <p:spPr>
          <a:xfrm>
            <a:off x="777240" y="2697480"/>
            <a:ext cx="3078480" cy="59436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The client — a browser or thin app showing the UI only</a:t>
            </a:r>
            <a:endParaRPr lang="en-US" sz="1000" dirty="0"/>
          </a:p>
        </p:txBody>
      </p:sp>
      <p:sp>
        <p:nvSpPr>
          <p:cNvPr id="9" name="Shape 7"/>
          <p:cNvSpPr/>
          <p:nvPr/>
        </p:nvSpPr>
        <p:spPr>
          <a:xfrm>
            <a:off x="4038600" y="2729484"/>
            <a:ext cx="320040" cy="164592"/>
          </a:xfrm>
          <a:prstGeom prst="rightArrow">
            <a:avLst/>
          </a:prstGeom>
          <a:solidFill>
            <a:srgbClr val="8A939B"/>
          </a:solidFill>
          <a:ln/>
        </p:spPr>
      </p:sp>
      <p:sp>
        <p:nvSpPr>
          <p:cNvPr id="10" name="Shape 8"/>
          <p:cNvSpPr/>
          <p:nvPr/>
        </p:nvSpPr>
        <p:spPr>
          <a:xfrm>
            <a:off x="4404360" y="2240280"/>
            <a:ext cx="3352800" cy="1143000"/>
          </a:xfrm>
          <a:prstGeom prst="roundRect">
            <a:avLst>
              <a:gd name="adj" fmla="val 6400"/>
            </a:avLst>
          </a:prstGeom>
          <a:solidFill>
            <a:srgbClr val="8B7FD9"/>
          </a:solidFill>
          <a:ln/>
        </p:spPr>
      </p:sp>
      <p:sp>
        <p:nvSpPr>
          <p:cNvPr id="11" name="Text 9"/>
          <p:cNvSpPr txBox="1"/>
          <p:nvPr/>
        </p:nvSpPr>
        <p:spPr>
          <a:xfrm>
            <a:off x="4541520" y="2350008"/>
            <a:ext cx="30784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Application tier</a:t>
            </a:r>
            <a:endParaRPr lang="en-US" sz="1300" dirty="0"/>
          </a:p>
        </p:txBody>
      </p:sp>
      <p:sp>
        <p:nvSpPr>
          <p:cNvPr id="12" name="Text 10"/>
          <p:cNvSpPr txBox="1"/>
          <p:nvPr/>
        </p:nvSpPr>
        <p:spPr>
          <a:xfrm>
            <a:off x="4541520" y="2697480"/>
            <a:ext cx="3078480" cy="59436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Application server — business logic and rules</a:t>
            </a:r>
            <a:endParaRPr lang="en-US" sz="1000" dirty="0"/>
          </a:p>
        </p:txBody>
      </p:sp>
      <p:sp>
        <p:nvSpPr>
          <p:cNvPr id="13" name="Shape 11"/>
          <p:cNvSpPr/>
          <p:nvPr/>
        </p:nvSpPr>
        <p:spPr>
          <a:xfrm>
            <a:off x="7802880" y="2729484"/>
            <a:ext cx="320040" cy="164592"/>
          </a:xfrm>
          <a:prstGeom prst="rightArrow">
            <a:avLst/>
          </a:prstGeom>
          <a:solidFill>
            <a:srgbClr val="8A939B"/>
          </a:solidFill>
          <a:ln/>
        </p:spPr>
      </p:sp>
      <p:sp>
        <p:nvSpPr>
          <p:cNvPr id="14" name="Shape 12"/>
          <p:cNvSpPr/>
          <p:nvPr/>
        </p:nvSpPr>
        <p:spPr>
          <a:xfrm>
            <a:off x="8168640" y="2240280"/>
            <a:ext cx="3352800" cy="1143000"/>
          </a:xfrm>
          <a:prstGeom prst="roundRect">
            <a:avLst>
              <a:gd name="adj" fmla="val 6400"/>
            </a:avLst>
          </a:prstGeom>
          <a:solidFill>
            <a:srgbClr val="E8A33D"/>
          </a:solidFill>
          <a:ln/>
        </p:spPr>
      </p:sp>
      <p:sp>
        <p:nvSpPr>
          <p:cNvPr id="15" name="Text 13"/>
          <p:cNvSpPr txBox="1"/>
          <p:nvPr/>
        </p:nvSpPr>
        <p:spPr>
          <a:xfrm>
            <a:off x="8305800" y="2350008"/>
            <a:ext cx="30784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tier</a:t>
            </a:r>
            <a:endParaRPr lang="en-US" sz="1300" dirty="0"/>
          </a:p>
        </p:txBody>
      </p:sp>
      <p:sp>
        <p:nvSpPr>
          <p:cNvPr id="16" name="Text 14"/>
          <p:cNvSpPr txBox="1"/>
          <p:nvPr/>
        </p:nvSpPr>
        <p:spPr>
          <a:xfrm>
            <a:off x="8305800" y="2697480"/>
            <a:ext cx="3078480" cy="59436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Database server — the DBMS and the stored database</a:t>
            </a:r>
            <a:endParaRPr lang="en-US" sz="1000" dirty="0"/>
          </a:p>
        </p:txBody>
      </p:sp>
      <p:sp>
        <p:nvSpPr>
          <p:cNvPr id="17" name="Text 15"/>
          <p:cNvSpPr txBox="1"/>
          <p:nvPr/>
        </p:nvSpPr>
        <p:spPr>
          <a:xfrm>
            <a:off x="640080" y="3611880"/>
            <a:ext cx="10881360" cy="77724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A modern online banking website is a textbook three-tier system: the webpage is the presentation tier, the bank's application servers enforcing daily transfer limits are the application tier, and the account database is the data tier.</a:t>
            </a:r>
            <a:endParaRPr lang="en-US" sz="1300" dirty="0"/>
          </a:p>
        </p:txBody>
      </p:sp>
      <p:sp>
        <p:nvSpPr>
          <p:cNvPr id="18" name="Shape 16"/>
          <p:cNvSpPr/>
          <p:nvPr/>
        </p:nvSpPr>
        <p:spPr>
          <a:xfrm>
            <a:off x="640080" y="4572000"/>
            <a:ext cx="10881360" cy="1554480"/>
          </a:xfrm>
          <a:prstGeom prst="roundRect">
            <a:avLst>
              <a:gd name="adj" fmla="val 4706"/>
            </a:avLst>
          </a:prstGeom>
          <a:solidFill>
            <a:srgbClr val="E9FBF6"/>
          </a:solidFill>
          <a:ln w="12700">
            <a:solidFill>
              <a:srgbClr val="2FE6C4"/>
            </a:solidFill>
            <a:prstDash val="solid"/>
          </a:ln>
        </p:spPr>
      </p:sp>
      <p:sp>
        <p:nvSpPr>
          <p:cNvPr id="19" name="Text 17"/>
          <p:cNvSpPr txBox="1"/>
          <p:nvPr/>
        </p:nvSpPr>
        <p:spPr>
          <a:xfrm>
            <a:off x="868680" y="4709160"/>
            <a:ext cx="10424160" cy="1280160"/>
          </a:xfrm>
          <a:prstGeom prst="rect">
            <a:avLst/>
          </a:prstGeom>
          <a:noFill/>
          <a:ln/>
        </p:spPr>
        <p:txBody>
          <a:bodyPr wrap="square" lIns="0" tIns="0" rIns="0" bIns="0" rtlCol="0" anchor="t"/>
          <a:lstStyle/>
          <a:p>
            <a:pPr indent="0" marL="0">
              <a:buNone/>
            </a:pPr>
            <a:r>
              <a:rPr lang="en-US" sz="1250" b="1" dirty="0">
                <a:solidFill>
                  <a:srgbClr val="1F2429"/>
                </a:solidFill>
                <a:latin typeface="Calibri" pitchFamily="34" charset="0"/>
                <a:ea typeface="Calibri" pitchFamily="34" charset="-122"/>
                <a:cs typeface="Calibri" pitchFamily="34" charset="-120"/>
              </a:rPr>
              <a:t>Client-server architecture is about physical location; the three-schema architecture next is about logical organization.  </a:t>
            </a:r>
            <a:pPr indent="0" marL="0">
              <a:buNone/>
            </a:pPr>
            <a:r>
              <a:rPr lang="en-US" sz="1250" dirty="0">
                <a:solidFill>
                  <a:srgbClr val="1F2429"/>
                </a:solidFill>
                <a:latin typeface="Calibri" pitchFamily="34" charset="0"/>
                <a:ea typeface="Calibri" pitchFamily="34" charset="-122"/>
                <a:cs typeface="Calibri" pitchFamily="34" charset="-120"/>
              </a:rPr>
              <a:t>A single-tier desktop database and a three-tier web application can both internally follow the same three-schema organization.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ANSI-SPARC Three-Schema Architecture</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4" name="Text 2"/>
          <p:cNvSpPr txBox="1"/>
          <p:nvPr/>
        </p:nvSpPr>
        <p:spPr>
          <a:xfrm>
            <a:off x="640080" y="1188720"/>
            <a:ext cx="10881360" cy="594360"/>
          </a:xfrm>
          <a:prstGeom prst="rect">
            <a:avLst/>
          </a:prstGeom>
          <a:noFill/>
          <a:ln/>
        </p:spPr>
        <p:txBody>
          <a:bodyPr wrap="square" lIns="0" tIns="0" rIns="0" bIns="0" rtlCol="0" anchor="t"/>
          <a:lstStyle/>
          <a:p>
            <a:pPr indent="0" marL="0">
              <a:buNone/>
            </a:pPr>
            <a:r>
              <a:rPr lang="en-US" sz="1400" dirty="0">
                <a:solidFill>
                  <a:srgbClr val="1F2429"/>
                </a:solidFill>
                <a:latin typeface="Calibri" pitchFamily="34" charset="0"/>
                <a:ea typeface="Calibri" pitchFamily="34" charset="-122"/>
                <a:cs typeface="Calibri" pitchFamily="34" charset="-120"/>
              </a:rPr>
              <a:t>The standard blueprint for how a DBMS organizes a database's structure into three levels, each describing the same underlying data from a different point of view:</a:t>
            </a:r>
            <a:endParaRPr lang="en-US" sz="1400" dirty="0"/>
          </a:p>
        </p:txBody>
      </p:sp>
      <p:sp>
        <p:nvSpPr>
          <p:cNvPr id="5" name="Text 3"/>
          <p:cNvSpPr txBox="1"/>
          <p:nvPr/>
        </p:nvSpPr>
        <p:spPr>
          <a:xfrm>
            <a:off x="822960" y="1965960"/>
            <a:ext cx="1051560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The ANSI-SPARC three-schema architecture</a:t>
            </a:r>
            <a:endParaRPr lang="en-US" sz="1200" dirty="0"/>
          </a:p>
        </p:txBody>
      </p:sp>
      <p:sp>
        <p:nvSpPr>
          <p:cNvPr id="6" name="Shape 4"/>
          <p:cNvSpPr/>
          <p:nvPr/>
        </p:nvSpPr>
        <p:spPr>
          <a:xfrm>
            <a:off x="822960" y="2286000"/>
            <a:ext cx="10515600" cy="697992"/>
          </a:xfrm>
          <a:prstGeom prst="roundRect">
            <a:avLst>
              <a:gd name="adj" fmla="val 10480"/>
            </a:avLst>
          </a:prstGeom>
          <a:solidFill>
            <a:srgbClr val="2FE6C4"/>
          </a:solidFill>
          <a:ln/>
        </p:spPr>
      </p:sp>
      <p:sp>
        <p:nvSpPr>
          <p:cNvPr id="7" name="Text 5"/>
          <p:cNvSpPr txBox="1"/>
          <p:nvPr/>
        </p:nvSpPr>
        <p:spPr>
          <a:xfrm>
            <a:off x="1097280" y="2286000"/>
            <a:ext cx="2926080" cy="69799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External Level</a:t>
            </a:r>
            <a:endParaRPr lang="en-US" sz="1500" dirty="0"/>
          </a:p>
        </p:txBody>
      </p:sp>
      <p:sp>
        <p:nvSpPr>
          <p:cNvPr id="8" name="Text 6"/>
          <p:cNvSpPr txBox="1"/>
          <p:nvPr/>
        </p:nvSpPr>
        <p:spPr>
          <a:xfrm>
            <a:off x="4023360" y="2286000"/>
            <a:ext cx="7040880" cy="6979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Many external schemas, one per user group — each shows only the data that group needs</a:t>
            </a:r>
            <a:endParaRPr lang="en-US" sz="1100" dirty="0"/>
          </a:p>
        </p:txBody>
      </p:sp>
      <p:sp>
        <p:nvSpPr>
          <p:cNvPr id="9" name="Shape 7"/>
          <p:cNvSpPr/>
          <p:nvPr/>
        </p:nvSpPr>
        <p:spPr>
          <a:xfrm>
            <a:off x="822960" y="3148584"/>
            <a:ext cx="10515600" cy="697992"/>
          </a:xfrm>
          <a:prstGeom prst="roundRect">
            <a:avLst>
              <a:gd name="adj" fmla="val 10480"/>
            </a:avLst>
          </a:prstGeom>
          <a:solidFill>
            <a:srgbClr val="8B7FD9"/>
          </a:solidFill>
          <a:ln/>
        </p:spPr>
      </p:sp>
      <p:sp>
        <p:nvSpPr>
          <p:cNvPr id="10" name="Text 8"/>
          <p:cNvSpPr txBox="1"/>
          <p:nvPr/>
        </p:nvSpPr>
        <p:spPr>
          <a:xfrm>
            <a:off x="1097280" y="3148584"/>
            <a:ext cx="2926080" cy="69799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Conceptual Level</a:t>
            </a:r>
            <a:endParaRPr lang="en-US" sz="1500" dirty="0"/>
          </a:p>
        </p:txBody>
      </p:sp>
      <p:sp>
        <p:nvSpPr>
          <p:cNvPr id="11" name="Text 9"/>
          <p:cNvSpPr txBox="1"/>
          <p:nvPr/>
        </p:nvSpPr>
        <p:spPr>
          <a:xfrm>
            <a:off x="4023360" y="3148584"/>
            <a:ext cx="7040880" cy="6979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One conceptual schema — the complete community view of the whole database's structure and rules</a:t>
            </a:r>
            <a:endParaRPr lang="en-US" sz="1100" dirty="0"/>
          </a:p>
        </p:txBody>
      </p:sp>
      <p:sp>
        <p:nvSpPr>
          <p:cNvPr id="12" name="Shape 10"/>
          <p:cNvSpPr/>
          <p:nvPr/>
        </p:nvSpPr>
        <p:spPr>
          <a:xfrm>
            <a:off x="822960" y="4011168"/>
            <a:ext cx="10515600" cy="697992"/>
          </a:xfrm>
          <a:prstGeom prst="roundRect">
            <a:avLst>
              <a:gd name="adj" fmla="val 10480"/>
            </a:avLst>
          </a:prstGeom>
          <a:solidFill>
            <a:srgbClr val="E8A33D"/>
          </a:solidFill>
          <a:ln/>
        </p:spPr>
      </p:sp>
      <p:sp>
        <p:nvSpPr>
          <p:cNvPr id="13" name="Text 11"/>
          <p:cNvSpPr txBox="1"/>
          <p:nvPr/>
        </p:nvSpPr>
        <p:spPr>
          <a:xfrm>
            <a:off x="1097280" y="4011168"/>
            <a:ext cx="2926080" cy="69799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Internal Level</a:t>
            </a:r>
            <a:endParaRPr lang="en-US" sz="1500" dirty="0"/>
          </a:p>
        </p:txBody>
      </p:sp>
      <p:sp>
        <p:nvSpPr>
          <p:cNvPr id="14" name="Text 12"/>
          <p:cNvSpPr txBox="1"/>
          <p:nvPr/>
        </p:nvSpPr>
        <p:spPr>
          <a:xfrm>
            <a:off x="4023360" y="4011168"/>
            <a:ext cx="7040880" cy="6979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One internal schema — how the data is actually stored on physical media</a:t>
            </a:r>
            <a:endParaRPr lang="en-US" sz="1100" dirty="0"/>
          </a:p>
        </p:txBody>
      </p:sp>
      <p:sp>
        <p:nvSpPr>
          <p:cNvPr id="15" name="Shape 13"/>
          <p:cNvSpPr/>
          <p:nvPr/>
        </p:nvSpPr>
        <p:spPr>
          <a:xfrm>
            <a:off x="640080" y="4937760"/>
            <a:ext cx="10881360" cy="1188720"/>
          </a:xfrm>
          <a:prstGeom prst="roundRect">
            <a:avLst>
              <a:gd name="adj" fmla="val 6154"/>
            </a:avLst>
          </a:prstGeom>
          <a:solidFill>
            <a:srgbClr val="FBEEDD"/>
          </a:solidFill>
          <a:ln w="12700">
            <a:solidFill>
              <a:srgbClr val="E8A33D"/>
            </a:solidFill>
            <a:prstDash val="solid"/>
          </a:ln>
        </p:spPr>
      </p:sp>
      <p:sp>
        <p:nvSpPr>
          <p:cNvPr id="16" name="Text 14"/>
          <p:cNvSpPr txBox="1"/>
          <p:nvPr/>
        </p:nvSpPr>
        <p:spPr>
          <a:xfrm>
            <a:off x="868680" y="5056632"/>
            <a:ext cx="10424160" cy="960120"/>
          </a:xfrm>
          <a:prstGeom prst="rect">
            <a:avLst/>
          </a:prstGeom>
          <a:noFill/>
          <a:ln/>
        </p:spPr>
        <p:txBody>
          <a:bodyPr wrap="square" lIns="0" tIns="0" rIns="0" bIns="0" rtlCol="0" anchor="t"/>
          <a:lstStyle/>
          <a:p>
            <a:pPr indent="0" marL="0">
              <a:buNone/>
            </a:pPr>
            <a:r>
              <a:rPr lang="en-US" sz="1250" b="1" dirty="0">
                <a:solidFill>
                  <a:srgbClr val="1F2429"/>
                </a:solidFill>
                <a:latin typeface="Calibri" pitchFamily="34" charset="0"/>
                <a:ea typeface="Calibri" pitchFamily="34" charset="-122"/>
                <a:cs typeface="Calibri" pitchFamily="34" charset="-120"/>
              </a:rPr>
              <a:t>Three schemas, not three copies of the data.  </a:t>
            </a:r>
            <a:pPr indent="0" marL="0">
              <a:buNone/>
            </a:pPr>
            <a:r>
              <a:rPr lang="en-US" sz="1250" dirty="0">
                <a:solidFill>
                  <a:srgbClr val="1F2429"/>
                </a:solidFill>
                <a:latin typeface="Calibri" pitchFamily="34" charset="0"/>
                <a:ea typeface="Calibri" pitchFamily="34" charset="-122"/>
                <a:cs typeface="Calibri" pitchFamily="34" charset="-120"/>
              </a:rPr>
              <a:t>There is exactly one physical copy of the data, described at the internal level. The external and conceptual levels are descriptions — schemas — not additional data stores.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External Level</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4" name="Text 2"/>
          <p:cNvSpPr txBox="1"/>
          <p:nvPr/>
        </p:nvSpPr>
        <p:spPr>
          <a:xfrm>
            <a:off x="640080" y="1188720"/>
            <a:ext cx="10881360" cy="731520"/>
          </a:xfrm>
          <a:prstGeom prst="rect">
            <a:avLst/>
          </a:prstGeom>
          <a:noFill/>
          <a:ln/>
        </p:spPr>
        <p:txBody>
          <a:bodyPr wrap="square" lIns="0" tIns="0" rIns="0" bIns="0" rtlCol="0" anchor="t"/>
          <a:lstStyle/>
          <a:p>
            <a:pPr indent="0" marL="0">
              <a:buNone/>
            </a:pPr>
            <a:r>
              <a:rPr lang="en-US" sz="1450" b="1" dirty="0">
                <a:solidFill>
                  <a:srgbClr val="2FE6C4"/>
                </a:solidFill>
                <a:latin typeface="Calibri" pitchFamily="34" charset="0"/>
                <a:ea typeface="Calibri" pitchFamily="34" charset="-122"/>
                <a:cs typeface="Calibri" pitchFamily="34" charset="-120"/>
              </a:rPr>
              <a:t>The external level</a:t>
            </a:r>
            <a:pPr indent="0" marL="0">
              <a:buNone/>
            </a:pPr>
            <a:r>
              <a:rPr lang="en-US" sz="1450" dirty="0">
                <a:solidFill>
                  <a:srgbClr val="1F2429"/>
                </a:solidFill>
                <a:latin typeface="Calibri" pitchFamily="34" charset="0"/>
                <a:ea typeface="Calibri" pitchFamily="34" charset="-122"/>
                <a:cs typeface="Calibri" pitchFamily="34" charset="-120"/>
              </a:rPr>
              <a:t> is closest to individual users: a number of external schemas (user views), one per distinct user group, each describing only the part of the database that group cares about.</a:t>
            </a:r>
            <a:endParaRPr lang="en-US" sz="1450" dirty="0"/>
          </a:p>
        </p:txBody>
      </p:sp>
      <p:sp>
        <p:nvSpPr>
          <p:cNvPr id="5" name="Text 3"/>
          <p:cNvSpPr txBox="1"/>
          <p:nvPr/>
        </p:nvSpPr>
        <p:spPr>
          <a:xfrm>
            <a:off x="640080" y="2011680"/>
            <a:ext cx="10881360" cy="640080"/>
          </a:xfrm>
          <a:prstGeom prst="rect">
            <a:avLst/>
          </a:prstGeom>
          <a:noFill/>
          <a:ln/>
        </p:spPr>
        <p:txBody>
          <a:bodyPr wrap="square" lIns="0" tIns="0" rIns="0" bIns="0" rtlCol="0" anchor="t"/>
          <a:lstStyle/>
          <a:p>
            <a:pPr indent="0" marL="0">
              <a:buNone/>
            </a:pPr>
            <a:r>
              <a:rPr lang="en-US" sz="1300" dirty="0">
                <a:solidFill>
                  <a:srgbClr val="8A939B"/>
                </a:solidFill>
                <a:latin typeface="Calibri" pitchFamily="34" charset="0"/>
                <a:ea typeface="Calibri" pitchFamily="34" charset="-122"/>
                <a:cs typeface="Calibri" pitchFamily="34" charset="-120"/>
              </a:rPr>
              <a:t>Worked example: a university enrollment database. The conceptual schema holds full Student, Course, Enrollment, and Instructor relations, including sensitive fields like Student.cnic and Instructor.salary.</a:t>
            </a:r>
            <a:endParaRPr lang="en-US" sz="1300" dirty="0"/>
          </a:p>
        </p:txBody>
      </p:sp>
      <p:sp>
        <p:nvSpPr>
          <p:cNvPr id="6" name="Text 4"/>
          <p:cNvSpPr txBox="1"/>
          <p:nvPr/>
        </p:nvSpPr>
        <p:spPr>
          <a:xfrm>
            <a:off x="640080" y="274320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Two external schemas over the same conceptual data</a:t>
            </a:r>
            <a:endParaRPr lang="en-US" sz="1200" dirty="0"/>
          </a:p>
        </p:txBody>
      </p:sp>
      <p:sp>
        <p:nvSpPr>
          <p:cNvPr id="7" name="Shape 5"/>
          <p:cNvSpPr/>
          <p:nvPr/>
        </p:nvSpPr>
        <p:spPr>
          <a:xfrm>
            <a:off x="640080" y="3063240"/>
            <a:ext cx="5326380" cy="1417320"/>
          </a:xfrm>
          <a:prstGeom prst="roundRect">
            <a:avLst>
              <a:gd name="adj" fmla="val 5161"/>
            </a:avLst>
          </a:prstGeom>
          <a:solidFill>
            <a:srgbClr val="2FE6C4"/>
          </a:solidFill>
          <a:ln/>
        </p:spPr>
      </p:sp>
      <p:sp>
        <p:nvSpPr>
          <p:cNvPr id="8" name="Text 6"/>
          <p:cNvSpPr txBox="1"/>
          <p:nvPr/>
        </p:nvSpPr>
        <p:spPr>
          <a:xfrm>
            <a:off x="822960" y="319125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External schema: Course Advisor</a:t>
            </a:r>
            <a:endParaRPr lang="en-US" sz="1350" dirty="0"/>
          </a:p>
        </p:txBody>
      </p:sp>
      <p:sp>
        <p:nvSpPr>
          <p:cNvPr id="9" name="Text 7"/>
          <p:cNvSpPr txBox="1"/>
          <p:nvPr/>
        </p:nvSpPr>
        <p:spPr>
          <a:xfrm>
            <a:off x="822960" y="3538728"/>
            <a:ext cx="4960620" cy="85039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StudentName, CourseTitle, Grade — no CNIC, no salary data at all</a:t>
            </a:r>
            <a:endParaRPr lang="en-US" sz="1050" dirty="0"/>
          </a:p>
        </p:txBody>
      </p:sp>
      <p:sp>
        <p:nvSpPr>
          <p:cNvPr id="10" name="Shape 8"/>
          <p:cNvSpPr/>
          <p:nvPr/>
        </p:nvSpPr>
        <p:spPr>
          <a:xfrm>
            <a:off x="6195060" y="3063240"/>
            <a:ext cx="5326380" cy="1417320"/>
          </a:xfrm>
          <a:prstGeom prst="roundRect">
            <a:avLst>
              <a:gd name="adj" fmla="val 5161"/>
            </a:avLst>
          </a:prstGeom>
          <a:solidFill>
            <a:srgbClr val="8B7FD9"/>
          </a:solidFill>
          <a:ln/>
        </p:spPr>
      </p:sp>
      <p:sp>
        <p:nvSpPr>
          <p:cNvPr id="11" name="Text 9"/>
          <p:cNvSpPr txBox="1"/>
          <p:nvPr/>
        </p:nvSpPr>
        <p:spPr>
          <a:xfrm>
            <a:off x="6377940" y="319125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External schema: Payroll Clerk</a:t>
            </a:r>
            <a:endParaRPr lang="en-US" sz="1350" dirty="0"/>
          </a:p>
        </p:txBody>
      </p:sp>
      <p:sp>
        <p:nvSpPr>
          <p:cNvPr id="12" name="Text 10"/>
          <p:cNvSpPr txBox="1"/>
          <p:nvPr/>
        </p:nvSpPr>
        <p:spPr>
          <a:xfrm>
            <a:off x="6377940" y="3538728"/>
            <a:ext cx="4960620" cy="85039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InstructorName, Department, Salary — no student data at all</a:t>
            </a:r>
            <a:endParaRPr lang="en-US" sz="1050" dirty="0"/>
          </a:p>
        </p:txBody>
      </p:sp>
      <p:sp>
        <p:nvSpPr>
          <p:cNvPr id="13" name="Text 11"/>
          <p:cNvSpPr txBox="1"/>
          <p:nvPr/>
        </p:nvSpPr>
        <p:spPr>
          <a:xfrm>
            <a:off x="640080" y="4709160"/>
            <a:ext cx="10881360" cy="731520"/>
          </a:xfrm>
          <a:prstGeom prst="rect">
            <a:avLst/>
          </a:prstGeom>
          <a:noFill/>
          <a:ln/>
        </p:spPr>
        <p:txBody>
          <a:bodyPr wrap="square" lIns="0" tIns="0" rIns="0" bIns="0" rtlCol="0" anchor="t"/>
          <a:lstStyle/>
          <a:p>
            <a:pPr indent="0" marL="0">
              <a:buNone/>
            </a:pPr>
            <a:r>
              <a:rPr lang="en-US" sz="1250" dirty="0">
                <a:solidFill>
                  <a:srgbClr val="8A939B"/>
                </a:solidFill>
                <a:latin typeface="Calibri" pitchFamily="34" charset="0"/>
                <a:ea typeface="Calibri" pitchFamily="34" charset="-122"/>
                <a:cs typeface="Calibri" pitchFamily="34" charset="-120"/>
              </a:rPr>
              <a:t>Neither view shows the whole conceptual schema, and neither is aware the other exists — each is tailored to exactly what its user group is authorized to see and needs to work with.</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Conceptual Level and Internal Level</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4" name="Shape 2"/>
          <p:cNvSpPr/>
          <p:nvPr/>
        </p:nvSpPr>
        <p:spPr>
          <a:xfrm>
            <a:off x="640080" y="1371600"/>
            <a:ext cx="457200" cy="457200"/>
          </a:xfrm>
          <a:prstGeom prst="ellipse">
            <a:avLst/>
          </a:prstGeom>
          <a:solidFill>
            <a:srgbClr val="8B7FD9"/>
          </a:solidFill>
          <a:ln/>
        </p:spPr>
      </p:sp>
      <p:sp>
        <p:nvSpPr>
          <p:cNvPr id="5" name="Text 3"/>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6" name="Text 4"/>
          <p:cNvSpPr txBox="1"/>
          <p:nvPr/>
        </p:nvSpPr>
        <p:spPr>
          <a:xfrm>
            <a:off x="1234440" y="1344168"/>
            <a:ext cx="9921240" cy="320040"/>
          </a:xfrm>
          <a:prstGeom prst="rect">
            <a:avLst/>
          </a:prstGeom>
          <a:noFill/>
          <a:ln/>
        </p:spPr>
        <p:txBody>
          <a:bodyPr wrap="square" lIns="0" tIns="0" rIns="0" bIns="0" rtlCol="0" anchor="ctr"/>
          <a:lstStyle/>
          <a:p>
            <a:pPr indent="0" marL="0">
              <a:buNone/>
            </a:pPr>
            <a:r>
              <a:rPr lang="en-US" sz="1500" b="1" dirty="0">
                <a:solidFill>
                  <a:srgbClr val="1F2429"/>
                </a:solidFill>
                <a:latin typeface="Calibri" pitchFamily="34" charset="0"/>
                <a:ea typeface="Calibri" pitchFamily="34" charset="-122"/>
                <a:cs typeface="Calibri" pitchFamily="34" charset="-120"/>
              </a:rPr>
              <a:t>Conceptual Level</a:t>
            </a:r>
            <a:endParaRPr lang="en-US" sz="1500" dirty="0"/>
          </a:p>
        </p:txBody>
      </p:sp>
      <p:sp>
        <p:nvSpPr>
          <p:cNvPr id="7" name="Text 5"/>
          <p:cNvSpPr txBox="1"/>
          <p:nvPr/>
        </p:nvSpPr>
        <p:spPr>
          <a:xfrm>
            <a:off x="1234440" y="1874520"/>
            <a:ext cx="9875520" cy="82296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Exactly one conceptual schema: a single, complete, community-wide view of the entire database's logical structure — every entity, relationship, and constraint — described without reference to physical storage, and without favoring any one external view.</a:t>
            </a:r>
            <a:endParaRPr lang="en-US" sz="1300" dirty="0"/>
          </a:p>
        </p:txBody>
      </p:sp>
      <p:sp>
        <p:nvSpPr>
          <p:cNvPr id="8" name="Text 6"/>
          <p:cNvSpPr txBox="1"/>
          <p:nvPr/>
        </p:nvSpPr>
        <p:spPr>
          <a:xfrm>
            <a:off x="1234440" y="2606040"/>
            <a:ext cx="9875520" cy="777240"/>
          </a:xfrm>
          <a:prstGeom prst="rect">
            <a:avLst/>
          </a:prstGeom>
          <a:noFill/>
          <a:ln/>
        </p:spPr>
        <p:txBody>
          <a:bodyPr wrap="square" lIns="0" tIns="0" rIns="0" bIns="0" rtlCol="0" anchor="t"/>
          <a:lstStyle/>
          <a:p>
            <a:pPr indent="0" marL="0">
              <a:buNone/>
            </a:pPr>
            <a:r>
              <a:rPr lang="en-US" sz="1200" i="1" dirty="0">
                <a:solidFill>
                  <a:srgbClr val="8A939B"/>
                </a:solidFill>
                <a:latin typeface="Calibri" pitchFamily="34" charset="0"/>
                <a:ea typeface="Calibri" pitchFamily="34" charset="-122"/>
                <a:cs typeface="Calibri" pitchFamily="34" charset="-120"/>
              </a:rPr>
              <a:t>For the university example: the full set of relations (Student, Course, Enrollment, Instructor) with all attributes, primary and foreign keys, and business rules — independent of whether data ends up on a hard disk, an SSD, or split across several servers.</a:t>
            </a:r>
            <a:endParaRPr lang="en-US" sz="1200" dirty="0"/>
          </a:p>
        </p:txBody>
      </p:sp>
      <p:sp>
        <p:nvSpPr>
          <p:cNvPr id="9" name="Shape 7"/>
          <p:cNvSpPr/>
          <p:nvPr/>
        </p:nvSpPr>
        <p:spPr>
          <a:xfrm>
            <a:off x="640080" y="3611880"/>
            <a:ext cx="457200" cy="457200"/>
          </a:xfrm>
          <a:prstGeom prst="ellipse">
            <a:avLst/>
          </a:prstGeom>
          <a:solidFill>
            <a:srgbClr val="E8A33D"/>
          </a:solidFill>
          <a:ln/>
        </p:spPr>
      </p:sp>
      <p:sp>
        <p:nvSpPr>
          <p:cNvPr id="10" name="Text 8"/>
          <p:cNvSpPr txBox="1"/>
          <p:nvPr/>
        </p:nvSpPr>
        <p:spPr>
          <a:xfrm>
            <a:off x="640080" y="3611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a:t>
            </a:r>
            <a:endParaRPr lang="en-US" sz="1800" dirty="0"/>
          </a:p>
        </p:txBody>
      </p:sp>
      <p:sp>
        <p:nvSpPr>
          <p:cNvPr id="11" name="Text 9"/>
          <p:cNvSpPr txBox="1"/>
          <p:nvPr/>
        </p:nvSpPr>
        <p:spPr>
          <a:xfrm>
            <a:off x="1234440" y="3584448"/>
            <a:ext cx="9921240" cy="320040"/>
          </a:xfrm>
          <a:prstGeom prst="rect">
            <a:avLst/>
          </a:prstGeom>
          <a:noFill/>
          <a:ln/>
        </p:spPr>
        <p:txBody>
          <a:bodyPr wrap="square" lIns="0" tIns="0" rIns="0" bIns="0" rtlCol="0" anchor="ctr"/>
          <a:lstStyle/>
          <a:p>
            <a:pPr indent="0" marL="0">
              <a:buNone/>
            </a:pPr>
            <a:r>
              <a:rPr lang="en-US" sz="1500" b="1" dirty="0">
                <a:solidFill>
                  <a:srgbClr val="1F2429"/>
                </a:solidFill>
                <a:latin typeface="Calibri" pitchFamily="34" charset="0"/>
                <a:ea typeface="Calibri" pitchFamily="34" charset="-122"/>
                <a:cs typeface="Calibri" pitchFamily="34" charset="-120"/>
              </a:rPr>
              <a:t>Internal Level</a:t>
            </a:r>
            <a:endParaRPr lang="en-US" sz="1500" dirty="0"/>
          </a:p>
        </p:txBody>
      </p:sp>
      <p:sp>
        <p:nvSpPr>
          <p:cNvPr id="12" name="Text 10"/>
          <p:cNvSpPr txBox="1"/>
          <p:nvPr/>
        </p:nvSpPr>
        <p:spPr>
          <a:xfrm>
            <a:off x="1234440" y="4114800"/>
            <a:ext cx="9875520" cy="82296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Exactly one internal schema, describing the physical storage representation: what files exist, what indexes exist, how records are laid out on disk, what compression or encoding is used. The only level that concerns itself with actual storage media.</a:t>
            </a:r>
            <a:endParaRPr lang="en-US" sz="1300" dirty="0"/>
          </a:p>
        </p:txBody>
      </p:sp>
      <p:sp>
        <p:nvSpPr>
          <p:cNvPr id="13" name="Text 11"/>
          <p:cNvSpPr txBox="1"/>
          <p:nvPr/>
        </p:nvSpPr>
        <p:spPr>
          <a:xfrm>
            <a:off x="1234440" y="4846320"/>
            <a:ext cx="9875520" cy="777240"/>
          </a:xfrm>
          <a:prstGeom prst="rect">
            <a:avLst/>
          </a:prstGeom>
          <a:noFill/>
          <a:ln/>
        </p:spPr>
        <p:txBody>
          <a:bodyPr wrap="square" lIns="0" tIns="0" rIns="0" bIns="0" rtlCol="0" anchor="t"/>
          <a:lstStyle/>
          <a:p>
            <a:pPr indent="0" marL="0">
              <a:buNone/>
            </a:pPr>
            <a:r>
              <a:rPr lang="en-US" sz="1200" i="1" dirty="0">
                <a:solidFill>
                  <a:srgbClr val="8A939B"/>
                </a:solidFill>
                <a:latin typeface="Calibri" pitchFamily="34" charset="0"/>
                <a:ea typeface="Calibri" pitchFamily="34" charset="-122"/>
                <a:cs typeface="Calibri" pitchFamily="34" charset="-120"/>
              </a:rPr>
              <a:t>For the university example: Student records stored in a B-tree-indexed file ordered by studentId, with a separate hash index on cnic — details no external-level user, and not even the conceptual schema, needs to know about.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Mappings Between the Levels</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4" name="Text 2"/>
          <p:cNvSpPr txBox="1"/>
          <p:nvPr/>
        </p:nvSpPr>
        <p:spPr>
          <a:xfrm>
            <a:off x="640080" y="1143000"/>
            <a:ext cx="10881360" cy="502920"/>
          </a:xfrm>
          <a:prstGeom prst="rect">
            <a:avLst/>
          </a:prstGeom>
          <a:noFill/>
          <a:ln/>
        </p:spPr>
        <p:txBody>
          <a:bodyPr wrap="square" lIns="0" tIns="0" rIns="0" bIns="0" rtlCol="0" anchor="ctr"/>
          <a:lstStyle/>
          <a:p>
            <a:pPr indent="0" marL="0">
              <a:buNone/>
            </a:pPr>
            <a:r>
              <a:rPr lang="en-US" sz="1400" dirty="0">
                <a:solidFill>
                  <a:srgbClr val="1F2429"/>
                </a:solidFill>
                <a:latin typeface="Calibri" pitchFamily="34" charset="0"/>
                <a:ea typeface="Calibri" pitchFamily="34" charset="-122"/>
                <a:cs typeface="Calibri" pitchFamily="34" charset="-120"/>
              </a:rPr>
              <a:t>Because the three levels describe the same data differently, the DBMS needs a way to translate a request made at one level into an action at another:</a:t>
            </a:r>
            <a:endParaRPr lang="en-US" sz="1400" dirty="0"/>
          </a:p>
        </p:txBody>
      </p:sp>
      <p:sp>
        <p:nvSpPr>
          <p:cNvPr id="5" name="Shape 3"/>
          <p:cNvSpPr/>
          <p:nvPr/>
        </p:nvSpPr>
        <p:spPr>
          <a:xfrm>
            <a:off x="2194560" y="1691640"/>
            <a:ext cx="7772400" cy="804672"/>
          </a:xfrm>
          <a:prstGeom prst="roundRect">
            <a:avLst>
              <a:gd name="adj" fmla="val 9091"/>
            </a:avLst>
          </a:prstGeom>
          <a:solidFill>
            <a:srgbClr val="2FE6C4"/>
          </a:solidFill>
          <a:ln/>
        </p:spPr>
      </p:sp>
      <p:sp>
        <p:nvSpPr>
          <p:cNvPr id="6" name="Text 4"/>
          <p:cNvSpPr txBox="1"/>
          <p:nvPr/>
        </p:nvSpPr>
        <p:spPr>
          <a:xfrm>
            <a:off x="2423160" y="1764792"/>
            <a:ext cx="7315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External Level</a:t>
            </a:r>
            <a:endParaRPr lang="en-US" sz="1400" dirty="0"/>
          </a:p>
        </p:txBody>
      </p:sp>
      <p:sp>
        <p:nvSpPr>
          <p:cNvPr id="7" name="Text 5"/>
          <p:cNvSpPr txBox="1"/>
          <p:nvPr/>
        </p:nvSpPr>
        <p:spPr>
          <a:xfrm>
            <a:off x="2423160" y="2020824"/>
            <a:ext cx="7315200" cy="42062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Course Advisor's view, Payroll Clerk's view, ...</a:t>
            </a:r>
            <a:endParaRPr lang="en-US" sz="1050" dirty="0"/>
          </a:p>
        </p:txBody>
      </p:sp>
      <p:sp>
        <p:nvSpPr>
          <p:cNvPr id="8" name="Shape 6"/>
          <p:cNvSpPr/>
          <p:nvPr/>
        </p:nvSpPr>
        <p:spPr>
          <a:xfrm rot="5400000">
            <a:off x="6007608" y="2503170"/>
            <a:ext cx="146304" cy="123444"/>
          </a:xfrm>
          <a:prstGeom prst="rightArrow">
            <a:avLst/>
          </a:prstGeom>
          <a:solidFill>
            <a:srgbClr val="8A939B"/>
          </a:solidFill>
          <a:ln/>
        </p:spPr>
      </p:sp>
      <p:sp>
        <p:nvSpPr>
          <p:cNvPr id="9" name="Shape 7"/>
          <p:cNvSpPr/>
          <p:nvPr/>
        </p:nvSpPr>
        <p:spPr>
          <a:xfrm>
            <a:off x="2194560" y="2633472"/>
            <a:ext cx="7772400" cy="804672"/>
          </a:xfrm>
          <a:prstGeom prst="roundRect">
            <a:avLst>
              <a:gd name="adj" fmla="val 9091"/>
            </a:avLst>
          </a:prstGeom>
          <a:solidFill>
            <a:srgbClr val="8B7FD9"/>
          </a:solidFill>
          <a:ln/>
        </p:spPr>
      </p:sp>
      <p:sp>
        <p:nvSpPr>
          <p:cNvPr id="10" name="Text 8"/>
          <p:cNvSpPr txBox="1"/>
          <p:nvPr/>
        </p:nvSpPr>
        <p:spPr>
          <a:xfrm>
            <a:off x="2423160" y="2706624"/>
            <a:ext cx="7315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External/Conceptual Mapping</a:t>
            </a:r>
            <a:endParaRPr lang="en-US" sz="1400" dirty="0"/>
          </a:p>
        </p:txBody>
      </p:sp>
      <p:sp>
        <p:nvSpPr>
          <p:cNvPr id="11" name="Text 9"/>
          <p:cNvSpPr txBox="1"/>
          <p:nvPr/>
        </p:nvSpPr>
        <p:spPr>
          <a:xfrm>
            <a:off x="2423160" y="2962656"/>
            <a:ext cx="7315200" cy="42062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Relates each external schema to the one conceptual schema</a:t>
            </a:r>
            <a:endParaRPr lang="en-US" sz="1050" dirty="0"/>
          </a:p>
        </p:txBody>
      </p:sp>
      <p:sp>
        <p:nvSpPr>
          <p:cNvPr id="12" name="Shape 10"/>
          <p:cNvSpPr/>
          <p:nvPr/>
        </p:nvSpPr>
        <p:spPr>
          <a:xfrm rot="5400000">
            <a:off x="6007608" y="3445002"/>
            <a:ext cx="146304" cy="123444"/>
          </a:xfrm>
          <a:prstGeom prst="rightArrow">
            <a:avLst/>
          </a:prstGeom>
          <a:solidFill>
            <a:srgbClr val="8A939B"/>
          </a:solidFill>
          <a:ln/>
        </p:spPr>
      </p:sp>
      <p:sp>
        <p:nvSpPr>
          <p:cNvPr id="13" name="Shape 11"/>
          <p:cNvSpPr/>
          <p:nvPr/>
        </p:nvSpPr>
        <p:spPr>
          <a:xfrm>
            <a:off x="2194560" y="3575304"/>
            <a:ext cx="7772400" cy="804672"/>
          </a:xfrm>
          <a:prstGeom prst="roundRect">
            <a:avLst>
              <a:gd name="adj" fmla="val 9091"/>
            </a:avLst>
          </a:prstGeom>
          <a:solidFill>
            <a:srgbClr val="8B7FD9"/>
          </a:solidFill>
          <a:ln/>
        </p:spPr>
      </p:sp>
      <p:sp>
        <p:nvSpPr>
          <p:cNvPr id="14" name="Text 12"/>
          <p:cNvSpPr txBox="1"/>
          <p:nvPr/>
        </p:nvSpPr>
        <p:spPr>
          <a:xfrm>
            <a:off x="2423160" y="3648456"/>
            <a:ext cx="7315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Conceptual Level</a:t>
            </a:r>
            <a:endParaRPr lang="en-US" sz="1400" dirty="0"/>
          </a:p>
        </p:txBody>
      </p:sp>
      <p:sp>
        <p:nvSpPr>
          <p:cNvPr id="15" name="Text 13"/>
          <p:cNvSpPr txBox="1"/>
          <p:nvPr/>
        </p:nvSpPr>
        <p:spPr>
          <a:xfrm>
            <a:off x="2423160" y="3904488"/>
            <a:ext cx="7315200" cy="42062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The single, complete community schema</a:t>
            </a:r>
            <a:endParaRPr lang="en-US" sz="1050" dirty="0"/>
          </a:p>
        </p:txBody>
      </p:sp>
      <p:sp>
        <p:nvSpPr>
          <p:cNvPr id="16" name="Shape 14"/>
          <p:cNvSpPr/>
          <p:nvPr/>
        </p:nvSpPr>
        <p:spPr>
          <a:xfrm rot="5400000">
            <a:off x="6007608" y="4386834"/>
            <a:ext cx="146304" cy="123444"/>
          </a:xfrm>
          <a:prstGeom prst="rightArrow">
            <a:avLst/>
          </a:prstGeom>
          <a:solidFill>
            <a:srgbClr val="8A939B"/>
          </a:solidFill>
          <a:ln/>
        </p:spPr>
      </p:sp>
      <p:sp>
        <p:nvSpPr>
          <p:cNvPr id="17" name="Shape 15"/>
          <p:cNvSpPr/>
          <p:nvPr/>
        </p:nvSpPr>
        <p:spPr>
          <a:xfrm>
            <a:off x="2194560" y="4517136"/>
            <a:ext cx="7772400" cy="804672"/>
          </a:xfrm>
          <a:prstGeom prst="roundRect">
            <a:avLst>
              <a:gd name="adj" fmla="val 9091"/>
            </a:avLst>
          </a:prstGeom>
          <a:solidFill>
            <a:srgbClr val="E8A33D"/>
          </a:solidFill>
          <a:ln/>
        </p:spPr>
      </p:sp>
      <p:sp>
        <p:nvSpPr>
          <p:cNvPr id="18" name="Text 16"/>
          <p:cNvSpPr txBox="1"/>
          <p:nvPr/>
        </p:nvSpPr>
        <p:spPr>
          <a:xfrm>
            <a:off x="2423160" y="4590288"/>
            <a:ext cx="7315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Conceptual/Internal Mapping</a:t>
            </a:r>
            <a:endParaRPr lang="en-US" sz="1400" dirty="0"/>
          </a:p>
        </p:txBody>
      </p:sp>
      <p:sp>
        <p:nvSpPr>
          <p:cNvPr id="19" name="Text 17"/>
          <p:cNvSpPr txBox="1"/>
          <p:nvPr/>
        </p:nvSpPr>
        <p:spPr>
          <a:xfrm>
            <a:off x="2423160" y="4846320"/>
            <a:ext cx="7315200" cy="42062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Relates the conceptual schema to physical storage</a:t>
            </a:r>
            <a:endParaRPr lang="en-US" sz="1050" dirty="0"/>
          </a:p>
        </p:txBody>
      </p:sp>
      <p:sp>
        <p:nvSpPr>
          <p:cNvPr id="20" name="Shape 18"/>
          <p:cNvSpPr/>
          <p:nvPr/>
        </p:nvSpPr>
        <p:spPr>
          <a:xfrm rot="5400000">
            <a:off x="6007608" y="5328666"/>
            <a:ext cx="146304" cy="123444"/>
          </a:xfrm>
          <a:prstGeom prst="rightArrow">
            <a:avLst/>
          </a:prstGeom>
          <a:solidFill>
            <a:srgbClr val="8A939B"/>
          </a:solidFill>
          <a:ln/>
        </p:spPr>
      </p:sp>
      <p:sp>
        <p:nvSpPr>
          <p:cNvPr id="21" name="Shape 19"/>
          <p:cNvSpPr/>
          <p:nvPr/>
        </p:nvSpPr>
        <p:spPr>
          <a:xfrm>
            <a:off x="2194560" y="5458968"/>
            <a:ext cx="7772400" cy="804672"/>
          </a:xfrm>
          <a:prstGeom prst="roundRect">
            <a:avLst>
              <a:gd name="adj" fmla="val 9091"/>
            </a:avLst>
          </a:prstGeom>
          <a:solidFill>
            <a:srgbClr val="2FE6C4"/>
          </a:solidFill>
          <a:ln/>
        </p:spPr>
      </p:sp>
      <p:sp>
        <p:nvSpPr>
          <p:cNvPr id="22" name="Text 20"/>
          <p:cNvSpPr txBox="1"/>
          <p:nvPr/>
        </p:nvSpPr>
        <p:spPr>
          <a:xfrm>
            <a:off x="2423160" y="5532120"/>
            <a:ext cx="7315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Internal Level</a:t>
            </a:r>
            <a:endParaRPr lang="en-US" sz="1400" dirty="0"/>
          </a:p>
        </p:txBody>
      </p:sp>
      <p:sp>
        <p:nvSpPr>
          <p:cNvPr id="23" name="Text 21"/>
          <p:cNvSpPr txBox="1"/>
          <p:nvPr/>
        </p:nvSpPr>
        <p:spPr>
          <a:xfrm>
            <a:off x="2423160" y="5788152"/>
            <a:ext cx="7315200" cy="42062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Files, indexes, physical record layout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Logical Data Independence</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4" name="Shape 2"/>
          <p:cNvSpPr/>
          <p:nvPr/>
        </p:nvSpPr>
        <p:spPr>
          <a:xfrm>
            <a:off x="640080" y="1234440"/>
            <a:ext cx="10881360" cy="1051560"/>
          </a:xfrm>
          <a:prstGeom prst="roundRect">
            <a:avLst>
              <a:gd name="adj" fmla="val 6957"/>
            </a:avLst>
          </a:prstGeom>
          <a:solidFill>
            <a:srgbClr val="2FE6C4"/>
          </a:solidFill>
          <a:ln/>
        </p:spPr>
      </p:sp>
      <p:sp>
        <p:nvSpPr>
          <p:cNvPr id="5" name="Text 3"/>
          <p:cNvSpPr txBox="1"/>
          <p:nvPr/>
        </p:nvSpPr>
        <p:spPr>
          <a:xfrm>
            <a:off x="868680" y="1371600"/>
            <a:ext cx="1042416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capacity to change the conceptual schema without having to change existing external schemas or the application programs built against them.</a:t>
            </a:r>
            <a:endParaRPr lang="en-US" sz="1500" dirty="0"/>
          </a:p>
        </p:txBody>
      </p:sp>
      <p:sp>
        <p:nvSpPr>
          <p:cNvPr id="6" name="Text 4"/>
          <p:cNvSpPr txBox="1"/>
          <p:nvPr/>
        </p:nvSpPr>
        <p:spPr>
          <a:xfrm>
            <a:off x="640080" y="2468880"/>
            <a:ext cx="10881360" cy="640080"/>
          </a:xfrm>
          <a:prstGeom prst="rect">
            <a:avLst/>
          </a:prstGeom>
          <a:noFill/>
          <a:ln/>
        </p:spPr>
        <p:txBody>
          <a:bodyPr wrap="square" lIns="0" tIns="0" rIns="0" bIns="0" rtlCol="0" anchor="t"/>
          <a:lstStyle/>
          <a:p>
            <a:pPr indent="0" marL="0">
              <a:buNone/>
            </a:pPr>
            <a:r>
              <a:rPr lang="en-US" sz="1350" dirty="0">
                <a:solidFill>
                  <a:srgbClr val="1F2429"/>
                </a:solidFill>
                <a:latin typeface="Calibri" pitchFamily="34" charset="0"/>
                <a:ea typeface="Calibri" pitchFamily="34" charset="-122"/>
                <a:cs typeface="Calibri" pitchFamily="34" charset="-120"/>
              </a:rPr>
              <a:t>It is achieved because a change to the conceptual schema only requires updating the external/conceptual mapping — the external schemas themselves stay exactly as they were.</a:t>
            </a:r>
            <a:endParaRPr lang="en-US" sz="1350" dirty="0"/>
          </a:p>
        </p:txBody>
      </p:sp>
      <p:sp>
        <p:nvSpPr>
          <p:cNvPr id="7" name="Shape 5"/>
          <p:cNvSpPr/>
          <p:nvPr/>
        </p:nvSpPr>
        <p:spPr>
          <a:xfrm>
            <a:off x="640080" y="3246120"/>
            <a:ext cx="10881360" cy="1463040"/>
          </a:xfrm>
          <a:prstGeom prst="roundRect">
            <a:avLst>
              <a:gd name="adj" fmla="val 5000"/>
            </a:avLst>
          </a:prstGeom>
          <a:solidFill>
            <a:srgbClr val="F7F8F9"/>
          </a:solidFill>
          <a:ln w="12700">
            <a:solidFill>
              <a:srgbClr val="8B7FD9"/>
            </a:solidFill>
            <a:prstDash val="solid"/>
          </a:ln>
        </p:spPr>
      </p:sp>
      <p:sp>
        <p:nvSpPr>
          <p:cNvPr id="8" name="Text 6"/>
          <p:cNvSpPr txBox="1"/>
          <p:nvPr/>
        </p:nvSpPr>
        <p:spPr>
          <a:xfrm>
            <a:off x="868680" y="3383280"/>
            <a:ext cx="10424160" cy="1234440"/>
          </a:xfrm>
          <a:prstGeom prst="rect">
            <a:avLst/>
          </a:prstGeom>
          <a:noFill/>
          <a:ln/>
        </p:spPr>
        <p:txBody>
          <a:bodyPr wrap="square" lIns="0" tIns="0" rIns="0" bIns="0" rtlCol="0" anchor="t"/>
          <a:lstStyle/>
          <a:p>
            <a:pPr indent="0" marL="0">
              <a:buNone/>
            </a:pPr>
            <a:r>
              <a:rPr lang="en-US" sz="1250" b="1" dirty="0">
                <a:solidFill>
                  <a:srgbClr val="1F2429"/>
                </a:solidFill>
                <a:latin typeface="Calibri" pitchFamily="34" charset="0"/>
                <a:ea typeface="Calibri" pitchFamily="34" charset="-122"/>
                <a:cs typeface="Calibri" pitchFamily="34" charset="-120"/>
              </a:rPr>
              <a:t>Example.  </a:t>
            </a:r>
            <a:pPr indent="0" marL="0">
              <a:buNone/>
            </a:pPr>
            <a:r>
              <a:rPr lang="en-US" sz="1250" dirty="0">
                <a:solidFill>
                  <a:srgbClr val="1F2429"/>
                </a:solidFill>
                <a:latin typeface="Calibri" pitchFamily="34" charset="0"/>
                <a:ea typeface="Calibri" pitchFamily="34" charset="-122"/>
                <a:cs typeface="Calibri" pitchFamily="34" charset="-120"/>
              </a:rPr>
              <a:t>The university adds a new Instructor.officePhone attribute to the conceptual schema. The Course Advisor's external schema never referenced instructor data at all, so nothing about it needs to change, and every application built against it keeps working — completely unaware the conceptual schema grew a new column.</a:t>
            </a:r>
            <a:endParaRPr lang="en-US" sz="1250" dirty="0"/>
          </a:p>
        </p:txBody>
      </p:sp>
      <p:sp>
        <p:nvSpPr>
          <p:cNvPr id="9" name="Text 7"/>
          <p:cNvSpPr txBox="1"/>
          <p:nvPr/>
        </p:nvSpPr>
        <p:spPr>
          <a:xfrm>
            <a:off x="640080" y="4892040"/>
            <a:ext cx="10881360" cy="457200"/>
          </a:xfrm>
          <a:prstGeom prst="rect">
            <a:avLst/>
          </a:prstGeom>
          <a:noFill/>
          <a:ln/>
        </p:spPr>
        <p:txBody>
          <a:bodyPr wrap="square" lIns="0" tIns="0" rIns="0" bIns="0" rtlCol="0" anchor="ctr"/>
          <a:lstStyle/>
          <a:p>
            <a:pPr indent="0" marL="0">
              <a:buNone/>
            </a:pPr>
            <a:r>
              <a:rPr lang="en-US" sz="1200" i="1" dirty="0">
                <a:solidFill>
                  <a:srgbClr val="8A939B"/>
                </a:solidFill>
                <a:latin typeface="Calibri" pitchFamily="34" charset="0"/>
                <a:ea typeface="Calibri" pitchFamily="34" charset="-122"/>
                <a:cs typeface="Calibri" pitchFamily="34" charset="-120"/>
              </a:rPr>
              <a:t>If the change is “we added a column” or “we split a relation in two,” think logical.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Physical Data Independence</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4" name="Shape 2"/>
          <p:cNvSpPr/>
          <p:nvPr/>
        </p:nvSpPr>
        <p:spPr>
          <a:xfrm>
            <a:off x="640080" y="1188720"/>
            <a:ext cx="10881360" cy="1051560"/>
          </a:xfrm>
          <a:prstGeom prst="roundRect">
            <a:avLst>
              <a:gd name="adj" fmla="val 6957"/>
            </a:avLst>
          </a:prstGeom>
          <a:solidFill>
            <a:srgbClr val="8B7FD9"/>
          </a:solidFill>
          <a:ln/>
        </p:spPr>
      </p:sp>
      <p:sp>
        <p:nvSpPr>
          <p:cNvPr id="5" name="Text 3"/>
          <p:cNvSpPr txBox="1"/>
          <p:nvPr/>
        </p:nvSpPr>
        <p:spPr>
          <a:xfrm>
            <a:off x="868680" y="1325880"/>
            <a:ext cx="1042416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capacity to change the internal schema — how data is physically stored — without having to change the conceptual schema (and therefore not external schemas or applications either).</a:t>
            </a:r>
            <a:endParaRPr lang="en-US" sz="1500" dirty="0"/>
          </a:p>
        </p:txBody>
      </p:sp>
      <p:sp>
        <p:nvSpPr>
          <p:cNvPr id="6" name="Shape 4"/>
          <p:cNvSpPr/>
          <p:nvPr/>
        </p:nvSpPr>
        <p:spPr>
          <a:xfrm>
            <a:off x="640080" y="2423160"/>
            <a:ext cx="10881360" cy="1280160"/>
          </a:xfrm>
          <a:prstGeom prst="roundRect">
            <a:avLst>
              <a:gd name="adj" fmla="val 5714"/>
            </a:avLst>
          </a:prstGeom>
          <a:solidFill>
            <a:srgbClr val="F7F8F9"/>
          </a:solidFill>
          <a:ln w="12700">
            <a:solidFill>
              <a:srgbClr val="2FE6C4"/>
            </a:solidFill>
            <a:prstDash val="solid"/>
          </a:ln>
        </p:spPr>
      </p:sp>
      <p:sp>
        <p:nvSpPr>
          <p:cNvPr id="7" name="Text 5"/>
          <p:cNvSpPr txBox="1"/>
          <p:nvPr/>
        </p:nvSpPr>
        <p:spPr>
          <a:xfrm>
            <a:off x="868680" y="2542032"/>
            <a:ext cx="10424160" cy="1097280"/>
          </a:xfrm>
          <a:prstGeom prst="rect">
            <a:avLst/>
          </a:prstGeom>
          <a:noFill/>
          <a:ln/>
        </p:spPr>
        <p:txBody>
          <a:bodyPr wrap="square" lIns="0" tIns="0" rIns="0" bIns="0" rtlCol="0" anchor="t"/>
          <a:lstStyle/>
          <a:p>
            <a:pPr indent="0" marL="0">
              <a:buNone/>
            </a:pPr>
            <a:r>
              <a:rPr lang="en-US" sz="1250" b="1" dirty="0">
                <a:solidFill>
                  <a:srgbClr val="1F2429"/>
                </a:solidFill>
                <a:latin typeface="Calibri" pitchFamily="34" charset="0"/>
                <a:ea typeface="Calibri" pitchFamily="34" charset="-122"/>
                <a:cs typeface="Calibri" pitchFamily="34" charset="-120"/>
              </a:rPr>
              <a:t>Example.  </a:t>
            </a:r>
            <a:pPr indent="0" marL="0">
              <a:buNone/>
            </a:pPr>
            <a:r>
              <a:rPr lang="en-US" sz="1250" dirty="0">
                <a:solidFill>
                  <a:srgbClr val="1F2429"/>
                </a:solidFill>
                <a:latin typeface="Calibri" pitchFamily="34" charset="0"/>
                <a:ea typeface="Calibri" pitchFamily="34" charset="-122"/>
                <a:cs typeface="Calibri" pitchFamily="34" charset="-120"/>
              </a:rPr>
              <a:t>The DBA adds a new index on Student.cnic, or migrates storage from spinning disks to SSDs, or reorganizes how Student records are laid out in their file. None of this touches the conceptual schema — only the conceptual/internal mapping changes.</a:t>
            </a:r>
            <a:endParaRPr lang="en-US" sz="1250" dirty="0"/>
          </a:p>
        </p:txBody>
      </p:sp>
      <p:sp>
        <p:nvSpPr>
          <p:cNvPr id="8" name="Shape 6"/>
          <p:cNvSpPr/>
          <p:nvPr/>
        </p:nvSpPr>
        <p:spPr>
          <a:xfrm>
            <a:off x="640080" y="3886200"/>
            <a:ext cx="5326380" cy="1463040"/>
          </a:xfrm>
          <a:prstGeom prst="roundRect">
            <a:avLst>
              <a:gd name="adj" fmla="val 5000"/>
            </a:avLst>
          </a:prstGeom>
          <a:solidFill>
            <a:srgbClr val="2FE6C4"/>
          </a:solidFill>
          <a:ln/>
        </p:spPr>
      </p:sp>
      <p:sp>
        <p:nvSpPr>
          <p:cNvPr id="9" name="Text 7"/>
          <p:cNvSpPr txBox="1"/>
          <p:nvPr/>
        </p:nvSpPr>
        <p:spPr>
          <a:xfrm>
            <a:off x="822960" y="401421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Logical data independence</a:t>
            </a:r>
            <a:endParaRPr lang="en-US" sz="1350" dirty="0"/>
          </a:p>
        </p:txBody>
      </p:sp>
      <p:sp>
        <p:nvSpPr>
          <p:cNvPr id="10" name="Text 8"/>
          <p:cNvSpPr txBox="1"/>
          <p:nvPr/>
        </p:nvSpPr>
        <p:spPr>
          <a:xfrm>
            <a:off x="822960" y="4361688"/>
            <a:ext cx="4960620" cy="89611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Conceptual schema changes -&gt; only the external/conceptual mapping updates -&gt; external schemas untouched</a:t>
            </a:r>
            <a:endParaRPr lang="en-US" sz="1050" dirty="0"/>
          </a:p>
        </p:txBody>
      </p:sp>
      <p:sp>
        <p:nvSpPr>
          <p:cNvPr id="11" name="Shape 9"/>
          <p:cNvSpPr/>
          <p:nvPr/>
        </p:nvSpPr>
        <p:spPr>
          <a:xfrm>
            <a:off x="6195060" y="3886200"/>
            <a:ext cx="5326380" cy="1463040"/>
          </a:xfrm>
          <a:prstGeom prst="roundRect">
            <a:avLst>
              <a:gd name="adj" fmla="val 5000"/>
            </a:avLst>
          </a:prstGeom>
          <a:solidFill>
            <a:srgbClr val="8B7FD9"/>
          </a:solidFill>
          <a:ln/>
        </p:spPr>
      </p:sp>
      <p:sp>
        <p:nvSpPr>
          <p:cNvPr id="12" name="Text 10"/>
          <p:cNvSpPr txBox="1"/>
          <p:nvPr/>
        </p:nvSpPr>
        <p:spPr>
          <a:xfrm>
            <a:off x="6377940" y="401421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Physical data independence</a:t>
            </a:r>
            <a:endParaRPr lang="en-US" sz="1350" dirty="0"/>
          </a:p>
        </p:txBody>
      </p:sp>
      <p:sp>
        <p:nvSpPr>
          <p:cNvPr id="13" name="Text 11"/>
          <p:cNvSpPr txBox="1"/>
          <p:nvPr/>
        </p:nvSpPr>
        <p:spPr>
          <a:xfrm>
            <a:off x="6377940" y="4361688"/>
            <a:ext cx="4960620" cy="89611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Internal schema changes -&gt; only the conceptual/internal mapping updates -&gt; conceptual schema untouched</a:t>
            </a:r>
            <a:endParaRPr lang="en-US" sz="1050" dirty="0"/>
          </a:p>
        </p:txBody>
      </p:sp>
      <p:sp>
        <p:nvSpPr>
          <p:cNvPr id="14" name="Text 12"/>
          <p:cNvSpPr txBox="1"/>
          <p:nvPr/>
        </p:nvSpPr>
        <p:spPr>
          <a:xfrm>
            <a:off x="640080" y="5486400"/>
            <a:ext cx="10881360" cy="548640"/>
          </a:xfrm>
          <a:prstGeom prst="rect">
            <a:avLst/>
          </a:prstGeom>
          <a:noFill/>
          <a:ln/>
        </p:spPr>
        <p:txBody>
          <a:bodyPr wrap="square" lIns="0" tIns="0" rIns="0" bIns="0" rtlCol="0" anchor="ctr"/>
          <a:lstStyle/>
          <a:p>
            <a:pPr indent="0" marL="0">
              <a:buNone/>
            </a:pPr>
            <a:r>
              <a:rPr lang="en-US" sz="1150" i="1" dirty="0">
                <a:solidFill>
                  <a:srgbClr val="8A939B"/>
                </a:solidFill>
                <a:latin typeface="Calibri" pitchFamily="34" charset="0"/>
                <a:ea typeface="Calibri" pitchFamily="34" charset="-122"/>
                <a:cs typeface="Calibri" pitchFamily="34" charset="-120"/>
              </a:rPr>
              <a:t>Anchor them by which schema changes: logical insulates users from conceptual-level changes; physical insulates the conceptual level from internal, physical-storage changes.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Two-tier client-server architecture splits a system into client and database server; three-tier adds a middle application-server tier for business logic and scalability</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The ANSI-SPARC three-schema architecture organizes a database into external (many user views), conceptual (one complete community schema), and internal (physical storage) levels — three descriptions, not three copies of the data</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The external/conceptual mapping connects user views to the conceptual schema; the conceptual/internal mapping connects the conceptual schema to physical storage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Logical data independence: changing the conceptual schema without forcing changes to external schemas or applications</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Physical data independence: changing the internal (physical storage) schema without forcing changes to the conceptual schema — and therefore not external schemas either</a:t>
            </a:r>
            <a:endParaRPr lang="en-US" sz="1600" dirty="0"/>
          </a:p>
        </p:txBody>
      </p:sp>
      <p:sp>
        <p:nvSpPr>
          <p:cNvPr id="4" name="Text 2"/>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2026-09-29T15:23:52Z</dcterms:created>
  <dcterms:modified xsi:type="dcterms:W3CDTF">2026-09-29T15:23:52Z</dcterms:modified>
</cp:coreProperties>
</file>
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19"/>
    <p:sldId id="258" r:id="rId4"/>
    <p:sldId id="269" r:id="rId20"/>
    <p:sldId id="259" r:id="rId5"/>
    <p:sldId id="270" r:id="rId21"/>
    <p:sldId id="260" r:id="rId6"/>
    <p:sldId id="271" r:id="rId22"/>
    <p:sldId id="261" r:id="rId7"/>
    <p:sldId id="272" r:id="rId23"/>
    <p:sldId id="262" r:id="rId8"/>
    <p:sldId id="273" r:id="rId24"/>
    <p:sldId id="263" r:id="rId9"/>
    <p:sldId id="264" r:id="rId10"/>
    <p:sldId id="274" r:id="rId25"/>
    <p:sldId id="265" r:id="rId11"/>
    <p:sldId id="266" r:id="rId12"/>
    <p:sldId id="275" r:id="rId26"/>
    <p:sldId id="276" r:id="rId27"/>
    <p:sldId id="277" r:id="rId28"/>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1965960"/>
            <a:ext cx="10515600" cy="411480"/>
          </a:xfrm>
          <a:prstGeom prst="rect">
            <a:avLst/>
          </a:prstGeom>
          <a:noFill/>
          <a:ln/>
        </p:spPr>
        <p:txBody>
          <a:bodyPr wrap="square" rtlCol="0" anchor="ctr"/>
          <a:lstStyle/>
          <a:p>
            <a:pPr indent="0" marL="0">
              <a:buNone/>
            </a:pPr>
            <a:r>
              <a:rPr lang="en-US" sz="1800" b="1" spc="300" kern="0" dirty="0">
                <a:solidFill>
                  <a:srgbClr val="2FE6C4"/>
                </a:solidFill>
                <a:latin typeface="Calibri" pitchFamily="34" charset="0"/>
                <a:ea typeface="Calibri" pitchFamily="34" charset="-122"/>
                <a:cs typeface="Calibri" pitchFamily="34" charset="-120"/>
              </a:rPr>
              <a:t>LECTURE 5</a:t>
            </a:r>
            <a:endParaRPr lang="en-US" sz="1800" dirty="0"/>
          </a:p>
        </p:txBody>
      </p:sp>
      <p:sp>
        <p:nvSpPr>
          <p:cNvPr id="3" name="Text 1"/>
          <p:cNvSpPr txBox="1"/>
          <p:nvPr/>
        </p:nvSpPr>
        <p:spPr>
          <a:xfrm>
            <a:off x="822960" y="2423160"/>
            <a:ext cx="10515600" cy="1737360"/>
          </a:xfrm>
          <a:prstGeom prst="rect">
            <a:avLst/>
          </a:prstGeom>
          <a:noFill/>
          <a:ln/>
        </p:spPr>
        <p:txBody>
          <a:bodyPr wrap="square"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Relational Model</a:t>
            </a:r>
            <a:endParaRPr lang="en-US" sz="4000" dirty="0"/>
          </a:p>
        </p:txBody>
      </p:sp>
      <p:sp>
        <p:nvSpPr>
          <p:cNvPr id="4" name="Text 2"/>
          <p:cNvSpPr txBox="1"/>
          <p:nvPr/>
        </p:nvSpPr>
        <p:spPr>
          <a:xfrm>
            <a:off x="822960" y="4160520"/>
            <a:ext cx="10515600" cy="457200"/>
          </a:xfrm>
          <a:prstGeom prst="rect">
            <a:avLst/>
          </a:prstGeom>
          <a:noFill/>
          <a:ln/>
        </p:spPr>
        <p:txBody>
          <a:bodyPr wrap="square" rtlCol="0" anchor="ctr"/>
          <a:lstStyle/>
          <a:p>
            <a:pPr indent="0" marL="0">
              <a:buNone/>
            </a:pPr>
            <a:r>
              <a:rPr lang="en-US" sz="1800" b="1" dirty="0">
                <a:solidFill>
                  <a:srgbClr val="8B7FD9"/>
                </a:solidFill>
                <a:latin typeface="Calibri" pitchFamily="34" charset="0"/>
                <a:ea typeface="Calibri" pitchFamily="34" charset="-122"/>
                <a:cs typeface="Calibri" pitchFamily="34" charset="-120"/>
              </a:rPr>
              <a:t>CSC270 · Database Systems</a:t>
            </a:r>
            <a:endParaRPr lang="en-US" sz="1800" dirty="0"/>
          </a:p>
        </p:txBody>
      </p:sp>
      <p:sp>
        <p:nvSpPr>
          <p:cNvPr id="5" name="Text 3"/>
          <p:cNvSpPr txBox="1"/>
          <p:nvPr/>
        </p:nvSpPr>
        <p:spPr>
          <a:xfrm>
            <a:off x="822960" y="4617720"/>
            <a:ext cx="10515600" cy="365760"/>
          </a:xfrm>
          <a:prstGeom prst="rect">
            <a:avLst/>
          </a:prstGeom>
          <a:noFill/>
          <a:ln/>
        </p:spPr>
        <p:txBody>
          <a:bodyPr wrap="square" rtlCol="0" anchor="ctr"/>
          <a:lstStyle/>
          <a:p>
            <a:pPr indent="0" marL="0">
              <a:buNone/>
            </a:pPr>
            <a:r>
              <a:rPr lang="en-US" sz="1800" dirty="0">
                <a:solidFill>
                  <a:srgbClr val="9AA3AB"/>
                </a:solidFill>
                <a:latin typeface="Calibri" pitchFamily="34" charset="0"/>
                <a:ea typeface="Calibri" pitchFamily="34" charset="-122"/>
                <a:cs typeface="Calibri" pitchFamily="34" charset="-120"/>
              </a:rPr>
              <a:t>COMSATS University Islamabad, Lahore Campus</a:t>
            </a:r>
            <a:endParaRPr lang="en-US" sz="1800" dirty="0"/>
          </a:p>
        </p:txBody>
      </p:sp>
      <p:sp>
        <p:nvSpPr>
          <p:cNvPr id="6" name="Text 4"/>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Agenda</a:t>
            </a:r>
            <a:endParaRPr lang="en-US" sz="2600" dirty="0"/>
          </a:p>
        </p:txBody>
      </p:sp>
      <p:sp>
        <p:nvSpPr>
          <p:cNvPr id="3" name="Text 1"/>
          <p:cNvSpPr txBox="1"/>
          <p:nvPr/>
        </p:nvSpPr>
        <p:spPr>
          <a:xfrm>
            <a:off x="822960" y="1234440"/>
            <a:ext cx="7863840" cy="49377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Overview of the relational model — what Codd proposed, and why it won</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The notion of a relation: attributes, tuples, degree, cardinality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Mathematical relations vs. database relations</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The four properties every valid relation must satisfy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Attributes and domains</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The key hierarchy: superkey, candidate key, primary key, alternate key, foreign key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Relational database schema vs. database instance</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Standard notation for writing a relation schema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Relational Model, in One Idea</a:t>
            </a:r>
            <a:endParaRPr lang="en-US" sz="2600" dirty="0"/>
          </a:p>
        </p:txBody>
      </p:sp>
      <p:sp>
        <p:nvSpPr>
          <p:cNvPr id="3" name="Text 1"/>
          <p:cNvSpPr txBox="1"/>
          <p:nvPr/>
        </p:nvSpPr>
        <p:spPr>
          <a:xfrm>
            <a:off x="548640" y="1051560"/>
            <a:ext cx="5760720" cy="1371600"/>
          </a:xfrm>
          <a:prstGeom prst="rect">
            <a:avLst/>
          </a:prstGeom>
          <a:noFill/>
          <a:ln/>
        </p:spPr>
        <p:txBody>
          <a:bodyPr wrap="square" rtlCol="0" anchor="t"/>
          <a:lstStyle/>
          <a:p>
            <a:pPr indent="0" marL="0">
              <a:buNone/>
            </a:pPr>
            <a:r>
              <a:rPr lang="en-US" sz="1800" dirty="0">
                <a:solidFill>
                  <a:srgbClr val="1F2429"/>
                </a:solidFill>
                <a:latin typeface="Calibri" pitchFamily="34" charset="0"/>
                <a:ea typeface="Calibri" pitchFamily="34" charset="-122"/>
                <a:cs typeface="Calibri" pitchFamily="34" charset="-120"/>
              </a:rPr>
              <a:t>Store data as </a:t>
            </a:r>
            <a:pPr indent="0" marL="0">
              <a:buNone/>
            </a:pPr>
            <a:r>
              <a:rPr lang="en-US" sz="1800" b="1" dirty="0">
                <a:solidFill>
                  <a:srgbClr val="8B7FD9"/>
                </a:solidFill>
                <a:latin typeface="Calibri" pitchFamily="34" charset="0"/>
                <a:ea typeface="Calibri" pitchFamily="34" charset="-122"/>
                <a:cs typeface="Calibri" pitchFamily="34" charset="-120"/>
              </a:rPr>
              <a:t>tables</a:t>
            </a:r>
            <a:pPr indent="0" marL="0">
              <a:buNone/>
            </a:pPr>
            <a:r>
              <a:rPr lang="en-US" sz="1800" dirty="0">
                <a:solidFill>
                  <a:srgbClr val="1F2429"/>
                </a:solidFill>
                <a:latin typeface="Calibri" pitchFamily="34" charset="0"/>
                <a:ea typeface="Calibri" pitchFamily="34" charset="-122"/>
                <a:cs typeface="Calibri" pitchFamily="34" charset="-120"/>
              </a:rPr>
              <a:t>. Let mathematical rules — not insertion order, not physical storage — define what a valid table looks like and how tables relate.</a:t>
            </a:r>
            <a:endParaRPr lang="en-US" sz="1800" dirty="0"/>
          </a:p>
        </p:txBody>
      </p:sp>
      <p:sp>
        <p:nvSpPr>
          <p:cNvPr id="4" name="Text 2"/>
          <p:cNvSpPr txBox="1"/>
          <p:nvPr/>
        </p:nvSpPr>
        <p:spPr>
          <a:xfrm>
            <a:off x="548640" y="2514600"/>
            <a:ext cx="5760720" cy="1463040"/>
          </a:xfrm>
          <a:prstGeom prst="rect">
            <a:avLst/>
          </a:prstGeom>
          <a:noFill/>
          <a:ln/>
        </p:spPr>
        <p:txBody>
          <a:bodyPr wrap="square" rtlCol="0" anchor="t"/>
          <a:lstStyle/>
          <a:p>
            <a:pPr indent="0" marL="0">
              <a:buNone/>
            </a:pPr>
            <a:r>
              <a:rPr lang="en-US" sz="1800" b="1" dirty="0">
                <a:solidFill>
                  <a:srgbClr val="1F2429"/>
                </a:solidFill>
                <a:latin typeface="Calibri" pitchFamily="34" charset="0"/>
                <a:ea typeface="Calibri" pitchFamily="34" charset="-122"/>
                <a:cs typeface="Calibri" pitchFamily="34" charset="-120"/>
              </a:rPr>
              <a:t>Proposed by E. F. Codd, 1970</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“A Relational Model of Data for Large Shared Data Banks” replaced hierarchical/network models that forced programmers to navigate hard-coded physical paths.</a:t>
            </a:r>
            <a:endParaRPr lang="en-US" sz="1800" dirty="0"/>
          </a:p>
        </p:txBody>
      </p:sp>
      <p:sp>
        <p:nvSpPr>
          <p:cNvPr id="5" name="Text 3"/>
          <p:cNvSpPr txBox="1"/>
          <p:nvPr/>
        </p:nvSpPr>
        <p:spPr>
          <a:xfrm>
            <a:off x="548640" y="5989320"/>
            <a:ext cx="11064240" cy="457200"/>
          </a:xfrm>
          <a:prstGeom prst="rect">
            <a:avLst/>
          </a:prstGeom>
          <a:noFill/>
          <a:ln/>
        </p:spPr>
        <p:txBody>
          <a:bodyPr wrap="square" rtlCol="0" anchor="ctr"/>
          <a:lstStyle/>
          <a:p>
            <a:pPr indent="0" marL="0">
              <a:buNone/>
            </a:pPr>
            <a:r>
              <a:rPr lang="en-US" sz="1800" i="1" dirty="0">
                <a:solidFill>
                  <a:srgbClr val="8B7FD9"/>
                </a:solidFill>
                <a:latin typeface="Calibri" pitchFamily="34" charset="0"/>
                <a:ea typeface="Calibri" pitchFamily="34" charset="-122"/>
                <a:cs typeface="Calibri" pitchFamily="34" charset="-120"/>
              </a:rPr>
              <a:t>Running example: a property rental agency — Branch, Staff, and the properties each branch manages — carried across Lectures 5–8.</a:t>
            </a:r>
            <a:endParaRPr lang="en-US" sz="1800" dirty="0"/>
          </a:p>
        </p:txBody>
      </p:sp>
      <p:sp>
        <p:nvSpPr>
          <p:cNvPr id="6" name="Text 4"/>
          <p:cNvSpPr txBox="1"/>
          <p:nvPr/>
        </p:nvSpPr>
        <p:spPr>
          <a:xfrm>
            <a:off x="6629400" y="713232"/>
            <a:ext cx="5029200" cy="274320"/>
          </a:xfrm>
          <a:prstGeom prst="rect">
            <a:avLst/>
          </a:prstGeom>
          <a:noFill/>
          <a:ln/>
        </p:spPr>
        <p:txBody>
          <a:bodyPr wrap="square" rtlCol="0" anchor="ctr"/>
          <a:lstStyle/>
          <a:p>
            <a:pPr indent="0" marL="0">
              <a:buNone/>
            </a:pPr>
            <a:r>
              <a:rPr lang="en-US" sz="1800" b="1" dirty="0">
                <a:solidFill>
                  <a:srgbClr val="1F2429"/>
                </a:solidFill>
                <a:latin typeface="Calibri" pitchFamily="34" charset="0"/>
                <a:ea typeface="Calibri" pitchFamily="34" charset="-122"/>
                <a:cs typeface="Calibri" pitchFamily="34" charset="-120"/>
              </a:rPr>
              <a:t>Branch (branchNo, street, city, postcode)</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29400" y="1005840"/>
          <a:ext cx="5029200" cy="914400"/>
        </p:xfrm>
        <a:graphic>
          <a:graphicData uri="http://schemas.openxmlformats.org/drawingml/2006/table">
            <a:tbl>
              <a:tblPr/>
              <a:tblGrid>
                <a:gridCol w="1005840"/>
                <a:gridCol w="1737360"/>
                <a:gridCol w="1371600"/>
                <a:gridCol w="914400"/>
              </a:tblGrid>
              <a:tr h="29260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branchNo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street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city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postcode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163 Main St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Lahore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54000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22 Deer Rd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Karachi</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74200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16 Argyll St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Islamabad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44000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629400" y="2770632"/>
            <a:ext cx="5029200" cy="274320"/>
          </a:xfrm>
          <a:prstGeom prst="rect">
            <a:avLst/>
          </a:prstGeom>
          <a:noFill/>
          <a:ln/>
        </p:spPr>
        <p:txBody>
          <a:bodyPr wrap="square" rtlCol="0" anchor="ctr"/>
          <a:lstStyle/>
          <a:p>
            <a:pPr indent="0" marL="0">
              <a:buNone/>
            </a:pPr>
            <a:r>
              <a:rPr lang="en-US" sz="1800" b="1" dirty="0">
                <a:solidFill>
                  <a:srgbClr val="1F2429"/>
                </a:solidFill>
                <a:latin typeface="Calibri" pitchFamily="34" charset="0"/>
                <a:ea typeface="Calibri" pitchFamily="34" charset="-122"/>
                <a:cs typeface="Calibri" pitchFamily="34" charset="-120"/>
              </a:rPr>
              <a:t>Staff (staffNo, name, position, salary, branchNo)</a:t>
            </a:r>
            <a:endParaRPr lang="en-US" sz="1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629400" y="3063240"/>
          <a:ext cx="5029200" cy="914400"/>
        </p:xfrm>
        <a:graphic>
          <a:graphicData uri="http://schemas.openxmlformats.org/drawingml/2006/table">
            <a:tbl>
              <a:tblPr/>
              <a:tblGrid>
                <a:gridCol w="868680"/>
                <a:gridCol w="1371600"/>
                <a:gridCol w="1143000"/>
                <a:gridCol w="822960"/>
                <a:gridCol w="822960"/>
              </a:tblGrid>
              <a:tr h="29260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staffNo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position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salary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branchNo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SL21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John White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30000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SG37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Ann Beech</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12000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SG14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David Ford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Supervisor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18000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SA9</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Mary Howe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9000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292608">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SL41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Julie Lee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22000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Notion of a Relation</a:t>
            </a:r>
            <a:endParaRPr lang="en-US" sz="2600" dirty="0"/>
          </a:p>
        </p:txBody>
      </p:sp>
      <p:sp>
        <p:nvSpPr>
          <p:cNvPr id="3" name="Text 1"/>
          <p:cNvSpPr txBox="1"/>
          <p:nvPr/>
        </p:nvSpPr>
        <p:spPr>
          <a:xfrm>
            <a:off x="548640" y="1051560"/>
            <a:ext cx="5669280" cy="2743200"/>
          </a:xfrm>
          <a:prstGeom prst="rect">
            <a:avLst/>
          </a:prstGeom>
          <a:noFill/>
          <a:ln/>
        </p:spPr>
        <p:txBody>
          <a:bodyPr wrap="square" lIns="0" tIns="0" rIns="0" bIns="0" rtlCol="0" anchor="t"/>
          <a:lstStyle/>
          <a:p>
            <a:pPr indent="0" marL="0">
              <a:spcAft>
                <a:spcPts val="1000"/>
              </a:spcAft>
              <a:buNone/>
            </a:pPr>
            <a:r>
              <a:rPr lang="en-US" sz="1800" dirty="0">
                <a:solidFill>
                  <a:srgbClr val="1F2429"/>
                </a:solidFill>
                <a:latin typeface="Calibri" pitchFamily="34" charset="0"/>
                <a:ea typeface="Calibri" pitchFamily="34" charset="-122"/>
                <a:cs typeface="Calibri" pitchFamily="34" charset="-120"/>
              </a:rPr>
              <a:t>A relation is a table of values, organized into rows and named columns.</a:t>
            </a:r>
            <a:endParaRPr lang="en-US" sz="1800" dirty="0"/>
          </a:p>
          <a:p>
            <a:pPr indent="0" marL="0">
              <a:buNone/>
            </a:pPr>
            <a:r>
              <a:rPr lang="en-US" sz="1800" b="1" dirty="0">
                <a:solidFill>
                  <a:srgbClr val="2FE6C4"/>
                </a:solidFill>
                <a:latin typeface="Calibri" pitchFamily="34" charset="0"/>
                <a:ea typeface="Calibri" pitchFamily="34" charset="-122"/>
                <a:cs typeface="Calibri" pitchFamily="34" charset="-120"/>
              </a:rPr>
              <a:t>Name</a:t>
            </a:r>
            <a:pPr indent="0" marL="0">
              <a:spcAft>
                <a:spcPts val="800"/>
              </a:spcAft>
              <a:buNone/>
            </a:pPr>
            <a:r>
              <a:rPr lang="en-US" sz="1800" dirty="0">
                <a:solidFill>
                  <a:srgbClr val="1F2429"/>
                </a:solidFill>
                <a:latin typeface="Calibri" pitchFamily="34" charset="0"/>
                <a:ea typeface="Calibri" pitchFamily="34" charset="-122"/>
                <a:cs typeface="Calibri" pitchFamily="34" charset="-120"/>
              </a:rPr>
              <a:t>  — unique within the schema (Staff, Branch)</a:t>
            </a:r>
            <a:endParaRPr lang="en-US" sz="1800" dirty="0"/>
          </a:p>
          <a:p>
            <a:pPr indent="0" marL="0">
              <a:buNone/>
            </a:pPr>
            <a:r>
              <a:rPr lang="en-US" sz="1800" b="1" dirty="0">
                <a:solidFill>
                  <a:srgbClr val="8B7FD9"/>
                </a:solidFill>
                <a:latin typeface="Calibri" pitchFamily="34" charset="0"/>
                <a:ea typeface="Calibri" pitchFamily="34" charset="-122"/>
                <a:cs typeface="Calibri" pitchFamily="34" charset="-120"/>
              </a:rPr>
              <a:t>Attributes</a:t>
            </a:r>
            <a:pPr indent="0" marL="0">
              <a:spcAft>
                <a:spcPts val="800"/>
              </a:spcAft>
              <a:buNone/>
            </a:pPr>
            <a:r>
              <a:rPr lang="en-US" sz="1800" dirty="0">
                <a:solidFill>
                  <a:srgbClr val="1F2429"/>
                </a:solidFill>
                <a:latin typeface="Calibri" pitchFamily="34" charset="0"/>
                <a:ea typeface="Calibri" pitchFamily="34" charset="-122"/>
                <a:cs typeface="Calibri" pitchFamily="34" charset="-120"/>
              </a:rPr>
              <a:t>  — named columns, each with a domain of legal values</a:t>
            </a:r>
            <a:endParaRPr lang="en-US" sz="1800" dirty="0"/>
          </a:p>
          <a:p>
            <a:pPr indent="0" marL="0">
              <a:buNone/>
            </a:pPr>
            <a:r>
              <a:rPr lang="en-US" sz="1800" b="1" dirty="0">
                <a:solidFill>
                  <a:srgbClr val="E8A33D"/>
                </a:solidFill>
                <a:latin typeface="Calibri" pitchFamily="34" charset="0"/>
                <a:ea typeface="Calibri" pitchFamily="34" charset="-122"/>
                <a:cs typeface="Calibri" pitchFamily="34" charset="-120"/>
              </a:rPr>
              <a:t>Tuples</a:t>
            </a:r>
            <a:pPr indent="0" marL="0">
              <a:spcAft>
                <a:spcPts val="800"/>
              </a:spcAft>
              <a:buNone/>
            </a:pPr>
            <a:r>
              <a:rPr lang="en-US" sz="1800" dirty="0">
                <a:solidFill>
                  <a:srgbClr val="1F2429"/>
                </a:solidFill>
                <a:latin typeface="Calibri" pitchFamily="34" charset="0"/>
                <a:ea typeface="Calibri" pitchFamily="34" charset="-122"/>
                <a:cs typeface="Calibri" pitchFamily="34" charset="-120"/>
              </a:rPr>
              <a:t>  — rows, each holding one value per attribute</a:t>
            </a:r>
            <a:endParaRPr lang="en-US" sz="1800" dirty="0"/>
          </a:p>
        </p:txBody>
      </p:sp>
      <p:sp>
        <p:nvSpPr>
          <p:cNvPr id="4" name="Shape 2"/>
          <p:cNvSpPr/>
          <p:nvPr/>
        </p:nvSpPr>
        <p:spPr>
          <a:xfrm>
            <a:off x="548640" y="4023360"/>
            <a:ext cx="5669280" cy="1737360"/>
          </a:xfrm>
          <a:prstGeom prst="roundRect">
            <a:avLst>
              <a:gd name="adj" fmla="val 4211"/>
            </a:avLst>
          </a:prstGeom>
          <a:solidFill>
            <a:srgbClr val="FFFFFF"/>
          </a:solidFill>
          <a:ln w="12700">
            <a:solidFill>
              <a:srgbClr val="E1E4E8"/>
            </a:solidFill>
            <a:prstDash val="solid"/>
          </a:ln>
        </p:spPr>
      </p:sp>
      <p:sp>
        <p:nvSpPr>
          <p:cNvPr id="5" name="Text 3"/>
          <p:cNvSpPr txBox="1"/>
          <p:nvPr/>
        </p:nvSpPr>
        <p:spPr>
          <a:xfrm>
            <a:off x="777240" y="4160520"/>
            <a:ext cx="5212080" cy="1463040"/>
          </a:xfrm>
          <a:prstGeom prst="rect">
            <a:avLst/>
          </a:prstGeom>
          <a:noFill/>
          <a:ln/>
        </p:spPr>
        <p:txBody>
          <a:bodyPr wrap="square" rtlCol="0" anchor="t"/>
          <a:lstStyle/>
          <a:p>
            <a:pPr indent="0" marL="0">
              <a:spcAft>
                <a:spcPts val="400"/>
              </a:spcAft>
              <a:buNone/>
            </a:pPr>
            <a:r>
              <a:rPr lang="en-US" sz="1800" b="1" dirty="0">
                <a:solidFill>
                  <a:srgbClr val="8B7FD9"/>
                </a:solidFill>
                <a:latin typeface="Calibri" pitchFamily="34" charset="0"/>
                <a:ea typeface="Calibri" pitchFamily="34" charset="-122"/>
                <a:cs typeface="Calibri" pitchFamily="34" charset="-120"/>
              </a:rPr>
              <a:t>Table, relation, or relvar?</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Precisely, a relation is a value — one snapshot of tuples. What CREATE TABLE actually makes is a relation variable (relvar), whose value changes as rows are added or removed.</a:t>
            </a:r>
            <a:endParaRPr lang="en-US" sz="1800" dirty="0"/>
          </a:p>
        </p:txBody>
      </p:sp>
      <p:sp>
        <p:nvSpPr>
          <p:cNvPr id="6" name="Text 4"/>
          <p:cNvSpPr txBox="1"/>
          <p:nvPr/>
        </p:nvSpPr>
        <p:spPr>
          <a:xfrm>
            <a:off x="6629400" y="758952"/>
            <a:ext cx="5029200" cy="274320"/>
          </a:xfrm>
          <a:prstGeom prst="rect">
            <a:avLst/>
          </a:prstGeom>
          <a:noFill/>
          <a:ln/>
        </p:spPr>
        <p:txBody>
          <a:bodyPr wrap="square" rtlCol="0" anchor="ctr"/>
          <a:lstStyle/>
          <a:p>
            <a:pPr indent="0" marL="0">
              <a:buNone/>
            </a:pPr>
            <a:r>
              <a:rPr lang="en-US" sz="1800" b="1" dirty="0">
                <a:solidFill>
                  <a:srgbClr val="1F2429"/>
                </a:solidFill>
                <a:latin typeface="Calibri" pitchFamily="34" charset="0"/>
                <a:ea typeface="Calibri" pitchFamily="34" charset="-122"/>
                <a:cs typeface="Calibri" pitchFamily="34" charset="-120"/>
              </a:rPr>
              <a:t>Staff — degree 5, cardinality 5</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29400" y="1051560"/>
          <a:ext cx="5029200" cy="914400"/>
        </p:xfrm>
        <a:graphic>
          <a:graphicData uri="http://schemas.openxmlformats.org/drawingml/2006/table">
            <a:tbl>
              <a:tblPr/>
              <a:tblGrid>
                <a:gridCol w="868680"/>
                <a:gridCol w="1280160"/>
                <a:gridCol w="1005840"/>
                <a:gridCol w="822960"/>
                <a:gridCol w="1051560"/>
              </a:tblGrid>
              <a:tr h="31089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staffNo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position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salary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branchNo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310896">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SL21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John White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30000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SG37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Ann Beech</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12000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310896">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SG14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David Ford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Supervisor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18000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SA9</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Mary Howe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9000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310896">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SL41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Julie Lee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22000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629400" y="3520440"/>
            <a:ext cx="5029200" cy="320040"/>
          </a:xfrm>
          <a:prstGeom prst="rect">
            <a:avLst/>
          </a:prstGeom>
          <a:noFill/>
          <a:ln/>
        </p:spPr>
        <p:txBody>
          <a:bodyPr wrap="square" rtlCol="0" anchor="ctr"/>
          <a:lstStyle/>
          <a:p>
            <a:pPr indent="0" marL="0">
              <a:buNone/>
            </a:pPr>
            <a:r>
              <a:rPr lang="en-US" sz="1800" b="1" dirty="0">
                <a:solidFill>
                  <a:srgbClr val="2FE6C4"/>
                </a:solidFill>
                <a:latin typeface="Calibri" pitchFamily="34" charset="0"/>
                <a:ea typeface="Calibri" pitchFamily="34" charset="-122"/>
                <a:cs typeface="Calibri" pitchFamily="34" charset="-120"/>
              </a:rPr>
              <a:t>Degree</a:t>
            </a:r>
            <a:pPr indent="0" marL="0">
              <a:buNone/>
            </a:pPr>
            <a:r>
              <a:rPr lang="en-US" sz="1800" dirty="0">
                <a:solidFill>
                  <a:srgbClr val="1F2429"/>
                </a:solidFill>
                <a:latin typeface="Calibri" pitchFamily="34" charset="0"/>
                <a:ea typeface="Calibri" pitchFamily="34" charset="-122"/>
                <a:cs typeface="Calibri" pitchFamily="34" charset="-120"/>
              </a:rPr>
              <a:t>  = number of attributes = 5</a:t>
            </a:r>
            <a:endParaRPr lang="en-US" sz="1800" dirty="0"/>
          </a:p>
        </p:txBody>
      </p:sp>
      <p:sp>
        <p:nvSpPr>
          <p:cNvPr id="9" name="Text 6"/>
          <p:cNvSpPr txBox="1"/>
          <p:nvPr/>
        </p:nvSpPr>
        <p:spPr>
          <a:xfrm>
            <a:off x="6629400" y="3931920"/>
            <a:ext cx="5029200" cy="457200"/>
          </a:xfrm>
          <a:prstGeom prst="rect">
            <a:avLst/>
          </a:prstGeom>
          <a:noFill/>
          <a:ln/>
        </p:spPr>
        <p:txBody>
          <a:bodyPr wrap="square"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Cardinality</a:t>
            </a:r>
            <a:pPr indent="0" marL="0">
              <a:buNone/>
            </a:pPr>
            <a:r>
              <a:rPr lang="en-US" sz="1800" dirty="0">
                <a:solidFill>
                  <a:srgbClr val="1F2429"/>
                </a:solidFill>
                <a:latin typeface="Calibri" pitchFamily="34" charset="0"/>
                <a:ea typeface="Calibri" pitchFamily="34" charset="-122"/>
                <a:cs typeface="Calibri" pitchFamily="34" charset="-120"/>
              </a:rPr>
              <a:t>  = number of tuples = 5 (changes on every insert/delete)</a:t>
            </a:r>
            <a:endParaRPr lang="en-US" sz="1800" dirty="0"/>
          </a:p>
        </p:txBody>
      </p:sp>
      <p:sp>
        <p:nvSpPr>
          <p:cNvPr id="10" name="Text 7"/>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Mathematical Relations vs. Database Relations</a:t>
            </a:r>
            <a:endParaRPr lang="en-US" sz="2600" dirty="0"/>
          </a:p>
        </p:txBody>
      </p:sp>
      <p:sp>
        <p:nvSpPr>
          <p:cNvPr id="3" name="Text 1"/>
          <p:cNvSpPr txBox="1"/>
          <p:nvPr/>
        </p:nvSpPr>
        <p:spPr>
          <a:xfrm>
            <a:off x="548640" y="1005840"/>
            <a:ext cx="11064240" cy="54864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“Relation” comes from set theory — a subset of a Cartesian product D₁×D₂×…×Dₙ. A database relation tightens several rules that plain math relations don’t enforce.</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377440"/>
                <a:gridCol w="4343400"/>
                <a:gridCol w="4343400"/>
              </a:tblGrid>
              <a:tr h="457200">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8B7FD9"/>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Mathematical relation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8B7FD9"/>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Database relation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8B7FD9"/>
                    </a:solidFill>
                  </a:tcPr>
                </a:tc>
              </a:tr>
              <a:tr h="4572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Tuple order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Significant — (1,2) ≠ (2,1)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Irrelevant — a relation is a set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Column identity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By position only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By name (branchNo, salary)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572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Duplicate tuples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Allowed (bag-like in some treatments)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Never allowed — a true set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Component values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Any value, including nested tuples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Must be atomic (single, indivisible)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5" name="Shape 2"/>
          <p:cNvSpPr/>
          <p:nvPr/>
        </p:nvSpPr>
        <p:spPr>
          <a:xfrm>
            <a:off x="548640" y="5074920"/>
            <a:ext cx="11064240" cy="1234440"/>
          </a:xfrm>
          <a:prstGeom prst="roundRect">
            <a:avLst>
              <a:gd name="adj" fmla="val 5926"/>
            </a:avLst>
          </a:prstGeom>
          <a:solidFill>
            <a:srgbClr val="14181C"/>
          </a:solidFill>
          <a:ln/>
        </p:spPr>
      </p:sp>
      <p:sp>
        <p:nvSpPr>
          <p:cNvPr id="6" name="Text 3"/>
          <p:cNvSpPr txBox="1"/>
          <p:nvPr/>
        </p:nvSpPr>
        <p:spPr>
          <a:xfrm>
            <a:off x="822960" y="5212080"/>
            <a:ext cx="10515600" cy="1005840"/>
          </a:xfrm>
          <a:prstGeom prst="rect">
            <a:avLst/>
          </a:prstGeom>
          <a:noFill/>
          <a:ln/>
        </p:spPr>
        <p:txBody>
          <a:bodyPr wrap="square" rtlCol="0" anchor="t"/>
          <a:lstStyle/>
          <a:p>
            <a:pPr indent="0" marL="0">
              <a:buNone/>
            </a:pPr>
            <a:r>
              <a:rPr lang="en-US" sz="1800" b="1" dirty="0">
                <a:solidFill>
                  <a:srgbClr val="2FE6C4"/>
                </a:solidFill>
                <a:latin typeface="Calibri" pitchFamily="34" charset="0"/>
                <a:ea typeface="Calibri" pitchFamily="34" charset="-122"/>
                <a:cs typeface="Calibri" pitchFamily="34" charset="-120"/>
              </a:rPr>
              <a:t>Atomicity is stricter than it sounds  </a:t>
            </a:r>
            <a:pPr indent="0" marL="0">
              <a:buNone/>
            </a:pPr>
            <a:r>
              <a:rPr lang="en-US" sz="1800" dirty="0">
                <a:solidFill>
                  <a:srgbClr val="D7DBDE"/>
                </a:solidFill>
                <a:latin typeface="Calibri" pitchFamily="34" charset="0"/>
                <a:ea typeface="Calibri" pitchFamily="34" charset="-122"/>
                <a:cs typeface="Calibri" pitchFamily="34" charset="-120"/>
              </a:rPr>
              <a:t>telNo: “042-121-1121, 042-121-1122” looks harmless as a string, but violates atomicity in spirit — the DBMS can’t search or constrain “one of this client’s phone numbers” without parsing it. Fix: a separate ClientPhone(clientNo, telNo) relation, one tuple per number.</a:t>
            </a:r>
            <a:endParaRPr lang="en-US" sz="1800" dirty="0"/>
          </a:p>
        </p:txBody>
      </p:sp>
      <p:sp>
        <p:nvSpPr>
          <p:cNvPr id="7" name="Text 4"/>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Relation Properties — the Four Rules</a:t>
            </a:r>
            <a:endParaRPr lang="en-US" sz="2600" dirty="0"/>
          </a:p>
        </p:txBody>
      </p:sp>
      <p:sp>
        <p:nvSpPr>
          <p:cNvPr id="3" name="Shape 1"/>
          <p:cNvSpPr/>
          <p:nvPr/>
        </p:nvSpPr>
        <p:spPr>
          <a:xfrm>
            <a:off x="548640" y="1143000"/>
            <a:ext cx="347472" cy="347472"/>
          </a:xfrm>
          <a:prstGeom prst="ellipse">
            <a:avLst/>
          </a:prstGeom>
          <a:solidFill>
            <a:srgbClr val="2FE6C4"/>
          </a:solidFill>
          <a:ln/>
        </p:spPr>
      </p:sp>
      <p:sp>
        <p:nvSpPr>
          <p:cNvPr id="4" name="Text 2"/>
          <p:cNvSpPr txBox="1"/>
          <p:nvPr/>
        </p:nvSpPr>
        <p:spPr>
          <a:xfrm>
            <a:off x="548640" y="114300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097280" y="1097280"/>
            <a:ext cx="10332720" cy="82296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Unique name</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Distinct from every other relation in the schema.</a:t>
            </a:r>
            <a:endParaRPr lang="en-US" sz="1800" dirty="0"/>
          </a:p>
        </p:txBody>
      </p:sp>
      <p:sp>
        <p:nvSpPr>
          <p:cNvPr id="6" name="Shape 4"/>
          <p:cNvSpPr/>
          <p:nvPr/>
        </p:nvSpPr>
        <p:spPr>
          <a:xfrm>
            <a:off x="548640" y="2103120"/>
            <a:ext cx="347472" cy="347472"/>
          </a:xfrm>
          <a:prstGeom prst="ellipse">
            <a:avLst/>
          </a:prstGeom>
          <a:solidFill>
            <a:srgbClr val="8B7FD9"/>
          </a:solidFill>
          <a:ln/>
        </p:spPr>
      </p:sp>
      <p:sp>
        <p:nvSpPr>
          <p:cNvPr id="7" name="Text 5"/>
          <p:cNvSpPr txBox="1"/>
          <p:nvPr/>
        </p:nvSpPr>
        <p:spPr>
          <a:xfrm>
            <a:off x="548640" y="210312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097280" y="2057400"/>
            <a:ext cx="10332720" cy="82296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No duplicate tuples</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A relation is a mathematical set — sets cannot repeat an element.</a:t>
            </a:r>
            <a:endParaRPr lang="en-US" sz="1800" dirty="0"/>
          </a:p>
        </p:txBody>
      </p:sp>
      <p:sp>
        <p:nvSpPr>
          <p:cNvPr id="9" name="Shape 7"/>
          <p:cNvSpPr/>
          <p:nvPr/>
        </p:nvSpPr>
        <p:spPr>
          <a:xfrm>
            <a:off x="548640" y="3063240"/>
            <a:ext cx="347472" cy="347472"/>
          </a:xfrm>
          <a:prstGeom prst="ellipse">
            <a:avLst/>
          </a:prstGeom>
          <a:solidFill>
            <a:srgbClr val="E8A33D"/>
          </a:solidFill>
          <a:ln/>
        </p:spPr>
      </p:sp>
      <p:sp>
        <p:nvSpPr>
          <p:cNvPr id="10" name="Text 8"/>
          <p:cNvSpPr txBox="1"/>
          <p:nvPr/>
        </p:nvSpPr>
        <p:spPr>
          <a:xfrm>
            <a:off x="548640" y="306324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097280" y="3017520"/>
            <a:ext cx="10332720" cy="82296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Tuple order irrelevant</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Rows in any order are the same relation — ORDER BY imposes display order only.</a:t>
            </a:r>
            <a:endParaRPr lang="en-US" sz="1800" dirty="0"/>
          </a:p>
        </p:txBody>
      </p:sp>
      <p:sp>
        <p:nvSpPr>
          <p:cNvPr id="12" name="Shape 10"/>
          <p:cNvSpPr/>
          <p:nvPr/>
        </p:nvSpPr>
        <p:spPr>
          <a:xfrm>
            <a:off x="548640" y="4023360"/>
            <a:ext cx="347472" cy="347472"/>
          </a:xfrm>
          <a:prstGeom prst="ellipse">
            <a:avLst/>
          </a:prstGeom>
          <a:solidFill>
            <a:srgbClr val="2FE6C4"/>
          </a:solidFill>
          <a:ln/>
        </p:spPr>
      </p:sp>
      <p:sp>
        <p:nvSpPr>
          <p:cNvPr id="13" name="Text 11"/>
          <p:cNvSpPr txBox="1"/>
          <p:nvPr/>
        </p:nvSpPr>
        <p:spPr>
          <a:xfrm>
            <a:off x="548640" y="402336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txBox="1"/>
          <p:nvPr/>
        </p:nvSpPr>
        <p:spPr>
          <a:xfrm>
            <a:off x="1097280" y="3977640"/>
            <a:ext cx="10332720" cy="82296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Attribute order irrelevant</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A value is identified by attribute name, not column position.</a:t>
            </a:r>
            <a:endParaRPr lang="en-US" sz="1800" dirty="0"/>
          </a:p>
        </p:txBody>
      </p:sp>
      <p:sp>
        <p:nvSpPr>
          <p:cNvPr id="15" name="Shape 13"/>
          <p:cNvSpPr/>
          <p:nvPr/>
        </p:nvSpPr>
        <p:spPr>
          <a:xfrm>
            <a:off x="548640" y="4983480"/>
            <a:ext cx="347472" cy="347472"/>
          </a:xfrm>
          <a:prstGeom prst="ellipse">
            <a:avLst/>
          </a:prstGeom>
          <a:solidFill>
            <a:srgbClr val="8B7FD9"/>
          </a:solidFill>
          <a:ln/>
        </p:spPr>
      </p:sp>
      <p:sp>
        <p:nvSpPr>
          <p:cNvPr id="16" name="Text 14"/>
          <p:cNvSpPr txBox="1"/>
          <p:nvPr/>
        </p:nvSpPr>
        <p:spPr>
          <a:xfrm>
            <a:off x="548640" y="4983480"/>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Text 15"/>
          <p:cNvSpPr txBox="1"/>
          <p:nvPr/>
        </p:nvSpPr>
        <p:spPr>
          <a:xfrm>
            <a:off x="1097280" y="4937760"/>
            <a:ext cx="10332720" cy="82296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Every value is atomic</a:t>
            </a:r>
            <a:endParaRPr lang="en-US" sz="1800" dirty="0"/>
          </a:p>
          <a:p>
            <a:pPr indent="0" marL="0">
              <a:buNone/>
            </a:pPr>
            <a:r>
              <a:rPr lang="en-US" sz="1800" dirty="0">
                <a:solidFill>
                  <a:srgbClr val="4A5259"/>
                </a:solidFill>
                <a:latin typeface="Calibri" pitchFamily="34" charset="0"/>
                <a:ea typeface="Calibri" pitchFamily="34" charset="-122"/>
                <a:cs typeface="Calibri" pitchFamily="34" charset="-120"/>
              </a:rPr>
              <a:t>One indivisible value per cell — never a list or nested table.</a:t>
            </a:r>
            <a:endParaRPr lang="en-US" sz="1800" dirty="0"/>
          </a:p>
        </p:txBody>
      </p:sp>
      <p:sp>
        <p:nvSpPr>
          <p:cNvPr id="18" name="Text 16"/>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Attributes and Domains</a:t>
            </a:r>
            <a:endParaRPr lang="en-US" sz="2600" dirty="0"/>
          </a:p>
        </p:txBody>
      </p:sp>
      <p:sp>
        <p:nvSpPr>
          <p:cNvPr id="3" name="Text 1"/>
          <p:cNvSpPr txBox="1"/>
          <p:nvPr/>
        </p:nvSpPr>
        <p:spPr>
          <a:xfrm>
            <a:off x="548640" y="1097280"/>
            <a:ext cx="5394960" cy="2377440"/>
          </a:xfrm>
          <a:prstGeom prst="rect">
            <a:avLst/>
          </a:prstGeom>
          <a:noFill/>
          <a:ln/>
        </p:spPr>
        <p:txBody>
          <a:bodyPr wrap="square" lIns="0" tIns="0" rIns="0" bIns="0" rtlCol="0" anchor="t"/>
          <a:lstStyle/>
          <a:p>
            <a:pPr indent="0" marL="0">
              <a:spcAft>
                <a:spcPts val="400"/>
              </a:spcAft>
              <a:buNone/>
            </a:pPr>
            <a:r>
              <a:rPr lang="en-US" sz="1800" b="1" dirty="0">
                <a:solidFill>
                  <a:srgbClr val="2FE6C4"/>
                </a:solidFill>
                <a:latin typeface="Calibri" pitchFamily="34" charset="0"/>
                <a:ea typeface="Calibri" pitchFamily="34" charset="-122"/>
                <a:cs typeface="Calibri" pitchFamily="34" charset="-120"/>
              </a:rPr>
              <a:t>Attribute</a:t>
            </a:r>
            <a:endParaRPr lang="en-US" sz="1800" dirty="0"/>
          </a:p>
          <a:p>
            <a:pPr indent="0" marL="0">
              <a:spcAft>
                <a:spcPts val="1200"/>
              </a:spcAft>
              <a:buNone/>
            </a:pPr>
            <a:r>
              <a:rPr lang="en-US" sz="1800" dirty="0">
                <a:solidFill>
                  <a:srgbClr val="1F2429"/>
                </a:solidFill>
                <a:latin typeface="Calibri" pitchFamily="34" charset="0"/>
                <a:ea typeface="Calibri" pitchFamily="34" charset="-122"/>
                <a:cs typeface="Calibri" pitchFamily="34" charset="-120"/>
              </a:rPr>
              <a:t>A named column representing one property of the thing the relation describes.</a:t>
            </a:r>
            <a:endParaRPr lang="en-US" sz="1800" dirty="0"/>
          </a:p>
          <a:p>
            <a:pPr indent="0" marL="0">
              <a:spcAft>
                <a:spcPts val="400"/>
              </a:spcAft>
              <a:buNone/>
            </a:pPr>
            <a:r>
              <a:rPr lang="en-US" sz="1800" b="1" dirty="0">
                <a:solidFill>
                  <a:srgbClr val="8B7FD9"/>
                </a:solidFill>
                <a:latin typeface="Calibri" pitchFamily="34" charset="0"/>
                <a:ea typeface="Calibri" pitchFamily="34" charset="-122"/>
                <a:cs typeface="Calibri" pitchFamily="34" charset="-120"/>
              </a:rPr>
              <a:t>Domain</a:t>
            </a:r>
            <a:endParaRPr lang="en-US" sz="1800" dirty="0"/>
          </a:p>
          <a:p>
            <a:pPr indent="0" marL="0">
              <a:buNone/>
            </a:pPr>
            <a:r>
              <a:rPr lang="en-US" sz="1800" dirty="0">
                <a:solidFill>
                  <a:srgbClr val="1F2429"/>
                </a:solidFill>
                <a:latin typeface="Calibri" pitchFamily="34" charset="0"/>
                <a:ea typeface="Calibri" pitchFamily="34" charset="-122"/>
                <a:cs typeface="Calibri" pitchFamily="34" charset="-120"/>
              </a:rPr>
              <a:t>The set of all legal values for an attribute — a reusable data type with business meaning attached.</a:t>
            </a:r>
            <a:endParaRPr lang="en-US" sz="1800" dirty="0"/>
          </a:p>
        </p:txBody>
      </p:sp>
      <p:sp>
        <p:nvSpPr>
          <p:cNvPr id="4" name="Shape 2"/>
          <p:cNvSpPr/>
          <p:nvPr/>
        </p:nvSpPr>
        <p:spPr>
          <a:xfrm>
            <a:off x="548640" y="3657600"/>
            <a:ext cx="5394960" cy="2194560"/>
          </a:xfrm>
          <a:prstGeom prst="roundRect">
            <a:avLst>
              <a:gd name="adj" fmla="val 3810"/>
            </a:avLst>
          </a:prstGeom>
          <a:solidFill>
            <a:srgbClr val="14181C"/>
          </a:solidFill>
          <a:ln/>
        </p:spPr>
      </p:sp>
      <p:sp>
        <p:nvSpPr>
          <p:cNvPr id="5" name="Text 3"/>
          <p:cNvSpPr txBox="1"/>
          <p:nvPr/>
        </p:nvSpPr>
        <p:spPr>
          <a:xfrm>
            <a:off x="777240" y="3794760"/>
            <a:ext cx="4937760" cy="1920240"/>
          </a:xfrm>
          <a:prstGeom prst="rect">
            <a:avLst/>
          </a:prstGeom>
          <a:noFill/>
          <a:ln/>
        </p:spPr>
        <p:txBody>
          <a:bodyPr wrap="square" rtlCol="0" anchor="t"/>
          <a:lstStyle/>
          <a:p>
            <a:pPr indent="0" marL="0">
              <a:spcAft>
                <a:spcPts val="400"/>
              </a:spcAft>
              <a:buNone/>
            </a:pPr>
            <a:r>
              <a:rPr lang="en-US" sz="1800" b="1" dirty="0">
                <a:solidFill>
                  <a:srgbClr val="2FE6C4"/>
                </a:solidFill>
                <a:latin typeface="Calibri" pitchFamily="34" charset="0"/>
                <a:ea typeface="Calibri" pitchFamily="34" charset="-122"/>
                <a:cs typeface="Calibri" pitchFamily="34" charset="-120"/>
              </a:rPr>
              <a:t>Shared domains make joins meaningful</a:t>
            </a:r>
            <a:endParaRPr lang="en-US" sz="1800" dirty="0"/>
          </a:p>
          <a:p>
            <a:pPr indent="0" marL="0">
              <a:buNone/>
            </a:pPr>
            <a:r>
              <a:rPr lang="en-US" sz="1800" dirty="0">
                <a:solidFill>
                  <a:srgbClr val="D7DBDE"/>
                </a:solidFill>
                <a:latin typeface="Calibri" pitchFamily="34" charset="0"/>
                <a:ea typeface="Calibri" pitchFamily="34" charset="-122"/>
                <a:cs typeface="Calibri" pitchFamily="34" charset="-120"/>
              </a:rPr>
              <a:t>Staff.branchNo and Branch.branchNo share the BranchNumbers domain despite matching names — that shared domain is exactly what makes comparing (and later joining, Lecture 8) them meaningful.</a:t>
            </a:r>
            <a:endParaRPr lang="en-US" sz="1800" dirty="0"/>
          </a:p>
        </p:txBody>
      </p:sp>
      <p:sp>
        <p:nvSpPr>
          <p:cNvPr id="6" name="Text 4"/>
          <p:cNvSpPr txBox="1"/>
          <p:nvPr/>
        </p:nvSpPr>
        <p:spPr>
          <a:xfrm>
            <a:off x="6263640" y="804672"/>
            <a:ext cx="5394960" cy="274320"/>
          </a:xfrm>
          <a:prstGeom prst="rect">
            <a:avLst/>
          </a:prstGeom>
          <a:noFill/>
          <a:ln/>
        </p:spPr>
        <p:txBody>
          <a:bodyPr wrap="square" rtlCol="0" anchor="ctr"/>
          <a:lstStyle/>
          <a:p>
            <a:pPr indent="0" marL="0">
              <a:buNone/>
            </a:pPr>
            <a:r>
              <a:rPr lang="en-US" sz="1800" b="1" dirty="0">
                <a:solidFill>
                  <a:srgbClr val="1F2429"/>
                </a:solidFill>
                <a:latin typeface="Calibri" pitchFamily="34" charset="0"/>
                <a:ea typeface="Calibri" pitchFamily="34" charset="-122"/>
                <a:cs typeface="Calibri" pitchFamily="34" charset="-120"/>
              </a:rPr>
              <a:t>Domain definitions used by Staff and Branch</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3640" y="1097280"/>
          <a:ext cx="5394960" cy="914400"/>
        </p:xfrm>
        <a:graphic>
          <a:graphicData uri="http://schemas.openxmlformats.org/drawingml/2006/table">
            <a:tbl>
              <a:tblPr/>
              <a:tblGrid>
                <a:gridCol w="1554480"/>
                <a:gridCol w="2011680"/>
                <a:gridCol w="1828800"/>
              </a:tblGrid>
              <a:tr h="32918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Domain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 values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32918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StaffNumbers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valid staff IDs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SL21, SG37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StaffNames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person names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John White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32918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StaffPositions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valid job titles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 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Salaries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PKR 8,500–40,000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9000, 30000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32918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BranchNumbers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valid branch IDs</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 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Relational Keys — the Hierarchy</a:t>
            </a:r>
            <a:endParaRPr lang="en-US" sz="2600" dirty="0"/>
          </a:p>
        </p:txBody>
      </p:sp>
      <p:sp>
        <p:nvSpPr>
          <p:cNvPr id="3" name="Shape 1"/>
          <p:cNvSpPr/>
          <p:nvPr/>
        </p:nvSpPr>
        <p:spPr>
          <a:xfrm>
            <a:off x="548640" y="1051560"/>
            <a:ext cx="5120640" cy="1234440"/>
          </a:xfrm>
          <a:prstGeom prst="roundRect">
            <a:avLst>
              <a:gd name="adj" fmla="val 5185"/>
            </a:avLst>
          </a:prstGeom>
          <a:solidFill>
            <a:srgbClr val="2FE6C4"/>
          </a:solidFill>
          <a:ln/>
        </p:spPr>
      </p:sp>
      <p:sp>
        <p:nvSpPr>
          <p:cNvPr id="4" name="Text 2"/>
          <p:cNvSpPr txBox="1"/>
          <p:nvPr/>
        </p:nvSpPr>
        <p:spPr>
          <a:xfrm>
            <a:off x="731520" y="1106424"/>
            <a:ext cx="4754880" cy="112471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Superkey</a:t>
            </a:r>
            <a:endParaRPr lang="en-US" sz="1800" dirty="0"/>
          </a:p>
          <a:p>
            <a:pPr algn="l" indent="0" marL="0">
              <a:buNone/>
            </a:pPr>
            <a:r>
              <a:rPr lang="en-US" sz="1800" dirty="0">
                <a:solidFill>
                  <a:srgbClr val="F1F3F4"/>
                </a:solidFill>
                <a:latin typeface="Calibri" pitchFamily="34" charset="0"/>
                <a:ea typeface="Calibri" pitchFamily="34" charset="-122"/>
                <a:cs typeface="Calibri" pitchFamily="34" charset="-120"/>
              </a:rPr>
              <a:t>Any attribute set that uniquely identifies a tuple — may carry extra attributes</a:t>
            </a:r>
            <a:endParaRPr lang="en-US" sz="1800" dirty="0"/>
          </a:p>
        </p:txBody>
      </p:sp>
      <p:sp>
        <p:nvSpPr>
          <p:cNvPr id="5" name="Shape 3"/>
          <p:cNvSpPr/>
          <p:nvPr/>
        </p:nvSpPr>
        <p:spPr>
          <a:xfrm>
            <a:off x="3008376" y="2304288"/>
            <a:ext cx="201168" cy="219456"/>
          </a:xfrm>
          <a:prstGeom prst="downArrow">
            <a:avLst/>
          </a:prstGeom>
          <a:solidFill>
            <a:srgbClr val="C7CBCF"/>
          </a:solidFill>
          <a:ln/>
        </p:spPr>
      </p:sp>
      <p:sp>
        <p:nvSpPr>
          <p:cNvPr id="6" name="Shape 4"/>
          <p:cNvSpPr/>
          <p:nvPr/>
        </p:nvSpPr>
        <p:spPr>
          <a:xfrm>
            <a:off x="548640" y="2542032"/>
            <a:ext cx="5120640" cy="1234440"/>
          </a:xfrm>
          <a:prstGeom prst="roundRect">
            <a:avLst>
              <a:gd name="adj" fmla="val 5185"/>
            </a:avLst>
          </a:prstGeom>
          <a:solidFill>
            <a:srgbClr val="8B7FD9"/>
          </a:solidFill>
          <a:ln/>
        </p:spPr>
      </p:sp>
      <p:sp>
        <p:nvSpPr>
          <p:cNvPr id="7" name="Text 5"/>
          <p:cNvSpPr txBox="1"/>
          <p:nvPr/>
        </p:nvSpPr>
        <p:spPr>
          <a:xfrm>
            <a:off x="731520" y="2596896"/>
            <a:ext cx="4754880" cy="112471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Candidate key</a:t>
            </a:r>
            <a:endParaRPr lang="en-US" sz="1800" dirty="0"/>
          </a:p>
          <a:p>
            <a:pPr algn="l" indent="0" marL="0">
              <a:buNone/>
            </a:pPr>
            <a:r>
              <a:rPr lang="en-US" sz="1800" dirty="0">
                <a:solidFill>
                  <a:srgbClr val="F1F3F4"/>
                </a:solidFill>
                <a:latin typeface="Calibri" pitchFamily="34" charset="0"/>
                <a:ea typeface="Calibri" pitchFamily="34" charset="-122"/>
                <a:cs typeface="Calibri" pitchFamily="34" charset="-120"/>
              </a:rPr>
              <a:t>A minimal superkey — remove one attribute and uniqueness breaks</a:t>
            </a:r>
            <a:endParaRPr lang="en-US" sz="1800" dirty="0"/>
          </a:p>
        </p:txBody>
      </p:sp>
      <p:sp>
        <p:nvSpPr>
          <p:cNvPr id="8" name="Shape 6"/>
          <p:cNvSpPr/>
          <p:nvPr/>
        </p:nvSpPr>
        <p:spPr>
          <a:xfrm>
            <a:off x="3008376" y="3794760"/>
            <a:ext cx="201168" cy="219456"/>
          </a:xfrm>
          <a:prstGeom prst="downArrow">
            <a:avLst/>
          </a:prstGeom>
          <a:solidFill>
            <a:srgbClr val="C7CBCF"/>
          </a:solidFill>
          <a:ln/>
        </p:spPr>
      </p:sp>
      <p:sp>
        <p:nvSpPr>
          <p:cNvPr id="9" name="Shape 7"/>
          <p:cNvSpPr/>
          <p:nvPr/>
        </p:nvSpPr>
        <p:spPr>
          <a:xfrm>
            <a:off x="548640" y="4032504"/>
            <a:ext cx="5120640" cy="1234440"/>
          </a:xfrm>
          <a:prstGeom prst="roundRect">
            <a:avLst>
              <a:gd name="adj" fmla="val 5185"/>
            </a:avLst>
          </a:prstGeom>
          <a:solidFill>
            <a:srgbClr val="E8A33D"/>
          </a:solidFill>
          <a:ln/>
        </p:spPr>
      </p:sp>
      <p:sp>
        <p:nvSpPr>
          <p:cNvPr id="10" name="Text 8"/>
          <p:cNvSpPr txBox="1"/>
          <p:nvPr/>
        </p:nvSpPr>
        <p:spPr>
          <a:xfrm>
            <a:off x="731520" y="4087368"/>
            <a:ext cx="4754880" cy="112471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Primary key</a:t>
            </a:r>
            <a:endParaRPr lang="en-US" sz="1800" dirty="0"/>
          </a:p>
          <a:p>
            <a:pPr algn="l" indent="0" marL="0">
              <a:buNone/>
            </a:pPr>
            <a:r>
              <a:rPr lang="en-US" sz="1800" dirty="0">
                <a:solidFill>
                  <a:srgbClr val="F1F3F4"/>
                </a:solidFill>
                <a:latin typeface="Calibri" pitchFamily="34" charset="0"/>
                <a:ea typeface="Calibri" pitchFamily="34" charset="-122"/>
                <a:cs typeface="Calibri" pitchFamily="34" charset="-120"/>
              </a:rPr>
              <a:t>The candidate key the designer chooses to identify tuples</a:t>
            </a:r>
            <a:endParaRPr lang="en-US" sz="1800" dirty="0"/>
          </a:p>
        </p:txBody>
      </p:sp>
      <p:sp>
        <p:nvSpPr>
          <p:cNvPr id="11" name="Text 9"/>
          <p:cNvSpPr txBox="1"/>
          <p:nvPr/>
        </p:nvSpPr>
        <p:spPr>
          <a:xfrm>
            <a:off x="548640" y="5394960"/>
            <a:ext cx="5120640" cy="1188720"/>
          </a:xfrm>
          <a:prstGeom prst="rect">
            <a:avLst/>
          </a:prstGeom>
          <a:noFill/>
          <a:ln/>
        </p:spPr>
        <p:txBody>
          <a:bodyPr wrap="square" rtlCol="0" anchor="t"/>
          <a:lstStyle/>
          <a:p>
            <a:pPr indent="0" marL="0">
              <a:buNone/>
            </a:pPr>
            <a:r>
              <a:rPr lang="en-US" sz="1800" b="1" dirty="0">
                <a:solidFill>
                  <a:srgbClr val="8B7FD9"/>
                </a:solidFill>
                <a:latin typeface="Courier New" pitchFamily="34" charset="0"/>
                <a:ea typeface="Courier New" pitchFamily="34" charset="-122"/>
                <a:cs typeface="Courier New" pitchFamily="34" charset="-120"/>
              </a:rPr>
              <a:t>{staffNo} </a:t>
            </a:r>
            <a:pPr indent="0" marL="0">
              <a:buNone/>
            </a:pPr>
            <a:r>
              <a:rPr lang="en-US" sz="1800" dirty="0">
                <a:solidFill>
                  <a:srgbClr val="1F2429"/>
                </a:solidFill>
                <a:latin typeface="Calibri" pitchFamily="34" charset="0"/>
                <a:ea typeface="Calibri" pitchFamily="34" charset="-122"/>
                <a:cs typeface="Calibri" pitchFamily="34" charset="-120"/>
              </a:rPr>
              <a:t>is a candidate key of Staff: minimal, and unique. {staffNo, name} is a superkey but </a:t>
            </a:r>
            <a:pPr indent="0" marL="0">
              <a:buNone/>
            </a:pPr>
            <a:r>
              <a:rPr lang="en-US" sz="1800" i="1" dirty="0">
                <a:solidFill>
                  <a:srgbClr val="1F2429"/>
                </a:solidFill>
                <a:latin typeface="Calibri" pitchFamily="34" charset="0"/>
                <a:ea typeface="Calibri" pitchFamily="34" charset="-122"/>
                <a:cs typeface="Calibri" pitchFamily="34" charset="-120"/>
              </a:rPr>
              <a:t>not</a:t>
            </a:r>
            <a:pPr indent="0" marL="0">
              <a:buNone/>
            </a:pPr>
            <a:r>
              <a:rPr lang="en-US" sz="1800" dirty="0">
                <a:solidFill>
                  <a:srgbClr val="1F2429"/>
                </a:solidFill>
                <a:latin typeface="Calibri" pitchFamily="34" charset="0"/>
                <a:ea typeface="Calibri" pitchFamily="34" charset="-122"/>
                <a:cs typeface="Calibri" pitchFamily="34" charset="-120"/>
              </a:rPr>
              <a:t> a candidate key — it isn’t minimal.</a:t>
            </a:r>
            <a:endParaRPr lang="en-US" sz="1800" dirty="0"/>
          </a:p>
        </p:txBody>
      </p:sp>
      <p:sp>
        <p:nvSpPr>
          <p:cNvPr id="12" name="Text 10"/>
          <p:cNvSpPr txBox="1"/>
          <p:nvPr/>
        </p:nvSpPr>
        <p:spPr>
          <a:xfrm>
            <a:off x="6035040" y="1051560"/>
            <a:ext cx="5577840" cy="2377440"/>
          </a:xfrm>
          <a:prstGeom prst="rect">
            <a:avLst/>
          </a:prstGeom>
          <a:noFill/>
          <a:ln/>
        </p:spPr>
        <p:txBody>
          <a:bodyPr wrap="square" lIns="0" tIns="0" rIns="0" bIns="0" rtlCol="0" anchor="t"/>
          <a:lstStyle/>
          <a:p>
            <a:pPr indent="0" marL="0">
              <a:spcAft>
                <a:spcPts val="300"/>
              </a:spcAft>
              <a:buNone/>
            </a:pPr>
            <a:r>
              <a:rPr lang="en-US" sz="1800" b="1" dirty="0">
                <a:solidFill>
                  <a:srgbClr val="2FE6C4"/>
                </a:solidFill>
                <a:latin typeface="Calibri" pitchFamily="34" charset="0"/>
                <a:ea typeface="Calibri" pitchFamily="34" charset="-122"/>
                <a:cs typeface="Calibri" pitchFamily="34" charset="-120"/>
              </a:rPr>
              <a:t>Alternate key</a:t>
            </a:r>
            <a:endParaRPr lang="en-US" sz="1800" dirty="0"/>
          </a:p>
          <a:p>
            <a:pPr indent="0" marL="0">
              <a:spcAft>
                <a:spcPts val="1200"/>
              </a:spcAft>
              <a:buNone/>
            </a:pPr>
            <a:r>
              <a:rPr lang="en-US" sz="1800" dirty="0">
                <a:solidFill>
                  <a:srgbClr val="1F2429"/>
                </a:solidFill>
                <a:latin typeface="Calibri" pitchFamily="34" charset="0"/>
                <a:ea typeface="Calibri" pitchFamily="34" charset="-122"/>
                <a:cs typeface="Calibri" pitchFamily="34" charset="-120"/>
              </a:rPr>
              <a:t>Every candidate key not chosen as primary — still unique, just not the schema’s lead identifier.</a:t>
            </a:r>
            <a:endParaRPr lang="en-US" sz="1800" dirty="0"/>
          </a:p>
          <a:p>
            <a:pPr indent="0" marL="0">
              <a:spcAft>
                <a:spcPts val="300"/>
              </a:spcAft>
              <a:buNone/>
            </a:pPr>
            <a:r>
              <a:rPr lang="en-US" sz="1800" b="1" dirty="0">
                <a:solidFill>
                  <a:srgbClr val="E8A33D"/>
                </a:solidFill>
                <a:latin typeface="Calibri" pitchFamily="34" charset="0"/>
                <a:ea typeface="Calibri" pitchFamily="34" charset="-122"/>
                <a:cs typeface="Calibri" pitchFamily="34" charset="-120"/>
              </a:rPr>
              <a:t>Foreign key</a:t>
            </a:r>
            <a:endParaRPr lang="en-US" sz="1800" dirty="0"/>
          </a:p>
          <a:p>
            <a:pPr indent="0" marL="0">
              <a:buNone/>
            </a:pPr>
            <a:r>
              <a:rPr lang="en-US" sz="1800" dirty="0">
                <a:solidFill>
                  <a:srgbClr val="1F2429"/>
                </a:solidFill>
                <a:latin typeface="Calibri" pitchFamily="34" charset="0"/>
                <a:ea typeface="Calibri" pitchFamily="34" charset="-122"/>
                <a:cs typeface="Calibri" pitchFamily="34" charset="-120"/>
              </a:rPr>
              <a:t>An attribute set in one relation that reproduces another relation’s primary key, to represent a relationship. Staff.branchNo references Branch.branchNo.</a:t>
            </a:r>
            <a:endParaRPr lang="en-US" sz="1800" dirty="0"/>
          </a:p>
        </p:txBody>
      </p:sp>
      <p:sp>
        <p:nvSpPr>
          <p:cNvPr id="13" name="Shape 11"/>
          <p:cNvSpPr/>
          <p:nvPr/>
        </p:nvSpPr>
        <p:spPr>
          <a:xfrm>
            <a:off x="6035040" y="3703320"/>
            <a:ext cx="2560320" cy="1783080"/>
          </a:xfrm>
          <a:prstGeom prst="roundRect">
            <a:avLst>
              <a:gd name="adj" fmla="val 3077"/>
            </a:avLst>
          </a:prstGeom>
          <a:solidFill>
            <a:srgbClr val="FFFFFF"/>
          </a:solidFill>
          <a:ln w="12700">
            <a:solidFill>
              <a:srgbClr val="E1E4E8"/>
            </a:solidFill>
            <a:prstDash val="solid"/>
          </a:ln>
        </p:spPr>
      </p:sp>
      <p:sp>
        <p:nvSpPr>
          <p:cNvPr id="14" name="Shape 12"/>
          <p:cNvSpPr/>
          <p:nvPr/>
        </p:nvSpPr>
        <p:spPr>
          <a:xfrm>
            <a:off x="6035040" y="3703320"/>
            <a:ext cx="2560320" cy="384048"/>
          </a:xfrm>
          <a:prstGeom prst="roundRect">
            <a:avLst>
              <a:gd name="adj" fmla="val 14286"/>
            </a:avLst>
          </a:prstGeom>
          <a:solidFill>
            <a:srgbClr val="2FE6C4"/>
          </a:solidFill>
          <a:ln/>
        </p:spPr>
      </p:sp>
      <p:sp>
        <p:nvSpPr>
          <p:cNvPr id="15" name="Shape 13"/>
          <p:cNvSpPr/>
          <p:nvPr/>
        </p:nvSpPr>
        <p:spPr>
          <a:xfrm>
            <a:off x="6035040" y="3895344"/>
            <a:ext cx="2560320" cy="192024"/>
          </a:xfrm>
          <a:prstGeom prst="rect">
            <a:avLst/>
          </a:prstGeom>
          <a:solidFill>
            <a:srgbClr val="2FE6C4"/>
          </a:solidFill>
          <a:ln/>
        </p:spPr>
      </p:sp>
      <p:sp>
        <p:nvSpPr>
          <p:cNvPr id="16" name="Text 14"/>
          <p:cNvSpPr txBox="1"/>
          <p:nvPr/>
        </p:nvSpPr>
        <p:spPr>
          <a:xfrm>
            <a:off x="6172200" y="3703320"/>
            <a:ext cx="2286000" cy="384048"/>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Branch</a:t>
            </a:r>
            <a:endParaRPr lang="en-US" sz="1800" dirty="0"/>
          </a:p>
        </p:txBody>
      </p:sp>
      <p:sp>
        <p:nvSpPr>
          <p:cNvPr id="17" name="Text 15"/>
          <p:cNvSpPr txBox="1"/>
          <p:nvPr/>
        </p:nvSpPr>
        <p:spPr>
          <a:xfrm>
            <a:off x="6217920" y="4160520"/>
            <a:ext cx="2194560" cy="1252728"/>
          </a:xfrm>
          <a:prstGeom prst="rect">
            <a:avLst/>
          </a:prstGeom>
          <a:noFill/>
          <a:ln/>
        </p:spPr>
        <p:txBody>
          <a:bodyPr wrap="square" lIns="0" tIns="0" rIns="0" bIns="0" rtlCol="0" anchor="t"/>
          <a:lstStyle/>
          <a:p>
            <a:pPr algn="l" indent="0" marL="0">
              <a:spcAft>
                <a:spcPts val="400"/>
              </a:spcAft>
              <a:buNone/>
            </a:pPr>
            <a:r>
              <a:rPr lang="en-US" sz="1800" b="1" u="sng" dirty="0">
                <a:solidFill>
                  <a:srgbClr val="1F2429"/>
                </a:solidFill>
                <a:latin typeface="Calibri" pitchFamily="34" charset="0"/>
                <a:ea typeface="Calibri" pitchFamily="34" charset="-122"/>
                <a:cs typeface="Calibri" pitchFamily="34" charset="-120"/>
              </a:rPr>
              <a:t>branchNo</a:t>
            </a:r>
            <a:endParaRPr lang="en-US" sz="1800" dirty="0"/>
          </a:p>
          <a:p>
            <a:pPr algn="l" indent="0" marL="0">
              <a:spcAft>
                <a:spcPts val="400"/>
              </a:spcAft>
              <a:buNone/>
            </a:pPr>
            <a:r>
              <a:rPr lang="en-US" sz="1800" dirty="0">
                <a:solidFill>
                  <a:srgbClr val="1F2429"/>
                </a:solidFill>
                <a:latin typeface="Calibri" pitchFamily="34" charset="0"/>
                <a:ea typeface="Calibri" pitchFamily="34" charset="-122"/>
                <a:cs typeface="Calibri" pitchFamily="34" charset="-120"/>
              </a:rPr>
              <a:t>street</a:t>
            </a:r>
            <a:endParaRPr lang="en-US" sz="1800" dirty="0"/>
          </a:p>
          <a:p>
            <a:pPr algn="l" indent="0" marL="0">
              <a:spcAft>
                <a:spcPts val="400"/>
              </a:spcAft>
              <a:buNone/>
            </a:pPr>
            <a:r>
              <a:rPr lang="en-US" sz="1800" dirty="0">
                <a:solidFill>
                  <a:srgbClr val="1F2429"/>
                </a:solidFill>
                <a:latin typeface="Calibri" pitchFamily="34" charset="0"/>
                <a:ea typeface="Calibri" pitchFamily="34" charset="-122"/>
                <a:cs typeface="Calibri" pitchFamily="34" charset="-120"/>
              </a:rPr>
              <a:t>city</a:t>
            </a:r>
            <a:endParaRPr lang="en-US" sz="1800" dirty="0"/>
          </a:p>
          <a:p>
            <a:pPr algn="l" indent="0" marL="0">
              <a:spcAft>
                <a:spcPts val="400"/>
              </a:spcAft>
              <a:buNone/>
            </a:pPr>
            <a:r>
              <a:rPr lang="en-US" sz="1800" dirty="0">
                <a:solidFill>
                  <a:srgbClr val="1F2429"/>
                </a:solidFill>
                <a:latin typeface="Calibri" pitchFamily="34" charset="0"/>
                <a:ea typeface="Calibri" pitchFamily="34" charset="-122"/>
                <a:cs typeface="Calibri" pitchFamily="34" charset="-120"/>
              </a:rPr>
              <a:t>postcode</a:t>
            </a:r>
            <a:endParaRPr lang="en-US" sz="1800" dirty="0"/>
          </a:p>
        </p:txBody>
      </p:sp>
      <p:sp>
        <p:nvSpPr>
          <p:cNvPr id="18" name="Shape 16"/>
          <p:cNvSpPr/>
          <p:nvPr/>
        </p:nvSpPr>
        <p:spPr>
          <a:xfrm>
            <a:off x="8686800" y="4434840"/>
            <a:ext cx="502920" cy="256032"/>
          </a:xfrm>
          <a:prstGeom prst="rightArrow">
            <a:avLst/>
          </a:prstGeom>
          <a:solidFill>
            <a:srgbClr val="C7CBCF"/>
          </a:solidFill>
          <a:ln/>
        </p:spPr>
      </p:sp>
      <p:sp>
        <p:nvSpPr>
          <p:cNvPr id="19" name="Shape 17"/>
          <p:cNvSpPr/>
          <p:nvPr/>
        </p:nvSpPr>
        <p:spPr>
          <a:xfrm>
            <a:off x="9281160" y="3703320"/>
            <a:ext cx="2377440" cy="1783080"/>
          </a:xfrm>
          <a:prstGeom prst="roundRect">
            <a:avLst>
              <a:gd name="adj" fmla="val 3077"/>
            </a:avLst>
          </a:prstGeom>
          <a:solidFill>
            <a:srgbClr val="FFFFFF"/>
          </a:solidFill>
          <a:ln w="12700">
            <a:solidFill>
              <a:srgbClr val="E1E4E8"/>
            </a:solidFill>
            <a:prstDash val="solid"/>
          </a:ln>
        </p:spPr>
      </p:sp>
      <p:sp>
        <p:nvSpPr>
          <p:cNvPr id="20" name="Shape 18"/>
          <p:cNvSpPr/>
          <p:nvPr/>
        </p:nvSpPr>
        <p:spPr>
          <a:xfrm>
            <a:off x="9281160" y="3703320"/>
            <a:ext cx="2377440" cy="384048"/>
          </a:xfrm>
          <a:prstGeom prst="roundRect">
            <a:avLst>
              <a:gd name="adj" fmla="val 14286"/>
            </a:avLst>
          </a:prstGeom>
          <a:solidFill>
            <a:srgbClr val="E8A33D"/>
          </a:solidFill>
          <a:ln/>
        </p:spPr>
      </p:sp>
      <p:sp>
        <p:nvSpPr>
          <p:cNvPr id="21" name="Shape 19"/>
          <p:cNvSpPr/>
          <p:nvPr/>
        </p:nvSpPr>
        <p:spPr>
          <a:xfrm>
            <a:off x="9281160" y="3895344"/>
            <a:ext cx="2377440" cy="192024"/>
          </a:xfrm>
          <a:prstGeom prst="rect">
            <a:avLst/>
          </a:prstGeom>
          <a:solidFill>
            <a:srgbClr val="E8A33D"/>
          </a:solidFill>
          <a:ln/>
        </p:spPr>
      </p:sp>
      <p:sp>
        <p:nvSpPr>
          <p:cNvPr id="22" name="Text 20"/>
          <p:cNvSpPr txBox="1"/>
          <p:nvPr/>
        </p:nvSpPr>
        <p:spPr>
          <a:xfrm>
            <a:off x="9418320" y="3703320"/>
            <a:ext cx="2103120" cy="384048"/>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Staff</a:t>
            </a:r>
            <a:endParaRPr lang="en-US" sz="1800" dirty="0"/>
          </a:p>
        </p:txBody>
      </p:sp>
      <p:sp>
        <p:nvSpPr>
          <p:cNvPr id="23" name="Text 21"/>
          <p:cNvSpPr txBox="1"/>
          <p:nvPr/>
        </p:nvSpPr>
        <p:spPr>
          <a:xfrm>
            <a:off x="9464040" y="4160520"/>
            <a:ext cx="2011680" cy="1252728"/>
          </a:xfrm>
          <a:prstGeom prst="rect">
            <a:avLst/>
          </a:prstGeom>
          <a:noFill/>
          <a:ln/>
        </p:spPr>
        <p:txBody>
          <a:bodyPr wrap="square" lIns="0" tIns="0" rIns="0" bIns="0" rtlCol="0" anchor="t"/>
          <a:lstStyle/>
          <a:p>
            <a:pPr algn="l" indent="0" marL="0">
              <a:spcAft>
                <a:spcPts val="400"/>
              </a:spcAft>
              <a:buNone/>
            </a:pPr>
            <a:r>
              <a:rPr lang="en-US" sz="1800" b="1" u="sng" dirty="0">
                <a:solidFill>
                  <a:srgbClr val="1F2429"/>
                </a:solidFill>
                <a:latin typeface="Calibri" pitchFamily="34" charset="0"/>
                <a:ea typeface="Calibri" pitchFamily="34" charset="-122"/>
                <a:cs typeface="Calibri" pitchFamily="34" charset="-120"/>
              </a:rPr>
              <a:t>staffNo</a:t>
            </a:r>
            <a:endParaRPr lang="en-US" sz="1800" dirty="0"/>
          </a:p>
          <a:p>
            <a:pPr algn="l" indent="0" marL="0">
              <a:spcAft>
                <a:spcPts val="400"/>
              </a:spcAft>
              <a:buNone/>
            </a:pPr>
            <a:r>
              <a:rPr lang="en-US" sz="1800" dirty="0">
                <a:solidFill>
                  <a:srgbClr val="1F2429"/>
                </a:solidFill>
                <a:latin typeface="Calibri" pitchFamily="34" charset="0"/>
                <a:ea typeface="Calibri" pitchFamily="34" charset="-122"/>
                <a:cs typeface="Calibri" pitchFamily="34" charset="-120"/>
              </a:rPr>
              <a:t>name</a:t>
            </a:r>
            <a:endParaRPr lang="en-US" sz="1800" dirty="0"/>
          </a:p>
          <a:p>
            <a:pPr algn="l" indent="0" marL="0">
              <a:spcAft>
                <a:spcPts val="400"/>
              </a:spcAft>
              <a:buNone/>
            </a:pPr>
            <a:r>
              <a:rPr lang="en-US" sz="1800" dirty="0">
                <a:solidFill>
                  <a:srgbClr val="1F2429"/>
                </a:solidFill>
                <a:latin typeface="Calibri" pitchFamily="34" charset="0"/>
                <a:ea typeface="Calibri" pitchFamily="34" charset="-122"/>
                <a:cs typeface="Calibri" pitchFamily="34" charset="-120"/>
              </a:rPr>
              <a:t>position</a:t>
            </a:r>
            <a:endParaRPr lang="en-US" sz="1800" dirty="0"/>
          </a:p>
          <a:p>
            <a:pPr algn="l" indent="0" marL="0">
              <a:spcAft>
                <a:spcPts val="400"/>
              </a:spcAft>
              <a:buNone/>
            </a:pPr>
            <a:r>
              <a:rPr lang="en-US" sz="1800" dirty="0">
                <a:solidFill>
                  <a:srgbClr val="1F2429"/>
                </a:solidFill>
                <a:latin typeface="Calibri" pitchFamily="34" charset="0"/>
                <a:ea typeface="Calibri" pitchFamily="34" charset="-122"/>
                <a:cs typeface="Calibri" pitchFamily="34" charset="-120"/>
              </a:rPr>
              <a:t>salary</a:t>
            </a:r>
            <a:endParaRPr lang="en-US" sz="1800" dirty="0"/>
          </a:p>
          <a:p>
            <a:pPr algn="l" indent="0" marL="0">
              <a:spcAft>
                <a:spcPts val="400"/>
              </a:spcAft>
              <a:buNone/>
            </a:pPr>
            <a:r>
              <a:rPr lang="en-US" sz="1800" i="1" dirty="0">
                <a:solidFill>
                  <a:srgbClr val="7A828A"/>
                </a:solidFill>
                <a:latin typeface="Calibri" pitchFamily="34" charset="0"/>
                <a:ea typeface="Calibri" pitchFamily="34" charset="-122"/>
                <a:cs typeface="Calibri" pitchFamily="34" charset="-120"/>
              </a:rPr>
              <a:t>branchNo</a:t>
            </a:r>
            <a:endParaRPr lang="en-US" sz="1800" dirty="0"/>
          </a:p>
        </p:txBody>
      </p:sp>
      <p:sp>
        <p:nvSpPr>
          <p:cNvPr id="24" name="Text 2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Testing for Candidate Keys</a:t>
            </a:r>
            <a:endParaRPr lang="en-US" sz="2600" dirty="0"/>
          </a:p>
        </p:txBody>
      </p:sp>
      <p:sp>
        <p:nvSpPr>
          <p:cNvPr id="3" name="Shape 1"/>
          <p:cNvSpPr/>
          <p:nvPr/>
        </p:nvSpPr>
        <p:spPr>
          <a:xfrm>
            <a:off x="548640" y="1097280"/>
            <a:ext cx="5394960" cy="2743200"/>
          </a:xfrm>
          <a:prstGeom prst="roundRect">
            <a:avLst>
              <a:gd name="adj" fmla="val 2667"/>
            </a:avLst>
          </a:prstGeom>
          <a:solidFill>
            <a:srgbClr val="FFFFFF"/>
          </a:solidFill>
          <a:ln w="12700">
            <a:solidFill>
              <a:srgbClr val="E1E4E8"/>
            </a:solidFill>
            <a:prstDash val="solid"/>
          </a:ln>
        </p:spPr>
      </p:sp>
      <p:sp>
        <p:nvSpPr>
          <p:cNvPr id="4" name="Text 2"/>
          <p:cNvSpPr txBox="1"/>
          <p:nvPr/>
        </p:nvSpPr>
        <p:spPr>
          <a:xfrm>
            <a:off x="822960" y="1280160"/>
            <a:ext cx="4846320" cy="2468880"/>
          </a:xfrm>
          <a:prstGeom prst="rect">
            <a:avLst/>
          </a:prstGeom>
          <a:noFill/>
          <a:ln/>
        </p:spPr>
        <p:txBody>
          <a:bodyPr wrap="square" lIns="0" tIns="0" rIns="0" bIns="0" rtlCol="0" anchor="t"/>
          <a:lstStyle/>
          <a:p>
            <a:pPr indent="0" marL="0">
              <a:spcAft>
                <a:spcPts val="800"/>
              </a:spcAft>
              <a:buNone/>
            </a:pPr>
            <a:r>
              <a:rPr lang="en-US" sz="1800" b="1" dirty="0">
                <a:solidFill>
                  <a:srgbClr val="8B7FD9"/>
                </a:solidFill>
                <a:latin typeface="Calibri" pitchFamily="34" charset="0"/>
                <a:ea typeface="Calibri" pitchFamily="34" charset="-122"/>
                <a:cs typeface="Calibri" pitchFamily="34" charset="-120"/>
              </a:rPr>
              <a:t>A quick test for candidate keys</a:t>
            </a:r>
            <a:endParaRPr lang="en-US" sz="1800" dirty="0"/>
          </a:p>
          <a:p>
            <a:pPr indent="0" marL="0">
              <a:buNone/>
            </a:pPr>
            <a:r>
              <a:rPr lang="en-US" sz="1800" b="1" dirty="0">
                <a:solidFill>
                  <a:srgbClr val="1F2429"/>
                </a:solidFill>
                <a:latin typeface="Calibri" pitchFamily="34" charset="0"/>
                <a:ea typeface="Calibri" pitchFamily="34" charset="-122"/>
                <a:cs typeface="Calibri" pitchFamily="34" charset="-120"/>
              </a:rPr>
              <a:t>1. Uniqueness  </a:t>
            </a:r>
            <a:pPr indent="0" marL="0">
              <a:spcAft>
                <a:spcPts val="800"/>
              </a:spcAft>
              <a:buNone/>
            </a:pPr>
            <a:r>
              <a:rPr lang="en-US" sz="1800" dirty="0">
                <a:solidFill>
                  <a:srgbClr val="1F2429"/>
                </a:solidFill>
                <a:latin typeface="Calibri" pitchFamily="34" charset="0"/>
                <a:ea typeface="Calibri" pitchFamily="34" charset="-122"/>
                <a:cs typeface="Calibri" pitchFamily="34" charset="-120"/>
              </a:rPr>
              <a:t>Can two distinct tuples share the same value(s) for K? If yes, K is not even a superkey.</a:t>
            </a:r>
            <a:endParaRPr lang="en-US" sz="1800" dirty="0"/>
          </a:p>
          <a:p>
            <a:pPr indent="0" marL="0">
              <a:buNone/>
            </a:pPr>
            <a:r>
              <a:rPr lang="en-US" sz="1800" b="1" dirty="0">
                <a:solidFill>
                  <a:srgbClr val="1F2429"/>
                </a:solidFill>
                <a:latin typeface="Calibri" pitchFamily="34" charset="0"/>
                <a:ea typeface="Calibri" pitchFamily="34" charset="-122"/>
                <a:cs typeface="Calibri" pitchFamily="34" charset="-120"/>
              </a:rPr>
              <a:t>2. Minimality  </a:t>
            </a:r>
            <a:pPr indent="0" marL="0">
              <a:buNone/>
            </a:pPr>
            <a:r>
              <a:rPr lang="en-US" sz="1800" dirty="0">
                <a:solidFill>
                  <a:srgbClr val="1F2429"/>
                </a:solidFill>
                <a:latin typeface="Calibri" pitchFamily="34" charset="0"/>
                <a:ea typeface="Calibri" pitchFamily="34" charset="-122"/>
                <a:cs typeface="Calibri" pitchFamily="34" charset="-120"/>
              </a:rPr>
              <a:t>Drop one attribute from K — does uniqueness still hold? If yes, K was not minimal.</a:t>
            </a:r>
            <a:endParaRPr lang="en-US" sz="1800" dirty="0"/>
          </a:p>
        </p:txBody>
      </p:sp>
      <p:sp>
        <p:nvSpPr>
          <p:cNvPr id="5" name="Text 3"/>
          <p:cNvSpPr txBox="1"/>
          <p:nvPr/>
        </p:nvSpPr>
        <p:spPr>
          <a:xfrm>
            <a:off x="548640" y="4023360"/>
            <a:ext cx="5394960" cy="914400"/>
          </a:xfrm>
          <a:prstGeom prst="rect">
            <a:avLst/>
          </a:prstGeom>
          <a:noFill/>
          <a:ln/>
        </p:spPr>
        <p:txBody>
          <a:bodyPr wrap="square" rtlCol="0" anchor="t"/>
          <a:lstStyle/>
          <a:p>
            <a:pPr indent="0" marL="0">
              <a:buNone/>
            </a:pPr>
            <a:r>
              <a:rPr lang="en-US" sz="1800" dirty="0">
                <a:solidFill>
                  <a:srgbClr val="1F2429"/>
                </a:solidFill>
                <a:latin typeface="Calibri" pitchFamily="34" charset="0"/>
                <a:ea typeface="Calibri" pitchFamily="34" charset="-122"/>
                <a:cs typeface="Calibri" pitchFamily="34" charset="-120"/>
              </a:rPr>
              <a:t>Applied to PropertyForRent: </a:t>
            </a:r>
            <a:pPr indent="0" marL="0">
              <a:buNone/>
            </a:pPr>
            <a:r>
              <a:rPr lang="en-US" sz="1800" b="1" dirty="0">
                <a:solidFill>
                  <a:srgbClr val="2FE6C4"/>
                </a:solidFill>
                <a:latin typeface="Courier New" pitchFamily="34" charset="0"/>
                <a:ea typeface="Courier New" pitchFamily="34" charset="-122"/>
                <a:cs typeface="Courier New" pitchFamily="34" charset="-120"/>
              </a:rPr>
              <a:t>{propertyNo}</a:t>
            </a:r>
            <a:pPr indent="0" marL="0">
              <a:buNone/>
            </a:pPr>
            <a:r>
              <a:rPr lang="en-US" sz="1800" dirty="0">
                <a:solidFill>
                  <a:srgbClr val="1F2429"/>
                </a:solidFill>
                <a:latin typeface="Calibri" pitchFamily="34" charset="0"/>
                <a:ea typeface="Calibri" pitchFamily="34" charset="-122"/>
                <a:cs typeface="Calibri" pitchFamily="34" charset="-120"/>
              </a:rPr>
              <a:t> is a candidate key; </a:t>
            </a:r>
            <a:pPr indent="0" marL="0">
              <a:buNone/>
            </a:pPr>
            <a:r>
              <a:rPr lang="en-US" sz="1800" b="1" dirty="0">
                <a:solidFill>
                  <a:srgbClr val="E8A33D"/>
                </a:solidFill>
                <a:latin typeface="Courier New" pitchFamily="34" charset="0"/>
                <a:ea typeface="Courier New" pitchFamily="34" charset="-122"/>
                <a:cs typeface="Courier New" pitchFamily="34" charset="-120"/>
              </a:rPr>
              <a:t>{propertyNo, street}</a:t>
            </a:r>
            <a:pPr indent="0" marL="0">
              <a:buNone/>
            </a:pPr>
            <a:r>
              <a:rPr lang="en-US" sz="1800" dirty="0">
                <a:solidFill>
                  <a:srgbClr val="1F2429"/>
                </a:solidFill>
                <a:latin typeface="Calibri" pitchFamily="34" charset="0"/>
                <a:ea typeface="Calibri" pitchFamily="34" charset="-122"/>
                <a:cs typeface="Calibri" pitchFamily="34" charset="-120"/>
              </a:rPr>
              <a:t> is a superkey but not minimal — not a candidate key.</a:t>
            </a:r>
            <a:endParaRPr lang="en-US" sz="1800" dirty="0"/>
          </a:p>
        </p:txBody>
      </p:sp>
      <p:sp>
        <p:nvSpPr>
          <p:cNvPr id="6" name="Shape 4"/>
          <p:cNvSpPr/>
          <p:nvPr/>
        </p:nvSpPr>
        <p:spPr>
          <a:xfrm>
            <a:off x="6263640" y="1097280"/>
            <a:ext cx="5394960" cy="3840480"/>
          </a:xfrm>
          <a:prstGeom prst="roundRect">
            <a:avLst>
              <a:gd name="adj" fmla="val 1905"/>
            </a:avLst>
          </a:prstGeom>
          <a:solidFill>
            <a:srgbClr val="14181C"/>
          </a:solidFill>
          <a:ln/>
        </p:spPr>
      </p:sp>
      <p:sp>
        <p:nvSpPr>
          <p:cNvPr id="7" name="Text 5"/>
          <p:cNvSpPr txBox="1"/>
          <p:nvPr/>
        </p:nvSpPr>
        <p:spPr>
          <a:xfrm>
            <a:off x="6492240" y="1280160"/>
            <a:ext cx="4937760" cy="1188720"/>
          </a:xfrm>
          <a:prstGeom prst="rect">
            <a:avLst/>
          </a:prstGeom>
          <a:noFill/>
          <a:ln/>
        </p:spPr>
        <p:txBody>
          <a:bodyPr wrap="square" rtlCol="0" anchor="t"/>
          <a:lstStyle/>
          <a:p>
            <a:pPr indent="0" marL="0">
              <a:spcAft>
                <a:spcPts val="800"/>
              </a:spcAft>
              <a:buNone/>
            </a:pPr>
            <a:r>
              <a:rPr lang="en-US" sz="1800" b="1" dirty="0">
                <a:solidFill>
                  <a:srgbClr val="2FE6C4"/>
                </a:solidFill>
                <a:latin typeface="Calibri" pitchFamily="34" charset="0"/>
                <a:ea typeface="Calibri" pitchFamily="34" charset="-122"/>
                <a:cs typeface="Calibri" pitchFamily="34" charset="-120"/>
              </a:rPr>
              <a:t>Composite primary keys underline as a group</a:t>
            </a:r>
            <a:endParaRPr lang="en-US" sz="1800" dirty="0"/>
          </a:p>
          <a:p>
            <a:pPr indent="0" marL="0">
              <a:spcAft>
                <a:spcPts val="1000"/>
              </a:spcAft>
              <a:buNone/>
            </a:pPr>
            <a:r>
              <a:rPr lang="en-US" sz="1800" dirty="0">
                <a:solidFill>
                  <a:srgbClr val="D7DBDE"/>
                </a:solidFill>
                <a:latin typeface="Calibri" pitchFamily="34" charset="0"/>
                <a:ea typeface="Calibri" pitchFamily="34" charset="-122"/>
                <a:cs typeface="Calibri" pitchFamily="34" charset="-120"/>
              </a:rPr>
              <a:t>Not every primary key is one attribute.</a:t>
            </a:r>
            <a:endParaRPr lang="en-US" sz="1800" dirty="0"/>
          </a:p>
        </p:txBody>
      </p:sp>
      <p:sp>
        <p:nvSpPr>
          <p:cNvPr id="8" name="Text 6"/>
          <p:cNvSpPr txBox="1"/>
          <p:nvPr/>
        </p:nvSpPr>
        <p:spPr>
          <a:xfrm>
            <a:off x="6492240" y="2514600"/>
            <a:ext cx="4937760" cy="457200"/>
          </a:xfrm>
          <a:prstGeom prst="rect">
            <a:avLst/>
          </a:prstGeom>
          <a:noFill/>
          <a:ln/>
        </p:spPr>
        <p:txBody>
          <a:bodyPr wrap="square" rtlCol="0" anchor="ctr"/>
          <a:lstStyle/>
          <a:p>
            <a:pPr indent="0" marL="0">
              <a:buNone/>
            </a:pPr>
            <a:r>
              <a:rPr lang="en-US" sz="1800" b="1" dirty="0">
                <a:solidFill>
                  <a:srgbClr val="E8A33D"/>
                </a:solidFill>
                <a:latin typeface="Courier New" pitchFamily="34" charset="0"/>
                <a:ea typeface="Courier New" pitchFamily="34" charset="-122"/>
                <a:cs typeface="Courier New" pitchFamily="34" charset="-120"/>
              </a:rPr>
              <a:t>Viewing (clientNo, propertyNo, viewDate, comment)</a:t>
            </a:r>
            <a:endParaRPr lang="en-US" sz="1800" dirty="0"/>
          </a:p>
        </p:txBody>
      </p:sp>
      <p:sp>
        <p:nvSpPr>
          <p:cNvPr id="9" name="Text 7"/>
          <p:cNvSpPr txBox="1"/>
          <p:nvPr/>
        </p:nvSpPr>
        <p:spPr>
          <a:xfrm>
            <a:off x="6492240" y="3063240"/>
            <a:ext cx="4937760" cy="1737360"/>
          </a:xfrm>
          <a:prstGeom prst="rect">
            <a:avLst/>
          </a:prstGeom>
          <a:noFill/>
          <a:ln/>
        </p:spPr>
        <p:txBody>
          <a:bodyPr wrap="square" rtlCol="0" anchor="t"/>
          <a:lstStyle/>
          <a:p>
            <a:pPr indent="0" marL="0">
              <a:buNone/>
            </a:pPr>
            <a:r>
              <a:rPr lang="en-US" sz="1800" dirty="0">
                <a:solidFill>
                  <a:srgbClr val="D7DBDE"/>
                </a:solidFill>
                <a:latin typeface="Calibri" pitchFamily="34" charset="0"/>
                <a:ea typeface="Calibri" pitchFamily="34" charset="-122"/>
                <a:cs typeface="Calibri" pitchFamily="34" charset="-120"/>
              </a:rPr>
              <a:t>Neither clientNo alone nor propertyNo alone is unique — one client views many properties, one property is viewed by many clients — but the pair is. Convention underlines the whole pair together.</a:t>
            </a:r>
            <a:endParaRPr lang="en-US" sz="1800" dirty="0"/>
          </a:p>
        </p:txBody>
      </p:sp>
      <p:sp>
        <p:nvSpPr>
          <p:cNvPr id="10" name="Text 8"/>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Relational Database Schema vs. Instance</a:t>
            </a:r>
            <a:endParaRPr lang="en-US" sz="2600" dirty="0"/>
          </a:p>
        </p:txBody>
      </p:sp>
      <p:sp>
        <p:nvSpPr>
          <p:cNvPr id="3" name="Text 1"/>
          <p:cNvSpPr txBox="1"/>
          <p:nvPr/>
        </p:nvSpPr>
        <p:spPr>
          <a:xfrm>
            <a:off x="548640" y="1005840"/>
            <a:ext cx="11064240" cy="822960"/>
          </a:xfrm>
          <a:prstGeom prst="rect">
            <a:avLst/>
          </a:prstGeom>
          <a:noFill/>
          <a:ln/>
        </p:spPr>
        <p:txBody>
          <a:bodyPr wrap="square" rtlCol="0" anchor="t"/>
          <a:lstStyle/>
          <a:p>
            <a:pPr indent="0" marL="0">
              <a:buNone/>
            </a:pPr>
            <a:r>
              <a:rPr lang="en-US" sz="1800" dirty="0">
                <a:solidFill>
                  <a:srgbClr val="1F2429"/>
                </a:solidFill>
                <a:latin typeface="Calibri" pitchFamily="34" charset="0"/>
                <a:ea typeface="Calibri" pitchFamily="34" charset="-122"/>
                <a:cs typeface="Calibri" pitchFamily="34" charset="-120"/>
              </a:rPr>
              <a:t>A relational database schema is the full structural design: every relation schema (names, attributes, domains, keys) plus every integrity constraint (Lecture 6). The actual rows at any moment are the instance (extension).</a:t>
            </a:r>
            <a:endParaRPr lang="en-US" sz="1800" dirty="0"/>
          </a:p>
        </p:txBody>
      </p:sp>
      <p:sp>
        <p:nvSpPr>
          <p:cNvPr id="4" name="Shape 2"/>
          <p:cNvSpPr/>
          <p:nvPr/>
        </p:nvSpPr>
        <p:spPr>
          <a:xfrm>
            <a:off x="1280160" y="2286000"/>
            <a:ext cx="4572000" cy="1371600"/>
          </a:xfrm>
          <a:prstGeom prst="roundRect">
            <a:avLst>
              <a:gd name="adj" fmla="val 4667"/>
            </a:avLst>
          </a:prstGeom>
          <a:solidFill>
            <a:srgbClr val="2FE6C4"/>
          </a:solidFill>
          <a:ln/>
        </p:spPr>
      </p:sp>
      <p:sp>
        <p:nvSpPr>
          <p:cNvPr id="5" name="Text 3"/>
          <p:cNvSpPr txBox="1"/>
          <p:nvPr/>
        </p:nvSpPr>
        <p:spPr>
          <a:xfrm>
            <a:off x="1417320" y="2359152"/>
            <a:ext cx="4297680" cy="1225296"/>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Schema (intension)</a:t>
            </a:r>
            <a:endParaRPr lang="en-US" sz="1800" dirty="0"/>
          </a:p>
          <a:p>
            <a:pPr algn="l" indent="0" marL="0">
              <a:buNone/>
            </a:pPr>
            <a:r>
              <a:rPr lang="en-US" sz="1800" dirty="0">
                <a:solidFill>
                  <a:srgbClr val="F1F3F4"/>
                </a:solidFill>
                <a:latin typeface="Calibri" pitchFamily="34" charset="0"/>
                <a:ea typeface="Calibri" pitchFamily="34" charset="-122"/>
                <a:cs typeface="Calibri" pitchFamily="34" charset="-120"/>
              </a:rPr>
              <a:t>Relation names, attributes, domains, keys — the design, changes rarely</a:t>
            </a:r>
            <a:endParaRPr lang="en-US" sz="1800" dirty="0"/>
          </a:p>
        </p:txBody>
      </p:sp>
      <p:sp>
        <p:nvSpPr>
          <p:cNvPr id="6" name="Shape 4"/>
          <p:cNvSpPr/>
          <p:nvPr/>
        </p:nvSpPr>
        <p:spPr>
          <a:xfrm>
            <a:off x="5870448" y="2871216"/>
            <a:ext cx="420624" cy="201168"/>
          </a:xfrm>
          <a:prstGeom prst="rightArrow">
            <a:avLst/>
          </a:prstGeom>
          <a:solidFill>
            <a:srgbClr val="C7CBCF"/>
          </a:solidFill>
          <a:ln/>
        </p:spPr>
      </p:sp>
      <p:sp>
        <p:nvSpPr>
          <p:cNvPr id="7" name="Shape 5"/>
          <p:cNvSpPr/>
          <p:nvPr/>
        </p:nvSpPr>
        <p:spPr>
          <a:xfrm>
            <a:off x="6309360" y="2286000"/>
            <a:ext cx="4572000" cy="1371600"/>
          </a:xfrm>
          <a:prstGeom prst="roundRect">
            <a:avLst>
              <a:gd name="adj" fmla="val 4667"/>
            </a:avLst>
          </a:prstGeom>
          <a:solidFill>
            <a:srgbClr val="E8A33D"/>
          </a:solidFill>
          <a:ln/>
        </p:spPr>
      </p:sp>
      <p:sp>
        <p:nvSpPr>
          <p:cNvPr id="8" name="Text 6"/>
          <p:cNvSpPr txBox="1"/>
          <p:nvPr/>
        </p:nvSpPr>
        <p:spPr>
          <a:xfrm>
            <a:off x="6446520" y="2359152"/>
            <a:ext cx="4297680" cy="1225296"/>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Instance (extension)</a:t>
            </a:r>
            <a:endParaRPr lang="en-US" sz="1800" dirty="0"/>
          </a:p>
          <a:p>
            <a:pPr algn="l" indent="0" marL="0">
              <a:buNone/>
            </a:pPr>
            <a:r>
              <a:rPr lang="en-US" sz="1800" dirty="0">
                <a:solidFill>
                  <a:srgbClr val="F1F3F4"/>
                </a:solidFill>
                <a:latin typeface="Calibri" pitchFamily="34" charset="0"/>
                <a:ea typeface="Calibri" pitchFamily="34" charset="-122"/>
                <a:cs typeface="Calibri" pitchFamily="34" charset="-120"/>
              </a:rPr>
              <a:t>The actual tuples present right now — changes on every insert/update/delete</a:t>
            </a:r>
            <a:endParaRPr lang="en-US" sz="1800" dirty="0"/>
          </a:p>
        </p:txBody>
      </p:sp>
      <p:sp>
        <p:nvSpPr>
          <p:cNvPr id="9" name="Text 7"/>
          <p:cNvSpPr txBox="1"/>
          <p:nvPr/>
        </p:nvSpPr>
        <p:spPr>
          <a:xfrm>
            <a:off x="548640" y="4206240"/>
            <a:ext cx="11064240" cy="548640"/>
          </a:xfrm>
          <a:prstGeom prst="rect">
            <a:avLst/>
          </a:prstGeom>
          <a:noFill/>
          <a:ln/>
        </p:spPr>
        <p:txBody>
          <a:bodyPr wrap="square" rtlCol="0" anchor="ctr"/>
          <a:lstStyle/>
          <a:p>
            <a:pPr indent="0" marL="0">
              <a:buNone/>
            </a:pPr>
            <a:r>
              <a:rPr lang="en-US" sz="1800" i="1" dirty="0">
                <a:solidFill>
                  <a:srgbClr val="8B7FD9"/>
                </a:solidFill>
                <a:latin typeface="Calibri" pitchFamily="34" charset="0"/>
                <a:ea typeface="Calibri" pitchFamily="34" charset="-122"/>
                <a:cs typeface="Calibri" pitchFamily="34" charset="-120"/>
              </a:rPr>
              <a:t>By Lecture 8 the rental agency’s schema grows to include PropertyForRent, PrivateOwner, and Client — giving the relational-algebra examples something richer to query.</a:t>
            </a:r>
            <a:endParaRPr lang="en-US" sz="1800" dirty="0"/>
          </a:p>
        </p:txBody>
      </p:sp>
      <p:sp>
        <p:nvSpPr>
          <p:cNvPr id="10" name="Text 8"/>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Writing a Relation Schema</a:t>
            </a:r>
            <a:endParaRPr lang="en-US" sz="2600" dirty="0"/>
          </a:p>
        </p:txBody>
      </p:sp>
      <p:sp>
        <p:nvSpPr>
          <p:cNvPr id="3" name="Shape 1"/>
          <p:cNvSpPr/>
          <p:nvPr/>
        </p:nvSpPr>
        <p:spPr>
          <a:xfrm>
            <a:off x="548640" y="1097280"/>
            <a:ext cx="11064240" cy="640080"/>
          </a:xfrm>
          <a:prstGeom prst="roundRect">
            <a:avLst>
              <a:gd name="adj" fmla="val 11429"/>
            </a:avLst>
          </a:prstGeom>
          <a:solidFill>
            <a:srgbClr val="14181C"/>
          </a:solidFill>
          <a:ln/>
        </p:spPr>
      </p:sp>
      <p:sp>
        <p:nvSpPr>
          <p:cNvPr id="4" name="Text 2"/>
          <p:cNvSpPr txBox="1"/>
          <p:nvPr/>
        </p:nvSpPr>
        <p:spPr>
          <a:xfrm>
            <a:off x="777240" y="1097280"/>
            <a:ext cx="10607040" cy="640080"/>
          </a:xfrm>
          <a:prstGeom prst="rect">
            <a:avLst/>
          </a:prstGeom>
          <a:noFill/>
          <a:ln/>
        </p:spPr>
        <p:txBody>
          <a:bodyPr wrap="square" lIns="0" tIns="0" rIns="0" bIns="0" rtlCol="0" anchor="ctr"/>
          <a:lstStyle/>
          <a:p>
            <a:pPr algn="l" indent="0" marL="0">
              <a:buNone/>
            </a:pPr>
            <a:r>
              <a:rPr lang="en-US" sz="1800" b="1" dirty="0">
                <a:solidFill>
                  <a:srgbClr val="2FE6C4"/>
                </a:solidFill>
                <a:latin typeface="Courier New" pitchFamily="34" charset="0"/>
                <a:ea typeface="Courier New" pitchFamily="34" charset="-122"/>
                <a:cs typeface="Courier New" pitchFamily="34" charset="-120"/>
              </a:rPr>
              <a:t>RelationName (attribute1, attribute2, ..., attributeN)</a:t>
            </a:r>
            <a:endParaRPr lang="en-US" sz="1800" dirty="0"/>
          </a:p>
        </p:txBody>
      </p:sp>
      <p:sp>
        <p:nvSpPr>
          <p:cNvPr id="5" name="Text 3"/>
          <p:cNvSpPr txBox="1"/>
          <p:nvPr/>
        </p:nvSpPr>
        <p:spPr>
          <a:xfrm>
            <a:off x="548640" y="1874520"/>
            <a:ext cx="11064240" cy="365760"/>
          </a:xfrm>
          <a:prstGeom prst="rect">
            <a:avLst/>
          </a:prstGeom>
          <a:noFill/>
          <a:ln/>
        </p:spPr>
        <p:txBody>
          <a:bodyPr wrap="square" rtlCol="0" anchor="ctr"/>
          <a:lstStyle/>
          <a:p>
            <a:pPr indent="0" marL="0">
              <a:buNone/>
            </a:pPr>
            <a:r>
              <a:rPr lang="en-US" sz="1800" dirty="0">
                <a:solidFill>
                  <a:srgbClr val="4A5259"/>
                </a:solidFill>
                <a:latin typeface="Calibri" pitchFamily="34" charset="0"/>
                <a:ea typeface="Calibri" pitchFamily="34" charset="-122"/>
                <a:cs typeface="Calibri" pitchFamily="34" charset="-120"/>
              </a:rPr>
              <a:t>Primary key underlined; foreign keys marked in italics or called out explicitly.</a:t>
            </a:r>
            <a:endParaRPr lang="en-US" sz="1800" dirty="0"/>
          </a:p>
        </p:txBody>
      </p:sp>
      <p:sp>
        <p:nvSpPr>
          <p:cNvPr id="6" name="Shape 4"/>
          <p:cNvSpPr/>
          <p:nvPr/>
        </p:nvSpPr>
        <p:spPr>
          <a:xfrm>
            <a:off x="548640" y="2423160"/>
            <a:ext cx="5394960" cy="777240"/>
          </a:xfrm>
          <a:prstGeom prst="roundRect">
            <a:avLst>
              <a:gd name="adj" fmla="val 12308"/>
            </a:avLst>
          </a:prstGeom>
          <a:solidFill>
            <a:srgbClr val="14181C"/>
          </a:solidFill>
          <a:ln/>
        </p:spPr>
      </p:sp>
      <p:sp>
        <p:nvSpPr>
          <p:cNvPr id="7" name="Text 5"/>
          <p:cNvSpPr txBox="1"/>
          <p:nvPr/>
        </p:nvSpPr>
        <p:spPr>
          <a:xfrm>
            <a:off x="777240" y="2423160"/>
            <a:ext cx="4937760" cy="777240"/>
          </a:xfrm>
          <a:prstGeom prst="rect">
            <a:avLst/>
          </a:prstGeom>
          <a:noFill/>
          <a:ln/>
        </p:spPr>
        <p:txBody>
          <a:bodyPr wrap="square" lIns="0" tIns="0" rIns="0" bIns="0" rtlCol="0" anchor="ctr"/>
          <a:lstStyle/>
          <a:p>
            <a:pPr algn="l" indent="0" marL="0">
              <a:buNone/>
            </a:pPr>
            <a:r>
              <a:rPr lang="en-US" sz="1800" b="1" dirty="0">
                <a:solidFill>
                  <a:srgbClr val="2FE6C4"/>
                </a:solidFill>
                <a:latin typeface="Courier New" pitchFamily="34" charset="0"/>
                <a:ea typeface="Courier New" pitchFamily="34" charset="-122"/>
                <a:cs typeface="Courier New" pitchFamily="34" charset="-120"/>
              </a:rPr>
              <a:t>Branch (branchNo, street, city, postcode)</a:t>
            </a:r>
            <a:endParaRPr lang="en-US" sz="1800" dirty="0"/>
          </a:p>
        </p:txBody>
      </p:sp>
      <p:sp>
        <p:nvSpPr>
          <p:cNvPr id="8" name="Shape 6"/>
          <p:cNvSpPr/>
          <p:nvPr/>
        </p:nvSpPr>
        <p:spPr>
          <a:xfrm>
            <a:off x="6126480" y="2423160"/>
            <a:ext cx="5486400" cy="777240"/>
          </a:xfrm>
          <a:prstGeom prst="roundRect">
            <a:avLst>
              <a:gd name="adj" fmla="val 12308"/>
            </a:avLst>
          </a:prstGeom>
          <a:solidFill>
            <a:srgbClr val="14181C"/>
          </a:solidFill>
          <a:ln/>
        </p:spPr>
      </p:sp>
      <p:sp>
        <p:nvSpPr>
          <p:cNvPr id="9" name="Text 7"/>
          <p:cNvSpPr txBox="1"/>
          <p:nvPr/>
        </p:nvSpPr>
        <p:spPr>
          <a:xfrm>
            <a:off x="6355080" y="2423160"/>
            <a:ext cx="5029200" cy="777240"/>
          </a:xfrm>
          <a:prstGeom prst="rect">
            <a:avLst/>
          </a:prstGeom>
          <a:noFill/>
          <a:ln/>
        </p:spPr>
        <p:txBody>
          <a:bodyPr wrap="square" lIns="0" tIns="0" rIns="0" bIns="0" rtlCol="0" anchor="ctr"/>
          <a:lstStyle/>
          <a:p>
            <a:pPr algn="l" indent="0" marL="0">
              <a:buNone/>
            </a:pPr>
            <a:r>
              <a:rPr lang="en-US" sz="1800" b="1" dirty="0">
                <a:solidFill>
                  <a:srgbClr val="2FE6C4"/>
                </a:solidFill>
                <a:latin typeface="Courier New" pitchFamily="34" charset="0"/>
                <a:ea typeface="Courier New" pitchFamily="34" charset="-122"/>
                <a:cs typeface="Courier New" pitchFamily="34" charset="-120"/>
              </a:rPr>
              <a:t>Staff (staffNo, name, position,</a:t>
            </a:r>
            <a:endParaRPr lang="en-US" sz="1800" dirty="0"/>
          </a:p>
          <a:p>
            <a:pPr algn="l" indent="0" marL="0">
              <a:buNone/>
            </a:pPr>
            <a:r>
              <a:rPr lang="en-US" sz="1800" b="1" dirty="0">
                <a:solidFill>
                  <a:srgbClr val="2FE6C4"/>
                </a:solidFill>
                <a:latin typeface="Courier New" pitchFamily="34" charset="0"/>
                <a:ea typeface="Courier New" pitchFamily="34" charset="-122"/>
                <a:cs typeface="Courier New" pitchFamily="34" charset="-120"/>
              </a:rPr>
              <a:t>       salary, branchNo)</a:t>
            </a:r>
            <a:endParaRPr lang="en-US" sz="1800" dirty="0"/>
          </a:p>
        </p:txBody>
      </p:sp>
      <p:sp>
        <p:nvSpPr>
          <p:cNvPr id="10" name="Shape 8"/>
          <p:cNvSpPr/>
          <p:nvPr/>
        </p:nvSpPr>
        <p:spPr>
          <a:xfrm>
            <a:off x="548640" y="3291840"/>
            <a:ext cx="11064240" cy="1417320"/>
          </a:xfrm>
          <a:prstGeom prst="roundRect">
            <a:avLst>
              <a:gd name="adj" fmla="val 5161"/>
            </a:avLst>
          </a:prstGeom>
          <a:solidFill>
            <a:srgbClr val="FFFFFF"/>
          </a:solidFill>
          <a:ln w="12700">
            <a:solidFill>
              <a:srgbClr val="E1E4E8"/>
            </a:solidFill>
            <a:prstDash val="solid"/>
          </a:ln>
        </p:spPr>
      </p:sp>
      <p:sp>
        <p:nvSpPr>
          <p:cNvPr id="11" name="Text 9"/>
          <p:cNvSpPr txBox="1"/>
          <p:nvPr/>
        </p:nvSpPr>
        <p:spPr>
          <a:xfrm>
            <a:off x="822960" y="3401568"/>
            <a:ext cx="5486400" cy="320040"/>
          </a:xfrm>
          <a:prstGeom prst="rect">
            <a:avLst/>
          </a:prstGeom>
          <a:noFill/>
          <a:ln/>
        </p:spPr>
        <p:txBody>
          <a:bodyPr wrap="square" rtlCol="0" anchor="ctr"/>
          <a:lstStyle/>
          <a:p>
            <a:pPr indent="0" marL="0">
              <a:buNone/>
            </a:pPr>
            <a:r>
              <a:rPr lang="en-US" sz="1800" b="1" dirty="0">
                <a:solidFill>
                  <a:srgbClr val="1F2429"/>
                </a:solidFill>
                <a:latin typeface="Calibri" pitchFamily="34" charset="0"/>
                <a:ea typeface="Calibri" pitchFamily="34" charset="-122"/>
                <a:cs typeface="Calibri" pitchFamily="34" charset="-120"/>
              </a:rPr>
              <a:t>Calling out a foreign key explicitly:</a:t>
            </a:r>
            <a:endParaRPr lang="en-US" sz="1800" dirty="0"/>
          </a:p>
        </p:txBody>
      </p:sp>
      <p:sp>
        <p:nvSpPr>
          <p:cNvPr id="12" name="Text 10"/>
          <p:cNvSpPr txBox="1"/>
          <p:nvPr/>
        </p:nvSpPr>
        <p:spPr>
          <a:xfrm>
            <a:off x="822960" y="3749040"/>
            <a:ext cx="10515600" cy="868680"/>
          </a:xfrm>
          <a:prstGeom prst="rect">
            <a:avLst/>
          </a:prstGeom>
          <a:noFill/>
          <a:ln/>
        </p:spPr>
        <p:txBody>
          <a:bodyPr wrap="square" rtlCol="0" anchor="t"/>
          <a:lstStyle/>
          <a:p>
            <a:pPr indent="0" marL="0">
              <a:buNone/>
            </a:pPr>
            <a:r>
              <a:rPr lang="en-US" sz="1800" dirty="0">
                <a:solidFill>
                  <a:srgbClr val="1F2429"/>
                </a:solidFill>
                <a:latin typeface="Courier New" pitchFamily="34" charset="0"/>
                <a:ea typeface="Courier New" pitchFamily="34" charset="-122"/>
                <a:cs typeface="Courier New" pitchFamily="34" charset="-120"/>
              </a:rPr>
              <a:t>Staff (staffNo, name, position, salary, branchNo)</a:t>
            </a:r>
            <a:endParaRPr lang="en-US" sz="1800" dirty="0"/>
          </a:p>
          <a:p>
            <a:pPr indent="0" marL="0">
              <a:buNone/>
            </a:pPr>
            <a:r>
              <a:rPr lang="en-US" sz="1800" dirty="0">
                <a:solidFill>
                  <a:srgbClr val="1F2429"/>
                </a:solidFill>
                <a:latin typeface="Courier New" pitchFamily="34" charset="0"/>
                <a:ea typeface="Courier New" pitchFamily="34" charset="-122"/>
                <a:cs typeface="Courier New" pitchFamily="34" charset="-120"/>
              </a:rPr>
              <a:t>    Foreign Key branchNo references Branch(branchNo)</a:t>
            </a:r>
            <a:endParaRPr lang="en-US" sz="1800" dirty="0"/>
          </a:p>
        </p:txBody>
      </p:sp>
      <p:sp>
        <p:nvSpPr>
          <p:cNvPr id="13" name="Text 11"/>
          <p:cNvSpPr txBox="1"/>
          <p:nvPr/>
        </p:nvSpPr>
        <p:spPr>
          <a:xfrm>
            <a:off x="548640" y="4983480"/>
            <a:ext cx="11064240" cy="548640"/>
          </a:xfrm>
          <a:prstGeom prst="rect">
            <a:avLst/>
          </a:prstGeom>
          <a:noFill/>
          <a:ln/>
        </p:spPr>
        <p:txBody>
          <a:bodyPr wrap="square" rtlCol="0" anchor="ctr"/>
          <a:lstStyle/>
          <a:p>
            <a:pPr indent="0" marL="0">
              <a:buNone/>
            </a:pPr>
            <a:r>
              <a:rPr lang="en-US" sz="1800" i="1" dirty="0">
                <a:solidFill>
                  <a:srgbClr val="8B7FD9"/>
                </a:solidFill>
                <a:latin typeface="Calibri" pitchFamily="34" charset="0"/>
                <a:ea typeface="Calibri" pitchFamily="34" charset="-122"/>
                <a:cs typeface="Calibri" pitchFamily="34" charset="-120"/>
              </a:rPr>
              <a:t>Memorize this notation cold — every relational-algebra expression from Lecture 7 onward operates on relations named exactly this way.</a:t>
            </a:r>
            <a:endParaRPr lang="en-US" sz="1800" dirty="0"/>
          </a:p>
        </p:txBody>
      </p:sp>
      <p:sp>
        <p:nvSpPr>
          <p:cNvPr id="14" name="Text 1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058400" cy="457200"/>
          </a:xfrm>
          <a:prstGeom prst="rect">
            <a:avLst/>
          </a:prstGeom>
          <a:noFill/>
          <a:ln/>
        </p:spPr>
        <p:txBody>
          <a:bodyPr wrap="square" rtlCol="0" anchor="ctr"/>
          <a:lstStyle/>
          <a:p>
            <a:pPr indent="0" marL="0">
              <a:buNone/>
            </a:pPr>
            <a:r>
              <a:rPr lang="en-US" sz="1800" b="1" spc="300" kern="0" dirty="0">
                <a:solidFill>
                  <a:srgbClr val="2FE6C4"/>
                </a:solidFill>
                <a:latin typeface="Calibri" pitchFamily="34" charset="0"/>
                <a:ea typeface="Calibri" pitchFamily="34" charset="-122"/>
                <a:cs typeface="Calibri" pitchFamily="34" charset="-120"/>
              </a:rPr>
              <a:t>KEY TAKEAWAYS</a:t>
            </a:r>
            <a:endParaRPr lang="en-US" sz="1800" dirty="0"/>
          </a:p>
        </p:txBody>
      </p:sp>
      <p:sp>
        <p:nvSpPr>
          <p:cNvPr id="3" name="Text 1"/>
          <p:cNvSpPr txBox="1"/>
          <p:nvPr/>
        </p:nvSpPr>
        <p:spPr>
          <a:xfrm>
            <a:off x="822960" y="1051560"/>
            <a:ext cx="10332720"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Relational Model</a:t>
            </a:r>
            <a:endParaRPr lang="en-US" sz="2400" dirty="0"/>
          </a:p>
        </p:txBody>
      </p:sp>
      <p:sp>
        <p:nvSpPr>
          <p:cNvPr id="4" name="Text 2"/>
          <p:cNvSpPr txBox="1"/>
          <p:nvPr/>
        </p:nvSpPr>
        <p:spPr>
          <a:xfrm>
            <a:off x="822960" y="1965960"/>
            <a:ext cx="10332720" cy="429768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E7EAED"/>
                </a:solidFill>
                <a:latin typeface="Calibri" pitchFamily="34" charset="0"/>
                <a:ea typeface="Calibri" pitchFamily="34" charset="-122"/>
                <a:cs typeface="Calibri" pitchFamily="34" charset="-120"/>
              </a:rPr>
              <a:t>The relational model represents data as named, independent tables linked purely through shared attribute values — no pointers, no nesting.</a:t>
            </a:r>
            <a:endParaRPr lang="en-US" sz="1800" dirty="0"/>
          </a:p>
          <a:p>
            <a:pPr marL="228600" indent="-228600">
              <a:spcAft>
                <a:spcPts val="1600"/>
              </a:spcAft>
              <a:buSzPct val="100000"/>
              <a:buChar char="•"/>
            </a:pPr>
            <a:r>
              <a:rPr lang="en-US" sz="1800" dirty="0">
                <a:solidFill>
                  <a:srgbClr val="E7EAED"/>
                </a:solidFill>
                <a:latin typeface="Calibri" pitchFamily="34" charset="0"/>
                <a:ea typeface="Calibri" pitchFamily="34" charset="-122"/>
                <a:cs typeface="Calibri" pitchFamily="34" charset="-120"/>
              </a:rPr>
              <a:t>A relation is a named set of tuples over fixed named attributes; degree = attribute count, cardinality = current tuple count.</a:t>
            </a:r>
            <a:endParaRPr lang="en-US" sz="1800" dirty="0"/>
          </a:p>
          <a:p>
            <a:pPr marL="228600" indent="-228600">
              <a:spcAft>
                <a:spcPts val="1600"/>
              </a:spcAft>
              <a:buSzPct val="100000"/>
              <a:buChar char="•"/>
            </a:pPr>
            <a:r>
              <a:rPr lang="en-US" sz="1800" dirty="0">
                <a:solidFill>
                  <a:srgbClr val="E7EAED"/>
                </a:solidFill>
                <a:latin typeface="Calibri" pitchFamily="34" charset="0"/>
                <a:ea typeface="Calibri" pitchFamily="34" charset="-122"/>
                <a:cs typeface="Calibri" pitchFamily="34" charset="-120"/>
              </a:rPr>
              <a:t>Database relations tighten mathematical relations: no duplicate tuples, no meaningful order, every value atomic.</a:t>
            </a:r>
            <a:endParaRPr lang="en-US" sz="1800" dirty="0"/>
          </a:p>
          <a:p>
            <a:pPr marL="228600" indent="-228600">
              <a:spcAft>
                <a:spcPts val="1600"/>
              </a:spcAft>
              <a:buSzPct val="100000"/>
              <a:buChar char="•"/>
            </a:pPr>
            <a:r>
              <a:rPr lang="en-US" sz="1800" dirty="0">
                <a:solidFill>
                  <a:srgbClr val="E7EAED"/>
                </a:solidFill>
                <a:latin typeface="Calibri" pitchFamily="34" charset="0"/>
                <a:ea typeface="Calibri" pitchFamily="34" charset="-122"/>
                <a:cs typeface="Calibri" pitchFamily="34" charset="-120"/>
              </a:rPr>
              <a:t>The key hierarchy nests: candidate key is a minimal superkey; primary key is the chosen candidate key; unchosen ones are alternate keys; a foreign key reproduces another relation's primary key.</a:t>
            </a:r>
            <a:endParaRPr lang="en-US" sz="1800" dirty="0"/>
          </a:p>
          <a:p>
            <a:pPr marL="228600" indent="-228600">
              <a:spcAft>
                <a:spcPts val="1600"/>
              </a:spcAft>
              <a:buSzPct val="100000"/>
              <a:buChar char="•"/>
            </a:pPr>
            <a:r>
              <a:rPr lang="en-US" sz="1800" dirty="0">
                <a:solidFill>
                  <a:srgbClr val="E7EAED"/>
                </a:solidFill>
                <a:latin typeface="Calibri" pitchFamily="34" charset="0"/>
                <a:ea typeface="Calibri" pitchFamily="34" charset="-122"/>
                <a:cs typeface="Calibri" pitchFamily="34" charset="-120"/>
              </a:rPr>
              <a:t>A schema is the full structural design; the instance is the actual rows present right now. Schemas are written Relation(attr1, attr2, ...) with the primary key underlined.</a:t>
            </a:r>
            <a:endParaRPr lang="en-US" sz="1800" dirty="0"/>
          </a:p>
        </p:txBody>
      </p:sp>
      <p:sp>
        <p:nvSpPr>
          <p:cNvPr id="5" name="Text 3"/>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22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hy the Relational Model Won">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Why the Relational Model Won</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Before 1970, finding “every property managed by branch B003” required already knowing the physical storage path to the data — hard-coded into the application.</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Codd’s insight: a table plus a shared key value (branchNo) answers that question declaratively — you state what you want, and the query language figures out how to get it.</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That separation of “what” from “how” is the foundation Lecture 7’s relational algebra — and later, SQL — are built on.</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Proposed by E. F. Codd in 1970, “A Relational Model of Data for Large Shared Data Banks” — replacing rigid hierarchical and network models that forced hand-coded navigation paths.</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Worked Example: Reading Degree and Cardinality">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Worked Example: Reading Degree and Cardinality</a:t>
            </a:r>
            <a:endParaRPr lang="en-US" sz="1800" dirty="0"/>
          </a:p>
        </p:txBody>
      </p:sp>
      <p:sp>
        <p:nvSpPr>
          <p:cNvPr id="3" name="Text"/>
          <p:cNvSpPr txBox="1"/>
          <p:nvPr/>
        </p:nvSpPr>
        <p:spPr>
          <a:xfrm>
            <a:off x="548640" y="1097280"/>
            <a:ext cx="11094720" cy="32000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Branch (branchNo, street, city, postcode)</a:t>
            </a:r>
            <a:endParaRPr lang="en-US" sz="1800" dirty="0"/>
          </a:p>
        </p:txBody>
      </p:sp>
      <p:graphicFrame>
        <p:nvGraphicFramePr>
          <p:cNvPr id="4" name="Table"/>
          <p:cNvGraphicFramePr>
            <a:graphicFrameLocks noGrp="1"/>
          </p:cNvGraphicFramePr>
          <p:nvPr/>
        </p:nvGraphicFramePr>
        <p:xfrm>
          <a:off x="548640" y="1467280"/>
          <a:ext cx="11094720" cy="1680000"/>
        </p:xfrm>
        <a:graphic>
          <a:graphicData uri="http://schemas.openxmlformats.org/drawingml/2006/table">
            <a:tbl>
              <a:tblPr firstRow="1" bandRow="1"/>
              <a:tblGrid>
                <a:gridCol w="2773680"/>
                <a:gridCol w="2773680"/>
                <a:gridCol w="2773680"/>
                <a:gridCol w="2773680"/>
              </a:tblGrid>
              <a:tr h="4200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branchNo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street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city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postcode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163 Main St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Lahore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54000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22 Deer Rd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Karachi</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74200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16 Argyll St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Islamabad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44000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5" name="Text body"/>
          <p:cNvSpPr txBox="1"/>
          <p:nvPr/>
        </p:nvSpPr>
        <p:spPr>
          <a:xfrm>
            <a:off x="598640" y="3397280"/>
            <a:ext cx="11044720" cy="29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Step 1 — count the columns: branchNo, street, city, postcode → 4 attributes → degree = 4.</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Step 2 — count the rows: B003, B005, B007 → 3 tuples right now → cardinality = 3.</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Compare to Staff: 5 attributes (degree 5), 5 tuples today (cardinality 5) — different relations can have completely different degree and cardinality.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Cardinality changes the moment a new branch opens; degree only changes if the table’s structure itself is altered (ALTER TABLE).</a:t>
            </a:r>
            <a:endParaRPr lang="en-US" sz="1800" dirty="0"/>
          </a:p>
        </p:txBody>
      </p:sp>
      <p:sp>
        <p:nvSpPr>
          <p:cNvPr id="6"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Worked Example: A Relvar Changes Over Time">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Worked Example: A Relvar Changes Over Time</a:t>
            </a:r>
            <a:endParaRPr lang="en-US" sz="1800" dirty="0"/>
          </a:p>
        </p:txBody>
      </p:sp>
      <p:sp>
        <p:nvSpPr>
          <p:cNvPr id="3" name="Text"/>
          <p:cNvSpPr txBox="1"/>
          <p:nvPr/>
        </p:nvSpPr>
        <p:spPr>
          <a:xfrm>
            <a:off x="548640" y="1097280"/>
            <a:ext cx="11094720" cy="32000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Staff — tomorrow, after HR hires Zara Malik (SG50)</a:t>
            </a:r>
            <a:endParaRPr lang="en-US" sz="1800" dirty="0"/>
          </a:p>
        </p:txBody>
      </p:sp>
      <p:graphicFrame>
        <p:nvGraphicFramePr>
          <p:cNvPr id="4" name="Table"/>
          <p:cNvGraphicFramePr>
            <a:graphicFrameLocks noGrp="1"/>
          </p:cNvGraphicFramePr>
          <p:nvPr/>
        </p:nvGraphicFramePr>
        <p:xfrm>
          <a:off x="548640" y="1467280"/>
          <a:ext cx="11094720" cy="2940000"/>
        </p:xfrm>
        <a:graphic>
          <a:graphicData uri="http://schemas.openxmlformats.org/drawingml/2006/table">
            <a:tbl>
              <a:tblPr firstRow="1" bandRow="1"/>
              <a:tblGrid>
                <a:gridCol w="2218944"/>
                <a:gridCol w="2218944"/>
                <a:gridCol w="2218944"/>
                <a:gridCol w="2218944"/>
                <a:gridCol w="2218944"/>
              </a:tblGrid>
              <a:tr h="4200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staffNo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position</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salary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branchNo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SL21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John White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30000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SG37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Ann Beech</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12000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SG14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David Ford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Supervisor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18000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SA9</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Mary Howe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9000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SL41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Julie Lee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Manager</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22000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SG50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Zara Malik</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Assistant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11000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B005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5" name="Text body"/>
          <p:cNvSpPr txBox="1"/>
          <p:nvPr/>
        </p:nvSpPr>
        <p:spPr>
          <a:xfrm>
            <a:off x="598640" y="4657280"/>
            <a:ext cx="11044720" cy="165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The Staff relvar is the same CREATE TABLE structure over time; a Staff relation is just one instant’s snapshot of values.</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Today’s snapshot: cardinality 5. Tomorrow’s snapshot, after the new hire: cardinality 6 — a new relation value, same relvar.</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Degree never changed: still 5 attributes (staffNo, name, position, salary, branchNo) before and after.</a:t>
            </a:r>
            <a:endParaRPr lang="en-US" sz="1800" dirty="0"/>
          </a:p>
        </p:txBody>
      </p:sp>
      <p:sp>
        <p:nvSpPr>
          <p:cNvPr id="6"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orked Example: Fixing an Atomicity Violation">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Worked Example: Fixing an Atomicity Violation</a:t>
            </a:r>
            <a:endParaRPr lang="en-US" sz="1800" dirty="0"/>
          </a:p>
        </p:txBody>
      </p:sp>
      <p:sp>
        <p:nvSpPr>
          <p:cNvPr id="3" name="Text"/>
          <p:cNvSpPr txBox="1"/>
          <p:nvPr/>
        </p:nvSpPr>
        <p:spPr>
          <a:xfrm>
            <a:off x="548640" y="1097280"/>
            <a:ext cx="11094720" cy="320000"/>
          </a:xfrm>
          <a:prstGeom prst="rect">
            <a:avLst/>
          </a:prstGeom>
          <a:noFill/>
          <a:ln/>
        </p:spPr>
        <p:txBody>
          <a:bodyPr wrap="square" lIns="0" tIns="0" rIns="0" bIns="0" rtlCol="0" anchor="t"/>
          <a:lstStyle/>
          <a:p>
            <a:pPr indent="0" marL="0">
              <a:spcAft>
                <a:spcPts val="200"/>
              </a:spcAft>
              <a:buNone/>
            </a:pPr>
            <a:r>
              <a:rPr lang="en-US" sz="1800" b="1" dirty="0">
                <a:solidFill>
                  <a:srgbClr val="1F2429"/>
                </a:solidFill>
                <a:latin typeface="Calibri" pitchFamily="34" charset="0"/>
                <a:ea typeface="Calibri" pitchFamily="34" charset="-122"/>
                <a:cs typeface="Calibri" pitchFamily="34" charset="-120"/>
              </a:rPr>
              <a:t>Before — violates atomicity</a:t>
            </a:r>
            <a:endParaRPr lang="en-US" sz="1800" dirty="0"/>
          </a:p>
        </p:txBody>
      </p:sp>
      <p:graphicFrame>
        <p:nvGraphicFramePr>
          <p:cNvPr id="4" name="Table"/>
          <p:cNvGraphicFramePr>
            <a:graphicFrameLocks noGrp="1"/>
          </p:cNvGraphicFramePr>
          <p:nvPr/>
        </p:nvGraphicFramePr>
        <p:xfrm>
          <a:off x="548640" y="1467280"/>
          <a:ext cx="11094720" cy="840000"/>
        </p:xfrm>
        <a:graphic>
          <a:graphicData uri="http://schemas.openxmlformats.org/drawingml/2006/table">
            <a:tbl>
              <a:tblPr firstRow="1" bandRow="1"/>
              <a:tblGrid>
                <a:gridCol w="3698240"/>
                <a:gridCol w="3698240"/>
                <a:gridCol w="3698240"/>
              </a:tblGrid>
              <a:tr h="4200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ownerNo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telNo</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42000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CO46</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Joe Keogh</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042-121-1121, 042-121-1122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5" name="Text body"/>
          <p:cNvSpPr txBox="1"/>
          <p:nvPr/>
        </p:nvSpPr>
        <p:spPr>
          <a:xfrm>
            <a:off x="598640" y="2557280"/>
            <a:ext cx="11044720" cy="375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Packing “042-121-1121, 042-121-1122” into one telNo cell looks harmless, but it violates atomicity: the DBMS can’t search, index, or constrain “one phone number” without parsing the string yourself.</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Fix: pull phone numbers into their own relation — ClientPhone(clientNo, telNo) — one tuple per number, each one a first-class, queryable value.</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Trade-off: one extra table in exchange for real atomicity. This exact trade-off is what normalization (Unit 5) teaches you to reason about formally.</a:t>
            </a:r>
            <a:endParaRPr lang="en-US" sz="1800" dirty="0"/>
          </a:p>
        </p:txBody>
      </p:sp>
      <p:sp>
        <p:nvSpPr>
          <p:cNvPr id="6"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Recap: Spot the Violation">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Recap: Spot the Violation</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Two identical Staff rows get inserted by a buggy script → breaks Rule 2 (no duplicate tuples) — a relation is a true set.</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A clerk records position as “Manager, Assistant” in one cell for a staff member with two roles → breaks Rule 5 (every value atomic).</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A report sorts Branch by city and claims “that’s the real order of the relation” → breaks Rule 3 (tuple order is irrelevant) — only ORDER BY imposes order.</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A spreadsheet import creates two different relations both named “Staff” → breaks Rule 1 (every relation needs a name distinct from every other relation in the schema).</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Worked Example: Why Domains Must Match">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Worked Example: Why Domains Must Match</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Staff.branchNo and Branch.branchNo both draw from the BranchNumbers domain — the same kind of value, so comparing them (Staff.branchNo = Branch.branchNo) is meaningful. This is exactly the condition Lecture 8’s join operators rely on.</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Staff.salary (the Salaries domain) and Branch.postcode (a string domain) do not share a domain — comparing salary = postcode is nonsensical even if both happen to be stored in similar-looking columns.</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Quick test: ask “do these two attributes draw values from the same real-world category of thing?” If no, don’t compare or join on them — no matter what the raw data type says.</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Worked Example: Candidate-Key Test on PropertyForRent">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Worked Example: Candidate-Key Test on PropertyForRent</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K = {propertyNo}. Uniqueness: can two different properties share a propertyNo? No — it’s assigned uniquely. ✓ superkey, and trivially minimal → ✓ candidate key.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K = {street, city}. Uniqueness: could two different properties sit on the same street in the same city (a duplex, say)? Yes, realistically. ✗ not even a superkey.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K = {propertyNo, ownerNo}. Uniqueness holds (propertyNo alone already guarantees it). Minimality: drop ownerNo — {propertyNo} is still unique. ✗ not minimal — a superkey, but not a candidate key.</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Worked Example: Writing a Schema with a Foreign Key">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Worked Example: Writing a Schema with a Foreign Key</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Step 1 — list every attribute: propertyNo, street, city, ownerNo.</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Step 2 — underline the primary key: PropertyForRent(propertyNo, street, city, ownerNo).</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Step 3 — add the foreign-key line naming the attribute and what it references: Foreign Key ownerNo references PrivateOwner(ownerNo).</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Full notation — memorize this cold: PropertyForRent (propertyNo, street, city, ownerNo)  Foreign Key ownerNo references PrivateOwner(ownerNo).</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From Structure to Correctness">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From Structure to Correctness</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Lecture 5 gave you the shape of a valid relation: name, attributes, tuples, keys, and schema notation.</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None of that, on its own, stops a bad INSERT — a salary of −5,000, or a staff member assigned to a branch that doesn’t exist.</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Lecture 6 closes that gap: integrity constraints the DBMS enforces on every single write.</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20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Try It Yourself">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11094720" cy="640080"/>
          </a:xfrm>
          <a:prstGeom prst="rect">
            <a:avLst/>
          </a:prstGeom>
          <a:noFill/>
          <a:ln/>
        </p:spPr>
        <p:txBody>
          <a:bodyPr wrap="square"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Try It Yourself</a:t>
            </a:r>
            <a:endParaRPr lang="en-US" sz="1800" dirty="0"/>
          </a:p>
        </p:txBody>
      </p:sp>
      <p:sp>
        <p:nvSpPr>
          <p:cNvPr id="3" name="Text body"/>
          <p:cNvSpPr txBox="1"/>
          <p:nvPr/>
        </p:nvSpPr>
        <p:spPr>
          <a:xfrm>
            <a:off x="598640" y="1097280"/>
            <a:ext cx="11044720" cy="52120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Using Branch(branchNo, street, city, postcode), state the degree and cardinality, then add one new branch and give the new cardinality.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Test whether {name} alone could be a candidate key of Staff. What real-world fact about names makes your answer NO?</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Write the full schema notation for Viewing(clientNo, propertyNo, viewDate, comment), underlining its composite primary key.</a:t>
            </a:r>
            <a:endParaRPr lang="en-US" sz="1800" dirty="0"/>
          </a:p>
          <a:p>
            <a:pPr marL="228600" indent="-228600">
              <a:spcAft>
                <a:spcPts val="1400"/>
              </a:spcAft>
              <a:buSzPct val="100000"/>
              <a:buChar char="•"/>
            </a:pPr>
            <a:r>
              <a:rPr lang="en-US" sz="1800" dirty="0">
                <a:solidFill>
                  <a:srgbClr val="1F2429"/>
                </a:solidFill>
                <a:latin typeface="Calibri" pitchFamily="34" charset="0"/>
                <a:ea typeface="Calibri" pitchFamily="34" charset="-122"/>
                <a:cs typeface="Calibri" pitchFamily="34" charset="-120"/>
              </a:rPr>
              <a:t>A colleague claims PropertyForRent needs no foreign keys because “the branch name is stored right there.” In one sentence, explain why that is exactly the design mistake relational modeling teaches you to avoid.</a:t>
            </a:r>
            <a:endParaRPr lang="en-US" sz="1800" dirty="0"/>
          </a:p>
        </p:txBody>
      </p:sp>
      <p:sp>
        <p:nvSpPr>
          <p:cNvPr id="4" name="Footer"/>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2" invalidUrl="" action="" tgtFrame="" tooltip="" history="1" highlightClick="0" endSnd="0"/>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21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2026-09-29T08:25:37Z</dcterms:created>
  <dcterms:modified xsi:type="dcterms:W3CDTF">2026-09-29T08:25:37Z</dcterms:modified>
</cp:coreProperties>
</file>
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231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Relational Model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78638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of the relational model — what Codd proposed, and why it won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notion of a relation: attributes, tuples, degree, cardinality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relations vs. database relations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properties every valid relation must satisfy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and domains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hierarchy: superkey, candidate key, primary key, alternate key, foreign key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 schema vs. database instance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notation for writing a relation schema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Relational Model, in One Idea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data as </a:t>
            </a:r>
            <a:pPr indent="0" marL="0">
              <a:buNone/>
            </a:pPr>
            <a:r>
              <a:rPr lang="en-US" sz="15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Let mathematical rules — not insertion order, not physical storage — define what a valid table looks like and how tables relate.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5760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by E. F. Codd, 1970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Relational Model of Data for Large Shared Data Banks” replaced hierarchical/network models that forced programmers to navigate hard-coded physical paths.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example: a property rental agency — Branch, Staff, and the properties each branch manages — carried across Lectures 5–8.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29400" y="7132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(branchNo, street, city, postcode)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005840"/>
          <a:ext cx="50292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13716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 Main 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Deer 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Argyll 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629400" y="27706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(staffNo, name, position, salary, branchNo)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3063240"/>
          <a:ext cx="50292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371600"/>
                <a:gridCol w="1143000"/>
                <a:gridCol w="822960"/>
                <a:gridCol w="8229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Notion of a Relation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669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 is a table of values, organized into rows and named columns.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unique within the schema (Staff, Branch)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named columns, each with a domain of legal values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Tuples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rows, each holding one value per attribute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402336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416052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Table, relation, or relvar?</a:t>
            </a:r>
            <a:endParaRPr lang="en-US" sz="1250" dirty="0"/>
          </a:p>
          <a:p>
            <a:pPr indent="0" marL="0">
              <a:buNone/>
            </a:pPr>
            <a:r>
              <a:rPr lang="en-US" sz="115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Precisely, a relation is a value — one snapshot of tuples. What CREATE TABLE actually makes is a relation variable (relvar), whose value changes as rows are added or removed.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29400" y="7589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— degree 5, cardinality 5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051560"/>
          <a:ext cx="50292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371600"/>
                <a:gridCol w="1143000"/>
                <a:gridCol w="82296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629400" y="3063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</a:t>
            </a:r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number of attributes = 5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629400" y="34290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</a:t>
            </a:r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number of tuples = 5 (changes on every insert/delete)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Relations vs. Database Relations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“Relation” comes from set theory — a subset of a Cartesian product D₁×D₂×…×Dₙ. A database relation tightens several rules that plain math relations don’t enforce.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Mathematical relation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relation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Tuple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 — (1,2) ≠ (2,1)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— a relation is a 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identity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position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name (branchNo, salary)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tuples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(bag-like in some treatments)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allowed — a true 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value, including nested tuples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be atomic (single, indivisible)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4181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212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Atomicity is stricter than it sounds  </a:t>
            </a:r>
            <a:pPr indent="0" marL="0">
              <a:buNone/>
            </a:pPr>
            <a:r>
              <a:rPr lang="en-US" sz="12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telNo: “042-121-1121, 042-121-1122” looks harmless as a string, but violates atomicity in spirit — the DBMS can’t search or constrain “one of this client’s phone numbers” without parsing it. Fix: a separate ClientPhone(clientNo, telNo) relation, one tuple per number.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Properties — the Four Rules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47472" cy="34747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0972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name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from every other relation in the schema.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47472" cy="347472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0574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tuples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 is a mathematical set — sets cannot repeat an element.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0175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Tuple order irrelevant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in any order are the same relation — ORDER BY imposes display order only.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47472" cy="347472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9776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order irrelevant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is identified by attribute name, not column position.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983480"/>
            <a:ext cx="347472" cy="347472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983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377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is atomic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indivisible value per cell — never a list or nested table.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and Domains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column representing one property of the thing the relation describes.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 of all legal values for an attribute — a reusable data type with business meaning attached.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379476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domains make joins meaningful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Staff.branchNo and Branch.branchNo share the BranchNumbers domain despite matching names — that shared domain is exactly what makes comparing (and later joining, Lecture 8) them meaningful.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8046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definitions used by Staff and Branch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097280"/>
          <a:ext cx="5394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values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StaffNumbers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staff IDs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SL21, SG37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StaffNames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 names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StaffPositions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job titles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Manager, Assistant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PKR 8,500–40,000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9000, 30000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BranchNumbers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branch IDs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B003, B005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Keys — the Hierarchy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5120640" cy="1234440"/>
          </a:xfrm>
          <a:prstGeom prst="roundRect">
            <a:avLst>
              <a:gd name="adj" fmla="val 5185"/>
            </a:avLst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06424"/>
            <a:ext cx="47548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Superkey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attribute set that uniquely identifies a tuple — may carry extra attributes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008376" y="2304288"/>
            <a:ext cx="201168" cy="219456"/>
          </a:xfrm>
          <a:prstGeom prst="downArrow">
            <a:avLst/>
          </a:prstGeom>
          <a:solidFill>
            <a:srgbClr val="C7CBC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42032"/>
            <a:ext cx="5120640" cy="1234440"/>
          </a:xfrm>
          <a:prstGeom prst="roundRect">
            <a:avLst>
              <a:gd name="adj" fmla="val 5185"/>
            </a:avLst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596896"/>
            <a:ext cx="47548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key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superkey — remove one attribute and uniqueness breaks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08376" y="3794760"/>
            <a:ext cx="201168" cy="219456"/>
          </a:xfrm>
          <a:prstGeom prst="downArrow">
            <a:avLst/>
          </a:prstGeom>
          <a:solidFill>
            <a:srgbClr val="C7CBCF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4032504"/>
            <a:ext cx="5120640" cy="1234440"/>
          </a:xfrm>
          <a:prstGeom prst="roundRect">
            <a:avLst>
              <a:gd name="adj" fmla="val 5185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4087368"/>
            <a:ext cx="47548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candidate key the designer chooses to identify tuples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{staffNo} </a:t>
            </a:r>
            <a:pPr indent="0" marL="0"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candidate key of Staff: minimal, and unique. {staffNo, name} is a superkey but </a:t>
            </a:r>
            <a:pPr indent="0" marL="0">
              <a:buNone/>
            </a:pPr>
            <a:r>
              <a:rPr lang="en-US" sz="12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candidate key — it isn’t minimal.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051560"/>
            <a:ext cx="5577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key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candidate key not chosen as primary — still unique, just not the schema’s lead identifier.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attribute set in one relation that reproduces another relation’s primary key, to represent a relationship. Staff.branchNo references Branch.branchNo.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3703320"/>
            <a:ext cx="256032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370332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2FE6C4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0" y="3895344"/>
            <a:ext cx="256032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703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160520"/>
            <a:ext cx="21945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postcode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0" y="4434840"/>
            <a:ext cx="502920" cy="256032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19" name="Shape 17"/>
          <p:cNvSpPr/>
          <p:nvPr/>
        </p:nvSpPr>
        <p:spPr>
          <a:xfrm>
            <a:off x="9281160" y="3703320"/>
            <a:ext cx="23774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1160" y="3703320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E8A33D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3895344"/>
            <a:ext cx="2377440" cy="19202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418320" y="3703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464040" y="4160520"/>
            <a:ext cx="20116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staffNo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</a:t>
            </a:r>
            <a:endParaRPr lang="en-US" sz="11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7A8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for Candidate Keys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8016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test for candidate keys</a:t>
            </a:r>
            <a:endParaRPr lang="en-US" sz="140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Uniqueness 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two distinct tuples share the same value(s) for K? If yes, K is not even a superkey.</a:t>
            </a:r>
            <a:endParaRPr lang="en-US" sz="140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Minimality  </a:t>
            </a:r>
            <a:pPr indent="0" marL="0"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one attribute from K — does uniqueness still hold? If yes, K was not minimal.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PropertyForRent: </a:t>
            </a:r>
            <a:pPr indent="0" marL="0">
              <a:buNone/>
            </a:pPr>
            <a:r>
              <a:rPr lang="en-US" sz="12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{propertyNo}</a:t>
            </a:r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candidate key; </a:t>
            </a:r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{propertyNo, street}</a:t>
            </a:r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superkey but not minimal — not a candidate key.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0972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14181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28016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primary keys underline as a group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primary key is one attribute.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5146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Viewing (clientNo, propertyNo, viewDate, comment)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30632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clientNo alone nor propertyNo alone is unique — one client views many properties, one property is viewed by many clients — but the pair is. Convention underlines the whole pair together.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 Schema vs. Instance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relational database schema is the full structural design: every relation schema (names, attributes, domains, keys) plus every integrity constraint (Lecture 6). The actual rows at any moment are the instance (extension).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80160" y="2286000"/>
            <a:ext cx="4572000" cy="1371600"/>
          </a:xfrm>
          <a:prstGeom prst="roundRect">
            <a:avLst>
              <a:gd name="adj" fmla="val 4667"/>
            </a:avLst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2359152"/>
            <a:ext cx="42976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(intension)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names, attributes, domains, keys — the design, changes rarely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70448" y="2871216"/>
            <a:ext cx="42062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0" y="2286000"/>
            <a:ext cx="4572000" cy="1371600"/>
          </a:xfrm>
          <a:prstGeom prst="roundRect">
            <a:avLst>
              <a:gd name="adj" fmla="val 4667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2359152"/>
            <a:ext cx="42976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(extension)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tuples present right now — changes on every insert/update/delete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Lecture 8 the rental agency’s schema grows to include PropertyForRent, PrivateOwner, and Client — giving the relational-algebra examples something richer to query.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Relation Schema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4181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RelationName (attribute1, attribute2, ..., attributeN)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 underlined; foreign keys marked in italics or called out explicitly.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5394960" cy="594360"/>
          </a:xfrm>
          <a:prstGeom prst="roundRect">
            <a:avLst>
              <a:gd name="adj" fmla="val 12308"/>
            </a:avLst>
          </a:prstGeom>
          <a:solidFill>
            <a:srgbClr val="14181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(branchNo, street, city, postcode)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26480" y="2423160"/>
            <a:ext cx="5486400" cy="594360"/>
          </a:xfrm>
          <a:prstGeom prst="roundRect">
            <a:avLst>
              <a:gd name="adj" fmla="val 12308"/>
            </a:avLst>
          </a:prstGeom>
          <a:solidFill>
            <a:srgbClr val="14181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55080" y="24231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(staffNo, name, position,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salary, branchNo)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4015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out a foreign key explicitly: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74904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(staffNo, name, position, salary, branchNo)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Foreign Key branchNo references Branch(branchNo)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Memorize this notation cold — every relational-algebra expression from Lecture 7 onward operates on relations named exactly this way.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Relational Model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relational model represents data as named, independent tables linked purely through shared attribute values — no pointers, no nesting.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 is a named set of tuples over fixed named attributes; degree = attribute count, cardinality = current tuple count.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relations tighten mathematical relations: no duplicate tuples, no meaningful order, every value atomic.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hierarchy nests: candidate key is a minimal superkey; primary key is the chosen candidate key; unchosen ones are alternate keys; a foreign key reproduces another relation's primary key.</a:t>
            </a:r>
            <a:endParaRPr lang="en-US" sz="16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schema is the full structural design; the instance is the actual rows present right now. Schemas are written Relation(attr1, attr2, ...) with the primary key underlined.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2026-09-29T08:25:37Z</dcterms:created>
  <dcterms:modified xsi:type="dcterms:W3CDTF">2026-09-29T08:25:37Z</dcterms:modified>
</cp:coreProperties>
</file>
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6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42316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Constraints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605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CSC270 · Database Systems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6177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COMSATS University Islamabad, Lahore Campus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234440"/>
            <a:ext cx="786384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constraints — keeping individual values legal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integrity — why no primary key component may ever be NULL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Referential integrity — keeping foreign keys honest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constraints — encoding business rules the model doesn't know about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four constraint categories fit together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Enforcing referential integrity: CASCADE, RESTRICT, SET NULL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Extended Schema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PropertyForRent carries three foreign keys at once — ownerNo, staffNo, branchNo — the perfect relation for testing every integrity rule.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PrivateOwner (ownerNo, name, telNo)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53949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920240"/>
                <a:gridCol w="22860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Joe Keogh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021-234-5678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CO87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Carol Farrel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021-556-7890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Tina Murphy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042-234-1122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CO93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Tony Shaw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042-556-9988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3977640"/>
            <a:ext cx="24688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3977640"/>
            <a:ext cx="2468880" cy="384048"/>
          </a:xfrm>
          <a:prstGeom prst="roundRect">
            <a:avLst>
              <a:gd name="adj" fmla="val 14286"/>
            </a:avLst>
          </a:prstGeom>
          <a:solidFill>
            <a:srgbClr val="2FE6C4"/>
          </a:solidFill>
          <a:ln/>
        </p:spPr>
      </p:sp>
      <p:sp>
        <p:nvSpPr>
          <p:cNvPr id="8" name="Shape 5"/>
          <p:cNvSpPr/>
          <p:nvPr/>
        </p:nvSpPr>
        <p:spPr>
          <a:xfrm>
            <a:off x="548640" y="4169664"/>
            <a:ext cx="2468880" cy="192024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85800" y="39776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PrivateOwner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4434840"/>
            <a:ext cx="210312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50" b="1" u="sng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ownerNo</a:t>
            </a:r>
            <a:endParaRPr lang="en-US" sz="115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15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telNo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127248" y="4800600"/>
            <a:ext cx="457200" cy="237744"/>
          </a:xfrm>
          <a:prstGeom prst="rightArrow">
            <a:avLst/>
          </a:prstGeom>
          <a:solidFill>
            <a:srgbClr val="C7CBCF"/>
          </a:solidFill>
          <a:ln/>
        </p:spPr>
      </p:sp>
      <p:sp>
        <p:nvSpPr>
          <p:cNvPr id="12" name="Shape 9"/>
          <p:cNvSpPr/>
          <p:nvPr/>
        </p:nvSpPr>
        <p:spPr>
          <a:xfrm>
            <a:off x="3657600" y="3794760"/>
            <a:ext cx="2286000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657600" y="3794760"/>
            <a:ext cx="2286000" cy="384048"/>
          </a:xfrm>
          <a:prstGeom prst="roundRect">
            <a:avLst>
              <a:gd name="adj" fmla="val 14286"/>
            </a:avLst>
          </a:prstGeom>
          <a:solidFill>
            <a:srgbClr val="E8A33D"/>
          </a:solidFill>
          <a:ln/>
        </p:spPr>
      </p:sp>
      <p:sp>
        <p:nvSpPr>
          <p:cNvPr id="14" name="Shape 11"/>
          <p:cNvSpPr/>
          <p:nvPr/>
        </p:nvSpPr>
        <p:spPr>
          <a:xfrm>
            <a:off x="3657600" y="3986784"/>
            <a:ext cx="2286000" cy="19202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794760" y="37947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PropertyForRent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3840480" y="4251960"/>
            <a:ext cx="192024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50" b="1" u="sng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propertyNo</a:t>
            </a:r>
            <a:endParaRPr lang="en-US" sz="115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street</a:t>
            </a:r>
            <a:endParaRPr lang="en-US" sz="115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</a:t>
            </a:r>
            <a:endParaRPr lang="en-US" sz="115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150" i="1" dirty="0">
                <a:solidFill>
                  <a:srgbClr val="7A82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ownerNo</a:t>
            </a:r>
            <a:endParaRPr lang="en-US" sz="115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150" i="1" dirty="0">
                <a:solidFill>
                  <a:srgbClr val="7A82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staffNo</a:t>
            </a:r>
            <a:endParaRPr lang="en-US" sz="115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150" i="1" dirty="0">
                <a:solidFill>
                  <a:srgbClr val="7A82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branchNo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6263640" y="1216152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PropertyForRent — propertyNo, street, city, type, rooms, rent, ownerNo, staffNo, branchNo</a:t>
            </a:r>
            <a:endParaRPr lang="en-US" sz="12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508760"/>
          <a:ext cx="539496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777240"/>
                <a:gridCol w="822960"/>
                <a:gridCol w="868680"/>
                <a:gridCol w="868680"/>
                <a:gridCol w="100584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propertyNo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Constraints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domain constraint restricts a single attribute's legal values to its declared domain — the most basic integrity rule, checked in isolation from any other row or table.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64240" cy="2286000"/>
          </a:xfrm>
          <a:prstGeom prst="roundRect">
            <a:avLst>
              <a:gd name="adj" fmla="val 3200"/>
            </a:avLst>
          </a:prstGeom>
          <a:solidFill>
            <a:srgbClr val="14181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920240"/>
            <a:ext cx="10607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PropertyForRent (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propertyNo  VARCHAR(5)   NOT NULL,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rooms       SMALLINT     NOT NULL CHECK (rooms &gt; 0),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rent        DECIMAL(8,2) NOT NULL CHECK (rent &gt; 0),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type        VARCHAR(5)   NOT NULL CHECK (type IN ('House', 'Flat')),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4434840"/>
            <a:ext cx="110642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457200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constraints vs. general constraints</a:t>
            </a:r>
            <a:endParaRPr lang="en-US" sz="1300" dirty="0"/>
          </a:p>
          <a:p>
            <a:pPr indent="0" marL="0">
              <a:buNone/>
            </a:pPr>
            <a:r>
              <a:rPr lang="en-US" sz="1250" dirty="0">
                <a:solidFill>
                  <a:srgbClr val="4A5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“Rent must be positive” is a domain constraint — one value, one rule. “Rent must be at least 80% of the average rent for that property's city” compares against other rows — that graduates to a general constraint.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Integrity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attribute participating in a relation's primary key may hold a NULL value.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primary key's entire job is unique identification. NULL means “unknown” — a row whose identifying value is itself unknown can't reliably be told apart from another row that is also missing it.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219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Attempted insert into Staff — REJECTED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14600"/>
          <a:ext cx="73152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645920"/>
                <a:gridCol w="1463040"/>
                <a:gridCol w="1097280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A3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A3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A3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A3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A3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i="1" dirty="0">
                          <a:solidFill>
                            <a:srgbClr val="9199A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(NULL)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Zara Malik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Assistant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staffNo declared PRIMARY KEY implies NOT NULL automatically — UNIQUE alone still permits NULL.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931920"/>
            <a:ext cx="11064240" cy="2148840"/>
          </a:xfrm>
          <a:prstGeom prst="roundRect">
            <a:avLst>
              <a:gd name="adj" fmla="val 3404"/>
            </a:avLst>
          </a:prstGeom>
          <a:solidFill>
            <a:srgbClr val="14181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22960" y="4069080"/>
            <a:ext cx="105156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keys: EVERY component must be non-NULL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D7DB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Viewing(clientNo, propertyNo, viewDate, comment), a tuple with a known clientNo but a NULL propertyNo still violates entity integrity — the pair identifies the tuple, and one missing half is enough to break that.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Non-key attributes can still be NULL</a:t>
            </a:r>
            <a:endParaRPr lang="en-US" sz="1350" dirty="0"/>
          </a:p>
          <a:p>
            <a:pPr indent="0" marL="0">
              <a:buNone/>
            </a:pPr>
            <a:r>
              <a:rPr lang="en-US" sz="1200" dirty="0">
                <a:solidFill>
                  <a:srgbClr val="D7DB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Staff.position or PropertyForRent.rooms may legitimately be NULL — the rule is narrowly about the primary key.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Referential Integrity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foreign key exists, its value must (1) match a candidate key value currently in the referenced relation, or (2) be wholly NULL.</a:t>
            </a:r>
            <a:endParaRPr lang="en-US" sz="14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99032"/>
            <a:ext cx="5440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Attempted insert — REJECTED (SX99 doesn't exist)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54406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371600"/>
                <a:gridCol w="1371600"/>
                <a:gridCol w="13716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propertyNo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A3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A3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A3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A3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SX99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217920" y="1399032"/>
            <a:ext cx="5440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 insert — foreign key wholly NULL</a:t>
            </a:r>
            <a:endParaRPr lang="en-US" sz="12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691640"/>
          <a:ext cx="54406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371600"/>
                <a:gridCol w="1371600"/>
                <a:gridCol w="13716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propertyNo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E6C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E6C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E6C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E6C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i="1" dirty="0">
                          <a:solidFill>
                            <a:srgbClr val="9199A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(NULL)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2423160"/>
            <a:ext cx="111099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staffNo = NULL doesn't claim any relationship at all — nothing to be inconsistent with. A property may have no staff assigned yet, but never a fabricated one.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548640" y="3063240"/>
            <a:ext cx="111099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320040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foreign keys: wholly NULL, or not at all  </a:t>
            </a:r>
            <a:pPr indent="0" marL="0">
              <a:buNone/>
            </a:pPr>
            <a:r>
              <a:rPr lang="en-US" sz="1200" dirty="0">
                <a:solidFill>
                  <a:srgbClr val="4A5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foreign key NULL in one column but real in another is itself a violation.</a:t>
            </a:r>
            <a:endParaRPr lang="en-US" sz="125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4389120"/>
            <a:ext cx="111099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Self-referencing foreign keys</a:t>
            </a:r>
            <a:endParaRPr lang="en-US" sz="1350" dirty="0"/>
          </a:p>
          <a:p>
            <a:pPr indent="0" marL="0">
              <a:buNone/>
            </a:pPr>
            <a:r>
              <a:rPr lang="en-US" sz="12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legal special case: Branch(branchNo, street, city, postcode, mgrStaffNo) could hold mgrStaffNo as a foreign key into Staff — and Staff already references Branch. A relation can even reference itself, e.g. Staff.supervisorStaffNo → Staff.staffNo.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Constraints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Organization-specific business rules that go beyond domain, entity, and referential integrity — the relational model has no built-in vocabulary for them.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486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member of staff can manage more than 100 properties at a time.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manager's salary must exceed every assistant's salary at the same branch.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property's rent must fall between PKR 5,000 and PKR 100,000.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can't handle a viewing for a property they themselves manage.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309360" y="1691640"/>
            <a:ext cx="5349240" cy="1417320"/>
          </a:xfrm>
          <a:prstGeom prst="roundRect">
            <a:avLst>
              <a:gd name="adj" fmla="val 5161"/>
            </a:avLst>
          </a:prstGeom>
          <a:solidFill>
            <a:srgbClr val="14181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37960" y="1691640"/>
            <a:ext cx="4892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ALTER TABLE PropertyForRent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 CONSTRAINT chk_rent_range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CHECK (rent BETWEEN 5000 AND 100000);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3291840"/>
            <a:ext cx="53492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single-table CHECKs are easy for the DBMS to enforce directly. Rules comparing across many rows (“manager &gt; every assistant”) usually need triggers, stored procedures, or application logic — but they remain integrity constraints either way.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Constraints, Together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2194560" y="868680"/>
            <a:ext cx="7772400" cy="1051560"/>
          </a:xfrm>
          <a:prstGeom prst="roundRect">
            <a:avLst>
              <a:gd name="adj" fmla="val 6087"/>
            </a:avLst>
          </a:prstGeom>
          <a:solidFill>
            <a:srgbClr val="2FE6C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377440" y="923544"/>
            <a:ext cx="740664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constraint</a:t>
            </a:r>
            <a:endParaRPr lang="en-US" sz="13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1F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attribute's value against its declared domain — e.g. rent &gt; 0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80176" y="1938528"/>
            <a:ext cx="201168" cy="164592"/>
          </a:xfrm>
          <a:prstGeom prst="downArrow">
            <a:avLst/>
          </a:prstGeom>
          <a:solidFill>
            <a:srgbClr val="C7CBCF"/>
          </a:solidFill>
          <a:ln/>
        </p:spPr>
      </p:sp>
      <p:sp>
        <p:nvSpPr>
          <p:cNvPr id="6" name="Shape 4"/>
          <p:cNvSpPr/>
          <p:nvPr/>
        </p:nvSpPr>
        <p:spPr>
          <a:xfrm>
            <a:off x="2194560" y="2121408"/>
            <a:ext cx="7772400" cy="1051560"/>
          </a:xfrm>
          <a:prstGeom prst="roundRect">
            <a:avLst>
              <a:gd name="adj" fmla="val 6087"/>
            </a:avLst>
          </a:prstGeom>
          <a:solidFill>
            <a:srgbClr val="8B7FD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377440" y="2176272"/>
            <a:ext cx="740664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integrity</a:t>
            </a:r>
            <a:endParaRPr lang="en-US" sz="13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1F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 key component may be NULL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80176" y="3191256"/>
            <a:ext cx="201168" cy="164592"/>
          </a:xfrm>
          <a:prstGeom prst="downArrow">
            <a:avLst/>
          </a:prstGeom>
          <a:solidFill>
            <a:srgbClr val="C7CBCF"/>
          </a:solidFill>
          <a:ln/>
        </p:spPr>
      </p:sp>
      <p:sp>
        <p:nvSpPr>
          <p:cNvPr id="9" name="Shape 7"/>
          <p:cNvSpPr/>
          <p:nvPr/>
        </p:nvSpPr>
        <p:spPr>
          <a:xfrm>
            <a:off x="2194560" y="3374136"/>
            <a:ext cx="7772400" cy="1051560"/>
          </a:xfrm>
          <a:prstGeom prst="roundRect">
            <a:avLst>
              <a:gd name="adj" fmla="val 6087"/>
            </a:avLst>
          </a:prstGeom>
          <a:solidFill>
            <a:srgbClr val="E8A3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377440" y="3429000"/>
            <a:ext cx="740664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Referential integrity</a:t>
            </a:r>
            <a:endParaRPr lang="en-US" sz="13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1F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non-NULL foreign key value must match an existing referenced key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980176" y="4443984"/>
            <a:ext cx="201168" cy="164592"/>
          </a:xfrm>
          <a:prstGeom prst="downArrow">
            <a:avLst/>
          </a:prstGeom>
          <a:solidFill>
            <a:srgbClr val="C7CBCF"/>
          </a:solidFill>
          <a:ln/>
        </p:spPr>
      </p:sp>
      <p:sp>
        <p:nvSpPr>
          <p:cNvPr id="12" name="Shape 10"/>
          <p:cNvSpPr/>
          <p:nvPr/>
        </p:nvSpPr>
        <p:spPr>
          <a:xfrm>
            <a:off x="2194560" y="4626864"/>
            <a:ext cx="7772400" cy="1051560"/>
          </a:xfrm>
          <a:prstGeom prst="roundRect">
            <a:avLst>
              <a:gd name="adj" fmla="val 6087"/>
            </a:avLst>
          </a:prstGeom>
          <a:solidFill>
            <a:srgbClr val="2FE6C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377440" y="4681728"/>
            <a:ext cx="740664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constraint</a:t>
            </a:r>
            <a:endParaRPr lang="en-US" sz="13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1F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Organization-specific business rule, spanning any number of attributes or rows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exist for the same reason: a database is only trustworthy if the DBMS refused every write that would have made a query result false.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Enforcing Referential Integrity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and entity integrity: the offending INSERT/UPDATE is simply rejected. Referential integrity is more interesting — a violation can come from either side, so the DBMS needs a policy per direction.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Deleting Staff row SG14 (who manages PA14 and PG4) — three referential actions: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429000" cy="1417320"/>
          </a:xfrm>
          <a:prstGeom prst="roundRect">
            <a:avLst>
              <a:gd name="adj" fmla="val 4516"/>
            </a:avLst>
          </a:prstGeom>
          <a:solidFill>
            <a:srgbClr val="E8A33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2176272"/>
            <a:ext cx="3154680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</a:t>
            </a:r>
            <a:endParaRPr lang="en-US" sz="14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1F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 the delete while PA14/PG4 still reference SG14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995928" y="2711196"/>
            <a:ext cx="237744" cy="201168"/>
          </a:xfrm>
          <a:prstGeom prst="rightArrow">
            <a:avLst/>
          </a:prstGeom>
          <a:solidFill>
            <a:srgbClr val="C7CBCF"/>
          </a:solidFill>
          <a:ln/>
        </p:spPr>
      </p:sp>
      <p:sp>
        <p:nvSpPr>
          <p:cNvPr id="8" name="Shape 6"/>
          <p:cNvSpPr/>
          <p:nvPr/>
        </p:nvSpPr>
        <p:spPr>
          <a:xfrm>
            <a:off x="4251960" y="2103120"/>
            <a:ext cx="3429000" cy="1417320"/>
          </a:xfrm>
          <a:prstGeom prst="roundRect">
            <a:avLst>
              <a:gd name="adj" fmla="val 4516"/>
            </a:avLst>
          </a:prstGeom>
          <a:solidFill>
            <a:srgbClr val="8B7F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389120" y="2176272"/>
            <a:ext cx="3154680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CASCADE</a:t>
            </a:r>
            <a:endParaRPr lang="en-US" sz="14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1F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SG14, then auto-delete PA14 and PG4 too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699248" y="2711196"/>
            <a:ext cx="237744" cy="201168"/>
          </a:xfrm>
          <a:prstGeom prst="rightArrow">
            <a:avLst/>
          </a:prstGeom>
          <a:solidFill>
            <a:srgbClr val="C7CBCF"/>
          </a:solidFill>
          <a:ln/>
        </p:spPr>
      </p:sp>
      <p:sp>
        <p:nvSpPr>
          <p:cNvPr id="11" name="Shape 9"/>
          <p:cNvSpPr/>
          <p:nvPr/>
        </p:nvSpPr>
        <p:spPr>
          <a:xfrm>
            <a:off x="7955280" y="2103120"/>
            <a:ext cx="3429000" cy="1417320"/>
          </a:xfrm>
          <a:prstGeom prst="roundRect">
            <a:avLst>
              <a:gd name="adj" fmla="val 4516"/>
            </a:avLst>
          </a:prstGeom>
          <a:solidFill>
            <a:srgbClr val="2FE6C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92440" y="2176272"/>
            <a:ext cx="3154680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NULL</a:t>
            </a:r>
            <a:endParaRPr lang="en-US" sz="14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1F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SG14, set staffNo to NULL on PA14 and PG4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840480"/>
            <a:ext cx="11064240" cy="1920240"/>
          </a:xfrm>
          <a:prstGeom prst="roundRect">
            <a:avLst>
              <a:gd name="adj" fmla="val 3810"/>
            </a:avLst>
          </a:prstGeom>
          <a:solidFill>
            <a:srgbClr val="14181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3840480"/>
            <a:ext cx="10607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PropertyForRent (</a:t>
            </a:r>
            <a:endParaRPr lang="en-US" sz="115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115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staffNo   VARCHAR(5),</a:t>
            </a:r>
            <a:endParaRPr lang="en-US" sz="115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branchNo  VARCHAR(4) NOT NULL,</a:t>
            </a:r>
            <a:endParaRPr lang="en-US" sz="115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FOREIGN KEY (staffNo)  REFERENCES Staff(staffNo)  ON DELETE SET NULL,</a:t>
            </a:r>
            <a:endParaRPr lang="en-US" sz="115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FOREIGN KEY (branchNo) REFERENCES Branch(branchNo) ON DELETE RESTRICT</a:t>
            </a:r>
            <a:endParaRPr lang="en-US" sz="115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a Referential Action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11064240" cy="1463040"/>
          </a:xfrm>
          <a:prstGeom prst="roundRect">
            <a:avLst>
              <a:gd name="adj" fmla="val 5000"/>
            </a:avLst>
          </a:prstGeom>
          <a:solidFill>
            <a:srgbClr val="14181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23444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design decision, not a default  </a:t>
            </a:r>
            <a:pPr indent="0" marL="0">
              <a:buNone/>
            </a:pPr>
            <a:r>
              <a:rPr lang="en-US" sz="1300" dirty="0">
                <a:solidFill>
                  <a:srgbClr val="D7DB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“if the referenced row disappears, does the referencing row still make sense on its own?”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3464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5486400"/>
                <a:gridCol w="256032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Relationship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7F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the referenced row disappears…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7F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Favor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7FD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Viewing → Client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viewing record makes no sense without the client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CASCADE / RESTRICT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PropertyForRent → staffNo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property still makes sense, just unassigned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 NULL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PropertyForRent → branchNo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property cannot exist without belonging to some branch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RESTRICT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this wrong is a common, expensive real-world bug — either silent data loss from an over-eager CASCADE, or a wall of RESTRICT errors when SET NULL would have been sensible.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05156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Constraints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65960"/>
            <a:ext cx="103327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E7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constraints restrict a single attribute's value to its declared, legal domain.</a:t>
            </a:r>
            <a:endParaRPr lang="en-US" sz="1600" dirty="0"/>
          </a:p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E7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integrity: no attribute that is part of a primary key — single or composite — may ever be NULL.</a:t>
            </a:r>
            <a:endParaRPr lang="en-US" sz="1600" dirty="0"/>
          </a:p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E7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Referential integrity: every non-NULL foreign key value must match an existing candidate key value, or be wholly NULL.</a:t>
            </a:r>
            <a:endParaRPr lang="en-US" sz="1600" dirty="0"/>
          </a:p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E7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constraints capture business rules the relational model has no built-in vocabulary for.</a:t>
            </a:r>
            <a:endParaRPr lang="en-US" sz="1600" dirty="0"/>
          </a:p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E7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Referential integrity enforcement differs by direction: referencing-side writes that would break it are always rejected; referenced-side deletes/updates offer a policy — RESTRICT, CASCADE, or SET NULL — chosen by what the relationship means.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2026-09-29T15:28:15Z</dcterms:created>
  <dcterms:modified xsi:type="dcterms:W3CDTF">2026-09-29T15:28:15Z</dcterms:modified>
</cp:coreProperties>
</file>
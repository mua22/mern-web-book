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8" r:id="rId19"/>
    <p:sldId id="258" r:id="rId4"/>
    <p:sldId id="269" r:id="rId20"/>
    <p:sldId id="259" r:id="rId5"/>
    <p:sldId id="270" r:id="rId21"/>
    <p:sldId id="260" r:id="rId6"/>
    <p:sldId id="271" r:id="rId22"/>
    <p:sldId id="261" r:id="rId7"/>
    <p:sldId id="272" r:id="rId23"/>
    <p:sldId id="262" r:id="rId8"/>
    <p:sldId id="273" r:id="rId24"/>
    <p:sldId id="263" r:id="rId9"/>
    <p:sldId id="267" r:id="rId18"/>
    <p:sldId id="264" r:id="rId10"/>
    <p:sldId id="274" r:id="rId25"/>
    <p:sldId id="265" r:id="rId11"/>
    <p:sldId id="275" r:id="rId26"/>
    <p:sldId id="276" r:id="rId27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  <Relationship Id="rId18" Type="http://schemas.openxmlformats.org/officeDocument/2006/relationships/slide" Target="slides/slide12.xml"/>
  <Relationship Id="rId19" Type="http://schemas.openxmlformats.org/officeDocument/2006/relationships/slide" Target="slides/slide13.xml"/>
  <Relationship Id="rId20" Type="http://schemas.openxmlformats.org/officeDocument/2006/relationships/slide" Target="slides/slide14.xml"/>
  <Relationship Id="rId21" Type="http://schemas.openxmlformats.org/officeDocument/2006/relationships/slide" Target="slides/slide15.xml"/>
  <Relationship Id="rId22" Type="http://schemas.openxmlformats.org/officeDocument/2006/relationships/slide" Target="slides/slide16.xml"/>
  <Relationship Id="rId23" Type="http://schemas.openxmlformats.org/officeDocument/2006/relationships/slide" Target="slides/slide17.xml"/>
  <Relationship Id="rId24" Type="http://schemas.openxmlformats.org/officeDocument/2006/relationships/slide" Target="slides/slide18.xml"/>
  <Relationship Id="rId25" Type="http://schemas.openxmlformats.org/officeDocument/2006/relationships/slide" Target="slides/slide19.xml"/>
  <Relationship Id="rId26" Type="http://schemas.openxmlformats.org/officeDocument/2006/relationships/slide" Target="slides/slide20.xml"/>
  <Relationship Id="rId27" Type="http://schemas.openxmlformats.org/officeDocument/2006/relationships/slide" Target="slides/slide21.xml"/>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cuinotes.com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cuinotes.com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cuinotes.com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cuinotes.com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cuinotes.com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cuinotes.com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cuinotes.com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cuinotes.com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cuinotes.com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cuinotes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6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42316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Constraints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1605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CSC270 · Database Systems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617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COMSATS University Islamabad, Lahore Campus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34440"/>
            <a:ext cx="78638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constraints — keeping individual values legal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integrity — why no primary key component may ever be NULL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 integrity — keeping foreign keys honest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constraints — encoding business rules the model doesn't know about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four constraint categories fit together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Enforcing referential integrity: CASCADE, RESTRICT, SET NULL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Extended Schema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PropertyForRent carries three foreign keys at once — ownerNo, staffNo, branchNo — the perfect relation for testing every integrity rule.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PrivateOwner (ownerNo, name, telNo)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53949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920240"/>
                <a:gridCol w="228600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CO46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Joe Keogh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021-234-5678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CO87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Carol Farrel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021-556-7890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Tina Murphy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042-234-1122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CO93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Tony Shaw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042-556-9988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977640"/>
            <a:ext cx="246888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3977640"/>
            <a:ext cx="2468880" cy="384048"/>
          </a:xfrm>
          <a:prstGeom prst="roundRect">
            <a:avLst>
              <a:gd name="adj" fmla="val 14286"/>
            </a:avLst>
          </a:prstGeom>
          <a:solidFill>
            <a:srgbClr val="2FE6C4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4169664"/>
            <a:ext cx="2468880" cy="192024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" y="39776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PrivateOwner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4434840"/>
            <a:ext cx="210312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b="1" u="sng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ownerNo</a:t>
            </a:r>
            <a:endParaRPr lang="en-US" sz="18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8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telNo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127248" y="4800600"/>
            <a:ext cx="457200" cy="237744"/>
          </a:xfrm>
          <a:prstGeom prst="rightArrow">
            <a:avLst/>
          </a:prstGeom>
          <a:solidFill>
            <a:srgbClr val="C7CBCF"/>
          </a:solidFill>
          <a:ln/>
        </p:spPr>
      </p:sp>
      <p:sp>
        <p:nvSpPr>
          <p:cNvPr id="12" name="Shape 9"/>
          <p:cNvSpPr/>
          <p:nvPr/>
        </p:nvSpPr>
        <p:spPr>
          <a:xfrm>
            <a:off x="3657600" y="3794760"/>
            <a:ext cx="2286000" cy="26517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57600" y="3794760"/>
            <a:ext cx="2286000" cy="384048"/>
          </a:xfrm>
          <a:prstGeom prst="roundRect">
            <a:avLst>
              <a:gd name="adj" fmla="val 14286"/>
            </a:avLst>
          </a:prstGeom>
          <a:solidFill>
            <a:srgbClr val="E8A33D"/>
          </a:solidFill>
          <a:ln/>
        </p:spPr>
      </p:sp>
      <p:sp>
        <p:nvSpPr>
          <p:cNvPr id="14" name="Shape 11"/>
          <p:cNvSpPr/>
          <p:nvPr/>
        </p:nvSpPr>
        <p:spPr>
          <a:xfrm>
            <a:off x="3657600" y="3986784"/>
            <a:ext cx="2286000" cy="19202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794760" y="37947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PropertyForRent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3840480" y="4251960"/>
            <a:ext cx="1920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b="1" u="sng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propertyNo</a:t>
            </a:r>
            <a:endParaRPr lang="en-US" sz="18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</a:t>
            </a:r>
            <a:endParaRPr lang="en-US" sz="18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</a:t>
            </a:r>
            <a:endParaRPr lang="en-US" sz="18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800" i="1" dirty="0">
                <a:solidFill>
                  <a:srgbClr val="7A8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ownerNo</a:t>
            </a:r>
            <a:endParaRPr lang="en-US" sz="18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800" i="1" dirty="0">
                <a:solidFill>
                  <a:srgbClr val="7A8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staffNo</a:t>
            </a:r>
            <a:endParaRPr lang="en-US" sz="18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800" i="1" dirty="0">
                <a:solidFill>
                  <a:srgbClr val="7A8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branchNo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6263640" y="16459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PropertyForRent — 9 attributes, 3 foreign keys</a:t>
            </a:r>
            <a:endParaRPr lang="en-US" sz="18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965960"/>
          <a:ext cx="539496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777240"/>
                <a:gridCol w="731520"/>
                <a:gridCol w="1005840"/>
                <a:gridCol w="868680"/>
                <a:gridCol w="96012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PA14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CO46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SG14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PL94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CO87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SG14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PG36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24500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CO93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SG37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PG16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CO93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PG21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CO87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SL21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  <p:sp>
        <p:nvSpPr>
          <p:cNvPr id="19" name="Text 15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4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Constraints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domain constraint restricts a single attribute's legal values to its declared domain — the most basic integrity rule, checked in isolation from any other row or table.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2286000"/>
          </a:xfrm>
          <a:prstGeom prst="roundRect">
            <a:avLst>
              <a:gd name="adj" fmla="val 3200"/>
            </a:avLst>
          </a:prstGeom>
          <a:solidFill>
            <a:srgbClr val="14181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10607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PropertyForRent (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propertyNo  VARCHAR(5)   NOT NULL,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rooms       SMALLINT     NOT NULL CHECK (rooms &gt; 0),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rent        DECIMAL(8,2) NOT NULL CHECK (rent &gt; 0),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        VARCHAR(5)   NOT NULL CHECK (type IN ('House', 'Flat')),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443484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5720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constraints vs. general constraints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4A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“Rent must be positive” is a domain constraint — one value, one rule. “Rent must be at least 80% of the average rent for that property's city” compares against other rows — that graduates to a general constraint.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6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Integrity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attribute participating in a relation's primary key may hold a NULL value.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primary key's entire job is unique identification. NULL means “unknown” — a row whose identifying value is itself unknown can't reliably be told apart from another row that is also missing it.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219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Attempted insert into Staff — REJECTED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14600"/>
          <a:ext cx="73152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645920"/>
                <a:gridCol w="1463040"/>
                <a:gridCol w="109728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i="1" dirty="0">
                          <a:solidFill>
                            <a:srgbClr val="9199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(NULL)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Zara Malik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Assistant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3383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staffNo declared PRIMARY KEY implies NOT NULL automatically — UNIQUE alone still permits NULL.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3931920"/>
            <a:ext cx="11064240" cy="2148840"/>
          </a:xfrm>
          <a:prstGeom prst="roundRect">
            <a:avLst>
              <a:gd name="adj" fmla="val 3404"/>
            </a:avLst>
          </a:prstGeom>
          <a:solidFill>
            <a:srgbClr val="14181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" y="4069080"/>
            <a:ext cx="10515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keys: EVERY component must be non-NULL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D7D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Viewing(clientNo, propertyNo, viewDate, comment), a tuple with a known clientNo but a NULL propertyNo still violates entity integrity — the pair identifies the tuple, and one missing half is enough to break that.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Non-key attributes can still be NULL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7D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Staff.position or PropertyForRent.rooms may legitimately be NULL — the rule is narrowly about the primary key.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8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 Integrity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foreign key exists, its value must (1) match a candidate key value currently in the referenced relation, or (2) be wholly NULL.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440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Attempted insert — REJECTED (SX99 doesn't exist)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54406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371600"/>
                <a:gridCol w="137160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PG55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CO46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SX99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217920" y="1737360"/>
            <a:ext cx="5440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insert — foreign key wholly NULL</a:t>
            </a:r>
            <a:endParaRPr lang="en-US" sz="18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2011680"/>
          <a:ext cx="54406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371600"/>
                <a:gridCol w="137160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E6C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E6C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E6C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E6C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PG55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CO46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i="1" dirty="0">
                          <a:solidFill>
                            <a:srgbClr val="9199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(NULL)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2743200"/>
            <a:ext cx="11109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staffNo = NULL doesn't claim any relationship at all — nothing to be inconsistent with. A property may have no staff assigned yet, but never a fabricated one.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548640" y="3383280"/>
            <a:ext cx="111099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22960" y="352044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foreign keys: wholly NULL, or not at all  </a:t>
            </a:r>
            <a:pPr indent="0" marL="0">
              <a:buNone/>
            </a:pPr>
            <a:r>
              <a:rPr lang="en-US" sz="1800" dirty="0">
                <a:solidFill>
                  <a:srgbClr val="4A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foreign key NULL in one column but real in another is itself a violation.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4709160"/>
            <a:ext cx="111099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Self-referencing foreign keys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legal special case: Branch(branchNo, street, city, postcode, mgrStaffNo) could hold mgrStaffNo as a foreign key into Staff — and Staff already references Branch. A relation can even reference itself, e.g. Staff.supervisorStaffNo → Staff.staffNo.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10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Constraints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Organization-specific business rules that go beyond domain, entity, and referential integrity — the relational model has no built-in vocabulary for them.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member of staff can manage more than 100 properties at a time.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manager's salary must exceed every assistant's salary at the same branch.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property's rent must fall between PKR 5,000 and PKR 100,000.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can't handle a viewing for a property they themselves manage.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309360" y="16916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4181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37960" y="1691640"/>
            <a:ext cx="4892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PropertyForRent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 CONSTRAINT chk_rent_range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CHECK (rent BETWEEN 5000 AND 100000);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3291840"/>
            <a:ext cx="5349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single-table CHECKs are easy for the DBMS to enforce directly. Rules comparing across many rows (“manager &gt; every assistant”) usually need triggers, stored procedures, or application logic — but they remain integrity constraints either way.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12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Constraints, Together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194560" y="868680"/>
            <a:ext cx="7772400" cy="1051560"/>
          </a:xfrm>
          <a:prstGeom prst="roundRect">
            <a:avLst>
              <a:gd name="adj" fmla="val 6087"/>
            </a:avLst>
          </a:prstGeom>
          <a:solidFill>
            <a:srgbClr val="2FE6C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377440" y="923544"/>
            <a:ext cx="74066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constraint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1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attribute's value against its declared domain — e.g. rent &gt; 0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980176" y="1938528"/>
            <a:ext cx="201168" cy="164592"/>
          </a:xfrm>
          <a:prstGeom prst="downArrow">
            <a:avLst/>
          </a:prstGeom>
          <a:solidFill>
            <a:srgbClr val="C7CBCF"/>
          </a:solidFill>
          <a:ln/>
        </p:spPr>
      </p:sp>
      <p:sp>
        <p:nvSpPr>
          <p:cNvPr id="6" name="Shape 4"/>
          <p:cNvSpPr/>
          <p:nvPr/>
        </p:nvSpPr>
        <p:spPr>
          <a:xfrm>
            <a:off x="2194560" y="2121408"/>
            <a:ext cx="7772400" cy="1051560"/>
          </a:xfrm>
          <a:prstGeom prst="roundRect">
            <a:avLst>
              <a:gd name="adj" fmla="val 6087"/>
            </a:avLst>
          </a:prstGeom>
          <a:solidFill>
            <a:srgbClr val="8B7FD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377440" y="2176272"/>
            <a:ext cx="74066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integrity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1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primary key component may be NULL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80176" y="3191256"/>
            <a:ext cx="201168" cy="164592"/>
          </a:xfrm>
          <a:prstGeom prst="downArrow">
            <a:avLst/>
          </a:prstGeom>
          <a:solidFill>
            <a:srgbClr val="C7CBCF"/>
          </a:solidFill>
          <a:ln/>
        </p:spPr>
      </p:sp>
      <p:sp>
        <p:nvSpPr>
          <p:cNvPr id="9" name="Shape 7"/>
          <p:cNvSpPr/>
          <p:nvPr/>
        </p:nvSpPr>
        <p:spPr>
          <a:xfrm>
            <a:off x="2194560" y="3374136"/>
            <a:ext cx="7772400" cy="1051560"/>
          </a:xfrm>
          <a:prstGeom prst="roundRect">
            <a:avLst>
              <a:gd name="adj" fmla="val 6087"/>
            </a:avLst>
          </a:prstGeom>
          <a:solidFill>
            <a:srgbClr val="E8A3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377440" y="3429000"/>
            <a:ext cx="74066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 integrity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1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non-NULL foreign key value must match an existing referenced key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980176" y="4443984"/>
            <a:ext cx="201168" cy="164592"/>
          </a:xfrm>
          <a:prstGeom prst="downArrow">
            <a:avLst/>
          </a:prstGeom>
          <a:solidFill>
            <a:srgbClr val="C7CBCF"/>
          </a:solidFill>
          <a:ln/>
        </p:spPr>
      </p:sp>
      <p:sp>
        <p:nvSpPr>
          <p:cNvPr id="12" name="Shape 10"/>
          <p:cNvSpPr/>
          <p:nvPr/>
        </p:nvSpPr>
        <p:spPr>
          <a:xfrm>
            <a:off x="2194560" y="4626864"/>
            <a:ext cx="7772400" cy="1051560"/>
          </a:xfrm>
          <a:prstGeom prst="roundRect">
            <a:avLst>
              <a:gd name="adj" fmla="val 6087"/>
            </a:avLst>
          </a:prstGeom>
          <a:solidFill>
            <a:srgbClr val="2FE6C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377440" y="4681728"/>
            <a:ext cx="74066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constraint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1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Organization-specific business rule, spanning any number of attributes or rows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exist for the same reason: a database is only trustworthy if the DBMS refused every write that would have made a query result false.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14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Enforcing Referential Integrity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and entity integrity: the offending INSERT/UPDATE is simply rejected. Referential integrity is more interesting — a violation can come from either side, so the DBMS needs a policy per direction.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Staff row SG14 (who manages PA14 and PG4) — three referential actions: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429000" cy="1417320"/>
          </a:xfrm>
          <a:prstGeom prst="roundRect">
            <a:avLst>
              <a:gd name="adj" fmla="val 4516"/>
            </a:avLst>
          </a:prstGeom>
          <a:solidFill>
            <a:srgbClr val="E8A3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2176272"/>
            <a:ext cx="315468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1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 the delete while PA14/PG4 still reference SG14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995928" y="2711196"/>
            <a:ext cx="237744" cy="201168"/>
          </a:xfrm>
          <a:prstGeom prst="rightArrow">
            <a:avLst/>
          </a:prstGeom>
          <a:solidFill>
            <a:srgbClr val="C7CBCF"/>
          </a:solidFill>
          <a:ln/>
        </p:spPr>
      </p:sp>
      <p:sp>
        <p:nvSpPr>
          <p:cNvPr id="8" name="Shape 6"/>
          <p:cNvSpPr/>
          <p:nvPr/>
        </p:nvSpPr>
        <p:spPr>
          <a:xfrm>
            <a:off x="4251960" y="2103120"/>
            <a:ext cx="3429000" cy="1417320"/>
          </a:xfrm>
          <a:prstGeom prst="roundRect">
            <a:avLst>
              <a:gd name="adj" fmla="val 4516"/>
            </a:avLst>
          </a:prstGeom>
          <a:solidFill>
            <a:srgbClr val="8B7F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389120" y="2176272"/>
            <a:ext cx="315468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1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SG14, then auto-delete PA14 and PG4 too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699248" y="2711196"/>
            <a:ext cx="237744" cy="201168"/>
          </a:xfrm>
          <a:prstGeom prst="rightArrow">
            <a:avLst/>
          </a:prstGeom>
          <a:solidFill>
            <a:srgbClr val="C7CBCF"/>
          </a:solidFill>
          <a:ln/>
        </p:spPr>
      </p:sp>
      <p:sp>
        <p:nvSpPr>
          <p:cNvPr id="11" name="Shape 9"/>
          <p:cNvSpPr/>
          <p:nvPr/>
        </p:nvSpPr>
        <p:spPr>
          <a:xfrm>
            <a:off x="7955280" y="2103120"/>
            <a:ext cx="3429000" cy="1417320"/>
          </a:xfrm>
          <a:prstGeom prst="roundRect">
            <a:avLst>
              <a:gd name="adj" fmla="val 4516"/>
            </a:avLst>
          </a:prstGeom>
          <a:solidFill>
            <a:srgbClr val="2FE6C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92440" y="2176272"/>
            <a:ext cx="315468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NULL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1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SG14, set staffNo to NULL on PA14 and PG4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11064240" cy="1920240"/>
          </a:xfrm>
          <a:prstGeom prst="roundRect">
            <a:avLst>
              <a:gd name="adj" fmla="val 3810"/>
            </a:avLst>
          </a:prstGeom>
          <a:solidFill>
            <a:srgbClr val="14181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840480"/>
            <a:ext cx="10607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PropertyForRent (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staffNo   VARCHAR(5),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branchNo  VARCHAR(4) NOT NULL,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FOREIGN KEY (staffNo)  REFERENCES Staff(staffNo)  ON DELETE SET NULL,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FOREIGN KEY (branchNo) REFERENCES Branch(branchNo) ON DELETE RESTRICT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16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 Referential Action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14181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2344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design decision, not a default  </a:t>
            </a:r>
            <a:pPr indent="0" marL="0">
              <a:buNone/>
            </a:pPr>
            <a:r>
              <a:rPr lang="en-US" sz="1800" dirty="0">
                <a:solidFill>
                  <a:srgbClr val="D7D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“if the referenced row disappears, does the referencing row still make sense on its own?”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3464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5486400"/>
                <a:gridCol w="25603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7F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the referenced row disappears…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7F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Favor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7FD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Viewing → Client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viewing record makes no sense without the client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CASCADE / RESTRICT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PropertyForRent → staffNo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property still makes sense, just unassigned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NULL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PropertyForRent → branchNo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property cannot exist without belonging to some branch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RESTRICT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074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this wrong is a common, expensive real-world bug — either silent data loss from an over-eager CASCADE, or a wall of RESTRICT errors when SET NULL would have been sensible.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18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5156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Constraints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65960"/>
            <a:ext cx="103327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E7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constraints restrict a single attribute's value to its declared, legal domain.</a:t>
            </a:r>
            <a:endParaRPr lang="en-US" sz="18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E7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integrity: no attribute that is part of a primary key — single or composite — may ever be NULL.</a:t>
            </a:r>
            <a:endParaRPr lang="en-US" sz="18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E7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 integrity: every non-NULL foreign key value must match an existing candidate key value, or be wholly NULL.</a:t>
            </a:r>
            <a:endParaRPr lang="en-US" sz="18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E7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constraints capture business rules the relational model has no built-in vocabulary for.</a:t>
            </a:r>
            <a:endParaRPr lang="en-US" sz="18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E7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 integrity enforcement differs by direction: referencing-side writes that would break it are always rejected; referenced-side deletes/updates offer a policy — RESTRICT, CASCADE, or SET NULL — chosen by what the relationship means.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rom Four Constraints to Enforcement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Four Constraints to Enforcement</a:t>
            </a:r>
            <a:endParaRPr lang="en-US" sz="1800" dirty="0"/>
          </a:p>
        </p:txBody>
      </p:sp>
      <p:sp>
        <p:nvSpPr>
          <p:cNvPr id="3" name="Text body"/>
          <p:cNvSpPr txBox="1"/>
          <p:nvPr/>
        </p:nvSpPr>
        <p:spPr>
          <a:xfrm>
            <a:off x="598640" y="1097280"/>
            <a:ext cx="1104472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Domain, entity, referential, and general constraints all describe the same goal: what is stored must reflect reality.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DBMS enforces them on every INSERT and UPDATE — your application code does not have to remember to check.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and entity violations are always rejected outright; referential violations depend on which side of the relationship changed.</a:t>
            </a:r>
            <a:endParaRPr lang="en-US" sz="1800" dirty="0"/>
          </a:p>
        </p:txBody>
      </p:sp>
      <p:sp>
        <p:nvSpPr>
          <p:cNvPr id="4" name="Footer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/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15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hy Constraints Matter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Constraints Matter</a:t>
            </a:r>
            <a:endParaRPr lang="en-US" sz="1800" dirty="0"/>
          </a:p>
        </p:txBody>
      </p:sp>
      <p:sp>
        <p:nvSpPr>
          <p:cNvPr id="3" name="Text body"/>
          <p:cNvSpPr txBox="1"/>
          <p:nvPr/>
        </p:nvSpPr>
        <p:spPr>
          <a:xfrm>
            <a:off x="598640" y="1097280"/>
            <a:ext cx="1104472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5’s schema says what shape data must take, but says nothing about whether a particular row makes sense.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in that schema stops a staff member with no ID, a salary of −5,000, or a property assigned to a branch that does not exist.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constraints close that gap, and the DBMS enforces them automatically.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query result is only trustworthy if the DBMS refused every write that would have made it false.</a:t>
            </a:r>
            <a:endParaRPr lang="en-US" sz="1800" dirty="0"/>
          </a:p>
        </p:txBody>
      </p:sp>
      <p:sp>
        <p:nvSpPr>
          <p:cNvPr id="4" name="Footer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/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orked Example: Reading the Foreign Keys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Reading the Foreign Keys</a:t>
            </a:r>
            <a:endParaRPr lang="en-US" sz="1800" dirty="0"/>
          </a:p>
        </p:txBody>
      </p:sp>
      <p:sp>
        <p:nvSpPr>
          <p:cNvPr id="3" name="Text"/>
          <p:cNvSpPr txBox="1"/>
          <p:nvPr/>
        </p:nvSpPr>
        <p:spPr>
          <a:xfrm>
            <a:off x="548640" y="1097280"/>
            <a:ext cx="1109472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PropertyForRent carries three foreign keys at once</a:t>
            </a:r>
            <a:endParaRPr lang="en-US" sz="1800" dirty="0"/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548640" y="1467280"/>
          <a:ext cx="11094720" cy="1680000"/>
        </p:xfrm>
        <a:graphic>
          <a:graphicData uri="http://schemas.openxmlformats.org/drawingml/2006/table">
            <a:tbl>
              <a:tblPr firstRow="1" bandRow="1"/>
              <a:tblGrid>
                <a:gridCol w="2773680"/>
                <a:gridCol w="2773680"/>
                <a:gridCol w="2773680"/>
                <a:gridCol w="2773680"/>
              </a:tblGrid>
              <a:tr h="420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key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exists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PropertyForRent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PrivateOwner(ownerNo)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owner lists the property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PropertyForRent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Staff(staffNo)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staff member manages 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PropertyForRent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Branch(branchNo)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branch it belongs 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body"/>
          <p:cNvSpPr txBox="1"/>
          <p:nvPr/>
        </p:nvSpPr>
        <p:spPr>
          <a:xfrm>
            <a:off x="598640" y="3397280"/>
            <a:ext cx="11044720" cy="29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find the primary key: propertyNo (underlined in the schema).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find each foreign key: the three attributes that reproduce another relation’s key.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check which of them may be NULL: staffNo may be NULL (an unassigned property); branchNo may not.</a:t>
            </a:r>
            <a:endParaRPr lang="en-US" sz="1800" dirty="0"/>
          </a:p>
        </p:txBody>
      </p:sp>
      <p:sp>
        <p:nvSpPr>
          <p:cNvPr id="6" name="Footer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/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5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orked Example: Testing Domain Constraints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Testing Domain Constraints</a:t>
            </a:r>
            <a:endParaRPr lang="en-US" sz="1800" dirty="0"/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548640" y="1097280"/>
          <a:ext cx="11094720" cy="1680000"/>
        </p:xfrm>
        <a:graphic>
          <a:graphicData uri="http://schemas.openxmlformats.org/drawingml/2006/table">
            <a:tbl>
              <a:tblPr firstRow="1" bandRow="1"/>
              <a:tblGrid>
                <a:gridCol w="3698240"/>
                <a:gridCol w="3698240"/>
                <a:gridCol w="3698240"/>
              </a:tblGrid>
              <a:tr h="420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Attempted row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 that applies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rooms = −2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(rooms &gt; 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= 'Cabin'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(type IN ('House', 'Flat'))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 = 22000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(rent &gt; 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body"/>
          <p:cNvSpPr txBox="1"/>
          <p:nvPr/>
        </p:nvSpPr>
        <p:spPr>
          <a:xfrm>
            <a:off x="598640" y="3027280"/>
            <a:ext cx="11044720" cy="32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is tested against one attribute’s domain in isolation — no other row is consulted.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value that fails any CHECK is refused before it is stored, so the bad value never exists in the table.</a:t>
            </a:r>
            <a:endParaRPr lang="en-US" sz="1800" dirty="0"/>
          </a:p>
        </p:txBody>
      </p:sp>
      <p:sp>
        <p:nvSpPr>
          <p:cNvPr id="5" name="Footer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/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7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orked Example: NULL in a Primary Key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NULL in a Primary Key</a:t>
            </a:r>
            <a:endParaRPr lang="en-US" sz="1800" dirty="0"/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548640" y="1097280"/>
          <a:ext cx="11094720" cy="1680000"/>
        </p:xfrm>
        <a:graphic>
          <a:graphicData uri="http://schemas.openxmlformats.org/drawingml/2006/table">
            <a:tbl>
              <a:tblPr firstRow="1" bandRow="1"/>
              <a:tblGrid>
                <a:gridCol w="2218944"/>
                <a:gridCol w="2218944"/>
                <a:gridCol w="2218944"/>
                <a:gridCol w="2218944"/>
                <a:gridCol w="2218944"/>
              </a:tblGrid>
              <a:tr h="420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viewDate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CR56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2026-06-01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remote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CR56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2026-06-15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 — key part is NULL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CR62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PA14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2026-05-26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Accepted — NULL comment is fine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body"/>
          <p:cNvSpPr txBox="1"/>
          <p:nvPr/>
        </p:nvSpPr>
        <p:spPr>
          <a:xfrm>
            <a:off x="598640" y="3027280"/>
            <a:ext cx="11044720" cy="32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Viewing(clientNo, propertyNo) is a composite key: every component must be non-NULL, not just one of them.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key attributes are covered by entity integrity; a NULL in a non-key attribute such as comment is legal.</a:t>
            </a:r>
            <a:endParaRPr lang="en-US" sz="1800" dirty="0"/>
          </a:p>
        </p:txBody>
      </p:sp>
      <p:sp>
        <p:nvSpPr>
          <p:cNvPr id="5" name="Footer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/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9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cap: Which Side Changed?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Recap: Which Side Changed?</a:t>
            </a:r>
            <a:endParaRPr lang="en-US" sz="1800" dirty="0"/>
          </a:p>
        </p:txBody>
      </p:sp>
      <p:sp>
        <p:nvSpPr>
          <p:cNvPr id="3" name="Text body"/>
          <p:cNvSpPr txBox="1"/>
          <p:nvPr/>
        </p:nvSpPr>
        <p:spPr>
          <a:xfrm>
            <a:off x="598640" y="1097280"/>
            <a:ext cx="1104472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into PropertyForRent with staffNo = SX99 → referencing side, no such staff member → always rejected.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with staffNo = NULL → legal, because a wholly NULL foreign key claims no relationship at all.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staff member SG14 who manages PA14 and PG4 → referenced side → the policy you declared (RESTRICT, CASCADE, or SET NULL) decides the outcome.</a:t>
            </a:r>
            <a:endParaRPr lang="en-US" sz="1800" dirty="0"/>
          </a:p>
        </p:txBody>
      </p:sp>
      <p:sp>
        <p:nvSpPr>
          <p:cNvPr id="4" name="Footer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/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11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orked Example: Checking a Business Rule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Checking a Business Rule</a:t>
            </a:r>
            <a:endParaRPr lang="en-US" sz="1800" dirty="0"/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548640" y="1097280"/>
          <a:ext cx="11094720" cy="1680000"/>
        </p:xfrm>
        <a:graphic>
          <a:graphicData uri="http://schemas.openxmlformats.org/drawingml/2006/table">
            <a:tbl>
              <a:tblPr firstRow="1" bandRow="1"/>
              <a:tblGrid>
                <a:gridCol w="3698240"/>
                <a:gridCol w="3698240"/>
                <a:gridCol w="3698240"/>
              </a:tblGrid>
              <a:tr h="420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rent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(rent BETWEEN 5000 AND 100000)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5000 ≤ 45000 ≤ 100000 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150000 &gt; 100000 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 &lt; 5000 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body"/>
          <p:cNvSpPr txBox="1"/>
          <p:nvPr/>
        </p:nvSpPr>
        <p:spPr>
          <a:xfrm>
            <a:off x="598640" y="3027280"/>
            <a:ext cx="11044720" cy="32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single-table CHECK like this one is easy for the DBMS to enforce directly.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that compare across rows (a manager’s salary above every assistant’s at the same branch) need triggers or application logic.</a:t>
            </a:r>
            <a:endParaRPr lang="en-US" sz="1800" dirty="0"/>
          </a:p>
        </p:txBody>
      </p:sp>
      <p:sp>
        <p:nvSpPr>
          <p:cNvPr id="5" name="Footer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/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13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tep by Step: Tracing a DELETE on Staff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by Step: Tracing a DELETE on Staff</a:t>
            </a:r>
            <a:endParaRPr lang="en-US" sz="1800" dirty="0"/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548640" y="1097280"/>
          <a:ext cx="11094720" cy="1680000"/>
        </p:xfrm>
        <a:graphic>
          <a:graphicData uri="http://schemas.openxmlformats.org/drawingml/2006/table">
            <a:tbl>
              <a:tblPr firstRow="1" bandRow="1"/>
              <a:tblGrid>
                <a:gridCol w="3698240"/>
                <a:gridCol w="3698240"/>
                <a:gridCol w="3698240"/>
              </a:tblGrid>
              <a:tr h="420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Declared action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 to PA14 and PG4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 of DELETE SG14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RESTRICT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Still reference SG14 → nothing changes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Refused with an error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CASCADE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rows are deleted as well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 row and both properties gone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NULL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rows kept, staffNo set to NULL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 row gone, properties unassigned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body"/>
          <p:cNvSpPr txBox="1"/>
          <p:nvPr/>
        </p:nvSpPr>
        <p:spPr>
          <a:xfrm>
            <a:off x="598640" y="3027280"/>
            <a:ext cx="11044720" cy="32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find the referencing rows: PA14 and PG4 both have staffNo = SG14.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apply the declared policy to those rows, then remove SG14.</a:t>
            </a:r>
            <a:endParaRPr lang="en-US" sz="1800" dirty="0"/>
          </a:p>
        </p:txBody>
      </p:sp>
      <p:sp>
        <p:nvSpPr>
          <p:cNvPr id="5" name="Footer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/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17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orked Example: Choosing a Referential Action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Choosing a Referential Action</a:t>
            </a:r>
            <a:endParaRPr lang="en-US" sz="1800" dirty="0"/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548640" y="1097280"/>
          <a:ext cx="11094720" cy="1680000"/>
        </p:xfrm>
        <a:graphic>
          <a:graphicData uri="http://schemas.openxmlformats.org/drawingml/2006/table">
            <a:tbl>
              <a:tblPr firstRow="1" bandRow="1"/>
              <a:tblGrid>
                <a:gridCol w="3698240"/>
                <a:gridCol w="3698240"/>
                <a:gridCol w="3698240"/>
              </a:tblGrid>
              <a:tr h="420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the child still make sense without its parent?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Choose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Viewing → Client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a viewing needs the client who made 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CASCADE or RESTRICT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PropertyForRent → Staff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a property can wait for a new manager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NULL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PropertyForRent → Branch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a property belongs to a branch (NOT NULL)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RESTRICT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body"/>
          <p:cNvSpPr txBox="1"/>
          <p:nvPr/>
        </p:nvSpPr>
        <p:spPr>
          <a:xfrm>
            <a:off x="598640" y="3027280"/>
            <a:ext cx="11044720" cy="32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if the referenced row disappears, does the referencing row still make sense on its own?</a:t>
            </a:r>
            <a:endParaRPr lang="en-US" sz="1800" dirty="0"/>
          </a:p>
        </p:txBody>
      </p:sp>
      <p:sp>
        <p:nvSpPr>
          <p:cNvPr id="5" name="Footer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/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19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ry It Yourself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</a:t>
            </a:r>
            <a:endParaRPr lang="en-US" sz="1800" dirty="0"/>
          </a:p>
        </p:txBody>
      </p:sp>
      <p:sp>
        <p:nvSpPr>
          <p:cNvPr id="3" name="Text body"/>
          <p:cNvSpPr txBox="1"/>
          <p:nvPr/>
        </p:nvSpPr>
        <p:spPr>
          <a:xfrm>
            <a:off x="598640" y="1097280"/>
            <a:ext cx="1104472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PrivateOwner CO46 is deleted and owns PA14 and PG4. Which referential action on PropertyForRent.ownerNo would you declare, and why?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CHECK constraint that keeps rooms positive and limits type to House or Flat, as it would appear in a CREATE TABLE statement.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a Viewing row with clientNo = NULL ever be legal? Justify your answer using entity integrity.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one general constraint for the agency that cannot be expressed as a simple domain check, and say how you would enforce it.</a:t>
            </a:r>
            <a:endParaRPr lang="en-US" sz="1800" dirty="0"/>
          </a:p>
        </p:txBody>
      </p:sp>
      <p:sp>
        <p:nvSpPr>
          <p:cNvPr id="4" name="Footer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/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2026-09-29T15:28:15Z</dcterms:created>
  <dcterms:modified xsi:type="dcterms:W3CDTF">2026-09-29T15:28:15Z</dcterms:modified>
</cp:coreProperties>
</file>
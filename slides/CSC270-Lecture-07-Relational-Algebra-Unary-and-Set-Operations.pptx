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7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42316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Algebra: Unary and Set Operations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617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34440"/>
            <a:ext cx="786384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relational algebra is, and its defining closure property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(σ) — filtering tuples by a predicate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(π) — filtering attributes (columns)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Composing SELECT and PROJECT together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 — UNION, INTERSECTION, SET DIFFERENCE — and union-compatibility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PRODUCT (×) — combining every tuple of one relation with every tuple of another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Algebra: Closure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procedural query language: every operator takes relation(s) and produces a relation. That's the closure property — an operator's output can feed directly into the next operator, just like (3+4)*2 in arithmetic.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2FE6C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084832"/>
            <a:ext cx="32461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(relation)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tuples, 5 attributes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087368" y="2574036"/>
            <a:ext cx="237744" cy="201168"/>
          </a:xfrm>
          <a:prstGeom prst="rightArrow">
            <a:avLst/>
          </a:prstGeom>
          <a:solidFill>
            <a:srgbClr val="C7CBCF"/>
          </a:solidFill>
          <a:ln/>
        </p:spPr>
      </p:sp>
      <p:sp>
        <p:nvSpPr>
          <p:cNvPr id="7" name="Shape 5"/>
          <p:cNvSpPr/>
          <p:nvPr/>
        </p:nvSpPr>
        <p:spPr>
          <a:xfrm>
            <a:off x="4343400" y="2011680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2084832"/>
            <a:ext cx="32461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salary&gt;20000 (Staff)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 relation — 2 tuples, 5 attributes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82128" y="2574036"/>
            <a:ext cx="237744" cy="201168"/>
          </a:xfrm>
          <a:prstGeom prst="rightArrow">
            <a:avLst/>
          </a:prstGeom>
          <a:solidFill>
            <a:srgbClr val="C7CBCF"/>
          </a:solidFill>
          <a:ln/>
        </p:spPr>
      </p:sp>
      <p:sp>
        <p:nvSpPr>
          <p:cNvPr id="10" name="Shape 8"/>
          <p:cNvSpPr/>
          <p:nvPr/>
        </p:nvSpPr>
        <p:spPr>
          <a:xfrm>
            <a:off x="8138160" y="2011680"/>
            <a:ext cx="3520440" cy="1325880"/>
          </a:xfrm>
          <a:prstGeom prst="roundRect">
            <a:avLst>
              <a:gd name="adj" fmla="val 4828"/>
            </a:avLst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0" y="2084832"/>
            <a:ext cx="324612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staffNo,name(...)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 relation — 2 tuples, 2 attributes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0" y="3794760"/>
          <a:ext cx="886968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749040"/>
                <a:gridCol w="201168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Covered 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Unary (one input)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(σ), PROJECT (π)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lecture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(two union-compatible inputs)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(∪), INTERSECTION (∩), DIFFERENCE (−)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lecture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(two inputs, any schema)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CARTESIAN PRODUCT (×)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lecture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 / Division (two related inputs)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⋈, θ-join, ÷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(σ) — Filtering Rows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the subset of tuples satisfying a predicate — filters rows, keeps every attribute. Same degree in and out, fewer (or equal) tuples.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find every staff member earning more than 20,000.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1418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salary&gt;20000 (Staff)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677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Staff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53949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371600"/>
                <a:gridCol w="1143000"/>
                <a:gridCol w="822960"/>
                <a:gridCol w="8229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White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Ford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Howe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Julie Lee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263640" y="226771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σ salary&gt;20000 (Staff)</a:t>
            </a:r>
            <a:endParaRPr lang="en-US" sz="12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560320"/>
          <a:ext cx="53949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371600"/>
                <a:gridCol w="1143000"/>
                <a:gridCol w="822960"/>
                <a:gridCol w="8229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White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SL41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Julie Lee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3492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4181C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22960" y="5486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here is not the SQL SELECT  </a:t>
            </a:r>
            <a:pPr indent="0" marL="0">
              <a:buNone/>
            </a:pPr>
            <a:r>
              <a:rPr lang="en-US" sz="120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corresponds to SQL's WHERE clause (row filtering). SQL's SELECT keyword corresponds to algebra's PROJECT (π) — choosing columns.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with a Compound Predicate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Predicates combine =, ≠, &lt;, &gt;, ≤, ≥ with ∧ (AND), ∨ (OR), ¬ (NOT).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staff at branch B003 earning more than 15,000.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1418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 branchNo='B003' ∧ salary&gt;15000 (Staff)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1762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exactly one row survives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2468880"/>
          <a:ext cx="53949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371600"/>
                <a:gridCol w="114300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Ford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3246120"/>
            <a:ext cx="110642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4290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by hand:  </a:t>
            </a:r>
            <a:pPr indent="0" marL="0">
              <a:buNone/>
            </a:pPr>
            <a:r>
              <a:rPr lang="en-US" sz="125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SL21 → B005, fails.  SG37 → B003 ✓, salary 12000, fails.  SG14 → B003 ✓, salary 18000&gt;15000 ✓ — kept.  SA9 → B007, fails.  SL41 → B005, fails. Result: {SG14} only.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(π) — Filtering Columns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a subset of attributes, discarding the rest — keeps every tuple that passes, narrowed to fewer columns.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list just the name and salary of every staff member.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1418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name, salary (Staff)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2219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π name, salary (Staff)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2514600"/>
          <a:ext cx="53949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28600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White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David Ford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Mary Howe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Julie Lee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Automatically Removes Duplicates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 can never contain duplicate tuples — so PROJECT removes any duplicate rows that result from dropping columns.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which distinct property types does the agency rent?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14181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373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type (PropertyForRent)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219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PropertyForRent (relevant columns)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5394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</a:tblGrid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PL94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263640" y="222199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π type (PropertyForRent) — 6 rows collapse to 2</a:t>
            </a:r>
            <a:endParaRPr lang="en-US" sz="12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514600"/>
          <a:ext cx="5394960" cy="914400"/>
        </p:xfrm>
        <a:graphic>
          <a:graphicData uri="http://schemas.openxmlformats.org/drawingml/2006/table">
            <a:tbl>
              <a:tblPr/>
              <a:tblGrid>
                <a:gridCol w="53949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263640" y="411480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appears 3 times and Flat 3 times in the source — the projected relation, being a true set, keeps each distinct value once. This is why SQL sometimes needs SELECT DISTINCT to be algebra-faithful.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Composing SELECT and PROJECT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staff number and name of every staff member earning more than 20,000.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801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staffNo, name (σ salary&gt;20000 (Staff))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7190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inside-out: σ filters first, then π narrows columns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2011680"/>
          <a:ext cx="5394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 White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SL41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Julie Lee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3246120"/>
            <a:ext cx="11064240" cy="2103120"/>
          </a:xfrm>
          <a:prstGeom prst="roundRect">
            <a:avLst>
              <a:gd name="adj" fmla="val 3478"/>
            </a:avLst>
          </a:prstGeom>
          <a:solidFill>
            <a:srgbClr val="14181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338328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 for what's still available</a:t>
            </a:r>
            <a:endParaRPr lang="en-US" sz="1350" dirty="0"/>
          </a:p>
          <a:p>
            <a:pPr indent="0" marL="0">
              <a:buNone/>
            </a:pPr>
            <a:r>
              <a:rPr lang="en-US" sz="125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 staffNo,name (σ salary&gt;20000 (Staff)) works because σ runs first, while salary is still present. Flip it to σ salary&gt;20000 (π staffNo,name (Staff)) and it fails outright — by the time σ runs, salary has already been projected away.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Operations &amp; Union-Compatibility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(∪), INTERSECTION (∩), and SET DIFFERENCE (−) are borrowed from set theory — a relation is a set of tuples. All three require the two inputs to be union-compatible.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Same degree</a:t>
            </a:r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the same number of attributes.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Same domain per position</a:t>
            </a:r>
            <a:pPr indent="0" marL="0">
              <a:buNone/>
            </a:pPr>
            <a:r>
              <a:rPr lang="en-US" sz="13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the i-th attribute of each relation holds comparable values (names don't have to match).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64240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51206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Union-compatible?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π staffNo (Staff)  vs.  π clientNo (Client)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both degree 1, both short alphanumeric-ID domains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(degree 5)  vs.  Branch (degree 4)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different degree, and salary vs. postcode domains don't line 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4023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Attempting Staff ∪ Branch is simply not a legal expression.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(∪)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staff at B003, OR earning more than 20,000 (or both).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staffNo (σ branchNo='B003' (Staff)) ∪ π staffNo (σ salary&gt;20000 (Staff))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562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branchNo='B003'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3383280" cy="914400"/>
        </p:xfrm>
        <a:graphic>
          <a:graphicData uri="http://schemas.openxmlformats.org/drawingml/2006/table">
            <a:tbl>
              <a:tblPr/>
              <a:tblGrid>
                <a:gridCol w="3383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251960" y="18562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salary&gt;20000</a:t>
            </a:r>
            <a:endParaRPr lang="en-US" sz="12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2148840"/>
          <a:ext cx="3383280" cy="914400"/>
        </p:xfrm>
        <a:graphic>
          <a:graphicData uri="http://schemas.openxmlformats.org/drawingml/2006/table">
            <a:tbl>
              <a:tblPr/>
              <a:tblGrid>
                <a:gridCol w="3383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955280" y="1856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UNION</a:t>
            </a:r>
            <a:endParaRPr lang="en-US" sz="120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2148840"/>
          <a:ext cx="3657600" cy="914400"/>
        </p:xfrm>
        <a:graphic>
          <a:graphicData uri="http://schemas.openxmlformats.org/drawingml/2006/table">
            <a:tbl>
              <a:tblPr/>
              <a:tblGrid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548640" y="4709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overlap between the two inputs here, so the union is simply all four rows combined: {SG37,SG14} ∪ {SL21,SL41} = {SG37,SG14,SL21,SL41}.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(∩)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staff at B003 AND earning more than 15,000.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staffNo (σ branchNo='B003' (Staff)) ∩ π staffNo (σ salary&gt;15000 (Staff))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562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{SG37, SG14}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3383280" cy="914400"/>
        </p:xfrm>
        <a:graphic>
          <a:graphicData uri="http://schemas.openxmlformats.org/drawingml/2006/table">
            <a:tbl>
              <a:tblPr/>
              <a:tblGrid>
                <a:gridCol w="3383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251960" y="18562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{SL21, SG14, SL41}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2148840"/>
          <a:ext cx="3383280" cy="914400"/>
        </p:xfrm>
        <a:graphic>
          <a:graphicData uri="http://schemas.openxmlformats.org/drawingml/2006/table">
            <a:tbl>
              <a:tblPr/>
              <a:tblGrid>
                <a:gridCol w="3383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955280" y="1856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INTERSECTION</a:t>
            </a:r>
            <a:endParaRPr lang="en-US" sz="12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2148840"/>
          <a:ext cx="3657600" cy="914400"/>
        </p:xfrm>
        <a:graphic>
          <a:graphicData uri="http://schemas.openxmlformats.org/drawingml/2006/table">
            <a:tbl>
              <a:tblPr/>
              <a:tblGrid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 txBox="1"/>
          <p:nvPr/>
        </p:nvSpPr>
        <p:spPr>
          <a:xfrm>
            <a:off x="548640" y="47091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SG14 appears in both sets — SG37 is B003 but doesn't clear 15,000; SL21/SL41 clear 15,000 but aren't at B003.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DIFFERENCE (−)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staff at B003 but NOT earning more than 15,000. Order matters — R−S ≠ S−R in general.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234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staffNo (σ branchNo='B003' (Staff)) − π staffNo (σ salary&gt;15000 (Staff))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562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{SG37, SG14}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3383280" cy="914400"/>
        </p:xfrm>
        <a:graphic>
          <a:graphicData uri="http://schemas.openxmlformats.org/drawingml/2006/table">
            <a:tbl>
              <a:tblPr/>
              <a:tblGrid>
                <a:gridCol w="3383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251960" y="185623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{SL21, SG14, SL41}</a:t>
            </a:r>
            <a:endParaRPr lang="en-US" sz="12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2148840"/>
          <a:ext cx="3383280" cy="914400"/>
        </p:xfrm>
        <a:graphic>
          <a:graphicData uri="http://schemas.openxmlformats.org/drawingml/2006/table">
            <a:tbl>
              <a:tblPr/>
              <a:tblGrid>
                <a:gridCol w="3383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7955280" y="1856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DIFFERENCE</a:t>
            </a:r>
            <a:endParaRPr lang="en-US" sz="12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55280" y="2148840"/>
          <a:ext cx="3657600" cy="914400"/>
        </p:xfrm>
        <a:graphic>
          <a:graphicData uri="http://schemas.openxmlformats.org/drawingml/2006/table">
            <a:tbl>
              <a:tblPr/>
              <a:tblGrid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548640" y="38862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4181C"/>
          </a:solidFill>
          <a:ln/>
        </p:spPr>
      </p:sp>
      <p:sp>
        <p:nvSpPr>
          <p:cNvPr id="13" name="Text 8"/>
          <p:cNvSpPr txBox="1"/>
          <p:nvPr/>
        </p:nvSpPr>
        <p:spPr>
          <a:xfrm>
            <a:off x="822960" y="40233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Sanity-check identity  </a:t>
            </a:r>
            <a:pPr indent="0" marL="0">
              <a:buNone/>
            </a:pPr>
            <a:r>
              <a:rPr lang="en-US" sz="1250" dirty="0">
                <a:solidFill>
                  <a:srgbClr val="D7DB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 ∩ S) and (R − S) together always reconstruct R exactly, no overlap: {SG14} + {SG37} = {SG37,SG14} — the original B003 staff set. Use this to double-check by-hand tracing.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PRODUCT (×)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EVERY tuple of R with EVERY tuple of S. Degree = sum of degrees; cardinality = product of cardinalities. No union-compatibility required.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418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173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FE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π clientNo (Client) × π propertyNo (σ city='Lahore' (PropertyForRent))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391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clientNo (3)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2377440" cy="914400"/>
        </p:xfrm>
        <a:graphic>
          <a:graphicData uri="http://schemas.openxmlformats.org/drawingml/2006/table">
            <a:tbl>
              <a:tblPr/>
              <a:tblGrid>
                <a:gridCol w="23774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7FD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063240" y="31089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4181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0632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703320" y="20391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Lahore propertyNo (3)</a:t>
            </a:r>
            <a:endParaRPr lang="en-US" sz="12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03320" y="2331720"/>
          <a:ext cx="2377440" cy="914400"/>
        </p:xfrm>
        <a:graphic>
          <a:graphicData uri="http://schemas.openxmlformats.org/drawingml/2006/table">
            <a:tbl>
              <a:tblPr/>
              <a:tblGrid>
                <a:gridCol w="23774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33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766560" y="203911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3 × 3 = 9 tuples</a:t>
            </a:r>
            <a:endParaRPr lang="en-US" sz="1200" dirty="0"/>
          </a:p>
        </p:txBody>
      </p:sp>
      <p:graphicFrame>
        <p:nvGraphicFramePr>
          <p:cNvPr id="4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2331720"/>
          <a:ext cx="48920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14600"/>
              </a:tblGrid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E6C4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CR62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148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PG36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548640" y="5577840"/>
            <a:ext cx="6035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A5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3×3=9 pairing is present, no filtering — including nonsense pairs like CR76 (maxRent 20,000) with PG4 (rent 35,000). This is exactly the limitation Lecture 8's joins fix.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Lecture 8 Picks Up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2194560"/>
            <a:ext cx="3520440" cy="1554480"/>
          </a:xfrm>
          <a:prstGeom prst="roundRect">
            <a:avLst>
              <a:gd name="adj" fmla="val 4118"/>
            </a:avLst>
          </a:prstGeom>
          <a:solidFill>
            <a:srgbClr val="2FE6C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267712"/>
            <a:ext cx="32461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× S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possible pairing — usually far too many rows to be useful alone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087368" y="2871216"/>
            <a:ext cx="237744" cy="201168"/>
          </a:xfrm>
          <a:prstGeom prst="rightArrow">
            <a:avLst/>
          </a:prstGeom>
          <a:solidFill>
            <a:srgbClr val="C7CBCF"/>
          </a:solidFill>
          <a:ln/>
        </p:spPr>
      </p:sp>
      <p:sp>
        <p:nvSpPr>
          <p:cNvPr id="6" name="Shape 4"/>
          <p:cNvSpPr/>
          <p:nvPr/>
        </p:nvSpPr>
        <p:spPr>
          <a:xfrm>
            <a:off x="4343400" y="2194560"/>
            <a:ext cx="3520440" cy="1554480"/>
          </a:xfrm>
          <a:prstGeom prst="roundRect">
            <a:avLst>
              <a:gd name="adj" fmla="val 4118"/>
            </a:avLst>
          </a:prstGeom>
          <a:solidFill>
            <a:srgbClr val="8B7FD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80560" y="2267712"/>
            <a:ext cx="32461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&lt;match&gt; (R×S)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only pairs satisfying a condition across both relations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82128" y="2871216"/>
            <a:ext cx="237744" cy="201168"/>
          </a:xfrm>
          <a:prstGeom prst="rightArrow">
            <a:avLst/>
          </a:prstGeom>
          <a:solidFill>
            <a:srgbClr val="C7CBCF"/>
          </a:solidFill>
          <a:ln/>
        </p:spPr>
      </p:sp>
      <p:sp>
        <p:nvSpPr>
          <p:cNvPr id="9" name="Shape 7"/>
          <p:cNvSpPr/>
          <p:nvPr/>
        </p:nvSpPr>
        <p:spPr>
          <a:xfrm>
            <a:off x="8138160" y="2194560"/>
            <a:ext cx="3520440" cy="1554480"/>
          </a:xfrm>
          <a:prstGeom prst="roundRect">
            <a:avLst>
              <a:gd name="adj" fmla="val 4118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2267712"/>
            <a:ext cx="32461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JOIN</a:t>
            </a:r>
            <a:endParaRPr lang="en-US" sz="130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F1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Lecture 8 formalizes as its own named operator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Algebra: Unary &amp; Set Operations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103327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algebra is procedural: every operator takes relation(s) and produces a relation — the closure property that lets operators nest arbitrarily deeply.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(σ) filters rows by a predicate; PROJECT (π) filters columns and auto-removes any resulting duplicate tuples.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SQL's SELECT/WHERE split maps onto algebra's π/σ almost exactly backwards from the naming.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UNION, INTERSECTION, and SET DIFFERENCE require union-compatible inputs: same degree, matching domains.</a:t>
            </a:r>
            <a:endParaRPr lang="en-US" sz="16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1600" dirty="0">
                <a:solidFill>
                  <a:srgbClr val="E7E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CARTESIAN PRODUCT needs no compatibility — it pairs every tuple with every tuple, and is almost always followed by a SELECT, which is exactly the idea Lecture 8's joins formalize.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2026-09-29T15:28:15Z</dcterms:created>
  <dcterms:modified xsi:type="dcterms:W3CDTF">2026-09-29T15:28:15Z</dcterms:modified>
</cp:coreProperties>
</file>
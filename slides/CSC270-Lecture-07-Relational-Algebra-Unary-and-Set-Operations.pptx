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72" r:id="rId23"/>
    <p:sldId id="260" r:id="rId6"/>
    <p:sldId id="273" r:id="rId24"/>
    <p:sldId id="261" r:id="rId7"/>
    <p:sldId id="262" r:id="rId8"/>
    <p:sldId id="263" r:id="rId9"/>
    <p:sldId id="274" r:id="rId25"/>
    <p:sldId id="264" r:id="rId10"/>
    <p:sldId id="275" r:id="rId26"/>
    <p:sldId id="265" r:id="rId11"/>
    <p:sldId id="266" r:id="rId12"/>
    <p:sldId id="267" r:id="rId13"/>
    <p:sldId id="268" r:id="rId14"/>
    <p:sldId id="276" r:id="rId27"/>
    <p:sldId id="269" r:id="rId15"/>
    <p:sldId id="277" r:id="rId28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  <Relationship Id="rId28" Type="http://schemas.openxmlformats.org/officeDocument/2006/relationships/slide" Target="slides/slide22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231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Algebra: Unary and Set Operations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78638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relational algebra is, and its defining closure property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(σ) — filtering tuples by a predicate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(π) — filtering attributes (columns)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Composing SELECT and PROJECT together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operations — UNION, INTERSECTION, SET DIFFERENCE — and union-compatibility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CARTESIAN PRODUCT (×) — combining every tuple of one relation with every tuple of another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Algebra: Closure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procedural query language: every operator takes relation(s) and produces a relation. That's the closure property — an operator's output can feed directly into the next operator, just like (3+4)*2 in arithmetic.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2084832"/>
            <a:ext cx="32461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(relation)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tuples, 5 attributes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087368" y="257403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7" name="Shape 5"/>
          <p:cNvSpPr/>
          <p:nvPr/>
        </p:nvSpPr>
        <p:spPr>
          <a:xfrm>
            <a:off x="4343400" y="201168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8B7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80560" y="2084832"/>
            <a:ext cx="32461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salary&gt;20000 (Staff)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 relation — 2 tuples, 5 attributes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82128" y="257403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0" name="Shape 8"/>
          <p:cNvSpPr/>
          <p:nvPr/>
        </p:nvSpPr>
        <p:spPr>
          <a:xfrm>
            <a:off x="8138160" y="201168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0" y="2084832"/>
            <a:ext cx="32461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staffNo,name(...)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 relation — 2 tuples, 2 attributes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0" y="3794760"/>
          <a:ext cx="88696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749040"/>
                <a:gridCol w="20116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Unary (one input)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(σ), PROJECT (π)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lecture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(two union-compatible inputs)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UNION (∪), INTERSECTION (∩), DIFFERENCE (−)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lecture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(two inputs, any schema)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CARTESIAN PRODUCT (×)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lecture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 / Division (two related inputs)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⋈, θ-join, 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(σ) — Filtering Rows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the subset of tuples satisfying a predicate — filters rows, keeps every attribute. Same degree in and out, fewer (or equal) tuples.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find every staff member earning more than 20,000.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salary&gt;20000 (Staff)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677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Staff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21600"/>
                <a:gridCol w="1143000"/>
                <a:gridCol w="822960"/>
                <a:gridCol w="9729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63640" y="22677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σ salary&gt;20000 (Staff)</a:t>
            </a:r>
            <a:endParaRPr lang="en-US" sz="18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560320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21600"/>
                <a:gridCol w="1143000"/>
                <a:gridCol w="822960"/>
                <a:gridCol w="9729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5349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4181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here is not the SQL SELECT  </a:t>
            </a:r>
            <a:pPr indent="0" marL="0">
              <a:buNone/>
            </a:pPr>
            <a:r>
              <a:rPr lang="en-US" sz="18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corresponds to SQL's WHERE clause (row filtering). SQL's SELECT keyword corresponds to algebra's PROJECT (π) — choosing columns.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with a Compound Predicate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Predicates combine =, ≠, &lt;, &gt;, ≤, ≥ with ∧ (AND), ∨ (OR), ¬ (NOT).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staff at branch B003 earning more than 15,000.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branchNo='B003' ∧ salary&gt;15000 (Staff)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1762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exactly one row survives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2468880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21600"/>
                <a:gridCol w="1143000"/>
                <a:gridCol w="822960"/>
                <a:gridCol w="97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3703320"/>
            <a:ext cx="11064240" cy="1554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88620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by hand:  </a:t>
            </a:r>
            <a:pPr indent="0" marL="0">
              <a:buNone/>
            </a:pPr>
            <a:r>
              <a:rPr lang="en-US" sz="18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SL21 → B005, fails.  SG37 → B003 ✓, salary 12000, fails.  SG14 → B003 ✓, salary 18000&gt;15000 ✓ — kept.  SA9 → B007, fails.  SL41 → B005, fails. Result: {SG14} only.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(π) — Filtering Columns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a subset of attributes, discarding the rest — keeps every tuple that passes, narrowed to fewer columns.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list just the name and salary of every staff member.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name, salary (Staff)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22199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π name, salary (Staff)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2514600"/>
          <a:ext cx="53949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Automatically Removes Duplicates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can never contain duplicate tuples — so PROJECT removes any duplicate rows that result from dropping columns.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which distinct property types does the agency rent?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type (PropertyForRent)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2199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PropertyForRent (relevant columns)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63640" y="222199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π type (PropertyForRent)</a:t>
            </a:r>
            <a:endParaRPr lang="en-US" sz="18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514600"/>
          <a:ext cx="5394960" cy="914400"/>
        </p:xfrm>
        <a:graphic>
          <a:graphicData uri="http://schemas.openxmlformats.org/drawingml/2006/table">
            <a:tbl>
              <a:tblPr/>
              <a:tblGrid>
                <a:gridCol w="5394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263640" y="4114800"/>
            <a:ext cx="5394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appears 3 times and Flat 3 times in the source — the projected relation, being a true set, keeps each distinct value once. This is why SQL sometimes needs SELECT DISTINCT to be algebra-faithful.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Composing SELECT and PROJECT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staff number and name of every staff member earning more than 20,000.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2801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staffNo, name (σ salary&gt;20000 (Staff))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inside-out: σ filters first, then π narrows columns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201168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24612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14181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for what's still available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staffNo,name (σ salary&gt;20000 (Staff)) works because σ runs first, while salary is still present. Flip it to σ salary&gt;20000 (π staffNo,name (Staff)) and it fails outright — by the time σ runs, salary has already been projected away.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Operations &amp; Union-Compatibility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(∪), INTERSECTION (∩), and SET DIFFERENCE (−) are borrowed from set theory — a relation is a set of tuples. All three require the two inputs to be union-compatible.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Same degree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the same number of attributes.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Same domain per position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the i-th attribute of each relation holds comparable values (names don't have to match).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Union-compatible?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staffNo (Staff)  vs.  π clientNo (Client)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both degree 1, both short alphanumeric-ID domains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(degree 5)  vs.  Branch (degree 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different degree, and salary vs. postcode domains don't line 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Attempting Staff ∪ Branch is simply not a legal expression.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(∪)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staff at B003, OR earning more than 20,000 (or both).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staffNo (σ branchNo='B003' (Staff)) ∪ π staffNo (σ salary&gt;20000 (Staff))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562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branchNo='B003'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3383280" cy="914400"/>
        </p:xfrm>
        <a:graphic>
          <a:graphicData uri="http://schemas.openxmlformats.org/drawingml/2006/table">
            <a:tbl>
              <a:tblPr/>
              <a:tblGrid>
                <a:gridCol w="3383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251960" y="18562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salary&gt;20000</a:t>
            </a:r>
            <a:endParaRPr lang="en-US" sz="18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2148840"/>
          <a:ext cx="3383280" cy="914400"/>
        </p:xfrm>
        <a:graphic>
          <a:graphicData uri="http://schemas.openxmlformats.org/drawingml/2006/table">
            <a:tbl>
              <a:tblPr/>
              <a:tblGrid>
                <a:gridCol w="3383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955280" y="1856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UNION</a:t>
            </a:r>
            <a:endParaRPr lang="en-US" sz="18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 between the two inputs here, so the union is simply all four rows combined: {SG37,SG14} ∪ {SL21,SL41} = {SG37,SG14,SL21,SL41}.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(∩)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staff at B003 AND earning more than 15,000.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staffNo (σ branchNo='B003' (Staff)) ∩ π staffNo (σ salary&gt;15000 (Staff))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562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{SG37, SG14}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3383280" cy="914400"/>
        </p:xfrm>
        <a:graphic>
          <a:graphicData uri="http://schemas.openxmlformats.org/drawingml/2006/table">
            <a:tbl>
              <a:tblPr/>
              <a:tblGrid>
                <a:gridCol w="3383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251960" y="18562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{SL21, SG14, SL41}</a:t>
            </a:r>
            <a:endParaRPr lang="en-US" sz="18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2148840"/>
          <a:ext cx="3383280" cy="914400"/>
        </p:xfrm>
        <a:graphic>
          <a:graphicData uri="http://schemas.openxmlformats.org/drawingml/2006/table">
            <a:tbl>
              <a:tblPr/>
              <a:tblGrid>
                <a:gridCol w="3383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955280" y="1856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INTERSECTION</a:t>
            </a:r>
            <a:endParaRPr lang="en-US" sz="18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SG14 appears in both sets — SG37 is B003 but doesn't clear 15,000; SL21/SL41 clear 15,000 but aren't at B003.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DIFFERENCE (−)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staff at B003 but NOT earning more than 15,000. Order matters — R−S ≠ S−R in general.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staffNo (σ branchNo='B003' (Staff)) − π staffNo (σ salary&gt;15000 (Staff))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562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{SG37, SG14}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3383280" cy="914400"/>
        </p:xfrm>
        <a:graphic>
          <a:graphicData uri="http://schemas.openxmlformats.org/drawingml/2006/table">
            <a:tbl>
              <a:tblPr/>
              <a:tblGrid>
                <a:gridCol w="3383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251960" y="18562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{SL21, SG14, SL41}</a:t>
            </a:r>
            <a:endParaRPr lang="en-US" sz="18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2148840"/>
          <a:ext cx="3383280" cy="914400"/>
        </p:xfrm>
        <a:graphic>
          <a:graphicData uri="http://schemas.openxmlformats.org/drawingml/2006/table">
            <a:tbl>
              <a:tblPr/>
              <a:tblGrid>
                <a:gridCol w="3383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955280" y="1856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DIFFERENCE</a:t>
            </a:r>
            <a:endParaRPr lang="en-US" sz="18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548640" y="38862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4181C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822960" y="40233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 identity  </a:t>
            </a:r>
            <a:pPr indent="0" marL="0">
              <a:buNone/>
            </a:pPr>
            <a:r>
              <a:rPr lang="en-US" sz="18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∩ S) and (R − S) together always reconstruct R exactly, no overlap: {SG14} + {SG37} = {SG37,SG14} — the original B003 staff set. Use this to double-check by-hand tracing.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CARTESIAN PRODUCT (×)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EVERY tuple of R with EVERY tuple of S. Degree = sum of degrees; cardinality = product of cardinalities. No union-compatibility required.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clientNo (Client) × π propertyNo (σ city='Lahore' (PropertyForRent))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677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clientNo (3)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2377440" cy="914400"/>
        </p:xfrm>
        <a:graphic>
          <a:graphicData uri="http://schemas.openxmlformats.org/drawingml/2006/table">
            <a:tbl>
              <a:tblPr/>
              <a:tblGrid>
                <a:gridCol w="23774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063240" y="33375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4181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063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03320" y="22677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Lahore propertyNo (3)</a:t>
            </a:r>
            <a:endParaRPr lang="en-US" sz="18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2560320"/>
          <a:ext cx="2377440" cy="914400"/>
        </p:xfrm>
        <a:graphic>
          <a:graphicData uri="http://schemas.openxmlformats.org/drawingml/2006/table">
            <a:tbl>
              <a:tblPr/>
              <a:tblGrid>
                <a:gridCol w="23774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766560" y="226771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3 × 3 = 9 tuples</a:t>
            </a:r>
            <a:endParaRPr lang="en-US" sz="18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560320"/>
          <a:ext cx="4892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14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548640" y="580644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3×3=9 pairing is present, no filtering — including nonsense pairs like CR76 (maxRent 20,000) with PG4 (rent 35,000). This is exactly the limitation Lecture 8's joins fix.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Lecture 8 Picks Up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2194560"/>
            <a:ext cx="3520440" cy="1554480"/>
          </a:xfrm>
          <a:prstGeom prst="roundRect">
            <a:avLst>
              <a:gd name="adj" fmla="val 4118"/>
            </a:avLst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267712"/>
            <a:ext cx="32461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× 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possible pairing — usually far too many rows to be useful alone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087368" y="287121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6" name="Shape 4"/>
          <p:cNvSpPr/>
          <p:nvPr/>
        </p:nvSpPr>
        <p:spPr>
          <a:xfrm>
            <a:off x="4343400" y="2194560"/>
            <a:ext cx="3520440" cy="1554480"/>
          </a:xfrm>
          <a:prstGeom prst="roundRect">
            <a:avLst>
              <a:gd name="adj" fmla="val 4118"/>
            </a:avLst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80560" y="2267712"/>
            <a:ext cx="32461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&lt;match&gt; (R×S)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pairs satisfying a condition across both relations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882128" y="287121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0" y="2194560"/>
            <a:ext cx="3520440" cy="1554480"/>
          </a:xfrm>
          <a:prstGeom prst="roundRect">
            <a:avLst>
              <a:gd name="adj" fmla="val 4118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2267712"/>
            <a:ext cx="32461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JOIN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Lecture 8 formalizes as its own named operator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Algebra: Unary &amp; Set Operations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algebra is procedural: every operator takes relation(s) and produces a relation — the closure property that lets operators nest arbitrarily deeply.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(σ) filters rows by a predicate; PROJECT (π) filters columns and auto-removes any resulting duplicate tuples.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SQL's SELECT/WHERE split maps onto algebra's π/σ almost exactly backwards from the naming.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INTERSECTION, and SET DIFFERENCE require union-compatible inputs: same degree, matching domains.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CARTESIAN PRODUCT needs no compatibility — it pairs every tuple with every tuple, and is almost always followed by a SELECT, which is exactly the idea Lecture 8's joins formalize.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22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Tracing a Nested Expression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a Nested Expression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innermost: σ salary&gt;20000 (Staff) keeps SL21 and SL41, with all five attributes still present.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π staffNo, name is applied to that two-tuple relation, giving SL21 John White and SL41 Julie Lee.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order fails: π staffNo, name first removes salary, so the selection has nothing to test.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for each operator, check which attributes must still exist at the moment it runs.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Tracing σ Row by Row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σ Row by Row</a:t>
            </a:r>
            <a:endParaRPr lang="en-US" sz="18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097280"/>
          <a:ext cx="11094720" cy="2520000"/>
        </p:xfrm>
        <a:graphic>
          <a:graphicData uri="http://schemas.openxmlformats.org/drawingml/2006/table">
            <a:tbl>
              <a:tblPr firstRow="1" bandRow="1"/>
              <a:tblGrid>
                <a:gridCol w="2218944"/>
                <a:gridCol w="2218944"/>
                <a:gridCol w="2218944"/>
                <a:gridCol w="2218944"/>
                <a:gridCol w="2218944"/>
              </a:tblGrid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 &gt; 20000?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body"/>
          <p:cNvSpPr txBox="1"/>
          <p:nvPr/>
        </p:nvSpPr>
        <p:spPr>
          <a:xfrm>
            <a:off x="598640" y="3867280"/>
            <a:ext cx="11044720" cy="244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write the predicate: salary &gt; 20000.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evaluate it for each tuple and keep the rows where it is true.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keep all five attributes: σ never removes columns.</a:t>
            </a:r>
            <a:endParaRPr lang="en-US" sz="1800" dirty="0"/>
          </a:p>
        </p:txBody>
      </p:sp>
      <p:sp>
        <p:nvSpPr>
          <p:cNvPr id="5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A Compound Predicate Row by Row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A Compound Predicate Row by Row</a:t>
            </a:r>
            <a:endParaRPr lang="en-US" sz="18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097280"/>
          <a:ext cx="11094720" cy="2520000"/>
        </p:xfrm>
        <a:graphic>
          <a:graphicData uri="http://schemas.openxmlformats.org/drawingml/2006/table">
            <a:tbl>
              <a:tblPr firstRow="1" bandRow="1"/>
              <a:tblGrid>
                <a:gridCol w="1849120"/>
                <a:gridCol w="1849120"/>
                <a:gridCol w="1849120"/>
                <a:gridCol w="1849120"/>
                <a:gridCol w="1849120"/>
                <a:gridCol w="1849120"/>
              </a:tblGrid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 = 'B003'?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 &gt; 15000?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body"/>
          <p:cNvSpPr txBox="1"/>
          <p:nvPr/>
        </p:nvSpPr>
        <p:spPr>
          <a:xfrm>
            <a:off x="598640" y="3867280"/>
            <a:ext cx="11044720" cy="244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predicate as two checks joined by ∧ (AND): only tuples that pass both survive.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SG14 passes both checks, so σ branchNo='B003' ∧ salary&gt;15000 (Staff) = {SG14}.</a:t>
            </a:r>
            <a:endParaRPr lang="en-US" sz="1800" dirty="0"/>
          </a:p>
        </p:txBody>
      </p:sp>
      <p:sp>
        <p:nvSpPr>
          <p:cNvPr id="5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ap: Unary Operators at a Glance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Unary Operators at a Glance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(sigma) selects ROWS by a predicate and keeps every attribute — the same job as SQL’s WHERE clause.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(pi) selects COLUMNS and removes duplicate tuples — the same job as SQL’s SELECT list (add DISTINCT for exact algebra behavior).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take one relation and return one relation, so they nest freely (closure).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σ before π when the filter needs a column that π would otherwise discard.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Union-Compatibility Check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Union-Compatibility Check</a:t>
            </a:r>
            <a:endParaRPr lang="en-US" sz="18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097280"/>
          <a:ext cx="11094720" cy="1680000"/>
        </p:xfrm>
        <a:graphic>
          <a:graphicData uri="http://schemas.openxmlformats.org/drawingml/2006/table">
            <a:tbl>
              <a:tblPr firstRow="1" bandRow="1"/>
              <a:tblGrid>
                <a:gridCol w="2773680"/>
                <a:gridCol w="2773680"/>
                <a:gridCol w="2773680"/>
                <a:gridCol w="2773680"/>
              </a:tblGrid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of relations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degree?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Domains line up position by position?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for ∪, ∩, −?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staffNo (Staff) and π clientNo (Client)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(1 and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both are identifier codes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and Branch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(5 vs 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salary vs postcode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and Staff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(5 and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identical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body"/>
          <p:cNvSpPr txBox="1"/>
          <p:nvPr/>
        </p:nvSpPr>
        <p:spPr>
          <a:xfrm>
            <a:off x="598640" y="3027280"/>
            <a:ext cx="11044720" cy="328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degree first (same number of attributes), then compare the domains of each position in turn.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names may differ (staffNo vs clientNo); only the domains must match.</a:t>
            </a:r>
            <a:endParaRPr lang="en-US" sz="1800" dirty="0"/>
          </a:p>
        </p:txBody>
      </p:sp>
      <p:sp>
        <p:nvSpPr>
          <p:cNvPr id="5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Counting a Cartesian Product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Counting a Cartesian Product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 × S| = |R| × |S|: 3 clients × 3 Lahore properties = 9 tuples.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adds: a degree-1 relation crossed with a degree-1 relation gives degree 2 (clientNo, propertyNo).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× Branch = 5 × 3 = 15 tuples of degree 9, with no matching condition — most pairs are meaningless.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following σ with a matching predicate turns this into a useful join (Lecture 8).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y It Yourself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π staffNo (σ branchNo='B005' (Staff)). How many rows come back, and why is there nothing to remove as a duplicate?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σ salary&gt;10000 ∧ branchNo='B003' (Staff) by hand. Which staff members survive?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π name (Staff) ∪ π name (Client) legal? Justify your answer using union-compatibility.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staffNo (Staff) × π staffNo (Staff) is allowed without compatibility. Why is it still useless without a following σ?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2026-09-29T15:28:15Z</dcterms:created>
  <dcterms:modified xsi:type="dcterms:W3CDTF">2026-09-29T15:28:15Z</dcterms:modified>
</cp:coreProperties>
</file>
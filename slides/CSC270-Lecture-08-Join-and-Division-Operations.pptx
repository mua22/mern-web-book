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9" r:id="rId20"/>
    <p:sldId id="259" r:id="rId5"/>
    <p:sldId id="270" r:id="rId21"/>
    <p:sldId id="260" r:id="rId6"/>
    <p:sldId id="271" r:id="rId22"/>
    <p:sldId id="261" r:id="rId7"/>
    <p:sldId id="262" r:id="rId8"/>
    <p:sldId id="272" r:id="rId23"/>
    <p:sldId id="263" r:id="rId9"/>
    <p:sldId id="264" r:id="rId10"/>
    <p:sldId id="265" r:id="rId11"/>
    <p:sldId id="273" r:id="rId24"/>
    <p:sldId id="266" r:id="rId12"/>
    <p:sldId id="267" r:id="rId13"/>
    <p:sldId id="274" r:id="rId25"/>
    <p:sldId id="275" r:id="rId26"/>
    <p:sldId id="276" r:id="rId27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  <Relationship Id="rId20" Type="http://schemas.openxmlformats.org/officeDocument/2006/relationships/slide" Target="slides/slide14.xml"/>
  <Relationship Id="rId21" Type="http://schemas.openxmlformats.org/officeDocument/2006/relationships/slide" Target="slides/slide15.xml"/>
  <Relationship Id="rId22" Type="http://schemas.openxmlformats.org/officeDocument/2006/relationships/slide" Target="slides/slide16.xml"/>
  <Relationship Id="rId23" Type="http://schemas.openxmlformats.org/officeDocument/2006/relationships/slide" Target="slides/slide17.xml"/>
  <Relationship Id="rId24" Type="http://schemas.openxmlformats.org/officeDocument/2006/relationships/slide" Target="slides/slide18.xml"/>
  <Relationship Id="rId25" Type="http://schemas.openxmlformats.org/officeDocument/2006/relationships/slide" Target="slides/slide19.xml"/>
  <Relationship Id="rId26" Type="http://schemas.openxmlformats.org/officeDocument/2006/relationships/slide" Target="slides/slide20.xml"/>
  <Relationship Id="rId27" Type="http://schemas.openxmlformats.org/officeDocument/2006/relationships/slide" Target="slides/slide21.xml"/>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cuinotes.co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cuinotes.com" TargetMode="Externa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cuinotes.com" TargetMode="Externa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cuinotes.com" TargetMode="Externa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cuinotes.com" TargetMode="Externa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cuinotes.com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cuinotes.com" TargetMode="Externa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cuinotes.com" TargetMode="Externa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cuinotes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8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42316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and Division Operations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605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CSC270 · Database Systems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6177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3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COMSATS University Islamabad, Lahore Campus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34440"/>
            <a:ext cx="786384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Theta join (θ-join) — Cartesian product plus an arbitrary comparison condition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Equijoin — the special case of theta join using only equality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join (⋈) — an equijoin with the duplicate attribute removed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joins — left, right, and full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(÷) — answering “find every X related to all of a given set of Y”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Extended Schema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PropertyForRent (9 attributes) — PG55 has staffNo = NULL</a:t>
            </a:r>
            <a:endParaRPr lang="en-US" sz="1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280160"/>
                <a:gridCol w="868680"/>
                <a:gridCol w="777240"/>
                <a:gridCol w="868680"/>
                <a:gridCol w="1051560"/>
                <a:gridCol w="1051560"/>
                <a:gridCol w="1051560"/>
              </a:tblGrid>
              <a:tr h="265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rooms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Lahore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CO46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Islamabad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CO87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Lahore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Lahore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CO93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SG37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Islamabad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CO93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Karachi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CO87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PG55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Lahore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CO46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i="1" dirty="0">
                          <a:solidFill>
                            <a:srgbClr val="919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(NULL)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9319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 (clientNo, propertyNo, viewDate, comment) — composite primary key</a:t>
            </a:r>
            <a:endParaRPr lang="en-US" sz="18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24528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2194560"/>
                <a:gridCol w="3383280"/>
              </a:tblGrid>
              <a:tr h="265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F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F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viewDate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F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FD9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2026-05-24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small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2026-06-01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remote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2026-06-15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i="1" dirty="0">
                          <a:solidFill>
                            <a:srgbClr val="919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(NULL)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CR62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2026-05-26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i="1" dirty="0">
                          <a:solidFill>
                            <a:srgbClr val="919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(NULL)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CR62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2026-06-14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dining room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2026-06-20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expensive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Theta Join (θ-Join)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14181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77240" y="9144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⋈θ S  ≡  σθ (R × S)      — θ can be =, ≠, &lt;, &gt;, ≤, ≥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46304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Query: which (client, Lahore property) pairs can the client actually afford — maxRent ≥ rent?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1064240" cy="777240"/>
          </a:xfrm>
          <a:prstGeom prst="roundRect">
            <a:avLst>
              <a:gd name="adj" fmla="val 17778"/>
            </a:avLst>
          </a:prstGeom>
          <a:solidFill>
            <a:srgbClr val="14181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18288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⋈ Client.maxRent ≥ PropertyForRent.rent (σ city='Lahore' (PropertyForRent))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77063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63240"/>
          <a:ext cx="35661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73736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F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maxRent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FD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CR62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343400" y="277063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Lahore properties</a:t>
            </a:r>
            <a:endParaRPr lang="en-US" sz="18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3063240"/>
          <a:ext cx="32918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55448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7863840" y="2770632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— 4 of 9 pairs survive</a:t>
            </a:r>
            <a:endParaRPr lang="en-US" sz="180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63840" y="3063240"/>
          <a:ext cx="37947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87452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CR62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CR62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548640" y="4892040"/>
            <a:ext cx="11064240" cy="1188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1E4E8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22960" y="502920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Tracing:  </a:t>
            </a:r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4A5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CR56(25000) vs PA14(22000)✓, PG4(35000)✗, PG36(24500)✓. CR62(30000) vs PA14✓, PG4✗, PG36✓. CR76(20000) vs PA14✗, PG4✗, PG36✗.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CR76 disappears entirely — none of the three Lahore properties fit their 20,000 budget.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Equijoin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theta join where θ is restricted to equality — the most common join, used whenever matching a foreign key to the primary key it references.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14181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50876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Staff ⋈ Staff.branchNo = Branch.branchNo Branch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3055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23160"/>
          <a:ext cx="338328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463040"/>
                <a:gridCol w="9144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F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F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FD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John White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SG37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 Beech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David Ford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Mary Howe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Julie Lee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160520" y="2130552"/>
            <a:ext cx="2331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</a:t>
            </a:r>
            <a:endParaRPr lang="en-US" sz="18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60520" y="2423160"/>
          <a:ext cx="23317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258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Lahore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Karachi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Islamabad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675120" y="2130552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— branchNo appears TWICE</a:t>
            </a:r>
            <a:endParaRPr lang="en-US" sz="180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2423160"/>
          <a:ext cx="49377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005840"/>
                <a:gridCol w="960120"/>
                <a:gridCol w="960120"/>
                <a:gridCol w="11430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Karachi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SG37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Beech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Lahore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Lahore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Islamabad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Karachi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548640" y="434340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14181C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822960" y="448056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defining flaw: the redundant column  </a:t>
            </a:r>
            <a:pPr indent="0" marL="0">
              <a:buNone/>
            </a:pPr>
            <a:r>
              <a:rPr lang="en-US" sz="1800" dirty="0">
                <a:solidFill>
                  <a:srgbClr val="D7DB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branchNo is listed twice, and by construction every value in both columns is identical. Carrying it around is wasteful. Natural join exists to fix this.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7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Join (⋈)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equijoin on ALL attributes the two relations have in common (by name), with the duplicate column dropped. Plain ⋈ with no condition almost always means natural join.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14181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4813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Staff ⋈ Branch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2084832"/>
            <a:ext cx="7406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— one branchNo column, same 5 rows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377440" y="2377440"/>
          <a:ext cx="74066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194560"/>
                <a:gridCol w="1737360"/>
                <a:gridCol w="22860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John White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Karachi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SG37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 Beech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Lahore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David Ford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Lahore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Mary Howe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Islamabad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Julie Lee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Karachi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4434840"/>
            <a:ext cx="3520440" cy="1234440"/>
          </a:xfrm>
          <a:prstGeom prst="roundRect">
            <a:avLst>
              <a:gd name="adj" fmla="val 5185"/>
            </a:avLst>
          </a:prstGeom>
          <a:solidFill>
            <a:srgbClr val="2FE6C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85800" y="4507992"/>
            <a:ext cx="324612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Theta join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1F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R×S, filtered by any comparison operator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087368" y="4951476"/>
            <a:ext cx="237744" cy="201168"/>
          </a:xfrm>
          <a:prstGeom prst="rightArrow">
            <a:avLst/>
          </a:prstGeom>
          <a:solidFill>
            <a:srgbClr val="C7CBCF"/>
          </a:solidFill>
          <a:ln/>
        </p:spPr>
      </p:sp>
      <p:sp>
        <p:nvSpPr>
          <p:cNvPr id="11" name="Shape 8"/>
          <p:cNvSpPr/>
          <p:nvPr/>
        </p:nvSpPr>
        <p:spPr>
          <a:xfrm>
            <a:off x="4343400" y="4434840"/>
            <a:ext cx="3520440" cy="1234440"/>
          </a:xfrm>
          <a:prstGeom prst="roundRect">
            <a:avLst>
              <a:gd name="adj" fmla="val 5185"/>
            </a:avLst>
          </a:prstGeom>
          <a:solidFill>
            <a:srgbClr val="8B7FD9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480560" y="4507992"/>
            <a:ext cx="324612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Equijoin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1F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Theta join, θ = "=" — keeps BOTH matched columns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7882128" y="4951476"/>
            <a:ext cx="237744" cy="201168"/>
          </a:xfrm>
          <a:prstGeom prst="rightArrow">
            <a:avLst/>
          </a:prstGeom>
          <a:solidFill>
            <a:srgbClr val="C7CBCF"/>
          </a:solidFill>
          <a:ln/>
        </p:spPr>
      </p:sp>
      <p:sp>
        <p:nvSpPr>
          <p:cNvPr id="14" name="Shape 11"/>
          <p:cNvSpPr/>
          <p:nvPr/>
        </p:nvSpPr>
        <p:spPr>
          <a:xfrm>
            <a:off x="8138160" y="4434840"/>
            <a:ext cx="3520440" cy="1234440"/>
          </a:xfrm>
          <a:prstGeom prst="roundRect">
            <a:avLst>
              <a:gd name="adj" fmla="val 5185"/>
            </a:avLst>
          </a:prstGeom>
          <a:solidFill>
            <a:srgbClr val="E8A33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275320" y="4507992"/>
            <a:ext cx="324612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join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1F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Equijoin on shared names — duplicate column removed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9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Joins: the Problem with Inner Join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join so far is an inner join: an unmatched tuple simply vanishes. Outer joins keep unmatched rows and pad the missing side with NULL.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14181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48132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Staff ⋈ PropertyForRent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10149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join — both SL41 (no properties) and PG55 (no staff) vanish</a:t>
            </a:r>
            <a:endParaRPr lang="en-US" sz="1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05840" y="2377440"/>
          <a:ext cx="101498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011680"/>
                <a:gridCol w="1920240"/>
                <a:gridCol w="2194560"/>
                <a:gridCol w="25603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David Ford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Lahore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David Ford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Lahore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Mary Howe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Islamabad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Mary Howe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Islamabad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SG37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 Beech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Lahore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John White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Karachi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Julie Lee (SL41) manages no properties at all; PG55 has no assigned staff (staffNo = NULL). Each outer join variant restores exactly one gap — or both.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10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OUTER JOIN (⟕)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every tuple of the left relation, padding with NULL where no match exists on the right.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14181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3716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Staff ⟕ PropertyForRent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993392"/>
            <a:ext cx="10149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staff member kept, even with zero properties</a:t>
            </a:r>
            <a:endParaRPr lang="en-US" sz="1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05840" y="2286000"/>
          <a:ext cx="101498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011680"/>
                <a:gridCol w="1920240"/>
                <a:gridCol w="2194560"/>
                <a:gridCol w="25603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David Ford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Lahore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David Ford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Lahore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Mary Howe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Islamabad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Mary Howe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Islamabad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SG37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 Beech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Lahore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John White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Karachi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Julie Lee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i="1" dirty="0">
                          <a:solidFill>
                            <a:srgbClr val="919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(NULL)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i="1" dirty="0">
                          <a:solidFill>
                            <a:srgbClr val="919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(NULL)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i="1" dirty="0">
                          <a:solidFill>
                            <a:srgbClr val="919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(NULL)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5394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SL41 is back, NULL filling every column that would have come from PropertyForRent — nothing on the left is ever dropped.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12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OUTER JOIN (⟖)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 to left outer join: keeps every tuple of the RIGHT relation instead.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14181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3716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Staff ⟖ PropertyForRent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993392"/>
            <a:ext cx="10149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property kept, even with no assigned staff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05840" y="2286000"/>
          <a:ext cx="101498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011680"/>
                <a:gridCol w="1920240"/>
                <a:gridCol w="2194560"/>
                <a:gridCol w="25603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David Ford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Lahore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David Ford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Lahore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Mary Howe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Islamabad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Mary Howe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Islamabad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SG37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 Beech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Lahore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John White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Karachi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i="1" dirty="0">
                          <a:solidFill>
                            <a:srgbClr val="919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(NULL)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i="1" dirty="0">
                          <a:solidFill>
                            <a:srgbClr val="919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(NULL)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PG55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Lahore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539496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PG55 (rent 19,000, no assigned staff) is back; SL41 is gone again — right outer join only ever protects rows from the right relation.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13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OUTER JOIN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every tuple from BOTH relations, padding with NULL on whichever side has no match.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1064240" cy="457200"/>
          </a:xfrm>
          <a:prstGeom prst="roundRect">
            <a:avLst>
              <a:gd name="adj" fmla="val 16000"/>
            </a:avLst>
          </a:prstGeom>
          <a:solidFill>
            <a:srgbClr val="14181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3716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Staff ⟗ PropertyForRent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993392"/>
            <a:ext cx="10149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from either side is ever dropped — 8 rows total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05840" y="2286000"/>
          <a:ext cx="101498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011680"/>
                <a:gridCol w="1920240"/>
                <a:gridCol w="2194560"/>
                <a:gridCol w="25603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F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F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F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F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FD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David Ford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Lahore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David Ford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Lahore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Mary Howe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PL94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Islamabad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Mary Howe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PG16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Islamabad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SG37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 Beech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Lahore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John White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PG21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Karachi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SL41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Julie Lee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i="1" dirty="0">
                          <a:solidFill>
                            <a:srgbClr val="919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(NULL)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i="1" dirty="0">
                          <a:solidFill>
                            <a:srgbClr val="919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(NULL)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i="1" dirty="0">
                          <a:solidFill>
                            <a:srgbClr val="919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(NULL)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i="1" dirty="0">
                          <a:solidFill>
                            <a:srgbClr val="919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(NULL)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i="1" dirty="0">
                          <a:solidFill>
                            <a:srgbClr val="9199A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(NULL)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PG55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Lahore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303520"/>
            <a:ext cx="11064240" cy="800100"/>
          </a:xfrm>
          <a:prstGeom prst="roundRect">
            <a:avLst>
              <a:gd name="adj" fmla="val 14545"/>
            </a:avLst>
          </a:prstGeom>
          <a:solidFill>
            <a:srgbClr val="14181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22960" y="5303520"/>
            <a:ext cx="10515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Picking fast: lose no left rows → left outer. Lose no right rows → right outer. Complete audit of both → full outer.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14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(÷)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Answers: “find every value of A associated, in every single case, with ALL of the values in some set of B.” Given R(A,B) and S(B), R÷S returns every a such that (a,b) exists in R for every tuple b in S.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8308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Query: which clients have viewed EVERY property located in Lahore?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21992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Divisor: Lahore propertyNo</a:t>
            </a:r>
            <a:endParaRPr lang="en-US" sz="1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14600"/>
          <a:ext cx="3108960" cy="914400"/>
        </p:xfrm>
        <a:graphic>
          <a:graphicData uri="http://schemas.openxmlformats.org/drawingml/2006/table">
            <a:tbl>
              <a:tblPr/>
              <a:tblGrid>
                <a:gridCol w="310896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33D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023360" y="222199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Dividend: π clientNo, propertyNo</a:t>
            </a:r>
            <a:endParaRPr lang="en-US" sz="18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23360" y="2514600"/>
          <a:ext cx="3657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FD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7FD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CR62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CR62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8046720" y="222199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clientNo</a:t>
            </a:r>
            <a:endParaRPr lang="en-US" sz="18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0" y="2514600"/>
          <a:ext cx="3566160" cy="914400"/>
        </p:xfrm>
        <a:graphic>
          <a:graphicData uri="http://schemas.openxmlformats.org/drawingml/2006/table">
            <a:tbl>
              <a:tblPr/>
              <a:tblGrid>
                <a:gridCol w="3566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E6C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4846320"/>
            <a:ext cx="11064240" cy="822960"/>
          </a:xfrm>
          <a:prstGeom prst="roundRect">
            <a:avLst>
              <a:gd name="adj" fmla="val 14545"/>
            </a:avLst>
          </a:prstGeom>
          <a:solidFill>
            <a:srgbClr val="14181C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777240" y="484632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E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π clientNo, propertyNo (Viewing) ÷ π propertyNo (σ city='Lahore' (PropertyForRent))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B7F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CR56 has viewed all three Lahore properties. Division has no notion of “mostly” — it's all-or-nothing.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16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Division, Worked by Hand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the dividend by clientNo and check whether that client's viewed-property set is a superset of the divisor {PA14, PG4, PG36}.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1417320"/>
          </a:xfrm>
          <a:prstGeom prst="roundRect">
            <a:avLst>
              <a:gd name="adj" fmla="val 4516"/>
            </a:avLst>
          </a:prstGeom>
          <a:solidFill>
            <a:srgbClr val="2FE6C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810512"/>
            <a:ext cx="324612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CR56 → {PA14,PG4,PG36}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1F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superset of divisor — KEPT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087368" y="2345436"/>
            <a:ext cx="237744" cy="201168"/>
          </a:xfrm>
          <a:prstGeom prst="rightArrow">
            <a:avLst/>
          </a:prstGeom>
          <a:solidFill>
            <a:srgbClr val="C7CBCF"/>
          </a:solidFill>
          <a:ln/>
        </p:spPr>
      </p:sp>
      <p:sp>
        <p:nvSpPr>
          <p:cNvPr id="7" name="Shape 5"/>
          <p:cNvSpPr/>
          <p:nvPr/>
        </p:nvSpPr>
        <p:spPr>
          <a:xfrm>
            <a:off x="4343400" y="1737360"/>
            <a:ext cx="3520440" cy="1417320"/>
          </a:xfrm>
          <a:prstGeom prst="roundRect">
            <a:avLst>
              <a:gd name="adj" fmla="val 4516"/>
            </a:avLst>
          </a:prstGeom>
          <a:solidFill>
            <a:srgbClr val="E8A3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480560" y="1810512"/>
            <a:ext cx="324612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CR62 → {PA14,PG4}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1F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PG36 — dropped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882128" y="2345436"/>
            <a:ext cx="237744" cy="201168"/>
          </a:xfrm>
          <a:prstGeom prst="rightArrow">
            <a:avLst/>
          </a:prstGeom>
          <a:solidFill>
            <a:srgbClr val="C7CBCF"/>
          </a:solidFill>
          <a:ln/>
        </p:spPr>
      </p:sp>
      <p:sp>
        <p:nvSpPr>
          <p:cNvPr id="10" name="Shape 8"/>
          <p:cNvSpPr/>
          <p:nvPr/>
        </p:nvSpPr>
        <p:spPr>
          <a:xfrm>
            <a:off x="8138160" y="1737360"/>
            <a:ext cx="3520440" cy="1417320"/>
          </a:xfrm>
          <a:prstGeom prst="roundRect">
            <a:avLst>
              <a:gd name="adj" fmla="val 4516"/>
            </a:avLst>
          </a:prstGeom>
          <a:solidFill>
            <a:srgbClr val="E8A3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75320" y="1810512"/>
            <a:ext cx="324612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CR76 → {PG4}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F1F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PA14, PG36 — dropped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11064240" cy="2423160"/>
          </a:xfrm>
          <a:prstGeom prst="roundRect">
            <a:avLst>
              <a:gd name="adj" fmla="val 3019"/>
            </a:avLst>
          </a:prstGeom>
          <a:solidFill>
            <a:srgbClr val="14181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3657600"/>
            <a:ext cx="10515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has no single native SQL keyword</a:t>
            </a:r>
            <a:endParaRPr lang="en-US" sz="18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rgbClr val="D7DB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SELECT, PROJECT, and the joins, division has to be built — typically with a double negation (“no Lahore property exists that this client has NOT viewed”) using nested NOT EXISTS subqueries, or GROUP BY plus HAVING COUNT(...) = (divisor count).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solid hand-traced mental model of division from examples like this is what makes that SQL pattern eventually click.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17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640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2FE6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051560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and Division Operations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65960"/>
            <a:ext cx="1033272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rgbClr val="E7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Theta join = Cartesian product + a SELECT with any comparison operator θ — the most general join.</a:t>
            </a:r>
            <a:endParaRPr lang="en-US" sz="18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rgbClr val="E7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Equijoin restricts θ to = and always leaves a redundant duplicate column behind.</a:t>
            </a:r>
            <a:endParaRPr lang="en-US" sz="18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rgbClr val="E7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join (⋈) is an equijoin on all commonly-named attributes, with the duplicate column automatically removed — the join you'll write most often.</a:t>
            </a:r>
            <a:endParaRPr lang="en-US" sz="18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rgbClr val="E7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joins preserve unmatched rows an inner join would drop: left keeps every left row, right keeps every right row, full keeps both, all padded with NULL.</a:t>
            </a:r>
            <a:endParaRPr lang="en-US" sz="1800" dirty="0"/>
          </a:p>
          <a:p>
            <a:pPr marL="228600" indent="-2286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rgbClr val="E7E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(÷) answers “find every A related to ALL of a given set of B” — group the dividend by A and keep groups whose B-values are a superset of the divisor; no single SQL keyword, usually NOT EXISTS or GROUP BY / HAVING COUNT.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21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Worked Example: Reading the Viewing Relation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Reading the Viewing Relation</a:t>
            </a:r>
            <a:endParaRPr lang="en-US" sz="1800" dirty="0"/>
          </a:p>
        </p:txBody>
      </p:sp>
      <p:sp>
        <p:nvSpPr>
          <p:cNvPr id="3" name="Text"/>
          <p:cNvSpPr txBox="1"/>
          <p:nvPr/>
        </p:nvSpPr>
        <p:spPr>
          <a:xfrm>
            <a:off x="548640" y="1097280"/>
            <a:ext cx="1109472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Viewing (clientNo, propertyNo, viewDate, comment)</a:t>
            </a:r>
            <a:endParaRPr lang="en-US" sz="1800" dirty="0"/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548640" y="1467280"/>
          <a:ext cx="11094720" cy="2310000"/>
        </p:xfrm>
        <a:graphic>
          <a:graphicData uri="http://schemas.openxmlformats.org/drawingml/2006/table">
            <a:tbl>
              <a:tblPr firstRow="1" bandRow="1"/>
              <a:tblGrid>
                <a:gridCol w="2773680"/>
                <a:gridCol w="2773680"/>
                <a:gridCol w="2773680"/>
                <a:gridCol w="2773680"/>
              </a:tblGrid>
              <a:tr h="33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viewDate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2026-05-24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small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2026-06-01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remote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2026-06-15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CR62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2026-05-26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CR62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2026-06-14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dining room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2026-06-20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expensive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5" name="Text body"/>
          <p:cNvSpPr txBox="1"/>
          <p:nvPr/>
        </p:nvSpPr>
        <p:spPr>
          <a:xfrm>
            <a:off x="598640" y="4027280"/>
            <a:ext cx="11044720" cy="228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pair (clientNo, propertyNo) is the composite key: one client views many properties, and one property is viewed by many clients.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comment is legal; a NULL clientNo or propertyNo would violate entity integrity.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PG55 has no assigned staff member, so it reappears in the outer-join examples below.</a:t>
            </a:r>
            <a:endParaRPr lang="en-US" sz="1800" dirty="0"/>
          </a:p>
        </p:txBody>
      </p:sp>
      <p:sp>
        <p:nvSpPr>
          <p:cNvPr id="6" name="Footer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Worked Example: Tracing the Theta Join by Hand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Tracing the Theta Join by Hand</a:t>
            </a:r>
            <a:endParaRPr lang="en-US" sz="1800" dirty="0"/>
          </a:p>
        </p:txBody>
      </p:sp>
      <p:sp>
        <p:nvSpPr>
          <p:cNvPr id="3" name="Text"/>
          <p:cNvSpPr txBox="1"/>
          <p:nvPr/>
        </p:nvSpPr>
        <p:spPr>
          <a:xfrm>
            <a:off x="548640" y="1097280"/>
            <a:ext cx="1109472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nine pairs from Lecture 7’s Cartesian product, tested against the condition</a:t>
            </a:r>
            <a:endParaRPr lang="en-US" sz="1800" dirty="0"/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548640" y="1467280"/>
          <a:ext cx="11094720" cy="3300000"/>
        </p:xfrm>
        <a:graphic>
          <a:graphicData uri="http://schemas.openxmlformats.org/drawingml/2006/table">
            <a:tbl>
              <a:tblPr firstRow="1" bandRow="1"/>
              <a:tblGrid>
                <a:gridCol w="2218944"/>
                <a:gridCol w="2218944"/>
                <a:gridCol w="2218944"/>
                <a:gridCol w="2218944"/>
                <a:gridCol w="2218944"/>
              </a:tblGrid>
              <a:tr h="33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maxRent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propertyNo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maxRent ≥ rent?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CR56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CR62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CR62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CR62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PA14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33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CR76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PG36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body"/>
          <p:cNvSpPr txBox="1"/>
          <p:nvPr/>
        </p:nvSpPr>
        <p:spPr>
          <a:xfrm>
            <a:off x="598640" y="5017280"/>
            <a:ext cx="11044720" cy="129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pair only when maxRent ≥ rent. Four pairs survive: CR56 and CR62 each pair with PA14 and PG36.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CR76 disappears entirely: none of the three Lahore properties fits a 20,000 budget.</a:t>
            </a:r>
            <a:endParaRPr lang="en-US" sz="1800" dirty="0"/>
          </a:p>
        </p:txBody>
      </p:sp>
      <p:sp>
        <p:nvSpPr>
          <p:cNvPr id="6" name="Footer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6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cap: Theta, Equijoin, and Natural Join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Recap: Theta, Equijoin, and Natural Join</a:t>
            </a:r>
            <a:endParaRPr lang="en-US" sz="18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548640" y="1097280"/>
          <a:ext cx="11094720" cy="1680000"/>
        </p:xfrm>
        <a:graphic>
          <a:graphicData uri="http://schemas.openxmlformats.org/drawingml/2006/table">
            <a:tbl>
              <a:tblPr firstRow="1" bandRow="1"/>
              <a:tblGrid>
                <a:gridCol w="2773680"/>
                <a:gridCol w="2773680"/>
                <a:gridCol w="2773680"/>
                <a:gridCol w="2773680"/>
              </a:tblGrid>
              <a:tr h="42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 column in result?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Theta join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comparison (=, ≠, &lt;, ≥, …)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both sides kept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 ⋈ (maxRent ≥ rent) PropertyForRent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Equijoin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equality only (=)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matched pair kept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⋈ (branchNo = branchNo) Branch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join (⋈)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equality on all same-named attributes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one copy removed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 ⋈ Branch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body"/>
          <p:cNvSpPr txBox="1"/>
          <p:nvPr/>
        </p:nvSpPr>
        <p:spPr>
          <a:xfrm>
            <a:off x="598640" y="3347320"/>
            <a:ext cx="11044720" cy="328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⋈ with no condition almost always means natural join.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joins (next slides) keep the unmatched rows that these inner joins silently drop.</a:t>
            </a:r>
            <a:endParaRPr lang="en-US" sz="1800" dirty="0"/>
          </a:p>
        </p:txBody>
      </p:sp>
      <p:sp>
        <p:nvSpPr>
          <p:cNvPr id="5" name="Footer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8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Worked Example: Which Rows Survive?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Which Rows Survive?</a:t>
            </a:r>
            <a:endParaRPr lang="en-US" sz="18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548640" y="1097280"/>
          <a:ext cx="11094720" cy="2100000"/>
        </p:xfrm>
        <a:graphic>
          <a:graphicData uri="http://schemas.openxmlformats.org/drawingml/2006/table">
            <a:tbl>
              <a:tblPr firstRow="1" bandRow="1"/>
              <a:tblGrid>
                <a:gridCol w="2773680"/>
                <a:gridCol w="2773680"/>
                <a:gridCol w="2773680"/>
                <a:gridCol w="2773680"/>
              </a:tblGrid>
              <a:tr h="42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Keeps SL41 (no properties)?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Keeps PG55 (no staff)?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in result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Inner (natural) join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 outer join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 outer join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outer join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4" name="Text body"/>
          <p:cNvSpPr txBox="1"/>
          <p:nvPr/>
        </p:nvSpPr>
        <p:spPr>
          <a:xfrm>
            <a:off x="598640" y="3447280"/>
            <a:ext cx="11044720" cy="286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which side you cannot afford to lose rows from; that side goes on the kept side of the join.</a:t>
            </a:r>
            <a:endParaRPr lang="en-US" sz="1800" dirty="0"/>
          </a:p>
        </p:txBody>
      </p:sp>
      <p:sp>
        <p:nvSpPr>
          <p:cNvPr id="5" name="Footer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11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tep by Step: Deriving a LEFT OUTER JOIN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by Step: Deriving a LEFT OUTER JOIN</a:t>
            </a:r>
            <a:endParaRPr lang="en-US" sz="1800" dirty="0"/>
          </a:p>
        </p:txBody>
      </p:sp>
      <p:sp>
        <p:nvSpPr>
          <p:cNvPr id="3" name="Text body"/>
          <p:cNvSpPr txBox="1"/>
          <p:nvPr/>
        </p:nvSpPr>
        <p:spPr>
          <a:xfrm>
            <a:off x="598640" y="1097280"/>
            <a:ext cx="1104472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compute the inner join Staff ⋈ PropertyForRent: six matched rows.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find the left-side rows that never matched: Julie Lee (SL41) manages no property.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append SL41 with NULL in every PropertyForRent column: seven rows in total.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— a RIGHT outer join would instead append PG55 (no staff) with NULLs on the Staff side.</a:t>
            </a:r>
            <a:endParaRPr lang="en-US" sz="1800" dirty="0"/>
          </a:p>
        </p:txBody>
      </p:sp>
      <p:sp>
        <p:nvSpPr>
          <p:cNvPr id="4" name="Footer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15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cap: Choosing the Right Join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Recap: Choosing the Right Join</a:t>
            </a:r>
            <a:endParaRPr lang="en-US" sz="18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/>
        </p:nvGraphicFramePr>
        <p:xfrm>
          <a:off x="548640" y="1097280"/>
          <a:ext cx="11094720" cy="2100000"/>
        </p:xfrm>
        <a:graphic>
          <a:graphicData uri="http://schemas.openxmlformats.org/drawingml/2006/table">
            <a:tbl>
              <a:tblPr firstRow="1" bandRow="1"/>
              <a:tblGrid>
                <a:gridCol w="5547360"/>
                <a:gridCol w="5547360"/>
              </a:tblGrid>
              <a:tr h="42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you need to…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C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every staff member, whether or not they manage a property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 OUTER JOIN (Staff ⟕ PropertyForRent)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every property, whether or not it has an assigned staff member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 OUTER JOIN (Staff ⟖ PropertyForRent)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both sides with no gaps anywhere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OUTER JOIN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 only the matched pairs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42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 (inner) join — simpler, and usually faster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4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8F9"/>
                    </a:solidFill>
                  </a:tcPr>
                </a:tc>
              </a:tr>
            </a:tbl>
          </a:graphicData>
        </a:graphic>
      </p:graphicFrame>
      <p:sp>
        <p:nvSpPr>
          <p:cNvPr id="4" name="Footer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18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Worked Example: Division Against Every Property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Division Against Every Property</a:t>
            </a:r>
            <a:endParaRPr lang="en-US" sz="1800" dirty="0"/>
          </a:p>
        </p:txBody>
      </p:sp>
      <p:sp>
        <p:nvSpPr>
          <p:cNvPr id="3" name="Text body"/>
          <p:cNvSpPr txBox="1"/>
          <p:nvPr/>
        </p:nvSpPr>
        <p:spPr>
          <a:xfrm>
            <a:off x="598640" y="1097280"/>
            <a:ext cx="1104472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Divisor: π propertyNo (PropertyForRent) — all seven properties in the agency, not just Lahore’s three.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each client: has any client viewed all seven? No — so no client’s group contains the full divisor.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an empty relation. An empty result is still a correct answer: the query asks for a universal condition, and nothing satisfies it.</a:t>
            </a:r>
            <a:endParaRPr lang="en-US" sz="1800" dirty="0"/>
          </a:p>
        </p:txBody>
      </p:sp>
      <p:sp>
        <p:nvSpPr>
          <p:cNvPr id="4" name="Footer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19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ry It Yourself">
    <p:bg>
      <p:bgPr>
        <a:solidFill>
          <a:srgbClr val="F7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9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Yourself</a:t>
            </a:r>
            <a:endParaRPr lang="en-US" sz="1800" dirty="0"/>
          </a:p>
        </p:txBody>
      </p:sp>
      <p:sp>
        <p:nvSpPr>
          <p:cNvPr id="3" name="Text body"/>
          <p:cNvSpPr txBox="1"/>
          <p:nvPr/>
        </p:nvSpPr>
        <p:spPr>
          <a:xfrm>
            <a:off x="598640" y="1097280"/>
            <a:ext cx="1104472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Hand-trace PropertyForRent ⋈ (ownerNo = ownerNo) PrivateOwner. List the resulting rows, and state which attribute appears twice.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that equijoin into a natural join and state exactly which column disappears.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Viewing ⋈ Client on clientNo. Would a RIGHT OUTER JOIN Viewing ⟖ Client add rows? Justify by checking whether every Client has a matching Viewing.</a:t>
            </a:r>
            <a:endParaRPr lang="en-US" sz="1800" dirty="0"/>
          </a:p>
          <a:p>
            <a:pPr marL="228600" indent="-2286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π clientNo, propertyNo (Viewing) ÷ π propertyNo (PropertyForRent). Explain why an empty result is still correct.</a:t>
            </a:r>
            <a:endParaRPr lang="en-US" sz="1800" dirty="0"/>
          </a:p>
        </p:txBody>
      </p:sp>
      <p:sp>
        <p:nvSpPr>
          <p:cNvPr id="4" name="Footer"/>
          <p:cNvSpPr txBox="1"/>
          <p:nvPr/>
        </p:nvSpPr>
        <p:spPr>
          <a:xfrm>
            <a:off x="9951415" y="6455664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u="sng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/>
              </a:rPr>
              <a:t>cuinotes.com</a:t>
            </a:r>
            <a:pPr algn="r" indent="0" marL="0">
              <a:buNone/>
            </a:pPr>
            <a:r>
              <a:rPr lang="en-US" sz="1200" dirty="0">
                <a:solidFill>
                  <a:srgbClr val="8A93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2026-09-29T15:28:15Z</dcterms:created>
  <dcterms:modified xsi:type="dcterms:W3CDTF">2026-09-29T15:28:15Z</dcterms:modified>
</cp:coreProperties>
</file>
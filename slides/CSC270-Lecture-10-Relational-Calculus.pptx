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317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what an answer looks like, not how to compute it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Lecture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3677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as a declarative query language, vs. algebra's procedural style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95144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Codd's theorem: algebra, tuple calculus, and domain calculus are equally expressive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953512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 (TRC): tuple variables, { T | F(T) 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61188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Relational Calculus (DRC): one domain variable per attribute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270248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Quantifiers: existential (∃) and universal (∀), written ¬∃¬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92861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of expressions: why some valid formulas are meaningless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vs. Declarative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is procedural: π name (σ salary &gt; 20000 (Staff)) names an explicit sequence of steps.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is declarative: you write a description of what a qualifying tuple looks like, and leave every “how” decision to the DBMS's optimizer.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3362858" cy="1828800"/>
          </a:xfrm>
          <a:prstGeom prst="roundRect">
            <a:avLst>
              <a:gd name="adj" fmla="val 4000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538728"/>
            <a:ext cx="317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4379976"/>
            <a:ext cx="31434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— an explicit sequence of operators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02938" y="4343400"/>
            <a:ext cx="4114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14418" y="3429000"/>
            <a:ext cx="3362858" cy="1828800"/>
          </a:xfrm>
          <a:prstGeom prst="roundRect">
            <a:avLst>
              <a:gd name="adj" fmla="val 4000"/>
            </a:avLst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05858" y="3538728"/>
            <a:ext cx="317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24146" y="4379976"/>
            <a:ext cx="31434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— describes a qualifying tuple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7277" y="4343400"/>
            <a:ext cx="4114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88757" y="3429000"/>
            <a:ext cx="3362858" cy="1828800"/>
          </a:xfrm>
          <a:prstGeom prst="roundRect">
            <a:avLst>
              <a:gd name="adj" fmla="val 4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80197" y="3538728"/>
            <a:ext cx="317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Relational Calculus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98485" y="4379976"/>
            <a:ext cx="31434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— describes qualifying attribute values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40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languages, one expressive power — Codd's theorem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Codd's Theorem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1371600"/>
          </a:xfrm>
          <a:prstGeom prst="roundRect">
            <a:avLst>
              <a:gd name="adj" fmla="val 466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8366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1039947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F. Codd proved that relational algebra and relational calculus (restricted to safe expressions) have exactly the same expressive power: any query expressible in one is expressible in the other, and vice versa.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109115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this query in algebra” and “write this query in calculus” are two views of the same underlying question — never two different problems.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met properly in Unit 6, is itself calculus-flavored: WHERE salary &gt; 20000 is a description, not a step-by-step procedure.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120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calculus dialects come from predicate calculus (first-order logic): a query is a formula that is either true or false for a given tuple, and the result is everything for which the formula evaluates true.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 and Tuple Variables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F(T) }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as: “the set of all tuples T such that formula F(T) is true.”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is a tuple variable — it ranges over an entire relation, one whole row at a time.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attribute values are accessed with dot notation: T.salary, T.name — exactly like a struct field.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920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 (staffNo, name, position, salary, branchNo)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267712"/>
          <a:ext cx="4480560" cy="914400"/>
        </p:xfrm>
        <a:graphic>
          <a:graphicData uri="http://schemas.openxmlformats.org/drawingml/2006/table">
            <a:tbl>
              <a:tblPr/>
              <a:tblGrid>
                <a:gridCol w="896112"/>
                <a:gridCol w="896112"/>
                <a:gridCol w="896112"/>
                <a:gridCol w="896112"/>
                <a:gridCol w="896112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Julie Lee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and Projection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names and salaries of staff earning more than 20000”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1F24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TRC:     { S.name, S.salary | Staff(S) ∧ S.salary &gt; 20000 }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Algebra: π name, salary (σ salary &gt; 20000 (Staff))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— both expressions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76472"/>
          <a:ext cx="4206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Julie Lee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303520" y="3429000"/>
            <a:ext cx="6248095" cy="1417320"/>
          </a:xfrm>
          <a:prstGeom prst="roundRect">
            <a:avLst>
              <a:gd name="adj" fmla="val 4516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59552" y="3575304"/>
            <a:ext cx="5736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559552" y="3886200"/>
            <a:ext cx="573603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Staff(S) restricts S to range only over tuples of the Staff relation — every valid TRC formula must include this kind of “range” condition, or the query is meaningless (see Safety, later).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Whole Tuples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all staff who work at branch B003” — want entire rows back, not a subset of columns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1F24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TRC:     { S | Staff(S) ∧ S.branchNo = 'B003' }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Algebra: σ branchNo = 'B003' (Staff)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— both expressions above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76472"/>
          <a:ext cx="10911535" cy="914400"/>
        </p:xfrm>
        <a:graphic>
          <a:graphicData uri="http://schemas.openxmlformats.org/drawingml/2006/table">
            <a:tbl>
              <a:tblPr/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Relational Calculus and Domain Variables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x1, x2, ..., xn | F(x1, x2, ..., xn) }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uses one variable per attribute value — a domain variable — instead of one variable per tuple.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xi ranges over the domain of one attribute.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domain variable appearing in the result must be free; every other variable needed to state relation membership must be existentially quantified with ∃.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 vs. DRC — Same Query, Two Notations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288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 — one variable, dot notation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4815688" cy="1188720"/>
          </a:xfrm>
          <a:prstGeom prst="roundRect">
            <a:avLst>
              <a:gd name="adj" fmla="val 6154"/>
            </a:avLst>
          </a:prstGeom>
          <a:solidFill>
            <a:srgbClr val="1F24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514600"/>
            <a:ext cx="4267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S.name, S.salary |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Staff(S) ∧ S.salary &gt; 20000 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737360"/>
            <a:ext cx="527288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07328" y="192024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— one variable per attribute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07328" y="2331720"/>
            <a:ext cx="4815688" cy="1920240"/>
          </a:xfrm>
          <a:prstGeom prst="roundRect">
            <a:avLst>
              <a:gd name="adj" fmla="val 3810"/>
            </a:avLst>
          </a:prstGeom>
          <a:solidFill>
            <a:srgbClr val="1F24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81648" y="2514600"/>
            <a:ext cx="4267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name, salary |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∃sNo, pos, bNo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(Staff(sNo, name, pos,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salary, bNo)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∧ salary &gt; 20000) }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1663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formulas describe the identical set of (name, salary) pairs, and both equal π name, salary (σ salary&gt;20000 (Staff)) — Codd's theorem made concrete: three notations, one answer.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 Quantification Across Relations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becomes more expressive than a single σ/π pair once a query must reach into a second relation — exactly what a join does in algebra.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(clientNo, name, telNo, prefType, maxRent)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24912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Kay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Aline Stewart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Mike Ritchie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Viewing (clientNo, propertyNo, viewDate, comment)</a:t>
            </a:r>
            <a:endParaRPr lang="en-US" sz="12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724912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PG4, PG36, PG21 are all in Lahore (branch B003); PA14 is in Islamabad, PL94 is in Karachi.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Who Viewed a Lahore Property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554480"/>
          </a:xfrm>
          <a:prstGeom prst="roundRect">
            <a:avLst>
              <a:gd name="adj" fmla="val 4706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TRC: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C.name | Client(C) ∧ (∃V)(Viewing(V) ∧ V.clientNo = C.clientNo ∧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(∃P)(PropertyForRent(P) ∧ P.propertyNo = V.propertyNo ∧ P.city = 'Lahore')) }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Algebra: π name ( Client ⋈ ( Viewing ⋈ (σ city='Lahore' (PropertyForRent)) ) 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CR56 (Aline Stewart) viewed PG4 and PG36 — both Lahore, so she qualifies.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CR74 (Mike Ritchie) viewed PG21, PG4, PG36 — all Lahore, so he qualifies too.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CR76 (John Kay) viewed only PA14, in Islamabad — he does not qualify.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3566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3913632"/>
          <a:ext cx="2743200" cy="914400"/>
        </p:xfrm>
        <a:graphic>
          <a:graphicData uri="http://schemas.openxmlformats.org/drawingml/2006/table">
            <a:tbl>
              <a:tblPr/>
              <a:tblGrid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Aline Stewart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Mike Ritchie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Quantification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asks “does at least one match exist?” Its partner ∀ asks “does every one match?”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has no separate ∀ symbol in its common presentation — it is expressed with the identity: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1F24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0632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 (P(x))  ≡  ¬∃x (¬P(x))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947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x satisfies P” means exactly “there is no x that fails P.” This is the natural way to state questions like “clients who have viewed every property a branch manages.”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Who Viewed Every B003 Property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B003's properties are {PG4, PG36, PG21}.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1F24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C.name | Client(C) ∧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¬(∃P)(PropertyForRent(P) ∧ P.branchNo = 'B003' ∧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¬(∃V)(Viewing(V) ∧ V.clientNo = C.clientNo ∧ V.propertyNo = P.propertyNo)) 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CR74 (Mike Ritchie) viewed all three B003 properties — no unviewed property exists for him; he qualifies.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CR56 (Aline Stewart) never viewed PG21 — that missing viewing is the counter-example; she fails.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CR76 (John Kay) viewed none of the three — fails immediately.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3639312"/>
          <a:ext cx="2651760" cy="914400"/>
        </p:xfrm>
        <a:graphic>
          <a:graphicData uri="http://schemas.openxmlformats.org/drawingml/2006/table">
            <a:tbl>
              <a:tblPr/>
              <a:tblGrid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Mike Ritchie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5349240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" y="54955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5806440"/>
            <a:ext cx="1039947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algebra equivalent is division (÷): π clientNo,propertyNo (Viewing) ÷ π propertyNo (σ branchNo='B003' (PropertyForRent)) returns the same single-row answer, reached by a completely different mechanical process.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of Expressions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 | ¬Staff(S) }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109115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literally: “every tuple that is not in Staff” — an infinite set of every possible combination of values.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whose result could be infinite, or whose truth depends on values outside any named relation, is unsafe.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is safe only when its result is guaranteed finite and drawn entirely from the domains of the relations it mentions.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10911535" cy="1188720"/>
          </a:xfrm>
          <a:prstGeom prst="roundRect">
            <a:avLst>
              <a:gd name="adj" fmla="val 5385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49926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5303520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Codd's theorem only covers safe expressions. Every algebra expression translates to a safe calculus formula, but a careless formula (like the negation above) may have no algebra equivalent at all.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Query, Three Notations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754880"/>
                <a:gridCol w="329184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Algebra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&gt; 20000, name &amp; salary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{S.name,S.salary | Staff(S) ∧ S.salary&gt;20000}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name,salary (σ salary&gt;20000 (Staff))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staff at branch B003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 | Staff(S) ∧ S.branchNo='B003'}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branchNo='B003' (Staff)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 who viewed a Lahore property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∃ across Client, Viewing, PropertyForRent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joins, filtered first with 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 who viewed every B003 property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¬∃¬ (universal quantification)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(÷)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7568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is declarative (“what the answer looks like”) vs. algebra's procedural style — Codd's theorem guarantees equal power over safe expressions.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529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 queries have the form {T | F(T)}, where T is a tuple variable accessed with dot notation.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6301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uses one domain variable per attribute value, existentially quantifying every attribute not in the result.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4074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asks “does at least one match exist”; ∀, written ¬∃¬, asks “does every one match” — and corresponds to algebra's division.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8464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is safe only when finite and every variable is tied to a named relation — unsafe formulas have no algebra equivalent.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cuinotes.com</dc:creator>
  <cp:lastModifiedBy>cuinotes.com</cp:lastModifiedBy>
  <cp:revision>1</cp:revision>
  <dcterms:created xsi:type="dcterms:W3CDTF">2026-09-29T15:30:09Z</dcterms:created>
  <dcterms:modified xsi:type="dcterms:W3CDTF">2026-09-29T15:30:09Z</dcterms:modified>
</cp:coreProperties>
</file>
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19"/>
    <p:sldId id="261" r:id="rId7"/>
    <p:sldId id="262" r:id="rId8"/>
    <p:sldId id="269" r:id="rId20"/>
    <p:sldId id="270" r:id="rId21"/>
    <p:sldId id="263" r:id="rId9"/>
    <p:sldId id="271" r:id="rId22"/>
    <p:sldId id="264" r:id="rId10"/>
    <p:sldId id="272" r:id="rId23"/>
    <p:sldId id="265" r:id="rId11"/>
    <p:sldId id="273" r:id="rId24"/>
    <p:sldId id="266" r:id="rId12"/>
    <p:sldId id="274" r:id="rId25"/>
    <p:sldId id="275" r:id="rId26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
  <Relationship Id="rId20" Type="http://schemas.openxmlformats.org/officeDocument/2006/relationships/slide" Target="slides/slide14.xml"/>
  <Relationship Id="rId21" Type="http://schemas.openxmlformats.org/officeDocument/2006/relationships/slide" Target="slides/slide15.xml"/>
  <Relationship Id="rId22" Type="http://schemas.openxmlformats.org/officeDocument/2006/relationships/slide" Target="slides/slide16.xml"/>
  <Relationship Id="rId23" Type="http://schemas.openxmlformats.org/officeDocument/2006/relationships/slide" Target="slides/slide17.xml"/>
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317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and Database Design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fuzzy business conversation to precise tables, columns, and keys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5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Lecture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3677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modeling comes before building anything, not after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295144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data models — capturing meaning, independent of technology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953512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models — adding relational structure, still DBMS-independent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611880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 as this course's specific focus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270248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conceptual → logical → relational schema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92861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considerations that separate a good design from a merely working one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Model Before You Build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model is a shared vocabulary for data, its relationships, and its constraints — letting a designer, a client, and a DBMS agree on what “a branch” or “a viewing” means before any SQL is written.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a technology-specific answer to a business question — separating “what does the business need?” from “how do we implement it?” lets you get the meaning right first, cheaply.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10911535" cy="1645920"/>
          </a:xfrm>
          <a:prstGeom prst="roundRect">
            <a:avLst>
              <a:gd name="adj" fmla="val 4375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26110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4572000"/>
            <a:ext cx="10399471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getting this wrong compounds: a missing requirement caught during modeling costs a conversation and a redrawn diagram. The same requirement, caught after production data depends on the shape, can cost a multi-week migration.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→ Logical → Relational Schema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651760" y="1691640"/>
            <a:ext cx="6888175" cy="1249680"/>
          </a:xfrm>
          <a:prstGeom prst="roundRect">
            <a:avLst>
              <a:gd name="adj" fmla="val 5854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80360" y="1764792"/>
            <a:ext cx="6430975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2266493"/>
            <a:ext cx="6430975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things, and how do they relate?” — technology-independent, for business stakeholders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5848" y="2941320"/>
            <a:ext cx="0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51760" y="3261360"/>
            <a:ext cx="6888175" cy="1249680"/>
          </a:xfrm>
          <a:prstGeom prst="roundRect">
            <a:avLst>
              <a:gd name="adj" fmla="val 5854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3334512"/>
            <a:ext cx="6430975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model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3836213"/>
            <a:ext cx="6430975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tables, columns, and keys does this need?” — DBMS-product-independent, for designers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5848" y="4511040"/>
            <a:ext cx="0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51760" y="4831080"/>
            <a:ext cx="6888175" cy="1249680"/>
          </a:xfrm>
          <a:prstGeom prst="roundRect">
            <a:avLst>
              <a:gd name="adj" fmla="val 5854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80360" y="4904232"/>
            <a:ext cx="6430975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5405933"/>
            <a:ext cx="6430975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CREATE TABLE actually say?” — concrete data types and DBMS-specific detail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Data Models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technology-independent description of an organization's data: the entities (things to track), relationships (connections), and attributes (properties).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mention of tables, columns, data types, or which DBMS will run it.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Entity-Relationship (ER) model, next lecture's subject, is the standard notation for building conceptual models.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branch employs several staff.” “A client may view several properties, and a property may be viewed by several clients.” “Each property is owned by exactly one private owner.”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754880"/>
            <a:ext cx="10911535" cy="1234440"/>
          </a:xfrm>
          <a:prstGeom prst="roundRect">
            <a:avLst>
              <a:gd name="adj" fmla="val 5185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490118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5212080"/>
            <a:ext cx="1039947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model should survive a change of DBMS unchanged. If moving from PostgreSQL to Oracle forces you to redraw it, the model was capturing implementation detail, not business meaning.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LEVEL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Models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1153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entities, relationships, and attributes from the conceptual model and organizes them according to the rules of a particular family of data model — relational, hierarchical, network, or object-oriented.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works entirely within the relational family: a logical model means a complete set of relation schemas — names, attributes, primary keys, foreign keys — with no data types or storage details yet.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“what relations do we need, and how do they reference each other?” — not “is salary a DECIMAL(8,2) or an INT?”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Properties of a Good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3818" cy="32004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faithfully represents every entity, relationship, and business rule the organization actually has — no more, no less.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3938" y="1783080"/>
            <a:ext cx="3423818" cy="32004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8258" y="205740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825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58258" y="26974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Non-redundancy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58258" y="320040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fact is not stored in more than one place, so it can never drift out of sync (the motivation for normalization, Unit 5).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27797" y="1783080"/>
            <a:ext cx="3423818" cy="32004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2117" y="20574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02117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26974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under real use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02117" y="320040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supports the queries, transactions, and volume of data the organization will actually throw at it.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911535" cy="1371600"/>
          </a:xfrm>
          <a:prstGeom prst="roundRect">
            <a:avLst>
              <a:gd name="adj" fmla="val 5600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52212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5532120"/>
            <a:ext cx="10399471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 is not the same as “writing SQL.” Syntactically perfect CREATE TABLE statements can still represent the business incorrectly — SQL syntax accepts it without complaint; design discipline catches it anyway.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 → Logical Model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strong entity type becomes a relation; the entity's identifying attribute becomes the primary key.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simple attribute becomes a column of that relation.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relationship type becomes a foreign key (1:1, 1:N) or an entirely new relation (M:N) — the precise rule depends on cardinality, covered fully in Lecture 12.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09360" y="169164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6916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6309360" y="1883664"/>
            <a:ext cx="2011680" cy="1920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19088" y="169164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55664" y="2130552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postcode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— an ER entity type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380000" y="1691640"/>
            <a:ext cx="345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 — the mapped relation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0000" y="2423160"/>
          <a:ext cx="3450000" cy="914400"/>
        </p:xfrm>
        <a:graphic>
          <a:graphicData uri="http://schemas.openxmlformats.org/drawingml/2006/table">
            <a:tbl>
              <a:tblPr/>
              <a:tblGrid>
                <a:gridCol w="1000000"/>
                <a:gridCol w="760000"/>
                <a:gridCol w="810000"/>
                <a:gridCol w="880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 Main 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Deer 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Karachi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40080" y="47548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lost — every attribute became a column and the identifying attribute became the primary key — but nothing was added either: no data type, no index, no storage engine.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Model → Relational Schema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data types for every attribute — DECIMAL(8,2), INTEGER, or NUMERIC?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constraints — NOT NULL, CHECK constraints enforcing domain rules.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strategy — primary keys and foreign keys, at minimum.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 and DBMS-specific CREATE TABLE syntax.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92240" y="1737360"/>
            <a:ext cx="4846320" cy="2971800"/>
          </a:xfrm>
          <a:prstGeom prst="roundRect">
            <a:avLst>
              <a:gd name="adj" fmla="val 2759"/>
            </a:avLst>
          </a:prstGeom>
          <a:solidFill>
            <a:srgbClr val="1F24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66560" y="1920240"/>
            <a:ext cx="429768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Branch (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branchNo  CHAR(4)      NOT NULL,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street    VARCHAR(40)  NOT NULL,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      VARCHAR(30)  NOT NULL,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postcode  CHAR(5)      NOT NULL,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PRIMARY KEY (branchNo)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10911535" cy="1188720"/>
          </a:xfrm>
          <a:prstGeom prst="roundRect">
            <a:avLst>
              <a:gd name="adj" fmla="val 5385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49926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5303520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Connolly's textbook calls this final translation step physical database design — unlike the logical model, it is allowed, even expected, to differ between DBMS products and trade conceptual purity for performance.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 Considerations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315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to 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any fact stored in more than one place?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anomalies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inserting, updating, or deleting one row corrupt or lose other facts?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Appropriate keys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primary key stable and minimal?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Referential integrity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every foreign key correctly reference a real, enforced primary key?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and volume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this design still perform acceptably at 100x the current data volume?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and access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every user see every column (e.g. salary)?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Naming consistency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attribute names consistent across every relation that shares a domain?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CHECK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Sanity Check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1463040"/>
          </a:xfrm>
          <a:prstGeom prst="roundRect">
            <a:avLst>
              <a:gd name="adj" fmla="val 4375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8366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94560"/>
            <a:ext cx="1039947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relation, read its name and attributes as a sentence: “A Branch has a branchNo, a street, a city, and a postcode.” If the sentence sounds natural and every attribute clearly belongs to that one thing, the relation is probably well-formed.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find yourself saying “…and also the name and address of whoever manages it” for a relation that isn't Staff, that's redundancy trying to sneak in — exactly what Unit 5's normalization theory formalizes and eliminates.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and Database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7568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builds a shared, precise vocabulary before any technology commitment is made.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529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 (technology-independent) → logical model (relational structure, DBMS-independent) → relational schema (concrete types, constraints, syntax).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6301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 is judged by correctness, non-redundancy, and robustness under real use — not merely “does the SQL compile.”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4074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conceptual → logical: entity → relation, attribute → column, relationship → foreign key or new relation depending on cardinality.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8464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syntactically correct schema can still be a poor design — always check redundancy, anomalies, keys, integrity, growth, and security.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EXAMPLE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Conversation into a Conceptual Model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say “a branch employs several staff”: entities Branch and Staff, joined by one relationship Has (1:N).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say “a client may view several properties”: entities Client and PropertyForRent, joined by Views (M:N).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say “each property is owned by exactly one private owner”: entities PrivateOwner and PropertyForRent, joined by Owns (1:N).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become entity types (Branch, Staff, Client, PropertyForRent, PrivateOwner); verbs become relationships (Has, Views, Owns); facts about each thing become attributes (staffNo, salary, rent).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754880"/>
            <a:ext cx="10911535" cy="1234440"/>
          </a:xfrm>
          <a:prstGeom prst="roundRect">
            <a:avLst>
              <a:gd name="adj" fmla="val 5185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490118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5212080"/>
            <a:ext cx="1039947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model should survive a change of DBMS unchanged. If moving from PostgreSQL to Oracle forces you to redraw it, the model was capturing implementation detail, not business meaning.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in Practice: An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3818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copy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 also stores the owner's name and address next to ownerNo, for convenience.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3938" y="1783080"/>
            <a:ext cx="3423818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8258" y="205740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825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58258" y="26974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anomaly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58258" y="320040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owner's address in one row and the copies in other rows silently go stale.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27797" y="1783080"/>
            <a:ext cx="3423818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2117" y="20574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02117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26974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inconsistency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02117" y="320040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rows for the same owner can now disagree, and no constraint in the schema will complain.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911535" cy="1143000"/>
          </a:xfrm>
          <a:prstGeom prst="roundRect">
            <a:avLst>
              <a:gd name="adj" fmla="val 5600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50383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5349240"/>
            <a:ext cx="1039947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is more than untidy: it is the root cause of update, insert and delete anomalies. Normalization in Unit 5 removes it systematically.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ANOMALY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Wrong: An Update Anomaly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1463040"/>
          </a:xfrm>
          <a:prstGeom prst="roundRect">
            <a:avLst>
              <a:gd name="adj" fmla="val 4375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8366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94560"/>
            <a:ext cx="1039947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PropertyForRent stores ownerName and ownerAddress. Owner CO46 owns PA14 and PG4, so the same address is written into two rows.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owner moves. Updating only PA14 leaves PG4 with the old address: two rows disagree about one fact, and nothing in the schema complained.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Staff: Entity to Relation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is a strong entity: staffNo identifies each occurrence on its own, so staffNo becomes the primary key.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simple attributes name, position, and salary each become a column of the Staff relation.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 relationship (1:N to Branch) becomes a foreign key, branchNo, placed on the Staff side.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09360" y="169164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6916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6309360" y="1883664"/>
            <a:ext cx="2011680" cy="19202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19088" y="169164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55664" y="2130552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— an ER entity type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 — the mapped relation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3920" y="2423160"/>
          <a:ext cx="3200400" cy="914400"/>
        </p:xfrm>
        <a:graphic>
          <a:graphicData uri="http://schemas.openxmlformats.org/drawingml/2006/table">
            <a:tbl>
              <a:tblPr/>
              <a:tblGrid>
                <a:gridCol w="740000"/>
                <a:gridCol w="680000"/>
                <a:gridCol w="1140000"/>
                <a:gridCol w="640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40080" y="47548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foreign key branchNo is left out of this table to keep it to the entity's own attributes; it is added once the Has relationship is mapped.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for Staff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data types: staffNo CHAR(4), name VARCHAR(40), salary DECIMAL(8,2).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on every column that must always hold a value.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(salary &gt; 0) enforces a domain rule from Lecture 6.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 key on branchNo references Branch, so every staff row points at a real branch.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92240" y="1737360"/>
            <a:ext cx="4846320" cy="2971800"/>
          </a:xfrm>
          <a:prstGeom prst="roundRect">
            <a:avLst>
              <a:gd name="adj" fmla="val 2759"/>
            </a:avLst>
          </a:prstGeom>
          <a:solidFill>
            <a:srgbClr val="1F24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66560" y="1920240"/>
            <a:ext cx="429768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Staff (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staffNo  CHAR(4)      NOT NULL,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 VARCHAR(40)  NOT NULL,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salary   DECIMAL(8,2) NOT NULL, CHECK (salary &gt; 0),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branchNo CHAR(4)      NOT NULL,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PRIMARY KEY (staffNo),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FOREIGN KEY (branchNo) REFERENCES Branch(branchNo) 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10911535" cy="1188720"/>
          </a:xfrm>
          <a:prstGeom prst="roundRect">
            <a:avLst>
              <a:gd name="adj" fmla="val 5385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49926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5303520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and FOREIGN KEY lines enforce rules the business already has; they change how the rules are stored, never what they mean.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APPLIED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Checklist to Staff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1463040"/>
          </a:xfrm>
          <a:prstGeom prst="roundRect">
            <a:avLst>
              <a:gd name="adj" fmla="val 4375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8366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94560"/>
            <a:ext cx="1039947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Staff member has a staffNo, a name, a position, and a salary, and works at exactly one branch.” Every attribute belongs to that one thing, so the sentence test passes.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check: Staff does not repeat branch name or address. Those live only in Branch, so a branch move changes one row, not every staff row.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Turn: Does This Relation Pass?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1463040"/>
          </a:xfrm>
          <a:prstGeom prst="roundRect">
            <a:avLst>
              <a:gd name="adj" fmla="val 4375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8366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94560"/>
            <a:ext cx="1039947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Relation: Viewing (clientNo, propertyNo, viewDate, comment). Read it as a sentence and decide whether each attribute belongs to the viewing event. Pause before the next slide.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a viewing is an event between one client and one property, so viewDate and comment describe the pairing. That is why they belong in Viewing, not in Client.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Step by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651760" y="1691640"/>
            <a:ext cx="6888175" cy="1249680"/>
          </a:xfrm>
          <a:prstGeom prst="roundRect">
            <a:avLst>
              <a:gd name="adj" fmla="val 5854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80360" y="1764792"/>
            <a:ext cx="6430975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2266493"/>
            <a:ext cx="6430975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say “a branch employs several staff”: entities and relationships, no tables yet.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5848" y="2941320"/>
            <a:ext cx="0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51760" y="3261360"/>
            <a:ext cx="6888175" cy="1249680"/>
          </a:xfrm>
          <a:prstGeom prst="roundRect">
            <a:avLst>
              <a:gd name="adj" fmla="val 5854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3334512"/>
            <a:ext cx="6430975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model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3836213"/>
            <a:ext cx="6430975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entity becomes a relation with a primary key; each 1:N becomes a foreign key.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5848" y="4511040"/>
            <a:ext cx="0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51760" y="4831080"/>
            <a:ext cx="6888175" cy="1249680"/>
          </a:xfrm>
          <a:prstGeom prst="roundRect">
            <a:avLst>
              <a:gd name="adj" fmla="val 5854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80360" y="4904232"/>
            <a:ext cx="6430975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5405933"/>
            <a:ext cx="6430975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types, NOT NULL, CHECK and FOREIGN KEY, written in DBMS syntax.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cuinotes.com</dc:creator>
  <cp:lastModifiedBy>cuinotes.com</cp:lastModifiedBy>
  <cp:revision>1</cp:revision>
  <dcterms:created xsi:type="dcterms:W3CDTF">2026-09-29T15:28:30Z</dcterms:created>
  <dcterms:modified xsi:type="dcterms:W3CDTF">2026-09-29T15:28:30Z</dcterms:modified>
</cp:coreProperties>
</file>
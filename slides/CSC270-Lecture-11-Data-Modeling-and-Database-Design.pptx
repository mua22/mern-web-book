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74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3172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Modeling and Database Design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434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fuzzy business conversation to precise tables, columns, and keys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006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166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57C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COMSATS University Islamabad, Lahore Campus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Lecture Covers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636776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data modeling comes before building anything, not after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350008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350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295144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data models — capturing meaning, independent of technology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008376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008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953512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data models — adding relational structure, still DBMS-independent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666744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666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3611880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database design as this course's specific focus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325112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325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270248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conceptual → logical → relational schema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4983480"/>
            <a:ext cx="365760" cy="36576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983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4928616"/>
            <a:ext cx="103446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considerations that separate a good design from a merely working one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Model Before You Build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model is a shared vocabulary for data, its relationships, and its constraints — letting a designer, a client, and a DBMS agree on what “a branch” or “a viewing” means before any SQL is written.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are a technology-specific answer to a business question — separating “what does the business need?” from “how do we implement it?” lets you get the meaning right first, cheaply.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4114800"/>
            <a:ext cx="10911535" cy="1463040"/>
          </a:xfrm>
          <a:prstGeom prst="roundRect">
            <a:avLst>
              <a:gd name="adj" fmla="val 4375"/>
            </a:avLst>
          </a:prstGeom>
          <a:solidFill>
            <a:srgbClr val="FCF1E3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426110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4572000"/>
            <a:ext cx="10399471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getting this wrong compounds: a missing requirement caught during modeling costs a conversation and a redrawn diagram. The same requirement, caught after production data depends on the shape, can cost a multi-week migration.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LEVELS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→ Logical → Relational Schema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651760" y="1691640"/>
            <a:ext cx="6888175" cy="1249680"/>
          </a:xfrm>
          <a:prstGeom prst="roundRect">
            <a:avLst>
              <a:gd name="adj" fmla="val 5854"/>
            </a:avLst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880360" y="1764792"/>
            <a:ext cx="6430975" cy="524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model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880360" y="2266493"/>
            <a:ext cx="6430975" cy="599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are the things, and how do they relate?” — technology-independent, for business stakeholders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095848" y="2941320"/>
            <a:ext cx="0" cy="32004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651760" y="3261360"/>
            <a:ext cx="6888175" cy="1249680"/>
          </a:xfrm>
          <a:prstGeom prst="roundRect">
            <a:avLst>
              <a:gd name="adj" fmla="val 5854"/>
            </a:avLst>
          </a:prstGeom>
          <a:solidFill>
            <a:srgbClr val="8B7F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80360" y="3334512"/>
            <a:ext cx="6430975" cy="524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model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3836213"/>
            <a:ext cx="6430975" cy="599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tables, columns, and keys does this need?” — DBMS-product-independent, for designers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95848" y="4511040"/>
            <a:ext cx="0" cy="32004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651760" y="4831080"/>
            <a:ext cx="6888175" cy="1249680"/>
          </a:xfrm>
          <a:prstGeom prst="roundRect">
            <a:avLst>
              <a:gd name="adj" fmla="val 5854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880360" y="4904232"/>
            <a:ext cx="6430975" cy="524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schema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80360" y="5405933"/>
            <a:ext cx="6430975" cy="599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02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does CREATE TABLE actually say?” — concrete data types and DBMS-specific detail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LEVEL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Data Models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technology-independent description of an organization's data: the entities (things to track), relationships (connections), and attributes (properties).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mention of tables, columns, data types, or which DBMS will run it.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Entity-Relationship (ER) model, next lecture's subject, is the standard notation for building conceptual models.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947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branch employs several staff.” “A client may view several properties, and a property may be viewed by several clients.” “Each property is owned by exactly one private owner.”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754880"/>
            <a:ext cx="10911535" cy="1234440"/>
          </a:xfrm>
          <a:prstGeom prst="roundRect">
            <a:avLst>
              <a:gd name="adj" fmla="val 5185"/>
            </a:avLst>
          </a:prstGeom>
          <a:solidFill>
            <a:srgbClr val="E9F9F3"/>
          </a:solidFill>
          <a:ln w="12700">
            <a:solidFill>
              <a:srgbClr val="1FAE8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490118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5212080"/>
            <a:ext cx="10399471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conceptual model should survive a change of DBMS unchanged. If moving from PostgreSQL to Oracle forces you to redraw it, the model was capturing implementation detail, not business meaning.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LEVEL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Data Models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1153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entities, relationships, and attributes from the conceptual model and organizes them according to the rules of a particular family of data model — relational, hierarchical, network, or object-oriented.</a:t>
            </a:r>
            <a:endParaRPr lang="en-US" sz="155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works entirely within the relational family: a logical model means a complete set of relation schemas — names, attributes, primary keys, foreign keys — with no data types or storage details yet.</a:t>
            </a:r>
            <a:endParaRPr lang="en-US" sz="155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“what relations do we need, and how do they reference each other?” — not “is salary a DECIMAL(8,2) or an INT?”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DATABASE DESIGN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Properties of a Good Design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23818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57400"/>
            <a:ext cx="457200" cy="457200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97480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20040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faithfully represents every entity, relationship, and business rule the organization actually has — no more, no less.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3938" y="1783080"/>
            <a:ext cx="3423818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58258" y="2057400"/>
            <a:ext cx="457200" cy="457200"/>
          </a:xfrm>
          <a:prstGeom prst="ellipse">
            <a:avLst/>
          </a:prstGeom>
          <a:solidFill>
            <a:srgbClr val="8B7F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58258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58258" y="2697480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Non-redundancy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58258" y="320040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fact is not stored in more than one place, so it can never drift out of sync (the motivation for normalization, Unit 5).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27797" y="1783080"/>
            <a:ext cx="3423818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02117" y="205740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02117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402117" y="2697480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under real use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320040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supports the queries, transactions, and volume of data the organization will actually throw at it.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892040"/>
            <a:ext cx="10911535" cy="1143000"/>
          </a:xfrm>
          <a:prstGeom prst="roundRect">
            <a:avLst>
              <a:gd name="adj" fmla="val 5600"/>
            </a:avLst>
          </a:prstGeom>
          <a:solidFill>
            <a:srgbClr val="FCF1E3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6112" y="503834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5349240"/>
            <a:ext cx="10399471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database design is not the same as “writing SQL.” Syntactically perfect CREATE TABLE statements can still represent the business incorrectly — SQL syntax accepts it without complaint; design discipline catches it anyway.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Model → Logical Model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strong entity type becomes a relation; the entity's identifying attribute becomes the primary key.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simple attribute becomes a column of that relation.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relationship type becomes a foreign key (1:1, 1:N) or an entirely new relation (M:N) — the precise rule depends on cardinality, covered fully in Lecture 12.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309360" y="1691640"/>
            <a:ext cx="2011680" cy="1609344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875">
            <a:solidFill>
              <a:srgbClr val="1F2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691640"/>
            <a:ext cx="2011680" cy="384048"/>
          </a:xfrm>
          <a:prstGeom prst="roundRect">
            <a:avLst>
              <a:gd name="adj" fmla="val 19048"/>
            </a:avLst>
          </a:prstGeom>
          <a:solidFill>
            <a:srgbClr val="2FE6C4"/>
          </a:solidFill>
          <a:ln/>
        </p:spPr>
      </p:sp>
      <p:sp>
        <p:nvSpPr>
          <p:cNvPr id="7" name="Shape 5"/>
          <p:cNvSpPr/>
          <p:nvPr/>
        </p:nvSpPr>
        <p:spPr>
          <a:xfrm>
            <a:off x="6309360" y="1883664"/>
            <a:ext cx="2011680" cy="192024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19088" y="169164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55664" y="2130552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b="1" u="sng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branchNo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50" dirty="0"/>
          </a:p>
          <a:p>
            <a:pPr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1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postcode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3063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— an ER entity type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1691640"/>
            <a:ext cx="2953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7F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Logical — the mapped relation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595360" y="2039112"/>
          <a:ext cx="2953512" cy="914400"/>
        </p:xfrm>
        <a:graphic>
          <a:graphicData uri="http://schemas.openxmlformats.org/drawingml/2006/table">
            <a:tbl>
              <a:tblPr/>
              <a:tblGrid>
                <a:gridCol w="738378"/>
                <a:gridCol w="738378"/>
                <a:gridCol w="738378"/>
                <a:gridCol w="738378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postcode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 Main 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Deer 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Karachi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640080" y="429768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was lost — every attribute became a column and the identifying attribute became the primary key — but nothing was added either: no data type, no index, no storage engine.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Model → Relational Schema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5486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data types for every attribute — DECIMAL(8,2), INTEGER, or NUMERIC?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Column-level constraints — NOT NULL, CHECK constraints enforcing domain rules.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 strategy — primary keys and foreign keys, at minimum.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conventions and DBMS-specific CREATE TABLE syntax.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92240" y="1737360"/>
            <a:ext cx="4846320" cy="2651760"/>
          </a:xfrm>
          <a:prstGeom prst="roundRect">
            <a:avLst>
              <a:gd name="adj" fmla="val 2759"/>
            </a:avLst>
          </a:prstGeom>
          <a:solidFill>
            <a:srgbClr val="1F242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766560" y="192024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Branch (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branchNo  CHAR(4)      NOT NULL,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street    VARCHAR(40)  NOT NULL,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city      VARCHAR(30)  NOT NULL,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postcode  CHAR(5)      NOT NULL,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PRIMARY KEY (branchNo)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4663440"/>
            <a:ext cx="10911535" cy="1188720"/>
          </a:xfrm>
          <a:prstGeom prst="roundRect">
            <a:avLst>
              <a:gd name="adj" fmla="val 5385"/>
            </a:avLst>
          </a:prstGeom>
          <a:solidFill>
            <a:srgbClr val="EAF1FB"/>
          </a:solidFill>
          <a:ln w="12700">
            <a:solidFill>
              <a:srgbClr val="6C8F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480974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5120640"/>
            <a:ext cx="103994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Connolly's textbook calls this final translation step physical database design — unlike the logical model, it is allowed, even expected, to differ between DBMS products and trade conceptual purity for performance.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Database Design Considerations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73152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Consideration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 to Ask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Redundancy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any fact stored in more than one place?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anomalies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inserting, updating, or deleting one row corrupt or lose other facts?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Appropriate keys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primary key stable and minimal?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Referential integrity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every foreign key correctly reference a real, enforced primary key?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and volume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Will this design still perform acceptably at 100x the current data volume?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and access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Should every user see every column (e.g. salary)?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Naming consistency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attribute names consistent across every relation that shares a domain?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CHECK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Cheap Sanity Check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1463040"/>
          </a:xfrm>
          <a:prstGeom prst="roundRect">
            <a:avLst>
              <a:gd name="adj" fmla="val 4375"/>
            </a:avLst>
          </a:prstGeom>
          <a:solidFill>
            <a:srgbClr val="E9F9F3"/>
          </a:solidFill>
          <a:ln w="12700">
            <a:solidFill>
              <a:srgbClr val="1FAE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88366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194560"/>
            <a:ext cx="10399471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relation, read its name and attributes as a sentence: “A Branch has a branchNo, a street, a city, and a postcode.” If the sentence sounds natural and every attribute clearly belongs to that one thing, the relation is probably well-formed.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2900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find yourself saying “…and also the name and address of whoever manages it” for a relation that isn't Staff, that's redundancy trying to sneak in — exactly what Unit 5's normalization theory formalizes and eliminates.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Modeling and Database Design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07568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modeling builds a shared, precise vocabulary before any technology commitment is made.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292608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85292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model (technology-independent) → logical model (relational structure, DBMS-independent) → relational schema (concrete types, constraints, syntax).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370332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363016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database design is judged by correctness, non-redundancy, and robustness under real use — not merely “does the SQL compile.”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448056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40740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conceptual → logical: entity → relation, attribute → column, relationship → foreign key or new relation depending on cardinality.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960" y="5257800"/>
            <a:ext cx="384048" cy="384048"/>
          </a:xfrm>
          <a:prstGeom prst="ellipse">
            <a:avLst/>
          </a:prstGeom>
          <a:solidFill>
            <a:srgbClr val="2FE6C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257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518464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4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syntactically correct schema can still be a poor design — always check redundancy, anomalies, keys, integrity, growth, and security.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cuinotes.com</dc:creator>
  <cp:lastModifiedBy>cuinotes.com</cp:lastModifiedBy>
  <cp:revision>1</cp:revision>
  <dcterms:created xsi:type="dcterms:W3CDTF">2026-09-29T15:28:30Z</dcterms:created>
  <dcterms:modified xsi:type="dcterms:W3CDTF">2026-09-29T15:28:30Z</dcterms:modified>
</cp:coreProperties>
</file>
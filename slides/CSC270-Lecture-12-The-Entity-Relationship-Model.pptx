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Entity-Relationship Model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Entities, relationships, and attributes — before a single table is created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7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Lecture Covers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3677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and entity occurrences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295144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types and relationship occurrences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53512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attribute categories: simple, composite, single-valued, multi-valued, derived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11880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entity types vs. weak entity types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270248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that belong to a relationship itself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2861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constraints: cardinality (1:1, 1:N, M:N) and participation (mandatory/optional)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Entities, Relationships, Attributes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 model represents an organization's data as entities (things worth tracking), relationships (meaningful associations), and attributes (properties of either).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by Peter Chen in 1976 to give conceptual modeling a precise, drawable notation both business stakeholders and designers could read.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0" y="1783080"/>
            <a:ext cx="2651760" cy="160934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17830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0" y="1975104"/>
            <a:ext cx="265176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82128" y="17830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918704" y="22219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postcode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entity type — the basic building block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and Occurrences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entity type is a group of objects with the same properties, significant enough to track independently — Staff, Branch, and PropertyForRent are all entity types.</a:t>
            </a:r>
            <a:endParaRPr lang="en-US" sz="15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entity occurrence (or entity instance) is one uniquely identifiable member of an entity type — the specific staff member SL21, John White, is one occurrence of the Staff entity type.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911535" cy="1463040"/>
          </a:xfrm>
          <a:prstGeom prst="roundRect">
            <a:avLst>
              <a:gd name="adj" fmla="val 4375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444398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754880"/>
            <a:ext cx="10399471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 vs. relation — same box, different lifecycle. The entity type Branch is a conceptual, technology-free idea; the Branch relation (Lecture 11) is the logical mapping of that idea, complete with a chosen primary key and eventual data types.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TYPES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Binary, Recursive, and Ternary Relationships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type is a meaningful association among entity types. A relationship occurrence is one specific, uniquely identifiable association — “SL21 works at B005” is one occurrence of Has.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relationships in this course are binary — they connect exactly two entity types, like Has connecting Branch and Staff.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connecting an entity type to itself is recursive (unary); one connecting three entity types at once is ternary.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0" y="3977640"/>
            <a:ext cx="2377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0" y="397764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8B7FD9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4169664"/>
            <a:ext cx="2377440" cy="192024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38928" y="397764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75504" y="441655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863840" y="397764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7F8F9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0" y="3977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(recursive)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406640" y="4160520"/>
            <a:ext cx="4572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Staff member Supervises another Staff member” — both participating occurrences come from the same entity type.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Attribute Category, In One Entity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926080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929384"/>
            <a:ext cx="2926080" cy="19202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737360"/>
            <a:ext cx="2706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PrivateOwner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76272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telNo {}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numberOfProperties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1737360"/>
            <a:ext cx="7528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(atomic): ownerNo — cannot be meaningfully subdivided.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Composite: name, address — divisible into meaningful sub-parts.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Single-valued: ownerNo — exactly one value per occurrence.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Multi-valued (telNo {}): can hold more than one value per occurrence.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(numberOfProperties): computed from other data, never stored — storing it would create exactly the redundancy Lecture 11 warned about.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Categories at a Glance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55778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(atomic)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be meaningfully subdivided further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be divided into meaningful sub-parts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Single-valued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exactly one value per occurrence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Multi-valued { 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hold more than one value per occurrence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from other attributes, never stored directly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143000"/>
          </a:xfrm>
          <a:prstGeom prst="roundRect">
            <a:avLst>
              <a:gd name="adj" fmla="val 5600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503834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5349240"/>
            <a:ext cx="10399471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multi-valued attribute cannot be stored as one column. Mapping telNo {} to the relational model does not produce one column, but a whole new relation, OwnerTelNo(ownerNo, telNo), with one row per phone number.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VS. WEAK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Entity Types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entity type has independent existence and its own key uniquely identifies every occurrence — Branch, Staff, PropertyForRent, PrivateOwner.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entity type depends on an owner entity type, and its own key is only a partial key — unique within one owner occurrence, not across the whole entity type.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274320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324612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438144"/>
            <a:ext cx="274320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324612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368503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715000" y="3200400"/>
            <a:ext cx="2834640" cy="1700784"/>
          </a:xfrm>
          <a:prstGeom prst="roundRect">
            <a:avLst>
              <a:gd name="adj" fmla="val 4301"/>
            </a:avLst>
          </a:prstGeom>
          <a:ln w="19050">
            <a:solidFill>
              <a:srgbClr val="1F2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0" y="3246120"/>
            <a:ext cx="2743200" cy="160934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60720" y="324612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8A33D"/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3438144"/>
            <a:ext cx="2743200" cy="19202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70448" y="324612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07024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roomType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roomSize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propertyNo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83280" y="3913632"/>
            <a:ext cx="2377440" cy="137160"/>
          </a:xfrm>
          <a:prstGeom prst="line">
            <a:avLst/>
          </a:prstGeom>
          <a:noFill/>
          <a:ln w="22225">
            <a:solidFill>
              <a:srgbClr val="9AA1A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86200" y="3598164"/>
            <a:ext cx="1371600" cy="274320"/>
          </a:xfrm>
          <a:prstGeom prst="rect">
            <a:avLst/>
          </a:prstGeom>
          <a:solidFill>
            <a:srgbClr val="F7F8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069080" y="3963924"/>
            <a:ext cx="274320" cy="27432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9080" y="39639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00600" y="3963924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00600" y="39639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5778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is a weak entity — double border, existence depends on PropertyForRent. True key: (propertyNo, roomNo).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ATTRIBUTES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That Belong to the Pairing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5176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9164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883664"/>
            <a:ext cx="265176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6916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305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prefType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265176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69164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883664"/>
            <a:ext cx="2651760" cy="19202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9088" y="16916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1305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91840" y="2359152"/>
            <a:ext cx="3017520" cy="9144"/>
          </a:xfrm>
          <a:prstGeom prst="line">
            <a:avLst/>
          </a:prstGeom>
          <a:noFill/>
          <a:ln w="22225">
            <a:solidFill>
              <a:srgbClr val="9AA1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0" y="1975104"/>
            <a:ext cx="1371600" cy="274320"/>
          </a:xfrm>
          <a:prstGeom prst="rect">
            <a:avLst/>
          </a:prstGeom>
          <a:solidFill>
            <a:srgbClr val="F7F8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340864"/>
            <a:ext cx="274320" cy="27432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29768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0" y="2340864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2920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6576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Views carries its own attributes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05072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772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of Views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date this specific client viewed this specific property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 left after that specific viewing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40080" y="546811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attribute belongs to Client alone or PropertyForRent alone — each only makes sense attached to one pairing. This is why an M:N relationship with attributes maps to its own relation: Viewing(clientNo, propertyNo, viewDate, comment).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CONSTRAINTS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 (max) + Participation (min)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M and N next to a relationship diamond communicates how many occurrences can pair up — but says nothing about whether pairing up is required.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description needs both pieces, together called structural constraints, usually written as a (min, max) pair for each participating entity type.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52728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3977640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maximum number of relationship occurrences an entity occurrence can participate in.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3703320"/>
            <a:ext cx="52728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39776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193128" y="3977640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457200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 number of relationship occurrences an entity occurrence must participate in (0 or 1, almost always).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One-to-One (1:1)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occurrence on each side is associated with at most one occurrence on the other side.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2011680" y="2468880"/>
            <a:ext cx="26517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24688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660904"/>
            <a:ext cx="265176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2140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57984" y="2907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06640" y="2468880"/>
            <a:ext cx="26517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0" y="24688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8B7F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0" y="2660904"/>
            <a:ext cx="2651760" cy="192024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1636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52944" y="2907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2999232"/>
            <a:ext cx="2743200" cy="9144"/>
          </a:xfrm>
          <a:prstGeom prst="line">
            <a:avLst/>
          </a:prstGeom>
          <a:noFill/>
          <a:ln w="22225">
            <a:solidFill>
              <a:srgbClr val="9AA1A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615184"/>
            <a:ext cx="1371600" cy="274320"/>
          </a:xfrm>
          <a:prstGeom prst="rect">
            <a:avLst/>
          </a:prstGeom>
          <a:solidFill>
            <a:srgbClr val="F7F8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2980944"/>
            <a:ext cx="274320" cy="27432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321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2980944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6364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7548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Staff member manages at most one Branch, and a Branch is managed by at most one Staff member.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One-to-Many (1:N)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occurrence on one side can be associated with many on the other, but each of those many relates back to only one.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2011680" y="2468880"/>
            <a:ext cx="26517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24688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660904"/>
            <a:ext cx="265176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2140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57984" y="2907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06640" y="2468880"/>
            <a:ext cx="265176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0" y="24688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E8A33D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0" y="2660904"/>
            <a:ext cx="2651760" cy="19202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1636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52944" y="290779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2999232"/>
            <a:ext cx="2743200" cy="137160"/>
          </a:xfrm>
          <a:prstGeom prst="line">
            <a:avLst/>
          </a:prstGeom>
          <a:noFill/>
          <a:ln w="22225">
            <a:solidFill>
              <a:srgbClr val="9AA1A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683764"/>
            <a:ext cx="1371600" cy="274320"/>
          </a:xfrm>
          <a:prstGeom prst="rect">
            <a:avLst/>
          </a:prstGeom>
          <a:solidFill>
            <a:srgbClr val="F7F8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3049524"/>
            <a:ext cx="274320" cy="27432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32120" y="30495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3049524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63640" y="30495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892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Branch employs many Staff, but each Staff member works at exactly one Branch.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349240"/>
            <a:ext cx="10911535" cy="868680"/>
          </a:xfrm>
          <a:prstGeom prst="roundRect">
            <a:avLst>
              <a:gd name="adj" fmla="val 7368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549554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5806440"/>
            <a:ext cx="1039947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cardinality off a diagram: “look across, not down.” The badge next to Staff (N) answers “how many Staff occurrences can one Branch connect to?”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Many-to-Many (M:N)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 on either side can be associated with many occurrences on the other.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2011680" y="2468880"/>
            <a:ext cx="26517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24688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660904"/>
            <a:ext cx="265176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2140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57984" y="2907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06640" y="2468880"/>
            <a:ext cx="26517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0" y="24688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8B7F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0" y="2660904"/>
            <a:ext cx="2651760" cy="192024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1636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52944" y="2907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2999232"/>
            <a:ext cx="2743200" cy="9144"/>
          </a:xfrm>
          <a:prstGeom prst="line">
            <a:avLst/>
          </a:prstGeom>
          <a:noFill/>
          <a:ln w="22225">
            <a:solidFill>
              <a:srgbClr val="9AA1A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615184"/>
            <a:ext cx="1371600" cy="274320"/>
          </a:xfrm>
          <a:prstGeom prst="rect">
            <a:avLst/>
          </a:prstGeom>
          <a:solidFill>
            <a:srgbClr val="F7F8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2980944"/>
            <a:ext cx="274320" cy="27432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321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2980944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6364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7091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Clients can view many PropertyForRent listings, and each property can be viewed by many different clients.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vs. Optional Participation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(total): every occurrence of the entity type must appear in at least one relationship occurrence; min = 1. Drawn with a double line.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(partial): an occurrence is allowed to appear in zero relationship occurrences; min = 0. Drawn with a single line.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011680" y="3200400"/>
            <a:ext cx="26517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320040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3392424"/>
            <a:ext cx="265176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21408" y="320040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57984" y="36393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06640" y="3200400"/>
            <a:ext cx="265176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0" y="320040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E8A33D"/>
          </a:solidFill>
          <a:ln/>
        </p:spPr>
      </p:sp>
      <p:sp>
        <p:nvSpPr>
          <p:cNvPr id="12" name="Shape 10"/>
          <p:cNvSpPr/>
          <p:nvPr/>
        </p:nvSpPr>
        <p:spPr>
          <a:xfrm>
            <a:off x="7406640" y="3392424"/>
            <a:ext cx="2651760" cy="19202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16368" y="320040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52944" y="363931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3730752"/>
            <a:ext cx="2743200" cy="137160"/>
          </a:xfrm>
          <a:prstGeom prst="line">
            <a:avLst/>
          </a:prstGeom>
          <a:noFill/>
          <a:ln w="22225">
            <a:solidFill>
              <a:srgbClr val="9AA1A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3415284"/>
            <a:ext cx="1371600" cy="274320"/>
          </a:xfrm>
          <a:prstGeom prst="rect">
            <a:avLst/>
          </a:prstGeom>
          <a:solidFill>
            <a:srgbClr val="F7F8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3781044"/>
            <a:ext cx="274320" cy="27432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32120" y="37810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3781044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63640" y="37810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525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(0,*) optional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46268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(1,1) mandatory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6235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Staff.branchNo is never NULL — every staff member must work at exactly one branch. A newly opened Branch may legitimately have zero staff assigned yet.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 and Participation Are Independent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828800"/>
          </a:xfrm>
          <a:prstGeom prst="roundRect">
            <a:avLst>
              <a:gd name="adj" fmla="val 3500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8366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94560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tempting to read “1:N” and assume the “1” side is automatically mandatory. It is not. Cardinality asks “how many can there be?” (the 1/N/M badges); participation asks “must there be at least one?” (mandatory vs. optional). These are two separate questions about two separate things.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needs both answered, for each side, to be fully specified — that's exactly why they're both listed together as one (min, max) pair.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Entity-Relationship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7568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 model represents data as entity types (things), relationship types (associations), and attributes (properties).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52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divide along two axes plus one extra: simple vs. composite, single-valued vs. multi-valued, and derived (computed, never stored).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63016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entity type has independent existence and a key that identifies it alone; a weak entity type depends on an owner entity and has only a partial key.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074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type can carry its own attributes when a fact belongs to the pairing, not to either participant — mapping it to its own relation.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8464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constraints combine cardinality (the maximum: 1:1, 1:N, M:N) and participation (the minimum: mandatory or optional) — two genuinely independent questions.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cuinotes.com</dc:creator>
  <cp:lastModifiedBy>cuinotes.com</cp:lastModifiedBy>
  <cp:revision>1</cp:revision>
  <dcterms:created xsi:type="dcterms:W3CDTF">2026-09-29T15:28:30Z</dcterms:created>
  <dcterms:modified xsi:type="dcterms:W3CDTF">2026-09-29T15:28:30Z</dcterms:modified>
</cp:coreProperties>
</file>
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  <Relationship Id="rId23" Type="http://schemas.openxmlformats.org/officeDocument/2006/relationships/slide" Target="slides/slide17.xml"/>
  <Relationship Id="rId24" Type="http://schemas.openxmlformats.org/officeDocument/2006/relationships/slide" Target="slides/slide18.xml"/>
  <Relationship Id="rId25" Type="http://schemas.openxmlformats.org/officeDocument/2006/relationships/slide" Target="slides/slide19.xml"/>
  <Relationship Id="rId26" Type="http://schemas.openxmlformats.org/officeDocument/2006/relationships/slide" Target="slides/slide20.xml"/>
  <Relationship Id="rId27" Type="http://schemas.openxmlformats.org/officeDocument/2006/relationships/slide" Target="slides/slide21.xml"/>
  <Relationship Id="rId28" Type="http://schemas.openxmlformats.org/officeDocument/2006/relationships/slide" Target="slides/slide22.xml"/>
  <Relationship Id="rId29" Type="http://schemas.openxmlformats.org/officeDocument/2006/relationships/slide" Target="slides/slide23.xml"/>
  <Relationship Id="rId30" Type="http://schemas.openxmlformats.org/officeDocument/2006/relationships/slide" Target="slides/slide24.xml"/>
  <Relationship Id="rId31" Type="http://schemas.openxmlformats.org/officeDocument/2006/relationships/slide" Target="slides/slide25.xml"/>
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8745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12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2331720"/>
            <a:ext cx="10424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Entity-Relationship Model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3434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Entities, relationships, and attributes — before a single table is created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8006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9BF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CSC270 · Database Systems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51663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757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COMSATS University Islamabad, Lahore Campus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Lecture Covers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65760" cy="365760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691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207008" y="1636776"/>
            <a:ext cx="1034460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types and entity occurrences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2350008"/>
            <a:ext cx="365760" cy="365760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23500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207008" y="2295144"/>
            <a:ext cx="1034460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types and relationship occurrences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40080" y="3008376"/>
            <a:ext cx="365760" cy="365760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30083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207008" y="2953512"/>
            <a:ext cx="1034460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attribute categories: simple, composite, single-valued, multi-valued, derived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40080" y="3666744"/>
            <a:ext cx="365760" cy="365760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36667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207008" y="3611880"/>
            <a:ext cx="1034460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entity types vs. weak entity types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40080" y="4325112"/>
            <a:ext cx="365760" cy="365760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43251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207008" y="4270248"/>
            <a:ext cx="1034460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Attributes that belong to a relationship itself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40080" y="4983480"/>
            <a:ext cx="365760" cy="365760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080" y="4983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207008" y="4928616"/>
            <a:ext cx="1034460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constraints, then a 9-step worked ER walkthrough: university enrollment, entity by entity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Entities, Relationships, Attributes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37360"/>
            <a:ext cx="65836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ER model represents an organization's data as entities (things worth tracking), relationships (meaningful associations), and attributes (properties of either).</a:t>
            </a:r>
            <a:endParaRPr lang="en-US" sz="180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Introduced by Peter Chen in 1976 to give conceptual modeling a precise, drawable notation both business stakeholders and designers could read.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772400" y="1783080"/>
            <a:ext cx="2651760" cy="22860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5875">
            <a:solidFill>
              <a:srgbClr val="1F242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0" y="1783080"/>
            <a:ext cx="2651760" cy="384048"/>
          </a:xfrm>
          <a:prstGeom prst="roundRect">
            <a:avLst>
              <a:gd name="adj" fmla="val 19048"/>
            </a:avLst>
          </a:prstGeom>
          <a:solidFill>
            <a:srgbClr val="2FE6C4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0" y="1975104"/>
            <a:ext cx="2651760" cy="192024"/>
          </a:xfrm>
          <a:prstGeom prst="rect">
            <a:avLst/>
          </a:prstGeom>
          <a:solidFill>
            <a:srgbClr val="2FE6C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882128" y="1783080"/>
            <a:ext cx="2432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918704" y="2221992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1800" b="1" u="sng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branchNo</a:t>
            </a:r>
            <a:endParaRPr lang="en-US" sz="1800" dirty="0"/>
          </a:p>
          <a:p>
            <a:pPr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street</a:t>
            </a:r>
            <a:endParaRPr lang="en-US" sz="1800" dirty="0"/>
          </a:p>
          <a:p>
            <a:pPr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</a:t>
            </a:r>
            <a:endParaRPr lang="en-US" sz="1800" dirty="0"/>
          </a:p>
          <a:p>
            <a:pPr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postcode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7772400" y="4206240"/>
            <a:ext cx="2651760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entity type — the basic building block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TYPES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Types and Occurrences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37360"/>
            <a:ext cx="1091153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entity type is a group of objects with the same properties, significant enough to track independently — Staff, Branch, and PropertyForRent are all entity types.</a:t>
            </a:r>
            <a:endParaRPr lang="en-US" sz="18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entity occurrence (or entity instance) is one uniquely identifiable member of an entity type — the specific staff member SL21, John White, is one occurrence of the Staff entity type.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4297680"/>
            <a:ext cx="10911535" cy="1463040"/>
          </a:xfrm>
          <a:prstGeom prst="roundRect">
            <a:avLst>
              <a:gd name="adj" fmla="val 4375"/>
            </a:avLst>
          </a:prstGeom>
          <a:solidFill>
            <a:srgbClr val="EAF1FB"/>
          </a:solidFill>
          <a:ln w="12700">
            <a:solidFill>
              <a:srgbClr val="6C8FD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96112" y="4443984"/>
            <a:ext cx="103994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4754880"/>
            <a:ext cx="10399471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type vs. relation — same box, different lifecycle. The entity type Branch is a conceptual, technology-free idea; the Branch relation (Lecture 11) is the logical mapping of that idea, complete with a chosen primary key and eventual data types.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TYPES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Binary, Recursive, and Ternary Relationships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91640"/>
            <a:ext cx="1091153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relationship type is a meaningful association among entity types. A relationship occurrence is one specific, uniquely identifiable association — “SL21 works at B005” is one occurrence of Has.</a:t>
            </a:r>
            <a:endParaRPr lang="en-US" sz="180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relationships in this course are binary — they connect exactly two entity types, like Has connecting Branch and Staff.</a:t>
            </a:r>
            <a:endParaRPr lang="en-US" sz="180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relationship connecting an entity type to itself is recursive (unary); one connecting three entity types at once is ternary.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029200" y="3977640"/>
            <a:ext cx="2377440" cy="1380744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5875">
            <a:solidFill>
              <a:srgbClr val="1F242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0" y="3977640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8B7FD9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0" y="4169664"/>
            <a:ext cx="2377440" cy="192024"/>
          </a:xfrm>
          <a:prstGeom prst="rect">
            <a:avLst/>
          </a:prstGeom>
          <a:solidFill>
            <a:srgbClr val="8B7FD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138928" y="3977640"/>
            <a:ext cx="215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5175504" y="441655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1800" b="1" u="sng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staffNo</a:t>
            </a:r>
            <a:endParaRPr lang="en-US" sz="1800" dirty="0"/>
          </a:p>
          <a:p>
            <a:pPr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863840" y="3977640"/>
            <a:ext cx="2103120" cy="777240"/>
          </a:xfrm>
          <a:prstGeom prst="roundRect">
            <a:avLst>
              <a:gd name="adj" fmla="val 9412"/>
            </a:avLst>
          </a:prstGeom>
          <a:solidFill>
            <a:srgbClr val="F7F8F9"/>
          </a:solidFill>
          <a:ln w="15875">
            <a:solidFill>
              <a:srgbClr val="1F242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863840" y="397764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Supervises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i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(recursive)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406640" y="4160520"/>
            <a:ext cx="457200" cy="0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3" name="Text 11"/>
          <p:cNvSpPr txBox="1"/>
          <p:nvPr/>
        </p:nvSpPr>
        <p:spPr>
          <a:xfrm>
            <a:off x="640080" y="585216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Staff member Supervises another Staff member” — both participating occurrences come from the same entity type.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Attribute Category, In One Entity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2926080" cy="2286000"/>
          </a:xfrm>
          <a:prstGeom prst="roundRect">
            <a:avLst>
              <a:gd name="adj" fmla="val 3883"/>
            </a:avLst>
          </a:prstGeom>
          <a:solidFill>
            <a:srgbClr val="FFFFFF"/>
          </a:solidFill>
          <a:ln w="15875">
            <a:solidFill>
              <a:srgbClr val="1F242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737360"/>
            <a:ext cx="2926080" cy="384048"/>
          </a:xfrm>
          <a:prstGeom prst="roundRect">
            <a:avLst>
              <a:gd name="adj" fmla="val 19048"/>
            </a:avLst>
          </a:prstGeom>
          <a:solidFill>
            <a:srgbClr val="E8A33D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929384"/>
            <a:ext cx="2926080" cy="19202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49808" y="1737360"/>
            <a:ext cx="2706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PrivateOwner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86384" y="2176272"/>
            <a:ext cx="2651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1800" b="1" u="sng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ownerNo</a:t>
            </a:r>
            <a:endParaRPr lang="en-US" sz="1800" dirty="0"/>
          </a:p>
          <a:p>
            <a:pPr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800" dirty="0"/>
          </a:p>
          <a:p>
            <a:pPr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</a:t>
            </a:r>
            <a:endParaRPr lang="en-US" sz="1800" dirty="0"/>
          </a:p>
          <a:p>
            <a:pPr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telNo {}</a:t>
            </a:r>
            <a:endParaRPr lang="en-US" sz="1800" dirty="0"/>
          </a:p>
          <a:p>
            <a:pPr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18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numberOfProperties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023360" y="1737360"/>
            <a:ext cx="7528255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(atomic): ownerNo — cannot be meaningfully subdivided.</a:t>
            </a:r>
            <a:endParaRPr lang="en-US" sz="180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Composite: name, address — divisible into meaningful sub-parts.</a:t>
            </a:r>
            <a:endParaRPr lang="en-US" sz="180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Single-valued: ownerNo — exactly one value per occurrence.</a:t>
            </a:r>
            <a:endParaRPr lang="en-US" sz="180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Multi-valued (telNo {}): can hold more than one value per occurrence.</a:t>
            </a:r>
            <a:endParaRPr lang="en-US" sz="180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(numberOfProperties): computed from other data, never stored — storing it would create exactly the redundancy Lecture 11 warned about.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 Categories at a Glance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1091153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743200"/>
                <a:gridCol w="5577840"/>
              </a:tblGrid>
              <a:tr h="330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Axis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Divisibility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 (atomic)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Cannot be meaningfully subdivided further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Divisibility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Composite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 be divided into meaningful sub-parts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 count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Single-valued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Holds exactly one value per occurrence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 count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Multi-valued { }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 hold more than one value per occurrence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Storage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Derived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Computed from other attributes, never stored directly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4023360"/>
            <a:ext cx="10911535" cy="1371600"/>
          </a:xfrm>
          <a:prstGeom prst="roundRect">
            <a:avLst>
              <a:gd name="adj" fmla="val 5600"/>
            </a:avLst>
          </a:prstGeom>
          <a:solidFill>
            <a:srgbClr val="FCF1E3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96112" y="4169664"/>
            <a:ext cx="103994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96112" y="4480560"/>
            <a:ext cx="10399471" cy="8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multi-valued attribute cannot be stored as one column. Mapping telNo {} to the relational model does not produce one column, but a whole new relation, OwnerTelNo(ownerNo, telNo), with one row per phone number.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VS. WEAK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Entity Types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45920"/>
            <a:ext cx="1091153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strong entity type has independent existence and its own key uniquely identifies every occurrence — Branch, Staff, PropertyForRent, PrivateOwner.</a:t>
            </a:r>
            <a:endParaRPr lang="en-US" sz="180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weak entity type depends on an owner entity type, and its own key is only a partial key — unique within one owner occurrence, not across the whole entity type.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3246120"/>
            <a:ext cx="2743200" cy="1655064"/>
          </a:xfrm>
          <a:prstGeom prst="roundRect">
            <a:avLst>
              <a:gd name="adj" fmla="val 5479"/>
            </a:avLst>
          </a:prstGeom>
          <a:solidFill>
            <a:srgbClr val="FFFFFF"/>
          </a:solidFill>
          <a:ln w="15875">
            <a:solidFill>
              <a:srgbClr val="1F242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3246120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2FE6C4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3438144"/>
            <a:ext cx="2743200" cy="192024"/>
          </a:xfrm>
          <a:prstGeom prst="rect">
            <a:avLst/>
          </a:prstGeom>
          <a:solidFill>
            <a:srgbClr val="2FE6C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49808" y="3246120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PropertyForRent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86384" y="3685032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1800" b="1" u="sng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propertyNo</a:t>
            </a:r>
            <a:endParaRPr lang="en-US" sz="1800" dirty="0"/>
          </a:p>
          <a:p>
            <a:pPr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street</a:t>
            </a:r>
            <a:endParaRPr lang="en-US" sz="1800" dirty="0"/>
          </a:p>
          <a:p>
            <a:pPr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715000" y="3200400"/>
            <a:ext cx="2834640" cy="1700784"/>
          </a:xfrm>
          <a:prstGeom prst="roundRect">
            <a:avLst>
              <a:gd name="adj" fmla="val 4301"/>
            </a:avLst>
          </a:prstGeom>
          <a:ln w="19050">
            <a:solidFill>
              <a:srgbClr val="1F242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760720" y="3246120"/>
            <a:ext cx="2743200" cy="1929384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5875">
            <a:solidFill>
              <a:srgbClr val="1F242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760720" y="3246120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E8A33D"/>
          </a:solidFill>
          <a:ln/>
        </p:spPr>
      </p:sp>
      <p:sp>
        <p:nvSpPr>
          <p:cNvPr id="13" name="Shape 11"/>
          <p:cNvSpPr/>
          <p:nvPr/>
        </p:nvSpPr>
        <p:spPr>
          <a:xfrm>
            <a:off x="5760720" y="3438144"/>
            <a:ext cx="2743200" cy="19202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870448" y="3246120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5907024" y="3685032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1800" b="1" u="sng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roomNo</a:t>
            </a:r>
            <a:endParaRPr lang="en-US" sz="1800" dirty="0"/>
          </a:p>
          <a:p>
            <a:pPr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roomType</a:t>
            </a:r>
            <a:endParaRPr lang="en-US" sz="1800" dirty="0"/>
          </a:p>
          <a:p>
            <a:pPr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roomSize</a:t>
            </a:r>
            <a:endParaRPr lang="en-US" sz="1800" dirty="0"/>
          </a:p>
          <a:p>
            <a:pPr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18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propertyNo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383280" y="3913632"/>
            <a:ext cx="2377440" cy="137160"/>
          </a:xfrm>
          <a:prstGeom prst="line">
            <a:avLst/>
          </a:prstGeom>
          <a:noFill/>
          <a:ln w="22225">
            <a:solidFill>
              <a:srgbClr val="9AA1A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886200" y="3598164"/>
            <a:ext cx="1371600" cy="274320"/>
          </a:xfrm>
          <a:prstGeom prst="rect">
            <a:avLst/>
          </a:prstGeom>
          <a:solidFill>
            <a:srgbClr val="F7F8F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069080" y="3963924"/>
            <a:ext cx="274320" cy="274320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069080" y="39639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800600" y="3963924"/>
            <a:ext cx="274320" cy="2743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800600" y="39639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557784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is a weak entity — double border, existence depends on PropertyForRent. True key: (propertyNo, roomNo).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ATTRIBUTES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Attributes That Belong to the Pairing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651760" cy="1655064"/>
          </a:xfrm>
          <a:prstGeom prst="roundRect">
            <a:avLst>
              <a:gd name="adj" fmla="val 5479"/>
            </a:avLst>
          </a:prstGeom>
          <a:solidFill>
            <a:srgbClr val="FFFFFF"/>
          </a:solidFill>
          <a:ln w="15875">
            <a:solidFill>
              <a:srgbClr val="1F242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91640"/>
            <a:ext cx="2651760" cy="384048"/>
          </a:xfrm>
          <a:prstGeom prst="roundRect">
            <a:avLst>
              <a:gd name="adj" fmla="val 19048"/>
            </a:avLst>
          </a:prstGeom>
          <a:solidFill>
            <a:srgbClr val="2FE6C4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883664"/>
            <a:ext cx="2651760" cy="192024"/>
          </a:xfrm>
          <a:prstGeom prst="rect">
            <a:avLst/>
          </a:prstGeom>
          <a:solidFill>
            <a:srgbClr val="2FE6C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49808" y="1691640"/>
            <a:ext cx="2432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86384" y="2130552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1800" b="1" u="sng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clientNo</a:t>
            </a:r>
            <a:endParaRPr lang="en-US" sz="1800" dirty="0"/>
          </a:p>
          <a:p>
            <a:pPr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800" dirty="0"/>
          </a:p>
          <a:p>
            <a:pPr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prefType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309360" y="1691640"/>
            <a:ext cx="2651760" cy="1655064"/>
          </a:xfrm>
          <a:prstGeom prst="roundRect">
            <a:avLst>
              <a:gd name="adj" fmla="val 5479"/>
            </a:avLst>
          </a:prstGeom>
          <a:solidFill>
            <a:srgbClr val="FFFFFF"/>
          </a:solidFill>
          <a:ln w="15875">
            <a:solidFill>
              <a:srgbClr val="1F242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09360" y="1691640"/>
            <a:ext cx="2651760" cy="384048"/>
          </a:xfrm>
          <a:prstGeom prst="roundRect">
            <a:avLst>
              <a:gd name="adj" fmla="val 19048"/>
            </a:avLst>
          </a:prstGeom>
          <a:solidFill>
            <a:srgbClr val="E8A33D"/>
          </a:solidFill>
          <a:ln/>
        </p:spPr>
      </p:sp>
      <p:sp>
        <p:nvSpPr>
          <p:cNvPr id="11" name="Shape 9"/>
          <p:cNvSpPr/>
          <p:nvPr/>
        </p:nvSpPr>
        <p:spPr>
          <a:xfrm>
            <a:off x="6309360" y="1883664"/>
            <a:ext cx="2651760" cy="19202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19088" y="1691640"/>
            <a:ext cx="2432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PropertyForRent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455664" y="2130552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1800" b="1" u="sng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propertyNo</a:t>
            </a:r>
            <a:endParaRPr lang="en-US" sz="1800" dirty="0"/>
          </a:p>
          <a:p>
            <a:pPr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street</a:t>
            </a:r>
            <a:endParaRPr lang="en-US" sz="1800" dirty="0"/>
          </a:p>
          <a:p>
            <a:pPr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291840" y="2359152"/>
            <a:ext cx="3017520" cy="9144"/>
          </a:xfrm>
          <a:prstGeom prst="line">
            <a:avLst/>
          </a:prstGeom>
          <a:noFill/>
          <a:ln w="22225">
            <a:solidFill>
              <a:srgbClr val="9AA1A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114800" y="1975104"/>
            <a:ext cx="1371600" cy="274320"/>
          </a:xfrm>
          <a:prstGeom prst="rect">
            <a:avLst/>
          </a:prstGeom>
          <a:solidFill>
            <a:srgbClr val="F7F8F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297680" y="2340864"/>
            <a:ext cx="274320" cy="274320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297680" y="2340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029200" y="2340864"/>
            <a:ext cx="274320" cy="2743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029200" y="2340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3657600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7F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Views carries its own attributes</a:t>
            </a:r>
            <a:endParaRPr lang="en-US" sz="1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4005072"/>
          <a:ext cx="1091153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777240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Attribute of Views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viewDate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date this specific client viewed this specific property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Feedback left after that specific viewing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</a:tr>
            </a:tbl>
          </a:graphicData>
        </a:graphic>
      </p:graphicFrame>
      <p:sp>
        <p:nvSpPr>
          <p:cNvPr id="22" name="Text 19"/>
          <p:cNvSpPr txBox="1"/>
          <p:nvPr/>
        </p:nvSpPr>
        <p:spPr>
          <a:xfrm>
            <a:off x="640080" y="5468112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attribute belongs to Client alone or PropertyForRent alone — each only makes sense attached to one pairing. This is why an M:N relationship with attributes maps to its own relation: Viewing(clientNo, propertyNo, viewDate, comment).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CONSTRAINTS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Cardinality (max) + Participation (min)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37360"/>
            <a:ext cx="1091153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Drawing M and N next to a relationship diamond communicates how many occurrences can pair up — but says nothing about whether pairing up is required.</a:t>
            </a:r>
            <a:endParaRPr lang="en-US" sz="180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description needs both pieces, together called structural constraints, usually written as a (min, max) pair for each participating entity type.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3703320"/>
            <a:ext cx="5272888" cy="228600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977640"/>
            <a:ext cx="457200" cy="457200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3977640"/>
            <a:ext cx="4084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Cardinality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4572000"/>
            <a:ext cx="47242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maximum number of relationship occurrences an entity occurrence can participate in.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278728" y="3703320"/>
            <a:ext cx="5272888" cy="228600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53048" y="3977640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53048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7193128" y="3977640"/>
            <a:ext cx="4084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Participation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553048" y="4572000"/>
            <a:ext cx="47242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minimum number of relationship occurrences an entity occurrence must participate in (0 or 1, almost always).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CARDINALITY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One-to-One (1:1)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9164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occurrence on each side is associated with at most one occurrence on the other side.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011680" y="2468880"/>
            <a:ext cx="2651760" cy="1380744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5875">
            <a:solidFill>
              <a:srgbClr val="1F242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0" y="2468880"/>
            <a:ext cx="2651760" cy="384048"/>
          </a:xfrm>
          <a:prstGeom prst="roundRect">
            <a:avLst>
              <a:gd name="adj" fmla="val 19048"/>
            </a:avLst>
          </a:prstGeom>
          <a:solidFill>
            <a:srgbClr val="2FE6C4"/>
          </a:solidFill>
          <a:ln/>
        </p:spPr>
      </p:sp>
      <p:sp>
        <p:nvSpPr>
          <p:cNvPr id="7" name="Shape 5"/>
          <p:cNvSpPr/>
          <p:nvPr/>
        </p:nvSpPr>
        <p:spPr>
          <a:xfrm>
            <a:off x="2011680" y="2660904"/>
            <a:ext cx="2651760" cy="192024"/>
          </a:xfrm>
          <a:prstGeom prst="rect">
            <a:avLst/>
          </a:prstGeom>
          <a:solidFill>
            <a:srgbClr val="2FE6C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121408" y="2468880"/>
            <a:ext cx="2432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2157984" y="290779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1800" b="1" u="sng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staffNo</a:t>
            </a:r>
            <a:endParaRPr lang="en-US" sz="1800" dirty="0"/>
          </a:p>
          <a:p>
            <a:pPr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406640" y="2468880"/>
            <a:ext cx="2651760" cy="1380744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5875">
            <a:solidFill>
              <a:srgbClr val="1F242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06640" y="2468880"/>
            <a:ext cx="2651760" cy="384048"/>
          </a:xfrm>
          <a:prstGeom prst="roundRect">
            <a:avLst>
              <a:gd name="adj" fmla="val 19048"/>
            </a:avLst>
          </a:prstGeom>
          <a:solidFill>
            <a:srgbClr val="8B7FD9"/>
          </a:solidFill>
          <a:ln/>
        </p:spPr>
      </p:sp>
      <p:sp>
        <p:nvSpPr>
          <p:cNvPr id="12" name="Shape 10"/>
          <p:cNvSpPr/>
          <p:nvPr/>
        </p:nvSpPr>
        <p:spPr>
          <a:xfrm>
            <a:off x="7406640" y="2660904"/>
            <a:ext cx="2651760" cy="192024"/>
          </a:xfrm>
          <a:prstGeom prst="rect">
            <a:avLst/>
          </a:prstGeom>
          <a:solidFill>
            <a:srgbClr val="8B7FD9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516368" y="2468880"/>
            <a:ext cx="2432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7552944" y="290779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1800" b="1" u="sng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branchNo</a:t>
            </a:r>
            <a:endParaRPr lang="en-US" sz="1800" dirty="0"/>
          </a:p>
          <a:p>
            <a:pPr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street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663440" y="2999232"/>
            <a:ext cx="2743200" cy="9144"/>
          </a:xfrm>
          <a:prstGeom prst="line">
            <a:avLst/>
          </a:prstGeom>
          <a:noFill/>
          <a:ln w="22225">
            <a:solidFill>
              <a:srgbClr val="9AA1A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349240" y="2615184"/>
            <a:ext cx="1371600" cy="274320"/>
          </a:xfrm>
          <a:prstGeom prst="rect">
            <a:avLst/>
          </a:prstGeom>
          <a:solidFill>
            <a:srgbClr val="F7F8F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532120" y="2980944"/>
            <a:ext cx="274320" cy="274320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532120" y="29809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63640" y="2980944"/>
            <a:ext cx="274320" cy="2743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263640" y="29809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475488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Staff member manages at most one Branch, and a Branch is managed by at most one Staff member.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CARDINALITY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One-to-Many (1:N)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9164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occurrence on one side can be associated with many on the other, but each of those many relates back to only one.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011680" y="2468880"/>
            <a:ext cx="2651760" cy="1380744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5875">
            <a:solidFill>
              <a:srgbClr val="1F242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0" y="2468880"/>
            <a:ext cx="2651760" cy="384048"/>
          </a:xfrm>
          <a:prstGeom prst="roundRect">
            <a:avLst>
              <a:gd name="adj" fmla="val 19048"/>
            </a:avLst>
          </a:prstGeom>
          <a:solidFill>
            <a:srgbClr val="2FE6C4"/>
          </a:solidFill>
          <a:ln/>
        </p:spPr>
      </p:sp>
      <p:sp>
        <p:nvSpPr>
          <p:cNvPr id="7" name="Shape 5"/>
          <p:cNvSpPr/>
          <p:nvPr/>
        </p:nvSpPr>
        <p:spPr>
          <a:xfrm>
            <a:off x="2011680" y="2660904"/>
            <a:ext cx="2651760" cy="192024"/>
          </a:xfrm>
          <a:prstGeom prst="rect">
            <a:avLst/>
          </a:prstGeom>
          <a:solidFill>
            <a:srgbClr val="2FE6C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121408" y="2468880"/>
            <a:ext cx="2432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2157984" y="290779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1800" b="1" u="sng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branchNo</a:t>
            </a:r>
            <a:endParaRPr lang="en-US" sz="1800" dirty="0"/>
          </a:p>
          <a:p>
            <a:pPr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street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406640" y="2468880"/>
            <a:ext cx="2651760" cy="1655064"/>
          </a:xfrm>
          <a:prstGeom prst="roundRect">
            <a:avLst>
              <a:gd name="adj" fmla="val 5479"/>
            </a:avLst>
          </a:prstGeom>
          <a:solidFill>
            <a:srgbClr val="FFFFFF"/>
          </a:solidFill>
          <a:ln w="15875">
            <a:solidFill>
              <a:srgbClr val="1F242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06640" y="2468880"/>
            <a:ext cx="2651760" cy="384048"/>
          </a:xfrm>
          <a:prstGeom prst="roundRect">
            <a:avLst>
              <a:gd name="adj" fmla="val 19048"/>
            </a:avLst>
          </a:prstGeom>
          <a:solidFill>
            <a:srgbClr val="E8A33D"/>
          </a:solidFill>
          <a:ln/>
        </p:spPr>
      </p:sp>
      <p:sp>
        <p:nvSpPr>
          <p:cNvPr id="12" name="Shape 10"/>
          <p:cNvSpPr/>
          <p:nvPr/>
        </p:nvSpPr>
        <p:spPr>
          <a:xfrm>
            <a:off x="7406640" y="2660904"/>
            <a:ext cx="2651760" cy="19202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516368" y="2468880"/>
            <a:ext cx="2432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7552944" y="2907792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1800" b="1" u="sng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staffNo</a:t>
            </a:r>
            <a:endParaRPr lang="en-US" sz="1800" dirty="0"/>
          </a:p>
          <a:p>
            <a:pPr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800" dirty="0"/>
          </a:p>
          <a:p>
            <a:pPr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18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branchNo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663440" y="2999232"/>
            <a:ext cx="2743200" cy="137160"/>
          </a:xfrm>
          <a:prstGeom prst="line">
            <a:avLst/>
          </a:prstGeom>
          <a:noFill/>
          <a:ln w="22225">
            <a:solidFill>
              <a:srgbClr val="9AA1A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349240" y="2683764"/>
            <a:ext cx="1371600" cy="274320"/>
          </a:xfrm>
          <a:prstGeom prst="rect">
            <a:avLst/>
          </a:prstGeom>
          <a:solidFill>
            <a:srgbClr val="F7F8F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532120" y="3049524"/>
            <a:ext cx="274320" cy="274320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532120" y="30495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63640" y="3049524"/>
            <a:ext cx="274320" cy="2743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263640" y="30495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489204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Branch employs many Staff, but each Staff member works at exactly one Branch.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40080" y="5349240"/>
            <a:ext cx="10911535" cy="868680"/>
          </a:xfrm>
          <a:prstGeom prst="roundRect">
            <a:avLst>
              <a:gd name="adj" fmla="val 7368"/>
            </a:avLst>
          </a:prstGeom>
          <a:solidFill>
            <a:srgbClr val="E9F9F3"/>
          </a:solidFill>
          <a:ln w="12700">
            <a:solidFill>
              <a:srgbClr val="1FAE8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96112" y="5495544"/>
            <a:ext cx="103994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896112" y="5806440"/>
            <a:ext cx="10399471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across: the N next to Staff means one Branch connects to many Staff.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CARDINALITY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Many-to-Many (M:N)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9164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Occurrences on either side can be associated with many occurrences on the other.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011680" y="2468880"/>
            <a:ext cx="2651760" cy="1380744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5875">
            <a:solidFill>
              <a:srgbClr val="1F242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0" y="2468880"/>
            <a:ext cx="2651760" cy="384048"/>
          </a:xfrm>
          <a:prstGeom prst="roundRect">
            <a:avLst>
              <a:gd name="adj" fmla="val 19048"/>
            </a:avLst>
          </a:prstGeom>
          <a:solidFill>
            <a:srgbClr val="2FE6C4"/>
          </a:solidFill>
          <a:ln/>
        </p:spPr>
      </p:sp>
      <p:sp>
        <p:nvSpPr>
          <p:cNvPr id="7" name="Shape 5"/>
          <p:cNvSpPr/>
          <p:nvPr/>
        </p:nvSpPr>
        <p:spPr>
          <a:xfrm>
            <a:off x="2011680" y="2660904"/>
            <a:ext cx="2651760" cy="192024"/>
          </a:xfrm>
          <a:prstGeom prst="rect">
            <a:avLst/>
          </a:prstGeom>
          <a:solidFill>
            <a:srgbClr val="2FE6C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121408" y="2468880"/>
            <a:ext cx="2432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2157984" y="290779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1800" b="1" u="sng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clientNo</a:t>
            </a:r>
            <a:endParaRPr lang="en-US" sz="1800" dirty="0"/>
          </a:p>
          <a:p>
            <a:pPr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406640" y="2468880"/>
            <a:ext cx="2651760" cy="1380744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5875">
            <a:solidFill>
              <a:srgbClr val="1F242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06640" y="2468880"/>
            <a:ext cx="2651760" cy="384048"/>
          </a:xfrm>
          <a:prstGeom prst="roundRect">
            <a:avLst>
              <a:gd name="adj" fmla="val 19048"/>
            </a:avLst>
          </a:prstGeom>
          <a:solidFill>
            <a:srgbClr val="8B7FD9"/>
          </a:solidFill>
          <a:ln/>
        </p:spPr>
      </p:sp>
      <p:sp>
        <p:nvSpPr>
          <p:cNvPr id="12" name="Shape 10"/>
          <p:cNvSpPr/>
          <p:nvPr/>
        </p:nvSpPr>
        <p:spPr>
          <a:xfrm>
            <a:off x="7406640" y="2660904"/>
            <a:ext cx="2651760" cy="192024"/>
          </a:xfrm>
          <a:prstGeom prst="rect">
            <a:avLst/>
          </a:prstGeom>
          <a:solidFill>
            <a:srgbClr val="8B7FD9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516368" y="2468880"/>
            <a:ext cx="2432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PropertyForRent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7552944" y="290779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1800" b="1" u="sng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propertyNo</a:t>
            </a:r>
            <a:endParaRPr lang="en-US" sz="1800" dirty="0"/>
          </a:p>
          <a:p>
            <a:pPr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663440" y="2999232"/>
            <a:ext cx="2743200" cy="9144"/>
          </a:xfrm>
          <a:prstGeom prst="line">
            <a:avLst/>
          </a:prstGeom>
          <a:noFill/>
          <a:ln w="22225">
            <a:solidFill>
              <a:srgbClr val="9AA1A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349240" y="2615184"/>
            <a:ext cx="1371600" cy="274320"/>
          </a:xfrm>
          <a:prstGeom prst="rect">
            <a:avLst/>
          </a:prstGeom>
          <a:solidFill>
            <a:srgbClr val="F7F8F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532120" y="2980944"/>
            <a:ext cx="274320" cy="274320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532120" y="29809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63640" y="2980944"/>
            <a:ext cx="274320" cy="2743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263640" y="29809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470916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Clients can view many PropertyForRent listings, and each property can be viewed by many different clients.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PARTICIPATION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vs. Optional Participation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45920"/>
            <a:ext cx="1091153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(total): every occurrence of the entity type must appear in at least one relationship occurrence; min = 1. Drawn with a double line.</a:t>
            </a:r>
            <a:endParaRPr lang="en-US" sz="180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(partial): an occurrence is allowed to appear in zero relationship occurrences; min = 0. Drawn with a single line.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011680" y="3200400"/>
            <a:ext cx="2651760" cy="1380744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5875">
            <a:solidFill>
              <a:srgbClr val="1F242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0" y="3200400"/>
            <a:ext cx="2651760" cy="384048"/>
          </a:xfrm>
          <a:prstGeom prst="roundRect">
            <a:avLst>
              <a:gd name="adj" fmla="val 19048"/>
            </a:avLst>
          </a:prstGeom>
          <a:solidFill>
            <a:srgbClr val="2FE6C4"/>
          </a:solidFill>
          <a:ln/>
        </p:spPr>
      </p:sp>
      <p:sp>
        <p:nvSpPr>
          <p:cNvPr id="7" name="Shape 5"/>
          <p:cNvSpPr/>
          <p:nvPr/>
        </p:nvSpPr>
        <p:spPr>
          <a:xfrm>
            <a:off x="2011680" y="3392424"/>
            <a:ext cx="2651760" cy="192024"/>
          </a:xfrm>
          <a:prstGeom prst="rect">
            <a:avLst/>
          </a:prstGeom>
          <a:solidFill>
            <a:srgbClr val="2FE6C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121408" y="3200400"/>
            <a:ext cx="2432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2157984" y="363931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1800" b="1" u="sng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branchNo</a:t>
            </a:r>
            <a:endParaRPr lang="en-US" sz="1800" dirty="0"/>
          </a:p>
          <a:p>
            <a:pPr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street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406640" y="3200400"/>
            <a:ext cx="2651760" cy="1655064"/>
          </a:xfrm>
          <a:prstGeom prst="roundRect">
            <a:avLst>
              <a:gd name="adj" fmla="val 5479"/>
            </a:avLst>
          </a:prstGeom>
          <a:solidFill>
            <a:srgbClr val="FFFFFF"/>
          </a:solidFill>
          <a:ln w="15875">
            <a:solidFill>
              <a:srgbClr val="1F242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06640" y="3200400"/>
            <a:ext cx="2651760" cy="384048"/>
          </a:xfrm>
          <a:prstGeom prst="roundRect">
            <a:avLst>
              <a:gd name="adj" fmla="val 19048"/>
            </a:avLst>
          </a:prstGeom>
          <a:solidFill>
            <a:srgbClr val="E8A33D"/>
          </a:solidFill>
          <a:ln/>
        </p:spPr>
      </p:sp>
      <p:sp>
        <p:nvSpPr>
          <p:cNvPr id="12" name="Shape 10"/>
          <p:cNvSpPr/>
          <p:nvPr/>
        </p:nvSpPr>
        <p:spPr>
          <a:xfrm>
            <a:off x="7406640" y="3392424"/>
            <a:ext cx="2651760" cy="19202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516368" y="3200400"/>
            <a:ext cx="2432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7552944" y="3639312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1800" b="1" u="sng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staffNo</a:t>
            </a:r>
            <a:endParaRPr lang="en-US" sz="1800" dirty="0"/>
          </a:p>
          <a:p>
            <a:pPr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800" dirty="0"/>
          </a:p>
          <a:p>
            <a:pPr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18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branchNo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663440" y="3730752"/>
            <a:ext cx="2743200" cy="137160"/>
          </a:xfrm>
          <a:prstGeom prst="line">
            <a:avLst/>
          </a:prstGeom>
          <a:noFill/>
          <a:ln w="22225">
            <a:solidFill>
              <a:srgbClr val="9AA1A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349240" y="3415284"/>
            <a:ext cx="1371600" cy="274320"/>
          </a:xfrm>
          <a:prstGeom prst="rect">
            <a:avLst/>
          </a:prstGeom>
          <a:solidFill>
            <a:srgbClr val="F7F8F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532120" y="3781044"/>
            <a:ext cx="274320" cy="274320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532120" y="37810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63640" y="3781044"/>
            <a:ext cx="274320" cy="2743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263640" y="37810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2011680" y="47548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(0,*) optional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7406640" y="50292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(1,1) mandatory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5623560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Staff.branchNo is never NULL — every staff member must work at exactly one branch. A newly opened Branch may legitimately have zero staff assigned yet.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Cardinality and Participation Are Independent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911535" cy="1828800"/>
          </a:xfrm>
          <a:prstGeom prst="roundRect">
            <a:avLst>
              <a:gd name="adj" fmla="val 3500"/>
            </a:avLst>
          </a:prstGeom>
          <a:solidFill>
            <a:srgbClr val="FCF1E3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6112" y="1883664"/>
            <a:ext cx="103994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2194560"/>
            <a:ext cx="10399471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tempting to read “1:N” and assume the “1” side is automatically mandatory. It is not. Cardinality answers “how many can there be?” (the 1, N and M badges). Participation answers “must there be at least one?” (mandatory or optional). In Has, Staff is mandatory (1,1) because every staff member needs a branch, while Branch is optional (0,N) because a new branch can have no staff yet.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79476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relationship needs both answered, for each side, to be fully specified — that's exactly why they're both listed together as one (min, max) pair.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400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10972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Entity-Relationship Model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148840"/>
            <a:ext cx="384048" cy="384048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148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2075688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E4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ER model represents data as entity types (things), relationship types (associations), and attributes (properties).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2926080"/>
            <a:ext cx="384048" cy="384048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2852928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E4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Attributes divide along two axes plus one extra: simple vs. composite, single-valued vs. multi-valued, and derived (computed, never stored).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22960" y="3703320"/>
            <a:ext cx="384048" cy="384048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3703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417320" y="3630168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E4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strong entity type has independent existence and a key that identifies it alone; a weak entity type depends on an owner entity and has only a partial key.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22960" y="4480560"/>
            <a:ext cx="384048" cy="384048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4480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4407408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E4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relationship type can carry its own attributes when a fact belongs to the pairing, not to either participant — mapping it to its own relation.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22960" y="5257800"/>
            <a:ext cx="384048" cy="384048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2960" y="5257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417320" y="5184648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E4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constraints combine cardinality (the maximum: 1:1, 1:N, M:N) and participation (the minimum: mandatory or optional) — two genuinely independent questions.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25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WALKTHROUGH · STEP 1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From Plain-English Requirements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37360"/>
            <a:ext cx="1091153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a university enrollment system. (R1) A student belongs to exactly one department. (R2) A department offers many courses, and each course is offered by exactly one department. (R3) Students enroll in courses, and each enrollment records a grade.</a:t>
            </a:r>
            <a:endParaRPr lang="en-US" sz="18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(R4) A course is split into sections numbered 1, 2, 3 within each course, and section numbers restart in every course. (R5) A section cannot exist without its course.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4297680"/>
            <a:ext cx="10911535" cy="1463040"/>
          </a:xfrm>
          <a:prstGeom prst="roundRect">
            <a:avLst>
              <a:gd name="adj" fmla="val 4375"/>
            </a:avLst>
          </a:prstGeom>
          <a:solidFill>
            <a:srgbClr val="EAF1FB"/>
          </a:solidFill>
          <a:ln w="12700">
            <a:solidFill>
              <a:srgbClr val="6C8FD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96112" y="4443984"/>
            <a:ext cx="103994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4754880"/>
            <a:ext cx="10399471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design never starts from tables. Every noun and verb in these five requirements is a candidate for an entity, an attribute or a relationship; the next steps decide which.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16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WALKTHROUGH · STEP 2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Sort Each Noun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1091153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743200"/>
                <a:gridCol w="5577840"/>
              </a:tblGrid>
              <a:tr h="330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Noun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Verdict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Reason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 attributes (studentId, name, email); many occurrences; exists alone.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Department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 attributes (deptCode, deptName); shared by many students.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 attributes (courseCode, title, creditHours); exists before enrollment.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 entity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Meaningful only inside one course; sectionNo repeats across courses.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Attribute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value per student; describes only that student.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Relationship attribute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Belongs to a (student, course) pairing, not to either alone.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Attribute of Section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Describes the section, not a standalone thing.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4892040"/>
            <a:ext cx="10911535" cy="1143000"/>
          </a:xfrm>
          <a:prstGeom prst="roundRect">
            <a:avLst>
              <a:gd name="adj" fmla="val 5600"/>
            </a:avLst>
          </a:prstGeom>
          <a:solidFill>
            <a:srgbClr val="FCF1E3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96112" y="5038344"/>
            <a:ext cx="103994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96112" y="5349240"/>
            <a:ext cx="10399471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promote every noun to an entity. A noun that only describes one thing (email, term) is an attribute; a noun that depends on a pairing of two things (grade) is a relationship attribute.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17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WALKTHROUGH · STEP 3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Department Is an Entity, Not an Attribute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37360"/>
            <a:ext cx="1091153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1: does it have attributes of its own? Yes: deptCode, deptName, building. Storing the department as a plain attribute of Student would copy its name into every student row.</a:t>
            </a:r>
            <a:endParaRPr lang="en-US" sz="18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2: does it exist without the other entity? Yes: a department exists before any student joins it, so it needs its own occurrences and its own key.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4297680"/>
            <a:ext cx="10911535" cy="1463040"/>
          </a:xfrm>
          <a:prstGeom prst="roundRect">
            <a:avLst>
              <a:gd name="adj" fmla="val 4375"/>
            </a:avLst>
          </a:prstGeom>
          <a:solidFill>
            <a:srgbClr val="EAF1FB"/>
          </a:solidFill>
          <a:ln w="12700">
            <a:solidFill>
              <a:srgbClr val="6C8FD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96112" y="4443984"/>
            <a:ext cx="103994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4754880"/>
            <a:ext cx="10399471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noun has several attributes of its own and is shared by many occurrences of another entity, make it an entity. A single fact about one thing is an attribute.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18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WALKTHROUGH · STEP 4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Grade Belongs on the Relationship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37360"/>
            <a:ext cx="1091153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Student: a student takes many courses, so one student row would need many grades. That fails.</a:t>
            </a:r>
            <a:endParaRPr lang="en-US" sz="18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Course: a course has many students, each with a different grade. That fails too. A grade belongs to one specific pairing: this student in this course.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4297680"/>
            <a:ext cx="10911535" cy="1645920"/>
          </a:xfrm>
          <a:prstGeom prst="roundRect">
            <a:avLst>
              <a:gd name="adj" fmla="val 4375"/>
            </a:avLst>
          </a:prstGeom>
          <a:solidFill>
            <a:srgbClr val="EAF1FB"/>
          </a:solidFill>
          <a:ln w="12700">
            <a:solidFill>
              <a:srgbClr val="6C8FD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96112" y="4443984"/>
            <a:ext cx="103994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4754880"/>
            <a:ext cx="10399471" cy="10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reasoning gives viewDate and comment on Views. A fact that needs both participants named becomes a relationship attribute, and the M:N relationship maps to its own relation: Enrollment(studentId, courseCode, grade).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19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WALKTHROUGH · STEP 5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5: Turn Verbs Into Relationships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1091153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743200"/>
                <a:gridCol w="557784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Participants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Cardinality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belongs 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 and Department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1:N (each student has one department)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offers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Department and Course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1:N (each course has one department)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enrolls 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 and Course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M:N, with grade as a relationship attribute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 sections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Course and Section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1:N, identifying (Section is weak)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4892040"/>
            <a:ext cx="10911535" cy="1143000"/>
          </a:xfrm>
          <a:prstGeom prst="roundRect">
            <a:avLst>
              <a:gd name="adj" fmla="val 5600"/>
            </a:avLst>
          </a:prstGeom>
          <a:solidFill>
            <a:srgbClr val="FCF1E3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96112" y="5038344"/>
            <a:ext cx="103994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96112" y="5349240"/>
            <a:ext cx="10399471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verb that links two entity types becomes a relationship. The cardinality comes from asking two questions in both directions, shown on the next slides.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20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WALKTHROUGH · STEP 6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6: Ask Two Questions About Offers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9164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A: for one course, how many departments offer it? Exactly one. Question B: for one department, how many courses does it offer? Many. So Offers is 1:N, with Department on the one side and Course on the many side.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011680" y="2468880"/>
            <a:ext cx="265176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5875">
            <a:solidFill>
              <a:srgbClr val="1F242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0" y="2468880"/>
            <a:ext cx="2651760" cy="384048"/>
          </a:xfrm>
          <a:prstGeom prst="roundRect">
            <a:avLst>
              <a:gd name="adj" fmla="val 19048"/>
            </a:avLst>
          </a:prstGeom>
          <a:solidFill>
            <a:srgbClr val="2FE6C4"/>
          </a:solidFill>
          <a:ln/>
        </p:spPr>
      </p:sp>
      <p:sp>
        <p:nvSpPr>
          <p:cNvPr id="7" name="Shape 5"/>
          <p:cNvSpPr/>
          <p:nvPr/>
        </p:nvSpPr>
        <p:spPr>
          <a:xfrm>
            <a:off x="2011680" y="2660904"/>
            <a:ext cx="2651760" cy="192024"/>
          </a:xfrm>
          <a:prstGeom prst="rect">
            <a:avLst/>
          </a:prstGeom>
          <a:solidFill>
            <a:srgbClr val="2FE6C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121408" y="2468880"/>
            <a:ext cx="2432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2157984" y="290779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1800" b="1" u="sng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deptCode</a:t>
            </a:r>
            <a:endParaRPr lang="en-US" sz="1800" dirty="0"/>
          </a:p>
          <a:p>
            <a:pPr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deptName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406640" y="2468880"/>
            <a:ext cx="2651760" cy="1600200"/>
          </a:xfrm>
          <a:prstGeom prst="roundRect">
            <a:avLst>
              <a:gd name="adj" fmla="val 5479"/>
            </a:avLst>
          </a:prstGeom>
          <a:solidFill>
            <a:srgbClr val="FFFFFF"/>
          </a:solidFill>
          <a:ln w="15875">
            <a:solidFill>
              <a:srgbClr val="1F242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06640" y="2468880"/>
            <a:ext cx="2651760" cy="384048"/>
          </a:xfrm>
          <a:prstGeom prst="roundRect">
            <a:avLst>
              <a:gd name="adj" fmla="val 19048"/>
            </a:avLst>
          </a:prstGeom>
          <a:solidFill>
            <a:srgbClr val="E8A33D"/>
          </a:solidFill>
          <a:ln/>
        </p:spPr>
      </p:sp>
      <p:sp>
        <p:nvSpPr>
          <p:cNvPr id="12" name="Shape 10"/>
          <p:cNvSpPr/>
          <p:nvPr/>
        </p:nvSpPr>
        <p:spPr>
          <a:xfrm>
            <a:off x="7406640" y="2660904"/>
            <a:ext cx="2651760" cy="19202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516368" y="2468880"/>
            <a:ext cx="2432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7552944" y="2907792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1800" b="1" u="sng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courseCode</a:t>
            </a:r>
            <a:endParaRPr lang="en-US" sz="1800" dirty="0"/>
          </a:p>
          <a:p>
            <a:pPr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</a:t>
            </a:r>
            <a:endParaRPr lang="en-US" sz="1800" dirty="0"/>
          </a:p>
          <a:p>
            <a:pPr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18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deptCode (FK)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663440" y="2999232"/>
            <a:ext cx="2743200" cy="137160"/>
          </a:xfrm>
          <a:prstGeom prst="line">
            <a:avLst/>
          </a:prstGeom>
          <a:noFill/>
          <a:ln w="22225">
            <a:solidFill>
              <a:srgbClr val="9AA1A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349240" y="2683764"/>
            <a:ext cx="1371600" cy="274320"/>
          </a:xfrm>
          <a:prstGeom prst="rect">
            <a:avLst/>
          </a:prstGeom>
          <a:solidFill>
            <a:srgbClr val="F7F8F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Offers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532120" y="3049524"/>
            <a:ext cx="274320" cy="274320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532120" y="30495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63640" y="3049524"/>
            <a:ext cx="274320" cy="2743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263640" y="30495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489204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Department offers many Courses, but each Course is offered by exactly one Department.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40080" y="5349240"/>
            <a:ext cx="10911535" cy="868680"/>
          </a:xfrm>
          <a:prstGeom prst="roundRect">
            <a:avLst>
              <a:gd name="adj" fmla="val 7368"/>
            </a:avLst>
          </a:prstGeom>
          <a:solidFill>
            <a:srgbClr val="E9F9F3"/>
          </a:solidFill>
          <a:ln w="12700">
            <a:solidFill>
              <a:srgbClr val="1FAE8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96112" y="5495544"/>
            <a:ext cx="103994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896112" y="5806440"/>
            <a:ext cx="10399471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badges in plain English first: 1 next to Department, N next to Course.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21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WALKTHROUGH · STEP 7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7: Who Must Take Part?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45920"/>
            <a:ext cx="1091153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Mandatory: every student must belong to exactly one department, so Student's participation in Belongs to is (1,1).</a:t>
            </a:r>
            <a:endParaRPr lang="en-US" sz="180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Optional: a new department may have no students yet, so Department's participation is (0,*).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011680" y="3200400"/>
            <a:ext cx="265176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5875">
            <a:solidFill>
              <a:srgbClr val="1F242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0" y="3200400"/>
            <a:ext cx="2651760" cy="384048"/>
          </a:xfrm>
          <a:prstGeom prst="roundRect">
            <a:avLst>
              <a:gd name="adj" fmla="val 19048"/>
            </a:avLst>
          </a:prstGeom>
          <a:solidFill>
            <a:srgbClr val="2FE6C4"/>
          </a:solidFill>
          <a:ln/>
        </p:spPr>
      </p:sp>
      <p:sp>
        <p:nvSpPr>
          <p:cNvPr id="7" name="Shape 5"/>
          <p:cNvSpPr/>
          <p:nvPr/>
        </p:nvSpPr>
        <p:spPr>
          <a:xfrm>
            <a:off x="2011680" y="3392424"/>
            <a:ext cx="2651760" cy="192024"/>
          </a:xfrm>
          <a:prstGeom prst="rect">
            <a:avLst/>
          </a:prstGeom>
          <a:solidFill>
            <a:srgbClr val="2FE6C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121408" y="3200400"/>
            <a:ext cx="2432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2157984" y="363931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1800" b="1" u="sng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deptCode</a:t>
            </a:r>
            <a:endParaRPr lang="en-US" sz="1800" dirty="0"/>
          </a:p>
          <a:p>
            <a:pPr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deptName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406640" y="3200400"/>
            <a:ext cx="2651760" cy="1600200"/>
          </a:xfrm>
          <a:prstGeom prst="roundRect">
            <a:avLst>
              <a:gd name="adj" fmla="val 5479"/>
            </a:avLst>
          </a:prstGeom>
          <a:solidFill>
            <a:srgbClr val="FFFFFF"/>
          </a:solidFill>
          <a:ln w="15875">
            <a:solidFill>
              <a:srgbClr val="1F242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06640" y="3200400"/>
            <a:ext cx="2651760" cy="384048"/>
          </a:xfrm>
          <a:prstGeom prst="roundRect">
            <a:avLst>
              <a:gd name="adj" fmla="val 19048"/>
            </a:avLst>
          </a:prstGeom>
          <a:solidFill>
            <a:srgbClr val="E8A33D"/>
          </a:solidFill>
          <a:ln/>
        </p:spPr>
      </p:sp>
      <p:sp>
        <p:nvSpPr>
          <p:cNvPr id="12" name="Shape 10"/>
          <p:cNvSpPr/>
          <p:nvPr/>
        </p:nvSpPr>
        <p:spPr>
          <a:xfrm>
            <a:off x="7406640" y="3392424"/>
            <a:ext cx="2651760" cy="19202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516368" y="3200400"/>
            <a:ext cx="2432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7552944" y="3639312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1800" b="1" u="sng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studentId</a:t>
            </a:r>
            <a:endParaRPr lang="en-US" sz="1800" dirty="0"/>
          </a:p>
          <a:p>
            <a:pPr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800" dirty="0"/>
          </a:p>
          <a:p>
            <a:pPr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18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deptCode (FK)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663440" y="3730752"/>
            <a:ext cx="2743200" cy="137160"/>
          </a:xfrm>
          <a:prstGeom prst="line">
            <a:avLst/>
          </a:prstGeom>
          <a:noFill/>
          <a:ln w="22225">
            <a:solidFill>
              <a:srgbClr val="9AA1A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349240" y="3415284"/>
            <a:ext cx="1371600" cy="274320"/>
          </a:xfrm>
          <a:prstGeom prst="rect">
            <a:avLst/>
          </a:prstGeom>
          <a:solidFill>
            <a:srgbClr val="F7F8F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Belongs to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532120" y="3781044"/>
            <a:ext cx="274320" cy="274320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532120" y="37810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63640" y="3781044"/>
            <a:ext cx="274320" cy="2743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263640" y="37810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2011680" y="46177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(0,*) optional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7406640" y="48463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(1,1) mandatory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5623560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Student.deptCode is never NULL: every student must belong to exactly one department. A department with no students is still a valid fact, so Department stays optional.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22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WALKTHROUGH · STEP 8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8: Section Is a Weak Entity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45920"/>
            <a:ext cx="1091153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depends on Course: section 1 exists in every course, so sectionNo alone cannot identify a section.</a:t>
            </a:r>
            <a:endParaRPr lang="en-US" sz="180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true key is (courseCode, sectionNo): courseCode is the owner's key, and sectionNo is only the partial key.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3246120"/>
            <a:ext cx="2743200" cy="1600200"/>
          </a:xfrm>
          <a:prstGeom prst="roundRect">
            <a:avLst>
              <a:gd name="adj" fmla="val 5479"/>
            </a:avLst>
          </a:prstGeom>
          <a:solidFill>
            <a:srgbClr val="FFFFFF"/>
          </a:solidFill>
          <a:ln w="15875">
            <a:solidFill>
              <a:srgbClr val="1F242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3246120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2FE6C4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3438144"/>
            <a:ext cx="2743200" cy="192024"/>
          </a:xfrm>
          <a:prstGeom prst="rect">
            <a:avLst/>
          </a:prstGeom>
          <a:solidFill>
            <a:srgbClr val="2FE6C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49808" y="3246120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86384" y="3685032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1800" b="1" u="sng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courseCode</a:t>
            </a:r>
            <a:endParaRPr lang="en-US" sz="1800" dirty="0"/>
          </a:p>
          <a:p>
            <a:pPr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</a:t>
            </a:r>
            <a:endParaRPr lang="en-US" sz="1800" dirty="0"/>
          </a:p>
          <a:p>
            <a:pPr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creditHours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715000" y="3200400"/>
            <a:ext cx="2834640" cy="2057400"/>
          </a:xfrm>
          <a:prstGeom prst="roundRect">
            <a:avLst>
              <a:gd name="adj" fmla="val 4301"/>
            </a:avLst>
          </a:prstGeom>
          <a:ln w="19050">
            <a:solidFill>
              <a:srgbClr val="1F242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760720" y="3246120"/>
            <a:ext cx="2743200" cy="18288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5875">
            <a:solidFill>
              <a:srgbClr val="1F242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760720" y="3246120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E8A33D"/>
          </a:solidFill>
          <a:ln/>
        </p:spPr>
      </p:sp>
      <p:sp>
        <p:nvSpPr>
          <p:cNvPr id="13" name="Shape 11"/>
          <p:cNvSpPr/>
          <p:nvPr/>
        </p:nvSpPr>
        <p:spPr>
          <a:xfrm>
            <a:off x="5760720" y="3438144"/>
            <a:ext cx="2743200" cy="19202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870448" y="3246120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5907024" y="3685032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1800" b="1" u="sng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sectionNo</a:t>
            </a:r>
            <a:endParaRPr lang="en-US" sz="1800" dirty="0"/>
          </a:p>
          <a:p>
            <a:pPr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</a:t>
            </a:r>
            <a:endParaRPr lang="en-US" sz="1800" dirty="0"/>
          </a:p>
          <a:p>
            <a:pPr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roomNo</a:t>
            </a:r>
            <a:endParaRPr lang="en-US" sz="1800" dirty="0"/>
          </a:p>
          <a:p>
            <a:pPr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18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courseCode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383280" y="3913632"/>
            <a:ext cx="2377440" cy="137160"/>
          </a:xfrm>
          <a:prstGeom prst="line">
            <a:avLst/>
          </a:prstGeom>
          <a:noFill/>
          <a:ln w="22225">
            <a:solidFill>
              <a:srgbClr val="9AA1A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886200" y="3598164"/>
            <a:ext cx="1371600" cy="274320"/>
          </a:xfrm>
          <a:prstGeom prst="rect">
            <a:avLst/>
          </a:prstGeom>
          <a:solidFill>
            <a:srgbClr val="F7F8F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069080" y="3963924"/>
            <a:ext cx="274320" cy="274320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069080" y="39639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800600" y="3963924"/>
            <a:ext cx="274320" cy="2743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800600" y="39639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557784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is a weak entity: double border, and its existence depends on Course. True key: (courseCode, sectionNo).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23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WALKTHROUGH · STEP 9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Section Cannot Be a Strong Entity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37360"/>
            <a:ext cx="1091153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Existence test: can a section exist without its course? No. Section 2 of CS101 means nothing once CS101 is removed, so Section fails the test a strong entity must pass.</a:t>
            </a:r>
            <a:endParaRPr lang="en-US" sz="18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Uniqueness test: is sectionNo unique on its own? No. Sections 1 and 2 exist in every course. Only the owner's key plus the partial key identifies one section.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4297680"/>
            <a:ext cx="10911535" cy="1463040"/>
          </a:xfrm>
          <a:prstGeom prst="roundRect">
            <a:avLst>
              <a:gd name="adj" fmla="val 4375"/>
            </a:avLst>
          </a:prstGeom>
          <a:solidFill>
            <a:srgbClr val="EAF1FB"/>
          </a:solidFill>
          <a:ln w="12700">
            <a:solidFill>
              <a:srgbClr val="6C8FD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96112" y="4443984"/>
            <a:ext cx="103994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4754880"/>
            <a:ext cx="10399471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is strong: it exists in the catalogue before any section is scheduled, and courseCode alone identifies it.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24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cuinotes.com</dc:creator>
  <cp:lastModifiedBy>cuinotes.com</cp:lastModifiedBy>
  <cp:revision>1</cp:revision>
  <dcterms:created xsi:type="dcterms:W3CDTF">2026-09-29T15:28:30Z</dcterms:created>
  <dcterms:modified xsi:type="dcterms:W3CDTF">2026-09-29T15:28:30Z</dcterms:modified>
</cp:coreProperties>
</file>
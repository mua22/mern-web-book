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cuinotes.com" TargetMode="Externa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C"/>
        </a:solidFill>
      </p:bgPr>
    </p:bg>
    <p:spTree>
      <p:nvGrpSpPr>
        <p:cNvPr id="1" name=""/>
        <p:cNvGrpSpPr/>
        <p:nvPr/>
      </p:nvGrpSpPr>
      <p:grpSpPr>
        <a:xfrm>
          <a:off x="0" y="0"/>
          <a:ext cx="0" cy="0"/>
          <a:chOff x="0" y="0"/>
          <a:chExt cx="0" cy="0"/>
        </a:xfrm>
      </p:grpSpPr>
      <p:sp>
        <p:nvSpPr>
          <p:cNvPr id="2" name="Text 0"/>
          <p:cNvSpPr txBox="1"/>
          <p:nvPr/>
        </p:nvSpPr>
        <p:spPr>
          <a:xfrm>
            <a:off x="822960" y="1874520"/>
            <a:ext cx="9144000" cy="457200"/>
          </a:xfrm>
          <a:prstGeom prst="rect">
            <a:avLst/>
          </a:prstGeom>
          <a:noFill/>
          <a:ln/>
        </p:spPr>
        <p:txBody>
          <a:bodyPr wrap="square" lIns="0" tIns="0" rIns="0" bIns="0" rtlCol="0" anchor="ctr"/>
          <a:lstStyle/>
          <a:p>
            <a:pPr indent="0" marL="0">
              <a:buNone/>
            </a:pPr>
            <a:r>
              <a:rPr lang="en-US" sz="1500" b="1" spc="400" kern="0" dirty="0">
                <a:solidFill>
                  <a:srgbClr val="2FE6C4"/>
                </a:solidFill>
                <a:latin typeface="Calibri" pitchFamily="34" charset="0"/>
                <a:ea typeface="Calibri" pitchFamily="34" charset="-122"/>
                <a:cs typeface="Calibri" pitchFamily="34" charset="-120"/>
              </a:rPr>
              <a:t>LECTURE 13</a:t>
            </a:r>
            <a:endParaRPr lang="en-US" sz="1500" dirty="0"/>
          </a:p>
        </p:txBody>
      </p:sp>
      <p:sp>
        <p:nvSpPr>
          <p:cNvPr id="3" name="Text 1"/>
          <p:cNvSpPr txBox="1"/>
          <p:nvPr/>
        </p:nvSpPr>
        <p:spPr>
          <a:xfrm>
            <a:off x="777240" y="2331720"/>
            <a:ext cx="10424160" cy="1920240"/>
          </a:xfrm>
          <a:prstGeom prst="rect">
            <a:avLst/>
          </a:prstGeom>
          <a:noFill/>
          <a:ln/>
        </p:spPr>
        <p:txBody>
          <a:bodyPr wrap="square" lIns="0" tIns="0" rIns="0" bIns="0" rtlCol="0" anchor="ctr"/>
          <a:lstStyle/>
          <a:p>
            <a:pPr indent="0" marL="0">
              <a:lnSpc>
                <a:spcPct val="108000"/>
              </a:lnSpc>
              <a:buNone/>
            </a:pPr>
            <a:r>
              <a:rPr lang="en-US" sz="4000" b="1" dirty="0">
                <a:solidFill>
                  <a:srgbClr val="FFFFFF"/>
                </a:solidFill>
                <a:latin typeface="Calibri" pitchFamily="34" charset="0"/>
                <a:ea typeface="Calibri" pitchFamily="34" charset="-122"/>
                <a:cs typeface="Calibri" pitchFamily="34" charset="-120"/>
              </a:rPr>
              <a:t>ER Modeling: Issues and Problems</a:t>
            </a:r>
            <a:endParaRPr lang="en-US" sz="4000" dirty="0"/>
          </a:p>
        </p:txBody>
      </p:sp>
      <p:sp>
        <p:nvSpPr>
          <p:cNvPr id="4" name="Text 2"/>
          <p:cNvSpPr txBox="1"/>
          <p:nvPr/>
        </p:nvSpPr>
        <p:spPr>
          <a:xfrm>
            <a:off x="822960" y="4343400"/>
            <a:ext cx="9601200" cy="457200"/>
          </a:xfrm>
          <a:prstGeom prst="rect">
            <a:avLst/>
          </a:prstGeom>
          <a:noFill/>
          <a:ln/>
        </p:spPr>
        <p:txBody>
          <a:bodyPr wrap="square" lIns="0" tIns="0" rIns="0" bIns="0" rtlCol="0" anchor="ctr"/>
          <a:lstStyle/>
          <a:p>
            <a:pPr indent="0" marL="0">
              <a:buNone/>
            </a:pPr>
            <a:r>
              <a:rPr lang="en-US" sz="1800" dirty="0">
                <a:solidFill>
                  <a:srgbClr val="2FE6C4"/>
                </a:solidFill>
                <a:latin typeface="Calibri" pitchFamily="34" charset="0"/>
                <a:ea typeface="Calibri" pitchFamily="34" charset="-122"/>
                <a:cs typeface="Calibri" pitchFamily="34" charset="-120"/>
              </a:rPr>
              <a:t>Fan traps, chasm traps, and the judgment calls real schemas require</a:t>
            </a:r>
            <a:endParaRPr lang="en-US" sz="1800" dirty="0"/>
          </a:p>
        </p:txBody>
      </p:sp>
      <p:sp>
        <p:nvSpPr>
          <p:cNvPr id="5" name="Text 3"/>
          <p:cNvSpPr txBox="1"/>
          <p:nvPr/>
        </p:nvSpPr>
        <p:spPr>
          <a:xfrm>
            <a:off x="822960" y="4800600"/>
            <a:ext cx="9601200" cy="365760"/>
          </a:xfrm>
          <a:prstGeom prst="rect">
            <a:avLst/>
          </a:prstGeom>
          <a:noFill/>
          <a:ln/>
        </p:spPr>
        <p:txBody>
          <a:bodyPr wrap="square" lIns="0" tIns="0" rIns="0" bIns="0" rtlCol="0" anchor="ctr"/>
          <a:lstStyle/>
          <a:p>
            <a:pPr indent="0" marL="0">
              <a:buNone/>
            </a:pPr>
            <a:r>
              <a:rPr lang="en-US" sz="1800" dirty="0">
                <a:solidFill>
                  <a:srgbClr val="B9BFC6"/>
                </a:solidFill>
                <a:latin typeface="Calibri" pitchFamily="34" charset="0"/>
                <a:ea typeface="Calibri" pitchFamily="34" charset="-122"/>
                <a:cs typeface="Calibri" pitchFamily="34" charset="-120"/>
              </a:rPr>
              <a:t>CSC270 · Database Systems</a:t>
            </a:r>
            <a:endParaRPr lang="en-US" sz="1800" dirty="0"/>
          </a:p>
        </p:txBody>
      </p:sp>
      <p:sp>
        <p:nvSpPr>
          <p:cNvPr id="6" name="Text 4"/>
          <p:cNvSpPr txBox="1"/>
          <p:nvPr/>
        </p:nvSpPr>
        <p:spPr>
          <a:xfrm>
            <a:off x="822960" y="5166360"/>
            <a:ext cx="9601200" cy="365760"/>
          </a:xfrm>
          <a:prstGeom prst="rect">
            <a:avLst/>
          </a:prstGeom>
          <a:noFill/>
          <a:ln/>
        </p:spPr>
        <p:txBody>
          <a:bodyPr wrap="square" lIns="0" tIns="0" rIns="0" bIns="0" rtlCol="0" anchor="ctr"/>
          <a:lstStyle/>
          <a:p>
            <a:pPr indent="0" marL="0">
              <a:buNone/>
            </a:pPr>
            <a:r>
              <a:rPr lang="en-US" sz="1800" dirty="0">
                <a:solidFill>
                  <a:srgbClr val="757C84"/>
                </a:solidFill>
                <a:latin typeface="Calibri" pitchFamily="34" charset="0"/>
                <a:ea typeface="Calibri" pitchFamily="34" charset="-122"/>
                <a:cs typeface="Calibri" pitchFamily="34" charset="-120"/>
              </a:rPr>
              <a:t>COMSATS University Islamabad, Lahore Campus</a:t>
            </a:r>
            <a:endParaRPr lang="en-US" sz="1800" dirty="0"/>
          </a:p>
        </p:txBody>
      </p:sp>
      <p:sp>
        <p:nvSpPr>
          <p:cNvPr id="7" name="Text 5"/>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LECTURE 13</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In This Lecture</a:t>
            </a:r>
            <a:endParaRPr lang="en-US" sz="2600" dirty="0"/>
          </a:p>
        </p:txBody>
      </p:sp>
      <p:sp>
        <p:nvSpPr>
          <p:cNvPr id="4" name="Shape 2"/>
          <p:cNvSpPr/>
          <p:nvPr/>
        </p:nvSpPr>
        <p:spPr>
          <a:xfrm>
            <a:off x="640080" y="1691640"/>
            <a:ext cx="365760" cy="365760"/>
          </a:xfrm>
          <a:prstGeom prst="ellipse">
            <a:avLst/>
          </a:prstGeom>
          <a:solidFill>
            <a:srgbClr val="2FE6C4"/>
          </a:solidFill>
          <a:ln/>
        </p:spPr>
      </p:sp>
      <p:sp>
        <p:nvSpPr>
          <p:cNvPr id="5" name="Text 3"/>
          <p:cNvSpPr txBox="1"/>
          <p:nvPr/>
        </p:nvSpPr>
        <p:spPr>
          <a:xfrm>
            <a:off x="640080" y="169164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07008" y="1636776"/>
            <a:ext cx="10344607" cy="560070"/>
          </a:xfrm>
          <a:prstGeom prst="rect">
            <a:avLst/>
          </a:prstGeom>
          <a:noFill/>
          <a:ln/>
        </p:spPr>
        <p:txBody>
          <a:bodyPr wrap="square" lIns="0" tIns="0" rIns="0" bIns="0" rtlCol="0" anchor="ctr"/>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Choosing entity types vs. attributes — the single most common beginner confusion</a:t>
            </a:r>
            <a:endParaRPr lang="en-US" sz="1800" dirty="0"/>
          </a:p>
        </p:txBody>
      </p:sp>
      <p:sp>
        <p:nvSpPr>
          <p:cNvPr id="7" name="Shape 5"/>
          <p:cNvSpPr/>
          <p:nvPr/>
        </p:nvSpPr>
        <p:spPr>
          <a:xfrm>
            <a:off x="640080" y="2251710"/>
            <a:ext cx="365760" cy="365760"/>
          </a:xfrm>
          <a:prstGeom prst="ellipse">
            <a:avLst/>
          </a:prstGeom>
          <a:solidFill>
            <a:srgbClr val="2FE6C4"/>
          </a:solidFill>
          <a:ln/>
        </p:spPr>
      </p:sp>
      <p:sp>
        <p:nvSpPr>
          <p:cNvPr id="8" name="Text 6"/>
          <p:cNvSpPr txBox="1"/>
          <p:nvPr/>
        </p:nvSpPr>
        <p:spPr>
          <a:xfrm>
            <a:off x="640080" y="225171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207008" y="2196846"/>
            <a:ext cx="10344607" cy="560070"/>
          </a:xfrm>
          <a:prstGeom prst="rect">
            <a:avLst/>
          </a:prstGeom>
          <a:noFill/>
          <a:ln/>
        </p:spPr>
        <p:txBody>
          <a:bodyPr wrap="square" lIns="0" tIns="0" rIns="0" bIns="0" rtlCol="0" anchor="ctr"/>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Choosing relationship types, and spotting one that's hiding a missing entity</a:t>
            </a:r>
            <a:endParaRPr lang="en-US" sz="1800" dirty="0"/>
          </a:p>
        </p:txBody>
      </p:sp>
      <p:sp>
        <p:nvSpPr>
          <p:cNvPr id="10" name="Shape 8"/>
          <p:cNvSpPr/>
          <p:nvPr/>
        </p:nvSpPr>
        <p:spPr>
          <a:xfrm>
            <a:off x="640080" y="2811780"/>
            <a:ext cx="365760" cy="365760"/>
          </a:xfrm>
          <a:prstGeom prst="ellipse">
            <a:avLst/>
          </a:prstGeom>
          <a:solidFill>
            <a:srgbClr val="2FE6C4"/>
          </a:solidFill>
          <a:ln/>
        </p:spPr>
      </p:sp>
      <p:sp>
        <p:nvSpPr>
          <p:cNvPr id="11" name="Text 9"/>
          <p:cNvSpPr txBox="1"/>
          <p:nvPr/>
        </p:nvSpPr>
        <p:spPr>
          <a:xfrm>
            <a:off x="640080" y="281178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3</a:t>
            </a:r>
            <a:endParaRPr lang="en-US" sz="1400" dirty="0"/>
          </a:p>
        </p:txBody>
      </p:sp>
      <p:sp>
        <p:nvSpPr>
          <p:cNvPr id="12" name="Text 10"/>
          <p:cNvSpPr txBox="1"/>
          <p:nvPr/>
        </p:nvSpPr>
        <p:spPr>
          <a:xfrm>
            <a:off x="1207008" y="2756916"/>
            <a:ext cx="10344607" cy="560070"/>
          </a:xfrm>
          <a:prstGeom prst="rect">
            <a:avLst/>
          </a:prstGeom>
          <a:noFill/>
          <a:ln/>
        </p:spPr>
        <p:txBody>
          <a:bodyPr wrap="square" lIns="0" tIns="0" rIns="0" bIns="0" rtlCol="0" anchor="ctr"/>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Choosing attributes: simple, composite, single-valued, multi-valued, derived</a:t>
            </a:r>
            <a:endParaRPr lang="en-US" sz="1800" dirty="0"/>
          </a:p>
        </p:txBody>
      </p:sp>
      <p:sp>
        <p:nvSpPr>
          <p:cNvPr id="13" name="Shape 11"/>
          <p:cNvSpPr/>
          <p:nvPr/>
        </p:nvSpPr>
        <p:spPr>
          <a:xfrm>
            <a:off x="640080" y="3371850"/>
            <a:ext cx="365760" cy="365760"/>
          </a:xfrm>
          <a:prstGeom prst="ellipse">
            <a:avLst/>
          </a:prstGeom>
          <a:solidFill>
            <a:srgbClr val="2FE6C4"/>
          </a:solidFill>
          <a:ln/>
        </p:spPr>
      </p:sp>
      <p:sp>
        <p:nvSpPr>
          <p:cNvPr id="14" name="Text 12"/>
          <p:cNvSpPr txBox="1"/>
          <p:nvPr/>
        </p:nvSpPr>
        <p:spPr>
          <a:xfrm>
            <a:off x="640080" y="337185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4</a:t>
            </a:r>
            <a:endParaRPr lang="en-US" sz="1400" dirty="0"/>
          </a:p>
        </p:txBody>
      </p:sp>
      <p:sp>
        <p:nvSpPr>
          <p:cNvPr id="15" name="Text 13"/>
          <p:cNvSpPr txBox="1"/>
          <p:nvPr/>
        </p:nvSpPr>
        <p:spPr>
          <a:xfrm>
            <a:off x="1207008" y="3316986"/>
            <a:ext cx="10344607" cy="560070"/>
          </a:xfrm>
          <a:prstGeom prst="rect">
            <a:avLst/>
          </a:prstGeom>
          <a:noFill/>
          <a:ln/>
        </p:spPr>
        <p:txBody>
          <a:bodyPr wrap="square" lIns="0" tIns="0" rIns="0" bIns="0" rtlCol="0" anchor="ctr"/>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Naming conventions — and the concrete query problems synonyms/homonyms cause</a:t>
            </a:r>
            <a:endParaRPr lang="en-US" sz="1800" dirty="0"/>
          </a:p>
        </p:txBody>
      </p:sp>
      <p:sp>
        <p:nvSpPr>
          <p:cNvPr id="16" name="Shape 14"/>
          <p:cNvSpPr/>
          <p:nvPr/>
        </p:nvSpPr>
        <p:spPr>
          <a:xfrm>
            <a:off x="640080" y="3931920"/>
            <a:ext cx="365760" cy="365760"/>
          </a:xfrm>
          <a:prstGeom prst="ellipse">
            <a:avLst/>
          </a:prstGeom>
          <a:solidFill>
            <a:srgbClr val="2FE6C4"/>
          </a:solidFill>
          <a:ln/>
        </p:spPr>
      </p:sp>
      <p:sp>
        <p:nvSpPr>
          <p:cNvPr id="17" name="Text 15"/>
          <p:cNvSpPr txBox="1"/>
          <p:nvPr/>
        </p:nvSpPr>
        <p:spPr>
          <a:xfrm>
            <a:off x="640080" y="393192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5</a:t>
            </a:r>
            <a:endParaRPr lang="en-US" sz="1400" dirty="0"/>
          </a:p>
        </p:txBody>
      </p:sp>
      <p:sp>
        <p:nvSpPr>
          <p:cNvPr id="18" name="Text 16"/>
          <p:cNvSpPr txBox="1"/>
          <p:nvPr/>
        </p:nvSpPr>
        <p:spPr>
          <a:xfrm>
            <a:off x="1207008" y="3877056"/>
            <a:ext cx="10344607" cy="560070"/>
          </a:xfrm>
          <a:prstGeom prst="rect">
            <a:avLst/>
          </a:prstGeom>
          <a:noFill/>
          <a:ln/>
        </p:spPr>
        <p:txBody>
          <a:bodyPr wrap="square" lIns="0" tIns="0" rIns="0" bIns="0" rtlCol="0" anchor="ctr"/>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Complex relationships: ternary relationships, relationships with their own attributes</a:t>
            </a:r>
            <a:endParaRPr lang="en-US" sz="1800" dirty="0"/>
          </a:p>
        </p:txBody>
      </p:sp>
      <p:sp>
        <p:nvSpPr>
          <p:cNvPr id="19" name="Shape 17"/>
          <p:cNvSpPr/>
          <p:nvPr/>
        </p:nvSpPr>
        <p:spPr>
          <a:xfrm>
            <a:off x="640080" y="4491990"/>
            <a:ext cx="365760" cy="365760"/>
          </a:xfrm>
          <a:prstGeom prst="ellipse">
            <a:avLst/>
          </a:prstGeom>
          <a:solidFill>
            <a:srgbClr val="2FE6C4"/>
          </a:solidFill>
          <a:ln/>
        </p:spPr>
      </p:sp>
      <p:sp>
        <p:nvSpPr>
          <p:cNvPr id="20" name="Text 18"/>
          <p:cNvSpPr txBox="1"/>
          <p:nvPr/>
        </p:nvSpPr>
        <p:spPr>
          <a:xfrm>
            <a:off x="640080" y="449199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6</a:t>
            </a:r>
            <a:endParaRPr lang="en-US" sz="1400" dirty="0"/>
          </a:p>
        </p:txBody>
      </p:sp>
      <p:sp>
        <p:nvSpPr>
          <p:cNvPr id="21" name="Text 19"/>
          <p:cNvSpPr txBox="1"/>
          <p:nvPr/>
        </p:nvSpPr>
        <p:spPr>
          <a:xfrm>
            <a:off x="1207008" y="4437126"/>
            <a:ext cx="10344607" cy="560070"/>
          </a:xfrm>
          <a:prstGeom prst="rect">
            <a:avLst/>
          </a:prstGeom>
          <a:noFill/>
          <a:ln/>
        </p:spPr>
        <p:txBody>
          <a:bodyPr wrap="square" lIns="0" tIns="0" rIns="0" bIns="0" rtlCol="0" anchor="ctr"/>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Structural constraints revisited — the full (min, max) multiplicity notation</a:t>
            </a:r>
            <a:endParaRPr lang="en-US" sz="1800" dirty="0"/>
          </a:p>
        </p:txBody>
      </p:sp>
      <p:sp>
        <p:nvSpPr>
          <p:cNvPr id="22" name="Shape 20"/>
          <p:cNvSpPr/>
          <p:nvPr/>
        </p:nvSpPr>
        <p:spPr>
          <a:xfrm>
            <a:off x="640080" y="5052060"/>
            <a:ext cx="365760" cy="365760"/>
          </a:xfrm>
          <a:prstGeom prst="ellipse">
            <a:avLst/>
          </a:prstGeom>
          <a:solidFill>
            <a:srgbClr val="2FE6C4"/>
          </a:solidFill>
          <a:ln/>
        </p:spPr>
      </p:sp>
      <p:sp>
        <p:nvSpPr>
          <p:cNvPr id="23" name="Text 21"/>
          <p:cNvSpPr txBox="1"/>
          <p:nvPr/>
        </p:nvSpPr>
        <p:spPr>
          <a:xfrm>
            <a:off x="640080" y="505206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7</a:t>
            </a:r>
            <a:endParaRPr lang="en-US" sz="1400" dirty="0"/>
          </a:p>
        </p:txBody>
      </p:sp>
      <p:sp>
        <p:nvSpPr>
          <p:cNvPr id="24" name="Text 22"/>
          <p:cNvSpPr txBox="1"/>
          <p:nvPr/>
        </p:nvSpPr>
        <p:spPr>
          <a:xfrm>
            <a:off x="1207008" y="4997196"/>
            <a:ext cx="10344607" cy="560070"/>
          </a:xfrm>
          <a:prstGeom prst="rect">
            <a:avLst/>
          </a:prstGeom>
          <a:noFill/>
          <a:ln/>
        </p:spPr>
        <p:txBody>
          <a:bodyPr wrap="square" lIns="0" tIns="0" rIns="0" bIns="0" rtlCol="0" anchor="ctr"/>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Avoiding redundancy — spotting it, then removing it correctly</a:t>
            </a:r>
            <a:endParaRPr lang="en-US" sz="1800" dirty="0"/>
          </a:p>
        </p:txBody>
      </p:sp>
      <p:sp>
        <p:nvSpPr>
          <p:cNvPr id="25" name="Shape 23"/>
          <p:cNvSpPr/>
          <p:nvPr/>
        </p:nvSpPr>
        <p:spPr>
          <a:xfrm>
            <a:off x="640080" y="5612130"/>
            <a:ext cx="365760" cy="365760"/>
          </a:xfrm>
          <a:prstGeom prst="ellipse">
            <a:avLst/>
          </a:prstGeom>
          <a:solidFill>
            <a:srgbClr val="2FE6C4"/>
          </a:solidFill>
          <a:ln/>
        </p:spPr>
      </p:sp>
      <p:sp>
        <p:nvSpPr>
          <p:cNvPr id="26" name="Text 24"/>
          <p:cNvSpPr txBox="1"/>
          <p:nvPr/>
        </p:nvSpPr>
        <p:spPr>
          <a:xfrm>
            <a:off x="640080" y="5612130"/>
            <a:ext cx="365760" cy="365760"/>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8</a:t>
            </a:r>
            <a:endParaRPr lang="en-US" sz="1400" dirty="0"/>
          </a:p>
        </p:txBody>
      </p:sp>
      <p:sp>
        <p:nvSpPr>
          <p:cNvPr id="27" name="Text 25"/>
          <p:cNvSpPr txBox="1"/>
          <p:nvPr/>
        </p:nvSpPr>
        <p:spPr>
          <a:xfrm>
            <a:off x="1207008" y="5557266"/>
            <a:ext cx="10344607" cy="560070"/>
          </a:xfrm>
          <a:prstGeom prst="rect">
            <a:avLst/>
          </a:prstGeom>
          <a:noFill/>
          <a:ln/>
        </p:spPr>
        <p:txBody>
          <a:bodyPr wrap="square" lIns="0" tIns="0" rIns="0" bIns="0" rtlCol="0" anchor="ctr"/>
          <a:lstStyle/>
          <a:p>
            <a:pPr indent="0" marL="0">
              <a:lnSpc>
                <a:spcPct val="105000"/>
              </a:lnSpc>
              <a:buNone/>
            </a:pPr>
            <a:r>
              <a:rPr lang="en-US" sz="1800" dirty="0">
                <a:solidFill>
                  <a:srgbClr val="1F2429"/>
                </a:solidFill>
                <a:latin typeface="Calibri" pitchFamily="34" charset="0"/>
                <a:ea typeface="Calibri" pitchFamily="34" charset="-122"/>
                <a:cs typeface="Calibri" pitchFamily="34" charset="-120"/>
              </a:rPr>
              <a:t>Fan traps and chasm traps — the broken query, and the fix, for each</a:t>
            </a:r>
            <a:endParaRPr lang="en-US" sz="1800" dirty="0"/>
          </a:p>
        </p:txBody>
      </p:sp>
      <p:sp>
        <p:nvSpPr>
          <p:cNvPr id="28" name="Text 26"/>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THE CORE JUDGMENT CALL</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Choosing Entity Types vs. Attributes</a:t>
            </a:r>
            <a:endParaRPr lang="en-US" sz="2600" dirty="0"/>
          </a:p>
        </p:txBody>
      </p:sp>
      <p:sp>
        <p:nvSpPr>
          <p:cNvPr id="4" name="Text 2"/>
          <p:cNvSpPr txBox="1"/>
          <p:nvPr/>
        </p:nvSpPr>
        <p:spPr>
          <a:xfrm>
            <a:off x="640080" y="1508760"/>
            <a:ext cx="10911535" cy="45720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Should “position” be an attribute of Staff, or its own entity type?</a:t>
            </a:r>
            <a:endParaRPr lang="en-US" sz="1800" dirty="0"/>
          </a:p>
        </p:txBody>
      </p:sp>
      <p:sp>
        <p:nvSpPr>
          <p:cNvPr id="5" name="Text 3"/>
          <p:cNvSpPr txBox="1"/>
          <p:nvPr/>
        </p:nvSpPr>
        <p:spPr>
          <a:xfrm>
            <a:off x="640080" y="2057400"/>
            <a:ext cx="3291840" cy="274320"/>
          </a:xfrm>
          <a:prstGeom prst="rect">
            <a:avLst/>
          </a:prstGeom>
          <a:noFill/>
          <a:ln/>
        </p:spPr>
        <p:txBody>
          <a:bodyPr wrap="square" lIns="0" tIns="0" rIns="0" bIns="0" rtlCol="0" anchor="ctr"/>
          <a:lstStyle/>
          <a:p>
            <a:pPr indent="0" marL="0">
              <a:buNone/>
            </a:pPr>
            <a:r>
              <a:rPr lang="en-US" sz="1800" b="1" dirty="0">
                <a:solidFill>
                  <a:srgbClr val="6B7280"/>
                </a:solidFill>
                <a:latin typeface="Calibri" pitchFamily="34" charset="0"/>
                <a:ea typeface="Calibri" pitchFamily="34" charset="-122"/>
                <a:cs typeface="Calibri" pitchFamily="34" charset="-120"/>
              </a:rPr>
              <a:t>Option A — plain attribute</a:t>
            </a:r>
            <a:endParaRPr lang="en-US" sz="1800" dirty="0"/>
          </a:p>
        </p:txBody>
      </p:sp>
      <p:sp>
        <p:nvSpPr>
          <p:cNvPr id="6" name="Shape 4"/>
          <p:cNvSpPr/>
          <p:nvPr/>
        </p:nvSpPr>
        <p:spPr>
          <a:xfrm>
            <a:off x="640080" y="2377440"/>
            <a:ext cx="3291840" cy="1737360"/>
          </a:xfrm>
          <a:prstGeom prst="roundRect">
            <a:avLst>
              <a:gd name="adj" fmla="val 4211"/>
            </a:avLst>
          </a:prstGeom>
          <a:solidFill>
            <a:srgbClr val="FFFFFF"/>
          </a:solidFill>
          <a:ln w="15875">
            <a:solidFill>
              <a:srgbClr val="1F2429"/>
            </a:solidFill>
            <a:prstDash val="solid"/>
          </a:ln>
        </p:spPr>
      </p:sp>
      <p:sp>
        <p:nvSpPr>
          <p:cNvPr id="7" name="Shape 5"/>
          <p:cNvSpPr/>
          <p:nvPr/>
        </p:nvSpPr>
        <p:spPr>
          <a:xfrm>
            <a:off x="640080" y="2377440"/>
            <a:ext cx="3291840" cy="420624"/>
          </a:xfrm>
          <a:prstGeom prst="roundRect">
            <a:avLst>
              <a:gd name="adj" fmla="val 17391"/>
            </a:avLst>
          </a:prstGeom>
          <a:solidFill>
            <a:srgbClr val="6B7280"/>
          </a:solidFill>
          <a:ln/>
        </p:spPr>
      </p:sp>
      <p:sp>
        <p:nvSpPr>
          <p:cNvPr id="8" name="Shape 6"/>
          <p:cNvSpPr/>
          <p:nvPr/>
        </p:nvSpPr>
        <p:spPr>
          <a:xfrm>
            <a:off x="640080" y="2587752"/>
            <a:ext cx="3291840" cy="210312"/>
          </a:xfrm>
          <a:prstGeom prst="rect">
            <a:avLst/>
          </a:prstGeom>
          <a:solidFill>
            <a:srgbClr val="6B7280"/>
          </a:solidFill>
          <a:ln/>
        </p:spPr>
      </p:sp>
      <p:sp>
        <p:nvSpPr>
          <p:cNvPr id="9" name="Text 7"/>
          <p:cNvSpPr txBox="1"/>
          <p:nvPr/>
        </p:nvSpPr>
        <p:spPr>
          <a:xfrm>
            <a:off x="749808" y="2377440"/>
            <a:ext cx="3072384" cy="420624"/>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Staff</a:t>
            </a:r>
            <a:endParaRPr lang="en-US" sz="1800" dirty="0"/>
          </a:p>
        </p:txBody>
      </p:sp>
      <p:sp>
        <p:nvSpPr>
          <p:cNvPr id="10" name="Text 8"/>
          <p:cNvSpPr txBox="1"/>
          <p:nvPr/>
        </p:nvSpPr>
        <p:spPr>
          <a:xfrm>
            <a:off x="786384" y="2852928"/>
            <a:ext cx="3017520" cy="1170432"/>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staffNo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name</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position</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salary</a:t>
            </a:r>
            <a:endParaRPr lang="en-US" sz="1400" dirty="0"/>
          </a:p>
        </p:txBody>
      </p:sp>
      <p:sp>
        <p:nvSpPr>
          <p:cNvPr id="11" name="Text 9"/>
          <p:cNvSpPr txBox="1"/>
          <p:nvPr/>
        </p:nvSpPr>
        <p:spPr>
          <a:xfrm>
            <a:off x="5029200" y="2057400"/>
            <a:ext cx="6400800" cy="274320"/>
          </a:xfrm>
          <a:prstGeom prst="rect">
            <a:avLst/>
          </a:prstGeom>
          <a:noFill/>
          <a:ln/>
        </p:spPr>
        <p:txBody>
          <a:bodyPr wrap="square" lIns="0" tIns="0" rIns="0" bIns="0" rtlCol="0" anchor="ctr"/>
          <a:lstStyle/>
          <a:p>
            <a:pPr indent="0" marL="0">
              <a:buNone/>
            </a:pPr>
            <a:r>
              <a:rPr lang="en-US" sz="1800" b="1" dirty="0">
                <a:solidFill>
                  <a:srgbClr val="6B7280"/>
                </a:solidFill>
                <a:latin typeface="Calibri" pitchFamily="34" charset="0"/>
                <a:ea typeface="Calibri" pitchFamily="34" charset="-122"/>
                <a:cs typeface="Calibri" pitchFamily="34" charset="-120"/>
              </a:rPr>
              <a:t>Option B — Position promoted to an entity</a:t>
            </a:r>
            <a:endParaRPr lang="en-US" sz="1800" dirty="0"/>
          </a:p>
        </p:txBody>
      </p:sp>
      <p:sp>
        <p:nvSpPr>
          <p:cNvPr id="12" name="Shape 10"/>
          <p:cNvSpPr/>
          <p:nvPr/>
        </p:nvSpPr>
        <p:spPr>
          <a:xfrm>
            <a:off x="5029200" y="2377440"/>
            <a:ext cx="2651760" cy="1737360"/>
          </a:xfrm>
          <a:prstGeom prst="roundRect">
            <a:avLst>
              <a:gd name="adj" fmla="val 4211"/>
            </a:avLst>
          </a:prstGeom>
          <a:solidFill>
            <a:srgbClr val="FFFFFF"/>
          </a:solidFill>
          <a:ln w="15875">
            <a:solidFill>
              <a:srgbClr val="1F2429"/>
            </a:solidFill>
            <a:prstDash val="solid"/>
          </a:ln>
        </p:spPr>
      </p:sp>
      <p:sp>
        <p:nvSpPr>
          <p:cNvPr id="13" name="Shape 11"/>
          <p:cNvSpPr/>
          <p:nvPr/>
        </p:nvSpPr>
        <p:spPr>
          <a:xfrm>
            <a:off x="5029200" y="2377440"/>
            <a:ext cx="2651760" cy="420624"/>
          </a:xfrm>
          <a:prstGeom prst="roundRect">
            <a:avLst>
              <a:gd name="adj" fmla="val 17391"/>
            </a:avLst>
          </a:prstGeom>
          <a:solidFill>
            <a:srgbClr val="2FE6C4"/>
          </a:solidFill>
          <a:ln/>
        </p:spPr>
      </p:sp>
      <p:sp>
        <p:nvSpPr>
          <p:cNvPr id="14" name="Shape 12"/>
          <p:cNvSpPr/>
          <p:nvPr/>
        </p:nvSpPr>
        <p:spPr>
          <a:xfrm>
            <a:off x="5029200" y="2587752"/>
            <a:ext cx="2651760" cy="210312"/>
          </a:xfrm>
          <a:prstGeom prst="rect">
            <a:avLst/>
          </a:prstGeom>
          <a:solidFill>
            <a:srgbClr val="2FE6C4"/>
          </a:solidFill>
          <a:ln/>
        </p:spPr>
      </p:sp>
      <p:sp>
        <p:nvSpPr>
          <p:cNvPr id="15" name="Text 13"/>
          <p:cNvSpPr txBox="1"/>
          <p:nvPr/>
        </p:nvSpPr>
        <p:spPr>
          <a:xfrm>
            <a:off x="5138928" y="2377440"/>
            <a:ext cx="24323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Staff</a:t>
            </a:r>
            <a:endParaRPr lang="en-US" sz="1800" dirty="0"/>
          </a:p>
        </p:txBody>
      </p:sp>
      <p:sp>
        <p:nvSpPr>
          <p:cNvPr id="16" name="Text 14"/>
          <p:cNvSpPr txBox="1"/>
          <p:nvPr/>
        </p:nvSpPr>
        <p:spPr>
          <a:xfrm>
            <a:off x="5175504" y="2852928"/>
            <a:ext cx="2377440" cy="1170432"/>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staffNo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name</a:t>
            </a:r>
            <a:endParaRPr lang="en-US" sz="1400" dirty="0"/>
          </a:p>
          <a:p>
            <a:pPr indent="0" marL="0">
              <a:lnSpc>
                <a:spcPct val="108000"/>
              </a:lnSpc>
              <a:spcAft>
                <a:spcPts val="100"/>
              </a:spcAft>
              <a:buNone/>
            </a:pPr>
            <a:r>
              <a:rPr lang="en-US" sz="1400" i="1" dirty="0">
                <a:solidFill>
                  <a:srgbClr val="5B6470"/>
                </a:solidFill>
                <a:latin typeface="Calibri" pitchFamily="34" charset="0"/>
                <a:ea typeface="Calibri" pitchFamily="34" charset="-122"/>
                <a:cs typeface="Calibri" pitchFamily="34" charset="-120"/>
              </a:rPr>
              <a:t>positionCode</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salary</a:t>
            </a:r>
            <a:endParaRPr lang="en-US" sz="1400" dirty="0"/>
          </a:p>
        </p:txBody>
      </p:sp>
      <p:sp>
        <p:nvSpPr>
          <p:cNvPr id="17" name="Shape 15"/>
          <p:cNvSpPr/>
          <p:nvPr/>
        </p:nvSpPr>
        <p:spPr>
          <a:xfrm>
            <a:off x="9235440" y="2377440"/>
            <a:ext cx="2331720" cy="1737360"/>
          </a:xfrm>
          <a:prstGeom prst="roundRect">
            <a:avLst>
              <a:gd name="adj" fmla="val 4211"/>
            </a:avLst>
          </a:prstGeom>
          <a:solidFill>
            <a:srgbClr val="FFFFFF"/>
          </a:solidFill>
          <a:ln w="15875">
            <a:solidFill>
              <a:srgbClr val="1F2429"/>
            </a:solidFill>
            <a:prstDash val="solid"/>
          </a:ln>
        </p:spPr>
      </p:sp>
      <p:sp>
        <p:nvSpPr>
          <p:cNvPr id="18" name="Shape 16"/>
          <p:cNvSpPr/>
          <p:nvPr/>
        </p:nvSpPr>
        <p:spPr>
          <a:xfrm>
            <a:off x="9235440" y="2377440"/>
            <a:ext cx="2331720" cy="420624"/>
          </a:xfrm>
          <a:prstGeom prst="roundRect">
            <a:avLst>
              <a:gd name="adj" fmla="val 17391"/>
            </a:avLst>
          </a:prstGeom>
          <a:solidFill>
            <a:srgbClr val="E8A33D"/>
          </a:solidFill>
          <a:ln/>
        </p:spPr>
      </p:sp>
      <p:sp>
        <p:nvSpPr>
          <p:cNvPr id="19" name="Shape 17"/>
          <p:cNvSpPr/>
          <p:nvPr/>
        </p:nvSpPr>
        <p:spPr>
          <a:xfrm>
            <a:off x="9235440" y="2587752"/>
            <a:ext cx="2331720" cy="210312"/>
          </a:xfrm>
          <a:prstGeom prst="rect">
            <a:avLst/>
          </a:prstGeom>
          <a:solidFill>
            <a:srgbClr val="E8A33D"/>
          </a:solidFill>
          <a:ln/>
        </p:spPr>
      </p:sp>
      <p:sp>
        <p:nvSpPr>
          <p:cNvPr id="20" name="Text 18"/>
          <p:cNvSpPr txBox="1"/>
          <p:nvPr/>
        </p:nvSpPr>
        <p:spPr>
          <a:xfrm>
            <a:off x="9345168" y="2377440"/>
            <a:ext cx="21122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Position</a:t>
            </a:r>
            <a:endParaRPr lang="en-US" sz="1800" dirty="0"/>
          </a:p>
        </p:txBody>
      </p:sp>
      <p:sp>
        <p:nvSpPr>
          <p:cNvPr id="21" name="Text 19"/>
          <p:cNvSpPr txBox="1"/>
          <p:nvPr/>
        </p:nvSpPr>
        <p:spPr>
          <a:xfrm>
            <a:off x="9381744" y="2852928"/>
            <a:ext cx="2057400" cy="1170432"/>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positionCode</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title</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payScaleMin</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payScaleMax</a:t>
            </a:r>
            <a:endParaRPr lang="en-US" sz="1400" dirty="0"/>
          </a:p>
        </p:txBody>
      </p:sp>
      <p:sp>
        <p:nvSpPr>
          <p:cNvPr id="22" name="Shape 20"/>
          <p:cNvSpPr/>
          <p:nvPr/>
        </p:nvSpPr>
        <p:spPr>
          <a:xfrm>
            <a:off x="7680960" y="2788920"/>
            <a:ext cx="1554480" cy="9144"/>
          </a:xfrm>
          <a:prstGeom prst="line">
            <a:avLst/>
          </a:prstGeom>
          <a:noFill/>
          <a:ln w="22225">
            <a:solidFill>
              <a:srgbClr val="9AA1A9"/>
            </a:solidFill>
            <a:prstDash val="solid"/>
          </a:ln>
        </p:spPr>
      </p:sp>
      <p:sp>
        <p:nvSpPr>
          <p:cNvPr id="23" name="Text 21"/>
          <p:cNvSpPr txBox="1"/>
          <p:nvPr/>
        </p:nvSpPr>
        <p:spPr>
          <a:xfrm>
            <a:off x="7772400" y="2404872"/>
            <a:ext cx="137160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Holds</a:t>
            </a:r>
            <a:endParaRPr lang="en-US" sz="1800" dirty="0"/>
          </a:p>
        </p:txBody>
      </p:sp>
      <p:sp>
        <p:nvSpPr>
          <p:cNvPr id="24" name="Shape 22"/>
          <p:cNvSpPr/>
          <p:nvPr/>
        </p:nvSpPr>
        <p:spPr>
          <a:xfrm>
            <a:off x="7909560" y="2606040"/>
            <a:ext cx="274320" cy="274320"/>
          </a:xfrm>
          <a:prstGeom prst="ellipse">
            <a:avLst/>
          </a:prstGeom>
          <a:solidFill>
            <a:srgbClr val="2FE6C4"/>
          </a:solidFill>
          <a:ln/>
        </p:spPr>
      </p:sp>
      <p:sp>
        <p:nvSpPr>
          <p:cNvPr id="25" name="Text 23"/>
          <p:cNvSpPr txBox="1"/>
          <p:nvPr/>
        </p:nvSpPr>
        <p:spPr>
          <a:xfrm>
            <a:off x="7909560" y="260604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N</a:t>
            </a:r>
            <a:endParaRPr lang="en-US" sz="1200" dirty="0"/>
          </a:p>
        </p:txBody>
      </p:sp>
      <p:sp>
        <p:nvSpPr>
          <p:cNvPr id="26" name="Shape 24"/>
          <p:cNvSpPr/>
          <p:nvPr/>
        </p:nvSpPr>
        <p:spPr>
          <a:xfrm>
            <a:off x="8732520" y="2606040"/>
            <a:ext cx="274320" cy="274320"/>
          </a:xfrm>
          <a:prstGeom prst="ellipse">
            <a:avLst/>
          </a:prstGeom>
          <a:solidFill>
            <a:srgbClr val="E8A33D"/>
          </a:solidFill>
          <a:ln/>
        </p:spPr>
      </p:sp>
      <p:sp>
        <p:nvSpPr>
          <p:cNvPr id="27" name="Text 25"/>
          <p:cNvSpPr txBox="1"/>
          <p:nvPr/>
        </p:nvSpPr>
        <p:spPr>
          <a:xfrm>
            <a:off x="8732520" y="260604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28" name="Shape 26"/>
          <p:cNvSpPr/>
          <p:nvPr/>
        </p:nvSpPr>
        <p:spPr>
          <a:xfrm>
            <a:off x="640080" y="4572000"/>
            <a:ext cx="10911535" cy="1691640"/>
          </a:xfrm>
          <a:prstGeom prst="roundRect">
            <a:avLst>
              <a:gd name="adj" fmla="val 3784"/>
            </a:avLst>
          </a:prstGeom>
          <a:solidFill>
            <a:srgbClr val="E9F9F3"/>
          </a:solidFill>
          <a:ln w="12700">
            <a:solidFill>
              <a:srgbClr val="1FAE8C"/>
            </a:solidFill>
            <a:prstDash val="solid"/>
          </a:ln>
        </p:spPr>
      </p:sp>
      <p:sp>
        <p:nvSpPr>
          <p:cNvPr id="29" name="Text 27"/>
          <p:cNvSpPr txBox="1"/>
          <p:nvPr/>
        </p:nvSpPr>
        <p:spPr>
          <a:xfrm>
            <a:off x="896112" y="4718304"/>
            <a:ext cx="10399471" cy="274320"/>
          </a:xfrm>
          <a:prstGeom prst="rect">
            <a:avLst/>
          </a:prstGeom>
          <a:noFill/>
          <a:ln/>
        </p:spPr>
        <p:txBody>
          <a:bodyPr wrap="square" lIns="0" tIns="0" rIns="0" bIns="0" rtlCol="0" anchor="ctr"/>
          <a:lstStyle/>
          <a:p>
            <a:pPr indent="0" marL="0">
              <a:buNone/>
            </a:pPr>
            <a:r>
              <a:rPr lang="en-US" sz="1200" b="1" spc="200" kern="0" dirty="0">
                <a:solidFill>
                  <a:srgbClr val="0E7A61"/>
                </a:solidFill>
                <a:latin typeface="Calibri" pitchFamily="34" charset="0"/>
                <a:ea typeface="Calibri" pitchFamily="34" charset="-122"/>
                <a:cs typeface="Calibri" pitchFamily="34" charset="-120"/>
              </a:rPr>
              <a:t>THE RULE OF THUMB</a:t>
            </a:r>
            <a:endParaRPr lang="en-US" sz="1200" dirty="0"/>
          </a:p>
        </p:txBody>
      </p:sp>
      <p:sp>
        <p:nvSpPr>
          <p:cNvPr id="30" name="Text 28"/>
          <p:cNvSpPr txBox="1"/>
          <p:nvPr/>
        </p:nvSpPr>
        <p:spPr>
          <a:xfrm>
            <a:off x="896112" y="5047488"/>
            <a:ext cx="10399471" cy="105156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Model it as an entity if it needs its own attributes or relationships, or is shared by many rows. Keep it an attribute if it is one atomic fact about one entity. Re-check when requirements grow.</a:t>
            </a:r>
            <a:endParaRPr lang="en-US" sz="1800" dirty="0"/>
          </a:p>
        </p:txBody>
      </p:sp>
      <p:sp>
        <p:nvSpPr>
          <p:cNvPr id="31" name="Text 29"/>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THE SECOND JUDGMENT CALL</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Choosing Relationship Types</a:t>
            </a:r>
            <a:endParaRPr lang="en-US" sz="2600" dirty="0"/>
          </a:p>
        </p:txBody>
      </p:sp>
      <p:sp>
        <p:nvSpPr>
          <p:cNvPr id="4" name="Text 2"/>
          <p:cNvSpPr txBox="1"/>
          <p:nvPr/>
        </p:nvSpPr>
        <p:spPr>
          <a:xfrm>
            <a:off x="640080" y="1508760"/>
            <a:ext cx="10911535" cy="50292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A relationship type is usually named from a verb phrase connecting two entity types (Staff Manages PropertyForRent). Three recurring issues show up when choosing them:</a:t>
            </a:r>
            <a:endParaRPr lang="en-US" sz="1800" dirty="0"/>
          </a:p>
        </p:txBody>
      </p:sp>
      <p:sp>
        <p:nvSpPr>
          <p:cNvPr id="5" name="Shape 3"/>
          <p:cNvSpPr/>
          <p:nvPr/>
        </p:nvSpPr>
        <p:spPr>
          <a:xfrm>
            <a:off x="640080" y="2103120"/>
            <a:ext cx="3484778" cy="2743200"/>
          </a:xfrm>
          <a:prstGeom prst="roundRect">
            <a:avLst>
              <a:gd name="adj" fmla="val 2667"/>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22960" y="2249424"/>
            <a:ext cx="3119018" cy="502920"/>
          </a:xfrm>
          <a:prstGeom prst="rect">
            <a:avLst/>
          </a:prstGeom>
          <a:noFill/>
          <a:ln/>
        </p:spPr>
        <p:txBody>
          <a:bodyPr wrap="square" lIns="0" tIns="0" rIns="0" bIns="0" rtlCol="0" anchor="ctr"/>
          <a:lstStyle/>
          <a:p>
            <a:pPr indent="0" marL="0">
              <a:lnSpc>
                <a:spcPct val="105000"/>
              </a:lnSpc>
              <a:buNone/>
            </a:pPr>
            <a:r>
              <a:rPr lang="en-US" sz="1800" b="1" dirty="0">
                <a:solidFill>
                  <a:srgbClr val="1F2429"/>
                </a:solidFill>
                <a:latin typeface="Calibri" pitchFamily="34" charset="0"/>
                <a:ea typeface="Calibri" pitchFamily="34" charset="-122"/>
                <a:cs typeface="Calibri" pitchFamily="34" charset="-120"/>
              </a:rPr>
              <a:t>Redundant naming direction</a:t>
            </a:r>
            <a:endParaRPr lang="en-US" sz="1800" dirty="0"/>
          </a:p>
        </p:txBody>
      </p:sp>
      <p:sp>
        <p:nvSpPr>
          <p:cNvPr id="7" name="Text 5"/>
          <p:cNvSpPr txBox="1"/>
          <p:nvPr/>
        </p:nvSpPr>
        <p:spPr>
          <a:xfrm>
            <a:off x="822960" y="2743200"/>
            <a:ext cx="3119018" cy="2011680"/>
          </a:xfrm>
          <a:prstGeom prst="rect">
            <a:avLst/>
          </a:prstGeom>
          <a:noFill/>
          <a:ln/>
        </p:spPr>
        <p:txBody>
          <a:bodyPr wrap="square" lIns="0" tIns="0" rIns="0" bIns="0" rtlCol="0" anchor="t"/>
          <a:lstStyle/>
          <a:p>
            <a:pPr indent="0" marL="0">
              <a:lnSpc>
                <a:spcPct val="112000"/>
              </a:lnSpc>
              <a:buNone/>
            </a:pPr>
            <a:r>
              <a:rPr lang="en-US" sz="1800" dirty="0">
                <a:solidFill>
                  <a:srgbClr val="1F2429"/>
                </a:solidFill>
                <a:latin typeface="Calibri" pitchFamily="34" charset="0"/>
                <a:ea typeface="Calibri" pitchFamily="34" charset="-122"/>
                <a:cs typeface="Calibri" pitchFamily="34" charset="-120"/>
              </a:rPr>
              <a:t>Name the relationship once, in one clear direction. Adding “IsManagedBy” as a SECOND, separate relationship type just models the same fact twice.</a:t>
            </a:r>
            <a:endParaRPr lang="en-US" sz="1800" dirty="0"/>
          </a:p>
        </p:txBody>
      </p:sp>
      <p:sp>
        <p:nvSpPr>
          <p:cNvPr id="8" name="Shape 6"/>
          <p:cNvSpPr/>
          <p:nvPr/>
        </p:nvSpPr>
        <p:spPr>
          <a:xfrm>
            <a:off x="4353458" y="2103120"/>
            <a:ext cx="3484778" cy="2743200"/>
          </a:xfrm>
          <a:prstGeom prst="roundRect">
            <a:avLst>
              <a:gd name="adj" fmla="val 2667"/>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4536338" y="2249424"/>
            <a:ext cx="3119018" cy="502920"/>
          </a:xfrm>
          <a:prstGeom prst="rect">
            <a:avLst/>
          </a:prstGeom>
          <a:noFill/>
          <a:ln/>
        </p:spPr>
        <p:txBody>
          <a:bodyPr wrap="square" lIns="0" tIns="0" rIns="0" bIns="0" rtlCol="0" anchor="ctr"/>
          <a:lstStyle/>
          <a:p>
            <a:pPr indent="0" marL="0">
              <a:lnSpc>
                <a:spcPct val="105000"/>
              </a:lnSpc>
              <a:buNone/>
            </a:pPr>
            <a:r>
              <a:rPr lang="en-US" sz="1800" b="1" dirty="0">
                <a:solidFill>
                  <a:srgbClr val="1F2429"/>
                </a:solidFill>
                <a:latin typeface="Calibri" pitchFamily="34" charset="0"/>
                <a:ea typeface="Calibri" pitchFamily="34" charset="-122"/>
                <a:cs typeface="Calibri" pitchFamily="34" charset="-120"/>
              </a:rPr>
              <a:t>A relationship hiding an entity</a:t>
            </a:r>
            <a:endParaRPr lang="en-US" sz="1800" dirty="0"/>
          </a:p>
        </p:txBody>
      </p:sp>
      <p:sp>
        <p:nvSpPr>
          <p:cNvPr id="10" name="Text 8"/>
          <p:cNvSpPr txBox="1"/>
          <p:nvPr/>
        </p:nvSpPr>
        <p:spPr>
          <a:xfrm>
            <a:off x="4536338" y="2743200"/>
            <a:ext cx="3119018" cy="2011680"/>
          </a:xfrm>
          <a:prstGeom prst="rect">
            <a:avLst/>
          </a:prstGeom>
          <a:noFill/>
          <a:ln/>
        </p:spPr>
        <p:txBody>
          <a:bodyPr wrap="square" lIns="0" tIns="0" rIns="0" bIns="0" rtlCol="0" anchor="t"/>
          <a:lstStyle/>
          <a:p>
            <a:pPr indent="0" marL="0">
              <a:lnSpc>
                <a:spcPct val="112000"/>
              </a:lnSpc>
              <a:buNone/>
            </a:pPr>
            <a:r>
              <a:rPr lang="en-US" sz="1800" dirty="0">
                <a:solidFill>
                  <a:srgbClr val="1F2429"/>
                </a:solidFill>
                <a:latin typeface="Calibri" pitchFamily="34" charset="0"/>
                <a:ea typeface="Calibri" pitchFamily="34" charset="-122"/>
                <a:cs typeface="Calibri" pitchFamily="34" charset="-120"/>
              </a:rPr>
              <a:t>If a “relationship” needs its own attributes describing neither participant individually, it usually deserves its own identity — see Complex Relationships, this lecture.</a:t>
            </a:r>
            <a:endParaRPr lang="en-US" sz="1800" dirty="0"/>
          </a:p>
        </p:txBody>
      </p:sp>
      <p:sp>
        <p:nvSpPr>
          <p:cNvPr id="11" name="Shape 9"/>
          <p:cNvSpPr/>
          <p:nvPr/>
        </p:nvSpPr>
        <p:spPr>
          <a:xfrm>
            <a:off x="8066837" y="2103120"/>
            <a:ext cx="3484778" cy="2743200"/>
          </a:xfrm>
          <a:prstGeom prst="roundRect">
            <a:avLst>
              <a:gd name="adj" fmla="val 2667"/>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12" name="Text 10"/>
          <p:cNvSpPr txBox="1"/>
          <p:nvPr/>
        </p:nvSpPr>
        <p:spPr>
          <a:xfrm>
            <a:off x="8249717" y="2249424"/>
            <a:ext cx="3119018" cy="502920"/>
          </a:xfrm>
          <a:prstGeom prst="rect">
            <a:avLst/>
          </a:prstGeom>
          <a:noFill/>
          <a:ln/>
        </p:spPr>
        <p:txBody>
          <a:bodyPr wrap="square" lIns="0" tIns="0" rIns="0" bIns="0" rtlCol="0" anchor="ctr"/>
          <a:lstStyle/>
          <a:p>
            <a:pPr indent="0" marL="0">
              <a:lnSpc>
                <a:spcPct val="105000"/>
              </a:lnSpc>
              <a:buNone/>
            </a:pPr>
            <a:r>
              <a:rPr lang="en-US" sz="1800" b="1" dirty="0">
                <a:solidFill>
                  <a:srgbClr val="1F2429"/>
                </a:solidFill>
                <a:latin typeface="Calibri" pitchFamily="34" charset="0"/>
                <a:ea typeface="Calibri" pitchFamily="34" charset="-122"/>
                <a:cs typeface="Calibri" pitchFamily="34" charset="-120"/>
              </a:rPr>
              <a:t>The wrong degree</a:t>
            </a:r>
            <a:endParaRPr lang="en-US" sz="1800" dirty="0"/>
          </a:p>
        </p:txBody>
      </p:sp>
      <p:sp>
        <p:nvSpPr>
          <p:cNvPr id="13" name="Text 11"/>
          <p:cNvSpPr txBox="1"/>
          <p:nvPr/>
        </p:nvSpPr>
        <p:spPr>
          <a:xfrm>
            <a:off x="8249717" y="2743200"/>
            <a:ext cx="3119018" cy="2011680"/>
          </a:xfrm>
          <a:prstGeom prst="rect">
            <a:avLst/>
          </a:prstGeom>
          <a:noFill/>
          <a:ln/>
        </p:spPr>
        <p:txBody>
          <a:bodyPr wrap="square" lIns="0" tIns="0" rIns="0" bIns="0" rtlCol="0" anchor="t"/>
          <a:lstStyle/>
          <a:p>
            <a:pPr indent="0" marL="0">
              <a:lnSpc>
                <a:spcPct val="112000"/>
              </a:lnSpc>
              <a:buNone/>
            </a:pPr>
            <a:r>
              <a:rPr lang="en-US" sz="1800" dirty="0">
                <a:solidFill>
                  <a:srgbClr val="1F2429"/>
                </a:solidFill>
                <a:latin typeface="Calibri" pitchFamily="34" charset="0"/>
                <a:ea typeface="Calibri" pitchFamily="34" charset="-122"/>
                <a:cs typeface="Calibri" pitchFamily="34" charset="-120"/>
              </a:rPr>
              <a:t>Binary (most common), unary/recursive (Staff Supervises Staff), or ternary+. Force-fitting a 3-way fact into two binary relationships can silently lose information.</a:t>
            </a:r>
            <a:endParaRPr lang="en-US" sz="1800" dirty="0"/>
          </a:p>
        </p:txBody>
      </p:sp>
      <p:sp>
        <p:nvSpPr>
          <p:cNvPr id="14" name="Shape 12"/>
          <p:cNvSpPr/>
          <p:nvPr/>
        </p:nvSpPr>
        <p:spPr>
          <a:xfrm>
            <a:off x="640080" y="5074920"/>
            <a:ext cx="10911535" cy="1188720"/>
          </a:xfrm>
          <a:prstGeom prst="roundRect">
            <a:avLst>
              <a:gd name="adj" fmla="val 5385"/>
            </a:avLst>
          </a:prstGeom>
          <a:solidFill>
            <a:srgbClr val="FCF1E3"/>
          </a:solidFill>
          <a:ln w="12700">
            <a:solidFill>
              <a:srgbClr val="E8A33D"/>
            </a:solidFill>
            <a:prstDash val="solid"/>
          </a:ln>
        </p:spPr>
      </p:sp>
      <p:sp>
        <p:nvSpPr>
          <p:cNvPr id="15" name="Text 13"/>
          <p:cNvSpPr txBox="1"/>
          <p:nvPr/>
        </p:nvSpPr>
        <p:spPr>
          <a:xfrm>
            <a:off x="896112" y="5221224"/>
            <a:ext cx="10399471" cy="274320"/>
          </a:xfrm>
          <a:prstGeom prst="rect">
            <a:avLst/>
          </a:prstGeom>
          <a:noFill/>
          <a:ln/>
        </p:spPr>
        <p:txBody>
          <a:bodyPr wrap="square" lIns="0" tIns="0" rIns="0" bIns="0" rtlCol="0" anchor="ctr"/>
          <a:lstStyle/>
          <a:p>
            <a:pPr indent="0" marL="0">
              <a:buNone/>
            </a:pPr>
            <a:r>
              <a:rPr lang="en-US" sz="1200" b="1" spc="200" kern="0" dirty="0">
                <a:solidFill>
                  <a:srgbClr val="8A5A12"/>
                </a:solidFill>
                <a:latin typeface="Calibri" pitchFamily="34" charset="0"/>
                <a:ea typeface="Calibri" pitchFamily="34" charset="-122"/>
                <a:cs typeface="Calibri" pitchFamily="34" charset="-120"/>
              </a:rPr>
              <a:t>PREVIEW — THE FAN TRAP</a:t>
            </a:r>
            <a:endParaRPr lang="en-US" sz="1200" dirty="0"/>
          </a:p>
        </p:txBody>
      </p:sp>
      <p:sp>
        <p:nvSpPr>
          <p:cNvPr id="16" name="Text 14"/>
          <p:cNvSpPr txBox="1"/>
          <p:nvPr/>
        </p:nvSpPr>
        <p:spPr>
          <a:xfrm>
            <a:off x="896112" y="5550408"/>
            <a:ext cx="10399471" cy="54864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Collapsing a three-way fact into binary relationships can lose the combination. The Fan Trap section shows how.</a:t>
            </a:r>
            <a:endParaRPr lang="en-US" sz="1800" dirty="0"/>
          </a:p>
        </p:txBody>
      </p:sp>
      <p:sp>
        <p:nvSpPr>
          <p:cNvPr id="17" name="Text 15"/>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THE THIRD JUDGMENT CALL</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Choosing Attributes</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7315200" cy="914400"/>
        </p:xfrm>
        <a:graphic>
          <a:graphicData uri="http://schemas.openxmlformats.org/drawingml/2006/table">
            <a:tbl>
              <a:tblPr/>
              <a:tblGrid>
                <a:gridCol w="2438400"/>
                <a:gridCol w="2438400"/>
                <a:gridCol w="2438400"/>
              </a:tblGrid>
              <a:tr h="36576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Kind</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Meaning</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Example (Client)</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r>
              <a:tr h="36576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Simple</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Cannot be broken down further</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telNo</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36576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Composite</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Made of sub-parts sometimes needed separately</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name → first/last</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r h="36576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Single-valued</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Exactly one value per occurrence</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dateRegistered</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36576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Multi-valued</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Can hold several values at once</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preferredContactTimes {}</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r h="36576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Derived</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Computed, not stored itself</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age (from dateOfBirth)</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bl>
          </a:graphicData>
        </a:graphic>
      </p:graphicFrame>
      <p:sp>
        <p:nvSpPr>
          <p:cNvPr id="5" name="Shape 2"/>
          <p:cNvSpPr/>
          <p:nvPr/>
        </p:nvSpPr>
        <p:spPr>
          <a:xfrm>
            <a:off x="8229600" y="1508760"/>
            <a:ext cx="3291840" cy="2322576"/>
          </a:xfrm>
          <a:prstGeom prst="roundRect">
            <a:avLst>
              <a:gd name="adj" fmla="val 3150"/>
            </a:avLst>
          </a:prstGeom>
          <a:solidFill>
            <a:srgbClr val="FFFFFF"/>
          </a:solidFill>
          <a:ln w="15875">
            <a:solidFill>
              <a:srgbClr val="1F2429"/>
            </a:solidFill>
            <a:prstDash val="solid"/>
          </a:ln>
        </p:spPr>
      </p:sp>
      <p:sp>
        <p:nvSpPr>
          <p:cNvPr id="6" name="Shape 3"/>
          <p:cNvSpPr/>
          <p:nvPr/>
        </p:nvSpPr>
        <p:spPr>
          <a:xfrm>
            <a:off x="8229600" y="1508760"/>
            <a:ext cx="3291840" cy="420624"/>
          </a:xfrm>
          <a:prstGeom prst="roundRect">
            <a:avLst>
              <a:gd name="adj" fmla="val 17391"/>
            </a:avLst>
          </a:prstGeom>
          <a:solidFill>
            <a:srgbClr val="8B7FD9"/>
          </a:solidFill>
          <a:ln/>
        </p:spPr>
      </p:sp>
      <p:sp>
        <p:nvSpPr>
          <p:cNvPr id="7" name="Shape 4"/>
          <p:cNvSpPr/>
          <p:nvPr/>
        </p:nvSpPr>
        <p:spPr>
          <a:xfrm>
            <a:off x="8229600" y="1719072"/>
            <a:ext cx="3291840" cy="210312"/>
          </a:xfrm>
          <a:prstGeom prst="rect">
            <a:avLst/>
          </a:prstGeom>
          <a:solidFill>
            <a:srgbClr val="8B7FD9"/>
          </a:solidFill>
          <a:ln/>
        </p:spPr>
      </p:sp>
      <p:sp>
        <p:nvSpPr>
          <p:cNvPr id="8" name="Text 5"/>
          <p:cNvSpPr txBox="1"/>
          <p:nvPr/>
        </p:nvSpPr>
        <p:spPr>
          <a:xfrm>
            <a:off x="8339328" y="1508760"/>
            <a:ext cx="307238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Client — mixed attribute kinds</a:t>
            </a:r>
            <a:endParaRPr lang="en-US" sz="1800" dirty="0"/>
          </a:p>
        </p:txBody>
      </p:sp>
      <p:sp>
        <p:nvSpPr>
          <p:cNvPr id="9" name="Text 6"/>
          <p:cNvSpPr txBox="1"/>
          <p:nvPr/>
        </p:nvSpPr>
        <p:spPr>
          <a:xfrm>
            <a:off x="8375904" y="1984248"/>
            <a:ext cx="3017520" cy="1755648"/>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clientNo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firstName</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lastName</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telNo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preferredContactTimes {}</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dateOfBirth</a:t>
            </a:r>
            <a:endParaRPr lang="en-US" sz="1400" dirty="0"/>
          </a:p>
        </p:txBody>
      </p:sp>
      <p:sp>
        <p:nvSpPr>
          <p:cNvPr id="10" name="Shape 7"/>
          <p:cNvSpPr/>
          <p:nvPr/>
        </p:nvSpPr>
        <p:spPr>
          <a:xfrm>
            <a:off x="640080" y="4663440"/>
            <a:ext cx="10911535" cy="1600200"/>
          </a:xfrm>
          <a:prstGeom prst="roundRect">
            <a:avLst>
              <a:gd name="adj" fmla="val 4000"/>
            </a:avLst>
          </a:prstGeom>
          <a:solidFill>
            <a:srgbClr val="EAF1FB"/>
          </a:solidFill>
          <a:ln w="12700">
            <a:solidFill>
              <a:srgbClr val="6C8FD6"/>
            </a:solidFill>
            <a:prstDash val="solid"/>
          </a:ln>
        </p:spPr>
      </p:sp>
      <p:sp>
        <p:nvSpPr>
          <p:cNvPr id="11" name="Text 8"/>
          <p:cNvSpPr txBox="1"/>
          <p:nvPr/>
        </p:nvSpPr>
        <p:spPr>
          <a:xfrm>
            <a:off x="896112" y="4809744"/>
            <a:ext cx="10399471" cy="274320"/>
          </a:xfrm>
          <a:prstGeom prst="rect">
            <a:avLst/>
          </a:prstGeom>
          <a:noFill/>
          <a:ln/>
        </p:spPr>
        <p:txBody>
          <a:bodyPr wrap="square" lIns="0" tIns="0" rIns="0" bIns="0" rtlCol="0" anchor="ctr"/>
          <a:lstStyle/>
          <a:p>
            <a:pPr indent="0" marL="0">
              <a:buNone/>
            </a:pPr>
            <a:r>
              <a:rPr lang="en-US" sz="1200" b="1" spc="200" kern="0" dirty="0">
                <a:solidFill>
                  <a:srgbClr val="2C4A8C"/>
                </a:solidFill>
                <a:latin typeface="Calibri" pitchFamily="34" charset="0"/>
                <a:ea typeface="Calibri" pitchFamily="34" charset="-122"/>
                <a:cs typeface="Calibri" pitchFamily="34" charset="-120"/>
              </a:rPr>
              <a:t>DERIVED ATTRIBUTES USUALLY AREN'T STORED</a:t>
            </a:r>
            <a:endParaRPr lang="en-US" sz="1200" dirty="0"/>
          </a:p>
        </p:txBody>
      </p:sp>
      <p:sp>
        <p:nvSpPr>
          <p:cNvPr id="12" name="Text 9"/>
          <p:cNvSpPr txBox="1"/>
          <p:nvPr/>
        </p:nvSpPr>
        <p:spPr>
          <a:xfrm>
            <a:off x="896112" y="5138928"/>
            <a:ext cx="10399471" cy="96012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age goes stale the moment time passes without an update. Most ER diagrams omit derived attributes entirely (computing age from dateOfBirth in a query) or mark them distinctly, precisely so nobody accidentally maps them to a stored column during Lecture 16's mapping step.</a:t>
            </a:r>
            <a:endParaRPr lang="en-US" sz="1800" dirty="0"/>
          </a:p>
        </p:txBody>
      </p:sp>
      <p:sp>
        <p:nvSpPr>
          <p:cNvPr id="13" name="Text 10"/>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KEYS</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Identifying Keys</a:t>
            </a:r>
            <a:endParaRPr lang="en-US" sz="2600" dirty="0"/>
          </a:p>
        </p:txBody>
      </p:sp>
      <p:sp>
        <p:nvSpPr>
          <p:cNvPr id="4" name="Text 2"/>
          <p:cNvSpPr txBox="1"/>
          <p:nvPr/>
        </p:nvSpPr>
        <p:spPr>
          <a:xfrm>
            <a:off x="640080" y="1508760"/>
            <a:ext cx="6949440" cy="4480560"/>
          </a:xfrm>
          <a:prstGeom prst="rect">
            <a:avLst/>
          </a:prstGeom>
          <a:noFill/>
          <a:ln/>
        </p:spPr>
        <p:txBody>
          <a:bodyPr wrap="square" lIns="0" tIns="0" rIns="0" bIns="0" rtlCol="0" anchor="t"/>
          <a:lstStyle/>
          <a:p>
            <a:pPr marL="228600" indent="-228600">
              <a:lnSpc>
                <a:spcPct val="110000"/>
              </a:lnSpc>
              <a:spcAft>
                <a:spcPts val="1400"/>
              </a:spcAft>
              <a:buSzPct val="100000"/>
              <a:buChar char="•"/>
            </a:pPr>
            <a:r>
              <a:rPr lang="en-US" sz="1800" dirty="0">
                <a:solidFill>
                  <a:srgbClr val="1F2429"/>
                </a:solidFill>
                <a:latin typeface="Calibri" pitchFamily="34" charset="0"/>
                <a:ea typeface="Calibri" pitchFamily="34" charset="-122"/>
                <a:cs typeface="Calibri" pitchFamily="34" charset="-120"/>
              </a:rPr>
              <a:t>Prefer the candidate key that never changes over the entity's lifetime — cnic is stable; a badge number reissued on transfer is not.</a:t>
            </a:r>
            <a:endParaRPr lang="en-US" sz="1800" dirty="0"/>
          </a:p>
          <a:p>
            <a:pPr marL="228600" indent="-228600">
              <a:lnSpc>
                <a:spcPct val="110000"/>
              </a:lnSpc>
              <a:spcAft>
                <a:spcPts val="1400"/>
              </a:spcAft>
              <a:buSzPct val="100000"/>
              <a:buChar char="•"/>
            </a:pPr>
            <a:r>
              <a:rPr lang="en-US" sz="1800" dirty="0">
                <a:solidFill>
                  <a:srgbClr val="1F2429"/>
                </a:solidFill>
                <a:latin typeface="Calibri" pitchFamily="34" charset="0"/>
                <a:ea typeface="Calibri" pitchFamily="34" charset="-122"/>
                <a:cs typeface="Calibri" pitchFamily="34" charset="-120"/>
              </a:rPr>
              <a:t>Prefer the shorter, simpler candidate key when several qualify — a single-attribute key over a composite one, all else equal.</a:t>
            </a:r>
            <a:endParaRPr lang="en-US" sz="1800" dirty="0"/>
          </a:p>
          <a:p>
            <a:pPr marL="228600" indent="-228600">
              <a:lnSpc>
                <a:spcPct val="110000"/>
              </a:lnSpc>
              <a:spcAft>
                <a:spcPts val="1400"/>
              </a:spcAft>
              <a:buSzPct val="100000"/>
              <a:buChar char="•"/>
            </a:pPr>
            <a:r>
              <a:rPr lang="en-US" sz="1800" dirty="0">
                <a:solidFill>
                  <a:srgbClr val="1F2429"/>
                </a:solidFill>
                <a:latin typeface="Calibri" pitchFamily="34" charset="0"/>
                <a:ea typeface="Calibri" pitchFamily="34" charset="-122"/>
                <a:cs typeface="Calibri" pitchFamily="34" charset="-120"/>
              </a:rPr>
              <a:t>Prefer a key with no NULL-able components, ever — entity integrity (Lecture 6) forbids NULL primary key components.</a:t>
            </a:r>
            <a:endParaRPr lang="en-US" sz="1800" dirty="0"/>
          </a:p>
          <a:p>
            <a:pPr marL="228600" indent="-228600">
              <a:lnSpc>
                <a:spcPct val="110000"/>
              </a:lnSpc>
              <a:spcAft>
                <a:spcPts val="1400"/>
              </a:spcAft>
              <a:buSzPct val="100000"/>
              <a:buChar char="•"/>
            </a:pPr>
            <a:r>
              <a:rPr lang="en-US" sz="1800" dirty="0">
                <a:solidFill>
                  <a:srgbClr val="1F2429"/>
                </a:solidFill>
                <a:latin typeface="Calibri" pitchFamily="34" charset="0"/>
                <a:ea typeface="Calibri" pitchFamily="34" charset="-122"/>
                <a:cs typeface="Calibri" pitchFamily="34" charset="-120"/>
              </a:rPr>
              <a:t>The remaining, unchosen candidate keys don't disappear — they stay in the schema as alternate keys, enforced with UNIQUE.</a:t>
            </a:r>
            <a:endParaRPr lang="en-US" sz="1800" dirty="0"/>
          </a:p>
        </p:txBody>
      </p:sp>
      <p:sp>
        <p:nvSpPr>
          <p:cNvPr id="5" name="Shape 3"/>
          <p:cNvSpPr/>
          <p:nvPr/>
        </p:nvSpPr>
        <p:spPr>
          <a:xfrm>
            <a:off x="8229600" y="1645920"/>
            <a:ext cx="3291840" cy="1737360"/>
          </a:xfrm>
          <a:prstGeom prst="roundRect">
            <a:avLst>
              <a:gd name="adj" fmla="val 4211"/>
            </a:avLst>
          </a:prstGeom>
          <a:solidFill>
            <a:srgbClr val="FFFFFF"/>
          </a:solidFill>
          <a:ln w="15875">
            <a:solidFill>
              <a:srgbClr val="1F2429"/>
            </a:solidFill>
            <a:prstDash val="solid"/>
          </a:ln>
        </p:spPr>
      </p:sp>
      <p:sp>
        <p:nvSpPr>
          <p:cNvPr id="6" name="Shape 4"/>
          <p:cNvSpPr/>
          <p:nvPr/>
        </p:nvSpPr>
        <p:spPr>
          <a:xfrm>
            <a:off x="8229600" y="1645920"/>
            <a:ext cx="3291840" cy="420624"/>
          </a:xfrm>
          <a:prstGeom prst="roundRect">
            <a:avLst>
              <a:gd name="adj" fmla="val 17391"/>
            </a:avLst>
          </a:prstGeom>
          <a:solidFill>
            <a:srgbClr val="2FE6C4"/>
          </a:solidFill>
          <a:ln/>
        </p:spPr>
      </p:sp>
      <p:sp>
        <p:nvSpPr>
          <p:cNvPr id="7" name="Shape 5"/>
          <p:cNvSpPr/>
          <p:nvPr/>
        </p:nvSpPr>
        <p:spPr>
          <a:xfrm>
            <a:off x="8229600" y="1856232"/>
            <a:ext cx="3291840" cy="210312"/>
          </a:xfrm>
          <a:prstGeom prst="rect">
            <a:avLst/>
          </a:prstGeom>
          <a:solidFill>
            <a:srgbClr val="2FE6C4"/>
          </a:solidFill>
          <a:ln/>
        </p:spPr>
      </p:sp>
      <p:sp>
        <p:nvSpPr>
          <p:cNvPr id="8" name="Text 6"/>
          <p:cNvSpPr txBox="1"/>
          <p:nvPr/>
        </p:nvSpPr>
        <p:spPr>
          <a:xfrm>
            <a:off x="8339328" y="1645920"/>
            <a:ext cx="307238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Staff — two candidate keys</a:t>
            </a:r>
            <a:endParaRPr lang="en-US" sz="1800" dirty="0"/>
          </a:p>
        </p:txBody>
      </p:sp>
      <p:sp>
        <p:nvSpPr>
          <p:cNvPr id="9" name="Text 7"/>
          <p:cNvSpPr txBox="1"/>
          <p:nvPr/>
        </p:nvSpPr>
        <p:spPr>
          <a:xfrm>
            <a:off x="8375904" y="2121408"/>
            <a:ext cx="3017520" cy="1170432"/>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staffNo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cnic</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name</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salary</a:t>
            </a:r>
            <a:endParaRPr lang="en-US" sz="1400" dirty="0"/>
          </a:p>
        </p:txBody>
      </p:sp>
      <p:sp>
        <p:nvSpPr>
          <p:cNvPr id="10" name="Shape 8"/>
          <p:cNvSpPr/>
          <p:nvPr/>
        </p:nvSpPr>
        <p:spPr>
          <a:xfrm>
            <a:off x="8229600" y="3657600"/>
            <a:ext cx="3291840" cy="2651760"/>
          </a:xfrm>
          <a:prstGeom prst="roundRect">
            <a:avLst>
              <a:gd name="adj" fmla="val 2414"/>
            </a:avLst>
          </a:prstGeom>
          <a:solidFill>
            <a:srgbClr val="E9F9F3"/>
          </a:solidFill>
          <a:ln w="12700">
            <a:solidFill>
              <a:srgbClr val="1FAE8C"/>
            </a:solidFill>
            <a:prstDash val="solid"/>
          </a:ln>
        </p:spPr>
      </p:sp>
      <p:sp>
        <p:nvSpPr>
          <p:cNvPr id="11" name="Text 9"/>
          <p:cNvSpPr txBox="1"/>
          <p:nvPr/>
        </p:nvSpPr>
        <p:spPr>
          <a:xfrm>
            <a:off x="8485632" y="3803904"/>
            <a:ext cx="2779776" cy="274320"/>
          </a:xfrm>
          <a:prstGeom prst="rect">
            <a:avLst/>
          </a:prstGeom>
          <a:noFill/>
          <a:ln/>
        </p:spPr>
        <p:txBody>
          <a:bodyPr wrap="square" lIns="0" tIns="0" rIns="0" bIns="0" rtlCol="0" anchor="ctr"/>
          <a:lstStyle/>
          <a:p>
            <a:pPr indent="0" marL="0">
              <a:buNone/>
            </a:pPr>
            <a:r>
              <a:rPr lang="en-US" sz="1200" b="1" spc="200" kern="0" dirty="0">
                <a:solidFill>
                  <a:srgbClr val="0E7A61"/>
                </a:solidFill>
                <a:latin typeface="Calibri" pitchFamily="34" charset="0"/>
                <a:ea typeface="Calibri" pitchFamily="34" charset="-122"/>
                <a:cs typeface="Calibri" pitchFamily="34" charset="-120"/>
              </a:rPr>
              <a:t>staffNo CHOSEN AS PK</a:t>
            </a:r>
            <a:endParaRPr lang="en-US" sz="1200" dirty="0"/>
          </a:p>
        </p:txBody>
      </p:sp>
      <p:sp>
        <p:nvSpPr>
          <p:cNvPr id="12" name="Text 10"/>
          <p:cNvSpPr txBox="1"/>
          <p:nvPr/>
        </p:nvSpPr>
        <p:spPr>
          <a:xfrm>
            <a:off x="8485632" y="4133088"/>
            <a:ext cx="2779776" cy="201168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Both staffNo and cnic are independently unique. staffNo is chosen as the primary key (short, stable, no NULLs); cnic remains an alternate key enforced by UNIQUE.</a:t>
            </a:r>
            <a:endParaRPr lang="en-US" sz="1800" dirty="0"/>
          </a:p>
        </p:txBody>
      </p:sp>
      <p:sp>
        <p:nvSpPr>
          <p:cNvPr id="13" name="Text 11"/>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READABILITY AT SCALE</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Naming Conventions</a:t>
            </a:r>
            <a:endParaRPr lang="en-US" sz="2600" dirty="0"/>
          </a:p>
        </p:txBody>
      </p:sp>
      <p:sp>
        <p:nvSpPr>
          <p:cNvPr id="4" name="Text 2"/>
          <p:cNvSpPr txBox="1"/>
          <p:nvPr/>
        </p:nvSpPr>
        <p:spPr>
          <a:xfrm>
            <a:off x="640080" y="1508760"/>
            <a:ext cx="10911535" cy="50292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A schema with a dozen entity types and fifty attributes is only as usable as its names. Two failure modes recur constantly in real projects:</a:t>
            </a:r>
            <a:endParaRPr lang="en-US" sz="1800" dirty="0"/>
          </a:p>
        </p:txBody>
      </p:sp>
      <p:sp>
        <p:nvSpPr>
          <p:cNvPr id="5" name="Shape 3"/>
          <p:cNvSpPr/>
          <p:nvPr/>
        </p:nvSpPr>
        <p:spPr>
          <a:xfrm>
            <a:off x="640080" y="2103120"/>
            <a:ext cx="5212080" cy="2011680"/>
          </a:xfrm>
          <a:prstGeom prst="roundRect">
            <a:avLst>
              <a:gd name="adj" fmla="val 3636"/>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68680" y="2249424"/>
            <a:ext cx="4754880" cy="365760"/>
          </a:xfrm>
          <a:prstGeom prst="rect">
            <a:avLst/>
          </a:prstGeom>
          <a:noFill/>
          <a:ln/>
        </p:spPr>
        <p:txBody>
          <a:bodyPr wrap="square" lIns="0" tIns="0" rIns="0" bIns="0" rtlCol="0" anchor="ctr"/>
          <a:lstStyle/>
          <a:p>
            <a:pPr indent="0" marL="0">
              <a:buNone/>
            </a:pPr>
            <a:r>
              <a:rPr lang="en-US" sz="1800" b="1" dirty="0">
                <a:solidFill>
                  <a:srgbClr val="1F2429"/>
                </a:solidFill>
                <a:latin typeface="Calibri" pitchFamily="34" charset="0"/>
                <a:ea typeface="Calibri" pitchFamily="34" charset="-122"/>
                <a:cs typeface="Calibri" pitchFamily="34" charset="-120"/>
              </a:rPr>
              <a:t>Synonyms</a:t>
            </a:r>
            <a:endParaRPr lang="en-US" sz="1800" dirty="0"/>
          </a:p>
        </p:txBody>
      </p:sp>
      <p:sp>
        <p:nvSpPr>
          <p:cNvPr id="7" name="Text 5"/>
          <p:cNvSpPr txBox="1"/>
          <p:nvPr/>
        </p:nvSpPr>
        <p:spPr>
          <a:xfrm>
            <a:off x="868680" y="2651760"/>
            <a:ext cx="4754880" cy="1371600"/>
          </a:xfrm>
          <a:prstGeom prst="rect">
            <a:avLst/>
          </a:prstGeom>
          <a:noFill/>
          <a:ln/>
        </p:spPr>
        <p:txBody>
          <a:bodyPr wrap="square" lIns="0" tIns="0" rIns="0" bIns="0" rtlCol="0" anchor="t"/>
          <a:lstStyle/>
          <a:p>
            <a:pPr indent="0" marL="0">
              <a:lnSpc>
                <a:spcPct val="112000"/>
              </a:lnSpc>
              <a:buNone/>
            </a:pPr>
            <a:r>
              <a:rPr lang="en-US" sz="1800" dirty="0">
                <a:solidFill>
                  <a:srgbClr val="1F2429"/>
                </a:solidFill>
                <a:latin typeface="Calibri" pitchFamily="34" charset="0"/>
                <a:ea typeface="Calibri" pitchFamily="34" charset="-122"/>
                <a:cs typeface="Calibri" pitchFamily="34" charset="-120"/>
              </a:rPr>
              <a:t>The same real-world concept named differently in different places — clientNo vs. custId, both meaning “client identifier.” Makes joins and onboarding harder than they need to be.</a:t>
            </a:r>
            <a:endParaRPr lang="en-US" sz="1800" dirty="0"/>
          </a:p>
        </p:txBody>
      </p:sp>
      <p:sp>
        <p:nvSpPr>
          <p:cNvPr id="8" name="Shape 6"/>
          <p:cNvSpPr/>
          <p:nvPr/>
        </p:nvSpPr>
        <p:spPr>
          <a:xfrm>
            <a:off x="6126480" y="2103120"/>
            <a:ext cx="5212080" cy="2011680"/>
          </a:xfrm>
          <a:prstGeom prst="roundRect">
            <a:avLst>
              <a:gd name="adj" fmla="val 3636"/>
            </a:avLst>
          </a:prstGeom>
          <a:solidFill>
            <a:srgbClr val="FFFFFF"/>
          </a:solidFill>
          <a:ln w="12700">
            <a:solidFill>
              <a:srgbClr val="E2E5E9"/>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6355080" y="2249424"/>
            <a:ext cx="4754880" cy="365760"/>
          </a:xfrm>
          <a:prstGeom prst="rect">
            <a:avLst/>
          </a:prstGeom>
          <a:noFill/>
          <a:ln/>
        </p:spPr>
        <p:txBody>
          <a:bodyPr wrap="square" lIns="0" tIns="0" rIns="0" bIns="0" rtlCol="0" anchor="ctr"/>
          <a:lstStyle/>
          <a:p>
            <a:pPr indent="0" marL="0">
              <a:buNone/>
            </a:pPr>
            <a:r>
              <a:rPr lang="en-US" sz="1800" b="1" dirty="0">
                <a:solidFill>
                  <a:srgbClr val="1F2429"/>
                </a:solidFill>
                <a:latin typeface="Calibri" pitchFamily="34" charset="0"/>
                <a:ea typeface="Calibri" pitchFamily="34" charset="-122"/>
                <a:cs typeface="Calibri" pitchFamily="34" charset="-120"/>
              </a:rPr>
              <a:t>Homonyms</a:t>
            </a:r>
            <a:endParaRPr lang="en-US" sz="1800" dirty="0"/>
          </a:p>
        </p:txBody>
      </p:sp>
      <p:sp>
        <p:nvSpPr>
          <p:cNvPr id="10" name="Text 8"/>
          <p:cNvSpPr txBox="1"/>
          <p:nvPr/>
        </p:nvSpPr>
        <p:spPr>
          <a:xfrm>
            <a:off x="6355080" y="2651760"/>
            <a:ext cx="4754880" cy="1371600"/>
          </a:xfrm>
          <a:prstGeom prst="rect">
            <a:avLst/>
          </a:prstGeom>
          <a:noFill/>
          <a:ln/>
        </p:spPr>
        <p:txBody>
          <a:bodyPr wrap="square" lIns="0" tIns="0" rIns="0" bIns="0" rtlCol="0" anchor="t"/>
          <a:lstStyle/>
          <a:p>
            <a:pPr indent="0" marL="0">
              <a:lnSpc>
                <a:spcPct val="112000"/>
              </a:lnSpc>
              <a:buNone/>
            </a:pPr>
            <a:r>
              <a:rPr lang="en-US" sz="1800" dirty="0">
                <a:solidFill>
                  <a:srgbClr val="1F2429"/>
                </a:solidFill>
                <a:latin typeface="Calibri" pitchFamily="34" charset="0"/>
                <a:ea typeface="Calibri" pitchFamily="34" charset="-122"/>
                <a:cs typeface="Calibri" pitchFamily="34" charset="-120"/>
              </a:rPr>
              <a:t>The SAME name reused for two genuinely different concepts — “type” meaning House/Flat on PropertyForRent, but Full-time/Part-time on Staff. Reading a query in isolation gives no clue which.</a:t>
            </a:r>
            <a:endParaRPr lang="en-US" sz="1800" dirty="0"/>
          </a:p>
        </p:txBody>
      </p:sp>
      <p:sp>
        <p:nvSpPr>
          <p:cNvPr id="11" name="Shape 9"/>
          <p:cNvSpPr/>
          <p:nvPr/>
        </p:nvSpPr>
        <p:spPr>
          <a:xfrm>
            <a:off x="640080" y="4343400"/>
            <a:ext cx="10911535" cy="1920240"/>
          </a:xfrm>
          <a:prstGeom prst="roundRect">
            <a:avLst>
              <a:gd name="adj" fmla="val 3333"/>
            </a:avLst>
          </a:prstGeom>
          <a:solidFill>
            <a:srgbClr val="E9F9F3"/>
          </a:solidFill>
          <a:ln w="12700">
            <a:solidFill>
              <a:srgbClr val="1FAE8C"/>
            </a:solidFill>
            <a:prstDash val="solid"/>
          </a:ln>
        </p:spPr>
      </p:sp>
      <p:sp>
        <p:nvSpPr>
          <p:cNvPr id="12" name="Text 10"/>
          <p:cNvSpPr txBox="1"/>
          <p:nvPr/>
        </p:nvSpPr>
        <p:spPr>
          <a:xfrm>
            <a:off x="896112" y="4489704"/>
            <a:ext cx="10399471" cy="274320"/>
          </a:xfrm>
          <a:prstGeom prst="rect">
            <a:avLst/>
          </a:prstGeom>
          <a:noFill/>
          <a:ln/>
        </p:spPr>
        <p:txBody>
          <a:bodyPr wrap="square" lIns="0" tIns="0" rIns="0" bIns="0" rtlCol="0" anchor="ctr"/>
          <a:lstStyle/>
          <a:p>
            <a:pPr indent="0" marL="0">
              <a:buNone/>
            </a:pPr>
            <a:r>
              <a:rPr lang="en-US" sz="1200" b="1" spc="200" kern="0" dirty="0">
                <a:solidFill>
                  <a:srgbClr val="0E7A61"/>
                </a:solidFill>
                <a:latin typeface="Calibri" pitchFamily="34" charset="0"/>
                <a:ea typeface="Calibri" pitchFamily="34" charset="-122"/>
                <a:cs typeface="Calibri" pitchFamily="34" charset="-120"/>
              </a:rPr>
              <a:t>A PRACTICAL NAMING STANDARD, APPLIED CONSISTENTLY ACROSS THIS COURSE</a:t>
            </a:r>
            <a:endParaRPr lang="en-US" sz="1200" dirty="0"/>
          </a:p>
        </p:txBody>
      </p:sp>
      <p:sp>
        <p:nvSpPr>
          <p:cNvPr id="13" name="Text 11"/>
          <p:cNvSpPr txBox="1"/>
          <p:nvPr/>
        </p:nvSpPr>
        <p:spPr>
          <a:xfrm>
            <a:off x="896112" y="4818888"/>
            <a:ext cx="10399471" cy="128016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Entity type names: singular, PascalCase (Staff, not staffs). Attribute names: camelCase, prefixed with a short recognizable stem where it disambiguates (staffNo, branchNo, propertyNo) — every foreign key carries the SAME name as the primary key it references, which is precisely what makes a foreign key recognizable on sight.</a:t>
            </a:r>
            <a:endParaRPr lang="en-US" sz="1800" dirty="0"/>
          </a:p>
        </p:txBody>
      </p:sp>
      <p:sp>
        <p:nvSpPr>
          <p:cNvPr id="14" name="Text 12"/>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NAMING AMBIGUITY, WORKED</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Synonyms: a Concrete Before/After</a:t>
            </a:r>
            <a:endParaRPr lang="en-US" sz="2600" dirty="0"/>
          </a:p>
        </p:txBody>
      </p:sp>
      <p:sp>
        <p:nvSpPr>
          <p:cNvPr id="4" name="Text 2"/>
          <p:cNvSpPr txBox="1"/>
          <p:nvPr/>
        </p:nvSpPr>
        <p:spPr>
          <a:xfrm>
            <a:off x="640080" y="1481328"/>
            <a:ext cx="5120640" cy="320040"/>
          </a:xfrm>
          <a:prstGeom prst="rect">
            <a:avLst/>
          </a:prstGeom>
          <a:noFill/>
          <a:ln/>
        </p:spPr>
        <p:txBody>
          <a:bodyPr wrap="square" lIns="0" tIns="0" rIns="0" bIns="0" rtlCol="0" anchor="ctr"/>
          <a:lstStyle/>
          <a:p>
            <a:pPr indent="0" marL="0">
              <a:buNone/>
            </a:pPr>
            <a:r>
              <a:rPr lang="en-US" sz="1800" b="1" dirty="0">
                <a:solidFill>
                  <a:srgbClr val="6B7280"/>
                </a:solidFill>
                <a:latin typeface="Calibri" pitchFamily="34" charset="0"/>
                <a:ea typeface="Calibri" pitchFamily="34" charset="-122"/>
                <a:cs typeface="Calibri" pitchFamily="34" charset="-120"/>
              </a:rPr>
              <a:t>Before — two names for the same fact</a:t>
            </a:r>
            <a:endParaRPr lang="en-US" sz="1800" dirty="0"/>
          </a:p>
        </p:txBody>
      </p:sp>
      <p:sp>
        <p:nvSpPr>
          <p:cNvPr id="5" name="Shape 3"/>
          <p:cNvSpPr/>
          <p:nvPr/>
        </p:nvSpPr>
        <p:spPr>
          <a:xfrm>
            <a:off x="640080" y="1828800"/>
            <a:ext cx="2743200" cy="1152144"/>
          </a:xfrm>
          <a:prstGeom prst="roundRect">
            <a:avLst>
              <a:gd name="adj" fmla="val 6349"/>
            </a:avLst>
          </a:prstGeom>
          <a:solidFill>
            <a:srgbClr val="FFFFFF"/>
          </a:solidFill>
          <a:ln w="15875">
            <a:solidFill>
              <a:srgbClr val="1F2429"/>
            </a:solidFill>
            <a:prstDash val="solid"/>
          </a:ln>
        </p:spPr>
      </p:sp>
      <p:sp>
        <p:nvSpPr>
          <p:cNvPr id="6" name="Shape 4"/>
          <p:cNvSpPr/>
          <p:nvPr/>
        </p:nvSpPr>
        <p:spPr>
          <a:xfrm>
            <a:off x="640080" y="1828800"/>
            <a:ext cx="2743200" cy="420624"/>
          </a:xfrm>
          <a:prstGeom prst="roundRect">
            <a:avLst>
              <a:gd name="adj" fmla="val 17391"/>
            </a:avLst>
          </a:prstGeom>
          <a:solidFill>
            <a:srgbClr val="D96B4C"/>
          </a:solidFill>
          <a:ln/>
        </p:spPr>
      </p:sp>
      <p:sp>
        <p:nvSpPr>
          <p:cNvPr id="7" name="Shape 5"/>
          <p:cNvSpPr/>
          <p:nvPr/>
        </p:nvSpPr>
        <p:spPr>
          <a:xfrm>
            <a:off x="640080" y="2039112"/>
            <a:ext cx="2743200" cy="210312"/>
          </a:xfrm>
          <a:prstGeom prst="rect">
            <a:avLst/>
          </a:prstGeom>
          <a:solidFill>
            <a:srgbClr val="D96B4C"/>
          </a:solidFill>
          <a:ln/>
        </p:spPr>
      </p:sp>
      <p:sp>
        <p:nvSpPr>
          <p:cNvPr id="8" name="Text 6"/>
          <p:cNvSpPr txBox="1"/>
          <p:nvPr/>
        </p:nvSpPr>
        <p:spPr>
          <a:xfrm>
            <a:off x="749808" y="1828800"/>
            <a:ext cx="252374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Client</a:t>
            </a:r>
            <a:endParaRPr lang="en-US" sz="1800" dirty="0"/>
          </a:p>
        </p:txBody>
      </p:sp>
      <p:sp>
        <p:nvSpPr>
          <p:cNvPr id="9" name="Text 7"/>
          <p:cNvSpPr txBox="1"/>
          <p:nvPr/>
        </p:nvSpPr>
        <p:spPr>
          <a:xfrm>
            <a:off x="786384" y="2304288"/>
            <a:ext cx="246888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clientNo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firstName</a:t>
            </a:r>
            <a:endParaRPr lang="en-US" sz="1400" dirty="0"/>
          </a:p>
        </p:txBody>
      </p:sp>
      <p:sp>
        <p:nvSpPr>
          <p:cNvPr id="10" name="Shape 8"/>
          <p:cNvSpPr/>
          <p:nvPr/>
        </p:nvSpPr>
        <p:spPr>
          <a:xfrm>
            <a:off x="3749040" y="1828800"/>
            <a:ext cx="2926080" cy="1444752"/>
          </a:xfrm>
          <a:prstGeom prst="roundRect">
            <a:avLst>
              <a:gd name="adj" fmla="val 5063"/>
            </a:avLst>
          </a:prstGeom>
          <a:solidFill>
            <a:srgbClr val="FFFFFF"/>
          </a:solidFill>
          <a:ln w="15875">
            <a:solidFill>
              <a:srgbClr val="1F2429"/>
            </a:solidFill>
            <a:prstDash val="solid"/>
          </a:ln>
        </p:spPr>
      </p:sp>
      <p:sp>
        <p:nvSpPr>
          <p:cNvPr id="11" name="Shape 9"/>
          <p:cNvSpPr/>
          <p:nvPr/>
        </p:nvSpPr>
        <p:spPr>
          <a:xfrm>
            <a:off x="3749040" y="1828800"/>
            <a:ext cx="2926080" cy="420624"/>
          </a:xfrm>
          <a:prstGeom prst="roundRect">
            <a:avLst>
              <a:gd name="adj" fmla="val 17391"/>
            </a:avLst>
          </a:prstGeom>
          <a:solidFill>
            <a:srgbClr val="D96B4C"/>
          </a:solidFill>
          <a:ln/>
        </p:spPr>
      </p:sp>
      <p:sp>
        <p:nvSpPr>
          <p:cNvPr id="12" name="Shape 10"/>
          <p:cNvSpPr/>
          <p:nvPr/>
        </p:nvSpPr>
        <p:spPr>
          <a:xfrm>
            <a:off x="3749040" y="2039112"/>
            <a:ext cx="2926080" cy="210312"/>
          </a:xfrm>
          <a:prstGeom prst="rect">
            <a:avLst/>
          </a:prstGeom>
          <a:solidFill>
            <a:srgbClr val="D96B4C"/>
          </a:solidFill>
          <a:ln/>
        </p:spPr>
      </p:sp>
      <p:sp>
        <p:nvSpPr>
          <p:cNvPr id="13" name="Text 11"/>
          <p:cNvSpPr txBox="1"/>
          <p:nvPr/>
        </p:nvSpPr>
        <p:spPr>
          <a:xfrm>
            <a:off x="3858768" y="1828800"/>
            <a:ext cx="270662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SupportTicket</a:t>
            </a:r>
            <a:endParaRPr lang="en-US" sz="1800" dirty="0"/>
          </a:p>
        </p:txBody>
      </p:sp>
      <p:sp>
        <p:nvSpPr>
          <p:cNvPr id="14" name="Text 12"/>
          <p:cNvSpPr txBox="1"/>
          <p:nvPr/>
        </p:nvSpPr>
        <p:spPr>
          <a:xfrm>
            <a:off x="3895344" y="2304288"/>
            <a:ext cx="2651760" cy="877824"/>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ticketNo</a:t>
            </a:r>
            <a:endParaRPr lang="en-US" sz="1400" dirty="0"/>
          </a:p>
          <a:p>
            <a:pPr indent="0" marL="0">
              <a:lnSpc>
                <a:spcPct val="108000"/>
              </a:lnSpc>
              <a:spcAft>
                <a:spcPts val="100"/>
              </a:spcAft>
              <a:buNone/>
            </a:pPr>
            <a:r>
              <a:rPr lang="en-US" sz="1400" i="1" dirty="0">
                <a:solidFill>
                  <a:srgbClr val="5B6470"/>
                </a:solidFill>
                <a:latin typeface="Calibri" pitchFamily="34" charset="0"/>
                <a:ea typeface="Calibri" pitchFamily="34" charset="-122"/>
                <a:cs typeface="Calibri" pitchFamily="34" charset="-120"/>
              </a:rPr>
              <a:t>custId</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subject</a:t>
            </a:r>
            <a:endParaRPr lang="en-US" sz="1400" dirty="0"/>
          </a:p>
        </p:txBody>
      </p:sp>
      <p:sp>
        <p:nvSpPr>
          <p:cNvPr id="15" name="Text 13"/>
          <p:cNvSpPr txBox="1"/>
          <p:nvPr/>
        </p:nvSpPr>
        <p:spPr>
          <a:xfrm>
            <a:off x="640080" y="3749040"/>
            <a:ext cx="6035040" cy="914400"/>
          </a:xfrm>
          <a:prstGeom prst="rect">
            <a:avLst/>
          </a:prstGeom>
          <a:noFill/>
          <a:ln/>
        </p:spPr>
        <p:txBody>
          <a:bodyPr wrap="square" lIns="0" tIns="0" rIns="0" bIns="0" rtlCol="0" anchor="ctr"/>
          <a:lstStyle/>
          <a:p>
            <a:pPr indent="0" marL="0">
              <a:lnSpc>
                <a:spcPct val="110000"/>
              </a:lnSpc>
              <a:buNone/>
            </a:pPr>
            <a:r>
              <a:rPr lang="en-US" sz="1800" dirty="0">
                <a:solidFill>
                  <a:srgbClr val="1F2429"/>
                </a:solidFill>
                <a:latin typeface="Calibri" pitchFamily="34" charset="0"/>
                <a:ea typeface="Calibri" pitchFamily="34" charset="-122"/>
                <a:cs typeface="Calibri" pitchFamily="34" charset="-120"/>
              </a:rPr>
              <a:t>custId on SupportTicket and clientNo on Client are the SAME identifier under two names.</a:t>
            </a:r>
            <a:endParaRPr lang="en-US" sz="1800" dirty="0"/>
          </a:p>
        </p:txBody>
      </p:sp>
      <p:sp>
        <p:nvSpPr>
          <p:cNvPr id="16" name="Text 14"/>
          <p:cNvSpPr txBox="1"/>
          <p:nvPr/>
        </p:nvSpPr>
        <p:spPr>
          <a:xfrm>
            <a:off x="640080" y="4709160"/>
            <a:ext cx="6035040" cy="320040"/>
          </a:xfrm>
          <a:prstGeom prst="rect">
            <a:avLst/>
          </a:prstGeom>
          <a:noFill/>
          <a:ln/>
        </p:spPr>
        <p:txBody>
          <a:bodyPr wrap="square" lIns="0" tIns="0" rIns="0" bIns="0" rtlCol="0" anchor="ctr"/>
          <a:lstStyle/>
          <a:p>
            <a:pPr indent="0" marL="0">
              <a:buNone/>
            </a:pPr>
            <a:r>
              <a:rPr lang="en-US" sz="1800" b="1" dirty="0">
                <a:solidFill>
                  <a:srgbClr val="6B7280"/>
                </a:solidFill>
                <a:latin typeface="Calibri" pitchFamily="34" charset="0"/>
                <a:ea typeface="Calibri" pitchFamily="34" charset="-122"/>
                <a:cs typeface="Calibri" pitchFamily="34" charset="-120"/>
              </a:rPr>
              <a:t>Why it breaks a real query</a:t>
            </a:r>
            <a:endParaRPr lang="en-US" sz="1800" dirty="0"/>
          </a:p>
        </p:txBody>
      </p:sp>
      <p:sp>
        <p:nvSpPr>
          <p:cNvPr id="17" name="Text 15"/>
          <p:cNvSpPr txBox="1"/>
          <p:nvPr/>
        </p:nvSpPr>
        <p:spPr>
          <a:xfrm>
            <a:off x="640080" y="5029200"/>
            <a:ext cx="6035040" cy="1371600"/>
          </a:xfrm>
          <a:prstGeom prst="rect">
            <a:avLst/>
          </a:prstGeom>
          <a:noFill/>
          <a:ln/>
        </p:spPr>
        <p:txBody>
          <a:bodyPr wrap="square" lIns="0" tIns="0" rIns="0" bIns="0" rtlCol="0" anchor="ctr"/>
          <a:lstStyle/>
          <a:p>
            <a:pPr indent="0" marL="0">
              <a:lnSpc>
                <a:spcPct val="110000"/>
              </a:lnSpc>
              <a:buNone/>
            </a:pPr>
            <a:r>
              <a:rPr lang="en-US" sz="1800" dirty="0">
                <a:solidFill>
                  <a:srgbClr val="1F2429"/>
                </a:solidFill>
                <a:latin typeface="Calibri" pitchFamily="34" charset="0"/>
                <a:ea typeface="Calibri" pitchFamily="34" charset="-122"/>
                <a:cs typeface="Calibri" pitchFamily="34" charset="-120"/>
              </a:rPr>
              <a:t>A developer writing “list every client and their open tickets” has to already know custId secretly means clientNo — nothing in the schema says so. A naive JOIN on clientNo = custId still works today, but every new hire re-derives this fact from scratch, and a renaming tool that renames clientNo won't touch custId.</a:t>
            </a:r>
            <a:endParaRPr lang="en-US" sz="1800" dirty="0"/>
          </a:p>
        </p:txBody>
      </p:sp>
      <p:sp>
        <p:nvSpPr>
          <p:cNvPr id="18" name="Text 16"/>
          <p:cNvSpPr txBox="1"/>
          <p:nvPr/>
        </p:nvSpPr>
        <p:spPr>
          <a:xfrm>
            <a:off x="7132320" y="1481328"/>
            <a:ext cx="4572000" cy="320040"/>
          </a:xfrm>
          <a:prstGeom prst="rect">
            <a:avLst/>
          </a:prstGeom>
          <a:noFill/>
          <a:ln/>
        </p:spPr>
        <p:txBody>
          <a:bodyPr wrap="square" lIns="0" tIns="0" rIns="0" bIns="0" rtlCol="0" anchor="ctr"/>
          <a:lstStyle/>
          <a:p>
            <a:pPr indent="0" marL="0">
              <a:buNone/>
            </a:pPr>
            <a:r>
              <a:rPr lang="en-US" sz="1800" b="1" dirty="0">
                <a:solidFill>
                  <a:srgbClr val="6B7280"/>
                </a:solidFill>
                <a:latin typeface="Calibri" pitchFamily="34" charset="0"/>
                <a:ea typeface="Calibri" pitchFamily="34" charset="-122"/>
                <a:cs typeface="Calibri" pitchFamily="34" charset="-120"/>
              </a:rPr>
              <a:t>After — one name, everywhere</a:t>
            </a:r>
            <a:endParaRPr lang="en-US" sz="1800" dirty="0"/>
          </a:p>
        </p:txBody>
      </p:sp>
      <p:sp>
        <p:nvSpPr>
          <p:cNvPr id="19" name="Shape 17"/>
          <p:cNvSpPr/>
          <p:nvPr/>
        </p:nvSpPr>
        <p:spPr>
          <a:xfrm>
            <a:off x="7132320" y="1828800"/>
            <a:ext cx="2103120" cy="1152144"/>
          </a:xfrm>
          <a:prstGeom prst="roundRect">
            <a:avLst>
              <a:gd name="adj" fmla="val 6349"/>
            </a:avLst>
          </a:prstGeom>
          <a:solidFill>
            <a:srgbClr val="FFFFFF"/>
          </a:solidFill>
          <a:ln w="15875">
            <a:solidFill>
              <a:srgbClr val="1F2429"/>
            </a:solidFill>
            <a:prstDash val="solid"/>
          </a:ln>
        </p:spPr>
      </p:sp>
      <p:sp>
        <p:nvSpPr>
          <p:cNvPr id="20" name="Shape 18"/>
          <p:cNvSpPr/>
          <p:nvPr/>
        </p:nvSpPr>
        <p:spPr>
          <a:xfrm>
            <a:off x="7132320" y="1828800"/>
            <a:ext cx="2103120" cy="420624"/>
          </a:xfrm>
          <a:prstGeom prst="roundRect">
            <a:avLst>
              <a:gd name="adj" fmla="val 17391"/>
            </a:avLst>
          </a:prstGeom>
          <a:solidFill>
            <a:srgbClr val="2FE6C4"/>
          </a:solidFill>
          <a:ln/>
        </p:spPr>
      </p:sp>
      <p:sp>
        <p:nvSpPr>
          <p:cNvPr id="21" name="Shape 19"/>
          <p:cNvSpPr/>
          <p:nvPr/>
        </p:nvSpPr>
        <p:spPr>
          <a:xfrm>
            <a:off x="7132320" y="2039112"/>
            <a:ext cx="2103120" cy="210312"/>
          </a:xfrm>
          <a:prstGeom prst="rect">
            <a:avLst/>
          </a:prstGeom>
          <a:solidFill>
            <a:srgbClr val="2FE6C4"/>
          </a:solidFill>
          <a:ln/>
        </p:spPr>
      </p:sp>
      <p:sp>
        <p:nvSpPr>
          <p:cNvPr id="22" name="Text 20"/>
          <p:cNvSpPr txBox="1"/>
          <p:nvPr/>
        </p:nvSpPr>
        <p:spPr>
          <a:xfrm>
            <a:off x="7242048" y="1828800"/>
            <a:ext cx="18836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Client</a:t>
            </a:r>
            <a:endParaRPr lang="en-US" sz="1800" dirty="0"/>
          </a:p>
        </p:txBody>
      </p:sp>
      <p:sp>
        <p:nvSpPr>
          <p:cNvPr id="23" name="Text 21"/>
          <p:cNvSpPr txBox="1"/>
          <p:nvPr/>
        </p:nvSpPr>
        <p:spPr>
          <a:xfrm>
            <a:off x="7278624" y="2304288"/>
            <a:ext cx="182880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clientNo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firstName</a:t>
            </a:r>
            <a:endParaRPr lang="en-US" sz="1400" dirty="0"/>
          </a:p>
        </p:txBody>
      </p:sp>
      <p:sp>
        <p:nvSpPr>
          <p:cNvPr id="24" name="Shape 22"/>
          <p:cNvSpPr/>
          <p:nvPr/>
        </p:nvSpPr>
        <p:spPr>
          <a:xfrm>
            <a:off x="9464040" y="1828800"/>
            <a:ext cx="2240280" cy="1444752"/>
          </a:xfrm>
          <a:prstGeom prst="roundRect">
            <a:avLst>
              <a:gd name="adj" fmla="val 5063"/>
            </a:avLst>
          </a:prstGeom>
          <a:solidFill>
            <a:srgbClr val="FFFFFF"/>
          </a:solidFill>
          <a:ln w="15875">
            <a:solidFill>
              <a:srgbClr val="1F2429"/>
            </a:solidFill>
            <a:prstDash val="solid"/>
          </a:ln>
        </p:spPr>
      </p:sp>
      <p:sp>
        <p:nvSpPr>
          <p:cNvPr id="25" name="Shape 23"/>
          <p:cNvSpPr/>
          <p:nvPr/>
        </p:nvSpPr>
        <p:spPr>
          <a:xfrm>
            <a:off x="9464040" y="1828800"/>
            <a:ext cx="2240280" cy="420624"/>
          </a:xfrm>
          <a:prstGeom prst="roundRect">
            <a:avLst>
              <a:gd name="adj" fmla="val 17391"/>
            </a:avLst>
          </a:prstGeom>
          <a:solidFill>
            <a:srgbClr val="2FE6C4"/>
          </a:solidFill>
          <a:ln/>
        </p:spPr>
      </p:sp>
      <p:sp>
        <p:nvSpPr>
          <p:cNvPr id="26" name="Shape 24"/>
          <p:cNvSpPr/>
          <p:nvPr/>
        </p:nvSpPr>
        <p:spPr>
          <a:xfrm>
            <a:off x="9464040" y="2039112"/>
            <a:ext cx="2240280" cy="210312"/>
          </a:xfrm>
          <a:prstGeom prst="rect">
            <a:avLst/>
          </a:prstGeom>
          <a:solidFill>
            <a:srgbClr val="2FE6C4"/>
          </a:solidFill>
          <a:ln/>
        </p:spPr>
      </p:sp>
      <p:sp>
        <p:nvSpPr>
          <p:cNvPr id="27" name="Text 25"/>
          <p:cNvSpPr txBox="1"/>
          <p:nvPr/>
        </p:nvSpPr>
        <p:spPr>
          <a:xfrm>
            <a:off x="9573768" y="1828800"/>
            <a:ext cx="202082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SupportTicket</a:t>
            </a:r>
            <a:endParaRPr lang="en-US" sz="1800" dirty="0"/>
          </a:p>
        </p:txBody>
      </p:sp>
      <p:sp>
        <p:nvSpPr>
          <p:cNvPr id="28" name="Text 26"/>
          <p:cNvSpPr txBox="1"/>
          <p:nvPr/>
        </p:nvSpPr>
        <p:spPr>
          <a:xfrm>
            <a:off x="9610344" y="2304288"/>
            <a:ext cx="1965960" cy="877824"/>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ticketNo</a:t>
            </a:r>
            <a:endParaRPr lang="en-US" sz="1400" dirty="0"/>
          </a:p>
          <a:p>
            <a:pPr indent="0" marL="0">
              <a:lnSpc>
                <a:spcPct val="108000"/>
              </a:lnSpc>
              <a:spcAft>
                <a:spcPts val="100"/>
              </a:spcAft>
              <a:buNone/>
            </a:pPr>
            <a:r>
              <a:rPr lang="en-US" sz="1400" i="1" dirty="0">
                <a:solidFill>
                  <a:srgbClr val="5B6470"/>
                </a:solidFill>
                <a:latin typeface="Calibri" pitchFamily="34" charset="0"/>
                <a:ea typeface="Calibri" pitchFamily="34" charset="-122"/>
                <a:cs typeface="Calibri" pitchFamily="34" charset="-120"/>
              </a:rPr>
              <a:t>clientNo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subject</a:t>
            </a:r>
            <a:endParaRPr lang="en-US" sz="1400" dirty="0"/>
          </a:p>
        </p:txBody>
      </p:sp>
      <p:sp>
        <p:nvSpPr>
          <p:cNvPr id="29" name="Shape 27"/>
          <p:cNvSpPr/>
          <p:nvPr/>
        </p:nvSpPr>
        <p:spPr>
          <a:xfrm>
            <a:off x="7132320" y="3749040"/>
            <a:ext cx="4599432" cy="2651760"/>
          </a:xfrm>
          <a:prstGeom prst="roundRect">
            <a:avLst>
              <a:gd name="adj" fmla="val 2414"/>
            </a:avLst>
          </a:prstGeom>
          <a:solidFill>
            <a:srgbClr val="E9F9F3"/>
          </a:solidFill>
          <a:ln w="12700">
            <a:solidFill>
              <a:srgbClr val="1FAE8C"/>
            </a:solidFill>
            <a:prstDash val="solid"/>
          </a:ln>
        </p:spPr>
      </p:sp>
      <p:sp>
        <p:nvSpPr>
          <p:cNvPr id="30" name="Text 28"/>
          <p:cNvSpPr txBox="1"/>
          <p:nvPr/>
        </p:nvSpPr>
        <p:spPr>
          <a:xfrm>
            <a:off x="7388352" y="3895344"/>
            <a:ext cx="4087368" cy="274320"/>
          </a:xfrm>
          <a:prstGeom prst="rect">
            <a:avLst/>
          </a:prstGeom>
          <a:noFill/>
          <a:ln/>
        </p:spPr>
        <p:txBody>
          <a:bodyPr wrap="square" lIns="0" tIns="0" rIns="0" bIns="0" rtlCol="0" anchor="ctr"/>
          <a:lstStyle/>
          <a:p>
            <a:pPr indent="0" marL="0">
              <a:buNone/>
            </a:pPr>
            <a:r>
              <a:rPr lang="en-US" sz="1200" b="1" spc="200" kern="0" dirty="0">
                <a:solidFill>
                  <a:srgbClr val="0E7A61"/>
                </a:solidFill>
                <a:latin typeface="Calibri" pitchFamily="34" charset="0"/>
                <a:ea typeface="Calibri" pitchFamily="34" charset="-122"/>
                <a:cs typeface="Calibri" pitchFamily="34" charset="-120"/>
              </a:rPr>
              <a:t>THE FIX</a:t>
            </a:r>
            <a:endParaRPr lang="en-US" sz="1200" dirty="0"/>
          </a:p>
        </p:txBody>
      </p:sp>
      <p:sp>
        <p:nvSpPr>
          <p:cNvPr id="31" name="Text 29"/>
          <p:cNvSpPr txBox="1"/>
          <p:nvPr/>
        </p:nvSpPr>
        <p:spPr>
          <a:xfrm>
            <a:off x="7388352" y="4224528"/>
            <a:ext cx="4087368" cy="201168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Renaming custId to clientNo costs one migration, once. Leaving it costs every future query author a small re-derivation — that asymmetry is exactly why the naming standard (previous slide) insists a foreign key keeps its referenced primary key's exact name.</a:t>
            </a:r>
            <a:endParaRPr lang="en-US" sz="1800" dirty="0"/>
          </a:p>
        </p:txBody>
      </p:sp>
      <p:sp>
        <p:nvSpPr>
          <p:cNvPr id="32" name="Text 30"/>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NAMING AMBIGUITY, WORKED</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Homonyms: a Concrete Before/After</a:t>
            </a:r>
            <a:endParaRPr lang="en-US" sz="2600" dirty="0"/>
          </a:p>
        </p:txBody>
      </p:sp>
      <p:sp>
        <p:nvSpPr>
          <p:cNvPr id="4" name="Text 2"/>
          <p:cNvSpPr txBox="1"/>
          <p:nvPr/>
        </p:nvSpPr>
        <p:spPr>
          <a:xfrm>
            <a:off x="640080" y="1481328"/>
            <a:ext cx="5120640" cy="320040"/>
          </a:xfrm>
          <a:prstGeom prst="rect">
            <a:avLst/>
          </a:prstGeom>
          <a:noFill/>
          <a:ln/>
        </p:spPr>
        <p:txBody>
          <a:bodyPr wrap="square" lIns="0" tIns="0" rIns="0" bIns="0" rtlCol="0" anchor="ctr"/>
          <a:lstStyle/>
          <a:p>
            <a:pPr indent="0" marL="0">
              <a:buNone/>
            </a:pPr>
            <a:r>
              <a:rPr lang="en-US" sz="1800" b="1" dirty="0">
                <a:solidFill>
                  <a:srgbClr val="6B7280"/>
                </a:solidFill>
                <a:latin typeface="Calibri" pitchFamily="34" charset="0"/>
                <a:ea typeface="Calibri" pitchFamily="34" charset="-122"/>
                <a:cs typeface="Calibri" pitchFamily="34" charset="-120"/>
              </a:rPr>
              <a:t>Before — one name, two meanings</a:t>
            </a:r>
            <a:endParaRPr lang="en-US" sz="1800" dirty="0"/>
          </a:p>
        </p:txBody>
      </p:sp>
      <p:sp>
        <p:nvSpPr>
          <p:cNvPr id="5" name="Shape 3"/>
          <p:cNvSpPr/>
          <p:nvPr/>
        </p:nvSpPr>
        <p:spPr>
          <a:xfrm>
            <a:off x="640080" y="1828800"/>
            <a:ext cx="2926080" cy="1444752"/>
          </a:xfrm>
          <a:prstGeom prst="roundRect">
            <a:avLst>
              <a:gd name="adj" fmla="val 5063"/>
            </a:avLst>
          </a:prstGeom>
          <a:solidFill>
            <a:srgbClr val="FFFFFF"/>
          </a:solidFill>
          <a:ln w="15875">
            <a:solidFill>
              <a:srgbClr val="1F2429"/>
            </a:solidFill>
            <a:prstDash val="solid"/>
          </a:ln>
        </p:spPr>
      </p:sp>
      <p:sp>
        <p:nvSpPr>
          <p:cNvPr id="6" name="Shape 4"/>
          <p:cNvSpPr/>
          <p:nvPr/>
        </p:nvSpPr>
        <p:spPr>
          <a:xfrm>
            <a:off x="640080" y="1828800"/>
            <a:ext cx="2926080" cy="420624"/>
          </a:xfrm>
          <a:prstGeom prst="roundRect">
            <a:avLst>
              <a:gd name="adj" fmla="val 17391"/>
            </a:avLst>
          </a:prstGeom>
          <a:solidFill>
            <a:srgbClr val="D96B4C"/>
          </a:solidFill>
          <a:ln/>
        </p:spPr>
      </p:sp>
      <p:sp>
        <p:nvSpPr>
          <p:cNvPr id="7" name="Shape 5"/>
          <p:cNvSpPr/>
          <p:nvPr/>
        </p:nvSpPr>
        <p:spPr>
          <a:xfrm>
            <a:off x="640080" y="2039112"/>
            <a:ext cx="2926080" cy="210312"/>
          </a:xfrm>
          <a:prstGeom prst="rect">
            <a:avLst/>
          </a:prstGeom>
          <a:solidFill>
            <a:srgbClr val="D96B4C"/>
          </a:solidFill>
          <a:ln/>
        </p:spPr>
      </p:sp>
      <p:sp>
        <p:nvSpPr>
          <p:cNvPr id="8" name="Text 6"/>
          <p:cNvSpPr txBox="1"/>
          <p:nvPr/>
        </p:nvSpPr>
        <p:spPr>
          <a:xfrm>
            <a:off x="749808" y="1828800"/>
            <a:ext cx="270662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PropertyForRent</a:t>
            </a:r>
            <a:endParaRPr lang="en-US" sz="1800" dirty="0"/>
          </a:p>
        </p:txBody>
      </p:sp>
      <p:sp>
        <p:nvSpPr>
          <p:cNvPr id="9" name="Text 7"/>
          <p:cNvSpPr txBox="1"/>
          <p:nvPr/>
        </p:nvSpPr>
        <p:spPr>
          <a:xfrm>
            <a:off x="786384" y="2304288"/>
            <a:ext cx="2651760" cy="877824"/>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propertyNo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type</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street</a:t>
            </a:r>
            <a:endParaRPr lang="en-US" sz="1400" dirty="0"/>
          </a:p>
        </p:txBody>
      </p:sp>
      <p:sp>
        <p:nvSpPr>
          <p:cNvPr id="10" name="Shape 8"/>
          <p:cNvSpPr/>
          <p:nvPr/>
        </p:nvSpPr>
        <p:spPr>
          <a:xfrm>
            <a:off x="3931920" y="1828800"/>
            <a:ext cx="2743200" cy="1444752"/>
          </a:xfrm>
          <a:prstGeom prst="roundRect">
            <a:avLst>
              <a:gd name="adj" fmla="val 5063"/>
            </a:avLst>
          </a:prstGeom>
          <a:solidFill>
            <a:srgbClr val="FFFFFF"/>
          </a:solidFill>
          <a:ln w="15875">
            <a:solidFill>
              <a:srgbClr val="1F2429"/>
            </a:solidFill>
            <a:prstDash val="solid"/>
          </a:ln>
        </p:spPr>
      </p:sp>
      <p:sp>
        <p:nvSpPr>
          <p:cNvPr id="11" name="Shape 9"/>
          <p:cNvSpPr/>
          <p:nvPr/>
        </p:nvSpPr>
        <p:spPr>
          <a:xfrm>
            <a:off x="3931920" y="1828800"/>
            <a:ext cx="2743200" cy="420624"/>
          </a:xfrm>
          <a:prstGeom prst="roundRect">
            <a:avLst>
              <a:gd name="adj" fmla="val 17391"/>
            </a:avLst>
          </a:prstGeom>
          <a:solidFill>
            <a:srgbClr val="D96B4C"/>
          </a:solidFill>
          <a:ln/>
        </p:spPr>
      </p:sp>
      <p:sp>
        <p:nvSpPr>
          <p:cNvPr id="12" name="Shape 10"/>
          <p:cNvSpPr/>
          <p:nvPr/>
        </p:nvSpPr>
        <p:spPr>
          <a:xfrm>
            <a:off x="3931920" y="2039112"/>
            <a:ext cx="2743200" cy="210312"/>
          </a:xfrm>
          <a:prstGeom prst="rect">
            <a:avLst/>
          </a:prstGeom>
          <a:solidFill>
            <a:srgbClr val="D96B4C"/>
          </a:solidFill>
          <a:ln/>
        </p:spPr>
      </p:sp>
      <p:sp>
        <p:nvSpPr>
          <p:cNvPr id="13" name="Text 11"/>
          <p:cNvSpPr txBox="1"/>
          <p:nvPr/>
        </p:nvSpPr>
        <p:spPr>
          <a:xfrm>
            <a:off x="4041648" y="1828800"/>
            <a:ext cx="252374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Staff</a:t>
            </a:r>
            <a:endParaRPr lang="en-US" sz="1800" dirty="0"/>
          </a:p>
        </p:txBody>
      </p:sp>
      <p:sp>
        <p:nvSpPr>
          <p:cNvPr id="14" name="Text 12"/>
          <p:cNvSpPr txBox="1"/>
          <p:nvPr/>
        </p:nvSpPr>
        <p:spPr>
          <a:xfrm>
            <a:off x="4078224" y="2304288"/>
            <a:ext cx="2468880" cy="877824"/>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staffNo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type</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name</a:t>
            </a:r>
            <a:endParaRPr lang="en-US" sz="1400" dirty="0"/>
          </a:p>
        </p:txBody>
      </p:sp>
      <p:sp>
        <p:nvSpPr>
          <p:cNvPr id="15" name="Text 13"/>
          <p:cNvSpPr txBox="1"/>
          <p:nvPr/>
        </p:nvSpPr>
        <p:spPr>
          <a:xfrm>
            <a:off x="640080" y="3749040"/>
            <a:ext cx="6035040" cy="914400"/>
          </a:xfrm>
          <a:prstGeom prst="rect">
            <a:avLst/>
          </a:prstGeom>
          <a:noFill/>
          <a:ln/>
        </p:spPr>
        <p:txBody>
          <a:bodyPr wrap="square" lIns="0" tIns="0" rIns="0" bIns="0" rtlCol="0" anchor="ctr"/>
          <a:lstStyle/>
          <a:p>
            <a:pPr indent="0" marL="0">
              <a:lnSpc>
                <a:spcPct val="110000"/>
              </a:lnSpc>
              <a:buNone/>
            </a:pPr>
            <a:r>
              <a:rPr lang="en-US" sz="1800" dirty="0">
                <a:solidFill>
                  <a:srgbClr val="1F2429"/>
                </a:solidFill>
                <a:latin typeface="Calibri" pitchFamily="34" charset="0"/>
                <a:ea typeface="Calibri" pitchFamily="34" charset="-122"/>
                <a:cs typeface="Calibri" pitchFamily="34" charset="-120"/>
              </a:rPr>
              <a:t>type means “House or Flat” on PropertyForRent, but “Full-time or Part-time” on Staff — the same column name, two unrelated domains.</a:t>
            </a:r>
            <a:endParaRPr lang="en-US" sz="1800" dirty="0"/>
          </a:p>
        </p:txBody>
      </p:sp>
      <p:sp>
        <p:nvSpPr>
          <p:cNvPr id="16" name="Text 14"/>
          <p:cNvSpPr txBox="1"/>
          <p:nvPr/>
        </p:nvSpPr>
        <p:spPr>
          <a:xfrm>
            <a:off x="640080" y="4709160"/>
            <a:ext cx="6035040" cy="320040"/>
          </a:xfrm>
          <a:prstGeom prst="rect">
            <a:avLst/>
          </a:prstGeom>
          <a:noFill/>
          <a:ln/>
        </p:spPr>
        <p:txBody>
          <a:bodyPr wrap="square" lIns="0" tIns="0" rIns="0" bIns="0" rtlCol="0" anchor="ctr"/>
          <a:lstStyle/>
          <a:p>
            <a:pPr indent="0" marL="0">
              <a:buNone/>
            </a:pPr>
            <a:r>
              <a:rPr lang="en-US" sz="1800" b="1" dirty="0">
                <a:solidFill>
                  <a:srgbClr val="6B7280"/>
                </a:solidFill>
                <a:latin typeface="Calibri" pitchFamily="34" charset="0"/>
                <a:ea typeface="Calibri" pitchFamily="34" charset="-122"/>
                <a:cs typeface="Calibri" pitchFamily="34" charset="-120"/>
              </a:rPr>
              <a:t>Why it breaks a real query</a:t>
            </a:r>
            <a:endParaRPr lang="en-US" sz="1800" dirty="0"/>
          </a:p>
        </p:txBody>
      </p:sp>
      <p:sp>
        <p:nvSpPr>
          <p:cNvPr id="17" name="Text 15"/>
          <p:cNvSpPr txBox="1"/>
          <p:nvPr/>
        </p:nvSpPr>
        <p:spPr>
          <a:xfrm>
            <a:off x="640080" y="5029200"/>
            <a:ext cx="6035040" cy="1371600"/>
          </a:xfrm>
          <a:prstGeom prst="rect">
            <a:avLst/>
          </a:prstGeom>
          <a:noFill/>
          <a:ln/>
        </p:spPr>
        <p:txBody>
          <a:bodyPr wrap="square" lIns="0" tIns="0" rIns="0" bIns="0" rtlCol="0" anchor="ctr"/>
          <a:lstStyle/>
          <a:p>
            <a:pPr indent="0" marL="0">
              <a:lnSpc>
                <a:spcPct val="110000"/>
              </a:lnSpc>
              <a:buNone/>
            </a:pPr>
            <a:r>
              <a:rPr lang="en-US" sz="1800" dirty="0">
                <a:solidFill>
                  <a:srgbClr val="1F2429"/>
                </a:solidFill>
                <a:latin typeface="Calibri" pitchFamily="34" charset="0"/>
                <a:ea typeface="Calibri" pitchFamily="34" charset="-122"/>
                <a:cs typeface="Calibri" pitchFamily="34" charset="-120"/>
              </a:rPr>
              <a:t>SELECT type FROM PropertyForRent UNION SELECT type FROM Staff is syntactically valid SQL that silently mixes “House” with “Full-time” in one result column — nothing in the schema stops it, and a report built on it is simply wrong.</a:t>
            </a:r>
            <a:endParaRPr lang="en-US" sz="1800" dirty="0"/>
          </a:p>
        </p:txBody>
      </p:sp>
      <p:sp>
        <p:nvSpPr>
          <p:cNvPr id="18" name="Text 16"/>
          <p:cNvSpPr txBox="1"/>
          <p:nvPr/>
        </p:nvSpPr>
        <p:spPr>
          <a:xfrm>
            <a:off x="7132320" y="1481328"/>
            <a:ext cx="4572000" cy="320040"/>
          </a:xfrm>
          <a:prstGeom prst="rect">
            <a:avLst/>
          </a:prstGeom>
          <a:noFill/>
          <a:ln/>
        </p:spPr>
        <p:txBody>
          <a:bodyPr wrap="square" lIns="0" tIns="0" rIns="0" bIns="0" rtlCol="0" anchor="ctr"/>
          <a:lstStyle/>
          <a:p>
            <a:pPr indent="0" marL="0">
              <a:buNone/>
            </a:pPr>
            <a:r>
              <a:rPr lang="en-US" sz="1800" b="1" dirty="0">
                <a:solidFill>
                  <a:srgbClr val="6B7280"/>
                </a:solidFill>
                <a:latin typeface="Calibri" pitchFamily="34" charset="0"/>
                <a:ea typeface="Calibri" pitchFamily="34" charset="-122"/>
                <a:cs typeface="Calibri" pitchFamily="34" charset="-120"/>
              </a:rPr>
              <a:t>After — disambiguated names</a:t>
            </a:r>
            <a:endParaRPr lang="en-US" sz="1800" dirty="0"/>
          </a:p>
        </p:txBody>
      </p:sp>
      <p:sp>
        <p:nvSpPr>
          <p:cNvPr id="19" name="Shape 17"/>
          <p:cNvSpPr/>
          <p:nvPr/>
        </p:nvSpPr>
        <p:spPr>
          <a:xfrm>
            <a:off x="7132320" y="1828800"/>
            <a:ext cx="2240280" cy="1444752"/>
          </a:xfrm>
          <a:prstGeom prst="roundRect">
            <a:avLst>
              <a:gd name="adj" fmla="val 5063"/>
            </a:avLst>
          </a:prstGeom>
          <a:solidFill>
            <a:srgbClr val="FFFFFF"/>
          </a:solidFill>
          <a:ln w="15875">
            <a:solidFill>
              <a:srgbClr val="1F2429"/>
            </a:solidFill>
            <a:prstDash val="solid"/>
          </a:ln>
        </p:spPr>
      </p:sp>
      <p:sp>
        <p:nvSpPr>
          <p:cNvPr id="20" name="Shape 18"/>
          <p:cNvSpPr/>
          <p:nvPr/>
        </p:nvSpPr>
        <p:spPr>
          <a:xfrm>
            <a:off x="7132320" y="1828800"/>
            <a:ext cx="2240280" cy="420624"/>
          </a:xfrm>
          <a:prstGeom prst="roundRect">
            <a:avLst>
              <a:gd name="adj" fmla="val 17391"/>
            </a:avLst>
          </a:prstGeom>
          <a:solidFill>
            <a:srgbClr val="2FE6C4"/>
          </a:solidFill>
          <a:ln/>
        </p:spPr>
      </p:sp>
      <p:sp>
        <p:nvSpPr>
          <p:cNvPr id="21" name="Shape 19"/>
          <p:cNvSpPr/>
          <p:nvPr/>
        </p:nvSpPr>
        <p:spPr>
          <a:xfrm>
            <a:off x="7132320" y="2039112"/>
            <a:ext cx="2240280" cy="210312"/>
          </a:xfrm>
          <a:prstGeom prst="rect">
            <a:avLst/>
          </a:prstGeom>
          <a:solidFill>
            <a:srgbClr val="2FE6C4"/>
          </a:solidFill>
          <a:ln/>
        </p:spPr>
      </p:sp>
      <p:sp>
        <p:nvSpPr>
          <p:cNvPr id="22" name="Text 20"/>
          <p:cNvSpPr txBox="1"/>
          <p:nvPr/>
        </p:nvSpPr>
        <p:spPr>
          <a:xfrm>
            <a:off x="7242048" y="1828800"/>
            <a:ext cx="202082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PropertyForRent</a:t>
            </a:r>
            <a:endParaRPr lang="en-US" sz="1800" dirty="0"/>
          </a:p>
        </p:txBody>
      </p:sp>
      <p:sp>
        <p:nvSpPr>
          <p:cNvPr id="23" name="Text 21"/>
          <p:cNvSpPr txBox="1"/>
          <p:nvPr/>
        </p:nvSpPr>
        <p:spPr>
          <a:xfrm>
            <a:off x="7278624" y="2304288"/>
            <a:ext cx="1965960" cy="877824"/>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propertyNo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propertyType</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street</a:t>
            </a:r>
            <a:endParaRPr lang="en-US" sz="1400" dirty="0"/>
          </a:p>
        </p:txBody>
      </p:sp>
      <p:sp>
        <p:nvSpPr>
          <p:cNvPr id="24" name="Shape 22"/>
          <p:cNvSpPr/>
          <p:nvPr/>
        </p:nvSpPr>
        <p:spPr>
          <a:xfrm>
            <a:off x="9509760" y="1828800"/>
            <a:ext cx="2194560" cy="1444752"/>
          </a:xfrm>
          <a:prstGeom prst="roundRect">
            <a:avLst>
              <a:gd name="adj" fmla="val 5063"/>
            </a:avLst>
          </a:prstGeom>
          <a:solidFill>
            <a:srgbClr val="FFFFFF"/>
          </a:solidFill>
          <a:ln w="15875">
            <a:solidFill>
              <a:srgbClr val="1F2429"/>
            </a:solidFill>
            <a:prstDash val="solid"/>
          </a:ln>
        </p:spPr>
      </p:sp>
      <p:sp>
        <p:nvSpPr>
          <p:cNvPr id="25" name="Shape 23"/>
          <p:cNvSpPr/>
          <p:nvPr/>
        </p:nvSpPr>
        <p:spPr>
          <a:xfrm>
            <a:off x="9509760" y="1828800"/>
            <a:ext cx="2194560" cy="420624"/>
          </a:xfrm>
          <a:prstGeom prst="roundRect">
            <a:avLst>
              <a:gd name="adj" fmla="val 17391"/>
            </a:avLst>
          </a:prstGeom>
          <a:solidFill>
            <a:srgbClr val="2FE6C4"/>
          </a:solidFill>
          <a:ln/>
        </p:spPr>
      </p:sp>
      <p:sp>
        <p:nvSpPr>
          <p:cNvPr id="26" name="Shape 24"/>
          <p:cNvSpPr/>
          <p:nvPr/>
        </p:nvSpPr>
        <p:spPr>
          <a:xfrm>
            <a:off x="9509760" y="2039112"/>
            <a:ext cx="2194560" cy="210312"/>
          </a:xfrm>
          <a:prstGeom prst="rect">
            <a:avLst/>
          </a:prstGeom>
          <a:solidFill>
            <a:srgbClr val="2FE6C4"/>
          </a:solidFill>
          <a:ln/>
        </p:spPr>
      </p:sp>
      <p:sp>
        <p:nvSpPr>
          <p:cNvPr id="27" name="Text 25"/>
          <p:cNvSpPr txBox="1"/>
          <p:nvPr/>
        </p:nvSpPr>
        <p:spPr>
          <a:xfrm>
            <a:off x="9619488" y="1828800"/>
            <a:ext cx="19751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Staff</a:t>
            </a:r>
            <a:endParaRPr lang="en-US" sz="1800" dirty="0"/>
          </a:p>
        </p:txBody>
      </p:sp>
      <p:sp>
        <p:nvSpPr>
          <p:cNvPr id="28" name="Text 26"/>
          <p:cNvSpPr txBox="1"/>
          <p:nvPr/>
        </p:nvSpPr>
        <p:spPr>
          <a:xfrm>
            <a:off x="9656064" y="2304288"/>
            <a:ext cx="1920240" cy="877824"/>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staffNo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employmentType</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name</a:t>
            </a:r>
            <a:endParaRPr lang="en-US" sz="1400" dirty="0"/>
          </a:p>
        </p:txBody>
      </p:sp>
      <p:sp>
        <p:nvSpPr>
          <p:cNvPr id="29" name="Shape 27"/>
          <p:cNvSpPr/>
          <p:nvPr/>
        </p:nvSpPr>
        <p:spPr>
          <a:xfrm>
            <a:off x="7132320" y="3749040"/>
            <a:ext cx="4599432" cy="2651760"/>
          </a:xfrm>
          <a:prstGeom prst="roundRect">
            <a:avLst>
              <a:gd name="adj" fmla="val 2414"/>
            </a:avLst>
          </a:prstGeom>
          <a:solidFill>
            <a:srgbClr val="E9F9F3"/>
          </a:solidFill>
          <a:ln w="12700">
            <a:solidFill>
              <a:srgbClr val="1FAE8C"/>
            </a:solidFill>
            <a:prstDash val="solid"/>
          </a:ln>
        </p:spPr>
      </p:sp>
      <p:sp>
        <p:nvSpPr>
          <p:cNvPr id="30" name="Text 28"/>
          <p:cNvSpPr txBox="1"/>
          <p:nvPr/>
        </p:nvSpPr>
        <p:spPr>
          <a:xfrm>
            <a:off x="7388352" y="3895344"/>
            <a:ext cx="4087368" cy="274320"/>
          </a:xfrm>
          <a:prstGeom prst="rect">
            <a:avLst/>
          </a:prstGeom>
          <a:noFill/>
          <a:ln/>
        </p:spPr>
        <p:txBody>
          <a:bodyPr wrap="square" lIns="0" tIns="0" rIns="0" bIns="0" rtlCol="0" anchor="ctr"/>
          <a:lstStyle/>
          <a:p>
            <a:pPr indent="0" marL="0">
              <a:buNone/>
            </a:pPr>
            <a:r>
              <a:rPr lang="en-US" sz="1200" b="1" spc="200" kern="0" dirty="0">
                <a:solidFill>
                  <a:srgbClr val="0E7A61"/>
                </a:solidFill>
                <a:latin typeface="Calibri" pitchFamily="34" charset="0"/>
                <a:ea typeface="Calibri" pitchFamily="34" charset="-122"/>
                <a:cs typeface="Calibri" pitchFamily="34" charset="-120"/>
              </a:rPr>
              <a:t>THE FIX</a:t>
            </a:r>
            <a:endParaRPr lang="en-US" sz="1200" dirty="0"/>
          </a:p>
        </p:txBody>
      </p:sp>
      <p:sp>
        <p:nvSpPr>
          <p:cNvPr id="31" name="Text 29"/>
          <p:cNvSpPr txBox="1"/>
          <p:nvPr/>
        </p:nvSpPr>
        <p:spPr>
          <a:xfrm>
            <a:off x="7388352" y="4224528"/>
            <a:ext cx="4087368" cy="201168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propertyType and employmentType each carry the stem that disambiguates them — exactly the naming standard from the previous slide. A UNION across them now fails obviously (different column names), which is the correct failure mode: loud, not silent.</a:t>
            </a:r>
            <a:endParaRPr lang="en-US" sz="1800" dirty="0"/>
          </a:p>
        </p:txBody>
      </p:sp>
      <p:sp>
        <p:nvSpPr>
          <p:cNvPr id="32" name="Text 30"/>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COMPLEX RELATIONSHIPS</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Ternary Relationships</a:t>
            </a:r>
            <a:endParaRPr lang="en-US" sz="2600" dirty="0"/>
          </a:p>
        </p:txBody>
      </p:sp>
      <p:sp>
        <p:nvSpPr>
          <p:cNvPr id="4" name="Text 2"/>
          <p:cNvSpPr txBox="1"/>
          <p:nvPr/>
        </p:nvSpPr>
        <p:spPr>
          <a:xfrm>
            <a:off x="640080" y="1508760"/>
            <a:ext cx="10911535" cy="91440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A ternary relationship connects three entity types at once — NOT generally the same as three separate binary relationships between the same pairs. Registers: a Client registers interest with a specific Staff member, at a specific Branch, on a given date.</a:t>
            </a:r>
            <a:endParaRPr lang="en-US" sz="1800" dirty="0"/>
          </a:p>
        </p:txBody>
      </p:sp>
      <p:sp>
        <p:nvSpPr>
          <p:cNvPr id="5" name="Shape 3"/>
          <p:cNvSpPr/>
          <p:nvPr/>
        </p:nvSpPr>
        <p:spPr>
          <a:xfrm>
            <a:off x="640080" y="2606040"/>
            <a:ext cx="2651760" cy="1152144"/>
          </a:xfrm>
          <a:prstGeom prst="roundRect">
            <a:avLst>
              <a:gd name="adj" fmla="val 6349"/>
            </a:avLst>
          </a:prstGeom>
          <a:solidFill>
            <a:srgbClr val="FFFFFF"/>
          </a:solidFill>
          <a:ln w="15875">
            <a:solidFill>
              <a:srgbClr val="1F2429"/>
            </a:solidFill>
            <a:prstDash val="solid"/>
          </a:ln>
        </p:spPr>
      </p:sp>
      <p:sp>
        <p:nvSpPr>
          <p:cNvPr id="6" name="Shape 4"/>
          <p:cNvSpPr/>
          <p:nvPr/>
        </p:nvSpPr>
        <p:spPr>
          <a:xfrm>
            <a:off x="640080" y="2606040"/>
            <a:ext cx="2651760" cy="420624"/>
          </a:xfrm>
          <a:prstGeom prst="roundRect">
            <a:avLst>
              <a:gd name="adj" fmla="val 17391"/>
            </a:avLst>
          </a:prstGeom>
          <a:solidFill>
            <a:srgbClr val="2FE6C4"/>
          </a:solidFill>
          <a:ln/>
        </p:spPr>
      </p:sp>
      <p:sp>
        <p:nvSpPr>
          <p:cNvPr id="7" name="Shape 5"/>
          <p:cNvSpPr/>
          <p:nvPr/>
        </p:nvSpPr>
        <p:spPr>
          <a:xfrm>
            <a:off x="640080" y="2816352"/>
            <a:ext cx="2651760" cy="210312"/>
          </a:xfrm>
          <a:prstGeom prst="rect">
            <a:avLst/>
          </a:prstGeom>
          <a:solidFill>
            <a:srgbClr val="2FE6C4"/>
          </a:solidFill>
          <a:ln/>
        </p:spPr>
      </p:sp>
      <p:sp>
        <p:nvSpPr>
          <p:cNvPr id="8" name="Text 6"/>
          <p:cNvSpPr txBox="1"/>
          <p:nvPr/>
        </p:nvSpPr>
        <p:spPr>
          <a:xfrm>
            <a:off x="749808" y="2606040"/>
            <a:ext cx="24323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Client</a:t>
            </a:r>
            <a:endParaRPr lang="en-US" sz="1800" dirty="0"/>
          </a:p>
        </p:txBody>
      </p:sp>
      <p:sp>
        <p:nvSpPr>
          <p:cNvPr id="9" name="Text 7"/>
          <p:cNvSpPr txBox="1"/>
          <p:nvPr/>
        </p:nvSpPr>
        <p:spPr>
          <a:xfrm>
            <a:off x="786384" y="3081528"/>
            <a:ext cx="237744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clientNo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firstName</a:t>
            </a:r>
            <a:endParaRPr lang="en-US" sz="1400" dirty="0"/>
          </a:p>
        </p:txBody>
      </p:sp>
      <p:sp>
        <p:nvSpPr>
          <p:cNvPr id="10" name="Shape 8"/>
          <p:cNvSpPr/>
          <p:nvPr/>
        </p:nvSpPr>
        <p:spPr>
          <a:xfrm>
            <a:off x="8778240" y="2606040"/>
            <a:ext cx="2651760" cy="1152144"/>
          </a:xfrm>
          <a:prstGeom prst="roundRect">
            <a:avLst>
              <a:gd name="adj" fmla="val 6349"/>
            </a:avLst>
          </a:prstGeom>
          <a:solidFill>
            <a:srgbClr val="FFFFFF"/>
          </a:solidFill>
          <a:ln w="15875">
            <a:solidFill>
              <a:srgbClr val="1F2429"/>
            </a:solidFill>
            <a:prstDash val="solid"/>
          </a:ln>
        </p:spPr>
      </p:sp>
      <p:sp>
        <p:nvSpPr>
          <p:cNvPr id="11" name="Shape 9"/>
          <p:cNvSpPr/>
          <p:nvPr/>
        </p:nvSpPr>
        <p:spPr>
          <a:xfrm>
            <a:off x="8778240" y="2606040"/>
            <a:ext cx="2651760" cy="420624"/>
          </a:xfrm>
          <a:prstGeom prst="roundRect">
            <a:avLst>
              <a:gd name="adj" fmla="val 17391"/>
            </a:avLst>
          </a:prstGeom>
          <a:solidFill>
            <a:srgbClr val="E8A33D"/>
          </a:solidFill>
          <a:ln/>
        </p:spPr>
      </p:sp>
      <p:sp>
        <p:nvSpPr>
          <p:cNvPr id="12" name="Shape 10"/>
          <p:cNvSpPr/>
          <p:nvPr/>
        </p:nvSpPr>
        <p:spPr>
          <a:xfrm>
            <a:off x="8778240" y="2816352"/>
            <a:ext cx="2651760" cy="210312"/>
          </a:xfrm>
          <a:prstGeom prst="rect">
            <a:avLst/>
          </a:prstGeom>
          <a:solidFill>
            <a:srgbClr val="E8A33D"/>
          </a:solidFill>
          <a:ln/>
        </p:spPr>
      </p:sp>
      <p:sp>
        <p:nvSpPr>
          <p:cNvPr id="13" name="Text 11"/>
          <p:cNvSpPr txBox="1"/>
          <p:nvPr/>
        </p:nvSpPr>
        <p:spPr>
          <a:xfrm>
            <a:off x="8887968" y="2606040"/>
            <a:ext cx="24323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Staff</a:t>
            </a:r>
            <a:endParaRPr lang="en-US" sz="1800" dirty="0"/>
          </a:p>
        </p:txBody>
      </p:sp>
      <p:sp>
        <p:nvSpPr>
          <p:cNvPr id="14" name="Text 12"/>
          <p:cNvSpPr txBox="1"/>
          <p:nvPr/>
        </p:nvSpPr>
        <p:spPr>
          <a:xfrm>
            <a:off x="8924544" y="3081528"/>
            <a:ext cx="237744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staffNo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name</a:t>
            </a:r>
            <a:endParaRPr lang="en-US" sz="1400" dirty="0"/>
          </a:p>
        </p:txBody>
      </p:sp>
      <p:sp>
        <p:nvSpPr>
          <p:cNvPr id="15" name="Shape 13"/>
          <p:cNvSpPr/>
          <p:nvPr/>
        </p:nvSpPr>
        <p:spPr>
          <a:xfrm>
            <a:off x="4846320" y="4297680"/>
            <a:ext cx="2651760" cy="1152144"/>
          </a:xfrm>
          <a:prstGeom prst="roundRect">
            <a:avLst>
              <a:gd name="adj" fmla="val 6349"/>
            </a:avLst>
          </a:prstGeom>
          <a:solidFill>
            <a:srgbClr val="FFFFFF"/>
          </a:solidFill>
          <a:ln w="15875">
            <a:solidFill>
              <a:srgbClr val="1F2429"/>
            </a:solidFill>
            <a:prstDash val="solid"/>
          </a:ln>
        </p:spPr>
      </p:sp>
      <p:sp>
        <p:nvSpPr>
          <p:cNvPr id="16" name="Shape 14"/>
          <p:cNvSpPr/>
          <p:nvPr/>
        </p:nvSpPr>
        <p:spPr>
          <a:xfrm>
            <a:off x="4846320" y="4297680"/>
            <a:ext cx="2651760" cy="420624"/>
          </a:xfrm>
          <a:prstGeom prst="roundRect">
            <a:avLst>
              <a:gd name="adj" fmla="val 17391"/>
            </a:avLst>
          </a:prstGeom>
          <a:solidFill>
            <a:srgbClr val="8B7FD9"/>
          </a:solidFill>
          <a:ln/>
        </p:spPr>
      </p:sp>
      <p:sp>
        <p:nvSpPr>
          <p:cNvPr id="17" name="Shape 15"/>
          <p:cNvSpPr/>
          <p:nvPr/>
        </p:nvSpPr>
        <p:spPr>
          <a:xfrm>
            <a:off x="4846320" y="4507992"/>
            <a:ext cx="2651760" cy="210312"/>
          </a:xfrm>
          <a:prstGeom prst="rect">
            <a:avLst/>
          </a:prstGeom>
          <a:solidFill>
            <a:srgbClr val="8B7FD9"/>
          </a:solidFill>
          <a:ln/>
        </p:spPr>
      </p:sp>
      <p:sp>
        <p:nvSpPr>
          <p:cNvPr id="18" name="Text 16"/>
          <p:cNvSpPr txBox="1"/>
          <p:nvPr/>
        </p:nvSpPr>
        <p:spPr>
          <a:xfrm>
            <a:off x="4956048" y="4297680"/>
            <a:ext cx="24323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Branch</a:t>
            </a:r>
            <a:endParaRPr lang="en-US" sz="1800" dirty="0"/>
          </a:p>
        </p:txBody>
      </p:sp>
      <p:sp>
        <p:nvSpPr>
          <p:cNvPr id="19" name="Text 17"/>
          <p:cNvSpPr txBox="1"/>
          <p:nvPr/>
        </p:nvSpPr>
        <p:spPr>
          <a:xfrm>
            <a:off x="4992624" y="4773168"/>
            <a:ext cx="237744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branchNo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city</a:t>
            </a:r>
            <a:endParaRPr lang="en-US" sz="1400" dirty="0"/>
          </a:p>
        </p:txBody>
      </p:sp>
      <p:sp>
        <p:nvSpPr>
          <p:cNvPr id="20" name="Shape 18"/>
          <p:cNvSpPr/>
          <p:nvPr/>
        </p:nvSpPr>
        <p:spPr>
          <a:xfrm>
            <a:off x="5440680" y="2743200"/>
            <a:ext cx="1737360" cy="457200"/>
          </a:xfrm>
          <a:prstGeom prst="roundRect">
            <a:avLst>
              <a:gd name="adj" fmla="val 50000"/>
            </a:avLst>
          </a:prstGeom>
          <a:solidFill>
            <a:srgbClr val="14181C"/>
          </a:solidFill>
          <a:ln/>
        </p:spPr>
      </p:sp>
      <p:sp>
        <p:nvSpPr>
          <p:cNvPr id="21" name="Text 19"/>
          <p:cNvSpPr txBox="1"/>
          <p:nvPr/>
        </p:nvSpPr>
        <p:spPr>
          <a:xfrm>
            <a:off x="5440680" y="2743200"/>
            <a:ext cx="173736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Registers</a:t>
            </a:r>
            <a:endParaRPr lang="en-US" sz="1800" dirty="0"/>
          </a:p>
        </p:txBody>
      </p:sp>
      <p:sp>
        <p:nvSpPr>
          <p:cNvPr id="22" name="Text 20"/>
          <p:cNvSpPr txBox="1"/>
          <p:nvPr/>
        </p:nvSpPr>
        <p:spPr>
          <a:xfrm>
            <a:off x="4754880" y="3639312"/>
            <a:ext cx="2834640" cy="274320"/>
          </a:xfrm>
          <a:prstGeom prst="rect">
            <a:avLst/>
          </a:prstGeom>
          <a:noFill/>
          <a:ln/>
        </p:spPr>
        <p:txBody>
          <a:bodyPr wrap="square" lIns="0" tIns="0" rIns="0" bIns="0" rtlCol="0" anchor="ctr"/>
          <a:lstStyle/>
          <a:p>
            <a:pPr algn="ctr" indent="0" marL="0">
              <a:buNone/>
            </a:pPr>
            <a:r>
              <a:rPr lang="en-US" sz="1400" i="1" dirty="0">
                <a:solidFill>
                  <a:srgbClr val="6B7280"/>
                </a:solidFill>
                <a:latin typeface="Courier New" pitchFamily="34" charset="0"/>
                <a:ea typeface="Courier New" pitchFamily="34" charset="-122"/>
                <a:cs typeface="Courier New" pitchFamily="34" charset="-120"/>
              </a:rPr>
              <a:t>+ dateRegistered</a:t>
            </a:r>
            <a:endParaRPr lang="en-US" sz="1400" dirty="0"/>
          </a:p>
        </p:txBody>
      </p:sp>
      <p:sp>
        <p:nvSpPr>
          <p:cNvPr id="23" name="Shape 21"/>
          <p:cNvSpPr/>
          <p:nvPr/>
        </p:nvSpPr>
        <p:spPr>
          <a:xfrm>
            <a:off x="3291840" y="3017520"/>
            <a:ext cx="2468880" cy="9144"/>
          </a:xfrm>
          <a:prstGeom prst="line">
            <a:avLst/>
          </a:prstGeom>
          <a:noFill/>
          <a:ln w="22225">
            <a:solidFill>
              <a:srgbClr val="9AA1A9"/>
            </a:solidFill>
            <a:prstDash val="solid"/>
          </a:ln>
        </p:spPr>
      </p:sp>
      <p:sp>
        <p:nvSpPr>
          <p:cNvPr id="24" name="Shape 22"/>
          <p:cNvSpPr/>
          <p:nvPr/>
        </p:nvSpPr>
        <p:spPr>
          <a:xfrm>
            <a:off x="6583680" y="3017520"/>
            <a:ext cx="2194560" cy="9144"/>
          </a:xfrm>
          <a:prstGeom prst="line">
            <a:avLst/>
          </a:prstGeom>
          <a:noFill/>
          <a:ln w="22225">
            <a:solidFill>
              <a:srgbClr val="9AA1A9"/>
            </a:solidFill>
            <a:prstDash val="solid"/>
          </a:ln>
        </p:spPr>
      </p:sp>
      <p:sp>
        <p:nvSpPr>
          <p:cNvPr id="25" name="Shape 23"/>
          <p:cNvSpPr/>
          <p:nvPr/>
        </p:nvSpPr>
        <p:spPr>
          <a:xfrm>
            <a:off x="6172200" y="3611880"/>
            <a:ext cx="9144" cy="685800"/>
          </a:xfrm>
          <a:prstGeom prst="line">
            <a:avLst/>
          </a:prstGeom>
          <a:noFill/>
          <a:ln w="22225">
            <a:solidFill>
              <a:srgbClr val="9AA1A9"/>
            </a:solidFill>
            <a:prstDash val="solid"/>
          </a:ln>
        </p:spPr>
      </p:sp>
      <p:sp>
        <p:nvSpPr>
          <p:cNvPr id="26" name="Shape 24"/>
          <p:cNvSpPr/>
          <p:nvPr/>
        </p:nvSpPr>
        <p:spPr>
          <a:xfrm>
            <a:off x="640080" y="5440680"/>
            <a:ext cx="10911535" cy="914400"/>
          </a:xfrm>
          <a:prstGeom prst="roundRect">
            <a:avLst>
              <a:gd name="adj" fmla="val 7000"/>
            </a:avLst>
          </a:prstGeom>
          <a:solidFill>
            <a:srgbClr val="FCF1E3"/>
          </a:solidFill>
          <a:ln w="12700">
            <a:solidFill>
              <a:srgbClr val="E8A33D"/>
            </a:solidFill>
            <a:prstDash val="solid"/>
          </a:ln>
        </p:spPr>
      </p:sp>
      <p:sp>
        <p:nvSpPr>
          <p:cNvPr id="27" name="Text 25"/>
          <p:cNvSpPr txBox="1"/>
          <p:nvPr/>
        </p:nvSpPr>
        <p:spPr>
          <a:xfrm>
            <a:off x="896112" y="5586984"/>
            <a:ext cx="10399471" cy="274320"/>
          </a:xfrm>
          <a:prstGeom prst="rect">
            <a:avLst/>
          </a:prstGeom>
          <a:noFill/>
          <a:ln/>
        </p:spPr>
        <p:txBody>
          <a:bodyPr wrap="square" lIns="0" tIns="0" rIns="0" bIns="0" rtlCol="0" anchor="ctr"/>
          <a:lstStyle/>
          <a:p>
            <a:pPr indent="0" marL="0">
              <a:buNone/>
            </a:pPr>
            <a:r>
              <a:rPr lang="en-US" sz="1200" b="1" spc="200" kern="0" dirty="0">
                <a:solidFill>
                  <a:srgbClr val="8A5A12"/>
                </a:solidFill>
                <a:latin typeface="Calibri" pitchFamily="34" charset="0"/>
                <a:ea typeface="Calibri" pitchFamily="34" charset="-122"/>
                <a:cs typeface="Calibri" pitchFamily="34" charset="-120"/>
              </a:rPr>
              <a:t>WHY NOT TWO BINARY RELATIONSHIPS</a:t>
            </a:r>
            <a:endParaRPr lang="en-US" sz="1200" dirty="0"/>
          </a:p>
        </p:txBody>
      </p:sp>
      <p:sp>
        <p:nvSpPr>
          <p:cNvPr id="28" name="Text 26"/>
          <p:cNvSpPr txBox="1"/>
          <p:nvPr/>
        </p:nvSpPr>
        <p:spPr>
          <a:xfrm>
            <a:off x="896112" y="5916168"/>
            <a:ext cx="10399471" cy="27432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Two binary relationships cannot prove both facts belong to one SAME registration event.</a:t>
            </a:r>
            <a:endParaRPr lang="en-US" sz="1800" dirty="0"/>
          </a:p>
        </p:txBody>
      </p:sp>
      <p:sp>
        <p:nvSpPr>
          <p:cNvPr id="29" name="Text 27"/>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COMPLEX RELATIONSHIPS</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Relationships with Attributes</a:t>
            </a:r>
            <a:endParaRPr lang="en-US" sz="2600" dirty="0"/>
          </a:p>
        </p:txBody>
      </p:sp>
      <p:sp>
        <p:nvSpPr>
          <p:cNvPr id="4" name="Text 2"/>
          <p:cNvSpPr txBox="1"/>
          <p:nvPr/>
        </p:nvSpPr>
        <p:spPr>
          <a:xfrm>
            <a:off x="640080" y="1508760"/>
            <a:ext cx="10911535" cy="91440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Viewing, already used since Lecture 6, is the clearest example in this course's schema: a Client views a PropertyForRent, and the relationship itself carries viewDate and comment — facts about that specific viewing event, not about either participant alone.</a:t>
            </a:r>
            <a:endParaRPr lang="en-US" sz="1800" dirty="0"/>
          </a:p>
        </p:txBody>
      </p:sp>
      <p:sp>
        <p:nvSpPr>
          <p:cNvPr id="5" name="Shape 3"/>
          <p:cNvSpPr/>
          <p:nvPr/>
        </p:nvSpPr>
        <p:spPr>
          <a:xfrm>
            <a:off x="640080" y="2651760"/>
            <a:ext cx="2560320" cy="859536"/>
          </a:xfrm>
          <a:prstGeom prst="roundRect">
            <a:avLst>
              <a:gd name="adj" fmla="val 8511"/>
            </a:avLst>
          </a:prstGeom>
          <a:solidFill>
            <a:srgbClr val="FFFFFF"/>
          </a:solidFill>
          <a:ln w="15875">
            <a:solidFill>
              <a:srgbClr val="1F2429"/>
            </a:solidFill>
            <a:prstDash val="solid"/>
          </a:ln>
        </p:spPr>
      </p:sp>
      <p:sp>
        <p:nvSpPr>
          <p:cNvPr id="6" name="Shape 4"/>
          <p:cNvSpPr/>
          <p:nvPr/>
        </p:nvSpPr>
        <p:spPr>
          <a:xfrm>
            <a:off x="640080" y="2651760"/>
            <a:ext cx="2560320" cy="420624"/>
          </a:xfrm>
          <a:prstGeom prst="roundRect">
            <a:avLst>
              <a:gd name="adj" fmla="val 17391"/>
            </a:avLst>
          </a:prstGeom>
          <a:solidFill>
            <a:srgbClr val="2FE6C4"/>
          </a:solidFill>
          <a:ln/>
        </p:spPr>
      </p:sp>
      <p:sp>
        <p:nvSpPr>
          <p:cNvPr id="7" name="Shape 5"/>
          <p:cNvSpPr/>
          <p:nvPr/>
        </p:nvSpPr>
        <p:spPr>
          <a:xfrm>
            <a:off x="640080" y="2862072"/>
            <a:ext cx="2560320" cy="210312"/>
          </a:xfrm>
          <a:prstGeom prst="rect">
            <a:avLst/>
          </a:prstGeom>
          <a:solidFill>
            <a:srgbClr val="2FE6C4"/>
          </a:solidFill>
          <a:ln/>
        </p:spPr>
      </p:sp>
      <p:sp>
        <p:nvSpPr>
          <p:cNvPr id="8" name="Text 6"/>
          <p:cNvSpPr txBox="1"/>
          <p:nvPr/>
        </p:nvSpPr>
        <p:spPr>
          <a:xfrm>
            <a:off x="749808" y="2651760"/>
            <a:ext cx="23408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Client</a:t>
            </a:r>
            <a:endParaRPr lang="en-US" sz="1800" dirty="0"/>
          </a:p>
        </p:txBody>
      </p:sp>
      <p:sp>
        <p:nvSpPr>
          <p:cNvPr id="9" name="Text 7"/>
          <p:cNvSpPr txBox="1"/>
          <p:nvPr/>
        </p:nvSpPr>
        <p:spPr>
          <a:xfrm>
            <a:off x="786384" y="3127248"/>
            <a:ext cx="228600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clientNo</a:t>
            </a:r>
            <a:endParaRPr lang="en-US" sz="1800" dirty="0"/>
          </a:p>
        </p:txBody>
      </p:sp>
      <p:sp>
        <p:nvSpPr>
          <p:cNvPr id="10" name="Shape 8"/>
          <p:cNvSpPr/>
          <p:nvPr/>
        </p:nvSpPr>
        <p:spPr>
          <a:xfrm>
            <a:off x="4663440" y="2514600"/>
            <a:ext cx="2834640" cy="1737360"/>
          </a:xfrm>
          <a:prstGeom prst="roundRect">
            <a:avLst>
              <a:gd name="adj" fmla="val 4211"/>
            </a:avLst>
          </a:prstGeom>
          <a:solidFill>
            <a:srgbClr val="FFFFFF"/>
          </a:solidFill>
          <a:ln w="15875">
            <a:solidFill>
              <a:srgbClr val="1F2429"/>
            </a:solidFill>
            <a:prstDash val="solid"/>
          </a:ln>
        </p:spPr>
      </p:sp>
      <p:sp>
        <p:nvSpPr>
          <p:cNvPr id="11" name="Shape 9"/>
          <p:cNvSpPr/>
          <p:nvPr/>
        </p:nvSpPr>
        <p:spPr>
          <a:xfrm>
            <a:off x="4663440" y="2514600"/>
            <a:ext cx="2834640" cy="420624"/>
          </a:xfrm>
          <a:prstGeom prst="roundRect">
            <a:avLst>
              <a:gd name="adj" fmla="val 17391"/>
            </a:avLst>
          </a:prstGeom>
          <a:solidFill>
            <a:srgbClr val="8B7FD9"/>
          </a:solidFill>
          <a:ln/>
        </p:spPr>
      </p:sp>
      <p:sp>
        <p:nvSpPr>
          <p:cNvPr id="12" name="Shape 10"/>
          <p:cNvSpPr/>
          <p:nvPr/>
        </p:nvSpPr>
        <p:spPr>
          <a:xfrm>
            <a:off x="4663440" y="2724912"/>
            <a:ext cx="2834640" cy="210312"/>
          </a:xfrm>
          <a:prstGeom prst="rect">
            <a:avLst/>
          </a:prstGeom>
          <a:solidFill>
            <a:srgbClr val="8B7FD9"/>
          </a:solidFill>
          <a:ln/>
        </p:spPr>
      </p:sp>
      <p:sp>
        <p:nvSpPr>
          <p:cNvPr id="13" name="Text 11"/>
          <p:cNvSpPr txBox="1"/>
          <p:nvPr/>
        </p:nvSpPr>
        <p:spPr>
          <a:xfrm>
            <a:off x="4773168" y="2514600"/>
            <a:ext cx="261518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Viewing</a:t>
            </a:r>
            <a:endParaRPr lang="en-US" sz="1800" dirty="0"/>
          </a:p>
        </p:txBody>
      </p:sp>
      <p:sp>
        <p:nvSpPr>
          <p:cNvPr id="14" name="Text 12"/>
          <p:cNvSpPr txBox="1"/>
          <p:nvPr/>
        </p:nvSpPr>
        <p:spPr>
          <a:xfrm>
            <a:off x="4809744" y="2990088"/>
            <a:ext cx="2560320" cy="1170432"/>
          </a:xfrm>
          <a:prstGeom prst="rect">
            <a:avLst/>
          </a:prstGeom>
          <a:noFill/>
          <a:ln/>
        </p:spPr>
        <p:txBody>
          <a:bodyPr wrap="square" lIns="0" tIns="0" rIns="0" bIns="0" rtlCol="0" anchor="t"/>
          <a:lstStyle/>
          <a:p>
            <a:pPr indent="0" marL="0">
              <a:lnSpc>
                <a:spcPct val="108000"/>
              </a:lnSpc>
              <a:spcAft>
                <a:spcPts val="100"/>
              </a:spcAft>
              <a:buNone/>
            </a:pPr>
            <a:r>
              <a:rPr lang="en-US" sz="1400" b="1" i="1" u="sng" dirty="0">
                <a:solidFill>
                  <a:srgbClr val="5B6470"/>
                </a:solidFill>
                <a:latin typeface="Calibri" pitchFamily="34" charset="0"/>
                <a:ea typeface="Calibri" pitchFamily="34" charset="-122"/>
                <a:cs typeface="Calibri" pitchFamily="34" charset="-120"/>
              </a:rPr>
              <a:t>clientNo</a:t>
            </a:r>
            <a:endParaRPr lang="en-US" sz="1400" dirty="0"/>
          </a:p>
          <a:p>
            <a:pPr indent="0" marL="0">
              <a:lnSpc>
                <a:spcPct val="108000"/>
              </a:lnSpc>
              <a:spcAft>
                <a:spcPts val="100"/>
              </a:spcAft>
              <a:buNone/>
            </a:pPr>
            <a:r>
              <a:rPr lang="en-US" sz="1400" b="1" i="1" u="sng" dirty="0">
                <a:solidFill>
                  <a:srgbClr val="5B6470"/>
                </a:solidFill>
                <a:latin typeface="Calibri" pitchFamily="34" charset="0"/>
                <a:ea typeface="Calibri" pitchFamily="34" charset="-122"/>
                <a:cs typeface="Calibri" pitchFamily="34" charset="-120"/>
              </a:rPr>
              <a:t>propertyNo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viewDate</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comment</a:t>
            </a:r>
            <a:endParaRPr lang="en-US" sz="1400" dirty="0"/>
          </a:p>
        </p:txBody>
      </p:sp>
      <p:sp>
        <p:nvSpPr>
          <p:cNvPr id="15" name="Shape 13"/>
          <p:cNvSpPr/>
          <p:nvPr/>
        </p:nvSpPr>
        <p:spPr>
          <a:xfrm>
            <a:off x="8778240" y="2651760"/>
            <a:ext cx="2743200" cy="859536"/>
          </a:xfrm>
          <a:prstGeom prst="roundRect">
            <a:avLst>
              <a:gd name="adj" fmla="val 8511"/>
            </a:avLst>
          </a:prstGeom>
          <a:solidFill>
            <a:srgbClr val="FFFFFF"/>
          </a:solidFill>
          <a:ln w="15875">
            <a:solidFill>
              <a:srgbClr val="1F2429"/>
            </a:solidFill>
            <a:prstDash val="solid"/>
          </a:ln>
        </p:spPr>
      </p:sp>
      <p:sp>
        <p:nvSpPr>
          <p:cNvPr id="16" name="Shape 14"/>
          <p:cNvSpPr/>
          <p:nvPr/>
        </p:nvSpPr>
        <p:spPr>
          <a:xfrm>
            <a:off x="8778240" y="2651760"/>
            <a:ext cx="2743200" cy="420624"/>
          </a:xfrm>
          <a:prstGeom prst="roundRect">
            <a:avLst>
              <a:gd name="adj" fmla="val 17391"/>
            </a:avLst>
          </a:prstGeom>
          <a:solidFill>
            <a:srgbClr val="E8A33D"/>
          </a:solidFill>
          <a:ln/>
        </p:spPr>
      </p:sp>
      <p:sp>
        <p:nvSpPr>
          <p:cNvPr id="17" name="Shape 15"/>
          <p:cNvSpPr/>
          <p:nvPr/>
        </p:nvSpPr>
        <p:spPr>
          <a:xfrm>
            <a:off x="8778240" y="2862072"/>
            <a:ext cx="2743200" cy="210312"/>
          </a:xfrm>
          <a:prstGeom prst="rect">
            <a:avLst/>
          </a:prstGeom>
          <a:solidFill>
            <a:srgbClr val="E8A33D"/>
          </a:solidFill>
          <a:ln/>
        </p:spPr>
      </p:sp>
      <p:sp>
        <p:nvSpPr>
          <p:cNvPr id="18" name="Text 16"/>
          <p:cNvSpPr txBox="1"/>
          <p:nvPr/>
        </p:nvSpPr>
        <p:spPr>
          <a:xfrm>
            <a:off x="8887968" y="2651760"/>
            <a:ext cx="252374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PropertyForRent</a:t>
            </a:r>
            <a:endParaRPr lang="en-US" sz="1800" dirty="0"/>
          </a:p>
        </p:txBody>
      </p:sp>
      <p:sp>
        <p:nvSpPr>
          <p:cNvPr id="19" name="Text 17"/>
          <p:cNvSpPr txBox="1"/>
          <p:nvPr/>
        </p:nvSpPr>
        <p:spPr>
          <a:xfrm>
            <a:off x="8924544" y="3127248"/>
            <a:ext cx="246888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propertyNo</a:t>
            </a:r>
            <a:endParaRPr lang="en-US" sz="1800" dirty="0"/>
          </a:p>
        </p:txBody>
      </p:sp>
      <p:sp>
        <p:nvSpPr>
          <p:cNvPr id="20" name="Shape 18"/>
          <p:cNvSpPr/>
          <p:nvPr/>
        </p:nvSpPr>
        <p:spPr>
          <a:xfrm>
            <a:off x="3200400" y="3017520"/>
            <a:ext cx="1463040" cy="9144"/>
          </a:xfrm>
          <a:prstGeom prst="line">
            <a:avLst/>
          </a:prstGeom>
          <a:noFill/>
          <a:ln w="22225">
            <a:solidFill>
              <a:srgbClr val="9AA1A9"/>
            </a:solidFill>
            <a:prstDash val="solid"/>
          </a:ln>
        </p:spPr>
      </p:sp>
      <p:sp>
        <p:nvSpPr>
          <p:cNvPr id="21" name="Shape 19"/>
          <p:cNvSpPr/>
          <p:nvPr/>
        </p:nvSpPr>
        <p:spPr>
          <a:xfrm>
            <a:off x="3383280" y="2834640"/>
            <a:ext cx="274320" cy="274320"/>
          </a:xfrm>
          <a:prstGeom prst="ellipse">
            <a:avLst/>
          </a:prstGeom>
          <a:solidFill>
            <a:srgbClr val="2FE6C4"/>
          </a:solidFill>
          <a:ln/>
        </p:spPr>
      </p:sp>
      <p:sp>
        <p:nvSpPr>
          <p:cNvPr id="22" name="Text 20"/>
          <p:cNvSpPr txBox="1"/>
          <p:nvPr/>
        </p:nvSpPr>
        <p:spPr>
          <a:xfrm>
            <a:off x="3383280" y="283464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23" name="Shape 21"/>
          <p:cNvSpPr/>
          <p:nvPr/>
        </p:nvSpPr>
        <p:spPr>
          <a:xfrm>
            <a:off x="4206240" y="2834640"/>
            <a:ext cx="274320" cy="274320"/>
          </a:xfrm>
          <a:prstGeom prst="ellipse">
            <a:avLst/>
          </a:prstGeom>
          <a:solidFill>
            <a:srgbClr val="E8A33D"/>
          </a:solidFill>
          <a:ln/>
        </p:spPr>
      </p:sp>
      <p:sp>
        <p:nvSpPr>
          <p:cNvPr id="24" name="Text 22"/>
          <p:cNvSpPr txBox="1"/>
          <p:nvPr/>
        </p:nvSpPr>
        <p:spPr>
          <a:xfrm>
            <a:off x="4206240" y="283464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N</a:t>
            </a:r>
            <a:endParaRPr lang="en-US" sz="1200" dirty="0"/>
          </a:p>
        </p:txBody>
      </p:sp>
      <p:sp>
        <p:nvSpPr>
          <p:cNvPr id="25" name="Shape 23"/>
          <p:cNvSpPr/>
          <p:nvPr/>
        </p:nvSpPr>
        <p:spPr>
          <a:xfrm>
            <a:off x="7498080" y="3017520"/>
            <a:ext cx="1280160" cy="9144"/>
          </a:xfrm>
          <a:prstGeom prst="line">
            <a:avLst/>
          </a:prstGeom>
          <a:noFill/>
          <a:ln w="22225">
            <a:solidFill>
              <a:srgbClr val="9AA1A9"/>
            </a:solidFill>
            <a:prstDash val="solid"/>
          </a:ln>
        </p:spPr>
      </p:sp>
      <p:sp>
        <p:nvSpPr>
          <p:cNvPr id="26" name="Shape 24"/>
          <p:cNvSpPr/>
          <p:nvPr/>
        </p:nvSpPr>
        <p:spPr>
          <a:xfrm>
            <a:off x="7589520" y="2834640"/>
            <a:ext cx="274320" cy="274320"/>
          </a:xfrm>
          <a:prstGeom prst="ellipse">
            <a:avLst/>
          </a:prstGeom>
          <a:solidFill>
            <a:srgbClr val="2FE6C4"/>
          </a:solidFill>
          <a:ln/>
        </p:spPr>
      </p:sp>
      <p:sp>
        <p:nvSpPr>
          <p:cNvPr id="27" name="Text 25"/>
          <p:cNvSpPr txBox="1"/>
          <p:nvPr/>
        </p:nvSpPr>
        <p:spPr>
          <a:xfrm>
            <a:off x="7589520" y="283464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N</a:t>
            </a:r>
            <a:endParaRPr lang="en-US" sz="1200" dirty="0"/>
          </a:p>
        </p:txBody>
      </p:sp>
      <p:sp>
        <p:nvSpPr>
          <p:cNvPr id="28" name="Shape 26"/>
          <p:cNvSpPr/>
          <p:nvPr/>
        </p:nvSpPr>
        <p:spPr>
          <a:xfrm>
            <a:off x="8412480" y="2834640"/>
            <a:ext cx="274320" cy="274320"/>
          </a:xfrm>
          <a:prstGeom prst="ellipse">
            <a:avLst/>
          </a:prstGeom>
          <a:solidFill>
            <a:srgbClr val="E8A33D"/>
          </a:solidFill>
          <a:ln/>
        </p:spPr>
      </p:sp>
      <p:sp>
        <p:nvSpPr>
          <p:cNvPr id="29" name="Text 27"/>
          <p:cNvSpPr txBox="1"/>
          <p:nvPr/>
        </p:nvSpPr>
        <p:spPr>
          <a:xfrm>
            <a:off x="8412480" y="283464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30" name="Shape 28"/>
          <p:cNvSpPr/>
          <p:nvPr/>
        </p:nvSpPr>
        <p:spPr>
          <a:xfrm>
            <a:off x="640080" y="4846320"/>
            <a:ext cx="10911535" cy="1554480"/>
          </a:xfrm>
          <a:prstGeom prst="roundRect">
            <a:avLst>
              <a:gd name="adj" fmla="val 4118"/>
            </a:avLst>
          </a:prstGeom>
          <a:solidFill>
            <a:srgbClr val="EAF1FB"/>
          </a:solidFill>
          <a:ln w="12700">
            <a:solidFill>
              <a:srgbClr val="6C8FD6"/>
            </a:solidFill>
            <a:prstDash val="solid"/>
          </a:ln>
        </p:spPr>
      </p:sp>
      <p:sp>
        <p:nvSpPr>
          <p:cNvPr id="31" name="Text 29"/>
          <p:cNvSpPr txBox="1"/>
          <p:nvPr/>
        </p:nvSpPr>
        <p:spPr>
          <a:xfrm>
            <a:off x="896112" y="4992624"/>
            <a:ext cx="10399471" cy="274320"/>
          </a:xfrm>
          <a:prstGeom prst="rect">
            <a:avLst/>
          </a:prstGeom>
          <a:noFill/>
          <a:ln/>
        </p:spPr>
        <p:txBody>
          <a:bodyPr wrap="square" lIns="0" tIns="0" rIns="0" bIns="0" rtlCol="0" anchor="ctr"/>
          <a:lstStyle/>
          <a:p>
            <a:pPr indent="0" marL="0">
              <a:buNone/>
            </a:pPr>
            <a:r>
              <a:rPr lang="en-US" sz="1200" b="1" spc="200" kern="0" dirty="0">
                <a:solidFill>
                  <a:srgbClr val="2C4A8C"/>
                </a:solidFill>
                <a:latin typeface="Calibri" pitchFamily="34" charset="0"/>
                <a:ea typeface="Calibri" pitchFamily="34" charset="-122"/>
                <a:cs typeface="Calibri" pitchFamily="34" charset="-120"/>
              </a:rPr>
              <a:t>WHEN A RELATIONSHIP NEEDS ITS OWN ATTRIBUTES</a:t>
            </a:r>
            <a:endParaRPr lang="en-US" sz="1200" dirty="0"/>
          </a:p>
        </p:txBody>
      </p:sp>
      <p:sp>
        <p:nvSpPr>
          <p:cNvPr id="32" name="Text 30"/>
          <p:cNvSpPr txBox="1"/>
          <p:nvPr/>
        </p:nvSpPr>
        <p:spPr>
          <a:xfrm>
            <a:off x="896112" y="5321808"/>
            <a:ext cx="10399471" cy="91440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Viewing(clientNo, propertyNo, viewDate, comment) — the underlined pair is the composite primary key, each component also a foreign key back into Client and PropertyForRent. Mapped to its own relation (Lecture 16).</a:t>
            </a:r>
            <a:endParaRPr lang="en-US" sz="1800" dirty="0"/>
          </a:p>
        </p:txBody>
      </p:sp>
      <p:sp>
        <p:nvSpPr>
          <p:cNvPr id="33" name="Text 31"/>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CARDINALITY + PARTICIPATION</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Structural Constraints Revisited</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911535" cy="914400"/>
        </p:xfrm>
        <a:graphic>
          <a:graphicData uri="http://schemas.openxmlformats.org/drawingml/2006/table">
            <a:tbl>
              <a:tblPr/>
              <a:tblGrid>
                <a:gridCol w="3637178"/>
                <a:gridCol w="3637178"/>
                <a:gridCol w="3637178"/>
              </a:tblGrid>
              <a:tr h="36576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Multiplicity</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Meaning</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DreamHome example</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r>
              <a:tr h="36576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(0,1)</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Optional, at most one</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Property may have staffNo = NULL</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36576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(1,1)</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Mandatory, exactly one</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Each property has exactly one Branch</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r h="36576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Optional, many</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Staff may manage zero properties</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365760">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Mandatory, at least one</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A PrivateOwner owns at least one property</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bl>
          </a:graphicData>
        </a:graphic>
      </p:graphicFrame>
      <p:sp>
        <p:nvSpPr>
          <p:cNvPr id="5" name="Shape 2"/>
          <p:cNvSpPr/>
          <p:nvPr/>
        </p:nvSpPr>
        <p:spPr>
          <a:xfrm>
            <a:off x="640080" y="3931920"/>
            <a:ext cx="2926080" cy="1152144"/>
          </a:xfrm>
          <a:prstGeom prst="roundRect">
            <a:avLst>
              <a:gd name="adj" fmla="val 6349"/>
            </a:avLst>
          </a:prstGeom>
          <a:solidFill>
            <a:srgbClr val="FFFFFF"/>
          </a:solidFill>
          <a:ln w="15875">
            <a:solidFill>
              <a:srgbClr val="1F2429"/>
            </a:solidFill>
            <a:prstDash val="solid"/>
          </a:ln>
        </p:spPr>
      </p:sp>
      <p:sp>
        <p:nvSpPr>
          <p:cNvPr id="6" name="Shape 3"/>
          <p:cNvSpPr/>
          <p:nvPr/>
        </p:nvSpPr>
        <p:spPr>
          <a:xfrm>
            <a:off x="640080" y="3931920"/>
            <a:ext cx="2926080" cy="420624"/>
          </a:xfrm>
          <a:prstGeom prst="roundRect">
            <a:avLst>
              <a:gd name="adj" fmla="val 17391"/>
            </a:avLst>
          </a:prstGeom>
          <a:solidFill>
            <a:srgbClr val="2FE6C4"/>
          </a:solidFill>
          <a:ln/>
        </p:spPr>
      </p:sp>
      <p:sp>
        <p:nvSpPr>
          <p:cNvPr id="7" name="Shape 4"/>
          <p:cNvSpPr/>
          <p:nvPr/>
        </p:nvSpPr>
        <p:spPr>
          <a:xfrm>
            <a:off x="640080" y="4142232"/>
            <a:ext cx="2926080" cy="210312"/>
          </a:xfrm>
          <a:prstGeom prst="rect">
            <a:avLst/>
          </a:prstGeom>
          <a:solidFill>
            <a:srgbClr val="2FE6C4"/>
          </a:solidFill>
          <a:ln/>
        </p:spPr>
      </p:sp>
      <p:sp>
        <p:nvSpPr>
          <p:cNvPr id="8" name="Text 5"/>
          <p:cNvSpPr txBox="1"/>
          <p:nvPr/>
        </p:nvSpPr>
        <p:spPr>
          <a:xfrm>
            <a:off x="749808" y="3931920"/>
            <a:ext cx="270662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PrivateOwner</a:t>
            </a:r>
            <a:endParaRPr lang="en-US" sz="1800" dirty="0"/>
          </a:p>
        </p:txBody>
      </p:sp>
      <p:sp>
        <p:nvSpPr>
          <p:cNvPr id="9" name="Text 6"/>
          <p:cNvSpPr txBox="1"/>
          <p:nvPr/>
        </p:nvSpPr>
        <p:spPr>
          <a:xfrm>
            <a:off x="786384" y="4407408"/>
            <a:ext cx="265176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ownerNo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name</a:t>
            </a:r>
            <a:endParaRPr lang="en-US" sz="1400" dirty="0"/>
          </a:p>
        </p:txBody>
      </p:sp>
      <p:sp>
        <p:nvSpPr>
          <p:cNvPr id="10" name="Shape 7"/>
          <p:cNvSpPr/>
          <p:nvPr/>
        </p:nvSpPr>
        <p:spPr>
          <a:xfrm>
            <a:off x="7863840" y="3931920"/>
            <a:ext cx="3291840" cy="1152144"/>
          </a:xfrm>
          <a:prstGeom prst="roundRect">
            <a:avLst>
              <a:gd name="adj" fmla="val 6349"/>
            </a:avLst>
          </a:prstGeom>
          <a:solidFill>
            <a:srgbClr val="FFFFFF"/>
          </a:solidFill>
          <a:ln w="15875">
            <a:solidFill>
              <a:srgbClr val="1F2429"/>
            </a:solidFill>
            <a:prstDash val="solid"/>
          </a:ln>
        </p:spPr>
      </p:sp>
      <p:sp>
        <p:nvSpPr>
          <p:cNvPr id="11" name="Shape 8"/>
          <p:cNvSpPr/>
          <p:nvPr/>
        </p:nvSpPr>
        <p:spPr>
          <a:xfrm>
            <a:off x="7863840" y="3931920"/>
            <a:ext cx="3291840" cy="420624"/>
          </a:xfrm>
          <a:prstGeom prst="roundRect">
            <a:avLst>
              <a:gd name="adj" fmla="val 17391"/>
            </a:avLst>
          </a:prstGeom>
          <a:solidFill>
            <a:srgbClr val="E8A33D"/>
          </a:solidFill>
          <a:ln/>
        </p:spPr>
      </p:sp>
      <p:sp>
        <p:nvSpPr>
          <p:cNvPr id="12" name="Shape 9"/>
          <p:cNvSpPr/>
          <p:nvPr/>
        </p:nvSpPr>
        <p:spPr>
          <a:xfrm>
            <a:off x="7863840" y="4142232"/>
            <a:ext cx="3291840" cy="210312"/>
          </a:xfrm>
          <a:prstGeom prst="rect">
            <a:avLst/>
          </a:prstGeom>
          <a:solidFill>
            <a:srgbClr val="E8A33D"/>
          </a:solidFill>
          <a:ln/>
        </p:spPr>
      </p:sp>
      <p:sp>
        <p:nvSpPr>
          <p:cNvPr id="13" name="Text 10"/>
          <p:cNvSpPr txBox="1"/>
          <p:nvPr/>
        </p:nvSpPr>
        <p:spPr>
          <a:xfrm>
            <a:off x="7973568" y="3931920"/>
            <a:ext cx="307238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PropertyForRent</a:t>
            </a:r>
            <a:endParaRPr lang="en-US" sz="1800" dirty="0"/>
          </a:p>
        </p:txBody>
      </p:sp>
      <p:sp>
        <p:nvSpPr>
          <p:cNvPr id="14" name="Text 11"/>
          <p:cNvSpPr txBox="1"/>
          <p:nvPr/>
        </p:nvSpPr>
        <p:spPr>
          <a:xfrm>
            <a:off x="8010144" y="4407408"/>
            <a:ext cx="301752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propertyNo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street</a:t>
            </a:r>
            <a:endParaRPr lang="en-US" sz="1400" dirty="0"/>
          </a:p>
        </p:txBody>
      </p:sp>
      <p:sp>
        <p:nvSpPr>
          <p:cNvPr id="15" name="Shape 12"/>
          <p:cNvSpPr/>
          <p:nvPr/>
        </p:nvSpPr>
        <p:spPr>
          <a:xfrm>
            <a:off x="3566160" y="4343400"/>
            <a:ext cx="4297680" cy="9144"/>
          </a:xfrm>
          <a:prstGeom prst="line">
            <a:avLst/>
          </a:prstGeom>
          <a:noFill/>
          <a:ln w="22225">
            <a:solidFill>
              <a:srgbClr val="9AA1A9"/>
            </a:solidFill>
            <a:prstDash val="solid"/>
          </a:ln>
        </p:spPr>
      </p:sp>
      <p:sp>
        <p:nvSpPr>
          <p:cNvPr id="16" name="Text 13"/>
          <p:cNvSpPr txBox="1"/>
          <p:nvPr/>
        </p:nvSpPr>
        <p:spPr>
          <a:xfrm>
            <a:off x="5029200" y="3959352"/>
            <a:ext cx="137160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Owns</a:t>
            </a:r>
            <a:endParaRPr lang="en-US" sz="1800" dirty="0"/>
          </a:p>
        </p:txBody>
      </p:sp>
      <p:sp>
        <p:nvSpPr>
          <p:cNvPr id="17" name="Shape 14"/>
          <p:cNvSpPr/>
          <p:nvPr/>
        </p:nvSpPr>
        <p:spPr>
          <a:xfrm>
            <a:off x="4633722" y="4160520"/>
            <a:ext cx="1028700" cy="365760"/>
          </a:xfrm>
          <a:prstGeom prst="roundRect">
            <a:avLst>
              <a:gd name="adj" fmla="val 50000"/>
            </a:avLst>
          </a:prstGeom>
          <a:solidFill>
            <a:srgbClr val="2FE6C4"/>
          </a:solidFill>
          <a:ln/>
        </p:spPr>
      </p:sp>
      <p:sp>
        <p:nvSpPr>
          <p:cNvPr id="18" name="Text 15"/>
          <p:cNvSpPr txBox="1"/>
          <p:nvPr/>
        </p:nvSpPr>
        <p:spPr>
          <a:xfrm>
            <a:off x="4633722" y="4160520"/>
            <a:ext cx="1028700" cy="365760"/>
          </a:xfrm>
          <a:prstGeom prst="rect">
            <a:avLst/>
          </a:prstGeom>
          <a:noFill/>
          <a:ln/>
        </p:spPr>
        <p:txBody>
          <a:bodyPr wrap="none" lIns="0" tIns="0" rIns="0" bIns="0" rtlCol="0" anchor="ctr"/>
          <a:lstStyle/>
          <a:p>
            <a:pPr algn="ctr" indent="0" marL="0">
              <a:buNone/>
            </a:pPr>
            <a:r>
              <a:rPr lang="en-US" sz="1800" b="1" dirty="0">
                <a:solidFill>
                  <a:srgbClr val="14181C"/>
                </a:solidFill>
                <a:latin typeface="Calibri" pitchFamily="34" charset="0"/>
                <a:ea typeface="Calibri" pitchFamily="34" charset="-122"/>
                <a:cs typeface="Calibri" pitchFamily="34" charset="-120"/>
              </a:rPr>
              <a:t>(1,*)</a:t>
            </a:r>
            <a:endParaRPr lang="en-US" sz="1800" dirty="0"/>
          </a:p>
        </p:txBody>
      </p:sp>
      <p:sp>
        <p:nvSpPr>
          <p:cNvPr id="19" name="Shape 16"/>
          <p:cNvSpPr/>
          <p:nvPr/>
        </p:nvSpPr>
        <p:spPr>
          <a:xfrm>
            <a:off x="5767578" y="4160520"/>
            <a:ext cx="1028700" cy="365760"/>
          </a:xfrm>
          <a:prstGeom prst="roundRect">
            <a:avLst>
              <a:gd name="adj" fmla="val 50000"/>
            </a:avLst>
          </a:prstGeom>
          <a:solidFill>
            <a:srgbClr val="E8A33D"/>
          </a:solidFill>
          <a:ln/>
        </p:spPr>
      </p:sp>
      <p:sp>
        <p:nvSpPr>
          <p:cNvPr id="20" name="Text 17"/>
          <p:cNvSpPr txBox="1"/>
          <p:nvPr/>
        </p:nvSpPr>
        <p:spPr>
          <a:xfrm>
            <a:off x="5767578" y="4160520"/>
            <a:ext cx="1028700" cy="365760"/>
          </a:xfrm>
          <a:prstGeom prst="rect">
            <a:avLst/>
          </a:prstGeom>
          <a:noFill/>
          <a:ln/>
        </p:spPr>
        <p:txBody>
          <a:bodyPr wrap="none" lIns="0" tIns="0" rIns="0" bIns="0" rtlCol="0" anchor="ctr"/>
          <a:lstStyle/>
          <a:p>
            <a:pPr algn="ctr" indent="0" marL="0">
              <a:buNone/>
            </a:pPr>
            <a:r>
              <a:rPr lang="en-US" sz="1800" b="1" dirty="0">
                <a:solidFill>
                  <a:srgbClr val="14181C"/>
                </a:solidFill>
                <a:latin typeface="Calibri" pitchFamily="34" charset="0"/>
                <a:ea typeface="Calibri" pitchFamily="34" charset="-122"/>
                <a:cs typeface="Calibri" pitchFamily="34" charset="-120"/>
              </a:rPr>
              <a:t>(1,1)</a:t>
            </a:r>
            <a:endParaRPr lang="en-US" sz="1800" dirty="0"/>
          </a:p>
        </p:txBody>
      </p:sp>
      <p:sp>
        <p:nvSpPr>
          <p:cNvPr id="21" name="Shape 18"/>
          <p:cNvSpPr/>
          <p:nvPr/>
        </p:nvSpPr>
        <p:spPr>
          <a:xfrm>
            <a:off x="640080" y="5486400"/>
            <a:ext cx="10911535" cy="914400"/>
          </a:xfrm>
          <a:prstGeom prst="roundRect">
            <a:avLst>
              <a:gd name="adj" fmla="val 7000"/>
            </a:avLst>
          </a:prstGeom>
          <a:solidFill>
            <a:srgbClr val="FCF1E3"/>
          </a:solidFill>
          <a:ln w="12700">
            <a:solidFill>
              <a:srgbClr val="E8A33D"/>
            </a:solidFill>
            <a:prstDash val="solid"/>
          </a:ln>
        </p:spPr>
      </p:sp>
      <p:sp>
        <p:nvSpPr>
          <p:cNvPr id="22" name="Text 19"/>
          <p:cNvSpPr txBox="1"/>
          <p:nvPr/>
        </p:nvSpPr>
        <p:spPr>
          <a:xfrm>
            <a:off x="896112" y="5632704"/>
            <a:ext cx="10399471" cy="274320"/>
          </a:xfrm>
          <a:prstGeom prst="rect">
            <a:avLst/>
          </a:prstGeom>
          <a:noFill/>
          <a:ln/>
        </p:spPr>
        <p:txBody>
          <a:bodyPr wrap="square" lIns="0" tIns="0" rIns="0" bIns="0" rtlCol="0" anchor="ctr"/>
          <a:lstStyle/>
          <a:p>
            <a:pPr indent="0" marL="0">
              <a:buNone/>
            </a:pPr>
            <a:r>
              <a:rPr lang="en-US" sz="1200" b="1" spc="200" kern="0" dirty="0">
                <a:solidFill>
                  <a:srgbClr val="8A5A12"/>
                </a:solidFill>
                <a:latin typeface="Calibri" pitchFamily="34" charset="0"/>
                <a:ea typeface="Calibri" pitchFamily="34" charset="-122"/>
                <a:cs typeface="Calibri" pitchFamily="34" charset="-120"/>
              </a:rPr>
              <a:t>A REAL BUG, NOT A DETAIL</a:t>
            </a:r>
            <a:endParaRPr lang="en-US" sz="1200" dirty="0"/>
          </a:p>
        </p:txBody>
      </p:sp>
      <p:sp>
        <p:nvSpPr>
          <p:cNvPr id="23" name="Text 20"/>
          <p:cNvSpPr txBox="1"/>
          <p:nvPr/>
        </p:nvSpPr>
        <p:spPr>
          <a:xfrm>
            <a:off x="896112" y="5961888"/>
            <a:ext cx="10399471" cy="27432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Writing (0,1) on the owner side would wrongly claim a property can legally have no owner at all.</a:t>
            </a:r>
            <a:endParaRPr lang="en-US" sz="1800" dirty="0"/>
          </a:p>
        </p:txBody>
      </p:sp>
      <p:sp>
        <p:nvSpPr>
          <p:cNvPr id="24" name="Text 21"/>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AVOIDING REDUNDANCY, STEP 1</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Spotting a Redundant Relationship</a:t>
            </a:r>
            <a:endParaRPr lang="en-US" sz="2600" dirty="0"/>
          </a:p>
        </p:txBody>
      </p:sp>
      <p:sp>
        <p:nvSpPr>
          <p:cNvPr id="4" name="Text 2"/>
          <p:cNvSpPr txBox="1"/>
          <p:nvPr/>
        </p:nvSpPr>
        <p:spPr>
          <a:xfrm>
            <a:off x="640080" y="1508760"/>
            <a:ext cx="10911535" cy="82296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A relationship is redundant if it conveys a fact already fully derivable by following a different path in the model. Test: delete this relationship — can I still answer the same question by tracing through others?</a:t>
            </a:r>
            <a:endParaRPr lang="en-US" sz="1800" dirty="0"/>
          </a:p>
        </p:txBody>
      </p:sp>
      <p:sp>
        <p:nvSpPr>
          <p:cNvPr id="5" name="Shape 3"/>
          <p:cNvSpPr/>
          <p:nvPr/>
        </p:nvSpPr>
        <p:spPr>
          <a:xfrm>
            <a:off x="640080" y="2514600"/>
            <a:ext cx="2560320" cy="859536"/>
          </a:xfrm>
          <a:prstGeom prst="roundRect">
            <a:avLst>
              <a:gd name="adj" fmla="val 8511"/>
            </a:avLst>
          </a:prstGeom>
          <a:solidFill>
            <a:srgbClr val="FFFFFF"/>
          </a:solidFill>
          <a:ln w="15875">
            <a:solidFill>
              <a:srgbClr val="1F2429"/>
            </a:solidFill>
            <a:prstDash val="solid"/>
          </a:ln>
        </p:spPr>
      </p:sp>
      <p:sp>
        <p:nvSpPr>
          <p:cNvPr id="6" name="Shape 4"/>
          <p:cNvSpPr/>
          <p:nvPr/>
        </p:nvSpPr>
        <p:spPr>
          <a:xfrm>
            <a:off x="640080" y="2514600"/>
            <a:ext cx="2560320" cy="420624"/>
          </a:xfrm>
          <a:prstGeom prst="roundRect">
            <a:avLst>
              <a:gd name="adj" fmla="val 17391"/>
            </a:avLst>
          </a:prstGeom>
          <a:solidFill>
            <a:srgbClr val="2FE6C4"/>
          </a:solidFill>
          <a:ln/>
        </p:spPr>
      </p:sp>
      <p:sp>
        <p:nvSpPr>
          <p:cNvPr id="7" name="Shape 5"/>
          <p:cNvSpPr/>
          <p:nvPr/>
        </p:nvSpPr>
        <p:spPr>
          <a:xfrm>
            <a:off x="640080" y="2724912"/>
            <a:ext cx="2560320" cy="210312"/>
          </a:xfrm>
          <a:prstGeom prst="rect">
            <a:avLst/>
          </a:prstGeom>
          <a:solidFill>
            <a:srgbClr val="2FE6C4"/>
          </a:solidFill>
          <a:ln/>
        </p:spPr>
      </p:sp>
      <p:sp>
        <p:nvSpPr>
          <p:cNvPr id="8" name="Text 6"/>
          <p:cNvSpPr txBox="1"/>
          <p:nvPr/>
        </p:nvSpPr>
        <p:spPr>
          <a:xfrm>
            <a:off x="749808" y="2514600"/>
            <a:ext cx="23408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PrivateOwner</a:t>
            </a:r>
            <a:endParaRPr lang="en-US" sz="1800" dirty="0"/>
          </a:p>
        </p:txBody>
      </p:sp>
      <p:sp>
        <p:nvSpPr>
          <p:cNvPr id="9" name="Text 7"/>
          <p:cNvSpPr txBox="1"/>
          <p:nvPr/>
        </p:nvSpPr>
        <p:spPr>
          <a:xfrm>
            <a:off x="786384" y="2990088"/>
            <a:ext cx="228600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ownerNo</a:t>
            </a:r>
            <a:endParaRPr lang="en-US" sz="1800" dirty="0"/>
          </a:p>
        </p:txBody>
      </p:sp>
      <p:sp>
        <p:nvSpPr>
          <p:cNvPr id="10" name="Shape 8"/>
          <p:cNvSpPr/>
          <p:nvPr/>
        </p:nvSpPr>
        <p:spPr>
          <a:xfrm>
            <a:off x="4663440" y="2377440"/>
            <a:ext cx="2834640" cy="1152144"/>
          </a:xfrm>
          <a:prstGeom prst="roundRect">
            <a:avLst>
              <a:gd name="adj" fmla="val 6349"/>
            </a:avLst>
          </a:prstGeom>
          <a:solidFill>
            <a:srgbClr val="FFFFFF"/>
          </a:solidFill>
          <a:ln w="15875">
            <a:solidFill>
              <a:srgbClr val="1F2429"/>
            </a:solidFill>
            <a:prstDash val="solid"/>
          </a:ln>
        </p:spPr>
      </p:sp>
      <p:sp>
        <p:nvSpPr>
          <p:cNvPr id="11" name="Shape 9"/>
          <p:cNvSpPr/>
          <p:nvPr/>
        </p:nvSpPr>
        <p:spPr>
          <a:xfrm>
            <a:off x="4663440" y="2377440"/>
            <a:ext cx="2834640" cy="420624"/>
          </a:xfrm>
          <a:prstGeom prst="roundRect">
            <a:avLst>
              <a:gd name="adj" fmla="val 17391"/>
            </a:avLst>
          </a:prstGeom>
          <a:solidFill>
            <a:srgbClr val="D96B4C"/>
          </a:solidFill>
          <a:ln/>
        </p:spPr>
      </p:sp>
      <p:sp>
        <p:nvSpPr>
          <p:cNvPr id="12" name="Shape 10"/>
          <p:cNvSpPr/>
          <p:nvPr/>
        </p:nvSpPr>
        <p:spPr>
          <a:xfrm>
            <a:off x="4663440" y="2587752"/>
            <a:ext cx="2834640" cy="210312"/>
          </a:xfrm>
          <a:prstGeom prst="rect">
            <a:avLst/>
          </a:prstGeom>
          <a:solidFill>
            <a:srgbClr val="D96B4C"/>
          </a:solidFill>
          <a:ln/>
        </p:spPr>
      </p:sp>
      <p:sp>
        <p:nvSpPr>
          <p:cNvPr id="13" name="Text 11"/>
          <p:cNvSpPr txBox="1"/>
          <p:nvPr/>
        </p:nvSpPr>
        <p:spPr>
          <a:xfrm>
            <a:off x="4773168" y="2377440"/>
            <a:ext cx="261518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PropertyForRent</a:t>
            </a:r>
            <a:endParaRPr lang="en-US" sz="1800" dirty="0"/>
          </a:p>
        </p:txBody>
      </p:sp>
      <p:sp>
        <p:nvSpPr>
          <p:cNvPr id="14" name="Text 12"/>
          <p:cNvSpPr txBox="1"/>
          <p:nvPr/>
        </p:nvSpPr>
        <p:spPr>
          <a:xfrm>
            <a:off x="4809744" y="2852928"/>
            <a:ext cx="256032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propertyNo</a:t>
            </a:r>
            <a:endParaRPr lang="en-US" sz="1400" dirty="0"/>
          </a:p>
          <a:p>
            <a:pPr indent="0" marL="0">
              <a:lnSpc>
                <a:spcPct val="108000"/>
              </a:lnSpc>
              <a:spcAft>
                <a:spcPts val="100"/>
              </a:spcAft>
              <a:buNone/>
            </a:pPr>
            <a:r>
              <a:rPr lang="en-US" sz="1400" i="1" dirty="0">
                <a:solidFill>
                  <a:srgbClr val="5B6470"/>
                </a:solidFill>
                <a:latin typeface="Calibri" pitchFamily="34" charset="0"/>
                <a:ea typeface="Calibri" pitchFamily="34" charset="-122"/>
                <a:cs typeface="Calibri" pitchFamily="34" charset="-120"/>
              </a:rPr>
              <a:t>branchNo</a:t>
            </a:r>
            <a:endParaRPr lang="en-US" sz="1400" dirty="0"/>
          </a:p>
        </p:txBody>
      </p:sp>
      <p:sp>
        <p:nvSpPr>
          <p:cNvPr id="15" name="Shape 13"/>
          <p:cNvSpPr/>
          <p:nvPr/>
        </p:nvSpPr>
        <p:spPr>
          <a:xfrm>
            <a:off x="8778240" y="2514600"/>
            <a:ext cx="2560320" cy="859536"/>
          </a:xfrm>
          <a:prstGeom prst="roundRect">
            <a:avLst>
              <a:gd name="adj" fmla="val 8511"/>
            </a:avLst>
          </a:prstGeom>
          <a:solidFill>
            <a:srgbClr val="FFFFFF"/>
          </a:solidFill>
          <a:ln w="15875">
            <a:solidFill>
              <a:srgbClr val="1F2429"/>
            </a:solidFill>
            <a:prstDash val="solid"/>
          </a:ln>
        </p:spPr>
      </p:sp>
      <p:sp>
        <p:nvSpPr>
          <p:cNvPr id="16" name="Shape 14"/>
          <p:cNvSpPr/>
          <p:nvPr/>
        </p:nvSpPr>
        <p:spPr>
          <a:xfrm>
            <a:off x="8778240" y="2514600"/>
            <a:ext cx="2560320" cy="420624"/>
          </a:xfrm>
          <a:prstGeom prst="roundRect">
            <a:avLst>
              <a:gd name="adj" fmla="val 17391"/>
            </a:avLst>
          </a:prstGeom>
          <a:solidFill>
            <a:srgbClr val="E8A33D"/>
          </a:solidFill>
          <a:ln/>
        </p:spPr>
      </p:sp>
      <p:sp>
        <p:nvSpPr>
          <p:cNvPr id="17" name="Shape 15"/>
          <p:cNvSpPr/>
          <p:nvPr/>
        </p:nvSpPr>
        <p:spPr>
          <a:xfrm>
            <a:off x="8778240" y="2724912"/>
            <a:ext cx="2560320" cy="210312"/>
          </a:xfrm>
          <a:prstGeom prst="rect">
            <a:avLst/>
          </a:prstGeom>
          <a:solidFill>
            <a:srgbClr val="E8A33D"/>
          </a:solidFill>
          <a:ln/>
        </p:spPr>
      </p:sp>
      <p:sp>
        <p:nvSpPr>
          <p:cNvPr id="18" name="Text 16"/>
          <p:cNvSpPr txBox="1"/>
          <p:nvPr/>
        </p:nvSpPr>
        <p:spPr>
          <a:xfrm>
            <a:off x="8887968" y="2514600"/>
            <a:ext cx="23408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Branch</a:t>
            </a:r>
            <a:endParaRPr lang="en-US" sz="1800" dirty="0"/>
          </a:p>
        </p:txBody>
      </p:sp>
      <p:sp>
        <p:nvSpPr>
          <p:cNvPr id="19" name="Text 17"/>
          <p:cNvSpPr txBox="1"/>
          <p:nvPr/>
        </p:nvSpPr>
        <p:spPr>
          <a:xfrm>
            <a:off x="8924544" y="2990088"/>
            <a:ext cx="228600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branchNo</a:t>
            </a:r>
            <a:endParaRPr lang="en-US" sz="1800" dirty="0"/>
          </a:p>
        </p:txBody>
      </p:sp>
      <p:sp>
        <p:nvSpPr>
          <p:cNvPr id="20" name="Shape 18"/>
          <p:cNvSpPr/>
          <p:nvPr/>
        </p:nvSpPr>
        <p:spPr>
          <a:xfrm>
            <a:off x="3200400" y="2880360"/>
            <a:ext cx="1463040" cy="9144"/>
          </a:xfrm>
          <a:prstGeom prst="line">
            <a:avLst/>
          </a:prstGeom>
          <a:noFill/>
          <a:ln w="22225">
            <a:solidFill>
              <a:srgbClr val="9AA1A9"/>
            </a:solidFill>
            <a:prstDash val="solid"/>
          </a:ln>
        </p:spPr>
      </p:sp>
      <p:sp>
        <p:nvSpPr>
          <p:cNvPr id="21" name="Text 19"/>
          <p:cNvSpPr txBox="1"/>
          <p:nvPr/>
        </p:nvSpPr>
        <p:spPr>
          <a:xfrm>
            <a:off x="3246120" y="2496312"/>
            <a:ext cx="137160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Owns</a:t>
            </a:r>
            <a:endParaRPr lang="en-US" sz="1800" dirty="0"/>
          </a:p>
        </p:txBody>
      </p:sp>
      <p:sp>
        <p:nvSpPr>
          <p:cNvPr id="22" name="Shape 20"/>
          <p:cNvSpPr/>
          <p:nvPr/>
        </p:nvSpPr>
        <p:spPr>
          <a:xfrm>
            <a:off x="3383280" y="2697480"/>
            <a:ext cx="274320" cy="274320"/>
          </a:xfrm>
          <a:prstGeom prst="ellipse">
            <a:avLst/>
          </a:prstGeom>
          <a:solidFill>
            <a:srgbClr val="2FE6C4"/>
          </a:solidFill>
          <a:ln/>
        </p:spPr>
      </p:sp>
      <p:sp>
        <p:nvSpPr>
          <p:cNvPr id="23" name="Text 21"/>
          <p:cNvSpPr txBox="1"/>
          <p:nvPr/>
        </p:nvSpPr>
        <p:spPr>
          <a:xfrm>
            <a:off x="3383280" y="269748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24" name="Shape 22"/>
          <p:cNvSpPr/>
          <p:nvPr/>
        </p:nvSpPr>
        <p:spPr>
          <a:xfrm>
            <a:off x="4206240" y="2697480"/>
            <a:ext cx="274320" cy="274320"/>
          </a:xfrm>
          <a:prstGeom prst="ellipse">
            <a:avLst/>
          </a:prstGeom>
          <a:solidFill>
            <a:srgbClr val="E8A33D"/>
          </a:solidFill>
          <a:ln/>
        </p:spPr>
      </p:sp>
      <p:sp>
        <p:nvSpPr>
          <p:cNvPr id="25" name="Text 23"/>
          <p:cNvSpPr txBox="1"/>
          <p:nvPr/>
        </p:nvSpPr>
        <p:spPr>
          <a:xfrm>
            <a:off x="4206240" y="269748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N</a:t>
            </a:r>
            <a:endParaRPr lang="en-US" sz="1200" dirty="0"/>
          </a:p>
        </p:txBody>
      </p:sp>
      <p:sp>
        <p:nvSpPr>
          <p:cNvPr id="26" name="Shape 24"/>
          <p:cNvSpPr/>
          <p:nvPr/>
        </p:nvSpPr>
        <p:spPr>
          <a:xfrm>
            <a:off x="7498080" y="2880360"/>
            <a:ext cx="1280160" cy="9144"/>
          </a:xfrm>
          <a:prstGeom prst="line">
            <a:avLst/>
          </a:prstGeom>
          <a:noFill/>
          <a:ln w="22225">
            <a:solidFill>
              <a:srgbClr val="9AA1A9"/>
            </a:solidFill>
            <a:prstDash val="solid"/>
          </a:ln>
        </p:spPr>
      </p:sp>
      <p:sp>
        <p:nvSpPr>
          <p:cNvPr id="27" name="Text 25"/>
          <p:cNvSpPr txBox="1"/>
          <p:nvPr/>
        </p:nvSpPr>
        <p:spPr>
          <a:xfrm>
            <a:off x="7424928" y="2496312"/>
            <a:ext cx="1426464"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Registers</a:t>
            </a:r>
            <a:endParaRPr lang="en-US" sz="1800" dirty="0"/>
          </a:p>
        </p:txBody>
      </p:sp>
      <p:sp>
        <p:nvSpPr>
          <p:cNvPr id="28" name="Shape 26"/>
          <p:cNvSpPr/>
          <p:nvPr/>
        </p:nvSpPr>
        <p:spPr>
          <a:xfrm>
            <a:off x="7589520" y="2697480"/>
            <a:ext cx="274320" cy="274320"/>
          </a:xfrm>
          <a:prstGeom prst="ellipse">
            <a:avLst/>
          </a:prstGeom>
          <a:solidFill>
            <a:srgbClr val="2FE6C4"/>
          </a:solidFill>
          <a:ln/>
        </p:spPr>
      </p:sp>
      <p:sp>
        <p:nvSpPr>
          <p:cNvPr id="29" name="Text 27"/>
          <p:cNvSpPr txBox="1"/>
          <p:nvPr/>
        </p:nvSpPr>
        <p:spPr>
          <a:xfrm>
            <a:off x="7589520" y="269748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N</a:t>
            </a:r>
            <a:endParaRPr lang="en-US" sz="1200" dirty="0"/>
          </a:p>
        </p:txBody>
      </p:sp>
      <p:sp>
        <p:nvSpPr>
          <p:cNvPr id="30" name="Shape 28"/>
          <p:cNvSpPr/>
          <p:nvPr/>
        </p:nvSpPr>
        <p:spPr>
          <a:xfrm>
            <a:off x="8412480" y="2697480"/>
            <a:ext cx="274320" cy="274320"/>
          </a:xfrm>
          <a:prstGeom prst="ellipse">
            <a:avLst/>
          </a:prstGeom>
          <a:solidFill>
            <a:srgbClr val="E8A33D"/>
          </a:solidFill>
          <a:ln/>
        </p:spPr>
      </p:sp>
      <p:sp>
        <p:nvSpPr>
          <p:cNvPr id="31" name="Text 29"/>
          <p:cNvSpPr txBox="1"/>
          <p:nvPr/>
        </p:nvSpPr>
        <p:spPr>
          <a:xfrm>
            <a:off x="8412480" y="269748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32" name="Text 30"/>
          <p:cNvSpPr txBox="1"/>
          <p:nvPr/>
        </p:nvSpPr>
        <p:spPr>
          <a:xfrm>
            <a:off x="6400800" y="3429000"/>
            <a:ext cx="4206240" cy="457200"/>
          </a:xfrm>
          <a:prstGeom prst="rect">
            <a:avLst/>
          </a:prstGeom>
          <a:noFill/>
          <a:ln/>
        </p:spPr>
        <p:txBody>
          <a:bodyPr wrap="square" lIns="0" tIns="0" rIns="0" bIns="0" rtlCol="0" anchor="ctr"/>
          <a:lstStyle/>
          <a:p>
            <a:pPr algn="ctr" indent="0" marL="0">
              <a:buNone/>
            </a:pPr>
            <a:r>
              <a:rPr lang="en-US" sz="1800" i="1" dirty="0">
                <a:solidFill>
                  <a:srgbClr val="B03A2E"/>
                </a:solidFill>
                <a:latin typeface="Calibri" pitchFamily="34" charset="0"/>
                <a:ea typeface="Calibri" pitchFamily="34" charset="-122"/>
                <a:cs typeface="Calibri" pitchFamily="34" charset="-120"/>
              </a:rPr>
              <a:t>▲ redundant — duplicates the path PropertyForRent.branchNo already gives</a:t>
            </a:r>
            <a:endParaRPr lang="en-US" sz="1800" dirty="0"/>
          </a:p>
        </p:txBody>
      </p:sp>
      <p:sp>
        <p:nvSpPr>
          <p:cNvPr id="33" name="Shape 31"/>
          <p:cNvSpPr/>
          <p:nvPr/>
        </p:nvSpPr>
        <p:spPr>
          <a:xfrm>
            <a:off x="640080" y="4251960"/>
            <a:ext cx="10911535" cy="1965960"/>
          </a:xfrm>
          <a:prstGeom prst="roundRect">
            <a:avLst>
              <a:gd name="adj" fmla="val 3256"/>
            </a:avLst>
          </a:prstGeom>
          <a:solidFill>
            <a:srgbClr val="EAF1FB"/>
          </a:solidFill>
          <a:ln w="12700">
            <a:solidFill>
              <a:srgbClr val="6C8FD6"/>
            </a:solidFill>
            <a:prstDash val="solid"/>
          </a:ln>
        </p:spPr>
      </p:sp>
      <p:sp>
        <p:nvSpPr>
          <p:cNvPr id="34" name="Text 32"/>
          <p:cNvSpPr txBox="1"/>
          <p:nvPr/>
        </p:nvSpPr>
        <p:spPr>
          <a:xfrm>
            <a:off x="896112" y="4398264"/>
            <a:ext cx="10399471" cy="274320"/>
          </a:xfrm>
          <a:prstGeom prst="rect">
            <a:avLst/>
          </a:prstGeom>
          <a:noFill/>
          <a:ln/>
        </p:spPr>
        <p:txBody>
          <a:bodyPr wrap="square" lIns="0" tIns="0" rIns="0" bIns="0" rtlCol="0" anchor="ctr"/>
          <a:lstStyle/>
          <a:p>
            <a:pPr indent="0" marL="0">
              <a:buNone/>
            </a:pPr>
            <a:r>
              <a:rPr lang="en-US" sz="1200" b="1" spc="200" kern="0" dirty="0">
                <a:solidFill>
                  <a:srgbClr val="2C4A8C"/>
                </a:solidFill>
                <a:latin typeface="Calibri" pitchFamily="34" charset="0"/>
                <a:ea typeface="Calibri" pitchFamily="34" charset="-122"/>
                <a:cs typeface="Calibri" pitchFamily="34" charset="-120"/>
              </a:rPr>
              <a:t>THE LOOK-ACROSS TEST</a:t>
            </a:r>
            <a:endParaRPr lang="en-US" sz="1200" dirty="0"/>
          </a:p>
        </p:txBody>
      </p:sp>
      <p:sp>
        <p:nvSpPr>
          <p:cNvPr id="35" name="Text 33"/>
          <p:cNvSpPr txBox="1"/>
          <p:nvPr/>
        </p:nvSpPr>
        <p:spPr>
          <a:xfrm>
            <a:off x="896112" y="4727448"/>
            <a:ext cx="10399471" cy="132588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If PropertyForRent already carries branchNo directly, “which branch handles property P's paperwork” is already answerable. A third relationship claiming owners register with branches adds nothing but a second, possibly inconsistent, place for the same fact to live. Relationships that merely SHARE an entity type (Manages and Owns both touch PropertyForRent) are NOT automatically redundant — only when the SAME fact is representable two different ways.</a:t>
            </a:r>
            <a:endParaRPr lang="en-US" sz="1800" dirty="0"/>
          </a:p>
        </p:txBody>
      </p:sp>
      <p:sp>
        <p:nvSpPr>
          <p:cNvPr id="36" name="Text 34"/>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AVOIDING REDUNDANCY, STEP 2</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Redundancy — Corrected</a:t>
            </a:r>
            <a:endParaRPr lang="en-US" sz="2600" dirty="0"/>
          </a:p>
        </p:txBody>
      </p:sp>
      <p:sp>
        <p:nvSpPr>
          <p:cNvPr id="4" name="Shape 2"/>
          <p:cNvSpPr/>
          <p:nvPr/>
        </p:nvSpPr>
        <p:spPr>
          <a:xfrm>
            <a:off x="640080" y="1737360"/>
            <a:ext cx="2651760" cy="859536"/>
          </a:xfrm>
          <a:prstGeom prst="roundRect">
            <a:avLst>
              <a:gd name="adj" fmla="val 8511"/>
            </a:avLst>
          </a:prstGeom>
          <a:solidFill>
            <a:srgbClr val="FFFFFF"/>
          </a:solidFill>
          <a:ln w="15875">
            <a:solidFill>
              <a:srgbClr val="1F2429"/>
            </a:solidFill>
            <a:prstDash val="solid"/>
          </a:ln>
        </p:spPr>
      </p:sp>
      <p:sp>
        <p:nvSpPr>
          <p:cNvPr id="5" name="Shape 3"/>
          <p:cNvSpPr/>
          <p:nvPr/>
        </p:nvSpPr>
        <p:spPr>
          <a:xfrm>
            <a:off x="640080" y="1737360"/>
            <a:ext cx="2651760" cy="420624"/>
          </a:xfrm>
          <a:prstGeom prst="roundRect">
            <a:avLst>
              <a:gd name="adj" fmla="val 17391"/>
            </a:avLst>
          </a:prstGeom>
          <a:solidFill>
            <a:srgbClr val="2FE6C4"/>
          </a:solidFill>
          <a:ln/>
        </p:spPr>
      </p:sp>
      <p:sp>
        <p:nvSpPr>
          <p:cNvPr id="6" name="Shape 4"/>
          <p:cNvSpPr/>
          <p:nvPr/>
        </p:nvSpPr>
        <p:spPr>
          <a:xfrm>
            <a:off x="640080" y="1947672"/>
            <a:ext cx="2651760" cy="210312"/>
          </a:xfrm>
          <a:prstGeom prst="rect">
            <a:avLst/>
          </a:prstGeom>
          <a:solidFill>
            <a:srgbClr val="2FE6C4"/>
          </a:solidFill>
          <a:ln/>
        </p:spPr>
      </p:sp>
      <p:sp>
        <p:nvSpPr>
          <p:cNvPr id="7" name="Text 5"/>
          <p:cNvSpPr txBox="1"/>
          <p:nvPr/>
        </p:nvSpPr>
        <p:spPr>
          <a:xfrm>
            <a:off x="749808" y="1737360"/>
            <a:ext cx="24323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PrivateOwner</a:t>
            </a:r>
            <a:endParaRPr lang="en-US" sz="1800" dirty="0"/>
          </a:p>
        </p:txBody>
      </p:sp>
      <p:sp>
        <p:nvSpPr>
          <p:cNvPr id="8" name="Text 6"/>
          <p:cNvSpPr txBox="1"/>
          <p:nvPr/>
        </p:nvSpPr>
        <p:spPr>
          <a:xfrm>
            <a:off x="786384" y="2212848"/>
            <a:ext cx="237744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ownerNo</a:t>
            </a:r>
            <a:endParaRPr lang="en-US" sz="1800" dirty="0"/>
          </a:p>
        </p:txBody>
      </p:sp>
      <p:sp>
        <p:nvSpPr>
          <p:cNvPr id="9" name="Shape 7"/>
          <p:cNvSpPr/>
          <p:nvPr/>
        </p:nvSpPr>
        <p:spPr>
          <a:xfrm>
            <a:off x="4754880" y="1600200"/>
            <a:ext cx="2926080" cy="1152144"/>
          </a:xfrm>
          <a:prstGeom prst="roundRect">
            <a:avLst>
              <a:gd name="adj" fmla="val 6349"/>
            </a:avLst>
          </a:prstGeom>
          <a:solidFill>
            <a:srgbClr val="FFFFFF"/>
          </a:solidFill>
          <a:ln w="15875">
            <a:solidFill>
              <a:srgbClr val="1F2429"/>
            </a:solidFill>
            <a:prstDash val="solid"/>
          </a:ln>
        </p:spPr>
      </p:sp>
      <p:sp>
        <p:nvSpPr>
          <p:cNvPr id="10" name="Shape 8"/>
          <p:cNvSpPr/>
          <p:nvPr/>
        </p:nvSpPr>
        <p:spPr>
          <a:xfrm>
            <a:off x="4754880" y="1600200"/>
            <a:ext cx="2926080" cy="420624"/>
          </a:xfrm>
          <a:prstGeom prst="roundRect">
            <a:avLst>
              <a:gd name="adj" fmla="val 17391"/>
            </a:avLst>
          </a:prstGeom>
          <a:solidFill>
            <a:srgbClr val="2FE6C4"/>
          </a:solidFill>
          <a:ln/>
        </p:spPr>
      </p:sp>
      <p:sp>
        <p:nvSpPr>
          <p:cNvPr id="11" name="Shape 9"/>
          <p:cNvSpPr/>
          <p:nvPr/>
        </p:nvSpPr>
        <p:spPr>
          <a:xfrm>
            <a:off x="4754880" y="1810512"/>
            <a:ext cx="2926080" cy="210312"/>
          </a:xfrm>
          <a:prstGeom prst="rect">
            <a:avLst/>
          </a:prstGeom>
          <a:solidFill>
            <a:srgbClr val="2FE6C4"/>
          </a:solidFill>
          <a:ln/>
        </p:spPr>
      </p:sp>
      <p:sp>
        <p:nvSpPr>
          <p:cNvPr id="12" name="Text 10"/>
          <p:cNvSpPr txBox="1"/>
          <p:nvPr/>
        </p:nvSpPr>
        <p:spPr>
          <a:xfrm>
            <a:off x="4864608" y="1600200"/>
            <a:ext cx="270662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PropertyForRent</a:t>
            </a:r>
            <a:endParaRPr lang="en-US" sz="1800" dirty="0"/>
          </a:p>
        </p:txBody>
      </p:sp>
      <p:sp>
        <p:nvSpPr>
          <p:cNvPr id="13" name="Text 11"/>
          <p:cNvSpPr txBox="1"/>
          <p:nvPr/>
        </p:nvSpPr>
        <p:spPr>
          <a:xfrm>
            <a:off x="4901184" y="2075688"/>
            <a:ext cx="265176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propertyNo</a:t>
            </a:r>
            <a:endParaRPr lang="en-US" sz="1400" dirty="0"/>
          </a:p>
          <a:p>
            <a:pPr indent="0" marL="0">
              <a:lnSpc>
                <a:spcPct val="108000"/>
              </a:lnSpc>
              <a:spcAft>
                <a:spcPts val="100"/>
              </a:spcAft>
              <a:buNone/>
            </a:pPr>
            <a:r>
              <a:rPr lang="en-US" sz="1400" i="1" dirty="0">
                <a:solidFill>
                  <a:srgbClr val="5B6470"/>
                </a:solidFill>
                <a:latin typeface="Calibri" pitchFamily="34" charset="0"/>
                <a:ea typeface="Calibri" pitchFamily="34" charset="-122"/>
                <a:cs typeface="Calibri" pitchFamily="34" charset="-120"/>
              </a:rPr>
              <a:t>branchNo</a:t>
            </a:r>
            <a:endParaRPr lang="en-US" sz="1400" dirty="0"/>
          </a:p>
        </p:txBody>
      </p:sp>
      <p:sp>
        <p:nvSpPr>
          <p:cNvPr id="14" name="Shape 12"/>
          <p:cNvSpPr/>
          <p:nvPr/>
        </p:nvSpPr>
        <p:spPr>
          <a:xfrm>
            <a:off x="8961120" y="1737360"/>
            <a:ext cx="2560320" cy="859536"/>
          </a:xfrm>
          <a:prstGeom prst="roundRect">
            <a:avLst>
              <a:gd name="adj" fmla="val 8511"/>
            </a:avLst>
          </a:prstGeom>
          <a:solidFill>
            <a:srgbClr val="FFFFFF"/>
          </a:solidFill>
          <a:ln w="15875">
            <a:solidFill>
              <a:srgbClr val="1F2429"/>
            </a:solidFill>
            <a:prstDash val="solid"/>
          </a:ln>
        </p:spPr>
      </p:sp>
      <p:sp>
        <p:nvSpPr>
          <p:cNvPr id="15" name="Shape 13"/>
          <p:cNvSpPr/>
          <p:nvPr/>
        </p:nvSpPr>
        <p:spPr>
          <a:xfrm>
            <a:off x="8961120" y="1737360"/>
            <a:ext cx="2560320" cy="420624"/>
          </a:xfrm>
          <a:prstGeom prst="roundRect">
            <a:avLst>
              <a:gd name="adj" fmla="val 17391"/>
            </a:avLst>
          </a:prstGeom>
          <a:solidFill>
            <a:srgbClr val="2FE6C4"/>
          </a:solidFill>
          <a:ln/>
        </p:spPr>
      </p:sp>
      <p:sp>
        <p:nvSpPr>
          <p:cNvPr id="16" name="Shape 14"/>
          <p:cNvSpPr/>
          <p:nvPr/>
        </p:nvSpPr>
        <p:spPr>
          <a:xfrm>
            <a:off x="8961120" y="1947672"/>
            <a:ext cx="2560320" cy="210312"/>
          </a:xfrm>
          <a:prstGeom prst="rect">
            <a:avLst/>
          </a:prstGeom>
          <a:solidFill>
            <a:srgbClr val="2FE6C4"/>
          </a:solidFill>
          <a:ln/>
        </p:spPr>
      </p:sp>
      <p:sp>
        <p:nvSpPr>
          <p:cNvPr id="17" name="Text 15"/>
          <p:cNvSpPr txBox="1"/>
          <p:nvPr/>
        </p:nvSpPr>
        <p:spPr>
          <a:xfrm>
            <a:off x="9070848" y="1737360"/>
            <a:ext cx="23408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Branch</a:t>
            </a:r>
            <a:endParaRPr lang="en-US" sz="1800" dirty="0"/>
          </a:p>
        </p:txBody>
      </p:sp>
      <p:sp>
        <p:nvSpPr>
          <p:cNvPr id="18" name="Text 16"/>
          <p:cNvSpPr txBox="1"/>
          <p:nvPr/>
        </p:nvSpPr>
        <p:spPr>
          <a:xfrm>
            <a:off x="9107424" y="2212848"/>
            <a:ext cx="228600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branchNo</a:t>
            </a:r>
            <a:endParaRPr lang="en-US" sz="1800" dirty="0"/>
          </a:p>
        </p:txBody>
      </p:sp>
      <p:sp>
        <p:nvSpPr>
          <p:cNvPr id="19" name="Shape 17"/>
          <p:cNvSpPr/>
          <p:nvPr/>
        </p:nvSpPr>
        <p:spPr>
          <a:xfrm>
            <a:off x="3291840" y="2103120"/>
            <a:ext cx="1463040" cy="9144"/>
          </a:xfrm>
          <a:prstGeom prst="line">
            <a:avLst/>
          </a:prstGeom>
          <a:noFill/>
          <a:ln w="22225">
            <a:solidFill>
              <a:srgbClr val="9AA1A9"/>
            </a:solidFill>
            <a:prstDash val="solid"/>
          </a:ln>
        </p:spPr>
      </p:sp>
      <p:sp>
        <p:nvSpPr>
          <p:cNvPr id="20" name="Text 18"/>
          <p:cNvSpPr txBox="1"/>
          <p:nvPr/>
        </p:nvSpPr>
        <p:spPr>
          <a:xfrm>
            <a:off x="3337560" y="1719072"/>
            <a:ext cx="137160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Owns</a:t>
            </a:r>
            <a:endParaRPr lang="en-US" sz="1800" dirty="0"/>
          </a:p>
        </p:txBody>
      </p:sp>
      <p:sp>
        <p:nvSpPr>
          <p:cNvPr id="21" name="Shape 19"/>
          <p:cNvSpPr/>
          <p:nvPr/>
        </p:nvSpPr>
        <p:spPr>
          <a:xfrm>
            <a:off x="3474720" y="1920240"/>
            <a:ext cx="274320" cy="274320"/>
          </a:xfrm>
          <a:prstGeom prst="ellipse">
            <a:avLst/>
          </a:prstGeom>
          <a:solidFill>
            <a:srgbClr val="2FE6C4"/>
          </a:solidFill>
          <a:ln/>
        </p:spPr>
      </p:sp>
      <p:sp>
        <p:nvSpPr>
          <p:cNvPr id="22" name="Text 20"/>
          <p:cNvSpPr txBox="1"/>
          <p:nvPr/>
        </p:nvSpPr>
        <p:spPr>
          <a:xfrm>
            <a:off x="3474720" y="192024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23" name="Shape 21"/>
          <p:cNvSpPr/>
          <p:nvPr/>
        </p:nvSpPr>
        <p:spPr>
          <a:xfrm>
            <a:off x="4297680" y="1920240"/>
            <a:ext cx="274320" cy="274320"/>
          </a:xfrm>
          <a:prstGeom prst="ellipse">
            <a:avLst/>
          </a:prstGeom>
          <a:solidFill>
            <a:srgbClr val="E8A33D"/>
          </a:solidFill>
          <a:ln/>
        </p:spPr>
      </p:sp>
      <p:sp>
        <p:nvSpPr>
          <p:cNvPr id="24" name="Text 22"/>
          <p:cNvSpPr txBox="1"/>
          <p:nvPr/>
        </p:nvSpPr>
        <p:spPr>
          <a:xfrm>
            <a:off x="4297680" y="192024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N</a:t>
            </a:r>
            <a:endParaRPr lang="en-US" sz="1200" dirty="0"/>
          </a:p>
        </p:txBody>
      </p:sp>
      <p:sp>
        <p:nvSpPr>
          <p:cNvPr id="25" name="Shape 23"/>
          <p:cNvSpPr/>
          <p:nvPr/>
        </p:nvSpPr>
        <p:spPr>
          <a:xfrm>
            <a:off x="7680960" y="2103120"/>
            <a:ext cx="1280160" cy="9144"/>
          </a:xfrm>
          <a:prstGeom prst="line">
            <a:avLst/>
          </a:prstGeom>
          <a:noFill/>
          <a:ln w="22225">
            <a:solidFill>
              <a:srgbClr val="9AA1A9"/>
            </a:solidFill>
            <a:prstDash val="solid"/>
          </a:ln>
        </p:spPr>
      </p:sp>
      <p:sp>
        <p:nvSpPr>
          <p:cNvPr id="26" name="Text 24"/>
          <p:cNvSpPr txBox="1"/>
          <p:nvPr/>
        </p:nvSpPr>
        <p:spPr>
          <a:xfrm>
            <a:off x="7543800" y="1719072"/>
            <a:ext cx="155448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Located–In</a:t>
            </a:r>
            <a:endParaRPr lang="en-US" sz="1800" dirty="0"/>
          </a:p>
        </p:txBody>
      </p:sp>
      <p:sp>
        <p:nvSpPr>
          <p:cNvPr id="27" name="Shape 25"/>
          <p:cNvSpPr/>
          <p:nvPr/>
        </p:nvSpPr>
        <p:spPr>
          <a:xfrm>
            <a:off x="7772400" y="1920240"/>
            <a:ext cx="274320" cy="274320"/>
          </a:xfrm>
          <a:prstGeom prst="ellipse">
            <a:avLst/>
          </a:prstGeom>
          <a:solidFill>
            <a:srgbClr val="2FE6C4"/>
          </a:solidFill>
          <a:ln/>
        </p:spPr>
      </p:sp>
      <p:sp>
        <p:nvSpPr>
          <p:cNvPr id="28" name="Text 26"/>
          <p:cNvSpPr txBox="1"/>
          <p:nvPr/>
        </p:nvSpPr>
        <p:spPr>
          <a:xfrm>
            <a:off x="7772400" y="192024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N</a:t>
            </a:r>
            <a:endParaRPr lang="en-US" sz="1200" dirty="0"/>
          </a:p>
        </p:txBody>
      </p:sp>
      <p:sp>
        <p:nvSpPr>
          <p:cNvPr id="29" name="Shape 27"/>
          <p:cNvSpPr/>
          <p:nvPr/>
        </p:nvSpPr>
        <p:spPr>
          <a:xfrm>
            <a:off x="8595360" y="1920240"/>
            <a:ext cx="274320" cy="274320"/>
          </a:xfrm>
          <a:prstGeom prst="ellipse">
            <a:avLst/>
          </a:prstGeom>
          <a:solidFill>
            <a:srgbClr val="E8A33D"/>
          </a:solidFill>
          <a:ln/>
        </p:spPr>
      </p:sp>
      <p:sp>
        <p:nvSpPr>
          <p:cNvPr id="30" name="Text 28"/>
          <p:cNvSpPr txBox="1"/>
          <p:nvPr/>
        </p:nvSpPr>
        <p:spPr>
          <a:xfrm>
            <a:off x="8595360" y="192024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31" name="Text 29"/>
          <p:cNvSpPr txBox="1"/>
          <p:nvPr/>
        </p:nvSpPr>
        <p:spPr>
          <a:xfrm>
            <a:off x="640080" y="3108960"/>
            <a:ext cx="10911535" cy="457200"/>
          </a:xfrm>
          <a:prstGeom prst="rect">
            <a:avLst/>
          </a:prstGeom>
          <a:noFill/>
          <a:ln/>
        </p:spPr>
        <p:txBody>
          <a:bodyPr wrap="square" lIns="0" tIns="0" rIns="0" bIns="0" rtlCol="0" anchor="ctr"/>
          <a:lstStyle/>
          <a:p>
            <a:pPr algn="ctr" indent="0" marL="0">
              <a:buNone/>
            </a:pPr>
            <a:r>
              <a:rPr lang="en-US" sz="1800" i="1" dirty="0">
                <a:solidFill>
                  <a:srgbClr val="6B7280"/>
                </a:solidFill>
                <a:latin typeface="Calibri" pitchFamily="34" charset="0"/>
                <a:ea typeface="Calibri" pitchFamily="34" charset="-122"/>
                <a:cs typeface="Calibri" pitchFamily="34" charset="-120"/>
              </a:rPr>
              <a:t>The Registers relationship is simply gone — not replaced, not merged, deleted.</a:t>
            </a:r>
            <a:endParaRPr lang="en-US" sz="1800" dirty="0"/>
          </a:p>
        </p:txBody>
      </p:sp>
      <p:sp>
        <p:nvSpPr>
          <p:cNvPr id="32" name="Shape 30"/>
          <p:cNvSpPr/>
          <p:nvPr/>
        </p:nvSpPr>
        <p:spPr>
          <a:xfrm>
            <a:off x="640080" y="3749040"/>
            <a:ext cx="10911535" cy="2651760"/>
          </a:xfrm>
          <a:prstGeom prst="roundRect">
            <a:avLst>
              <a:gd name="adj" fmla="val 2414"/>
            </a:avLst>
          </a:prstGeom>
          <a:solidFill>
            <a:srgbClr val="E9F9F3"/>
          </a:solidFill>
          <a:ln w="12700">
            <a:solidFill>
              <a:srgbClr val="1FAE8C"/>
            </a:solidFill>
            <a:prstDash val="solid"/>
          </a:ln>
        </p:spPr>
      </p:sp>
      <p:sp>
        <p:nvSpPr>
          <p:cNvPr id="33" name="Text 31"/>
          <p:cNvSpPr txBox="1"/>
          <p:nvPr/>
        </p:nvSpPr>
        <p:spPr>
          <a:xfrm>
            <a:off x="896112" y="3895344"/>
            <a:ext cx="10399471" cy="274320"/>
          </a:xfrm>
          <a:prstGeom prst="rect">
            <a:avLst/>
          </a:prstGeom>
          <a:noFill/>
          <a:ln/>
        </p:spPr>
        <p:txBody>
          <a:bodyPr wrap="square" lIns="0" tIns="0" rIns="0" bIns="0" rtlCol="0" anchor="ctr"/>
          <a:lstStyle/>
          <a:p>
            <a:pPr indent="0" marL="0">
              <a:buNone/>
            </a:pPr>
            <a:r>
              <a:rPr lang="en-US" sz="1200" b="1" spc="200" kern="0" dirty="0">
                <a:solidFill>
                  <a:srgbClr val="0E7A61"/>
                </a:solidFill>
                <a:latin typeface="Calibri" pitchFamily="34" charset="0"/>
                <a:ea typeface="Calibri" pitchFamily="34" charset="-122"/>
                <a:cs typeface="Calibri" pitchFamily="34" charset="-120"/>
              </a:rPr>
              <a:t>WHAT CHANGED AND WHY</a:t>
            </a:r>
            <a:endParaRPr lang="en-US" sz="1200" dirty="0"/>
          </a:p>
        </p:txBody>
      </p:sp>
      <p:sp>
        <p:nvSpPr>
          <p:cNvPr id="34" name="Text 32"/>
          <p:cNvSpPr txBox="1"/>
          <p:nvPr/>
        </p:nvSpPr>
        <p:spPr>
          <a:xfrm>
            <a:off x="896112" y="4224528"/>
            <a:ext cx="10399471" cy="201168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What changed, and why: PropertyForRent.branchNo (from Owns → the property's own Located-In relationship to Branch) already answers “which branch handles this property's paperwork” for every property, every time. Removing Registers doesn't lose any fact the model could answer before — it only removes a SECOND place that same fact could (and eventually would) drift out of sync. This is the general fix for every redundancy case: delete the duplicate path, never try to keep two copies synchronized by hand or by trigger.</a:t>
            </a:r>
            <a:endParaRPr lang="en-US" sz="1800" dirty="0"/>
          </a:p>
        </p:txBody>
      </p:sp>
      <p:sp>
        <p:nvSpPr>
          <p:cNvPr id="35" name="Text 33"/>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A PREVIEW</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A First Taste of Generalization / Specialization</a:t>
            </a:r>
            <a:endParaRPr lang="en-US" sz="2600" dirty="0"/>
          </a:p>
        </p:txBody>
      </p:sp>
      <p:sp>
        <p:nvSpPr>
          <p:cNvPr id="4" name="Text 2"/>
          <p:cNvSpPr txBox="1"/>
          <p:nvPr/>
        </p:nvSpPr>
        <p:spPr>
          <a:xfrm>
            <a:off x="640080" y="1508760"/>
            <a:ext cx="10911535" cy="82296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Staff at a growing agency needs to distinguish SalesPersonnel (salesArea, carAllowance) from Manager (bonus) — both still Staff, sharing staffNo/name/position/salary, but each needs attributes the OTHER doesn't.</a:t>
            </a:r>
            <a:endParaRPr lang="en-US" sz="1800" dirty="0"/>
          </a:p>
        </p:txBody>
      </p:sp>
      <p:sp>
        <p:nvSpPr>
          <p:cNvPr id="5" name="Shape 3"/>
          <p:cNvSpPr/>
          <p:nvPr/>
        </p:nvSpPr>
        <p:spPr>
          <a:xfrm>
            <a:off x="4023360" y="2423160"/>
            <a:ext cx="4114800" cy="1152144"/>
          </a:xfrm>
          <a:prstGeom prst="roundRect">
            <a:avLst>
              <a:gd name="adj" fmla="val 6349"/>
            </a:avLst>
          </a:prstGeom>
          <a:solidFill>
            <a:srgbClr val="FFFFFF"/>
          </a:solidFill>
          <a:ln w="15875">
            <a:solidFill>
              <a:srgbClr val="1F2429"/>
            </a:solidFill>
            <a:prstDash val="solid"/>
          </a:ln>
        </p:spPr>
      </p:sp>
      <p:sp>
        <p:nvSpPr>
          <p:cNvPr id="6" name="Shape 4"/>
          <p:cNvSpPr/>
          <p:nvPr/>
        </p:nvSpPr>
        <p:spPr>
          <a:xfrm>
            <a:off x="4023360" y="2423160"/>
            <a:ext cx="4114800" cy="420624"/>
          </a:xfrm>
          <a:prstGeom prst="roundRect">
            <a:avLst>
              <a:gd name="adj" fmla="val 17391"/>
            </a:avLst>
          </a:prstGeom>
          <a:solidFill>
            <a:srgbClr val="14181C"/>
          </a:solidFill>
          <a:ln/>
        </p:spPr>
      </p:sp>
      <p:sp>
        <p:nvSpPr>
          <p:cNvPr id="7" name="Shape 5"/>
          <p:cNvSpPr/>
          <p:nvPr/>
        </p:nvSpPr>
        <p:spPr>
          <a:xfrm>
            <a:off x="4023360" y="2633472"/>
            <a:ext cx="4114800" cy="210312"/>
          </a:xfrm>
          <a:prstGeom prst="rect">
            <a:avLst/>
          </a:prstGeom>
          <a:solidFill>
            <a:srgbClr val="14181C"/>
          </a:solidFill>
          <a:ln/>
        </p:spPr>
      </p:sp>
      <p:sp>
        <p:nvSpPr>
          <p:cNvPr id="8" name="Text 6"/>
          <p:cNvSpPr txBox="1"/>
          <p:nvPr/>
        </p:nvSpPr>
        <p:spPr>
          <a:xfrm>
            <a:off x="4133088" y="2423160"/>
            <a:ext cx="3895344" cy="420624"/>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Staff (superclass)</a:t>
            </a:r>
            <a:endParaRPr lang="en-US" sz="1800" dirty="0"/>
          </a:p>
        </p:txBody>
      </p:sp>
      <p:sp>
        <p:nvSpPr>
          <p:cNvPr id="9" name="Text 7"/>
          <p:cNvSpPr txBox="1"/>
          <p:nvPr/>
        </p:nvSpPr>
        <p:spPr>
          <a:xfrm>
            <a:off x="4169664" y="2898648"/>
            <a:ext cx="384048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staffNo</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name, position, salary</a:t>
            </a:r>
            <a:endParaRPr lang="en-US" sz="1400" dirty="0"/>
          </a:p>
        </p:txBody>
      </p:sp>
      <p:sp>
        <p:nvSpPr>
          <p:cNvPr id="10" name="Shape 8"/>
          <p:cNvSpPr/>
          <p:nvPr/>
        </p:nvSpPr>
        <p:spPr>
          <a:xfrm>
            <a:off x="640080" y="3931920"/>
            <a:ext cx="3291840" cy="1152144"/>
          </a:xfrm>
          <a:prstGeom prst="roundRect">
            <a:avLst>
              <a:gd name="adj" fmla="val 6349"/>
            </a:avLst>
          </a:prstGeom>
          <a:solidFill>
            <a:srgbClr val="FFFFFF"/>
          </a:solidFill>
          <a:ln w="15875">
            <a:solidFill>
              <a:srgbClr val="1F2429"/>
            </a:solidFill>
            <a:prstDash val="solid"/>
          </a:ln>
        </p:spPr>
      </p:sp>
      <p:sp>
        <p:nvSpPr>
          <p:cNvPr id="11" name="Shape 9"/>
          <p:cNvSpPr/>
          <p:nvPr/>
        </p:nvSpPr>
        <p:spPr>
          <a:xfrm>
            <a:off x="640080" y="3931920"/>
            <a:ext cx="3291840" cy="420624"/>
          </a:xfrm>
          <a:prstGeom prst="roundRect">
            <a:avLst>
              <a:gd name="adj" fmla="val 17391"/>
            </a:avLst>
          </a:prstGeom>
          <a:solidFill>
            <a:srgbClr val="2FE6C4"/>
          </a:solidFill>
          <a:ln/>
        </p:spPr>
      </p:sp>
      <p:sp>
        <p:nvSpPr>
          <p:cNvPr id="12" name="Shape 10"/>
          <p:cNvSpPr/>
          <p:nvPr/>
        </p:nvSpPr>
        <p:spPr>
          <a:xfrm>
            <a:off x="640080" y="4142232"/>
            <a:ext cx="3291840" cy="210312"/>
          </a:xfrm>
          <a:prstGeom prst="rect">
            <a:avLst/>
          </a:prstGeom>
          <a:solidFill>
            <a:srgbClr val="2FE6C4"/>
          </a:solidFill>
          <a:ln/>
        </p:spPr>
      </p:sp>
      <p:sp>
        <p:nvSpPr>
          <p:cNvPr id="13" name="Text 11"/>
          <p:cNvSpPr txBox="1"/>
          <p:nvPr/>
        </p:nvSpPr>
        <p:spPr>
          <a:xfrm>
            <a:off x="749808" y="3931920"/>
            <a:ext cx="307238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SalesPersonnel</a:t>
            </a:r>
            <a:endParaRPr lang="en-US" sz="1800" dirty="0"/>
          </a:p>
        </p:txBody>
      </p:sp>
      <p:sp>
        <p:nvSpPr>
          <p:cNvPr id="14" name="Text 12"/>
          <p:cNvSpPr txBox="1"/>
          <p:nvPr/>
        </p:nvSpPr>
        <p:spPr>
          <a:xfrm>
            <a:off x="786384" y="4407408"/>
            <a:ext cx="3017520" cy="585216"/>
          </a:xfrm>
          <a:prstGeom prst="rect">
            <a:avLst/>
          </a:prstGeom>
          <a:noFill/>
          <a:ln/>
        </p:spPr>
        <p:txBody>
          <a:bodyPr wrap="square" lIns="0" tIns="0" rIns="0" bIns="0" rtlCol="0" anchor="t"/>
          <a:lstStyle/>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salesArea</a:t>
            </a:r>
            <a:endParaRPr lang="en-US" sz="1400" dirty="0"/>
          </a:p>
          <a:p>
            <a:pPr indent="0" marL="0">
              <a:lnSpc>
                <a:spcPct val="108000"/>
              </a:lnSpc>
              <a:spcAft>
                <a:spcPts val="100"/>
              </a:spcAft>
              <a:buNone/>
            </a:pPr>
            <a:r>
              <a:rPr lang="en-US" sz="1400" dirty="0">
                <a:solidFill>
                  <a:srgbClr val="1F2429"/>
                </a:solidFill>
                <a:latin typeface="Calibri" pitchFamily="34" charset="0"/>
                <a:ea typeface="Calibri" pitchFamily="34" charset="-122"/>
                <a:cs typeface="Calibri" pitchFamily="34" charset="-120"/>
              </a:rPr>
              <a:t>carAllowance</a:t>
            </a:r>
            <a:endParaRPr lang="en-US" sz="1400" dirty="0"/>
          </a:p>
        </p:txBody>
      </p:sp>
      <p:sp>
        <p:nvSpPr>
          <p:cNvPr id="15" name="Shape 13"/>
          <p:cNvSpPr/>
          <p:nvPr/>
        </p:nvSpPr>
        <p:spPr>
          <a:xfrm>
            <a:off x="8503920" y="3931920"/>
            <a:ext cx="3017520" cy="859536"/>
          </a:xfrm>
          <a:prstGeom prst="roundRect">
            <a:avLst>
              <a:gd name="adj" fmla="val 8511"/>
            </a:avLst>
          </a:prstGeom>
          <a:solidFill>
            <a:srgbClr val="FFFFFF"/>
          </a:solidFill>
          <a:ln w="15875">
            <a:solidFill>
              <a:srgbClr val="1F2429"/>
            </a:solidFill>
            <a:prstDash val="solid"/>
          </a:ln>
        </p:spPr>
      </p:sp>
      <p:sp>
        <p:nvSpPr>
          <p:cNvPr id="16" name="Shape 14"/>
          <p:cNvSpPr/>
          <p:nvPr/>
        </p:nvSpPr>
        <p:spPr>
          <a:xfrm>
            <a:off x="8503920" y="3931920"/>
            <a:ext cx="3017520" cy="420624"/>
          </a:xfrm>
          <a:prstGeom prst="roundRect">
            <a:avLst>
              <a:gd name="adj" fmla="val 17391"/>
            </a:avLst>
          </a:prstGeom>
          <a:solidFill>
            <a:srgbClr val="E8A33D"/>
          </a:solidFill>
          <a:ln/>
        </p:spPr>
      </p:sp>
      <p:sp>
        <p:nvSpPr>
          <p:cNvPr id="17" name="Shape 15"/>
          <p:cNvSpPr/>
          <p:nvPr/>
        </p:nvSpPr>
        <p:spPr>
          <a:xfrm>
            <a:off x="8503920" y="4142232"/>
            <a:ext cx="3017520" cy="210312"/>
          </a:xfrm>
          <a:prstGeom prst="rect">
            <a:avLst/>
          </a:prstGeom>
          <a:solidFill>
            <a:srgbClr val="E8A33D"/>
          </a:solidFill>
          <a:ln/>
        </p:spPr>
      </p:sp>
      <p:sp>
        <p:nvSpPr>
          <p:cNvPr id="18" name="Text 16"/>
          <p:cNvSpPr txBox="1"/>
          <p:nvPr/>
        </p:nvSpPr>
        <p:spPr>
          <a:xfrm>
            <a:off x="8613648" y="3931920"/>
            <a:ext cx="27980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Manager</a:t>
            </a:r>
            <a:endParaRPr lang="en-US" sz="1800" dirty="0"/>
          </a:p>
        </p:txBody>
      </p:sp>
      <p:sp>
        <p:nvSpPr>
          <p:cNvPr id="19" name="Text 17"/>
          <p:cNvSpPr txBox="1"/>
          <p:nvPr/>
        </p:nvSpPr>
        <p:spPr>
          <a:xfrm>
            <a:off x="8650224" y="4407408"/>
            <a:ext cx="2743200" cy="292608"/>
          </a:xfrm>
          <a:prstGeom prst="rect">
            <a:avLst/>
          </a:prstGeom>
          <a:noFill/>
          <a:ln/>
        </p:spPr>
        <p:txBody>
          <a:bodyPr wrap="square" lIns="0" tIns="0" rIns="0" bIns="0" rtlCol="0" anchor="t"/>
          <a:lstStyle/>
          <a:p>
            <a:pPr indent="0" marL="0">
              <a:lnSpc>
                <a:spcPct val="108000"/>
              </a:lnSpc>
              <a:spcAft>
                <a:spcPts val="100"/>
              </a:spcAft>
              <a:buNone/>
            </a:pPr>
            <a:r>
              <a:rPr lang="en-US" sz="1800" dirty="0">
                <a:solidFill>
                  <a:srgbClr val="1F2429"/>
                </a:solidFill>
                <a:latin typeface="Calibri" pitchFamily="34" charset="0"/>
                <a:ea typeface="Calibri" pitchFamily="34" charset="-122"/>
                <a:cs typeface="Calibri" pitchFamily="34" charset="-120"/>
              </a:rPr>
              <a:t>bonus</a:t>
            </a:r>
            <a:endParaRPr lang="en-US" sz="1800" dirty="0"/>
          </a:p>
        </p:txBody>
      </p:sp>
      <p:sp>
        <p:nvSpPr>
          <p:cNvPr id="20" name="Shape 18"/>
          <p:cNvSpPr/>
          <p:nvPr/>
        </p:nvSpPr>
        <p:spPr>
          <a:xfrm>
            <a:off x="3657600" y="3154680"/>
            <a:ext cx="1920240" cy="777240"/>
          </a:xfrm>
          <a:prstGeom prst="line">
            <a:avLst/>
          </a:prstGeom>
          <a:noFill/>
          <a:ln w="22225">
            <a:solidFill>
              <a:srgbClr val="9AA1A9"/>
            </a:solidFill>
            <a:prstDash val="solid"/>
          </a:ln>
        </p:spPr>
      </p:sp>
      <p:sp>
        <p:nvSpPr>
          <p:cNvPr id="21" name="Shape 19"/>
          <p:cNvSpPr/>
          <p:nvPr/>
        </p:nvSpPr>
        <p:spPr>
          <a:xfrm>
            <a:off x="6080760" y="3154680"/>
            <a:ext cx="3063240" cy="777240"/>
          </a:xfrm>
          <a:prstGeom prst="line">
            <a:avLst/>
          </a:prstGeom>
          <a:noFill/>
          <a:ln w="22225">
            <a:solidFill>
              <a:srgbClr val="9AA1A9"/>
            </a:solidFill>
            <a:prstDash val="solid"/>
          </a:ln>
        </p:spPr>
      </p:sp>
      <p:sp>
        <p:nvSpPr>
          <p:cNvPr id="22" name="Shape 20"/>
          <p:cNvSpPr/>
          <p:nvPr/>
        </p:nvSpPr>
        <p:spPr>
          <a:xfrm>
            <a:off x="640080" y="5120640"/>
            <a:ext cx="10911535" cy="1234440"/>
          </a:xfrm>
          <a:prstGeom prst="roundRect">
            <a:avLst>
              <a:gd name="adj" fmla="val 5185"/>
            </a:avLst>
          </a:prstGeom>
          <a:solidFill>
            <a:srgbClr val="FCF1E3"/>
          </a:solidFill>
          <a:ln w="12700">
            <a:solidFill>
              <a:srgbClr val="E8A33D"/>
            </a:solidFill>
            <a:prstDash val="solid"/>
          </a:ln>
        </p:spPr>
      </p:sp>
      <p:sp>
        <p:nvSpPr>
          <p:cNvPr id="23" name="Text 21"/>
          <p:cNvSpPr txBox="1"/>
          <p:nvPr/>
        </p:nvSpPr>
        <p:spPr>
          <a:xfrm>
            <a:off x="896112" y="5266944"/>
            <a:ext cx="10399471" cy="274320"/>
          </a:xfrm>
          <a:prstGeom prst="rect">
            <a:avLst/>
          </a:prstGeom>
          <a:noFill/>
          <a:ln/>
        </p:spPr>
        <p:txBody>
          <a:bodyPr wrap="square" lIns="0" tIns="0" rIns="0" bIns="0" rtlCol="0" anchor="ctr"/>
          <a:lstStyle/>
          <a:p>
            <a:pPr indent="0" marL="0">
              <a:buNone/>
            </a:pPr>
            <a:r>
              <a:rPr lang="en-US" sz="1200" b="1" spc="200" kern="0" dirty="0">
                <a:solidFill>
                  <a:srgbClr val="8A5A12"/>
                </a:solidFill>
                <a:latin typeface="Calibri" pitchFamily="34" charset="0"/>
                <a:ea typeface="Calibri" pitchFamily="34" charset="-122"/>
                <a:cs typeface="Calibri" pitchFamily="34" charset="-120"/>
              </a:rPr>
              <a:t>PLAIN ER HAS NO CLEAN WAY TO EXPRESS THIS</a:t>
            </a:r>
            <a:endParaRPr lang="en-US" sz="1200" dirty="0"/>
          </a:p>
        </p:txBody>
      </p:sp>
      <p:sp>
        <p:nvSpPr>
          <p:cNvPr id="24" name="Text 22"/>
          <p:cNvSpPr txBox="1"/>
          <p:nvPr/>
        </p:nvSpPr>
        <p:spPr>
          <a:xfrm>
            <a:off x="896112" y="5596128"/>
            <a:ext cx="10399471" cy="59436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Plain ER forces either NULLs on most rows or duplicated attributes across unrelated entities. Lecture 14's EER model exists to close this gap.</a:t>
            </a:r>
            <a:endParaRPr lang="en-US" sz="1800" dirty="0"/>
          </a:p>
        </p:txBody>
      </p:sp>
      <p:sp>
        <p:nvSpPr>
          <p:cNvPr id="25" name="Text 23"/>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NAMED ER MODELING ERROR #1</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Fan Trap — the Setup</a:t>
            </a:r>
            <a:endParaRPr lang="en-US" sz="2600" dirty="0"/>
          </a:p>
        </p:txBody>
      </p:sp>
      <p:sp>
        <p:nvSpPr>
          <p:cNvPr id="4" name="Text 2"/>
          <p:cNvSpPr txBox="1"/>
          <p:nvPr/>
        </p:nvSpPr>
        <p:spPr>
          <a:xfrm>
            <a:off x="640080" y="1508760"/>
            <a:ext cx="10911535" cy="82296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A fan trap occurs when two or more 1:N relationships radiate from a SINGLE entity type, and a question needs to relate occurrences on the “many” side of one to the “many” side of the other.</a:t>
            </a:r>
            <a:endParaRPr lang="en-US" sz="1800" dirty="0"/>
          </a:p>
        </p:txBody>
      </p:sp>
      <p:sp>
        <p:nvSpPr>
          <p:cNvPr id="5" name="Shape 3"/>
          <p:cNvSpPr/>
          <p:nvPr/>
        </p:nvSpPr>
        <p:spPr>
          <a:xfrm>
            <a:off x="640080" y="2514600"/>
            <a:ext cx="2651760" cy="859536"/>
          </a:xfrm>
          <a:prstGeom prst="roundRect">
            <a:avLst>
              <a:gd name="adj" fmla="val 8511"/>
            </a:avLst>
          </a:prstGeom>
          <a:solidFill>
            <a:srgbClr val="FFFFFF"/>
          </a:solidFill>
          <a:ln w="15875">
            <a:solidFill>
              <a:srgbClr val="1F2429"/>
            </a:solidFill>
            <a:prstDash val="solid"/>
          </a:ln>
        </p:spPr>
      </p:sp>
      <p:sp>
        <p:nvSpPr>
          <p:cNvPr id="6" name="Shape 4"/>
          <p:cNvSpPr/>
          <p:nvPr/>
        </p:nvSpPr>
        <p:spPr>
          <a:xfrm>
            <a:off x="640080" y="2514600"/>
            <a:ext cx="2651760" cy="420624"/>
          </a:xfrm>
          <a:prstGeom prst="roundRect">
            <a:avLst>
              <a:gd name="adj" fmla="val 17391"/>
            </a:avLst>
          </a:prstGeom>
          <a:solidFill>
            <a:srgbClr val="2FE6C4"/>
          </a:solidFill>
          <a:ln/>
        </p:spPr>
      </p:sp>
      <p:sp>
        <p:nvSpPr>
          <p:cNvPr id="7" name="Shape 5"/>
          <p:cNvSpPr/>
          <p:nvPr/>
        </p:nvSpPr>
        <p:spPr>
          <a:xfrm>
            <a:off x="640080" y="2724912"/>
            <a:ext cx="2651760" cy="210312"/>
          </a:xfrm>
          <a:prstGeom prst="rect">
            <a:avLst/>
          </a:prstGeom>
          <a:solidFill>
            <a:srgbClr val="2FE6C4"/>
          </a:solidFill>
          <a:ln/>
        </p:spPr>
      </p:sp>
      <p:sp>
        <p:nvSpPr>
          <p:cNvPr id="8" name="Text 6"/>
          <p:cNvSpPr txBox="1"/>
          <p:nvPr/>
        </p:nvSpPr>
        <p:spPr>
          <a:xfrm>
            <a:off x="749808" y="2514600"/>
            <a:ext cx="24323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Staff</a:t>
            </a:r>
            <a:endParaRPr lang="en-US" sz="1800" dirty="0"/>
          </a:p>
        </p:txBody>
      </p:sp>
      <p:sp>
        <p:nvSpPr>
          <p:cNvPr id="9" name="Text 7"/>
          <p:cNvSpPr txBox="1"/>
          <p:nvPr/>
        </p:nvSpPr>
        <p:spPr>
          <a:xfrm>
            <a:off x="786384" y="2990088"/>
            <a:ext cx="237744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staffNo</a:t>
            </a:r>
            <a:endParaRPr lang="en-US" sz="1800" dirty="0"/>
          </a:p>
        </p:txBody>
      </p:sp>
      <p:sp>
        <p:nvSpPr>
          <p:cNvPr id="10" name="Shape 8"/>
          <p:cNvSpPr/>
          <p:nvPr/>
        </p:nvSpPr>
        <p:spPr>
          <a:xfrm>
            <a:off x="4754880" y="2514600"/>
            <a:ext cx="2651760" cy="859536"/>
          </a:xfrm>
          <a:prstGeom prst="roundRect">
            <a:avLst>
              <a:gd name="adj" fmla="val 8511"/>
            </a:avLst>
          </a:prstGeom>
          <a:solidFill>
            <a:srgbClr val="FFFFFF"/>
          </a:solidFill>
          <a:ln w="15875">
            <a:solidFill>
              <a:srgbClr val="1F2429"/>
            </a:solidFill>
            <a:prstDash val="solid"/>
          </a:ln>
        </p:spPr>
      </p:sp>
      <p:sp>
        <p:nvSpPr>
          <p:cNvPr id="11" name="Shape 9"/>
          <p:cNvSpPr/>
          <p:nvPr/>
        </p:nvSpPr>
        <p:spPr>
          <a:xfrm>
            <a:off x="4754880" y="2514600"/>
            <a:ext cx="2651760" cy="420624"/>
          </a:xfrm>
          <a:prstGeom prst="roundRect">
            <a:avLst>
              <a:gd name="adj" fmla="val 17391"/>
            </a:avLst>
          </a:prstGeom>
          <a:solidFill>
            <a:srgbClr val="E8A33D"/>
          </a:solidFill>
          <a:ln/>
        </p:spPr>
      </p:sp>
      <p:sp>
        <p:nvSpPr>
          <p:cNvPr id="12" name="Shape 10"/>
          <p:cNvSpPr/>
          <p:nvPr/>
        </p:nvSpPr>
        <p:spPr>
          <a:xfrm>
            <a:off x="4754880" y="2724912"/>
            <a:ext cx="2651760" cy="210312"/>
          </a:xfrm>
          <a:prstGeom prst="rect">
            <a:avLst/>
          </a:prstGeom>
          <a:solidFill>
            <a:srgbClr val="E8A33D"/>
          </a:solidFill>
          <a:ln/>
        </p:spPr>
      </p:sp>
      <p:sp>
        <p:nvSpPr>
          <p:cNvPr id="13" name="Text 11"/>
          <p:cNvSpPr txBox="1"/>
          <p:nvPr/>
        </p:nvSpPr>
        <p:spPr>
          <a:xfrm>
            <a:off x="4864608" y="2514600"/>
            <a:ext cx="24323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Branch</a:t>
            </a:r>
            <a:endParaRPr lang="en-US" sz="1800" dirty="0"/>
          </a:p>
        </p:txBody>
      </p:sp>
      <p:sp>
        <p:nvSpPr>
          <p:cNvPr id="14" name="Text 12"/>
          <p:cNvSpPr txBox="1"/>
          <p:nvPr/>
        </p:nvSpPr>
        <p:spPr>
          <a:xfrm>
            <a:off x="4901184" y="2990088"/>
            <a:ext cx="237744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branchNo</a:t>
            </a:r>
            <a:endParaRPr lang="en-US" sz="1800" dirty="0"/>
          </a:p>
        </p:txBody>
      </p:sp>
      <p:sp>
        <p:nvSpPr>
          <p:cNvPr id="15" name="Shape 13"/>
          <p:cNvSpPr/>
          <p:nvPr/>
        </p:nvSpPr>
        <p:spPr>
          <a:xfrm>
            <a:off x="9601200" y="2514600"/>
            <a:ext cx="2103120" cy="859536"/>
          </a:xfrm>
          <a:prstGeom prst="roundRect">
            <a:avLst>
              <a:gd name="adj" fmla="val 8511"/>
            </a:avLst>
          </a:prstGeom>
          <a:solidFill>
            <a:srgbClr val="FFFFFF"/>
          </a:solidFill>
          <a:ln w="15875">
            <a:solidFill>
              <a:srgbClr val="1F2429"/>
            </a:solidFill>
            <a:prstDash val="solid"/>
          </a:ln>
        </p:spPr>
      </p:sp>
      <p:sp>
        <p:nvSpPr>
          <p:cNvPr id="16" name="Shape 14"/>
          <p:cNvSpPr/>
          <p:nvPr/>
        </p:nvSpPr>
        <p:spPr>
          <a:xfrm>
            <a:off x="9601200" y="2514600"/>
            <a:ext cx="2103120" cy="420624"/>
          </a:xfrm>
          <a:prstGeom prst="roundRect">
            <a:avLst>
              <a:gd name="adj" fmla="val 17391"/>
            </a:avLst>
          </a:prstGeom>
          <a:solidFill>
            <a:srgbClr val="2FE6C4"/>
          </a:solidFill>
          <a:ln/>
        </p:spPr>
      </p:sp>
      <p:sp>
        <p:nvSpPr>
          <p:cNvPr id="17" name="Shape 15"/>
          <p:cNvSpPr/>
          <p:nvPr/>
        </p:nvSpPr>
        <p:spPr>
          <a:xfrm>
            <a:off x="9601200" y="2724912"/>
            <a:ext cx="2103120" cy="210312"/>
          </a:xfrm>
          <a:prstGeom prst="rect">
            <a:avLst/>
          </a:prstGeom>
          <a:solidFill>
            <a:srgbClr val="2FE6C4"/>
          </a:solidFill>
          <a:ln/>
        </p:spPr>
      </p:sp>
      <p:sp>
        <p:nvSpPr>
          <p:cNvPr id="18" name="Text 16"/>
          <p:cNvSpPr txBox="1"/>
          <p:nvPr/>
        </p:nvSpPr>
        <p:spPr>
          <a:xfrm>
            <a:off x="9710928" y="2514600"/>
            <a:ext cx="18836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PropertyForRent</a:t>
            </a:r>
            <a:endParaRPr lang="en-US" sz="1800" dirty="0"/>
          </a:p>
        </p:txBody>
      </p:sp>
      <p:sp>
        <p:nvSpPr>
          <p:cNvPr id="19" name="Text 17"/>
          <p:cNvSpPr txBox="1"/>
          <p:nvPr/>
        </p:nvSpPr>
        <p:spPr>
          <a:xfrm>
            <a:off x="9747504" y="2990088"/>
            <a:ext cx="182880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propertyNo</a:t>
            </a:r>
            <a:endParaRPr lang="en-US" sz="1800" dirty="0"/>
          </a:p>
        </p:txBody>
      </p:sp>
      <p:sp>
        <p:nvSpPr>
          <p:cNvPr id="20" name="Shape 18"/>
          <p:cNvSpPr/>
          <p:nvPr/>
        </p:nvSpPr>
        <p:spPr>
          <a:xfrm>
            <a:off x="3291840" y="2880360"/>
            <a:ext cx="1463040" cy="9144"/>
          </a:xfrm>
          <a:prstGeom prst="line">
            <a:avLst/>
          </a:prstGeom>
          <a:noFill/>
          <a:ln w="22225">
            <a:solidFill>
              <a:srgbClr val="9AA1A9"/>
            </a:solidFill>
            <a:prstDash val="solid"/>
          </a:ln>
        </p:spPr>
      </p:sp>
      <p:sp>
        <p:nvSpPr>
          <p:cNvPr id="21" name="Text 19"/>
          <p:cNvSpPr txBox="1"/>
          <p:nvPr/>
        </p:nvSpPr>
        <p:spPr>
          <a:xfrm>
            <a:off x="3337560" y="2496312"/>
            <a:ext cx="137160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Has</a:t>
            </a:r>
            <a:endParaRPr lang="en-US" sz="1800" dirty="0"/>
          </a:p>
        </p:txBody>
      </p:sp>
      <p:sp>
        <p:nvSpPr>
          <p:cNvPr id="22" name="Shape 20"/>
          <p:cNvSpPr/>
          <p:nvPr/>
        </p:nvSpPr>
        <p:spPr>
          <a:xfrm>
            <a:off x="3474720" y="2697480"/>
            <a:ext cx="274320" cy="274320"/>
          </a:xfrm>
          <a:prstGeom prst="ellipse">
            <a:avLst/>
          </a:prstGeom>
          <a:solidFill>
            <a:srgbClr val="2FE6C4"/>
          </a:solidFill>
          <a:ln/>
        </p:spPr>
      </p:sp>
      <p:sp>
        <p:nvSpPr>
          <p:cNvPr id="23" name="Text 21"/>
          <p:cNvSpPr txBox="1"/>
          <p:nvPr/>
        </p:nvSpPr>
        <p:spPr>
          <a:xfrm>
            <a:off x="3474720" y="269748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N</a:t>
            </a:r>
            <a:endParaRPr lang="en-US" sz="1200" dirty="0"/>
          </a:p>
        </p:txBody>
      </p:sp>
      <p:sp>
        <p:nvSpPr>
          <p:cNvPr id="24" name="Shape 22"/>
          <p:cNvSpPr/>
          <p:nvPr/>
        </p:nvSpPr>
        <p:spPr>
          <a:xfrm>
            <a:off x="4297680" y="2697480"/>
            <a:ext cx="274320" cy="274320"/>
          </a:xfrm>
          <a:prstGeom prst="ellipse">
            <a:avLst/>
          </a:prstGeom>
          <a:solidFill>
            <a:srgbClr val="E8A33D"/>
          </a:solidFill>
          <a:ln/>
        </p:spPr>
      </p:sp>
      <p:sp>
        <p:nvSpPr>
          <p:cNvPr id="25" name="Text 23"/>
          <p:cNvSpPr txBox="1"/>
          <p:nvPr/>
        </p:nvSpPr>
        <p:spPr>
          <a:xfrm>
            <a:off x="4297680" y="269748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26" name="Shape 24"/>
          <p:cNvSpPr/>
          <p:nvPr/>
        </p:nvSpPr>
        <p:spPr>
          <a:xfrm>
            <a:off x="7406640" y="2880360"/>
            <a:ext cx="1371600" cy="9144"/>
          </a:xfrm>
          <a:prstGeom prst="line">
            <a:avLst/>
          </a:prstGeom>
          <a:noFill/>
          <a:ln w="22225">
            <a:solidFill>
              <a:srgbClr val="9AA1A9"/>
            </a:solidFill>
            <a:prstDash val="solid"/>
          </a:ln>
        </p:spPr>
      </p:sp>
      <p:sp>
        <p:nvSpPr>
          <p:cNvPr id="27" name="Text 25"/>
          <p:cNvSpPr txBox="1"/>
          <p:nvPr/>
        </p:nvSpPr>
        <p:spPr>
          <a:xfrm>
            <a:off x="7406640" y="2496312"/>
            <a:ext cx="137160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Has</a:t>
            </a:r>
            <a:endParaRPr lang="en-US" sz="1800" dirty="0"/>
          </a:p>
        </p:txBody>
      </p:sp>
      <p:sp>
        <p:nvSpPr>
          <p:cNvPr id="28" name="Shape 26"/>
          <p:cNvSpPr/>
          <p:nvPr/>
        </p:nvSpPr>
        <p:spPr>
          <a:xfrm>
            <a:off x="7543800" y="2697480"/>
            <a:ext cx="274320" cy="274320"/>
          </a:xfrm>
          <a:prstGeom prst="ellipse">
            <a:avLst/>
          </a:prstGeom>
          <a:solidFill>
            <a:srgbClr val="2FE6C4"/>
          </a:solidFill>
          <a:ln/>
        </p:spPr>
      </p:sp>
      <p:sp>
        <p:nvSpPr>
          <p:cNvPr id="29" name="Text 27"/>
          <p:cNvSpPr txBox="1"/>
          <p:nvPr/>
        </p:nvSpPr>
        <p:spPr>
          <a:xfrm>
            <a:off x="7543800" y="269748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30" name="Shape 28"/>
          <p:cNvSpPr/>
          <p:nvPr/>
        </p:nvSpPr>
        <p:spPr>
          <a:xfrm>
            <a:off x="8366760" y="2697480"/>
            <a:ext cx="274320" cy="274320"/>
          </a:xfrm>
          <a:prstGeom prst="ellipse">
            <a:avLst/>
          </a:prstGeom>
          <a:solidFill>
            <a:srgbClr val="E8A33D"/>
          </a:solidFill>
          <a:ln/>
        </p:spPr>
      </p:sp>
      <p:sp>
        <p:nvSpPr>
          <p:cNvPr id="31" name="Text 29"/>
          <p:cNvSpPr txBox="1"/>
          <p:nvPr/>
        </p:nvSpPr>
        <p:spPr>
          <a:xfrm>
            <a:off x="8366760" y="269748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N</a:t>
            </a:r>
            <a:endParaRPr lang="en-US" sz="1200" dirty="0"/>
          </a:p>
        </p:txBody>
      </p:sp>
      <p:sp>
        <p:nvSpPr>
          <p:cNvPr id="32" name="Shape 30"/>
          <p:cNvSpPr/>
          <p:nvPr/>
        </p:nvSpPr>
        <p:spPr>
          <a:xfrm>
            <a:off x="640080" y="3931920"/>
            <a:ext cx="10911535" cy="2377440"/>
          </a:xfrm>
          <a:prstGeom prst="roundRect">
            <a:avLst>
              <a:gd name="adj" fmla="val 2692"/>
            </a:avLst>
          </a:prstGeom>
          <a:solidFill>
            <a:srgbClr val="FCF1E3"/>
          </a:solidFill>
          <a:ln w="12700">
            <a:solidFill>
              <a:srgbClr val="E8A33D"/>
            </a:solidFill>
            <a:prstDash val="solid"/>
          </a:ln>
        </p:spPr>
      </p:sp>
      <p:sp>
        <p:nvSpPr>
          <p:cNvPr id="33" name="Text 31"/>
          <p:cNvSpPr txBox="1"/>
          <p:nvPr/>
        </p:nvSpPr>
        <p:spPr>
          <a:xfrm>
            <a:off x="896112" y="4078224"/>
            <a:ext cx="10399471" cy="274320"/>
          </a:xfrm>
          <a:prstGeom prst="rect">
            <a:avLst/>
          </a:prstGeom>
          <a:noFill/>
          <a:ln/>
        </p:spPr>
        <p:txBody>
          <a:bodyPr wrap="square" lIns="0" tIns="0" rIns="0" bIns="0" rtlCol="0" anchor="ctr"/>
          <a:lstStyle/>
          <a:p>
            <a:pPr indent="0" marL="0">
              <a:buNone/>
            </a:pPr>
            <a:r>
              <a:rPr lang="en-US" sz="1200" b="1" spc="200" kern="0" dirty="0">
                <a:solidFill>
                  <a:srgbClr val="8A5A12"/>
                </a:solidFill>
                <a:latin typeface="Calibri" pitchFamily="34" charset="0"/>
                <a:ea typeface="Calibri" pitchFamily="34" charset="-122"/>
                <a:cs typeface="Calibri" pitchFamily="34" charset="-120"/>
              </a:rPr>
              <a:t>WHY TWO CORRECT 1:N RELATIONSHIPS STILL FAIL</a:t>
            </a:r>
            <a:endParaRPr lang="en-US" sz="1200" dirty="0"/>
          </a:p>
        </p:txBody>
      </p:sp>
      <p:sp>
        <p:nvSpPr>
          <p:cNvPr id="34" name="Text 32"/>
          <p:cNvSpPr txBox="1"/>
          <p:nvPr/>
        </p:nvSpPr>
        <p:spPr>
          <a:xfrm>
            <a:off x="896112" y="4407408"/>
            <a:ext cx="10399471" cy="173736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“Which properties does staff member SG14 manage?” cannot be answered — knowing Branch B003 has staff {SG14, SG37} and properties {PA14, PG4, PG36} doesn't say which staff manages which property. Both relationships are individually correct; the diagram simply never recorded the pairing the question needs.</a:t>
            </a:r>
            <a:endParaRPr lang="en-US" sz="1800" dirty="0"/>
          </a:p>
        </p:txBody>
      </p:sp>
      <p:sp>
        <p:nvSpPr>
          <p:cNvPr id="35" name="Text 33"/>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NAMED ER MODELING ERROR #1</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Fan Trap — Walking Through the Broken Query</a:t>
            </a:r>
            <a:endParaRPr lang="en-US" sz="2600" dirty="0"/>
          </a:p>
        </p:txBody>
      </p:sp>
      <p:sp>
        <p:nvSpPr>
          <p:cNvPr id="4" name="Text 2"/>
          <p:cNvSpPr txBox="1"/>
          <p:nvPr/>
        </p:nvSpPr>
        <p:spPr>
          <a:xfrm>
            <a:off x="640080" y="1463040"/>
            <a:ext cx="10911535" cy="41148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Real rows that Branch B003 could store:</a:t>
            </a:r>
            <a:endParaRPr lang="en-US" sz="1800" dirty="0"/>
          </a:p>
        </p:txBody>
      </p:sp>
      <p:sp>
        <p:nvSpPr>
          <p:cNvPr id="5" name="Text 3"/>
          <p:cNvSpPr txBox="1"/>
          <p:nvPr/>
        </p:nvSpPr>
        <p:spPr>
          <a:xfrm>
            <a:off x="640080" y="1965960"/>
            <a:ext cx="4206240" cy="292608"/>
          </a:xfrm>
          <a:prstGeom prst="rect">
            <a:avLst/>
          </a:prstGeom>
          <a:noFill/>
          <a:ln/>
        </p:spPr>
        <p:txBody>
          <a:bodyPr wrap="square" lIns="0" tIns="0" rIns="0" bIns="0" rtlCol="0" anchor="ctr"/>
          <a:lstStyle/>
          <a:p>
            <a:pPr indent="0" marL="0">
              <a:buNone/>
            </a:pPr>
            <a:r>
              <a:rPr lang="en-US" sz="1400" b="1" dirty="0">
                <a:solidFill>
                  <a:srgbClr val="8B7FD9"/>
                </a:solidFill>
                <a:latin typeface="Courier New" pitchFamily="34" charset="0"/>
                <a:ea typeface="Courier New" pitchFamily="34" charset="-122"/>
                <a:cs typeface="Courier New" pitchFamily="34" charset="-120"/>
              </a:rPr>
              <a:t>Staff</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2313432"/>
          <a:ext cx="4206240" cy="914400"/>
        </p:xfrm>
        <a:graphic>
          <a:graphicData uri="http://schemas.openxmlformats.org/drawingml/2006/table">
            <a:tbl>
              <a:tblPr/>
              <a:tblGrid>
                <a:gridCol w="2103120"/>
                <a:gridCol w="2103120"/>
              </a:tblGrid>
              <a:tr h="329184">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staffNo</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branchNo</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r>
              <a:tr h="329184">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SG14</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B003</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329184">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SG37</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B003</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bl>
          </a:graphicData>
        </a:graphic>
      </p:graphicFrame>
      <p:sp>
        <p:nvSpPr>
          <p:cNvPr id="7" name="Text 4"/>
          <p:cNvSpPr txBox="1"/>
          <p:nvPr/>
        </p:nvSpPr>
        <p:spPr>
          <a:xfrm>
            <a:off x="6035040" y="1965960"/>
            <a:ext cx="4206240" cy="292608"/>
          </a:xfrm>
          <a:prstGeom prst="rect">
            <a:avLst/>
          </a:prstGeom>
          <a:noFill/>
          <a:ln/>
        </p:spPr>
        <p:txBody>
          <a:bodyPr wrap="square" lIns="0" tIns="0" rIns="0" bIns="0" rtlCol="0" anchor="ctr"/>
          <a:lstStyle/>
          <a:p>
            <a:pPr indent="0" marL="0">
              <a:buNone/>
            </a:pPr>
            <a:r>
              <a:rPr lang="en-US" sz="1400" b="1" dirty="0">
                <a:solidFill>
                  <a:srgbClr val="8B7FD9"/>
                </a:solidFill>
                <a:latin typeface="Courier New" pitchFamily="34" charset="0"/>
                <a:ea typeface="Courier New" pitchFamily="34" charset="-122"/>
                <a:cs typeface="Courier New" pitchFamily="34" charset="-120"/>
              </a:rPr>
              <a:t>PropertyForRent</a:t>
            </a:r>
            <a:endParaRPr lang="en-US" sz="140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035040" y="2313432"/>
          <a:ext cx="4206240" cy="914400"/>
        </p:xfrm>
        <a:graphic>
          <a:graphicData uri="http://schemas.openxmlformats.org/drawingml/2006/table">
            <a:tbl>
              <a:tblPr/>
              <a:tblGrid>
                <a:gridCol w="2103120"/>
                <a:gridCol w="2103120"/>
              </a:tblGrid>
              <a:tr h="329184">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propertyNo</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branchNo</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r>
              <a:tr h="329184">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PA14</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B003</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329184">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PG4</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B003</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r h="329184">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PG36</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B003</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bl>
          </a:graphicData>
        </a:graphic>
      </p:graphicFrame>
      <p:sp>
        <p:nvSpPr>
          <p:cNvPr id="9" name="Shape 5"/>
          <p:cNvSpPr/>
          <p:nvPr/>
        </p:nvSpPr>
        <p:spPr>
          <a:xfrm>
            <a:off x="640080" y="3931920"/>
            <a:ext cx="10911535" cy="1143000"/>
          </a:xfrm>
          <a:prstGeom prst="roundRect">
            <a:avLst>
              <a:gd name="adj" fmla="val 5600"/>
            </a:avLst>
          </a:prstGeom>
          <a:solidFill>
            <a:srgbClr val="FCF1E3"/>
          </a:solidFill>
          <a:ln w="12700">
            <a:solidFill>
              <a:srgbClr val="E8A33D"/>
            </a:solidFill>
            <a:prstDash val="solid"/>
          </a:ln>
        </p:spPr>
      </p:sp>
      <p:sp>
        <p:nvSpPr>
          <p:cNvPr id="10" name="Text 6"/>
          <p:cNvSpPr txBox="1"/>
          <p:nvPr/>
        </p:nvSpPr>
        <p:spPr>
          <a:xfrm>
            <a:off x="896112" y="4078224"/>
            <a:ext cx="10399471" cy="274320"/>
          </a:xfrm>
          <a:prstGeom prst="rect">
            <a:avLst/>
          </a:prstGeom>
          <a:noFill/>
          <a:ln/>
        </p:spPr>
        <p:txBody>
          <a:bodyPr wrap="square" lIns="0" tIns="0" rIns="0" bIns="0" rtlCol="0" anchor="ctr"/>
          <a:lstStyle/>
          <a:p>
            <a:pPr indent="0" marL="0">
              <a:buNone/>
            </a:pPr>
            <a:r>
              <a:rPr lang="en-US" sz="1200" b="1" spc="200" kern="0" dirty="0">
                <a:solidFill>
                  <a:srgbClr val="8A5A12"/>
                </a:solidFill>
                <a:latin typeface="Calibri" pitchFamily="34" charset="0"/>
                <a:ea typeface="Calibri" pitchFamily="34" charset="-122"/>
                <a:cs typeface="Calibri" pitchFamily="34" charset="-120"/>
              </a:rPr>
              <a:t>THE WALK-THROUGH</a:t>
            </a:r>
            <a:endParaRPr lang="en-US" sz="1200" dirty="0"/>
          </a:p>
        </p:txBody>
      </p:sp>
      <p:sp>
        <p:nvSpPr>
          <p:cNvPr id="11" name="Text 7"/>
          <p:cNvSpPr txBox="1"/>
          <p:nvPr/>
        </p:nvSpPr>
        <p:spPr>
          <a:xfrm>
            <a:off x="896112" y="4407408"/>
            <a:ext cx="10399471" cy="50292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Try “which properties does SG14 manage?” SG14 → B003, and B003 → {PA14, PG4, PG36}. No column pairs a staffNo with a propertyNo, so the join returns all three for BOTH SG14 and SG37.</a:t>
            </a:r>
            <a:endParaRPr lang="en-US" sz="1800" dirty="0"/>
          </a:p>
        </p:txBody>
      </p:sp>
      <p:sp>
        <p:nvSpPr>
          <p:cNvPr id="12" name="Shape 8"/>
          <p:cNvSpPr/>
          <p:nvPr/>
        </p:nvSpPr>
        <p:spPr>
          <a:xfrm>
            <a:off x="640080" y="5212080"/>
            <a:ext cx="10911535" cy="1188720"/>
          </a:xfrm>
          <a:prstGeom prst="roundRect">
            <a:avLst>
              <a:gd name="adj" fmla="val 5385"/>
            </a:avLst>
          </a:prstGeom>
          <a:solidFill>
            <a:srgbClr val="EAF1FB"/>
          </a:solidFill>
          <a:ln w="12700">
            <a:solidFill>
              <a:srgbClr val="6C8FD6"/>
            </a:solidFill>
            <a:prstDash val="solid"/>
          </a:ln>
        </p:spPr>
      </p:sp>
      <p:sp>
        <p:nvSpPr>
          <p:cNvPr id="13" name="Text 9"/>
          <p:cNvSpPr txBox="1"/>
          <p:nvPr/>
        </p:nvSpPr>
        <p:spPr>
          <a:xfrm>
            <a:off x="896112" y="5358384"/>
            <a:ext cx="10399471" cy="274320"/>
          </a:xfrm>
          <a:prstGeom prst="rect">
            <a:avLst/>
          </a:prstGeom>
          <a:noFill/>
          <a:ln/>
        </p:spPr>
        <p:txBody>
          <a:bodyPr wrap="square" lIns="0" tIns="0" rIns="0" bIns="0" rtlCol="0" anchor="ctr"/>
          <a:lstStyle/>
          <a:p>
            <a:pPr indent="0" marL="0">
              <a:buNone/>
            </a:pPr>
            <a:r>
              <a:rPr lang="en-US" sz="1200" b="1" spc="200" kern="0" dirty="0">
                <a:solidFill>
                  <a:srgbClr val="2C4A8C"/>
                </a:solidFill>
                <a:latin typeface="Calibri" pitchFamily="34" charset="0"/>
                <a:ea typeface="Calibri" pitchFamily="34" charset="-122"/>
                <a:cs typeface="Calibri" pitchFamily="34" charset="-120"/>
              </a:rPr>
              <a:t>THE TELL</a:t>
            </a:r>
            <a:endParaRPr lang="en-US" sz="1200" dirty="0"/>
          </a:p>
        </p:txBody>
      </p:sp>
      <p:sp>
        <p:nvSpPr>
          <p:cNvPr id="14" name="Text 10"/>
          <p:cNvSpPr txBox="1"/>
          <p:nvPr/>
        </p:nvSpPr>
        <p:spPr>
          <a:xfrm>
            <a:off x="896112" y="5687568"/>
            <a:ext cx="10399471" cy="54864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The symptom: the right row count but the wrong pairing — a report silently says SG37 manages PA14. That is a fan trap: two 1:N relationships fan out from one shared entity.</a:t>
            </a:r>
            <a:endParaRPr lang="en-US" sz="1800" dirty="0"/>
          </a:p>
        </p:txBody>
      </p:sp>
      <p:sp>
        <p:nvSpPr>
          <p:cNvPr id="15" name="Text 11"/>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NAMED ER MODELING ERROR #1</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Fan Trap — Corrected</a:t>
            </a:r>
            <a:endParaRPr lang="en-US" sz="2600" dirty="0"/>
          </a:p>
        </p:txBody>
      </p:sp>
      <p:sp>
        <p:nvSpPr>
          <p:cNvPr id="4" name="Shape 2"/>
          <p:cNvSpPr/>
          <p:nvPr/>
        </p:nvSpPr>
        <p:spPr>
          <a:xfrm>
            <a:off x="640080" y="1645920"/>
            <a:ext cx="2560320" cy="859536"/>
          </a:xfrm>
          <a:prstGeom prst="roundRect">
            <a:avLst>
              <a:gd name="adj" fmla="val 8511"/>
            </a:avLst>
          </a:prstGeom>
          <a:solidFill>
            <a:srgbClr val="FFFFFF"/>
          </a:solidFill>
          <a:ln w="15875">
            <a:solidFill>
              <a:srgbClr val="1F2429"/>
            </a:solidFill>
            <a:prstDash val="solid"/>
          </a:ln>
        </p:spPr>
      </p:sp>
      <p:sp>
        <p:nvSpPr>
          <p:cNvPr id="5" name="Shape 3"/>
          <p:cNvSpPr/>
          <p:nvPr/>
        </p:nvSpPr>
        <p:spPr>
          <a:xfrm>
            <a:off x="640080" y="1645920"/>
            <a:ext cx="2560320" cy="420624"/>
          </a:xfrm>
          <a:prstGeom prst="roundRect">
            <a:avLst>
              <a:gd name="adj" fmla="val 17391"/>
            </a:avLst>
          </a:prstGeom>
          <a:solidFill>
            <a:srgbClr val="2FE6C4"/>
          </a:solidFill>
          <a:ln/>
        </p:spPr>
      </p:sp>
      <p:sp>
        <p:nvSpPr>
          <p:cNvPr id="6" name="Shape 4"/>
          <p:cNvSpPr/>
          <p:nvPr/>
        </p:nvSpPr>
        <p:spPr>
          <a:xfrm>
            <a:off x="640080" y="1856232"/>
            <a:ext cx="2560320" cy="210312"/>
          </a:xfrm>
          <a:prstGeom prst="rect">
            <a:avLst/>
          </a:prstGeom>
          <a:solidFill>
            <a:srgbClr val="2FE6C4"/>
          </a:solidFill>
          <a:ln/>
        </p:spPr>
      </p:sp>
      <p:sp>
        <p:nvSpPr>
          <p:cNvPr id="7" name="Text 5"/>
          <p:cNvSpPr txBox="1"/>
          <p:nvPr/>
        </p:nvSpPr>
        <p:spPr>
          <a:xfrm>
            <a:off x="749808" y="1645920"/>
            <a:ext cx="23408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Staff</a:t>
            </a:r>
            <a:endParaRPr lang="en-US" sz="1800" dirty="0"/>
          </a:p>
        </p:txBody>
      </p:sp>
      <p:sp>
        <p:nvSpPr>
          <p:cNvPr id="8" name="Text 6"/>
          <p:cNvSpPr txBox="1"/>
          <p:nvPr/>
        </p:nvSpPr>
        <p:spPr>
          <a:xfrm>
            <a:off x="786384" y="2121408"/>
            <a:ext cx="228600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staffNo</a:t>
            </a:r>
            <a:endParaRPr lang="en-US" sz="1800" dirty="0"/>
          </a:p>
        </p:txBody>
      </p:sp>
      <p:sp>
        <p:nvSpPr>
          <p:cNvPr id="9" name="Shape 7"/>
          <p:cNvSpPr/>
          <p:nvPr/>
        </p:nvSpPr>
        <p:spPr>
          <a:xfrm>
            <a:off x="4754880" y="1645920"/>
            <a:ext cx="2560320" cy="859536"/>
          </a:xfrm>
          <a:prstGeom prst="roundRect">
            <a:avLst>
              <a:gd name="adj" fmla="val 8511"/>
            </a:avLst>
          </a:prstGeom>
          <a:solidFill>
            <a:srgbClr val="FFFFFF"/>
          </a:solidFill>
          <a:ln w="15875">
            <a:solidFill>
              <a:srgbClr val="1F2429"/>
            </a:solidFill>
            <a:prstDash val="solid"/>
          </a:ln>
        </p:spPr>
      </p:sp>
      <p:sp>
        <p:nvSpPr>
          <p:cNvPr id="10" name="Shape 8"/>
          <p:cNvSpPr/>
          <p:nvPr/>
        </p:nvSpPr>
        <p:spPr>
          <a:xfrm>
            <a:off x="4754880" y="1645920"/>
            <a:ext cx="2560320" cy="420624"/>
          </a:xfrm>
          <a:prstGeom prst="roundRect">
            <a:avLst>
              <a:gd name="adj" fmla="val 17391"/>
            </a:avLst>
          </a:prstGeom>
          <a:solidFill>
            <a:srgbClr val="2FE6C4"/>
          </a:solidFill>
          <a:ln/>
        </p:spPr>
      </p:sp>
      <p:sp>
        <p:nvSpPr>
          <p:cNvPr id="11" name="Shape 9"/>
          <p:cNvSpPr/>
          <p:nvPr/>
        </p:nvSpPr>
        <p:spPr>
          <a:xfrm>
            <a:off x="4754880" y="1856232"/>
            <a:ext cx="2560320" cy="210312"/>
          </a:xfrm>
          <a:prstGeom prst="rect">
            <a:avLst/>
          </a:prstGeom>
          <a:solidFill>
            <a:srgbClr val="2FE6C4"/>
          </a:solidFill>
          <a:ln/>
        </p:spPr>
      </p:sp>
      <p:sp>
        <p:nvSpPr>
          <p:cNvPr id="12" name="Text 10"/>
          <p:cNvSpPr txBox="1"/>
          <p:nvPr/>
        </p:nvSpPr>
        <p:spPr>
          <a:xfrm>
            <a:off x="4864608" y="1645920"/>
            <a:ext cx="23408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Branch</a:t>
            </a:r>
            <a:endParaRPr lang="en-US" sz="1800" dirty="0"/>
          </a:p>
        </p:txBody>
      </p:sp>
      <p:sp>
        <p:nvSpPr>
          <p:cNvPr id="13" name="Text 11"/>
          <p:cNvSpPr txBox="1"/>
          <p:nvPr/>
        </p:nvSpPr>
        <p:spPr>
          <a:xfrm>
            <a:off x="4901184" y="2121408"/>
            <a:ext cx="228600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branchNo</a:t>
            </a:r>
            <a:endParaRPr lang="en-US" sz="1800" dirty="0"/>
          </a:p>
        </p:txBody>
      </p:sp>
      <p:sp>
        <p:nvSpPr>
          <p:cNvPr id="14" name="Shape 12"/>
          <p:cNvSpPr/>
          <p:nvPr/>
        </p:nvSpPr>
        <p:spPr>
          <a:xfrm>
            <a:off x="8778240" y="1508760"/>
            <a:ext cx="2743200" cy="1152144"/>
          </a:xfrm>
          <a:prstGeom prst="roundRect">
            <a:avLst>
              <a:gd name="adj" fmla="val 6349"/>
            </a:avLst>
          </a:prstGeom>
          <a:solidFill>
            <a:srgbClr val="FFFFFF"/>
          </a:solidFill>
          <a:ln w="15875">
            <a:solidFill>
              <a:srgbClr val="1F2429"/>
            </a:solidFill>
            <a:prstDash val="solid"/>
          </a:ln>
        </p:spPr>
      </p:sp>
      <p:sp>
        <p:nvSpPr>
          <p:cNvPr id="15" name="Shape 13"/>
          <p:cNvSpPr/>
          <p:nvPr/>
        </p:nvSpPr>
        <p:spPr>
          <a:xfrm>
            <a:off x="8778240" y="1508760"/>
            <a:ext cx="2743200" cy="420624"/>
          </a:xfrm>
          <a:prstGeom prst="roundRect">
            <a:avLst>
              <a:gd name="adj" fmla="val 17391"/>
            </a:avLst>
          </a:prstGeom>
          <a:solidFill>
            <a:srgbClr val="2FE6C4"/>
          </a:solidFill>
          <a:ln/>
        </p:spPr>
      </p:sp>
      <p:sp>
        <p:nvSpPr>
          <p:cNvPr id="16" name="Shape 14"/>
          <p:cNvSpPr/>
          <p:nvPr/>
        </p:nvSpPr>
        <p:spPr>
          <a:xfrm>
            <a:off x="8778240" y="1719072"/>
            <a:ext cx="2743200" cy="210312"/>
          </a:xfrm>
          <a:prstGeom prst="rect">
            <a:avLst/>
          </a:prstGeom>
          <a:solidFill>
            <a:srgbClr val="2FE6C4"/>
          </a:solidFill>
          <a:ln/>
        </p:spPr>
      </p:sp>
      <p:sp>
        <p:nvSpPr>
          <p:cNvPr id="17" name="Text 15"/>
          <p:cNvSpPr txBox="1"/>
          <p:nvPr/>
        </p:nvSpPr>
        <p:spPr>
          <a:xfrm>
            <a:off x="8887968" y="1508760"/>
            <a:ext cx="252374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PropertyForRent</a:t>
            </a:r>
            <a:endParaRPr lang="en-US" sz="1800" dirty="0"/>
          </a:p>
        </p:txBody>
      </p:sp>
      <p:sp>
        <p:nvSpPr>
          <p:cNvPr id="18" name="Text 16"/>
          <p:cNvSpPr txBox="1"/>
          <p:nvPr/>
        </p:nvSpPr>
        <p:spPr>
          <a:xfrm>
            <a:off x="8924544" y="1984248"/>
            <a:ext cx="246888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propertyNo</a:t>
            </a:r>
            <a:endParaRPr lang="en-US" sz="1400" dirty="0"/>
          </a:p>
          <a:p>
            <a:pPr indent="0" marL="0">
              <a:lnSpc>
                <a:spcPct val="108000"/>
              </a:lnSpc>
              <a:spcAft>
                <a:spcPts val="100"/>
              </a:spcAft>
              <a:buNone/>
            </a:pPr>
            <a:r>
              <a:rPr lang="en-US" sz="1400" i="1" dirty="0">
                <a:solidFill>
                  <a:srgbClr val="5B6470"/>
                </a:solidFill>
                <a:latin typeface="Calibri" pitchFamily="34" charset="0"/>
                <a:ea typeface="Calibri" pitchFamily="34" charset="-122"/>
                <a:cs typeface="Calibri" pitchFamily="34" charset="-120"/>
              </a:rPr>
              <a:t>staffNo</a:t>
            </a:r>
            <a:endParaRPr lang="en-US" sz="1400" dirty="0"/>
          </a:p>
        </p:txBody>
      </p:sp>
      <p:sp>
        <p:nvSpPr>
          <p:cNvPr id="19" name="Shape 17"/>
          <p:cNvSpPr/>
          <p:nvPr/>
        </p:nvSpPr>
        <p:spPr>
          <a:xfrm>
            <a:off x="3200400" y="2011680"/>
            <a:ext cx="1554480" cy="9144"/>
          </a:xfrm>
          <a:prstGeom prst="line">
            <a:avLst/>
          </a:prstGeom>
          <a:noFill/>
          <a:ln w="22225">
            <a:solidFill>
              <a:srgbClr val="9AA1A9"/>
            </a:solidFill>
            <a:prstDash val="solid"/>
          </a:ln>
        </p:spPr>
      </p:sp>
      <p:sp>
        <p:nvSpPr>
          <p:cNvPr id="20" name="Text 18"/>
          <p:cNvSpPr txBox="1"/>
          <p:nvPr/>
        </p:nvSpPr>
        <p:spPr>
          <a:xfrm>
            <a:off x="3291840" y="1627632"/>
            <a:ext cx="137160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Has</a:t>
            </a:r>
            <a:endParaRPr lang="en-US" sz="1800" dirty="0"/>
          </a:p>
        </p:txBody>
      </p:sp>
      <p:sp>
        <p:nvSpPr>
          <p:cNvPr id="21" name="Shape 19"/>
          <p:cNvSpPr/>
          <p:nvPr/>
        </p:nvSpPr>
        <p:spPr>
          <a:xfrm>
            <a:off x="3429000" y="1828800"/>
            <a:ext cx="274320" cy="274320"/>
          </a:xfrm>
          <a:prstGeom prst="ellipse">
            <a:avLst/>
          </a:prstGeom>
          <a:solidFill>
            <a:srgbClr val="2FE6C4"/>
          </a:solidFill>
          <a:ln/>
        </p:spPr>
      </p:sp>
      <p:sp>
        <p:nvSpPr>
          <p:cNvPr id="22" name="Text 20"/>
          <p:cNvSpPr txBox="1"/>
          <p:nvPr/>
        </p:nvSpPr>
        <p:spPr>
          <a:xfrm>
            <a:off x="3429000" y="182880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N</a:t>
            </a:r>
            <a:endParaRPr lang="en-US" sz="1200" dirty="0"/>
          </a:p>
        </p:txBody>
      </p:sp>
      <p:sp>
        <p:nvSpPr>
          <p:cNvPr id="23" name="Shape 21"/>
          <p:cNvSpPr/>
          <p:nvPr/>
        </p:nvSpPr>
        <p:spPr>
          <a:xfrm>
            <a:off x="4251960" y="1828800"/>
            <a:ext cx="274320" cy="274320"/>
          </a:xfrm>
          <a:prstGeom prst="ellipse">
            <a:avLst/>
          </a:prstGeom>
          <a:solidFill>
            <a:srgbClr val="E8A33D"/>
          </a:solidFill>
          <a:ln/>
        </p:spPr>
      </p:sp>
      <p:sp>
        <p:nvSpPr>
          <p:cNvPr id="24" name="Text 22"/>
          <p:cNvSpPr txBox="1"/>
          <p:nvPr/>
        </p:nvSpPr>
        <p:spPr>
          <a:xfrm>
            <a:off x="4251960" y="182880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25" name="Shape 23"/>
          <p:cNvSpPr/>
          <p:nvPr/>
        </p:nvSpPr>
        <p:spPr>
          <a:xfrm>
            <a:off x="7315200" y="2011680"/>
            <a:ext cx="1463040" cy="9144"/>
          </a:xfrm>
          <a:prstGeom prst="line">
            <a:avLst/>
          </a:prstGeom>
          <a:noFill/>
          <a:ln w="22225">
            <a:solidFill>
              <a:srgbClr val="9AA1A9"/>
            </a:solidFill>
            <a:prstDash val="solid"/>
          </a:ln>
        </p:spPr>
      </p:sp>
      <p:sp>
        <p:nvSpPr>
          <p:cNvPr id="26" name="Text 24"/>
          <p:cNvSpPr txBox="1"/>
          <p:nvPr/>
        </p:nvSpPr>
        <p:spPr>
          <a:xfrm>
            <a:off x="7360920" y="1627632"/>
            <a:ext cx="137160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Has</a:t>
            </a:r>
            <a:endParaRPr lang="en-US" sz="1800" dirty="0"/>
          </a:p>
        </p:txBody>
      </p:sp>
      <p:sp>
        <p:nvSpPr>
          <p:cNvPr id="27" name="Shape 25"/>
          <p:cNvSpPr/>
          <p:nvPr/>
        </p:nvSpPr>
        <p:spPr>
          <a:xfrm>
            <a:off x="7498080" y="1828800"/>
            <a:ext cx="274320" cy="274320"/>
          </a:xfrm>
          <a:prstGeom prst="ellipse">
            <a:avLst/>
          </a:prstGeom>
          <a:solidFill>
            <a:srgbClr val="2FE6C4"/>
          </a:solidFill>
          <a:ln/>
        </p:spPr>
      </p:sp>
      <p:sp>
        <p:nvSpPr>
          <p:cNvPr id="28" name="Text 26"/>
          <p:cNvSpPr txBox="1"/>
          <p:nvPr/>
        </p:nvSpPr>
        <p:spPr>
          <a:xfrm>
            <a:off x="7498080" y="182880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29" name="Shape 27"/>
          <p:cNvSpPr/>
          <p:nvPr/>
        </p:nvSpPr>
        <p:spPr>
          <a:xfrm>
            <a:off x="8321040" y="1828800"/>
            <a:ext cx="274320" cy="274320"/>
          </a:xfrm>
          <a:prstGeom prst="ellipse">
            <a:avLst/>
          </a:prstGeom>
          <a:solidFill>
            <a:srgbClr val="E8A33D"/>
          </a:solidFill>
          <a:ln/>
        </p:spPr>
      </p:sp>
      <p:sp>
        <p:nvSpPr>
          <p:cNvPr id="30" name="Text 28"/>
          <p:cNvSpPr txBox="1"/>
          <p:nvPr/>
        </p:nvSpPr>
        <p:spPr>
          <a:xfrm>
            <a:off x="8321040" y="182880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N</a:t>
            </a:r>
            <a:endParaRPr lang="en-US" sz="1200" dirty="0"/>
          </a:p>
        </p:txBody>
      </p:sp>
      <p:sp>
        <p:nvSpPr>
          <p:cNvPr id="31" name="Text 29"/>
          <p:cNvSpPr txBox="1"/>
          <p:nvPr/>
        </p:nvSpPr>
        <p:spPr>
          <a:xfrm>
            <a:off x="1737360" y="3017520"/>
            <a:ext cx="2743200" cy="274320"/>
          </a:xfrm>
          <a:prstGeom prst="rect">
            <a:avLst/>
          </a:prstGeom>
          <a:noFill/>
          <a:ln/>
        </p:spPr>
        <p:txBody>
          <a:bodyPr wrap="square" lIns="0" tIns="0" rIns="0" bIns="0" rtlCol="0" anchor="ctr"/>
          <a:lstStyle/>
          <a:p>
            <a:pPr algn="ctr" indent="0" marL="0">
              <a:buNone/>
            </a:pPr>
            <a:r>
              <a:rPr lang="en-US" sz="1800" b="1" i="1" dirty="0">
                <a:solidFill>
                  <a:srgbClr val="0E7A61"/>
                </a:solidFill>
                <a:latin typeface="Calibri" pitchFamily="34" charset="0"/>
                <a:ea typeface="Calibri" pitchFamily="34" charset="-122"/>
                <a:cs typeface="Calibri" pitchFamily="34" charset="-120"/>
              </a:rPr>
              <a:t>Manages (NEW — direct)</a:t>
            </a:r>
            <a:endParaRPr lang="en-US" sz="1800" dirty="0"/>
          </a:p>
        </p:txBody>
      </p:sp>
      <p:sp>
        <p:nvSpPr>
          <p:cNvPr id="32" name="Shape 30"/>
          <p:cNvSpPr/>
          <p:nvPr/>
        </p:nvSpPr>
        <p:spPr>
          <a:xfrm>
            <a:off x="1920240" y="2651760"/>
            <a:ext cx="8823960" cy="914400"/>
          </a:xfrm>
          <a:prstGeom prst="line">
            <a:avLst/>
          </a:prstGeom>
          <a:noFill/>
          <a:ln w="28575">
            <a:solidFill>
              <a:srgbClr val="1FAE8C"/>
            </a:solidFill>
            <a:prstDash val="solid"/>
            <a:tailEnd type="triangle"/>
          </a:ln>
        </p:spPr>
      </p:sp>
      <p:sp>
        <p:nvSpPr>
          <p:cNvPr id="33" name="Shape 31"/>
          <p:cNvSpPr/>
          <p:nvPr/>
        </p:nvSpPr>
        <p:spPr>
          <a:xfrm>
            <a:off x="640080" y="3840480"/>
            <a:ext cx="10911535" cy="2560320"/>
          </a:xfrm>
          <a:prstGeom prst="roundRect">
            <a:avLst>
              <a:gd name="adj" fmla="val 2500"/>
            </a:avLst>
          </a:prstGeom>
          <a:solidFill>
            <a:srgbClr val="E9F9F3"/>
          </a:solidFill>
          <a:ln w="12700">
            <a:solidFill>
              <a:srgbClr val="1FAE8C"/>
            </a:solidFill>
            <a:prstDash val="solid"/>
          </a:ln>
        </p:spPr>
      </p:sp>
      <p:sp>
        <p:nvSpPr>
          <p:cNvPr id="34" name="Text 32"/>
          <p:cNvSpPr txBox="1"/>
          <p:nvPr/>
        </p:nvSpPr>
        <p:spPr>
          <a:xfrm>
            <a:off x="896112" y="3986784"/>
            <a:ext cx="10399471" cy="274320"/>
          </a:xfrm>
          <a:prstGeom prst="rect">
            <a:avLst/>
          </a:prstGeom>
          <a:noFill/>
          <a:ln/>
        </p:spPr>
        <p:txBody>
          <a:bodyPr wrap="square" lIns="0" tIns="0" rIns="0" bIns="0" rtlCol="0" anchor="ctr"/>
          <a:lstStyle/>
          <a:p>
            <a:pPr indent="0" marL="0">
              <a:buNone/>
            </a:pPr>
            <a:r>
              <a:rPr lang="en-US" sz="1200" b="1" spc="200" kern="0" dirty="0">
                <a:solidFill>
                  <a:srgbClr val="0E7A61"/>
                </a:solidFill>
                <a:latin typeface="Calibri" pitchFamily="34" charset="0"/>
                <a:ea typeface="Calibri" pitchFamily="34" charset="-122"/>
                <a:cs typeface="Calibri" pitchFamily="34" charset="-120"/>
              </a:rPr>
              <a:t>WHAT CHANGED AND WHY</a:t>
            </a:r>
            <a:endParaRPr lang="en-US" sz="1200" dirty="0"/>
          </a:p>
        </p:txBody>
      </p:sp>
      <p:sp>
        <p:nvSpPr>
          <p:cNvPr id="35" name="Text 33"/>
          <p:cNvSpPr txBox="1"/>
          <p:nvPr/>
        </p:nvSpPr>
        <p:spPr>
          <a:xfrm>
            <a:off x="896112" y="4315968"/>
            <a:ext cx="10399471" cy="192024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What changed, and why: a NEW direct relationship, Staff Manages PropertyForRent, is added, and PropertyForRent now carries staffNo as its own foreign key. The question “which properties does SG14 manage?” is now a single filter — SELECT propertyNo FROM PropertyForRent WHERE staffNo = 'SG14' — no join through Branch needed, so there's no longer a shared-entity fan to get lost in. This is exactly the schema Lecture 6 already uses.</a:t>
            </a:r>
            <a:endParaRPr lang="en-US" sz="1800" dirty="0"/>
          </a:p>
        </p:txBody>
      </p:sp>
      <p:sp>
        <p:nvSpPr>
          <p:cNvPr id="36" name="Text 34"/>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NAMED ER MODELING ERROR #2</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Chasm Trap — the Setup</a:t>
            </a:r>
            <a:endParaRPr lang="en-US" sz="2600" dirty="0"/>
          </a:p>
        </p:txBody>
      </p:sp>
      <p:sp>
        <p:nvSpPr>
          <p:cNvPr id="4" name="Text 2"/>
          <p:cNvSpPr txBox="1"/>
          <p:nvPr/>
        </p:nvSpPr>
        <p:spPr>
          <a:xfrm>
            <a:off x="640080" y="1508760"/>
            <a:ext cx="10911535" cy="82296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A chasm trap occurs when a model implies a relationship along a path that includes an OPTIONAL (partial-participation) relationship — so the path exists for some occurrences but is genuinely missing for others.</a:t>
            </a:r>
            <a:endParaRPr lang="en-US" sz="1800" dirty="0"/>
          </a:p>
        </p:txBody>
      </p:sp>
      <p:sp>
        <p:nvSpPr>
          <p:cNvPr id="5" name="Shape 3"/>
          <p:cNvSpPr/>
          <p:nvPr/>
        </p:nvSpPr>
        <p:spPr>
          <a:xfrm>
            <a:off x="640080" y="2514600"/>
            <a:ext cx="2194560" cy="859536"/>
          </a:xfrm>
          <a:prstGeom prst="roundRect">
            <a:avLst>
              <a:gd name="adj" fmla="val 8511"/>
            </a:avLst>
          </a:prstGeom>
          <a:solidFill>
            <a:srgbClr val="FFFFFF"/>
          </a:solidFill>
          <a:ln w="15875">
            <a:solidFill>
              <a:srgbClr val="1F2429"/>
            </a:solidFill>
            <a:prstDash val="solid"/>
          </a:ln>
        </p:spPr>
      </p:sp>
      <p:sp>
        <p:nvSpPr>
          <p:cNvPr id="6" name="Shape 4"/>
          <p:cNvSpPr/>
          <p:nvPr/>
        </p:nvSpPr>
        <p:spPr>
          <a:xfrm>
            <a:off x="640080" y="2514600"/>
            <a:ext cx="2194560" cy="420624"/>
          </a:xfrm>
          <a:prstGeom prst="roundRect">
            <a:avLst>
              <a:gd name="adj" fmla="val 17391"/>
            </a:avLst>
          </a:prstGeom>
          <a:solidFill>
            <a:srgbClr val="E8A33D"/>
          </a:solidFill>
          <a:ln/>
        </p:spPr>
      </p:sp>
      <p:sp>
        <p:nvSpPr>
          <p:cNvPr id="7" name="Shape 5"/>
          <p:cNvSpPr/>
          <p:nvPr/>
        </p:nvSpPr>
        <p:spPr>
          <a:xfrm>
            <a:off x="640080" y="2724912"/>
            <a:ext cx="2194560" cy="210312"/>
          </a:xfrm>
          <a:prstGeom prst="rect">
            <a:avLst/>
          </a:prstGeom>
          <a:solidFill>
            <a:srgbClr val="E8A33D"/>
          </a:solidFill>
          <a:ln/>
        </p:spPr>
      </p:sp>
      <p:sp>
        <p:nvSpPr>
          <p:cNvPr id="8" name="Text 6"/>
          <p:cNvSpPr txBox="1"/>
          <p:nvPr/>
        </p:nvSpPr>
        <p:spPr>
          <a:xfrm>
            <a:off x="749808" y="2514600"/>
            <a:ext cx="19751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Branch</a:t>
            </a:r>
            <a:endParaRPr lang="en-US" sz="1800" dirty="0"/>
          </a:p>
        </p:txBody>
      </p:sp>
      <p:sp>
        <p:nvSpPr>
          <p:cNvPr id="9" name="Text 7"/>
          <p:cNvSpPr txBox="1"/>
          <p:nvPr/>
        </p:nvSpPr>
        <p:spPr>
          <a:xfrm>
            <a:off x="786384" y="2990088"/>
            <a:ext cx="192024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branchNo</a:t>
            </a:r>
            <a:endParaRPr lang="en-US" sz="1800" dirty="0"/>
          </a:p>
        </p:txBody>
      </p:sp>
      <p:sp>
        <p:nvSpPr>
          <p:cNvPr id="10" name="Shape 8"/>
          <p:cNvSpPr/>
          <p:nvPr/>
        </p:nvSpPr>
        <p:spPr>
          <a:xfrm>
            <a:off x="5120640" y="2514600"/>
            <a:ext cx="2194560" cy="859536"/>
          </a:xfrm>
          <a:prstGeom prst="roundRect">
            <a:avLst>
              <a:gd name="adj" fmla="val 8511"/>
            </a:avLst>
          </a:prstGeom>
          <a:solidFill>
            <a:srgbClr val="FFFFFF"/>
          </a:solidFill>
          <a:ln w="15875">
            <a:solidFill>
              <a:srgbClr val="1F2429"/>
            </a:solidFill>
            <a:prstDash val="solid"/>
          </a:ln>
        </p:spPr>
      </p:sp>
      <p:sp>
        <p:nvSpPr>
          <p:cNvPr id="11" name="Shape 9"/>
          <p:cNvSpPr/>
          <p:nvPr/>
        </p:nvSpPr>
        <p:spPr>
          <a:xfrm>
            <a:off x="5120640" y="2514600"/>
            <a:ext cx="2194560" cy="420624"/>
          </a:xfrm>
          <a:prstGeom prst="roundRect">
            <a:avLst>
              <a:gd name="adj" fmla="val 17391"/>
            </a:avLst>
          </a:prstGeom>
          <a:solidFill>
            <a:srgbClr val="2FE6C4"/>
          </a:solidFill>
          <a:ln/>
        </p:spPr>
      </p:sp>
      <p:sp>
        <p:nvSpPr>
          <p:cNvPr id="12" name="Shape 10"/>
          <p:cNvSpPr/>
          <p:nvPr/>
        </p:nvSpPr>
        <p:spPr>
          <a:xfrm>
            <a:off x="5120640" y="2724912"/>
            <a:ext cx="2194560" cy="210312"/>
          </a:xfrm>
          <a:prstGeom prst="rect">
            <a:avLst/>
          </a:prstGeom>
          <a:solidFill>
            <a:srgbClr val="2FE6C4"/>
          </a:solidFill>
          <a:ln/>
        </p:spPr>
      </p:sp>
      <p:sp>
        <p:nvSpPr>
          <p:cNvPr id="13" name="Text 11"/>
          <p:cNvSpPr txBox="1"/>
          <p:nvPr/>
        </p:nvSpPr>
        <p:spPr>
          <a:xfrm>
            <a:off x="5230368" y="2514600"/>
            <a:ext cx="19751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Staff</a:t>
            </a:r>
            <a:endParaRPr lang="en-US" sz="1800" dirty="0"/>
          </a:p>
        </p:txBody>
      </p:sp>
      <p:sp>
        <p:nvSpPr>
          <p:cNvPr id="14" name="Text 12"/>
          <p:cNvSpPr txBox="1"/>
          <p:nvPr/>
        </p:nvSpPr>
        <p:spPr>
          <a:xfrm>
            <a:off x="5266944" y="2990088"/>
            <a:ext cx="192024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staffNo</a:t>
            </a:r>
            <a:endParaRPr lang="en-US" sz="1800" dirty="0"/>
          </a:p>
        </p:txBody>
      </p:sp>
      <p:sp>
        <p:nvSpPr>
          <p:cNvPr id="15" name="Shape 13"/>
          <p:cNvSpPr/>
          <p:nvPr/>
        </p:nvSpPr>
        <p:spPr>
          <a:xfrm>
            <a:off x="9601200" y="2514600"/>
            <a:ext cx="2103120" cy="859536"/>
          </a:xfrm>
          <a:prstGeom prst="roundRect">
            <a:avLst>
              <a:gd name="adj" fmla="val 8511"/>
            </a:avLst>
          </a:prstGeom>
          <a:solidFill>
            <a:srgbClr val="FFFFFF"/>
          </a:solidFill>
          <a:ln w="15875">
            <a:solidFill>
              <a:srgbClr val="1F2429"/>
            </a:solidFill>
            <a:prstDash val="solid"/>
          </a:ln>
        </p:spPr>
      </p:sp>
      <p:sp>
        <p:nvSpPr>
          <p:cNvPr id="16" name="Shape 14"/>
          <p:cNvSpPr/>
          <p:nvPr/>
        </p:nvSpPr>
        <p:spPr>
          <a:xfrm>
            <a:off x="9601200" y="2514600"/>
            <a:ext cx="2103120" cy="420624"/>
          </a:xfrm>
          <a:prstGeom prst="roundRect">
            <a:avLst>
              <a:gd name="adj" fmla="val 17391"/>
            </a:avLst>
          </a:prstGeom>
          <a:solidFill>
            <a:srgbClr val="2FE6C4"/>
          </a:solidFill>
          <a:ln/>
        </p:spPr>
      </p:sp>
      <p:sp>
        <p:nvSpPr>
          <p:cNvPr id="17" name="Shape 15"/>
          <p:cNvSpPr/>
          <p:nvPr/>
        </p:nvSpPr>
        <p:spPr>
          <a:xfrm>
            <a:off x="9601200" y="2724912"/>
            <a:ext cx="2103120" cy="210312"/>
          </a:xfrm>
          <a:prstGeom prst="rect">
            <a:avLst/>
          </a:prstGeom>
          <a:solidFill>
            <a:srgbClr val="2FE6C4"/>
          </a:solidFill>
          <a:ln/>
        </p:spPr>
      </p:sp>
      <p:sp>
        <p:nvSpPr>
          <p:cNvPr id="18" name="Text 16"/>
          <p:cNvSpPr txBox="1"/>
          <p:nvPr/>
        </p:nvSpPr>
        <p:spPr>
          <a:xfrm>
            <a:off x="9710928" y="2514600"/>
            <a:ext cx="18836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PropertyForRent</a:t>
            </a:r>
            <a:endParaRPr lang="en-US" sz="1800" dirty="0"/>
          </a:p>
        </p:txBody>
      </p:sp>
      <p:sp>
        <p:nvSpPr>
          <p:cNvPr id="19" name="Text 17"/>
          <p:cNvSpPr txBox="1"/>
          <p:nvPr/>
        </p:nvSpPr>
        <p:spPr>
          <a:xfrm>
            <a:off x="9747504" y="2990088"/>
            <a:ext cx="182880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propertyNo</a:t>
            </a:r>
            <a:endParaRPr lang="en-US" sz="1800" dirty="0"/>
          </a:p>
        </p:txBody>
      </p:sp>
      <p:sp>
        <p:nvSpPr>
          <p:cNvPr id="20" name="Shape 18"/>
          <p:cNvSpPr/>
          <p:nvPr/>
        </p:nvSpPr>
        <p:spPr>
          <a:xfrm>
            <a:off x="2834640" y="2880360"/>
            <a:ext cx="2286000" cy="9144"/>
          </a:xfrm>
          <a:prstGeom prst="line">
            <a:avLst/>
          </a:prstGeom>
          <a:noFill/>
          <a:ln w="22225">
            <a:solidFill>
              <a:srgbClr val="9AA1A9"/>
            </a:solidFill>
            <a:prstDash val="solid"/>
          </a:ln>
        </p:spPr>
      </p:sp>
      <p:sp>
        <p:nvSpPr>
          <p:cNvPr id="21" name="Text 19"/>
          <p:cNvSpPr txBox="1"/>
          <p:nvPr/>
        </p:nvSpPr>
        <p:spPr>
          <a:xfrm>
            <a:off x="3291840" y="2496312"/>
            <a:ext cx="137160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Has</a:t>
            </a:r>
            <a:endParaRPr lang="en-US" sz="1800" dirty="0"/>
          </a:p>
        </p:txBody>
      </p:sp>
      <p:sp>
        <p:nvSpPr>
          <p:cNvPr id="22" name="Shape 20"/>
          <p:cNvSpPr/>
          <p:nvPr/>
        </p:nvSpPr>
        <p:spPr>
          <a:xfrm>
            <a:off x="3273552" y="2697480"/>
            <a:ext cx="274320" cy="274320"/>
          </a:xfrm>
          <a:prstGeom prst="ellipse">
            <a:avLst/>
          </a:prstGeom>
          <a:solidFill>
            <a:srgbClr val="2FE6C4"/>
          </a:solidFill>
          <a:ln/>
        </p:spPr>
      </p:sp>
      <p:sp>
        <p:nvSpPr>
          <p:cNvPr id="23" name="Text 21"/>
          <p:cNvSpPr txBox="1"/>
          <p:nvPr/>
        </p:nvSpPr>
        <p:spPr>
          <a:xfrm>
            <a:off x="3273552" y="269748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24" name="Shape 22"/>
          <p:cNvSpPr/>
          <p:nvPr/>
        </p:nvSpPr>
        <p:spPr>
          <a:xfrm>
            <a:off x="4030218" y="2697480"/>
            <a:ext cx="1028700" cy="365760"/>
          </a:xfrm>
          <a:prstGeom prst="roundRect">
            <a:avLst>
              <a:gd name="adj" fmla="val 50000"/>
            </a:avLst>
          </a:prstGeom>
          <a:solidFill>
            <a:srgbClr val="E8A33D"/>
          </a:solidFill>
          <a:ln/>
        </p:spPr>
      </p:sp>
      <p:sp>
        <p:nvSpPr>
          <p:cNvPr id="25" name="Text 23"/>
          <p:cNvSpPr txBox="1"/>
          <p:nvPr/>
        </p:nvSpPr>
        <p:spPr>
          <a:xfrm>
            <a:off x="4030218" y="2697480"/>
            <a:ext cx="1028700" cy="365760"/>
          </a:xfrm>
          <a:prstGeom prst="rect">
            <a:avLst/>
          </a:prstGeom>
          <a:noFill/>
          <a:ln/>
        </p:spPr>
        <p:txBody>
          <a:bodyPr wrap="none" lIns="0" tIns="0" rIns="0" bIns="0" rtlCol="0" anchor="ctr"/>
          <a:lstStyle/>
          <a:p>
            <a:pPr algn="ctr" indent="0" marL="0">
              <a:buNone/>
            </a:pPr>
            <a:r>
              <a:rPr lang="en-US" sz="1800" b="1" dirty="0">
                <a:solidFill>
                  <a:srgbClr val="14181C"/>
                </a:solidFill>
                <a:latin typeface="Calibri" pitchFamily="34" charset="0"/>
                <a:ea typeface="Calibri" pitchFamily="34" charset="-122"/>
                <a:cs typeface="Calibri" pitchFamily="34" charset="-120"/>
              </a:rPr>
              <a:t>(0,N)</a:t>
            </a:r>
            <a:endParaRPr lang="en-US" sz="1800" dirty="0"/>
          </a:p>
        </p:txBody>
      </p:sp>
      <p:sp>
        <p:nvSpPr>
          <p:cNvPr id="26" name="Shape 24"/>
          <p:cNvSpPr/>
          <p:nvPr/>
        </p:nvSpPr>
        <p:spPr>
          <a:xfrm>
            <a:off x="7315200" y="2880360"/>
            <a:ext cx="2286000" cy="9144"/>
          </a:xfrm>
          <a:prstGeom prst="line">
            <a:avLst/>
          </a:prstGeom>
          <a:noFill/>
          <a:ln w="22225">
            <a:solidFill>
              <a:srgbClr val="9AA1A9"/>
            </a:solidFill>
            <a:prstDash val="solid"/>
          </a:ln>
        </p:spPr>
      </p:sp>
      <p:sp>
        <p:nvSpPr>
          <p:cNvPr id="27" name="Text 25"/>
          <p:cNvSpPr txBox="1"/>
          <p:nvPr/>
        </p:nvSpPr>
        <p:spPr>
          <a:xfrm>
            <a:off x="7772400" y="2496312"/>
            <a:ext cx="137160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Oversees</a:t>
            </a:r>
            <a:endParaRPr lang="en-US" sz="1800" dirty="0"/>
          </a:p>
        </p:txBody>
      </p:sp>
      <p:sp>
        <p:nvSpPr>
          <p:cNvPr id="28" name="Shape 26"/>
          <p:cNvSpPr/>
          <p:nvPr/>
        </p:nvSpPr>
        <p:spPr>
          <a:xfrm>
            <a:off x="7376922" y="2697480"/>
            <a:ext cx="1028700" cy="365760"/>
          </a:xfrm>
          <a:prstGeom prst="roundRect">
            <a:avLst>
              <a:gd name="adj" fmla="val 50000"/>
            </a:avLst>
          </a:prstGeom>
          <a:solidFill>
            <a:srgbClr val="2FE6C4"/>
          </a:solidFill>
          <a:ln/>
        </p:spPr>
      </p:sp>
      <p:sp>
        <p:nvSpPr>
          <p:cNvPr id="29" name="Text 27"/>
          <p:cNvSpPr txBox="1"/>
          <p:nvPr/>
        </p:nvSpPr>
        <p:spPr>
          <a:xfrm>
            <a:off x="7376922" y="2697480"/>
            <a:ext cx="1028700" cy="365760"/>
          </a:xfrm>
          <a:prstGeom prst="rect">
            <a:avLst/>
          </a:prstGeom>
          <a:noFill/>
          <a:ln/>
        </p:spPr>
        <p:txBody>
          <a:bodyPr wrap="none" lIns="0" tIns="0" rIns="0" bIns="0" rtlCol="0" anchor="ctr"/>
          <a:lstStyle/>
          <a:p>
            <a:pPr algn="ctr" indent="0" marL="0">
              <a:buNone/>
            </a:pPr>
            <a:r>
              <a:rPr lang="en-US" sz="1800" b="1" dirty="0">
                <a:solidFill>
                  <a:srgbClr val="14181C"/>
                </a:solidFill>
                <a:latin typeface="Calibri" pitchFamily="34" charset="0"/>
                <a:ea typeface="Calibri" pitchFamily="34" charset="-122"/>
                <a:cs typeface="Calibri" pitchFamily="34" charset="-120"/>
              </a:rPr>
              <a:t>(0,N)</a:t>
            </a:r>
            <a:endParaRPr lang="en-US" sz="1800" dirty="0"/>
          </a:p>
        </p:txBody>
      </p:sp>
      <p:sp>
        <p:nvSpPr>
          <p:cNvPr id="30" name="Shape 28"/>
          <p:cNvSpPr/>
          <p:nvPr/>
        </p:nvSpPr>
        <p:spPr>
          <a:xfrm>
            <a:off x="8887968" y="2697480"/>
            <a:ext cx="274320" cy="274320"/>
          </a:xfrm>
          <a:prstGeom prst="ellipse">
            <a:avLst/>
          </a:prstGeom>
          <a:solidFill>
            <a:srgbClr val="E8A33D"/>
          </a:solidFill>
          <a:ln/>
        </p:spPr>
      </p:sp>
      <p:sp>
        <p:nvSpPr>
          <p:cNvPr id="31" name="Text 29"/>
          <p:cNvSpPr txBox="1"/>
          <p:nvPr/>
        </p:nvSpPr>
        <p:spPr>
          <a:xfrm>
            <a:off x="8887968" y="269748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32" name="Shape 30"/>
          <p:cNvSpPr/>
          <p:nvPr/>
        </p:nvSpPr>
        <p:spPr>
          <a:xfrm>
            <a:off x="640080" y="3931920"/>
            <a:ext cx="10911535" cy="2377440"/>
          </a:xfrm>
          <a:prstGeom prst="roundRect">
            <a:avLst>
              <a:gd name="adj" fmla="val 2692"/>
            </a:avLst>
          </a:prstGeom>
          <a:solidFill>
            <a:srgbClr val="FCF1E3"/>
          </a:solidFill>
          <a:ln w="12700">
            <a:solidFill>
              <a:srgbClr val="E8A33D"/>
            </a:solidFill>
            <a:prstDash val="solid"/>
          </a:ln>
        </p:spPr>
      </p:sp>
      <p:sp>
        <p:nvSpPr>
          <p:cNvPr id="33" name="Text 31"/>
          <p:cNvSpPr txBox="1"/>
          <p:nvPr/>
        </p:nvSpPr>
        <p:spPr>
          <a:xfrm>
            <a:off x="896112" y="4078224"/>
            <a:ext cx="10399471" cy="274320"/>
          </a:xfrm>
          <a:prstGeom prst="rect">
            <a:avLst/>
          </a:prstGeom>
          <a:noFill/>
          <a:ln/>
        </p:spPr>
        <p:txBody>
          <a:bodyPr wrap="square" lIns="0" tIns="0" rIns="0" bIns="0" rtlCol="0" anchor="ctr"/>
          <a:lstStyle/>
          <a:p>
            <a:pPr indent="0" marL="0">
              <a:buNone/>
            </a:pPr>
            <a:r>
              <a:rPr lang="en-US" sz="1200" b="1" spc="200" kern="0" dirty="0">
                <a:solidFill>
                  <a:srgbClr val="8A5A12"/>
                </a:solidFill>
                <a:latin typeface="Calibri" pitchFamily="34" charset="0"/>
                <a:ea typeface="Calibri" pitchFamily="34" charset="-122"/>
                <a:cs typeface="Calibri" pitchFamily="34" charset="-120"/>
              </a:rPr>
              <a:t>WHY AN OPTIONAL CHAIN LEAVES A HOLE</a:t>
            </a:r>
            <a:endParaRPr lang="en-US" sz="1200" dirty="0"/>
          </a:p>
        </p:txBody>
      </p:sp>
      <p:sp>
        <p:nvSpPr>
          <p:cNvPr id="34" name="Text 32"/>
          <p:cNvSpPr txBox="1"/>
          <p:nvPr/>
        </p:nvSpPr>
        <p:spPr>
          <a:xfrm>
            <a:off x="896112" y="4407408"/>
            <a:ext cx="10399471" cy="173736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“Which properties belong to Branch B009?” cannot always be answered via Branch → Staff → PropertyForRent: if B009's staff all currently oversee zero properties, or B009 itself has zero staff, the path disappears entirely for that branch — even though B009 plausibly still has properties waiting to be assigned. The (0,*) optional minimum on BOTH legs is exactly what creates the gap.</a:t>
            </a:r>
            <a:endParaRPr lang="en-US" sz="1800" dirty="0"/>
          </a:p>
        </p:txBody>
      </p:sp>
      <p:sp>
        <p:nvSpPr>
          <p:cNvPr id="35" name="Text 33"/>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NAMED ER MODELING ERROR #2</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Chasm Trap — Walking Through the Broken Query</a:t>
            </a:r>
            <a:endParaRPr lang="en-US" sz="2600" dirty="0"/>
          </a:p>
        </p:txBody>
      </p:sp>
      <p:sp>
        <p:nvSpPr>
          <p:cNvPr id="4" name="Text 2"/>
          <p:cNvSpPr txBox="1"/>
          <p:nvPr/>
        </p:nvSpPr>
        <p:spPr>
          <a:xfrm>
            <a:off x="640080" y="1463040"/>
            <a:ext cx="10911535" cy="457200"/>
          </a:xfrm>
          <a:prstGeom prst="rect">
            <a:avLst/>
          </a:prstGeom>
          <a:noFill/>
          <a:ln/>
        </p:spPr>
        <p:txBody>
          <a:bodyPr wrap="square" lIns="0" tIns="0" rIns="0" bIns="0" rtlCol="0" anchor="t"/>
          <a:lstStyle/>
          <a:p>
            <a:pPr marL="228600" indent="-228600">
              <a:lnSpc>
                <a:spcPct val="110000"/>
              </a:lnSpc>
              <a:spcAft>
                <a:spcPts val="800"/>
              </a:spcAft>
              <a:buSzPct val="100000"/>
              <a:buChar char="•"/>
            </a:pPr>
            <a:r>
              <a:rPr lang="en-US" sz="1800" dirty="0">
                <a:solidFill>
                  <a:srgbClr val="1F2429"/>
                </a:solidFill>
                <a:latin typeface="Calibri" pitchFamily="34" charset="0"/>
                <a:ea typeface="Calibri" pitchFamily="34" charset="-122"/>
                <a:cs typeface="Calibri" pitchFamily="34" charset="-120"/>
              </a:rPr>
              <a:t>Branch B009 is brand-new — just opened, no staff hired yet, but three properties already assigned to it directly:</a:t>
            </a:r>
            <a:endParaRPr lang="en-US" sz="1800" dirty="0"/>
          </a:p>
        </p:txBody>
      </p:sp>
      <p:sp>
        <p:nvSpPr>
          <p:cNvPr id="5" name="Text 3"/>
          <p:cNvSpPr txBox="1"/>
          <p:nvPr/>
        </p:nvSpPr>
        <p:spPr>
          <a:xfrm>
            <a:off x="640080" y="2011680"/>
            <a:ext cx="2377440" cy="292608"/>
          </a:xfrm>
          <a:prstGeom prst="rect">
            <a:avLst/>
          </a:prstGeom>
          <a:noFill/>
          <a:ln/>
        </p:spPr>
        <p:txBody>
          <a:bodyPr wrap="square" lIns="0" tIns="0" rIns="0" bIns="0" rtlCol="0" anchor="ctr"/>
          <a:lstStyle/>
          <a:p>
            <a:pPr indent="0" marL="0">
              <a:buNone/>
            </a:pPr>
            <a:r>
              <a:rPr lang="en-US" sz="1400" b="1" dirty="0">
                <a:solidFill>
                  <a:srgbClr val="8B7FD9"/>
                </a:solidFill>
                <a:latin typeface="Courier New" pitchFamily="34" charset="0"/>
                <a:ea typeface="Courier New" pitchFamily="34" charset="-122"/>
                <a:cs typeface="Courier New" pitchFamily="34" charset="-120"/>
              </a:rPr>
              <a:t>Branch</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2359152"/>
          <a:ext cx="2377440" cy="914400"/>
        </p:xfrm>
        <a:graphic>
          <a:graphicData uri="http://schemas.openxmlformats.org/drawingml/2006/table">
            <a:tbl>
              <a:tblPr/>
              <a:tblGrid>
                <a:gridCol w="2377440"/>
              </a:tblGrid>
              <a:tr h="329184">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branchNo</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r>
              <a:tr h="329184">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B009</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3108960" y="2011680"/>
            <a:ext cx="4023360" cy="292608"/>
          </a:xfrm>
          <a:prstGeom prst="rect">
            <a:avLst/>
          </a:prstGeom>
          <a:noFill/>
          <a:ln/>
        </p:spPr>
        <p:txBody>
          <a:bodyPr wrap="square" lIns="0" tIns="0" rIns="0" bIns="0" rtlCol="0" anchor="ctr"/>
          <a:lstStyle/>
          <a:p>
            <a:pPr indent="0" marL="0">
              <a:buNone/>
            </a:pPr>
            <a:r>
              <a:rPr lang="en-US" sz="1400" b="1" dirty="0">
                <a:solidFill>
                  <a:srgbClr val="8B7FD9"/>
                </a:solidFill>
                <a:latin typeface="Courier New" pitchFamily="34" charset="0"/>
                <a:ea typeface="Courier New" pitchFamily="34" charset="-122"/>
                <a:cs typeface="Courier New" pitchFamily="34" charset="-120"/>
              </a:rPr>
              <a:t>Staff (oversees, via Branch)</a:t>
            </a:r>
            <a:endParaRPr lang="en-US" sz="14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3108960" y="2359152"/>
          <a:ext cx="4023360" cy="914400"/>
        </p:xfrm>
        <a:graphic>
          <a:graphicData uri="http://schemas.openxmlformats.org/drawingml/2006/table">
            <a:tbl>
              <a:tblPr/>
              <a:tblGrid>
                <a:gridCol w="2011680"/>
                <a:gridCol w="2011680"/>
              </a:tblGrid>
              <a:tr h="329184">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staffNo</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branchNo</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r>
              <a:tr h="329184">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(none for B009)</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7315200" y="2011680"/>
            <a:ext cx="4206240" cy="292608"/>
          </a:xfrm>
          <a:prstGeom prst="rect">
            <a:avLst/>
          </a:prstGeom>
          <a:noFill/>
          <a:ln/>
        </p:spPr>
        <p:txBody>
          <a:bodyPr wrap="square" lIns="0" tIns="0" rIns="0" bIns="0" rtlCol="0" anchor="ctr"/>
          <a:lstStyle/>
          <a:p>
            <a:pPr indent="0" marL="0">
              <a:buNone/>
            </a:pPr>
            <a:r>
              <a:rPr lang="en-US" sz="1400" b="1" dirty="0">
                <a:solidFill>
                  <a:srgbClr val="8B7FD9"/>
                </a:solidFill>
                <a:latin typeface="Courier New" pitchFamily="34" charset="0"/>
                <a:ea typeface="Courier New" pitchFamily="34" charset="-122"/>
                <a:cs typeface="Courier New" pitchFamily="34" charset="-120"/>
              </a:rPr>
              <a:t>PropertyForRent</a:t>
            </a:r>
            <a:endParaRPr lang="en-US" sz="1400" dirty="0"/>
          </a:p>
        </p:txBody>
      </p:sp>
      <p:graphicFrame>
        <p:nvGraphicFramePr>
          <p:cNvPr id="61" name="Table 2"/>
          <p:cNvGraphicFramePr>
            <a:graphicFrameLocks noGrp="1"/>
          </p:cNvGraphicFramePr>
          <p:nvPr>
            <p:extLst>
              <p:ext uri="{D42A27DB-BD31-4B8C-83A1-F6EECF244321}">
                <p14:modId xmlns:p14="http://schemas.microsoft.com/office/powerpoint/2010/main" val="1579011935"/>
              </p:ext>
            </p:extLst>
          </p:nvPr>
        </p:nvGraphicFramePr>
        <p:xfrm>
          <a:off x="7315200" y="2359152"/>
          <a:ext cx="4206240" cy="914400"/>
        </p:xfrm>
        <a:graphic>
          <a:graphicData uri="http://schemas.openxmlformats.org/drawingml/2006/table">
            <a:tbl>
              <a:tblPr/>
              <a:tblGrid>
                <a:gridCol w="2103120"/>
                <a:gridCol w="2103120"/>
              </a:tblGrid>
              <a:tr h="329184">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propertyNo</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branchNo</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14181C"/>
                    </a:solidFill>
                  </a:tcPr>
                </a:tc>
              </a:tr>
              <a:tr h="329184">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PB01</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B009</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r h="329184">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PB02</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B009</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0F2F4"/>
                    </a:solidFill>
                  </a:tcPr>
                </a:tc>
              </a:tr>
              <a:tr h="329184">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PB03</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429"/>
                          </a:solidFill>
                          <a:latin typeface="Calibri" pitchFamily="34" charset="0"/>
                          <a:ea typeface="Calibri" pitchFamily="34" charset="-122"/>
                          <a:cs typeface="Calibri" pitchFamily="34" charset="-120"/>
                        </a:rPr>
                        <a:t>B009</a:t>
                      </a:r>
                      <a:endParaRPr lang="en-US" sz="1400" dirty="0">
                        <a:latin typeface="Calibri" charset="0"/>
                        <a:ea typeface="Calibri" charset="0"/>
                        <a:cs typeface="Calibri" charset="0"/>
                      </a:endParaRPr>
                    </a:p>
                  </a:txBody>
                  <a:tcPr marL="91440" marR="91440" marT="45720" marB="4572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rgbClr val="FFFFFF"/>
                    </a:solidFill>
                  </a:tcPr>
                </a:tc>
              </a:tr>
            </a:tbl>
          </a:graphicData>
        </a:graphic>
      </p:graphicFrame>
      <p:sp>
        <p:nvSpPr>
          <p:cNvPr id="11" name="Shape 6"/>
          <p:cNvSpPr/>
          <p:nvPr/>
        </p:nvSpPr>
        <p:spPr>
          <a:xfrm>
            <a:off x="640080" y="3931920"/>
            <a:ext cx="10911535" cy="1143000"/>
          </a:xfrm>
          <a:prstGeom prst="roundRect">
            <a:avLst>
              <a:gd name="adj" fmla="val 5600"/>
            </a:avLst>
          </a:prstGeom>
          <a:solidFill>
            <a:srgbClr val="FCF1E3"/>
          </a:solidFill>
          <a:ln w="12700">
            <a:solidFill>
              <a:srgbClr val="E8A33D"/>
            </a:solidFill>
            <a:prstDash val="solid"/>
          </a:ln>
        </p:spPr>
      </p:sp>
      <p:sp>
        <p:nvSpPr>
          <p:cNvPr id="12" name="Text 7"/>
          <p:cNvSpPr txBox="1"/>
          <p:nvPr/>
        </p:nvSpPr>
        <p:spPr>
          <a:xfrm>
            <a:off x="896112" y="4078224"/>
            <a:ext cx="10399471" cy="274320"/>
          </a:xfrm>
          <a:prstGeom prst="rect">
            <a:avLst/>
          </a:prstGeom>
          <a:noFill/>
          <a:ln/>
        </p:spPr>
        <p:txBody>
          <a:bodyPr wrap="square" lIns="0" tIns="0" rIns="0" bIns="0" rtlCol="0" anchor="ctr"/>
          <a:lstStyle/>
          <a:p>
            <a:pPr indent="0" marL="0">
              <a:buNone/>
            </a:pPr>
            <a:r>
              <a:rPr lang="en-US" sz="1200" b="1" spc="200" kern="0" dirty="0">
                <a:solidFill>
                  <a:srgbClr val="8A5A12"/>
                </a:solidFill>
                <a:latin typeface="Calibri" pitchFamily="34" charset="0"/>
                <a:ea typeface="Calibri" pitchFamily="34" charset="-122"/>
                <a:cs typeface="Calibri" pitchFamily="34" charset="-120"/>
              </a:rPr>
              <a:t>THE WALK-THROUGH</a:t>
            </a:r>
            <a:endParaRPr lang="en-US" sz="1200" dirty="0"/>
          </a:p>
        </p:txBody>
      </p:sp>
      <p:sp>
        <p:nvSpPr>
          <p:cNvPr id="13" name="Text 8"/>
          <p:cNvSpPr txBox="1"/>
          <p:nvPr/>
        </p:nvSpPr>
        <p:spPr>
          <a:xfrm>
            <a:off x="896112" y="4407408"/>
            <a:ext cx="10399471" cy="50292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Branch → Staff → PropertyForRent for B009 hits a dead end at step one: zero staff rows, so ZERO properties come back, though three exist. The optional (0,N) step causes it.</a:t>
            </a:r>
            <a:endParaRPr lang="en-US" sz="1800" dirty="0"/>
          </a:p>
        </p:txBody>
      </p:sp>
      <p:sp>
        <p:nvSpPr>
          <p:cNvPr id="14" name="Shape 9"/>
          <p:cNvSpPr/>
          <p:nvPr/>
        </p:nvSpPr>
        <p:spPr>
          <a:xfrm>
            <a:off x="640080" y="5212080"/>
            <a:ext cx="10911535" cy="1188720"/>
          </a:xfrm>
          <a:prstGeom prst="roundRect">
            <a:avLst>
              <a:gd name="adj" fmla="val 5385"/>
            </a:avLst>
          </a:prstGeom>
          <a:solidFill>
            <a:srgbClr val="EAF1FB"/>
          </a:solidFill>
          <a:ln w="12700">
            <a:solidFill>
              <a:srgbClr val="6C8FD6"/>
            </a:solidFill>
            <a:prstDash val="solid"/>
          </a:ln>
        </p:spPr>
      </p:sp>
      <p:sp>
        <p:nvSpPr>
          <p:cNvPr id="15" name="Text 10"/>
          <p:cNvSpPr txBox="1"/>
          <p:nvPr/>
        </p:nvSpPr>
        <p:spPr>
          <a:xfrm>
            <a:off x="896112" y="5358384"/>
            <a:ext cx="10399471" cy="274320"/>
          </a:xfrm>
          <a:prstGeom prst="rect">
            <a:avLst/>
          </a:prstGeom>
          <a:noFill/>
          <a:ln/>
        </p:spPr>
        <p:txBody>
          <a:bodyPr wrap="square" lIns="0" tIns="0" rIns="0" bIns="0" rtlCol="0" anchor="ctr"/>
          <a:lstStyle/>
          <a:p>
            <a:pPr indent="0" marL="0">
              <a:buNone/>
            </a:pPr>
            <a:r>
              <a:rPr lang="en-US" sz="1200" b="1" spc="200" kern="0" dirty="0">
                <a:solidFill>
                  <a:srgbClr val="2C4A8C"/>
                </a:solidFill>
                <a:latin typeface="Calibri" pitchFamily="34" charset="0"/>
                <a:ea typeface="Calibri" pitchFamily="34" charset="-122"/>
                <a:cs typeface="Calibri" pitchFamily="34" charset="-120"/>
              </a:rPr>
              <a:t>THE TELL</a:t>
            </a:r>
            <a:endParaRPr lang="en-US" sz="1200" dirty="0"/>
          </a:p>
        </p:txBody>
      </p:sp>
      <p:sp>
        <p:nvSpPr>
          <p:cNvPr id="16" name="Text 11"/>
          <p:cNvSpPr txBox="1"/>
          <p:nvPr/>
        </p:nvSpPr>
        <p:spPr>
          <a:xfrm>
            <a:off x="896112" y="5687568"/>
            <a:ext cx="10399471" cy="54864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Chasm traps make rows silently DISAPPEAR. Fan traps show as wrong pairings.</a:t>
            </a:r>
            <a:endParaRPr lang="en-US" sz="1800" dirty="0"/>
          </a:p>
        </p:txBody>
      </p:sp>
      <p:sp>
        <p:nvSpPr>
          <p:cNvPr id="17" name="Text 12"/>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9"/>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320040"/>
          </a:xfrm>
          <a:prstGeom prst="rect">
            <a:avLst/>
          </a:prstGeom>
          <a:noFill/>
          <a:ln/>
        </p:spPr>
        <p:txBody>
          <a:bodyPr wrap="square" lIns="0" tIns="0" rIns="0" bIns="0" rtlCol="0" anchor="ctr"/>
          <a:lstStyle/>
          <a:p>
            <a:pPr indent="0" marL="0">
              <a:buNone/>
            </a:pPr>
            <a:r>
              <a:rPr lang="en-US" sz="1250" b="1" spc="250" kern="0" dirty="0">
                <a:solidFill>
                  <a:srgbClr val="8B7FD9"/>
                </a:solidFill>
                <a:latin typeface="Calibri" pitchFamily="34" charset="0"/>
                <a:ea typeface="Calibri" pitchFamily="34" charset="-122"/>
                <a:cs typeface="Calibri" pitchFamily="34" charset="-120"/>
              </a:rPr>
              <a:t>NAMED ER MODELING ERROR #2</a:t>
            </a:r>
            <a:endParaRPr lang="en-US" sz="1250" dirty="0"/>
          </a:p>
        </p:txBody>
      </p:sp>
      <p:sp>
        <p:nvSpPr>
          <p:cNvPr id="3" name="Text 1"/>
          <p:cNvSpPr txBox="1"/>
          <p:nvPr/>
        </p:nvSpPr>
        <p:spPr>
          <a:xfrm>
            <a:off x="640080" y="713232"/>
            <a:ext cx="10911535" cy="777240"/>
          </a:xfrm>
          <a:prstGeom prst="rect">
            <a:avLst/>
          </a:prstGeom>
          <a:noFill/>
          <a:ln/>
        </p:spPr>
        <p:txBody>
          <a:bodyPr wrap="square" lIns="0" tIns="0" rIns="0" bIns="0" rtlCol="0" anchor="ctr"/>
          <a:lstStyle/>
          <a:p>
            <a:pPr indent="0" marL="0">
              <a:buNone/>
            </a:pPr>
            <a:r>
              <a:rPr lang="en-US" sz="2600" b="1" dirty="0">
                <a:solidFill>
                  <a:srgbClr val="1F2429"/>
                </a:solidFill>
                <a:latin typeface="Calibri" pitchFamily="34" charset="0"/>
                <a:ea typeface="Calibri" pitchFamily="34" charset="-122"/>
                <a:cs typeface="Calibri" pitchFamily="34" charset="-120"/>
              </a:rPr>
              <a:t>Chasm Trap — Corrected</a:t>
            </a:r>
            <a:endParaRPr lang="en-US" sz="2600" dirty="0"/>
          </a:p>
        </p:txBody>
      </p:sp>
      <p:sp>
        <p:nvSpPr>
          <p:cNvPr id="4" name="Shape 2"/>
          <p:cNvSpPr/>
          <p:nvPr/>
        </p:nvSpPr>
        <p:spPr>
          <a:xfrm>
            <a:off x="640080" y="1645920"/>
            <a:ext cx="2194560" cy="859536"/>
          </a:xfrm>
          <a:prstGeom prst="roundRect">
            <a:avLst>
              <a:gd name="adj" fmla="val 8511"/>
            </a:avLst>
          </a:prstGeom>
          <a:solidFill>
            <a:srgbClr val="FFFFFF"/>
          </a:solidFill>
          <a:ln w="15875">
            <a:solidFill>
              <a:srgbClr val="1F2429"/>
            </a:solidFill>
            <a:prstDash val="solid"/>
          </a:ln>
        </p:spPr>
      </p:sp>
      <p:sp>
        <p:nvSpPr>
          <p:cNvPr id="5" name="Shape 3"/>
          <p:cNvSpPr/>
          <p:nvPr/>
        </p:nvSpPr>
        <p:spPr>
          <a:xfrm>
            <a:off x="640080" y="1645920"/>
            <a:ext cx="2194560" cy="420624"/>
          </a:xfrm>
          <a:prstGeom prst="roundRect">
            <a:avLst>
              <a:gd name="adj" fmla="val 17391"/>
            </a:avLst>
          </a:prstGeom>
          <a:solidFill>
            <a:srgbClr val="2FE6C4"/>
          </a:solidFill>
          <a:ln/>
        </p:spPr>
      </p:sp>
      <p:sp>
        <p:nvSpPr>
          <p:cNvPr id="6" name="Shape 4"/>
          <p:cNvSpPr/>
          <p:nvPr/>
        </p:nvSpPr>
        <p:spPr>
          <a:xfrm>
            <a:off x="640080" y="1856232"/>
            <a:ext cx="2194560" cy="210312"/>
          </a:xfrm>
          <a:prstGeom prst="rect">
            <a:avLst/>
          </a:prstGeom>
          <a:solidFill>
            <a:srgbClr val="2FE6C4"/>
          </a:solidFill>
          <a:ln/>
        </p:spPr>
      </p:sp>
      <p:sp>
        <p:nvSpPr>
          <p:cNvPr id="7" name="Text 5"/>
          <p:cNvSpPr txBox="1"/>
          <p:nvPr/>
        </p:nvSpPr>
        <p:spPr>
          <a:xfrm>
            <a:off x="749808" y="1645920"/>
            <a:ext cx="19751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Branch</a:t>
            </a:r>
            <a:endParaRPr lang="en-US" sz="1800" dirty="0"/>
          </a:p>
        </p:txBody>
      </p:sp>
      <p:sp>
        <p:nvSpPr>
          <p:cNvPr id="8" name="Text 6"/>
          <p:cNvSpPr txBox="1"/>
          <p:nvPr/>
        </p:nvSpPr>
        <p:spPr>
          <a:xfrm>
            <a:off x="786384" y="2121408"/>
            <a:ext cx="192024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branchNo</a:t>
            </a:r>
            <a:endParaRPr lang="en-US" sz="1800" dirty="0"/>
          </a:p>
        </p:txBody>
      </p:sp>
      <p:sp>
        <p:nvSpPr>
          <p:cNvPr id="9" name="Shape 7"/>
          <p:cNvSpPr/>
          <p:nvPr/>
        </p:nvSpPr>
        <p:spPr>
          <a:xfrm>
            <a:off x="5120640" y="1645920"/>
            <a:ext cx="2194560" cy="859536"/>
          </a:xfrm>
          <a:prstGeom prst="roundRect">
            <a:avLst>
              <a:gd name="adj" fmla="val 8511"/>
            </a:avLst>
          </a:prstGeom>
          <a:solidFill>
            <a:srgbClr val="FFFFFF"/>
          </a:solidFill>
          <a:ln w="15875">
            <a:solidFill>
              <a:srgbClr val="1F2429"/>
            </a:solidFill>
            <a:prstDash val="solid"/>
          </a:ln>
        </p:spPr>
      </p:sp>
      <p:sp>
        <p:nvSpPr>
          <p:cNvPr id="10" name="Shape 8"/>
          <p:cNvSpPr/>
          <p:nvPr/>
        </p:nvSpPr>
        <p:spPr>
          <a:xfrm>
            <a:off x="5120640" y="1645920"/>
            <a:ext cx="2194560" cy="420624"/>
          </a:xfrm>
          <a:prstGeom prst="roundRect">
            <a:avLst>
              <a:gd name="adj" fmla="val 17391"/>
            </a:avLst>
          </a:prstGeom>
          <a:solidFill>
            <a:srgbClr val="2FE6C4"/>
          </a:solidFill>
          <a:ln/>
        </p:spPr>
      </p:sp>
      <p:sp>
        <p:nvSpPr>
          <p:cNvPr id="11" name="Shape 9"/>
          <p:cNvSpPr/>
          <p:nvPr/>
        </p:nvSpPr>
        <p:spPr>
          <a:xfrm>
            <a:off x="5120640" y="1856232"/>
            <a:ext cx="2194560" cy="210312"/>
          </a:xfrm>
          <a:prstGeom prst="rect">
            <a:avLst/>
          </a:prstGeom>
          <a:solidFill>
            <a:srgbClr val="2FE6C4"/>
          </a:solidFill>
          <a:ln/>
        </p:spPr>
      </p:sp>
      <p:sp>
        <p:nvSpPr>
          <p:cNvPr id="12" name="Text 10"/>
          <p:cNvSpPr txBox="1"/>
          <p:nvPr/>
        </p:nvSpPr>
        <p:spPr>
          <a:xfrm>
            <a:off x="5230368" y="1645920"/>
            <a:ext cx="197510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Staff</a:t>
            </a:r>
            <a:endParaRPr lang="en-US" sz="1800" dirty="0"/>
          </a:p>
        </p:txBody>
      </p:sp>
      <p:sp>
        <p:nvSpPr>
          <p:cNvPr id="13" name="Text 11"/>
          <p:cNvSpPr txBox="1"/>
          <p:nvPr/>
        </p:nvSpPr>
        <p:spPr>
          <a:xfrm>
            <a:off x="5266944" y="2121408"/>
            <a:ext cx="1920240" cy="292608"/>
          </a:xfrm>
          <a:prstGeom prst="rect">
            <a:avLst/>
          </a:prstGeom>
          <a:noFill/>
          <a:ln/>
        </p:spPr>
        <p:txBody>
          <a:bodyPr wrap="square" lIns="0" tIns="0" rIns="0" bIns="0" rtlCol="0" anchor="t"/>
          <a:lstStyle/>
          <a:p>
            <a:pPr indent="0" marL="0">
              <a:lnSpc>
                <a:spcPct val="108000"/>
              </a:lnSpc>
              <a:spcAft>
                <a:spcPts val="100"/>
              </a:spcAft>
              <a:buNone/>
            </a:pPr>
            <a:r>
              <a:rPr lang="en-US" sz="1800" b="1" u="sng" dirty="0">
                <a:solidFill>
                  <a:srgbClr val="1F2429"/>
                </a:solidFill>
                <a:latin typeface="Calibri" pitchFamily="34" charset="0"/>
                <a:ea typeface="Calibri" pitchFamily="34" charset="-122"/>
                <a:cs typeface="Calibri" pitchFamily="34" charset="-120"/>
              </a:rPr>
              <a:t>staffNo</a:t>
            </a:r>
            <a:endParaRPr lang="en-US" sz="1800" dirty="0"/>
          </a:p>
        </p:txBody>
      </p:sp>
      <p:sp>
        <p:nvSpPr>
          <p:cNvPr id="14" name="Shape 12"/>
          <p:cNvSpPr/>
          <p:nvPr/>
        </p:nvSpPr>
        <p:spPr>
          <a:xfrm>
            <a:off x="9601200" y="1508760"/>
            <a:ext cx="2103120" cy="1152144"/>
          </a:xfrm>
          <a:prstGeom prst="roundRect">
            <a:avLst>
              <a:gd name="adj" fmla="val 6349"/>
            </a:avLst>
          </a:prstGeom>
          <a:solidFill>
            <a:srgbClr val="FFFFFF"/>
          </a:solidFill>
          <a:ln w="15875">
            <a:solidFill>
              <a:srgbClr val="1F2429"/>
            </a:solidFill>
            <a:prstDash val="solid"/>
          </a:ln>
        </p:spPr>
      </p:sp>
      <p:sp>
        <p:nvSpPr>
          <p:cNvPr id="15" name="Shape 13"/>
          <p:cNvSpPr/>
          <p:nvPr/>
        </p:nvSpPr>
        <p:spPr>
          <a:xfrm>
            <a:off x="9601200" y="1508760"/>
            <a:ext cx="2103120" cy="420624"/>
          </a:xfrm>
          <a:prstGeom prst="roundRect">
            <a:avLst>
              <a:gd name="adj" fmla="val 17391"/>
            </a:avLst>
          </a:prstGeom>
          <a:solidFill>
            <a:srgbClr val="2FE6C4"/>
          </a:solidFill>
          <a:ln/>
        </p:spPr>
      </p:sp>
      <p:sp>
        <p:nvSpPr>
          <p:cNvPr id="16" name="Shape 14"/>
          <p:cNvSpPr/>
          <p:nvPr/>
        </p:nvSpPr>
        <p:spPr>
          <a:xfrm>
            <a:off x="9601200" y="1719072"/>
            <a:ext cx="2103120" cy="210312"/>
          </a:xfrm>
          <a:prstGeom prst="rect">
            <a:avLst/>
          </a:prstGeom>
          <a:solidFill>
            <a:srgbClr val="2FE6C4"/>
          </a:solidFill>
          <a:ln/>
        </p:spPr>
      </p:sp>
      <p:sp>
        <p:nvSpPr>
          <p:cNvPr id="17" name="Text 15"/>
          <p:cNvSpPr txBox="1"/>
          <p:nvPr/>
        </p:nvSpPr>
        <p:spPr>
          <a:xfrm>
            <a:off x="9710928" y="1508760"/>
            <a:ext cx="1883664" cy="420624"/>
          </a:xfrm>
          <a:prstGeom prst="rect">
            <a:avLst/>
          </a:prstGeom>
          <a:noFill/>
          <a:ln/>
        </p:spPr>
        <p:txBody>
          <a:bodyPr wrap="square" lIns="0" tIns="0" rIns="0" bIns="0" rtlCol="0" anchor="ctr"/>
          <a:lstStyle/>
          <a:p>
            <a:pPr algn="l" indent="0" marL="0">
              <a:buNone/>
            </a:pPr>
            <a:r>
              <a:rPr lang="en-US" sz="1800" b="1" dirty="0">
                <a:solidFill>
                  <a:srgbClr val="14181C"/>
                </a:solidFill>
                <a:latin typeface="Calibri" pitchFamily="34" charset="0"/>
                <a:ea typeface="Calibri" pitchFamily="34" charset="-122"/>
                <a:cs typeface="Calibri" pitchFamily="34" charset="-120"/>
              </a:rPr>
              <a:t>PropertyForRent</a:t>
            </a:r>
            <a:endParaRPr lang="en-US" sz="1800" dirty="0"/>
          </a:p>
        </p:txBody>
      </p:sp>
      <p:sp>
        <p:nvSpPr>
          <p:cNvPr id="18" name="Text 16"/>
          <p:cNvSpPr txBox="1"/>
          <p:nvPr/>
        </p:nvSpPr>
        <p:spPr>
          <a:xfrm>
            <a:off x="9747504" y="1984248"/>
            <a:ext cx="1828800" cy="585216"/>
          </a:xfrm>
          <a:prstGeom prst="rect">
            <a:avLst/>
          </a:prstGeom>
          <a:noFill/>
          <a:ln/>
        </p:spPr>
        <p:txBody>
          <a:bodyPr wrap="square" lIns="0" tIns="0" rIns="0" bIns="0" rtlCol="0" anchor="t"/>
          <a:lstStyle/>
          <a:p>
            <a:pPr indent="0" marL="0">
              <a:lnSpc>
                <a:spcPct val="108000"/>
              </a:lnSpc>
              <a:spcAft>
                <a:spcPts val="100"/>
              </a:spcAft>
              <a:buNone/>
            </a:pPr>
            <a:r>
              <a:rPr lang="en-US" sz="1400" b="1" u="sng" dirty="0">
                <a:solidFill>
                  <a:srgbClr val="1F2429"/>
                </a:solidFill>
                <a:latin typeface="Calibri" pitchFamily="34" charset="0"/>
                <a:ea typeface="Calibri" pitchFamily="34" charset="-122"/>
                <a:cs typeface="Calibri" pitchFamily="34" charset="-120"/>
              </a:rPr>
              <a:t>propertyNo</a:t>
            </a:r>
            <a:endParaRPr lang="en-US" sz="1400" dirty="0"/>
          </a:p>
          <a:p>
            <a:pPr indent="0" marL="0">
              <a:lnSpc>
                <a:spcPct val="108000"/>
              </a:lnSpc>
              <a:spcAft>
                <a:spcPts val="100"/>
              </a:spcAft>
              <a:buNone/>
            </a:pPr>
            <a:r>
              <a:rPr lang="en-US" sz="1400" i="1" dirty="0">
                <a:solidFill>
                  <a:srgbClr val="5B6470"/>
                </a:solidFill>
                <a:latin typeface="Calibri" pitchFamily="34" charset="0"/>
                <a:ea typeface="Calibri" pitchFamily="34" charset="-122"/>
                <a:cs typeface="Calibri" pitchFamily="34" charset="-120"/>
              </a:rPr>
              <a:t>branchNo</a:t>
            </a:r>
            <a:endParaRPr lang="en-US" sz="1400" dirty="0"/>
          </a:p>
        </p:txBody>
      </p:sp>
      <p:sp>
        <p:nvSpPr>
          <p:cNvPr id="19" name="Shape 17"/>
          <p:cNvSpPr/>
          <p:nvPr/>
        </p:nvSpPr>
        <p:spPr>
          <a:xfrm>
            <a:off x="2834640" y="2011680"/>
            <a:ext cx="2286000" cy="9144"/>
          </a:xfrm>
          <a:prstGeom prst="line">
            <a:avLst/>
          </a:prstGeom>
          <a:noFill/>
          <a:ln w="22225">
            <a:solidFill>
              <a:srgbClr val="9AA1A9"/>
            </a:solidFill>
            <a:prstDash val="solid"/>
          </a:ln>
        </p:spPr>
      </p:sp>
      <p:sp>
        <p:nvSpPr>
          <p:cNvPr id="20" name="Text 18"/>
          <p:cNvSpPr txBox="1"/>
          <p:nvPr/>
        </p:nvSpPr>
        <p:spPr>
          <a:xfrm>
            <a:off x="3291840" y="1627632"/>
            <a:ext cx="137160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Has</a:t>
            </a:r>
            <a:endParaRPr lang="en-US" sz="1800" dirty="0"/>
          </a:p>
        </p:txBody>
      </p:sp>
      <p:sp>
        <p:nvSpPr>
          <p:cNvPr id="21" name="Shape 19"/>
          <p:cNvSpPr/>
          <p:nvPr/>
        </p:nvSpPr>
        <p:spPr>
          <a:xfrm>
            <a:off x="3273552" y="1828800"/>
            <a:ext cx="274320" cy="274320"/>
          </a:xfrm>
          <a:prstGeom prst="ellipse">
            <a:avLst/>
          </a:prstGeom>
          <a:solidFill>
            <a:srgbClr val="2FE6C4"/>
          </a:solidFill>
          <a:ln/>
        </p:spPr>
      </p:sp>
      <p:sp>
        <p:nvSpPr>
          <p:cNvPr id="22" name="Text 20"/>
          <p:cNvSpPr txBox="1"/>
          <p:nvPr/>
        </p:nvSpPr>
        <p:spPr>
          <a:xfrm>
            <a:off x="3273552" y="182880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23" name="Shape 21"/>
          <p:cNvSpPr/>
          <p:nvPr/>
        </p:nvSpPr>
        <p:spPr>
          <a:xfrm>
            <a:off x="4030218" y="1828800"/>
            <a:ext cx="1028700" cy="365760"/>
          </a:xfrm>
          <a:prstGeom prst="roundRect">
            <a:avLst>
              <a:gd name="adj" fmla="val 50000"/>
            </a:avLst>
          </a:prstGeom>
          <a:solidFill>
            <a:srgbClr val="E8A33D"/>
          </a:solidFill>
          <a:ln/>
        </p:spPr>
      </p:sp>
      <p:sp>
        <p:nvSpPr>
          <p:cNvPr id="24" name="Text 22"/>
          <p:cNvSpPr txBox="1"/>
          <p:nvPr/>
        </p:nvSpPr>
        <p:spPr>
          <a:xfrm>
            <a:off x="4030218" y="1828800"/>
            <a:ext cx="1028700" cy="365760"/>
          </a:xfrm>
          <a:prstGeom prst="rect">
            <a:avLst/>
          </a:prstGeom>
          <a:noFill/>
          <a:ln/>
        </p:spPr>
        <p:txBody>
          <a:bodyPr wrap="none" lIns="0" tIns="0" rIns="0" bIns="0" rtlCol="0" anchor="ctr"/>
          <a:lstStyle/>
          <a:p>
            <a:pPr algn="ctr" indent="0" marL="0">
              <a:buNone/>
            </a:pPr>
            <a:r>
              <a:rPr lang="en-US" sz="1800" b="1" dirty="0">
                <a:solidFill>
                  <a:srgbClr val="14181C"/>
                </a:solidFill>
                <a:latin typeface="Calibri" pitchFamily="34" charset="0"/>
                <a:ea typeface="Calibri" pitchFamily="34" charset="-122"/>
                <a:cs typeface="Calibri" pitchFamily="34" charset="-120"/>
              </a:rPr>
              <a:t>(0,N)</a:t>
            </a:r>
            <a:endParaRPr lang="en-US" sz="1800" dirty="0"/>
          </a:p>
        </p:txBody>
      </p:sp>
      <p:sp>
        <p:nvSpPr>
          <p:cNvPr id="25" name="Shape 23"/>
          <p:cNvSpPr/>
          <p:nvPr/>
        </p:nvSpPr>
        <p:spPr>
          <a:xfrm>
            <a:off x="7315200" y="2011680"/>
            <a:ext cx="2286000" cy="9144"/>
          </a:xfrm>
          <a:prstGeom prst="line">
            <a:avLst/>
          </a:prstGeom>
          <a:noFill/>
          <a:ln w="22225">
            <a:solidFill>
              <a:srgbClr val="9AA1A9"/>
            </a:solidFill>
            <a:prstDash val="solid"/>
          </a:ln>
        </p:spPr>
      </p:sp>
      <p:sp>
        <p:nvSpPr>
          <p:cNvPr id="26" name="Text 24"/>
          <p:cNvSpPr txBox="1"/>
          <p:nvPr/>
        </p:nvSpPr>
        <p:spPr>
          <a:xfrm>
            <a:off x="7772400" y="1627632"/>
            <a:ext cx="1371600" cy="274320"/>
          </a:xfrm>
          <a:prstGeom prst="rect">
            <a:avLst/>
          </a:prstGeom>
          <a:solidFill>
            <a:srgbClr val="F7F8F9"/>
          </a:solidFill>
          <a:ln/>
        </p:spPr>
        <p:txBody>
          <a:bodyPr wrap="square" lIns="0" tIns="0" rIns="0" bIns="0" rtlCol="0" anchor="ctr"/>
          <a:lstStyle/>
          <a:p>
            <a:pPr algn="ctr" indent="0" marL="0">
              <a:buNone/>
            </a:pPr>
            <a:r>
              <a:rPr lang="en-US" sz="1800" i="1" dirty="0">
                <a:solidFill>
                  <a:srgbClr val="1F2429"/>
                </a:solidFill>
                <a:latin typeface="Calibri" pitchFamily="34" charset="0"/>
                <a:ea typeface="Calibri" pitchFamily="34" charset="-122"/>
                <a:cs typeface="Calibri" pitchFamily="34" charset="-120"/>
              </a:rPr>
              <a:t>Oversees</a:t>
            </a:r>
            <a:endParaRPr lang="en-US" sz="1800" dirty="0"/>
          </a:p>
        </p:txBody>
      </p:sp>
      <p:sp>
        <p:nvSpPr>
          <p:cNvPr id="27" name="Shape 25"/>
          <p:cNvSpPr/>
          <p:nvPr/>
        </p:nvSpPr>
        <p:spPr>
          <a:xfrm>
            <a:off x="7376922" y="1828800"/>
            <a:ext cx="1028700" cy="365760"/>
          </a:xfrm>
          <a:prstGeom prst="roundRect">
            <a:avLst>
              <a:gd name="adj" fmla="val 50000"/>
            </a:avLst>
          </a:prstGeom>
          <a:solidFill>
            <a:srgbClr val="2FE6C4"/>
          </a:solidFill>
          <a:ln/>
        </p:spPr>
      </p:sp>
      <p:sp>
        <p:nvSpPr>
          <p:cNvPr id="28" name="Text 26"/>
          <p:cNvSpPr txBox="1"/>
          <p:nvPr/>
        </p:nvSpPr>
        <p:spPr>
          <a:xfrm>
            <a:off x="7376922" y="1828800"/>
            <a:ext cx="1028700" cy="365760"/>
          </a:xfrm>
          <a:prstGeom prst="rect">
            <a:avLst/>
          </a:prstGeom>
          <a:noFill/>
          <a:ln/>
        </p:spPr>
        <p:txBody>
          <a:bodyPr wrap="none" lIns="0" tIns="0" rIns="0" bIns="0" rtlCol="0" anchor="ctr"/>
          <a:lstStyle/>
          <a:p>
            <a:pPr algn="ctr" indent="0" marL="0">
              <a:buNone/>
            </a:pPr>
            <a:r>
              <a:rPr lang="en-US" sz="1800" b="1" dirty="0">
                <a:solidFill>
                  <a:srgbClr val="14181C"/>
                </a:solidFill>
                <a:latin typeface="Calibri" pitchFamily="34" charset="0"/>
                <a:ea typeface="Calibri" pitchFamily="34" charset="-122"/>
                <a:cs typeface="Calibri" pitchFamily="34" charset="-120"/>
              </a:rPr>
              <a:t>(0,N)</a:t>
            </a:r>
            <a:endParaRPr lang="en-US" sz="1800" dirty="0"/>
          </a:p>
        </p:txBody>
      </p:sp>
      <p:sp>
        <p:nvSpPr>
          <p:cNvPr id="29" name="Shape 27"/>
          <p:cNvSpPr/>
          <p:nvPr/>
        </p:nvSpPr>
        <p:spPr>
          <a:xfrm>
            <a:off x="8887968" y="1828800"/>
            <a:ext cx="274320" cy="274320"/>
          </a:xfrm>
          <a:prstGeom prst="ellipse">
            <a:avLst/>
          </a:prstGeom>
          <a:solidFill>
            <a:srgbClr val="E8A33D"/>
          </a:solidFill>
          <a:ln/>
        </p:spPr>
      </p:sp>
      <p:sp>
        <p:nvSpPr>
          <p:cNvPr id="30" name="Text 28"/>
          <p:cNvSpPr txBox="1"/>
          <p:nvPr/>
        </p:nvSpPr>
        <p:spPr>
          <a:xfrm>
            <a:off x="8887968" y="1828800"/>
            <a:ext cx="274320" cy="274320"/>
          </a:xfrm>
          <a:prstGeom prst="rect">
            <a:avLst/>
          </a:prstGeom>
          <a:noFill/>
          <a:ln/>
        </p:spPr>
        <p:txBody>
          <a:bodyPr wrap="square" lIns="0" tIns="0" rIns="0" bIns="0" rtlCol="0" anchor="ctr"/>
          <a:lstStyle/>
          <a:p>
            <a:pPr algn="ctr" indent="0" marL="0">
              <a:buNone/>
            </a:pPr>
            <a:r>
              <a:rPr lang="en-US" sz="1200" b="1" dirty="0">
                <a:solidFill>
                  <a:srgbClr val="14181C"/>
                </a:solidFill>
                <a:latin typeface="Calibri" pitchFamily="34" charset="0"/>
                <a:ea typeface="Calibri" pitchFamily="34" charset="-122"/>
                <a:cs typeface="Calibri" pitchFamily="34" charset="-120"/>
              </a:rPr>
              <a:t>1</a:t>
            </a:r>
            <a:endParaRPr lang="en-US" sz="1200" dirty="0"/>
          </a:p>
        </p:txBody>
      </p:sp>
      <p:sp>
        <p:nvSpPr>
          <p:cNvPr id="31" name="Text 29"/>
          <p:cNvSpPr txBox="1"/>
          <p:nvPr/>
        </p:nvSpPr>
        <p:spPr>
          <a:xfrm>
            <a:off x="1554480" y="3017520"/>
            <a:ext cx="3108960" cy="274320"/>
          </a:xfrm>
          <a:prstGeom prst="rect">
            <a:avLst/>
          </a:prstGeom>
          <a:noFill/>
          <a:ln/>
        </p:spPr>
        <p:txBody>
          <a:bodyPr wrap="square" lIns="0" tIns="0" rIns="0" bIns="0" rtlCol="0" anchor="ctr"/>
          <a:lstStyle/>
          <a:p>
            <a:pPr algn="ctr" indent="0" marL="0">
              <a:buNone/>
            </a:pPr>
            <a:r>
              <a:rPr lang="en-US" sz="1800" b="1" i="1" dirty="0">
                <a:solidFill>
                  <a:srgbClr val="0E7A61"/>
                </a:solidFill>
                <a:latin typeface="Calibri" pitchFamily="34" charset="0"/>
                <a:ea typeface="Calibri" pitchFamily="34" charset="-122"/>
                <a:cs typeface="Calibri" pitchFamily="34" charset="-120"/>
              </a:rPr>
              <a:t>Located-In (NEW — direct)</a:t>
            </a:r>
            <a:endParaRPr lang="en-US" sz="1800" dirty="0"/>
          </a:p>
        </p:txBody>
      </p:sp>
      <p:sp>
        <p:nvSpPr>
          <p:cNvPr id="32" name="Shape 30"/>
          <p:cNvSpPr/>
          <p:nvPr/>
        </p:nvSpPr>
        <p:spPr>
          <a:xfrm>
            <a:off x="1920240" y="2651760"/>
            <a:ext cx="8823960" cy="914400"/>
          </a:xfrm>
          <a:prstGeom prst="line">
            <a:avLst/>
          </a:prstGeom>
          <a:noFill/>
          <a:ln w="28575">
            <a:solidFill>
              <a:srgbClr val="1FAE8C"/>
            </a:solidFill>
            <a:prstDash val="solid"/>
            <a:tailEnd type="triangle"/>
          </a:ln>
        </p:spPr>
      </p:sp>
      <p:sp>
        <p:nvSpPr>
          <p:cNvPr id="33" name="Shape 31"/>
          <p:cNvSpPr/>
          <p:nvPr/>
        </p:nvSpPr>
        <p:spPr>
          <a:xfrm>
            <a:off x="640080" y="3840480"/>
            <a:ext cx="10911535" cy="2560320"/>
          </a:xfrm>
          <a:prstGeom prst="roundRect">
            <a:avLst>
              <a:gd name="adj" fmla="val 2500"/>
            </a:avLst>
          </a:prstGeom>
          <a:solidFill>
            <a:srgbClr val="E9F9F3"/>
          </a:solidFill>
          <a:ln w="12700">
            <a:solidFill>
              <a:srgbClr val="1FAE8C"/>
            </a:solidFill>
            <a:prstDash val="solid"/>
          </a:ln>
        </p:spPr>
      </p:sp>
      <p:sp>
        <p:nvSpPr>
          <p:cNvPr id="34" name="Text 32"/>
          <p:cNvSpPr txBox="1"/>
          <p:nvPr/>
        </p:nvSpPr>
        <p:spPr>
          <a:xfrm>
            <a:off x="896112" y="3986784"/>
            <a:ext cx="10399471" cy="274320"/>
          </a:xfrm>
          <a:prstGeom prst="rect">
            <a:avLst/>
          </a:prstGeom>
          <a:noFill/>
          <a:ln/>
        </p:spPr>
        <p:txBody>
          <a:bodyPr wrap="square" lIns="0" tIns="0" rIns="0" bIns="0" rtlCol="0" anchor="ctr"/>
          <a:lstStyle/>
          <a:p>
            <a:pPr indent="0" marL="0">
              <a:buNone/>
            </a:pPr>
            <a:r>
              <a:rPr lang="en-US" sz="1200" b="1" spc="200" kern="0" dirty="0">
                <a:solidFill>
                  <a:srgbClr val="0E7A61"/>
                </a:solidFill>
                <a:latin typeface="Calibri" pitchFamily="34" charset="0"/>
                <a:ea typeface="Calibri" pitchFamily="34" charset="-122"/>
                <a:cs typeface="Calibri" pitchFamily="34" charset="-120"/>
              </a:rPr>
              <a:t>WHAT CHANGED AND WHY</a:t>
            </a:r>
            <a:endParaRPr lang="en-US" sz="1200" dirty="0"/>
          </a:p>
        </p:txBody>
      </p:sp>
      <p:sp>
        <p:nvSpPr>
          <p:cNvPr id="35" name="Text 33"/>
          <p:cNvSpPr txBox="1"/>
          <p:nvPr/>
        </p:nvSpPr>
        <p:spPr>
          <a:xfrm>
            <a:off x="896112" y="4315968"/>
            <a:ext cx="10399471" cy="1920240"/>
          </a:xfrm>
          <a:prstGeom prst="rect">
            <a:avLst/>
          </a:prstGeom>
          <a:noFill/>
          <a:ln/>
        </p:spPr>
        <p:txBody>
          <a:bodyPr wrap="square" lIns="0" tIns="0" rIns="0" bIns="0" rtlCol="0" anchor="t"/>
          <a:lstStyle/>
          <a:p>
            <a:pPr indent="0" marL="0">
              <a:lnSpc>
                <a:spcPct val="108000"/>
              </a:lnSpc>
              <a:buNone/>
            </a:pPr>
            <a:r>
              <a:rPr lang="en-US" sz="1800" dirty="0">
                <a:solidFill>
                  <a:srgbClr val="1F2429"/>
                </a:solidFill>
                <a:latin typeface="Calibri" pitchFamily="34" charset="0"/>
                <a:ea typeface="Calibri" pitchFamily="34" charset="-122"/>
                <a:cs typeface="Calibri" pitchFamily="34" charset="-120"/>
              </a:rPr>
              <a:t>What changed, and why: a NEW direct relationship, Branch Located-In PropertyForRent (mandatory on the property side), is added, and PropertyForRent carries branchNo directly. “Which properties belong to B009?” is now answerable straight from PropertyForRent — it never has to pass through the optional Staff hop at all, so a branch with zero staff still correctly returns every property it owns. Both the fan trap and the chasm trap are fixed the identical way: add the missing DIRECT relationship between the two entity types that actually need to be connected, instead of relying on an intermediate path.</a:t>
            </a:r>
            <a:endParaRPr lang="en-US" sz="1800" dirty="0"/>
          </a:p>
        </p:txBody>
      </p:sp>
      <p:sp>
        <p:nvSpPr>
          <p:cNvPr id="36" name="Text 34"/>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181C"/>
        </a:solidFill>
      </p:bgPr>
    </p:bg>
    <p:spTree>
      <p:nvGrpSpPr>
        <p:cNvPr id="1" name=""/>
        <p:cNvGrpSpPr/>
        <p:nvPr/>
      </p:nvGrpSpPr>
      <p:grpSpPr>
        <a:xfrm>
          <a:off x="0" y="0"/>
          <a:ext cx="0" cy="0"/>
          <a:chOff x="0" y="0"/>
          <a:chExt cx="0" cy="0"/>
        </a:xfrm>
      </p:grpSpPr>
      <p:sp>
        <p:nvSpPr>
          <p:cNvPr id="2" name="Text 0"/>
          <p:cNvSpPr txBox="1"/>
          <p:nvPr/>
        </p:nvSpPr>
        <p:spPr>
          <a:xfrm>
            <a:off x="822960" y="640080"/>
            <a:ext cx="9144000" cy="457200"/>
          </a:xfrm>
          <a:prstGeom prst="rect">
            <a:avLst/>
          </a:prstGeom>
          <a:noFill/>
          <a:ln/>
        </p:spPr>
        <p:txBody>
          <a:bodyPr wrap="square" lIns="0" tIns="0" rIns="0" bIns="0" rtlCol="0" anchor="ctr"/>
          <a:lstStyle/>
          <a:p>
            <a:pPr indent="0" marL="0">
              <a:buNone/>
            </a:pPr>
            <a:r>
              <a:rPr lang="en-US" sz="1500" b="1" spc="400" kern="0" dirty="0">
                <a:solidFill>
                  <a:srgbClr val="2FE6C4"/>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097280"/>
            <a:ext cx="10515600" cy="82296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Key Takeaways</a:t>
            </a:r>
            <a:endParaRPr lang="en-US" sz="3000" dirty="0"/>
          </a:p>
        </p:txBody>
      </p:sp>
      <p:sp>
        <p:nvSpPr>
          <p:cNvPr id="4" name="Shape 2"/>
          <p:cNvSpPr/>
          <p:nvPr/>
        </p:nvSpPr>
        <p:spPr>
          <a:xfrm>
            <a:off x="822960" y="1920240"/>
            <a:ext cx="384048" cy="384048"/>
          </a:xfrm>
          <a:prstGeom prst="ellipse">
            <a:avLst/>
          </a:prstGeom>
          <a:solidFill>
            <a:srgbClr val="2FE6C4"/>
          </a:solidFill>
          <a:ln/>
        </p:spPr>
      </p:sp>
      <p:sp>
        <p:nvSpPr>
          <p:cNvPr id="5" name="Text 3"/>
          <p:cNvSpPr txBox="1"/>
          <p:nvPr/>
        </p:nvSpPr>
        <p:spPr>
          <a:xfrm>
            <a:off x="822960" y="1920240"/>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17320" y="1865376"/>
            <a:ext cx="10149840" cy="905256"/>
          </a:xfrm>
          <a:prstGeom prst="rect">
            <a:avLst/>
          </a:prstGeom>
          <a:noFill/>
          <a:ln/>
        </p:spPr>
        <p:txBody>
          <a:bodyPr wrap="square" lIns="0" tIns="0" rIns="0" bIns="0" rtlCol="0" anchor="ctr"/>
          <a:lstStyle/>
          <a:p>
            <a:pPr indent="0" marL="0">
              <a:lnSpc>
                <a:spcPct val="104000"/>
              </a:lnSpc>
              <a:buNone/>
            </a:pPr>
            <a:r>
              <a:rPr lang="en-US" sz="1800" dirty="0">
                <a:solidFill>
                  <a:srgbClr val="E4E7EA"/>
                </a:solidFill>
                <a:latin typeface="Calibri" pitchFamily="34" charset="0"/>
                <a:ea typeface="Calibri" pitchFamily="34" charset="-122"/>
                <a:cs typeface="Calibri" pitchFamily="34" charset="-120"/>
              </a:rPr>
              <a:t>Promote an attribute to its own entity type when it needs its own attributes, its own relationships, or is shared by many occurrences of the entity describing it.</a:t>
            </a:r>
            <a:endParaRPr lang="en-US" sz="1800" dirty="0"/>
          </a:p>
        </p:txBody>
      </p:sp>
      <p:sp>
        <p:nvSpPr>
          <p:cNvPr id="7" name="Shape 5"/>
          <p:cNvSpPr/>
          <p:nvPr/>
        </p:nvSpPr>
        <p:spPr>
          <a:xfrm>
            <a:off x="822960" y="2825496"/>
            <a:ext cx="384048" cy="384048"/>
          </a:xfrm>
          <a:prstGeom prst="ellipse">
            <a:avLst/>
          </a:prstGeom>
          <a:solidFill>
            <a:srgbClr val="2FE6C4"/>
          </a:solidFill>
          <a:ln/>
        </p:spPr>
      </p:sp>
      <p:sp>
        <p:nvSpPr>
          <p:cNvPr id="8" name="Text 6"/>
          <p:cNvSpPr txBox="1"/>
          <p:nvPr/>
        </p:nvSpPr>
        <p:spPr>
          <a:xfrm>
            <a:off x="822960" y="2825496"/>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417320" y="2770632"/>
            <a:ext cx="10149840" cy="905256"/>
          </a:xfrm>
          <a:prstGeom prst="rect">
            <a:avLst/>
          </a:prstGeom>
          <a:noFill/>
          <a:ln/>
        </p:spPr>
        <p:txBody>
          <a:bodyPr wrap="square" lIns="0" tIns="0" rIns="0" bIns="0" rtlCol="0" anchor="ctr"/>
          <a:lstStyle/>
          <a:p>
            <a:pPr indent="0" marL="0">
              <a:lnSpc>
                <a:spcPct val="104000"/>
              </a:lnSpc>
              <a:buNone/>
            </a:pPr>
            <a:r>
              <a:rPr lang="en-US" sz="1800" dirty="0">
                <a:solidFill>
                  <a:srgbClr val="E4E7EA"/>
                </a:solidFill>
                <a:latin typeface="Calibri" pitchFamily="34" charset="0"/>
                <a:ea typeface="Calibri" pitchFamily="34" charset="-122"/>
                <a:cs typeface="Calibri" pitchFamily="34" charset="-120"/>
              </a:rPr>
              <a:t>Synonyms and homonyms aren't just style nits — they silently break joins (synonyms) or silently mix incompatible data (homonyms); the fix is one disambiguated name per concept, applied everywhere.</a:t>
            </a:r>
            <a:endParaRPr lang="en-US" sz="1800" dirty="0"/>
          </a:p>
        </p:txBody>
      </p:sp>
      <p:sp>
        <p:nvSpPr>
          <p:cNvPr id="10" name="Shape 8"/>
          <p:cNvSpPr/>
          <p:nvPr/>
        </p:nvSpPr>
        <p:spPr>
          <a:xfrm>
            <a:off x="822960" y="3730752"/>
            <a:ext cx="384048" cy="384048"/>
          </a:xfrm>
          <a:prstGeom prst="ellipse">
            <a:avLst/>
          </a:prstGeom>
          <a:solidFill>
            <a:srgbClr val="2FE6C4"/>
          </a:solidFill>
          <a:ln/>
        </p:spPr>
      </p:sp>
      <p:sp>
        <p:nvSpPr>
          <p:cNvPr id="11" name="Text 9"/>
          <p:cNvSpPr txBox="1"/>
          <p:nvPr/>
        </p:nvSpPr>
        <p:spPr>
          <a:xfrm>
            <a:off x="822960" y="3730752"/>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3</a:t>
            </a:r>
            <a:endParaRPr lang="en-US" sz="1400" dirty="0"/>
          </a:p>
        </p:txBody>
      </p:sp>
      <p:sp>
        <p:nvSpPr>
          <p:cNvPr id="12" name="Text 10"/>
          <p:cNvSpPr txBox="1"/>
          <p:nvPr/>
        </p:nvSpPr>
        <p:spPr>
          <a:xfrm>
            <a:off x="1417320" y="3675888"/>
            <a:ext cx="10149840" cy="905256"/>
          </a:xfrm>
          <a:prstGeom prst="rect">
            <a:avLst/>
          </a:prstGeom>
          <a:noFill/>
          <a:ln/>
        </p:spPr>
        <p:txBody>
          <a:bodyPr wrap="square" lIns="0" tIns="0" rIns="0" bIns="0" rtlCol="0" anchor="ctr"/>
          <a:lstStyle/>
          <a:p>
            <a:pPr indent="0" marL="0">
              <a:lnSpc>
                <a:spcPct val="104000"/>
              </a:lnSpc>
              <a:buNone/>
            </a:pPr>
            <a:r>
              <a:rPr lang="en-US" sz="1800" dirty="0">
                <a:solidFill>
                  <a:srgbClr val="E4E7EA"/>
                </a:solidFill>
                <a:latin typeface="Calibri" pitchFamily="34" charset="0"/>
                <a:ea typeface="Calibri" pitchFamily="34" charset="-122"/>
                <a:cs typeface="Calibri" pitchFamily="34" charset="-120"/>
              </a:rPr>
              <a:t>A relationship needing its own attributes (Viewing, Registers) deserves first-class treatment, sometimes as a ternary relationship — collapsing a three-way fact into two binary ones can lose the combination.</a:t>
            </a:r>
            <a:endParaRPr lang="en-US" sz="1800" dirty="0"/>
          </a:p>
        </p:txBody>
      </p:sp>
      <p:sp>
        <p:nvSpPr>
          <p:cNvPr id="13" name="Shape 11"/>
          <p:cNvSpPr/>
          <p:nvPr/>
        </p:nvSpPr>
        <p:spPr>
          <a:xfrm>
            <a:off x="822960" y="4636008"/>
            <a:ext cx="384048" cy="384048"/>
          </a:xfrm>
          <a:prstGeom prst="ellipse">
            <a:avLst/>
          </a:prstGeom>
          <a:solidFill>
            <a:srgbClr val="2FE6C4"/>
          </a:solidFill>
          <a:ln/>
        </p:spPr>
      </p:sp>
      <p:sp>
        <p:nvSpPr>
          <p:cNvPr id="14" name="Text 12"/>
          <p:cNvSpPr txBox="1"/>
          <p:nvPr/>
        </p:nvSpPr>
        <p:spPr>
          <a:xfrm>
            <a:off x="822960" y="4636008"/>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4</a:t>
            </a:r>
            <a:endParaRPr lang="en-US" sz="1400" dirty="0"/>
          </a:p>
        </p:txBody>
      </p:sp>
      <p:sp>
        <p:nvSpPr>
          <p:cNvPr id="15" name="Text 13"/>
          <p:cNvSpPr txBox="1"/>
          <p:nvPr/>
        </p:nvSpPr>
        <p:spPr>
          <a:xfrm>
            <a:off x="1417320" y="4581144"/>
            <a:ext cx="10149840" cy="905256"/>
          </a:xfrm>
          <a:prstGeom prst="rect">
            <a:avLst/>
          </a:prstGeom>
          <a:noFill/>
          <a:ln/>
        </p:spPr>
        <p:txBody>
          <a:bodyPr wrap="square" lIns="0" tIns="0" rIns="0" bIns="0" rtlCol="0" anchor="ctr"/>
          <a:lstStyle/>
          <a:p>
            <a:pPr indent="0" marL="0">
              <a:lnSpc>
                <a:spcPct val="104000"/>
              </a:lnSpc>
              <a:buNone/>
            </a:pPr>
            <a:r>
              <a:rPr lang="en-US" sz="1800" dirty="0">
                <a:solidFill>
                  <a:srgbClr val="E4E7EA"/>
                </a:solidFill>
                <a:latin typeface="Calibri" pitchFamily="34" charset="0"/>
                <a:ea typeface="Calibri" pitchFamily="34" charset="-122"/>
                <a:cs typeface="Calibri" pitchFamily="34" charset="-120"/>
              </a:rPr>
              <a:t>Redundant relationships duplicate a fact already derivable via another path — delete the duplicate, never try to keep two copies in sync.</a:t>
            </a:r>
            <a:endParaRPr lang="en-US" sz="1800" dirty="0"/>
          </a:p>
        </p:txBody>
      </p:sp>
      <p:sp>
        <p:nvSpPr>
          <p:cNvPr id="16" name="Shape 14"/>
          <p:cNvSpPr/>
          <p:nvPr/>
        </p:nvSpPr>
        <p:spPr>
          <a:xfrm>
            <a:off x="822960" y="5541264"/>
            <a:ext cx="384048" cy="384048"/>
          </a:xfrm>
          <a:prstGeom prst="ellipse">
            <a:avLst/>
          </a:prstGeom>
          <a:solidFill>
            <a:srgbClr val="2FE6C4"/>
          </a:solidFill>
          <a:ln/>
        </p:spPr>
      </p:sp>
      <p:sp>
        <p:nvSpPr>
          <p:cNvPr id="17" name="Text 15"/>
          <p:cNvSpPr txBox="1"/>
          <p:nvPr/>
        </p:nvSpPr>
        <p:spPr>
          <a:xfrm>
            <a:off x="822960" y="5541264"/>
            <a:ext cx="384048" cy="384048"/>
          </a:xfrm>
          <a:prstGeom prst="rect">
            <a:avLst/>
          </a:prstGeom>
          <a:noFill/>
          <a:ln/>
        </p:spPr>
        <p:txBody>
          <a:bodyPr wrap="square" lIns="0" tIns="0" rIns="0" bIns="0" rtlCol="0" anchor="ctr"/>
          <a:lstStyle/>
          <a:p>
            <a:pPr algn="ctr" indent="0" marL="0">
              <a:buNone/>
            </a:pPr>
            <a:r>
              <a:rPr lang="en-US" sz="1400" b="1" dirty="0">
                <a:solidFill>
                  <a:srgbClr val="14181C"/>
                </a:solidFill>
                <a:latin typeface="Calibri" pitchFamily="34" charset="0"/>
                <a:ea typeface="Calibri" pitchFamily="34" charset="-122"/>
                <a:cs typeface="Calibri" pitchFamily="34" charset="-120"/>
              </a:rPr>
              <a:t>5</a:t>
            </a:r>
            <a:endParaRPr lang="en-US" sz="1400" dirty="0"/>
          </a:p>
        </p:txBody>
      </p:sp>
      <p:sp>
        <p:nvSpPr>
          <p:cNvPr id="18" name="Text 16"/>
          <p:cNvSpPr txBox="1"/>
          <p:nvPr/>
        </p:nvSpPr>
        <p:spPr>
          <a:xfrm>
            <a:off x="1417320" y="5486400"/>
            <a:ext cx="10149840" cy="905256"/>
          </a:xfrm>
          <a:prstGeom prst="rect">
            <a:avLst/>
          </a:prstGeom>
          <a:noFill/>
          <a:ln/>
        </p:spPr>
        <p:txBody>
          <a:bodyPr wrap="square" lIns="0" tIns="0" rIns="0" bIns="0" rtlCol="0" anchor="ctr"/>
          <a:lstStyle/>
          <a:p>
            <a:pPr indent="0" marL="0">
              <a:lnSpc>
                <a:spcPct val="104000"/>
              </a:lnSpc>
              <a:buNone/>
            </a:pPr>
            <a:r>
              <a:rPr lang="en-US" sz="1800" dirty="0">
                <a:solidFill>
                  <a:srgbClr val="E4E7EA"/>
                </a:solidFill>
                <a:latin typeface="Calibri" pitchFamily="34" charset="0"/>
                <a:ea typeface="Calibri" pitchFamily="34" charset="-122"/>
                <a:cs typeface="Calibri" pitchFamily="34" charset="-120"/>
              </a:rPr>
              <a:t>A fan trap shows up as a WRONG pairing in query results; a chasm trap shows up as rows that silently DISAPPEAR — both are fixed the same way, by adding the missing direct relationship.</a:t>
            </a:r>
            <a:endParaRPr lang="en-US" sz="1800" dirty="0"/>
          </a:p>
        </p:txBody>
      </p:sp>
      <p:sp>
        <p:nvSpPr>
          <p:cNvPr id="19" name="Text 17"/>
          <p:cNvSpPr txBox="1"/>
          <p:nvPr/>
        </p:nvSpPr>
        <p:spPr>
          <a:xfrm>
            <a:off x="9814255" y="6437376"/>
            <a:ext cx="2148840" cy="310896"/>
          </a:xfrm>
          <a:prstGeom prst="rect">
            <a:avLst/>
          </a:prstGeom>
          <a:noFill/>
          <a:ln/>
        </p:spPr>
        <p:txBody>
          <a:bodyPr wrap="square" lIns="0" tIns="0" rIns="0" bIns="0" rtlCol="0" anchor="ctr"/>
          <a:lstStyle/>
          <a:p>
            <a:pPr algn="r" indent="0" marL="0">
              <a:buNone/>
            </a:pPr>
            <a:r>
              <a:rPr lang="en-US" sz="1200" u="sng" dirty="0">
                <a:solidFill>
                  <a:srgbClr val="8A939B"/>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cuinotes.com</a:t>
            </a:r>
            <a:pPr algn="r" indent="0" marL="0">
              <a:buNone/>
            </a:pPr>
            <a:r>
              <a:rPr lang="en-US" sz="1200" dirty="0">
                <a:solidFill>
                  <a:srgbClr val="8A939B"/>
                </a:solidFill>
                <a:latin typeface="Calibri" pitchFamily="34" charset="0"/>
                <a:ea typeface="Calibri" pitchFamily="34" charset="-122"/>
                <a:cs typeface="Calibri" pitchFamily="34" charset="-120"/>
              </a:rPr>
              <a:t>  ·  22</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cuinotes.com</dc:creator>
  <cp:lastModifiedBy>cuinotes.com</cp:lastModifiedBy>
  <cp:revision>1</cp:revision>
  <dcterms:created xsi:type="dcterms:W3CDTF">2026-10-03T18:04:13Z</dcterms:created>
  <dcterms:modified xsi:type="dcterms:W3CDTF">2026-10-03T18:04:13Z</dcterms:modified>
</cp:coreProperties>
</file>
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48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0604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Modeling: Issues and Problems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CSC270 · Database Systems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754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COMSATS University Islamabad, Lahore Campus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Lecture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entity types vs. attributes — the single most common beginner confusion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relationship types, and spotting one that's hiding a missing entity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attributes: simple, composite, single-valued, multi-valued, derived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keys when more than one candidate key exists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conventions that keep a growing schema readable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relationships: ternary relationships, relationships with their own attributes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constraints revisited — the full (min, max) multiplicity notation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Avoiding redundancy · a first look at generalization/specialization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classic, named ER modeling errors: fan traps and chasm traps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Entity Types vs. Attributes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“position” be an attribute of Staff, or should Position be its own entity type? Both diagrams below are syntactically valid — only one fits a given set of requirements.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— position as a plain attribute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329184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103120"/>
            <a:ext cx="3291840" cy="384048"/>
          </a:xfrm>
          <a:prstGeom prst="roundRect">
            <a:avLst>
              <a:gd name="adj" fmla="val 16667"/>
            </a:avLst>
          </a:prstGeom>
          <a:solidFill>
            <a:srgbClr val="2FE6C4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395728"/>
            <a:ext cx="3291840" cy="91440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1031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560320"/>
            <a:ext cx="30175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u="sng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staffNo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salary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17830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— Position promoted to an entity type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2103120"/>
            <a:ext cx="288036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2103120"/>
            <a:ext cx="2880360" cy="384048"/>
          </a:xfrm>
          <a:prstGeom prst="roundRect">
            <a:avLst>
              <a:gd name="adj" fmla="val 16667"/>
            </a:avLst>
          </a:prstGeom>
          <a:solidFill>
            <a:srgbClr val="8B7FD9"/>
          </a:solidFill>
          <a:ln/>
        </p:spPr>
      </p:sp>
      <p:sp>
        <p:nvSpPr>
          <p:cNvPr id="14" name="Shape 12"/>
          <p:cNvSpPr/>
          <p:nvPr/>
        </p:nvSpPr>
        <p:spPr>
          <a:xfrm>
            <a:off x="6309360" y="2395728"/>
            <a:ext cx="2880360" cy="91440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46520" y="21031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2560320"/>
            <a:ext cx="26060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u="sng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staffNo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8A93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positionCode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salary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692640" y="2103120"/>
            <a:ext cx="182880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92640" y="2103120"/>
            <a:ext cx="1828800" cy="384048"/>
          </a:xfrm>
          <a:prstGeom prst="roundRect">
            <a:avLst>
              <a:gd name="adj" fmla="val 16667"/>
            </a:avLst>
          </a:prstGeom>
          <a:solidFill>
            <a:srgbClr val="E8A33D"/>
          </a:solidFill>
          <a:ln/>
        </p:spPr>
      </p:sp>
      <p:sp>
        <p:nvSpPr>
          <p:cNvPr id="19" name="Shape 17"/>
          <p:cNvSpPr/>
          <p:nvPr/>
        </p:nvSpPr>
        <p:spPr>
          <a:xfrm>
            <a:off x="9692640" y="2395728"/>
            <a:ext cx="1828800" cy="914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829800" y="21031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829800" y="2560320"/>
            <a:ext cx="15544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u="sng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positionCode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payMin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payMax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189720" y="2971800"/>
            <a:ext cx="502920" cy="0"/>
          </a:xfrm>
          <a:prstGeom prst="line">
            <a:avLst/>
          </a:prstGeom>
          <a:noFill/>
          <a:ln w="22225">
            <a:solidFill>
              <a:srgbClr val="8A939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35440" y="2514600"/>
            <a:ext cx="466344" cy="256032"/>
          </a:xfrm>
          <a:prstGeom prst="roundRect">
            <a:avLst>
              <a:gd name="adj" fmla="val 50000"/>
            </a:avLst>
          </a:prstGeom>
          <a:solidFill>
            <a:srgbClr val="2FE6C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235440" y="2514600"/>
            <a:ext cx="466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180576" y="3172968"/>
            <a:ext cx="466344" cy="256032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180576" y="3172968"/>
            <a:ext cx="466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" y="4160520"/>
            <a:ext cx="108813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2FE6C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4160520"/>
            <a:ext cx="54864" cy="2148840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41248" y="4270248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general rule of thumb (four questions)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41248" y="4544568"/>
            <a:ext cx="105156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Does it have its own attributes the business cares about?   2. Is it independently meaningful — does it relate to OTHER entity types?   3. Can more than one instance apply to the same real-world thing (own identity/lifecycle)?   4. Would leaving it as an attribute duplicate the same fact across many rows?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yes to any: model it as an entity type. If it's a single atomic fact describing only one entity with no independent existence, keep it as an attribute. There is no permanently correct answer — re-check whenever requirements grow (e.g. city on Branch, if population/tax-rate tracking is later needed).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Relationship Types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relationship type is usually named from a verb phrase connecting two entity types (Staff Manages PropertyForRent). Three recurring issues: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474720" cy="2834640"/>
          </a:xfrm>
          <a:prstGeom prst="roundRect">
            <a:avLst>
              <a:gd name="adj" fmla="val 2581"/>
            </a:avLst>
          </a:prstGeom>
          <a:solidFill>
            <a:srgbClr val="2FE6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1965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naming direction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67128"/>
            <a:ext cx="310896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relationship once, in one clear direction. Adding “IsManagedBy” as a SECOND separate relationship type just models the same fact twice.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474720" cy="2834640"/>
          </a:xfrm>
          <a:prstGeom prst="roundRect">
            <a:avLst>
              <a:gd name="adj" fmla="val 2581"/>
            </a:avLst>
          </a:prstGeom>
          <a:solidFill>
            <a:srgbClr val="8B7F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6280" y="181965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relationship hiding an entity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167128"/>
            <a:ext cx="310896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“relationship” needs its own attributes describing neither participant individually, it usually deserves its own identity — see Complex Relationships below.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046720" y="1691640"/>
            <a:ext cx="3474720" cy="2834640"/>
          </a:xfrm>
          <a:prstGeom prst="roundRect">
            <a:avLst>
              <a:gd name="adj" fmla="val 2581"/>
            </a:avLst>
          </a:prstGeom>
          <a:solidFill>
            <a:srgbClr val="E8A3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0" y="181965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wrong degree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2167128"/>
            <a:ext cx="310896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(two entity types, most common), unary/recursive (Staff Supervises Staff), or ternary+ (three or more at once). Force-fitting a 3-way fact into two binary relationships can silently lose information.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4709160"/>
            <a:ext cx="108813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B7F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4709160"/>
            <a:ext cx="54864" cy="1463040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" y="4818888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— this is exactly the fan trap mechanism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" y="5093208"/>
            <a:ext cx="10515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Collapsing a genuine three-way fact into pairwise binary relationships can lose the combination information entirely. This lecture's Fan Trap section (later) shows precisely how and why.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Attributes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058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an entity type is settled, each attribute gets its own classification — this changes how it maps to a relational schema (Lecture 16).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63093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21031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E6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E6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(Client)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E6C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Simple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Cannot be broken down further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telNo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Composite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Made of sub-parts sometimes needed separately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name → first/last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Single-valued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Exactly one value per occurrence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dateRegistered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Multi-valued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Can hold several values at once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preferredContactTimes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Derived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Computed, not stored itself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age (from dateOfBirth)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406640" y="1554480"/>
            <a:ext cx="4114800" cy="265176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06640" y="1554480"/>
            <a:ext cx="4114800" cy="384048"/>
          </a:xfrm>
          <a:prstGeom prst="roundRect">
            <a:avLst>
              <a:gd name="adj" fmla="val 16667"/>
            </a:avLst>
          </a:prstGeom>
          <a:solidFill>
            <a:srgbClr val="E8A33D"/>
          </a:solidFill>
          <a:ln/>
        </p:spPr>
      </p:sp>
      <p:sp>
        <p:nvSpPr>
          <p:cNvPr id="8" name="Shape 5"/>
          <p:cNvSpPr/>
          <p:nvPr/>
        </p:nvSpPr>
        <p:spPr>
          <a:xfrm>
            <a:off x="7406640" y="1847088"/>
            <a:ext cx="4114800" cy="914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543800" y="15544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— mixed attribute kinds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543800" y="2011680"/>
            <a:ext cx="384048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u="sng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clientNo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firstName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lastName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telNo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preferredContactTimes {}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dateOfBirth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470916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8A939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" y="4709160"/>
            <a:ext cx="54864" cy="1417320"/>
          </a:xfrm>
          <a:prstGeom prst="rect">
            <a:avLst/>
          </a:prstGeom>
          <a:solidFill>
            <a:srgbClr val="8A939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41248" y="4818888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attributes usually aren't stored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41248" y="5093208"/>
            <a:ext cx="105156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goes stale the moment time passes without an update. Most ER diagrams omit derived attributes entirely (computing age from dateOfBirth in a query) or mark them distinctly, precisely so nobody accidentally maps them to a stored column during Lecture 16's mapping step.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Keys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entity type can have more than one attribute (or combination) capable of uniquely identifying it — each is a candidate key. Choosing the primary key follows practical guidelines: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64008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the candidate key that never changes over the entity's lifetime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cnic is stable; a badge number reissued on transfer is not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the shorter, simpler candidate key when several qualify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single-attribute key over a composite one, all else equal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a key with no NULL-able components, ever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integrity (Lecture 6) forbids NULL primary key components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remaining, unchosen candidate keys don't disappear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stay in the schema as alternate keys, usually enforced with UNIQUE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406640" y="1828800"/>
            <a:ext cx="411480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06640" y="1828800"/>
            <a:ext cx="4114800" cy="384048"/>
          </a:xfrm>
          <a:prstGeom prst="roundRect">
            <a:avLst>
              <a:gd name="adj" fmla="val 16667"/>
            </a:avLst>
          </a:prstGeom>
          <a:solidFill>
            <a:srgbClr val="2FE6C4"/>
          </a:solidFill>
          <a:ln/>
        </p:spPr>
      </p:sp>
      <p:sp>
        <p:nvSpPr>
          <p:cNvPr id="8" name="Shape 6"/>
          <p:cNvSpPr/>
          <p:nvPr/>
        </p:nvSpPr>
        <p:spPr>
          <a:xfrm>
            <a:off x="7406640" y="2121408"/>
            <a:ext cx="4114800" cy="91440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543800" y="18288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— two candidate keys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2286000"/>
            <a:ext cx="384048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u="sng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staffNo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cnic  (alt. key, UNIQUE)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06640" y="3977640"/>
            <a:ext cx="41148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06640" y="3977640"/>
            <a:ext cx="54864" cy="2148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607808" y="40873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staffNo chosen as PK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607808" y="4361688"/>
            <a:ext cx="374904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staffNo and cnic are independently unique. staffNo is chosen as the primary key (short, stable, no NULLs); cnic remains an alternate key enforced by UNIQUE.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Conventions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schema with a dozen entity types and fifty attributes is only as usable as its names. Two failure modes recur constantly: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326380" cy="1920240"/>
          </a:xfrm>
          <a:prstGeom prst="roundRect">
            <a:avLst>
              <a:gd name="adj" fmla="val 3810"/>
            </a:avLst>
          </a:prstGeom>
          <a:solidFill>
            <a:srgbClr val="2FE6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19656"/>
            <a:ext cx="4960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Synonyms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67128"/>
            <a:ext cx="496062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real-world concept named differently in different places — clientNo vs custId, both meaning “client identifier.” Makes joins and onboarding harder.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95060" y="1691640"/>
            <a:ext cx="5326380" cy="1920240"/>
          </a:xfrm>
          <a:prstGeom prst="roundRect">
            <a:avLst>
              <a:gd name="adj" fmla="val 3810"/>
            </a:avLst>
          </a:prstGeom>
          <a:solidFill>
            <a:srgbClr val="E8A33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77940" y="1819656"/>
            <a:ext cx="4960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Homonyms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377940" y="2167128"/>
            <a:ext cx="496062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name reused for two different concepts — “type” meaning House/Flat on PropertyForRent, but Full-time/Part-time on Staff. No clue which, read in isolation.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3794760"/>
            <a:ext cx="108813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8B7F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794760"/>
            <a:ext cx="54864" cy="2377440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1248" y="3904488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naming standard, applied consistently across this course's schema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4178808"/>
            <a:ext cx="1051560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type names: singular, PascalCase (Staff, not staffs).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names: camelCase, prefixed with a short recognizable stem where it disambiguates (staffNo, branchNo, propertyNo) — every foreign key carries the SAME name as the primary key it references, exactly as PropertyForRent.staffNo does — which is precisely what makes a foreign key immediately recognizable on sight.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Relationships: Ternary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058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ternary relationship connects three entity types at once — NOT generally the same as three separate binary relationships between the same pairs. Registers: a Client registers interest with a specific Staff member, at a specific Branch, on a given date.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265176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965960"/>
            <a:ext cx="2651760" cy="384048"/>
          </a:xfrm>
          <a:prstGeom prst="roundRect">
            <a:avLst>
              <a:gd name="adj" fmla="val 16667"/>
            </a:avLst>
          </a:prstGeom>
          <a:solidFill>
            <a:srgbClr val="2FE6C4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258568"/>
            <a:ext cx="2651760" cy="91440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19659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423160"/>
            <a:ext cx="237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u="sng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clientNo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firstName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0" y="1965960"/>
            <a:ext cx="265176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0" y="1965960"/>
            <a:ext cx="2651760" cy="384048"/>
          </a:xfrm>
          <a:prstGeom prst="roundRect">
            <a:avLst>
              <a:gd name="adj" fmla="val 16667"/>
            </a:avLst>
          </a:prstGeom>
          <a:solidFill>
            <a:srgbClr val="E8A33D"/>
          </a:solidFill>
          <a:ln/>
        </p:spPr>
      </p:sp>
      <p:sp>
        <p:nvSpPr>
          <p:cNvPr id="12" name="Shape 10"/>
          <p:cNvSpPr/>
          <p:nvPr/>
        </p:nvSpPr>
        <p:spPr>
          <a:xfrm>
            <a:off x="8046720" y="2258568"/>
            <a:ext cx="2651760" cy="914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183880" y="19659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183880" y="2423160"/>
            <a:ext cx="237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u="sng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staffNo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1965960"/>
            <a:ext cx="2743200" cy="1371600"/>
          </a:xfrm>
          <a:prstGeom prst="diamond">
            <a:avLst/>
          </a:prstGeom>
          <a:solidFill>
            <a:srgbClr val="8B7FD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297680" y="19659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297680" y="2468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dateRegistered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91840" y="2651760"/>
            <a:ext cx="1005840" cy="0"/>
          </a:xfrm>
          <a:prstGeom prst="line">
            <a:avLst/>
          </a:prstGeom>
          <a:noFill/>
          <a:ln w="25400">
            <a:solidFill>
              <a:srgbClr val="8A939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40880" y="2651760"/>
            <a:ext cx="1005840" cy="0"/>
          </a:xfrm>
          <a:prstGeom prst="line">
            <a:avLst/>
          </a:prstGeom>
          <a:noFill/>
          <a:ln w="25400">
            <a:solidFill>
              <a:srgbClr val="8A939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86984" y="3429000"/>
            <a:ext cx="164592" cy="365760"/>
          </a:xfrm>
          <a:prstGeom prst="downArrow">
            <a:avLst/>
          </a:prstGeom>
          <a:solidFill>
            <a:srgbClr val="8A939B"/>
          </a:solidFill>
          <a:ln/>
        </p:spPr>
      </p:sp>
      <p:sp>
        <p:nvSpPr>
          <p:cNvPr id="21" name="Shape 19"/>
          <p:cNvSpPr/>
          <p:nvPr/>
        </p:nvSpPr>
        <p:spPr>
          <a:xfrm>
            <a:off x="4343400" y="3931920"/>
            <a:ext cx="265176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43400" y="3931920"/>
            <a:ext cx="2651760" cy="384048"/>
          </a:xfrm>
          <a:prstGeom prst="roundRect">
            <a:avLst>
              <a:gd name="adj" fmla="val 16667"/>
            </a:avLst>
          </a:prstGeom>
          <a:solidFill>
            <a:srgbClr val="E8A33D"/>
          </a:solidFill>
          <a:ln/>
        </p:spPr>
      </p:sp>
      <p:sp>
        <p:nvSpPr>
          <p:cNvPr id="23" name="Shape 21"/>
          <p:cNvSpPr/>
          <p:nvPr/>
        </p:nvSpPr>
        <p:spPr>
          <a:xfrm>
            <a:off x="4343400" y="4224528"/>
            <a:ext cx="2651760" cy="914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480560" y="39319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480560" y="4389120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u="sng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branchNo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54864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8B7FD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5486400"/>
            <a:ext cx="54864" cy="1051560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41248" y="5596128"/>
            <a:ext cx="10515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binary relationships (Client Registers-With Staff, Client Registers-At Branch) would no longer guarantee those two facts describe the SAME registration event if a client interacts with the agency more than once. The ternary relationship keeps the combination intact.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with Attributes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 is the clearest example already in this course's schema: a Client views a PropertyForRent, and the relationship itself carries viewDate and comment — facts about that specific viewing event, not about either participant alone.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01752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103120"/>
            <a:ext cx="3017520" cy="384048"/>
          </a:xfrm>
          <a:prstGeom prst="roundRect">
            <a:avLst>
              <a:gd name="adj" fmla="val 16667"/>
            </a:avLst>
          </a:prstGeom>
          <a:solidFill>
            <a:srgbClr val="2FE6C4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395728"/>
            <a:ext cx="3017520" cy="91440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103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560320"/>
            <a:ext cx="27432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u="sng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clientNo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503920" y="2103120"/>
            <a:ext cx="301752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03920" y="2103120"/>
            <a:ext cx="3017520" cy="384048"/>
          </a:xfrm>
          <a:prstGeom prst="roundRect">
            <a:avLst>
              <a:gd name="adj" fmla="val 16667"/>
            </a:avLst>
          </a:prstGeom>
          <a:solidFill>
            <a:srgbClr val="2FE6C4"/>
          </a:solidFill>
          <a:ln/>
        </p:spPr>
      </p:sp>
      <p:sp>
        <p:nvSpPr>
          <p:cNvPr id="12" name="Shape 10"/>
          <p:cNvSpPr/>
          <p:nvPr/>
        </p:nvSpPr>
        <p:spPr>
          <a:xfrm>
            <a:off x="8503920" y="2395728"/>
            <a:ext cx="3017520" cy="91440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41080" y="2103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PropertyForRent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641080" y="2560320"/>
            <a:ext cx="27432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u="sng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propertyNo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34840" y="1874520"/>
            <a:ext cx="329184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34840" y="1874520"/>
            <a:ext cx="3291840" cy="384048"/>
          </a:xfrm>
          <a:prstGeom prst="roundRect">
            <a:avLst>
              <a:gd name="adj" fmla="val 16667"/>
            </a:avLst>
          </a:prstGeom>
          <a:solidFill>
            <a:srgbClr val="8B7FD9"/>
          </a:solidFill>
          <a:ln/>
        </p:spPr>
      </p:sp>
      <p:sp>
        <p:nvSpPr>
          <p:cNvPr id="17" name="Shape 15"/>
          <p:cNvSpPr/>
          <p:nvPr/>
        </p:nvSpPr>
        <p:spPr>
          <a:xfrm>
            <a:off x="4434840" y="2167128"/>
            <a:ext cx="3291840" cy="91440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72000" y="18745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2331720"/>
            <a:ext cx="30175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i="1" u="sng" dirty="0">
                <a:solidFill>
                  <a:srgbClr val="8A93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clientNo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i="1" u="sng" dirty="0">
                <a:solidFill>
                  <a:srgbClr val="8A93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propertyNo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viewDate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0" y="2788920"/>
            <a:ext cx="777240" cy="0"/>
          </a:xfrm>
          <a:prstGeom prst="line">
            <a:avLst/>
          </a:prstGeom>
          <a:noFill/>
          <a:ln w="22225">
            <a:solidFill>
              <a:srgbClr val="8A939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03320" y="2331720"/>
            <a:ext cx="466344" cy="256032"/>
          </a:xfrm>
          <a:prstGeom prst="roundRect">
            <a:avLst>
              <a:gd name="adj" fmla="val 50000"/>
            </a:avLst>
          </a:prstGeom>
          <a:solidFill>
            <a:srgbClr val="2FE6C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703320" y="2331720"/>
            <a:ext cx="466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922776" y="2990088"/>
            <a:ext cx="466344" cy="256032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922776" y="2990088"/>
            <a:ext cx="466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726680" y="2788920"/>
            <a:ext cx="777240" cy="0"/>
          </a:xfrm>
          <a:prstGeom prst="line">
            <a:avLst/>
          </a:prstGeom>
          <a:noFill/>
          <a:ln w="22225">
            <a:solidFill>
              <a:srgbClr val="8A939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0" y="2331720"/>
            <a:ext cx="466344" cy="256032"/>
          </a:xfrm>
          <a:prstGeom prst="roundRect">
            <a:avLst>
              <a:gd name="adj" fmla="val 50000"/>
            </a:avLst>
          </a:prstGeom>
          <a:solidFill>
            <a:srgbClr val="2FE6C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772400" y="2331720"/>
            <a:ext cx="466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991856" y="2990088"/>
            <a:ext cx="466344" cy="256032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991856" y="2990088"/>
            <a:ext cx="466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" y="4206240"/>
            <a:ext cx="108813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2FE6C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" y="4206240"/>
            <a:ext cx="54864" cy="1920240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41248" y="4315968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to its own relation (Lecture 16)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41248" y="4590288"/>
            <a:ext cx="1051560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relationship needs its own attributes like this, it is mapped to its own relation: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Viewing(clientNo, propertyNo, viewDate, comment) — the underlined pair is the composite primary key, each component also a foreign key back into Client and PropertyForRent.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Constraints Revisited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058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 (1, N) and participation (mandatory/optional), combined, are written as a multiplicity pair (min, max) on each end of a relationship.</a:t>
            </a:r>
            <a:endParaRPr lang="en-US" sz="13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881360" cy="914400"/>
        </p:xfrm>
        <a:graphic>
          <a:graphicData uri="http://schemas.openxmlformats.org/drawingml/2006/table">
            <a:tbl>
              <a:tblPr/>
              <a:tblGrid>
                <a:gridCol w="3627120"/>
                <a:gridCol w="3627120"/>
                <a:gridCol w="3627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Multiplicity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DreamHome example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(0,1)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Optional, at most one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PropertyForRent may have staffNo = NULL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(1,1)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Mandatory, exactly one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Every PropertyForRent belongs to exactly one Branch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(0,*)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Optional, many allowed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Staff member may currently manage zero properties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(1,*)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Mandatory, at least one, many allowed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PrivateOwner must own at least one property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188720" y="3794760"/>
            <a:ext cx="329184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88720" y="3794760"/>
            <a:ext cx="3291840" cy="384048"/>
          </a:xfrm>
          <a:prstGeom prst="roundRect">
            <a:avLst>
              <a:gd name="adj" fmla="val 16667"/>
            </a:avLst>
          </a:prstGeom>
          <a:solidFill>
            <a:srgbClr val="2FE6C4"/>
          </a:solidFill>
          <a:ln/>
        </p:spPr>
      </p:sp>
      <p:sp>
        <p:nvSpPr>
          <p:cNvPr id="8" name="Shape 5"/>
          <p:cNvSpPr/>
          <p:nvPr/>
        </p:nvSpPr>
        <p:spPr>
          <a:xfrm>
            <a:off x="1188720" y="4087368"/>
            <a:ext cx="3291840" cy="91440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325880" y="37947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PrivateOwner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325880" y="4251960"/>
            <a:ext cx="30175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u="sng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ownerNo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680960" y="3794760"/>
            <a:ext cx="329184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680960" y="3794760"/>
            <a:ext cx="3291840" cy="384048"/>
          </a:xfrm>
          <a:prstGeom prst="roundRect">
            <a:avLst>
              <a:gd name="adj" fmla="val 16667"/>
            </a:avLst>
          </a:prstGeom>
          <a:solidFill>
            <a:srgbClr val="2FE6C4"/>
          </a:solidFill>
          <a:ln/>
        </p:spPr>
      </p:sp>
      <p:sp>
        <p:nvSpPr>
          <p:cNvPr id="13" name="Shape 10"/>
          <p:cNvSpPr/>
          <p:nvPr/>
        </p:nvSpPr>
        <p:spPr>
          <a:xfrm>
            <a:off x="7680960" y="4087368"/>
            <a:ext cx="3291840" cy="91440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818120" y="37947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PropertyForRent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7818120" y="4251960"/>
            <a:ext cx="30175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u="sng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propertyNo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street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480560" y="4480560"/>
            <a:ext cx="3200400" cy="0"/>
          </a:xfrm>
          <a:prstGeom prst="line">
            <a:avLst/>
          </a:prstGeom>
          <a:noFill/>
          <a:ln w="22225">
            <a:solidFill>
              <a:srgbClr val="8B7FD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797296" y="4334256"/>
            <a:ext cx="566928" cy="292608"/>
          </a:xfrm>
          <a:prstGeom prst="roundRect">
            <a:avLst>
              <a:gd name="adj" fmla="val 50000"/>
            </a:avLst>
          </a:prstGeom>
          <a:solidFill>
            <a:srgbClr val="8B7FD9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797296" y="433425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526280" y="4023360"/>
            <a:ext cx="795528" cy="256032"/>
          </a:xfrm>
          <a:prstGeom prst="roundRect">
            <a:avLst>
              <a:gd name="adj" fmla="val 50000"/>
            </a:avLst>
          </a:prstGeom>
          <a:solidFill>
            <a:srgbClr val="2FE6C4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526280" y="4023360"/>
            <a:ext cx="795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(1,*)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839712" y="4681728"/>
            <a:ext cx="795528" cy="256032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839712" y="4681728"/>
            <a:ext cx="795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(1,1)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40080" y="54864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these two numbers wrong in either direction is a real, common design bug — writing (0,1) on the owner side would incorrectly claim a property can legally have no owner at all.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Avoiding Redundancy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058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relationship is redundant if it conveys a fact already fully derivable by following a different path in the model. Test: delete this relationship — can I still answer the same question by tracing through others?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65176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20240"/>
            <a:ext cx="2651760" cy="384048"/>
          </a:xfrm>
          <a:prstGeom prst="roundRect">
            <a:avLst>
              <a:gd name="adj" fmla="val 16667"/>
            </a:avLst>
          </a:prstGeom>
          <a:solidFill>
            <a:srgbClr val="2FE6C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212848"/>
            <a:ext cx="2651760" cy="91440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920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PrivateOwner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377440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u="sng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ownerNo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920240"/>
            <a:ext cx="283464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920240"/>
            <a:ext cx="2834640" cy="384048"/>
          </a:xfrm>
          <a:prstGeom prst="roundRect">
            <a:avLst>
              <a:gd name="adj" fmla="val 16667"/>
            </a:avLst>
          </a:prstGeom>
          <a:solidFill>
            <a:srgbClr val="2FE6C4"/>
          </a:solidFill>
          <a:ln/>
        </p:spPr>
      </p:sp>
      <p:sp>
        <p:nvSpPr>
          <p:cNvPr id="12" name="Shape 10"/>
          <p:cNvSpPr/>
          <p:nvPr/>
        </p:nvSpPr>
        <p:spPr>
          <a:xfrm>
            <a:off x="4663440" y="2212848"/>
            <a:ext cx="2834640" cy="91440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00600" y="19202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PropertyForRent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2377440"/>
            <a:ext cx="2560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u="sng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propertyNo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8A93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branchNo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961120" y="1920240"/>
            <a:ext cx="265176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61120" y="1920240"/>
            <a:ext cx="2651760" cy="384048"/>
          </a:xfrm>
          <a:prstGeom prst="roundRect">
            <a:avLst>
              <a:gd name="adj" fmla="val 16667"/>
            </a:avLst>
          </a:prstGeom>
          <a:solidFill>
            <a:srgbClr val="2FE6C4"/>
          </a:solidFill>
          <a:ln/>
        </p:spPr>
      </p:sp>
      <p:sp>
        <p:nvSpPr>
          <p:cNvPr id="17" name="Shape 15"/>
          <p:cNvSpPr/>
          <p:nvPr/>
        </p:nvSpPr>
        <p:spPr>
          <a:xfrm>
            <a:off x="8961120" y="2212848"/>
            <a:ext cx="2651760" cy="91440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098280" y="1920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098280" y="2377440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u="sng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branchNo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560320"/>
            <a:ext cx="1463040" cy="0"/>
          </a:xfrm>
          <a:prstGeom prst="line">
            <a:avLst/>
          </a:prstGeom>
          <a:noFill/>
          <a:ln w="22225">
            <a:solidFill>
              <a:srgbClr val="8A939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48456" y="2414016"/>
            <a:ext cx="566928" cy="292608"/>
          </a:xfrm>
          <a:prstGeom prst="roundRect">
            <a:avLst>
              <a:gd name="adj" fmla="val 50000"/>
            </a:avLst>
          </a:prstGeom>
          <a:solidFill>
            <a:srgbClr val="8A939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648456" y="241401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46120" y="2103120"/>
            <a:ext cx="466344" cy="256032"/>
          </a:xfrm>
          <a:prstGeom prst="roundRect">
            <a:avLst>
              <a:gd name="adj" fmla="val 50000"/>
            </a:avLst>
          </a:prstGeom>
          <a:solidFill>
            <a:srgbClr val="2FE6C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246120" y="2103120"/>
            <a:ext cx="466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51376" y="2761488"/>
            <a:ext cx="466344" cy="256032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151376" y="2761488"/>
            <a:ext cx="466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498080" y="2560320"/>
            <a:ext cx="1463040" cy="0"/>
          </a:xfrm>
          <a:prstGeom prst="line">
            <a:avLst/>
          </a:prstGeom>
          <a:noFill/>
          <a:ln w="22225">
            <a:solidFill>
              <a:srgbClr val="8A939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96378" y="2414016"/>
            <a:ext cx="1266444" cy="292608"/>
          </a:xfrm>
          <a:prstGeom prst="roundRect">
            <a:avLst>
              <a:gd name="adj" fmla="val 50000"/>
            </a:avLst>
          </a:prstGeom>
          <a:solidFill>
            <a:srgbClr val="8A939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596378" y="2414016"/>
            <a:ext cx="12664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(branchNo FK)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543800" y="2103120"/>
            <a:ext cx="466344" cy="256032"/>
          </a:xfrm>
          <a:prstGeom prst="roundRect">
            <a:avLst>
              <a:gd name="adj" fmla="val 50000"/>
            </a:avLst>
          </a:prstGeom>
          <a:solidFill>
            <a:srgbClr val="2FE6C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543800" y="2103120"/>
            <a:ext cx="466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449056" y="2761488"/>
            <a:ext cx="466344" cy="256032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449056" y="2761488"/>
            <a:ext cx="466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37033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BE9E7"/>
          </a:solidFill>
          <a:ln w="12700">
            <a:solidFill>
              <a:srgbClr val="D96B4C"/>
            </a:solidFill>
            <a:prstDash val="dash"/>
          </a:ln>
        </p:spPr>
      </p:sp>
      <p:sp>
        <p:nvSpPr>
          <p:cNvPr id="35" name="Text 33"/>
          <p:cNvSpPr txBox="1"/>
          <p:nvPr/>
        </p:nvSpPr>
        <p:spPr>
          <a:xfrm>
            <a:off x="731520" y="370332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B84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(redundant) — PrivateOwner → Branch, directly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48640" y="4709160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8640" y="4709160"/>
            <a:ext cx="54864" cy="17830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49808" y="4818888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delete the duplicate, don't try to keep two copies in sync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749808" y="5093208"/>
            <a:ext cx="106984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PropertyForRent already carries branchNo directly, “which branch handles property P's paperwork” is already answerable — a third relationship claiming owners register with branches adds nothing but a second, possibly inconsistent, place for the same fact to live. Note: relationships that merely share an entity type (Manages and Owns both touch PropertyForRent) are NOT automatically redundant — only when the SAME fact is representable two different ways.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 Taste of Generalization / Specialization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058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at a growing agency needs to distinguish SalesPersonnel (salesArea, carAllowance) from Manager (bonus) — both still Staff, sharing staffNo/name/position/salary, but each needs attributes the OTHER doesn't.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11880" y="1920240"/>
            <a:ext cx="493776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11880" y="1920240"/>
            <a:ext cx="4937760" cy="384048"/>
          </a:xfrm>
          <a:prstGeom prst="roundRect">
            <a:avLst>
              <a:gd name="adj" fmla="val 16667"/>
            </a:avLst>
          </a:prstGeom>
          <a:solidFill>
            <a:srgbClr val="2FE6C4"/>
          </a:solidFill>
          <a:ln/>
        </p:spPr>
      </p:sp>
      <p:sp>
        <p:nvSpPr>
          <p:cNvPr id="7" name="Shape 5"/>
          <p:cNvSpPr/>
          <p:nvPr/>
        </p:nvSpPr>
        <p:spPr>
          <a:xfrm>
            <a:off x="3611880" y="2212848"/>
            <a:ext cx="4937760" cy="91440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749040" y="192024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(superclass)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2377440"/>
            <a:ext cx="46634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u="sng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staffNo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name, position, salary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80760" y="3154680"/>
            <a:ext cx="0" cy="342900"/>
          </a:xfrm>
          <a:prstGeom prst="line">
            <a:avLst/>
          </a:prstGeom>
          <a:noFill/>
          <a:ln w="19050">
            <a:solidFill>
              <a:srgbClr val="8A939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03320" y="3497580"/>
            <a:ext cx="4754880" cy="0"/>
          </a:xfrm>
          <a:prstGeom prst="line">
            <a:avLst/>
          </a:prstGeom>
          <a:noFill/>
          <a:ln w="19050">
            <a:solidFill>
              <a:srgbClr val="8A939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03320" y="3497580"/>
            <a:ext cx="0" cy="342900"/>
          </a:xfrm>
          <a:prstGeom prst="line">
            <a:avLst/>
          </a:prstGeom>
          <a:noFill/>
          <a:ln w="19050">
            <a:solidFill>
              <a:srgbClr val="8A939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63040" y="3840480"/>
            <a:ext cx="448056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63040" y="3840480"/>
            <a:ext cx="4480560" cy="384048"/>
          </a:xfrm>
          <a:prstGeom prst="roundRect">
            <a:avLst>
              <a:gd name="adj" fmla="val 16667"/>
            </a:avLst>
          </a:prstGeom>
          <a:solidFill>
            <a:srgbClr val="8B7FD9"/>
          </a:solidFill>
          <a:ln/>
        </p:spPr>
      </p:sp>
      <p:sp>
        <p:nvSpPr>
          <p:cNvPr id="15" name="Shape 13"/>
          <p:cNvSpPr/>
          <p:nvPr/>
        </p:nvSpPr>
        <p:spPr>
          <a:xfrm>
            <a:off x="1463040" y="4133088"/>
            <a:ext cx="4480560" cy="91440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600200" y="384048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SalesPersonnel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297680"/>
            <a:ext cx="4206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salesArea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carAllowance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458200" y="3497580"/>
            <a:ext cx="0" cy="342900"/>
          </a:xfrm>
          <a:prstGeom prst="line">
            <a:avLst/>
          </a:prstGeom>
          <a:noFill/>
          <a:ln w="19050">
            <a:solidFill>
              <a:srgbClr val="8A939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3840480"/>
            <a:ext cx="448056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3840480"/>
            <a:ext cx="4480560" cy="384048"/>
          </a:xfrm>
          <a:prstGeom prst="roundRect">
            <a:avLst>
              <a:gd name="adj" fmla="val 16667"/>
            </a:avLst>
          </a:prstGeom>
          <a:solidFill>
            <a:srgbClr val="E8A33D"/>
          </a:solidFill>
          <a:ln/>
        </p:spPr>
      </p:sp>
      <p:sp>
        <p:nvSpPr>
          <p:cNvPr id="21" name="Shape 19"/>
          <p:cNvSpPr/>
          <p:nvPr/>
        </p:nvSpPr>
        <p:spPr>
          <a:xfrm>
            <a:off x="6217920" y="4133088"/>
            <a:ext cx="4480560" cy="914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55080" y="384048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4297680"/>
            <a:ext cx="4206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bonus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525780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8B7F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5257800"/>
            <a:ext cx="54864" cy="1280160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41248" y="5367528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ER has no clean way to express this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41248" y="5641848"/>
            <a:ext cx="10515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Forcing it into plain ER means cramming all attributes onto one Staff entity (NULL for most rows — a red flag) or duplicating shared attributes across two unrelated entities. This gap is exactly what Lecture 14's Enhanced ER Model exists to close.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Trap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6B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960120"/>
            <a:ext cx="54864" cy="868680"/>
          </a:xfrm>
          <a:prstGeom prst="rect">
            <a:avLst/>
          </a:prstGeom>
          <a:solidFill>
            <a:srgbClr val="D96B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069848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1:N relationships fanning out from the same entity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1344168"/>
            <a:ext cx="10515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fan trap occurs when two or more 1:N relationships radiate from a SINGLE entity type, and a question needs to relate occurrences on the “many” side of one to the “many” side of the other.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265176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03120"/>
            <a:ext cx="2651760" cy="384048"/>
          </a:xfrm>
          <a:prstGeom prst="roundRect">
            <a:avLst>
              <a:gd name="adj" fmla="val 16667"/>
            </a:avLst>
          </a:prstGeom>
          <a:solidFill>
            <a:srgbClr val="2FE6C4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395728"/>
            <a:ext cx="2651760" cy="91440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21031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560320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u="sng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staffNo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103120"/>
            <a:ext cx="265176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103120"/>
            <a:ext cx="2651760" cy="384048"/>
          </a:xfrm>
          <a:prstGeom prst="roundRect">
            <a:avLst>
              <a:gd name="adj" fmla="val 16667"/>
            </a:avLst>
          </a:prstGeom>
          <a:solidFill>
            <a:srgbClr val="E8A33D"/>
          </a:solidFill>
          <a:ln/>
        </p:spPr>
      </p:sp>
      <p:sp>
        <p:nvSpPr>
          <p:cNvPr id="15" name="Shape 13"/>
          <p:cNvSpPr/>
          <p:nvPr/>
        </p:nvSpPr>
        <p:spPr>
          <a:xfrm>
            <a:off x="4754880" y="2395728"/>
            <a:ext cx="2651760" cy="914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892040" y="21031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560320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u="sng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branchNo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61120" y="2103120"/>
            <a:ext cx="265176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61120" y="2103120"/>
            <a:ext cx="2651760" cy="384048"/>
          </a:xfrm>
          <a:prstGeom prst="roundRect">
            <a:avLst>
              <a:gd name="adj" fmla="val 16667"/>
            </a:avLst>
          </a:prstGeom>
          <a:solidFill>
            <a:srgbClr val="2FE6C4"/>
          </a:solidFill>
          <a:ln/>
        </p:spPr>
      </p:sp>
      <p:sp>
        <p:nvSpPr>
          <p:cNvPr id="20" name="Shape 18"/>
          <p:cNvSpPr/>
          <p:nvPr/>
        </p:nvSpPr>
        <p:spPr>
          <a:xfrm>
            <a:off x="8961120" y="2395728"/>
            <a:ext cx="2651760" cy="91440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098280" y="21031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PropertyForRent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098280" y="2560320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u="sng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propertyNo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0" y="2697480"/>
            <a:ext cx="1554480" cy="0"/>
          </a:xfrm>
          <a:prstGeom prst="line">
            <a:avLst/>
          </a:prstGeom>
          <a:noFill/>
          <a:ln w="22225">
            <a:solidFill>
              <a:srgbClr val="8A939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33038" y="2551176"/>
            <a:ext cx="489204" cy="292608"/>
          </a:xfrm>
          <a:prstGeom prst="roundRect">
            <a:avLst>
              <a:gd name="adj" fmla="val 50000"/>
            </a:avLst>
          </a:prstGeom>
          <a:solidFill>
            <a:srgbClr val="8A939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733038" y="2551176"/>
            <a:ext cx="4892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46120" y="2240280"/>
            <a:ext cx="466344" cy="256032"/>
          </a:xfrm>
          <a:prstGeom prst="roundRect">
            <a:avLst>
              <a:gd name="adj" fmla="val 50000"/>
            </a:avLst>
          </a:prstGeom>
          <a:solidFill>
            <a:srgbClr val="2FE6C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246120" y="2240280"/>
            <a:ext cx="466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242816" y="2898648"/>
            <a:ext cx="466344" cy="256032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242816" y="2898648"/>
            <a:ext cx="466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406640" y="2697480"/>
            <a:ext cx="1554480" cy="0"/>
          </a:xfrm>
          <a:prstGeom prst="line">
            <a:avLst/>
          </a:prstGeom>
          <a:noFill/>
          <a:ln w="22225">
            <a:solidFill>
              <a:srgbClr val="8A939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39278" y="2551176"/>
            <a:ext cx="489204" cy="292608"/>
          </a:xfrm>
          <a:prstGeom prst="roundRect">
            <a:avLst>
              <a:gd name="adj" fmla="val 50000"/>
            </a:avLst>
          </a:prstGeom>
          <a:solidFill>
            <a:srgbClr val="8A939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939278" y="2551176"/>
            <a:ext cx="4892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452360" y="2240280"/>
            <a:ext cx="466344" cy="256032"/>
          </a:xfrm>
          <a:prstGeom prst="roundRect">
            <a:avLst>
              <a:gd name="adj" fmla="val 50000"/>
            </a:avLst>
          </a:prstGeom>
          <a:solidFill>
            <a:srgbClr val="2FE6C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452360" y="2240280"/>
            <a:ext cx="466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449056" y="2898648"/>
            <a:ext cx="466344" cy="256032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449056" y="2898648"/>
            <a:ext cx="466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36576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properties does staff member SG14 manage?” cannot be answered — knowing Branch B003 has staff {SG14, SG37} and properties {PA14, PG4, PG36} doesn't say which staff manages which property.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40080" y="4572000"/>
            <a:ext cx="108813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2FE6C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0080" y="4572000"/>
            <a:ext cx="54864" cy="1737360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841248" y="4681728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add a direct relationship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841248" y="4956048"/>
            <a:ext cx="105156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Staff Manages PropertyForRent directly, so PropertyForRent.staffNo points straight at the responsible staff member instead of forcing a guess through Branch. This is exactly what Lecture 6 already does in this course's schema.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Chasm Trap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6B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960120"/>
            <a:ext cx="54864" cy="868680"/>
          </a:xfrm>
          <a:prstGeom prst="rect">
            <a:avLst/>
          </a:prstGeom>
          <a:solidFill>
            <a:srgbClr val="D96B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069848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path exists on paper, but breaks for some occurrences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1344168"/>
            <a:ext cx="10515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chasm trap occurs when a model implies a relationship along a path that includes an OPTIONAL (partial-participation) relationship — so the path exists for some occurrences but is genuinely missing for others.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265176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03120"/>
            <a:ext cx="2651760" cy="384048"/>
          </a:xfrm>
          <a:prstGeom prst="roundRect">
            <a:avLst>
              <a:gd name="adj" fmla="val 16667"/>
            </a:avLst>
          </a:prstGeom>
          <a:solidFill>
            <a:srgbClr val="E8A33D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395728"/>
            <a:ext cx="2651760" cy="914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21031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560320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u="sng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branchNo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103120"/>
            <a:ext cx="265176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103120"/>
            <a:ext cx="2651760" cy="384048"/>
          </a:xfrm>
          <a:prstGeom prst="roundRect">
            <a:avLst>
              <a:gd name="adj" fmla="val 16667"/>
            </a:avLst>
          </a:prstGeom>
          <a:solidFill>
            <a:srgbClr val="2FE6C4"/>
          </a:solidFill>
          <a:ln/>
        </p:spPr>
      </p:sp>
      <p:sp>
        <p:nvSpPr>
          <p:cNvPr id="15" name="Shape 13"/>
          <p:cNvSpPr/>
          <p:nvPr/>
        </p:nvSpPr>
        <p:spPr>
          <a:xfrm>
            <a:off x="4754880" y="2395728"/>
            <a:ext cx="2651760" cy="91440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892040" y="21031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560320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u="sng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staffNo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61120" y="2103120"/>
            <a:ext cx="265176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61120" y="2103120"/>
            <a:ext cx="2651760" cy="384048"/>
          </a:xfrm>
          <a:prstGeom prst="roundRect">
            <a:avLst>
              <a:gd name="adj" fmla="val 16667"/>
            </a:avLst>
          </a:prstGeom>
          <a:solidFill>
            <a:srgbClr val="2FE6C4"/>
          </a:solidFill>
          <a:ln/>
        </p:spPr>
      </p:sp>
      <p:sp>
        <p:nvSpPr>
          <p:cNvPr id="20" name="Shape 18"/>
          <p:cNvSpPr/>
          <p:nvPr/>
        </p:nvSpPr>
        <p:spPr>
          <a:xfrm>
            <a:off x="8961120" y="2395728"/>
            <a:ext cx="2651760" cy="91440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098280" y="21031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PropertyForRent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098280" y="2560320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u="sng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propertyNo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0" y="2697480"/>
            <a:ext cx="1554480" cy="0"/>
          </a:xfrm>
          <a:prstGeom prst="line">
            <a:avLst/>
          </a:prstGeom>
          <a:noFill/>
          <a:ln w="22225">
            <a:solidFill>
              <a:srgbClr val="8A939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33038" y="2551176"/>
            <a:ext cx="489204" cy="292608"/>
          </a:xfrm>
          <a:prstGeom prst="roundRect">
            <a:avLst>
              <a:gd name="adj" fmla="val 50000"/>
            </a:avLst>
          </a:prstGeom>
          <a:solidFill>
            <a:srgbClr val="8A939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733038" y="2551176"/>
            <a:ext cx="4892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46120" y="2240280"/>
            <a:ext cx="466344" cy="256032"/>
          </a:xfrm>
          <a:prstGeom prst="roundRect">
            <a:avLst>
              <a:gd name="adj" fmla="val 50000"/>
            </a:avLst>
          </a:prstGeom>
          <a:solidFill>
            <a:srgbClr val="2FE6C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246120" y="2240280"/>
            <a:ext cx="466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913632" y="2898648"/>
            <a:ext cx="795528" cy="256032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913632" y="2898648"/>
            <a:ext cx="795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(0,N)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406640" y="2697480"/>
            <a:ext cx="1554480" cy="0"/>
          </a:xfrm>
          <a:prstGeom prst="line">
            <a:avLst/>
          </a:prstGeom>
          <a:noFill/>
          <a:ln w="22225">
            <a:solidFill>
              <a:srgbClr val="8A939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44968" y="2551176"/>
            <a:ext cx="877824" cy="292608"/>
          </a:xfrm>
          <a:prstGeom prst="roundRect">
            <a:avLst>
              <a:gd name="adj" fmla="val 50000"/>
            </a:avLst>
          </a:prstGeom>
          <a:solidFill>
            <a:srgbClr val="8A939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744968" y="2551176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452360" y="2240280"/>
            <a:ext cx="795528" cy="256032"/>
          </a:xfrm>
          <a:prstGeom prst="roundRect">
            <a:avLst>
              <a:gd name="adj" fmla="val 50000"/>
            </a:avLst>
          </a:prstGeom>
          <a:solidFill>
            <a:srgbClr val="2FE6C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452360" y="2240280"/>
            <a:ext cx="795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(0,N)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449056" y="2898648"/>
            <a:ext cx="466344" cy="256032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449056" y="2898648"/>
            <a:ext cx="466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36576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properties belong to Branch B009?” fails via Branch → Staff → PropertyForRent: if B009's staff all currently oversee zero properties, or B009 has zero staff, the path disappears entirely — even though B009 plausibly still has properties waiting to be assigned.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40080" y="4663440"/>
            <a:ext cx="108813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2FE6C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0080" y="4663440"/>
            <a:ext cx="54864" cy="1691640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841248" y="4773168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traps share one root cause and one fix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841248" y="5047488"/>
            <a:ext cx="1051560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trap: two 1:N relationships fanning OUT of a shared entity. Chasm trap: a 1:N/optional relationship CHAIN with a gap partway through. Both are fixed the same way: add the missing DIRECT relationship between the two entity types that actually need to be connected.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10332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an attribute to its own entity type when it needs its own attributes, its own relationships, or is shared by many occurrences of the entity currently describing it.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relationship needing its own attributes (Viewing, Registers) is a sign it deserves first-class treatment — sometimes as a ternary relationship, since collapsing a three-way fact into two binary relationships can lose the combination information.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Multiplicity is a (min, max) pair on each end of a relationship — get both numbers right, not just the “many” side.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relationships duplicate a fact already derivable via another path — remove the duplicate, don't try to keep two copies in sync.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traps (two 1:N from one entity) and chasm traps (a path broken by an optional relationship) both look valid on paper but make a real business question unanswerable — both fixed by adding the missing direct relationship.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2026-09-29T15:29:40Z</dcterms:created>
  <dcterms:modified xsi:type="dcterms:W3CDTF">2026-09-29T15:29:40Z</dcterms:modified>
</cp:coreProperties>
</file>
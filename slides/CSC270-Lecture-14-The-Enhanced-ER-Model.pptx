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C"/>
        </a:solidFill>
      </p:bgPr>
    </p:bg>
    <p:spTree>
      <p:nvGrpSpPr>
        <p:cNvPr id="1" name=""/>
        <p:cNvGrpSpPr/>
        <p:nvPr/>
      </p:nvGrpSpPr>
      <p:grpSpPr>
        <a:xfrm>
          <a:off x="0" y="0"/>
          <a:ext cx="0" cy="0"/>
          <a:chOff x="0" y="0"/>
          <a:chExt cx="0" cy="0"/>
        </a:xfrm>
      </p:grpSpPr>
      <p:sp>
        <p:nvSpPr>
          <p:cNvPr id="2" name="Text 0"/>
          <p:cNvSpPr txBox="1"/>
          <p:nvPr/>
        </p:nvSpPr>
        <p:spPr>
          <a:xfrm>
            <a:off x="822960" y="1874520"/>
            <a:ext cx="9144000" cy="457200"/>
          </a:xfrm>
          <a:prstGeom prst="rect">
            <a:avLst/>
          </a:prstGeom>
          <a:noFill/>
          <a:ln/>
        </p:spPr>
        <p:txBody>
          <a:bodyPr wrap="square" lIns="0" tIns="0" rIns="0" bIns="0" rtlCol="0" anchor="ctr"/>
          <a:lstStyle/>
          <a:p>
            <a:pPr indent="0" marL="0">
              <a:buNone/>
            </a:pPr>
            <a:r>
              <a:rPr lang="en-US" sz="1500" b="1" spc="400" kern="0" dirty="0">
                <a:solidFill>
                  <a:srgbClr val="2FE6C4"/>
                </a:solidFill>
                <a:latin typeface="Calibri" pitchFamily="34" charset="0"/>
                <a:ea typeface="Calibri" pitchFamily="34" charset="-122"/>
                <a:cs typeface="Calibri" pitchFamily="34" charset="-120"/>
              </a:rPr>
              <a:t>LECTURE 14</a:t>
            </a:r>
            <a:endParaRPr lang="en-US" sz="1500" dirty="0"/>
          </a:p>
        </p:txBody>
      </p:sp>
      <p:sp>
        <p:nvSpPr>
          <p:cNvPr id="3" name="Text 1"/>
          <p:cNvSpPr txBox="1"/>
          <p:nvPr/>
        </p:nvSpPr>
        <p:spPr>
          <a:xfrm>
            <a:off x="777240" y="2331720"/>
            <a:ext cx="10424160" cy="1920240"/>
          </a:xfrm>
          <a:prstGeom prst="rect">
            <a:avLst/>
          </a:prstGeom>
          <a:noFill/>
          <a:ln/>
        </p:spPr>
        <p:txBody>
          <a:bodyPr wrap="square" lIns="0" tIns="0" rIns="0" bIns="0" rtlCol="0" anchor="ctr"/>
          <a:lstStyle/>
          <a:p>
            <a:pPr indent="0" marL="0">
              <a:lnSpc>
                <a:spcPct val="108000"/>
              </a:lnSpc>
              <a:buNone/>
            </a:pPr>
            <a:r>
              <a:rPr lang="en-US" sz="4000" b="1" dirty="0">
                <a:solidFill>
                  <a:srgbClr val="FFFFFF"/>
                </a:solidFill>
                <a:latin typeface="Calibri" pitchFamily="34" charset="0"/>
                <a:ea typeface="Calibri" pitchFamily="34" charset="-122"/>
                <a:cs typeface="Calibri" pitchFamily="34" charset="-120"/>
              </a:rPr>
              <a:t>The Enhanced ER Model</a:t>
            </a:r>
            <a:endParaRPr lang="en-US" sz="4000" dirty="0"/>
          </a:p>
        </p:txBody>
      </p:sp>
      <p:sp>
        <p:nvSpPr>
          <p:cNvPr id="4" name="Text 2"/>
          <p:cNvSpPr txBox="1"/>
          <p:nvPr/>
        </p:nvSpPr>
        <p:spPr>
          <a:xfrm>
            <a:off x="822960" y="4343400"/>
            <a:ext cx="9601200" cy="457200"/>
          </a:xfrm>
          <a:prstGeom prst="rect">
            <a:avLst/>
          </a:prstGeom>
          <a:noFill/>
          <a:ln/>
        </p:spPr>
        <p:txBody>
          <a:bodyPr wrap="square" lIns="0" tIns="0" rIns="0" bIns="0" rtlCol="0" anchor="ctr"/>
          <a:lstStyle/>
          <a:p>
            <a:pPr indent="0" marL="0">
              <a:buNone/>
            </a:pPr>
            <a:r>
              <a:rPr lang="en-US" sz="1800" dirty="0">
                <a:solidFill>
                  <a:srgbClr val="2FE6C4"/>
                </a:solidFill>
                <a:latin typeface="Calibri" pitchFamily="34" charset="0"/>
                <a:ea typeface="Calibri" pitchFamily="34" charset="-122"/>
                <a:cs typeface="Calibri" pitchFamily="34" charset="-120"/>
              </a:rPr>
              <a:t>Specialization, generalization, aggregation, and categorization</a:t>
            </a:r>
            <a:endParaRPr lang="en-US" sz="1800" dirty="0"/>
          </a:p>
        </p:txBody>
      </p:sp>
      <p:sp>
        <p:nvSpPr>
          <p:cNvPr id="5" name="Text 3"/>
          <p:cNvSpPr txBox="1"/>
          <p:nvPr/>
        </p:nvSpPr>
        <p:spPr>
          <a:xfrm>
            <a:off x="822960" y="4800600"/>
            <a:ext cx="9601200" cy="365760"/>
          </a:xfrm>
          <a:prstGeom prst="rect">
            <a:avLst/>
          </a:prstGeom>
          <a:noFill/>
          <a:ln/>
        </p:spPr>
        <p:txBody>
          <a:bodyPr wrap="square" lIns="0" tIns="0" rIns="0" bIns="0" rtlCol="0" anchor="ctr"/>
          <a:lstStyle/>
          <a:p>
            <a:pPr indent="0" marL="0">
              <a:buNone/>
            </a:pPr>
            <a:r>
              <a:rPr lang="en-US" sz="1800" dirty="0">
                <a:solidFill>
                  <a:srgbClr val="B9BFC6"/>
                </a:solidFill>
                <a:latin typeface="Calibri" pitchFamily="34" charset="0"/>
                <a:ea typeface="Calibri" pitchFamily="34" charset="-122"/>
                <a:cs typeface="Calibri" pitchFamily="34" charset="-120"/>
              </a:rPr>
              <a:t>CSC270 · Database Systems</a:t>
            </a:r>
            <a:endParaRPr lang="en-US" sz="1800" dirty="0"/>
          </a:p>
        </p:txBody>
      </p:sp>
      <p:sp>
        <p:nvSpPr>
          <p:cNvPr id="6" name="Text 4"/>
          <p:cNvSpPr txBox="1"/>
          <p:nvPr/>
        </p:nvSpPr>
        <p:spPr>
          <a:xfrm>
            <a:off x="822960" y="5166360"/>
            <a:ext cx="9601200" cy="365760"/>
          </a:xfrm>
          <a:prstGeom prst="rect">
            <a:avLst/>
          </a:prstGeom>
          <a:noFill/>
          <a:ln/>
        </p:spPr>
        <p:txBody>
          <a:bodyPr wrap="square" lIns="0" tIns="0" rIns="0" bIns="0" rtlCol="0" anchor="ctr"/>
          <a:lstStyle/>
          <a:p>
            <a:pPr indent="0" marL="0">
              <a:buNone/>
            </a:pPr>
            <a:r>
              <a:rPr lang="en-US" sz="1800" dirty="0">
                <a:solidFill>
                  <a:srgbClr val="757C84"/>
                </a:solidFill>
                <a:latin typeface="Calibri" pitchFamily="34" charset="0"/>
                <a:ea typeface="Calibri" pitchFamily="34" charset="-122"/>
                <a:cs typeface="Calibri" pitchFamily="34" charset="-120"/>
              </a:rPr>
              <a:t>COMSATS University Islamabad, Lahore Campus</a:t>
            </a:r>
            <a:endParaRPr lang="en-US" sz="1800" dirty="0"/>
          </a:p>
        </p:txBody>
      </p:sp>
      <p:sp>
        <p:nvSpPr>
          <p:cNvPr id="7" name="Text 5"/>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LECTURE 14</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In This Lecture</a:t>
            </a:r>
            <a:endParaRPr lang="en-US" sz="2600" dirty="0"/>
          </a:p>
        </p:txBody>
      </p:sp>
      <p:sp>
        <p:nvSpPr>
          <p:cNvPr id="4" name="Shape 2"/>
          <p:cNvSpPr/>
          <p:nvPr/>
        </p:nvSpPr>
        <p:spPr>
          <a:xfrm>
            <a:off x="640080" y="1691640"/>
            <a:ext cx="365760" cy="365760"/>
          </a:xfrm>
          <a:prstGeom prst="ellipse">
            <a:avLst/>
          </a:prstGeom>
          <a:solidFill>
            <a:srgbClr val="2FE6C4"/>
          </a:solidFill>
          <a:ln/>
        </p:spPr>
      </p:sp>
      <p:sp>
        <p:nvSpPr>
          <p:cNvPr id="5" name="Text 3"/>
          <p:cNvSpPr txBox="1"/>
          <p:nvPr/>
        </p:nvSpPr>
        <p:spPr>
          <a:xfrm>
            <a:off x="640080" y="1691640"/>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07008" y="1636776"/>
            <a:ext cx="10344607" cy="640080"/>
          </a:xfrm>
          <a:prstGeom prst="rect">
            <a:avLst/>
          </a:prstGeom>
          <a:noFill/>
          <a:ln/>
        </p:spPr>
        <p:txBody>
          <a:bodyPr wrap="square" lIns="0" tIns="0" rIns="0" bIns="0" rtlCol="0" anchor="ctr"/>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Why plain ER modeling breaks down for domains with natural sub-types</a:t>
            </a:r>
            <a:endParaRPr lang="en-US" sz="1800" dirty="0"/>
          </a:p>
        </p:txBody>
      </p:sp>
      <p:sp>
        <p:nvSpPr>
          <p:cNvPr id="7" name="Shape 5"/>
          <p:cNvSpPr/>
          <p:nvPr/>
        </p:nvSpPr>
        <p:spPr>
          <a:xfrm>
            <a:off x="640080" y="2331720"/>
            <a:ext cx="365760" cy="365760"/>
          </a:xfrm>
          <a:prstGeom prst="ellipse">
            <a:avLst/>
          </a:prstGeom>
          <a:solidFill>
            <a:srgbClr val="2FE6C4"/>
          </a:solidFill>
          <a:ln/>
        </p:spPr>
      </p:sp>
      <p:sp>
        <p:nvSpPr>
          <p:cNvPr id="8" name="Text 6"/>
          <p:cNvSpPr txBox="1"/>
          <p:nvPr/>
        </p:nvSpPr>
        <p:spPr>
          <a:xfrm>
            <a:off x="640080" y="2331720"/>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207008" y="2276856"/>
            <a:ext cx="10344607" cy="640080"/>
          </a:xfrm>
          <a:prstGeom prst="rect">
            <a:avLst/>
          </a:prstGeom>
          <a:noFill/>
          <a:ln/>
        </p:spPr>
        <p:txBody>
          <a:bodyPr wrap="square" lIns="0" tIns="0" rIns="0" bIns="0" rtlCol="0" anchor="ctr"/>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Specialization (top-down) and generalization (bottom-up) — same diagram, opposite reasoning</a:t>
            </a:r>
            <a:endParaRPr lang="en-US" sz="1800" dirty="0"/>
          </a:p>
        </p:txBody>
      </p:sp>
      <p:sp>
        <p:nvSpPr>
          <p:cNvPr id="10" name="Shape 8"/>
          <p:cNvSpPr/>
          <p:nvPr/>
        </p:nvSpPr>
        <p:spPr>
          <a:xfrm>
            <a:off x="640080" y="2971800"/>
            <a:ext cx="365760" cy="365760"/>
          </a:xfrm>
          <a:prstGeom prst="ellipse">
            <a:avLst/>
          </a:prstGeom>
          <a:solidFill>
            <a:srgbClr val="2FE6C4"/>
          </a:solidFill>
          <a:ln/>
        </p:spPr>
      </p:sp>
      <p:sp>
        <p:nvSpPr>
          <p:cNvPr id="11" name="Text 9"/>
          <p:cNvSpPr txBox="1"/>
          <p:nvPr/>
        </p:nvSpPr>
        <p:spPr>
          <a:xfrm>
            <a:off x="640080" y="2971800"/>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3</a:t>
            </a:r>
            <a:endParaRPr lang="en-US" sz="1400" dirty="0"/>
          </a:p>
        </p:txBody>
      </p:sp>
      <p:sp>
        <p:nvSpPr>
          <p:cNvPr id="12" name="Text 10"/>
          <p:cNvSpPr txBox="1"/>
          <p:nvPr/>
        </p:nvSpPr>
        <p:spPr>
          <a:xfrm>
            <a:off x="1207008" y="2916936"/>
            <a:ext cx="10344607" cy="640080"/>
          </a:xfrm>
          <a:prstGeom prst="rect">
            <a:avLst/>
          </a:prstGeom>
          <a:noFill/>
          <a:ln/>
        </p:spPr>
        <p:txBody>
          <a:bodyPr wrap="square" lIns="0" tIns="0" rIns="0" bIns="0" rtlCol="0" anchor="ctr"/>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Superclasses, subclasses, and inheritance of attributes AND relationships</a:t>
            </a:r>
            <a:endParaRPr lang="en-US" sz="1800" dirty="0"/>
          </a:p>
        </p:txBody>
      </p:sp>
      <p:sp>
        <p:nvSpPr>
          <p:cNvPr id="13" name="Shape 11"/>
          <p:cNvSpPr/>
          <p:nvPr/>
        </p:nvSpPr>
        <p:spPr>
          <a:xfrm>
            <a:off x="640080" y="3611880"/>
            <a:ext cx="365760" cy="365760"/>
          </a:xfrm>
          <a:prstGeom prst="ellipse">
            <a:avLst/>
          </a:prstGeom>
          <a:solidFill>
            <a:srgbClr val="2FE6C4"/>
          </a:solidFill>
          <a:ln/>
        </p:spPr>
      </p:sp>
      <p:sp>
        <p:nvSpPr>
          <p:cNvPr id="14" name="Text 12"/>
          <p:cNvSpPr txBox="1"/>
          <p:nvPr/>
        </p:nvSpPr>
        <p:spPr>
          <a:xfrm>
            <a:off x="640080" y="3611880"/>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4</a:t>
            </a:r>
            <a:endParaRPr lang="en-US" sz="1400" dirty="0"/>
          </a:p>
        </p:txBody>
      </p:sp>
      <p:sp>
        <p:nvSpPr>
          <p:cNvPr id="15" name="Text 13"/>
          <p:cNvSpPr txBox="1"/>
          <p:nvPr/>
        </p:nvSpPr>
        <p:spPr>
          <a:xfrm>
            <a:off x="1207008" y="3557016"/>
            <a:ext cx="10344607" cy="640080"/>
          </a:xfrm>
          <a:prstGeom prst="rect">
            <a:avLst/>
          </a:prstGeom>
          <a:noFill/>
          <a:ln/>
        </p:spPr>
        <p:txBody>
          <a:bodyPr wrap="square" lIns="0" tIns="0" rIns="0" bIns="0" rtlCol="0" anchor="ctr"/>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The four disjoint/overlapping × total/partial constraints — and the reasoning behind each choice</a:t>
            </a:r>
            <a:endParaRPr lang="en-US" sz="1800" dirty="0"/>
          </a:p>
        </p:txBody>
      </p:sp>
      <p:sp>
        <p:nvSpPr>
          <p:cNvPr id="16" name="Shape 14"/>
          <p:cNvSpPr/>
          <p:nvPr/>
        </p:nvSpPr>
        <p:spPr>
          <a:xfrm>
            <a:off x="640080" y="4251960"/>
            <a:ext cx="365760" cy="365760"/>
          </a:xfrm>
          <a:prstGeom prst="ellipse">
            <a:avLst/>
          </a:prstGeom>
          <a:solidFill>
            <a:srgbClr val="2FE6C4"/>
          </a:solidFill>
          <a:ln/>
        </p:spPr>
      </p:sp>
      <p:sp>
        <p:nvSpPr>
          <p:cNvPr id="17" name="Text 15"/>
          <p:cNvSpPr txBox="1"/>
          <p:nvPr/>
        </p:nvSpPr>
        <p:spPr>
          <a:xfrm>
            <a:off x="640080" y="4251960"/>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5</a:t>
            </a:r>
            <a:endParaRPr lang="en-US" sz="1400" dirty="0"/>
          </a:p>
        </p:txBody>
      </p:sp>
      <p:sp>
        <p:nvSpPr>
          <p:cNvPr id="18" name="Text 16"/>
          <p:cNvSpPr txBox="1"/>
          <p:nvPr/>
        </p:nvSpPr>
        <p:spPr>
          <a:xfrm>
            <a:off x="1207008" y="4197096"/>
            <a:ext cx="10344607" cy="640080"/>
          </a:xfrm>
          <a:prstGeom prst="rect">
            <a:avLst/>
          </a:prstGeom>
          <a:noFill/>
          <a:ln/>
        </p:spPr>
        <p:txBody>
          <a:bodyPr wrap="square" lIns="0" tIns="0" rIns="0" bIns="0" rtlCol="0" anchor="ctr"/>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Aggregation: treating a relationship itself as a participant in another relationship</a:t>
            </a:r>
            <a:endParaRPr lang="en-US" sz="1800" dirty="0"/>
          </a:p>
        </p:txBody>
      </p:sp>
      <p:sp>
        <p:nvSpPr>
          <p:cNvPr id="19" name="Shape 17"/>
          <p:cNvSpPr/>
          <p:nvPr/>
        </p:nvSpPr>
        <p:spPr>
          <a:xfrm>
            <a:off x="640080" y="4892040"/>
            <a:ext cx="365760" cy="365760"/>
          </a:xfrm>
          <a:prstGeom prst="ellipse">
            <a:avLst/>
          </a:prstGeom>
          <a:solidFill>
            <a:srgbClr val="2FE6C4"/>
          </a:solidFill>
          <a:ln/>
        </p:spPr>
      </p:sp>
      <p:sp>
        <p:nvSpPr>
          <p:cNvPr id="20" name="Text 18"/>
          <p:cNvSpPr txBox="1"/>
          <p:nvPr/>
        </p:nvSpPr>
        <p:spPr>
          <a:xfrm>
            <a:off x="640080" y="4892040"/>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6</a:t>
            </a:r>
            <a:endParaRPr lang="en-US" sz="1400" dirty="0"/>
          </a:p>
        </p:txBody>
      </p:sp>
      <p:sp>
        <p:nvSpPr>
          <p:cNvPr id="21" name="Text 19"/>
          <p:cNvSpPr txBox="1"/>
          <p:nvPr/>
        </p:nvSpPr>
        <p:spPr>
          <a:xfrm>
            <a:off x="1207008" y="4837176"/>
            <a:ext cx="10344607" cy="640080"/>
          </a:xfrm>
          <a:prstGeom prst="rect">
            <a:avLst/>
          </a:prstGeom>
          <a:noFill/>
          <a:ln/>
        </p:spPr>
        <p:txBody>
          <a:bodyPr wrap="square" lIns="0" tIns="0" rIns="0" bIns="0" rtlCol="0" anchor="ctr"/>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Composition: aggregation's stronger, ownership-implying cousin</a:t>
            </a:r>
            <a:endParaRPr lang="en-US" sz="1800" dirty="0"/>
          </a:p>
        </p:txBody>
      </p:sp>
      <p:sp>
        <p:nvSpPr>
          <p:cNvPr id="22" name="Shape 20"/>
          <p:cNvSpPr/>
          <p:nvPr/>
        </p:nvSpPr>
        <p:spPr>
          <a:xfrm>
            <a:off x="640080" y="5532120"/>
            <a:ext cx="365760" cy="365760"/>
          </a:xfrm>
          <a:prstGeom prst="ellipse">
            <a:avLst/>
          </a:prstGeom>
          <a:solidFill>
            <a:srgbClr val="2FE6C4"/>
          </a:solidFill>
          <a:ln/>
        </p:spPr>
      </p:sp>
      <p:sp>
        <p:nvSpPr>
          <p:cNvPr id="23" name="Text 21"/>
          <p:cNvSpPr txBox="1"/>
          <p:nvPr/>
        </p:nvSpPr>
        <p:spPr>
          <a:xfrm>
            <a:off x="640080" y="5532120"/>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7</a:t>
            </a:r>
            <a:endParaRPr lang="en-US" sz="1400" dirty="0"/>
          </a:p>
        </p:txBody>
      </p:sp>
      <p:sp>
        <p:nvSpPr>
          <p:cNvPr id="24" name="Text 22"/>
          <p:cNvSpPr txBox="1"/>
          <p:nvPr/>
        </p:nvSpPr>
        <p:spPr>
          <a:xfrm>
            <a:off x="1207008" y="5477256"/>
            <a:ext cx="10344607" cy="640080"/>
          </a:xfrm>
          <a:prstGeom prst="rect">
            <a:avLst/>
          </a:prstGeom>
          <a:noFill/>
          <a:ln/>
        </p:spPr>
        <p:txBody>
          <a:bodyPr wrap="square" lIns="0" tIns="0" rIns="0" bIns="0" rtlCol="0" anchor="ctr"/>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Categorization (union types): a subclass drawn from several unrelated superclasses</a:t>
            </a:r>
            <a:endParaRPr lang="en-US" sz="1800" dirty="0"/>
          </a:p>
        </p:txBody>
      </p:sp>
      <p:sp>
        <p:nvSpPr>
          <p:cNvPr id="25" name="Text 23"/>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THE MOTIVATING GAP</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Why Plain ER Isn't Enough</a:t>
            </a:r>
            <a:endParaRPr lang="en-US" sz="2600" dirty="0"/>
          </a:p>
        </p:txBody>
      </p:sp>
      <p:sp>
        <p:nvSpPr>
          <p:cNvPr id="4" name="Text 2"/>
          <p:cNvSpPr txBox="1"/>
          <p:nvPr/>
        </p:nvSpPr>
        <p:spPr>
          <a:xfrm>
            <a:off x="640080" y="1508760"/>
            <a:ext cx="10911535" cy="82296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Plain ER (Lectures 12–13) is entities, relationships, and attributes, all at the same flat level. It breaks down specifically when a domain has natural sub-types sharing a common core but each adding its own extra structure:</a:t>
            </a:r>
            <a:endParaRPr lang="en-US" sz="1800" dirty="0"/>
          </a:p>
        </p:txBody>
      </p:sp>
      <p:sp>
        <p:nvSpPr>
          <p:cNvPr id="5" name="Shape 3"/>
          <p:cNvSpPr/>
          <p:nvPr/>
        </p:nvSpPr>
        <p:spPr>
          <a:xfrm>
            <a:off x="640080" y="2331720"/>
            <a:ext cx="5212080" cy="2103120"/>
          </a:xfrm>
          <a:prstGeom prst="roundRect">
            <a:avLst>
              <a:gd name="adj" fmla="val 3478"/>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6" name="Text 4"/>
          <p:cNvSpPr txBox="1"/>
          <p:nvPr/>
        </p:nvSpPr>
        <p:spPr>
          <a:xfrm>
            <a:off x="868680" y="2487168"/>
            <a:ext cx="4754880" cy="365760"/>
          </a:xfrm>
          <a:prstGeom prst="rect">
            <a:avLst/>
          </a:prstGeom>
          <a:noFill/>
          <a:ln/>
        </p:spPr>
        <p:txBody>
          <a:bodyPr wrap="square" lIns="0" tIns="0" rIns="0" bIns="0" rtlCol="0" anchor="ctr"/>
          <a:lstStyle/>
          <a:p>
            <a:pPr indent="0" marL="0">
              <a:buNone/>
            </a:pPr>
            <a:r>
              <a:rPr lang="en-US" sz="1800" b="1" dirty="0">
                <a:solidFill>
                  <a:srgbClr val="1F2429"/>
                </a:solidFill>
                <a:latin typeface="Calibri" pitchFamily="34" charset="0"/>
                <a:ea typeface="Calibri" pitchFamily="34" charset="-122"/>
                <a:cs typeface="Calibri" pitchFamily="34" charset="-120"/>
              </a:rPr>
              <a:t>Attribute overload</a:t>
            </a:r>
            <a:endParaRPr lang="en-US" sz="1800" dirty="0"/>
          </a:p>
        </p:txBody>
      </p:sp>
      <p:sp>
        <p:nvSpPr>
          <p:cNvPr id="7" name="Text 5"/>
          <p:cNvSpPr txBox="1"/>
          <p:nvPr/>
        </p:nvSpPr>
        <p:spPr>
          <a:xfrm>
            <a:off x="868680" y="2907792"/>
            <a:ext cx="4754880" cy="1463040"/>
          </a:xfrm>
          <a:prstGeom prst="rect">
            <a:avLst/>
          </a:prstGeom>
          <a:noFill/>
          <a:ln/>
        </p:spPr>
        <p:txBody>
          <a:bodyPr wrap="square" lIns="0" tIns="0" rIns="0" bIns="0" rtlCol="0" anchor="t"/>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Cram every subtype's attributes into one entity. Subtype-only columns sit NULL on most rows.</a:t>
            </a:r>
            <a:endParaRPr lang="en-US" sz="1800" dirty="0"/>
          </a:p>
        </p:txBody>
      </p:sp>
      <p:sp>
        <p:nvSpPr>
          <p:cNvPr id="8" name="Shape 6"/>
          <p:cNvSpPr/>
          <p:nvPr/>
        </p:nvSpPr>
        <p:spPr>
          <a:xfrm>
            <a:off x="6126480" y="2331720"/>
            <a:ext cx="5212080" cy="2103120"/>
          </a:xfrm>
          <a:prstGeom prst="roundRect">
            <a:avLst>
              <a:gd name="adj" fmla="val 3478"/>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6355080" y="2487168"/>
            <a:ext cx="4754880" cy="365760"/>
          </a:xfrm>
          <a:prstGeom prst="rect">
            <a:avLst/>
          </a:prstGeom>
          <a:noFill/>
          <a:ln/>
        </p:spPr>
        <p:txBody>
          <a:bodyPr wrap="square" lIns="0" tIns="0" rIns="0" bIns="0" rtlCol="0" anchor="ctr"/>
          <a:lstStyle/>
          <a:p>
            <a:pPr indent="0" marL="0">
              <a:buNone/>
            </a:pPr>
            <a:r>
              <a:rPr lang="en-US" sz="1800" b="1" dirty="0">
                <a:solidFill>
                  <a:srgbClr val="1F2429"/>
                </a:solidFill>
                <a:latin typeface="Calibri" pitchFamily="34" charset="0"/>
                <a:ea typeface="Calibri" pitchFamily="34" charset="-122"/>
                <a:cs typeface="Calibri" pitchFamily="34" charset="-120"/>
              </a:rPr>
              <a:t>Lost commonality</a:t>
            </a:r>
            <a:endParaRPr lang="en-US" sz="1800" dirty="0"/>
          </a:p>
        </p:txBody>
      </p:sp>
      <p:sp>
        <p:nvSpPr>
          <p:cNvPr id="10" name="Text 8"/>
          <p:cNvSpPr txBox="1"/>
          <p:nvPr/>
        </p:nvSpPr>
        <p:spPr>
          <a:xfrm>
            <a:off x="6355080" y="2907792"/>
            <a:ext cx="4754880" cy="1463040"/>
          </a:xfrm>
          <a:prstGeom prst="rect">
            <a:avLst/>
          </a:prstGeom>
          <a:noFill/>
          <a:ln/>
        </p:spPr>
        <p:txBody>
          <a:bodyPr wrap="square" lIns="0" tIns="0" rIns="0" bIns="0" rtlCol="0" anchor="t"/>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Model SalesPersonnel and Manager as two separate entities. Shared columns are duplicated, and querying all staff needs a manual union.</a:t>
            </a:r>
            <a:endParaRPr lang="en-US" sz="1800" dirty="0"/>
          </a:p>
        </p:txBody>
      </p:sp>
      <p:sp>
        <p:nvSpPr>
          <p:cNvPr id="11" name="Shape 9"/>
          <p:cNvSpPr/>
          <p:nvPr/>
        </p:nvSpPr>
        <p:spPr>
          <a:xfrm>
            <a:off x="640080" y="4663440"/>
            <a:ext cx="10911535" cy="1600200"/>
          </a:xfrm>
          <a:prstGeom prst="roundRect">
            <a:avLst>
              <a:gd name="adj" fmla="val 4000"/>
            </a:avLst>
          </a:prstGeom>
          <a:solidFill>
            <a:srgbClr val="E9F9F3"/>
          </a:solidFill>
          <a:ln w="12700">
            <a:solidFill>
              <a:srgbClr val="1FAE8C"/>
            </a:solidFill>
            <a:prstDash val="solid"/>
          </a:ln>
        </p:spPr>
      </p:sp>
      <p:sp>
        <p:nvSpPr>
          <p:cNvPr id="12" name="Text 10"/>
          <p:cNvSpPr txBox="1"/>
          <p:nvPr/>
        </p:nvSpPr>
        <p:spPr>
          <a:xfrm>
            <a:off x="896112" y="4809744"/>
            <a:ext cx="10399471" cy="274320"/>
          </a:xfrm>
          <a:prstGeom prst="rect">
            <a:avLst/>
          </a:prstGeom>
          <a:noFill/>
          <a:ln/>
        </p:spPr>
        <p:txBody>
          <a:bodyPr wrap="square" lIns="0" tIns="0" rIns="0" bIns="0" rtlCol="0" anchor="ctr"/>
          <a:lstStyle/>
          <a:p>
            <a:pPr indent="0" marL="0">
              <a:buNone/>
            </a:pPr>
            <a:r>
              <a:rPr lang="en-US" sz="1200" b="1" spc="200" kern="0" dirty="0">
                <a:solidFill>
                  <a:srgbClr val="0E7A61"/>
                </a:solidFill>
                <a:latin typeface="Calibri" pitchFamily="34" charset="0"/>
                <a:ea typeface="Calibri" pitchFamily="34" charset="-122"/>
                <a:cs typeface="Calibri" pitchFamily="34" charset="-120"/>
              </a:rPr>
              <a:t>THE EER MODEL'S SUPERCLASS/SUBCLASS MACHINERY SOLVES BOTH AT ONCE</a:t>
            </a:r>
            <a:endParaRPr lang="en-US" sz="1200" dirty="0"/>
          </a:p>
        </p:txBody>
      </p:sp>
      <p:sp>
        <p:nvSpPr>
          <p:cNvPr id="13" name="Text 11"/>
          <p:cNvSpPr txBox="1"/>
          <p:nvPr/>
        </p:nvSpPr>
        <p:spPr>
          <a:xfrm>
            <a:off x="896112" y="5138928"/>
            <a:ext cx="10399471" cy="96012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Shared attributes and relationships live ONCE, on the superclass, and each subclass adds only what's genuinely specific to it. This lecture adds four new modeling concepts on top of Lectures 12–13: specialization, generalization, aggregation, and categorization.</a:t>
            </a:r>
            <a:endParaRPr lang="en-US" sz="1800" dirty="0"/>
          </a:p>
        </p:txBody>
      </p:sp>
      <p:sp>
        <p:nvSpPr>
          <p:cNvPr id="14" name="Text 12"/>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OUR RUNNING EXAMPLE, STEP 1</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Specialization — Top-Down</a:t>
            </a:r>
            <a:endParaRPr lang="en-US" sz="2600" dirty="0"/>
          </a:p>
        </p:txBody>
      </p:sp>
      <p:sp>
        <p:nvSpPr>
          <p:cNvPr id="4" name="Text 2"/>
          <p:cNvSpPr txBox="1"/>
          <p:nvPr/>
        </p:nvSpPr>
        <p:spPr>
          <a:xfrm>
            <a:off x="640080" y="1508760"/>
            <a:ext cx="10911535" cy="64008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Start from ONE superclass already known to the model (Staff), and identify meaningful, distinct subgroupings based on a distinguishing characteristic (job role).</a:t>
            </a:r>
            <a:endParaRPr lang="en-US" sz="1800" dirty="0"/>
          </a:p>
        </p:txBody>
      </p:sp>
      <p:sp>
        <p:nvSpPr>
          <p:cNvPr id="5" name="Shape 3"/>
          <p:cNvSpPr/>
          <p:nvPr/>
        </p:nvSpPr>
        <p:spPr>
          <a:xfrm>
            <a:off x="3749040" y="2286000"/>
            <a:ext cx="4663440" cy="1152144"/>
          </a:xfrm>
          <a:prstGeom prst="roundRect">
            <a:avLst>
              <a:gd name="adj" fmla="val 6349"/>
            </a:avLst>
          </a:prstGeom>
          <a:solidFill>
            <a:srgbClr val="FFFFFF"/>
          </a:solidFill>
          <a:ln w="15875">
            <a:solidFill>
              <a:srgbClr val="1F2429"/>
            </a:solidFill>
            <a:prstDash val="solid"/>
          </a:ln>
        </p:spPr>
      </p:sp>
      <p:sp>
        <p:nvSpPr>
          <p:cNvPr id="6" name="Shape 4"/>
          <p:cNvSpPr/>
          <p:nvPr/>
        </p:nvSpPr>
        <p:spPr>
          <a:xfrm>
            <a:off x="3749040" y="2286000"/>
            <a:ext cx="4663440" cy="420624"/>
          </a:xfrm>
          <a:prstGeom prst="roundRect">
            <a:avLst>
              <a:gd name="adj" fmla="val 17391"/>
            </a:avLst>
          </a:prstGeom>
          <a:solidFill>
            <a:srgbClr val="14181C"/>
          </a:solidFill>
          <a:ln/>
        </p:spPr>
      </p:sp>
      <p:sp>
        <p:nvSpPr>
          <p:cNvPr id="7" name="Shape 5"/>
          <p:cNvSpPr/>
          <p:nvPr/>
        </p:nvSpPr>
        <p:spPr>
          <a:xfrm>
            <a:off x="3749040" y="2496312"/>
            <a:ext cx="4663440" cy="210312"/>
          </a:xfrm>
          <a:prstGeom prst="rect">
            <a:avLst/>
          </a:prstGeom>
          <a:solidFill>
            <a:srgbClr val="14181C"/>
          </a:solidFill>
          <a:ln/>
        </p:spPr>
      </p:sp>
      <p:sp>
        <p:nvSpPr>
          <p:cNvPr id="8" name="Text 6"/>
          <p:cNvSpPr txBox="1"/>
          <p:nvPr/>
        </p:nvSpPr>
        <p:spPr>
          <a:xfrm>
            <a:off x="3858768" y="2286000"/>
            <a:ext cx="4443984" cy="420624"/>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Staff (superclass)</a:t>
            </a:r>
            <a:endParaRPr lang="en-US" sz="1800" dirty="0"/>
          </a:p>
        </p:txBody>
      </p:sp>
      <p:sp>
        <p:nvSpPr>
          <p:cNvPr id="9" name="Text 7"/>
          <p:cNvSpPr txBox="1"/>
          <p:nvPr/>
        </p:nvSpPr>
        <p:spPr>
          <a:xfrm>
            <a:off x="3895344" y="2761488"/>
            <a:ext cx="4389120" cy="585216"/>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staffNo</a:t>
            </a:r>
            <a:endParaRPr lang="en-US" sz="1800" dirty="0"/>
          </a:p>
          <a:p>
            <a:pPr indent="0" marL="0">
              <a:lnSpc>
                <a:spcPct val="108000"/>
              </a:lnSpc>
              <a:spcAft>
                <a:spcPts val="100"/>
              </a:spcAft>
              <a:buNone/>
            </a:pPr>
            <a:r>
              <a:rPr lang="en-US" sz="1800" dirty="0">
                <a:solidFill>
                  <a:srgbClr val="1F2429"/>
                </a:solidFill>
                <a:latin typeface="Calibri" pitchFamily="34" charset="0"/>
                <a:ea typeface="Calibri" pitchFamily="34" charset="-122"/>
                <a:cs typeface="Calibri" pitchFamily="34" charset="-120"/>
              </a:rPr>
              <a:t>name, position, salary, branchNo</a:t>
            </a:r>
            <a:endParaRPr lang="en-US" sz="1800" dirty="0"/>
          </a:p>
        </p:txBody>
      </p:sp>
      <p:sp>
        <p:nvSpPr>
          <p:cNvPr id="10" name="Shape 8"/>
          <p:cNvSpPr/>
          <p:nvPr/>
        </p:nvSpPr>
        <p:spPr>
          <a:xfrm>
            <a:off x="640080" y="3840480"/>
            <a:ext cx="3291840" cy="1152144"/>
          </a:xfrm>
          <a:prstGeom prst="roundRect">
            <a:avLst>
              <a:gd name="adj" fmla="val 6349"/>
            </a:avLst>
          </a:prstGeom>
          <a:solidFill>
            <a:srgbClr val="FFFFFF"/>
          </a:solidFill>
          <a:ln w="15875">
            <a:solidFill>
              <a:srgbClr val="1F2429"/>
            </a:solidFill>
            <a:prstDash val="solid"/>
          </a:ln>
        </p:spPr>
      </p:sp>
      <p:sp>
        <p:nvSpPr>
          <p:cNvPr id="11" name="Shape 9"/>
          <p:cNvSpPr/>
          <p:nvPr/>
        </p:nvSpPr>
        <p:spPr>
          <a:xfrm>
            <a:off x="640080" y="3840480"/>
            <a:ext cx="3291840" cy="420624"/>
          </a:xfrm>
          <a:prstGeom prst="roundRect">
            <a:avLst>
              <a:gd name="adj" fmla="val 17391"/>
            </a:avLst>
          </a:prstGeom>
          <a:solidFill>
            <a:srgbClr val="2FE6C4"/>
          </a:solidFill>
          <a:ln/>
        </p:spPr>
      </p:sp>
      <p:sp>
        <p:nvSpPr>
          <p:cNvPr id="12" name="Shape 10"/>
          <p:cNvSpPr/>
          <p:nvPr/>
        </p:nvSpPr>
        <p:spPr>
          <a:xfrm>
            <a:off x="640080" y="4050792"/>
            <a:ext cx="3291840" cy="210312"/>
          </a:xfrm>
          <a:prstGeom prst="rect">
            <a:avLst/>
          </a:prstGeom>
          <a:solidFill>
            <a:srgbClr val="2FE6C4"/>
          </a:solidFill>
          <a:ln/>
        </p:spPr>
      </p:sp>
      <p:sp>
        <p:nvSpPr>
          <p:cNvPr id="13" name="Text 11"/>
          <p:cNvSpPr txBox="1"/>
          <p:nvPr/>
        </p:nvSpPr>
        <p:spPr>
          <a:xfrm>
            <a:off x="749808" y="3840480"/>
            <a:ext cx="307238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SalesPersonnel (subclass)</a:t>
            </a:r>
            <a:endParaRPr lang="en-US" sz="1800" dirty="0"/>
          </a:p>
        </p:txBody>
      </p:sp>
      <p:sp>
        <p:nvSpPr>
          <p:cNvPr id="14" name="Text 12"/>
          <p:cNvSpPr txBox="1"/>
          <p:nvPr/>
        </p:nvSpPr>
        <p:spPr>
          <a:xfrm>
            <a:off x="786384" y="4315968"/>
            <a:ext cx="3017520" cy="585216"/>
          </a:xfrm>
          <a:prstGeom prst="rect">
            <a:avLst/>
          </a:prstGeom>
          <a:noFill/>
          <a:ln/>
        </p:spPr>
        <p:txBody>
          <a:bodyPr wrap="square" lIns="0" tIns="0" rIns="0" bIns="0" rtlCol="0" anchor="t"/>
          <a:lstStyle/>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salesArea</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carAllowance</a:t>
            </a:r>
            <a:endParaRPr lang="en-US" sz="1400" dirty="0"/>
          </a:p>
        </p:txBody>
      </p:sp>
      <p:sp>
        <p:nvSpPr>
          <p:cNvPr id="15" name="Shape 13"/>
          <p:cNvSpPr/>
          <p:nvPr/>
        </p:nvSpPr>
        <p:spPr>
          <a:xfrm>
            <a:off x="8321040" y="3840480"/>
            <a:ext cx="3200400" cy="1152144"/>
          </a:xfrm>
          <a:prstGeom prst="roundRect">
            <a:avLst>
              <a:gd name="adj" fmla="val 6349"/>
            </a:avLst>
          </a:prstGeom>
          <a:solidFill>
            <a:srgbClr val="FFFFFF"/>
          </a:solidFill>
          <a:ln w="15875">
            <a:solidFill>
              <a:srgbClr val="1F2429"/>
            </a:solidFill>
            <a:prstDash val="solid"/>
          </a:ln>
        </p:spPr>
      </p:sp>
      <p:sp>
        <p:nvSpPr>
          <p:cNvPr id="16" name="Shape 14"/>
          <p:cNvSpPr/>
          <p:nvPr/>
        </p:nvSpPr>
        <p:spPr>
          <a:xfrm>
            <a:off x="8321040" y="3840480"/>
            <a:ext cx="3200400" cy="420624"/>
          </a:xfrm>
          <a:prstGeom prst="roundRect">
            <a:avLst>
              <a:gd name="adj" fmla="val 17391"/>
            </a:avLst>
          </a:prstGeom>
          <a:solidFill>
            <a:srgbClr val="E8A33D"/>
          </a:solidFill>
          <a:ln/>
        </p:spPr>
      </p:sp>
      <p:sp>
        <p:nvSpPr>
          <p:cNvPr id="17" name="Shape 15"/>
          <p:cNvSpPr/>
          <p:nvPr/>
        </p:nvSpPr>
        <p:spPr>
          <a:xfrm>
            <a:off x="8321040" y="4050792"/>
            <a:ext cx="3200400" cy="210312"/>
          </a:xfrm>
          <a:prstGeom prst="rect">
            <a:avLst/>
          </a:prstGeom>
          <a:solidFill>
            <a:srgbClr val="E8A33D"/>
          </a:solidFill>
          <a:ln/>
        </p:spPr>
      </p:sp>
      <p:sp>
        <p:nvSpPr>
          <p:cNvPr id="18" name="Text 16"/>
          <p:cNvSpPr txBox="1"/>
          <p:nvPr/>
        </p:nvSpPr>
        <p:spPr>
          <a:xfrm>
            <a:off x="8430768" y="3840480"/>
            <a:ext cx="298094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Manager (subclass)</a:t>
            </a:r>
            <a:endParaRPr lang="en-US" sz="1800" dirty="0"/>
          </a:p>
        </p:txBody>
      </p:sp>
      <p:sp>
        <p:nvSpPr>
          <p:cNvPr id="19" name="Text 17"/>
          <p:cNvSpPr txBox="1"/>
          <p:nvPr/>
        </p:nvSpPr>
        <p:spPr>
          <a:xfrm>
            <a:off x="8467344" y="4315968"/>
            <a:ext cx="2926080" cy="585216"/>
          </a:xfrm>
          <a:prstGeom prst="rect">
            <a:avLst/>
          </a:prstGeom>
          <a:noFill/>
          <a:ln/>
        </p:spPr>
        <p:txBody>
          <a:bodyPr wrap="square" lIns="0" tIns="0" rIns="0" bIns="0" rtlCol="0" anchor="t"/>
          <a:lstStyle/>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bonus</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mgmtLevel</a:t>
            </a:r>
            <a:endParaRPr lang="en-US" sz="1400" dirty="0"/>
          </a:p>
        </p:txBody>
      </p:sp>
      <p:sp>
        <p:nvSpPr>
          <p:cNvPr id="20" name="Shape 18"/>
          <p:cNvSpPr/>
          <p:nvPr/>
        </p:nvSpPr>
        <p:spPr>
          <a:xfrm>
            <a:off x="3474720" y="3017520"/>
            <a:ext cx="1828800" cy="822960"/>
          </a:xfrm>
          <a:prstGeom prst="line">
            <a:avLst/>
          </a:prstGeom>
          <a:noFill/>
          <a:ln w="22225">
            <a:solidFill>
              <a:srgbClr val="9AA1A9"/>
            </a:solidFill>
            <a:prstDash val="solid"/>
            <a:tailEnd type="none"/>
          </a:ln>
        </p:spPr>
      </p:sp>
      <p:sp>
        <p:nvSpPr>
          <p:cNvPr id="21" name="Shape 19"/>
          <p:cNvSpPr/>
          <p:nvPr/>
        </p:nvSpPr>
        <p:spPr>
          <a:xfrm>
            <a:off x="6858000" y="3017520"/>
            <a:ext cx="2743200" cy="822960"/>
          </a:xfrm>
          <a:prstGeom prst="line">
            <a:avLst/>
          </a:prstGeom>
          <a:noFill/>
          <a:ln w="22225">
            <a:solidFill>
              <a:srgbClr val="9AA1A9"/>
            </a:solidFill>
            <a:prstDash val="solid"/>
            <a:tailEnd type="none"/>
          </a:ln>
        </p:spPr>
      </p:sp>
      <p:sp>
        <p:nvSpPr>
          <p:cNvPr id="22" name="Shape 20"/>
          <p:cNvSpPr/>
          <p:nvPr/>
        </p:nvSpPr>
        <p:spPr>
          <a:xfrm>
            <a:off x="640080" y="5349240"/>
            <a:ext cx="10911535" cy="1188720"/>
          </a:xfrm>
          <a:prstGeom prst="roundRect">
            <a:avLst>
              <a:gd name="adj" fmla="val 5385"/>
            </a:avLst>
          </a:prstGeom>
          <a:solidFill>
            <a:srgbClr val="EAF1FB"/>
          </a:solidFill>
          <a:ln w="12700">
            <a:solidFill>
              <a:srgbClr val="6C8FD6"/>
            </a:solidFill>
            <a:prstDash val="solid"/>
          </a:ln>
        </p:spPr>
      </p:sp>
      <p:sp>
        <p:nvSpPr>
          <p:cNvPr id="23" name="Text 21"/>
          <p:cNvSpPr txBox="1"/>
          <p:nvPr/>
        </p:nvSpPr>
        <p:spPr>
          <a:xfrm>
            <a:off x="896112" y="5495544"/>
            <a:ext cx="10399471" cy="274320"/>
          </a:xfrm>
          <a:prstGeom prst="rect">
            <a:avLst/>
          </a:prstGeom>
          <a:noFill/>
          <a:ln/>
        </p:spPr>
        <p:txBody>
          <a:bodyPr wrap="square" lIns="0" tIns="0" rIns="0" bIns="0" rtlCol="0" anchor="ctr"/>
          <a:lstStyle/>
          <a:p>
            <a:pPr indent="0" marL="0">
              <a:buNone/>
            </a:pPr>
            <a:r>
              <a:rPr lang="en-US" sz="1200" b="1" spc="200" kern="0" dirty="0">
                <a:solidFill>
                  <a:srgbClr val="2C4A8C"/>
                </a:solidFill>
                <a:latin typeface="Calibri" pitchFamily="34" charset="0"/>
                <a:ea typeface="Calibri" pitchFamily="34" charset="-122"/>
                <a:cs typeface="Calibri" pitchFamily="34" charset="-120"/>
              </a:rPr>
              <a:t>THE DESIGNER'S REASONING</a:t>
            </a:r>
            <a:endParaRPr lang="en-US" sz="1200" dirty="0"/>
          </a:p>
        </p:txBody>
      </p:sp>
      <p:sp>
        <p:nvSpPr>
          <p:cNvPr id="24" name="Text 22"/>
          <p:cNvSpPr txBox="1"/>
          <p:nvPr/>
        </p:nvSpPr>
        <p:spPr>
          <a:xfrm>
            <a:off x="896112" y="5824728"/>
            <a:ext cx="10399471" cy="54864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“I already have Staff. Within it, sales personnel and managers need extra, DIFFERENT attributes I have nowhere good to put — let me specialize Staff into subclasses that each carry only their own extra attributes.”</a:t>
            </a:r>
            <a:endParaRPr lang="en-US" sz="1800" dirty="0"/>
          </a:p>
        </p:txBody>
      </p:sp>
      <p:sp>
        <p:nvSpPr>
          <p:cNvPr id="25" name="Text 23"/>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THE MIRROR IMAGE</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Generalization — Bottom-Up</a:t>
            </a:r>
            <a:endParaRPr lang="en-US" sz="2600" dirty="0"/>
          </a:p>
        </p:txBody>
      </p:sp>
      <p:sp>
        <p:nvSpPr>
          <p:cNvPr id="4" name="Text 2"/>
          <p:cNvSpPr txBox="1"/>
          <p:nvPr/>
        </p:nvSpPr>
        <p:spPr>
          <a:xfrm>
            <a:off x="640080" y="1508760"/>
            <a:ext cx="10911535" cy="64008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Start from several already-known, separately modeled entity types that share a meaningful common core, and factor that shared core out into a new superclass.</a:t>
            </a:r>
            <a:endParaRPr lang="en-US" sz="1800" dirty="0"/>
          </a:p>
        </p:txBody>
      </p:sp>
      <p:sp>
        <p:nvSpPr>
          <p:cNvPr id="5" name="Shape 3"/>
          <p:cNvSpPr/>
          <p:nvPr/>
        </p:nvSpPr>
        <p:spPr>
          <a:xfrm>
            <a:off x="640080" y="2103120"/>
            <a:ext cx="3108960" cy="1444752"/>
          </a:xfrm>
          <a:prstGeom prst="roundRect">
            <a:avLst>
              <a:gd name="adj" fmla="val 5063"/>
            </a:avLst>
          </a:prstGeom>
          <a:solidFill>
            <a:srgbClr val="FFFFFF"/>
          </a:solidFill>
          <a:ln w="15875">
            <a:solidFill>
              <a:srgbClr val="1F2429"/>
            </a:solidFill>
            <a:prstDash val="solid"/>
          </a:ln>
        </p:spPr>
      </p:sp>
      <p:sp>
        <p:nvSpPr>
          <p:cNvPr id="6" name="Shape 4"/>
          <p:cNvSpPr/>
          <p:nvPr/>
        </p:nvSpPr>
        <p:spPr>
          <a:xfrm>
            <a:off x="640080" y="2103120"/>
            <a:ext cx="3108960" cy="420624"/>
          </a:xfrm>
          <a:prstGeom prst="roundRect">
            <a:avLst>
              <a:gd name="adj" fmla="val 17391"/>
            </a:avLst>
          </a:prstGeom>
          <a:solidFill>
            <a:srgbClr val="2FE6C4"/>
          </a:solidFill>
          <a:ln/>
        </p:spPr>
      </p:sp>
      <p:sp>
        <p:nvSpPr>
          <p:cNvPr id="7" name="Shape 5"/>
          <p:cNvSpPr/>
          <p:nvPr/>
        </p:nvSpPr>
        <p:spPr>
          <a:xfrm>
            <a:off x="640080" y="2313432"/>
            <a:ext cx="3108960" cy="210312"/>
          </a:xfrm>
          <a:prstGeom prst="rect">
            <a:avLst/>
          </a:prstGeom>
          <a:solidFill>
            <a:srgbClr val="2FE6C4"/>
          </a:solidFill>
          <a:ln/>
        </p:spPr>
      </p:sp>
      <p:sp>
        <p:nvSpPr>
          <p:cNvPr id="8" name="Text 6"/>
          <p:cNvSpPr txBox="1"/>
          <p:nvPr/>
        </p:nvSpPr>
        <p:spPr>
          <a:xfrm>
            <a:off x="749808" y="2103120"/>
            <a:ext cx="28895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Car</a:t>
            </a:r>
            <a:endParaRPr lang="en-US" sz="1800" dirty="0"/>
          </a:p>
        </p:txBody>
      </p:sp>
      <p:sp>
        <p:nvSpPr>
          <p:cNvPr id="9" name="Text 7"/>
          <p:cNvSpPr txBox="1"/>
          <p:nvPr/>
        </p:nvSpPr>
        <p:spPr>
          <a:xfrm>
            <a:off x="786384" y="2578608"/>
            <a:ext cx="2834640" cy="877824"/>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regNo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seats</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doors</a:t>
            </a:r>
            <a:endParaRPr lang="en-US" sz="1400" dirty="0"/>
          </a:p>
        </p:txBody>
      </p:sp>
      <p:sp>
        <p:nvSpPr>
          <p:cNvPr id="10" name="Shape 8"/>
          <p:cNvSpPr/>
          <p:nvPr/>
        </p:nvSpPr>
        <p:spPr>
          <a:xfrm>
            <a:off x="8503920" y="2103120"/>
            <a:ext cx="3017520" cy="1152144"/>
          </a:xfrm>
          <a:prstGeom prst="roundRect">
            <a:avLst>
              <a:gd name="adj" fmla="val 6349"/>
            </a:avLst>
          </a:prstGeom>
          <a:solidFill>
            <a:srgbClr val="FFFFFF"/>
          </a:solidFill>
          <a:ln w="15875">
            <a:solidFill>
              <a:srgbClr val="1F2429"/>
            </a:solidFill>
            <a:prstDash val="solid"/>
          </a:ln>
        </p:spPr>
      </p:sp>
      <p:sp>
        <p:nvSpPr>
          <p:cNvPr id="11" name="Shape 9"/>
          <p:cNvSpPr/>
          <p:nvPr/>
        </p:nvSpPr>
        <p:spPr>
          <a:xfrm>
            <a:off x="8503920" y="2103120"/>
            <a:ext cx="3017520" cy="420624"/>
          </a:xfrm>
          <a:prstGeom prst="roundRect">
            <a:avLst>
              <a:gd name="adj" fmla="val 17391"/>
            </a:avLst>
          </a:prstGeom>
          <a:solidFill>
            <a:srgbClr val="E8A33D"/>
          </a:solidFill>
          <a:ln/>
        </p:spPr>
      </p:sp>
      <p:sp>
        <p:nvSpPr>
          <p:cNvPr id="12" name="Shape 10"/>
          <p:cNvSpPr/>
          <p:nvPr/>
        </p:nvSpPr>
        <p:spPr>
          <a:xfrm>
            <a:off x="8503920" y="2313432"/>
            <a:ext cx="3017520" cy="210312"/>
          </a:xfrm>
          <a:prstGeom prst="rect">
            <a:avLst/>
          </a:prstGeom>
          <a:solidFill>
            <a:srgbClr val="E8A33D"/>
          </a:solidFill>
          <a:ln/>
        </p:spPr>
      </p:sp>
      <p:sp>
        <p:nvSpPr>
          <p:cNvPr id="13" name="Text 11"/>
          <p:cNvSpPr txBox="1"/>
          <p:nvPr/>
        </p:nvSpPr>
        <p:spPr>
          <a:xfrm>
            <a:off x="8613648" y="2103120"/>
            <a:ext cx="279806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Van</a:t>
            </a:r>
            <a:endParaRPr lang="en-US" sz="1800" dirty="0"/>
          </a:p>
        </p:txBody>
      </p:sp>
      <p:sp>
        <p:nvSpPr>
          <p:cNvPr id="14" name="Text 12"/>
          <p:cNvSpPr txBox="1"/>
          <p:nvPr/>
        </p:nvSpPr>
        <p:spPr>
          <a:xfrm>
            <a:off x="8650224" y="2578608"/>
            <a:ext cx="274320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regNo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loadCapacityKg</a:t>
            </a:r>
            <a:endParaRPr lang="en-US" sz="1400" dirty="0"/>
          </a:p>
        </p:txBody>
      </p:sp>
      <p:sp>
        <p:nvSpPr>
          <p:cNvPr id="15" name="Shape 13"/>
          <p:cNvSpPr/>
          <p:nvPr/>
        </p:nvSpPr>
        <p:spPr>
          <a:xfrm>
            <a:off x="4023360" y="3703320"/>
            <a:ext cx="4114800" cy="1444752"/>
          </a:xfrm>
          <a:prstGeom prst="roundRect">
            <a:avLst>
              <a:gd name="adj" fmla="val 5063"/>
            </a:avLst>
          </a:prstGeom>
          <a:solidFill>
            <a:srgbClr val="FFFFFF"/>
          </a:solidFill>
          <a:ln w="15875">
            <a:solidFill>
              <a:srgbClr val="1F2429"/>
            </a:solidFill>
            <a:prstDash val="solid"/>
          </a:ln>
        </p:spPr>
      </p:sp>
      <p:sp>
        <p:nvSpPr>
          <p:cNvPr id="16" name="Shape 14"/>
          <p:cNvSpPr/>
          <p:nvPr/>
        </p:nvSpPr>
        <p:spPr>
          <a:xfrm>
            <a:off x="4023360" y="3703320"/>
            <a:ext cx="4114800" cy="420624"/>
          </a:xfrm>
          <a:prstGeom prst="roundRect">
            <a:avLst>
              <a:gd name="adj" fmla="val 17391"/>
            </a:avLst>
          </a:prstGeom>
          <a:solidFill>
            <a:srgbClr val="14181C"/>
          </a:solidFill>
          <a:ln/>
        </p:spPr>
      </p:sp>
      <p:sp>
        <p:nvSpPr>
          <p:cNvPr id="17" name="Shape 15"/>
          <p:cNvSpPr/>
          <p:nvPr/>
        </p:nvSpPr>
        <p:spPr>
          <a:xfrm>
            <a:off x="4023360" y="3913632"/>
            <a:ext cx="4114800" cy="210312"/>
          </a:xfrm>
          <a:prstGeom prst="rect">
            <a:avLst/>
          </a:prstGeom>
          <a:solidFill>
            <a:srgbClr val="14181C"/>
          </a:solidFill>
          <a:ln/>
        </p:spPr>
      </p:sp>
      <p:sp>
        <p:nvSpPr>
          <p:cNvPr id="18" name="Text 16"/>
          <p:cNvSpPr txBox="1"/>
          <p:nvPr/>
        </p:nvSpPr>
        <p:spPr>
          <a:xfrm>
            <a:off x="4133088" y="3703320"/>
            <a:ext cx="3895344" cy="420624"/>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Vehicle (generalized superclass)</a:t>
            </a:r>
            <a:endParaRPr lang="en-US" sz="1800" dirty="0"/>
          </a:p>
        </p:txBody>
      </p:sp>
      <p:sp>
        <p:nvSpPr>
          <p:cNvPr id="19" name="Text 17"/>
          <p:cNvSpPr txBox="1"/>
          <p:nvPr/>
        </p:nvSpPr>
        <p:spPr>
          <a:xfrm>
            <a:off x="4169664" y="4178808"/>
            <a:ext cx="3840480" cy="877824"/>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regNo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make</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model, year</a:t>
            </a:r>
            <a:endParaRPr lang="en-US" sz="1400" dirty="0"/>
          </a:p>
        </p:txBody>
      </p:sp>
      <p:sp>
        <p:nvSpPr>
          <p:cNvPr id="20" name="Shape 18"/>
          <p:cNvSpPr/>
          <p:nvPr/>
        </p:nvSpPr>
        <p:spPr>
          <a:xfrm>
            <a:off x="3657600" y="3017520"/>
            <a:ext cx="1188720" cy="685800"/>
          </a:xfrm>
          <a:prstGeom prst="line">
            <a:avLst/>
          </a:prstGeom>
          <a:noFill/>
          <a:ln w="22225">
            <a:solidFill>
              <a:srgbClr val="9AA1A9"/>
            </a:solidFill>
            <a:prstDash val="solid"/>
            <a:tailEnd type="none"/>
          </a:ln>
        </p:spPr>
      </p:sp>
      <p:sp>
        <p:nvSpPr>
          <p:cNvPr id="21" name="Shape 19"/>
          <p:cNvSpPr/>
          <p:nvPr/>
        </p:nvSpPr>
        <p:spPr>
          <a:xfrm>
            <a:off x="7132320" y="3017520"/>
            <a:ext cx="1554480" cy="685800"/>
          </a:xfrm>
          <a:prstGeom prst="line">
            <a:avLst/>
          </a:prstGeom>
          <a:noFill/>
          <a:ln w="22225">
            <a:solidFill>
              <a:srgbClr val="9AA1A9"/>
            </a:solidFill>
            <a:prstDash val="solid"/>
            <a:tailEnd type="none"/>
          </a:ln>
        </p:spPr>
      </p:sp>
      <p:sp>
        <p:nvSpPr>
          <p:cNvPr id="22" name="Shape 20"/>
          <p:cNvSpPr/>
          <p:nvPr/>
        </p:nvSpPr>
        <p:spPr>
          <a:xfrm>
            <a:off x="640080" y="5257800"/>
            <a:ext cx="10911535" cy="1097280"/>
          </a:xfrm>
          <a:prstGeom prst="roundRect">
            <a:avLst>
              <a:gd name="adj" fmla="val 5833"/>
            </a:avLst>
          </a:prstGeom>
          <a:solidFill>
            <a:srgbClr val="EAF1FB"/>
          </a:solidFill>
          <a:ln w="12700">
            <a:solidFill>
              <a:srgbClr val="6C8FD6"/>
            </a:solidFill>
            <a:prstDash val="solid"/>
          </a:ln>
        </p:spPr>
      </p:sp>
      <p:sp>
        <p:nvSpPr>
          <p:cNvPr id="23" name="Text 21"/>
          <p:cNvSpPr txBox="1"/>
          <p:nvPr/>
        </p:nvSpPr>
        <p:spPr>
          <a:xfrm>
            <a:off x="896112" y="5404104"/>
            <a:ext cx="10399471" cy="274320"/>
          </a:xfrm>
          <a:prstGeom prst="rect">
            <a:avLst/>
          </a:prstGeom>
          <a:noFill/>
          <a:ln/>
        </p:spPr>
        <p:txBody>
          <a:bodyPr wrap="square" lIns="0" tIns="0" rIns="0" bIns="0" rtlCol="0" anchor="ctr"/>
          <a:lstStyle/>
          <a:p>
            <a:pPr indent="0" marL="0">
              <a:buNone/>
            </a:pPr>
            <a:r>
              <a:rPr lang="en-US" sz="1200" b="1" spc="200" kern="0" dirty="0">
                <a:solidFill>
                  <a:srgbClr val="2C4A8C"/>
                </a:solidFill>
                <a:latin typeface="Calibri" pitchFamily="34" charset="0"/>
                <a:ea typeface="Calibri" pitchFamily="34" charset="-122"/>
                <a:cs typeface="Calibri" pitchFamily="34" charset="-120"/>
              </a:rPr>
              <a:t>THE DESIGNER'S REASONING, RUNNING THE OPPOSITE DIRECTION</a:t>
            </a:r>
            <a:endParaRPr lang="en-US" sz="1200" dirty="0"/>
          </a:p>
        </p:txBody>
      </p:sp>
      <p:sp>
        <p:nvSpPr>
          <p:cNvPr id="24" name="Text 22"/>
          <p:cNvSpPr txBox="1"/>
          <p:nvPr/>
        </p:nvSpPr>
        <p:spPr>
          <a:xfrm>
            <a:off x="896112" y="5733288"/>
            <a:ext cx="10399471" cy="45720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“I already separately modeled Car and Van, each with regNo/make/model/year duplicated — let me generalize the shared attributes upward into a new Vehicle superclass, leaving each subclass with only what's genuinely specific to it.”</a:t>
            </a:r>
            <a:endParaRPr lang="en-US" sz="1800" dirty="0"/>
          </a:p>
        </p:txBody>
      </p:sp>
      <p:sp>
        <p:nvSpPr>
          <p:cNvPr id="25" name="Text 23"/>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SAME SHAPE, EITHER DIRECTION</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Superclasses, Subclasses, and Inheritance</a:t>
            </a:r>
            <a:endParaRPr lang="en-US" sz="2600" dirty="0"/>
          </a:p>
        </p:txBody>
      </p:sp>
      <p:sp>
        <p:nvSpPr>
          <p:cNvPr id="4" name="Text 2"/>
          <p:cNvSpPr txBox="1"/>
          <p:nvPr/>
        </p:nvSpPr>
        <p:spPr>
          <a:xfrm>
            <a:off x="640080" y="1508760"/>
            <a:ext cx="10911535" cy="100584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Specialization and generalization produce the IDENTICAL final diagram shape — they differ only in which direction the designer reasoned. Every occurrence of a subclass IS SIMULTANEOUSLY an occurrence of its superclass (every Manager row is also a Staff row) — the same “is-a” relationship object-oriented programming calls inheritance:</a:t>
            </a:r>
            <a:endParaRPr lang="en-US" sz="1800" dirty="0"/>
          </a:p>
        </p:txBody>
      </p:sp>
      <p:sp>
        <p:nvSpPr>
          <p:cNvPr id="5" name="Text 3"/>
          <p:cNvSpPr txBox="1"/>
          <p:nvPr/>
        </p:nvSpPr>
        <p:spPr>
          <a:xfrm>
            <a:off x="640080" y="2697480"/>
            <a:ext cx="2926080" cy="1005840"/>
          </a:xfrm>
          <a:prstGeom prst="rect">
            <a:avLst/>
          </a:prstGeom>
          <a:noFill/>
          <a:ln/>
        </p:spPr>
        <p:txBody>
          <a:bodyPr wrap="square" lIns="0" tIns="0" rIns="0" bIns="0" rtlCol="0" anchor="t"/>
          <a:lstStyle/>
          <a:p>
            <a:pPr indent="0" marL="0">
              <a:buNone/>
            </a:pPr>
            <a:r>
              <a:rPr lang="en-US" sz="1800" b="1" dirty="0">
                <a:solidFill>
                  <a:srgbClr val="8B7FD9"/>
                </a:solidFill>
                <a:latin typeface="Calibri" pitchFamily="34" charset="0"/>
                <a:ea typeface="Calibri" pitchFamily="34" charset="-122"/>
                <a:cs typeface="Calibri" pitchFamily="34" charset="-120"/>
              </a:rPr>
              <a:t>Attribute inheritance</a:t>
            </a:r>
            <a:endParaRPr lang="en-US" sz="1800" dirty="0"/>
          </a:p>
        </p:txBody>
      </p:sp>
      <p:sp>
        <p:nvSpPr>
          <p:cNvPr id="6" name="Text 4"/>
          <p:cNvSpPr txBox="1"/>
          <p:nvPr/>
        </p:nvSpPr>
        <p:spPr>
          <a:xfrm>
            <a:off x="3749040" y="2697480"/>
            <a:ext cx="7772400" cy="1005840"/>
          </a:xfrm>
          <a:prstGeom prst="rect">
            <a:avLst/>
          </a:prstGeom>
          <a:noFill/>
          <a:ln/>
        </p:spPr>
        <p:txBody>
          <a:bodyPr wrap="square" lIns="0" tIns="0" rIns="0" bIns="0" rtlCol="0" anchor="t"/>
          <a:lstStyle/>
          <a:p>
            <a:pPr indent="0" marL="0">
              <a:lnSpc>
                <a:spcPct val="110000"/>
              </a:lnSpc>
              <a:buNone/>
            </a:pPr>
            <a:r>
              <a:rPr lang="en-US" sz="1800" dirty="0">
                <a:solidFill>
                  <a:srgbClr val="1F2429"/>
                </a:solidFill>
                <a:latin typeface="Calibri" pitchFamily="34" charset="0"/>
                <a:ea typeface="Calibri" pitchFamily="34" charset="-122"/>
                <a:cs typeface="Calibri" pitchFamily="34" charset="-120"/>
              </a:rPr>
              <a:t>A subclass automatically has every attribute its superclass has, without redeclaring them. Manager has staffNo, name, position, salary, branchNo (inherited) plus bonus, mgmtLevel (its own).</a:t>
            </a:r>
            <a:endParaRPr lang="en-US" sz="1800" dirty="0"/>
          </a:p>
        </p:txBody>
      </p:sp>
      <p:sp>
        <p:nvSpPr>
          <p:cNvPr id="7" name="Text 5"/>
          <p:cNvSpPr txBox="1"/>
          <p:nvPr/>
        </p:nvSpPr>
        <p:spPr>
          <a:xfrm>
            <a:off x="640080" y="3931920"/>
            <a:ext cx="2926080" cy="1005840"/>
          </a:xfrm>
          <a:prstGeom prst="rect">
            <a:avLst/>
          </a:prstGeom>
          <a:noFill/>
          <a:ln/>
        </p:spPr>
        <p:txBody>
          <a:bodyPr wrap="square" lIns="0" tIns="0" rIns="0" bIns="0" rtlCol="0" anchor="t"/>
          <a:lstStyle/>
          <a:p>
            <a:pPr indent="0" marL="0">
              <a:buNone/>
            </a:pPr>
            <a:r>
              <a:rPr lang="en-US" sz="1800" b="1" dirty="0">
                <a:solidFill>
                  <a:srgbClr val="8B7FD9"/>
                </a:solidFill>
                <a:latin typeface="Calibri" pitchFamily="34" charset="0"/>
                <a:ea typeface="Calibri" pitchFamily="34" charset="-122"/>
                <a:cs typeface="Calibri" pitchFamily="34" charset="-120"/>
              </a:rPr>
              <a:t>Relationship inheritance</a:t>
            </a:r>
            <a:endParaRPr lang="en-US" sz="1800" dirty="0"/>
          </a:p>
        </p:txBody>
      </p:sp>
      <p:sp>
        <p:nvSpPr>
          <p:cNvPr id="8" name="Text 6"/>
          <p:cNvSpPr txBox="1"/>
          <p:nvPr/>
        </p:nvSpPr>
        <p:spPr>
          <a:xfrm>
            <a:off x="3749040" y="3931920"/>
            <a:ext cx="7772400" cy="1005840"/>
          </a:xfrm>
          <a:prstGeom prst="rect">
            <a:avLst/>
          </a:prstGeom>
          <a:noFill/>
          <a:ln/>
        </p:spPr>
        <p:txBody>
          <a:bodyPr wrap="square" lIns="0" tIns="0" rIns="0" bIns="0" rtlCol="0" anchor="t"/>
          <a:lstStyle/>
          <a:p>
            <a:pPr indent="0" marL="0">
              <a:lnSpc>
                <a:spcPct val="110000"/>
              </a:lnSpc>
              <a:buNone/>
            </a:pPr>
            <a:r>
              <a:rPr lang="en-US" sz="1800" dirty="0">
                <a:solidFill>
                  <a:srgbClr val="1F2429"/>
                </a:solidFill>
                <a:latin typeface="Calibri" pitchFamily="34" charset="0"/>
                <a:ea typeface="Calibri" pitchFamily="34" charset="-122"/>
                <a:cs typeface="Calibri" pitchFamily="34" charset="-120"/>
              </a:rPr>
              <a:t>A subclass automatically participates in every relationship its superclass participates in — Staff Manages PropertyForRent applies to SalesPersonnel and Manager too, with no separate relationship drawn per subclass.</a:t>
            </a:r>
            <a:endParaRPr lang="en-US" sz="1800" dirty="0"/>
          </a:p>
        </p:txBody>
      </p:sp>
      <p:sp>
        <p:nvSpPr>
          <p:cNvPr id="9" name="Text 7"/>
          <p:cNvSpPr txBox="1"/>
          <p:nvPr/>
        </p:nvSpPr>
        <p:spPr>
          <a:xfrm>
            <a:off x="640080" y="5166360"/>
            <a:ext cx="2926080" cy="1005840"/>
          </a:xfrm>
          <a:prstGeom prst="rect">
            <a:avLst/>
          </a:prstGeom>
          <a:noFill/>
          <a:ln/>
        </p:spPr>
        <p:txBody>
          <a:bodyPr wrap="square" lIns="0" tIns="0" rIns="0" bIns="0" rtlCol="0" anchor="t"/>
          <a:lstStyle/>
          <a:p>
            <a:pPr indent="0" marL="0">
              <a:buNone/>
            </a:pPr>
            <a:r>
              <a:rPr lang="en-US" sz="1800" b="1" dirty="0">
                <a:solidFill>
                  <a:srgbClr val="8B7FD9"/>
                </a:solidFill>
                <a:latin typeface="Calibri" pitchFamily="34" charset="0"/>
                <a:ea typeface="Calibri" pitchFamily="34" charset="-122"/>
                <a:cs typeface="Calibri" pitchFamily="34" charset="-120"/>
              </a:rPr>
              <a:t>Subclass-only relationships</a:t>
            </a:r>
            <a:endParaRPr lang="en-US" sz="1800" dirty="0"/>
          </a:p>
        </p:txBody>
      </p:sp>
      <p:sp>
        <p:nvSpPr>
          <p:cNvPr id="10" name="Text 8"/>
          <p:cNvSpPr txBox="1"/>
          <p:nvPr/>
        </p:nvSpPr>
        <p:spPr>
          <a:xfrm>
            <a:off x="3749040" y="5166360"/>
            <a:ext cx="7772400" cy="1005840"/>
          </a:xfrm>
          <a:prstGeom prst="rect">
            <a:avLst/>
          </a:prstGeom>
          <a:noFill/>
          <a:ln/>
        </p:spPr>
        <p:txBody>
          <a:bodyPr wrap="square" lIns="0" tIns="0" rIns="0" bIns="0" rtlCol="0" anchor="t"/>
          <a:lstStyle/>
          <a:p>
            <a:pPr indent="0" marL="0">
              <a:lnSpc>
                <a:spcPct val="110000"/>
              </a:lnSpc>
              <a:buNone/>
            </a:pPr>
            <a:r>
              <a:rPr lang="en-US" sz="1800" dirty="0">
                <a:solidFill>
                  <a:srgbClr val="1F2429"/>
                </a:solidFill>
                <a:latin typeface="Calibri" pitchFamily="34" charset="0"/>
                <a:ea typeface="Calibri" pitchFamily="34" charset="-122"/>
                <a:cs typeface="Calibri" pitchFamily="34" charset="-120"/>
              </a:rPr>
              <a:t>A subclass may ALSO have its own additional relationships other subclasses don't — e.g. only Manager participates in Manager Approves Expenditure.</a:t>
            </a:r>
            <a:endParaRPr lang="en-US" sz="1800" dirty="0"/>
          </a:p>
        </p:txBody>
      </p:sp>
      <p:sp>
        <p:nvSpPr>
          <p:cNvPr id="11" name="Text 9"/>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BEFORE THE NOTATION, THE REASONING</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Deciding the Constraints: the Questions to Ask</a:t>
            </a:r>
            <a:endParaRPr lang="en-US" sz="2600" dirty="0"/>
          </a:p>
        </p:txBody>
      </p:sp>
      <p:sp>
        <p:nvSpPr>
          <p:cNvPr id="4" name="Text 2"/>
          <p:cNvSpPr txBox="1"/>
          <p:nvPr/>
        </p:nvSpPr>
        <p:spPr>
          <a:xfrm>
            <a:off x="640080" y="1463040"/>
            <a:ext cx="10911535" cy="45720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Decide each answer from the ACTUAL business rules, never from whichever combination is simpler to draw.</a:t>
            </a:r>
            <a:endParaRPr lang="en-US" sz="1800" dirty="0"/>
          </a:p>
        </p:txBody>
      </p:sp>
      <p:sp>
        <p:nvSpPr>
          <p:cNvPr id="5" name="Shape 3"/>
          <p:cNvSpPr/>
          <p:nvPr/>
        </p:nvSpPr>
        <p:spPr>
          <a:xfrm>
            <a:off x="640080" y="2103120"/>
            <a:ext cx="5212080" cy="3154680"/>
          </a:xfrm>
          <a:prstGeom prst="roundRect">
            <a:avLst>
              <a:gd name="adj" fmla="val 2319"/>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6" name="Text 4"/>
          <p:cNvSpPr txBox="1"/>
          <p:nvPr/>
        </p:nvSpPr>
        <p:spPr>
          <a:xfrm>
            <a:off x="868680" y="2240280"/>
            <a:ext cx="4754880" cy="411480"/>
          </a:xfrm>
          <a:prstGeom prst="rect">
            <a:avLst/>
          </a:prstGeom>
          <a:noFill/>
          <a:ln/>
        </p:spPr>
        <p:txBody>
          <a:bodyPr wrap="square" lIns="0" tIns="0" rIns="0" bIns="0" rtlCol="0" anchor="ctr"/>
          <a:lstStyle/>
          <a:p>
            <a:pPr indent="0" marL="0">
              <a:buNone/>
            </a:pPr>
            <a:r>
              <a:rPr lang="en-US" sz="1800" b="1" dirty="0">
                <a:solidFill>
                  <a:srgbClr val="0E7A61"/>
                </a:solidFill>
                <a:latin typeface="Calibri" pitchFamily="34" charset="0"/>
                <a:ea typeface="Calibri" pitchFamily="34" charset="-122"/>
                <a:cs typeface="Calibri" pitchFamily="34" charset="-120"/>
              </a:rPr>
              <a:t>Question 1 — Disjoint or overlapping?</a:t>
            </a:r>
            <a:endParaRPr lang="en-US" sz="1800" dirty="0"/>
          </a:p>
        </p:txBody>
      </p:sp>
      <p:sp>
        <p:nvSpPr>
          <p:cNvPr id="7" name="Text 5"/>
          <p:cNvSpPr txBox="1"/>
          <p:nvPr/>
        </p:nvSpPr>
        <p:spPr>
          <a:xfrm>
            <a:off x="868680" y="2743200"/>
            <a:ext cx="4754880" cy="2377440"/>
          </a:xfrm>
          <a:prstGeom prst="rect">
            <a:avLst/>
          </a:prstGeom>
          <a:noFill/>
          <a:ln/>
        </p:spPr>
        <p:txBody>
          <a:bodyPr wrap="square" lIns="0" tIns="0" rIns="0" bIns="0" rtlCol="0" anchor="t"/>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Could one real occurrence be in two subclasses at the same time? If the business would say “this one is both,” it is overlapping. If the roles are exclusive by definition, it is disjoint.</a:t>
            </a:r>
            <a:endParaRPr lang="en-US" sz="1800" dirty="0"/>
          </a:p>
        </p:txBody>
      </p:sp>
      <p:sp>
        <p:nvSpPr>
          <p:cNvPr id="8" name="Shape 6"/>
          <p:cNvSpPr/>
          <p:nvPr/>
        </p:nvSpPr>
        <p:spPr>
          <a:xfrm>
            <a:off x="6126480" y="2103120"/>
            <a:ext cx="5212080" cy="3154680"/>
          </a:xfrm>
          <a:prstGeom prst="roundRect">
            <a:avLst>
              <a:gd name="adj" fmla="val 2319"/>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6355080" y="2240280"/>
            <a:ext cx="4754880" cy="411480"/>
          </a:xfrm>
          <a:prstGeom prst="rect">
            <a:avLst/>
          </a:prstGeom>
          <a:noFill/>
          <a:ln/>
        </p:spPr>
        <p:txBody>
          <a:bodyPr wrap="square" lIns="0" tIns="0" rIns="0" bIns="0" rtlCol="0" anchor="ctr"/>
          <a:lstStyle/>
          <a:p>
            <a:pPr indent="0" marL="0">
              <a:buNone/>
            </a:pPr>
            <a:r>
              <a:rPr lang="en-US" sz="1800" b="1" dirty="0">
                <a:solidFill>
                  <a:srgbClr val="8A5A12"/>
                </a:solidFill>
                <a:latin typeface="Calibri" pitchFamily="34" charset="0"/>
                <a:ea typeface="Calibri" pitchFamily="34" charset="-122"/>
                <a:cs typeface="Calibri" pitchFamily="34" charset="-120"/>
              </a:rPr>
              <a:t>Question 2 — Total or partial?</a:t>
            </a:r>
            <a:endParaRPr lang="en-US" sz="1800" dirty="0"/>
          </a:p>
        </p:txBody>
      </p:sp>
      <p:sp>
        <p:nvSpPr>
          <p:cNvPr id="10" name="Text 8"/>
          <p:cNvSpPr txBox="1"/>
          <p:nvPr/>
        </p:nvSpPr>
        <p:spPr>
          <a:xfrm>
            <a:off x="6355080" y="2743200"/>
            <a:ext cx="4754880" cy="2377440"/>
          </a:xfrm>
          <a:prstGeom prst="rect">
            <a:avLst/>
          </a:prstGeom>
          <a:noFill/>
          <a:ln/>
        </p:spPr>
        <p:txBody>
          <a:bodyPr wrap="square" lIns="0" tIns="0" rIns="0" bIns="0" rtlCol="0" anchor="t"/>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Must EVERY superclass occurrence fall into some subclass? If the brief lists the roles and nothing else, the list is the evidence that the specialization is total.</a:t>
            </a:r>
            <a:endParaRPr lang="en-US" sz="1800" dirty="0"/>
          </a:p>
        </p:txBody>
      </p:sp>
      <p:sp>
        <p:nvSpPr>
          <p:cNvPr id="11" name="Shape 9"/>
          <p:cNvSpPr/>
          <p:nvPr/>
        </p:nvSpPr>
        <p:spPr>
          <a:xfrm>
            <a:off x="640080" y="5440680"/>
            <a:ext cx="10911535" cy="1005840"/>
          </a:xfrm>
          <a:prstGeom prst="roundRect">
            <a:avLst>
              <a:gd name="adj" fmla="val 6364"/>
            </a:avLst>
          </a:prstGeom>
          <a:solidFill>
            <a:srgbClr val="FCF1E3"/>
          </a:solidFill>
          <a:ln w="12700">
            <a:solidFill>
              <a:srgbClr val="E8A33D"/>
            </a:solidFill>
            <a:prstDash val="solid"/>
          </a:ln>
        </p:spPr>
      </p:sp>
      <p:sp>
        <p:nvSpPr>
          <p:cNvPr id="12" name="Text 10"/>
          <p:cNvSpPr txBox="1"/>
          <p:nvPr/>
        </p:nvSpPr>
        <p:spPr>
          <a:xfrm>
            <a:off x="896112" y="5586984"/>
            <a:ext cx="10399471" cy="274320"/>
          </a:xfrm>
          <a:prstGeom prst="rect">
            <a:avLst/>
          </a:prstGeom>
          <a:noFill/>
          <a:ln/>
        </p:spPr>
        <p:txBody>
          <a:bodyPr wrap="square" lIns="0" tIns="0" rIns="0" bIns="0" rtlCol="0" anchor="ctr"/>
          <a:lstStyle/>
          <a:p>
            <a:pPr indent="0" marL="0">
              <a:buNone/>
            </a:pPr>
            <a:r>
              <a:rPr lang="en-US" sz="1200" b="1" spc="200" kern="0" dirty="0">
                <a:solidFill>
                  <a:srgbClr val="8A5A12"/>
                </a:solidFill>
                <a:latin typeface="Calibri" pitchFamily="34" charset="0"/>
                <a:ea typeface="Calibri" pitchFamily="34" charset="-122"/>
                <a:cs typeface="Calibri" pitchFamily="34" charset="-120"/>
              </a:rPr>
              <a:t>WHY THIS MATTERS</a:t>
            </a:r>
            <a:endParaRPr lang="en-US" sz="1200" dirty="0"/>
          </a:p>
        </p:txBody>
      </p:sp>
      <p:sp>
        <p:nvSpPr>
          <p:cNvPr id="13" name="Text 11"/>
          <p:cNvSpPr txBox="1"/>
          <p:nvPr/>
        </p:nvSpPr>
        <p:spPr>
          <a:xfrm>
            <a:off x="896112" y="5916168"/>
            <a:ext cx="10399471" cy="36576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A wrong answer is a silent design bug, and it changes which mapping strategy works (Lecture 16).</a:t>
            </a:r>
            <a:endParaRPr lang="en-US" sz="1800" dirty="0"/>
          </a:p>
        </p:txBody>
      </p:sp>
      <p:sp>
        <p:nvSpPr>
          <p:cNvPr id="14" name="Text 12"/>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THE TWO INDEPENDENT QUESTIONS, DEFINED</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Constraints on Specialization / Generalization</a:t>
            </a:r>
            <a:endParaRPr lang="en-US" sz="2600" dirty="0"/>
          </a:p>
        </p:txBody>
      </p:sp>
      <p:sp>
        <p:nvSpPr>
          <p:cNvPr id="4" name="Shape 2"/>
          <p:cNvSpPr/>
          <p:nvPr/>
        </p:nvSpPr>
        <p:spPr>
          <a:xfrm>
            <a:off x="640080" y="1600200"/>
            <a:ext cx="5212080" cy="1691640"/>
          </a:xfrm>
          <a:prstGeom prst="roundRect">
            <a:avLst>
              <a:gd name="adj" fmla="val 4324"/>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868680" y="1755648"/>
            <a:ext cx="4754880" cy="365760"/>
          </a:xfrm>
          <a:prstGeom prst="rect">
            <a:avLst/>
          </a:prstGeom>
          <a:noFill/>
          <a:ln/>
        </p:spPr>
        <p:txBody>
          <a:bodyPr wrap="square" lIns="0" tIns="0" rIns="0" bIns="0" rtlCol="0" anchor="ctr"/>
          <a:lstStyle/>
          <a:p>
            <a:pPr indent="0" marL="0">
              <a:buNone/>
            </a:pPr>
            <a:r>
              <a:rPr lang="en-US" sz="1800" b="1" dirty="0">
                <a:solidFill>
                  <a:srgbClr val="1F2429"/>
                </a:solidFill>
                <a:latin typeface="Calibri" pitchFamily="34" charset="0"/>
                <a:ea typeface="Calibri" pitchFamily="34" charset="-122"/>
                <a:cs typeface="Calibri" pitchFamily="34" charset="-120"/>
              </a:rPr>
              <a:t>Disjoint (d)</a:t>
            </a:r>
            <a:endParaRPr lang="en-US" sz="1800" dirty="0"/>
          </a:p>
        </p:txBody>
      </p:sp>
      <p:sp>
        <p:nvSpPr>
          <p:cNvPr id="6" name="Text 4"/>
          <p:cNvSpPr txBox="1"/>
          <p:nvPr/>
        </p:nvSpPr>
        <p:spPr>
          <a:xfrm>
            <a:off x="868680" y="2148840"/>
            <a:ext cx="4754880" cy="1051560"/>
          </a:xfrm>
          <a:prstGeom prst="rect">
            <a:avLst/>
          </a:prstGeom>
          <a:noFill/>
          <a:ln/>
        </p:spPr>
        <p:txBody>
          <a:bodyPr wrap="square" lIns="0" tIns="0" rIns="0" bIns="0" rtlCol="0" anchor="t"/>
          <a:lstStyle/>
          <a:p>
            <a:pPr indent="0" marL="0">
              <a:lnSpc>
                <a:spcPct val="110000"/>
              </a:lnSpc>
              <a:buNone/>
            </a:pPr>
            <a:r>
              <a:rPr lang="en-US" sz="1800" dirty="0">
                <a:solidFill>
                  <a:srgbClr val="1F2429"/>
                </a:solidFill>
                <a:latin typeface="Calibri" pitchFamily="34" charset="0"/>
                <a:ea typeface="Calibri" pitchFamily="34" charset="-122"/>
                <a:cs typeface="Calibri" pitchFamily="34" charset="-120"/>
              </a:rPr>
              <a:t>An occurrence can belong to AT MOST ONE subclass. A Staff member is either SalesPersonnel or Manager, never both.</a:t>
            </a:r>
            <a:endParaRPr lang="en-US" sz="1800" dirty="0"/>
          </a:p>
        </p:txBody>
      </p:sp>
      <p:sp>
        <p:nvSpPr>
          <p:cNvPr id="7" name="Shape 5"/>
          <p:cNvSpPr/>
          <p:nvPr/>
        </p:nvSpPr>
        <p:spPr>
          <a:xfrm>
            <a:off x="6126480" y="1600200"/>
            <a:ext cx="5212080" cy="1691640"/>
          </a:xfrm>
          <a:prstGeom prst="roundRect">
            <a:avLst>
              <a:gd name="adj" fmla="val 4324"/>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6355080" y="1755648"/>
            <a:ext cx="4754880" cy="365760"/>
          </a:xfrm>
          <a:prstGeom prst="rect">
            <a:avLst/>
          </a:prstGeom>
          <a:noFill/>
          <a:ln/>
        </p:spPr>
        <p:txBody>
          <a:bodyPr wrap="square" lIns="0" tIns="0" rIns="0" bIns="0" rtlCol="0" anchor="ctr"/>
          <a:lstStyle/>
          <a:p>
            <a:pPr indent="0" marL="0">
              <a:buNone/>
            </a:pPr>
            <a:r>
              <a:rPr lang="en-US" sz="1800" b="1" dirty="0">
                <a:solidFill>
                  <a:srgbClr val="1F2429"/>
                </a:solidFill>
                <a:latin typeface="Calibri" pitchFamily="34" charset="0"/>
                <a:ea typeface="Calibri" pitchFamily="34" charset="-122"/>
                <a:cs typeface="Calibri" pitchFamily="34" charset="-120"/>
              </a:rPr>
              <a:t>Overlapping (o)</a:t>
            </a:r>
            <a:endParaRPr lang="en-US" sz="1800" dirty="0"/>
          </a:p>
        </p:txBody>
      </p:sp>
      <p:sp>
        <p:nvSpPr>
          <p:cNvPr id="9" name="Text 7"/>
          <p:cNvSpPr txBox="1"/>
          <p:nvPr/>
        </p:nvSpPr>
        <p:spPr>
          <a:xfrm>
            <a:off x="6355080" y="2148840"/>
            <a:ext cx="4754880" cy="1051560"/>
          </a:xfrm>
          <a:prstGeom prst="rect">
            <a:avLst/>
          </a:prstGeom>
          <a:noFill/>
          <a:ln/>
        </p:spPr>
        <p:txBody>
          <a:bodyPr wrap="square" lIns="0" tIns="0" rIns="0" bIns="0" rtlCol="0" anchor="t"/>
          <a:lstStyle/>
          <a:p>
            <a:pPr indent="0" marL="0">
              <a:lnSpc>
                <a:spcPct val="110000"/>
              </a:lnSpc>
              <a:buNone/>
            </a:pPr>
            <a:r>
              <a:rPr lang="en-US" sz="1800" dirty="0">
                <a:solidFill>
                  <a:srgbClr val="1F2429"/>
                </a:solidFill>
                <a:latin typeface="Calibri" pitchFamily="34" charset="0"/>
                <a:ea typeface="Calibri" pitchFamily="34" charset="-122"/>
                <a:cs typeface="Calibri" pitchFamily="34" charset="-120"/>
              </a:rPr>
              <a:t>An occurrence CAN belong to more than one subclass simultaneously. A Person can be both a Student and an Employee at the same time.</a:t>
            </a:r>
            <a:endParaRPr lang="en-US" sz="1800" dirty="0"/>
          </a:p>
        </p:txBody>
      </p:sp>
      <p:sp>
        <p:nvSpPr>
          <p:cNvPr id="10" name="Shape 8"/>
          <p:cNvSpPr/>
          <p:nvPr/>
        </p:nvSpPr>
        <p:spPr>
          <a:xfrm>
            <a:off x="640080" y="3474720"/>
            <a:ext cx="5212080" cy="1691640"/>
          </a:xfrm>
          <a:prstGeom prst="roundRect">
            <a:avLst>
              <a:gd name="adj" fmla="val 4324"/>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868680" y="3630168"/>
            <a:ext cx="4754880" cy="365760"/>
          </a:xfrm>
          <a:prstGeom prst="rect">
            <a:avLst/>
          </a:prstGeom>
          <a:noFill/>
          <a:ln/>
        </p:spPr>
        <p:txBody>
          <a:bodyPr wrap="square" lIns="0" tIns="0" rIns="0" bIns="0" rtlCol="0" anchor="ctr"/>
          <a:lstStyle/>
          <a:p>
            <a:pPr indent="0" marL="0">
              <a:buNone/>
            </a:pPr>
            <a:r>
              <a:rPr lang="en-US" sz="1800" b="1" dirty="0">
                <a:solidFill>
                  <a:srgbClr val="1F2429"/>
                </a:solidFill>
                <a:latin typeface="Calibri" pitchFamily="34" charset="0"/>
                <a:ea typeface="Calibri" pitchFamily="34" charset="-122"/>
                <a:cs typeface="Calibri" pitchFamily="34" charset="-120"/>
              </a:rPr>
              <a:t>Total</a:t>
            </a:r>
            <a:endParaRPr lang="en-US" sz="1800" dirty="0"/>
          </a:p>
        </p:txBody>
      </p:sp>
      <p:sp>
        <p:nvSpPr>
          <p:cNvPr id="12" name="Text 10"/>
          <p:cNvSpPr txBox="1"/>
          <p:nvPr/>
        </p:nvSpPr>
        <p:spPr>
          <a:xfrm>
            <a:off x="868680" y="4023360"/>
            <a:ext cx="4754880" cy="1051560"/>
          </a:xfrm>
          <a:prstGeom prst="rect">
            <a:avLst/>
          </a:prstGeom>
          <a:noFill/>
          <a:ln/>
        </p:spPr>
        <p:txBody>
          <a:bodyPr wrap="square" lIns="0" tIns="0" rIns="0" bIns="0" rtlCol="0" anchor="t"/>
          <a:lstStyle/>
          <a:p>
            <a:pPr indent="0" marL="0">
              <a:lnSpc>
                <a:spcPct val="110000"/>
              </a:lnSpc>
              <a:buNone/>
            </a:pPr>
            <a:r>
              <a:rPr lang="en-US" sz="1800" dirty="0">
                <a:solidFill>
                  <a:srgbClr val="1F2429"/>
                </a:solidFill>
                <a:latin typeface="Calibri" pitchFamily="34" charset="0"/>
                <a:ea typeface="Calibri" pitchFamily="34" charset="-122"/>
                <a:cs typeface="Calibri" pitchFamily="34" charset="-120"/>
              </a:rPr>
              <a:t>Every superclass occurrence MUST belong to at least one subclass — no “plain” unspecialized occurrence exists.</a:t>
            </a:r>
            <a:endParaRPr lang="en-US" sz="1800" dirty="0"/>
          </a:p>
        </p:txBody>
      </p:sp>
      <p:sp>
        <p:nvSpPr>
          <p:cNvPr id="13" name="Shape 11"/>
          <p:cNvSpPr/>
          <p:nvPr/>
        </p:nvSpPr>
        <p:spPr>
          <a:xfrm>
            <a:off x="6126480" y="3474720"/>
            <a:ext cx="5212080" cy="1691640"/>
          </a:xfrm>
          <a:prstGeom prst="roundRect">
            <a:avLst>
              <a:gd name="adj" fmla="val 4324"/>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6355080" y="3630168"/>
            <a:ext cx="4754880" cy="365760"/>
          </a:xfrm>
          <a:prstGeom prst="rect">
            <a:avLst/>
          </a:prstGeom>
          <a:noFill/>
          <a:ln/>
        </p:spPr>
        <p:txBody>
          <a:bodyPr wrap="square" lIns="0" tIns="0" rIns="0" bIns="0" rtlCol="0" anchor="ctr"/>
          <a:lstStyle/>
          <a:p>
            <a:pPr indent="0" marL="0">
              <a:buNone/>
            </a:pPr>
            <a:r>
              <a:rPr lang="en-US" sz="1800" b="1" dirty="0">
                <a:solidFill>
                  <a:srgbClr val="1F2429"/>
                </a:solidFill>
                <a:latin typeface="Calibri" pitchFamily="34" charset="0"/>
                <a:ea typeface="Calibri" pitchFamily="34" charset="-122"/>
                <a:cs typeface="Calibri" pitchFamily="34" charset="-120"/>
              </a:rPr>
              <a:t>Partial</a:t>
            </a:r>
            <a:endParaRPr lang="en-US" sz="1800" dirty="0"/>
          </a:p>
        </p:txBody>
      </p:sp>
      <p:sp>
        <p:nvSpPr>
          <p:cNvPr id="15" name="Text 13"/>
          <p:cNvSpPr txBox="1"/>
          <p:nvPr/>
        </p:nvSpPr>
        <p:spPr>
          <a:xfrm>
            <a:off x="6355080" y="4023360"/>
            <a:ext cx="4754880" cy="1051560"/>
          </a:xfrm>
          <a:prstGeom prst="rect">
            <a:avLst/>
          </a:prstGeom>
          <a:noFill/>
          <a:ln/>
        </p:spPr>
        <p:txBody>
          <a:bodyPr wrap="square" lIns="0" tIns="0" rIns="0" bIns="0" rtlCol="0" anchor="t"/>
          <a:lstStyle/>
          <a:p>
            <a:pPr indent="0" marL="0">
              <a:lnSpc>
                <a:spcPct val="110000"/>
              </a:lnSpc>
              <a:buNone/>
            </a:pPr>
            <a:r>
              <a:rPr lang="en-US" sz="1800" dirty="0">
                <a:solidFill>
                  <a:srgbClr val="1F2429"/>
                </a:solidFill>
                <a:latin typeface="Calibri" pitchFamily="34" charset="0"/>
                <a:ea typeface="Calibri" pitchFamily="34" charset="-122"/>
                <a:cs typeface="Calibri" pitchFamily="34" charset="-120"/>
              </a:rPr>
              <a:t>Some superclass occurrences MAY belong to no subclass at all, remaining a plain, unspecialized instance.</a:t>
            </a:r>
            <a:endParaRPr lang="en-US" sz="1800" dirty="0"/>
          </a:p>
        </p:txBody>
      </p:sp>
      <p:sp>
        <p:nvSpPr>
          <p:cNvPr id="16" name="Text 14"/>
          <p:cNvSpPr txBox="1"/>
          <p:nvPr/>
        </p:nvSpPr>
        <p:spPr>
          <a:xfrm>
            <a:off x="640080" y="5349240"/>
            <a:ext cx="10911535" cy="457200"/>
          </a:xfrm>
          <a:prstGeom prst="rect">
            <a:avLst/>
          </a:prstGeom>
          <a:noFill/>
          <a:ln/>
        </p:spPr>
        <p:txBody>
          <a:bodyPr wrap="square" lIns="0" tIns="0" rIns="0" bIns="0" rtlCol="0" anchor="ctr"/>
          <a:lstStyle/>
          <a:p>
            <a:pPr indent="0" marL="0">
              <a:buNone/>
            </a:pPr>
            <a:r>
              <a:rPr lang="en-US" sz="1800" i="1" dirty="0">
                <a:solidFill>
                  <a:srgbClr val="6B7280"/>
                </a:solidFill>
                <a:latin typeface="Calibri" pitchFamily="34" charset="0"/>
                <a:ea typeface="Calibri" pitchFamily="34" charset="-122"/>
                <a:cs typeface="Calibri" pitchFamily="34" charset="-120"/>
              </a:rPr>
              <a:t>Every specialization in this course is one of exactly four combinations of these two constraints.</a:t>
            </a:r>
            <a:endParaRPr lang="en-US" sz="1800" dirty="0"/>
          </a:p>
        </p:txBody>
      </p:sp>
      <p:sp>
        <p:nvSpPr>
          <p:cNvPr id="17" name="Text 15"/>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ALL FOUR, WITH REAL EXAMPLES</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The Four Disjoint/Overlapping × Total/Partial Combinations</a:t>
            </a:r>
            <a:endParaRPr lang="en-US" sz="2600" dirty="0"/>
          </a:p>
        </p:txBody>
      </p:sp>
      <p:sp>
        <p:nvSpPr>
          <p:cNvPr id="4" name="Shape 2"/>
          <p:cNvSpPr/>
          <p:nvPr/>
        </p:nvSpPr>
        <p:spPr>
          <a:xfrm>
            <a:off x="640080" y="1600200"/>
            <a:ext cx="5272888" cy="1600200"/>
          </a:xfrm>
          <a:prstGeom prst="roundRect">
            <a:avLst>
              <a:gd name="adj" fmla="val 4000"/>
            </a:avLst>
          </a:prstGeom>
          <a:solidFill>
            <a:srgbClr val="2FE6C4"/>
          </a:solidFill>
          <a:ln/>
        </p:spPr>
      </p:sp>
      <p:sp>
        <p:nvSpPr>
          <p:cNvPr id="5" name="Text 3"/>
          <p:cNvSpPr txBox="1"/>
          <p:nvPr/>
        </p:nvSpPr>
        <p:spPr>
          <a:xfrm>
            <a:off x="914400" y="1764792"/>
            <a:ext cx="4724248" cy="365760"/>
          </a:xfrm>
          <a:prstGeom prst="rect">
            <a:avLst/>
          </a:prstGeom>
          <a:noFill/>
          <a:ln/>
        </p:spPr>
        <p:txBody>
          <a:bodyPr wrap="square" lIns="0" tIns="0" rIns="0" bIns="0" rtlCol="0" anchor="ctr"/>
          <a:lstStyle/>
          <a:p>
            <a:pPr indent="0" marL="0">
              <a:buNone/>
            </a:pPr>
            <a:r>
              <a:rPr lang="en-US" sz="1800" b="1" dirty="0">
                <a:solidFill>
                  <a:srgbClr val="14181C"/>
                </a:solidFill>
                <a:latin typeface="Calibri" pitchFamily="34" charset="0"/>
                <a:ea typeface="Calibri" pitchFamily="34" charset="-122"/>
                <a:cs typeface="Calibri" pitchFamily="34" charset="-120"/>
              </a:rPr>
              <a:t>Disjoint, Total</a:t>
            </a:r>
            <a:endParaRPr lang="en-US" sz="1800" dirty="0"/>
          </a:p>
        </p:txBody>
      </p:sp>
      <p:sp>
        <p:nvSpPr>
          <p:cNvPr id="6" name="Text 4"/>
          <p:cNvSpPr txBox="1"/>
          <p:nvPr/>
        </p:nvSpPr>
        <p:spPr>
          <a:xfrm>
            <a:off x="914400" y="2167128"/>
            <a:ext cx="4724248" cy="914400"/>
          </a:xfrm>
          <a:prstGeom prst="rect">
            <a:avLst/>
          </a:prstGeom>
          <a:noFill/>
          <a:ln/>
        </p:spPr>
        <p:txBody>
          <a:bodyPr wrap="square" lIns="0" tIns="0" rIns="0" bIns="0" rtlCol="0" anchor="t"/>
          <a:lstStyle/>
          <a:p>
            <a:pPr indent="0" marL="0">
              <a:lnSpc>
                <a:spcPct val="110000"/>
              </a:lnSpc>
              <a:buNone/>
            </a:pPr>
            <a:r>
              <a:rPr lang="en-US" sz="1800" dirty="0">
                <a:solidFill>
                  <a:srgbClr val="14181C"/>
                </a:solidFill>
                <a:latin typeface="Calibri" pitchFamily="34" charset="0"/>
                <a:ea typeface="Calibri" pitchFamily="34" charset="-122"/>
                <a:cs typeface="Calibri" pitchFamily="34" charset="-120"/>
              </a:rPr>
              <a:t>Vehicle → Car, Van, Truck. Every vehicle is exactly one of the three; none is left unclassified.</a:t>
            </a:r>
            <a:endParaRPr lang="en-US" sz="1800" dirty="0"/>
          </a:p>
        </p:txBody>
      </p:sp>
      <p:sp>
        <p:nvSpPr>
          <p:cNvPr id="7" name="Shape 5"/>
          <p:cNvSpPr/>
          <p:nvPr/>
        </p:nvSpPr>
        <p:spPr>
          <a:xfrm>
            <a:off x="6278728" y="1600200"/>
            <a:ext cx="5272888" cy="1600200"/>
          </a:xfrm>
          <a:prstGeom prst="roundRect">
            <a:avLst>
              <a:gd name="adj" fmla="val 4000"/>
            </a:avLst>
          </a:prstGeom>
          <a:solidFill>
            <a:srgbClr val="8B7FD9"/>
          </a:solidFill>
          <a:ln/>
        </p:spPr>
      </p:sp>
      <p:sp>
        <p:nvSpPr>
          <p:cNvPr id="8" name="Text 6"/>
          <p:cNvSpPr txBox="1"/>
          <p:nvPr/>
        </p:nvSpPr>
        <p:spPr>
          <a:xfrm>
            <a:off x="6553048" y="1764792"/>
            <a:ext cx="4724248" cy="365760"/>
          </a:xfrm>
          <a:prstGeom prst="rect">
            <a:avLst/>
          </a:prstGeom>
          <a:noFill/>
          <a:ln/>
        </p:spPr>
        <p:txBody>
          <a:bodyPr wrap="square" lIns="0" tIns="0" rIns="0" bIns="0" rtlCol="0" anchor="ctr"/>
          <a:lstStyle/>
          <a:p>
            <a:pPr indent="0" marL="0">
              <a:buNone/>
            </a:pPr>
            <a:r>
              <a:rPr lang="en-US" sz="1800" b="1" dirty="0">
                <a:solidFill>
                  <a:srgbClr val="14181C"/>
                </a:solidFill>
                <a:latin typeface="Calibri" pitchFamily="34" charset="0"/>
                <a:ea typeface="Calibri" pitchFamily="34" charset="-122"/>
                <a:cs typeface="Calibri" pitchFamily="34" charset="-120"/>
              </a:rPr>
              <a:t>Disjoint, Partial</a:t>
            </a:r>
            <a:endParaRPr lang="en-US" sz="1800" dirty="0"/>
          </a:p>
        </p:txBody>
      </p:sp>
      <p:sp>
        <p:nvSpPr>
          <p:cNvPr id="9" name="Text 7"/>
          <p:cNvSpPr txBox="1"/>
          <p:nvPr/>
        </p:nvSpPr>
        <p:spPr>
          <a:xfrm>
            <a:off x="6553048" y="2167128"/>
            <a:ext cx="4724248" cy="914400"/>
          </a:xfrm>
          <a:prstGeom prst="rect">
            <a:avLst/>
          </a:prstGeom>
          <a:noFill/>
          <a:ln/>
        </p:spPr>
        <p:txBody>
          <a:bodyPr wrap="square" lIns="0" tIns="0" rIns="0" bIns="0" rtlCol="0" anchor="t"/>
          <a:lstStyle/>
          <a:p>
            <a:pPr indent="0" marL="0">
              <a:lnSpc>
                <a:spcPct val="110000"/>
              </a:lnSpc>
              <a:buNone/>
            </a:pPr>
            <a:r>
              <a:rPr lang="en-US" sz="1800" dirty="0">
                <a:solidFill>
                  <a:srgbClr val="14181C"/>
                </a:solidFill>
                <a:latin typeface="Calibri" pitchFamily="34" charset="0"/>
                <a:ea typeface="Calibri" pitchFamily="34" charset="-122"/>
                <a:cs typeface="Calibri" pitchFamily="34" charset="-120"/>
              </a:rPr>
              <a:t>Staff → SalesPersonnel, Manager. Neither overlaps the other, but plenty of staff hold neither role.</a:t>
            </a:r>
            <a:endParaRPr lang="en-US" sz="1800" dirty="0"/>
          </a:p>
        </p:txBody>
      </p:sp>
      <p:sp>
        <p:nvSpPr>
          <p:cNvPr id="10" name="Shape 8"/>
          <p:cNvSpPr/>
          <p:nvPr/>
        </p:nvSpPr>
        <p:spPr>
          <a:xfrm>
            <a:off x="640080" y="3383280"/>
            <a:ext cx="5272888" cy="1600200"/>
          </a:xfrm>
          <a:prstGeom prst="roundRect">
            <a:avLst>
              <a:gd name="adj" fmla="val 4000"/>
            </a:avLst>
          </a:prstGeom>
          <a:solidFill>
            <a:srgbClr val="E8A33D"/>
          </a:solidFill>
          <a:ln/>
        </p:spPr>
      </p:sp>
      <p:sp>
        <p:nvSpPr>
          <p:cNvPr id="11" name="Text 9"/>
          <p:cNvSpPr txBox="1"/>
          <p:nvPr/>
        </p:nvSpPr>
        <p:spPr>
          <a:xfrm>
            <a:off x="914400" y="3547872"/>
            <a:ext cx="4724248" cy="365760"/>
          </a:xfrm>
          <a:prstGeom prst="rect">
            <a:avLst/>
          </a:prstGeom>
          <a:noFill/>
          <a:ln/>
        </p:spPr>
        <p:txBody>
          <a:bodyPr wrap="square" lIns="0" tIns="0" rIns="0" bIns="0" rtlCol="0" anchor="ctr"/>
          <a:lstStyle/>
          <a:p>
            <a:pPr indent="0" marL="0">
              <a:buNone/>
            </a:pPr>
            <a:r>
              <a:rPr lang="en-US" sz="1800" b="1" dirty="0">
                <a:solidFill>
                  <a:srgbClr val="14181C"/>
                </a:solidFill>
                <a:latin typeface="Calibri" pitchFamily="34" charset="0"/>
                <a:ea typeface="Calibri" pitchFamily="34" charset="-122"/>
                <a:cs typeface="Calibri" pitchFamily="34" charset="-120"/>
              </a:rPr>
              <a:t>Overlapping, Total</a:t>
            </a:r>
            <a:endParaRPr lang="en-US" sz="1800" dirty="0"/>
          </a:p>
        </p:txBody>
      </p:sp>
      <p:sp>
        <p:nvSpPr>
          <p:cNvPr id="12" name="Text 10"/>
          <p:cNvSpPr txBox="1"/>
          <p:nvPr/>
        </p:nvSpPr>
        <p:spPr>
          <a:xfrm>
            <a:off x="914400" y="3950208"/>
            <a:ext cx="4724248" cy="914400"/>
          </a:xfrm>
          <a:prstGeom prst="rect">
            <a:avLst/>
          </a:prstGeom>
          <a:noFill/>
          <a:ln/>
        </p:spPr>
        <p:txBody>
          <a:bodyPr wrap="square" lIns="0" tIns="0" rIns="0" bIns="0" rtlCol="0" anchor="t"/>
          <a:lstStyle/>
          <a:p>
            <a:pPr indent="0" marL="0">
              <a:lnSpc>
                <a:spcPct val="110000"/>
              </a:lnSpc>
              <a:buNone/>
            </a:pPr>
            <a:r>
              <a:rPr lang="en-US" sz="1800" dirty="0">
                <a:solidFill>
                  <a:srgbClr val="14181C"/>
                </a:solidFill>
                <a:latin typeface="Calibri" pitchFamily="34" charset="0"/>
                <a:ea typeface="Calibri" pitchFamily="34" charset="-122"/>
                <a:cs typeface="Calibri" pitchFamily="34" charset="-120"/>
              </a:rPr>
              <a:t>Person → Student, Employee. Every person is at least one; some are both.</a:t>
            </a:r>
            <a:endParaRPr lang="en-US" sz="1800" dirty="0"/>
          </a:p>
        </p:txBody>
      </p:sp>
      <p:sp>
        <p:nvSpPr>
          <p:cNvPr id="13" name="Shape 11"/>
          <p:cNvSpPr/>
          <p:nvPr/>
        </p:nvSpPr>
        <p:spPr>
          <a:xfrm>
            <a:off x="6278728" y="3383280"/>
            <a:ext cx="5272888" cy="1600200"/>
          </a:xfrm>
          <a:prstGeom prst="roundRect">
            <a:avLst>
              <a:gd name="adj" fmla="val 4000"/>
            </a:avLst>
          </a:prstGeom>
          <a:solidFill>
            <a:srgbClr val="6B7280"/>
          </a:solidFill>
          <a:ln/>
        </p:spPr>
      </p:sp>
      <p:sp>
        <p:nvSpPr>
          <p:cNvPr id="14" name="Text 12"/>
          <p:cNvSpPr txBox="1"/>
          <p:nvPr/>
        </p:nvSpPr>
        <p:spPr>
          <a:xfrm>
            <a:off x="6553048" y="3547872"/>
            <a:ext cx="4724248" cy="365760"/>
          </a:xfrm>
          <a:prstGeom prst="rect">
            <a:avLst/>
          </a:prstGeom>
          <a:noFill/>
          <a:ln/>
        </p:spPr>
        <p:txBody>
          <a:bodyPr wrap="square" lIns="0" tIns="0" rIns="0" bIns="0" rtlCol="0" anchor="ctr"/>
          <a:lstStyle/>
          <a:p>
            <a:pPr indent="0" marL="0">
              <a:buNone/>
            </a:pPr>
            <a:r>
              <a:rPr lang="en-US" sz="1800" b="1" dirty="0">
                <a:solidFill>
                  <a:srgbClr val="14181C"/>
                </a:solidFill>
                <a:latin typeface="Calibri" pitchFamily="34" charset="0"/>
                <a:ea typeface="Calibri" pitchFamily="34" charset="-122"/>
                <a:cs typeface="Calibri" pitchFamily="34" charset="-120"/>
              </a:rPr>
              <a:t>Overlapping, Partial</a:t>
            </a:r>
            <a:endParaRPr lang="en-US" sz="1800" dirty="0"/>
          </a:p>
        </p:txBody>
      </p:sp>
      <p:sp>
        <p:nvSpPr>
          <p:cNvPr id="15" name="Text 13"/>
          <p:cNvSpPr txBox="1"/>
          <p:nvPr/>
        </p:nvSpPr>
        <p:spPr>
          <a:xfrm>
            <a:off x="6553048" y="3950208"/>
            <a:ext cx="4724248" cy="914400"/>
          </a:xfrm>
          <a:prstGeom prst="rect">
            <a:avLst/>
          </a:prstGeom>
          <a:noFill/>
          <a:ln/>
        </p:spPr>
        <p:txBody>
          <a:bodyPr wrap="square" lIns="0" tIns="0" rIns="0" bIns="0" rtlCol="0" anchor="t"/>
          <a:lstStyle/>
          <a:p>
            <a:pPr indent="0" marL="0">
              <a:lnSpc>
                <a:spcPct val="110000"/>
              </a:lnSpc>
              <a:buNone/>
            </a:pPr>
            <a:r>
              <a:rPr lang="en-US" sz="1800" dirty="0">
                <a:solidFill>
                  <a:srgbClr val="14181C"/>
                </a:solidFill>
                <a:latin typeface="Calibri" pitchFamily="34" charset="0"/>
                <a:ea typeface="Calibri" pitchFamily="34" charset="-122"/>
                <a:cs typeface="Calibri" pitchFamily="34" charset="-120"/>
              </a:rPr>
              <a:t>Staff → CommitteeMember, Trainer. A staff member can hold both extra roles, one, or neither.</a:t>
            </a:r>
            <a:endParaRPr lang="en-US" sz="1800" dirty="0"/>
          </a:p>
        </p:txBody>
      </p:sp>
      <p:sp>
        <p:nvSpPr>
          <p:cNvPr id="16" name="Shape 14"/>
          <p:cNvSpPr/>
          <p:nvPr/>
        </p:nvSpPr>
        <p:spPr>
          <a:xfrm>
            <a:off x="640080" y="5257800"/>
            <a:ext cx="10911535" cy="1051560"/>
          </a:xfrm>
          <a:prstGeom prst="roundRect">
            <a:avLst>
              <a:gd name="adj" fmla="val 6087"/>
            </a:avLst>
          </a:prstGeom>
          <a:solidFill>
            <a:srgbClr val="FCF1E3"/>
          </a:solidFill>
          <a:ln w="12700">
            <a:solidFill>
              <a:srgbClr val="E8A33D"/>
            </a:solidFill>
            <a:prstDash val="solid"/>
          </a:ln>
        </p:spPr>
      </p:sp>
      <p:sp>
        <p:nvSpPr>
          <p:cNvPr id="17" name="Text 15"/>
          <p:cNvSpPr txBox="1"/>
          <p:nvPr/>
        </p:nvSpPr>
        <p:spPr>
          <a:xfrm>
            <a:off x="896112" y="5404104"/>
            <a:ext cx="10399471" cy="274320"/>
          </a:xfrm>
          <a:prstGeom prst="rect">
            <a:avLst/>
          </a:prstGeom>
          <a:noFill/>
          <a:ln/>
        </p:spPr>
        <p:txBody>
          <a:bodyPr wrap="square" lIns="0" tIns="0" rIns="0" bIns="0" rtlCol="0" anchor="ctr"/>
          <a:lstStyle/>
          <a:p>
            <a:pPr indent="0" marL="0">
              <a:buNone/>
            </a:pPr>
            <a:r>
              <a:rPr lang="en-US" sz="1200" b="1" spc="200" kern="0" dirty="0">
                <a:solidFill>
                  <a:srgbClr val="8A5A12"/>
                </a:solidFill>
                <a:latin typeface="Calibri" pitchFamily="34" charset="0"/>
                <a:ea typeface="Calibri" pitchFamily="34" charset="-122"/>
                <a:cs typeface="Calibri" pitchFamily="34" charset="-120"/>
              </a:rPr>
              <a:t>A REAL, SILENT DESIGN BUG</a:t>
            </a:r>
            <a:endParaRPr lang="en-US" sz="1200" dirty="0"/>
          </a:p>
        </p:txBody>
      </p:sp>
      <p:sp>
        <p:nvSpPr>
          <p:cNvPr id="18" name="Text 16"/>
          <p:cNvSpPr txBox="1"/>
          <p:nvPr/>
        </p:nvSpPr>
        <p:spPr>
          <a:xfrm>
            <a:off x="896112" y="5733288"/>
            <a:ext cx="10399471" cy="41148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Disjoint is wrong if a staff member can be promoted while still holding sales targets: the database silently drops a true role.</a:t>
            </a:r>
            <a:endParaRPr lang="en-US" sz="1800" dirty="0"/>
          </a:p>
        </p:txBody>
      </p:sp>
      <p:sp>
        <p:nvSpPr>
          <p:cNvPr id="19" name="Text 17"/>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APPLYING THE QUESTIONS TO STAFF</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Worked Example — Staff Is Disjoint AND Partial</a:t>
            </a:r>
            <a:endParaRPr lang="en-US" sz="2600" dirty="0"/>
          </a:p>
        </p:txBody>
      </p:sp>
      <p:sp>
        <p:nvSpPr>
          <p:cNvPr id="4" name="Shape 2"/>
          <p:cNvSpPr/>
          <p:nvPr/>
        </p:nvSpPr>
        <p:spPr>
          <a:xfrm>
            <a:off x="4023360" y="1600200"/>
            <a:ext cx="4114800" cy="1152144"/>
          </a:xfrm>
          <a:prstGeom prst="roundRect">
            <a:avLst>
              <a:gd name="adj" fmla="val 6349"/>
            </a:avLst>
          </a:prstGeom>
          <a:solidFill>
            <a:srgbClr val="FFFFFF"/>
          </a:solidFill>
          <a:ln w="15875">
            <a:solidFill>
              <a:srgbClr val="1F2429"/>
            </a:solidFill>
            <a:prstDash val="solid"/>
          </a:ln>
        </p:spPr>
      </p:sp>
      <p:sp>
        <p:nvSpPr>
          <p:cNvPr id="5" name="Shape 3"/>
          <p:cNvSpPr/>
          <p:nvPr/>
        </p:nvSpPr>
        <p:spPr>
          <a:xfrm>
            <a:off x="4023360" y="1600200"/>
            <a:ext cx="4114800" cy="420624"/>
          </a:xfrm>
          <a:prstGeom prst="roundRect">
            <a:avLst>
              <a:gd name="adj" fmla="val 17391"/>
            </a:avLst>
          </a:prstGeom>
          <a:solidFill>
            <a:srgbClr val="14181C"/>
          </a:solidFill>
          <a:ln/>
        </p:spPr>
      </p:sp>
      <p:sp>
        <p:nvSpPr>
          <p:cNvPr id="6" name="Shape 4"/>
          <p:cNvSpPr/>
          <p:nvPr/>
        </p:nvSpPr>
        <p:spPr>
          <a:xfrm>
            <a:off x="4023360" y="1810512"/>
            <a:ext cx="4114800" cy="210312"/>
          </a:xfrm>
          <a:prstGeom prst="rect">
            <a:avLst/>
          </a:prstGeom>
          <a:solidFill>
            <a:srgbClr val="14181C"/>
          </a:solidFill>
          <a:ln/>
        </p:spPr>
      </p:sp>
      <p:sp>
        <p:nvSpPr>
          <p:cNvPr id="7" name="Text 5"/>
          <p:cNvSpPr txBox="1"/>
          <p:nvPr/>
        </p:nvSpPr>
        <p:spPr>
          <a:xfrm>
            <a:off x="4133088" y="1600200"/>
            <a:ext cx="3895344" cy="420624"/>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Staff (superclass)</a:t>
            </a:r>
            <a:endParaRPr lang="en-US" sz="1800" dirty="0"/>
          </a:p>
        </p:txBody>
      </p:sp>
      <p:sp>
        <p:nvSpPr>
          <p:cNvPr id="8" name="Text 6"/>
          <p:cNvSpPr txBox="1"/>
          <p:nvPr/>
        </p:nvSpPr>
        <p:spPr>
          <a:xfrm>
            <a:off x="4169664" y="2075688"/>
            <a:ext cx="384048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staffNo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name, salary</a:t>
            </a:r>
            <a:endParaRPr lang="en-US" sz="1400" dirty="0"/>
          </a:p>
        </p:txBody>
      </p:sp>
      <p:sp>
        <p:nvSpPr>
          <p:cNvPr id="9" name="Text 7"/>
          <p:cNvSpPr txBox="1"/>
          <p:nvPr/>
        </p:nvSpPr>
        <p:spPr>
          <a:xfrm>
            <a:off x="640080" y="2743200"/>
            <a:ext cx="10911535" cy="365760"/>
          </a:xfrm>
          <a:prstGeom prst="rect">
            <a:avLst/>
          </a:prstGeom>
          <a:noFill/>
          <a:ln/>
        </p:spPr>
        <p:txBody>
          <a:bodyPr wrap="square" lIns="0" tIns="0" rIns="0" bIns="0" rtlCol="0" anchor="ctr"/>
          <a:lstStyle/>
          <a:p>
            <a:pPr indent="0" marL="0">
              <a:buNone/>
            </a:pPr>
            <a:r>
              <a:rPr lang="en-US" sz="1800" b="1" dirty="0">
                <a:solidFill>
                  <a:srgbClr val="8B7FD9"/>
                </a:solidFill>
                <a:latin typeface="Calibri" pitchFamily="34" charset="0"/>
                <a:ea typeface="Calibri" pitchFamily="34" charset="-122"/>
                <a:cs typeface="Calibri" pitchFamily="34" charset="-120"/>
              </a:rPr>
              <a:t>d  disjoint    partial — an ordinary assistant belongs to neither subclass below</a:t>
            </a:r>
            <a:endParaRPr lang="en-US" sz="1800" dirty="0"/>
          </a:p>
        </p:txBody>
      </p:sp>
      <p:sp>
        <p:nvSpPr>
          <p:cNvPr id="10" name="Shape 8"/>
          <p:cNvSpPr/>
          <p:nvPr/>
        </p:nvSpPr>
        <p:spPr>
          <a:xfrm>
            <a:off x="640080" y="3200400"/>
            <a:ext cx="3291840" cy="1152144"/>
          </a:xfrm>
          <a:prstGeom prst="roundRect">
            <a:avLst>
              <a:gd name="adj" fmla="val 6349"/>
            </a:avLst>
          </a:prstGeom>
          <a:solidFill>
            <a:srgbClr val="FFFFFF"/>
          </a:solidFill>
          <a:ln w="15875">
            <a:solidFill>
              <a:srgbClr val="1F2429"/>
            </a:solidFill>
            <a:prstDash val="solid"/>
          </a:ln>
        </p:spPr>
      </p:sp>
      <p:sp>
        <p:nvSpPr>
          <p:cNvPr id="11" name="Shape 9"/>
          <p:cNvSpPr/>
          <p:nvPr/>
        </p:nvSpPr>
        <p:spPr>
          <a:xfrm>
            <a:off x="640080" y="3200400"/>
            <a:ext cx="3291840" cy="420624"/>
          </a:xfrm>
          <a:prstGeom prst="roundRect">
            <a:avLst>
              <a:gd name="adj" fmla="val 17391"/>
            </a:avLst>
          </a:prstGeom>
          <a:solidFill>
            <a:srgbClr val="2FE6C4"/>
          </a:solidFill>
          <a:ln/>
        </p:spPr>
      </p:sp>
      <p:sp>
        <p:nvSpPr>
          <p:cNvPr id="12" name="Shape 10"/>
          <p:cNvSpPr/>
          <p:nvPr/>
        </p:nvSpPr>
        <p:spPr>
          <a:xfrm>
            <a:off x="640080" y="3410712"/>
            <a:ext cx="3291840" cy="210312"/>
          </a:xfrm>
          <a:prstGeom prst="rect">
            <a:avLst/>
          </a:prstGeom>
          <a:solidFill>
            <a:srgbClr val="2FE6C4"/>
          </a:solidFill>
          <a:ln/>
        </p:spPr>
      </p:sp>
      <p:sp>
        <p:nvSpPr>
          <p:cNvPr id="13" name="Text 11"/>
          <p:cNvSpPr txBox="1"/>
          <p:nvPr/>
        </p:nvSpPr>
        <p:spPr>
          <a:xfrm>
            <a:off x="749808" y="3200400"/>
            <a:ext cx="307238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SalesPersonnel</a:t>
            </a:r>
            <a:endParaRPr lang="en-US" sz="1800" dirty="0"/>
          </a:p>
        </p:txBody>
      </p:sp>
      <p:sp>
        <p:nvSpPr>
          <p:cNvPr id="14" name="Text 12"/>
          <p:cNvSpPr txBox="1"/>
          <p:nvPr/>
        </p:nvSpPr>
        <p:spPr>
          <a:xfrm>
            <a:off x="786384" y="3675888"/>
            <a:ext cx="3017520" cy="585216"/>
          </a:xfrm>
          <a:prstGeom prst="rect">
            <a:avLst/>
          </a:prstGeom>
          <a:noFill/>
          <a:ln/>
        </p:spPr>
        <p:txBody>
          <a:bodyPr wrap="square" lIns="0" tIns="0" rIns="0" bIns="0" rtlCol="0" anchor="t"/>
          <a:lstStyle/>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salesArea</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carAllowance</a:t>
            </a:r>
            <a:endParaRPr lang="en-US" sz="1400" dirty="0"/>
          </a:p>
        </p:txBody>
      </p:sp>
      <p:sp>
        <p:nvSpPr>
          <p:cNvPr id="15" name="Shape 13"/>
          <p:cNvSpPr/>
          <p:nvPr/>
        </p:nvSpPr>
        <p:spPr>
          <a:xfrm>
            <a:off x="8321040" y="3200400"/>
            <a:ext cx="3200400" cy="859536"/>
          </a:xfrm>
          <a:prstGeom prst="roundRect">
            <a:avLst>
              <a:gd name="adj" fmla="val 8511"/>
            </a:avLst>
          </a:prstGeom>
          <a:solidFill>
            <a:srgbClr val="FFFFFF"/>
          </a:solidFill>
          <a:ln w="15875">
            <a:solidFill>
              <a:srgbClr val="1F2429"/>
            </a:solidFill>
            <a:prstDash val="solid"/>
          </a:ln>
        </p:spPr>
      </p:sp>
      <p:sp>
        <p:nvSpPr>
          <p:cNvPr id="16" name="Shape 14"/>
          <p:cNvSpPr/>
          <p:nvPr/>
        </p:nvSpPr>
        <p:spPr>
          <a:xfrm>
            <a:off x="8321040" y="3200400"/>
            <a:ext cx="3200400" cy="420624"/>
          </a:xfrm>
          <a:prstGeom prst="roundRect">
            <a:avLst>
              <a:gd name="adj" fmla="val 17391"/>
            </a:avLst>
          </a:prstGeom>
          <a:solidFill>
            <a:srgbClr val="E8A33D"/>
          </a:solidFill>
          <a:ln/>
        </p:spPr>
      </p:sp>
      <p:sp>
        <p:nvSpPr>
          <p:cNvPr id="17" name="Shape 15"/>
          <p:cNvSpPr/>
          <p:nvPr/>
        </p:nvSpPr>
        <p:spPr>
          <a:xfrm>
            <a:off x="8321040" y="3410712"/>
            <a:ext cx="3200400" cy="210312"/>
          </a:xfrm>
          <a:prstGeom prst="rect">
            <a:avLst/>
          </a:prstGeom>
          <a:solidFill>
            <a:srgbClr val="E8A33D"/>
          </a:solidFill>
          <a:ln/>
        </p:spPr>
      </p:sp>
      <p:sp>
        <p:nvSpPr>
          <p:cNvPr id="18" name="Text 16"/>
          <p:cNvSpPr txBox="1"/>
          <p:nvPr/>
        </p:nvSpPr>
        <p:spPr>
          <a:xfrm>
            <a:off x="8430768" y="3200400"/>
            <a:ext cx="298094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Manager</a:t>
            </a:r>
            <a:endParaRPr lang="en-US" sz="1800" dirty="0"/>
          </a:p>
        </p:txBody>
      </p:sp>
      <p:sp>
        <p:nvSpPr>
          <p:cNvPr id="19" name="Text 17"/>
          <p:cNvSpPr txBox="1"/>
          <p:nvPr/>
        </p:nvSpPr>
        <p:spPr>
          <a:xfrm>
            <a:off x="8467344" y="3675888"/>
            <a:ext cx="2926080" cy="292608"/>
          </a:xfrm>
          <a:prstGeom prst="rect">
            <a:avLst/>
          </a:prstGeom>
          <a:noFill/>
          <a:ln/>
        </p:spPr>
        <p:txBody>
          <a:bodyPr wrap="square" lIns="0" tIns="0" rIns="0" bIns="0" rtlCol="0" anchor="t"/>
          <a:lstStyle/>
          <a:p>
            <a:pPr indent="0" marL="0">
              <a:lnSpc>
                <a:spcPct val="108000"/>
              </a:lnSpc>
              <a:spcAft>
                <a:spcPts val="100"/>
              </a:spcAft>
              <a:buNone/>
            </a:pPr>
            <a:r>
              <a:rPr lang="en-US" sz="1800" dirty="0">
                <a:solidFill>
                  <a:srgbClr val="1F2429"/>
                </a:solidFill>
                <a:latin typeface="Calibri" pitchFamily="34" charset="0"/>
                <a:ea typeface="Calibri" pitchFamily="34" charset="-122"/>
                <a:cs typeface="Calibri" pitchFamily="34" charset="-120"/>
              </a:rPr>
              <a:t>bonus</a:t>
            </a:r>
            <a:endParaRPr lang="en-US" sz="1800" dirty="0"/>
          </a:p>
        </p:txBody>
      </p:sp>
      <p:sp>
        <p:nvSpPr>
          <p:cNvPr id="20" name="Shape 18"/>
          <p:cNvSpPr/>
          <p:nvPr/>
        </p:nvSpPr>
        <p:spPr>
          <a:xfrm>
            <a:off x="3474720" y="2331720"/>
            <a:ext cx="1828800" cy="868680"/>
          </a:xfrm>
          <a:prstGeom prst="line">
            <a:avLst/>
          </a:prstGeom>
          <a:noFill/>
          <a:ln w="22225">
            <a:solidFill>
              <a:srgbClr val="9AA1A9"/>
            </a:solidFill>
            <a:prstDash val="solid"/>
            <a:tailEnd type="none"/>
          </a:ln>
        </p:spPr>
      </p:sp>
      <p:sp>
        <p:nvSpPr>
          <p:cNvPr id="21" name="Shape 19"/>
          <p:cNvSpPr/>
          <p:nvPr/>
        </p:nvSpPr>
        <p:spPr>
          <a:xfrm>
            <a:off x="6858000" y="2331720"/>
            <a:ext cx="2743200" cy="868680"/>
          </a:xfrm>
          <a:prstGeom prst="line">
            <a:avLst/>
          </a:prstGeom>
          <a:noFill/>
          <a:ln w="22225">
            <a:solidFill>
              <a:srgbClr val="9AA1A9"/>
            </a:solidFill>
            <a:prstDash val="solid"/>
            <a:tailEnd type="none"/>
          </a:ln>
        </p:spPr>
      </p:sp>
      <p:sp>
        <p:nvSpPr>
          <p:cNvPr id="22" name="Shape 20"/>
          <p:cNvSpPr/>
          <p:nvPr/>
        </p:nvSpPr>
        <p:spPr>
          <a:xfrm>
            <a:off x="640080" y="4892040"/>
            <a:ext cx="10911535" cy="1371600"/>
          </a:xfrm>
          <a:prstGeom prst="roundRect">
            <a:avLst>
              <a:gd name="adj" fmla="val 4667"/>
            </a:avLst>
          </a:prstGeom>
          <a:solidFill>
            <a:srgbClr val="EAF1FB"/>
          </a:solidFill>
          <a:ln w="12700">
            <a:solidFill>
              <a:srgbClr val="6C8FD6"/>
            </a:solidFill>
            <a:prstDash val="solid"/>
          </a:ln>
        </p:spPr>
      </p:sp>
      <p:sp>
        <p:nvSpPr>
          <p:cNvPr id="23" name="Text 21"/>
          <p:cNvSpPr txBox="1"/>
          <p:nvPr/>
        </p:nvSpPr>
        <p:spPr>
          <a:xfrm>
            <a:off x="896112" y="5038344"/>
            <a:ext cx="10399471" cy="274320"/>
          </a:xfrm>
          <a:prstGeom prst="rect">
            <a:avLst/>
          </a:prstGeom>
          <a:noFill/>
          <a:ln/>
        </p:spPr>
        <p:txBody>
          <a:bodyPr wrap="square" lIns="0" tIns="0" rIns="0" bIns="0" rtlCol="0" anchor="ctr"/>
          <a:lstStyle/>
          <a:p>
            <a:pPr indent="0" marL="0">
              <a:buNone/>
            </a:pPr>
            <a:r>
              <a:rPr lang="en-US" sz="1200" b="1" spc="200" kern="0" dirty="0">
                <a:solidFill>
                  <a:srgbClr val="2C4A8C"/>
                </a:solidFill>
                <a:latin typeface="Calibri" pitchFamily="34" charset="0"/>
                <a:ea typeface="Calibri" pitchFamily="34" charset="-122"/>
                <a:cs typeface="Calibri" pitchFamily="34" charset="-120"/>
              </a:rPr>
              <a:t>WORKING THROUGH BOTH QUESTIONS</a:t>
            </a:r>
            <a:endParaRPr lang="en-US" sz="1200" dirty="0"/>
          </a:p>
        </p:txBody>
      </p:sp>
      <p:sp>
        <p:nvSpPr>
          <p:cNvPr id="24" name="Text 22"/>
          <p:cNvSpPr txBox="1"/>
          <p:nvPr/>
        </p:nvSpPr>
        <p:spPr>
          <a:xfrm>
            <a:off x="896112" y="5367528"/>
            <a:ext cx="10399471" cy="73152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Q1: the roles are mutually exclusive, so disjoint. Q2: a plain assistant belongs to no subclass, so partial. Each answer rests on a checkable fact.</a:t>
            </a:r>
            <a:endParaRPr lang="en-US" sz="1800" dirty="0"/>
          </a:p>
        </p:txBody>
      </p:sp>
      <p:sp>
        <p:nvSpPr>
          <p:cNvPr id="25" name="Text 23"/>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GROWING THE EXAMPLE</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Adding a Third Subclass: Technician</a:t>
            </a:r>
            <a:endParaRPr lang="en-US" sz="2600" dirty="0"/>
          </a:p>
        </p:txBody>
      </p:sp>
      <p:sp>
        <p:nvSpPr>
          <p:cNvPr id="4" name="Text 2"/>
          <p:cNvSpPr txBox="1"/>
          <p:nvPr/>
        </p:nvSpPr>
        <p:spPr>
          <a:xfrm>
            <a:off x="640080" y="1508760"/>
            <a:ext cx="10911535" cy="64008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The agency now also employs maintenance Technicians, with their own tradeSpecialty and certificationNo. Re-running both questions against the GROWN set of roles:</a:t>
            </a:r>
            <a:endParaRPr lang="en-US" sz="1800" dirty="0"/>
          </a:p>
        </p:txBody>
      </p:sp>
      <p:sp>
        <p:nvSpPr>
          <p:cNvPr id="5" name="Shape 3"/>
          <p:cNvSpPr/>
          <p:nvPr/>
        </p:nvSpPr>
        <p:spPr>
          <a:xfrm>
            <a:off x="4297680" y="2286000"/>
            <a:ext cx="3657600" cy="1152144"/>
          </a:xfrm>
          <a:prstGeom prst="roundRect">
            <a:avLst>
              <a:gd name="adj" fmla="val 6349"/>
            </a:avLst>
          </a:prstGeom>
          <a:solidFill>
            <a:srgbClr val="FFFFFF"/>
          </a:solidFill>
          <a:ln w="15875">
            <a:solidFill>
              <a:srgbClr val="1F2429"/>
            </a:solidFill>
            <a:prstDash val="solid"/>
          </a:ln>
        </p:spPr>
      </p:sp>
      <p:sp>
        <p:nvSpPr>
          <p:cNvPr id="6" name="Shape 4"/>
          <p:cNvSpPr/>
          <p:nvPr/>
        </p:nvSpPr>
        <p:spPr>
          <a:xfrm>
            <a:off x="4297680" y="2286000"/>
            <a:ext cx="3657600" cy="420624"/>
          </a:xfrm>
          <a:prstGeom prst="roundRect">
            <a:avLst>
              <a:gd name="adj" fmla="val 17391"/>
            </a:avLst>
          </a:prstGeom>
          <a:solidFill>
            <a:srgbClr val="14181C"/>
          </a:solidFill>
          <a:ln/>
        </p:spPr>
      </p:sp>
      <p:sp>
        <p:nvSpPr>
          <p:cNvPr id="7" name="Shape 5"/>
          <p:cNvSpPr/>
          <p:nvPr/>
        </p:nvSpPr>
        <p:spPr>
          <a:xfrm>
            <a:off x="4297680" y="2496312"/>
            <a:ext cx="3657600" cy="210312"/>
          </a:xfrm>
          <a:prstGeom prst="rect">
            <a:avLst/>
          </a:prstGeom>
          <a:solidFill>
            <a:srgbClr val="14181C"/>
          </a:solidFill>
          <a:ln/>
        </p:spPr>
      </p:sp>
      <p:sp>
        <p:nvSpPr>
          <p:cNvPr id="8" name="Text 6"/>
          <p:cNvSpPr txBox="1"/>
          <p:nvPr/>
        </p:nvSpPr>
        <p:spPr>
          <a:xfrm>
            <a:off x="4407408" y="2286000"/>
            <a:ext cx="3438144" cy="420624"/>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Staff (superclass)</a:t>
            </a:r>
            <a:endParaRPr lang="en-US" sz="1800" dirty="0"/>
          </a:p>
        </p:txBody>
      </p:sp>
      <p:sp>
        <p:nvSpPr>
          <p:cNvPr id="9" name="Text 7"/>
          <p:cNvSpPr txBox="1"/>
          <p:nvPr/>
        </p:nvSpPr>
        <p:spPr>
          <a:xfrm>
            <a:off x="4443984" y="2761488"/>
            <a:ext cx="338328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staffNo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name, salary</a:t>
            </a:r>
            <a:endParaRPr lang="en-US" sz="1400" dirty="0"/>
          </a:p>
        </p:txBody>
      </p:sp>
      <p:sp>
        <p:nvSpPr>
          <p:cNvPr id="10" name="Shape 8"/>
          <p:cNvSpPr/>
          <p:nvPr/>
        </p:nvSpPr>
        <p:spPr>
          <a:xfrm>
            <a:off x="640080" y="3886200"/>
            <a:ext cx="2926080" cy="859536"/>
          </a:xfrm>
          <a:prstGeom prst="roundRect">
            <a:avLst>
              <a:gd name="adj" fmla="val 8511"/>
            </a:avLst>
          </a:prstGeom>
          <a:solidFill>
            <a:srgbClr val="FFFFFF"/>
          </a:solidFill>
          <a:ln w="15875">
            <a:solidFill>
              <a:srgbClr val="1F2429"/>
            </a:solidFill>
            <a:prstDash val="solid"/>
          </a:ln>
        </p:spPr>
      </p:sp>
      <p:sp>
        <p:nvSpPr>
          <p:cNvPr id="11" name="Shape 9"/>
          <p:cNvSpPr/>
          <p:nvPr/>
        </p:nvSpPr>
        <p:spPr>
          <a:xfrm>
            <a:off x="640080" y="3886200"/>
            <a:ext cx="2926080" cy="420624"/>
          </a:xfrm>
          <a:prstGeom prst="roundRect">
            <a:avLst>
              <a:gd name="adj" fmla="val 17391"/>
            </a:avLst>
          </a:prstGeom>
          <a:solidFill>
            <a:srgbClr val="2FE6C4"/>
          </a:solidFill>
          <a:ln/>
        </p:spPr>
      </p:sp>
      <p:sp>
        <p:nvSpPr>
          <p:cNvPr id="12" name="Shape 10"/>
          <p:cNvSpPr/>
          <p:nvPr/>
        </p:nvSpPr>
        <p:spPr>
          <a:xfrm>
            <a:off x="640080" y="4096512"/>
            <a:ext cx="2926080" cy="210312"/>
          </a:xfrm>
          <a:prstGeom prst="rect">
            <a:avLst/>
          </a:prstGeom>
          <a:solidFill>
            <a:srgbClr val="2FE6C4"/>
          </a:solidFill>
          <a:ln/>
        </p:spPr>
      </p:sp>
      <p:sp>
        <p:nvSpPr>
          <p:cNvPr id="13" name="Text 11"/>
          <p:cNvSpPr txBox="1"/>
          <p:nvPr/>
        </p:nvSpPr>
        <p:spPr>
          <a:xfrm>
            <a:off x="749808" y="3886200"/>
            <a:ext cx="270662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SalesPersonnel</a:t>
            </a:r>
            <a:endParaRPr lang="en-US" sz="1800" dirty="0"/>
          </a:p>
        </p:txBody>
      </p:sp>
      <p:sp>
        <p:nvSpPr>
          <p:cNvPr id="14" name="Text 12"/>
          <p:cNvSpPr txBox="1"/>
          <p:nvPr/>
        </p:nvSpPr>
        <p:spPr>
          <a:xfrm>
            <a:off x="786384" y="4361688"/>
            <a:ext cx="2651760" cy="292608"/>
          </a:xfrm>
          <a:prstGeom prst="rect">
            <a:avLst/>
          </a:prstGeom>
          <a:noFill/>
          <a:ln/>
        </p:spPr>
        <p:txBody>
          <a:bodyPr wrap="square" lIns="0" tIns="0" rIns="0" bIns="0" rtlCol="0" anchor="t"/>
          <a:lstStyle/>
          <a:p>
            <a:pPr indent="0" marL="0">
              <a:lnSpc>
                <a:spcPct val="108000"/>
              </a:lnSpc>
              <a:spcAft>
                <a:spcPts val="100"/>
              </a:spcAft>
              <a:buNone/>
            </a:pPr>
            <a:r>
              <a:rPr lang="en-US" sz="1800" dirty="0">
                <a:solidFill>
                  <a:srgbClr val="1F2429"/>
                </a:solidFill>
                <a:latin typeface="Calibri" pitchFamily="34" charset="0"/>
                <a:ea typeface="Calibri" pitchFamily="34" charset="-122"/>
                <a:cs typeface="Calibri" pitchFamily="34" charset="-120"/>
              </a:rPr>
              <a:t>salesArea</a:t>
            </a:r>
            <a:endParaRPr lang="en-US" sz="1800" dirty="0"/>
          </a:p>
        </p:txBody>
      </p:sp>
      <p:sp>
        <p:nvSpPr>
          <p:cNvPr id="15" name="Shape 13"/>
          <p:cNvSpPr/>
          <p:nvPr/>
        </p:nvSpPr>
        <p:spPr>
          <a:xfrm>
            <a:off x="4572000" y="3886200"/>
            <a:ext cx="2926080" cy="859536"/>
          </a:xfrm>
          <a:prstGeom prst="roundRect">
            <a:avLst>
              <a:gd name="adj" fmla="val 8511"/>
            </a:avLst>
          </a:prstGeom>
          <a:solidFill>
            <a:srgbClr val="FFFFFF"/>
          </a:solidFill>
          <a:ln w="15875">
            <a:solidFill>
              <a:srgbClr val="1F2429"/>
            </a:solidFill>
            <a:prstDash val="solid"/>
          </a:ln>
        </p:spPr>
      </p:sp>
      <p:sp>
        <p:nvSpPr>
          <p:cNvPr id="16" name="Shape 14"/>
          <p:cNvSpPr/>
          <p:nvPr/>
        </p:nvSpPr>
        <p:spPr>
          <a:xfrm>
            <a:off x="4572000" y="3886200"/>
            <a:ext cx="2926080" cy="420624"/>
          </a:xfrm>
          <a:prstGeom prst="roundRect">
            <a:avLst>
              <a:gd name="adj" fmla="val 17391"/>
            </a:avLst>
          </a:prstGeom>
          <a:solidFill>
            <a:srgbClr val="E8A33D"/>
          </a:solidFill>
          <a:ln/>
        </p:spPr>
      </p:sp>
      <p:sp>
        <p:nvSpPr>
          <p:cNvPr id="17" name="Shape 15"/>
          <p:cNvSpPr/>
          <p:nvPr/>
        </p:nvSpPr>
        <p:spPr>
          <a:xfrm>
            <a:off x="4572000" y="4096512"/>
            <a:ext cx="2926080" cy="210312"/>
          </a:xfrm>
          <a:prstGeom prst="rect">
            <a:avLst/>
          </a:prstGeom>
          <a:solidFill>
            <a:srgbClr val="E8A33D"/>
          </a:solidFill>
          <a:ln/>
        </p:spPr>
      </p:sp>
      <p:sp>
        <p:nvSpPr>
          <p:cNvPr id="18" name="Text 16"/>
          <p:cNvSpPr txBox="1"/>
          <p:nvPr/>
        </p:nvSpPr>
        <p:spPr>
          <a:xfrm>
            <a:off x="4681728" y="3886200"/>
            <a:ext cx="270662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Manager</a:t>
            </a:r>
            <a:endParaRPr lang="en-US" sz="1800" dirty="0"/>
          </a:p>
        </p:txBody>
      </p:sp>
      <p:sp>
        <p:nvSpPr>
          <p:cNvPr id="19" name="Text 17"/>
          <p:cNvSpPr txBox="1"/>
          <p:nvPr/>
        </p:nvSpPr>
        <p:spPr>
          <a:xfrm>
            <a:off x="4718304" y="4361688"/>
            <a:ext cx="2651760" cy="292608"/>
          </a:xfrm>
          <a:prstGeom prst="rect">
            <a:avLst/>
          </a:prstGeom>
          <a:noFill/>
          <a:ln/>
        </p:spPr>
        <p:txBody>
          <a:bodyPr wrap="square" lIns="0" tIns="0" rIns="0" bIns="0" rtlCol="0" anchor="t"/>
          <a:lstStyle/>
          <a:p>
            <a:pPr indent="0" marL="0">
              <a:lnSpc>
                <a:spcPct val="108000"/>
              </a:lnSpc>
              <a:spcAft>
                <a:spcPts val="100"/>
              </a:spcAft>
              <a:buNone/>
            </a:pPr>
            <a:r>
              <a:rPr lang="en-US" sz="1800" dirty="0">
                <a:solidFill>
                  <a:srgbClr val="1F2429"/>
                </a:solidFill>
                <a:latin typeface="Calibri" pitchFamily="34" charset="0"/>
                <a:ea typeface="Calibri" pitchFamily="34" charset="-122"/>
                <a:cs typeface="Calibri" pitchFamily="34" charset="-120"/>
              </a:rPr>
              <a:t>bonus</a:t>
            </a:r>
            <a:endParaRPr lang="en-US" sz="1800" dirty="0"/>
          </a:p>
        </p:txBody>
      </p:sp>
      <p:sp>
        <p:nvSpPr>
          <p:cNvPr id="20" name="Shape 18"/>
          <p:cNvSpPr/>
          <p:nvPr/>
        </p:nvSpPr>
        <p:spPr>
          <a:xfrm>
            <a:off x="8595360" y="3749040"/>
            <a:ext cx="3017520" cy="1152144"/>
          </a:xfrm>
          <a:prstGeom prst="roundRect">
            <a:avLst>
              <a:gd name="adj" fmla="val 6349"/>
            </a:avLst>
          </a:prstGeom>
          <a:solidFill>
            <a:srgbClr val="FFFFFF"/>
          </a:solidFill>
          <a:ln w="15875">
            <a:solidFill>
              <a:srgbClr val="1F2429"/>
            </a:solidFill>
            <a:prstDash val="solid"/>
          </a:ln>
        </p:spPr>
      </p:sp>
      <p:sp>
        <p:nvSpPr>
          <p:cNvPr id="21" name="Shape 19"/>
          <p:cNvSpPr/>
          <p:nvPr/>
        </p:nvSpPr>
        <p:spPr>
          <a:xfrm>
            <a:off x="8595360" y="3749040"/>
            <a:ext cx="3017520" cy="420624"/>
          </a:xfrm>
          <a:prstGeom prst="roundRect">
            <a:avLst>
              <a:gd name="adj" fmla="val 17391"/>
            </a:avLst>
          </a:prstGeom>
          <a:solidFill>
            <a:srgbClr val="8B7FD9"/>
          </a:solidFill>
          <a:ln/>
        </p:spPr>
      </p:sp>
      <p:sp>
        <p:nvSpPr>
          <p:cNvPr id="22" name="Shape 20"/>
          <p:cNvSpPr/>
          <p:nvPr/>
        </p:nvSpPr>
        <p:spPr>
          <a:xfrm>
            <a:off x="8595360" y="3959352"/>
            <a:ext cx="3017520" cy="210312"/>
          </a:xfrm>
          <a:prstGeom prst="rect">
            <a:avLst/>
          </a:prstGeom>
          <a:solidFill>
            <a:srgbClr val="8B7FD9"/>
          </a:solidFill>
          <a:ln/>
        </p:spPr>
      </p:sp>
      <p:sp>
        <p:nvSpPr>
          <p:cNvPr id="23" name="Text 21"/>
          <p:cNvSpPr txBox="1"/>
          <p:nvPr/>
        </p:nvSpPr>
        <p:spPr>
          <a:xfrm>
            <a:off x="8705088" y="3749040"/>
            <a:ext cx="279806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Technician (NEW)</a:t>
            </a:r>
            <a:endParaRPr lang="en-US" sz="1800" dirty="0"/>
          </a:p>
        </p:txBody>
      </p:sp>
      <p:sp>
        <p:nvSpPr>
          <p:cNvPr id="24" name="Text 22"/>
          <p:cNvSpPr txBox="1"/>
          <p:nvPr/>
        </p:nvSpPr>
        <p:spPr>
          <a:xfrm>
            <a:off x="8741664" y="4224528"/>
            <a:ext cx="2743200" cy="585216"/>
          </a:xfrm>
          <a:prstGeom prst="rect">
            <a:avLst/>
          </a:prstGeom>
          <a:noFill/>
          <a:ln/>
        </p:spPr>
        <p:txBody>
          <a:bodyPr wrap="square" lIns="0" tIns="0" rIns="0" bIns="0" rtlCol="0" anchor="t"/>
          <a:lstStyle/>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tradeSpecialty</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certificationNo</a:t>
            </a:r>
            <a:endParaRPr lang="en-US" sz="1400" dirty="0"/>
          </a:p>
        </p:txBody>
      </p:sp>
      <p:sp>
        <p:nvSpPr>
          <p:cNvPr id="25" name="Shape 23"/>
          <p:cNvSpPr/>
          <p:nvPr/>
        </p:nvSpPr>
        <p:spPr>
          <a:xfrm>
            <a:off x="2926080" y="3017520"/>
            <a:ext cx="2011680" cy="868680"/>
          </a:xfrm>
          <a:prstGeom prst="line">
            <a:avLst/>
          </a:prstGeom>
          <a:noFill/>
          <a:ln w="22225">
            <a:solidFill>
              <a:srgbClr val="9AA1A9"/>
            </a:solidFill>
            <a:prstDash val="solid"/>
            <a:tailEnd type="none"/>
          </a:ln>
        </p:spPr>
      </p:sp>
      <p:sp>
        <p:nvSpPr>
          <p:cNvPr id="26" name="Shape 24"/>
          <p:cNvSpPr/>
          <p:nvPr/>
        </p:nvSpPr>
        <p:spPr>
          <a:xfrm>
            <a:off x="5760720" y="3017520"/>
            <a:ext cx="9144" cy="868680"/>
          </a:xfrm>
          <a:prstGeom prst="line">
            <a:avLst/>
          </a:prstGeom>
          <a:noFill/>
          <a:ln w="22225">
            <a:solidFill>
              <a:srgbClr val="9AA1A9"/>
            </a:solidFill>
            <a:prstDash val="solid"/>
            <a:tailEnd type="none"/>
          </a:ln>
        </p:spPr>
      </p:sp>
      <p:sp>
        <p:nvSpPr>
          <p:cNvPr id="27" name="Shape 25"/>
          <p:cNvSpPr/>
          <p:nvPr/>
        </p:nvSpPr>
        <p:spPr>
          <a:xfrm>
            <a:off x="6949440" y="3017520"/>
            <a:ext cx="2743200" cy="731520"/>
          </a:xfrm>
          <a:prstGeom prst="line">
            <a:avLst/>
          </a:prstGeom>
          <a:noFill/>
          <a:ln w="22225">
            <a:solidFill>
              <a:srgbClr val="9AA1A9"/>
            </a:solidFill>
            <a:prstDash val="solid"/>
            <a:tailEnd type="none"/>
          </a:ln>
        </p:spPr>
      </p:sp>
      <p:sp>
        <p:nvSpPr>
          <p:cNvPr id="28" name="Shape 26"/>
          <p:cNvSpPr/>
          <p:nvPr/>
        </p:nvSpPr>
        <p:spPr>
          <a:xfrm>
            <a:off x="640080" y="5257800"/>
            <a:ext cx="10911535" cy="1051560"/>
          </a:xfrm>
          <a:prstGeom prst="roundRect">
            <a:avLst>
              <a:gd name="adj" fmla="val 6087"/>
            </a:avLst>
          </a:prstGeom>
          <a:solidFill>
            <a:srgbClr val="E9F9F3"/>
          </a:solidFill>
          <a:ln w="12700">
            <a:solidFill>
              <a:srgbClr val="1FAE8C"/>
            </a:solidFill>
            <a:prstDash val="solid"/>
          </a:ln>
        </p:spPr>
      </p:sp>
      <p:sp>
        <p:nvSpPr>
          <p:cNvPr id="29" name="Text 27"/>
          <p:cNvSpPr txBox="1"/>
          <p:nvPr/>
        </p:nvSpPr>
        <p:spPr>
          <a:xfrm>
            <a:off x="896112" y="5404104"/>
            <a:ext cx="10399471" cy="274320"/>
          </a:xfrm>
          <a:prstGeom prst="rect">
            <a:avLst/>
          </a:prstGeom>
          <a:noFill/>
          <a:ln/>
        </p:spPr>
        <p:txBody>
          <a:bodyPr wrap="square" lIns="0" tIns="0" rIns="0" bIns="0" rtlCol="0" anchor="ctr"/>
          <a:lstStyle/>
          <a:p>
            <a:pPr indent="0" marL="0">
              <a:buNone/>
            </a:pPr>
            <a:r>
              <a:rPr lang="en-US" sz="1200" b="1" spc="200" kern="0" dirty="0">
                <a:solidFill>
                  <a:srgbClr val="0E7A61"/>
                </a:solidFill>
                <a:latin typeface="Calibri" pitchFamily="34" charset="0"/>
                <a:ea typeface="Calibri" pitchFamily="34" charset="-122"/>
                <a:cs typeface="Calibri" pitchFamily="34" charset="-120"/>
              </a:rPr>
              <a:t>RE-CHECKING BOTH ANSWERS AFTER GROWTH</a:t>
            </a:r>
            <a:endParaRPr lang="en-US" sz="1200" dirty="0"/>
          </a:p>
        </p:txBody>
      </p:sp>
      <p:sp>
        <p:nvSpPr>
          <p:cNvPr id="30" name="Text 28"/>
          <p:cNvSpPr txBox="1"/>
          <p:nvPr/>
        </p:nvSpPr>
        <p:spPr>
          <a:xfrm>
            <a:off x="896112" y="5733288"/>
            <a:ext cx="10399471" cy="41148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Q1 stays disjoint and Q2 stays partial: both judge each subclass against the WHOLE superclass. Re-check when a hierarchy grows.</a:t>
            </a:r>
            <a:endParaRPr lang="en-US" sz="1800" dirty="0"/>
          </a:p>
        </p:txBody>
      </p:sp>
      <p:sp>
        <p:nvSpPr>
          <p:cNvPr id="31" name="Text 29"/>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TESTING THE CONSTRAINT AGAINST DATA</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Contrast: What If It Were Overlapping?</a:t>
            </a:r>
            <a:endParaRPr lang="en-US" sz="2600" dirty="0"/>
          </a:p>
        </p:txBody>
      </p:sp>
      <p:sp>
        <p:nvSpPr>
          <p:cNvPr id="4" name="Text 2"/>
          <p:cNvSpPr txBox="1"/>
          <p:nvPr/>
        </p:nvSpPr>
        <p:spPr>
          <a:xfrm>
            <a:off x="640080" y="1463040"/>
            <a:ext cx="10911535" cy="54864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Suppose S009 is promoted to Manager but keeps her sales targets and carAllowance.</a:t>
            </a:r>
            <a:endParaRPr lang="en-US" sz="1800" dirty="0"/>
          </a:p>
        </p:txBody>
      </p:sp>
      <p:sp>
        <p:nvSpPr>
          <p:cNvPr id="5" name="Shape 3"/>
          <p:cNvSpPr/>
          <p:nvPr/>
        </p:nvSpPr>
        <p:spPr>
          <a:xfrm>
            <a:off x="640080" y="2240280"/>
            <a:ext cx="5212080" cy="3017520"/>
          </a:xfrm>
          <a:prstGeom prst="roundRect">
            <a:avLst>
              <a:gd name="adj" fmla="val 2424"/>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6" name="Text 4"/>
          <p:cNvSpPr txBox="1"/>
          <p:nvPr/>
        </p:nvSpPr>
        <p:spPr>
          <a:xfrm>
            <a:off x="868680" y="2377440"/>
            <a:ext cx="4754880" cy="411480"/>
          </a:xfrm>
          <a:prstGeom prst="rect">
            <a:avLst/>
          </a:prstGeom>
          <a:noFill/>
          <a:ln/>
        </p:spPr>
        <p:txBody>
          <a:bodyPr wrap="square" lIns="0" tIns="0" rIns="0" bIns="0" rtlCol="0" anchor="ctr"/>
          <a:lstStyle/>
          <a:p>
            <a:pPr indent="0" marL="0">
              <a:buNone/>
            </a:pPr>
            <a:r>
              <a:rPr lang="en-US" sz="1800" b="1" dirty="0">
                <a:solidFill>
                  <a:srgbClr val="B03A2E"/>
                </a:solidFill>
                <a:latin typeface="Calibri" pitchFamily="34" charset="0"/>
                <a:ea typeface="Calibri" pitchFamily="34" charset="-122"/>
                <a:cs typeface="Calibri" pitchFamily="34" charset="-120"/>
              </a:rPr>
              <a:t>Under disjoint (current design)</a:t>
            </a:r>
            <a:endParaRPr lang="en-US" sz="1800" dirty="0"/>
          </a:p>
        </p:txBody>
      </p:sp>
      <p:sp>
        <p:nvSpPr>
          <p:cNvPr id="7" name="Text 5"/>
          <p:cNvSpPr txBox="1"/>
          <p:nvPr/>
        </p:nvSpPr>
        <p:spPr>
          <a:xfrm>
            <a:off x="868680" y="2926080"/>
            <a:ext cx="4754880" cy="219456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S009 may appear in one subclass, never both.</a:t>
            </a:r>
            <a:endParaRPr lang="en-US" sz="1800" dirty="0"/>
          </a:p>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She must lose her sales data or her bonus.</a:t>
            </a:r>
            <a:endParaRPr lang="en-US" sz="1800" dirty="0"/>
          </a:p>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True, still-current data is silently dropped.</a:t>
            </a:r>
            <a:endParaRPr lang="en-US" sz="1800" dirty="0"/>
          </a:p>
        </p:txBody>
      </p:sp>
      <p:sp>
        <p:nvSpPr>
          <p:cNvPr id="8" name="Shape 6"/>
          <p:cNvSpPr/>
          <p:nvPr/>
        </p:nvSpPr>
        <p:spPr>
          <a:xfrm>
            <a:off x="6126480" y="2240280"/>
            <a:ext cx="5212080" cy="3017520"/>
          </a:xfrm>
          <a:prstGeom prst="roundRect">
            <a:avLst>
              <a:gd name="adj" fmla="val 2424"/>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6355080" y="2377440"/>
            <a:ext cx="4754880" cy="411480"/>
          </a:xfrm>
          <a:prstGeom prst="rect">
            <a:avLst/>
          </a:prstGeom>
          <a:noFill/>
          <a:ln/>
        </p:spPr>
        <p:txBody>
          <a:bodyPr wrap="square" lIns="0" tIns="0" rIns="0" bIns="0" rtlCol="0" anchor="ctr"/>
          <a:lstStyle/>
          <a:p>
            <a:pPr indent="0" marL="0">
              <a:buNone/>
            </a:pPr>
            <a:r>
              <a:rPr lang="en-US" sz="1800" b="1" dirty="0">
                <a:solidFill>
                  <a:srgbClr val="0E7A61"/>
                </a:solidFill>
                <a:latin typeface="Calibri" pitchFamily="34" charset="0"/>
                <a:ea typeface="Calibri" pitchFamily="34" charset="-122"/>
                <a:cs typeface="Calibri" pitchFamily="34" charset="-120"/>
              </a:rPr>
              <a:t>Under overlapping (the fix)</a:t>
            </a:r>
            <a:endParaRPr lang="en-US" sz="1800" dirty="0"/>
          </a:p>
        </p:txBody>
      </p:sp>
      <p:sp>
        <p:nvSpPr>
          <p:cNvPr id="10" name="Text 8"/>
          <p:cNvSpPr txBox="1"/>
          <p:nvPr/>
        </p:nvSpPr>
        <p:spPr>
          <a:xfrm>
            <a:off x="6355080" y="2926080"/>
            <a:ext cx="4754880" cy="219456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S009 sits in BOTH subclasses, one shared staffNo.</a:t>
            </a:r>
            <a:endParaRPr lang="en-US" sz="1800" dirty="0"/>
          </a:p>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Her sales data and her bonus are both kept.</a:t>
            </a:r>
            <a:endParaRPr lang="en-US" sz="1800" dirty="0"/>
          </a:p>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Queries must handle staff with two roles.</a:t>
            </a:r>
            <a:endParaRPr lang="en-US" sz="1800" dirty="0"/>
          </a:p>
        </p:txBody>
      </p:sp>
      <p:sp>
        <p:nvSpPr>
          <p:cNvPr id="11" name="Shape 9"/>
          <p:cNvSpPr/>
          <p:nvPr/>
        </p:nvSpPr>
        <p:spPr>
          <a:xfrm>
            <a:off x="640080" y="5440680"/>
            <a:ext cx="10911535" cy="1005840"/>
          </a:xfrm>
          <a:prstGeom prst="roundRect">
            <a:avLst>
              <a:gd name="adj" fmla="val 6364"/>
            </a:avLst>
          </a:prstGeom>
          <a:solidFill>
            <a:srgbClr val="FCF1E3"/>
          </a:solidFill>
          <a:ln w="12700">
            <a:solidFill>
              <a:srgbClr val="E8A33D"/>
            </a:solidFill>
            <a:prstDash val="solid"/>
          </a:ln>
        </p:spPr>
      </p:sp>
      <p:sp>
        <p:nvSpPr>
          <p:cNvPr id="12" name="Text 10"/>
          <p:cNvSpPr txBox="1"/>
          <p:nvPr/>
        </p:nvSpPr>
        <p:spPr>
          <a:xfrm>
            <a:off x="896112" y="5586984"/>
            <a:ext cx="10399471" cy="274320"/>
          </a:xfrm>
          <a:prstGeom prst="rect">
            <a:avLst/>
          </a:prstGeom>
          <a:noFill/>
          <a:ln/>
        </p:spPr>
        <p:txBody>
          <a:bodyPr wrap="square" lIns="0" tIns="0" rIns="0" bIns="0" rtlCol="0" anchor="ctr"/>
          <a:lstStyle/>
          <a:p>
            <a:pPr indent="0" marL="0">
              <a:buNone/>
            </a:pPr>
            <a:r>
              <a:rPr lang="en-US" sz="1200" b="1" spc="200" kern="0" dirty="0">
                <a:solidFill>
                  <a:srgbClr val="8A5A12"/>
                </a:solidFill>
                <a:latin typeface="Calibri" pitchFamily="34" charset="0"/>
                <a:ea typeface="Calibri" pitchFamily="34" charset="-122"/>
                <a:cs typeface="Calibri" pitchFamily="34" charset="-120"/>
              </a:rPr>
              <a:t>THE GENERAL LESSON</a:t>
            </a:r>
            <a:endParaRPr lang="en-US" sz="1200" dirty="0"/>
          </a:p>
        </p:txBody>
      </p:sp>
      <p:sp>
        <p:nvSpPr>
          <p:cNvPr id="13" name="Text 11"/>
          <p:cNvSpPr txBox="1"/>
          <p:nvPr/>
        </p:nvSpPr>
        <p:spPr>
          <a:xfrm>
            <a:off x="896112" y="5916168"/>
            <a:ext cx="10399471" cy="36576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Choose the constraint that a concrete scenario does not break, not the one that is simpler to draw.</a:t>
            </a:r>
            <a:endParaRPr lang="en-US" sz="1800" dirty="0"/>
          </a:p>
        </p:txBody>
      </p:sp>
      <p:sp>
        <p:nvSpPr>
          <p:cNvPr id="14" name="Text 12"/>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A RELATIONSHIP, TREATED AS A PARTICIPANT</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Aggregation</a:t>
            </a:r>
            <a:endParaRPr lang="en-US" sz="2600" dirty="0"/>
          </a:p>
        </p:txBody>
      </p:sp>
      <p:sp>
        <p:nvSpPr>
          <p:cNvPr id="4" name="Text 2"/>
          <p:cNvSpPr txBox="1"/>
          <p:nvPr/>
        </p:nvSpPr>
        <p:spPr>
          <a:xfrm>
            <a:off x="640080" y="1463040"/>
            <a:ext cx="10911535" cy="73152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Aggregation models a “has-a” relationship AT THE RELATIONSHIP LEVEL — a relationship between two entity types must itself participate, as a whole, in a relationship with a third entity type.</a:t>
            </a:r>
            <a:endParaRPr lang="en-US" sz="1800" dirty="0"/>
          </a:p>
        </p:txBody>
      </p:sp>
      <p:sp>
        <p:nvSpPr>
          <p:cNvPr id="5" name="Shape 3"/>
          <p:cNvSpPr/>
          <p:nvPr/>
        </p:nvSpPr>
        <p:spPr>
          <a:xfrm>
            <a:off x="640080" y="2331720"/>
            <a:ext cx="2560320" cy="859536"/>
          </a:xfrm>
          <a:prstGeom prst="roundRect">
            <a:avLst>
              <a:gd name="adj" fmla="val 8511"/>
            </a:avLst>
          </a:prstGeom>
          <a:solidFill>
            <a:srgbClr val="FFFFFF"/>
          </a:solidFill>
          <a:ln w="15875">
            <a:solidFill>
              <a:srgbClr val="1F2429"/>
            </a:solidFill>
            <a:prstDash val="solid"/>
          </a:ln>
        </p:spPr>
      </p:sp>
      <p:sp>
        <p:nvSpPr>
          <p:cNvPr id="6" name="Shape 4"/>
          <p:cNvSpPr/>
          <p:nvPr/>
        </p:nvSpPr>
        <p:spPr>
          <a:xfrm>
            <a:off x="640080" y="2331720"/>
            <a:ext cx="2560320" cy="420624"/>
          </a:xfrm>
          <a:prstGeom prst="roundRect">
            <a:avLst>
              <a:gd name="adj" fmla="val 17391"/>
            </a:avLst>
          </a:prstGeom>
          <a:solidFill>
            <a:srgbClr val="2FE6C4"/>
          </a:solidFill>
          <a:ln/>
        </p:spPr>
      </p:sp>
      <p:sp>
        <p:nvSpPr>
          <p:cNvPr id="7" name="Shape 5"/>
          <p:cNvSpPr/>
          <p:nvPr/>
        </p:nvSpPr>
        <p:spPr>
          <a:xfrm>
            <a:off x="640080" y="2542032"/>
            <a:ext cx="2560320" cy="210312"/>
          </a:xfrm>
          <a:prstGeom prst="rect">
            <a:avLst/>
          </a:prstGeom>
          <a:solidFill>
            <a:srgbClr val="2FE6C4"/>
          </a:solidFill>
          <a:ln/>
        </p:spPr>
      </p:sp>
      <p:sp>
        <p:nvSpPr>
          <p:cNvPr id="8" name="Text 6"/>
          <p:cNvSpPr txBox="1"/>
          <p:nvPr/>
        </p:nvSpPr>
        <p:spPr>
          <a:xfrm>
            <a:off x="749808" y="2331720"/>
            <a:ext cx="234086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Staff</a:t>
            </a:r>
            <a:endParaRPr lang="en-US" sz="1800" dirty="0"/>
          </a:p>
        </p:txBody>
      </p:sp>
      <p:sp>
        <p:nvSpPr>
          <p:cNvPr id="9" name="Text 7"/>
          <p:cNvSpPr txBox="1"/>
          <p:nvPr/>
        </p:nvSpPr>
        <p:spPr>
          <a:xfrm>
            <a:off x="786384" y="2807208"/>
            <a:ext cx="228600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staffNo</a:t>
            </a:r>
            <a:endParaRPr lang="en-US" sz="1800" dirty="0"/>
          </a:p>
        </p:txBody>
      </p:sp>
      <p:sp>
        <p:nvSpPr>
          <p:cNvPr id="10" name="Shape 8"/>
          <p:cNvSpPr/>
          <p:nvPr/>
        </p:nvSpPr>
        <p:spPr>
          <a:xfrm>
            <a:off x="5669280" y="2331720"/>
            <a:ext cx="2651760" cy="859536"/>
          </a:xfrm>
          <a:prstGeom prst="roundRect">
            <a:avLst>
              <a:gd name="adj" fmla="val 8511"/>
            </a:avLst>
          </a:prstGeom>
          <a:solidFill>
            <a:srgbClr val="FFFFFF"/>
          </a:solidFill>
          <a:ln w="15875">
            <a:solidFill>
              <a:srgbClr val="1F2429"/>
            </a:solidFill>
            <a:prstDash val="solid"/>
          </a:ln>
        </p:spPr>
      </p:sp>
      <p:sp>
        <p:nvSpPr>
          <p:cNvPr id="11" name="Shape 9"/>
          <p:cNvSpPr/>
          <p:nvPr/>
        </p:nvSpPr>
        <p:spPr>
          <a:xfrm>
            <a:off x="5669280" y="2331720"/>
            <a:ext cx="2651760" cy="420624"/>
          </a:xfrm>
          <a:prstGeom prst="roundRect">
            <a:avLst>
              <a:gd name="adj" fmla="val 17391"/>
            </a:avLst>
          </a:prstGeom>
          <a:solidFill>
            <a:srgbClr val="E8A33D"/>
          </a:solidFill>
          <a:ln/>
        </p:spPr>
      </p:sp>
      <p:sp>
        <p:nvSpPr>
          <p:cNvPr id="12" name="Shape 10"/>
          <p:cNvSpPr/>
          <p:nvPr/>
        </p:nvSpPr>
        <p:spPr>
          <a:xfrm>
            <a:off x="5669280" y="2542032"/>
            <a:ext cx="2651760" cy="210312"/>
          </a:xfrm>
          <a:prstGeom prst="rect">
            <a:avLst/>
          </a:prstGeom>
          <a:solidFill>
            <a:srgbClr val="E8A33D"/>
          </a:solidFill>
          <a:ln/>
        </p:spPr>
      </p:sp>
      <p:sp>
        <p:nvSpPr>
          <p:cNvPr id="13" name="Text 11"/>
          <p:cNvSpPr txBox="1"/>
          <p:nvPr/>
        </p:nvSpPr>
        <p:spPr>
          <a:xfrm>
            <a:off x="5779008" y="2331720"/>
            <a:ext cx="24323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PropertyForRent</a:t>
            </a:r>
            <a:endParaRPr lang="en-US" sz="1800" dirty="0"/>
          </a:p>
        </p:txBody>
      </p:sp>
      <p:sp>
        <p:nvSpPr>
          <p:cNvPr id="14" name="Text 12"/>
          <p:cNvSpPr txBox="1"/>
          <p:nvPr/>
        </p:nvSpPr>
        <p:spPr>
          <a:xfrm>
            <a:off x="5815584" y="2807208"/>
            <a:ext cx="237744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propertyNo</a:t>
            </a:r>
            <a:endParaRPr lang="en-US" sz="1800" dirty="0"/>
          </a:p>
        </p:txBody>
      </p:sp>
      <p:sp>
        <p:nvSpPr>
          <p:cNvPr id="15" name="Shape 13"/>
          <p:cNvSpPr/>
          <p:nvPr/>
        </p:nvSpPr>
        <p:spPr>
          <a:xfrm>
            <a:off x="3200400" y="2697480"/>
            <a:ext cx="2468880" cy="9144"/>
          </a:xfrm>
          <a:prstGeom prst="line">
            <a:avLst/>
          </a:prstGeom>
          <a:noFill/>
          <a:ln w="22225">
            <a:solidFill>
              <a:srgbClr val="9AA1A9"/>
            </a:solidFill>
            <a:prstDash val="solid"/>
          </a:ln>
        </p:spPr>
      </p:sp>
      <p:sp>
        <p:nvSpPr>
          <p:cNvPr id="16" name="Text 14"/>
          <p:cNvSpPr txBox="1"/>
          <p:nvPr/>
        </p:nvSpPr>
        <p:spPr>
          <a:xfrm>
            <a:off x="3749040" y="2313432"/>
            <a:ext cx="1371600" cy="274320"/>
          </a:xfrm>
          <a:prstGeom prst="rect">
            <a:avLst/>
          </a:prstGeom>
          <a:solidFill>
            <a:srgbClr val="F7F8F9"/>
          </a:solidFill>
          <a:ln/>
        </p:spPr>
        <p:txBody>
          <a:bodyPr wrap="square" lIns="0" tIns="0" rIns="0" bIns="0" rtlCol="0" anchor="ctr"/>
          <a:lstStyle/>
          <a:p>
            <a:pPr algn="ctr" indent="0" marL="0">
              <a:buNone/>
            </a:pPr>
            <a:r>
              <a:rPr lang="en-US" sz="1800" i="1" dirty="0">
                <a:solidFill>
                  <a:srgbClr val="1F2429"/>
                </a:solidFill>
                <a:latin typeface="Calibri" pitchFamily="34" charset="0"/>
                <a:ea typeface="Calibri" pitchFamily="34" charset="-122"/>
                <a:cs typeface="Calibri" pitchFamily="34" charset="-120"/>
              </a:rPr>
              <a:t>Manages</a:t>
            </a:r>
            <a:endParaRPr lang="en-US" sz="1800" dirty="0"/>
          </a:p>
        </p:txBody>
      </p:sp>
      <p:sp>
        <p:nvSpPr>
          <p:cNvPr id="17" name="Shape 15"/>
          <p:cNvSpPr/>
          <p:nvPr/>
        </p:nvSpPr>
        <p:spPr>
          <a:xfrm>
            <a:off x="3886200" y="2514600"/>
            <a:ext cx="274320" cy="274320"/>
          </a:xfrm>
          <a:prstGeom prst="ellipse">
            <a:avLst/>
          </a:prstGeom>
          <a:solidFill>
            <a:srgbClr val="2FE6C4"/>
          </a:solidFill>
          <a:ln/>
        </p:spPr>
      </p:sp>
      <p:sp>
        <p:nvSpPr>
          <p:cNvPr id="18" name="Text 16"/>
          <p:cNvSpPr txBox="1"/>
          <p:nvPr/>
        </p:nvSpPr>
        <p:spPr>
          <a:xfrm>
            <a:off x="3886200" y="251460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1</a:t>
            </a:r>
            <a:endParaRPr lang="en-US" sz="1200" dirty="0"/>
          </a:p>
        </p:txBody>
      </p:sp>
      <p:sp>
        <p:nvSpPr>
          <p:cNvPr id="19" name="Shape 17"/>
          <p:cNvSpPr/>
          <p:nvPr/>
        </p:nvSpPr>
        <p:spPr>
          <a:xfrm>
            <a:off x="4709160" y="2514600"/>
            <a:ext cx="274320" cy="274320"/>
          </a:xfrm>
          <a:prstGeom prst="ellipse">
            <a:avLst/>
          </a:prstGeom>
          <a:solidFill>
            <a:srgbClr val="E8A33D"/>
          </a:solidFill>
          <a:ln/>
        </p:spPr>
      </p:sp>
      <p:sp>
        <p:nvSpPr>
          <p:cNvPr id="20" name="Text 18"/>
          <p:cNvSpPr txBox="1"/>
          <p:nvPr/>
        </p:nvSpPr>
        <p:spPr>
          <a:xfrm>
            <a:off x="4709160" y="251460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N</a:t>
            </a:r>
            <a:endParaRPr lang="en-US" sz="1200" dirty="0"/>
          </a:p>
        </p:txBody>
      </p:sp>
      <p:sp>
        <p:nvSpPr>
          <p:cNvPr id="21" name="Text 19"/>
          <p:cNvSpPr txBox="1"/>
          <p:nvPr/>
        </p:nvSpPr>
        <p:spPr>
          <a:xfrm>
            <a:off x="640080" y="3429000"/>
            <a:ext cx="6858000" cy="320040"/>
          </a:xfrm>
          <a:prstGeom prst="rect">
            <a:avLst/>
          </a:prstGeom>
          <a:noFill/>
          <a:ln/>
        </p:spPr>
        <p:txBody>
          <a:bodyPr wrap="square" lIns="0" tIns="0" rIns="0" bIns="0" rtlCol="0" anchor="ctr"/>
          <a:lstStyle/>
          <a:p>
            <a:pPr indent="0" marL="0">
              <a:buNone/>
            </a:pPr>
            <a:r>
              <a:rPr lang="en-US" sz="1800" i="1" dirty="0">
                <a:solidFill>
                  <a:srgbClr val="6B7280"/>
                </a:solidFill>
                <a:latin typeface="Calibri" pitchFamily="34" charset="0"/>
                <a:ea typeface="Calibri" pitchFamily="34" charset="-122"/>
                <a:cs typeface="Calibri" pitchFamily="34" charset="-120"/>
              </a:rPr>
              <a:t>the Manages relationship, aggregated</a:t>
            </a:r>
            <a:endParaRPr lang="en-US" sz="1800" dirty="0"/>
          </a:p>
        </p:txBody>
      </p:sp>
      <p:sp>
        <p:nvSpPr>
          <p:cNvPr id="22" name="Shape 20"/>
          <p:cNvSpPr/>
          <p:nvPr/>
        </p:nvSpPr>
        <p:spPr>
          <a:xfrm>
            <a:off x="3474720" y="3246120"/>
            <a:ext cx="9144" cy="640080"/>
          </a:xfrm>
          <a:prstGeom prst="line">
            <a:avLst/>
          </a:prstGeom>
          <a:noFill/>
          <a:ln w="31750">
            <a:solidFill>
              <a:srgbClr val="8B7FD9"/>
            </a:solidFill>
            <a:prstDash val="solid"/>
            <a:tailEnd type="triangle"/>
          </a:ln>
        </p:spPr>
      </p:sp>
      <p:sp>
        <p:nvSpPr>
          <p:cNvPr id="23" name="Shape 21"/>
          <p:cNvSpPr/>
          <p:nvPr/>
        </p:nvSpPr>
        <p:spPr>
          <a:xfrm>
            <a:off x="8778240" y="3931920"/>
            <a:ext cx="2743200" cy="859536"/>
          </a:xfrm>
          <a:prstGeom prst="roundRect">
            <a:avLst>
              <a:gd name="adj" fmla="val 8511"/>
            </a:avLst>
          </a:prstGeom>
          <a:solidFill>
            <a:srgbClr val="FFFFFF"/>
          </a:solidFill>
          <a:ln w="15875">
            <a:solidFill>
              <a:srgbClr val="1F2429"/>
            </a:solidFill>
            <a:prstDash val="solid"/>
          </a:ln>
        </p:spPr>
      </p:sp>
      <p:sp>
        <p:nvSpPr>
          <p:cNvPr id="24" name="Shape 22"/>
          <p:cNvSpPr/>
          <p:nvPr/>
        </p:nvSpPr>
        <p:spPr>
          <a:xfrm>
            <a:off x="8778240" y="3931920"/>
            <a:ext cx="2743200" cy="420624"/>
          </a:xfrm>
          <a:prstGeom prst="roundRect">
            <a:avLst>
              <a:gd name="adj" fmla="val 17391"/>
            </a:avLst>
          </a:prstGeom>
          <a:solidFill>
            <a:srgbClr val="8B7FD9"/>
          </a:solidFill>
          <a:ln/>
        </p:spPr>
      </p:sp>
      <p:sp>
        <p:nvSpPr>
          <p:cNvPr id="25" name="Shape 23"/>
          <p:cNvSpPr/>
          <p:nvPr/>
        </p:nvSpPr>
        <p:spPr>
          <a:xfrm>
            <a:off x="8778240" y="4142232"/>
            <a:ext cx="2743200" cy="210312"/>
          </a:xfrm>
          <a:prstGeom prst="rect">
            <a:avLst/>
          </a:prstGeom>
          <a:solidFill>
            <a:srgbClr val="8B7FD9"/>
          </a:solidFill>
          <a:ln/>
        </p:spPr>
      </p:sp>
      <p:sp>
        <p:nvSpPr>
          <p:cNvPr id="26" name="Text 24"/>
          <p:cNvSpPr txBox="1"/>
          <p:nvPr/>
        </p:nvSpPr>
        <p:spPr>
          <a:xfrm>
            <a:off x="8887968" y="3931920"/>
            <a:ext cx="252374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Supervisor</a:t>
            </a:r>
            <a:endParaRPr lang="en-US" sz="1800" dirty="0"/>
          </a:p>
        </p:txBody>
      </p:sp>
      <p:sp>
        <p:nvSpPr>
          <p:cNvPr id="27" name="Text 25"/>
          <p:cNvSpPr txBox="1"/>
          <p:nvPr/>
        </p:nvSpPr>
        <p:spPr>
          <a:xfrm>
            <a:off x="8924544" y="4407408"/>
            <a:ext cx="246888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supervisorNo</a:t>
            </a:r>
            <a:endParaRPr lang="en-US" sz="1800" dirty="0"/>
          </a:p>
        </p:txBody>
      </p:sp>
      <p:sp>
        <p:nvSpPr>
          <p:cNvPr id="28" name="Shape 26"/>
          <p:cNvSpPr/>
          <p:nvPr/>
        </p:nvSpPr>
        <p:spPr>
          <a:xfrm>
            <a:off x="3474720" y="4206240"/>
            <a:ext cx="5303520" cy="9144"/>
          </a:xfrm>
          <a:prstGeom prst="line">
            <a:avLst/>
          </a:prstGeom>
          <a:noFill/>
          <a:ln w="22225">
            <a:solidFill>
              <a:srgbClr val="9AA1A9"/>
            </a:solidFill>
            <a:prstDash val="solid"/>
          </a:ln>
        </p:spPr>
      </p:sp>
      <p:sp>
        <p:nvSpPr>
          <p:cNvPr id="29" name="Text 27"/>
          <p:cNvSpPr txBox="1"/>
          <p:nvPr/>
        </p:nvSpPr>
        <p:spPr>
          <a:xfrm>
            <a:off x="5440680" y="3822192"/>
            <a:ext cx="1371600" cy="274320"/>
          </a:xfrm>
          <a:prstGeom prst="rect">
            <a:avLst/>
          </a:prstGeom>
          <a:solidFill>
            <a:srgbClr val="F7F8F9"/>
          </a:solidFill>
          <a:ln/>
        </p:spPr>
        <p:txBody>
          <a:bodyPr wrap="square" lIns="0" tIns="0" rIns="0" bIns="0" rtlCol="0" anchor="ctr"/>
          <a:lstStyle/>
          <a:p>
            <a:pPr algn="ctr" indent="0" marL="0">
              <a:buNone/>
            </a:pPr>
            <a:r>
              <a:rPr lang="en-US" sz="1800" i="1" dirty="0">
                <a:solidFill>
                  <a:srgbClr val="1F2429"/>
                </a:solidFill>
                <a:latin typeface="Calibri" pitchFamily="34" charset="0"/>
                <a:ea typeface="Calibri" pitchFamily="34" charset="-122"/>
                <a:cs typeface="Calibri" pitchFamily="34" charset="-120"/>
              </a:rPr>
              <a:t>Reviews</a:t>
            </a:r>
            <a:endParaRPr lang="en-US" sz="1800" dirty="0"/>
          </a:p>
        </p:txBody>
      </p:sp>
      <p:sp>
        <p:nvSpPr>
          <p:cNvPr id="30" name="Shape 28"/>
          <p:cNvSpPr/>
          <p:nvPr/>
        </p:nvSpPr>
        <p:spPr>
          <a:xfrm>
            <a:off x="5577840" y="4023360"/>
            <a:ext cx="274320" cy="274320"/>
          </a:xfrm>
          <a:prstGeom prst="ellipse">
            <a:avLst/>
          </a:prstGeom>
          <a:solidFill>
            <a:srgbClr val="2FE6C4"/>
          </a:solidFill>
          <a:ln/>
        </p:spPr>
      </p:sp>
      <p:sp>
        <p:nvSpPr>
          <p:cNvPr id="31" name="Text 29"/>
          <p:cNvSpPr txBox="1"/>
          <p:nvPr/>
        </p:nvSpPr>
        <p:spPr>
          <a:xfrm>
            <a:off x="5577840" y="402336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N</a:t>
            </a:r>
            <a:endParaRPr lang="en-US" sz="1200" dirty="0"/>
          </a:p>
        </p:txBody>
      </p:sp>
      <p:sp>
        <p:nvSpPr>
          <p:cNvPr id="32" name="Shape 30"/>
          <p:cNvSpPr/>
          <p:nvPr/>
        </p:nvSpPr>
        <p:spPr>
          <a:xfrm>
            <a:off x="6400800" y="4023360"/>
            <a:ext cx="274320" cy="274320"/>
          </a:xfrm>
          <a:prstGeom prst="ellipse">
            <a:avLst/>
          </a:prstGeom>
          <a:solidFill>
            <a:srgbClr val="E8A33D"/>
          </a:solidFill>
          <a:ln/>
        </p:spPr>
      </p:sp>
      <p:sp>
        <p:nvSpPr>
          <p:cNvPr id="33" name="Text 31"/>
          <p:cNvSpPr txBox="1"/>
          <p:nvPr/>
        </p:nvSpPr>
        <p:spPr>
          <a:xfrm>
            <a:off x="6400800" y="402336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1</a:t>
            </a:r>
            <a:endParaRPr lang="en-US" sz="1200" dirty="0"/>
          </a:p>
        </p:txBody>
      </p:sp>
      <p:sp>
        <p:nvSpPr>
          <p:cNvPr id="34" name="Shape 32"/>
          <p:cNvSpPr/>
          <p:nvPr/>
        </p:nvSpPr>
        <p:spPr>
          <a:xfrm>
            <a:off x="640080" y="5029200"/>
            <a:ext cx="10911535" cy="1234440"/>
          </a:xfrm>
          <a:prstGeom prst="roundRect">
            <a:avLst>
              <a:gd name="adj" fmla="val 5185"/>
            </a:avLst>
          </a:prstGeom>
          <a:solidFill>
            <a:srgbClr val="EAF1FB"/>
          </a:solidFill>
          <a:ln w="12700">
            <a:solidFill>
              <a:srgbClr val="6C8FD6"/>
            </a:solidFill>
            <a:prstDash val="solid"/>
          </a:ln>
        </p:spPr>
      </p:sp>
      <p:sp>
        <p:nvSpPr>
          <p:cNvPr id="35" name="Text 33"/>
          <p:cNvSpPr txBox="1"/>
          <p:nvPr/>
        </p:nvSpPr>
        <p:spPr>
          <a:xfrm>
            <a:off x="896112" y="5175504"/>
            <a:ext cx="10399471" cy="274320"/>
          </a:xfrm>
          <a:prstGeom prst="rect">
            <a:avLst/>
          </a:prstGeom>
          <a:noFill/>
          <a:ln/>
        </p:spPr>
        <p:txBody>
          <a:bodyPr wrap="square" lIns="0" tIns="0" rIns="0" bIns="0" rtlCol="0" anchor="ctr"/>
          <a:lstStyle/>
          <a:p>
            <a:pPr indent="0" marL="0">
              <a:buNone/>
            </a:pPr>
            <a:r>
              <a:rPr lang="en-US" sz="1200" b="1" spc="200" kern="0" dirty="0">
                <a:solidFill>
                  <a:srgbClr val="2C4A8C"/>
                </a:solidFill>
                <a:latin typeface="Calibri" pitchFamily="34" charset="0"/>
                <a:ea typeface="Calibri" pitchFamily="34" charset="-122"/>
                <a:cs typeface="Calibri" pitchFamily="34" charset="-120"/>
              </a:rPr>
              <a:t>WHY REVIEWS CANNOT ATTACH TO ONE SIDE</a:t>
            </a:r>
            <a:endParaRPr lang="en-US" sz="1200" dirty="0"/>
          </a:p>
        </p:txBody>
      </p:sp>
      <p:sp>
        <p:nvSpPr>
          <p:cNvPr id="36" name="Text 34"/>
          <p:cNvSpPr txBox="1"/>
          <p:nvPr/>
        </p:nvSpPr>
        <p:spPr>
          <a:xfrm>
            <a:off x="896112" y="5504688"/>
            <a:ext cx="10399471" cy="59436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A review is about the PAIRING, not either side alone. Aggregation lets a relationship act as one participant in another.</a:t>
            </a:r>
            <a:endParaRPr lang="en-US" sz="1800" dirty="0"/>
          </a:p>
        </p:txBody>
      </p:sp>
      <p:sp>
        <p:nvSpPr>
          <p:cNvPr id="37" name="Text 35"/>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THE REASONING BEHIND AGGREGATION</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Aggregation: the Wrong Alternative First</a:t>
            </a:r>
            <a:endParaRPr lang="en-US" sz="2600" dirty="0"/>
          </a:p>
        </p:txBody>
      </p:sp>
      <p:sp>
        <p:nvSpPr>
          <p:cNvPr id="4" name="Text 2"/>
          <p:cNvSpPr txBox="1"/>
          <p:nvPr/>
        </p:nvSpPr>
        <p:spPr>
          <a:xfrm>
            <a:off x="640080" y="1463040"/>
            <a:ext cx="10911535" cy="45720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Try the two “obvious” attachments and see where each breaks:</a:t>
            </a:r>
            <a:endParaRPr lang="en-US" sz="1800" dirty="0"/>
          </a:p>
        </p:txBody>
      </p:sp>
      <p:sp>
        <p:nvSpPr>
          <p:cNvPr id="5" name="Shape 3"/>
          <p:cNvSpPr/>
          <p:nvPr/>
        </p:nvSpPr>
        <p:spPr>
          <a:xfrm>
            <a:off x="640080" y="2103120"/>
            <a:ext cx="5212080" cy="2468880"/>
          </a:xfrm>
          <a:prstGeom prst="roundRect">
            <a:avLst>
              <a:gd name="adj" fmla="val 2963"/>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6" name="Text 4"/>
          <p:cNvSpPr txBox="1"/>
          <p:nvPr/>
        </p:nvSpPr>
        <p:spPr>
          <a:xfrm>
            <a:off x="868680" y="2240280"/>
            <a:ext cx="4754880" cy="411480"/>
          </a:xfrm>
          <a:prstGeom prst="rect">
            <a:avLst/>
          </a:prstGeom>
          <a:noFill/>
          <a:ln/>
        </p:spPr>
        <p:txBody>
          <a:bodyPr wrap="square" lIns="0" tIns="0" rIns="0" bIns="0" rtlCol="0" anchor="ctr"/>
          <a:lstStyle/>
          <a:p>
            <a:pPr indent="0" marL="0">
              <a:buNone/>
            </a:pPr>
            <a:r>
              <a:rPr lang="en-US" sz="1800" b="1" dirty="0">
                <a:solidFill>
                  <a:srgbClr val="B03A2E"/>
                </a:solidFill>
                <a:latin typeface="Calibri" pitchFamily="34" charset="0"/>
                <a:ea typeface="Calibri" pitchFamily="34" charset="-122"/>
                <a:cs typeface="Calibri" pitchFamily="34" charset="-120"/>
              </a:rPr>
              <a:t>A: Reviews attaches to Staff</a:t>
            </a:r>
            <a:endParaRPr lang="en-US" sz="1800" dirty="0"/>
          </a:p>
        </p:txBody>
      </p:sp>
      <p:sp>
        <p:nvSpPr>
          <p:cNvPr id="7" name="Text 5"/>
          <p:cNvSpPr txBox="1"/>
          <p:nvPr/>
        </p:nvSpPr>
        <p:spPr>
          <a:xfrm>
            <a:off x="868680" y="2743200"/>
            <a:ext cx="4754880" cy="1737360"/>
          </a:xfrm>
          <a:prstGeom prst="rect">
            <a:avLst/>
          </a:prstGeom>
          <a:noFill/>
          <a:ln/>
        </p:spPr>
        <p:txBody>
          <a:bodyPr wrap="square" lIns="0" tIns="0" rIns="0" bIns="0" rtlCol="0" anchor="t"/>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A review cannot say WHICH property it judged. If SG14 manages PG4 and PG16, both reviews look identical.</a:t>
            </a:r>
            <a:endParaRPr lang="en-US" sz="1800" dirty="0"/>
          </a:p>
        </p:txBody>
      </p:sp>
      <p:sp>
        <p:nvSpPr>
          <p:cNvPr id="8" name="Shape 6"/>
          <p:cNvSpPr/>
          <p:nvPr/>
        </p:nvSpPr>
        <p:spPr>
          <a:xfrm>
            <a:off x="6126480" y="2103120"/>
            <a:ext cx="5212080" cy="2468880"/>
          </a:xfrm>
          <a:prstGeom prst="roundRect">
            <a:avLst>
              <a:gd name="adj" fmla="val 2963"/>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6355080" y="2240280"/>
            <a:ext cx="4754880" cy="411480"/>
          </a:xfrm>
          <a:prstGeom prst="rect">
            <a:avLst/>
          </a:prstGeom>
          <a:noFill/>
          <a:ln/>
        </p:spPr>
        <p:txBody>
          <a:bodyPr wrap="square" lIns="0" tIns="0" rIns="0" bIns="0" rtlCol="0" anchor="ctr"/>
          <a:lstStyle/>
          <a:p>
            <a:pPr indent="0" marL="0">
              <a:buNone/>
            </a:pPr>
            <a:r>
              <a:rPr lang="en-US" sz="1800" b="1" dirty="0">
                <a:solidFill>
                  <a:srgbClr val="B03A2E"/>
                </a:solidFill>
                <a:latin typeface="Calibri" pitchFamily="34" charset="0"/>
                <a:ea typeface="Calibri" pitchFamily="34" charset="-122"/>
                <a:cs typeface="Calibri" pitchFamily="34" charset="-120"/>
              </a:rPr>
              <a:t>B: Reviews attaches to property</a:t>
            </a:r>
            <a:endParaRPr lang="en-US" sz="1800" dirty="0"/>
          </a:p>
        </p:txBody>
      </p:sp>
      <p:sp>
        <p:nvSpPr>
          <p:cNvPr id="10" name="Text 8"/>
          <p:cNvSpPr txBox="1"/>
          <p:nvPr/>
        </p:nvSpPr>
        <p:spPr>
          <a:xfrm>
            <a:off x="6355080" y="2743200"/>
            <a:ext cx="4754880" cy="1737360"/>
          </a:xfrm>
          <a:prstGeom prst="rect">
            <a:avLst/>
          </a:prstGeom>
          <a:noFill/>
          <a:ln/>
        </p:spPr>
        <p:txBody>
          <a:bodyPr wrap="square" lIns="0" tIns="0" rIns="0" bIns="0" rtlCol="0" anchor="t"/>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A review cannot say WHOSE management it judged. After a handover from SG14 to SG37, old reviews are ambiguous.</a:t>
            </a:r>
            <a:endParaRPr lang="en-US" sz="1800" dirty="0"/>
          </a:p>
        </p:txBody>
      </p:sp>
      <p:sp>
        <p:nvSpPr>
          <p:cNvPr id="11" name="Shape 9"/>
          <p:cNvSpPr/>
          <p:nvPr/>
        </p:nvSpPr>
        <p:spPr>
          <a:xfrm>
            <a:off x="640080" y="4846320"/>
            <a:ext cx="10911535" cy="1325880"/>
          </a:xfrm>
          <a:prstGeom prst="roundRect">
            <a:avLst>
              <a:gd name="adj" fmla="val 4828"/>
            </a:avLst>
          </a:prstGeom>
          <a:solidFill>
            <a:srgbClr val="E9F9F3"/>
          </a:solidFill>
          <a:ln w="12700">
            <a:solidFill>
              <a:srgbClr val="1FAE8C"/>
            </a:solidFill>
            <a:prstDash val="solid"/>
          </a:ln>
        </p:spPr>
      </p:sp>
      <p:sp>
        <p:nvSpPr>
          <p:cNvPr id="12" name="Text 10"/>
          <p:cNvSpPr txBox="1"/>
          <p:nvPr/>
        </p:nvSpPr>
        <p:spPr>
          <a:xfrm>
            <a:off x="896112" y="4992624"/>
            <a:ext cx="10399471" cy="274320"/>
          </a:xfrm>
          <a:prstGeom prst="rect">
            <a:avLst/>
          </a:prstGeom>
          <a:noFill/>
          <a:ln/>
        </p:spPr>
        <p:txBody>
          <a:bodyPr wrap="square" lIns="0" tIns="0" rIns="0" bIns="0" rtlCol="0" anchor="ctr"/>
          <a:lstStyle/>
          <a:p>
            <a:pPr indent="0" marL="0">
              <a:buNone/>
            </a:pPr>
            <a:r>
              <a:rPr lang="en-US" sz="1200" b="1" spc="200" kern="0" dirty="0">
                <a:solidFill>
                  <a:srgbClr val="0E7A61"/>
                </a:solidFill>
                <a:latin typeface="Calibri" pitchFamily="34" charset="0"/>
                <a:ea typeface="Calibri" pitchFamily="34" charset="-122"/>
                <a:cs typeface="Calibri" pitchFamily="34" charset="-120"/>
              </a:rPr>
              <a:t>WHY BOTH ATTEMPTS LOSE INFORMATION</a:t>
            </a:r>
            <a:endParaRPr lang="en-US" sz="1200" dirty="0"/>
          </a:p>
        </p:txBody>
      </p:sp>
      <p:sp>
        <p:nvSpPr>
          <p:cNvPr id="13" name="Text 11"/>
          <p:cNvSpPr txBox="1"/>
          <p:nvPr/>
        </p:nvSpPr>
        <p:spPr>
          <a:xfrm>
            <a:off x="896112" y="5321808"/>
            <a:ext cx="10399471" cy="68580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Both fail the same way: a review is about the PAIRING, and neither side alone holds it. Aggregation attaches the review to the pairing itself.</a:t>
            </a:r>
            <a:endParaRPr lang="en-US" sz="1800" dirty="0"/>
          </a:p>
        </p:txBody>
      </p:sp>
      <p:sp>
        <p:nvSpPr>
          <p:cNvPr id="14" name="Text 12"/>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AGGREGATION'S STRONGER COUSIN</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Composition</a:t>
            </a:r>
            <a:endParaRPr lang="en-US" sz="2600" dirty="0"/>
          </a:p>
        </p:txBody>
      </p:sp>
      <p:sp>
        <p:nvSpPr>
          <p:cNvPr id="4" name="Text 2"/>
          <p:cNvSpPr txBox="1"/>
          <p:nvPr/>
        </p:nvSpPr>
        <p:spPr>
          <a:xfrm>
            <a:off x="640080" y="1463040"/>
            <a:ext cx="10911535" cy="73152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Composition is a whole-part relationship where the part has NO INDEPENDENT EXISTENCE apart from the whole — and a part typically belongs to exactly one whole at a time.</a:t>
            </a:r>
            <a:endParaRPr lang="en-US" sz="1800" dirty="0"/>
          </a:p>
        </p:txBody>
      </p:sp>
      <p:sp>
        <p:nvSpPr>
          <p:cNvPr id="5" name="Shape 3"/>
          <p:cNvSpPr/>
          <p:nvPr/>
        </p:nvSpPr>
        <p:spPr>
          <a:xfrm>
            <a:off x="640080" y="2377440"/>
            <a:ext cx="2926080" cy="1444752"/>
          </a:xfrm>
          <a:prstGeom prst="roundRect">
            <a:avLst>
              <a:gd name="adj" fmla="val 5063"/>
            </a:avLst>
          </a:prstGeom>
          <a:solidFill>
            <a:srgbClr val="FFFFFF"/>
          </a:solidFill>
          <a:ln w="15875">
            <a:solidFill>
              <a:srgbClr val="1F2429"/>
            </a:solidFill>
            <a:prstDash val="solid"/>
          </a:ln>
        </p:spPr>
      </p:sp>
      <p:sp>
        <p:nvSpPr>
          <p:cNvPr id="6" name="Shape 4"/>
          <p:cNvSpPr/>
          <p:nvPr/>
        </p:nvSpPr>
        <p:spPr>
          <a:xfrm>
            <a:off x="640080" y="2377440"/>
            <a:ext cx="2926080" cy="420624"/>
          </a:xfrm>
          <a:prstGeom prst="roundRect">
            <a:avLst>
              <a:gd name="adj" fmla="val 17391"/>
            </a:avLst>
          </a:prstGeom>
          <a:solidFill>
            <a:srgbClr val="2FE6C4"/>
          </a:solidFill>
          <a:ln/>
        </p:spPr>
      </p:sp>
      <p:sp>
        <p:nvSpPr>
          <p:cNvPr id="7" name="Shape 5"/>
          <p:cNvSpPr/>
          <p:nvPr/>
        </p:nvSpPr>
        <p:spPr>
          <a:xfrm>
            <a:off x="640080" y="2587752"/>
            <a:ext cx="2926080" cy="210312"/>
          </a:xfrm>
          <a:prstGeom prst="rect">
            <a:avLst/>
          </a:prstGeom>
          <a:solidFill>
            <a:srgbClr val="2FE6C4"/>
          </a:solidFill>
          <a:ln/>
        </p:spPr>
      </p:sp>
      <p:sp>
        <p:nvSpPr>
          <p:cNvPr id="8" name="Text 6"/>
          <p:cNvSpPr txBox="1"/>
          <p:nvPr/>
        </p:nvSpPr>
        <p:spPr>
          <a:xfrm>
            <a:off x="749808" y="2377440"/>
            <a:ext cx="270662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Branch</a:t>
            </a:r>
            <a:endParaRPr lang="en-US" sz="1800" dirty="0"/>
          </a:p>
        </p:txBody>
      </p:sp>
      <p:sp>
        <p:nvSpPr>
          <p:cNvPr id="9" name="Text 7"/>
          <p:cNvSpPr txBox="1"/>
          <p:nvPr/>
        </p:nvSpPr>
        <p:spPr>
          <a:xfrm>
            <a:off x="786384" y="2852928"/>
            <a:ext cx="2651760" cy="877824"/>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branchNo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street</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city</a:t>
            </a:r>
            <a:endParaRPr lang="en-US" sz="1400" dirty="0"/>
          </a:p>
        </p:txBody>
      </p:sp>
      <p:sp>
        <p:nvSpPr>
          <p:cNvPr id="10" name="Shape 8"/>
          <p:cNvSpPr/>
          <p:nvPr/>
        </p:nvSpPr>
        <p:spPr>
          <a:xfrm>
            <a:off x="5669280" y="2377440"/>
            <a:ext cx="2743200" cy="1152144"/>
          </a:xfrm>
          <a:prstGeom prst="roundRect">
            <a:avLst>
              <a:gd name="adj" fmla="val 6349"/>
            </a:avLst>
          </a:prstGeom>
          <a:solidFill>
            <a:srgbClr val="FFFFFF"/>
          </a:solidFill>
          <a:ln w="15875">
            <a:solidFill>
              <a:srgbClr val="1F2429"/>
            </a:solidFill>
            <a:prstDash val="solid"/>
          </a:ln>
        </p:spPr>
      </p:sp>
      <p:sp>
        <p:nvSpPr>
          <p:cNvPr id="11" name="Shape 9"/>
          <p:cNvSpPr/>
          <p:nvPr/>
        </p:nvSpPr>
        <p:spPr>
          <a:xfrm>
            <a:off x="5669280" y="2377440"/>
            <a:ext cx="2743200" cy="420624"/>
          </a:xfrm>
          <a:prstGeom prst="roundRect">
            <a:avLst>
              <a:gd name="adj" fmla="val 17391"/>
            </a:avLst>
          </a:prstGeom>
          <a:solidFill>
            <a:srgbClr val="E8A33D"/>
          </a:solidFill>
          <a:ln/>
        </p:spPr>
      </p:sp>
      <p:sp>
        <p:nvSpPr>
          <p:cNvPr id="12" name="Shape 10"/>
          <p:cNvSpPr/>
          <p:nvPr/>
        </p:nvSpPr>
        <p:spPr>
          <a:xfrm>
            <a:off x="5669280" y="2587752"/>
            <a:ext cx="2743200" cy="210312"/>
          </a:xfrm>
          <a:prstGeom prst="rect">
            <a:avLst/>
          </a:prstGeom>
          <a:solidFill>
            <a:srgbClr val="E8A33D"/>
          </a:solidFill>
          <a:ln/>
        </p:spPr>
      </p:sp>
      <p:sp>
        <p:nvSpPr>
          <p:cNvPr id="13" name="Text 11"/>
          <p:cNvSpPr txBox="1"/>
          <p:nvPr/>
        </p:nvSpPr>
        <p:spPr>
          <a:xfrm>
            <a:off x="5779008" y="2377440"/>
            <a:ext cx="252374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Room</a:t>
            </a:r>
            <a:endParaRPr lang="en-US" sz="1800" dirty="0"/>
          </a:p>
        </p:txBody>
      </p:sp>
      <p:sp>
        <p:nvSpPr>
          <p:cNvPr id="14" name="Text 12"/>
          <p:cNvSpPr txBox="1"/>
          <p:nvPr/>
        </p:nvSpPr>
        <p:spPr>
          <a:xfrm>
            <a:off x="5815584" y="2852928"/>
            <a:ext cx="246888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roomNo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floorArea</a:t>
            </a:r>
            <a:endParaRPr lang="en-US" sz="1400" dirty="0"/>
          </a:p>
        </p:txBody>
      </p:sp>
      <p:sp>
        <p:nvSpPr>
          <p:cNvPr id="15" name="Shape 13"/>
          <p:cNvSpPr/>
          <p:nvPr/>
        </p:nvSpPr>
        <p:spPr>
          <a:xfrm>
            <a:off x="3566160" y="2834640"/>
            <a:ext cx="2103120" cy="9144"/>
          </a:xfrm>
          <a:prstGeom prst="line">
            <a:avLst/>
          </a:prstGeom>
          <a:noFill/>
          <a:ln w="22225">
            <a:solidFill>
              <a:srgbClr val="9AA1A9"/>
            </a:solidFill>
            <a:prstDash val="solid"/>
          </a:ln>
        </p:spPr>
      </p:sp>
      <p:sp>
        <p:nvSpPr>
          <p:cNvPr id="16" name="Text 14"/>
          <p:cNvSpPr txBox="1"/>
          <p:nvPr/>
        </p:nvSpPr>
        <p:spPr>
          <a:xfrm>
            <a:off x="3776472" y="2450592"/>
            <a:ext cx="1682496" cy="274320"/>
          </a:xfrm>
          <a:prstGeom prst="rect">
            <a:avLst/>
          </a:prstGeom>
          <a:solidFill>
            <a:srgbClr val="F7F8F9"/>
          </a:solidFill>
          <a:ln/>
        </p:spPr>
        <p:txBody>
          <a:bodyPr wrap="square" lIns="0" tIns="0" rIns="0" bIns="0" rtlCol="0" anchor="ctr"/>
          <a:lstStyle/>
          <a:p>
            <a:pPr algn="ctr" indent="0" marL="0">
              <a:buNone/>
            </a:pPr>
            <a:r>
              <a:rPr lang="en-US" sz="1800" i="1" dirty="0">
                <a:solidFill>
                  <a:srgbClr val="1F2429"/>
                </a:solidFill>
                <a:latin typeface="Calibri" pitchFamily="34" charset="0"/>
                <a:ea typeface="Calibri" pitchFamily="34" charset="-122"/>
                <a:cs typeface="Calibri" pitchFamily="34" charset="-120"/>
              </a:rPr>
              <a:t>Composed Of</a:t>
            </a:r>
            <a:endParaRPr lang="en-US" sz="1800" dirty="0"/>
          </a:p>
        </p:txBody>
      </p:sp>
      <p:sp>
        <p:nvSpPr>
          <p:cNvPr id="17" name="Shape 15"/>
          <p:cNvSpPr/>
          <p:nvPr/>
        </p:nvSpPr>
        <p:spPr>
          <a:xfrm>
            <a:off x="4069080" y="2651760"/>
            <a:ext cx="274320" cy="274320"/>
          </a:xfrm>
          <a:prstGeom prst="ellipse">
            <a:avLst/>
          </a:prstGeom>
          <a:solidFill>
            <a:srgbClr val="2FE6C4"/>
          </a:solidFill>
          <a:ln/>
        </p:spPr>
      </p:sp>
      <p:sp>
        <p:nvSpPr>
          <p:cNvPr id="18" name="Text 16"/>
          <p:cNvSpPr txBox="1"/>
          <p:nvPr/>
        </p:nvSpPr>
        <p:spPr>
          <a:xfrm>
            <a:off x="4069080" y="265176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1</a:t>
            </a:r>
            <a:endParaRPr lang="en-US" sz="1200" dirty="0"/>
          </a:p>
        </p:txBody>
      </p:sp>
      <p:sp>
        <p:nvSpPr>
          <p:cNvPr id="19" name="Shape 17"/>
          <p:cNvSpPr/>
          <p:nvPr/>
        </p:nvSpPr>
        <p:spPr>
          <a:xfrm>
            <a:off x="4892040" y="2651760"/>
            <a:ext cx="274320" cy="274320"/>
          </a:xfrm>
          <a:prstGeom prst="ellipse">
            <a:avLst/>
          </a:prstGeom>
          <a:solidFill>
            <a:srgbClr val="E8A33D"/>
          </a:solidFill>
          <a:ln/>
        </p:spPr>
      </p:sp>
      <p:sp>
        <p:nvSpPr>
          <p:cNvPr id="20" name="Text 18"/>
          <p:cNvSpPr txBox="1"/>
          <p:nvPr/>
        </p:nvSpPr>
        <p:spPr>
          <a:xfrm>
            <a:off x="4892040" y="265176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N</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4297680"/>
          <a:ext cx="10911535" cy="914400"/>
        </p:xfrm>
        <a:graphic>
          <a:graphicData uri="http://schemas.openxmlformats.org/drawingml/2006/table">
            <a:tbl>
              <a:tblPr/>
              <a:tblGrid>
                <a:gridCol w="3637178"/>
                <a:gridCol w="3637178"/>
                <a:gridCol w="3637178"/>
              </a:tblGrid>
              <a:tr h="475488">
                <a:tc>
                  <a:txBody>
                    <a:bodyPr/>
                    <a:lstStyle/>
                    <a:p>
                      <a:pPr algn="ctr" indent="0" marL="0">
                        <a:buNone/>
                      </a:pP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Aggregation</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Composition</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r>
              <a:tr h="475488">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Existence dependency</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The part can outlive the whole</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The part CANNOT exist without the whole</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r h="475488">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Sharing</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A part can belong to more than one whole</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A part belongs to exactly one whole</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r>
              <a:tr h="475488">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Deleting the whole</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Parts typically left in place / reassigned</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Parts deleted along with the whole</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bl>
          </a:graphicData>
        </a:graphic>
      </p:graphicFrame>
      <p:sp>
        <p:nvSpPr>
          <p:cNvPr id="22" name="Text 19"/>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THE REASONING BEHIND COMPOSITION</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Composition: Applying the Decision Criteria</a:t>
            </a:r>
            <a:endParaRPr lang="en-US" sz="2600" dirty="0"/>
          </a:p>
        </p:txBody>
      </p:sp>
      <p:sp>
        <p:nvSpPr>
          <p:cNvPr id="4" name="Text 2"/>
          <p:cNvSpPr txBox="1"/>
          <p:nvPr/>
        </p:nvSpPr>
        <p:spPr>
          <a:xfrm>
            <a:off x="640080" y="1463040"/>
            <a:ext cx="10911535" cy="45720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Branch Composed-Of Room is tested against the same two questions:</a:t>
            </a:r>
            <a:endParaRPr lang="en-US" sz="1800" dirty="0"/>
          </a:p>
        </p:txBody>
      </p:sp>
      <p:sp>
        <p:nvSpPr>
          <p:cNvPr id="5" name="Shape 3"/>
          <p:cNvSpPr/>
          <p:nvPr/>
        </p:nvSpPr>
        <p:spPr>
          <a:xfrm>
            <a:off x="640080" y="2057400"/>
            <a:ext cx="10911535" cy="1371600"/>
          </a:xfrm>
          <a:prstGeom prst="roundRect">
            <a:avLst>
              <a:gd name="adj" fmla="val 5333"/>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6" name="Text 4"/>
          <p:cNvSpPr txBox="1"/>
          <p:nvPr/>
        </p:nvSpPr>
        <p:spPr>
          <a:xfrm>
            <a:off x="868680" y="2176272"/>
            <a:ext cx="10454335" cy="384048"/>
          </a:xfrm>
          <a:prstGeom prst="rect">
            <a:avLst/>
          </a:prstGeom>
          <a:noFill/>
          <a:ln/>
        </p:spPr>
        <p:txBody>
          <a:bodyPr wrap="square" lIns="0" tIns="0" rIns="0" bIns="0" rtlCol="0" anchor="ctr"/>
          <a:lstStyle/>
          <a:p>
            <a:pPr indent="0" marL="0">
              <a:buNone/>
            </a:pPr>
            <a:r>
              <a:rPr lang="en-US" sz="1800" b="1" dirty="0">
                <a:solidFill>
                  <a:srgbClr val="0E7A61"/>
                </a:solidFill>
                <a:latin typeface="Calibri" pitchFamily="34" charset="0"/>
                <a:ea typeface="Calibri" pitchFamily="34" charset="-122"/>
                <a:cs typeface="Calibri" pitchFamily="34" charset="-120"/>
              </a:rPr>
              <a:t>Does the part exist apart from the whole?</a:t>
            </a:r>
            <a:endParaRPr lang="en-US" sz="1800" dirty="0"/>
          </a:p>
        </p:txBody>
      </p:sp>
      <p:sp>
        <p:nvSpPr>
          <p:cNvPr id="7" name="Text 5"/>
          <p:cNvSpPr txBox="1"/>
          <p:nvPr/>
        </p:nvSpPr>
        <p:spPr>
          <a:xfrm>
            <a:off x="868680" y="2606040"/>
            <a:ext cx="10454335" cy="731520"/>
          </a:xfrm>
          <a:prstGeom prst="rect">
            <a:avLst/>
          </a:prstGeom>
          <a:noFill/>
          <a:ln/>
        </p:spPr>
        <p:txBody>
          <a:bodyPr wrap="square" lIns="0" tIns="0" rIns="0" bIns="0" rtlCol="0" anchor="t"/>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No: a Room means nothing without its Branch. A property advertisement, by contrast, can be reused elsewhere, so that is aggregation.</a:t>
            </a:r>
            <a:endParaRPr lang="en-US" sz="1800" dirty="0"/>
          </a:p>
        </p:txBody>
      </p:sp>
      <p:sp>
        <p:nvSpPr>
          <p:cNvPr id="8" name="Shape 6"/>
          <p:cNvSpPr/>
          <p:nvPr/>
        </p:nvSpPr>
        <p:spPr>
          <a:xfrm>
            <a:off x="640080" y="3611880"/>
            <a:ext cx="10911535" cy="1371600"/>
          </a:xfrm>
          <a:prstGeom prst="roundRect">
            <a:avLst>
              <a:gd name="adj" fmla="val 5333"/>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868680" y="3730752"/>
            <a:ext cx="10454335" cy="384048"/>
          </a:xfrm>
          <a:prstGeom prst="rect">
            <a:avLst/>
          </a:prstGeom>
          <a:noFill/>
          <a:ln/>
        </p:spPr>
        <p:txBody>
          <a:bodyPr wrap="square" lIns="0" tIns="0" rIns="0" bIns="0" rtlCol="0" anchor="ctr"/>
          <a:lstStyle/>
          <a:p>
            <a:pPr indent="0" marL="0">
              <a:buNone/>
            </a:pPr>
            <a:r>
              <a:rPr lang="en-US" sz="1800" b="1" dirty="0">
                <a:solidFill>
                  <a:srgbClr val="0E7A61"/>
                </a:solidFill>
                <a:latin typeface="Calibri" pitchFamily="34" charset="0"/>
                <a:ea typeface="Calibri" pitchFamily="34" charset="-122"/>
                <a:cs typeface="Calibri" pitchFamily="34" charset="-120"/>
              </a:rPr>
              <a:t>Is the part ever shared across wholes?</a:t>
            </a:r>
            <a:endParaRPr lang="en-US" sz="1800" dirty="0"/>
          </a:p>
        </p:txBody>
      </p:sp>
      <p:sp>
        <p:nvSpPr>
          <p:cNvPr id="10" name="Text 8"/>
          <p:cNvSpPr txBox="1"/>
          <p:nvPr/>
        </p:nvSpPr>
        <p:spPr>
          <a:xfrm>
            <a:off x="868680" y="4160520"/>
            <a:ext cx="10454335" cy="731520"/>
          </a:xfrm>
          <a:prstGeom prst="rect">
            <a:avLst/>
          </a:prstGeom>
          <a:noFill/>
          <a:ln/>
        </p:spPr>
        <p:txBody>
          <a:bodyPr wrap="square" lIns="0" tIns="0" rIns="0" bIns="0" rtlCol="0" anchor="t"/>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No: a physical Room belongs to exactly one Branch, permanently.</a:t>
            </a:r>
            <a:endParaRPr lang="en-US" sz="1800" dirty="0"/>
          </a:p>
        </p:txBody>
      </p:sp>
      <p:sp>
        <p:nvSpPr>
          <p:cNvPr id="11" name="Shape 9"/>
          <p:cNvSpPr/>
          <p:nvPr/>
        </p:nvSpPr>
        <p:spPr>
          <a:xfrm>
            <a:off x="640080" y="5212080"/>
            <a:ext cx="10911535" cy="1051560"/>
          </a:xfrm>
          <a:prstGeom prst="roundRect">
            <a:avLst>
              <a:gd name="adj" fmla="val 6087"/>
            </a:avLst>
          </a:prstGeom>
          <a:solidFill>
            <a:srgbClr val="E9F9F3"/>
          </a:solidFill>
          <a:ln w="12700">
            <a:solidFill>
              <a:srgbClr val="1FAE8C"/>
            </a:solidFill>
            <a:prstDash val="solid"/>
          </a:ln>
        </p:spPr>
      </p:sp>
      <p:sp>
        <p:nvSpPr>
          <p:cNvPr id="12" name="Text 10"/>
          <p:cNvSpPr txBox="1"/>
          <p:nvPr/>
        </p:nvSpPr>
        <p:spPr>
          <a:xfrm>
            <a:off x="896112" y="5358384"/>
            <a:ext cx="10399471" cy="274320"/>
          </a:xfrm>
          <a:prstGeom prst="rect">
            <a:avLst/>
          </a:prstGeom>
          <a:noFill/>
          <a:ln/>
        </p:spPr>
        <p:txBody>
          <a:bodyPr wrap="square" lIns="0" tIns="0" rIns="0" bIns="0" rtlCol="0" anchor="ctr"/>
          <a:lstStyle/>
          <a:p>
            <a:pPr indent="0" marL="0">
              <a:buNone/>
            </a:pPr>
            <a:r>
              <a:rPr lang="en-US" sz="1200" b="1" spc="200" kern="0" dirty="0">
                <a:solidFill>
                  <a:srgbClr val="0E7A61"/>
                </a:solidFill>
                <a:latin typeface="Calibri" pitchFamily="34" charset="0"/>
                <a:ea typeface="Calibri" pitchFamily="34" charset="-122"/>
                <a:cs typeface="Calibri" pitchFamily="34" charset="-120"/>
              </a:rPr>
              <a:t>BOTH “NO” ANSWERS MEAN COMPOSITION</a:t>
            </a:r>
            <a:endParaRPr lang="en-US" sz="1200" dirty="0"/>
          </a:p>
        </p:txBody>
      </p:sp>
      <p:sp>
        <p:nvSpPr>
          <p:cNvPr id="13" name="Text 11"/>
          <p:cNvSpPr txBox="1"/>
          <p:nvPr/>
        </p:nvSpPr>
        <p:spPr>
          <a:xfrm>
            <a:off x="896112" y="5687568"/>
            <a:ext cx="10399471" cy="41148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Two “no” answers mean composition. It maps to ON DELETE CASCADE in Lecture 16.</a:t>
            </a:r>
            <a:endParaRPr lang="en-US" sz="1800" dirty="0"/>
          </a:p>
        </p:txBody>
      </p:sp>
      <p:sp>
        <p:nvSpPr>
          <p:cNvPr id="14" name="Text 12"/>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A SUBCLASS FROM SEVERAL UNRELATED PARENTS</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Categorization (Union Types)</a:t>
            </a:r>
            <a:endParaRPr lang="en-US" sz="2600" dirty="0"/>
          </a:p>
        </p:txBody>
      </p:sp>
      <p:sp>
        <p:nvSpPr>
          <p:cNvPr id="4" name="Text 2"/>
          <p:cNvSpPr txBox="1"/>
          <p:nvPr/>
        </p:nvSpPr>
        <p:spPr>
          <a:xfrm>
            <a:off x="640080" y="1463040"/>
            <a:ext cx="10911535" cy="73152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A category's subclass represents a subset of the UNION of two or more distinct, otherwise unrelated superclasses — those parents don't share a common superclass of their own.</a:t>
            </a:r>
            <a:endParaRPr lang="en-US" sz="1800" dirty="0"/>
          </a:p>
        </p:txBody>
      </p:sp>
      <p:sp>
        <p:nvSpPr>
          <p:cNvPr id="5" name="Shape 3"/>
          <p:cNvSpPr/>
          <p:nvPr/>
        </p:nvSpPr>
        <p:spPr>
          <a:xfrm>
            <a:off x="640080" y="2331720"/>
            <a:ext cx="2651760" cy="1152144"/>
          </a:xfrm>
          <a:prstGeom prst="roundRect">
            <a:avLst>
              <a:gd name="adj" fmla="val 6349"/>
            </a:avLst>
          </a:prstGeom>
          <a:solidFill>
            <a:srgbClr val="FFFFFF"/>
          </a:solidFill>
          <a:ln w="15875">
            <a:solidFill>
              <a:srgbClr val="1F2429"/>
            </a:solidFill>
            <a:prstDash val="solid"/>
          </a:ln>
        </p:spPr>
      </p:sp>
      <p:sp>
        <p:nvSpPr>
          <p:cNvPr id="6" name="Shape 4"/>
          <p:cNvSpPr/>
          <p:nvPr/>
        </p:nvSpPr>
        <p:spPr>
          <a:xfrm>
            <a:off x="640080" y="2331720"/>
            <a:ext cx="2651760" cy="420624"/>
          </a:xfrm>
          <a:prstGeom prst="roundRect">
            <a:avLst>
              <a:gd name="adj" fmla="val 17391"/>
            </a:avLst>
          </a:prstGeom>
          <a:solidFill>
            <a:srgbClr val="2FE6C4"/>
          </a:solidFill>
          <a:ln/>
        </p:spPr>
      </p:sp>
      <p:sp>
        <p:nvSpPr>
          <p:cNvPr id="7" name="Shape 5"/>
          <p:cNvSpPr/>
          <p:nvPr/>
        </p:nvSpPr>
        <p:spPr>
          <a:xfrm>
            <a:off x="640080" y="2542032"/>
            <a:ext cx="2651760" cy="210312"/>
          </a:xfrm>
          <a:prstGeom prst="rect">
            <a:avLst/>
          </a:prstGeom>
          <a:solidFill>
            <a:srgbClr val="2FE6C4"/>
          </a:solidFill>
          <a:ln/>
        </p:spPr>
      </p:sp>
      <p:sp>
        <p:nvSpPr>
          <p:cNvPr id="8" name="Text 6"/>
          <p:cNvSpPr txBox="1"/>
          <p:nvPr/>
        </p:nvSpPr>
        <p:spPr>
          <a:xfrm>
            <a:off x="749808" y="2331720"/>
            <a:ext cx="24323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Person</a:t>
            </a:r>
            <a:endParaRPr lang="en-US" sz="1800" dirty="0"/>
          </a:p>
        </p:txBody>
      </p:sp>
      <p:sp>
        <p:nvSpPr>
          <p:cNvPr id="9" name="Text 7"/>
          <p:cNvSpPr txBox="1"/>
          <p:nvPr/>
        </p:nvSpPr>
        <p:spPr>
          <a:xfrm>
            <a:off x="786384" y="2807208"/>
            <a:ext cx="237744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cnic</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name</a:t>
            </a:r>
            <a:endParaRPr lang="en-US" sz="1400" dirty="0"/>
          </a:p>
        </p:txBody>
      </p:sp>
      <p:sp>
        <p:nvSpPr>
          <p:cNvPr id="10" name="Shape 8"/>
          <p:cNvSpPr/>
          <p:nvPr/>
        </p:nvSpPr>
        <p:spPr>
          <a:xfrm>
            <a:off x="4754880" y="2331720"/>
            <a:ext cx="2651760" cy="1152144"/>
          </a:xfrm>
          <a:prstGeom prst="roundRect">
            <a:avLst>
              <a:gd name="adj" fmla="val 6349"/>
            </a:avLst>
          </a:prstGeom>
          <a:solidFill>
            <a:srgbClr val="FFFFFF"/>
          </a:solidFill>
          <a:ln w="15875">
            <a:solidFill>
              <a:srgbClr val="1F2429"/>
            </a:solidFill>
            <a:prstDash val="solid"/>
          </a:ln>
        </p:spPr>
      </p:sp>
      <p:sp>
        <p:nvSpPr>
          <p:cNvPr id="11" name="Shape 9"/>
          <p:cNvSpPr/>
          <p:nvPr/>
        </p:nvSpPr>
        <p:spPr>
          <a:xfrm>
            <a:off x="4754880" y="2331720"/>
            <a:ext cx="2651760" cy="420624"/>
          </a:xfrm>
          <a:prstGeom prst="roundRect">
            <a:avLst>
              <a:gd name="adj" fmla="val 17391"/>
            </a:avLst>
          </a:prstGeom>
          <a:solidFill>
            <a:srgbClr val="E8A33D"/>
          </a:solidFill>
          <a:ln/>
        </p:spPr>
      </p:sp>
      <p:sp>
        <p:nvSpPr>
          <p:cNvPr id="12" name="Shape 10"/>
          <p:cNvSpPr/>
          <p:nvPr/>
        </p:nvSpPr>
        <p:spPr>
          <a:xfrm>
            <a:off x="4754880" y="2542032"/>
            <a:ext cx="2651760" cy="210312"/>
          </a:xfrm>
          <a:prstGeom prst="rect">
            <a:avLst/>
          </a:prstGeom>
          <a:solidFill>
            <a:srgbClr val="E8A33D"/>
          </a:solidFill>
          <a:ln/>
        </p:spPr>
      </p:sp>
      <p:sp>
        <p:nvSpPr>
          <p:cNvPr id="13" name="Text 11"/>
          <p:cNvSpPr txBox="1"/>
          <p:nvPr/>
        </p:nvSpPr>
        <p:spPr>
          <a:xfrm>
            <a:off x="4864608" y="2331720"/>
            <a:ext cx="24323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Bank</a:t>
            </a:r>
            <a:endParaRPr lang="en-US" sz="1800" dirty="0"/>
          </a:p>
        </p:txBody>
      </p:sp>
      <p:sp>
        <p:nvSpPr>
          <p:cNvPr id="14" name="Text 12"/>
          <p:cNvSpPr txBox="1"/>
          <p:nvPr/>
        </p:nvSpPr>
        <p:spPr>
          <a:xfrm>
            <a:off x="4901184" y="2807208"/>
            <a:ext cx="237744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bankCode</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name</a:t>
            </a:r>
            <a:endParaRPr lang="en-US" sz="1400" dirty="0"/>
          </a:p>
        </p:txBody>
      </p:sp>
      <p:sp>
        <p:nvSpPr>
          <p:cNvPr id="15" name="Shape 13"/>
          <p:cNvSpPr/>
          <p:nvPr/>
        </p:nvSpPr>
        <p:spPr>
          <a:xfrm>
            <a:off x="8778240" y="2331720"/>
            <a:ext cx="2651760" cy="1152144"/>
          </a:xfrm>
          <a:prstGeom prst="roundRect">
            <a:avLst>
              <a:gd name="adj" fmla="val 6349"/>
            </a:avLst>
          </a:prstGeom>
          <a:solidFill>
            <a:srgbClr val="FFFFFF"/>
          </a:solidFill>
          <a:ln w="15875">
            <a:solidFill>
              <a:srgbClr val="1F2429"/>
            </a:solidFill>
            <a:prstDash val="solid"/>
          </a:ln>
        </p:spPr>
      </p:sp>
      <p:sp>
        <p:nvSpPr>
          <p:cNvPr id="16" name="Shape 14"/>
          <p:cNvSpPr/>
          <p:nvPr/>
        </p:nvSpPr>
        <p:spPr>
          <a:xfrm>
            <a:off x="8778240" y="2331720"/>
            <a:ext cx="2651760" cy="420624"/>
          </a:xfrm>
          <a:prstGeom prst="roundRect">
            <a:avLst>
              <a:gd name="adj" fmla="val 17391"/>
            </a:avLst>
          </a:prstGeom>
          <a:solidFill>
            <a:srgbClr val="8B7FD9"/>
          </a:solidFill>
          <a:ln/>
        </p:spPr>
      </p:sp>
      <p:sp>
        <p:nvSpPr>
          <p:cNvPr id="17" name="Shape 15"/>
          <p:cNvSpPr/>
          <p:nvPr/>
        </p:nvSpPr>
        <p:spPr>
          <a:xfrm>
            <a:off x="8778240" y="2542032"/>
            <a:ext cx="2651760" cy="210312"/>
          </a:xfrm>
          <a:prstGeom prst="rect">
            <a:avLst/>
          </a:prstGeom>
          <a:solidFill>
            <a:srgbClr val="8B7FD9"/>
          </a:solidFill>
          <a:ln/>
        </p:spPr>
      </p:sp>
      <p:sp>
        <p:nvSpPr>
          <p:cNvPr id="18" name="Text 16"/>
          <p:cNvSpPr txBox="1"/>
          <p:nvPr/>
        </p:nvSpPr>
        <p:spPr>
          <a:xfrm>
            <a:off x="8887968" y="2331720"/>
            <a:ext cx="24323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Company</a:t>
            </a:r>
            <a:endParaRPr lang="en-US" sz="1800" dirty="0"/>
          </a:p>
        </p:txBody>
      </p:sp>
      <p:sp>
        <p:nvSpPr>
          <p:cNvPr id="19" name="Text 17"/>
          <p:cNvSpPr txBox="1"/>
          <p:nvPr/>
        </p:nvSpPr>
        <p:spPr>
          <a:xfrm>
            <a:off x="8924544" y="2807208"/>
            <a:ext cx="237744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regNo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name</a:t>
            </a:r>
            <a:endParaRPr lang="en-US" sz="1400" dirty="0"/>
          </a:p>
        </p:txBody>
      </p:sp>
      <p:sp>
        <p:nvSpPr>
          <p:cNvPr id="20" name="Shape 18"/>
          <p:cNvSpPr/>
          <p:nvPr/>
        </p:nvSpPr>
        <p:spPr>
          <a:xfrm>
            <a:off x="4023360" y="4206240"/>
            <a:ext cx="4114800" cy="859536"/>
          </a:xfrm>
          <a:prstGeom prst="roundRect">
            <a:avLst>
              <a:gd name="adj" fmla="val 8511"/>
            </a:avLst>
          </a:prstGeom>
          <a:solidFill>
            <a:srgbClr val="FFFFFF"/>
          </a:solidFill>
          <a:ln w="15875">
            <a:solidFill>
              <a:srgbClr val="1F2429"/>
            </a:solidFill>
            <a:prstDash val="solid"/>
          </a:ln>
        </p:spPr>
      </p:sp>
      <p:sp>
        <p:nvSpPr>
          <p:cNvPr id="21" name="Shape 19"/>
          <p:cNvSpPr/>
          <p:nvPr/>
        </p:nvSpPr>
        <p:spPr>
          <a:xfrm>
            <a:off x="4023360" y="4206240"/>
            <a:ext cx="4114800" cy="420624"/>
          </a:xfrm>
          <a:prstGeom prst="roundRect">
            <a:avLst>
              <a:gd name="adj" fmla="val 17391"/>
            </a:avLst>
          </a:prstGeom>
          <a:solidFill>
            <a:srgbClr val="14181C"/>
          </a:solidFill>
          <a:ln/>
        </p:spPr>
      </p:sp>
      <p:sp>
        <p:nvSpPr>
          <p:cNvPr id="22" name="Shape 20"/>
          <p:cNvSpPr/>
          <p:nvPr/>
        </p:nvSpPr>
        <p:spPr>
          <a:xfrm>
            <a:off x="4023360" y="4416552"/>
            <a:ext cx="4114800" cy="210312"/>
          </a:xfrm>
          <a:prstGeom prst="rect">
            <a:avLst/>
          </a:prstGeom>
          <a:solidFill>
            <a:srgbClr val="14181C"/>
          </a:solidFill>
          <a:ln/>
        </p:spPr>
      </p:sp>
      <p:sp>
        <p:nvSpPr>
          <p:cNvPr id="23" name="Text 21"/>
          <p:cNvSpPr txBox="1"/>
          <p:nvPr/>
        </p:nvSpPr>
        <p:spPr>
          <a:xfrm>
            <a:off x="4133088" y="4206240"/>
            <a:ext cx="3895344" cy="420624"/>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RegisteredOwner (category)</a:t>
            </a:r>
            <a:endParaRPr lang="en-US" sz="1800" dirty="0"/>
          </a:p>
        </p:txBody>
      </p:sp>
      <p:sp>
        <p:nvSpPr>
          <p:cNvPr id="24" name="Text 22"/>
          <p:cNvSpPr txBox="1"/>
          <p:nvPr/>
        </p:nvSpPr>
        <p:spPr>
          <a:xfrm>
            <a:off x="4169664" y="4681728"/>
            <a:ext cx="3840480" cy="292608"/>
          </a:xfrm>
          <a:prstGeom prst="rect">
            <a:avLst/>
          </a:prstGeom>
          <a:noFill/>
          <a:ln/>
        </p:spPr>
        <p:txBody>
          <a:bodyPr wrap="square" lIns="0" tIns="0" rIns="0" bIns="0" rtlCol="0" anchor="t"/>
          <a:lstStyle/>
          <a:p>
            <a:pPr indent="0" marL="0">
              <a:lnSpc>
                <a:spcPct val="108000"/>
              </a:lnSpc>
              <a:spcAft>
                <a:spcPts val="100"/>
              </a:spcAft>
              <a:buNone/>
            </a:pPr>
            <a:r>
              <a:rPr lang="en-US" sz="1800" dirty="0">
                <a:solidFill>
                  <a:srgbClr val="1F2429"/>
                </a:solidFill>
                <a:latin typeface="Calibri" pitchFamily="34" charset="0"/>
                <a:ea typeface="Calibri" pitchFamily="34" charset="-122"/>
                <a:cs typeface="Calibri" pitchFamily="34" charset="-120"/>
              </a:rPr>
              <a:t>ownerSince</a:t>
            </a:r>
            <a:endParaRPr lang="en-US" sz="1800" dirty="0"/>
          </a:p>
        </p:txBody>
      </p:sp>
      <p:sp>
        <p:nvSpPr>
          <p:cNvPr id="25" name="Shape 23"/>
          <p:cNvSpPr/>
          <p:nvPr/>
        </p:nvSpPr>
        <p:spPr>
          <a:xfrm>
            <a:off x="2286000" y="3063240"/>
            <a:ext cx="2286000" cy="1143000"/>
          </a:xfrm>
          <a:prstGeom prst="line">
            <a:avLst/>
          </a:prstGeom>
          <a:noFill/>
          <a:ln w="22225">
            <a:solidFill>
              <a:srgbClr val="9AA1A9"/>
            </a:solidFill>
            <a:prstDash val="solid"/>
            <a:tailEnd type="none"/>
          </a:ln>
        </p:spPr>
      </p:sp>
      <p:sp>
        <p:nvSpPr>
          <p:cNvPr id="26" name="Shape 24"/>
          <p:cNvSpPr/>
          <p:nvPr/>
        </p:nvSpPr>
        <p:spPr>
          <a:xfrm>
            <a:off x="6080760" y="3063240"/>
            <a:ext cx="9144" cy="1143000"/>
          </a:xfrm>
          <a:prstGeom prst="line">
            <a:avLst/>
          </a:prstGeom>
          <a:noFill/>
          <a:ln w="22225">
            <a:solidFill>
              <a:srgbClr val="9AA1A9"/>
            </a:solidFill>
            <a:prstDash val="solid"/>
            <a:tailEnd type="none"/>
          </a:ln>
        </p:spPr>
      </p:sp>
      <p:sp>
        <p:nvSpPr>
          <p:cNvPr id="27" name="Shape 25"/>
          <p:cNvSpPr/>
          <p:nvPr/>
        </p:nvSpPr>
        <p:spPr>
          <a:xfrm>
            <a:off x="7589520" y="3063240"/>
            <a:ext cx="2514600" cy="1143000"/>
          </a:xfrm>
          <a:prstGeom prst="line">
            <a:avLst/>
          </a:prstGeom>
          <a:noFill/>
          <a:ln w="22225">
            <a:solidFill>
              <a:srgbClr val="9AA1A9"/>
            </a:solidFill>
            <a:prstDash val="solid"/>
            <a:tailEnd type="none"/>
          </a:ln>
        </p:spPr>
      </p:sp>
      <p:sp>
        <p:nvSpPr>
          <p:cNvPr id="28" name="Shape 26"/>
          <p:cNvSpPr/>
          <p:nvPr/>
        </p:nvSpPr>
        <p:spPr>
          <a:xfrm>
            <a:off x="5852160" y="3566160"/>
            <a:ext cx="502920" cy="502920"/>
          </a:xfrm>
          <a:prstGeom prst="ellipse">
            <a:avLst/>
          </a:prstGeom>
          <a:solidFill>
            <a:srgbClr val="8B7FD9"/>
          </a:solidFill>
          <a:ln/>
        </p:spPr>
      </p:sp>
      <p:sp>
        <p:nvSpPr>
          <p:cNvPr id="29" name="Text 27"/>
          <p:cNvSpPr txBox="1"/>
          <p:nvPr/>
        </p:nvSpPr>
        <p:spPr>
          <a:xfrm>
            <a:off x="5852160" y="3566160"/>
            <a:ext cx="502920" cy="502920"/>
          </a:xfrm>
          <a:prstGeom prst="rect">
            <a:avLst/>
          </a:prstGeom>
          <a:noFill/>
          <a:ln/>
        </p:spPr>
        <p:txBody>
          <a:bodyPr wrap="square" lIns="0" tIns="0" rIns="0" bIns="0" rtlCol="0" anchor="ctr"/>
          <a:lstStyle/>
          <a:p>
            <a:pPr algn="ctr" indent="0" marL="0">
              <a:buNone/>
            </a:pPr>
            <a:r>
              <a:rPr lang="en-US" sz="1600" b="1" dirty="0">
                <a:solidFill>
                  <a:srgbClr val="14181C"/>
                </a:solidFill>
                <a:latin typeface="Calibri" pitchFamily="34" charset="0"/>
                <a:ea typeface="Calibri" pitchFamily="34" charset="-122"/>
                <a:cs typeface="Calibri" pitchFamily="34" charset="-120"/>
              </a:rPr>
              <a:t>U</a:t>
            </a:r>
            <a:endParaRPr lang="en-US" sz="1600" dirty="0"/>
          </a:p>
        </p:txBody>
      </p:sp>
      <p:sp>
        <p:nvSpPr>
          <p:cNvPr id="30" name="Text 28"/>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THE REASONING BEHIND CATEGORIZATION</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Categorization: Why Not Generalization?</a:t>
            </a:r>
            <a:endParaRPr lang="en-US" sz="2600" dirty="0"/>
          </a:p>
        </p:txBody>
      </p:sp>
      <p:sp>
        <p:nvSpPr>
          <p:cNvPr id="4" name="Text 2"/>
          <p:cNvSpPr txBox="1"/>
          <p:nvPr/>
        </p:nvSpPr>
        <p:spPr>
          <a:xfrm>
            <a:off x="640080" y="1463040"/>
            <a:ext cx="10911535" cy="73152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The first instinct is a shared “Party” superclass for Person, Bank, and Company. It breaks down:</a:t>
            </a:r>
            <a:endParaRPr lang="en-US" sz="1800" dirty="0"/>
          </a:p>
        </p:txBody>
      </p:sp>
      <p:sp>
        <p:nvSpPr>
          <p:cNvPr id="5" name="Shape 3"/>
          <p:cNvSpPr/>
          <p:nvPr/>
        </p:nvSpPr>
        <p:spPr>
          <a:xfrm>
            <a:off x="640080" y="2377440"/>
            <a:ext cx="5212080" cy="2697480"/>
          </a:xfrm>
          <a:prstGeom prst="roundRect">
            <a:avLst>
              <a:gd name="adj" fmla="val 2712"/>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6" name="Text 4"/>
          <p:cNvSpPr txBox="1"/>
          <p:nvPr/>
        </p:nvSpPr>
        <p:spPr>
          <a:xfrm>
            <a:off x="868680" y="2514600"/>
            <a:ext cx="4754880" cy="384048"/>
          </a:xfrm>
          <a:prstGeom prst="rect">
            <a:avLst/>
          </a:prstGeom>
          <a:noFill/>
          <a:ln/>
        </p:spPr>
        <p:txBody>
          <a:bodyPr wrap="square" lIns="0" tIns="0" rIns="0" bIns="0" rtlCol="0" anchor="ctr"/>
          <a:lstStyle/>
          <a:p>
            <a:pPr indent="0" marL="0">
              <a:buNone/>
            </a:pPr>
            <a:r>
              <a:rPr lang="en-US" sz="1800" b="1" dirty="0">
                <a:solidFill>
                  <a:srgbClr val="B03A2E"/>
                </a:solidFill>
                <a:latin typeface="Calibri" pitchFamily="34" charset="0"/>
                <a:ea typeface="Calibri" pitchFamily="34" charset="-122"/>
                <a:cs typeface="Calibri" pitchFamily="34" charset="-120"/>
              </a:rPr>
              <a:t>A forced “Party” superclass</a:t>
            </a:r>
            <a:endParaRPr lang="en-US" sz="1800" dirty="0"/>
          </a:p>
        </p:txBody>
      </p:sp>
      <p:sp>
        <p:nvSpPr>
          <p:cNvPr id="7" name="Text 5"/>
          <p:cNvSpPr txBox="1"/>
          <p:nvPr/>
        </p:nvSpPr>
        <p:spPr>
          <a:xfrm>
            <a:off x="868680" y="2971800"/>
            <a:ext cx="4754880" cy="2011680"/>
          </a:xfrm>
          <a:prstGeom prst="rect">
            <a:avLst/>
          </a:prstGeom>
          <a:noFill/>
          <a:ln/>
        </p:spPr>
        <p:txBody>
          <a:bodyPr wrap="square" lIns="0" tIns="0" rIns="0" bIns="0" rtlCol="0" anchor="t"/>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They share little beyond a name, and their keys differ in type (cnic, bankCode, regNo). A shared superclass would invent structure.</a:t>
            </a:r>
            <a:endParaRPr lang="en-US" sz="1800" dirty="0"/>
          </a:p>
        </p:txBody>
      </p:sp>
      <p:sp>
        <p:nvSpPr>
          <p:cNvPr id="8" name="Shape 6"/>
          <p:cNvSpPr/>
          <p:nvPr/>
        </p:nvSpPr>
        <p:spPr>
          <a:xfrm>
            <a:off x="6126480" y="2377440"/>
            <a:ext cx="5212080" cy="2697480"/>
          </a:xfrm>
          <a:prstGeom prst="roundRect">
            <a:avLst>
              <a:gd name="adj" fmla="val 2712"/>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6355080" y="2514600"/>
            <a:ext cx="4754880" cy="384048"/>
          </a:xfrm>
          <a:prstGeom prst="rect">
            <a:avLst/>
          </a:prstGeom>
          <a:noFill/>
          <a:ln/>
        </p:spPr>
        <p:txBody>
          <a:bodyPr wrap="square" lIns="0" tIns="0" rIns="0" bIns="0" rtlCol="0" anchor="ctr"/>
          <a:lstStyle/>
          <a:p>
            <a:pPr indent="0" marL="0">
              <a:buNone/>
            </a:pPr>
            <a:r>
              <a:rPr lang="en-US" sz="1800" b="1" dirty="0">
                <a:solidFill>
                  <a:srgbClr val="0E7A61"/>
                </a:solidFill>
                <a:latin typeface="Calibri" pitchFamily="34" charset="0"/>
                <a:ea typeface="Calibri" pitchFamily="34" charset="-122"/>
                <a:cs typeface="Calibri" pitchFamily="34" charset="-120"/>
              </a:rPr>
              <a:t>Categorization fits</a:t>
            </a:r>
            <a:endParaRPr lang="en-US" sz="1800" dirty="0"/>
          </a:p>
        </p:txBody>
      </p:sp>
      <p:sp>
        <p:nvSpPr>
          <p:cNvPr id="10" name="Text 8"/>
          <p:cNvSpPr txBox="1"/>
          <p:nvPr/>
        </p:nvSpPr>
        <p:spPr>
          <a:xfrm>
            <a:off x="6355080" y="2971800"/>
            <a:ext cx="4754880" cy="2011680"/>
          </a:xfrm>
          <a:prstGeom prst="rect">
            <a:avLst/>
          </a:prstGeom>
          <a:noFill/>
          <a:ln/>
        </p:spPr>
        <p:txBody>
          <a:bodyPr wrap="square" lIns="0" tIns="0" rIns="0" bIns="0" rtlCol="0" anchor="t"/>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Each owner type keeps its own identity. RegisteredOwner sits above them only for one relationship: Vehicle's “Registered To.”</a:t>
            </a:r>
            <a:endParaRPr lang="en-US" sz="1800" dirty="0"/>
          </a:p>
        </p:txBody>
      </p:sp>
      <p:sp>
        <p:nvSpPr>
          <p:cNvPr id="11" name="Shape 9"/>
          <p:cNvSpPr/>
          <p:nvPr/>
        </p:nvSpPr>
        <p:spPr>
          <a:xfrm>
            <a:off x="640080" y="5303520"/>
            <a:ext cx="10911535" cy="1005840"/>
          </a:xfrm>
          <a:prstGeom prst="roundRect">
            <a:avLst>
              <a:gd name="adj" fmla="val 6364"/>
            </a:avLst>
          </a:prstGeom>
          <a:solidFill>
            <a:srgbClr val="E9F9F3"/>
          </a:solidFill>
          <a:ln w="12700">
            <a:solidFill>
              <a:srgbClr val="1FAE8C"/>
            </a:solidFill>
            <a:prstDash val="solid"/>
          </a:ln>
        </p:spPr>
      </p:sp>
      <p:sp>
        <p:nvSpPr>
          <p:cNvPr id="12" name="Text 10"/>
          <p:cNvSpPr txBox="1"/>
          <p:nvPr/>
        </p:nvSpPr>
        <p:spPr>
          <a:xfrm>
            <a:off x="896112" y="5449824"/>
            <a:ext cx="10399471" cy="274320"/>
          </a:xfrm>
          <a:prstGeom prst="rect">
            <a:avLst/>
          </a:prstGeom>
          <a:noFill/>
          <a:ln/>
        </p:spPr>
        <p:txBody>
          <a:bodyPr wrap="square" lIns="0" tIns="0" rIns="0" bIns="0" rtlCol="0" anchor="ctr"/>
          <a:lstStyle/>
          <a:p>
            <a:pPr indent="0" marL="0">
              <a:buNone/>
            </a:pPr>
            <a:r>
              <a:rPr lang="en-US" sz="1200" b="1" spc="200" kern="0" dirty="0">
                <a:solidFill>
                  <a:srgbClr val="0E7A61"/>
                </a:solidFill>
                <a:latin typeface="Calibri" pitchFamily="34" charset="0"/>
                <a:ea typeface="Calibri" pitchFamily="34" charset="-122"/>
                <a:cs typeface="Calibri" pitchFamily="34" charset="-120"/>
              </a:rPr>
              <a:t>DECIDING THE TWO</a:t>
            </a:r>
            <a:endParaRPr lang="en-US" sz="1200" dirty="0"/>
          </a:p>
        </p:txBody>
      </p:sp>
      <p:sp>
        <p:nvSpPr>
          <p:cNvPr id="13" name="Text 11"/>
          <p:cNvSpPr txBox="1"/>
          <p:nvPr/>
        </p:nvSpPr>
        <p:spPr>
          <a:xfrm>
            <a:off x="896112" y="5779008"/>
            <a:ext cx="10399471" cy="36576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Generalize when subclasses share attributes the business treats as one fact. Categorize when only one relationship ties them.</a:t>
            </a:r>
            <a:endParaRPr lang="en-US" sz="1800" dirty="0"/>
          </a:p>
        </p:txBody>
      </p:sp>
      <p:sp>
        <p:nvSpPr>
          <p:cNvPr id="14" name="Text 12"/>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THE RUNNING EXAMPLE, ASSEMBLED</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Putting It Together: the Full Staff Hierarchy</a:t>
            </a:r>
            <a:endParaRPr lang="en-US" sz="2600" dirty="0"/>
          </a:p>
        </p:txBody>
      </p:sp>
      <p:sp>
        <p:nvSpPr>
          <p:cNvPr id="4" name="Shape 2"/>
          <p:cNvSpPr/>
          <p:nvPr/>
        </p:nvSpPr>
        <p:spPr>
          <a:xfrm>
            <a:off x="4434840" y="1554480"/>
            <a:ext cx="3566160" cy="1152144"/>
          </a:xfrm>
          <a:prstGeom prst="roundRect">
            <a:avLst>
              <a:gd name="adj" fmla="val 6349"/>
            </a:avLst>
          </a:prstGeom>
          <a:solidFill>
            <a:srgbClr val="FFFFFF"/>
          </a:solidFill>
          <a:ln w="15875">
            <a:solidFill>
              <a:srgbClr val="1F2429"/>
            </a:solidFill>
            <a:prstDash val="solid"/>
          </a:ln>
        </p:spPr>
      </p:sp>
      <p:sp>
        <p:nvSpPr>
          <p:cNvPr id="5" name="Shape 3"/>
          <p:cNvSpPr/>
          <p:nvPr/>
        </p:nvSpPr>
        <p:spPr>
          <a:xfrm>
            <a:off x="4434840" y="1554480"/>
            <a:ext cx="3566160" cy="420624"/>
          </a:xfrm>
          <a:prstGeom prst="roundRect">
            <a:avLst>
              <a:gd name="adj" fmla="val 17391"/>
            </a:avLst>
          </a:prstGeom>
          <a:solidFill>
            <a:srgbClr val="14181C"/>
          </a:solidFill>
          <a:ln/>
        </p:spPr>
      </p:sp>
      <p:sp>
        <p:nvSpPr>
          <p:cNvPr id="6" name="Shape 4"/>
          <p:cNvSpPr/>
          <p:nvPr/>
        </p:nvSpPr>
        <p:spPr>
          <a:xfrm>
            <a:off x="4434840" y="1764792"/>
            <a:ext cx="3566160" cy="210312"/>
          </a:xfrm>
          <a:prstGeom prst="rect">
            <a:avLst/>
          </a:prstGeom>
          <a:solidFill>
            <a:srgbClr val="14181C"/>
          </a:solidFill>
          <a:ln/>
        </p:spPr>
      </p:sp>
      <p:sp>
        <p:nvSpPr>
          <p:cNvPr id="7" name="Text 5"/>
          <p:cNvSpPr txBox="1"/>
          <p:nvPr/>
        </p:nvSpPr>
        <p:spPr>
          <a:xfrm>
            <a:off x="4544568" y="1554480"/>
            <a:ext cx="3346704" cy="420624"/>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Staff (d, partial)</a:t>
            </a:r>
            <a:endParaRPr lang="en-US" sz="1800" dirty="0"/>
          </a:p>
        </p:txBody>
      </p:sp>
      <p:sp>
        <p:nvSpPr>
          <p:cNvPr id="8" name="Text 6"/>
          <p:cNvSpPr txBox="1"/>
          <p:nvPr/>
        </p:nvSpPr>
        <p:spPr>
          <a:xfrm>
            <a:off x="4581144" y="2029968"/>
            <a:ext cx="329184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staffNo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name, salary, branchNo</a:t>
            </a:r>
            <a:endParaRPr lang="en-US" sz="1400" dirty="0"/>
          </a:p>
        </p:txBody>
      </p:sp>
      <p:sp>
        <p:nvSpPr>
          <p:cNvPr id="9" name="Shape 7"/>
          <p:cNvSpPr/>
          <p:nvPr/>
        </p:nvSpPr>
        <p:spPr>
          <a:xfrm>
            <a:off x="640080" y="3154680"/>
            <a:ext cx="2560320" cy="859536"/>
          </a:xfrm>
          <a:prstGeom prst="roundRect">
            <a:avLst>
              <a:gd name="adj" fmla="val 8511"/>
            </a:avLst>
          </a:prstGeom>
          <a:solidFill>
            <a:srgbClr val="FFFFFF"/>
          </a:solidFill>
          <a:ln w="15875">
            <a:solidFill>
              <a:srgbClr val="1F2429"/>
            </a:solidFill>
            <a:prstDash val="solid"/>
          </a:ln>
        </p:spPr>
      </p:sp>
      <p:sp>
        <p:nvSpPr>
          <p:cNvPr id="10" name="Shape 8"/>
          <p:cNvSpPr/>
          <p:nvPr/>
        </p:nvSpPr>
        <p:spPr>
          <a:xfrm>
            <a:off x="640080" y="3154680"/>
            <a:ext cx="2560320" cy="420624"/>
          </a:xfrm>
          <a:prstGeom prst="roundRect">
            <a:avLst>
              <a:gd name="adj" fmla="val 17391"/>
            </a:avLst>
          </a:prstGeom>
          <a:solidFill>
            <a:srgbClr val="2FE6C4"/>
          </a:solidFill>
          <a:ln/>
        </p:spPr>
      </p:sp>
      <p:sp>
        <p:nvSpPr>
          <p:cNvPr id="11" name="Shape 9"/>
          <p:cNvSpPr/>
          <p:nvPr/>
        </p:nvSpPr>
        <p:spPr>
          <a:xfrm>
            <a:off x="640080" y="3364992"/>
            <a:ext cx="2560320" cy="210312"/>
          </a:xfrm>
          <a:prstGeom prst="rect">
            <a:avLst/>
          </a:prstGeom>
          <a:solidFill>
            <a:srgbClr val="2FE6C4"/>
          </a:solidFill>
          <a:ln/>
        </p:spPr>
      </p:sp>
      <p:sp>
        <p:nvSpPr>
          <p:cNvPr id="12" name="Text 10"/>
          <p:cNvSpPr txBox="1"/>
          <p:nvPr/>
        </p:nvSpPr>
        <p:spPr>
          <a:xfrm>
            <a:off x="749808" y="3154680"/>
            <a:ext cx="234086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SalesPersonnel</a:t>
            </a:r>
            <a:endParaRPr lang="en-US" sz="1800" dirty="0"/>
          </a:p>
        </p:txBody>
      </p:sp>
      <p:sp>
        <p:nvSpPr>
          <p:cNvPr id="13" name="Text 11"/>
          <p:cNvSpPr txBox="1"/>
          <p:nvPr/>
        </p:nvSpPr>
        <p:spPr>
          <a:xfrm>
            <a:off x="786384" y="3630168"/>
            <a:ext cx="2286000" cy="292608"/>
          </a:xfrm>
          <a:prstGeom prst="rect">
            <a:avLst/>
          </a:prstGeom>
          <a:noFill/>
          <a:ln/>
        </p:spPr>
        <p:txBody>
          <a:bodyPr wrap="square" lIns="0" tIns="0" rIns="0" bIns="0" rtlCol="0" anchor="t"/>
          <a:lstStyle/>
          <a:p>
            <a:pPr indent="0" marL="0">
              <a:lnSpc>
                <a:spcPct val="108000"/>
              </a:lnSpc>
              <a:spcAft>
                <a:spcPts val="100"/>
              </a:spcAft>
              <a:buNone/>
            </a:pPr>
            <a:r>
              <a:rPr lang="en-US" sz="1800" dirty="0">
                <a:solidFill>
                  <a:srgbClr val="1F2429"/>
                </a:solidFill>
                <a:latin typeface="Calibri" pitchFamily="34" charset="0"/>
                <a:ea typeface="Calibri" pitchFamily="34" charset="-122"/>
                <a:cs typeface="Calibri" pitchFamily="34" charset="-120"/>
              </a:rPr>
              <a:t>salesArea</a:t>
            </a:r>
            <a:endParaRPr lang="en-US" sz="1800" dirty="0"/>
          </a:p>
        </p:txBody>
      </p:sp>
      <p:sp>
        <p:nvSpPr>
          <p:cNvPr id="14" name="Shape 12"/>
          <p:cNvSpPr/>
          <p:nvPr/>
        </p:nvSpPr>
        <p:spPr>
          <a:xfrm>
            <a:off x="4480560" y="3154680"/>
            <a:ext cx="2377440" cy="859536"/>
          </a:xfrm>
          <a:prstGeom prst="roundRect">
            <a:avLst>
              <a:gd name="adj" fmla="val 8511"/>
            </a:avLst>
          </a:prstGeom>
          <a:solidFill>
            <a:srgbClr val="FFFFFF"/>
          </a:solidFill>
          <a:ln w="15875">
            <a:solidFill>
              <a:srgbClr val="1F2429"/>
            </a:solidFill>
            <a:prstDash val="solid"/>
          </a:ln>
        </p:spPr>
      </p:sp>
      <p:sp>
        <p:nvSpPr>
          <p:cNvPr id="15" name="Shape 13"/>
          <p:cNvSpPr/>
          <p:nvPr/>
        </p:nvSpPr>
        <p:spPr>
          <a:xfrm>
            <a:off x="4480560" y="3154680"/>
            <a:ext cx="2377440" cy="420624"/>
          </a:xfrm>
          <a:prstGeom prst="roundRect">
            <a:avLst>
              <a:gd name="adj" fmla="val 17391"/>
            </a:avLst>
          </a:prstGeom>
          <a:solidFill>
            <a:srgbClr val="E8A33D"/>
          </a:solidFill>
          <a:ln/>
        </p:spPr>
      </p:sp>
      <p:sp>
        <p:nvSpPr>
          <p:cNvPr id="16" name="Shape 14"/>
          <p:cNvSpPr/>
          <p:nvPr/>
        </p:nvSpPr>
        <p:spPr>
          <a:xfrm>
            <a:off x="4480560" y="3364992"/>
            <a:ext cx="2377440" cy="210312"/>
          </a:xfrm>
          <a:prstGeom prst="rect">
            <a:avLst/>
          </a:prstGeom>
          <a:solidFill>
            <a:srgbClr val="E8A33D"/>
          </a:solidFill>
          <a:ln/>
        </p:spPr>
      </p:sp>
      <p:sp>
        <p:nvSpPr>
          <p:cNvPr id="17" name="Text 15"/>
          <p:cNvSpPr txBox="1"/>
          <p:nvPr/>
        </p:nvSpPr>
        <p:spPr>
          <a:xfrm>
            <a:off x="4590288" y="3154680"/>
            <a:ext cx="215798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Manager</a:t>
            </a:r>
            <a:endParaRPr lang="en-US" sz="1800" dirty="0"/>
          </a:p>
        </p:txBody>
      </p:sp>
      <p:sp>
        <p:nvSpPr>
          <p:cNvPr id="18" name="Text 16"/>
          <p:cNvSpPr txBox="1"/>
          <p:nvPr/>
        </p:nvSpPr>
        <p:spPr>
          <a:xfrm>
            <a:off x="4626864" y="3630168"/>
            <a:ext cx="2103120" cy="292608"/>
          </a:xfrm>
          <a:prstGeom prst="rect">
            <a:avLst/>
          </a:prstGeom>
          <a:noFill/>
          <a:ln/>
        </p:spPr>
        <p:txBody>
          <a:bodyPr wrap="square" lIns="0" tIns="0" rIns="0" bIns="0" rtlCol="0" anchor="t"/>
          <a:lstStyle/>
          <a:p>
            <a:pPr indent="0" marL="0">
              <a:lnSpc>
                <a:spcPct val="108000"/>
              </a:lnSpc>
              <a:spcAft>
                <a:spcPts val="100"/>
              </a:spcAft>
              <a:buNone/>
            </a:pPr>
            <a:r>
              <a:rPr lang="en-US" sz="1800" dirty="0">
                <a:solidFill>
                  <a:srgbClr val="1F2429"/>
                </a:solidFill>
                <a:latin typeface="Calibri" pitchFamily="34" charset="0"/>
                <a:ea typeface="Calibri" pitchFamily="34" charset="-122"/>
                <a:cs typeface="Calibri" pitchFamily="34" charset="-120"/>
              </a:rPr>
              <a:t>bonus</a:t>
            </a:r>
            <a:endParaRPr lang="en-US" sz="1800" dirty="0"/>
          </a:p>
        </p:txBody>
      </p:sp>
      <p:sp>
        <p:nvSpPr>
          <p:cNvPr id="19" name="Shape 17"/>
          <p:cNvSpPr/>
          <p:nvPr/>
        </p:nvSpPr>
        <p:spPr>
          <a:xfrm>
            <a:off x="9144000" y="3154680"/>
            <a:ext cx="2423160" cy="859536"/>
          </a:xfrm>
          <a:prstGeom prst="roundRect">
            <a:avLst>
              <a:gd name="adj" fmla="val 8511"/>
            </a:avLst>
          </a:prstGeom>
          <a:solidFill>
            <a:srgbClr val="FFFFFF"/>
          </a:solidFill>
          <a:ln w="15875">
            <a:solidFill>
              <a:srgbClr val="1F2429"/>
            </a:solidFill>
            <a:prstDash val="solid"/>
          </a:ln>
        </p:spPr>
      </p:sp>
      <p:sp>
        <p:nvSpPr>
          <p:cNvPr id="20" name="Shape 18"/>
          <p:cNvSpPr/>
          <p:nvPr/>
        </p:nvSpPr>
        <p:spPr>
          <a:xfrm>
            <a:off x="9144000" y="3154680"/>
            <a:ext cx="2423160" cy="420624"/>
          </a:xfrm>
          <a:prstGeom prst="roundRect">
            <a:avLst>
              <a:gd name="adj" fmla="val 17391"/>
            </a:avLst>
          </a:prstGeom>
          <a:solidFill>
            <a:srgbClr val="8B7FD9"/>
          </a:solidFill>
          <a:ln/>
        </p:spPr>
      </p:sp>
      <p:sp>
        <p:nvSpPr>
          <p:cNvPr id="21" name="Shape 19"/>
          <p:cNvSpPr/>
          <p:nvPr/>
        </p:nvSpPr>
        <p:spPr>
          <a:xfrm>
            <a:off x="9144000" y="3364992"/>
            <a:ext cx="2423160" cy="210312"/>
          </a:xfrm>
          <a:prstGeom prst="rect">
            <a:avLst/>
          </a:prstGeom>
          <a:solidFill>
            <a:srgbClr val="8B7FD9"/>
          </a:solidFill>
          <a:ln/>
        </p:spPr>
      </p:sp>
      <p:sp>
        <p:nvSpPr>
          <p:cNvPr id="22" name="Text 20"/>
          <p:cNvSpPr txBox="1"/>
          <p:nvPr/>
        </p:nvSpPr>
        <p:spPr>
          <a:xfrm>
            <a:off x="9253728" y="3154680"/>
            <a:ext cx="22037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Technician</a:t>
            </a:r>
            <a:endParaRPr lang="en-US" sz="1800" dirty="0"/>
          </a:p>
        </p:txBody>
      </p:sp>
      <p:sp>
        <p:nvSpPr>
          <p:cNvPr id="23" name="Text 21"/>
          <p:cNvSpPr txBox="1"/>
          <p:nvPr/>
        </p:nvSpPr>
        <p:spPr>
          <a:xfrm>
            <a:off x="9290304" y="3630168"/>
            <a:ext cx="2148840" cy="292608"/>
          </a:xfrm>
          <a:prstGeom prst="rect">
            <a:avLst/>
          </a:prstGeom>
          <a:noFill/>
          <a:ln/>
        </p:spPr>
        <p:txBody>
          <a:bodyPr wrap="square" lIns="0" tIns="0" rIns="0" bIns="0" rtlCol="0" anchor="t"/>
          <a:lstStyle/>
          <a:p>
            <a:pPr indent="0" marL="0">
              <a:lnSpc>
                <a:spcPct val="108000"/>
              </a:lnSpc>
              <a:spcAft>
                <a:spcPts val="100"/>
              </a:spcAft>
              <a:buNone/>
            </a:pPr>
            <a:r>
              <a:rPr lang="en-US" sz="1800" dirty="0">
                <a:solidFill>
                  <a:srgbClr val="1F2429"/>
                </a:solidFill>
                <a:latin typeface="Calibri" pitchFamily="34" charset="0"/>
                <a:ea typeface="Calibri" pitchFamily="34" charset="-122"/>
                <a:cs typeface="Calibri" pitchFamily="34" charset="-120"/>
              </a:rPr>
              <a:t>tradeSpecialty</a:t>
            </a:r>
            <a:endParaRPr lang="en-US" sz="1800" dirty="0"/>
          </a:p>
        </p:txBody>
      </p:sp>
      <p:sp>
        <p:nvSpPr>
          <p:cNvPr id="24" name="Shape 22"/>
          <p:cNvSpPr/>
          <p:nvPr/>
        </p:nvSpPr>
        <p:spPr>
          <a:xfrm>
            <a:off x="1920240" y="2706624"/>
            <a:ext cx="2834640" cy="448056"/>
          </a:xfrm>
          <a:prstGeom prst="line">
            <a:avLst/>
          </a:prstGeom>
          <a:noFill/>
          <a:ln w="22225">
            <a:solidFill>
              <a:srgbClr val="9AA1A9"/>
            </a:solidFill>
            <a:prstDash val="solid"/>
            <a:tailEnd type="none"/>
          </a:ln>
        </p:spPr>
      </p:sp>
      <p:sp>
        <p:nvSpPr>
          <p:cNvPr id="25" name="Shape 23"/>
          <p:cNvSpPr/>
          <p:nvPr/>
        </p:nvSpPr>
        <p:spPr>
          <a:xfrm>
            <a:off x="5669280" y="2706624"/>
            <a:ext cx="9144" cy="448056"/>
          </a:xfrm>
          <a:prstGeom prst="line">
            <a:avLst/>
          </a:prstGeom>
          <a:noFill/>
          <a:ln w="22225">
            <a:solidFill>
              <a:srgbClr val="9AA1A9"/>
            </a:solidFill>
            <a:prstDash val="solid"/>
            <a:tailEnd type="none"/>
          </a:ln>
        </p:spPr>
      </p:sp>
      <p:sp>
        <p:nvSpPr>
          <p:cNvPr id="26" name="Shape 24"/>
          <p:cNvSpPr/>
          <p:nvPr/>
        </p:nvSpPr>
        <p:spPr>
          <a:xfrm>
            <a:off x="7498080" y="2706624"/>
            <a:ext cx="2834640" cy="448056"/>
          </a:xfrm>
          <a:prstGeom prst="line">
            <a:avLst/>
          </a:prstGeom>
          <a:noFill/>
          <a:ln w="22225">
            <a:solidFill>
              <a:srgbClr val="9AA1A9"/>
            </a:solidFill>
            <a:prstDash val="solid"/>
            <a:tailEnd type="none"/>
          </a:ln>
        </p:spPr>
      </p:sp>
      <p:sp>
        <p:nvSpPr>
          <p:cNvPr id="27" name="Shape 25"/>
          <p:cNvSpPr/>
          <p:nvPr/>
        </p:nvSpPr>
        <p:spPr>
          <a:xfrm>
            <a:off x="4480560" y="4572000"/>
            <a:ext cx="2651760" cy="859536"/>
          </a:xfrm>
          <a:prstGeom prst="roundRect">
            <a:avLst>
              <a:gd name="adj" fmla="val 8511"/>
            </a:avLst>
          </a:prstGeom>
          <a:solidFill>
            <a:srgbClr val="FFFFFF"/>
          </a:solidFill>
          <a:ln w="15875">
            <a:solidFill>
              <a:srgbClr val="1F2429"/>
            </a:solidFill>
            <a:prstDash val="solid"/>
          </a:ln>
        </p:spPr>
      </p:sp>
      <p:sp>
        <p:nvSpPr>
          <p:cNvPr id="28" name="Shape 26"/>
          <p:cNvSpPr/>
          <p:nvPr/>
        </p:nvSpPr>
        <p:spPr>
          <a:xfrm>
            <a:off x="4480560" y="4572000"/>
            <a:ext cx="2651760" cy="420624"/>
          </a:xfrm>
          <a:prstGeom prst="roundRect">
            <a:avLst>
              <a:gd name="adj" fmla="val 17391"/>
            </a:avLst>
          </a:prstGeom>
          <a:solidFill>
            <a:srgbClr val="E8A33D"/>
          </a:solidFill>
          <a:ln/>
        </p:spPr>
      </p:sp>
      <p:sp>
        <p:nvSpPr>
          <p:cNvPr id="29" name="Shape 27"/>
          <p:cNvSpPr/>
          <p:nvPr/>
        </p:nvSpPr>
        <p:spPr>
          <a:xfrm>
            <a:off x="4480560" y="4782312"/>
            <a:ext cx="2651760" cy="210312"/>
          </a:xfrm>
          <a:prstGeom prst="rect">
            <a:avLst/>
          </a:prstGeom>
          <a:solidFill>
            <a:srgbClr val="E8A33D"/>
          </a:solidFill>
          <a:ln/>
        </p:spPr>
      </p:sp>
      <p:sp>
        <p:nvSpPr>
          <p:cNvPr id="30" name="Text 28"/>
          <p:cNvSpPr txBox="1"/>
          <p:nvPr/>
        </p:nvSpPr>
        <p:spPr>
          <a:xfrm>
            <a:off x="4590288" y="4572000"/>
            <a:ext cx="24323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PropertyForRent</a:t>
            </a:r>
            <a:endParaRPr lang="en-US" sz="1800" dirty="0"/>
          </a:p>
        </p:txBody>
      </p:sp>
      <p:sp>
        <p:nvSpPr>
          <p:cNvPr id="31" name="Text 29"/>
          <p:cNvSpPr txBox="1"/>
          <p:nvPr/>
        </p:nvSpPr>
        <p:spPr>
          <a:xfrm>
            <a:off x="4626864" y="5047488"/>
            <a:ext cx="237744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propertyNo</a:t>
            </a:r>
            <a:endParaRPr lang="en-US" sz="1800" dirty="0"/>
          </a:p>
        </p:txBody>
      </p:sp>
      <p:sp>
        <p:nvSpPr>
          <p:cNvPr id="32" name="Shape 30"/>
          <p:cNvSpPr/>
          <p:nvPr/>
        </p:nvSpPr>
        <p:spPr>
          <a:xfrm>
            <a:off x="5669280" y="4014216"/>
            <a:ext cx="9144" cy="557784"/>
          </a:xfrm>
          <a:prstGeom prst="line">
            <a:avLst/>
          </a:prstGeom>
          <a:noFill/>
          <a:ln w="22225">
            <a:solidFill>
              <a:srgbClr val="9AA1A9"/>
            </a:solidFill>
            <a:prstDash val="solid"/>
            <a:tailEnd type="none"/>
          </a:ln>
        </p:spPr>
      </p:sp>
      <p:sp>
        <p:nvSpPr>
          <p:cNvPr id="33" name="Text 31"/>
          <p:cNvSpPr txBox="1"/>
          <p:nvPr/>
        </p:nvSpPr>
        <p:spPr>
          <a:xfrm>
            <a:off x="5806440" y="4114800"/>
            <a:ext cx="1280160" cy="365760"/>
          </a:xfrm>
          <a:prstGeom prst="rect">
            <a:avLst/>
          </a:prstGeom>
          <a:noFill/>
          <a:ln/>
        </p:spPr>
        <p:txBody>
          <a:bodyPr wrap="square" lIns="0" tIns="0" rIns="0" bIns="0" rtlCol="0" anchor="ctr"/>
          <a:lstStyle/>
          <a:p>
            <a:pPr indent="0" marL="0">
              <a:buNone/>
            </a:pPr>
            <a:r>
              <a:rPr lang="en-US" sz="1800" i="1" dirty="0">
                <a:solidFill>
                  <a:srgbClr val="6B7280"/>
                </a:solidFill>
                <a:latin typeface="Calibri" pitchFamily="34" charset="0"/>
                <a:ea typeface="Calibri" pitchFamily="34" charset="-122"/>
                <a:cs typeface="Calibri" pitchFamily="34" charset="-120"/>
              </a:rPr>
              <a:t>Manages</a:t>
            </a:r>
            <a:endParaRPr lang="en-US" sz="1800" dirty="0"/>
          </a:p>
        </p:txBody>
      </p:sp>
      <p:sp>
        <p:nvSpPr>
          <p:cNvPr id="34" name="Text 32"/>
          <p:cNvSpPr txBox="1"/>
          <p:nvPr/>
        </p:nvSpPr>
        <p:spPr>
          <a:xfrm>
            <a:off x="7589520" y="4617720"/>
            <a:ext cx="3931920" cy="731520"/>
          </a:xfrm>
          <a:prstGeom prst="rect">
            <a:avLst/>
          </a:prstGeom>
          <a:noFill/>
          <a:ln/>
        </p:spPr>
        <p:txBody>
          <a:bodyPr wrap="square" lIns="0" tIns="0" rIns="0" bIns="0" rtlCol="0" anchor="t"/>
          <a:lstStyle/>
          <a:p>
            <a:pPr indent="0" marL="0">
              <a:buNone/>
            </a:pPr>
            <a:r>
              <a:rPr lang="en-US" sz="1800" i="1" dirty="0">
                <a:solidFill>
                  <a:srgbClr val="6B7280"/>
                </a:solidFill>
                <a:latin typeface="Calibri" pitchFamily="34" charset="0"/>
                <a:ea typeface="Calibri" pitchFamily="34" charset="-122"/>
                <a:cs typeface="Calibri" pitchFamily="34" charset="-120"/>
              </a:rPr>
              <a:t>Aggregated Manages, reviewed by a Supervisor (slides 13–14).</a:t>
            </a:r>
            <a:endParaRPr lang="en-US" sz="1800" dirty="0"/>
          </a:p>
        </p:txBody>
      </p:sp>
      <p:sp>
        <p:nvSpPr>
          <p:cNvPr id="35" name="Shape 33"/>
          <p:cNvSpPr/>
          <p:nvPr/>
        </p:nvSpPr>
        <p:spPr>
          <a:xfrm>
            <a:off x="640080" y="5532120"/>
            <a:ext cx="10911535" cy="868680"/>
          </a:xfrm>
          <a:prstGeom prst="roundRect">
            <a:avLst>
              <a:gd name="adj" fmla="val 7368"/>
            </a:avLst>
          </a:prstGeom>
          <a:solidFill>
            <a:srgbClr val="EAF1FB"/>
          </a:solidFill>
          <a:ln w="12700">
            <a:solidFill>
              <a:srgbClr val="6C8FD6"/>
            </a:solidFill>
            <a:prstDash val="solid"/>
          </a:ln>
        </p:spPr>
      </p:sp>
      <p:sp>
        <p:nvSpPr>
          <p:cNvPr id="36" name="Text 34"/>
          <p:cNvSpPr txBox="1"/>
          <p:nvPr/>
        </p:nvSpPr>
        <p:spPr>
          <a:xfrm>
            <a:off x="896112" y="5678424"/>
            <a:ext cx="10399471" cy="274320"/>
          </a:xfrm>
          <a:prstGeom prst="rect">
            <a:avLst/>
          </a:prstGeom>
          <a:noFill/>
          <a:ln/>
        </p:spPr>
        <p:txBody>
          <a:bodyPr wrap="square" lIns="0" tIns="0" rIns="0" bIns="0" rtlCol="0" anchor="ctr"/>
          <a:lstStyle/>
          <a:p>
            <a:pPr indent="0" marL="0">
              <a:buNone/>
            </a:pPr>
            <a:r>
              <a:rPr lang="en-US" sz="1200" b="1" spc="200" kern="0" dirty="0">
                <a:solidFill>
                  <a:srgbClr val="2C4A8C"/>
                </a:solidFill>
                <a:latin typeface="Calibri" pitchFamily="34" charset="0"/>
                <a:ea typeface="Calibri" pitchFamily="34" charset="-122"/>
                <a:cs typeface="Calibri" pitchFamily="34" charset="-120"/>
              </a:rPr>
              <a:t>ONE EXAMPLE, EVERY CONSTRUCT</a:t>
            </a:r>
            <a:endParaRPr lang="en-US" sz="1200" dirty="0"/>
          </a:p>
        </p:txBody>
      </p:sp>
      <p:sp>
        <p:nvSpPr>
          <p:cNvPr id="37" name="Text 35"/>
          <p:cNvSpPr txBox="1"/>
          <p:nvPr/>
        </p:nvSpPr>
        <p:spPr>
          <a:xfrm>
            <a:off x="896112" y="6007608"/>
            <a:ext cx="10399471" cy="22860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Specialization (slides 4, 10–11) and aggregation (slides 13–14) run on one example.</a:t>
            </a:r>
            <a:endParaRPr lang="en-US" sz="1800" dirty="0"/>
          </a:p>
        </p:txBody>
      </p:sp>
      <p:sp>
        <p:nvSpPr>
          <p:cNvPr id="38" name="Text 36"/>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81C"/>
        </a:solidFill>
      </p:bgPr>
    </p:bg>
    <p:spTree>
      <p:nvGrpSpPr>
        <p:cNvPr id="1" name=""/>
        <p:cNvGrpSpPr/>
        <p:nvPr/>
      </p:nvGrpSpPr>
      <p:grpSpPr>
        <a:xfrm>
          <a:off x="0" y="0"/>
          <a:ext cx="0" cy="0"/>
          <a:chOff x="0" y="0"/>
          <a:chExt cx="0" cy="0"/>
        </a:xfrm>
      </p:grpSpPr>
      <p:sp>
        <p:nvSpPr>
          <p:cNvPr id="2" name="Text 0"/>
          <p:cNvSpPr txBox="1"/>
          <p:nvPr/>
        </p:nvSpPr>
        <p:spPr>
          <a:xfrm>
            <a:off x="822960" y="640080"/>
            <a:ext cx="9144000" cy="457200"/>
          </a:xfrm>
          <a:prstGeom prst="rect">
            <a:avLst/>
          </a:prstGeom>
          <a:noFill/>
          <a:ln/>
        </p:spPr>
        <p:txBody>
          <a:bodyPr wrap="square" lIns="0" tIns="0" rIns="0" bIns="0" rtlCol="0" anchor="ctr"/>
          <a:lstStyle/>
          <a:p>
            <a:pPr indent="0" marL="0">
              <a:buNone/>
            </a:pPr>
            <a:r>
              <a:rPr lang="en-US" sz="1500" b="1" spc="400" kern="0" dirty="0">
                <a:solidFill>
                  <a:srgbClr val="2FE6C4"/>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097280"/>
            <a:ext cx="10515600" cy="82296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Key Takeaways</a:t>
            </a:r>
            <a:endParaRPr lang="en-US" sz="3000" dirty="0"/>
          </a:p>
        </p:txBody>
      </p:sp>
      <p:sp>
        <p:nvSpPr>
          <p:cNvPr id="4" name="Shape 2"/>
          <p:cNvSpPr/>
          <p:nvPr/>
        </p:nvSpPr>
        <p:spPr>
          <a:xfrm>
            <a:off x="822960" y="1920240"/>
            <a:ext cx="384048" cy="384048"/>
          </a:xfrm>
          <a:prstGeom prst="ellipse">
            <a:avLst/>
          </a:prstGeom>
          <a:solidFill>
            <a:srgbClr val="2FE6C4"/>
          </a:solidFill>
          <a:ln/>
        </p:spPr>
      </p:sp>
      <p:sp>
        <p:nvSpPr>
          <p:cNvPr id="5" name="Text 3"/>
          <p:cNvSpPr txBox="1"/>
          <p:nvPr/>
        </p:nvSpPr>
        <p:spPr>
          <a:xfrm>
            <a:off x="822960" y="1920240"/>
            <a:ext cx="384048" cy="384048"/>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17320" y="1865376"/>
            <a:ext cx="10149840" cy="905256"/>
          </a:xfrm>
          <a:prstGeom prst="rect">
            <a:avLst/>
          </a:prstGeom>
          <a:noFill/>
          <a:ln/>
        </p:spPr>
        <p:txBody>
          <a:bodyPr wrap="square" lIns="0" tIns="0" rIns="0" bIns="0" rtlCol="0" anchor="ctr"/>
          <a:lstStyle/>
          <a:p>
            <a:pPr indent="0" marL="0">
              <a:lnSpc>
                <a:spcPct val="104000"/>
              </a:lnSpc>
              <a:buNone/>
            </a:pPr>
            <a:r>
              <a:rPr lang="en-US" sz="1800" dirty="0">
                <a:solidFill>
                  <a:srgbClr val="E4E7EA"/>
                </a:solidFill>
                <a:latin typeface="Calibri" pitchFamily="34" charset="0"/>
                <a:ea typeface="Calibri" pitchFamily="34" charset="-122"/>
                <a:cs typeface="Calibri" pitchFamily="34" charset="-120"/>
              </a:rPr>
              <a:t>Specialization reasons top-down, generalization bottom-up — both produce the same diagram shape; a subclass inherits every attribute and relationship of its superclass.</a:t>
            </a:r>
            <a:endParaRPr lang="en-US" sz="1800" dirty="0"/>
          </a:p>
        </p:txBody>
      </p:sp>
      <p:sp>
        <p:nvSpPr>
          <p:cNvPr id="7" name="Shape 5"/>
          <p:cNvSpPr/>
          <p:nvPr/>
        </p:nvSpPr>
        <p:spPr>
          <a:xfrm>
            <a:off x="822960" y="2825496"/>
            <a:ext cx="384048" cy="384048"/>
          </a:xfrm>
          <a:prstGeom prst="ellipse">
            <a:avLst/>
          </a:prstGeom>
          <a:solidFill>
            <a:srgbClr val="2FE6C4"/>
          </a:solidFill>
          <a:ln/>
        </p:spPr>
      </p:sp>
      <p:sp>
        <p:nvSpPr>
          <p:cNvPr id="8" name="Text 6"/>
          <p:cNvSpPr txBox="1"/>
          <p:nvPr/>
        </p:nvSpPr>
        <p:spPr>
          <a:xfrm>
            <a:off x="822960" y="2825496"/>
            <a:ext cx="384048" cy="384048"/>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417320" y="2770632"/>
            <a:ext cx="10149840" cy="905256"/>
          </a:xfrm>
          <a:prstGeom prst="rect">
            <a:avLst/>
          </a:prstGeom>
          <a:noFill/>
          <a:ln/>
        </p:spPr>
        <p:txBody>
          <a:bodyPr wrap="square" lIns="0" tIns="0" rIns="0" bIns="0" rtlCol="0" anchor="ctr"/>
          <a:lstStyle/>
          <a:p>
            <a:pPr indent="0" marL="0">
              <a:lnSpc>
                <a:spcPct val="104000"/>
              </a:lnSpc>
              <a:buNone/>
            </a:pPr>
            <a:r>
              <a:rPr lang="en-US" sz="1800" dirty="0">
                <a:solidFill>
                  <a:srgbClr val="E4E7EA"/>
                </a:solidFill>
                <a:latin typeface="Calibri" pitchFamily="34" charset="0"/>
                <a:ea typeface="Calibri" pitchFamily="34" charset="-122"/>
                <a:cs typeface="Calibri" pitchFamily="34" charset="-120"/>
              </a:rPr>
              <a:t>Disjoint/overlapping and total/partial are decided by checking concrete scenarios against the business rules — never by which combination is simpler to draw.</a:t>
            </a:r>
            <a:endParaRPr lang="en-US" sz="1800" dirty="0"/>
          </a:p>
        </p:txBody>
      </p:sp>
      <p:sp>
        <p:nvSpPr>
          <p:cNvPr id="10" name="Shape 8"/>
          <p:cNvSpPr/>
          <p:nvPr/>
        </p:nvSpPr>
        <p:spPr>
          <a:xfrm>
            <a:off x="822960" y="3730752"/>
            <a:ext cx="384048" cy="384048"/>
          </a:xfrm>
          <a:prstGeom prst="ellipse">
            <a:avLst/>
          </a:prstGeom>
          <a:solidFill>
            <a:srgbClr val="2FE6C4"/>
          </a:solidFill>
          <a:ln/>
        </p:spPr>
      </p:sp>
      <p:sp>
        <p:nvSpPr>
          <p:cNvPr id="11" name="Text 9"/>
          <p:cNvSpPr txBox="1"/>
          <p:nvPr/>
        </p:nvSpPr>
        <p:spPr>
          <a:xfrm>
            <a:off x="822960" y="3730752"/>
            <a:ext cx="384048" cy="384048"/>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3</a:t>
            </a:r>
            <a:endParaRPr lang="en-US" sz="1400" dirty="0"/>
          </a:p>
        </p:txBody>
      </p:sp>
      <p:sp>
        <p:nvSpPr>
          <p:cNvPr id="12" name="Text 10"/>
          <p:cNvSpPr txBox="1"/>
          <p:nvPr/>
        </p:nvSpPr>
        <p:spPr>
          <a:xfrm>
            <a:off x="1417320" y="3675888"/>
            <a:ext cx="10149840" cy="905256"/>
          </a:xfrm>
          <a:prstGeom prst="rect">
            <a:avLst/>
          </a:prstGeom>
          <a:noFill/>
          <a:ln/>
        </p:spPr>
        <p:txBody>
          <a:bodyPr wrap="square" lIns="0" tIns="0" rIns="0" bIns="0" rtlCol="0" anchor="ctr"/>
          <a:lstStyle/>
          <a:p>
            <a:pPr indent="0" marL="0">
              <a:lnSpc>
                <a:spcPct val="104000"/>
              </a:lnSpc>
              <a:buNone/>
            </a:pPr>
            <a:r>
              <a:rPr lang="en-US" sz="1800" dirty="0">
                <a:solidFill>
                  <a:srgbClr val="E4E7EA"/>
                </a:solidFill>
                <a:latin typeface="Calibri" pitchFamily="34" charset="0"/>
                <a:ea typeface="Calibri" pitchFamily="34" charset="-122"/>
                <a:cs typeface="Calibri" pitchFamily="34" charset="-120"/>
              </a:rPr>
              <a:t>Aggregation lets a relationship itself act as a single participant in another relationship — needed whenever a fact is genuinely about a pairing, which two “obvious” single-entity attempts can't represent.</a:t>
            </a:r>
            <a:endParaRPr lang="en-US" sz="1800" dirty="0"/>
          </a:p>
        </p:txBody>
      </p:sp>
      <p:sp>
        <p:nvSpPr>
          <p:cNvPr id="13" name="Shape 11"/>
          <p:cNvSpPr/>
          <p:nvPr/>
        </p:nvSpPr>
        <p:spPr>
          <a:xfrm>
            <a:off x="822960" y="4636008"/>
            <a:ext cx="384048" cy="384048"/>
          </a:xfrm>
          <a:prstGeom prst="ellipse">
            <a:avLst/>
          </a:prstGeom>
          <a:solidFill>
            <a:srgbClr val="2FE6C4"/>
          </a:solidFill>
          <a:ln/>
        </p:spPr>
      </p:sp>
      <p:sp>
        <p:nvSpPr>
          <p:cNvPr id="14" name="Text 12"/>
          <p:cNvSpPr txBox="1"/>
          <p:nvPr/>
        </p:nvSpPr>
        <p:spPr>
          <a:xfrm>
            <a:off x="822960" y="4636008"/>
            <a:ext cx="384048" cy="384048"/>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4</a:t>
            </a:r>
            <a:endParaRPr lang="en-US" sz="1400" dirty="0"/>
          </a:p>
        </p:txBody>
      </p:sp>
      <p:sp>
        <p:nvSpPr>
          <p:cNvPr id="15" name="Text 13"/>
          <p:cNvSpPr txBox="1"/>
          <p:nvPr/>
        </p:nvSpPr>
        <p:spPr>
          <a:xfrm>
            <a:off x="1417320" y="4581144"/>
            <a:ext cx="10149840" cy="905256"/>
          </a:xfrm>
          <a:prstGeom prst="rect">
            <a:avLst/>
          </a:prstGeom>
          <a:noFill/>
          <a:ln/>
        </p:spPr>
        <p:txBody>
          <a:bodyPr wrap="square" lIns="0" tIns="0" rIns="0" bIns="0" rtlCol="0" anchor="ctr"/>
          <a:lstStyle/>
          <a:p>
            <a:pPr indent="0" marL="0">
              <a:lnSpc>
                <a:spcPct val="104000"/>
              </a:lnSpc>
              <a:buNone/>
            </a:pPr>
            <a:r>
              <a:rPr lang="en-US" sz="1800" dirty="0">
                <a:solidFill>
                  <a:srgbClr val="E4E7EA"/>
                </a:solidFill>
                <a:latin typeface="Calibri" pitchFamily="34" charset="0"/>
                <a:ea typeface="Calibri" pitchFamily="34" charset="-122"/>
                <a:cs typeface="Calibri" pitchFamily="34" charset="-120"/>
              </a:rPr>
              <a:t>Composition is aggregation plus two “no” answers: no independent existence, no sharing across wholes.</a:t>
            </a:r>
            <a:endParaRPr lang="en-US" sz="1800" dirty="0"/>
          </a:p>
        </p:txBody>
      </p:sp>
      <p:sp>
        <p:nvSpPr>
          <p:cNvPr id="16" name="Shape 14"/>
          <p:cNvSpPr/>
          <p:nvPr/>
        </p:nvSpPr>
        <p:spPr>
          <a:xfrm>
            <a:off x="822960" y="5541264"/>
            <a:ext cx="384048" cy="384048"/>
          </a:xfrm>
          <a:prstGeom prst="ellipse">
            <a:avLst/>
          </a:prstGeom>
          <a:solidFill>
            <a:srgbClr val="2FE6C4"/>
          </a:solidFill>
          <a:ln/>
        </p:spPr>
      </p:sp>
      <p:sp>
        <p:nvSpPr>
          <p:cNvPr id="17" name="Text 15"/>
          <p:cNvSpPr txBox="1"/>
          <p:nvPr/>
        </p:nvSpPr>
        <p:spPr>
          <a:xfrm>
            <a:off x="822960" y="5541264"/>
            <a:ext cx="384048" cy="384048"/>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5</a:t>
            </a:r>
            <a:endParaRPr lang="en-US" sz="1400" dirty="0"/>
          </a:p>
        </p:txBody>
      </p:sp>
      <p:sp>
        <p:nvSpPr>
          <p:cNvPr id="18" name="Text 16"/>
          <p:cNvSpPr txBox="1"/>
          <p:nvPr/>
        </p:nvSpPr>
        <p:spPr>
          <a:xfrm>
            <a:off x="1417320" y="5486400"/>
            <a:ext cx="10149840" cy="905256"/>
          </a:xfrm>
          <a:prstGeom prst="rect">
            <a:avLst/>
          </a:prstGeom>
          <a:noFill/>
          <a:ln/>
        </p:spPr>
        <p:txBody>
          <a:bodyPr wrap="square" lIns="0" tIns="0" rIns="0" bIns="0" rtlCol="0" anchor="ctr"/>
          <a:lstStyle/>
          <a:p>
            <a:pPr indent="0" marL="0">
              <a:lnSpc>
                <a:spcPct val="104000"/>
              </a:lnSpc>
              <a:buNone/>
            </a:pPr>
            <a:r>
              <a:rPr lang="en-US" sz="1800" dirty="0">
                <a:solidFill>
                  <a:srgbClr val="E4E7EA"/>
                </a:solidFill>
                <a:latin typeface="Calibri" pitchFamily="34" charset="0"/>
                <a:ea typeface="Calibri" pitchFamily="34" charset="-122"/>
                <a:cs typeface="Calibri" pitchFamily="34" charset="-120"/>
              </a:rPr>
              <a:t>Categorization fits candidates with no shared attributes to generalize, tied together only by one relationship that needs them all to play the same role.</a:t>
            </a:r>
            <a:endParaRPr lang="en-US" sz="1800" dirty="0"/>
          </a:p>
        </p:txBody>
      </p:sp>
      <p:sp>
        <p:nvSpPr>
          <p:cNvPr id="19" name="Text 17"/>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20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cuinotes.com</dc:creator>
  <cp:lastModifiedBy>cuinotes.com</cp:lastModifiedBy>
  <cp:revision>1</cp:revision>
  <dcterms:created xsi:type="dcterms:W3CDTF">2026-10-03T18:04:35Z</dcterms:created>
  <dcterms:modified xsi:type="dcterms:W3CDTF">2026-10-03T18:04:35Z</dcterms:modified>
</cp:coreProperties>
</file>
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2148840"/>
            <a:ext cx="10515600" cy="457200"/>
          </a:xfrm>
          <a:prstGeom prst="rect">
            <a:avLst/>
          </a:prstGeom>
          <a:noFill/>
          <a:ln/>
        </p:spPr>
        <p:txBody>
          <a:bodyPr wrap="square" lIns="0" tIns="0" rIns="0" bIns="0" rtlCol="0" anchor="ctr"/>
          <a:lstStyle/>
          <a:p>
            <a:pPr indent="0" marL="0">
              <a:buNone/>
            </a:pPr>
            <a:r>
              <a:rPr lang="en-US" sz="1600" b="1" spc="300" kern="0" dirty="0">
                <a:solidFill>
                  <a:srgbClr val="2FE6C4"/>
                </a:solidFill>
                <a:latin typeface="Calibri" pitchFamily="34" charset="0"/>
                <a:ea typeface="Calibri" pitchFamily="34" charset="-122"/>
                <a:cs typeface="Calibri" pitchFamily="34" charset="-120"/>
              </a:rPr>
              <a:t>LECTURE 14</a:t>
            </a:r>
            <a:endParaRPr lang="en-US" sz="1600" dirty="0"/>
          </a:p>
        </p:txBody>
      </p:sp>
      <p:sp>
        <p:nvSpPr>
          <p:cNvPr id="3" name="Text 1"/>
          <p:cNvSpPr txBox="1"/>
          <p:nvPr/>
        </p:nvSpPr>
        <p:spPr>
          <a:xfrm>
            <a:off x="822960" y="2606040"/>
            <a:ext cx="10515600" cy="173736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The Enhanced ER Model</a:t>
            </a:r>
            <a:endParaRPr lang="en-US" sz="4000" dirty="0"/>
          </a:p>
        </p:txBody>
      </p:sp>
      <p:sp>
        <p:nvSpPr>
          <p:cNvPr id="4" name="Text 2"/>
          <p:cNvSpPr txBox="1"/>
          <p:nvPr/>
        </p:nvSpPr>
        <p:spPr>
          <a:xfrm>
            <a:off x="822960" y="4343400"/>
            <a:ext cx="10515600" cy="457200"/>
          </a:xfrm>
          <a:prstGeom prst="rect">
            <a:avLst/>
          </a:prstGeom>
          <a:noFill/>
          <a:ln/>
        </p:spPr>
        <p:txBody>
          <a:bodyPr wrap="square" lIns="0" tIns="0" rIns="0" bIns="0" rtlCol="0" anchor="ctr"/>
          <a:lstStyle/>
          <a:p>
            <a:pPr indent="0" marL="0">
              <a:buNone/>
            </a:pPr>
            <a:r>
              <a:rPr lang="en-US" sz="1800" dirty="0">
                <a:solidFill>
                  <a:srgbClr val="2FE6C4"/>
                </a:solidFill>
                <a:latin typeface="Calibri" pitchFamily="34" charset="0"/>
                <a:ea typeface="Calibri" pitchFamily="34" charset="-122"/>
                <a:cs typeface="Calibri" pitchFamily="34" charset="-120"/>
              </a:rPr>
              <a:t>CSC270 · Database Systems</a:t>
            </a:r>
            <a:endParaRPr lang="en-US" sz="1800" dirty="0"/>
          </a:p>
        </p:txBody>
      </p:sp>
      <p:sp>
        <p:nvSpPr>
          <p:cNvPr id="5" name="Text 3"/>
          <p:cNvSpPr txBox="1"/>
          <p:nvPr/>
        </p:nvSpPr>
        <p:spPr>
          <a:xfrm>
            <a:off x="822960" y="4754880"/>
            <a:ext cx="10515600" cy="365760"/>
          </a:xfrm>
          <a:prstGeom prst="rect">
            <a:avLst/>
          </a:prstGeom>
          <a:noFill/>
          <a:ln/>
        </p:spPr>
        <p:txBody>
          <a:bodyPr wrap="square" lIns="0" tIns="0" rIns="0" bIns="0" rtlCol="0" anchor="ctr"/>
          <a:lstStyle/>
          <a:p>
            <a:pPr indent="0" marL="0">
              <a:buNone/>
            </a:pPr>
            <a:r>
              <a:rPr lang="en-US" sz="1300" dirty="0">
                <a:solidFill>
                  <a:srgbClr val="8A939B"/>
                </a:solidFill>
                <a:latin typeface="Calibri" pitchFamily="34" charset="0"/>
                <a:ea typeface="Calibri" pitchFamily="34" charset="-122"/>
                <a:cs typeface="Calibri" pitchFamily="34" charset="-120"/>
              </a:rPr>
              <a:t>COMSATS University Islamabad, Lahore Campus</a:t>
            </a:r>
            <a:endParaRPr lang="en-US" sz="1300" dirty="0"/>
          </a:p>
        </p:txBody>
      </p:sp>
      <p:sp>
        <p:nvSpPr>
          <p:cNvPr id="6" name="Text 4"/>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In This Lecture</a:t>
            </a:r>
            <a:endParaRPr lang="en-US" sz="2800" dirty="0"/>
          </a:p>
        </p:txBody>
      </p:sp>
      <p:sp>
        <p:nvSpPr>
          <p:cNvPr id="3" name="Text 1"/>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2</a:t>
            </a:r>
            <a:endParaRPr lang="en-US" sz="1000" dirty="0"/>
          </a:p>
        </p:txBody>
      </p:sp>
      <p:sp>
        <p:nvSpPr>
          <p:cNvPr id="4" name="Text 2"/>
          <p:cNvSpPr txBox="1"/>
          <p:nvPr/>
        </p:nvSpPr>
        <p:spPr>
          <a:xfrm>
            <a:off x="640080" y="1280160"/>
            <a:ext cx="10881360" cy="512064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rgbClr val="1F2429"/>
                </a:solidFill>
                <a:latin typeface="Calibri" pitchFamily="34" charset="0"/>
                <a:ea typeface="Calibri" pitchFamily="34" charset="-122"/>
                <a:cs typeface="Calibri" pitchFamily="34" charset="-120"/>
              </a:rPr>
              <a:t>Why plain ER modeling breaks down for domains with natural sub-types</a:t>
            </a:r>
            <a:endParaRPr lang="en-US" sz="1600" dirty="0"/>
          </a:p>
          <a:p>
            <a:pPr marL="342900" indent="-342900">
              <a:spcAft>
                <a:spcPts val="1400"/>
              </a:spcAft>
              <a:buSzPct val="100000"/>
              <a:buChar char="•"/>
            </a:pPr>
            <a:r>
              <a:rPr lang="en-US" sz="1600" dirty="0">
                <a:solidFill>
                  <a:srgbClr val="1F2429"/>
                </a:solidFill>
                <a:latin typeface="Calibri" pitchFamily="34" charset="0"/>
                <a:ea typeface="Calibri" pitchFamily="34" charset="-122"/>
                <a:cs typeface="Calibri" pitchFamily="34" charset="-120"/>
              </a:rPr>
              <a:t>Specialization: the top-down direction of reasoning</a:t>
            </a:r>
            <a:endParaRPr lang="en-US" sz="1600" dirty="0"/>
          </a:p>
          <a:p>
            <a:pPr marL="342900" indent="-342900">
              <a:spcAft>
                <a:spcPts val="1400"/>
              </a:spcAft>
              <a:buSzPct val="100000"/>
              <a:buChar char="•"/>
            </a:pPr>
            <a:r>
              <a:rPr lang="en-US" sz="1600" dirty="0">
                <a:solidFill>
                  <a:srgbClr val="1F2429"/>
                </a:solidFill>
                <a:latin typeface="Calibri" pitchFamily="34" charset="0"/>
                <a:ea typeface="Calibri" pitchFamily="34" charset="-122"/>
                <a:cs typeface="Calibri" pitchFamily="34" charset="-120"/>
              </a:rPr>
              <a:t>Generalization: the bottom-up direction of reasoning</a:t>
            </a:r>
            <a:endParaRPr lang="en-US" sz="1600" dirty="0"/>
          </a:p>
          <a:p>
            <a:pPr marL="342900" indent="-342900">
              <a:spcAft>
                <a:spcPts val="1400"/>
              </a:spcAft>
              <a:buSzPct val="100000"/>
              <a:buChar char="•"/>
            </a:pPr>
            <a:r>
              <a:rPr lang="en-US" sz="1600" dirty="0">
                <a:solidFill>
                  <a:srgbClr val="1F2429"/>
                </a:solidFill>
                <a:latin typeface="Calibri" pitchFamily="34" charset="0"/>
                <a:ea typeface="Calibri" pitchFamily="34" charset="-122"/>
                <a:cs typeface="Calibri" pitchFamily="34" charset="-120"/>
              </a:rPr>
              <a:t>Superclasses, subclasses, and inheritance of attributes AND relationships</a:t>
            </a:r>
            <a:endParaRPr lang="en-US" sz="1600" dirty="0"/>
          </a:p>
          <a:p>
            <a:pPr marL="342900" indent="-342900">
              <a:spcAft>
                <a:spcPts val="1400"/>
              </a:spcAft>
              <a:buSzPct val="100000"/>
              <a:buChar char="•"/>
            </a:pPr>
            <a:r>
              <a:rPr lang="en-US" sz="1600" dirty="0">
                <a:solidFill>
                  <a:srgbClr val="1F2429"/>
                </a:solidFill>
                <a:latin typeface="Calibri" pitchFamily="34" charset="0"/>
                <a:ea typeface="Calibri" pitchFamily="34" charset="-122"/>
                <a:cs typeface="Calibri" pitchFamily="34" charset="-120"/>
              </a:rPr>
              <a:t>The four specialization/generalization constraints: disjoint vs. overlapping, total vs. partial</a:t>
            </a:r>
            <a:endParaRPr lang="en-US" sz="1600" dirty="0"/>
          </a:p>
          <a:p>
            <a:pPr marL="342900" indent="-342900">
              <a:spcAft>
                <a:spcPts val="1400"/>
              </a:spcAft>
              <a:buSzPct val="100000"/>
              <a:buChar char="•"/>
            </a:pPr>
            <a:r>
              <a:rPr lang="en-US" sz="1600" dirty="0">
                <a:solidFill>
                  <a:srgbClr val="1F2429"/>
                </a:solidFill>
                <a:latin typeface="Calibri" pitchFamily="34" charset="0"/>
                <a:ea typeface="Calibri" pitchFamily="34" charset="-122"/>
                <a:cs typeface="Calibri" pitchFamily="34" charset="-120"/>
              </a:rPr>
              <a:t>Aggregation: treating a relationship itself as a participant in another relationship</a:t>
            </a:r>
            <a:endParaRPr lang="en-US" sz="1600" dirty="0"/>
          </a:p>
          <a:p>
            <a:pPr marL="342900" indent="-342900">
              <a:spcAft>
                <a:spcPts val="1400"/>
              </a:spcAft>
              <a:buSzPct val="100000"/>
              <a:buChar char="•"/>
            </a:pPr>
            <a:r>
              <a:rPr lang="en-US" sz="1600" dirty="0">
                <a:solidFill>
                  <a:srgbClr val="1F2429"/>
                </a:solidFill>
                <a:latin typeface="Calibri" pitchFamily="34" charset="0"/>
                <a:ea typeface="Calibri" pitchFamily="34" charset="-122"/>
                <a:cs typeface="Calibri" pitchFamily="34" charset="-120"/>
              </a:rPr>
              <a:t>Composition: aggregation's stronger, ownership-implying cousin</a:t>
            </a:r>
            <a:endParaRPr lang="en-US" sz="1600" dirty="0"/>
          </a:p>
          <a:p>
            <a:pPr marL="342900" indent="-342900">
              <a:spcAft>
                <a:spcPts val="1400"/>
              </a:spcAft>
              <a:buSzPct val="100000"/>
              <a:buChar char="•"/>
            </a:pPr>
            <a:r>
              <a:rPr lang="en-US" sz="1600" dirty="0">
                <a:solidFill>
                  <a:srgbClr val="1F2429"/>
                </a:solidFill>
                <a:latin typeface="Calibri" pitchFamily="34" charset="0"/>
                <a:ea typeface="Calibri" pitchFamily="34" charset="-122"/>
                <a:cs typeface="Calibri" pitchFamily="34" charset="-120"/>
              </a:rPr>
              <a:t>Categorization (union types): a subclass drawn from several unrelated superclasses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Why Plain ER Isn't Enough</a:t>
            </a:r>
            <a:endParaRPr lang="en-US" sz="2800" dirty="0"/>
          </a:p>
        </p:txBody>
      </p:sp>
      <p:sp>
        <p:nvSpPr>
          <p:cNvPr id="3" name="Text 1"/>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3</a:t>
            </a:r>
            <a:endParaRPr lang="en-US" sz="1000" dirty="0"/>
          </a:p>
        </p:txBody>
      </p:sp>
      <p:sp>
        <p:nvSpPr>
          <p:cNvPr id="4" name="Text 2"/>
          <p:cNvSpPr txBox="1"/>
          <p:nvPr/>
        </p:nvSpPr>
        <p:spPr>
          <a:xfrm>
            <a:off x="640080" y="1005840"/>
            <a:ext cx="10881360" cy="685800"/>
          </a:xfrm>
          <a:prstGeom prst="rect">
            <a:avLst/>
          </a:prstGeom>
          <a:noFill/>
          <a:ln/>
        </p:spPr>
        <p:txBody>
          <a:bodyPr wrap="square" lIns="0" tIns="0" rIns="0" bIns="0" rtlCol="0" anchor="ctr"/>
          <a:lstStyle/>
          <a:p>
            <a:pPr indent="0" marL="0">
              <a:buNone/>
            </a:pPr>
            <a:r>
              <a:rPr lang="en-US" sz="1300" dirty="0">
                <a:solidFill>
                  <a:srgbClr val="1F2429"/>
                </a:solidFill>
                <a:latin typeface="Calibri" pitchFamily="34" charset="0"/>
                <a:ea typeface="Calibri" pitchFamily="34" charset="-122"/>
                <a:cs typeface="Calibri" pitchFamily="34" charset="-120"/>
              </a:rPr>
              <a:t>Plain ER (Lectures 12-13) is entities, relationships, and attributes, all at the same flat level. It breaks down specifically when a domain has natural sub-types sharing a common core but each adding its own extra structure:</a:t>
            </a:r>
            <a:endParaRPr lang="en-US" sz="1300" dirty="0"/>
          </a:p>
        </p:txBody>
      </p:sp>
      <p:sp>
        <p:nvSpPr>
          <p:cNvPr id="5" name="Shape 3"/>
          <p:cNvSpPr/>
          <p:nvPr/>
        </p:nvSpPr>
        <p:spPr>
          <a:xfrm>
            <a:off x="640080" y="1828800"/>
            <a:ext cx="5326380" cy="2103120"/>
          </a:xfrm>
          <a:prstGeom prst="roundRect">
            <a:avLst>
              <a:gd name="adj" fmla="val 3478"/>
            </a:avLst>
          </a:prstGeom>
          <a:solidFill>
            <a:srgbClr val="E8A33D"/>
          </a:solidFill>
          <a:ln/>
        </p:spPr>
      </p:sp>
      <p:sp>
        <p:nvSpPr>
          <p:cNvPr id="6" name="Text 4"/>
          <p:cNvSpPr txBox="1"/>
          <p:nvPr/>
        </p:nvSpPr>
        <p:spPr>
          <a:xfrm>
            <a:off x="822960" y="1956816"/>
            <a:ext cx="496062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Attribute overload</a:t>
            </a:r>
            <a:endParaRPr lang="en-US" sz="1350" dirty="0"/>
          </a:p>
        </p:txBody>
      </p:sp>
      <p:sp>
        <p:nvSpPr>
          <p:cNvPr id="7" name="Text 5"/>
          <p:cNvSpPr txBox="1"/>
          <p:nvPr/>
        </p:nvSpPr>
        <p:spPr>
          <a:xfrm>
            <a:off x="822960" y="2304288"/>
            <a:ext cx="4960620" cy="153619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Cram every subtype's attributes onto one entity type. Every SalesPersonnel-only attribute sits NULL on every Manager row and vice versa — a schema-level admission the entity type hides two+ different kinds of thing.</a:t>
            </a:r>
            <a:endParaRPr lang="en-US" sz="1050" dirty="0"/>
          </a:p>
        </p:txBody>
      </p:sp>
      <p:sp>
        <p:nvSpPr>
          <p:cNvPr id="8" name="Shape 6"/>
          <p:cNvSpPr/>
          <p:nvPr/>
        </p:nvSpPr>
        <p:spPr>
          <a:xfrm>
            <a:off x="6195060" y="1828800"/>
            <a:ext cx="5326380" cy="2103120"/>
          </a:xfrm>
          <a:prstGeom prst="roundRect">
            <a:avLst>
              <a:gd name="adj" fmla="val 3478"/>
            </a:avLst>
          </a:prstGeom>
          <a:solidFill>
            <a:srgbClr val="8B7FD9"/>
          </a:solidFill>
          <a:ln/>
        </p:spPr>
      </p:sp>
      <p:sp>
        <p:nvSpPr>
          <p:cNvPr id="9" name="Text 7"/>
          <p:cNvSpPr txBox="1"/>
          <p:nvPr/>
        </p:nvSpPr>
        <p:spPr>
          <a:xfrm>
            <a:off x="6377940" y="1956816"/>
            <a:ext cx="496062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Lost commonality</a:t>
            </a:r>
            <a:endParaRPr lang="en-US" sz="1350" dirty="0"/>
          </a:p>
        </p:txBody>
      </p:sp>
      <p:sp>
        <p:nvSpPr>
          <p:cNvPr id="10" name="Text 8"/>
          <p:cNvSpPr txBox="1"/>
          <p:nvPr/>
        </p:nvSpPr>
        <p:spPr>
          <a:xfrm>
            <a:off x="6377940" y="2304288"/>
            <a:ext cx="4960620" cy="153619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Model SalesPersonnel and Manager as two entirely separate entity types. staffNo/name/position/salary are duplicated in both, with no way to express “these are the same kind of thing” or query “all staff” without a manual union.</a:t>
            </a:r>
            <a:endParaRPr lang="en-US" sz="1050" dirty="0"/>
          </a:p>
        </p:txBody>
      </p:sp>
      <p:sp>
        <p:nvSpPr>
          <p:cNvPr id="11" name="Shape 9"/>
          <p:cNvSpPr/>
          <p:nvPr/>
        </p:nvSpPr>
        <p:spPr>
          <a:xfrm>
            <a:off x="640080" y="4160520"/>
            <a:ext cx="10881360" cy="1737360"/>
          </a:xfrm>
          <a:prstGeom prst="roundRect">
            <a:avLst>
              <a:gd name="adj" fmla="val 4211"/>
            </a:avLst>
          </a:prstGeom>
          <a:solidFill>
            <a:srgbClr val="FFFFFF"/>
          </a:solidFill>
          <a:ln w="12700">
            <a:solidFill>
              <a:srgbClr val="2FE6C4"/>
            </a:solidFill>
            <a:prstDash val="solid"/>
          </a:ln>
        </p:spPr>
      </p:sp>
      <p:sp>
        <p:nvSpPr>
          <p:cNvPr id="12" name="Shape 10"/>
          <p:cNvSpPr/>
          <p:nvPr/>
        </p:nvSpPr>
        <p:spPr>
          <a:xfrm>
            <a:off x="640080" y="4160520"/>
            <a:ext cx="54864" cy="1737360"/>
          </a:xfrm>
          <a:prstGeom prst="rect">
            <a:avLst/>
          </a:prstGeom>
          <a:solidFill>
            <a:srgbClr val="2FE6C4"/>
          </a:solidFill>
          <a:ln/>
        </p:spPr>
      </p:sp>
      <p:sp>
        <p:nvSpPr>
          <p:cNvPr id="13" name="Text 11"/>
          <p:cNvSpPr txBox="1"/>
          <p:nvPr/>
        </p:nvSpPr>
        <p:spPr>
          <a:xfrm>
            <a:off x="841248" y="4270248"/>
            <a:ext cx="10515600" cy="256032"/>
          </a:xfrm>
          <a:prstGeom prst="rect">
            <a:avLst/>
          </a:prstGeom>
          <a:noFill/>
          <a:ln/>
        </p:spPr>
        <p:txBody>
          <a:bodyPr wrap="square" lIns="0" tIns="0" rIns="0" bIns="0" rtlCol="0" anchor="ctr"/>
          <a:lstStyle/>
          <a:p>
            <a:pPr indent="0" marL="0">
              <a:buNone/>
            </a:pPr>
            <a:r>
              <a:rPr lang="en-US" sz="1200" b="1" dirty="0">
                <a:solidFill>
                  <a:srgbClr val="1F2429"/>
                </a:solidFill>
                <a:latin typeface="Calibri" pitchFamily="34" charset="0"/>
                <a:ea typeface="Calibri" pitchFamily="34" charset="-122"/>
                <a:cs typeface="Calibri" pitchFamily="34" charset="-120"/>
              </a:rPr>
              <a:t>The EER model's superclass/subclass machinery solves both at once</a:t>
            </a:r>
            <a:endParaRPr lang="en-US" sz="1200" dirty="0"/>
          </a:p>
        </p:txBody>
      </p:sp>
      <p:sp>
        <p:nvSpPr>
          <p:cNvPr id="14" name="Text 12"/>
          <p:cNvSpPr txBox="1"/>
          <p:nvPr/>
        </p:nvSpPr>
        <p:spPr>
          <a:xfrm>
            <a:off x="841248" y="4544568"/>
            <a:ext cx="10515600" cy="1261872"/>
          </a:xfrm>
          <a:prstGeom prst="rect">
            <a:avLst/>
          </a:prstGeom>
          <a:noFill/>
          <a:ln/>
        </p:spPr>
        <p:txBody>
          <a:bodyPr wrap="square" lIns="0" tIns="0" rIns="0" bIns="0" rtlCol="0" anchor="t"/>
          <a:lstStyle/>
          <a:p>
            <a:pPr indent="0" marL="0">
              <a:lnSpc>
                <a:spcPct val="115000"/>
              </a:lnSpc>
              <a:buNone/>
            </a:pPr>
            <a:r>
              <a:rPr lang="en-US" sz="1100" dirty="0">
                <a:solidFill>
                  <a:srgbClr val="1F2429"/>
                </a:solidFill>
                <a:latin typeface="Calibri" pitchFamily="34" charset="0"/>
                <a:ea typeface="Calibri" pitchFamily="34" charset="-122"/>
                <a:cs typeface="Calibri" pitchFamily="34" charset="-120"/>
              </a:rPr>
              <a:t>Shared attributes and relationships live ONCE, on the superclass, and each subclass adds only what's genuinely specific to it. This lecture adds four new modeling concepts on top of Lectures 12-13: specialization, generalization, aggregation, and categorization.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Specialization — Top-Down</a:t>
            </a:r>
            <a:endParaRPr lang="en-US" sz="2800" dirty="0"/>
          </a:p>
        </p:txBody>
      </p:sp>
      <p:sp>
        <p:nvSpPr>
          <p:cNvPr id="3" name="Text 1"/>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4</a:t>
            </a:r>
            <a:endParaRPr lang="en-US" sz="1000" dirty="0"/>
          </a:p>
        </p:txBody>
      </p:sp>
      <p:sp>
        <p:nvSpPr>
          <p:cNvPr id="4" name="Text 2"/>
          <p:cNvSpPr txBox="1"/>
          <p:nvPr/>
        </p:nvSpPr>
        <p:spPr>
          <a:xfrm>
            <a:off x="640080" y="1005840"/>
            <a:ext cx="10881360" cy="502920"/>
          </a:xfrm>
          <a:prstGeom prst="rect">
            <a:avLst/>
          </a:prstGeom>
          <a:noFill/>
          <a:ln/>
        </p:spPr>
        <p:txBody>
          <a:bodyPr wrap="square" lIns="0" tIns="0" rIns="0" bIns="0" rtlCol="0" anchor="ctr"/>
          <a:lstStyle/>
          <a:p>
            <a:pPr indent="0" marL="0">
              <a:buNone/>
            </a:pPr>
            <a:r>
              <a:rPr lang="en-US" sz="1350" dirty="0">
                <a:solidFill>
                  <a:srgbClr val="1F2429"/>
                </a:solidFill>
                <a:latin typeface="Calibri" pitchFamily="34" charset="0"/>
                <a:ea typeface="Calibri" pitchFamily="34" charset="-122"/>
                <a:cs typeface="Calibri" pitchFamily="34" charset="-120"/>
              </a:rPr>
              <a:t>Start from ONE superclass already known to the model (Staff), and identify meaningful, distinct subgroupings based on a distinguishing characteristic (job role).</a:t>
            </a:r>
            <a:endParaRPr lang="en-US" sz="1350" dirty="0"/>
          </a:p>
        </p:txBody>
      </p:sp>
      <p:sp>
        <p:nvSpPr>
          <p:cNvPr id="5" name="Shape 3"/>
          <p:cNvSpPr/>
          <p:nvPr/>
        </p:nvSpPr>
        <p:spPr>
          <a:xfrm>
            <a:off x="3611880" y="1691640"/>
            <a:ext cx="4937760" cy="1188720"/>
          </a:xfrm>
          <a:prstGeom prst="roundRect">
            <a:avLst>
              <a:gd name="adj" fmla="val 5385"/>
            </a:avLst>
          </a:prstGeom>
          <a:solidFill>
            <a:srgbClr val="FFFFFF"/>
          </a:solidFill>
          <a:ln w="19050">
            <a:solidFill>
              <a:srgbClr val="2FE6C4"/>
            </a:solidFill>
            <a:prstDash val="solid"/>
          </a:ln>
        </p:spPr>
      </p:sp>
      <p:sp>
        <p:nvSpPr>
          <p:cNvPr id="6" name="Shape 4"/>
          <p:cNvSpPr/>
          <p:nvPr/>
        </p:nvSpPr>
        <p:spPr>
          <a:xfrm>
            <a:off x="3611880" y="1691640"/>
            <a:ext cx="4937760" cy="384048"/>
          </a:xfrm>
          <a:prstGeom prst="roundRect">
            <a:avLst>
              <a:gd name="adj" fmla="val 16667"/>
            </a:avLst>
          </a:prstGeom>
          <a:solidFill>
            <a:srgbClr val="2FE6C4"/>
          </a:solidFill>
          <a:ln/>
        </p:spPr>
      </p:sp>
      <p:sp>
        <p:nvSpPr>
          <p:cNvPr id="7" name="Shape 5"/>
          <p:cNvSpPr/>
          <p:nvPr/>
        </p:nvSpPr>
        <p:spPr>
          <a:xfrm>
            <a:off x="3611880" y="1984248"/>
            <a:ext cx="4937760" cy="91440"/>
          </a:xfrm>
          <a:prstGeom prst="rect">
            <a:avLst/>
          </a:prstGeom>
          <a:solidFill>
            <a:srgbClr val="2FE6C4"/>
          </a:solidFill>
          <a:ln/>
        </p:spPr>
      </p:sp>
      <p:sp>
        <p:nvSpPr>
          <p:cNvPr id="8" name="Text 6"/>
          <p:cNvSpPr txBox="1"/>
          <p:nvPr/>
        </p:nvSpPr>
        <p:spPr>
          <a:xfrm>
            <a:off x="3749040" y="1691640"/>
            <a:ext cx="466344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Staff (superclass)</a:t>
            </a:r>
            <a:endParaRPr lang="en-US" sz="1300" dirty="0"/>
          </a:p>
        </p:txBody>
      </p:sp>
      <p:sp>
        <p:nvSpPr>
          <p:cNvPr id="9" name="Text 7"/>
          <p:cNvSpPr txBox="1"/>
          <p:nvPr/>
        </p:nvSpPr>
        <p:spPr>
          <a:xfrm>
            <a:off x="3749040" y="2148840"/>
            <a:ext cx="4663440" cy="694944"/>
          </a:xfrm>
          <a:prstGeom prst="rect">
            <a:avLst/>
          </a:prstGeom>
          <a:noFill/>
          <a:ln/>
        </p:spPr>
        <p:txBody>
          <a:bodyPr wrap="square" lIns="0" tIns="0" rIns="0" bIns="0" rtlCol="0" anchor="t"/>
          <a:lstStyle/>
          <a:p>
            <a:pPr indent="0" marL="0">
              <a:spcAft>
                <a:spcPts val="400"/>
              </a:spcAft>
              <a:buNone/>
            </a:pPr>
            <a:r>
              <a:rPr lang="en-US" sz="1100" b="1" u="sng" dirty="0">
                <a:solidFill>
                  <a:srgbClr val="1F2429"/>
                </a:solidFill>
                <a:latin typeface="Courier New" pitchFamily="34" charset="0"/>
                <a:ea typeface="Courier New" pitchFamily="34" charset="-122"/>
                <a:cs typeface="Courier New" pitchFamily="34" charset="-120"/>
              </a:rPr>
              <a:t>staffNo</a:t>
            </a:r>
            <a:endParaRPr lang="en-US" sz="1100" dirty="0"/>
          </a:p>
          <a:p>
            <a:pPr indent="0" marL="0">
              <a:spcAft>
                <a:spcPts val="400"/>
              </a:spcAft>
              <a:buNone/>
            </a:pPr>
            <a:r>
              <a:rPr lang="en-US" sz="1100" dirty="0">
                <a:solidFill>
                  <a:srgbClr val="1F2429"/>
                </a:solidFill>
                <a:latin typeface="Courier New" pitchFamily="34" charset="0"/>
                <a:ea typeface="Courier New" pitchFamily="34" charset="-122"/>
                <a:cs typeface="Courier New" pitchFamily="34" charset="-120"/>
              </a:rPr>
              <a:t>name, position, salary, branchNo</a:t>
            </a:r>
            <a:endParaRPr lang="en-US" sz="1100" dirty="0"/>
          </a:p>
        </p:txBody>
      </p:sp>
      <p:sp>
        <p:nvSpPr>
          <p:cNvPr id="10" name="Shape 8"/>
          <p:cNvSpPr/>
          <p:nvPr/>
        </p:nvSpPr>
        <p:spPr>
          <a:xfrm>
            <a:off x="6080760" y="2880360"/>
            <a:ext cx="0" cy="320040"/>
          </a:xfrm>
          <a:prstGeom prst="line">
            <a:avLst/>
          </a:prstGeom>
          <a:noFill/>
          <a:ln w="19050">
            <a:solidFill>
              <a:srgbClr val="8A939B"/>
            </a:solidFill>
            <a:prstDash val="solid"/>
          </a:ln>
        </p:spPr>
      </p:sp>
      <p:sp>
        <p:nvSpPr>
          <p:cNvPr id="11" name="Shape 9"/>
          <p:cNvSpPr/>
          <p:nvPr/>
        </p:nvSpPr>
        <p:spPr>
          <a:xfrm>
            <a:off x="3703320" y="3200400"/>
            <a:ext cx="4754880" cy="0"/>
          </a:xfrm>
          <a:prstGeom prst="line">
            <a:avLst/>
          </a:prstGeom>
          <a:noFill/>
          <a:ln w="19050">
            <a:solidFill>
              <a:srgbClr val="8A939B"/>
            </a:solidFill>
            <a:prstDash val="solid"/>
          </a:ln>
        </p:spPr>
      </p:sp>
      <p:sp>
        <p:nvSpPr>
          <p:cNvPr id="12" name="Shape 10"/>
          <p:cNvSpPr/>
          <p:nvPr/>
        </p:nvSpPr>
        <p:spPr>
          <a:xfrm>
            <a:off x="3703320" y="3200400"/>
            <a:ext cx="0" cy="320040"/>
          </a:xfrm>
          <a:prstGeom prst="line">
            <a:avLst/>
          </a:prstGeom>
          <a:noFill/>
          <a:ln w="19050">
            <a:solidFill>
              <a:srgbClr val="8A939B"/>
            </a:solidFill>
            <a:prstDash val="solid"/>
          </a:ln>
        </p:spPr>
      </p:sp>
      <p:sp>
        <p:nvSpPr>
          <p:cNvPr id="13" name="Shape 11"/>
          <p:cNvSpPr/>
          <p:nvPr/>
        </p:nvSpPr>
        <p:spPr>
          <a:xfrm>
            <a:off x="1463040" y="3520440"/>
            <a:ext cx="4480560" cy="1325880"/>
          </a:xfrm>
          <a:prstGeom prst="roundRect">
            <a:avLst>
              <a:gd name="adj" fmla="val 4828"/>
            </a:avLst>
          </a:prstGeom>
          <a:solidFill>
            <a:srgbClr val="FFFFFF"/>
          </a:solidFill>
          <a:ln w="19050">
            <a:solidFill>
              <a:srgbClr val="8B7FD9"/>
            </a:solidFill>
            <a:prstDash val="solid"/>
          </a:ln>
        </p:spPr>
      </p:sp>
      <p:sp>
        <p:nvSpPr>
          <p:cNvPr id="14" name="Shape 12"/>
          <p:cNvSpPr/>
          <p:nvPr/>
        </p:nvSpPr>
        <p:spPr>
          <a:xfrm>
            <a:off x="1463040" y="3520440"/>
            <a:ext cx="4480560" cy="384048"/>
          </a:xfrm>
          <a:prstGeom prst="roundRect">
            <a:avLst>
              <a:gd name="adj" fmla="val 16667"/>
            </a:avLst>
          </a:prstGeom>
          <a:solidFill>
            <a:srgbClr val="8B7FD9"/>
          </a:solidFill>
          <a:ln/>
        </p:spPr>
      </p:sp>
      <p:sp>
        <p:nvSpPr>
          <p:cNvPr id="15" name="Shape 13"/>
          <p:cNvSpPr/>
          <p:nvPr/>
        </p:nvSpPr>
        <p:spPr>
          <a:xfrm>
            <a:off x="1463040" y="3813048"/>
            <a:ext cx="4480560" cy="91440"/>
          </a:xfrm>
          <a:prstGeom prst="rect">
            <a:avLst/>
          </a:prstGeom>
          <a:solidFill>
            <a:srgbClr val="8B7FD9"/>
          </a:solidFill>
          <a:ln/>
        </p:spPr>
      </p:sp>
      <p:sp>
        <p:nvSpPr>
          <p:cNvPr id="16" name="Text 14"/>
          <p:cNvSpPr txBox="1"/>
          <p:nvPr/>
        </p:nvSpPr>
        <p:spPr>
          <a:xfrm>
            <a:off x="1600200" y="3520440"/>
            <a:ext cx="420624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SalesPersonnel (subclass)</a:t>
            </a:r>
            <a:endParaRPr lang="en-US" sz="1300" dirty="0"/>
          </a:p>
        </p:txBody>
      </p:sp>
      <p:sp>
        <p:nvSpPr>
          <p:cNvPr id="17" name="Text 15"/>
          <p:cNvSpPr txBox="1"/>
          <p:nvPr/>
        </p:nvSpPr>
        <p:spPr>
          <a:xfrm>
            <a:off x="1600200" y="3977640"/>
            <a:ext cx="4206240" cy="832104"/>
          </a:xfrm>
          <a:prstGeom prst="rect">
            <a:avLst/>
          </a:prstGeom>
          <a:noFill/>
          <a:ln/>
        </p:spPr>
        <p:txBody>
          <a:bodyPr wrap="square" lIns="0" tIns="0" rIns="0" bIns="0" rtlCol="0" anchor="t"/>
          <a:lstStyle/>
          <a:p>
            <a:pPr indent="0" marL="0">
              <a:spcAft>
                <a:spcPts val="400"/>
              </a:spcAft>
              <a:buNone/>
            </a:pPr>
            <a:r>
              <a:rPr lang="en-US" sz="1100" dirty="0">
                <a:solidFill>
                  <a:srgbClr val="1F2429"/>
                </a:solidFill>
                <a:latin typeface="Courier New" pitchFamily="34" charset="0"/>
                <a:ea typeface="Courier New" pitchFamily="34" charset="-122"/>
                <a:cs typeface="Courier New" pitchFamily="34" charset="-120"/>
              </a:rPr>
              <a:t>salesArea</a:t>
            </a:r>
            <a:endParaRPr lang="en-US" sz="1100" dirty="0"/>
          </a:p>
          <a:p>
            <a:pPr indent="0" marL="0">
              <a:spcAft>
                <a:spcPts val="400"/>
              </a:spcAft>
              <a:buNone/>
            </a:pPr>
            <a:r>
              <a:rPr lang="en-US" sz="1100" dirty="0">
                <a:solidFill>
                  <a:srgbClr val="1F2429"/>
                </a:solidFill>
                <a:latin typeface="Courier New" pitchFamily="34" charset="0"/>
                <a:ea typeface="Courier New" pitchFamily="34" charset="-122"/>
                <a:cs typeface="Courier New" pitchFamily="34" charset="-120"/>
              </a:rPr>
              <a:t>carAllowance</a:t>
            </a:r>
            <a:endParaRPr lang="en-US" sz="1100" dirty="0"/>
          </a:p>
        </p:txBody>
      </p:sp>
      <p:sp>
        <p:nvSpPr>
          <p:cNvPr id="18" name="Shape 16"/>
          <p:cNvSpPr/>
          <p:nvPr/>
        </p:nvSpPr>
        <p:spPr>
          <a:xfrm>
            <a:off x="8458200" y="3200400"/>
            <a:ext cx="0" cy="320040"/>
          </a:xfrm>
          <a:prstGeom prst="line">
            <a:avLst/>
          </a:prstGeom>
          <a:noFill/>
          <a:ln w="19050">
            <a:solidFill>
              <a:srgbClr val="8A939B"/>
            </a:solidFill>
            <a:prstDash val="solid"/>
          </a:ln>
        </p:spPr>
      </p:sp>
      <p:sp>
        <p:nvSpPr>
          <p:cNvPr id="19" name="Shape 17"/>
          <p:cNvSpPr/>
          <p:nvPr/>
        </p:nvSpPr>
        <p:spPr>
          <a:xfrm>
            <a:off x="6217920" y="3520440"/>
            <a:ext cx="4480560" cy="1325880"/>
          </a:xfrm>
          <a:prstGeom prst="roundRect">
            <a:avLst>
              <a:gd name="adj" fmla="val 4828"/>
            </a:avLst>
          </a:prstGeom>
          <a:solidFill>
            <a:srgbClr val="FFFFFF"/>
          </a:solidFill>
          <a:ln w="19050">
            <a:solidFill>
              <a:srgbClr val="E8A33D"/>
            </a:solidFill>
            <a:prstDash val="solid"/>
          </a:ln>
        </p:spPr>
      </p:sp>
      <p:sp>
        <p:nvSpPr>
          <p:cNvPr id="20" name="Shape 18"/>
          <p:cNvSpPr/>
          <p:nvPr/>
        </p:nvSpPr>
        <p:spPr>
          <a:xfrm>
            <a:off x="6217920" y="3520440"/>
            <a:ext cx="4480560" cy="384048"/>
          </a:xfrm>
          <a:prstGeom prst="roundRect">
            <a:avLst>
              <a:gd name="adj" fmla="val 16667"/>
            </a:avLst>
          </a:prstGeom>
          <a:solidFill>
            <a:srgbClr val="E8A33D"/>
          </a:solidFill>
          <a:ln/>
        </p:spPr>
      </p:sp>
      <p:sp>
        <p:nvSpPr>
          <p:cNvPr id="21" name="Shape 19"/>
          <p:cNvSpPr/>
          <p:nvPr/>
        </p:nvSpPr>
        <p:spPr>
          <a:xfrm>
            <a:off x="6217920" y="3813048"/>
            <a:ext cx="4480560" cy="91440"/>
          </a:xfrm>
          <a:prstGeom prst="rect">
            <a:avLst/>
          </a:prstGeom>
          <a:solidFill>
            <a:srgbClr val="E8A33D"/>
          </a:solidFill>
          <a:ln/>
        </p:spPr>
      </p:sp>
      <p:sp>
        <p:nvSpPr>
          <p:cNvPr id="22" name="Text 20"/>
          <p:cNvSpPr txBox="1"/>
          <p:nvPr/>
        </p:nvSpPr>
        <p:spPr>
          <a:xfrm>
            <a:off x="6355080" y="3520440"/>
            <a:ext cx="420624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Manager (subclass)</a:t>
            </a:r>
            <a:endParaRPr lang="en-US" sz="1300" dirty="0"/>
          </a:p>
        </p:txBody>
      </p:sp>
      <p:sp>
        <p:nvSpPr>
          <p:cNvPr id="23" name="Text 21"/>
          <p:cNvSpPr txBox="1"/>
          <p:nvPr/>
        </p:nvSpPr>
        <p:spPr>
          <a:xfrm>
            <a:off x="6355080" y="3977640"/>
            <a:ext cx="4206240" cy="832104"/>
          </a:xfrm>
          <a:prstGeom prst="rect">
            <a:avLst/>
          </a:prstGeom>
          <a:noFill/>
          <a:ln/>
        </p:spPr>
        <p:txBody>
          <a:bodyPr wrap="square" lIns="0" tIns="0" rIns="0" bIns="0" rtlCol="0" anchor="t"/>
          <a:lstStyle/>
          <a:p>
            <a:pPr indent="0" marL="0">
              <a:spcAft>
                <a:spcPts val="400"/>
              </a:spcAft>
              <a:buNone/>
            </a:pPr>
            <a:r>
              <a:rPr lang="en-US" sz="1100" dirty="0">
                <a:solidFill>
                  <a:srgbClr val="1F2429"/>
                </a:solidFill>
                <a:latin typeface="Courier New" pitchFamily="34" charset="0"/>
                <a:ea typeface="Courier New" pitchFamily="34" charset="-122"/>
                <a:cs typeface="Courier New" pitchFamily="34" charset="-120"/>
              </a:rPr>
              <a:t>bonus</a:t>
            </a:r>
            <a:endParaRPr lang="en-US" sz="1100" dirty="0"/>
          </a:p>
          <a:p>
            <a:pPr indent="0" marL="0">
              <a:spcAft>
                <a:spcPts val="400"/>
              </a:spcAft>
              <a:buNone/>
            </a:pPr>
            <a:r>
              <a:rPr lang="en-US" sz="1100" dirty="0">
                <a:solidFill>
                  <a:srgbClr val="1F2429"/>
                </a:solidFill>
                <a:latin typeface="Courier New" pitchFamily="34" charset="0"/>
                <a:ea typeface="Courier New" pitchFamily="34" charset="-122"/>
                <a:cs typeface="Courier New" pitchFamily="34" charset="-120"/>
              </a:rPr>
              <a:t>mgmtLevel</a:t>
            </a:r>
            <a:endParaRPr lang="en-US" sz="1100" dirty="0"/>
          </a:p>
        </p:txBody>
      </p:sp>
      <p:sp>
        <p:nvSpPr>
          <p:cNvPr id="24" name="Shape 22"/>
          <p:cNvSpPr/>
          <p:nvPr/>
        </p:nvSpPr>
        <p:spPr>
          <a:xfrm>
            <a:off x="640080" y="4846320"/>
            <a:ext cx="10881360" cy="1600200"/>
          </a:xfrm>
          <a:prstGeom prst="roundRect">
            <a:avLst>
              <a:gd name="adj" fmla="val 4571"/>
            </a:avLst>
          </a:prstGeom>
          <a:solidFill>
            <a:srgbClr val="FFFFFF"/>
          </a:solidFill>
          <a:ln w="12700">
            <a:solidFill>
              <a:srgbClr val="2FE6C4"/>
            </a:solidFill>
            <a:prstDash val="solid"/>
          </a:ln>
        </p:spPr>
      </p:sp>
      <p:sp>
        <p:nvSpPr>
          <p:cNvPr id="25" name="Shape 23"/>
          <p:cNvSpPr/>
          <p:nvPr/>
        </p:nvSpPr>
        <p:spPr>
          <a:xfrm>
            <a:off x="640080" y="4846320"/>
            <a:ext cx="54864" cy="1600200"/>
          </a:xfrm>
          <a:prstGeom prst="rect">
            <a:avLst/>
          </a:prstGeom>
          <a:solidFill>
            <a:srgbClr val="2FE6C4"/>
          </a:solidFill>
          <a:ln/>
        </p:spPr>
      </p:sp>
      <p:sp>
        <p:nvSpPr>
          <p:cNvPr id="26" name="Text 24"/>
          <p:cNvSpPr txBox="1"/>
          <p:nvPr/>
        </p:nvSpPr>
        <p:spPr>
          <a:xfrm>
            <a:off x="841248" y="4956048"/>
            <a:ext cx="10515600" cy="256032"/>
          </a:xfrm>
          <a:prstGeom prst="rect">
            <a:avLst/>
          </a:prstGeom>
          <a:noFill/>
          <a:ln/>
        </p:spPr>
        <p:txBody>
          <a:bodyPr wrap="square" lIns="0" tIns="0" rIns="0" bIns="0" rtlCol="0" anchor="ctr"/>
          <a:lstStyle/>
          <a:p>
            <a:pPr indent="0" marL="0">
              <a:buNone/>
            </a:pPr>
            <a:r>
              <a:rPr lang="en-US" sz="1200" b="1" dirty="0">
                <a:solidFill>
                  <a:srgbClr val="1F2429"/>
                </a:solidFill>
                <a:latin typeface="Calibri" pitchFamily="34" charset="0"/>
                <a:ea typeface="Calibri" pitchFamily="34" charset="-122"/>
                <a:cs typeface="Calibri" pitchFamily="34" charset="-120"/>
              </a:rPr>
              <a:t>The designer's reasoning</a:t>
            </a:r>
            <a:endParaRPr lang="en-US" sz="1200" dirty="0"/>
          </a:p>
        </p:txBody>
      </p:sp>
      <p:sp>
        <p:nvSpPr>
          <p:cNvPr id="27" name="Text 25"/>
          <p:cNvSpPr txBox="1"/>
          <p:nvPr/>
        </p:nvSpPr>
        <p:spPr>
          <a:xfrm>
            <a:off x="841248" y="5230368"/>
            <a:ext cx="10515600" cy="1124712"/>
          </a:xfrm>
          <a:prstGeom prst="rect">
            <a:avLst/>
          </a:prstGeom>
          <a:noFill/>
          <a:ln/>
        </p:spPr>
        <p:txBody>
          <a:bodyPr wrap="square" lIns="0" tIns="0" rIns="0" bIns="0" rtlCol="0" anchor="t"/>
          <a:lstStyle/>
          <a:p>
            <a:pPr indent="0" marL="0">
              <a:lnSpc>
                <a:spcPct val="115000"/>
              </a:lnSpc>
              <a:buNone/>
            </a:pPr>
            <a:r>
              <a:rPr lang="en-US" sz="1100" dirty="0">
                <a:solidFill>
                  <a:srgbClr val="1F2429"/>
                </a:solidFill>
                <a:latin typeface="Calibri" pitchFamily="34" charset="0"/>
                <a:ea typeface="Calibri" pitchFamily="34" charset="-122"/>
                <a:cs typeface="Calibri" pitchFamily="34" charset="-120"/>
              </a:rPr>
              <a:t>“I already have Staff. Within it, sales personnel and managers need extra, DIFFERENT attributes I have nowhere good to put — let me specialize Staff into subclasses that each carry only their own extra attributes.”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Generalization — Bottom-Up</a:t>
            </a:r>
            <a:endParaRPr lang="en-US" sz="2800" dirty="0"/>
          </a:p>
        </p:txBody>
      </p:sp>
      <p:sp>
        <p:nvSpPr>
          <p:cNvPr id="3" name="Text 1"/>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5</a:t>
            </a:r>
            <a:endParaRPr lang="en-US" sz="1000" dirty="0"/>
          </a:p>
        </p:txBody>
      </p:sp>
      <p:sp>
        <p:nvSpPr>
          <p:cNvPr id="4" name="Text 2"/>
          <p:cNvSpPr txBox="1"/>
          <p:nvPr/>
        </p:nvSpPr>
        <p:spPr>
          <a:xfrm>
            <a:off x="640080" y="1005840"/>
            <a:ext cx="10881360" cy="502920"/>
          </a:xfrm>
          <a:prstGeom prst="rect">
            <a:avLst/>
          </a:prstGeom>
          <a:noFill/>
          <a:ln/>
        </p:spPr>
        <p:txBody>
          <a:bodyPr wrap="square" lIns="0" tIns="0" rIns="0" bIns="0" rtlCol="0" anchor="ctr"/>
          <a:lstStyle/>
          <a:p>
            <a:pPr indent="0" marL="0">
              <a:buNone/>
            </a:pPr>
            <a:r>
              <a:rPr lang="en-US" sz="1350" dirty="0">
                <a:solidFill>
                  <a:srgbClr val="1F2429"/>
                </a:solidFill>
                <a:latin typeface="Calibri" pitchFamily="34" charset="0"/>
                <a:ea typeface="Calibri" pitchFamily="34" charset="-122"/>
                <a:cs typeface="Calibri" pitchFamily="34" charset="-120"/>
              </a:rPr>
              <a:t>Start from several already-known, separately modeled entity types that share a meaningful common core, and factor that shared core out into a new superclass.</a:t>
            </a:r>
            <a:endParaRPr lang="en-US" sz="1350" dirty="0"/>
          </a:p>
        </p:txBody>
      </p:sp>
      <p:sp>
        <p:nvSpPr>
          <p:cNvPr id="5" name="Shape 3"/>
          <p:cNvSpPr/>
          <p:nvPr/>
        </p:nvSpPr>
        <p:spPr>
          <a:xfrm>
            <a:off x="1737360" y="1691640"/>
            <a:ext cx="3291840" cy="1371600"/>
          </a:xfrm>
          <a:prstGeom prst="roundRect">
            <a:avLst>
              <a:gd name="adj" fmla="val 4667"/>
            </a:avLst>
          </a:prstGeom>
          <a:solidFill>
            <a:srgbClr val="FFFFFF"/>
          </a:solidFill>
          <a:ln w="19050">
            <a:solidFill>
              <a:srgbClr val="E8A33D"/>
            </a:solidFill>
            <a:prstDash val="solid"/>
          </a:ln>
        </p:spPr>
      </p:sp>
      <p:sp>
        <p:nvSpPr>
          <p:cNvPr id="6" name="Shape 4"/>
          <p:cNvSpPr/>
          <p:nvPr/>
        </p:nvSpPr>
        <p:spPr>
          <a:xfrm>
            <a:off x="1737360" y="1691640"/>
            <a:ext cx="3291840" cy="384048"/>
          </a:xfrm>
          <a:prstGeom prst="roundRect">
            <a:avLst>
              <a:gd name="adj" fmla="val 16667"/>
            </a:avLst>
          </a:prstGeom>
          <a:solidFill>
            <a:srgbClr val="E8A33D"/>
          </a:solidFill>
          <a:ln/>
        </p:spPr>
      </p:sp>
      <p:sp>
        <p:nvSpPr>
          <p:cNvPr id="7" name="Shape 5"/>
          <p:cNvSpPr/>
          <p:nvPr/>
        </p:nvSpPr>
        <p:spPr>
          <a:xfrm>
            <a:off x="1737360" y="1984248"/>
            <a:ext cx="3291840" cy="91440"/>
          </a:xfrm>
          <a:prstGeom prst="rect">
            <a:avLst/>
          </a:prstGeom>
          <a:solidFill>
            <a:srgbClr val="E8A33D"/>
          </a:solidFill>
          <a:ln/>
        </p:spPr>
      </p:sp>
      <p:sp>
        <p:nvSpPr>
          <p:cNvPr id="8" name="Text 6"/>
          <p:cNvSpPr txBox="1"/>
          <p:nvPr/>
        </p:nvSpPr>
        <p:spPr>
          <a:xfrm>
            <a:off x="1874520" y="1691640"/>
            <a:ext cx="301752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Car</a:t>
            </a:r>
            <a:endParaRPr lang="en-US" sz="1300" dirty="0"/>
          </a:p>
        </p:txBody>
      </p:sp>
      <p:sp>
        <p:nvSpPr>
          <p:cNvPr id="9" name="Text 7"/>
          <p:cNvSpPr txBox="1"/>
          <p:nvPr/>
        </p:nvSpPr>
        <p:spPr>
          <a:xfrm>
            <a:off x="1874520" y="2148840"/>
            <a:ext cx="3017520" cy="877824"/>
          </a:xfrm>
          <a:prstGeom prst="rect">
            <a:avLst/>
          </a:prstGeom>
          <a:noFill/>
          <a:ln/>
        </p:spPr>
        <p:txBody>
          <a:bodyPr wrap="square" lIns="0" tIns="0" rIns="0" bIns="0" rtlCol="0" anchor="t"/>
          <a:lstStyle/>
          <a:p>
            <a:pPr indent="0" marL="0">
              <a:spcAft>
                <a:spcPts val="400"/>
              </a:spcAft>
              <a:buNone/>
            </a:pPr>
            <a:r>
              <a:rPr lang="en-US" sz="1100" b="1" u="sng" dirty="0">
                <a:solidFill>
                  <a:srgbClr val="1F2429"/>
                </a:solidFill>
                <a:latin typeface="Courier New" pitchFamily="34" charset="0"/>
                <a:ea typeface="Courier New" pitchFamily="34" charset="-122"/>
                <a:cs typeface="Courier New" pitchFamily="34" charset="-120"/>
              </a:rPr>
              <a:t>regNo</a:t>
            </a:r>
            <a:endParaRPr lang="en-US" sz="1100" dirty="0"/>
          </a:p>
          <a:p>
            <a:pPr indent="0" marL="0">
              <a:spcAft>
                <a:spcPts val="400"/>
              </a:spcAft>
              <a:buNone/>
            </a:pPr>
            <a:r>
              <a:rPr lang="en-US" sz="1100" dirty="0">
                <a:solidFill>
                  <a:srgbClr val="1F2429"/>
                </a:solidFill>
                <a:latin typeface="Courier New" pitchFamily="34" charset="0"/>
                <a:ea typeface="Courier New" pitchFamily="34" charset="-122"/>
                <a:cs typeface="Courier New" pitchFamily="34" charset="-120"/>
              </a:rPr>
              <a:t>seats</a:t>
            </a:r>
            <a:endParaRPr lang="en-US" sz="1100" dirty="0"/>
          </a:p>
          <a:p>
            <a:pPr indent="0" marL="0">
              <a:spcAft>
                <a:spcPts val="400"/>
              </a:spcAft>
              <a:buNone/>
            </a:pPr>
            <a:r>
              <a:rPr lang="en-US" sz="1100" dirty="0">
                <a:solidFill>
                  <a:srgbClr val="1F2429"/>
                </a:solidFill>
                <a:latin typeface="Courier New" pitchFamily="34" charset="0"/>
                <a:ea typeface="Courier New" pitchFamily="34" charset="-122"/>
                <a:cs typeface="Courier New" pitchFamily="34" charset="-120"/>
              </a:rPr>
              <a:t>doors</a:t>
            </a:r>
            <a:endParaRPr lang="en-US" sz="1100" dirty="0"/>
          </a:p>
        </p:txBody>
      </p:sp>
      <p:sp>
        <p:nvSpPr>
          <p:cNvPr id="10" name="Shape 8"/>
          <p:cNvSpPr/>
          <p:nvPr/>
        </p:nvSpPr>
        <p:spPr>
          <a:xfrm>
            <a:off x="7132320" y="1691640"/>
            <a:ext cx="3291840" cy="1371600"/>
          </a:xfrm>
          <a:prstGeom prst="roundRect">
            <a:avLst>
              <a:gd name="adj" fmla="val 4667"/>
            </a:avLst>
          </a:prstGeom>
          <a:solidFill>
            <a:srgbClr val="FFFFFF"/>
          </a:solidFill>
          <a:ln w="19050">
            <a:solidFill>
              <a:srgbClr val="E8A33D"/>
            </a:solidFill>
            <a:prstDash val="solid"/>
          </a:ln>
        </p:spPr>
      </p:sp>
      <p:sp>
        <p:nvSpPr>
          <p:cNvPr id="11" name="Shape 9"/>
          <p:cNvSpPr/>
          <p:nvPr/>
        </p:nvSpPr>
        <p:spPr>
          <a:xfrm>
            <a:off x="7132320" y="1691640"/>
            <a:ext cx="3291840" cy="384048"/>
          </a:xfrm>
          <a:prstGeom prst="roundRect">
            <a:avLst>
              <a:gd name="adj" fmla="val 16667"/>
            </a:avLst>
          </a:prstGeom>
          <a:solidFill>
            <a:srgbClr val="E8A33D"/>
          </a:solidFill>
          <a:ln/>
        </p:spPr>
      </p:sp>
      <p:sp>
        <p:nvSpPr>
          <p:cNvPr id="12" name="Shape 10"/>
          <p:cNvSpPr/>
          <p:nvPr/>
        </p:nvSpPr>
        <p:spPr>
          <a:xfrm>
            <a:off x="7132320" y="1984248"/>
            <a:ext cx="3291840" cy="91440"/>
          </a:xfrm>
          <a:prstGeom prst="rect">
            <a:avLst/>
          </a:prstGeom>
          <a:solidFill>
            <a:srgbClr val="E8A33D"/>
          </a:solidFill>
          <a:ln/>
        </p:spPr>
      </p:sp>
      <p:sp>
        <p:nvSpPr>
          <p:cNvPr id="13" name="Text 11"/>
          <p:cNvSpPr txBox="1"/>
          <p:nvPr/>
        </p:nvSpPr>
        <p:spPr>
          <a:xfrm>
            <a:off x="7269480" y="1691640"/>
            <a:ext cx="301752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Van</a:t>
            </a:r>
            <a:endParaRPr lang="en-US" sz="1300" dirty="0"/>
          </a:p>
        </p:txBody>
      </p:sp>
      <p:sp>
        <p:nvSpPr>
          <p:cNvPr id="14" name="Text 12"/>
          <p:cNvSpPr txBox="1"/>
          <p:nvPr/>
        </p:nvSpPr>
        <p:spPr>
          <a:xfrm>
            <a:off x="7269480" y="2148840"/>
            <a:ext cx="3017520" cy="877824"/>
          </a:xfrm>
          <a:prstGeom prst="rect">
            <a:avLst/>
          </a:prstGeom>
          <a:noFill/>
          <a:ln/>
        </p:spPr>
        <p:txBody>
          <a:bodyPr wrap="square" lIns="0" tIns="0" rIns="0" bIns="0" rtlCol="0" anchor="t"/>
          <a:lstStyle/>
          <a:p>
            <a:pPr indent="0" marL="0">
              <a:spcAft>
                <a:spcPts val="400"/>
              </a:spcAft>
              <a:buNone/>
            </a:pPr>
            <a:r>
              <a:rPr lang="en-US" sz="1100" b="1" u="sng" dirty="0">
                <a:solidFill>
                  <a:srgbClr val="1F2429"/>
                </a:solidFill>
                <a:latin typeface="Courier New" pitchFamily="34" charset="0"/>
                <a:ea typeface="Courier New" pitchFamily="34" charset="-122"/>
                <a:cs typeface="Courier New" pitchFamily="34" charset="-120"/>
              </a:rPr>
              <a:t>regNo</a:t>
            </a:r>
            <a:endParaRPr lang="en-US" sz="1100" dirty="0"/>
          </a:p>
          <a:p>
            <a:pPr indent="0" marL="0">
              <a:spcAft>
                <a:spcPts val="400"/>
              </a:spcAft>
              <a:buNone/>
            </a:pPr>
            <a:r>
              <a:rPr lang="en-US" sz="1100" dirty="0">
                <a:solidFill>
                  <a:srgbClr val="1F2429"/>
                </a:solidFill>
                <a:latin typeface="Courier New" pitchFamily="34" charset="0"/>
                <a:ea typeface="Courier New" pitchFamily="34" charset="-122"/>
                <a:cs typeface="Courier New" pitchFamily="34" charset="-120"/>
              </a:rPr>
              <a:t>loadCapacityKg</a:t>
            </a:r>
            <a:endParaRPr lang="en-US" sz="1100" dirty="0"/>
          </a:p>
        </p:txBody>
      </p:sp>
      <p:sp>
        <p:nvSpPr>
          <p:cNvPr id="15" name="Shape 13"/>
          <p:cNvSpPr/>
          <p:nvPr/>
        </p:nvSpPr>
        <p:spPr>
          <a:xfrm>
            <a:off x="3300984" y="3200400"/>
            <a:ext cx="164592" cy="365760"/>
          </a:xfrm>
          <a:prstGeom prst="downArrow">
            <a:avLst/>
          </a:prstGeom>
          <a:solidFill>
            <a:srgbClr val="8A939B"/>
          </a:solidFill>
          <a:ln/>
        </p:spPr>
      </p:sp>
      <p:sp>
        <p:nvSpPr>
          <p:cNvPr id="16" name="Shape 14"/>
          <p:cNvSpPr/>
          <p:nvPr/>
        </p:nvSpPr>
        <p:spPr>
          <a:xfrm>
            <a:off x="8695944" y="3200400"/>
            <a:ext cx="164592" cy="365760"/>
          </a:xfrm>
          <a:prstGeom prst="downArrow">
            <a:avLst/>
          </a:prstGeom>
          <a:solidFill>
            <a:srgbClr val="8A939B"/>
          </a:solidFill>
          <a:ln/>
        </p:spPr>
      </p:sp>
      <p:sp>
        <p:nvSpPr>
          <p:cNvPr id="17" name="Shape 15"/>
          <p:cNvSpPr/>
          <p:nvPr/>
        </p:nvSpPr>
        <p:spPr>
          <a:xfrm>
            <a:off x="3383280" y="3383280"/>
            <a:ext cx="5394960" cy="0"/>
          </a:xfrm>
          <a:prstGeom prst="line">
            <a:avLst/>
          </a:prstGeom>
          <a:noFill/>
          <a:ln w="19050">
            <a:solidFill>
              <a:srgbClr val="8A939B"/>
            </a:solidFill>
            <a:prstDash val="solid"/>
          </a:ln>
        </p:spPr>
      </p:sp>
      <p:sp>
        <p:nvSpPr>
          <p:cNvPr id="18" name="Shape 16"/>
          <p:cNvSpPr/>
          <p:nvPr/>
        </p:nvSpPr>
        <p:spPr>
          <a:xfrm>
            <a:off x="5998464" y="3383280"/>
            <a:ext cx="164592" cy="320040"/>
          </a:xfrm>
          <a:prstGeom prst="downArrow">
            <a:avLst/>
          </a:prstGeom>
          <a:solidFill>
            <a:srgbClr val="8A939B"/>
          </a:solidFill>
          <a:ln/>
        </p:spPr>
      </p:sp>
      <p:sp>
        <p:nvSpPr>
          <p:cNvPr id="19" name="Shape 17"/>
          <p:cNvSpPr/>
          <p:nvPr/>
        </p:nvSpPr>
        <p:spPr>
          <a:xfrm>
            <a:off x="4251960" y="3886200"/>
            <a:ext cx="3657600" cy="1463040"/>
          </a:xfrm>
          <a:prstGeom prst="roundRect">
            <a:avLst>
              <a:gd name="adj" fmla="val 4375"/>
            </a:avLst>
          </a:prstGeom>
          <a:solidFill>
            <a:srgbClr val="FFFFFF"/>
          </a:solidFill>
          <a:ln w="19050">
            <a:solidFill>
              <a:srgbClr val="2FE6C4"/>
            </a:solidFill>
            <a:prstDash val="solid"/>
          </a:ln>
        </p:spPr>
      </p:sp>
      <p:sp>
        <p:nvSpPr>
          <p:cNvPr id="20" name="Shape 18"/>
          <p:cNvSpPr/>
          <p:nvPr/>
        </p:nvSpPr>
        <p:spPr>
          <a:xfrm>
            <a:off x="4251960" y="3886200"/>
            <a:ext cx="3657600" cy="384048"/>
          </a:xfrm>
          <a:prstGeom prst="roundRect">
            <a:avLst>
              <a:gd name="adj" fmla="val 16667"/>
            </a:avLst>
          </a:prstGeom>
          <a:solidFill>
            <a:srgbClr val="2FE6C4"/>
          </a:solidFill>
          <a:ln/>
        </p:spPr>
      </p:sp>
      <p:sp>
        <p:nvSpPr>
          <p:cNvPr id="21" name="Shape 19"/>
          <p:cNvSpPr/>
          <p:nvPr/>
        </p:nvSpPr>
        <p:spPr>
          <a:xfrm>
            <a:off x="4251960" y="4178808"/>
            <a:ext cx="3657600" cy="91440"/>
          </a:xfrm>
          <a:prstGeom prst="rect">
            <a:avLst/>
          </a:prstGeom>
          <a:solidFill>
            <a:srgbClr val="2FE6C4"/>
          </a:solidFill>
          <a:ln/>
        </p:spPr>
      </p:sp>
      <p:sp>
        <p:nvSpPr>
          <p:cNvPr id="22" name="Text 20"/>
          <p:cNvSpPr txBox="1"/>
          <p:nvPr/>
        </p:nvSpPr>
        <p:spPr>
          <a:xfrm>
            <a:off x="4389120" y="3886200"/>
            <a:ext cx="338328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Vehicle (generalized superclass)</a:t>
            </a:r>
            <a:endParaRPr lang="en-US" sz="1300" dirty="0"/>
          </a:p>
        </p:txBody>
      </p:sp>
      <p:sp>
        <p:nvSpPr>
          <p:cNvPr id="23" name="Text 21"/>
          <p:cNvSpPr txBox="1"/>
          <p:nvPr/>
        </p:nvSpPr>
        <p:spPr>
          <a:xfrm>
            <a:off x="4389120" y="4343400"/>
            <a:ext cx="3383280" cy="969264"/>
          </a:xfrm>
          <a:prstGeom prst="rect">
            <a:avLst/>
          </a:prstGeom>
          <a:noFill/>
          <a:ln/>
        </p:spPr>
        <p:txBody>
          <a:bodyPr wrap="square" lIns="0" tIns="0" rIns="0" bIns="0" rtlCol="0" anchor="t"/>
          <a:lstStyle/>
          <a:p>
            <a:pPr indent="0" marL="0">
              <a:spcAft>
                <a:spcPts val="400"/>
              </a:spcAft>
              <a:buNone/>
            </a:pPr>
            <a:r>
              <a:rPr lang="en-US" sz="1100" b="1" u="sng" dirty="0">
                <a:solidFill>
                  <a:srgbClr val="1F2429"/>
                </a:solidFill>
                <a:latin typeface="Courier New" pitchFamily="34" charset="0"/>
                <a:ea typeface="Courier New" pitchFamily="34" charset="-122"/>
                <a:cs typeface="Courier New" pitchFamily="34" charset="-120"/>
              </a:rPr>
              <a:t>regNo</a:t>
            </a:r>
            <a:endParaRPr lang="en-US" sz="1100" dirty="0"/>
          </a:p>
          <a:p>
            <a:pPr indent="0" marL="0">
              <a:spcAft>
                <a:spcPts val="400"/>
              </a:spcAft>
              <a:buNone/>
            </a:pPr>
            <a:r>
              <a:rPr lang="en-US" sz="1100" dirty="0">
                <a:solidFill>
                  <a:srgbClr val="1F2429"/>
                </a:solidFill>
                <a:latin typeface="Courier New" pitchFamily="34" charset="0"/>
                <a:ea typeface="Courier New" pitchFamily="34" charset="-122"/>
                <a:cs typeface="Courier New" pitchFamily="34" charset="-120"/>
              </a:rPr>
              <a:t>make</a:t>
            </a:r>
            <a:endParaRPr lang="en-US" sz="1100" dirty="0"/>
          </a:p>
          <a:p>
            <a:pPr indent="0" marL="0">
              <a:spcAft>
                <a:spcPts val="400"/>
              </a:spcAft>
              <a:buNone/>
            </a:pPr>
            <a:r>
              <a:rPr lang="en-US" sz="1100" dirty="0">
                <a:solidFill>
                  <a:srgbClr val="1F2429"/>
                </a:solidFill>
                <a:latin typeface="Courier New" pitchFamily="34" charset="0"/>
                <a:ea typeface="Courier New" pitchFamily="34" charset="-122"/>
                <a:cs typeface="Courier New" pitchFamily="34" charset="-120"/>
              </a:rPr>
              <a:t>model</a:t>
            </a:r>
            <a:endParaRPr lang="en-US" sz="1100" dirty="0"/>
          </a:p>
          <a:p>
            <a:pPr indent="0" marL="0">
              <a:spcAft>
                <a:spcPts val="400"/>
              </a:spcAft>
              <a:buNone/>
            </a:pPr>
            <a:r>
              <a:rPr lang="en-US" sz="1100" dirty="0">
                <a:solidFill>
                  <a:srgbClr val="1F2429"/>
                </a:solidFill>
                <a:latin typeface="Courier New" pitchFamily="34" charset="0"/>
                <a:ea typeface="Courier New" pitchFamily="34" charset="-122"/>
                <a:cs typeface="Courier New" pitchFamily="34" charset="-120"/>
              </a:rPr>
              <a:t>year</a:t>
            </a:r>
            <a:endParaRPr lang="en-US" sz="1100" dirty="0"/>
          </a:p>
        </p:txBody>
      </p:sp>
      <p:sp>
        <p:nvSpPr>
          <p:cNvPr id="24" name="Shape 22"/>
          <p:cNvSpPr/>
          <p:nvPr/>
        </p:nvSpPr>
        <p:spPr>
          <a:xfrm>
            <a:off x="640080" y="5532120"/>
            <a:ext cx="10881360" cy="960120"/>
          </a:xfrm>
          <a:prstGeom prst="roundRect">
            <a:avLst>
              <a:gd name="adj" fmla="val 7619"/>
            </a:avLst>
          </a:prstGeom>
          <a:solidFill>
            <a:srgbClr val="FFFFFF"/>
          </a:solidFill>
          <a:ln w="12700">
            <a:solidFill>
              <a:srgbClr val="8B7FD9"/>
            </a:solidFill>
            <a:prstDash val="solid"/>
          </a:ln>
        </p:spPr>
      </p:sp>
      <p:sp>
        <p:nvSpPr>
          <p:cNvPr id="25" name="Shape 23"/>
          <p:cNvSpPr/>
          <p:nvPr/>
        </p:nvSpPr>
        <p:spPr>
          <a:xfrm>
            <a:off x="640080" y="5532120"/>
            <a:ext cx="54864" cy="960120"/>
          </a:xfrm>
          <a:prstGeom prst="rect">
            <a:avLst/>
          </a:prstGeom>
          <a:solidFill>
            <a:srgbClr val="8B7FD9"/>
          </a:solidFill>
          <a:ln/>
        </p:spPr>
      </p:sp>
      <p:sp>
        <p:nvSpPr>
          <p:cNvPr id="26" name="Text 24"/>
          <p:cNvSpPr txBox="1"/>
          <p:nvPr/>
        </p:nvSpPr>
        <p:spPr>
          <a:xfrm>
            <a:off x="841248" y="5641848"/>
            <a:ext cx="10515600" cy="758952"/>
          </a:xfrm>
          <a:prstGeom prst="rect">
            <a:avLst/>
          </a:prstGeom>
          <a:noFill/>
          <a:ln/>
        </p:spPr>
        <p:txBody>
          <a:bodyPr wrap="square" lIns="0" tIns="0" rIns="0" bIns="0" rtlCol="0" anchor="t"/>
          <a:lstStyle/>
          <a:p>
            <a:pPr indent="0" marL="0">
              <a:lnSpc>
                <a:spcPct val="115000"/>
              </a:lnSpc>
              <a:buNone/>
            </a:pPr>
            <a:r>
              <a:rPr lang="en-US" sz="1100" dirty="0">
                <a:solidFill>
                  <a:srgbClr val="1F2429"/>
                </a:solidFill>
                <a:latin typeface="Calibri" pitchFamily="34" charset="0"/>
                <a:ea typeface="Calibri" pitchFamily="34" charset="-122"/>
                <a:cs typeface="Calibri" pitchFamily="34" charset="-120"/>
              </a:rPr>
              <a:t>“I already separately modeled Car and Van, each with regNo/make/model/year duplicated — let me generalize the shared attributes upward into a new Vehicle superclass.”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Superclasses, Subclasses, and Inheritance</a:t>
            </a:r>
            <a:endParaRPr lang="en-US" sz="2800" dirty="0"/>
          </a:p>
        </p:txBody>
      </p:sp>
      <p:sp>
        <p:nvSpPr>
          <p:cNvPr id="3" name="Text 1"/>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6</a:t>
            </a:r>
            <a:endParaRPr lang="en-US" sz="1000" dirty="0"/>
          </a:p>
        </p:txBody>
      </p:sp>
      <p:sp>
        <p:nvSpPr>
          <p:cNvPr id="4" name="Shape 2"/>
          <p:cNvSpPr/>
          <p:nvPr/>
        </p:nvSpPr>
        <p:spPr>
          <a:xfrm>
            <a:off x="640080" y="1005840"/>
            <a:ext cx="10881360" cy="1005840"/>
          </a:xfrm>
          <a:prstGeom prst="roundRect">
            <a:avLst>
              <a:gd name="adj" fmla="val 7273"/>
            </a:avLst>
          </a:prstGeom>
          <a:solidFill>
            <a:srgbClr val="FFFFFF"/>
          </a:solidFill>
          <a:ln w="12700">
            <a:solidFill>
              <a:srgbClr val="2FE6C4"/>
            </a:solidFill>
            <a:prstDash val="solid"/>
          </a:ln>
        </p:spPr>
      </p:sp>
      <p:sp>
        <p:nvSpPr>
          <p:cNvPr id="5" name="Shape 3"/>
          <p:cNvSpPr/>
          <p:nvPr/>
        </p:nvSpPr>
        <p:spPr>
          <a:xfrm>
            <a:off x="640080" y="1005840"/>
            <a:ext cx="54864" cy="1005840"/>
          </a:xfrm>
          <a:prstGeom prst="rect">
            <a:avLst/>
          </a:prstGeom>
          <a:solidFill>
            <a:srgbClr val="2FE6C4"/>
          </a:solidFill>
          <a:ln/>
        </p:spPr>
      </p:sp>
      <p:sp>
        <p:nvSpPr>
          <p:cNvPr id="6" name="Text 4"/>
          <p:cNvSpPr txBox="1"/>
          <p:nvPr/>
        </p:nvSpPr>
        <p:spPr>
          <a:xfrm>
            <a:off x="841248" y="1115568"/>
            <a:ext cx="10515600" cy="256032"/>
          </a:xfrm>
          <a:prstGeom prst="rect">
            <a:avLst/>
          </a:prstGeom>
          <a:noFill/>
          <a:ln/>
        </p:spPr>
        <p:txBody>
          <a:bodyPr wrap="square" lIns="0" tIns="0" rIns="0" bIns="0" rtlCol="0" anchor="ctr"/>
          <a:lstStyle/>
          <a:p>
            <a:pPr indent="0" marL="0">
              <a:buNone/>
            </a:pPr>
            <a:r>
              <a:rPr lang="en-US" sz="1200" b="1" dirty="0">
                <a:solidFill>
                  <a:srgbClr val="1F2429"/>
                </a:solidFill>
                <a:latin typeface="Calibri" pitchFamily="34" charset="0"/>
                <a:ea typeface="Calibri" pitchFamily="34" charset="-122"/>
                <a:cs typeface="Calibri" pitchFamily="34" charset="-120"/>
              </a:rPr>
              <a:t>Same resulting diagram, opposite starting point</a:t>
            </a:r>
            <a:endParaRPr lang="en-US" sz="1200" dirty="0"/>
          </a:p>
        </p:txBody>
      </p:sp>
      <p:sp>
        <p:nvSpPr>
          <p:cNvPr id="7" name="Text 5"/>
          <p:cNvSpPr txBox="1"/>
          <p:nvPr/>
        </p:nvSpPr>
        <p:spPr>
          <a:xfrm>
            <a:off x="841248" y="1389888"/>
            <a:ext cx="10515600" cy="530352"/>
          </a:xfrm>
          <a:prstGeom prst="rect">
            <a:avLst/>
          </a:prstGeom>
          <a:noFill/>
          <a:ln/>
        </p:spPr>
        <p:txBody>
          <a:bodyPr wrap="square" lIns="0" tIns="0" rIns="0" bIns="0" rtlCol="0" anchor="t"/>
          <a:lstStyle/>
          <a:p>
            <a:pPr indent="0" marL="0">
              <a:lnSpc>
                <a:spcPct val="115000"/>
              </a:lnSpc>
              <a:buNone/>
            </a:pPr>
            <a:r>
              <a:rPr lang="en-US" sz="1100" dirty="0">
                <a:solidFill>
                  <a:srgbClr val="1F2429"/>
                </a:solidFill>
                <a:latin typeface="Calibri" pitchFamily="34" charset="0"/>
                <a:ea typeface="Calibri" pitchFamily="34" charset="-122"/>
                <a:cs typeface="Calibri" pitchFamily="34" charset="-120"/>
              </a:rPr>
              <a:t>Specialization and generalization produce the IDENTICAL final diagram shape. They differ only in which direction the designer reasoned: specialization splits an existing superclass; generalization merges existing entity types' common core. Notation and constraints apply identically either way.</a:t>
            </a:r>
            <a:endParaRPr lang="en-US" sz="1100" dirty="0"/>
          </a:p>
        </p:txBody>
      </p:sp>
      <p:sp>
        <p:nvSpPr>
          <p:cNvPr id="8" name="Text 6"/>
          <p:cNvSpPr txBox="1"/>
          <p:nvPr/>
        </p:nvSpPr>
        <p:spPr>
          <a:xfrm>
            <a:off x="640080" y="2194560"/>
            <a:ext cx="10881360" cy="594360"/>
          </a:xfrm>
          <a:prstGeom prst="rect">
            <a:avLst/>
          </a:prstGeom>
          <a:noFill/>
          <a:ln/>
        </p:spPr>
        <p:txBody>
          <a:bodyPr wrap="square" lIns="0" tIns="0" rIns="0" bIns="0" rtlCol="0" anchor="ctr"/>
          <a:lstStyle/>
          <a:p>
            <a:pPr indent="0" marL="0">
              <a:buNone/>
            </a:pPr>
            <a:r>
              <a:rPr lang="en-US" sz="1300" dirty="0">
                <a:solidFill>
                  <a:srgbClr val="1F2429"/>
                </a:solidFill>
                <a:latin typeface="Calibri" pitchFamily="34" charset="0"/>
                <a:ea typeface="Calibri" pitchFamily="34" charset="-122"/>
                <a:cs typeface="Calibri" pitchFamily="34" charset="-120"/>
              </a:rPr>
              <a:t>Every occurrence of a subclass IS SIMULTANEOUSLY an occurrence of its superclass (every Manager row is also a Staff row) — the same “is-a” relationship object-oriented programming calls inheritance:</a:t>
            </a:r>
            <a:endParaRPr lang="en-US" sz="1300" dirty="0"/>
          </a:p>
        </p:txBody>
      </p:sp>
      <p:sp>
        <p:nvSpPr>
          <p:cNvPr id="9" name="Shape 7"/>
          <p:cNvSpPr/>
          <p:nvPr/>
        </p:nvSpPr>
        <p:spPr>
          <a:xfrm>
            <a:off x="640080" y="2880360"/>
            <a:ext cx="3474720" cy="2880360"/>
          </a:xfrm>
          <a:prstGeom prst="roundRect">
            <a:avLst>
              <a:gd name="adj" fmla="val 2540"/>
            </a:avLst>
          </a:prstGeom>
          <a:solidFill>
            <a:srgbClr val="2FE6C4"/>
          </a:solidFill>
          <a:ln/>
        </p:spPr>
      </p:sp>
      <p:sp>
        <p:nvSpPr>
          <p:cNvPr id="10" name="Text 8"/>
          <p:cNvSpPr txBox="1"/>
          <p:nvPr/>
        </p:nvSpPr>
        <p:spPr>
          <a:xfrm>
            <a:off x="822960" y="3008376"/>
            <a:ext cx="310896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Attribute inheritance</a:t>
            </a:r>
            <a:endParaRPr lang="en-US" sz="1350" dirty="0"/>
          </a:p>
        </p:txBody>
      </p:sp>
      <p:sp>
        <p:nvSpPr>
          <p:cNvPr id="11" name="Text 9"/>
          <p:cNvSpPr txBox="1"/>
          <p:nvPr/>
        </p:nvSpPr>
        <p:spPr>
          <a:xfrm>
            <a:off x="822960" y="3355848"/>
            <a:ext cx="3108960" cy="231343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A subclass automatically has every attribute its superclass has, without redeclaring them. Manager has staffNo, name, position, salary, branchNo (inherited) plus bonus, mgmtLevel (its own).</a:t>
            </a:r>
            <a:endParaRPr lang="en-US" sz="1050" dirty="0"/>
          </a:p>
        </p:txBody>
      </p:sp>
      <p:sp>
        <p:nvSpPr>
          <p:cNvPr id="12" name="Shape 10"/>
          <p:cNvSpPr/>
          <p:nvPr/>
        </p:nvSpPr>
        <p:spPr>
          <a:xfrm>
            <a:off x="4343400" y="2880360"/>
            <a:ext cx="3474720" cy="2880360"/>
          </a:xfrm>
          <a:prstGeom prst="roundRect">
            <a:avLst>
              <a:gd name="adj" fmla="val 2540"/>
            </a:avLst>
          </a:prstGeom>
          <a:solidFill>
            <a:srgbClr val="8B7FD9"/>
          </a:solidFill>
          <a:ln/>
        </p:spPr>
      </p:sp>
      <p:sp>
        <p:nvSpPr>
          <p:cNvPr id="13" name="Text 11"/>
          <p:cNvSpPr txBox="1"/>
          <p:nvPr/>
        </p:nvSpPr>
        <p:spPr>
          <a:xfrm>
            <a:off x="4526280" y="3008376"/>
            <a:ext cx="310896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Relationship inheritance</a:t>
            </a:r>
            <a:endParaRPr lang="en-US" sz="1350" dirty="0"/>
          </a:p>
        </p:txBody>
      </p:sp>
      <p:sp>
        <p:nvSpPr>
          <p:cNvPr id="14" name="Text 12"/>
          <p:cNvSpPr txBox="1"/>
          <p:nvPr/>
        </p:nvSpPr>
        <p:spPr>
          <a:xfrm>
            <a:off x="4526280" y="3355848"/>
            <a:ext cx="3108960" cy="231343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A subclass automatically participates in every relationship its superclass participates in — Staff Manages PropertyForRent applies to SalesPersonnel and Manager too, no separate relationship drawn per subclass.</a:t>
            </a:r>
            <a:endParaRPr lang="en-US" sz="1050" dirty="0"/>
          </a:p>
        </p:txBody>
      </p:sp>
      <p:sp>
        <p:nvSpPr>
          <p:cNvPr id="15" name="Shape 13"/>
          <p:cNvSpPr/>
          <p:nvPr/>
        </p:nvSpPr>
        <p:spPr>
          <a:xfrm>
            <a:off x="8046720" y="2880360"/>
            <a:ext cx="3474720" cy="2880360"/>
          </a:xfrm>
          <a:prstGeom prst="roundRect">
            <a:avLst>
              <a:gd name="adj" fmla="val 2540"/>
            </a:avLst>
          </a:prstGeom>
          <a:solidFill>
            <a:srgbClr val="E8A33D"/>
          </a:solidFill>
          <a:ln/>
        </p:spPr>
      </p:sp>
      <p:sp>
        <p:nvSpPr>
          <p:cNvPr id="16" name="Text 14"/>
          <p:cNvSpPr txBox="1"/>
          <p:nvPr/>
        </p:nvSpPr>
        <p:spPr>
          <a:xfrm>
            <a:off x="8229600" y="3008376"/>
            <a:ext cx="310896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Subclass-only relationships</a:t>
            </a:r>
            <a:endParaRPr lang="en-US" sz="1350" dirty="0"/>
          </a:p>
        </p:txBody>
      </p:sp>
      <p:sp>
        <p:nvSpPr>
          <p:cNvPr id="17" name="Text 15"/>
          <p:cNvSpPr txBox="1"/>
          <p:nvPr/>
        </p:nvSpPr>
        <p:spPr>
          <a:xfrm>
            <a:off x="8229600" y="3355848"/>
            <a:ext cx="3108960" cy="231343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A subclass may ALSO have its own additional relationships that other subclasses don't — e.g. only Manager participates in Manager Approves Expenditure.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Constraints on Specialization / Generalization</a:t>
            </a:r>
            <a:endParaRPr lang="en-US" sz="2800" dirty="0"/>
          </a:p>
        </p:txBody>
      </p:sp>
      <p:sp>
        <p:nvSpPr>
          <p:cNvPr id="3" name="Text 1"/>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7</a:t>
            </a:r>
            <a:endParaRPr lang="en-US" sz="1000" dirty="0"/>
          </a:p>
        </p:txBody>
      </p:sp>
      <p:sp>
        <p:nvSpPr>
          <p:cNvPr id="4" name="Text 2"/>
          <p:cNvSpPr txBox="1"/>
          <p:nvPr/>
        </p:nvSpPr>
        <p:spPr>
          <a:xfrm>
            <a:off x="640080" y="1005840"/>
            <a:ext cx="10881360" cy="457200"/>
          </a:xfrm>
          <a:prstGeom prst="rect">
            <a:avLst/>
          </a:prstGeom>
          <a:noFill/>
          <a:ln/>
        </p:spPr>
        <p:txBody>
          <a:bodyPr wrap="square" lIns="0" tIns="0" rIns="0" bIns="0" rtlCol="0" anchor="ctr"/>
          <a:lstStyle/>
          <a:p>
            <a:pPr indent="0" marL="0">
              <a:buNone/>
            </a:pPr>
            <a:r>
              <a:rPr lang="en-US" sz="1350" dirty="0">
                <a:solidFill>
                  <a:srgbClr val="1F2429"/>
                </a:solidFill>
                <a:latin typeface="Calibri" pitchFamily="34" charset="0"/>
                <a:ea typeface="Calibri" pitchFamily="34" charset="-122"/>
                <a:cs typeface="Calibri" pitchFamily="34" charset="-120"/>
              </a:rPr>
              <a:t>Two independent yes/no questions fully describe how subclasses relate to each other and the whole superclass population:</a:t>
            </a:r>
            <a:endParaRPr lang="en-US" sz="1350" dirty="0"/>
          </a:p>
        </p:txBody>
      </p:sp>
      <p:sp>
        <p:nvSpPr>
          <p:cNvPr id="5" name="Shape 3"/>
          <p:cNvSpPr/>
          <p:nvPr/>
        </p:nvSpPr>
        <p:spPr>
          <a:xfrm>
            <a:off x="640080" y="1600200"/>
            <a:ext cx="5326380" cy="1257300"/>
          </a:xfrm>
          <a:prstGeom prst="roundRect">
            <a:avLst>
              <a:gd name="adj" fmla="val 5818"/>
            </a:avLst>
          </a:prstGeom>
          <a:solidFill>
            <a:srgbClr val="2FE6C4"/>
          </a:solidFill>
          <a:ln/>
        </p:spPr>
      </p:sp>
      <p:sp>
        <p:nvSpPr>
          <p:cNvPr id="6" name="Text 4"/>
          <p:cNvSpPr txBox="1"/>
          <p:nvPr/>
        </p:nvSpPr>
        <p:spPr>
          <a:xfrm>
            <a:off x="822960" y="1728216"/>
            <a:ext cx="496062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Disjoint (d)</a:t>
            </a:r>
            <a:endParaRPr lang="en-US" sz="1350" dirty="0"/>
          </a:p>
        </p:txBody>
      </p:sp>
      <p:sp>
        <p:nvSpPr>
          <p:cNvPr id="7" name="Text 5"/>
          <p:cNvSpPr txBox="1"/>
          <p:nvPr/>
        </p:nvSpPr>
        <p:spPr>
          <a:xfrm>
            <a:off x="822960" y="2075688"/>
            <a:ext cx="4960620" cy="69037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An occurrence can belong to AT MOST ONE subclass. A Staff member is either SalesPersonnel or Manager, never both.</a:t>
            </a:r>
            <a:endParaRPr lang="en-US" sz="1050" dirty="0"/>
          </a:p>
        </p:txBody>
      </p:sp>
      <p:sp>
        <p:nvSpPr>
          <p:cNvPr id="8" name="Shape 6"/>
          <p:cNvSpPr/>
          <p:nvPr/>
        </p:nvSpPr>
        <p:spPr>
          <a:xfrm>
            <a:off x="6195060" y="1600200"/>
            <a:ext cx="5326380" cy="1257300"/>
          </a:xfrm>
          <a:prstGeom prst="roundRect">
            <a:avLst>
              <a:gd name="adj" fmla="val 5818"/>
            </a:avLst>
          </a:prstGeom>
          <a:solidFill>
            <a:srgbClr val="8B7FD9"/>
          </a:solidFill>
          <a:ln/>
        </p:spPr>
      </p:sp>
      <p:sp>
        <p:nvSpPr>
          <p:cNvPr id="9" name="Text 7"/>
          <p:cNvSpPr txBox="1"/>
          <p:nvPr/>
        </p:nvSpPr>
        <p:spPr>
          <a:xfrm>
            <a:off x="6377940" y="1728216"/>
            <a:ext cx="496062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Overlapping (o)</a:t>
            </a:r>
            <a:endParaRPr lang="en-US" sz="1350" dirty="0"/>
          </a:p>
        </p:txBody>
      </p:sp>
      <p:sp>
        <p:nvSpPr>
          <p:cNvPr id="10" name="Text 8"/>
          <p:cNvSpPr txBox="1"/>
          <p:nvPr/>
        </p:nvSpPr>
        <p:spPr>
          <a:xfrm>
            <a:off x="6377940" y="2075688"/>
            <a:ext cx="4960620" cy="69037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An occurrence CAN belong to more than one subclass simultaneously. A Person can be both a Student and an Employee at the same time.</a:t>
            </a:r>
            <a:endParaRPr lang="en-US" sz="1050" dirty="0"/>
          </a:p>
        </p:txBody>
      </p:sp>
      <p:sp>
        <p:nvSpPr>
          <p:cNvPr id="11" name="Shape 9"/>
          <p:cNvSpPr/>
          <p:nvPr/>
        </p:nvSpPr>
        <p:spPr>
          <a:xfrm>
            <a:off x="640080" y="3086100"/>
            <a:ext cx="5326380" cy="1257300"/>
          </a:xfrm>
          <a:prstGeom prst="roundRect">
            <a:avLst>
              <a:gd name="adj" fmla="val 5818"/>
            </a:avLst>
          </a:prstGeom>
          <a:solidFill>
            <a:srgbClr val="E8A33D"/>
          </a:solidFill>
          <a:ln/>
        </p:spPr>
      </p:sp>
      <p:sp>
        <p:nvSpPr>
          <p:cNvPr id="12" name="Text 10"/>
          <p:cNvSpPr txBox="1"/>
          <p:nvPr/>
        </p:nvSpPr>
        <p:spPr>
          <a:xfrm>
            <a:off x="822960" y="3214116"/>
            <a:ext cx="496062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Total</a:t>
            </a:r>
            <a:endParaRPr lang="en-US" sz="1350" dirty="0"/>
          </a:p>
        </p:txBody>
      </p:sp>
      <p:sp>
        <p:nvSpPr>
          <p:cNvPr id="13" name="Text 11"/>
          <p:cNvSpPr txBox="1"/>
          <p:nvPr/>
        </p:nvSpPr>
        <p:spPr>
          <a:xfrm>
            <a:off x="822960" y="3561588"/>
            <a:ext cx="4960620" cy="69037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Every superclass occurrence MUST belong to at least one subclass — no “plain” unspecialized occurrence exists.</a:t>
            </a:r>
            <a:endParaRPr lang="en-US" sz="1050" dirty="0"/>
          </a:p>
        </p:txBody>
      </p:sp>
      <p:sp>
        <p:nvSpPr>
          <p:cNvPr id="14" name="Shape 12"/>
          <p:cNvSpPr/>
          <p:nvPr/>
        </p:nvSpPr>
        <p:spPr>
          <a:xfrm>
            <a:off x="6195060" y="3086100"/>
            <a:ext cx="5326380" cy="1257300"/>
          </a:xfrm>
          <a:prstGeom prst="roundRect">
            <a:avLst>
              <a:gd name="adj" fmla="val 5818"/>
            </a:avLst>
          </a:prstGeom>
          <a:solidFill>
            <a:srgbClr val="E8A33D"/>
          </a:solidFill>
          <a:ln/>
        </p:spPr>
      </p:sp>
      <p:sp>
        <p:nvSpPr>
          <p:cNvPr id="15" name="Text 13"/>
          <p:cNvSpPr txBox="1"/>
          <p:nvPr/>
        </p:nvSpPr>
        <p:spPr>
          <a:xfrm>
            <a:off x="6377940" y="3214116"/>
            <a:ext cx="496062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Partial</a:t>
            </a:r>
            <a:endParaRPr lang="en-US" sz="1350" dirty="0"/>
          </a:p>
        </p:txBody>
      </p:sp>
      <p:sp>
        <p:nvSpPr>
          <p:cNvPr id="16" name="Text 14"/>
          <p:cNvSpPr txBox="1"/>
          <p:nvPr/>
        </p:nvSpPr>
        <p:spPr>
          <a:xfrm>
            <a:off x="6377940" y="3561588"/>
            <a:ext cx="4960620" cy="69037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Some superclass occurrences MAY belong to no subclass at all, remaining a plain, unspecialized instance.</a:t>
            </a:r>
            <a:endParaRPr lang="en-US" sz="1050" dirty="0"/>
          </a:p>
        </p:txBody>
      </p:sp>
      <p:sp>
        <p:nvSpPr>
          <p:cNvPr id="17" name="Text 15"/>
          <p:cNvSpPr txBox="1"/>
          <p:nvPr/>
        </p:nvSpPr>
        <p:spPr>
          <a:xfrm>
            <a:off x="640080" y="4480560"/>
            <a:ext cx="10881360" cy="365760"/>
          </a:xfrm>
          <a:prstGeom prst="rect">
            <a:avLst/>
          </a:prstGeom>
          <a:noFill/>
          <a:ln/>
        </p:spPr>
        <p:txBody>
          <a:bodyPr wrap="square" lIns="0" tIns="0" rIns="0" bIns="0" rtlCol="0" anchor="ctr"/>
          <a:lstStyle/>
          <a:p>
            <a:pPr indent="0" marL="0">
              <a:buNone/>
            </a:pPr>
            <a:r>
              <a:rPr lang="en-US" sz="1200" i="1" dirty="0">
                <a:solidFill>
                  <a:srgbClr val="8A939B"/>
                </a:solidFill>
                <a:latin typeface="Calibri" pitchFamily="34" charset="0"/>
                <a:ea typeface="Calibri" pitchFamily="34" charset="-122"/>
                <a:cs typeface="Calibri" pitchFamily="34" charset="-120"/>
              </a:rPr>
              <a:t>Every specialization in this course is one of exactly four combinations of these two constraints.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The Four Disjoint/Overlapping × Total/Partial Combinations</a:t>
            </a:r>
            <a:endParaRPr lang="en-US" sz="2800" dirty="0"/>
          </a:p>
        </p:txBody>
      </p:sp>
      <p:sp>
        <p:nvSpPr>
          <p:cNvPr id="3" name="Text 1"/>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8</a:t>
            </a:r>
            <a:endParaRPr lang="en-US" sz="1000" dirty="0"/>
          </a:p>
        </p:txBody>
      </p:sp>
      <p:sp>
        <p:nvSpPr>
          <p:cNvPr id="4" name="Shape 2"/>
          <p:cNvSpPr/>
          <p:nvPr/>
        </p:nvSpPr>
        <p:spPr>
          <a:xfrm>
            <a:off x="640080" y="1188720"/>
            <a:ext cx="5326380" cy="1485900"/>
          </a:xfrm>
          <a:prstGeom prst="roundRect">
            <a:avLst>
              <a:gd name="adj" fmla="val 4923"/>
            </a:avLst>
          </a:prstGeom>
          <a:solidFill>
            <a:srgbClr val="2FE6C4"/>
          </a:solidFill>
          <a:ln/>
        </p:spPr>
      </p:sp>
      <p:sp>
        <p:nvSpPr>
          <p:cNvPr id="5" name="Text 3"/>
          <p:cNvSpPr txBox="1"/>
          <p:nvPr/>
        </p:nvSpPr>
        <p:spPr>
          <a:xfrm>
            <a:off x="822960" y="1316736"/>
            <a:ext cx="496062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Disjoint, Total</a:t>
            </a:r>
            <a:endParaRPr lang="en-US" sz="1350" dirty="0"/>
          </a:p>
        </p:txBody>
      </p:sp>
      <p:sp>
        <p:nvSpPr>
          <p:cNvPr id="6" name="Text 4"/>
          <p:cNvSpPr txBox="1"/>
          <p:nvPr/>
        </p:nvSpPr>
        <p:spPr>
          <a:xfrm>
            <a:off x="822960" y="1664208"/>
            <a:ext cx="4960620" cy="91897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Vehicle → Car, Van, Truck. Every vehicle is exactly one of the three; none is left unclassified.</a:t>
            </a:r>
            <a:endParaRPr lang="en-US" sz="1050" dirty="0"/>
          </a:p>
        </p:txBody>
      </p:sp>
      <p:sp>
        <p:nvSpPr>
          <p:cNvPr id="7" name="Shape 5"/>
          <p:cNvSpPr/>
          <p:nvPr/>
        </p:nvSpPr>
        <p:spPr>
          <a:xfrm>
            <a:off x="6195060" y="1188720"/>
            <a:ext cx="5326380" cy="1485900"/>
          </a:xfrm>
          <a:prstGeom prst="roundRect">
            <a:avLst>
              <a:gd name="adj" fmla="val 4923"/>
            </a:avLst>
          </a:prstGeom>
          <a:solidFill>
            <a:srgbClr val="8B7FD9"/>
          </a:solidFill>
          <a:ln/>
        </p:spPr>
      </p:sp>
      <p:sp>
        <p:nvSpPr>
          <p:cNvPr id="8" name="Text 6"/>
          <p:cNvSpPr txBox="1"/>
          <p:nvPr/>
        </p:nvSpPr>
        <p:spPr>
          <a:xfrm>
            <a:off x="6377940" y="1316736"/>
            <a:ext cx="496062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Disjoint, Partial</a:t>
            </a:r>
            <a:endParaRPr lang="en-US" sz="1350" dirty="0"/>
          </a:p>
        </p:txBody>
      </p:sp>
      <p:sp>
        <p:nvSpPr>
          <p:cNvPr id="9" name="Text 7"/>
          <p:cNvSpPr txBox="1"/>
          <p:nvPr/>
        </p:nvSpPr>
        <p:spPr>
          <a:xfrm>
            <a:off x="6377940" y="1664208"/>
            <a:ext cx="4960620" cy="91897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Staff → SalesPersonnel, Manager. Neither overlaps the other, but plenty of staff hold neither role.</a:t>
            </a:r>
            <a:endParaRPr lang="en-US" sz="1050" dirty="0"/>
          </a:p>
        </p:txBody>
      </p:sp>
      <p:sp>
        <p:nvSpPr>
          <p:cNvPr id="10" name="Shape 8"/>
          <p:cNvSpPr/>
          <p:nvPr/>
        </p:nvSpPr>
        <p:spPr>
          <a:xfrm>
            <a:off x="640080" y="2903220"/>
            <a:ext cx="5326380" cy="1485900"/>
          </a:xfrm>
          <a:prstGeom prst="roundRect">
            <a:avLst>
              <a:gd name="adj" fmla="val 4923"/>
            </a:avLst>
          </a:prstGeom>
          <a:solidFill>
            <a:srgbClr val="E8A33D"/>
          </a:solidFill>
          <a:ln/>
        </p:spPr>
      </p:sp>
      <p:sp>
        <p:nvSpPr>
          <p:cNvPr id="11" name="Text 9"/>
          <p:cNvSpPr txBox="1"/>
          <p:nvPr/>
        </p:nvSpPr>
        <p:spPr>
          <a:xfrm>
            <a:off x="822960" y="3031236"/>
            <a:ext cx="496062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Overlapping, Total</a:t>
            </a:r>
            <a:endParaRPr lang="en-US" sz="1350" dirty="0"/>
          </a:p>
        </p:txBody>
      </p:sp>
      <p:sp>
        <p:nvSpPr>
          <p:cNvPr id="12" name="Text 10"/>
          <p:cNvSpPr txBox="1"/>
          <p:nvPr/>
        </p:nvSpPr>
        <p:spPr>
          <a:xfrm>
            <a:off x="822960" y="3378708"/>
            <a:ext cx="4960620" cy="91897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Person → Student, Employee. Every person is at least one; some are both.</a:t>
            </a:r>
            <a:endParaRPr lang="en-US" sz="1050" dirty="0"/>
          </a:p>
        </p:txBody>
      </p:sp>
      <p:sp>
        <p:nvSpPr>
          <p:cNvPr id="13" name="Shape 11"/>
          <p:cNvSpPr/>
          <p:nvPr/>
        </p:nvSpPr>
        <p:spPr>
          <a:xfrm>
            <a:off x="6195060" y="2903220"/>
            <a:ext cx="5326380" cy="1485900"/>
          </a:xfrm>
          <a:prstGeom prst="roundRect">
            <a:avLst>
              <a:gd name="adj" fmla="val 4923"/>
            </a:avLst>
          </a:prstGeom>
          <a:solidFill>
            <a:srgbClr val="2FE6C4"/>
          </a:solidFill>
          <a:ln/>
        </p:spPr>
      </p:sp>
      <p:sp>
        <p:nvSpPr>
          <p:cNvPr id="14" name="Text 12"/>
          <p:cNvSpPr txBox="1"/>
          <p:nvPr/>
        </p:nvSpPr>
        <p:spPr>
          <a:xfrm>
            <a:off x="6377940" y="3031236"/>
            <a:ext cx="496062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Overlapping, Partial</a:t>
            </a:r>
            <a:endParaRPr lang="en-US" sz="1350" dirty="0"/>
          </a:p>
        </p:txBody>
      </p:sp>
      <p:sp>
        <p:nvSpPr>
          <p:cNvPr id="15" name="Text 13"/>
          <p:cNvSpPr txBox="1"/>
          <p:nvPr/>
        </p:nvSpPr>
        <p:spPr>
          <a:xfrm>
            <a:off x="6377940" y="3378708"/>
            <a:ext cx="4960620" cy="91897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Staff → CommitteeMember, Trainer. A staff member can hold both extra roles, one, or neither.</a:t>
            </a:r>
            <a:endParaRPr lang="en-US" sz="1050" dirty="0"/>
          </a:p>
        </p:txBody>
      </p:sp>
      <p:sp>
        <p:nvSpPr>
          <p:cNvPr id="16" name="Shape 14"/>
          <p:cNvSpPr/>
          <p:nvPr/>
        </p:nvSpPr>
        <p:spPr>
          <a:xfrm>
            <a:off x="640080" y="4572000"/>
            <a:ext cx="10881360" cy="1691640"/>
          </a:xfrm>
          <a:prstGeom prst="roundRect">
            <a:avLst>
              <a:gd name="adj" fmla="val 4324"/>
            </a:avLst>
          </a:prstGeom>
          <a:solidFill>
            <a:srgbClr val="FFFFFF"/>
          </a:solidFill>
          <a:ln w="12700">
            <a:solidFill>
              <a:srgbClr val="E8A33D"/>
            </a:solidFill>
            <a:prstDash val="solid"/>
          </a:ln>
        </p:spPr>
      </p:sp>
      <p:sp>
        <p:nvSpPr>
          <p:cNvPr id="17" name="Shape 15"/>
          <p:cNvSpPr/>
          <p:nvPr/>
        </p:nvSpPr>
        <p:spPr>
          <a:xfrm>
            <a:off x="640080" y="4572000"/>
            <a:ext cx="54864" cy="1691640"/>
          </a:xfrm>
          <a:prstGeom prst="rect">
            <a:avLst/>
          </a:prstGeom>
          <a:solidFill>
            <a:srgbClr val="E8A33D"/>
          </a:solidFill>
          <a:ln/>
        </p:spPr>
      </p:sp>
      <p:sp>
        <p:nvSpPr>
          <p:cNvPr id="18" name="Text 16"/>
          <p:cNvSpPr txBox="1"/>
          <p:nvPr/>
        </p:nvSpPr>
        <p:spPr>
          <a:xfrm>
            <a:off x="841248" y="4681728"/>
            <a:ext cx="10515600" cy="256032"/>
          </a:xfrm>
          <a:prstGeom prst="rect">
            <a:avLst/>
          </a:prstGeom>
          <a:noFill/>
          <a:ln/>
        </p:spPr>
        <p:txBody>
          <a:bodyPr wrap="square" lIns="0" tIns="0" rIns="0" bIns="0" rtlCol="0" anchor="ctr"/>
          <a:lstStyle/>
          <a:p>
            <a:pPr indent="0" marL="0">
              <a:buNone/>
            </a:pPr>
            <a:r>
              <a:rPr lang="en-US" sz="1200" b="1" dirty="0">
                <a:solidFill>
                  <a:srgbClr val="1F2429"/>
                </a:solidFill>
                <a:latin typeface="Calibri" pitchFamily="34" charset="0"/>
                <a:ea typeface="Calibri" pitchFamily="34" charset="-122"/>
                <a:cs typeface="Calibri" pitchFamily="34" charset="-120"/>
              </a:rPr>
              <a:t>Getting disjoint/overlapping wrong is a real, silent design bug</a:t>
            </a:r>
            <a:endParaRPr lang="en-US" sz="1200" dirty="0"/>
          </a:p>
        </p:txBody>
      </p:sp>
      <p:sp>
        <p:nvSpPr>
          <p:cNvPr id="19" name="Text 17"/>
          <p:cNvSpPr txBox="1"/>
          <p:nvPr/>
        </p:nvSpPr>
        <p:spPr>
          <a:xfrm>
            <a:off x="841248" y="4956048"/>
            <a:ext cx="10515600" cy="1216152"/>
          </a:xfrm>
          <a:prstGeom prst="rect">
            <a:avLst/>
          </a:prstGeom>
          <a:noFill/>
          <a:ln/>
        </p:spPr>
        <p:txBody>
          <a:bodyPr wrap="square" lIns="0" tIns="0" rIns="0" bIns="0" rtlCol="0" anchor="t"/>
          <a:lstStyle/>
          <a:p>
            <a:pPr indent="0" marL="0">
              <a:lnSpc>
                <a:spcPct val="115000"/>
              </a:lnSpc>
              <a:buNone/>
            </a:pPr>
            <a:r>
              <a:rPr lang="en-US" sz="1100" dirty="0">
                <a:solidFill>
                  <a:srgbClr val="1F2429"/>
                </a:solidFill>
                <a:latin typeface="Calibri" pitchFamily="34" charset="0"/>
                <a:ea typeface="Calibri" pitchFamily="34" charset="-122"/>
                <a:cs typeface="Calibri" pitchFamily="34" charset="-120"/>
              </a:rPr>
              <a:t>Declaring Staff → SalesPersonnel, Manager disjoint when a real staff member is later promoted to manager WHILE CONTINUING to hold sales targets forces the database to pick one, silently dropping a role that's still true. Always check against actual business rules — Lecture 16 shows this constraint changes which mapping strategy even works.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Worked Example — Staff Specialization is Disjoint AND Partial</a:t>
            </a:r>
            <a:endParaRPr lang="en-US" sz="2800" dirty="0"/>
          </a:p>
        </p:txBody>
      </p:sp>
      <p:sp>
        <p:nvSpPr>
          <p:cNvPr id="3" name="Text 1"/>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9</a:t>
            </a:r>
            <a:endParaRPr lang="en-US" sz="1000" dirty="0"/>
          </a:p>
        </p:txBody>
      </p:sp>
      <p:sp>
        <p:nvSpPr>
          <p:cNvPr id="4" name="Shape 2"/>
          <p:cNvSpPr/>
          <p:nvPr/>
        </p:nvSpPr>
        <p:spPr>
          <a:xfrm>
            <a:off x="3611880" y="1188720"/>
            <a:ext cx="4937760" cy="1097280"/>
          </a:xfrm>
          <a:prstGeom prst="roundRect">
            <a:avLst>
              <a:gd name="adj" fmla="val 5833"/>
            </a:avLst>
          </a:prstGeom>
          <a:solidFill>
            <a:srgbClr val="FFFFFF"/>
          </a:solidFill>
          <a:ln w="19050">
            <a:solidFill>
              <a:srgbClr val="2FE6C4"/>
            </a:solidFill>
            <a:prstDash val="solid"/>
          </a:ln>
        </p:spPr>
      </p:sp>
      <p:sp>
        <p:nvSpPr>
          <p:cNvPr id="5" name="Shape 3"/>
          <p:cNvSpPr/>
          <p:nvPr/>
        </p:nvSpPr>
        <p:spPr>
          <a:xfrm>
            <a:off x="3611880" y="1188720"/>
            <a:ext cx="4937760" cy="384048"/>
          </a:xfrm>
          <a:prstGeom prst="roundRect">
            <a:avLst>
              <a:gd name="adj" fmla="val 16667"/>
            </a:avLst>
          </a:prstGeom>
          <a:solidFill>
            <a:srgbClr val="2FE6C4"/>
          </a:solidFill>
          <a:ln/>
        </p:spPr>
      </p:sp>
      <p:sp>
        <p:nvSpPr>
          <p:cNvPr id="6" name="Shape 4"/>
          <p:cNvSpPr/>
          <p:nvPr/>
        </p:nvSpPr>
        <p:spPr>
          <a:xfrm>
            <a:off x="3611880" y="1481328"/>
            <a:ext cx="4937760" cy="91440"/>
          </a:xfrm>
          <a:prstGeom prst="rect">
            <a:avLst/>
          </a:prstGeom>
          <a:solidFill>
            <a:srgbClr val="2FE6C4"/>
          </a:solidFill>
          <a:ln/>
        </p:spPr>
      </p:sp>
      <p:sp>
        <p:nvSpPr>
          <p:cNvPr id="7" name="Text 5"/>
          <p:cNvSpPr txBox="1"/>
          <p:nvPr/>
        </p:nvSpPr>
        <p:spPr>
          <a:xfrm>
            <a:off x="3749040" y="1188720"/>
            <a:ext cx="466344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Staff (superclass)</a:t>
            </a:r>
            <a:endParaRPr lang="en-US" sz="1300" dirty="0"/>
          </a:p>
        </p:txBody>
      </p:sp>
      <p:sp>
        <p:nvSpPr>
          <p:cNvPr id="8" name="Text 6"/>
          <p:cNvSpPr txBox="1"/>
          <p:nvPr/>
        </p:nvSpPr>
        <p:spPr>
          <a:xfrm>
            <a:off x="3749040" y="1645920"/>
            <a:ext cx="4663440" cy="603504"/>
          </a:xfrm>
          <a:prstGeom prst="rect">
            <a:avLst/>
          </a:prstGeom>
          <a:noFill/>
          <a:ln/>
        </p:spPr>
        <p:txBody>
          <a:bodyPr wrap="square" lIns="0" tIns="0" rIns="0" bIns="0" rtlCol="0" anchor="t"/>
          <a:lstStyle/>
          <a:p>
            <a:pPr indent="0" marL="0">
              <a:spcAft>
                <a:spcPts val="400"/>
              </a:spcAft>
              <a:buNone/>
            </a:pPr>
            <a:r>
              <a:rPr lang="en-US" sz="1100" b="1" u="sng" dirty="0">
                <a:solidFill>
                  <a:srgbClr val="1F2429"/>
                </a:solidFill>
                <a:latin typeface="Courier New" pitchFamily="34" charset="0"/>
                <a:ea typeface="Courier New" pitchFamily="34" charset="-122"/>
                <a:cs typeface="Courier New" pitchFamily="34" charset="-120"/>
              </a:rPr>
              <a:t>staffNo</a:t>
            </a:r>
            <a:endParaRPr lang="en-US" sz="1100" dirty="0"/>
          </a:p>
          <a:p>
            <a:pPr indent="0" marL="0">
              <a:spcAft>
                <a:spcPts val="400"/>
              </a:spcAft>
              <a:buNone/>
            </a:pPr>
            <a:r>
              <a:rPr lang="en-US" sz="1100" dirty="0">
                <a:solidFill>
                  <a:srgbClr val="1F2429"/>
                </a:solidFill>
                <a:latin typeface="Courier New" pitchFamily="34" charset="0"/>
                <a:ea typeface="Courier New" pitchFamily="34" charset="-122"/>
                <a:cs typeface="Courier New" pitchFamily="34" charset="-120"/>
              </a:rPr>
              <a:t>name, salary</a:t>
            </a:r>
            <a:endParaRPr lang="en-US" sz="1100" dirty="0"/>
          </a:p>
        </p:txBody>
      </p:sp>
      <p:sp>
        <p:nvSpPr>
          <p:cNvPr id="9" name="Shape 7"/>
          <p:cNvSpPr/>
          <p:nvPr/>
        </p:nvSpPr>
        <p:spPr>
          <a:xfrm>
            <a:off x="6080760" y="2286000"/>
            <a:ext cx="0" cy="342900"/>
          </a:xfrm>
          <a:prstGeom prst="line">
            <a:avLst/>
          </a:prstGeom>
          <a:noFill/>
          <a:ln w="19050">
            <a:solidFill>
              <a:srgbClr val="8A939B"/>
            </a:solidFill>
            <a:prstDash val="solid"/>
          </a:ln>
        </p:spPr>
      </p:sp>
      <p:sp>
        <p:nvSpPr>
          <p:cNvPr id="10" name="Shape 8"/>
          <p:cNvSpPr/>
          <p:nvPr/>
        </p:nvSpPr>
        <p:spPr>
          <a:xfrm>
            <a:off x="3703320" y="2628900"/>
            <a:ext cx="4754880" cy="0"/>
          </a:xfrm>
          <a:prstGeom prst="line">
            <a:avLst/>
          </a:prstGeom>
          <a:noFill/>
          <a:ln w="19050">
            <a:solidFill>
              <a:srgbClr val="8A939B"/>
            </a:solidFill>
            <a:prstDash val="solid"/>
          </a:ln>
        </p:spPr>
      </p:sp>
      <p:sp>
        <p:nvSpPr>
          <p:cNvPr id="11" name="Shape 9"/>
          <p:cNvSpPr/>
          <p:nvPr/>
        </p:nvSpPr>
        <p:spPr>
          <a:xfrm>
            <a:off x="3703320" y="2628900"/>
            <a:ext cx="0" cy="342900"/>
          </a:xfrm>
          <a:prstGeom prst="line">
            <a:avLst/>
          </a:prstGeom>
          <a:noFill/>
          <a:ln w="19050">
            <a:solidFill>
              <a:srgbClr val="8A939B"/>
            </a:solidFill>
            <a:prstDash val="solid"/>
          </a:ln>
        </p:spPr>
      </p:sp>
      <p:sp>
        <p:nvSpPr>
          <p:cNvPr id="12" name="Shape 10"/>
          <p:cNvSpPr/>
          <p:nvPr/>
        </p:nvSpPr>
        <p:spPr>
          <a:xfrm>
            <a:off x="1463040" y="2971800"/>
            <a:ext cx="4480560" cy="1325880"/>
          </a:xfrm>
          <a:prstGeom prst="roundRect">
            <a:avLst>
              <a:gd name="adj" fmla="val 4828"/>
            </a:avLst>
          </a:prstGeom>
          <a:solidFill>
            <a:srgbClr val="FFFFFF"/>
          </a:solidFill>
          <a:ln w="19050">
            <a:solidFill>
              <a:srgbClr val="8B7FD9"/>
            </a:solidFill>
            <a:prstDash val="solid"/>
          </a:ln>
        </p:spPr>
      </p:sp>
      <p:sp>
        <p:nvSpPr>
          <p:cNvPr id="13" name="Shape 11"/>
          <p:cNvSpPr/>
          <p:nvPr/>
        </p:nvSpPr>
        <p:spPr>
          <a:xfrm>
            <a:off x="1463040" y="2971800"/>
            <a:ext cx="4480560" cy="384048"/>
          </a:xfrm>
          <a:prstGeom prst="roundRect">
            <a:avLst>
              <a:gd name="adj" fmla="val 16667"/>
            </a:avLst>
          </a:prstGeom>
          <a:solidFill>
            <a:srgbClr val="8B7FD9"/>
          </a:solidFill>
          <a:ln/>
        </p:spPr>
      </p:sp>
      <p:sp>
        <p:nvSpPr>
          <p:cNvPr id="14" name="Shape 12"/>
          <p:cNvSpPr/>
          <p:nvPr/>
        </p:nvSpPr>
        <p:spPr>
          <a:xfrm>
            <a:off x="1463040" y="3264408"/>
            <a:ext cx="4480560" cy="91440"/>
          </a:xfrm>
          <a:prstGeom prst="rect">
            <a:avLst/>
          </a:prstGeom>
          <a:solidFill>
            <a:srgbClr val="8B7FD9"/>
          </a:solidFill>
          <a:ln/>
        </p:spPr>
      </p:sp>
      <p:sp>
        <p:nvSpPr>
          <p:cNvPr id="15" name="Text 13"/>
          <p:cNvSpPr txBox="1"/>
          <p:nvPr/>
        </p:nvSpPr>
        <p:spPr>
          <a:xfrm>
            <a:off x="1600200" y="2971800"/>
            <a:ext cx="420624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SalesPersonnel</a:t>
            </a:r>
            <a:endParaRPr lang="en-US" sz="1300" dirty="0"/>
          </a:p>
        </p:txBody>
      </p:sp>
      <p:sp>
        <p:nvSpPr>
          <p:cNvPr id="16" name="Text 14"/>
          <p:cNvSpPr txBox="1"/>
          <p:nvPr/>
        </p:nvSpPr>
        <p:spPr>
          <a:xfrm>
            <a:off x="1600200" y="3429000"/>
            <a:ext cx="4206240" cy="832104"/>
          </a:xfrm>
          <a:prstGeom prst="rect">
            <a:avLst/>
          </a:prstGeom>
          <a:noFill/>
          <a:ln/>
        </p:spPr>
        <p:txBody>
          <a:bodyPr wrap="square" lIns="0" tIns="0" rIns="0" bIns="0" rtlCol="0" anchor="t"/>
          <a:lstStyle/>
          <a:p>
            <a:pPr indent="0" marL="0">
              <a:spcAft>
                <a:spcPts val="400"/>
              </a:spcAft>
              <a:buNone/>
            </a:pPr>
            <a:r>
              <a:rPr lang="en-US" sz="1100" dirty="0">
                <a:solidFill>
                  <a:srgbClr val="1F2429"/>
                </a:solidFill>
                <a:latin typeface="Courier New" pitchFamily="34" charset="0"/>
                <a:ea typeface="Courier New" pitchFamily="34" charset="-122"/>
                <a:cs typeface="Courier New" pitchFamily="34" charset="-120"/>
              </a:rPr>
              <a:t>salesArea</a:t>
            </a:r>
            <a:endParaRPr lang="en-US" sz="1100" dirty="0"/>
          </a:p>
          <a:p>
            <a:pPr indent="0" marL="0">
              <a:spcAft>
                <a:spcPts val="400"/>
              </a:spcAft>
              <a:buNone/>
            </a:pPr>
            <a:r>
              <a:rPr lang="en-US" sz="1100" dirty="0">
                <a:solidFill>
                  <a:srgbClr val="1F2429"/>
                </a:solidFill>
                <a:latin typeface="Courier New" pitchFamily="34" charset="0"/>
                <a:ea typeface="Courier New" pitchFamily="34" charset="-122"/>
                <a:cs typeface="Courier New" pitchFamily="34" charset="-120"/>
              </a:rPr>
              <a:t>carAllowance</a:t>
            </a:r>
            <a:endParaRPr lang="en-US" sz="1100" dirty="0"/>
          </a:p>
        </p:txBody>
      </p:sp>
      <p:sp>
        <p:nvSpPr>
          <p:cNvPr id="17" name="Shape 15"/>
          <p:cNvSpPr/>
          <p:nvPr/>
        </p:nvSpPr>
        <p:spPr>
          <a:xfrm>
            <a:off x="8458200" y="2628900"/>
            <a:ext cx="0" cy="342900"/>
          </a:xfrm>
          <a:prstGeom prst="line">
            <a:avLst/>
          </a:prstGeom>
          <a:noFill/>
          <a:ln w="19050">
            <a:solidFill>
              <a:srgbClr val="8A939B"/>
            </a:solidFill>
            <a:prstDash val="solid"/>
          </a:ln>
        </p:spPr>
      </p:sp>
      <p:sp>
        <p:nvSpPr>
          <p:cNvPr id="18" name="Shape 16"/>
          <p:cNvSpPr/>
          <p:nvPr/>
        </p:nvSpPr>
        <p:spPr>
          <a:xfrm>
            <a:off x="6217920" y="2971800"/>
            <a:ext cx="4480560" cy="1325880"/>
          </a:xfrm>
          <a:prstGeom prst="roundRect">
            <a:avLst>
              <a:gd name="adj" fmla="val 4828"/>
            </a:avLst>
          </a:prstGeom>
          <a:solidFill>
            <a:srgbClr val="FFFFFF"/>
          </a:solidFill>
          <a:ln w="19050">
            <a:solidFill>
              <a:srgbClr val="E8A33D"/>
            </a:solidFill>
            <a:prstDash val="solid"/>
          </a:ln>
        </p:spPr>
      </p:sp>
      <p:sp>
        <p:nvSpPr>
          <p:cNvPr id="19" name="Shape 17"/>
          <p:cNvSpPr/>
          <p:nvPr/>
        </p:nvSpPr>
        <p:spPr>
          <a:xfrm>
            <a:off x="6217920" y="2971800"/>
            <a:ext cx="4480560" cy="384048"/>
          </a:xfrm>
          <a:prstGeom prst="roundRect">
            <a:avLst>
              <a:gd name="adj" fmla="val 16667"/>
            </a:avLst>
          </a:prstGeom>
          <a:solidFill>
            <a:srgbClr val="E8A33D"/>
          </a:solidFill>
          <a:ln/>
        </p:spPr>
      </p:sp>
      <p:sp>
        <p:nvSpPr>
          <p:cNvPr id="20" name="Shape 18"/>
          <p:cNvSpPr/>
          <p:nvPr/>
        </p:nvSpPr>
        <p:spPr>
          <a:xfrm>
            <a:off x="6217920" y="3264408"/>
            <a:ext cx="4480560" cy="91440"/>
          </a:xfrm>
          <a:prstGeom prst="rect">
            <a:avLst/>
          </a:prstGeom>
          <a:solidFill>
            <a:srgbClr val="E8A33D"/>
          </a:solidFill>
          <a:ln/>
        </p:spPr>
      </p:sp>
      <p:sp>
        <p:nvSpPr>
          <p:cNvPr id="21" name="Text 19"/>
          <p:cNvSpPr txBox="1"/>
          <p:nvPr/>
        </p:nvSpPr>
        <p:spPr>
          <a:xfrm>
            <a:off x="6355080" y="2971800"/>
            <a:ext cx="420624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Manager</a:t>
            </a:r>
            <a:endParaRPr lang="en-US" sz="1300" dirty="0"/>
          </a:p>
        </p:txBody>
      </p:sp>
      <p:sp>
        <p:nvSpPr>
          <p:cNvPr id="22" name="Text 20"/>
          <p:cNvSpPr txBox="1"/>
          <p:nvPr/>
        </p:nvSpPr>
        <p:spPr>
          <a:xfrm>
            <a:off x="6355080" y="3429000"/>
            <a:ext cx="4206240" cy="832104"/>
          </a:xfrm>
          <a:prstGeom prst="rect">
            <a:avLst/>
          </a:prstGeom>
          <a:noFill/>
          <a:ln/>
        </p:spPr>
        <p:txBody>
          <a:bodyPr wrap="square" lIns="0" tIns="0" rIns="0" bIns="0" rtlCol="0" anchor="t"/>
          <a:lstStyle/>
          <a:p>
            <a:pPr indent="0" marL="0">
              <a:spcAft>
                <a:spcPts val="400"/>
              </a:spcAft>
              <a:buNone/>
            </a:pPr>
            <a:r>
              <a:rPr lang="en-US" sz="1100" dirty="0">
                <a:solidFill>
                  <a:srgbClr val="1F2429"/>
                </a:solidFill>
                <a:latin typeface="Courier New" pitchFamily="34" charset="0"/>
                <a:ea typeface="Courier New" pitchFamily="34" charset="-122"/>
                <a:cs typeface="Courier New" pitchFamily="34" charset="-120"/>
              </a:rPr>
              <a:t>bonus</a:t>
            </a:r>
            <a:endParaRPr lang="en-US" sz="1100" dirty="0"/>
          </a:p>
        </p:txBody>
      </p:sp>
      <p:sp>
        <p:nvSpPr>
          <p:cNvPr id="23" name="Shape 21"/>
          <p:cNvSpPr/>
          <p:nvPr/>
        </p:nvSpPr>
        <p:spPr>
          <a:xfrm>
            <a:off x="5879592" y="2482596"/>
            <a:ext cx="402336" cy="292608"/>
          </a:xfrm>
          <a:prstGeom prst="ellipse">
            <a:avLst/>
          </a:prstGeom>
          <a:solidFill>
            <a:srgbClr val="14181C"/>
          </a:solidFill>
          <a:ln w="12700">
            <a:solidFill>
              <a:srgbClr val="FFFFFF"/>
            </a:solidFill>
            <a:prstDash val="solid"/>
          </a:ln>
        </p:spPr>
      </p:sp>
      <p:sp>
        <p:nvSpPr>
          <p:cNvPr id="24" name="Text 22"/>
          <p:cNvSpPr txBox="1"/>
          <p:nvPr/>
        </p:nvSpPr>
        <p:spPr>
          <a:xfrm>
            <a:off x="5879592" y="2482596"/>
            <a:ext cx="40233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t>
            </a:r>
            <a:endParaRPr lang="en-US" sz="1000" dirty="0"/>
          </a:p>
        </p:txBody>
      </p:sp>
      <p:sp>
        <p:nvSpPr>
          <p:cNvPr id="25" name="Text 23"/>
          <p:cNvSpPr txBox="1"/>
          <p:nvPr/>
        </p:nvSpPr>
        <p:spPr>
          <a:xfrm>
            <a:off x="1463040" y="4370832"/>
            <a:ext cx="9235440" cy="274320"/>
          </a:xfrm>
          <a:prstGeom prst="rect">
            <a:avLst/>
          </a:prstGeom>
          <a:noFill/>
          <a:ln/>
        </p:spPr>
        <p:txBody>
          <a:bodyPr wrap="square" lIns="0" tIns="0" rIns="0" bIns="0" rtlCol="0" anchor="ctr"/>
          <a:lstStyle/>
          <a:p>
            <a:pPr algn="ctr" indent="0" marL="0">
              <a:buNone/>
            </a:pPr>
            <a:r>
              <a:rPr lang="en-US" sz="1050" i="1" dirty="0">
                <a:solidFill>
                  <a:srgbClr val="8A939B"/>
                </a:solidFill>
                <a:latin typeface="Calibri" pitchFamily="34" charset="0"/>
                <a:ea typeface="Calibri" pitchFamily="34" charset="-122"/>
                <a:cs typeface="Calibri" pitchFamily="34" charset="-120"/>
              </a:rPr>
              <a:t>disjoint · partial — an ordinary assistant belongs to neither subclass</a:t>
            </a:r>
            <a:endParaRPr lang="en-US" sz="1050" dirty="0"/>
          </a:p>
        </p:txBody>
      </p:sp>
      <p:sp>
        <p:nvSpPr>
          <p:cNvPr id="26" name="Shape 24"/>
          <p:cNvSpPr/>
          <p:nvPr/>
        </p:nvSpPr>
        <p:spPr>
          <a:xfrm>
            <a:off x="640080" y="4709160"/>
            <a:ext cx="10881360" cy="1691640"/>
          </a:xfrm>
          <a:prstGeom prst="roundRect">
            <a:avLst>
              <a:gd name="adj" fmla="val 4324"/>
            </a:avLst>
          </a:prstGeom>
          <a:solidFill>
            <a:srgbClr val="FFFFFF"/>
          </a:solidFill>
          <a:ln w="12700">
            <a:solidFill>
              <a:srgbClr val="8B7FD9"/>
            </a:solidFill>
            <a:prstDash val="solid"/>
          </a:ln>
        </p:spPr>
      </p:sp>
      <p:sp>
        <p:nvSpPr>
          <p:cNvPr id="27" name="Shape 25"/>
          <p:cNvSpPr/>
          <p:nvPr/>
        </p:nvSpPr>
        <p:spPr>
          <a:xfrm>
            <a:off x="640080" y="4709160"/>
            <a:ext cx="54864" cy="1691640"/>
          </a:xfrm>
          <a:prstGeom prst="rect">
            <a:avLst/>
          </a:prstGeom>
          <a:solidFill>
            <a:srgbClr val="8B7FD9"/>
          </a:solidFill>
          <a:ln/>
        </p:spPr>
      </p:sp>
      <p:sp>
        <p:nvSpPr>
          <p:cNvPr id="28" name="Text 26"/>
          <p:cNvSpPr txBox="1"/>
          <p:nvPr/>
        </p:nvSpPr>
        <p:spPr>
          <a:xfrm>
            <a:off x="841248" y="4818888"/>
            <a:ext cx="10515600" cy="1490472"/>
          </a:xfrm>
          <a:prstGeom prst="rect">
            <a:avLst/>
          </a:prstGeom>
          <a:noFill/>
          <a:ln/>
        </p:spPr>
        <p:txBody>
          <a:bodyPr wrap="square" lIns="0" tIns="0" rIns="0" bIns="0" rtlCol="0" anchor="t"/>
          <a:lstStyle/>
          <a:p>
            <a:pPr indent="0" marL="0">
              <a:lnSpc>
                <a:spcPct val="115000"/>
              </a:lnSpc>
              <a:buNone/>
            </a:pPr>
            <a:r>
              <a:rPr lang="en-US" sz="1100" dirty="0">
                <a:solidFill>
                  <a:srgbClr val="1F2429"/>
                </a:solidFill>
                <a:latin typeface="Calibri" pitchFamily="34" charset="0"/>
                <a:ea typeface="Calibri" pitchFamily="34" charset="-122"/>
                <a:cs typeface="Calibri" pitchFamily="34" charset="-120"/>
              </a:rPr>
              <a:t>Partial means a plain “assistant” staff member — one who is neither in sales nor in management — is a perfectly valid Staff row that belongs to no subclass at all. Disjoint means no single staff member is simultaneously both a SalesPersonnel row and a Manager row.</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Aggregation</a:t>
            </a:r>
            <a:endParaRPr lang="en-US" sz="2800" dirty="0"/>
          </a:p>
        </p:txBody>
      </p:sp>
      <p:sp>
        <p:nvSpPr>
          <p:cNvPr id="3" name="Text 1"/>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10</a:t>
            </a:r>
            <a:endParaRPr lang="en-US" sz="1000" dirty="0"/>
          </a:p>
        </p:txBody>
      </p:sp>
      <p:sp>
        <p:nvSpPr>
          <p:cNvPr id="4" name="Text 2"/>
          <p:cNvSpPr txBox="1"/>
          <p:nvPr/>
        </p:nvSpPr>
        <p:spPr>
          <a:xfrm>
            <a:off x="640080" y="960120"/>
            <a:ext cx="10881360" cy="777240"/>
          </a:xfrm>
          <a:prstGeom prst="rect">
            <a:avLst/>
          </a:prstGeom>
          <a:noFill/>
          <a:ln/>
        </p:spPr>
        <p:txBody>
          <a:bodyPr wrap="square" lIns="0" tIns="0" rIns="0" bIns="0" rtlCol="0" anchor="ctr"/>
          <a:lstStyle/>
          <a:p>
            <a:pPr indent="0" marL="0">
              <a:buNone/>
            </a:pPr>
            <a:r>
              <a:rPr lang="en-US" sz="1250" dirty="0">
                <a:solidFill>
                  <a:srgbClr val="1F2429"/>
                </a:solidFill>
                <a:latin typeface="Calibri" pitchFamily="34" charset="0"/>
                <a:ea typeface="Calibri" pitchFamily="34" charset="-122"/>
                <a:cs typeface="Calibri" pitchFamily="34" charset="-120"/>
              </a:rPr>
              <a:t>Aggregation models a “has-a” relationship AT THE RELATIONSHIP LEVEL — a relationship between two entity types must itself participate, as a whole, in a relationship with a third entity type. Plain ER can't connect a relationship to an entity; aggregation closes this gap.</a:t>
            </a:r>
            <a:endParaRPr lang="en-US" sz="1250" dirty="0"/>
          </a:p>
        </p:txBody>
      </p:sp>
      <p:sp>
        <p:nvSpPr>
          <p:cNvPr id="5" name="Shape 3"/>
          <p:cNvSpPr/>
          <p:nvPr/>
        </p:nvSpPr>
        <p:spPr>
          <a:xfrm>
            <a:off x="822960" y="1965960"/>
            <a:ext cx="6309360" cy="1417320"/>
          </a:xfrm>
          <a:prstGeom prst="roundRect">
            <a:avLst>
              <a:gd name="adj" fmla="val 6452"/>
            </a:avLst>
          </a:prstGeom>
          <a:ln w="19050">
            <a:solidFill>
              <a:srgbClr val="8B7FD9"/>
            </a:solidFill>
            <a:prstDash val="dash"/>
          </a:ln>
        </p:spPr>
      </p:sp>
      <p:sp>
        <p:nvSpPr>
          <p:cNvPr id="6" name="Shape 4"/>
          <p:cNvSpPr/>
          <p:nvPr/>
        </p:nvSpPr>
        <p:spPr>
          <a:xfrm>
            <a:off x="3143250" y="1819656"/>
            <a:ext cx="1668780" cy="274320"/>
          </a:xfrm>
          <a:prstGeom prst="roundRect">
            <a:avLst>
              <a:gd name="adj" fmla="val 50000"/>
            </a:avLst>
          </a:prstGeom>
          <a:solidFill>
            <a:srgbClr val="8B7FD9"/>
          </a:solidFill>
          <a:ln/>
        </p:spPr>
      </p:sp>
      <p:sp>
        <p:nvSpPr>
          <p:cNvPr id="7" name="Text 5"/>
          <p:cNvSpPr txBox="1"/>
          <p:nvPr/>
        </p:nvSpPr>
        <p:spPr>
          <a:xfrm>
            <a:off x="3143250" y="1819656"/>
            <a:ext cx="166878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Manages, aggregated</a:t>
            </a:r>
            <a:endParaRPr lang="en-US" sz="950" dirty="0"/>
          </a:p>
        </p:txBody>
      </p:sp>
      <p:sp>
        <p:nvSpPr>
          <p:cNvPr id="8" name="Shape 6"/>
          <p:cNvSpPr/>
          <p:nvPr/>
        </p:nvSpPr>
        <p:spPr>
          <a:xfrm>
            <a:off x="1097280" y="2194560"/>
            <a:ext cx="2468880" cy="1005840"/>
          </a:xfrm>
          <a:prstGeom prst="roundRect">
            <a:avLst>
              <a:gd name="adj" fmla="val 6364"/>
            </a:avLst>
          </a:prstGeom>
          <a:solidFill>
            <a:srgbClr val="FFFFFF"/>
          </a:solidFill>
          <a:ln w="19050">
            <a:solidFill>
              <a:srgbClr val="2FE6C4"/>
            </a:solidFill>
            <a:prstDash val="solid"/>
          </a:ln>
        </p:spPr>
      </p:sp>
      <p:sp>
        <p:nvSpPr>
          <p:cNvPr id="9" name="Shape 7"/>
          <p:cNvSpPr/>
          <p:nvPr/>
        </p:nvSpPr>
        <p:spPr>
          <a:xfrm>
            <a:off x="1097280" y="2194560"/>
            <a:ext cx="2468880" cy="384048"/>
          </a:xfrm>
          <a:prstGeom prst="roundRect">
            <a:avLst>
              <a:gd name="adj" fmla="val 16667"/>
            </a:avLst>
          </a:prstGeom>
          <a:solidFill>
            <a:srgbClr val="2FE6C4"/>
          </a:solidFill>
          <a:ln/>
        </p:spPr>
      </p:sp>
      <p:sp>
        <p:nvSpPr>
          <p:cNvPr id="10" name="Shape 8"/>
          <p:cNvSpPr/>
          <p:nvPr/>
        </p:nvSpPr>
        <p:spPr>
          <a:xfrm>
            <a:off x="1097280" y="2487168"/>
            <a:ext cx="2468880" cy="91440"/>
          </a:xfrm>
          <a:prstGeom prst="rect">
            <a:avLst/>
          </a:prstGeom>
          <a:solidFill>
            <a:srgbClr val="2FE6C4"/>
          </a:solidFill>
          <a:ln/>
        </p:spPr>
      </p:sp>
      <p:sp>
        <p:nvSpPr>
          <p:cNvPr id="11" name="Text 9"/>
          <p:cNvSpPr txBox="1"/>
          <p:nvPr/>
        </p:nvSpPr>
        <p:spPr>
          <a:xfrm>
            <a:off x="1234440" y="2194560"/>
            <a:ext cx="219456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Staff</a:t>
            </a:r>
            <a:endParaRPr lang="en-US" sz="1300" dirty="0"/>
          </a:p>
        </p:txBody>
      </p:sp>
      <p:sp>
        <p:nvSpPr>
          <p:cNvPr id="12" name="Text 10"/>
          <p:cNvSpPr txBox="1"/>
          <p:nvPr/>
        </p:nvSpPr>
        <p:spPr>
          <a:xfrm>
            <a:off x="1234440" y="2651760"/>
            <a:ext cx="2194560" cy="512064"/>
          </a:xfrm>
          <a:prstGeom prst="rect">
            <a:avLst/>
          </a:prstGeom>
          <a:noFill/>
          <a:ln/>
        </p:spPr>
        <p:txBody>
          <a:bodyPr wrap="square" lIns="0" tIns="0" rIns="0" bIns="0" rtlCol="0" anchor="t"/>
          <a:lstStyle/>
          <a:p>
            <a:pPr indent="0" marL="0">
              <a:spcAft>
                <a:spcPts val="400"/>
              </a:spcAft>
              <a:buNone/>
            </a:pPr>
            <a:r>
              <a:rPr lang="en-US" sz="1100" b="1" u="sng" dirty="0">
                <a:solidFill>
                  <a:srgbClr val="1F2429"/>
                </a:solidFill>
                <a:latin typeface="Courier New" pitchFamily="34" charset="0"/>
                <a:ea typeface="Courier New" pitchFamily="34" charset="-122"/>
                <a:cs typeface="Courier New" pitchFamily="34" charset="-120"/>
              </a:rPr>
              <a:t>staffNo</a:t>
            </a:r>
            <a:endParaRPr lang="en-US" sz="1100" dirty="0"/>
          </a:p>
        </p:txBody>
      </p:sp>
      <p:sp>
        <p:nvSpPr>
          <p:cNvPr id="13" name="Shape 11"/>
          <p:cNvSpPr/>
          <p:nvPr/>
        </p:nvSpPr>
        <p:spPr>
          <a:xfrm>
            <a:off x="4206240" y="2194560"/>
            <a:ext cx="2651760" cy="1005840"/>
          </a:xfrm>
          <a:prstGeom prst="roundRect">
            <a:avLst>
              <a:gd name="adj" fmla="val 6364"/>
            </a:avLst>
          </a:prstGeom>
          <a:solidFill>
            <a:srgbClr val="FFFFFF"/>
          </a:solidFill>
          <a:ln w="19050">
            <a:solidFill>
              <a:srgbClr val="2FE6C4"/>
            </a:solidFill>
            <a:prstDash val="solid"/>
          </a:ln>
        </p:spPr>
      </p:sp>
      <p:sp>
        <p:nvSpPr>
          <p:cNvPr id="14" name="Shape 12"/>
          <p:cNvSpPr/>
          <p:nvPr/>
        </p:nvSpPr>
        <p:spPr>
          <a:xfrm>
            <a:off x="4206240" y="2194560"/>
            <a:ext cx="2651760" cy="384048"/>
          </a:xfrm>
          <a:prstGeom prst="roundRect">
            <a:avLst>
              <a:gd name="adj" fmla="val 16667"/>
            </a:avLst>
          </a:prstGeom>
          <a:solidFill>
            <a:srgbClr val="2FE6C4"/>
          </a:solidFill>
          <a:ln/>
        </p:spPr>
      </p:sp>
      <p:sp>
        <p:nvSpPr>
          <p:cNvPr id="15" name="Shape 13"/>
          <p:cNvSpPr/>
          <p:nvPr/>
        </p:nvSpPr>
        <p:spPr>
          <a:xfrm>
            <a:off x="4206240" y="2487168"/>
            <a:ext cx="2651760" cy="91440"/>
          </a:xfrm>
          <a:prstGeom prst="rect">
            <a:avLst/>
          </a:prstGeom>
          <a:solidFill>
            <a:srgbClr val="2FE6C4"/>
          </a:solidFill>
          <a:ln/>
        </p:spPr>
      </p:sp>
      <p:sp>
        <p:nvSpPr>
          <p:cNvPr id="16" name="Text 14"/>
          <p:cNvSpPr txBox="1"/>
          <p:nvPr/>
        </p:nvSpPr>
        <p:spPr>
          <a:xfrm>
            <a:off x="4343400" y="2194560"/>
            <a:ext cx="237744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PropertyForRent</a:t>
            </a:r>
            <a:endParaRPr lang="en-US" sz="1300" dirty="0"/>
          </a:p>
        </p:txBody>
      </p:sp>
      <p:sp>
        <p:nvSpPr>
          <p:cNvPr id="17" name="Text 15"/>
          <p:cNvSpPr txBox="1"/>
          <p:nvPr/>
        </p:nvSpPr>
        <p:spPr>
          <a:xfrm>
            <a:off x="4343400" y="2651760"/>
            <a:ext cx="2377440" cy="512064"/>
          </a:xfrm>
          <a:prstGeom prst="rect">
            <a:avLst/>
          </a:prstGeom>
          <a:noFill/>
          <a:ln/>
        </p:spPr>
        <p:txBody>
          <a:bodyPr wrap="square" lIns="0" tIns="0" rIns="0" bIns="0" rtlCol="0" anchor="t"/>
          <a:lstStyle/>
          <a:p>
            <a:pPr indent="0" marL="0">
              <a:spcAft>
                <a:spcPts val="400"/>
              </a:spcAft>
              <a:buNone/>
            </a:pPr>
            <a:r>
              <a:rPr lang="en-US" sz="1100" b="1" u="sng" dirty="0">
                <a:solidFill>
                  <a:srgbClr val="1F2429"/>
                </a:solidFill>
                <a:latin typeface="Courier New" pitchFamily="34" charset="0"/>
                <a:ea typeface="Courier New" pitchFamily="34" charset="-122"/>
                <a:cs typeface="Courier New" pitchFamily="34" charset="-120"/>
              </a:rPr>
              <a:t>propertyNo</a:t>
            </a:r>
            <a:endParaRPr lang="en-US" sz="1100" dirty="0"/>
          </a:p>
        </p:txBody>
      </p:sp>
      <p:sp>
        <p:nvSpPr>
          <p:cNvPr id="18" name="Shape 16"/>
          <p:cNvSpPr/>
          <p:nvPr/>
        </p:nvSpPr>
        <p:spPr>
          <a:xfrm>
            <a:off x="3566160" y="2697480"/>
            <a:ext cx="640080" cy="0"/>
          </a:xfrm>
          <a:prstGeom prst="line">
            <a:avLst/>
          </a:prstGeom>
          <a:noFill/>
          <a:ln w="22225">
            <a:solidFill>
              <a:srgbClr val="8A939B"/>
            </a:solidFill>
            <a:prstDash val="solid"/>
          </a:ln>
        </p:spPr>
      </p:sp>
      <p:sp>
        <p:nvSpPr>
          <p:cNvPr id="19" name="Shape 17"/>
          <p:cNvSpPr/>
          <p:nvPr/>
        </p:nvSpPr>
        <p:spPr>
          <a:xfrm>
            <a:off x="3486150" y="2551176"/>
            <a:ext cx="800100" cy="292608"/>
          </a:xfrm>
          <a:prstGeom prst="roundRect">
            <a:avLst>
              <a:gd name="adj" fmla="val 50000"/>
            </a:avLst>
          </a:prstGeom>
          <a:solidFill>
            <a:srgbClr val="8A939B"/>
          </a:solidFill>
          <a:ln/>
        </p:spPr>
      </p:sp>
      <p:sp>
        <p:nvSpPr>
          <p:cNvPr id="20" name="Text 18"/>
          <p:cNvSpPr txBox="1"/>
          <p:nvPr/>
        </p:nvSpPr>
        <p:spPr>
          <a:xfrm>
            <a:off x="3486150" y="2551176"/>
            <a:ext cx="80010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Manages</a:t>
            </a:r>
            <a:endParaRPr lang="en-US" sz="1000" dirty="0"/>
          </a:p>
        </p:txBody>
      </p:sp>
      <p:sp>
        <p:nvSpPr>
          <p:cNvPr id="21" name="Shape 19"/>
          <p:cNvSpPr/>
          <p:nvPr/>
        </p:nvSpPr>
        <p:spPr>
          <a:xfrm>
            <a:off x="3611880" y="2240280"/>
            <a:ext cx="466344" cy="256032"/>
          </a:xfrm>
          <a:prstGeom prst="roundRect">
            <a:avLst>
              <a:gd name="adj" fmla="val 50000"/>
            </a:avLst>
          </a:prstGeom>
          <a:solidFill>
            <a:srgbClr val="2FE6C4"/>
          </a:solidFill>
          <a:ln/>
        </p:spPr>
      </p:sp>
      <p:sp>
        <p:nvSpPr>
          <p:cNvPr id="22" name="Text 20"/>
          <p:cNvSpPr txBox="1"/>
          <p:nvPr/>
        </p:nvSpPr>
        <p:spPr>
          <a:xfrm>
            <a:off x="3611880" y="2240280"/>
            <a:ext cx="466344"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3" name="Shape 21"/>
          <p:cNvSpPr/>
          <p:nvPr/>
        </p:nvSpPr>
        <p:spPr>
          <a:xfrm>
            <a:off x="3694176" y="2898648"/>
            <a:ext cx="466344" cy="256032"/>
          </a:xfrm>
          <a:prstGeom prst="roundRect">
            <a:avLst>
              <a:gd name="adj" fmla="val 50000"/>
            </a:avLst>
          </a:prstGeom>
          <a:solidFill>
            <a:srgbClr val="E8A33D"/>
          </a:solidFill>
          <a:ln/>
        </p:spPr>
      </p:sp>
      <p:sp>
        <p:nvSpPr>
          <p:cNvPr id="24" name="Text 22"/>
          <p:cNvSpPr txBox="1"/>
          <p:nvPr/>
        </p:nvSpPr>
        <p:spPr>
          <a:xfrm>
            <a:off x="3694176" y="2898648"/>
            <a:ext cx="466344"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a:t>
            </a:r>
            <a:endParaRPr lang="en-US" sz="1000" dirty="0"/>
          </a:p>
        </p:txBody>
      </p:sp>
      <p:sp>
        <p:nvSpPr>
          <p:cNvPr id="25" name="Shape 23"/>
          <p:cNvSpPr/>
          <p:nvPr/>
        </p:nvSpPr>
        <p:spPr>
          <a:xfrm>
            <a:off x="3895344" y="3520440"/>
            <a:ext cx="164592" cy="411480"/>
          </a:xfrm>
          <a:prstGeom prst="downArrow">
            <a:avLst/>
          </a:prstGeom>
          <a:solidFill>
            <a:srgbClr val="8B7FD9"/>
          </a:solidFill>
          <a:ln/>
        </p:spPr>
      </p:sp>
      <p:sp>
        <p:nvSpPr>
          <p:cNvPr id="26" name="Shape 24"/>
          <p:cNvSpPr/>
          <p:nvPr/>
        </p:nvSpPr>
        <p:spPr>
          <a:xfrm>
            <a:off x="8869680" y="4069080"/>
            <a:ext cx="2651760" cy="1097280"/>
          </a:xfrm>
          <a:prstGeom prst="roundRect">
            <a:avLst>
              <a:gd name="adj" fmla="val 5833"/>
            </a:avLst>
          </a:prstGeom>
          <a:solidFill>
            <a:srgbClr val="FFFFFF"/>
          </a:solidFill>
          <a:ln w="19050">
            <a:solidFill>
              <a:srgbClr val="E8A33D"/>
            </a:solidFill>
            <a:prstDash val="solid"/>
          </a:ln>
        </p:spPr>
      </p:sp>
      <p:sp>
        <p:nvSpPr>
          <p:cNvPr id="27" name="Shape 25"/>
          <p:cNvSpPr/>
          <p:nvPr/>
        </p:nvSpPr>
        <p:spPr>
          <a:xfrm>
            <a:off x="8869680" y="4069080"/>
            <a:ext cx="2651760" cy="384048"/>
          </a:xfrm>
          <a:prstGeom prst="roundRect">
            <a:avLst>
              <a:gd name="adj" fmla="val 16667"/>
            </a:avLst>
          </a:prstGeom>
          <a:solidFill>
            <a:srgbClr val="E8A33D"/>
          </a:solidFill>
          <a:ln/>
        </p:spPr>
      </p:sp>
      <p:sp>
        <p:nvSpPr>
          <p:cNvPr id="28" name="Shape 26"/>
          <p:cNvSpPr/>
          <p:nvPr/>
        </p:nvSpPr>
        <p:spPr>
          <a:xfrm>
            <a:off x="8869680" y="4361688"/>
            <a:ext cx="2651760" cy="91440"/>
          </a:xfrm>
          <a:prstGeom prst="rect">
            <a:avLst/>
          </a:prstGeom>
          <a:solidFill>
            <a:srgbClr val="E8A33D"/>
          </a:solidFill>
          <a:ln/>
        </p:spPr>
      </p:sp>
      <p:sp>
        <p:nvSpPr>
          <p:cNvPr id="29" name="Text 27"/>
          <p:cNvSpPr txBox="1"/>
          <p:nvPr/>
        </p:nvSpPr>
        <p:spPr>
          <a:xfrm>
            <a:off x="9006840" y="4069080"/>
            <a:ext cx="237744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Supervisor</a:t>
            </a:r>
            <a:endParaRPr lang="en-US" sz="1300" dirty="0"/>
          </a:p>
        </p:txBody>
      </p:sp>
      <p:sp>
        <p:nvSpPr>
          <p:cNvPr id="30" name="Text 28"/>
          <p:cNvSpPr txBox="1"/>
          <p:nvPr/>
        </p:nvSpPr>
        <p:spPr>
          <a:xfrm>
            <a:off x="9006840" y="4526280"/>
            <a:ext cx="2377440" cy="603504"/>
          </a:xfrm>
          <a:prstGeom prst="rect">
            <a:avLst/>
          </a:prstGeom>
          <a:noFill/>
          <a:ln/>
        </p:spPr>
        <p:txBody>
          <a:bodyPr wrap="square" lIns="0" tIns="0" rIns="0" bIns="0" rtlCol="0" anchor="t"/>
          <a:lstStyle/>
          <a:p>
            <a:pPr indent="0" marL="0">
              <a:spcAft>
                <a:spcPts val="400"/>
              </a:spcAft>
              <a:buNone/>
            </a:pPr>
            <a:r>
              <a:rPr lang="en-US" sz="1100" b="1" u="sng" dirty="0">
                <a:solidFill>
                  <a:srgbClr val="1F2429"/>
                </a:solidFill>
                <a:latin typeface="Courier New" pitchFamily="34" charset="0"/>
                <a:ea typeface="Courier New" pitchFamily="34" charset="-122"/>
                <a:cs typeface="Courier New" pitchFamily="34" charset="-120"/>
              </a:rPr>
              <a:t>supervisorNo</a:t>
            </a:r>
            <a:endParaRPr lang="en-US" sz="1100" dirty="0"/>
          </a:p>
        </p:txBody>
      </p:sp>
      <p:sp>
        <p:nvSpPr>
          <p:cNvPr id="31" name="Shape 29"/>
          <p:cNvSpPr/>
          <p:nvPr/>
        </p:nvSpPr>
        <p:spPr>
          <a:xfrm>
            <a:off x="7132320" y="4572000"/>
            <a:ext cx="1737360" cy="0"/>
          </a:xfrm>
          <a:prstGeom prst="line">
            <a:avLst/>
          </a:prstGeom>
          <a:noFill/>
          <a:ln w="22225">
            <a:solidFill>
              <a:srgbClr val="8A939B"/>
            </a:solidFill>
            <a:prstDash val="solid"/>
          </a:ln>
        </p:spPr>
      </p:sp>
      <p:sp>
        <p:nvSpPr>
          <p:cNvPr id="32" name="Shape 30"/>
          <p:cNvSpPr/>
          <p:nvPr/>
        </p:nvSpPr>
        <p:spPr>
          <a:xfrm>
            <a:off x="7600950" y="4425696"/>
            <a:ext cx="800100" cy="292608"/>
          </a:xfrm>
          <a:prstGeom prst="roundRect">
            <a:avLst>
              <a:gd name="adj" fmla="val 50000"/>
            </a:avLst>
          </a:prstGeom>
          <a:solidFill>
            <a:srgbClr val="8A939B"/>
          </a:solidFill>
          <a:ln/>
        </p:spPr>
      </p:sp>
      <p:sp>
        <p:nvSpPr>
          <p:cNvPr id="33" name="Text 31"/>
          <p:cNvSpPr txBox="1"/>
          <p:nvPr/>
        </p:nvSpPr>
        <p:spPr>
          <a:xfrm>
            <a:off x="7600950" y="4425696"/>
            <a:ext cx="80010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Reviews</a:t>
            </a:r>
            <a:endParaRPr lang="en-US" sz="1000" dirty="0"/>
          </a:p>
        </p:txBody>
      </p:sp>
      <p:sp>
        <p:nvSpPr>
          <p:cNvPr id="34" name="Shape 32"/>
          <p:cNvSpPr/>
          <p:nvPr/>
        </p:nvSpPr>
        <p:spPr>
          <a:xfrm>
            <a:off x="7178040" y="4114800"/>
            <a:ext cx="466344" cy="256032"/>
          </a:xfrm>
          <a:prstGeom prst="roundRect">
            <a:avLst>
              <a:gd name="adj" fmla="val 50000"/>
            </a:avLst>
          </a:prstGeom>
          <a:solidFill>
            <a:srgbClr val="2FE6C4"/>
          </a:solidFill>
          <a:ln/>
        </p:spPr>
      </p:sp>
      <p:sp>
        <p:nvSpPr>
          <p:cNvPr id="35" name="Text 33"/>
          <p:cNvSpPr txBox="1"/>
          <p:nvPr/>
        </p:nvSpPr>
        <p:spPr>
          <a:xfrm>
            <a:off x="7178040" y="4114800"/>
            <a:ext cx="466344"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a:t>
            </a:r>
            <a:endParaRPr lang="en-US" sz="1000" dirty="0"/>
          </a:p>
        </p:txBody>
      </p:sp>
      <p:sp>
        <p:nvSpPr>
          <p:cNvPr id="36" name="Shape 34"/>
          <p:cNvSpPr/>
          <p:nvPr/>
        </p:nvSpPr>
        <p:spPr>
          <a:xfrm>
            <a:off x="8357616" y="4773168"/>
            <a:ext cx="466344" cy="256032"/>
          </a:xfrm>
          <a:prstGeom prst="roundRect">
            <a:avLst>
              <a:gd name="adj" fmla="val 50000"/>
            </a:avLst>
          </a:prstGeom>
          <a:solidFill>
            <a:srgbClr val="E8A33D"/>
          </a:solidFill>
          <a:ln/>
        </p:spPr>
      </p:sp>
      <p:sp>
        <p:nvSpPr>
          <p:cNvPr id="37" name="Text 35"/>
          <p:cNvSpPr txBox="1"/>
          <p:nvPr/>
        </p:nvSpPr>
        <p:spPr>
          <a:xfrm>
            <a:off x="8357616" y="4773168"/>
            <a:ext cx="466344"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8" name="Shape 36"/>
          <p:cNvSpPr/>
          <p:nvPr/>
        </p:nvSpPr>
        <p:spPr>
          <a:xfrm>
            <a:off x="822960" y="4069080"/>
            <a:ext cx="6309360" cy="1051560"/>
          </a:xfrm>
          <a:prstGeom prst="roundRect">
            <a:avLst>
              <a:gd name="adj" fmla="val 6957"/>
            </a:avLst>
          </a:prstGeom>
          <a:ln w="19050">
            <a:solidFill>
              <a:srgbClr val="8B7FD9"/>
            </a:solidFill>
            <a:prstDash val="dash"/>
          </a:ln>
        </p:spPr>
      </p:sp>
      <p:sp>
        <p:nvSpPr>
          <p:cNvPr id="39" name="Text 37"/>
          <p:cNvSpPr txBox="1"/>
          <p:nvPr/>
        </p:nvSpPr>
        <p:spPr>
          <a:xfrm>
            <a:off x="960120" y="4069080"/>
            <a:ext cx="6035040" cy="1051560"/>
          </a:xfrm>
          <a:prstGeom prst="rect">
            <a:avLst/>
          </a:prstGeom>
          <a:noFill/>
          <a:ln/>
        </p:spPr>
        <p:txBody>
          <a:bodyPr wrap="square" lIns="0" tIns="0" rIns="0" bIns="0" rtlCol="0" anchor="ctr"/>
          <a:lstStyle/>
          <a:p>
            <a:pPr algn="ctr" indent="0" marL="0">
              <a:buNone/>
            </a:pPr>
            <a:r>
              <a:rPr lang="en-US" sz="1150" i="1" dirty="0">
                <a:solidFill>
                  <a:srgbClr val="8B7FD9"/>
                </a:solidFill>
                <a:latin typeface="Calibri" pitchFamily="34" charset="0"/>
                <a:ea typeface="Calibri" pitchFamily="34" charset="-122"/>
                <a:cs typeface="Calibri" pitchFamily="34" charset="-120"/>
              </a:rPr>
              <a:t>the aggregated Manages relationship (as a single unit)</a:t>
            </a:r>
            <a:endParaRPr lang="en-US" sz="1150" dirty="0"/>
          </a:p>
        </p:txBody>
      </p:sp>
      <p:sp>
        <p:nvSpPr>
          <p:cNvPr id="40" name="Text 38"/>
          <p:cNvSpPr txBox="1"/>
          <p:nvPr/>
        </p:nvSpPr>
        <p:spPr>
          <a:xfrm>
            <a:off x="640080" y="5486400"/>
            <a:ext cx="10881360" cy="1005840"/>
          </a:xfrm>
          <a:prstGeom prst="rect">
            <a:avLst/>
          </a:prstGeom>
          <a:noFill/>
          <a:ln/>
        </p:spPr>
        <p:txBody>
          <a:bodyPr wrap="square" lIns="0" tIns="0" rIns="0" bIns="0" rtlCol="0" anchor="ctr"/>
          <a:lstStyle/>
          <a:p>
            <a:pPr indent="0" marL="0">
              <a:buNone/>
            </a:pPr>
            <a:r>
              <a:rPr lang="en-US" sz="1100" i="1" dirty="0">
                <a:solidFill>
                  <a:srgbClr val="8A939B"/>
                </a:solidFill>
                <a:latin typeface="Calibri" pitchFamily="34" charset="0"/>
                <a:ea typeface="Calibri" pitchFamily="34" charset="-122"/>
                <a:cs typeface="Calibri" pitchFamily="34" charset="-120"/>
              </a:rPr>
              <a:t>A review is genuinely about the PAIRING (this staff member managing this property), not about either side alone — a supervisor might review the same staff member's management of one property differently from another.</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Composition</a:t>
            </a:r>
            <a:endParaRPr lang="en-US" sz="2800" dirty="0"/>
          </a:p>
        </p:txBody>
      </p:sp>
      <p:sp>
        <p:nvSpPr>
          <p:cNvPr id="3" name="Text 1"/>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11</a:t>
            </a:r>
            <a:endParaRPr lang="en-US" sz="1000" dirty="0"/>
          </a:p>
        </p:txBody>
      </p:sp>
      <p:sp>
        <p:nvSpPr>
          <p:cNvPr id="4" name="Text 2"/>
          <p:cNvSpPr txBox="1"/>
          <p:nvPr/>
        </p:nvSpPr>
        <p:spPr>
          <a:xfrm>
            <a:off x="640080" y="1005840"/>
            <a:ext cx="10881360" cy="594360"/>
          </a:xfrm>
          <a:prstGeom prst="rect">
            <a:avLst/>
          </a:prstGeom>
          <a:noFill/>
          <a:ln/>
        </p:spPr>
        <p:txBody>
          <a:bodyPr wrap="square" lIns="0" tIns="0" rIns="0" bIns="0" rtlCol="0" anchor="ctr"/>
          <a:lstStyle/>
          <a:p>
            <a:pPr indent="0" marL="0">
              <a:buNone/>
            </a:pPr>
            <a:r>
              <a:rPr lang="en-US" sz="1300" dirty="0">
                <a:solidFill>
                  <a:srgbClr val="1F2429"/>
                </a:solidFill>
                <a:latin typeface="Calibri" pitchFamily="34" charset="0"/>
                <a:ea typeface="Calibri" pitchFamily="34" charset="-122"/>
                <a:cs typeface="Calibri" pitchFamily="34" charset="-120"/>
              </a:rPr>
              <a:t>Composition is aggregation's stronger cousin: a whole-part relationship where the part has NO INDEPENDENT EXISTENCE apart from the whole — and a part typically belongs to exactly one whole at a time.</a:t>
            </a:r>
            <a:endParaRPr lang="en-US" sz="1300" dirty="0"/>
          </a:p>
        </p:txBody>
      </p:sp>
      <p:sp>
        <p:nvSpPr>
          <p:cNvPr id="5" name="Shape 3"/>
          <p:cNvSpPr/>
          <p:nvPr/>
        </p:nvSpPr>
        <p:spPr>
          <a:xfrm>
            <a:off x="822960" y="1783080"/>
            <a:ext cx="3108960" cy="1417320"/>
          </a:xfrm>
          <a:prstGeom prst="roundRect">
            <a:avLst>
              <a:gd name="adj" fmla="val 4516"/>
            </a:avLst>
          </a:prstGeom>
          <a:solidFill>
            <a:srgbClr val="FFFFFF"/>
          </a:solidFill>
          <a:ln w="19050">
            <a:solidFill>
              <a:srgbClr val="2FE6C4"/>
            </a:solidFill>
            <a:prstDash val="solid"/>
          </a:ln>
        </p:spPr>
      </p:sp>
      <p:sp>
        <p:nvSpPr>
          <p:cNvPr id="6" name="Shape 4"/>
          <p:cNvSpPr/>
          <p:nvPr/>
        </p:nvSpPr>
        <p:spPr>
          <a:xfrm>
            <a:off x="822960" y="1783080"/>
            <a:ext cx="3108960" cy="384048"/>
          </a:xfrm>
          <a:prstGeom prst="roundRect">
            <a:avLst>
              <a:gd name="adj" fmla="val 16667"/>
            </a:avLst>
          </a:prstGeom>
          <a:solidFill>
            <a:srgbClr val="2FE6C4"/>
          </a:solidFill>
          <a:ln/>
        </p:spPr>
      </p:sp>
      <p:sp>
        <p:nvSpPr>
          <p:cNvPr id="7" name="Shape 5"/>
          <p:cNvSpPr/>
          <p:nvPr/>
        </p:nvSpPr>
        <p:spPr>
          <a:xfrm>
            <a:off x="822960" y="2075688"/>
            <a:ext cx="3108960" cy="91440"/>
          </a:xfrm>
          <a:prstGeom prst="rect">
            <a:avLst/>
          </a:prstGeom>
          <a:solidFill>
            <a:srgbClr val="2FE6C4"/>
          </a:solidFill>
          <a:ln/>
        </p:spPr>
      </p:sp>
      <p:sp>
        <p:nvSpPr>
          <p:cNvPr id="8" name="Text 6"/>
          <p:cNvSpPr txBox="1"/>
          <p:nvPr/>
        </p:nvSpPr>
        <p:spPr>
          <a:xfrm>
            <a:off x="960120" y="1783080"/>
            <a:ext cx="283464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Branch</a:t>
            </a:r>
            <a:endParaRPr lang="en-US" sz="1300" dirty="0"/>
          </a:p>
        </p:txBody>
      </p:sp>
      <p:sp>
        <p:nvSpPr>
          <p:cNvPr id="9" name="Text 7"/>
          <p:cNvSpPr txBox="1"/>
          <p:nvPr/>
        </p:nvSpPr>
        <p:spPr>
          <a:xfrm>
            <a:off x="960120" y="2240280"/>
            <a:ext cx="2834640" cy="923544"/>
          </a:xfrm>
          <a:prstGeom prst="rect">
            <a:avLst/>
          </a:prstGeom>
          <a:noFill/>
          <a:ln/>
        </p:spPr>
        <p:txBody>
          <a:bodyPr wrap="square" lIns="0" tIns="0" rIns="0" bIns="0" rtlCol="0" anchor="t"/>
          <a:lstStyle/>
          <a:p>
            <a:pPr indent="0" marL="0">
              <a:spcAft>
                <a:spcPts val="400"/>
              </a:spcAft>
              <a:buNone/>
            </a:pPr>
            <a:r>
              <a:rPr lang="en-US" sz="1100" b="1" u="sng" dirty="0">
                <a:solidFill>
                  <a:srgbClr val="1F2429"/>
                </a:solidFill>
                <a:latin typeface="Courier New" pitchFamily="34" charset="0"/>
                <a:ea typeface="Courier New" pitchFamily="34" charset="-122"/>
                <a:cs typeface="Courier New" pitchFamily="34" charset="-120"/>
              </a:rPr>
              <a:t>branchNo</a:t>
            </a:r>
            <a:endParaRPr lang="en-US" sz="1100" dirty="0"/>
          </a:p>
          <a:p>
            <a:pPr indent="0" marL="0">
              <a:spcAft>
                <a:spcPts val="400"/>
              </a:spcAft>
              <a:buNone/>
            </a:pPr>
            <a:r>
              <a:rPr lang="en-US" sz="1100" dirty="0">
                <a:solidFill>
                  <a:srgbClr val="1F2429"/>
                </a:solidFill>
                <a:latin typeface="Courier New" pitchFamily="34" charset="0"/>
                <a:ea typeface="Courier New" pitchFamily="34" charset="-122"/>
                <a:cs typeface="Courier New" pitchFamily="34" charset="-120"/>
              </a:rPr>
              <a:t>street</a:t>
            </a:r>
            <a:endParaRPr lang="en-US" sz="1100" dirty="0"/>
          </a:p>
          <a:p>
            <a:pPr indent="0" marL="0">
              <a:spcAft>
                <a:spcPts val="400"/>
              </a:spcAft>
              <a:buNone/>
            </a:pPr>
            <a:r>
              <a:rPr lang="en-US" sz="1100" dirty="0">
                <a:solidFill>
                  <a:srgbClr val="1F2429"/>
                </a:solidFill>
                <a:latin typeface="Courier New" pitchFamily="34" charset="0"/>
                <a:ea typeface="Courier New" pitchFamily="34" charset="-122"/>
                <a:cs typeface="Courier New" pitchFamily="34" charset="-120"/>
              </a:rPr>
              <a:t>city</a:t>
            </a:r>
            <a:endParaRPr lang="en-US" sz="1100" dirty="0"/>
          </a:p>
        </p:txBody>
      </p:sp>
      <p:sp>
        <p:nvSpPr>
          <p:cNvPr id="10" name="Shape 8"/>
          <p:cNvSpPr/>
          <p:nvPr/>
        </p:nvSpPr>
        <p:spPr>
          <a:xfrm>
            <a:off x="4937760" y="1783080"/>
            <a:ext cx="3108960" cy="1417320"/>
          </a:xfrm>
          <a:prstGeom prst="roundRect">
            <a:avLst>
              <a:gd name="adj" fmla="val 4516"/>
            </a:avLst>
          </a:prstGeom>
          <a:solidFill>
            <a:srgbClr val="FFFFFF"/>
          </a:solidFill>
          <a:ln w="19050">
            <a:solidFill>
              <a:srgbClr val="E8A33D"/>
            </a:solidFill>
            <a:prstDash val="solid"/>
          </a:ln>
        </p:spPr>
      </p:sp>
      <p:sp>
        <p:nvSpPr>
          <p:cNvPr id="11" name="Shape 9"/>
          <p:cNvSpPr/>
          <p:nvPr/>
        </p:nvSpPr>
        <p:spPr>
          <a:xfrm>
            <a:off x="4937760" y="1783080"/>
            <a:ext cx="3108960" cy="384048"/>
          </a:xfrm>
          <a:prstGeom prst="roundRect">
            <a:avLst>
              <a:gd name="adj" fmla="val 16667"/>
            </a:avLst>
          </a:prstGeom>
          <a:solidFill>
            <a:srgbClr val="E8A33D"/>
          </a:solidFill>
          <a:ln/>
        </p:spPr>
      </p:sp>
      <p:sp>
        <p:nvSpPr>
          <p:cNvPr id="12" name="Shape 10"/>
          <p:cNvSpPr/>
          <p:nvPr/>
        </p:nvSpPr>
        <p:spPr>
          <a:xfrm>
            <a:off x="4937760" y="2075688"/>
            <a:ext cx="3108960" cy="91440"/>
          </a:xfrm>
          <a:prstGeom prst="rect">
            <a:avLst/>
          </a:prstGeom>
          <a:solidFill>
            <a:srgbClr val="E8A33D"/>
          </a:solidFill>
          <a:ln/>
        </p:spPr>
      </p:sp>
      <p:sp>
        <p:nvSpPr>
          <p:cNvPr id="13" name="Text 11"/>
          <p:cNvSpPr txBox="1"/>
          <p:nvPr/>
        </p:nvSpPr>
        <p:spPr>
          <a:xfrm>
            <a:off x="5074920" y="1783080"/>
            <a:ext cx="283464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Room</a:t>
            </a:r>
            <a:endParaRPr lang="en-US" sz="1300" dirty="0"/>
          </a:p>
        </p:txBody>
      </p:sp>
      <p:sp>
        <p:nvSpPr>
          <p:cNvPr id="14" name="Text 12"/>
          <p:cNvSpPr txBox="1"/>
          <p:nvPr/>
        </p:nvSpPr>
        <p:spPr>
          <a:xfrm>
            <a:off x="5074920" y="2240280"/>
            <a:ext cx="2834640" cy="923544"/>
          </a:xfrm>
          <a:prstGeom prst="rect">
            <a:avLst/>
          </a:prstGeom>
          <a:noFill/>
          <a:ln/>
        </p:spPr>
        <p:txBody>
          <a:bodyPr wrap="square" lIns="0" tIns="0" rIns="0" bIns="0" rtlCol="0" anchor="t"/>
          <a:lstStyle/>
          <a:p>
            <a:pPr indent="0" marL="0">
              <a:spcAft>
                <a:spcPts val="400"/>
              </a:spcAft>
              <a:buNone/>
            </a:pPr>
            <a:r>
              <a:rPr lang="en-US" sz="1100" b="1" u="sng" dirty="0">
                <a:solidFill>
                  <a:srgbClr val="1F2429"/>
                </a:solidFill>
                <a:latin typeface="Courier New" pitchFamily="34" charset="0"/>
                <a:ea typeface="Courier New" pitchFamily="34" charset="-122"/>
                <a:cs typeface="Courier New" pitchFamily="34" charset="-120"/>
              </a:rPr>
              <a:t>roomNo</a:t>
            </a:r>
            <a:endParaRPr lang="en-US" sz="1100" dirty="0"/>
          </a:p>
          <a:p>
            <a:pPr indent="0" marL="0">
              <a:spcAft>
                <a:spcPts val="400"/>
              </a:spcAft>
              <a:buNone/>
            </a:pPr>
            <a:r>
              <a:rPr lang="en-US" sz="1100" dirty="0">
                <a:solidFill>
                  <a:srgbClr val="1F2429"/>
                </a:solidFill>
                <a:latin typeface="Courier New" pitchFamily="34" charset="0"/>
                <a:ea typeface="Courier New" pitchFamily="34" charset="-122"/>
                <a:cs typeface="Courier New" pitchFamily="34" charset="-120"/>
              </a:rPr>
              <a:t>floorArea</a:t>
            </a:r>
            <a:endParaRPr lang="en-US" sz="1100" dirty="0"/>
          </a:p>
        </p:txBody>
      </p:sp>
      <p:sp>
        <p:nvSpPr>
          <p:cNvPr id="15" name="Shape 13"/>
          <p:cNvSpPr/>
          <p:nvPr/>
        </p:nvSpPr>
        <p:spPr>
          <a:xfrm>
            <a:off x="3931920" y="2468880"/>
            <a:ext cx="1005840" cy="0"/>
          </a:xfrm>
          <a:prstGeom prst="line">
            <a:avLst/>
          </a:prstGeom>
          <a:noFill/>
          <a:ln w="22225">
            <a:solidFill>
              <a:srgbClr val="8B7FD9"/>
            </a:solidFill>
            <a:prstDash val="solid"/>
          </a:ln>
        </p:spPr>
      </p:sp>
      <p:sp>
        <p:nvSpPr>
          <p:cNvPr id="16" name="Shape 14"/>
          <p:cNvSpPr/>
          <p:nvPr/>
        </p:nvSpPr>
        <p:spPr>
          <a:xfrm>
            <a:off x="3879342" y="2322576"/>
            <a:ext cx="1110996" cy="292608"/>
          </a:xfrm>
          <a:prstGeom prst="roundRect">
            <a:avLst>
              <a:gd name="adj" fmla="val 50000"/>
            </a:avLst>
          </a:prstGeom>
          <a:solidFill>
            <a:srgbClr val="8B7FD9"/>
          </a:solidFill>
          <a:ln/>
        </p:spPr>
      </p:sp>
      <p:sp>
        <p:nvSpPr>
          <p:cNvPr id="17" name="Text 15"/>
          <p:cNvSpPr txBox="1"/>
          <p:nvPr/>
        </p:nvSpPr>
        <p:spPr>
          <a:xfrm>
            <a:off x="3879342" y="2322576"/>
            <a:ext cx="111099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Composed Of</a:t>
            </a:r>
            <a:endParaRPr lang="en-US" sz="1000" dirty="0"/>
          </a:p>
        </p:txBody>
      </p:sp>
      <p:sp>
        <p:nvSpPr>
          <p:cNvPr id="18" name="Shape 16"/>
          <p:cNvSpPr/>
          <p:nvPr/>
        </p:nvSpPr>
        <p:spPr>
          <a:xfrm>
            <a:off x="3977640" y="2011680"/>
            <a:ext cx="466344" cy="256032"/>
          </a:xfrm>
          <a:prstGeom prst="roundRect">
            <a:avLst>
              <a:gd name="adj" fmla="val 50000"/>
            </a:avLst>
          </a:prstGeom>
          <a:solidFill>
            <a:srgbClr val="2FE6C4"/>
          </a:solidFill>
          <a:ln/>
        </p:spPr>
      </p:sp>
      <p:sp>
        <p:nvSpPr>
          <p:cNvPr id="19" name="Text 17"/>
          <p:cNvSpPr txBox="1"/>
          <p:nvPr/>
        </p:nvSpPr>
        <p:spPr>
          <a:xfrm>
            <a:off x="3977640" y="2011680"/>
            <a:ext cx="466344"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0" name="Shape 18"/>
          <p:cNvSpPr/>
          <p:nvPr/>
        </p:nvSpPr>
        <p:spPr>
          <a:xfrm>
            <a:off x="4425696" y="2670048"/>
            <a:ext cx="466344" cy="256032"/>
          </a:xfrm>
          <a:prstGeom prst="roundRect">
            <a:avLst>
              <a:gd name="adj" fmla="val 50000"/>
            </a:avLst>
          </a:prstGeom>
          <a:solidFill>
            <a:srgbClr val="E8A33D"/>
          </a:solidFill>
          <a:ln/>
        </p:spPr>
      </p:sp>
      <p:sp>
        <p:nvSpPr>
          <p:cNvPr id="21" name="Text 19"/>
          <p:cNvSpPr txBox="1"/>
          <p:nvPr/>
        </p:nvSpPr>
        <p:spPr>
          <a:xfrm>
            <a:off x="4425696" y="2670048"/>
            <a:ext cx="466344"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22960" y="3611880"/>
          <a:ext cx="10515600" cy="914400"/>
        </p:xfrm>
        <a:graphic>
          <a:graphicData uri="http://schemas.openxmlformats.org/drawingml/2006/table">
            <a:tbl>
              <a:tblPr/>
              <a:tblGrid>
                <a:gridCol w="3505200"/>
                <a:gridCol w="3505200"/>
                <a:gridCol w="3505200"/>
              </a:tblGrid>
              <a:tr h="384048">
                <a:tc>
                  <a:txBody>
                    <a:bodyPr/>
                    <a:lstStyle/>
                    <a:p>
                      <a:pPr algn="ctr" indent="0" marL="0">
                        <a:buNone/>
                      </a:pPr>
                      <a:endParaRPr lang="en-US" sz="1050" dirty="0">
                        <a:latin typeface="Calibri" charset="0"/>
                        <a:ea typeface="Calibri" charset="0"/>
                        <a:cs typeface="Calibri" charset="0"/>
                      </a:endParaRPr>
                    </a:p>
                  </a:txBody>
                  <a:tcPr marL="91440" marR="91440" marT="45720" marB="45720" anchor="ctr">
                    <a:lnL w="9525" cap="flat" cmpd="sng" algn="ctr">
                      <a:solidFill>
                        <a:srgbClr val="D8DCE1"/>
                      </a:solidFill>
                      <a:prstDash val="solid"/>
                      <a:round/>
                      <a:headEnd type="none" w="med" len="med"/>
                      <a:tailEnd type="none" w="med" len="med"/>
                    </a:lnL>
                    <a:lnR w="9525" cap="flat" cmpd="sng" algn="ctr">
                      <a:solidFill>
                        <a:srgbClr val="D8DCE1"/>
                      </a:solidFill>
                      <a:prstDash val="solid"/>
                      <a:round/>
                      <a:headEnd type="none" w="med" len="med"/>
                      <a:tailEnd type="none" w="med" len="med"/>
                    </a:lnR>
                    <a:lnT w="9525" cap="flat" cmpd="sng" algn="ctr">
                      <a:solidFill>
                        <a:srgbClr val="D8DCE1"/>
                      </a:solidFill>
                      <a:prstDash val="solid"/>
                      <a:round/>
                      <a:headEnd type="none" w="med" len="med"/>
                      <a:tailEnd type="none" w="med" len="med"/>
                    </a:lnT>
                    <a:lnB w="9525" cap="flat" cmpd="sng" algn="ctr">
                      <a:solidFill>
                        <a:srgbClr val="D8DCE1"/>
                      </a:solidFill>
                      <a:prstDash val="solid"/>
                      <a:round/>
                      <a:headEnd type="none" w="med" len="med"/>
                      <a:tailEnd type="none" w="med" len="med"/>
                    </a:lnB>
                    <a:solidFill>
                      <a:srgbClr val="8B7FD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Aggregation</a:t>
                      </a:r>
                      <a:endParaRPr lang="en-US" sz="1050" dirty="0">
                        <a:latin typeface="Calibri" charset="0"/>
                        <a:ea typeface="Calibri" charset="0"/>
                        <a:cs typeface="Calibri" charset="0"/>
                      </a:endParaRPr>
                    </a:p>
                  </a:txBody>
                  <a:tcPr marL="91440" marR="91440" marT="45720" marB="45720" anchor="ctr">
                    <a:lnL w="9525" cap="flat" cmpd="sng" algn="ctr">
                      <a:solidFill>
                        <a:srgbClr val="D8DCE1"/>
                      </a:solidFill>
                      <a:prstDash val="solid"/>
                      <a:round/>
                      <a:headEnd type="none" w="med" len="med"/>
                      <a:tailEnd type="none" w="med" len="med"/>
                    </a:lnL>
                    <a:lnR w="9525" cap="flat" cmpd="sng" algn="ctr">
                      <a:solidFill>
                        <a:srgbClr val="D8DCE1"/>
                      </a:solidFill>
                      <a:prstDash val="solid"/>
                      <a:round/>
                      <a:headEnd type="none" w="med" len="med"/>
                      <a:tailEnd type="none" w="med" len="med"/>
                    </a:lnR>
                    <a:lnT w="9525" cap="flat" cmpd="sng" algn="ctr">
                      <a:solidFill>
                        <a:srgbClr val="D8DCE1"/>
                      </a:solidFill>
                      <a:prstDash val="solid"/>
                      <a:round/>
                      <a:headEnd type="none" w="med" len="med"/>
                      <a:tailEnd type="none" w="med" len="med"/>
                    </a:lnT>
                    <a:lnB w="9525" cap="flat" cmpd="sng" algn="ctr">
                      <a:solidFill>
                        <a:srgbClr val="D8DCE1"/>
                      </a:solidFill>
                      <a:prstDash val="solid"/>
                      <a:round/>
                      <a:headEnd type="none" w="med" len="med"/>
                      <a:tailEnd type="none" w="med" len="med"/>
                    </a:lnB>
                    <a:solidFill>
                      <a:srgbClr val="8B7FD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Composition</a:t>
                      </a:r>
                      <a:endParaRPr lang="en-US" sz="1050" dirty="0">
                        <a:latin typeface="Calibri" charset="0"/>
                        <a:ea typeface="Calibri" charset="0"/>
                        <a:cs typeface="Calibri" charset="0"/>
                      </a:endParaRPr>
                    </a:p>
                  </a:txBody>
                  <a:tcPr marL="91440" marR="91440" marT="45720" marB="45720" anchor="ctr">
                    <a:lnL w="9525" cap="flat" cmpd="sng" algn="ctr">
                      <a:solidFill>
                        <a:srgbClr val="D8DCE1"/>
                      </a:solidFill>
                      <a:prstDash val="solid"/>
                      <a:round/>
                      <a:headEnd type="none" w="med" len="med"/>
                      <a:tailEnd type="none" w="med" len="med"/>
                    </a:lnL>
                    <a:lnR w="9525" cap="flat" cmpd="sng" algn="ctr">
                      <a:solidFill>
                        <a:srgbClr val="D8DCE1"/>
                      </a:solidFill>
                      <a:prstDash val="solid"/>
                      <a:round/>
                      <a:headEnd type="none" w="med" len="med"/>
                      <a:tailEnd type="none" w="med" len="med"/>
                    </a:lnR>
                    <a:lnT w="9525" cap="flat" cmpd="sng" algn="ctr">
                      <a:solidFill>
                        <a:srgbClr val="D8DCE1"/>
                      </a:solidFill>
                      <a:prstDash val="solid"/>
                      <a:round/>
                      <a:headEnd type="none" w="med" len="med"/>
                      <a:tailEnd type="none" w="med" len="med"/>
                    </a:lnT>
                    <a:lnB w="9525" cap="flat" cmpd="sng" algn="ctr">
                      <a:solidFill>
                        <a:srgbClr val="D8DCE1"/>
                      </a:solidFill>
                      <a:prstDash val="solid"/>
                      <a:round/>
                      <a:headEnd type="none" w="med" len="med"/>
                      <a:tailEnd type="none" w="med" len="med"/>
                    </a:lnB>
                    <a:solidFill>
                      <a:srgbClr val="8B7FD9"/>
                    </a:solidFill>
                  </a:tcPr>
                </a:tc>
              </a:tr>
              <a:tr h="384048">
                <a:tc>
                  <a:txBody>
                    <a:bodyPr/>
                    <a:lstStyle/>
                    <a:p>
                      <a:pPr algn="ctr" indent="0" marL="0">
                        <a:buNone/>
                      </a:pPr>
                      <a:r>
                        <a:rPr lang="en-US" sz="1000" dirty="0">
                          <a:solidFill>
                            <a:srgbClr val="1F2429"/>
                          </a:solidFill>
                          <a:latin typeface="Courier New" pitchFamily="34" charset="0"/>
                          <a:ea typeface="Courier New" pitchFamily="34" charset="-122"/>
                          <a:cs typeface="Courier New" pitchFamily="34" charset="-120"/>
                        </a:rPr>
                        <a:t>Existence dependency</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D8DCE1"/>
                      </a:solidFill>
                      <a:prstDash val="solid"/>
                      <a:round/>
                      <a:headEnd type="none" w="med" len="med"/>
                      <a:tailEnd type="none" w="med" len="med"/>
                    </a:lnL>
                    <a:lnR w="9525" cap="flat" cmpd="sng" algn="ctr">
                      <a:solidFill>
                        <a:srgbClr val="D8DCE1"/>
                      </a:solidFill>
                      <a:prstDash val="solid"/>
                      <a:round/>
                      <a:headEnd type="none" w="med" len="med"/>
                      <a:tailEnd type="none" w="med" len="med"/>
                    </a:lnR>
                    <a:lnT w="9525" cap="flat" cmpd="sng" algn="ctr">
                      <a:solidFill>
                        <a:srgbClr val="D8DCE1"/>
                      </a:solidFill>
                      <a:prstDash val="solid"/>
                      <a:round/>
                      <a:headEnd type="none" w="med" len="med"/>
                      <a:tailEnd type="none" w="med" len="med"/>
                    </a:lnT>
                    <a:lnB w="9525" cap="flat" cmpd="sng" algn="ctr">
                      <a:solidFill>
                        <a:srgbClr val="D8DC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429"/>
                          </a:solidFill>
                          <a:latin typeface="Courier New" pitchFamily="34" charset="0"/>
                          <a:ea typeface="Courier New" pitchFamily="34" charset="-122"/>
                          <a:cs typeface="Courier New" pitchFamily="34" charset="-120"/>
                        </a:rPr>
                        <a:t>The part can outlive the whole</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D8DCE1"/>
                      </a:solidFill>
                      <a:prstDash val="solid"/>
                      <a:round/>
                      <a:headEnd type="none" w="med" len="med"/>
                      <a:tailEnd type="none" w="med" len="med"/>
                    </a:lnL>
                    <a:lnR w="9525" cap="flat" cmpd="sng" algn="ctr">
                      <a:solidFill>
                        <a:srgbClr val="D8DCE1"/>
                      </a:solidFill>
                      <a:prstDash val="solid"/>
                      <a:round/>
                      <a:headEnd type="none" w="med" len="med"/>
                      <a:tailEnd type="none" w="med" len="med"/>
                    </a:lnR>
                    <a:lnT w="9525" cap="flat" cmpd="sng" algn="ctr">
                      <a:solidFill>
                        <a:srgbClr val="D8DCE1"/>
                      </a:solidFill>
                      <a:prstDash val="solid"/>
                      <a:round/>
                      <a:headEnd type="none" w="med" len="med"/>
                      <a:tailEnd type="none" w="med" len="med"/>
                    </a:lnT>
                    <a:lnB w="9525" cap="flat" cmpd="sng" algn="ctr">
                      <a:solidFill>
                        <a:srgbClr val="D8DC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429"/>
                          </a:solidFill>
                          <a:latin typeface="Courier New" pitchFamily="34" charset="0"/>
                          <a:ea typeface="Courier New" pitchFamily="34" charset="-122"/>
                          <a:cs typeface="Courier New" pitchFamily="34" charset="-120"/>
                        </a:rPr>
                        <a:t>The part CANNOT exist without the whole</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D8DCE1"/>
                      </a:solidFill>
                      <a:prstDash val="solid"/>
                      <a:round/>
                      <a:headEnd type="none" w="med" len="med"/>
                      <a:tailEnd type="none" w="med" len="med"/>
                    </a:lnL>
                    <a:lnR w="9525" cap="flat" cmpd="sng" algn="ctr">
                      <a:solidFill>
                        <a:srgbClr val="D8DCE1"/>
                      </a:solidFill>
                      <a:prstDash val="solid"/>
                      <a:round/>
                      <a:headEnd type="none" w="med" len="med"/>
                      <a:tailEnd type="none" w="med" len="med"/>
                    </a:lnR>
                    <a:lnT w="9525" cap="flat" cmpd="sng" algn="ctr">
                      <a:solidFill>
                        <a:srgbClr val="D8DCE1"/>
                      </a:solidFill>
                      <a:prstDash val="solid"/>
                      <a:round/>
                      <a:headEnd type="none" w="med" len="med"/>
                      <a:tailEnd type="none" w="med" len="med"/>
                    </a:lnT>
                    <a:lnB w="9525" cap="flat" cmpd="sng" algn="ctr">
                      <a:solidFill>
                        <a:srgbClr val="D8DCE1"/>
                      </a:solidFill>
                      <a:prstDash val="solid"/>
                      <a:round/>
                      <a:headEnd type="none" w="med" len="med"/>
                      <a:tailEnd type="none" w="med" len="med"/>
                    </a:lnB>
                    <a:solidFill>
                      <a:srgbClr val="FFFFFF"/>
                    </a:solidFill>
                  </a:tcPr>
                </a:tc>
              </a:tr>
              <a:tr h="384048">
                <a:tc>
                  <a:txBody>
                    <a:bodyPr/>
                    <a:lstStyle/>
                    <a:p>
                      <a:pPr algn="ctr" indent="0" marL="0">
                        <a:buNone/>
                      </a:pPr>
                      <a:r>
                        <a:rPr lang="en-US" sz="1000" dirty="0">
                          <a:solidFill>
                            <a:srgbClr val="1F2429"/>
                          </a:solidFill>
                          <a:latin typeface="Courier New" pitchFamily="34" charset="0"/>
                          <a:ea typeface="Courier New" pitchFamily="34" charset="-122"/>
                          <a:cs typeface="Courier New" pitchFamily="34" charset="-120"/>
                        </a:rPr>
                        <a:t>Sharing</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D8DCE1"/>
                      </a:solidFill>
                      <a:prstDash val="solid"/>
                      <a:round/>
                      <a:headEnd type="none" w="med" len="med"/>
                      <a:tailEnd type="none" w="med" len="med"/>
                    </a:lnL>
                    <a:lnR w="9525" cap="flat" cmpd="sng" algn="ctr">
                      <a:solidFill>
                        <a:srgbClr val="D8DCE1"/>
                      </a:solidFill>
                      <a:prstDash val="solid"/>
                      <a:round/>
                      <a:headEnd type="none" w="med" len="med"/>
                      <a:tailEnd type="none" w="med" len="med"/>
                    </a:lnR>
                    <a:lnT w="9525" cap="flat" cmpd="sng" algn="ctr">
                      <a:solidFill>
                        <a:srgbClr val="D8DCE1"/>
                      </a:solidFill>
                      <a:prstDash val="solid"/>
                      <a:round/>
                      <a:headEnd type="none" w="med" len="med"/>
                      <a:tailEnd type="none" w="med" len="med"/>
                    </a:lnT>
                    <a:lnB w="9525" cap="flat" cmpd="sng" algn="ctr">
                      <a:solidFill>
                        <a:srgbClr val="D8DC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429"/>
                          </a:solidFill>
                          <a:latin typeface="Courier New" pitchFamily="34" charset="0"/>
                          <a:ea typeface="Courier New" pitchFamily="34" charset="-122"/>
                          <a:cs typeface="Courier New" pitchFamily="34" charset="-120"/>
                        </a:rPr>
                        <a:t>A part can belong to more than one whole</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D8DCE1"/>
                      </a:solidFill>
                      <a:prstDash val="solid"/>
                      <a:round/>
                      <a:headEnd type="none" w="med" len="med"/>
                      <a:tailEnd type="none" w="med" len="med"/>
                    </a:lnL>
                    <a:lnR w="9525" cap="flat" cmpd="sng" algn="ctr">
                      <a:solidFill>
                        <a:srgbClr val="D8DCE1"/>
                      </a:solidFill>
                      <a:prstDash val="solid"/>
                      <a:round/>
                      <a:headEnd type="none" w="med" len="med"/>
                      <a:tailEnd type="none" w="med" len="med"/>
                    </a:lnR>
                    <a:lnT w="9525" cap="flat" cmpd="sng" algn="ctr">
                      <a:solidFill>
                        <a:srgbClr val="D8DCE1"/>
                      </a:solidFill>
                      <a:prstDash val="solid"/>
                      <a:round/>
                      <a:headEnd type="none" w="med" len="med"/>
                      <a:tailEnd type="none" w="med" len="med"/>
                    </a:lnT>
                    <a:lnB w="9525" cap="flat" cmpd="sng" algn="ctr">
                      <a:solidFill>
                        <a:srgbClr val="D8DC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429"/>
                          </a:solidFill>
                          <a:latin typeface="Courier New" pitchFamily="34" charset="0"/>
                          <a:ea typeface="Courier New" pitchFamily="34" charset="-122"/>
                          <a:cs typeface="Courier New" pitchFamily="34" charset="-120"/>
                        </a:rPr>
                        <a:t>A part belongs to exactly one whole</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D8DCE1"/>
                      </a:solidFill>
                      <a:prstDash val="solid"/>
                      <a:round/>
                      <a:headEnd type="none" w="med" len="med"/>
                      <a:tailEnd type="none" w="med" len="med"/>
                    </a:lnL>
                    <a:lnR w="9525" cap="flat" cmpd="sng" algn="ctr">
                      <a:solidFill>
                        <a:srgbClr val="D8DCE1"/>
                      </a:solidFill>
                      <a:prstDash val="solid"/>
                      <a:round/>
                      <a:headEnd type="none" w="med" len="med"/>
                      <a:tailEnd type="none" w="med" len="med"/>
                    </a:lnR>
                    <a:lnT w="9525" cap="flat" cmpd="sng" algn="ctr">
                      <a:solidFill>
                        <a:srgbClr val="D8DCE1"/>
                      </a:solidFill>
                      <a:prstDash val="solid"/>
                      <a:round/>
                      <a:headEnd type="none" w="med" len="med"/>
                      <a:tailEnd type="none" w="med" len="med"/>
                    </a:lnT>
                    <a:lnB w="9525" cap="flat" cmpd="sng" algn="ctr">
                      <a:solidFill>
                        <a:srgbClr val="D8DCE1"/>
                      </a:solidFill>
                      <a:prstDash val="solid"/>
                      <a:round/>
                      <a:headEnd type="none" w="med" len="med"/>
                      <a:tailEnd type="none" w="med" len="med"/>
                    </a:lnB>
                    <a:solidFill>
                      <a:srgbClr val="FFFFFF"/>
                    </a:solidFill>
                  </a:tcPr>
                </a:tc>
              </a:tr>
              <a:tr h="384048">
                <a:tc>
                  <a:txBody>
                    <a:bodyPr/>
                    <a:lstStyle/>
                    <a:p>
                      <a:pPr algn="ctr" indent="0" marL="0">
                        <a:buNone/>
                      </a:pPr>
                      <a:r>
                        <a:rPr lang="en-US" sz="1000" dirty="0">
                          <a:solidFill>
                            <a:srgbClr val="1F2429"/>
                          </a:solidFill>
                          <a:latin typeface="Courier New" pitchFamily="34" charset="0"/>
                          <a:ea typeface="Courier New" pitchFamily="34" charset="-122"/>
                          <a:cs typeface="Courier New" pitchFamily="34" charset="-120"/>
                        </a:rPr>
                        <a:t>Deleting the whole</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D8DCE1"/>
                      </a:solidFill>
                      <a:prstDash val="solid"/>
                      <a:round/>
                      <a:headEnd type="none" w="med" len="med"/>
                      <a:tailEnd type="none" w="med" len="med"/>
                    </a:lnL>
                    <a:lnR w="9525" cap="flat" cmpd="sng" algn="ctr">
                      <a:solidFill>
                        <a:srgbClr val="D8DCE1"/>
                      </a:solidFill>
                      <a:prstDash val="solid"/>
                      <a:round/>
                      <a:headEnd type="none" w="med" len="med"/>
                      <a:tailEnd type="none" w="med" len="med"/>
                    </a:lnR>
                    <a:lnT w="9525" cap="flat" cmpd="sng" algn="ctr">
                      <a:solidFill>
                        <a:srgbClr val="D8DCE1"/>
                      </a:solidFill>
                      <a:prstDash val="solid"/>
                      <a:round/>
                      <a:headEnd type="none" w="med" len="med"/>
                      <a:tailEnd type="none" w="med" len="med"/>
                    </a:lnT>
                    <a:lnB w="9525" cap="flat" cmpd="sng" algn="ctr">
                      <a:solidFill>
                        <a:srgbClr val="D8DC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429"/>
                          </a:solidFill>
                          <a:latin typeface="Courier New" pitchFamily="34" charset="0"/>
                          <a:ea typeface="Courier New" pitchFamily="34" charset="-122"/>
                          <a:cs typeface="Courier New" pitchFamily="34" charset="-120"/>
                        </a:rPr>
                        <a:t>Parts typically left in place / reassigned</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D8DCE1"/>
                      </a:solidFill>
                      <a:prstDash val="solid"/>
                      <a:round/>
                      <a:headEnd type="none" w="med" len="med"/>
                      <a:tailEnd type="none" w="med" len="med"/>
                    </a:lnL>
                    <a:lnR w="9525" cap="flat" cmpd="sng" algn="ctr">
                      <a:solidFill>
                        <a:srgbClr val="D8DCE1"/>
                      </a:solidFill>
                      <a:prstDash val="solid"/>
                      <a:round/>
                      <a:headEnd type="none" w="med" len="med"/>
                      <a:tailEnd type="none" w="med" len="med"/>
                    </a:lnR>
                    <a:lnT w="9525" cap="flat" cmpd="sng" algn="ctr">
                      <a:solidFill>
                        <a:srgbClr val="D8DCE1"/>
                      </a:solidFill>
                      <a:prstDash val="solid"/>
                      <a:round/>
                      <a:headEnd type="none" w="med" len="med"/>
                      <a:tailEnd type="none" w="med" len="med"/>
                    </a:lnT>
                    <a:lnB w="9525" cap="flat" cmpd="sng" algn="ctr">
                      <a:solidFill>
                        <a:srgbClr val="D8DC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429"/>
                          </a:solidFill>
                          <a:latin typeface="Courier New" pitchFamily="34" charset="0"/>
                          <a:ea typeface="Courier New" pitchFamily="34" charset="-122"/>
                          <a:cs typeface="Courier New" pitchFamily="34" charset="-120"/>
                        </a:rPr>
                        <a:t>Parts deleted along with the whole (cascading)</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D8DCE1"/>
                      </a:solidFill>
                      <a:prstDash val="solid"/>
                      <a:round/>
                      <a:headEnd type="none" w="med" len="med"/>
                      <a:tailEnd type="none" w="med" len="med"/>
                    </a:lnL>
                    <a:lnR w="9525" cap="flat" cmpd="sng" algn="ctr">
                      <a:solidFill>
                        <a:srgbClr val="D8DCE1"/>
                      </a:solidFill>
                      <a:prstDash val="solid"/>
                      <a:round/>
                      <a:headEnd type="none" w="med" len="med"/>
                      <a:tailEnd type="none" w="med" len="med"/>
                    </a:lnR>
                    <a:lnT w="9525" cap="flat" cmpd="sng" algn="ctr">
                      <a:solidFill>
                        <a:srgbClr val="D8DCE1"/>
                      </a:solidFill>
                      <a:prstDash val="solid"/>
                      <a:round/>
                      <a:headEnd type="none" w="med" len="med"/>
                      <a:tailEnd type="none" w="med" len="med"/>
                    </a:lnT>
                    <a:lnB w="9525" cap="flat" cmpd="sng" algn="ctr">
                      <a:solidFill>
                        <a:srgbClr val="D8DCE1"/>
                      </a:solidFill>
                      <a:prstDash val="solid"/>
                      <a:round/>
                      <a:headEnd type="none" w="med" len="med"/>
                      <a:tailEnd type="none" w="med" len="med"/>
                    </a:lnB>
                    <a:solidFill>
                      <a:srgbClr val="FFFFFF"/>
                    </a:solidFill>
                  </a:tcPr>
                </a:tc>
              </a:tr>
            </a:tbl>
          </a:graphicData>
        </a:graphic>
      </p:graphicFrame>
      <p:sp>
        <p:nvSpPr>
          <p:cNvPr id="23" name="Text 20"/>
          <p:cNvSpPr txBox="1"/>
          <p:nvPr/>
        </p:nvSpPr>
        <p:spPr>
          <a:xfrm>
            <a:off x="822960" y="5623560"/>
            <a:ext cx="10515600" cy="457200"/>
          </a:xfrm>
          <a:prstGeom prst="rect">
            <a:avLst/>
          </a:prstGeom>
          <a:noFill/>
          <a:ln/>
        </p:spPr>
        <p:txBody>
          <a:bodyPr wrap="square" lIns="0" tIns="0" rIns="0" bIns="0" rtlCol="0" anchor="ctr"/>
          <a:lstStyle/>
          <a:p>
            <a:pPr indent="0" marL="0">
              <a:buNone/>
            </a:pPr>
            <a:r>
              <a:rPr lang="en-US" sz="1100" i="1" dirty="0">
                <a:solidFill>
                  <a:srgbClr val="8A939B"/>
                </a:solidFill>
                <a:latin typeface="Calibri" pitchFamily="34" charset="0"/>
                <a:ea typeface="Calibri" pitchFamily="34" charset="-122"/>
                <a:cs typeface="Calibri" pitchFamily="34" charset="-120"/>
              </a:rPr>
              <a:t>Composition almost always implies ON DELETE CASCADE on the resulting foreign key (Lecture 16); plain aggregation does not.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Categorization (Union Types)</a:t>
            </a:r>
            <a:endParaRPr lang="en-US" sz="2800" dirty="0"/>
          </a:p>
        </p:txBody>
      </p:sp>
      <p:sp>
        <p:nvSpPr>
          <p:cNvPr id="3" name="Text 1"/>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12</a:t>
            </a:r>
            <a:endParaRPr lang="en-US" sz="1000" dirty="0"/>
          </a:p>
        </p:txBody>
      </p:sp>
      <p:sp>
        <p:nvSpPr>
          <p:cNvPr id="4" name="Text 2"/>
          <p:cNvSpPr txBox="1"/>
          <p:nvPr/>
        </p:nvSpPr>
        <p:spPr>
          <a:xfrm>
            <a:off x="640080" y="1005840"/>
            <a:ext cx="10881360" cy="548640"/>
          </a:xfrm>
          <a:prstGeom prst="rect">
            <a:avLst/>
          </a:prstGeom>
          <a:noFill/>
          <a:ln/>
        </p:spPr>
        <p:txBody>
          <a:bodyPr wrap="square" lIns="0" tIns="0" rIns="0" bIns="0" rtlCol="0" anchor="ctr"/>
          <a:lstStyle/>
          <a:p>
            <a:pPr indent="0" marL="0">
              <a:buNone/>
            </a:pPr>
            <a:r>
              <a:rPr lang="en-US" sz="1300" dirty="0">
                <a:solidFill>
                  <a:srgbClr val="1F2429"/>
                </a:solidFill>
                <a:latin typeface="Calibri" pitchFamily="34" charset="0"/>
                <a:ea typeface="Calibri" pitchFamily="34" charset="-122"/>
                <a:cs typeface="Calibri" pitchFamily="34" charset="-120"/>
              </a:rPr>
              <a:t>A category's subclass represents a subset of the UNION of two or more distinct, otherwise unrelated superclasses — those parents don't share a common superclass of their own.</a:t>
            </a:r>
            <a:endParaRPr lang="en-US" sz="1300" dirty="0"/>
          </a:p>
        </p:txBody>
      </p:sp>
      <p:sp>
        <p:nvSpPr>
          <p:cNvPr id="5" name="Shape 3"/>
          <p:cNvSpPr/>
          <p:nvPr/>
        </p:nvSpPr>
        <p:spPr>
          <a:xfrm>
            <a:off x="640080" y="1737360"/>
            <a:ext cx="2331720" cy="1234440"/>
          </a:xfrm>
          <a:prstGeom prst="roundRect">
            <a:avLst>
              <a:gd name="adj" fmla="val 5185"/>
            </a:avLst>
          </a:prstGeom>
          <a:solidFill>
            <a:srgbClr val="FFFFFF"/>
          </a:solidFill>
          <a:ln w="19050">
            <a:solidFill>
              <a:srgbClr val="2FE6C4"/>
            </a:solidFill>
            <a:prstDash val="solid"/>
          </a:ln>
        </p:spPr>
      </p:sp>
      <p:sp>
        <p:nvSpPr>
          <p:cNvPr id="6" name="Shape 4"/>
          <p:cNvSpPr/>
          <p:nvPr/>
        </p:nvSpPr>
        <p:spPr>
          <a:xfrm>
            <a:off x="640080" y="1737360"/>
            <a:ext cx="2331720" cy="384048"/>
          </a:xfrm>
          <a:prstGeom prst="roundRect">
            <a:avLst>
              <a:gd name="adj" fmla="val 16667"/>
            </a:avLst>
          </a:prstGeom>
          <a:solidFill>
            <a:srgbClr val="2FE6C4"/>
          </a:solidFill>
          <a:ln/>
        </p:spPr>
      </p:sp>
      <p:sp>
        <p:nvSpPr>
          <p:cNvPr id="7" name="Shape 5"/>
          <p:cNvSpPr/>
          <p:nvPr/>
        </p:nvSpPr>
        <p:spPr>
          <a:xfrm>
            <a:off x="640080" y="2029968"/>
            <a:ext cx="2331720" cy="91440"/>
          </a:xfrm>
          <a:prstGeom prst="rect">
            <a:avLst/>
          </a:prstGeom>
          <a:solidFill>
            <a:srgbClr val="2FE6C4"/>
          </a:solidFill>
          <a:ln/>
        </p:spPr>
      </p:sp>
      <p:sp>
        <p:nvSpPr>
          <p:cNvPr id="8" name="Text 6"/>
          <p:cNvSpPr txBox="1"/>
          <p:nvPr/>
        </p:nvSpPr>
        <p:spPr>
          <a:xfrm>
            <a:off x="777240" y="1737360"/>
            <a:ext cx="20574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Person</a:t>
            </a:r>
            <a:endParaRPr lang="en-US" sz="1300" dirty="0"/>
          </a:p>
        </p:txBody>
      </p:sp>
      <p:sp>
        <p:nvSpPr>
          <p:cNvPr id="9" name="Text 7"/>
          <p:cNvSpPr txBox="1"/>
          <p:nvPr/>
        </p:nvSpPr>
        <p:spPr>
          <a:xfrm>
            <a:off x="777240" y="2194560"/>
            <a:ext cx="2057400" cy="740664"/>
          </a:xfrm>
          <a:prstGeom prst="rect">
            <a:avLst/>
          </a:prstGeom>
          <a:noFill/>
          <a:ln/>
        </p:spPr>
        <p:txBody>
          <a:bodyPr wrap="square" lIns="0" tIns="0" rIns="0" bIns="0" rtlCol="0" anchor="t"/>
          <a:lstStyle/>
          <a:p>
            <a:pPr indent="0" marL="0">
              <a:spcAft>
                <a:spcPts val="400"/>
              </a:spcAft>
              <a:buNone/>
            </a:pPr>
            <a:r>
              <a:rPr lang="en-US" sz="1100" b="1" u="sng" dirty="0">
                <a:solidFill>
                  <a:srgbClr val="1F2429"/>
                </a:solidFill>
                <a:latin typeface="Courier New" pitchFamily="34" charset="0"/>
                <a:ea typeface="Courier New" pitchFamily="34" charset="-122"/>
                <a:cs typeface="Courier New" pitchFamily="34" charset="-120"/>
              </a:rPr>
              <a:t>cnic</a:t>
            </a:r>
            <a:endParaRPr lang="en-US" sz="1100" dirty="0"/>
          </a:p>
          <a:p>
            <a:pPr indent="0" marL="0">
              <a:spcAft>
                <a:spcPts val="400"/>
              </a:spcAft>
              <a:buNone/>
            </a:pPr>
            <a:r>
              <a:rPr lang="en-US" sz="1100" dirty="0">
                <a:solidFill>
                  <a:srgbClr val="1F2429"/>
                </a:solidFill>
                <a:latin typeface="Courier New" pitchFamily="34" charset="0"/>
                <a:ea typeface="Courier New" pitchFamily="34" charset="-122"/>
                <a:cs typeface="Courier New" pitchFamily="34" charset="-120"/>
              </a:rPr>
              <a:t>name</a:t>
            </a:r>
            <a:endParaRPr lang="en-US" sz="1100" dirty="0"/>
          </a:p>
        </p:txBody>
      </p:sp>
      <p:sp>
        <p:nvSpPr>
          <p:cNvPr id="10" name="Shape 8"/>
          <p:cNvSpPr/>
          <p:nvPr/>
        </p:nvSpPr>
        <p:spPr>
          <a:xfrm>
            <a:off x="4937760" y="1737360"/>
            <a:ext cx="2331720" cy="1234440"/>
          </a:xfrm>
          <a:prstGeom prst="roundRect">
            <a:avLst>
              <a:gd name="adj" fmla="val 5185"/>
            </a:avLst>
          </a:prstGeom>
          <a:solidFill>
            <a:srgbClr val="FFFFFF"/>
          </a:solidFill>
          <a:ln w="19050">
            <a:solidFill>
              <a:srgbClr val="2FE6C4"/>
            </a:solidFill>
            <a:prstDash val="solid"/>
          </a:ln>
        </p:spPr>
      </p:sp>
      <p:sp>
        <p:nvSpPr>
          <p:cNvPr id="11" name="Shape 9"/>
          <p:cNvSpPr/>
          <p:nvPr/>
        </p:nvSpPr>
        <p:spPr>
          <a:xfrm>
            <a:off x="4937760" y="1737360"/>
            <a:ext cx="2331720" cy="384048"/>
          </a:xfrm>
          <a:prstGeom prst="roundRect">
            <a:avLst>
              <a:gd name="adj" fmla="val 16667"/>
            </a:avLst>
          </a:prstGeom>
          <a:solidFill>
            <a:srgbClr val="2FE6C4"/>
          </a:solidFill>
          <a:ln/>
        </p:spPr>
      </p:sp>
      <p:sp>
        <p:nvSpPr>
          <p:cNvPr id="12" name="Shape 10"/>
          <p:cNvSpPr/>
          <p:nvPr/>
        </p:nvSpPr>
        <p:spPr>
          <a:xfrm>
            <a:off x="4937760" y="2029968"/>
            <a:ext cx="2331720" cy="91440"/>
          </a:xfrm>
          <a:prstGeom prst="rect">
            <a:avLst/>
          </a:prstGeom>
          <a:solidFill>
            <a:srgbClr val="2FE6C4"/>
          </a:solidFill>
          <a:ln/>
        </p:spPr>
      </p:sp>
      <p:sp>
        <p:nvSpPr>
          <p:cNvPr id="13" name="Text 11"/>
          <p:cNvSpPr txBox="1"/>
          <p:nvPr/>
        </p:nvSpPr>
        <p:spPr>
          <a:xfrm>
            <a:off x="5074920" y="1737360"/>
            <a:ext cx="20574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Bank</a:t>
            </a:r>
            <a:endParaRPr lang="en-US" sz="1300" dirty="0"/>
          </a:p>
        </p:txBody>
      </p:sp>
      <p:sp>
        <p:nvSpPr>
          <p:cNvPr id="14" name="Text 12"/>
          <p:cNvSpPr txBox="1"/>
          <p:nvPr/>
        </p:nvSpPr>
        <p:spPr>
          <a:xfrm>
            <a:off x="5074920" y="2194560"/>
            <a:ext cx="2057400" cy="740664"/>
          </a:xfrm>
          <a:prstGeom prst="rect">
            <a:avLst/>
          </a:prstGeom>
          <a:noFill/>
          <a:ln/>
        </p:spPr>
        <p:txBody>
          <a:bodyPr wrap="square" lIns="0" tIns="0" rIns="0" bIns="0" rtlCol="0" anchor="t"/>
          <a:lstStyle/>
          <a:p>
            <a:pPr indent="0" marL="0">
              <a:spcAft>
                <a:spcPts val="400"/>
              </a:spcAft>
              <a:buNone/>
            </a:pPr>
            <a:r>
              <a:rPr lang="en-US" sz="1100" b="1" u="sng" dirty="0">
                <a:solidFill>
                  <a:srgbClr val="1F2429"/>
                </a:solidFill>
                <a:latin typeface="Courier New" pitchFamily="34" charset="0"/>
                <a:ea typeface="Courier New" pitchFamily="34" charset="-122"/>
                <a:cs typeface="Courier New" pitchFamily="34" charset="-120"/>
              </a:rPr>
              <a:t>bankCode</a:t>
            </a:r>
            <a:endParaRPr lang="en-US" sz="1100" dirty="0"/>
          </a:p>
          <a:p>
            <a:pPr indent="0" marL="0">
              <a:spcAft>
                <a:spcPts val="400"/>
              </a:spcAft>
              <a:buNone/>
            </a:pPr>
            <a:r>
              <a:rPr lang="en-US" sz="1100" dirty="0">
                <a:solidFill>
                  <a:srgbClr val="1F2429"/>
                </a:solidFill>
                <a:latin typeface="Courier New" pitchFamily="34" charset="0"/>
                <a:ea typeface="Courier New" pitchFamily="34" charset="-122"/>
                <a:cs typeface="Courier New" pitchFamily="34" charset="-120"/>
              </a:rPr>
              <a:t>name</a:t>
            </a:r>
            <a:endParaRPr lang="en-US" sz="1100" dirty="0"/>
          </a:p>
        </p:txBody>
      </p:sp>
      <p:sp>
        <p:nvSpPr>
          <p:cNvPr id="15" name="Shape 13"/>
          <p:cNvSpPr/>
          <p:nvPr/>
        </p:nvSpPr>
        <p:spPr>
          <a:xfrm>
            <a:off x="9235440" y="1737360"/>
            <a:ext cx="2331720" cy="1234440"/>
          </a:xfrm>
          <a:prstGeom prst="roundRect">
            <a:avLst>
              <a:gd name="adj" fmla="val 5185"/>
            </a:avLst>
          </a:prstGeom>
          <a:solidFill>
            <a:srgbClr val="FFFFFF"/>
          </a:solidFill>
          <a:ln w="19050">
            <a:solidFill>
              <a:srgbClr val="2FE6C4"/>
            </a:solidFill>
            <a:prstDash val="solid"/>
          </a:ln>
        </p:spPr>
      </p:sp>
      <p:sp>
        <p:nvSpPr>
          <p:cNvPr id="16" name="Shape 14"/>
          <p:cNvSpPr/>
          <p:nvPr/>
        </p:nvSpPr>
        <p:spPr>
          <a:xfrm>
            <a:off x="9235440" y="1737360"/>
            <a:ext cx="2331720" cy="384048"/>
          </a:xfrm>
          <a:prstGeom prst="roundRect">
            <a:avLst>
              <a:gd name="adj" fmla="val 16667"/>
            </a:avLst>
          </a:prstGeom>
          <a:solidFill>
            <a:srgbClr val="2FE6C4"/>
          </a:solidFill>
          <a:ln/>
        </p:spPr>
      </p:sp>
      <p:sp>
        <p:nvSpPr>
          <p:cNvPr id="17" name="Shape 15"/>
          <p:cNvSpPr/>
          <p:nvPr/>
        </p:nvSpPr>
        <p:spPr>
          <a:xfrm>
            <a:off x="9235440" y="2029968"/>
            <a:ext cx="2331720" cy="91440"/>
          </a:xfrm>
          <a:prstGeom prst="rect">
            <a:avLst/>
          </a:prstGeom>
          <a:solidFill>
            <a:srgbClr val="2FE6C4"/>
          </a:solidFill>
          <a:ln/>
        </p:spPr>
      </p:sp>
      <p:sp>
        <p:nvSpPr>
          <p:cNvPr id="18" name="Text 16"/>
          <p:cNvSpPr txBox="1"/>
          <p:nvPr/>
        </p:nvSpPr>
        <p:spPr>
          <a:xfrm>
            <a:off x="9372600" y="1737360"/>
            <a:ext cx="20574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Company</a:t>
            </a:r>
            <a:endParaRPr lang="en-US" sz="1300" dirty="0"/>
          </a:p>
        </p:txBody>
      </p:sp>
      <p:sp>
        <p:nvSpPr>
          <p:cNvPr id="19" name="Text 17"/>
          <p:cNvSpPr txBox="1"/>
          <p:nvPr/>
        </p:nvSpPr>
        <p:spPr>
          <a:xfrm>
            <a:off x="9372600" y="2194560"/>
            <a:ext cx="2057400" cy="740664"/>
          </a:xfrm>
          <a:prstGeom prst="rect">
            <a:avLst/>
          </a:prstGeom>
          <a:noFill/>
          <a:ln/>
        </p:spPr>
        <p:txBody>
          <a:bodyPr wrap="square" lIns="0" tIns="0" rIns="0" bIns="0" rtlCol="0" anchor="t"/>
          <a:lstStyle/>
          <a:p>
            <a:pPr indent="0" marL="0">
              <a:spcAft>
                <a:spcPts val="400"/>
              </a:spcAft>
              <a:buNone/>
            </a:pPr>
            <a:r>
              <a:rPr lang="en-US" sz="1100" b="1" u="sng" dirty="0">
                <a:solidFill>
                  <a:srgbClr val="1F2429"/>
                </a:solidFill>
                <a:latin typeface="Courier New" pitchFamily="34" charset="0"/>
                <a:ea typeface="Courier New" pitchFamily="34" charset="-122"/>
                <a:cs typeface="Courier New" pitchFamily="34" charset="-120"/>
              </a:rPr>
              <a:t>regNo</a:t>
            </a:r>
            <a:endParaRPr lang="en-US" sz="1100" dirty="0"/>
          </a:p>
          <a:p>
            <a:pPr indent="0" marL="0">
              <a:spcAft>
                <a:spcPts val="400"/>
              </a:spcAft>
              <a:buNone/>
            </a:pPr>
            <a:r>
              <a:rPr lang="en-US" sz="1100" dirty="0">
                <a:solidFill>
                  <a:srgbClr val="1F2429"/>
                </a:solidFill>
                <a:latin typeface="Courier New" pitchFamily="34" charset="0"/>
                <a:ea typeface="Courier New" pitchFamily="34" charset="-122"/>
                <a:cs typeface="Courier New" pitchFamily="34" charset="-120"/>
              </a:rPr>
              <a:t>name</a:t>
            </a:r>
            <a:endParaRPr lang="en-US" sz="1100" dirty="0"/>
          </a:p>
        </p:txBody>
      </p:sp>
      <p:sp>
        <p:nvSpPr>
          <p:cNvPr id="20" name="Shape 18"/>
          <p:cNvSpPr/>
          <p:nvPr/>
        </p:nvSpPr>
        <p:spPr>
          <a:xfrm>
            <a:off x="1723644" y="3063240"/>
            <a:ext cx="164592" cy="320040"/>
          </a:xfrm>
          <a:prstGeom prst="downArrow">
            <a:avLst/>
          </a:prstGeom>
          <a:solidFill>
            <a:srgbClr val="8A939B"/>
          </a:solidFill>
          <a:ln/>
        </p:spPr>
      </p:sp>
      <p:sp>
        <p:nvSpPr>
          <p:cNvPr id="21" name="Shape 19"/>
          <p:cNvSpPr/>
          <p:nvPr/>
        </p:nvSpPr>
        <p:spPr>
          <a:xfrm>
            <a:off x="6021324" y="3063240"/>
            <a:ext cx="164592" cy="320040"/>
          </a:xfrm>
          <a:prstGeom prst="downArrow">
            <a:avLst/>
          </a:prstGeom>
          <a:solidFill>
            <a:srgbClr val="8A939B"/>
          </a:solidFill>
          <a:ln/>
        </p:spPr>
      </p:sp>
      <p:sp>
        <p:nvSpPr>
          <p:cNvPr id="22" name="Shape 20"/>
          <p:cNvSpPr/>
          <p:nvPr/>
        </p:nvSpPr>
        <p:spPr>
          <a:xfrm>
            <a:off x="10319004" y="3063240"/>
            <a:ext cx="164592" cy="320040"/>
          </a:xfrm>
          <a:prstGeom prst="downArrow">
            <a:avLst/>
          </a:prstGeom>
          <a:solidFill>
            <a:srgbClr val="8A939B"/>
          </a:solidFill>
          <a:ln/>
        </p:spPr>
      </p:sp>
      <p:sp>
        <p:nvSpPr>
          <p:cNvPr id="23" name="Shape 21"/>
          <p:cNvSpPr/>
          <p:nvPr/>
        </p:nvSpPr>
        <p:spPr>
          <a:xfrm>
            <a:off x="1805940" y="3383280"/>
            <a:ext cx="8595360" cy="0"/>
          </a:xfrm>
          <a:prstGeom prst="line">
            <a:avLst/>
          </a:prstGeom>
          <a:noFill/>
          <a:ln w="19050">
            <a:solidFill>
              <a:srgbClr val="8A939B"/>
            </a:solidFill>
            <a:prstDash val="solid"/>
          </a:ln>
        </p:spPr>
      </p:sp>
      <p:sp>
        <p:nvSpPr>
          <p:cNvPr id="24" name="Shape 22"/>
          <p:cNvSpPr/>
          <p:nvPr/>
        </p:nvSpPr>
        <p:spPr>
          <a:xfrm>
            <a:off x="6021324" y="3383280"/>
            <a:ext cx="164592" cy="274320"/>
          </a:xfrm>
          <a:prstGeom prst="downArrow">
            <a:avLst/>
          </a:prstGeom>
          <a:solidFill>
            <a:srgbClr val="8A939B"/>
          </a:solidFill>
          <a:ln/>
        </p:spPr>
      </p:sp>
      <p:sp>
        <p:nvSpPr>
          <p:cNvPr id="25" name="Shape 23"/>
          <p:cNvSpPr/>
          <p:nvPr/>
        </p:nvSpPr>
        <p:spPr>
          <a:xfrm>
            <a:off x="5577840" y="3063240"/>
            <a:ext cx="1051560" cy="548640"/>
          </a:xfrm>
          <a:prstGeom prst="ellipse">
            <a:avLst/>
          </a:prstGeom>
          <a:solidFill>
            <a:srgbClr val="14181C"/>
          </a:solidFill>
          <a:ln w="12700">
            <a:solidFill>
              <a:srgbClr val="FFFFFF"/>
            </a:solidFill>
            <a:prstDash val="solid"/>
          </a:ln>
        </p:spPr>
      </p:sp>
      <p:sp>
        <p:nvSpPr>
          <p:cNvPr id="26" name="Text 24"/>
          <p:cNvSpPr txBox="1"/>
          <p:nvPr/>
        </p:nvSpPr>
        <p:spPr>
          <a:xfrm>
            <a:off x="5577840" y="3063240"/>
            <a:ext cx="105156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a:t>
            </a:r>
            <a:endParaRPr lang="en-US" sz="1300" dirty="0"/>
          </a:p>
        </p:txBody>
      </p:sp>
      <p:sp>
        <p:nvSpPr>
          <p:cNvPr id="27" name="Shape 25"/>
          <p:cNvSpPr/>
          <p:nvPr/>
        </p:nvSpPr>
        <p:spPr>
          <a:xfrm>
            <a:off x="4709160" y="4023360"/>
            <a:ext cx="2788920" cy="1188720"/>
          </a:xfrm>
          <a:prstGeom prst="roundRect">
            <a:avLst>
              <a:gd name="adj" fmla="val 5385"/>
            </a:avLst>
          </a:prstGeom>
          <a:solidFill>
            <a:srgbClr val="FFFFFF"/>
          </a:solidFill>
          <a:ln w="19050">
            <a:solidFill>
              <a:srgbClr val="8B7FD9"/>
            </a:solidFill>
            <a:prstDash val="solid"/>
          </a:ln>
        </p:spPr>
      </p:sp>
      <p:sp>
        <p:nvSpPr>
          <p:cNvPr id="28" name="Shape 26"/>
          <p:cNvSpPr/>
          <p:nvPr/>
        </p:nvSpPr>
        <p:spPr>
          <a:xfrm>
            <a:off x="4709160" y="4023360"/>
            <a:ext cx="2788920" cy="384048"/>
          </a:xfrm>
          <a:prstGeom prst="roundRect">
            <a:avLst>
              <a:gd name="adj" fmla="val 16667"/>
            </a:avLst>
          </a:prstGeom>
          <a:solidFill>
            <a:srgbClr val="8B7FD9"/>
          </a:solidFill>
          <a:ln/>
        </p:spPr>
      </p:sp>
      <p:sp>
        <p:nvSpPr>
          <p:cNvPr id="29" name="Shape 27"/>
          <p:cNvSpPr/>
          <p:nvPr/>
        </p:nvSpPr>
        <p:spPr>
          <a:xfrm>
            <a:off x="4709160" y="4315968"/>
            <a:ext cx="2788920" cy="91440"/>
          </a:xfrm>
          <a:prstGeom prst="rect">
            <a:avLst/>
          </a:prstGeom>
          <a:solidFill>
            <a:srgbClr val="8B7FD9"/>
          </a:solidFill>
          <a:ln/>
        </p:spPr>
      </p:sp>
      <p:sp>
        <p:nvSpPr>
          <p:cNvPr id="30" name="Text 28"/>
          <p:cNvSpPr txBox="1"/>
          <p:nvPr/>
        </p:nvSpPr>
        <p:spPr>
          <a:xfrm>
            <a:off x="4846320" y="4023360"/>
            <a:ext cx="25146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RegisteredOwner (category)</a:t>
            </a:r>
            <a:endParaRPr lang="en-US" sz="1300" dirty="0"/>
          </a:p>
        </p:txBody>
      </p:sp>
      <p:sp>
        <p:nvSpPr>
          <p:cNvPr id="31" name="Text 29"/>
          <p:cNvSpPr txBox="1"/>
          <p:nvPr/>
        </p:nvSpPr>
        <p:spPr>
          <a:xfrm>
            <a:off x="4846320" y="4480560"/>
            <a:ext cx="2514600" cy="694944"/>
          </a:xfrm>
          <a:prstGeom prst="rect">
            <a:avLst/>
          </a:prstGeom>
          <a:noFill/>
          <a:ln/>
        </p:spPr>
        <p:txBody>
          <a:bodyPr wrap="square" lIns="0" tIns="0" rIns="0" bIns="0" rtlCol="0" anchor="t"/>
          <a:lstStyle/>
          <a:p>
            <a:pPr indent="0" marL="0">
              <a:spcAft>
                <a:spcPts val="400"/>
              </a:spcAft>
              <a:buNone/>
            </a:pPr>
            <a:r>
              <a:rPr lang="en-US" sz="1100" dirty="0">
                <a:solidFill>
                  <a:srgbClr val="1F2429"/>
                </a:solidFill>
                <a:latin typeface="Courier New" pitchFamily="34" charset="0"/>
                <a:ea typeface="Courier New" pitchFamily="34" charset="-122"/>
                <a:cs typeface="Courier New" pitchFamily="34" charset="-120"/>
              </a:rPr>
              <a:t>ownerSince</a:t>
            </a:r>
            <a:endParaRPr lang="en-US" sz="1100" dirty="0"/>
          </a:p>
        </p:txBody>
      </p:sp>
      <p:sp>
        <p:nvSpPr>
          <p:cNvPr id="32" name="Shape 30"/>
          <p:cNvSpPr/>
          <p:nvPr/>
        </p:nvSpPr>
        <p:spPr>
          <a:xfrm>
            <a:off x="640080" y="5486400"/>
            <a:ext cx="10881360" cy="1005840"/>
          </a:xfrm>
          <a:prstGeom prst="roundRect">
            <a:avLst>
              <a:gd name="adj" fmla="val 7273"/>
            </a:avLst>
          </a:prstGeom>
          <a:solidFill>
            <a:srgbClr val="FFFFFF"/>
          </a:solidFill>
          <a:ln w="12700">
            <a:solidFill>
              <a:srgbClr val="8B7FD9"/>
            </a:solidFill>
            <a:prstDash val="solid"/>
          </a:ln>
        </p:spPr>
      </p:sp>
      <p:sp>
        <p:nvSpPr>
          <p:cNvPr id="33" name="Shape 31"/>
          <p:cNvSpPr/>
          <p:nvPr/>
        </p:nvSpPr>
        <p:spPr>
          <a:xfrm>
            <a:off x="640080" y="5486400"/>
            <a:ext cx="54864" cy="1005840"/>
          </a:xfrm>
          <a:prstGeom prst="rect">
            <a:avLst/>
          </a:prstGeom>
          <a:solidFill>
            <a:srgbClr val="8B7FD9"/>
          </a:solidFill>
          <a:ln/>
        </p:spPr>
      </p:sp>
      <p:sp>
        <p:nvSpPr>
          <p:cNvPr id="34" name="Text 32"/>
          <p:cNvSpPr txBox="1"/>
          <p:nvPr/>
        </p:nvSpPr>
        <p:spPr>
          <a:xfrm>
            <a:off x="841248" y="5596128"/>
            <a:ext cx="10515600" cy="256032"/>
          </a:xfrm>
          <a:prstGeom prst="rect">
            <a:avLst/>
          </a:prstGeom>
          <a:noFill/>
          <a:ln/>
        </p:spPr>
        <p:txBody>
          <a:bodyPr wrap="square" lIns="0" tIns="0" rIns="0" bIns="0" rtlCol="0" anchor="ctr"/>
          <a:lstStyle/>
          <a:p>
            <a:pPr indent="0" marL="0">
              <a:buNone/>
            </a:pPr>
            <a:r>
              <a:rPr lang="en-US" sz="1200" b="1" dirty="0">
                <a:solidFill>
                  <a:srgbClr val="1F2429"/>
                </a:solidFill>
                <a:latin typeface="Calibri" pitchFamily="34" charset="0"/>
                <a:ea typeface="Calibri" pitchFamily="34" charset="-122"/>
                <a:cs typeface="Calibri" pitchFamily="34" charset="-120"/>
              </a:rPr>
              <a:t>Specialization vs. categorization, in one sentence</a:t>
            </a:r>
            <a:endParaRPr lang="en-US" sz="1200" dirty="0"/>
          </a:p>
        </p:txBody>
      </p:sp>
      <p:sp>
        <p:nvSpPr>
          <p:cNvPr id="35" name="Text 33"/>
          <p:cNvSpPr txBox="1"/>
          <p:nvPr/>
        </p:nvSpPr>
        <p:spPr>
          <a:xfrm>
            <a:off x="841248" y="5870448"/>
            <a:ext cx="10515600" cy="530352"/>
          </a:xfrm>
          <a:prstGeom prst="rect">
            <a:avLst/>
          </a:prstGeom>
          <a:noFill/>
          <a:ln/>
        </p:spPr>
        <p:txBody>
          <a:bodyPr wrap="square" lIns="0" tIns="0" rIns="0" bIns="0" rtlCol="0" anchor="t"/>
          <a:lstStyle/>
          <a:p>
            <a:pPr indent="0" marL="0">
              <a:lnSpc>
                <a:spcPct val="115000"/>
              </a:lnSpc>
              <a:buNone/>
            </a:pPr>
            <a:r>
              <a:rPr lang="en-US" sz="1100" dirty="0">
                <a:solidFill>
                  <a:srgbClr val="1F2429"/>
                </a:solidFill>
                <a:latin typeface="Calibri" pitchFamily="34" charset="0"/>
                <a:ea typeface="Calibri" pitchFamily="34" charset="-122"/>
                <a:cs typeface="Calibri" pitchFamily="34" charset="-120"/>
              </a:rPr>
              <a:t>Ordinary specialization has subclasses sharing ONE common superclass. Categorization has a subclass drawn from the UNION of several different, unrelated superclasses — no single shared parent, only the category sitting above all of them.</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640080"/>
            <a:ext cx="10515600" cy="7315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Key Takeaways</a:t>
            </a:r>
            <a:endParaRPr lang="en-US" sz="3400" dirty="0"/>
          </a:p>
        </p:txBody>
      </p:sp>
      <p:sp>
        <p:nvSpPr>
          <p:cNvPr id="3" name="Text 1"/>
          <p:cNvSpPr txBox="1"/>
          <p:nvPr/>
        </p:nvSpPr>
        <p:spPr>
          <a:xfrm>
            <a:off x="822960" y="1645920"/>
            <a:ext cx="10332720" cy="4572000"/>
          </a:xfrm>
          <a:prstGeom prst="rect">
            <a:avLst/>
          </a:prstGeom>
          <a:noFill/>
          <a:ln/>
        </p:spPr>
        <p:txBody>
          <a:bodyPr wrap="square" lIns="0" tIns="0" rIns="0" bIns="0" rtlCol="0" anchor="t"/>
          <a:lstStyle/>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Specialization reasons top-down (superclass → subclasses); generalization reasons bottom-up (subclasses → superclass). Both produce the same diagram shape.</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A subclass inherits every attribute and relationship of its superclass, and may add its own attributes and relationships.</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Two independent constraints classify every specialization: disjoint vs. overlapping, and total vs. partial — four combinations total, and getting the wrong one is a real design bug.</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Aggregation lets a relationship itself act as a single participant in another relationship — needed whenever a fact is genuinely about a pairing, not either entity alone.</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Composition is aggregation with a strong existence dependency; categorization (union types) models a subclass drawn from several unrelated superclasses.</a:t>
            </a:r>
            <a:endParaRPr lang="en-US" sz="1600" dirty="0"/>
          </a:p>
        </p:txBody>
      </p:sp>
      <p:sp>
        <p:nvSpPr>
          <p:cNvPr id="4" name="Text 2"/>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2026-09-29T15:29:40Z</dcterms:created>
  <dcterms:modified xsi:type="dcterms:W3CDTF">2026-09-29T15:29:40Z</dcterms:modified>
</cp:coreProperties>
</file>
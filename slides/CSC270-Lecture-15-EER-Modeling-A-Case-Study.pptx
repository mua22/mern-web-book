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06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Modeling: A Case Study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Lecture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study's requirements, written the way a client would actually describe them</a:t>
            </a:r>
            <a:endParaRPr lang="en-US" sz="16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identification of entity types, with the reasoning behind each decision</a:t>
            </a:r>
            <a:endParaRPr lang="en-US" sz="16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identification of relationships and their structural constraints</a:t>
            </a:r>
            <a:endParaRPr lang="en-US" sz="16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identification of attributes, including multi-valued and derived ones</a:t>
            </a:r>
            <a:endParaRPr lang="en-US" sz="16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staff specialization hierarchy — disjoint/overlapping, total/partial</a:t>
            </a:r>
            <a:endParaRPr lang="en-US" sz="16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aggregation and composition where the requirements genuinely call for them</a:t>
            </a:r>
            <a:endParaRPr lang="en-US" sz="16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Assembling the complete EER diagram, layer by layer</a:t>
            </a:r>
            <a:endParaRPr lang="en-US" sz="16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Validating the finished model against the original requirements, sentence by sentence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Al-Shifa General Hospital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10881360" cy="5029200"/>
          </a:xfrm>
          <a:prstGeom prst="roundRect">
            <a:avLst>
              <a:gd name="adj" fmla="val 1818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1887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hospital administrator, in an initial requirements meeting”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554480"/>
            <a:ext cx="1033272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track every patient — basic details, every admission or out-patient visit. Every admission records ward, bed, admission/discharge dates.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employ doctors, nurses, lab technicians, and admin staff — each has staffNo, name, CNIC, address, join date, and belongs to exactly one department. Doctors hold a license number and consultation fee. Some doctors are consultants (senior, own office); the rest are residents, supervised by a consultant.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Departments (Cardiology, Orthopedics, ...) have a name, location, and a head doctor. Every ward belongs to exactly one department; every bed to exactly one ward. A ward shut for renovation takes its beds with it.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admission has an attending doctor — responsible for that stay specifically. Patients also book appointments (with a confirmation number). A doctor may prescribe drugs during an admission or appointment, each with dosage/schedule. Every patient gets an invoice, and we track payment.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Identification of Entity Types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entity-vs-attribute test from Lecture 13 — own attributes, own relationships, independent existence?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3627120"/>
                <a:gridCol w="3627120"/>
                <a:gridCol w="36271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Patient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Independent existence, own attributes, several relationships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Staff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 (superclass)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Shared attributes across every kind of employee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Doctor/Nurse/Technician/Administrator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 (subclass)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Role-specific attributes Staff alone can't hold cleanly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Consultant, Resident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 (2nd-level subclass)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Each has attributes the other doesn't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Department, Ward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Own name/location/head; ward owns beds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 — weak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Cannot be identified without knowing its ward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Admission, Appointment, Prescription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Own attributes (dates, confirmation no., dosage) — relationships promoted to entities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Drug, Invoice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Independent catalog / independent lifecycle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“Consultation fee”, “CNIC”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 — attribute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Single values describing one entity, no attributes of their own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Identification of Relationships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10881360" cy="914400"/>
        </p:xfrm>
        <a:graphic>
          <a:graphicData uri="http://schemas.openxmlformats.org/drawingml/2006/table">
            <a:tbl>
              <a:tblPr/>
              <a:tblGrid>
                <a:gridCol w="2720340"/>
                <a:gridCol w="2720340"/>
                <a:gridCol w="2720340"/>
                <a:gridCol w="27203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Relationship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Cardinality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WorksIn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Staff, Department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N:1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Every staff member belongs to exactly one department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HeadedBy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Department, Doctor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1:1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Exactly one doctor heads a department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Supervises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Consultant, Resident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1:N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Unary via Doctor; a consultant supervises many residents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ComposedOf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Department, Ward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1:N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Composition — a ward can't exist outside its department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Owns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Ward, Bed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1:N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Bed is a weak entity, identified with its owning ward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AdmittedTo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Patient, Bed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N:1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Carries admissionDate/dischargeDate → promoted to Admission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AttendedBy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Admission (aggregate), Doctor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N:1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The attending doctor for a specific admission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Books / ScheduledWith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Patient–Appointment–Doctor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1:N / N:1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patient books many appointments, each with one doctor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Prescribes / For / Of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Doctor–Prescription–Patient–Drug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1:N / N:1 / N:1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Ties a patient, doctor, and drug together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BilledTo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Patient, Invoice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1:N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patient may accumulate several invoices over time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Identification of Attributes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188720"/>
            <a:ext cx="384048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3840480" cy="384048"/>
          </a:xfrm>
          <a:prstGeom prst="roundRect">
            <a:avLst>
              <a:gd name="adj" fmla="val 16667"/>
            </a:avLst>
          </a:prstGeom>
          <a:solidFill>
            <a:srgbClr val="2FE6C4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481328"/>
            <a:ext cx="3840480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1188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645920"/>
            <a:ext cx="3566160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patientNo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dateOfBirth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gender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phoneNumbers {}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0" y="1188720"/>
            <a:ext cx="384048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0" y="1188720"/>
            <a:ext cx="3840480" cy="384048"/>
          </a:xfrm>
          <a:prstGeom prst="roundRect">
            <a:avLst>
              <a:gd name="adj" fmla="val 16667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0" y="1481328"/>
            <a:ext cx="3840480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23560" y="118872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(before specialization)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1645920"/>
            <a:ext cx="356616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staffNo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cnic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dateJoined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8A9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deptNo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4297680"/>
            <a:ext cx="85039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A939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97680"/>
            <a:ext cx="54864" cy="1051560"/>
          </a:xfrm>
          <a:prstGeom prst="rect">
            <a:avLst/>
          </a:prstGeom>
          <a:solidFill>
            <a:srgbClr val="8A939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24128" y="4407408"/>
            <a:ext cx="81381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is deliberately NOT stored (Lecture 13) — derived from dateOfBirth whenever needed rather than kept in sync by hand. phoneNumbers is genuinely multi-valued.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4864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entity types' key structures (feeding Step 8):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7607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Department(deptNo, name, location, headDoctorNo) · Ward(wardNo, name, deptNo) · Bed(wardNo, bedNo, status) · Admission(admissionNo, admissionDate, dischargeDate, reasonForAdmission, patientNo, wardNo, bedNo, attendingDoctorNo)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Bed: a Weak Entity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cannot be uniquely identified on its own — a hospital with three wards each numbering beds 1, 2, 3... has no way to tell “Bed 3” in W1 apart from “Bed 3” in W2 using bedNo alone.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286000" y="1920240"/>
            <a:ext cx="31089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0" y="1920240"/>
            <a:ext cx="3108960" cy="384048"/>
          </a:xfrm>
          <a:prstGeom prst="roundRect">
            <a:avLst>
              <a:gd name="adj" fmla="val 16667"/>
            </a:avLst>
          </a:prstGeom>
          <a:solidFill>
            <a:srgbClr val="2FE6C4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2212848"/>
            <a:ext cx="3108960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423160" y="192024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2377440"/>
            <a:ext cx="28346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wardNo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93992" y="1810512"/>
            <a:ext cx="3419856" cy="1591056"/>
          </a:xfrm>
          <a:prstGeom prst="roundRect">
            <a:avLst>
              <a:gd name="adj" fmla="val 5172"/>
            </a:avLst>
          </a:prstGeom>
          <a:ln w="15875">
            <a:solidFill>
              <a:srgbClr val="E8A3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0" y="1874520"/>
            <a:ext cx="329184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1874520"/>
            <a:ext cx="3291840" cy="384048"/>
          </a:xfrm>
          <a:prstGeom prst="roundRect">
            <a:avLst>
              <a:gd name="adj" fmla="val 16667"/>
            </a:avLst>
          </a:prstGeom>
          <a:solidFill>
            <a:srgbClr val="E8A33D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0" y="2167128"/>
            <a:ext cx="3291840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995160" y="18745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(weak)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2331720"/>
            <a:ext cx="3017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wardNo, bedNo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94960" y="2606040"/>
            <a:ext cx="1463040" cy="0"/>
          </a:xfrm>
          <a:prstGeom prst="line">
            <a:avLst/>
          </a:prstGeom>
          <a:noFill/>
          <a:ln w="22225">
            <a:solidFill>
              <a:srgbClr val="8B7FD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43016" y="2459736"/>
            <a:ext cx="566928" cy="292608"/>
          </a:xfrm>
          <a:prstGeom prst="roundRect">
            <a:avLst>
              <a:gd name="adj" fmla="val 50000"/>
            </a:avLst>
          </a:prstGeom>
          <a:solidFill>
            <a:srgbClr val="8B7FD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43016" y="245973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2148840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2FE6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40680" y="2148840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5936" y="2807208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45936" y="2807208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3840480"/>
            <a:ext cx="108813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840480"/>
            <a:ext cx="54864" cy="2377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1248" y="395020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entity: identified only in combination with its owner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" y="4224528"/>
            <a:ext cx="1051560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depends on Ward (its OWNER or identifying entity type) for existence AND identification. Its primary key is a COMPOSITE key made of its own partial key (bedNo) plus the ENTIRE primary key of its owner (wardNo) — shown here with the double-line border convention. This is the same pattern Lecture 16 maps directly into Bed(wardNo, bedNo, status) with ON DELETE CASCADE.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Level 1: Staff into Four Job Roles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employ doctors, nurses, lab technicians, and administrative staff” — each role gets its own attributes, with no overlap mentioned anywhere.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11880" y="1417320"/>
            <a:ext cx="493776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11880" y="1417320"/>
            <a:ext cx="4937760" cy="384048"/>
          </a:xfrm>
          <a:prstGeom prst="roundRect">
            <a:avLst>
              <a:gd name="adj" fmla="val 16667"/>
            </a:avLst>
          </a:prstGeom>
          <a:solidFill>
            <a:srgbClr val="2FE6C4"/>
          </a:solidFill>
          <a:ln/>
        </p:spPr>
      </p:sp>
      <p:sp>
        <p:nvSpPr>
          <p:cNvPr id="7" name="Shape 5"/>
          <p:cNvSpPr/>
          <p:nvPr/>
        </p:nvSpPr>
        <p:spPr>
          <a:xfrm>
            <a:off x="3611880" y="1709928"/>
            <a:ext cx="4937760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749040" y="14173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(superclass)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1874520"/>
            <a:ext cx="46634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staffNo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cnic, name, dateJoined, deptNo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80760" y="2377440"/>
            <a:ext cx="0" cy="274320"/>
          </a:xfrm>
          <a:prstGeom prst="line">
            <a:avLst/>
          </a:prstGeom>
          <a:noFill/>
          <a:ln w="19050">
            <a:solidFill>
              <a:srgbClr val="8A939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34540" y="2651760"/>
            <a:ext cx="8092440" cy="0"/>
          </a:xfrm>
          <a:prstGeom prst="line">
            <a:avLst/>
          </a:prstGeom>
          <a:noFill/>
          <a:ln w="19050">
            <a:solidFill>
              <a:srgbClr val="8A939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34540" y="2651760"/>
            <a:ext cx="0" cy="274320"/>
          </a:xfrm>
          <a:prstGeom prst="line">
            <a:avLst/>
          </a:prstGeom>
          <a:noFill/>
          <a:ln w="19050">
            <a:solidFill>
              <a:srgbClr val="8A939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926080"/>
            <a:ext cx="24231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926080"/>
            <a:ext cx="2423160" cy="384048"/>
          </a:xfrm>
          <a:prstGeom prst="roundRect">
            <a:avLst>
              <a:gd name="adj" fmla="val 16667"/>
            </a:avLst>
          </a:prstGeom>
          <a:solidFill>
            <a:srgbClr val="8B7FD9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3218688"/>
            <a:ext cx="2423160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60120" y="292608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3383280"/>
            <a:ext cx="214884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licenseNo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consultationFee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32020" y="2651760"/>
            <a:ext cx="0" cy="274320"/>
          </a:xfrm>
          <a:prstGeom prst="line">
            <a:avLst/>
          </a:prstGeom>
          <a:noFill/>
          <a:ln w="19050">
            <a:solidFill>
              <a:srgbClr val="8A939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0440" y="2926080"/>
            <a:ext cx="24231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0440" y="2926080"/>
            <a:ext cx="2423160" cy="384048"/>
          </a:xfrm>
          <a:prstGeom prst="roundRect">
            <a:avLst>
              <a:gd name="adj" fmla="val 16667"/>
            </a:avLst>
          </a:prstGeom>
          <a:solidFill>
            <a:srgbClr val="8B7FD9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0440" y="3218688"/>
            <a:ext cx="2423160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0" y="292608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383280"/>
            <a:ext cx="214884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29500" y="2651760"/>
            <a:ext cx="0" cy="274320"/>
          </a:xfrm>
          <a:prstGeom prst="line">
            <a:avLst/>
          </a:prstGeom>
          <a:noFill/>
          <a:ln w="19050">
            <a:solidFill>
              <a:srgbClr val="8A939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2926080"/>
            <a:ext cx="24231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2926080"/>
            <a:ext cx="2423160" cy="384048"/>
          </a:xfrm>
          <a:prstGeom prst="roundRect">
            <a:avLst>
              <a:gd name="adj" fmla="val 16667"/>
            </a:avLst>
          </a:prstGeom>
          <a:solidFill>
            <a:srgbClr val="8B7FD9"/>
          </a:solidFill>
          <a:ln/>
        </p:spPr>
      </p:sp>
      <p:sp>
        <p:nvSpPr>
          <p:cNvPr id="27" name="Shape 25"/>
          <p:cNvSpPr/>
          <p:nvPr/>
        </p:nvSpPr>
        <p:spPr>
          <a:xfrm>
            <a:off x="6217920" y="3218688"/>
            <a:ext cx="2423160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55080" y="292608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Technician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355080" y="3383280"/>
            <a:ext cx="214884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labSpecialty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0126980" y="2651760"/>
            <a:ext cx="0" cy="274320"/>
          </a:xfrm>
          <a:prstGeom prst="line">
            <a:avLst/>
          </a:prstGeom>
          <a:noFill/>
          <a:ln w="19050">
            <a:solidFill>
              <a:srgbClr val="8A939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15400" y="2926080"/>
            <a:ext cx="24231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915400" y="2926080"/>
            <a:ext cx="2423160" cy="384048"/>
          </a:xfrm>
          <a:prstGeom prst="roundRect">
            <a:avLst>
              <a:gd name="adj" fmla="val 16667"/>
            </a:avLst>
          </a:prstGeom>
          <a:solidFill>
            <a:srgbClr val="8B7FD9"/>
          </a:solidFill>
          <a:ln/>
        </p:spPr>
      </p:sp>
      <p:sp>
        <p:nvSpPr>
          <p:cNvPr id="33" name="Shape 31"/>
          <p:cNvSpPr/>
          <p:nvPr/>
        </p:nvSpPr>
        <p:spPr>
          <a:xfrm>
            <a:off x="8915400" y="3218688"/>
            <a:ext cx="2423160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052560" y="292608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052560" y="3383280"/>
            <a:ext cx="214884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officeRole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879592" y="2505456"/>
            <a:ext cx="402336" cy="292608"/>
          </a:xfrm>
          <a:prstGeom prst="ellipse">
            <a:avLst/>
          </a:prstGeom>
          <a:solidFill>
            <a:srgbClr val="14181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879592" y="250545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" y="423367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disjoint · total — every staff member is exactly one of the four roles below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staff member is described as being one of the four roles — total. No overlap between roles — disjoint.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Level 2: Doctor into Consultant / Resident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second-level specialization, sitting directly on top of the Doctor subclass from Level 1. “Some doctors are consultants... the rest are residents” — again disjoint and total.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71316" y="1600200"/>
            <a:ext cx="4818888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71316" y="1600200"/>
            <a:ext cx="4818888" cy="384048"/>
          </a:xfrm>
          <a:prstGeom prst="roundRect">
            <a:avLst>
              <a:gd name="adj" fmla="val 16667"/>
            </a:avLst>
          </a:prstGeom>
          <a:solidFill>
            <a:srgbClr val="8B7FD9"/>
          </a:solidFill>
          <a:ln/>
        </p:spPr>
      </p:sp>
      <p:sp>
        <p:nvSpPr>
          <p:cNvPr id="7" name="Shape 5"/>
          <p:cNvSpPr/>
          <p:nvPr/>
        </p:nvSpPr>
        <p:spPr>
          <a:xfrm>
            <a:off x="3671316" y="1892808"/>
            <a:ext cx="4818888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808476" y="1600200"/>
            <a:ext cx="4544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(subclass of Staff)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808476" y="2057400"/>
            <a:ext cx="4544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licenseNo, consultationFee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80760" y="2514600"/>
            <a:ext cx="0" cy="274320"/>
          </a:xfrm>
          <a:prstGeom prst="line">
            <a:avLst/>
          </a:prstGeom>
          <a:noFill/>
          <a:ln w="19050">
            <a:solidFill>
              <a:srgbClr val="8A939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69080" y="2788920"/>
            <a:ext cx="4023360" cy="0"/>
          </a:xfrm>
          <a:prstGeom prst="line">
            <a:avLst/>
          </a:prstGeom>
          <a:noFill/>
          <a:ln w="19050">
            <a:solidFill>
              <a:srgbClr val="8A939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9080" y="2788920"/>
            <a:ext cx="0" cy="274320"/>
          </a:xfrm>
          <a:prstGeom prst="line">
            <a:avLst/>
          </a:prstGeom>
          <a:noFill/>
          <a:ln w="19050">
            <a:solidFill>
              <a:srgbClr val="8A939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94560" y="3063240"/>
            <a:ext cx="37490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0" y="3063240"/>
            <a:ext cx="3749040" cy="384048"/>
          </a:xfrm>
          <a:prstGeom prst="roundRect">
            <a:avLst>
              <a:gd name="adj" fmla="val 16667"/>
            </a:avLst>
          </a:prstGeom>
          <a:solidFill>
            <a:srgbClr val="E8A33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4560" y="3355848"/>
            <a:ext cx="3749040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331720" y="30632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331720" y="3520440"/>
            <a:ext cx="3474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yearsOfExperience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officeRoomNo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92440" y="2788920"/>
            <a:ext cx="0" cy="274320"/>
          </a:xfrm>
          <a:prstGeom prst="line">
            <a:avLst/>
          </a:prstGeom>
          <a:noFill/>
          <a:ln w="19050">
            <a:solidFill>
              <a:srgbClr val="8A939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3063240"/>
            <a:ext cx="37490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3063240"/>
            <a:ext cx="3749040" cy="384048"/>
          </a:xfrm>
          <a:prstGeom prst="roundRect">
            <a:avLst>
              <a:gd name="adj" fmla="val 16667"/>
            </a:avLst>
          </a:prstGeom>
          <a:solidFill>
            <a:srgbClr val="E8A33D"/>
          </a:solidFill>
          <a:ln/>
        </p:spPr>
      </p:sp>
      <p:sp>
        <p:nvSpPr>
          <p:cNvPr id="21" name="Shape 19"/>
          <p:cNvSpPr/>
          <p:nvPr/>
        </p:nvSpPr>
        <p:spPr>
          <a:xfrm>
            <a:off x="6217920" y="3355848"/>
            <a:ext cx="3749040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55080" y="30632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520440"/>
            <a:ext cx="3474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rotationEndDate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8A9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supervisingConsultantNo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879592" y="2642616"/>
            <a:ext cx="402336" cy="292608"/>
          </a:xfrm>
          <a:prstGeom prst="ellipse">
            <a:avLst/>
          </a:prstGeom>
          <a:solidFill>
            <a:srgbClr val="14181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879592" y="264261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2194560" y="44165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disjoint · total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84632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8B7F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846320"/>
            <a:ext cx="54864" cy="141732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41248" y="4956048"/>
            <a:ext cx="105156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Resident.supervisingConsultantNo is a foreign key back into Consultant, capturing “residents... are supervised by one of the consultants”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Separate Specialization Levels?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Staff → Doctor → {Consultant, Resident}, plus Staff → Nurse, Technician, Administrator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1088136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08760"/>
            <a:ext cx="54864" cy="28346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61848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would be POSSIBLE to flatten this into six disjoint leaves directly under Staff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892808"/>
            <a:ext cx="1051560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Nurse, Technician, Administrator, Consultant, Resident, plain Doctor — skipping the intermediate Doctor level entirely.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would lose real information: licenseNo and consultationFee genuinely belong to EVERY doctor, consultant or resident alike. Flattening would force duplicating those two attributes onto both leaf types instead of inheriting them once from a shared Doctor level.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4526280"/>
            <a:ext cx="1088136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2FE6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4526280"/>
            <a:ext cx="54864" cy="164592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463600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general check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4910328"/>
            <a:ext cx="10515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Multi-level specialization exists so shared structure at ANY depth gets factored out exactly once. Check for this the same way Step 1 checked for entities: attributes shared by some but not all immediate children of a node are a sign of a missing intermediate level.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Inheritance in This Hierarchy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Doctor (and therefore every Consultant and Resident) inherits staffNo, cnic, name, address, dateJoined, deptNo from Staff, plus licenseNo and consultationFee from Doctor.</a:t>
            </a:r>
            <a:endParaRPr lang="en-US" sz="1500" dirty="0"/>
          </a:p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Doctor also inherits Staff's relationships — WorksIn Department applies to a Consultant exactly as it does to a Nurse, with no separate relationship drawn per subclass.</a:t>
            </a:r>
            <a:endParaRPr lang="en-US" sz="1500" dirty="0"/>
          </a:p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HeadedBy (a department's head must be a Doctor) and Supervises (only Consultants supervise, only Residents are supervised) belong specifically to Doctor, Consultant, and Resident.</a:t>
            </a:r>
            <a:endParaRPr lang="en-US" sz="1500" dirty="0"/>
          </a:p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and Technician occurrences never participate in either — exactly the point of attaching a relationship at the subclass level rather than pushing it up to Staff.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— Composition: Department “contains” Ward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ward that's shut down for renovation should take its beds with it out of the system entirely” — and a ward implicitly cannot outlive its department either. Strong ownership, no sharing, existence dependency: composition.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0" y="2011680"/>
            <a:ext cx="329184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0" y="2011680"/>
            <a:ext cx="3291840" cy="384048"/>
          </a:xfrm>
          <a:prstGeom prst="roundRect">
            <a:avLst>
              <a:gd name="adj" fmla="val 16667"/>
            </a:avLst>
          </a:prstGeom>
          <a:solidFill>
            <a:srgbClr val="2FE6C4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2304288"/>
            <a:ext cx="3291840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423160" y="20116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2468880"/>
            <a:ext cx="3017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deptNo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0" y="2011680"/>
            <a:ext cx="329184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0" y="2011680"/>
            <a:ext cx="3291840" cy="384048"/>
          </a:xfrm>
          <a:prstGeom prst="roundRect">
            <a:avLst>
              <a:gd name="adj" fmla="val 16667"/>
            </a:avLst>
          </a:prstGeom>
          <a:solidFill>
            <a:srgbClr val="E8A33D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0" y="2304288"/>
            <a:ext cx="3291840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95160" y="20116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2468880"/>
            <a:ext cx="30175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wardNo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77840" y="2743200"/>
            <a:ext cx="1280160" cy="0"/>
          </a:xfrm>
          <a:prstGeom prst="line">
            <a:avLst/>
          </a:prstGeom>
          <a:noFill/>
          <a:ln w="22225">
            <a:solidFill>
              <a:srgbClr val="8B7F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2422" y="2596896"/>
            <a:ext cx="1110996" cy="292608"/>
          </a:xfrm>
          <a:prstGeom prst="roundRect">
            <a:avLst>
              <a:gd name="adj" fmla="val 50000"/>
            </a:avLst>
          </a:prstGeom>
          <a:solidFill>
            <a:srgbClr val="8B7F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2422" y="2596896"/>
            <a:ext cx="1110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Composed Of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23560" y="2286000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2FE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23560" y="2286000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345936" y="2944368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45936" y="2944368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3977640"/>
            <a:ext cx="1088136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2FE6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3977640"/>
            <a:ext cx="54864" cy="219456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0873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composition's defining signature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4361688"/>
            <a:ext cx="105156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Wards are not shared between departments and have no independent existence once their department is gone. Composition, mapped in Lecture 16, becomes an ordinary 1:N foreign key placement PLUS ON DELETE CASCADE on Ward.deptNo — the strong-ownership fact traveling straight into the DDL.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— Aggregation: Admission, Attended By a Doctor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144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attending doctor — the doctor directly responsible for that patient's care during that stay, which might be different from any other doctor who happens to work on the same ward.”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371600" y="1600200"/>
            <a:ext cx="6400800" cy="1417320"/>
          </a:xfrm>
          <a:prstGeom prst="roundRect">
            <a:avLst>
              <a:gd name="adj" fmla="val 6452"/>
            </a:avLst>
          </a:prstGeom>
          <a:ln w="19050">
            <a:solidFill>
              <a:srgbClr val="8B7FD9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948940" y="1453896"/>
            <a:ext cx="3246120" cy="274320"/>
          </a:xfrm>
          <a:prstGeom prst="roundRect">
            <a:avLst>
              <a:gd name="adj" fmla="val 50000"/>
            </a:avLst>
          </a:prstGeom>
          <a:solidFill>
            <a:srgbClr val="8B7FD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48940" y="145389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AdmittedTo, aggregated — this is Admission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645920" y="1828800"/>
            <a:ext cx="25603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1828800"/>
            <a:ext cx="2560320" cy="384048"/>
          </a:xfrm>
          <a:prstGeom prst="roundRect">
            <a:avLst>
              <a:gd name="adj" fmla="val 16667"/>
            </a:avLst>
          </a:prstGeom>
          <a:solidFill>
            <a:srgbClr val="2FE6C4"/>
          </a:solidFill>
          <a:ln/>
        </p:spPr>
      </p:sp>
      <p:sp>
        <p:nvSpPr>
          <p:cNvPr id="10" name="Shape 8"/>
          <p:cNvSpPr/>
          <p:nvPr/>
        </p:nvSpPr>
        <p:spPr>
          <a:xfrm>
            <a:off x="1645920" y="2121408"/>
            <a:ext cx="2560320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783080" y="18288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83080" y="228600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patientNo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28032" y="1719072"/>
            <a:ext cx="2779776" cy="1225296"/>
          </a:xfrm>
          <a:prstGeom prst="roundRect">
            <a:avLst>
              <a:gd name="adj" fmla="val 6716"/>
            </a:avLst>
          </a:prstGeom>
          <a:ln w="15875">
            <a:solidFill>
              <a:srgbClr val="E8A3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92040" y="1783080"/>
            <a:ext cx="26517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1783080"/>
            <a:ext cx="2651760" cy="384048"/>
          </a:xfrm>
          <a:prstGeom prst="roundRect">
            <a:avLst>
              <a:gd name="adj" fmla="val 16667"/>
            </a:avLst>
          </a:prstGeom>
          <a:solidFill>
            <a:srgbClr val="E8A33D"/>
          </a:solidFill>
          <a:ln/>
        </p:spPr>
      </p:sp>
      <p:sp>
        <p:nvSpPr>
          <p:cNvPr id="16" name="Shape 14"/>
          <p:cNvSpPr/>
          <p:nvPr/>
        </p:nvSpPr>
        <p:spPr>
          <a:xfrm>
            <a:off x="4892040" y="2075688"/>
            <a:ext cx="2651760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0" y="17830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224028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wardNo, bedNo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06240" y="2331720"/>
            <a:ext cx="685800" cy="0"/>
          </a:xfrm>
          <a:prstGeom prst="line">
            <a:avLst/>
          </a:prstGeom>
          <a:noFill/>
          <a:ln w="22225">
            <a:solidFill>
              <a:srgbClr val="8A939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04538" y="2185416"/>
            <a:ext cx="489204" cy="292608"/>
          </a:xfrm>
          <a:prstGeom prst="roundRect">
            <a:avLst>
              <a:gd name="adj" fmla="val 50000"/>
            </a:avLst>
          </a:prstGeom>
          <a:solidFill>
            <a:srgbClr val="8A939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04538" y="2185416"/>
            <a:ext cx="4892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51960" y="1874520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2FE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51960" y="1874520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79976" y="2532888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379976" y="2532888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489704" y="3154680"/>
            <a:ext cx="164592" cy="411480"/>
          </a:xfrm>
          <a:prstGeom prst="downArrow">
            <a:avLst/>
          </a:prstGeom>
          <a:solidFill>
            <a:srgbClr val="8B7FD9"/>
          </a:solidFill>
          <a:ln/>
        </p:spPr>
      </p:sp>
      <p:sp>
        <p:nvSpPr>
          <p:cNvPr id="27" name="Shape 25"/>
          <p:cNvSpPr/>
          <p:nvPr/>
        </p:nvSpPr>
        <p:spPr>
          <a:xfrm>
            <a:off x="8138160" y="3703320"/>
            <a:ext cx="301752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38160" y="3703320"/>
            <a:ext cx="3017520" cy="384048"/>
          </a:xfrm>
          <a:prstGeom prst="roundRect">
            <a:avLst>
              <a:gd name="adj" fmla="val 16667"/>
            </a:avLst>
          </a:prstGeom>
          <a:solidFill>
            <a:srgbClr val="8B7FD9"/>
          </a:solidFill>
          <a:ln/>
        </p:spPr>
      </p:sp>
      <p:sp>
        <p:nvSpPr>
          <p:cNvPr id="29" name="Shape 27"/>
          <p:cNvSpPr/>
          <p:nvPr/>
        </p:nvSpPr>
        <p:spPr>
          <a:xfrm>
            <a:off x="8138160" y="3995928"/>
            <a:ext cx="3017520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5320" y="3703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160520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staffNo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4297680"/>
            <a:ext cx="3566160" cy="0"/>
          </a:xfrm>
          <a:prstGeom prst="line">
            <a:avLst/>
          </a:prstGeom>
          <a:noFill/>
          <a:ln w="22225">
            <a:solidFill>
              <a:srgbClr val="E8A33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838444" y="4151376"/>
            <a:ext cx="1033272" cy="29260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838444" y="4151376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AttendedBy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17720" y="3840480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2FE6C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617720" y="3840480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626096" y="4498848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626096" y="4498848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371600" y="3703320"/>
            <a:ext cx="5989320" cy="914400"/>
          </a:xfrm>
          <a:prstGeom prst="roundRect">
            <a:avLst>
              <a:gd name="adj" fmla="val 8000"/>
            </a:avLst>
          </a:prstGeom>
          <a:ln w="19050">
            <a:solidFill>
              <a:srgbClr val="8B7FD9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1508760" y="3703320"/>
            <a:ext cx="5715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admissionDate, dischargeDate — the Admission entity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fact about the specific admission (the Patient–Bed pairing as a whole) — not about the patient alone, nor the ward alone.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— Assembling the EER Diagram (Layers 1–2)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144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core independent entities and their direct relationships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292608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2926080" cy="384048"/>
          </a:xfrm>
          <a:prstGeom prst="roundRect">
            <a:avLst>
              <a:gd name="adj" fmla="val 16667"/>
            </a:avLst>
          </a:prstGeom>
          <a:solidFill>
            <a:srgbClr val="2FE6C4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527048"/>
            <a:ext cx="2926080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12344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691640"/>
            <a:ext cx="26517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patientNo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2918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234440"/>
            <a:ext cx="3291840" cy="384048"/>
          </a:xfrm>
          <a:prstGeom prst="roundRect">
            <a:avLst>
              <a:gd name="adj" fmla="val 16667"/>
            </a:avLst>
          </a:prstGeom>
          <a:solidFill>
            <a:srgbClr val="E8A33D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1527048"/>
            <a:ext cx="3291840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12344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691640"/>
            <a:ext cx="30175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apptNo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8A9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doctorNo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66160" y="1760220"/>
            <a:ext cx="1097280" cy="0"/>
          </a:xfrm>
          <a:prstGeom prst="line">
            <a:avLst/>
          </a:prstGeom>
          <a:noFill/>
          <a:ln w="22225">
            <a:solidFill>
              <a:srgbClr val="8A939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2474" y="1613916"/>
            <a:ext cx="644652" cy="292608"/>
          </a:xfrm>
          <a:prstGeom prst="roundRect">
            <a:avLst>
              <a:gd name="adj" fmla="val 50000"/>
            </a:avLst>
          </a:prstGeom>
          <a:solidFill>
            <a:srgbClr val="8A939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792474" y="1613916"/>
            <a:ext cx="6446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11880" y="1303020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2FE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611880" y="1303020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51376" y="1961388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151376" y="1961388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743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the Staff specialization hierarchy (both levels), attached to Department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3063240"/>
            <a:ext cx="27432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063240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2FE6C4"/>
          </a:solidFill>
          <a:ln/>
        </p:spPr>
      </p:sp>
      <p:sp>
        <p:nvSpPr>
          <p:cNvPr id="25" name="Shape 23"/>
          <p:cNvSpPr/>
          <p:nvPr/>
        </p:nvSpPr>
        <p:spPr>
          <a:xfrm>
            <a:off x="640080" y="3355848"/>
            <a:ext cx="2743200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30632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352044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deptNo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8A9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headDoctorNo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0" y="3063240"/>
            <a:ext cx="694944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3063240"/>
            <a:ext cx="6949440" cy="384048"/>
          </a:xfrm>
          <a:prstGeom prst="roundRect">
            <a:avLst>
              <a:gd name="adj" fmla="val 16667"/>
            </a:avLst>
          </a:prstGeom>
          <a:solidFill>
            <a:srgbClr val="8B7FD9"/>
          </a:solidFill>
          <a:ln/>
        </p:spPr>
      </p:sp>
      <p:sp>
        <p:nvSpPr>
          <p:cNvPr id="30" name="Shape 28"/>
          <p:cNvSpPr/>
          <p:nvPr/>
        </p:nvSpPr>
        <p:spPr>
          <a:xfrm>
            <a:off x="4572000" y="3355848"/>
            <a:ext cx="6949440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0632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→ Doctor → {Consultant, Resident}, Nurse, Technician, Administrator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709160" y="3520440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hierarchy — see Steps 5–6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383280" y="3611880"/>
            <a:ext cx="1188720" cy="0"/>
          </a:xfrm>
          <a:prstGeom prst="line">
            <a:avLst/>
          </a:prstGeom>
          <a:noFill/>
          <a:ln w="22225">
            <a:solidFill>
              <a:srgbClr val="8A939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77590" y="3465576"/>
            <a:ext cx="800100" cy="292608"/>
          </a:xfrm>
          <a:prstGeom prst="roundRect">
            <a:avLst>
              <a:gd name="adj" fmla="val 50000"/>
            </a:avLst>
          </a:prstGeom>
          <a:solidFill>
            <a:srgbClr val="8A939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577590" y="3465576"/>
            <a:ext cx="8001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WorksIn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429000" y="3154680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2FE6C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429000" y="3154680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59936" y="3813048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059936" y="3813048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" y="457200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2FE6C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0080" y="4572000"/>
            <a:ext cx="54864" cy="155448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41248" y="4681728"/>
            <a:ext cx="1051560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a genuine, valid EER fragment on its own — deliberate. Building a large model one justified layer at a time, checking each against the requirements before moving on, is exactly how a real designer avoids the fan/chasm trap errors from Lecture 13.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— Assembling the EER Diagram (Layers 3–4)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144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Department, Ward, and Bed (composition + weak entity)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25603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2560320" cy="384048"/>
          </a:xfrm>
          <a:prstGeom prst="roundRect">
            <a:avLst>
              <a:gd name="adj" fmla="val 16667"/>
            </a:avLst>
          </a:prstGeom>
          <a:solidFill>
            <a:srgbClr val="2FE6C4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527048"/>
            <a:ext cx="2560320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12344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6916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deptNo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1234440"/>
            <a:ext cx="25603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234440"/>
            <a:ext cx="2560320" cy="384048"/>
          </a:xfrm>
          <a:prstGeom prst="roundRect">
            <a:avLst>
              <a:gd name="adj" fmla="val 16667"/>
            </a:avLst>
          </a:prstGeom>
          <a:solidFill>
            <a:srgbClr val="E8A33D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0" y="1527048"/>
            <a:ext cx="2560320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2344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16916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wardNo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439912" y="1124712"/>
            <a:ext cx="2779776" cy="1179576"/>
          </a:xfrm>
          <a:prstGeom prst="roundRect">
            <a:avLst>
              <a:gd name="adj" fmla="val 6977"/>
            </a:avLst>
          </a:prstGeom>
          <a:ln w="15875">
            <a:solidFill>
              <a:srgbClr val="E8A3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03920" y="118872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1188720"/>
            <a:ext cx="2651760" cy="384048"/>
          </a:xfrm>
          <a:prstGeom prst="roundRect">
            <a:avLst>
              <a:gd name="adj" fmla="val 16667"/>
            </a:avLst>
          </a:prstGeom>
          <a:solidFill>
            <a:srgbClr val="E8A33D"/>
          </a:solidFill>
          <a:ln/>
        </p:spPr>
      </p:sp>
      <p:sp>
        <p:nvSpPr>
          <p:cNvPr id="18" name="Shape 16"/>
          <p:cNvSpPr/>
          <p:nvPr/>
        </p:nvSpPr>
        <p:spPr>
          <a:xfrm>
            <a:off x="8503920" y="1481328"/>
            <a:ext cx="2651760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41080" y="11887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(weak)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641080" y="1645920"/>
            <a:ext cx="2377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wardNo, bedNo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0" y="1737360"/>
            <a:ext cx="1371600" cy="0"/>
          </a:xfrm>
          <a:prstGeom prst="line">
            <a:avLst/>
          </a:prstGeom>
          <a:noFill/>
          <a:ln w="22225">
            <a:solidFill>
              <a:srgbClr val="8B7F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69564" y="1591056"/>
            <a:ext cx="1033272" cy="292608"/>
          </a:xfrm>
          <a:prstGeom prst="roundRect">
            <a:avLst>
              <a:gd name="adj" fmla="val 50000"/>
            </a:avLst>
          </a:prstGeom>
          <a:solidFill>
            <a:srgbClr val="8B7FD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369564" y="1591056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ComposedOf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46120" y="1280160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2FE6C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46120" y="1280160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59936" y="1938528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059936" y="1938528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32320" y="1737360"/>
            <a:ext cx="1371600" cy="0"/>
          </a:xfrm>
          <a:prstGeom prst="line">
            <a:avLst/>
          </a:prstGeom>
          <a:noFill/>
          <a:ln w="22225">
            <a:solidFill>
              <a:srgbClr val="8A939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34656" y="1591056"/>
            <a:ext cx="566928" cy="292608"/>
          </a:xfrm>
          <a:prstGeom prst="roundRect">
            <a:avLst>
              <a:gd name="adj" fmla="val 50000"/>
            </a:avLst>
          </a:prstGeom>
          <a:solidFill>
            <a:srgbClr val="8A939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4656" y="159105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78040" y="1280160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2FE6C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78040" y="1280160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991856" y="1938528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991856" y="1938528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2926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Admission as an aggregate, attended by a Doctor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3246120"/>
            <a:ext cx="274320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3246120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2FE6C4"/>
          </a:solidFill>
          <a:ln/>
        </p:spPr>
      </p:sp>
      <p:sp>
        <p:nvSpPr>
          <p:cNvPr id="38" name="Shape 36"/>
          <p:cNvSpPr/>
          <p:nvPr/>
        </p:nvSpPr>
        <p:spPr>
          <a:xfrm>
            <a:off x="640080" y="3538728"/>
            <a:ext cx="2743200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77240" y="32461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370332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patientNo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503920" y="3246120"/>
            <a:ext cx="274320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503920" y="3246120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E8A33D"/>
          </a:solidFill>
          <a:ln/>
        </p:spPr>
      </p:sp>
      <p:sp>
        <p:nvSpPr>
          <p:cNvPr id="43" name="Shape 41"/>
          <p:cNvSpPr/>
          <p:nvPr/>
        </p:nvSpPr>
        <p:spPr>
          <a:xfrm>
            <a:off x="8503920" y="3538728"/>
            <a:ext cx="2743200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641080" y="32461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641080" y="370332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wardNo, bedNo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114800" y="3154680"/>
            <a:ext cx="365760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114800" y="3154680"/>
            <a:ext cx="3657600" cy="384048"/>
          </a:xfrm>
          <a:prstGeom prst="roundRect">
            <a:avLst>
              <a:gd name="adj" fmla="val 16667"/>
            </a:avLst>
          </a:prstGeom>
          <a:solidFill>
            <a:srgbClr val="8B7FD9"/>
          </a:solidFill>
          <a:ln/>
        </p:spPr>
      </p:sp>
      <p:sp>
        <p:nvSpPr>
          <p:cNvPr id="48" name="Shape 46"/>
          <p:cNvSpPr/>
          <p:nvPr/>
        </p:nvSpPr>
        <p:spPr>
          <a:xfrm>
            <a:off x="4114800" y="3447288"/>
            <a:ext cx="3657600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251960" y="315468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251960" y="3611880"/>
            <a:ext cx="3383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admissionNo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admissionDate, dischargeDate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383280" y="3749040"/>
            <a:ext cx="731520" cy="0"/>
          </a:xfrm>
          <a:prstGeom prst="line">
            <a:avLst/>
          </a:prstGeom>
          <a:noFill/>
          <a:ln w="22225">
            <a:solidFill>
              <a:srgbClr val="8A939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429000" y="3291840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2FE6C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429000" y="3291840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602736" y="3950208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602736" y="3950208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7772400" y="3749040"/>
            <a:ext cx="731520" cy="0"/>
          </a:xfrm>
          <a:prstGeom prst="line">
            <a:avLst/>
          </a:prstGeom>
          <a:noFill/>
          <a:ln w="22225">
            <a:solidFill>
              <a:srgbClr val="8A939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818120" y="3291840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2FE6C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818120" y="3291840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91856" y="3950208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991856" y="3950208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0080" y="4892040"/>
            <a:ext cx="54864" cy="1234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41248" y="5001768"/>
            <a:ext cx="1051560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carries the ON DELETE CASCADE signature from composition; Layer 4 is the fully-resolved AdmittedTo aggregate from Step 7, ready for AttendedBy → Doctor on the next layer.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— Layer 5 and the Comprehensive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16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144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Prescription tying Patient, Doctor, and Drug together; Invoice per Patient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237744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8B7F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2377440" cy="384048"/>
          </a:xfrm>
          <a:prstGeom prst="roundRect">
            <a:avLst>
              <a:gd name="adj" fmla="val 16667"/>
            </a:avLst>
          </a:prstGeom>
          <a:solidFill>
            <a:srgbClr val="8B7FD9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527048"/>
            <a:ext cx="2377440" cy="91440"/>
          </a:xfrm>
          <a:prstGeom prst="rect">
            <a:avLst/>
          </a:prstGeom>
          <a:solidFill>
            <a:srgbClr val="8B7F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12344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69164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staffNo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188720"/>
            <a:ext cx="329184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188720"/>
            <a:ext cx="3291840" cy="384048"/>
          </a:xfrm>
          <a:prstGeom prst="roundRect">
            <a:avLst>
              <a:gd name="adj" fmla="val 16667"/>
            </a:avLst>
          </a:prstGeom>
          <a:solidFill>
            <a:srgbClr val="E8A33D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0" y="1481328"/>
            <a:ext cx="3291840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34840" y="11887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16459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prescriptionNo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8A9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patientNo, drugCode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52560" y="1234440"/>
            <a:ext cx="246888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FE6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52560" y="1234440"/>
            <a:ext cx="2468880" cy="384048"/>
          </a:xfrm>
          <a:prstGeom prst="roundRect">
            <a:avLst>
              <a:gd name="adj" fmla="val 16667"/>
            </a:avLst>
          </a:prstGeom>
          <a:solidFill>
            <a:srgbClr val="2FE6C4"/>
          </a:solidFill>
          <a:ln/>
        </p:spPr>
      </p:sp>
      <p:sp>
        <p:nvSpPr>
          <p:cNvPr id="17" name="Shape 15"/>
          <p:cNvSpPr/>
          <p:nvPr/>
        </p:nvSpPr>
        <p:spPr>
          <a:xfrm>
            <a:off x="9052560" y="1527048"/>
            <a:ext cx="2468880" cy="9144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89720" y="1234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89720" y="1691640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u="sng" dirty="0">
                <a:solidFill>
                  <a:srgbClr val="1F2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drugCode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017520" y="1737360"/>
            <a:ext cx="1280160" cy="0"/>
          </a:xfrm>
          <a:prstGeom prst="line">
            <a:avLst/>
          </a:prstGeom>
          <a:noFill/>
          <a:ln w="22225">
            <a:solidFill>
              <a:srgbClr val="8A939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40964" y="1591056"/>
            <a:ext cx="1033272" cy="292608"/>
          </a:xfrm>
          <a:prstGeom prst="roundRect">
            <a:avLst>
              <a:gd name="adj" fmla="val 50000"/>
            </a:avLst>
          </a:prstGeom>
          <a:solidFill>
            <a:srgbClr val="8A939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140964" y="1591056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63240" y="1280160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2FE6C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63240" y="1280160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85616" y="1938528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785616" y="1938528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9520" y="1737360"/>
            <a:ext cx="1463040" cy="0"/>
          </a:xfrm>
          <a:prstGeom prst="line">
            <a:avLst/>
          </a:prstGeom>
          <a:noFill/>
          <a:ln w="22225">
            <a:solidFill>
              <a:srgbClr val="8A939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5300" y="1591056"/>
            <a:ext cx="411480" cy="292608"/>
          </a:xfrm>
          <a:prstGeom prst="roundRect">
            <a:avLst>
              <a:gd name="adj" fmla="val 50000"/>
            </a:avLst>
          </a:prstGeom>
          <a:solidFill>
            <a:srgbClr val="8A939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115300" y="159105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35240" y="1280160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2FE6C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635240" y="1280160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540496" y="1938528"/>
            <a:ext cx="466344" cy="25603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540496" y="1938528"/>
            <a:ext cx="466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40080" y="2606040"/>
            <a:ext cx="1088136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2FE6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2606040"/>
            <a:ext cx="54864" cy="356616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41248" y="27157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comprehensive model — all five layers fused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41248" y="2990088"/>
            <a:ext cx="105156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sits at the hub: Books → Appointment → ScheduledWith → Doctor; AdmittedTo → Bed (owned by Ward, composed under Department) → aggregated as Admission → AttendedBy → Doctor; For → Prescription → Of → Drug; BilledTo → Invoice. Doctor itself sits inside the two-level Staff specialization (→ Consultant/Resident), each Doctor WorksIn one Department, and one Doctor may be HeadedBy for that department.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all twenty-plus elements on one slide at once is exactly what Lecture 13 warned against — fan and chasm traps are far easier to introduce, and far harder to spot, when everything is drawn at once. Building layer-by-layer (Layers 1–5 above) and validating each against the requirements before fusing them is the safer, real-world workflow.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— Validation of the EER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960120"/>
          <a:ext cx="10881360" cy="914400"/>
        </p:xfrm>
        <a:graphic>
          <a:graphicData uri="http://schemas.openxmlformats.org/drawingml/2006/table">
            <a:tbl>
              <a:tblPr/>
              <a:tblGrid>
                <a:gridCol w="5440680"/>
                <a:gridCol w="54406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Covered by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Track patients' basic details and admissions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Patient, Admission (aggregated AdmittedTo)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Admission records ward, bed, admission/discharge dates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Admission attrs; Bed (weak, owned by Ward)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staff roles, each with role attributes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Level 1 Staff specialization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Consultants have experience/office; residents rotate, supervised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Level 2 Doctor specialization; supervisingConsultantNo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Departments have name, location, head doctor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Department, HeadedBy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Wards belong to one department; removed with their department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ComposedOf — composition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Every bed belongs to exactly one ward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Owns — weak entity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Attending doctor is per-admission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AttendedBy on the aggregated Admission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Appointments have confirmation no., with a specific doctor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Appointment, ScheduledWith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Prescriptions tie patient, doctor, drug with dosage/schedule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Prescription entity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Every patient gets an invoice; payment tracked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42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Invoice, BilledTo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Flagged Back to the Client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means checking the model against the requirements in BOTH directions: every requirement is represented, and every model element traces back to a requirement.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326380" cy="2377440"/>
          </a:xfrm>
          <a:prstGeom prst="roundRect">
            <a:avLst>
              <a:gd name="adj" fmla="val 3077"/>
            </a:avLst>
          </a:prstGeom>
          <a:solidFill>
            <a:srgbClr val="8B7FD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56816"/>
            <a:ext cx="49606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Resident → exactly one supervising consultant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04288"/>
            <a:ext cx="496062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Assumed always exactly one, never zero and never more than one, at a time. The requirements imply this but don't state it in so many words.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95060" y="1828800"/>
            <a:ext cx="5326380" cy="2377440"/>
          </a:xfrm>
          <a:prstGeom prst="roundRect">
            <a:avLst>
              <a:gd name="adj" fmla="val 3077"/>
            </a:avLst>
          </a:prstGeom>
          <a:solidFill>
            <a:srgbClr val="E8A3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77940" y="1956816"/>
            <a:ext cx="49606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Nurse / Technician: no further sub-specialization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377940" y="2304288"/>
            <a:ext cx="496062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gives no role-specific detail beyond shift and labSpecialty. A reasonable place to stop — but a decision that should be confirmed with the client before treating it as final.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43484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2FE6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4434840"/>
            <a:ext cx="54864" cy="1554480"/>
          </a:xfrm>
          <a:prstGeom prst="rect">
            <a:avLst/>
          </a:prstGeom>
          <a:solidFill>
            <a:srgbClr val="2FE6C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45445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Flagging assumptions explicitly is itself part of validation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4818888"/>
            <a:ext cx="10515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silently baking an assumption into the diagram, a real designer states it back to the client before implementation begins — the difference between a model that merely looks complete and one that is actually correct.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EER design starts from ordinary client language, not a pre-sorted list of entities and relationships — the entity-vs-attribute and relationship-vs-entity tests from Lecture 13 do the actual sorting.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Specialization can nest to more than one level (Staff → Doctor → {Consultant, Resident}) whenever a subset of an already-specialized subclass needs further differentiation.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entities (Bed), composition (Department/Ward), and aggregation (attended Admission) each solve a different, specific problem — match the construct to the sentence that motivates it.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checks the model against requirements in both directions, with every assumption stated explicitly rather than left implicit.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2026-09-29T15:34:03Z</dcterms:created>
  <dcterms:modified xsi:type="dcterms:W3CDTF">2026-09-29T15:34:03Z</dcterms:modified>
</cp:coreProperties>
</file>
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Modeling: A Case Study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client requirements to a complete, validated EER diagram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study: Al-Shifa General Hospital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types, relationships, and attributes — each decision justified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entities, specialization levels, composition, and aggregation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diagram one decision at a time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model against every requirement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Al-Shifa General Hospital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hospital replaces its paper records. The administrator's brief, reduced to its facts: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0048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patient, every admission (ward, bed, dates) and every out-patient visit.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7328" y="224028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670048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nurses, lab technicians, administrators. Each in one department. Doctors are consultants or residents.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29768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27448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with a head doctor. Wards inside departments. Beds inside wards.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8728" y="416052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07328" y="4297680"/>
            <a:ext cx="481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and billing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4727448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doctor per admission. Appointments, prescriptions, invoices, and payment status.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Requirements Brief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600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with their own attributes, relationships, or existence.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97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phrases between entities, with cardinality.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that describe exactly one entity.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892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Specialization, weak entities, composition, aggregation.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5412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870448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decision against the sentence that motivated it.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Entity Types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attributes; many relationships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(superclass)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by every kind of employee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Doctor, Nurse, Technician,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(subclasses)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Role-specific attributes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Consultant, Resident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(2nd level)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the other lacks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name, location, head; ward owns beds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weak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identified without its 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Admission, Appointment, Prescription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dates, numbers, dosages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Drug, Invoice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catalog; own lifecycle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fee, CNIC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values for one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Staff,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HeadedBy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head per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Consultant, Resident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Unary, via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ComposedOf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Ward, 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is weak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Patient, 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 dates → Admission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AttendedBy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Admission,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Attending doctor per stay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Books, ScheduledWith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Patient, Appointment,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1:N, N:1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per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Prescribes, For, Of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Doctor, Prescription, Patient, Drug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1:N, N:1, N:1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Three-way tie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Patient, Invoice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invoices over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Attributes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01752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10512"/>
            <a:ext cx="301752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60020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075688"/>
            <a:ext cx="2743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dateOfBirth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phoneNumbers {}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00200"/>
            <a:ext cx="3566160" cy="420624"/>
          </a:xfrm>
          <a:prstGeom prst="roundRect">
            <a:avLst>
              <a:gd name="adj" fmla="val 17391"/>
            </a:avLst>
          </a:prstGeom>
          <a:solidFill>
            <a:srgbClr val="14181C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810512"/>
            <a:ext cx="3566160" cy="210312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160020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(before specialization)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075688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dateJoined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291840" cy="2926080"/>
          </a:xfrm>
          <a:prstGeom prst="roundRect">
            <a:avLst>
              <a:gd name="adj" fmla="val 2188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77072" y="174650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OUT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2" y="2075688"/>
            <a:ext cx="2779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NOT stored: it is derived from dateOfBirth (Lecture 13). phoneNumbers is multi-valued, so it becomes its own relation later.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508406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413248"/>
            <a:ext cx="103994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entity's remaining attributes follow the same test: keep it on the entity it describes, and nothing else.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Bed: A Weak Entity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3 in Ward W1 is not Bed 3 in Ward W2. bedNo alone cannot identify a bed.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7432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87752"/>
            <a:ext cx="274320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7744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8529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377440"/>
            <a:ext cx="31089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37744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258775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61888" y="23774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(weak)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98464" y="285292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wardNo, bedNo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788920"/>
            <a:ext cx="246888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2404872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69080" y="260604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69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6060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8097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WEAK-ENTITY RULE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138928"/>
            <a:ext cx="10399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Bed's key is its partial key (bedNo) plus the owner's entire key (wardNo). Deleting a ward deletes its beds.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Layer by Layer, in This Order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hub entity every question touches: Patient.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relationship at a time, checking each against the brief.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specialization and the composition chains once their entities exist.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everything last — a fan or chasm trap is far easier to see in a small diagram.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90824" y="416052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82264" y="416052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41568" y="416052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3008" y="416052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92311" y="416052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983751" y="416052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hierarchy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52578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and Bed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90824" y="525780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82264" y="52578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41568" y="525780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33008" y="52578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92311" y="5257800"/>
            <a:ext cx="265930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983751" y="5257800"/>
            <a:ext cx="2476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 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Hub: Patient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06240" y="2011680"/>
            <a:ext cx="37490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2011680"/>
            <a:ext cx="374904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2221992"/>
            <a:ext cx="374904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15968" y="2011680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52544" y="2487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352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 FIRST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6817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the brief says “we need to keep track of every patient.” Patient has an independent existence and is the entity most other facts hang from.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 B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Appointments: the Books Relationship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21992"/>
            <a:ext cx="274320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1168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38160" y="2011680"/>
            <a:ext cx="338328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01168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2221992"/>
            <a:ext cx="338328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47888" y="2011680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48716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scheduledDateTime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423160"/>
            <a:ext cx="475488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74920" y="2039112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224028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352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APPOINTMENT IS AN ENTITY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817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the appointment needs its own confirmation number, so it is an entity. A patient books many over time: 1:N.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 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Layer 1: Add the Doctor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2860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39112"/>
            <a:ext cx="228600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82880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04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26517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26517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39112"/>
            <a:ext cx="26517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18288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3042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doctorNo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09760" y="1828800"/>
            <a:ext cx="20116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1828800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2039112"/>
            <a:ext cx="201168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9488" y="182880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56064" y="2304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0" y="2240280"/>
            <a:ext cx="155448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1856232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54680" y="205740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546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2057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77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2240280"/>
            <a:ext cx="237744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51776" y="1856232"/>
            <a:ext cx="1938528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ScheduledWith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772400" y="205740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2057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95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4352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FOREIGN KEY GOES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46817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appointment is with exactly one doctor, so the foreign key sits on Appointment (the N side).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5, LEVEL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Into Four Job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23360" y="1554480"/>
            <a:ext cx="41148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1554480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14181C"/>
          </a:solidFill>
          <a:ln/>
        </p:spPr>
      </p:sp>
      <p:sp>
        <p:nvSpPr>
          <p:cNvPr id="6" name="Shape 4"/>
          <p:cNvSpPr/>
          <p:nvPr/>
        </p:nvSpPr>
        <p:spPr>
          <a:xfrm>
            <a:off x="4023360" y="1764792"/>
            <a:ext cx="4114800" cy="210312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33088" y="155448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(superclass)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69664" y="202996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cnic, name, dateJoined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3774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47472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685032"/>
            <a:ext cx="237744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747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9502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consultationFee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788920"/>
            <a:ext cx="4251960" cy="6858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291840" y="3474720"/>
            <a:ext cx="23774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47472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685032"/>
            <a:ext cx="237744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01568" y="34747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80560" y="2788920"/>
            <a:ext cx="1600200" cy="6858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943600" y="3474720"/>
            <a:ext cx="23774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47472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3685032"/>
            <a:ext cx="237744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53328" y="34747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089904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labSpecialty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80760" y="2788920"/>
            <a:ext cx="1051560" cy="6858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595360" y="3474720"/>
            <a:ext cx="23774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347472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6B7280"/>
          </a:solidFill>
          <a:ln/>
        </p:spPr>
      </p:sp>
      <p:sp>
        <p:nvSpPr>
          <p:cNvPr id="29" name="Shape 27"/>
          <p:cNvSpPr/>
          <p:nvPr/>
        </p:nvSpPr>
        <p:spPr>
          <a:xfrm>
            <a:off x="8595360" y="3685032"/>
            <a:ext cx="2377440" cy="21031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05088" y="34747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741664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officeRole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080760" y="2788920"/>
            <a:ext cx="3703320" cy="6858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40080" y="5257800"/>
            <a:ext cx="10911535" cy="1097280"/>
          </a:xfrm>
          <a:prstGeom prst="roundRect">
            <a:avLst>
              <a:gd name="adj" fmla="val 5833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4041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DISJOINT, TOTAL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" y="573328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(no one holds two roles) and total (every staff member holds one of the four).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5, LEVEL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Into Consultant and Resident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 of our doctors are consultants … the rest are residents”: a second level, under Doctor.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80560" y="2377440"/>
            <a:ext cx="32004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2377440"/>
            <a:ext cx="320040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4480560" y="2587752"/>
            <a:ext cx="320040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0288" y="237744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26864" y="285292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consultationFee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31089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11480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432511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07008" y="411480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459028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yearsOfExperience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officeRoomNo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4114800"/>
            <a:ext cx="35661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4114800"/>
            <a:ext cx="356616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4325112"/>
            <a:ext cx="356616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07808" y="4114800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44384" y="459028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rotationEndDate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supervisingConsultantNo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51760" y="3200400"/>
            <a:ext cx="3429000" cy="9144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080760" y="3200400"/>
            <a:ext cx="3200400" cy="91440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40080" y="5303520"/>
            <a:ext cx="10911535" cy="1051560"/>
          </a:xfrm>
          <a:prstGeom prst="roundRect">
            <a:avLst>
              <a:gd name="adj" fmla="val 608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54498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DISJOINT, TOTAL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5779008"/>
            <a:ext cx="103994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and total. Resident.supervisingConsultantNo is a foreign key into Consultant: only consultants supervise.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Specialization Levels?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list of six leaves under Staff would duplicate licenseNo and consultationFee onto Consultant and Resident.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structure belongs at the highest level it applies to: every doctor has a license and a fee.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node: attributes shared by only some children mean a missing intermediate level.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This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Doctor, Consultant, and Resident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staffNo, cnic, name, dateJoined, deptNo from Staff, plus licenseNo and consultationFee from Doctor.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29184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WorksIn applies to everyone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Consultant works in a department exactly as a Nurse does, with no extra drawing.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80060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HeadedBy and Supervises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1208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 Doctor, Consultant, and Resident only. A Nurse never participates in either.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7, COMPOSITION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Department → Ward → Bed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Department alone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27141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3271418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67712"/>
            <a:ext cx="3271418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057400"/>
            <a:ext cx="30519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532888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anchor. Wards exist only inside a department.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46304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Add Ward (composition)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68698" y="2057400"/>
            <a:ext cx="327141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57400"/>
            <a:ext cx="3271418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8698" y="2267712"/>
            <a:ext cx="3271418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78426" y="2057400"/>
            <a:ext cx="30519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15002" y="2532888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68698" y="3749040"/>
            <a:ext cx="3271418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8698" y="3749040"/>
            <a:ext cx="3271418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8698" y="3959352"/>
            <a:ext cx="3271418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78426" y="3749040"/>
            <a:ext cx="30519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15002" y="4224528"/>
            <a:ext cx="29970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60138" y="3310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368698" y="544068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 cannot exist outside its department: composition.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097317" y="146304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Add Bed (weak)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97317" y="2057400"/>
            <a:ext cx="327141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7317" y="2057400"/>
            <a:ext cx="3271418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7317" y="2267712"/>
            <a:ext cx="3271418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07045" y="2057400"/>
            <a:ext cx="30519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43621" y="2532888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97317" y="3749040"/>
            <a:ext cx="327141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7317" y="3749040"/>
            <a:ext cx="3271418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32" name="Shape 30"/>
          <p:cNvSpPr/>
          <p:nvPr/>
        </p:nvSpPr>
        <p:spPr>
          <a:xfrm>
            <a:off x="8097317" y="3959352"/>
            <a:ext cx="3271418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07045" y="3749040"/>
            <a:ext cx="30519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(weak)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243621" y="4224528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wardNo, bedNo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188757" y="3310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097317" y="544068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 is identified only through its ward.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7, AGGREGATION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AdmittedTo Becomes Admission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a plain relationship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194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0552"/>
            <a:ext cx="21945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20240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395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23774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92024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2130552"/>
            <a:ext cx="237744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30368" y="192024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2395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wardNo, bedNo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228600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1947672"/>
            <a:ext cx="155448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AdmittedTo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29000" y="214884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21488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the relationship is an aggregate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863840" y="1920240"/>
            <a:ext cx="32918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920240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2130552"/>
            <a:ext cx="329184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192024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2395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admissionDate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63840" y="3520440"/>
            <a:ext cx="237744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52044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0" y="3730752"/>
            <a:ext cx="237744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73568" y="352044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3995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09760" y="3108960"/>
            <a:ext cx="9144" cy="41148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964692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AttendedBy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10911535" cy="16002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" y="47183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AGGREGATION HERE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047488"/>
            <a:ext cx="103994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attending doctor belongs to this admission, not to the patient or the ward alone, so AttendedBy hangs off the aggregate. After mapping, attendingDoctorNo is an ordinary foreign key.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8, LAYER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Invoices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945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39112"/>
            <a:ext cx="21945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828800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042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1089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2880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039112"/>
            <a:ext cx="310896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182880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30428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patientNo, drugCode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0" y="1828800"/>
            <a:ext cx="201168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1828800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0" y="2039112"/>
            <a:ext cx="201168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0928" y="182880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47504" y="2304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drugCode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34640" y="2240280"/>
            <a:ext cx="173736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1856232"/>
            <a:ext cx="155448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54680" y="205740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546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2057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77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0" y="2240280"/>
            <a:ext cx="1920240" cy="914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1856232"/>
            <a:ext cx="1371600" cy="274320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205740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15400" y="2057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15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10911535" cy="1463040"/>
          </a:xfrm>
          <a:prstGeom prst="roundRect">
            <a:avLst>
              <a:gd name="adj" fmla="val 437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42611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PRESCRIPTION IS AN ENTITY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4590288"/>
            <a:ext cx="10399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has its own dosage and schedule, and ties a patient, a doctor, and a drug together. Patient also has an Invoice per stay or visit (BilledTo, 1:N).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8, ASSEMBLED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EER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is the hub: Books → Appointment, AdmittedTo → Admission, For → Prescription, BilledTo → Invoice.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is attended by a Doctor. Doctor sits inside the two-level Staff hierarchy.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is weak under Ward; Ward is composed under Department.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all of it at once hides traps. Build by layer, check each against the brief.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Against the Brief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914400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 and their admissions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Patient; Admission (aggregate)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Ward, bed, admission and discharge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attributes; weak 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staff roles with role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specialization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Consultants, residents, supervision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2; supervisingConsultantNo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head, wards, beds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HeadedBy; ComposedOf; Owns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Attending doctor per admission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AttendedBy on Admission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 with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Appointment; ScheduledWith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 with dosage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and payment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Invoice; BilledTo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to Confirm With the Client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resident has exactly one supervising consultant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by the brief, never stated. Never zero, never two.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0911535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931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Nurse and Technician have no further sub-roles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gives no role detail beyond shift and labSpecialty. Confirm before treating it as final.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6537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design starts from client language. Entity and relationship tests do the sorting.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2549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can nest: Staff → Doctor → {Consultant, Resident}, when a subclass needs more structure.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78561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entities, composition, and aggregation each answer a specific sentence in the brief.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4573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both directions, and state every assumption to the client.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2026-10-03T18:06:04Z</dcterms:created>
  <dcterms:modified xsi:type="dcterms:W3CDTF">2026-10-03T18:06:04Z</dcterms:modified>
</cp:coreProperties>
</file>
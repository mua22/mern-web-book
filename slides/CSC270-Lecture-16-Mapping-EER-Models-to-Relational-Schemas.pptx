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EER Models to Relational Schemas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EER construct, one rule at a time, with its before and after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process, applied in a fixed order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weak entities, and 1:1, 1:N, M:N relationships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Specialization: three strategies, each worked on the same example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Categorization, aggregation, and EER constraints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Process, in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145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14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7145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714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6289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468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1:N, M:N relationships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24688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6289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2628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4688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5433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3543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383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72200" y="33832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35433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3543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33832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and aggregation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4577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457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2976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55869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ORDER MATTERS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" y="5916168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rules reuse relations the earlier rules created, so the order is fixed.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RULES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Multiplicity Tells You Where the FK Goes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86255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00400" y="1554480"/>
            <a:ext cx="8076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FK on the side with mandatory participation.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2743200"/>
            <a:ext cx="86255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0400" y="2743200"/>
            <a:ext cx="8076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FK on the N side, referencing the 1 side.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26080" y="3931920"/>
            <a:ext cx="862553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200400" y="3931920"/>
            <a:ext cx="8076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relation. Its key is both foreign keys.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11535" cy="1143000"/>
          </a:xfrm>
          <a:prstGeom prst="roundRect">
            <a:avLst>
              <a:gd name="adj" fmla="val 5600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3583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687568"/>
            <a:ext cx="103994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side can always supply a value, and whether each occurrence repeats. The answer picks the rule.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 Types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EER entity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relation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29184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Branch(branchNo, street, city, postcode)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 Main 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466344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48097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513892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 per strong entity. Its identifier becomes the primary key. Every simple attribute becomes a column.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Types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weak Bed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composite key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29184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(weak)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wardNo, bedNo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F24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0574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Bed (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wardNo  VARCHAR(4)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bedNo   SMALLINT 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(wardNo, bedNo),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(wardNo) REFERENCES Ward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DELETE CASCADE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5833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51297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CASCADE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45896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the partial key plus the owner's entire key. ON DELETE CASCADE follows from existence dependency.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Relationships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Department HeadedBy Doctor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FK on Department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10896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1089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4904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59352"/>
            <a:ext cx="31089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4904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3026664"/>
            <a:ext cx="9144" cy="722376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32049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HeadedBy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57400" y="3209544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3200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574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Department(deptNo, name, headDoctorNo)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headDoctorNo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400800" y="411480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56832" y="426110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SIDE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56832" y="4590288"/>
            <a:ext cx="4608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must have a head (total), but not every doctor heads one (partial). The FK goes on the total side.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Relationships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Staff WorksIn Department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FK on the many side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1089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4904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59352"/>
            <a:ext cx="31089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4904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2734056"/>
            <a:ext cx="9144" cy="101498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30586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57400" y="2916936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3200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574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Staff(staffNo, name, deptNo)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Amina Raza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Ahmed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400800" y="411480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56832" y="426110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56832" y="4590288"/>
            <a:ext cx="4608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relation. Every Staff row carries exactly one deptNo, the “many” side of WorksIn.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Relationships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Nurse AssignedTo Ward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 new relation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1089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4904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59352"/>
            <a:ext cx="31089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4904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2734056"/>
            <a:ext cx="9144" cy="1014984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30586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AssignedTo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57400" y="2916936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3200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574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NurseWardAssignment(staffNo, wardNo)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400800" y="411480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56832" y="426110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56832" y="4590288"/>
            <a:ext cx="4608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key alone identifies one assignment. The primary key is both foreign keys together.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5, EXTENDED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With Its Own Attributes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Client Views PropertyForRent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Viewing relation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1089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clientNo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3108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4904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59352"/>
            <a:ext cx="31089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4904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2651760"/>
            <a:ext cx="9144" cy="109728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57400" y="2834640"/>
            <a:ext cx="274320" cy="2743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320040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574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Viewing(clientNo, propertyNo, viewDate, comment)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2026-02-03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400800" y="411480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56832" y="426110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56832" y="4590288"/>
            <a:ext cx="4608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viewDate and comment belong to the pairing. The M:N rule applies, and the relation's key is both foreign keys.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Attributes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Patient phoneNumbers {}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its own relation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92608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292608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92608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phoneNumbers {}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PatientPhone(patientNo, phoneNumber)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0300-1234567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021-34567890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0333-9876543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466344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48097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513892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column holds one value, so a multi-valued attribute always becomes its own relation.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7, SPECIALIZATION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Strategies, One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297680" y="1554480"/>
            <a:ext cx="36576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554480"/>
            <a:ext cx="3657600" cy="420624"/>
          </a:xfrm>
          <a:prstGeom prst="roundRect">
            <a:avLst>
              <a:gd name="adj" fmla="val 17391"/>
            </a:avLst>
          </a:prstGeom>
          <a:solidFill>
            <a:srgbClr val="14181C"/>
          </a:solidFill>
          <a:ln/>
        </p:spPr>
      </p:sp>
      <p:sp>
        <p:nvSpPr>
          <p:cNvPr id="6" name="Shape 4"/>
          <p:cNvSpPr/>
          <p:nvPr/>
        </p:nvSpPr>
        <p:spPr>
          <a:xfrm>
            <a:off x="4297680" y="1764792"/>
            <a:ext cx="3657600" cy="210312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07408" y="1554480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43984" y="202996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cnic, name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26517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2651760" cy="420624"/>
          </a:xfrm>
          <a:prstGeom prst="roundRect">
            <a:avLst>
              <a:gd name="adj" fmla="val 17391"/>
            </a:avLst>
          </a:prstGeom>
          <a:solidFill>
            <a:srgbClr val="2FE6C4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73552"/>
            <a:ext cx="2651760" cy="210312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6324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3538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licenseNo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3063240"/>
            <a:ext cx="26517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3063240"/>
            <a:ext cx="265176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273552"/>
            <a:ext cx="265176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4608" y="306324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3538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778240" y="306324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306324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8B7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0" y="3273552"/>
            <a:ext cx="2743200" cy="210312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87968" y="3063240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3538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labSpecialty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965960" y="2697480"/>
            <a:ext cx="4160520" cy="3657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697480"/>
            <a:ext cx="45720" cy="3657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697480"/>
            <a:ext cx="4023360" cy="365760"/>
          </a:xfrm>
          <a:prstGeom prst="line">
            <a:avLst/>
          </a:prstGeom>
          <a:noFill/>
          <a:ln w="22225">
            <a:solidFill>
              <a:srgbClr val="9AA1A9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3484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subclass-only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Disjoint and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Duplicated columns; UNION for all staff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superclass + subclasses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constraints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join to rebuild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single table +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Disjoint, small subclasses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NULLs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A, WORKED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Subclass-Only: One Relation per Leaf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is disjoint and total, so the superclass row is never needed on its own.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Doctor(staffNo, cnic, name, licenseNo, fee)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50592"/>
          <a:ext cx="10911535" cy="914400"/>
        </p:xfrm>
        <a:graphic>
          <a:graphicData uri="http://schemas.openxmlformats.org/drawingml/2006/table">
            <a:tbl>
              <a:tblPr/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Amina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PMC-4471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4290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Nurse(staffNo, cnic, name, shift)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76472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37405-…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Ahmed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754880"/>
            <a:ext cx="10911535" cy="1234440"/>
          </a:xfrm>
          <a:prstGeom prst="roundRect">
            <a:avLst>
              <a:gd name="adj" fmla="val 5185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96112" y="490118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5230368"/>
            <a:ext cx="1039947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columns (cnic, name) are copied into every leaf. “All staff” needs a UNION across the leaves.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C, WORKED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 With a Discriminator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subclass column folds into one table. staffType says which subclass a row is.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Staff(staffNo, name, staffType, licenseNo, shift, labSpecialty)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04872"/>
          <a:ext cx="10911535" cy="914400"/>
        </p:xfrm>
        <a:graphic>
          <a:graphicData uri="http://schemas.openxmlformats.org/drawingml/2006/table">
            <a:tbl>
              <a:tblPr/>
              <a:tblGrid>
                <a:gridCol w="1818589"/>
                <a:gridCol w="1818589"/>
                <a:gridCol w="1818589"/>
                <a:gridCol w="1818589"/>
                <a:gridCol w="1818589"/>
                <a:gridCol w="1818589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labSpecialty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Amina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PMC-4471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74904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1F242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Staff ADD CONSTRAINT chk_staff_type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(staffType IN ('Doctor','Nurse','Technician','Administrator'));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10911535" cy="1005840"/>
          </a:xfrm>
          <a:prstGeom prst="roundRect">
            <a:avLst>
              <a:gd name="adj" fmla="val 6364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51755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5504688"/>
            <a:ext cx="10399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grow with each subclass: the attribute overload from Lecture 14, back in the schema.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B, WORKED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+ Subclasses for the Hospital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Staff(staffNo, cnic, name, dateJoined, deptNo)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10512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Amina Raza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26060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Doctor(staffNo, licenseNo, consultationFee)</a:t>
            </a:r>
            <a:endParaRPr lang="en-US" sz="1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53512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consultationFee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PMC-4471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40690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Consultant(staffNo, yearsOfExperience, officeRoomNo)</a:t>
            </a:r>
            <a:endParaRPr lang="en-US" sz="14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16552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yearsOfExperience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officeRoomNo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C-204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40080" y="5349240"/>
            <a:ext cx="10911535" cy="1051560"/>
          </a:xfrm>
          <a:prstGeom prst="roundRect">
            <a:avLst>
              <a:gd name="adj" fmla="val 608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96112" y="54955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STRATEGY B FOR THE HOSPITAL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96112" y="5824728"/>
            <a:ext cx="103994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Resident.supervisingConsultantNo points into Consultant.staffNo, not Staff, because only consultants supervise. Strategy B composes across both levels.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(Union Types)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RegisteredOwner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surrogate key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92608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2926080" cy="420624"/>
          </a:xfrm>
          <a:prstGeom prst="roundRect">
            <a:avLst>
              <a:gd name="adj" fmla="val 17391"/>
            </a:avLst>
          </a:prstGeom>
          <a:solidFill>
            <a:srgbClr val="14181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926080" cy="210312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RegisteredOwner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ownerSince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RegisteredOwner(ownerNo, ownerSince)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21992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ownerSince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2019-03-01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0" y="3291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Person(cnic, name, ownerNo)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639312"/>
          <a:ext cx="5120640" cy="91440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35202-…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Hina Tariq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0080" y="5257800"/>
            <a:ext cx="10911535" cy="1097280"/>
          </a:xfrm>
          <a:prstGeom prst="roundRect">
            <a:avLst>
              <a:gd name="adj" fmla="val 5833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6112" y="54041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573328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Bank, and Company have unrelated keys, so the category gets a surrogate key. Each owner type gets a nullable FK to it.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Leaves No Special Trace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1F24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Admission (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admissionNo    VARCHAR(8) PRIMARY KEY,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admissionDate DATE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patientNo     VARCHAR(6) NOT NULL REFERENCES Patient,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wardNo        VARCHAR(4)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bedNo         SMALLINT   NOT NULL,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attendingDoctorNo VARCHAR(6) NOT NULL REFERENCES Doctor,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(wardNo, bedNo) REFERENCES Bed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508760"/>
            <a:ext cx="3867912" cy="3749040"/>
          </a:xfrm>
          <a:prstGeom prst="roundRect">
            <a:avLst>
              <a:gd name="adj" fmla="val 170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36992" y="165506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936992" y="1984248"/>
            <a:ext cx="33558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maps like any entity with attributes. Its outer relationship, AttendedBy, becomes one ordinary foreign key.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5486400"/>
            <a:ext cx="10911535" cy="868680"/>
          </a:xfrm>
          <a:prstGeom prst="roundRect">
            <a:avLst>
              <a:gd name="adj" fmla="val 7368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56327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5961888"/>
            <a:ext cx="10399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is a modeling tool. Nothing special survives into the DDL.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10, CONSTRAINTS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Participation and 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mandatory (1,1)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NOT NULL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9184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5875">
            <a:solidFill>
              <a:srgbClr val="1F24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3291840" cy="21031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87452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PropertyForRent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35000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b="1" u="sng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propertyNo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branchNo (1,1)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F24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branchNo  VARCHAR(4)  NOT NULL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under Strategy C: a CHECK on the discriminator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F24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9776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(staffType IN ('Doctor','Nurse','Technician','Administrator'))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11535" cy="1097280"/>
          </a:xfrm>
          <a:prstGeom prst="roundRect">
            <a:avLst>
              <a:gd name="adj" fmla="val 5833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52669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SURVIVES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59612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participation maps to NOT NULL. Disjointness maps to CHECK only under Strategy C.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10, THE GAP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Foreign Key Cannot Enforce (1,*)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11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every Department has at least one Staff member.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stops a Staff row pointing nowhere, and stops one row pointing at two departments.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require that some Staff row points at every Department.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10911535" cy="1371600"/>
          </a:xfrm>
          <a:prstGeom prst="roundRect">
            <a:avLst>
              <a:gd name="adj" fmla="val 4667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8114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COMMON GAP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91032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Department with no staff: the database accepts it. Enforce (1,*) with a trigger or an application check.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EER Construct, Mapped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11535" cy="914400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construct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mapping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relation; identifier is the primary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key + owner's entire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on the mandatory-participation 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on the many 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relation; key is both foreign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Multi-valued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relation; owner's key + attribute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A, B, or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maps as usual; outer link is one FK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plus ON DELETE CASCADE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Surrogate key; nullable FK per superclass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6537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runs in a fixed order, because later rules reuse relations the earlier rules created.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2549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and 1:N need only correct FK placement; M:N and multi-valued attributes always need a relation.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78561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 is the safe default, and the only one that composes across multi-level hierarchies.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74573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constraints survive to SQL only partially: a true (1,*) needs a trigger or application check.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814255" y="64373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2026-10-03T18:02:42Z</dcterms:created>
  <dcterms:modified xsi:type="dcterms:W3CDTF">2026-10-03T18:02:42Z</dcterms:modified>
</cp:coreProperties>
</file>
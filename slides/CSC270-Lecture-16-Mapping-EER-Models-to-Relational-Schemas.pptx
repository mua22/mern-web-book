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2148840"/>
            <a:ext cx="10515600" cy="457200"/>
          </a:xfrm>
          <a:prstGeom prst="rect">
            <a:avLst/>
          </a:prstGeom>
          <a:noFill/>
          <a:ln/>
        </p:spPr>
        <p:txBody>
          <a:bodyPr wrap="square" lIns="0" tIns="0" rIns="0" bIns="0" rtlCol="0" anchor="ctr"/>
          <a:lstStyle/>
          <a:p>
            <a:pPr indent="0" marL="0">
              <a:buNone/>
            </a:pPr>
            <a:r>
              <a:rPr lang="en-US" sz="1600" b="1" spc="300" kern="0" dirty="0">
                <a:solidFill>
                  <a:srgbClr val="2FE6C4"/>
                </a:solidFill>
                <a:latin typeface="Calibri" pitchFamily="34" charset="0"/>
                <a:ea typeface="Calibri" pitchFamily="34" charset="-122"/>
                <a:cs typeface="Calibri" pitchFamily="34" charset="-120"/>
              </a:rPr>
              <a:t>LECTURE 16</a:t>
            </a:r>
            <a:endParaRPr lang="en-US" sz="1600" dirty="0"/>
          </a:p>
        </p:txBody>
      </p:sp>
      <p:sp>
        <p:nvSpPr>
          <p:cNvPr id="3" name="Text 1"/>
          <p:cNvSpPr txBox="1"/>
          <p:nvPr/>
        </p:nvSpPr>
        <p:spPr>
          <a:xfrm>
            <a:off x="822960" y="2606040"/>
            <a:ext cx="10515600" cy="17373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Mapping EER Models to Relational Schemas</a:t>
            </a:r>
            <a:endParaRPr lang="en-US" sz="4000" dirty="0"/>
          </a:p>
        </p:txBody>
      </p:sp>
      <p:sp>
        <p:nvSpPr>
          <p:cNvPr id="4" name="Text 2"/>
          <p:cNvSpPr txBox="1"/>
          <p:nvPr/>
        </p:nvSpPr>
        <p:spPr>
          <a:xfrm>
            <a:off x="822960" y="4343400"/>
            <a:ext cx="10515600" cy="457200"/>
          </a:xfrm>
          <a:prstGeom prst="rect">
            <a:avLst/>
          </a:prstGeom>
          <a:noFill/>
          <a:ln/>
        </p:spPr>
        <p:txBody>
          <a:bodyPr wrap="square" lIns="0" tIns="0" rIns="0" bIns="0" rtlCol="0" anchor="ctr"/>
          <a:lstStyle/>
          <a:p>
            <a:pPr indent="0" marL="0">
              <a:buNone/>
            </a:pPr>
            <a:r>
              <a:rPr lang="en-US" sz="1800" dirty="0">
                <a:solidFill>
                  <a:srgbClr val="2FE6C4"/>
                </a:solidFill>
                <a:latin typeface="Calibri" pitchFamily="34" charset="0"/>
                <a:ea typeface="Calibri" pitchFamily="34" charset="-122"/>
                <a:cs typeface="Calibri" pitchFamily="34" charset="-120"/>
              </a:rPr>
              <a:t>CSC270 · Database Systems</a:t>
            </a:r>
            <a:endParaRPr lang="en-US" sz="1800" dirty="0"/>
          </a:p>
        </p:txBody>
      </p:sp>
      <p:sp>
        <p:nvSpPr>
          <p:cNvPr id="5" name="Text 3"/>
          <p:cNvSpPr txBox="1"/>
          <p:nvPr/>
        </p:nvSpPr>
        <p:spPr>
          <a:xfrm>
            <a:off x="822960" y="4754880"/>
            <a:ext cx="10515600" cy="365760"/>
          </a:xfrm>
          <a:prstGeom prst="rect">
            <a:avLst/>
          </a:prstGeom>
          <a:noFill/>
          <a:ln/>
        </p:spPr>
        <p:txBody>
          <a:bodyPr wrap="square" lIns="0" tIns="0" rIns="0" bIns="0" rtlCol="0" anchor="ctr"/>
          <a:lstStyle/>
          <a:p>
            <a:pPr indent="0" marL="0">
              <a:buNone/>
            </a:pPr>
            <a:r>
              <a:rPr lang="en-US" sz="1300" dirty="0">
                <a:solidFill>
                  <a:srgbClr val="8A939B"/>
                </a:solidFill>
                <a:latin typeface="Calibri" pitchFamily="34" charset="0"/>
                <a:ea typeface="Calibri" pitchFamily="34" charset="-122"/>
                <a:cs typeface="Calibri" pitchFamily="34" charset="-120"/>
              </a:rPr>
              <a:t>COMSATS University Islamabad, Lahore Campus</a:t>
            </a:r>
            <a:endParaRPr lang="en-US" sz="1300" dirty="0"/>
          </a:p>
        </p:txBody>
      </p:sp>
      <p:sp>
        <p:nvSpPr>
          <p:cNvPr id="6" name="Text 4"/>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In This Lecture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2</a:t>
            </a:r>
            <a:endParaRPr lang="en-US" sz="1000" dirty="0"/>
          </a:p>
        </p:txBody>
      </p:sp>
      <p:sp>
        <p:nvSpPr>
          <p:cNvPr id="4" name="Text 2"/>
          <p:cNvSpPr txBox="1"/>
          <p:nvPr/>
        </p:nvSpPr>
        <p:spPr>
          <a:xfrm>
            <a:off x="640080" y="1280160"/>
            <a:ext cx="10881360" cy="5120640"/>
          </a:xfrm>
          <a:prstGeom prst="rect">
            <a:avLst/>
          </a:prstGeom>
          <a:noFill/>
          <a:ln/>
        </p:spPr>
        <p:txBody>
          <a:bodyPr wrap="square" lIns="0" tIns="0" rIns="0" bIns="0" rtlCol="0" anchor="t"/>
          <a:lstStyle/>
          <a:p>
            <a:pPr marL="342900" indent="-342900">
              <a:spcAft>
                <a:spcPts val="1600"/>
              </a:spcAft>
              <a:buSzPct val="100000"/>
              <a:buChar char="•"/>
            </a:pPr>
            <a:r>
              <a:rPr lang="en-US" sz="1650" dirty="0">
                <a:solidFill>
                  <a:srgbClr val="1F2429"/>
                </a:solidFill>
                <a:latin typeface="Calibri" pitchFamily="34" charset="0"/>
                <a:ea typeface="Calibri" pitchFamily="34" charset="-122"/>
                <a:cs typeface="Calibri" pitchFamily="34" charset="-120"/>
              </a:rPr>
              <a:t>The overall mapping process, as an ordered sequence of rules</a:t>
            </a:r>
            <a:endParaRPr lang="en-US" sz="1650" dirty="0"/>
          </a:p>
          <a:p>
            <a:pPr marL="342900" indent="-342900">
              <a:spcAft>
                <a:spcPts val="1600"/>
              </a:spcAft>
              <a:buSzPct val="100000"/>
              <a:buChar char="•"/>
            </a:pPr>
            <a:r>
              <a:rPr lang="en-US" sz="1650" dirty="0">
                <a:solidFill>
                  <a:srgbClr val="1F2429"/>
                </a:solidFill>
                <a:latin typeface="Calibri" pitchFamily="34" charset="0"/>
                <a:ea typeface="Calibri" pitchFamily="34" charset="-122"/>
                <a:cs typeface="Calibri" pitchFamily="34" charset="-120"/>
              </a:rPr>
              <a:t>Mapping strong entity types, and weak entity types (composite keys)</a:t>
            </a:r>
            <a:endParaRPr lang="en-US" sz="1650" dirty="0"/>
          </a:p>
          <a:p>
            <a:pPr marL="342900" indent="-342900">
              <a:spcAft>
                <a:spcPts val="1600"/>
              </a:spcAft>
              <a:buSzPct val="100000"/>
              <a:buChar char="•"/>
            </a:pPr>
            <a:r>
              <a:rPr lang="en-US" sz="1650" dirty="0">
                <a:solidFill>
                  <a:srgbClr val="1F2429"/>
                </a:solidFill>
                <a:latin typeface="Calibri" pitchFamily="34" charset="0"/>
                <a:ea typeface="Calibri" pitchFamily="34" charset="-122"/>
                <a:cs typeface="Calibri" pitchFamily="34" charset="-120"/>
              </a:rPr>
              <a:t>Mapping 1:1, 1:N, and M:N relationships</a:t>
            </a:r>
            <a:endParaRPr lang="en-US" sz="1650" dirty="0"/>
          </a:p>
          <a:p>
            <a:pPr marL="342900" indent="-342900">
              <a:spcAft>
                <a:spcPts val="1600"/>
              </a:spcAft>
              <a:buSzPct val="100000"/>
              <a:buChar char="•"/>
            </a:pPr>
            <a:r>
              <a:rPr lang="en-US" sz="1650" dirty="0">
                <a:solidFill>
                  <a:srgbClr val="1F2429"/>
                </a:solidFill>
                <a:latin typeface="Calibri" pitchFamily="34" charset="0"/>
                <a:ea typeface="Calibri" pitchFamily="34" charset="-122"/>
                <a:cs typeface="Calibri" pitchFamily="34" charset="-120"/>
              </a:rPr>
              <a:t>Mapping multi-valued attributes</a:t>
            </a:r>
            <a:endParaRPr lang="en-US" sz="1650" dirty="0"/>
          </a:p>
          <a:p>
            <a:pPr marL="342900" indent="-342900">
              <a:spcAft>
                <a:spcPts val="1600"/>
              </a:spcAft>
              <a:buSzPct val="100000"/>
              <a:buChar char="•"/>
            </a:pPr>
            <a:r>
              <a:rPr lang="en-US" sz="1650" dirty="0">
                <a:solidFill>
                  <a:srgbClr val="1F2429"/>
                </a:solidFill>
                <a:latin typeface="Calibri" pitchFamily="34" charset="0"/>
                <a:ea typeface="Calibri" pitchFamily="34" charset="-122"/>
                <a:cs typeface="Calibri" pitchFamily="34" charset="-120"/>
              </a:rPr>
              <a:t>Mapping specialization/generalization — three competing strategies, and how to choose</a:t>
            </a:r>
            <a:endParaRPr lang="en-US" sz="1650" dirty="0"/>
          </a:p>
          <a:p>
            <a:pPr marL="342900" indent="-342900">
              <a:spcAft>
                <a:spcPts val="1600"/>
              </a:spcAft>
              <a:buSzPct val="100000"/>
              <a:buChar char="•"/>
            </a:pPr>
            <a:r>
              <a:rPr lang="en-US" sz="1650" dirty="0">
                <a:solidFill>
                  <a:srgbClr val="1F2429"/>
                </a:solidFill>
                <a:latin typeface="Calibri" pitchFamily="34" charset="0"/>
                <a:ea typeface="Calibri" pitchFamily="34" charset="-122"/>
                <a:cs typeface="Calibri" pitchFamily="34" charset="-120"/>
              </a:rPr>
              <a:t>Mapping categorization (union types) and aggregation</a:t>
            </a:r>
            <a:endParaRPr lang="en-US" sz="1650" dirty="0"/>
          </a:p>
          <a:p>
            <a:pPr marL="342900" indent="-342900">
              <a:spcAft>
                <a:spcPts val="1600"/>
              </a:spcAft>
              <a:buSzPct val="100000"/>
              <a:buChar char="•"/>
            </a:pPr>
            <a:r>
              <a:rPr lang="en-US" sz="1650" dirty="0">
                <a:solidFill>
                  <a:srgbClr val="1F2429"/>
                </a:solidFill>
                <a:latin typeface="Calibri" pitchFamily="34" charset="0"/>
                <a:ea typeface="Calibri" pitchFamily="34" charset="-122"/>
                <a:cs typeface="Calibri" pitchFamily="34" charset="-120"/>
              </a:rPr>
              <a:t>Mapping EER constraints into CHECK, NOT NULL, and their real limits</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The Mapping Process, Applied in Order</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3</a:t>
            </a:r>
            <a:endParaRPr lang="en-US" sz="1000" dirty="0"/>
          </a:p>
        </p:txBody>
      </p:sp>
      <p:sp>
        <p:nvSpPr>
          <p:cNvPr id="4" name="Text 2"/>
          <p:cNvSpPr txBox="1"/>
          <p:nvPr/>
        </p:nvSpPr>
        <p:spPr>
          <a:xfrm>
            <a:off x="640080" y="914400"/>
            <a:ext cx="10881360" cy="548640"/>
          </a:xfrm>
          <a:prstGeom prst="rect">
            <a:avLst/>
          </a:prstGeom>
          <a:noFill/>
          <a:ln/>
        </p:spPr>
        <p:txBody>
          <a:bodyPr wrap="square" lIns="0" tIns="0" rIns="0" bIns="0" rtlCol="0" anchor="ctr"/>
          <a:lstStyle/>
          <a:p>
            <a:pPr indent="0" marL="0">
              <a:buNone/>
            </a:pPr>
            <a:r>
              <a:rPr lang="en-US" sz="1250" dirty="0">
                <a:solidFill>
                  <a:srgbClr val="1F2429"/>
                </a:solidFill>
                <a:latin typeface="Calibri" pitchFamily="34" charset="0"/>
                <a:ea typeface="Calibri" pitchFamily="34" charset="-122"/>
                <a:cs typeface="Calibri" pitchFamily="34" charset="-120"/>
              </a:rPr>
              <a:t>An EER diagram has to be mapped down into relations, primary keys, and foreign keys before it becomes a real schema — in a fixed order, because later rules depend on relations the earlier rules already produced.</a:t>
            </a:r>
            <a:endParaRPr lang="en-US" sz="1250" dirty="0"/>
          </a:p>
        </p:txBody>
      </p:sp>
      <p:sp>
        <p:nvSpPr>
          <p:cNvPr id="5" name="Shape 3"/>
          <p:cNvSpPr/>
          <p:nvPr/>
        </p:nvSpPr>
        <p:spPr>
          <a:xfrm>
            <a:off x="1463040" y="1600200"/>
            <a:ext cx="9235440" cy="581297"/>
          </a:xfrm>
          <a:prstGeom prst="roundRect">
            <a:avLst>
              <a:gd name="adj" fmla="val 12584"/>
            </a:avLst>
          </a:prstGeom>
          <a:solidFill>
            <a:srgbClr val="2FE6C4"/>
          </a:solidFill>
          <a:ln/>
        </p:spPr>
      </p:sp>
      <p:sp>
        <p:nvSpPr>
          <p:cNvPr id="6" name="Text 4"/>
          <p:cNvSpPr txBox="1"/>
          <p:nvPr/>
        </p:nvSpPr>
        <p:spPr>
          <a:xfrm>
            <a:off x="1691640" y="1673352"/>
            <a:ext cx="87782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1. Strong entity types</a:t>
            </a:r>
            <a:endParaRPr lang="en-US" sz="1400" dirty="0"/>
          </a:p>
        </p:txBody>
      </p:sp>
      <p:sp>
        <p:nvSpPr>
          <p:cNvPr id="7" name="Text 5"/>
          <p:cNvSpPr txBox="1"/>
          <p:nvPr/>
        </p:nvSpPr>
        <p:spPr>
          <a:xfrm>
            <a:off x="1691640" y="1929384"/>
            <a:ext cx="8778240" cy="197249"/>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One relation per entity type, its identifier as primary key</a:t>
            </a:r>
            <a:endParaRPr lang="en-US" sz="1050" dirty="0"/>
          </a:p>
        </p:txBody>
      </p:sp>
      <p:sp>
        <p:nvSpPr>
          <p:cNvPr id="8" name="Shape 6"/>
          <p:cNvSpPr/>
          <p:nvPr/>
        </p:nvSpPr>
        <p:spPr>
          <a:xfrm rot="5400000">
            <a:off x="6007608" y="2188355"/>
            <a:ext cx="146304" cy="123444"/>
          </a:xfrm>
          <a:prstGeom prst="rightArrow">
            <a:avLst/>
          </a:prstGeom>
          <a:solidFill>
            <a:srgbClr val="8A939B"/>
          </a:solidFill>
          <a:ln/>
        </p:spPr>
      </p:sp>
      <p:sp>
        <p:nvSpPr>
          <p:cNvPr id="9" name="Shape 7"/>
          <p:cNvSpPr/>
          <p:nvPr/>
        </p:nvSpPr>
        <p:spPr>
          <a:xfrm>
            <a:off x="1463040" y="2318657"/>
            <a:ext cx="9235440" cy="581297"/>
          </a:xfrm>
          <a:prstGeom prst="roundRect">
            <a:avLst>
              <a:gd name="adj" fmla="val 12584"/>
            </a:avLst>
          </a:prstGeom>
          <a:solidFill>
            <a:srgbClr val="8B7FD9"/>
          </a:solidFill>
          <a:ln/>
        </p:spPr>
      </p:sp>
      <p:sp>
        <p:nvSpPr>
          <p:cNvPr id="10" name="Text 8"/>
          <p:cNvSpPr txBox="1"/>
          <p:nvPr/>
        </p:nvSpPr>
        <p:spPr>
          <a:xfrm>
            <a:off x="1691640" y="2391809"/>
            <a:ext cx="87782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2. Weak entity types</a:t>
            </a:r>
            <a:endParaRPr lang="en-US" sz="1400" dirty="0"/>
          </a:p>
        </p:txBody>
      </p:sp>
      <p:sp>
        <p:nvSpPr>
          <p:cNvPr id="11" name="Text 9"/>
          <p:cNvSpPr txBox="1"/>
          <p:nvPr/>
        </p:nvSpPr>
        <p:spPr>
          <a:xfrm>
            <a:off x="1691640" y="2647841"/>
            <a:ext cx="8778240" cy="197249"/>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Composite key: partial key + owner's entire primary key</a:t>
            </a:r>
            <a:endParaRPr lang="en-US" sz="1050" dirty="0"/>
          </a:p>
        </p:txBody>
      </p:sp>
      <p:sp>
        <p:nvSpPr>
          <p:cNvPr id="12" name="Shape 10"/>
          <p:cNvSpPr/>
          <p:nvPr/>
        </p:nvSpPr>
        <p:spPr>
          <a:xfrm rot="5400000">
            <a:off x="6007608" y="2906812"/>
            <a:ext cx="146304" cy="123444"/>
          </a:xfrm>
          <a:prstGeom prst="rightArrow">
            <a:avLst/>
          </a:prstGeom>
          <a:solidFill>
            <a:srgbClr val="8A939B"/>
          </a:solidFill>
          <a:ln/>
        </p:spPr>
      </p:sp>
      <p:sp>
        <p:nvSpPr>
          <p:cNvPr id="13" name="Shape 11"/>
          <p:cNvSpPr/>
          <p:nvPr/>
        </p:nvSpPr>
        <p:spPr>
          <a:xfrm>
            <a:off x="1463040" y="3037114"/>
            <a:ext cx="9235440" cy="581297"/>
          </a:xfrm>
          <a:prstGeom prst="roundRect">
            <a:avLst>
              <a:gd name="adj" fmla="val 12584"/>
            </a:avLst>
          </a:prstGeom>
          <a:solidFill>
            <a:srgbClr val="E8A33D"/>
          </a:solidFill>
          <a:ln/>
        </p:spPr>
      </p:sp>
      <p:sp>
        <p:nvSpPr>
          <p:cNvPr id="14" name="Text 12"/>
          <p:cNvSpPr txBox="1"/>
          <p:nvPr/>
        </p:nvSpPr>
        <p:spPr>
          <a:xfrm>
            <a:off x="1691640" y="3110266"/>
            <a:ext cx="87782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3. Relationships (1:1, 1:N, M:N)</a:t>
            </a:r>
            <a:endParaRPr lang="en-US" sz="1400" dirty="0"/>
          </a:p>
        </p:txBody>
      </p:sp>
      <p:sp>
        <p:nvSpPr>
          <p:cNvPr id="15" name="Text 13"/>
          <p:cNvSpPr txBox="1"/>
          <p:nvPr/>
        </p:nvSpPr>
        <p:spPr>
          <a:xfrm>
            <a:off x="1691640" y="3366298"/>
            <a:ext cx="8778240" cy="197249"/>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Foreign key placement, or a new relation for M:N</a:t>
            </a:r>
            <a:endParaRPr lang="en-US" sz="1050" dirty="0"/>
          </a:p>
        </p:txBody>
      </p:sp>
      <p:sp>
        <p:nvSpPr>
          <p:cNvPr id="16" name="Shape 14"/>
          <p:cNvSpPr/>
          <p:nvPr/>
        </p:nvSpPr>
        <p:spPr>
          <a:xfrm rot="5400000">
            <a:off x="6007608" y="3625269"/>
            <a:ext cx="146304" cy="123444"/>
          </a:xfrm>
          <a:prstGeom prst="rightArrow">
            <a:avLst/>
          </a:prstGeom>
          <a:solidFill>
            <a:srgbClr val="8A939B"/>
          </a:solidFill>
          <a:ln/>
        </p:spPr>
      </p:sp>
      <p:sp>
        <p:nvSpPr>
          <p:cNvPr id="17" name="Shape 15"/>
          <p:cNvSpPr/>
          <p:nvPr/>
        </p:nvSpPr>
        <p:spPr>
          <a:xfrm>
            <a:off x="1463040" y="3755571"/>
            <a:ext cx="9235440" cy="581297"/>
          </a:xfrm>
          <a:prstGeom prst="roundRect">
            <a:avLst>
              <a:gd name="adj" fmla="val 12584"/>
            </a:avLst>
          </a:prstGeom>
          <a:solidFill>
            <a:srgbClr val="2FE6C4"/>
          </a:solidFill>
          <a:ln/>
        </p:spPr>
      </p:sp>
      <p:sp>
        <p:nvSpPr>
          <p:cNvPr id="18" name="Text 16"/>
          <p:cNvSpPr txBox="1"/>
          <p:nvPr/>
        </p:nvSpPr>
        <p:spPr>
          <a:xfrm>
            <a:off x="1691640" y="3828723"/>
            <a:ext cx="87782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4. Multi-valued attributes</a:t>
            </a:r>
            <a:endParaRPr lang="en-US" sz="1400" dirty="0"/>
          </a:p>
        </p:txBody>
      </p:sp>
      <p:sp>
        <p:nvSpPr>
          <p:cNvPr id="19" name="Text 17"/>
          <p:cNvSpPr txBox="1"/>
          <p:nvPr/>
        </p:nvSpPr>
        <p:spPr>
          <a:xfrm>
            <a:off x="1691640" y="4084755"/>
            <a:ext cx="8778240" cy="197249"/>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Always become their own relation</a:t>
            </a:r>
            <a:endParaRPr lang="en-US" sz="1050" dirty="0"/>
          </a:p>
        </p:txBody>
      </p:sp>
      <p:sp>
        <p:nvSpPr>
          <p:cNvPr id="20" name="Shape 18"/>
          <p:cNvSpPr/>
          <p:nvPr/>
        </p:nvSpPr>
        <p:spPr>
          <a:xfrm rot="5400000">
            <a:off x="6007608" y="4343727"/>
            <a:ext cx="146304" cy="123444"/>
          </a:xfrm>
          <a:prstGeom prst="rightArrow">
            <a:avLst/>
          </a:prstGeom>
          <a:solidFill>
            <a:srgbClr val="8A939B"/>
          </a:solidFill>
          <a:ln/>
        </p:spPr>
      </p:sp>
      <p:sp>
        <p:nvSpPr>
          <p:cNvPr id="21" name="Shape 19"/>
          <p:cNvSpPr/>
          <p:nvPr/>
        </p:nvSpPr>
        <p:spPr>
          <a:xfrm>
            <a:off x="1463040" y="4474029"/>
            <a:ext cx="9235440" cy="581297"/>
          </a:xfrm>
          <a:prstGeom prst="roundRect">
            <a:avLst>
              <a:gd name="adj" fmla="val 12584"/>
            </a:avLst>
          </a:prstGeom>
          <a:solidFill>
            <a:srgbClr val="8B7FD9"/>
          </a:solidFill>
          <a:ln/>
        </p:spPr>
      </p:sp>
      <p:sp>
        <p:nvSpPr>
          <p:cNvPr id="22" name="Text 20"/>
          <p:cNvSpPr txBox="1"/>
          <p:nvPr/>
        </p:nvSpPr>
        <p:spPr>
          <a:xfrm>
            <a:off x="1691640" y="4547181"/>
            <a:ext cx="87782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5. Specialization / generalization</a:t>
            </a:r>
            <a:endParaRPr lang="en-US" sz="1400" dirty="0"/>
          </a:p>
        </p:txBody>
      </p:sp>
      <p:sp>
        <p:nvSpPr>
          <p:cNvPr id="23" name="Text 21"/>
          <p:cNvSpPr txBox="1"/>
          <p:nvPr/>
        </p:nvSpPr>
        <p:spPr>
          <a:xfrm>
            <a:off x="1691640" y="4803213"/>
            <a:ext cx="8778240" cy="197249"/>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Choose a strategy — several are viable</a:t>
            </a:r>
            <a:endParaRPr lang="en-US" sz="1050" dirty="0"/>
          </a:p>
        </p:txBody>
      </p:sp>
      <p:sp>
        <p:nvSpPr>
          <p:cNvPr id="24" name="Shape 22"/>
          <p:cNvSpPr/>
          <p:nvPr/>
        </p:nvSpPr>
        <p:spPr>
          <a:xfrm rot="5400000">
            <a:off x="6007608" y="5062184"/>
            <a:ext cx="146304" cy="123444"/>
          </a:xfrm>
          <a:prstGeom prst="rightArrow">
            <a:avLst/>
          </a:prstGeom>
          <a:solidFill>
            <a:srgbClr val="8A939B"/>
          </a:solidFill>
          <a:ln/>
        </p:spPr>
      </p:sp>
      <p:sp>
        <p:nvSpPr>
          <p:cNvPr id="25" name="Shape 23"/>
          <p:cNvSpPr/>
          <p:nvPr/>
        </p:nvSpPr>
        <p:spPr>
          <a:xfrm>
            <a:off x="1463040" y="5192486"/>
            <a:ext cx="9235440" cy="581297"/>
          </a:xfrm>
          <a:prstGeom prst="roundRect">
            <a:avLst>
              <a:gd name="adj" fmla="val 12584"/>
            </a:avLst>
          </a:prstGeom>
          <a:solidFill>
            <a:srgbClr val="E8A33D"/>
          </a:solidFill>
          <a:ln/>
        </p:spPr>
      </p:sp>
      <p:sp>
        <p:nvSpPr>
          <p:cNvPr id="26" name="Text 24"/>
          <p:cNvSpPr txBox="1"/>
          <p:nvPr/>
        </p:nvSpPr>
        <p:spPr>
          <a:xfrm>
            <a:off x="1691640" y="5265638"/>
            <a:ext cx="87782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6. Categorization and aggregation</a:t>
            </a:r>
            <a:endParaRPr lang="en-US" sz="1400" dirty="0"/>
          </a:p>
        </p:txBody>
      </p:sp>
      <p:sp>
        <p:nvSpPr>
          <p:cNvPr id="27" name="Text 25"/>
          <p:cNvSpPr txBox="1"/>
          <p:nvPr/>
        </p:nvSpPr>
        <p:spPr>
          <a:xfrm>
            <a:off x="1691640" y="5521670"/>
            <a:ext cx="8778240" cy="197249"/>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Both reduce to relations already produced by steps 1–5</a:t>
            </a:r>
            <a:endParaRPr lang="en-US" sz="1050" dirty="0"/>
          </a:p>
        </p:txBody>
      </p:sp>
      <p:sp>
        <p:nvSpPr>
          <p:cNvPr id="28" name="Shape 26"/>
          <p:cNvSpPr/>
          <p:nvPr/>
        </p:nvSpPr>
        <p:spPr>
          <a:xfrm rot="5400000">
            <a:off x="6007608" y="5780641"/>
            <a:ext cx="146304" cy="123444"/>
          </a:xfrm>
          <a:prstGeom prst="rightArrow">
            <a:avLst/>
          </a:prstGeom>
          <a:solidFill>
            <a:srgbClr val="8A939B"/>
          </a:solidFill>
          <a:ln/>
        </p:spPr>
      </p:sp>
      <p:sp>
        <p:nvSpPr>
          <p:cNvPr id="29" name="Shape 27"/>
          <p:cNvSpPr/>
          <p:nvPr/>
        </p:nvSpPr>
        <p:spPr>
          <a:xfrm>
            <a:off x="1463040" y="5910943"/>
            <a:ext cx="9235440" cy="581297"/>
          </a:xfrm>
          <a:prstGeom prst="roundRect">
            <a:avLst>
              <a:gd name="adj" fmla="val 12584"/>
            </a:avLst>
          </a:prstGeom>
          <a:solidFill>
            <a:srgbClr val="2FE6C4"/>
          </a:solidFill>
          <a:ln/>
        </p:spPr>
      </p:sp>
      <p:sp>
        <p:nvSpPr>
          <p:cNvPr id="30" name="Text 28"/>
          <p:cNvSpPr txBox="1"/>
          <p:nvPr/>
        </p:nvSpPr>
        <p:spPr>
          <a:xfrm>
            <a:off x="1691640" y="5984095"/>
            <a:ext cx="87782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7. Constraints</a:t>
            </a:r>
            <a:endParaRPr lang="en-US" sz="1400" dirty="0"/>
          </a:p>
        </p:txBody>
      </p:sp>
      <p:sp>
        <p:nvSpPr>
          <p:cNvPr id="31" name="Text 29"/>
          <p:cNvSpPr txBox="1"/>
          <p:nvPr/>
        </p:nvSpPr>
        <p:spPr>
          <a:xfrm>
            <a:off x="1691640" y="6240127"/>
            <a:ext cx="8778240" cy="197249"/>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NOT NULL, CHECK, and their declarative limits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Rule 1 — Mapping Strong Entity Types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4</a:t>
            </a:r>
            <a:endParaRPr lang="en-US" sz="1000" dirty="0"/>
          </a:p>
        </p:txBody>
      </p:sp>
      <p:sp>
        <p:nvSpPr>
          <p:cNvPr id="4" name="Text 2"/>
          <p:cNvSpPr txBox="1"/>
          <p:nvPr/>
        </p:nvSpPr>
        <p:spPr>
          <a:xfrm>
            <a:off x="640080" y="1005840"/>
            <a:ext cx="10881360" cy="502920"/>
          </a:xfrm>
          <a:prstGeom prst="rect">
            <a:avLst/>
          </a:prstGeom>
          <a:noFill/>
          <a:ln/>
        </p:spPr>
        <p:txBody>
          <a:bodyPr wrap="square" lIns="0" tIns="0" rIns="0" bIns="0" rtlCol="0" anchor="ctr"/>
          <a:lstStyle/>
          <a:p>
            <a:pPr indent="0" marL="0">
              <a:buNone/>
            </a:pPr>
            <a:r>
              <a:rPr lang="en-US" sz="1400" dirty="0">
                <a:solidFill>
                  <a:srgbClr val="1F2429"/>
                </a:solidFill>
                <a:latin typeface="Calibri" pitchFamily="34" charset="0"/>
                <a:ea typeface="Calibri" pitchFamily="34" charset="-122"/>
                <a:cs typeface="Calibri" pitchFamily="34" charset="-120"/>
              </a:rPr>
              <a:t>For each strong entity type, create one relation. Every simple attribute becomes a column; the entity's identifier becomes the primary key.</a:t>
            </a:r>
            <a:endParaRPr lang="en-US" sz="1400" dirty="0"/>
          </a:p>
        </p:txBody>
      </p:sp>
      <p:sp>
        <p:nvSpPr>
          <p:cNvPr id="5" name="Text 3"/>
          <p:cNvSpPr txBox="1"/>
          <p:nvPr/>
        </p:nvSpPr>
        <p:spPr>
          <a:xfrm>
            <a:off x="640080" y="1737360"/>
            <a:ext cx="731520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Branch(branchNo, street, city, postcode)</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2048256"/>
          <a:ext cx="7315200" cy="914400"/>
        </p:xfrm>
        <a:graphic>
          <a:graphicData uri="http://schemas.openxmlformats.org/drawingml/2006/table">
            <a:tbl>
              <a:tblPr/>
              <a:tblGrid>
                <a:gridCol w="1828800"/>
                <a:gridCol w="1828800"/>
                <a:gridCol w="1828800"/>
                <a:gridCol w="182880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branchNo</a:t>
                      </a:r>
                      <a:endParaRPr lang="en-US" sz="12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street</a:t>
                      </a:r>
                      <a:endParaRPr lang="en-US" sz="12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city</a:t>
                      </a:r>
                      <a:endParaRPr lang="en-US" sz="12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postcode</a:t>
                      </a:r>
                      <a:endParaRPr lang="en-US" sz="12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r>
              <a:tr h="384048">
                <a:tc>
                  <a:txBody>
                    <a:bodyPr/>
                    <a:lstStyle/>
                    <a:p>
                      <a:pPr algn="ctr" indent="0" marL="0">
                        <a:buNone/>
                      </a:pPr>
                      <a:r>
                        <a:rPr lang="en-US" sz="1150" dirty="0">
                          <a:solidFill>
                            <a:srgbClr val="1F2429"/>
                          </a:solidFill>
                          <a:latin typeface="Courier New" pitchFamily="34" charset="0"/>
                          <a:ea typeface="Courier New" pitchFamily="34" charset="-122"/>
                          <a:cs typeface="Courier New" pitchFamily="34" charset="-120"/>
                        </a:rPr>
                        <a:t>B003</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F2429"/>
                          </a:solidFill>
                          <a:latin typeface="Courier New" pitchFamily="34" charset="0"/>
                          <a:ea typeface="Courier New" pitchFamily="34" charset="-122"/>
                          <a:cs typeface="Courier New" pitchFamily="34" charset="-120"/>
                        </a:rPr>
                        <a:t>163 Main St</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F2429"/>
                          </a:solidFill>
                          <a:latin typeface="Courier New" pitchFamily="34" charset="0"/>
                          <a:ea typeface="Courier New" pitchFamily="34" charset="-122"/>
                          <a:cs typeface="Courier New" pitchFamily="34" charset="-120"/>
                        </a:rPr>
                        <a:t>Lahore</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F2429"/>
                          </a:solidFill>
                          <a:latin typeface="Courier New" pitchFamily="34" charset="0"/>
                          <a:ea typeface="Courier New" pitchFamily="34" charset="-122"/>
                          <a:cs typeface="Courier New" pitchFamily="34" charset="-120"/>
                        </a:rPr>
                        <a:t>54000</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40080" y="2926080"/>
            <a:ext cx="10881360" cy="640080"/>
          </a:xfrm>
          <a:prstGeom prst="rect">
            <a:avLst/>
          </a:prstGeom>
          <a:noFill/>
          <a:ln/>
        </p:spPr>
        <p:txBody>
          <a:bodyPr wrap="square" lIns="0" tIns="0" rIns="0" bIns="0" rtlCol="0" anchor="ctr"/>
          <a:lstStyle/>
          <a:p>
            <a:pPr indent="0" marL="0">
              <a:buNone/>
            </a:pPr>
            <a:r>
              <a:rPr lang="en-US" sz="1250" i="1" dirty="0">
                <a:solidFill>
                  <a:srgbClr val="8A939B"/>
                </a:solidFill>
                <a:latin typeface="Calibri" pitchFamily="34" charset="0"/>
                <a:ea typeface="Calibri" pitchFamily="34" charset="-122"/>
                <a:cs typeface="Calibri" pitchFamily="34" charset="-120"/>
              </a:rPr>
              <a:t>Nothing more is needed — a strong entity type's independent existence and self-contained identifier map directly onto a relation's defining properties.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Rule 2 — Mapping Weak Entity Types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5</a:t>
            </a:r>
            <a:endParaRPr lang="en-US" sz="1000" dirty="0"/>
          </a:p>
        </p:txBody>
      </p:sp>
      <p:sp>
        <p:nvSpPr>
          <p:cNvPr id="4" name="Text 2"/>
          <p:cNvSpPr txBox="1"/>
          <p:nvPr/>
        </p:nvSpPr>
        <p:spPr>
          <a:xfrm>
            <a:off x="640080" y="914400"/>
            <a:ext cx="10881360" cy="685800"/>
          </a:xfrm>
          <a:prstGeom prst="rect">
            <a:avLst/>
          </a:prstGeom>
          <a:noFill/>
          <a:ln/>
        </p:spPr>
        <p:txBody>
          <a:bodyPr wrap="square" lIns="0" tIns="0" rIns="0" bIns="0" rtlCol="0" anchor="ctr"/>
          <a:lstStyle/>
          <a:p>
            <a:pPr indent="0" marL="0">
              <a:buNone/>
            </a:pPr>
            <a:r>
              <a:rPr lang="en-US" sz="1300" dirty="0">
                <a:solidFill>
                  <a:srgbClr val="1F2429"/>
                </a:solidFill>
                <a:latin typeface="Calibri" pitchFamily="34" charset="0"/>
                <a:ea typeface="Calibri" pitchFamily="34" charset="-122"/>
                <a:cs typeface="Calibri" pitchFamily="34" charset="-120"/>
              </a:rPr>
              <a:t>A weak entity type's primary key is NOT just its own partial key — it must include the ENTIRE primary key of its owner, because the weak entity cannot be identified without knowing which owner it belongs to.</a:t>
            </a:r>
            <a:endParaRPr lang="en-US" sz="1300" dirty="0"/>
          </a:p>
        </p:txBody>
      </p:sp>
      <p:sp>
        <p:nvSpPr>
          <p:cNvPr id="5" name="Text 3"/>
          <p:cNvSpPr txBox="1"/>
          <p:nvPr/>
        </p:nvSpPr>
        <p:spPr>
          <a:xfrm>
            <a:off x="640080" y="1691640"/>
            <a:ext cx="676656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Bed(wardNo, bedNo, status) — wardNo is PK component AND FK</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2002536"/>
          <a:ext cx="6766560" cy="914400"/>
        </p:xfrm>
        <a:graphic>
          <a:graphicData uri="http://schemas.openxmlformats.org/drawingml/2006/table">
            <a:tbl>
              <a:tblPr/>
              <a:tblGrid>
                <a:gridCol w="2255520"/>
                <a:gridCol w="2255520"/>
                <a:gridCol w="2255520"/>
              </a:tblGrid>
              <a:tr h="34747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wardNo</a:t>
                      </a:r>
                      <a:endParaRPr lang="en-US" sz="11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bedNo</a:t>
                      </a:r>
                      <a:endParaRPr lang="en-US" sz="11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r>
              <a:tr h="347472">
                <a:tc>
                  <a:txBody>
                    <a:bodyPr/>
                    <a:lstStyle/>
                    <a:p>
                      <a:pPr algn="ctr" indent="0" marL="0">
                        <a:buNone/>
                      </a:pPr>
                      <a:r>
                        <a:rPr lang="en-US" sz="1050" dirty="0">
                          <a:solidFill>
                            <a:srgbClr val="1F2429"/>
                          </a:solidFill>
                          <a:latin typeface="Courier New" pitchFamily="34" charset="0"/>
                          <a:ea typeface="Courier New" pitchFamily="34" charset="-122"/>
                          <a:cs typeface="Courier New" pitchFamily="34" charset="-120"/>
                        </a:rPr>
                        <a:t>W1</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429"/>
                          </a:solidFill>
                          <a:latin typeface="Courier New" pitchFamily="34" charset="0"/>
                          <a:ea typeface="Courier New" pitchFamily="34" charset="-122"/>
                          <a:cs typeface="Courier New" pitchFamily="34" charset="-120"/>
                        </a:rPr>
                        <a:t>1</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429"/>
                          </a:solidFill>
                          <a:latin typeface="Courier New" pitchFamily="34" charset="0"/>
                          <a:ea typeface="Courier New" pitchFamily="34" charset="-122"/>
                          <a:cs typeface="Courier New" pitchFamily="34" charset="-120"/>
                        </a:rPr>
                        <a:t>Occupied</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47472">
                <a:tc>
                  <a:txBody>
                    <a:bodyPr/>
                    <a:lstStyle/>
                    <a:p>
                      <a:pPr algn="ctr" indent="0" marL="0">
                        <a:buNone/>
                      </a:pPr>
                      <a:r>
                        <a:rPr lang="en-US" sz="1050" dirty="0">
                          <a:solidFill>
                            <a:srgbClr val="1F2429"/>
                          </a:solidFill>
                          <a:latin typeface="Courier New" pitchFamily="34" charset="0"/>
                          <a:ea typeface="Courier New" pitchFamily="34" charset="-122"/>
                          <a:cs typeface="Courier New" pitchFamily="34" charset="-120"/>
                        </a:rPr>
                        <a:t>W1</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429"/>
                          </a:solidFill>
                          <a:latin typeface="Courier New" pitchFamily="34" charset="0"/>
                          <a:ea typeface="Courier New" pitchFamily="34" charset="-122"/>
                          <a:cs typeface="Courier New" pitchFamily="34" charset="-120"/>
                        </a:rPr>
                        <a:t>2</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429"/>
                          </a:solidFill>
                          <a:latin typeface="Courier New" pitchFamily="34" charset="0"/>
                          <a:ea typeface="Courier New" pitchFamily="34" charset="-122"/>
                          <a:cs typeface="Courier New" pitchFamily="34" charset="-120"/>
                        </a:rPr>
                        <a:t>Free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47472">
                <a:tc>
                  <a:txBody>
                    <a:bodyPr/>
                    <a:lstStyle/>
                    <a:p>
                      <a:pPr algn="ctr" indent="0" marL="0">
                        <a:buNone/>
                      </a:pPr>
                      <a:r>
                        <a:rPr lang="en-US" sz="1050" dirty="0">
                          <a:solidFill>
                            <a:srgbClr val="1F2429"/>
                          </a:solidFill>
                          <a:latin typeface="Courier New" pitchFamily="34" charset="0"/>
                          <a:ea typeface="Courier New" pitchFamily="34" charset="-122"/>
                          <a:cs typeface="Courier New" pitchFamily="34" charset="-120"/>
                        </a:rPr>
                        <a:t>W2</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429"/>
                          </a:solidFill>
                          <a:latin typeface="Courier New" pitchFamily="34" charset="0"/>
                          <a:ea typeface="Courier New" pitchFamily="34" charset="-122"/>
                          <a:cs typeface="Courier New" pitchFamily="34" charset="-120"/>
                        </a:rPr>
                        <a:t>1</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429"/>
                          </a:solidFill>
                          <a:latin typeface="Courier New" pitchFamily="34" charset="0"/>
                          <a:ea typeface="Courier New" pitchFamily="34" charset="-122"/>
                          <a:cs typeface="Courier New" pitchFamily="34" charset="-120"/>
                        </a:rPr>
                        <a:t>Occupied</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3474720"/>
            <a:ext cx="10881360" cy="2103120"/>
          </a:xfrm>
          <a:prstGeom prst="roundRect">
            <a:avLst>
              <a:gd name="adj" fmla="val 2609"/>
            </a:avLst>
          </a:prstGeom>
          <a:solidFill>
            <a:srgbClr val="1F2429"/>
          </a:solidFill>
          <a:ln/>
        </p:spPr>
      </p:sp>
      <p:sp>
        <p:nvSpPr>
          <p:cNvPr id="8" name="Text 5"/>
          <p:cNvSpPr txBox="1"/>
          <p:nvPr/>
        </p:nvSpPr>
        <p:spPr>
          <a:xfrm>
            <a:off x="822960" y="3611880"/>
            <a:ext cx="10515600" cy="228600"/>
          </a:xfrm>
          <a:prstGeom prst="rect">
            <a:avLst/>
          </a:prstGeom>
          <a:noFill/>
          <a:ln/>
        </p:spPr>
        <p:txBody>
          <a:bodyPr wrap="square" lIns="0" tIns="0" rIns="0" bIns="0" rtlCol="0" anchor="ctr"/>
          <a:lstStyle/>
          <a:p>
            <a:pPr indent="0" marL="0">
              <a:buNone/>
            </a:pPr>
            <a:r>
              <a:rPr lang="en-US" sz="1050" b="1" dirty="0">
                <a:solidFill>
                  <a:srgbClr val="2FE6C4"/>
                </a:solidFill>
                <a:latin typeface="Calibri" pitchFamily="34" charset="0"/>
                <a:ea typeface="Calibri" pitchFamily="34" charset="-122"/>
                <a:cs typeface="Calibri" pitchFamily="34" charset="-120"/>
              </a:rPr>
              <a:t>CREATE TABLE Bed</a:t>
            </a:r>
            <a:endParaRPr lang="en-US" sz="1050" dirty="0"/>
          </a:p>
        </p:txBody>
      </p:sp>
      <p:sp>
        <p:nvSpPr>
          <p:cNvPr id="9" name="Text 6"/>
          <p:cNvSpPr txBox="1"/>
          <p:nvPr/>
        </p:nvSpPr>
        <p:spPr>
          <a:xfrm>
            <a:off x="822960" y="3886200"/>
            <a:ext cx="10515600" cy="1490472"/>
          </a:xfrm>
          <a:prstGeom prst="rect">
            <a:avLst/>
          </a:prstGeom>
          <a:noFill/>
          <a:ln/>
        </p:spPr>
        <p:txBody>
          <a:bodyPr wrap="square" lIns="0" tIns="0" rIns="0" bIns="0" rtlCol="0" anchor="t"/>
          <a:lstStyle/>
          <a:p>
            <a:pPr indent="0" marL="0">
              <a:lnSpc>
                <a:spcPct val="122000"/>
              </a:lnSpc>
              <a:buNone/>
            </a:pPr>
            <a:r>
              <a:rPr lang="en-US" sz="1000" dirty="0">
                <a:solidFill>
                  <a:srgbClr val="E8EAED"/>
                </a:solidFill>
                <a:latin typeface="Courier New" pitchFamily="34" charset="0"/>
                <a:ea typeface="Courier New" pitchFamily="34" charset="-122"/>
                <a:cs typeface="Courier New" pitchFamily="34" charset="-120"/>
              </a:rPr>
              <a:t>CREATE TABLE Bed (</a:t>
            </a:r>
            <a:endParaRPr lang="en-US" sz="1000" dirty="0"/>
          </a:p>
          <a:p>
            <a:pPr indent="0" marL="0">
              <a:lnSpc>
                <a:spcPct val="122000"/>
              </a:lnSpc>
              <a:buNone/>
            </a:pPr>
            <a:r>
              <a:rPr lang="en-US" sz="1000" dirty="0">
                <a:solidFill>
                  <a:srgbClr val="E8EAED"/>
                </a:solidFill>
                <a:latin typeface="Courier New" pitchFamily="34" charset="0"/>
                <a:ea typeface="Courier New" pitchFamily="34" charset="-122"/>
                <a:cs typeface="Courier New" pitchFamily="34" charset="-120"/>
              </a:rPr>
              <a:t>  wardNo   VARCHAR(4)  NOT NULL,</a:t>
            </a:r>
            <a:endParaRPr lang="en-US" sz="1000" dirty="0"/>
          </a:p>
          <a:p>
            <a:pPr indent="0" marL="0">
              <a:lnSpc>
                <a:spcPct val="122000"/>
              </a:lnSpc>
              <a:buNone/>
            </a:pPr>
            <a:r>
              <a:rPr lang="en-US" sz="1000" dirty="0">
                <a:solidFill>
                  <a:srgbClr val="E8EAED"/>
                </a:solidFill>
                <a:latin typeface="Courier New" pitchFamily="34" charset="0"/>
                <a:ea typeface="Courier New" pitchFamily="34" charset="-122"/>
                <a:cs typeface="Courier New" pitchFamily="34" charset="-120"/>
              </a:rPr>
              <a:t>  bedNo    SMALLINT    NOT NULL,</a:t>
            </a:r>
            <a:endParaRPr lang="en-US" sz="1000" dirty="0"/>
          </a:p>
          <a:p>
            <a:pPr indent="0" marL="0">
              <a:lnSpc>
                <a:spcPct val="122000"/>
              </a:lnSpc>
              <a:buNone/>
            </a:pPr>
            <a:r>
              <a:rPr lang="en-US" sz="1000" dirty="0">
                <a:solidFill>
                  <a:srgbClr val="E8EAED"/>
                </a:solidFill>
                <a:latin typeface="Courier New" pitchFamily="34" charset="0"/>
                <a:ea typeface="Courier New" pitchFamily="34" charset="-122"/>
                <a:cs typeface="Courier New" pitchFamily="34" charset="-120"/>
              </a:rPr>
              <a:t>  status   VARCHAR(10) NOT NULL,</a:t>
            </a:r>
            <a:endParaRPr lang="en-US" sz="1000" dirty="0"/>
          </a:p>
          <a:p>
            <a:pPr indent="0" marL="0">
              <a:lnSpc>
                <a:spcPct val="122000"/>
              </a:lnSpc>
              <a:buNone/>
            </a:pPr>
            <a:r>
              <a:rPr lang="en-US" sz="1000" dirty="0">
                <a:solidFill>
                  <a:srgbClr val="E8EAED"/>
                </a:solidFill>
                <a:latin typeface="Courier New" pitchFamily="34" charset="0"/>
                <a:ea typeface="Courier New" pitchFamily="34" charset="-122"/>
                <a:cs typeface="Courier New" pitchFamily="34" charset="-120"/>
              </a:rPr>
              <a:t>  PRIMARY KEY (wardNo, bedNo),</a:t>
            </a:r>
            <a:endParaRPr lang="en-US" sz="1000" dirty="0"/>
          </a:p>
          <a:p>
            <a:pPr indent="0" marL="0">
              <a:lnSpc>
                <a:spcPct val="122000"/>
              </a:lnSpc>
              <a:buNone/>
            </a:pPr>
            <a:r>
              <a:rPr lang="en-US" sz="1000" dirty="0">
                <a:solidFill>
                  <a:srgbClr val="E8EAED"/>
                </a:solidFill>
                <a:latin typeface="Courier New" pitchFamily="34" charset="0"/>
                <a:ea typeface="Courier New" pitchFamily="34" charset="-122"/>
                <a:cs typeface="Courier New" pitchFamily="34" charset="-120"/>
              </a:rPr>
              <a:t>  FOREIGN KEY (wardNo) REFERENCES Ward(wardNo) ON DELETE CASCADE</a:t>
            </a:r>
            <a:endParaRPr lang="en-US" sz="1000" dirty="0"/>
          </a:p>
          <a:p>
            <a:pPr indent="0" marL="0">
              <a:lnSpc>
                <a:spcPct val="122000"/>
              </a:lnSpc>
              <a:buNone/>
            </a:pPr>
            <a:r>
              <a:rPr lang="en-US" sz="1000" dirty="0">
                <a:solidFill>
                  <a:srgbClr val="E8EAED"/>
                </a:solidFill>
                <a:latin typeface="Courier New" pitchFamily="34" charset="0"/>
                <a:ea typeface="Courier New" pitchFamily="34" charset="-122"/>
                <a:cs typeface="Courier New" pitchFamily="34" charset="-120"/>
              </a:rPr>
              <a:t>);</a:t>
            </a:r>
            <a:endParaRPr lang="en-US" sz="1000" dirty="0"/>
          </a:p>
        </p:txBody>
      </p:sp>
      <p:sp>
        <p:nvSpPr>
          <p:cNvPr id="10" name="Text 7"/>
          <p:cNvSpPr txBox="1"/>
          <p:nvPr/>
        </p:nvSpPr>
        <p:spPr>
          <a:xfrm>
            <a:off x="640080" y="5715000"/>
            <a:ext cx="10881360" cy="365760"/>
          </a:xfrm>
          <a:prstGeom prst="rect">
            <a:avLst/>
          </a:prstGeom>
          <a:noFill/>
          <a:ln/>
        </p:spPr>
        <p:txBody>
          <a:bodyPr wrap="square" lIns="0" tIns="0" rIns="0" bIns="0" rtlCol="0" anchor="ctr"/>
          <a:lstStyle/>
          <a:p>
            <a:pPr indent="0" marL="0">
              <a:buNone/>
            </a:pPr>
            <a:r>
              <a:rPr lang="en-US" sz="1100" i="1" dirty="0">
                <a:solidFill>
                  <a:srgbClr val="8A939B"/>
                </a:solidFill>
                <a:latin typeface="Calibri" pitchFamily="34" charset="0"/>
                <a:ea typeface="Calibri" pitchFamily="34" charset="-122"/>
                <a:cs typeface="Calibri" pitchFamily="34" charset="-120"/>
              </a:rPr>
              <a:t>ON DELETE CASCADE: Bed is existence-dependent on Ward — deleting a ward should delete its beds automatically.</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Rule 3 — Mapping 1:1 Relationships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6</a:t>
            </a:r>
            <a:endParaRPr lang="en-US" sz="1000" dirty="0"/>
          </a:p>
        </p:txBody>
      </p:sp>
      <p:sp>
        <p:nvSpPr>
          <p:cNvPr id="4" name="Text 2"/>
          <p:cNvSpPr txBox="1"/>
          <p:nvPr/>
        </p:nvSpPr>
        <p:spPr>
          <a:xfrm>
            <a:off x="640080" y="960120"/>
            <a:ext cx="10881360" cy="685800"/>
          </a:xfrm>
          <a:prstGeom prst="rect">
            <a:avLst/>
          </a:prstGeom>
          <a:noFill/>
          <a:ln/>
        </p:spPr>
        <p:txBody>
          <a:bodyPr wrap="square" lIns="0" tIns="0" rIns="0" bIns="0" rtlCol="0" anchor="ctr"/>
          <a:lstStyle/>
          <a:p>
            <a:pPr indent="0" marL="0">
              <a:buNone/>
            </a:pPr>
            <a:r>
              <a:rPr lang="en-US" sz="1300" dirty="0">
                <a:solidFill>
                  <a:srgbClr val="1F2429"/>
                </a:solidFill>
                <a:latin typeface="Calibri" pitchFamily="34" charset="0"/>
                <a:ea typeface="Calibri" pitchFamily="34" charset="-122"/>
                <a:cs typeface="Calibri" pitchFamily="34" charset="-120"/>
              </a:rPr>
              <a:t>No new relation is needed — the foreign key goes on ONE of the two existing relations: the side with MANDATORY (total) participation, since that side is guaranteed to always have a value to store.</a:t>
            </a:r>
            <a:endParaRPr lang="en-US" sz="1300" dirty="0"/>
          </a:p>
        </p:txBody>
      </p:sp>
      <p:sp>
        <p:nvSpPr>
          <p:cNvPr id="5" name="Text 3"/>
          <p:cNvSpPr txBox="1"/>
          <p:nvPr/>
        </p:nvSpPr>
        <p:spPr>
          <a:xfrm>
            <a:off x="640080" y="1691640"/>
            <a:ext cx="10881360" cy="502920"/>
          </a:xfrm>
          <a:prstGeom prst="rect">
            <a:avLst/>
          </a:prstGeom>
          <a:noFill/>
          <a:ln/>
        </p:spPr>
        <p:txBody>
          <a:bodyPr wrap="square" lIns="0" tIns="0" rIns="0" bIns="0" rtlCol="0" anchor="ctr"/>
          <a:lstStyle/>
          <a:p>
            <a:pPr indent="0" marL="0">
              <a:buNone/>
            </a:pPr>
            <a:r>
              <a:rPr lang="en-US" sz="1250" dirty="0">
                <a:solidFill>
                  <a:srgbClr val="1F2429"/>
                </a:solidFill>
                <a:latin typeface="Calibri" pitchFamily="34" charset="0"/>
                <a:ea typeface="Calibri" pitchFamily="34" charset="-122"/>
                <a:cs typeface="Calibri" pitchFamily="34" charset="-120"/>
              </a:rPr>
              <a:t>Department HeadedBy Doctor: every department must have exactly one head (1,1 — total); not every doctor heads a department (0,1 — partial). FK goes on Department.</a:t>
            </a:r>
            <a:endParaRPr lang="en-US" sz="1250" dirty="0"/>
          </a:p>
        </p:txBody>
      </p:sp>
      <p:sp>
        <p:nvSpPr>
          <p:cNvPr id="6" name="Text 4"/>
          <p:cNvSpPr txBox="1"/>
          <p:nvPr/>
        </p:nvSpPr>
        <p:spPr>
          <a:xfrm>
            <a:off x="640080" y="2331720"/>
            <a:ext cx="868680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Department(deptNo, name, location, headDoctorNo)</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642616"/>
          <a:ext cx="8686800" cy="914400"/>
        </p:xfrm>
        <a:graphic>
          <a:graphicData uri="http://schemas.openxmlformats.org/drawingml/2006/table">
            <a:tbl>
              <a:tblPr/>
              <a:tblGrid>
                <a:gridCol w="2171700"/>
                <a:gridCol w="2171700"/>
                <a:gridCol w="2171700"/>
                <a:gridCol w="2171700"/>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deptNo</a:t>
                      </a:r>
                      <a:endParaRPr lang="en-US" sz="11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name</a:t>
                      </a:r>
                      <a:endParaRPr lang="en-US" sz="11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location</a:t>
                      </a:r>
                      <a:endParaRPr lang="en-US" sz="11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headDoctorNo</a:t>
                      </a:r>
                      <a:endParaRPr lang="en-US" sz="11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r>
              <a:tr h="384048">
                <a:tc>
                  <a:txBody>
                    <a:bodyPr/>
                    <a:lstStyle/>
                    <a:p>
                      <a:pPr algn="ctr" indent="0" marL="0">
                        <a:buNone/>
                      </a:pPr>
                      <a:r>
                        <a:rPr lang="en-US" sz="1100" dirty="0">
                          <a:solidFill>
                            <a:srgbClr val="1F2429"/>
                          </a:solidFill>
                          <a:latin typeface="Courier New" pitchFamily="34" charset="0"/>
                          <a:ea typeface="Courier New" pitchFamily="34" charset="-122"/>
                          <a:cs typeface="Courier New" pitchFamily="34" charset="-120"/>
                        </a:rPr>
                        <a:t>D01</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429"/>
                          </a:solidFill>
                          <a:latin typeface="Courier New" pitchFamily="34" charset="0"/>
                          <a:ea typeface="Courier New" pitchFamily="34" charset="-122"/>
                          <a:cs typeface="Courier New" pitchFamily="34" charset="-120"/>
                        </a:rPr>
                        <a:t>Cardiology</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429"/>
                          </a:solidFill>
                          <a:latin typeface="Courier New" pitchFamily="34" charset="0"/>
                          <a:ea typeface="Courier New" pitchFamily="34" charset="-122"/>
                          <a:cs typeface="Courier New" pitchFamily="34" charset="-120"/>
                        </a:rPr>
                        <a:t>Block C</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429"/>
                          </a:solidFill>
                          <a:latin typeface="Courier New" pitchFamily="34" charset="0"/>
                          <a:ea typeface="Courier New" pitchFamily="34" charset="-122"/>
                          <a:cs typeface="Courier New" pitchFamily="34" charset="-120"/>
                        </a:rPr>
                        <a:t>S014</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8" name="Shape 5"/>
          <p:cNvSpPr/>
          <p:nvPr/>
        </p:nvSpPr>
        <p:spPr>
          <a:xfrm>
            <a:off x="640080" y="3794760"/>
            <a:ext cx="10881360" cy="1691640"/>
          </a:xfrm>
          <a:prstGeom prst="roundRect">
            <a:avLst>
              <a:gd name="adj" fmla="val 4324"/>
            </a:avLst>
          </a:prstGeom>
          <a:solidFill>
            <a:srgbClr val="FFFFFF"/>
          </a:solidFill>
          <a:ln w="12700">
            <a:solidFill>
              <a:srgbClr val="8B7FD9"/>
            </a:solidFill>
            <a:prstDash val="solid"/>
          </a:ln>
        </p:spPr>
      </p:sp>
      <p:sp>
        <p:nvSpPr>
          <p:cNvPr id="9" name="Shape 6"/>
          <p:cNvSpPr/>
          <p:nvPr/>
        </p:nvSpPr>
        <p:spPr>
          <a:xfrm>
            <a:off x="640080" y="3794760"/>
            <a:ext cx="54864" cy="1691640"/>
          </a:xfrm>
          <a:prstGeom prst="rect">
            <a:avLst/>
          </a:prstGeom>
          <a:solidFill>
            <a:srgbClr val="8B7FD9"/>
          </a:solidFill>
          <a:ln/>
        </p:spPr>
      </p:sp>
      <p:sp>
        <p:nvSpPr>
          <p:cNvPr id="10" name="Text 7"/>
          <p:cNvSpPr txBox="1"/>
          <p:nvPr/>
        </p:nvSpPr>
        <p:spPr>
          <a:xfrm>
            <a:off x="841248" y="3904488"/>
            <a:ext cx="10515600" cy="256032"/>
          </a:xfrm>
          <a:prstGeom prst="rect">
            <a:avLst/>
          </a:prstGeom>
          <a:noFill/>
          <a:ln/>
        </p:spPr>
        <p:txBody>
          <a:bodyPr wrap="square" lIns="0" tIns="0" rIns="0" bIns="0"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When both sides are total</a:t>
            </a:r>
            <a:endParaRPr lang="en-US" sz="1200" dirty="0"/>
          </a:p>
        </p:txBody>
      </p:sp>
      <p:sp>
        <p:nvSpPr>
          <p:cNvPr id="11" name="Text 8"/>
          <p:cNvSpPr txBox="1"/>
          <p:nvPr/>
        </p:nvSpPr>
        <p:spPr>
          <a:xfrm>
            <a:off x="841248" y="4178808"/>
            <a:ext cx="10515600" cy="1216152"/>
          </a:xfrm>
          <a:prstGeom prst="rect">
            <a:avLst/>
          </a:prstGeom>
          <a:noFill/>
          <a:ln/>
        </p:spPr>
        <p:txBody>
          <a:bodyPr wrap="square" lIns="0" tIns="0" rIns="0" bIns="0" rtlCol="0" anchor="t"/>
          <a:lstStyle/>
          <a:p>
            <a:pPr indent="0" marL="0">
              <a:lnSpc>
                <a:spcPct val="115000"/>
              </a:lnSpc>
              <a:buNone/>
            </a:pPr>
            <a:r>
              <a:rPr lang="en-US" sz="1100" dirty="0">
                <a:solidFill>
                  <a:srgbClr val="1F2429"/>
                </a:solidFill>
                <a:latin typeface="Calibri" pitchFamily="34" charset="0"/>
                <a:ea typeface="Calibri" pitchFamily="34" charset="-122"/>
                <a:cs typeface="Calibri" pitchFamily="34" charset="-120"/>
              </a:rPr>
              <a:t>The foreign key can go on EITHER side — or the two relations can simply be merged into one, since a strict 1:1 mandatory-both-sides relationship means the two entity types always co-occur in lockstep. Which relation gets the FK is then a matter of convenience, not correctness.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Rule 4 — Mapping 1:N Relationships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7</a:t>
            </a:r>
            <a:endParaRPr lang="en-US" sz="1000" dirty="0"/>
          </a:p>
        </p:txBody>
      </p:sp>
      <p:sp>
        <p:nvSpPr>
          <p:cNvPr id="4" name="Text 2"/>
          <p:cNvSpPr txBox="1"/>
          <p:nvPr/>
        </p:nvSpPr>
        <p:spPr>
          <a:xfrm>
            <a:off x="640080" y="1005840"/>
            <a:ext cx="10881360" cy="594360"/>
          </a:xfrm>
          <a:prstGeom prst="rect">
            <a:avLst/>
          </a:prstGeom>
          <a:noFill/>
          <a:ln/>
        </p:spPr>
        <p:txBody>
          <a:bodyPr wrap="square" lIns="0" tIns="0" rIns="0" bIns="0" rtlCol="0" anchor="ctr"/>
          <a:lstStyle/>
          <a:p>
            <a:pPr indent="0" marL="0">
              <a:buNone/>
            </a:pPr>
            <a:r>
              <a:rPr lang="en-US" sz="1400" dirty="0">
                <a:solidFill>
                  <a:srgbClr val="1F2429"/>
                </a:solidFill>
                <a:latin typeface="Calibri" pitchFamily="34" charset="0"/>
                <a:ea typeface="Calibri" pitchFamily="34" charset="-122"/>
                <a:cs typeface="Calibri" pitchFamily="34" charset="-120"/>
              </a:rPr>
              <a:t>The foreign key always goes on the relation representing the MANY side, referencing the primary key of the relation on the ONE side. No new relation is created.</a:t>
            </a:r>
            <a:endParaRPr lang="en-US" sz="1400" dirty="0"/>
          </a:p>
        </p:txBody>
      </p:sp>
      <p:sp>
        <p:nvSpPr>
          <p:cNvPr id="5" name="Text 3"/>
          <p:cNvSpPr txBox="1"/>
          <p:nvPr/>
        </p:nvSpPr>
        <p:spPr>
          <a:xfrm>
            <a:off x="640080" y="1828800"/>
            <a:ext cx="896112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Staff(staffNo, cnic, name, address, dateJoined, deptNo)</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39696"/>
          <a:ext cx="8961120" cy="914400"/>
        </p:xfrm>
        <a:graphic>
          <a:graphicData uri="http://schemas.openxmlformats.org/drawingml/2006/table">
            <a:tbl>
              <a:tblPr/>
              <a:tblGrid>
                <a:gridCol w="2240280"/>
                <a:gridCol w="2240280"/>
                <a:gridCol w="2240280"/>
                <a:gridCol w="2240280"/>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staffNo</a:t>
                      </a:r>
                      <a:endParaRPr lang="en-US" sz="11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cnic</a:t>
                      </a:r>
                      <a:endParaRPr lang="en-US" sz="11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name</a:t>
                      </a:r>
                      <a:endParaRPr lang="en-US" sz="11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deptNo</a:t>
                      </a:r>
                      <a:endParaRPr lang="en-US" sz="11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r>
              <a:tr h="384048">
                <a:tc>
                  <a:txBody>
                    <a:bodyPr/>
                    <a:lstStyle/>
                    <a:p>
                      <a:pPr algn="ctr" indent="0" marL="0">
                        <a:buNone/>
                      </a:pPr>
                      <a:r>
                        <a:rPr lang="en-US" sz="1100" dirty="0">
                          <a:solidFill>
                            <a:srgbClr val="1F2429"/>
                          </a:solidFill>
                          <a:latin typeface="Courier New" pitchFamily="34" charset="0"/>
                          <a:ea typeface="Courier New" pitchFamily="34" charset="-122"/>
                          <a:cs typeface="Courier New" pitchFamily="34" charset="-120"/>
                        </a:rPr>
                        <a:t>S014</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429"/>
                          </a:solidFill>
                          <a:latin typeface="Courier New" pitchFamily="34" charset="0"/>
                          <a:ea typeface="Courier New" pitchFamily="34" charset="-122"/>
                          <a:cs typeface="Courier New" pitchFamily="34" charset="-120"/>
                        </a:rPr>
                        <a:t>35202-...</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429"/>
                          </a:solidFill>
                          <a:latin typeface="Courier New" pitchFamily="34" charset="0"/>
                          <a:ea typeface="Courier New" pitchFamily="34" charset="-122"/>
                          <a:cs typeface="Courier New" pitchFamily="34" charset="-120"/>
                        </a:rPr>
                        <a:t>Dr. Amina Raza</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429"/>
                          </a:solidFill>
                          <a:latin typeface="Courier New" pitchFamily="34" charset="0"/>
                          <a:ea typeface="Courier New" pitchFamily="34" charset="-122"/>
                          <a:cs typeface="Courier New" pitchFamily="34" charset="-120"/>
                        </a:rPr>
                        <a:t>D01</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84048">
                <a:tc>
                  <a:txBody>
                    <a:bodyPr/>
                    <a:lstStyle/>
                    <a:p>
                      <a:pPr algn="ctr" indent="0" marL="0">
                        <a:buNone/>
                      </a:pPr>
                      <a:r>
                        <a:rPr lang="en-US" sz="1100" dirty="0">
                          <a:solidFill>
                            <a:srgbClr val="1F2429"/>
                          </a:solidFill>
                          <a:latin typeface="Courier New" pitchFamily="34" charset="0"/>
                          <a:ea typeface="Courier New" pitchFamily="34" charset="-122"/>
                          <a:cs typeface="Courier New" pitchFamily="34" charset="-120"/>
                        </a:rPr>
                        <a:t>S027</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429"/>
                          </a:solidFill>
                          <a:latin typeface="Courier New" pitchFamily="34" charset="0"/>
                          <a:ea typeface="Courier New" pitchFamily="34" charset="-122"/>
                          <a:cs typeface="Courier New" pitchFamily="34" charset="-120"/>
                        </a:rPr>
                        <a:t>37405-...</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429"/>
                          </a:solidFill>
                          <a:latin typeface="Courier New" pitchFamily="34" charset="0"/>
                          <a:ea typeface="Courier New" pitchFamily="34" charset="-122"/>
                          <a:cs typeface="Courier New" pitchFamily="34" charset="-120"/>
                        </a:rPr>
                        <a:t>Bilal Ahmed (Nurse)</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429"/>
                          </a:solidFill>
                          <a:latin typeface="Courier New" pitchFamily="34" charset="0"/>
                          <a:ea typeface="Courier New" pitchFamily="34" charset="-122"/>
                          <a:cs typeface="Courier New" pitchFamily="34" charset="-120"/>
                        </a:rPr>
                        <a:t>D01</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40080" y="3291840"/>
            <a:ext cx="10881360" cy="640080"/>
          </a:xfrm>
          <a:prstGeom prst="rect">
            <a:avLst/>
          </a:prstGeom>
          <a:noFill/>
          <a:ln/>
        </p:spPr>
        <p:txBody>
          <a:bodyPr wrap="square" lIns="0" tIns="0" rIns="0" bIns="0" rtlCol="0" anchor="ctr"/>
          <a:lstStyle/>
          <a:p>
            <a:pPr indent="0" marL="0">
              <a:buNone/>
            </a:pPr>
            <a:r>
              <a:rPr lang="en-US" sz="1250" i="1" dirty="0">
                <a:solidFill>
                  <a:srgbClr val="8A939B"/>
                </a:solidFill>
                <a:latin typeface="Calibri" pitchFamily="34" charset="0"/>
                <a:ea typeface="Calibri" pitchFamily="34" charset="-122"/>
                <a:cs typeface="Calibri" pitchFamily="34" charset="-120"/>
              </a:rPr>
              <a:t>Every Staff row carries exactly one deptNo, matching the “many staff, one department” shape of WorksIn directly — the same rule already used for PropertyForRent.branchNo.</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Rule 5 — Mapping M:N Relationships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8</a:t>
            </a:r>
            <a:endParaRPr lang="en-US" sz="1000" dirty="0"/>
          </a:p>
        </p:txBody>
      </p:sp>
      <p:sp>
        <p:nvSpPr>
          <p:cNvPr id="4" name="Text 2"/>
          <p:cNvSpPr txBox="1"/>
          <p:nvPr/>
        </p:nvSpPr>
        <p:spPr>
          <a:xfrm>
            <a:off x="640080" y="914400"/>
            <a:ext cx="10881360" cy="502920"/>
          </a:xfrm>
          <a:prstGeom prst="rect">
            <a:avLst/>
          </a:prstGeom>
          <a:noFill/>
          <a:ln/>
        </p:spPr>
        <p:txBody>
          <a:bodyPr wrap="square" lIns="0" tIns="0" rIns="0" bIns="0" rtlCol="0" anchor="ctr"/>
          <a:lstStyle/>
          <a:p>
            <a:pPr indent="0" marL="0">
              <a:buNone/>
            </a:pPr>
            <a:r>
              <a:rPr lang="en-US" sz="1300" dirty="0">
                <a:solidFill>
                  <a:srgbClr val="1F2429"/>
                </a:solidFill>
                <a:latin typeface="Calibri" pitchFamily="34" charset="0"/>
                <a:ea typeface="Calibri" pitchFamily="34" charset="-122"/>
                <a:cs typeface="Calibri" pitchFamily="34" charset="-120"/>
              </a:rPr>
              <a:t>An M:N relationship ALWAYS requires a brand-new relation — neither side's primary key alone can identify one occurrence of the relationship.</a:t>
            </a:r>
            <a:endParaRPr lang="en-US" sz="1300" dirty="0"/>
          </a:p>
        </p:txBody>
      </p:sp>
      <p:sp>
        <p:nvSpPr>
          <p:cNvPr id="5" name="Shape 3"/>
          <p:cNvSpPr/>
          <p:nvPr/>
        </p:nvSpPr>
        <p:spPr>
          <a:xfrm>
            <a:off x="640080" y="1554480"/>
            <a:ext cx="2651760" cy="1005840"/>
          </a:xfrm>
          <a:prstGeom prst="roundRect">
            <a:avLst>
              <a:gd name="adj" fmla="val 6364"/>
            </a:avLst>
          </a:prstGeom>
          <a:solidFill>
            <a:srgbClr val="FFFFFF"/>
          </a:solidFill>
          <a:ln w="19050">
            <a:solidFill>
              <a:srgbClr val="2FE6C4"/>
            </a:solidFill>
            <a:prstDash val="solid"/>
          </a:ln>
        </p:spPr>
      </p:sp>
      <p:sp>
        <p:nvSpPr>
          <p:cNvPr id="6" name="Shape 4"/>
          <p:cNvSpPr/>
          <p:nvPr/>
        </p:nvSpPr>
        <p:spPr>
          <a:xfrm>
            <a:off x="640080" y="1554480"/>
            <a:ext cx="2651760" cy="384048"/>
          </a:xfrm>
          <a:prstGeom prst="roundRect">
            <a:avLst>
              <a:gd name="adj" fmla="val 16667"/>
            </a:avLst>
          </a:prstGeom>
          <a:solidFill>
            <a:srgbClr val="2FE6C4"/>
          </a:solidFill>
          <a:ln/>
        </p:spPr>
      </p:sp>
      <p:sp>
        <p:nvSpPr>
          <p:cNvPr id="7" name="Shape 5"/>
          <p:cNvSpPr/>
          <p:nvPr/>
        </p:nvSpPr>
        <p:spPr>
          <a:xfrm>
            <a:off x="640080" y="1847088"/>
            <a:ext cx="2651760" cy="91440"/>
          </a:xfrm>
          <a:prstGeom prst="rect">
            <a:avLst/>
          </a:prstGeom>
          <a:solidFill>
            <a:srgbClr val="2FE6C4"/>
          </a:solidFill>
          <a:ln/>
        </p:spPr>
      </p:sp>
      <p:sp>
        <p:nvSpPr>
          <p:cNvPr id="8" name="Text 6"/>
          <p:cNvSpPr txBox="1"/>
          <p:nvPr/>
        </p:nvSpPr>
        <p:spPr>
          <a:xfrm>
            <a:off x="777240" y="1554480"/>
            <a:ext cx="237744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Nurse</a:t>
            </a:r>
            <a:endParaRPr lang="en-US" sz="1300" dirty="0"/>
          </a:p>
        </p:txBody>
      </p:sp>
      <p:sp>
        <p:nvSpPr>
          <p:cNvPr id="9" name="Text 7"/>
          <p:cNvSpPr txBox="1"/>
          <p:nvPr/>
        </p:nvSpPr>
        <p:spPr>
          <a:xfrm>
            <a:off x="777240" y="2011680"/>
            <a:ext cx="2377440" cy="512064"/>
          </a:xfrm>
          <a:prstGeom prst="rect">
            <a:avLst/>
          </a:prstGeom>
          <a:noFill/>
          <a:ln/>
        </p:spPr>
        <p:txBody>
          <a:bodyPr wrap="square" lIns="0" tIns="0" rIns="0" bIns="0" rtlCol="0" anchor="t"/>
          <a:lstStyle/>
          <a:p>
            <a:pPr indent="0" marL="0">
              <a:spcAft>
                <a:spcPts val="400"/>
              </a:spcAft>
              <a:buNone/>
            </a:pPr>
            <a:r>
              <a:rPr lang="en-US" sz="1100" b="1" u="sng" dirty="0">
                <a:solidFill>
                  <a:srgbClr val="1F2429"/>
                </a:solidFill>
                <a:latin typeface="Courier New" pitchFamily="34" charset="0"/>
                <a:ea typeface="Courier New" pitchFamily="34" charset="-122"/>
                <a:cs typeface="Courier New" pitchFamily="34" charset="-120"/>
              </a:rPr>
              <a:t>staffNo</a:t>
            </a:r>
            <a:endParaRPr lang="en-US" sz="1100" dirty="0"/>
          </a:p>
        </p:txBody>
      </p:sp>
      <p:sp>
        <p:nvSpPr>
          <p:cNvPr id="10" name="Shape 8"/>
          <p:cNvSpPr/>
          <p:nvPr/>
        </p:nvSpPr>
        <p:spPr>
          <a:xfrm>
            <a:off x="4114800" y="1554480"/>
            <a:ext cx="2651760" cy="1005840"/>
          </a:xfrm>
          <a:prstGeom prst="roundRect">
            <a:avLst>
              <a:gd name="adj" fmla="val 6364"/>
            </a:avLst>
          </a:prstGeom>
          <a:solidFill>
            <a:srgbClr val="FFFFFF"/>
          </a:solidFill>
          <a:ln w="19050">
            <a:solidFill>
              <a:srgbClr val="2FE6C4"/>
            </a:solidFill>
            <a:prstDash val="solid"/>
          </a:ln>
        </p:spPr>
      </p:sp>
      <p:sp>
        <p:nvSpPr>
          <p:cNvPr id="11" name="Shape 9"/>
          <p:cNvSpPr/>
          <p:nvPr/>
        </p:nvSpPr>
        <p:spPr>
          <a:xfrm>
            <a:off x="4114800" y="1554480"/>
            <a:ext cx="2651760" cy="384048"/>
          </a:xfrm>
          <a:prstGeom prst="roundRect">
            <a:avLst>
              <a:gd name="adj" fmla="val 16667"/>
            </a:avLst>
          </a:prstGeom>
          <a:solidFill>
            <a:srgbClr val="2FE6C4"/>
          </a:solidFill>
          <a:ln/>
        </p:spPr>
      </p:sp>
      <p:sp>
        <p:nvSpPr>
          <p:cNvPr id="12" name="Shape 10"/>
          <p:cNvSpPr/>
          <p:nvPr/>
        </p:nvSpPr>
        <p:spPr>
          <a:xfrm>
            <a:off x="4114800" y="1847088"/>
            <a:ext cx="2651760" cy="91440"/>
          </a:xfrm>
          <a:prstGeom prst="rect">
            <a:avLst/>
          </a:prstGeom>
          <a:solidFill>
            <a:srgbClr val="2FE6C4"/>
          </a:solidFill>
          <a:ln/>
        </p:spPr>
      </p:sp>
      <p:sp>
        <p:nvSpPr>
          <p:cNvPr id="13" name="Text 11"/>
          <p:cNvSpPr txBox="1"/>
          <p:nvPr/>
        </p:nvSpPr>
        <p:spPr>
          <a:xfrm>
            <a:off x="4251960" y="1554480"/>
            <a:ext cx="237744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Ward</a:t>
            </a:r>
            <a:endParaRPr lang="en-US" sz="1300" dirty="0"/>
          </a:p>
        </p:txBody>
      </p:sp>
      <p:sp>
        <p:nvSpPr>
          <p:cNvPr id="14" name="Text 12"/>
          <p:cNvSpPr txBox="1"/>
          <p:nvPr/>
        </p:nvSpPr>
        <p:spPr>
          <a:xfrm>
            <a:off x="4251960" y="2011680"/>
            <a:ext cx="2377440" cy="512064"/>
          </a:xfrm>
          <a:prstGeom prst="rect">
            <a:avLst/>
          </a:prstGeom>
          <a:noFill/>
          <a:ln/>
        </p:spPr>
        <p:txBody>
          <a:bodyPr wrap="square" lIns="0" tIns="0" rIns="0" bIns="0" rtlCol="0" anchor="t"/>
          <a:lstStyle/>
          <a:p>
            <a:pPr indent="0" marL="0">
              <a:spcAft>
                <a:spcPts val="400"/>
              </a:spcAft>
              <a:buNone/>
            </a:pPr>
            <a:r>
              <a:rPr lang="en-US" sz="1100" b="1" u="sng" dirty="0">
                <a:solidFill>
                  <a:srgbClr val="1F2429"/>
                </a:solidFill>
                <a:latin typeface="Courier New" pitchFamily="34" charset="0"/>
                <a:ea typeface="Courier New" pitchFamily="34" charset="-122"/>
                <a:cs typeface="Courier New" pitchFamily="34" charset="-120"/>
              </a:rPr>
              <a:t>wardNo</a:t>
            </a:r>
            <a:endParaRPr lang="en-US" sz="1100" dirty="0"/>
          </a:p>
        </p:txBody>
      </p:sp>
      <p:sp>
        <p:nvSpPr>
          <p:cNvPr id="15" name="Shape 13"/>
          <p:cNvSpPr/>
          <p:nvPr/>
        </p:nvSpPr>
        <p:spPr>
          <a:xfrm>
            <a:off x="3291840" y="2057400"/>
            <a:ext cx="822960" cy="0"/>
          </a:xfrm>
          <a:prstGeom prst="line">
            <a:avLst/>
          </a:prstGeom>
          <a:noFill/>
          <a:ln w="22225">
            <a:solidFill>
              <a:srgbClr val="E8A33D"/>
            </a:solidFill>
            <a:prstDash val="solid"/>
          </a:ln>
        </p:spPr>
      </p:sp>
      <p:sp>
        <p:nvSpPr>
          <p:cNvPr id="16" name="Shape 14"/>
          <p:cNvSpPr/>
          <p:nvPr/>
        </p:nvSpPr>
        <p:spPr>
          <a:xfrm>
            <a:off x="3186684" y="1911096"/>
            <a:ext cx="1033272" cy="292608"/>
          </a:xfrm>
          <a:prstGeom prst="roundRect">
            <a:avLst>
              <a:gd name="adj" fmla="val 50000"/>
            </a:avLst>
          </a:prstGeom>
          <a:solidFill>
            <a:srgbClr val="E8A33D"/>
          </a:solidFill>
          <a:ln/>
        </p:spPr>
      </p:sp>
      <p:sp>
        <p:nvSpPr>
          <p:cNvPr id="17" name="Text 15"/>
          <p:cNvSpPr txBox="1"/>
          <p:nvPr/>
        </p:nvSpPr>
        <p:spPr>
          <a:xfrm>
            <a:off x="3186684" y="1911096"/>
            <a:ext cx="103327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AssignedTo</a:t>
            </a:r>
            <a:endParaRPr lang="en-US" sz="1000" dirty="0"/>
          </a:p>
        </p:txBody>
      </p:sp>
      <p:sp>
        <p:nvSpPr>
          <p:cNvPr id="18" name="Shape 16"/>
          <p:cNvSpPr/>
          <p:nvPr/>
        </p:nvSpPr>
        <p:spPr>
          <a:xfrm>
            <a:off x="3337560" y="1600200"/>
            <a:ext cx="466344" cy="256032"/>
          </a:xfrm>
          <a:prstGeom prst="roundRect">
            <a:avLst>
              <a:gd name="adj" fmla="val 50000"/>
            </a:avLst>
          </a:prstGeom>
          <a:solidFill>
            <a:srgbClr val="2FE6C4"/>
          </a:solidFill>
          <a:ln/>
        </p:spPr>
      </p:sp>
      <p:sp>
        <p:nvSpPr>
          <p:cNvPr id="19" name="Text 17"/>
          <p:cNvSpPr txBox="1"/>
          <p:nvPr/>
        </p:nvSpPr>
        <p:spPr>
          <a:xfrm>
            <a:off x="3337560" y="1600200"/>
            <a:ext cx="466344"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a:t>
            </a:r>
            <a:endParaRPr lang="en-US" sz="1000" dirty="0"/>
          </a:p>
        </p:txBody>
      </p:sp>
      <p:sp>
        <p:nvSpPr>
          <p:cNvPr id="20" name="Shape 18"/>
          <p:cNvSpPr/>
          <p:nvPr/>
        </p:nvSpPr>
        <p:spPr>
          <a:xfrm>
            <a:off x="3602736" y="2258568"/>
            <a:ext cx="466344" cy="256032"/>
          </a:xfrm>
          <a:prstGeom prst="roundRect">
            <a:avLst>
              <a:gd name="adj" fmla="val 50000"/>
            </a:avLst>
          </a:prstGeom>
          <a:solidFill>
            <a:srgbClr val="E8A33D"/>
          </a:solidFill>
          <a:ln/>
        </p:spPr>
      </p:sp>
      <p:sp>
        <p:nvSpPr>
          <p:cNvPr id="21" name="Text 19"/>
          <p:cNvSpPr txBox="1"/>
          <p:nvPr/>
        </p:nvSpPr>
        <p:spPr>
          <a:xfrm>
            <a:off x="3602736" y="2258568"/>
            <a:ext cx="466344"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a:t>
            </a:r>
            <a:endParaRPr lang="en-US" sz="1000" dirty="0"/>
          </a:p>
        </p:txBody>
      </p:sp>
      <p:sp>
        <p:nvSpPr>
          <p:cNvPr id="22" name="Text 20"/>
          <p:cNvSpPr txBox="1"/>
          <p:nvPr/>
        </p:nvSpPr>
        <p:spPr>
          <a:xfrm>
            <a:off x="7315200" y="1417320"/>
            <a:ext cx="420624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NurseWardAssignment</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0" y="1728216"/>
          <a:ext cx="4206240" cy="914400"/>
        </p:xfrm>
        <a:graphic>
          <a:graphicData uri="http://schemas.openxmlformats.org/drawingml/2006/table">
            <a:tbl>
              <a:tblPr/>
              <a:tblGrid>
                <a:gridCol w="2103120"/>
                <a:gridCol w="2103120"/>
              </a:tblGrid>
              <a:tr h="329184">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staffNo</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8B7FD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wardNo</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8B7FD9"/>
                    </a:solidFill>
                  </a:tcPr>
                </a:tc>
              </a:tr>
              <a:tr h="329184">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S027</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W1</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29184">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S027</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W2</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29184">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S041</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W1</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24" name="Shape 21"/>
          <p:cNvSpPr/>
          <p:nvPr/>
        </p:nvSpPr>
        <p:spPr>
          <a:xfrm>
            <a:off x="640080" y="3154680"/>
            <a:ext cx="10881360" cy="2148840"/>
          </a:xfrm>
          <a:prstGeom prst="roundRect">
            <a:avLst>
              <a:gd name="adj" fmla="val 2553"/>
            </a:avLst>
          </a:prstGeom>
          <a:solidFill>
            <a:srgbClr val="1F2429"/>
          </a:solidFill>
          <a:ln/>
        </p:spPr>
      </p:sp>
      <p:sp>
        <p:nvSpPr>
          <p:cNvPr id="25" name="Text 22"/>
          <p:cNvSpPr txBox="1"/>
          <p:nvPr/>
        </p:nvSpPr>
        <p:spPr>
          <a:xfrm>
            <a:off x="822960" y="3291840"/>
            <a:ext cx="10515600" cy="228600"/>
          </a:xfrm>
          <a:prstGeom prst="rect">
            <a:avLst/>
          </a:prstGeom>
          <a:noFill/>
          <a:ln/>
        </p:spPr>
        <p:txBody>
          <a:bodyPr wrap="square" lIns="0" tIns="0" rIns="0" bIns="0" rtlCol="0" anchor="ctr"/>
          <a:lstStyle/>
          <a:p>
            <a:pPr indent="0" marL="0">
              <a:buNone/>
            </a:pPr>
            <a:r>
              <a:rPr lang="en-US" sz="1050" b="1" dirty="0">
                <a:solidFill>
                  <a:srgbClr val="2FE6C4"/>
                </a:solidFill>
                <a:latin typeface="Calibri" pitchFamily="34" charset="0"/>
                <a:ea typeface="Calibri" pitchFamily="34" charset="-122"/>
                <a:cs typeface="Calibri" pitchFamily="34" charset="-120"/>
              </a:rPr>
              <a:t>CREATE TABLE NurseWardAssignment</a:t>
            </a:r>
            <a:endParaRPr lang="en-US" sz="1050" dirty="0"/>
          </a:p>
        </p:txBody>
      </p:sp>
      <p:sp>
        <p:nvSpPr>
          <p:cNvPr id="26" name="Text 23"/>
          <p:cNvSpPr txBox="1"/>
          <p:nvPr/>
        </p:nvSpPr>
        <p:spPr>
          <a:xfrm>
            <a:off x="822960" y="3566160"/>
            <a:ext cx="10515600" cy="1536192"/>
          </a:xfrm>
          <a:prstGeom prst="rect">
            <a:avLst/>
          </a:prstGeom>
          <a:noFill/>
          <a:ln/>
        </p:spPr>
        <p:txBody>
          <a:bodyPr wrap="square" lIns="0" tIns="0" rIns="0" bIns="0" rtlCol="0" anchor="t"/>
          <a:lstStyle/>
          <a:p>
            <a:pPr indent="0" marL="0">
              <a:lnSpc>
                <a:spcPct val="122000"/>
              </a:lnSpc>
              <a:buNone/>
            </a:pPr>
            <a:r>
              <a:rPr lang="en-US" sz="1050" dirty="0">
                <a:solidFill>
                  <a:srgbClr val="E8EAED"/>
                </a:solidFill>
                <a:latin typeface="Courier New" pitchFamily="34" charset="0"/>
                <a:ea typeface="Courier New" pitchFamily="34" charset="-122"/>
                <a:cs typeface="Courier New" pitchFamily="34" charset="-120"/>
              </a:rPr>
              <a:t>CREATE TABLE NurseWardAssignment (</a:t>
            </a:r>
            <a:endParaRPr lang="en-US" sz="1050" dirty="0"/>
          </a:p>
          <a:p>
            <a:pPr indent="0" marL="0">
              <a:lnSpc>
                <a:spcPct val="122000"/>
              </a:lnSpc>
              <a:buNone/>
            </a:pPr>
            <a:r>
              <a:rPr lang="en-US" sz="1050" dirty="0">
                <a:solidFill>
                  <a:srgbClr val="E8EAED"/>
                </a:solidFill>
                <a:latin typeface="Courier New" pitchFamily="34" charset="0"/>
                <a:ea typeface="Courier New" pitchFamily="34" charset="-122"/>
                <a:cs typeface="Courier New" pitchFamily="34" charset="-120"/>
              </a:rPr>
              <a:t>  staffNo  VARCHAR(6) NOT NULL,</a:t>
            </a:r>
            <a:endParaRPr lang="en-US" sz="1050" dirty="0"/>
          </a:p>
          <a:p>
            <a:pPr indent="0" marL="0">
              <a:lnSpc>
                <a:spcPct val="122000"/>
              </a:lnSpc>
              <a:buNone/>
            </a:pPr>
            <a:r>
              <a:rPr lang="en-US" sz="1050" dirty="0">
                <a:solidFill>
                  <a:srgbClr val="E8EAED"/>
                </a:solidFill>
                <a:latin typeface="Courier New" pitchFamily="34" charset="0"/>
                <a:ea typeface="Courier New" pitchFamily="34" charset="-122"/>
                <a:cs typeface="Courier New" pitchFamily="34" charset="-120"/>
              </a:rPr>
              <a:t>  wardNo   VARCHAR(4) NOT NULL,</a:t>
            </a:r>
            <a:endParaRPr lang="en-US" sz="1050" dirty="0"/>
          </a:p>
          <a:p>
            <a:pPr indent="0" marL="0">
              <a:lnSpc>
                <a:spcPct val="122000"/>
              </a:lnSpc>
              <a:buNone/>
            </a:pPr>
            <a:r>
              <a:rPr lang="en-US" sz="1050" dirty="0">
                <a:solidFill>
                  <a:srgbClr val="E8EAED"/>
                </a:solidFill>
                <a:latin typeface="Courier New" pitchFamily="34" charset="0"/>
                <a:ea typeface="Courier New" pitchFamily="34" charset="-122"/>
                <a:cs typeface="Courier New" pitchFamily="34" charset="-120"/>
              </a:rPr>
              <a:t>  PRIMARY KEY (staffNo, wardNo),</a:t>
            </a:r>
            <a:endParaRPr lang="en-US" sz="1050" dirty="0"/>
          </a:p>
          <a:p>
            <a:pPr indent="0" marL="0">
              <a:lnSpc>
                <a:spcPct val="122000"/>
              </a:lnSpc>
              <a:buNone/>
            </a:pPr>
            <a:r>
              <a:rPr lang="en-US" sz="1050" dirty="0">
                <a:solidFill>
                  <a:srgbClr val="E8EAED"/>
                </a:solidFill>
                <a:latin typeface="Courier New" pitchFamily="34" charset="0"/>
                <a:ea typeface="Courier New" pitchFamily="34" charset="-122"/>
                <a:cs typeface="Courier New" pitchFamily="34" charset="-120"/>
              </a:rPr>
              <a:t>  FOREIGN KEY (staffNo) REFERENCES Staff(staffNo),</a:t>
            </a:r>
            <a:endParaRPr lang="en-US" sz="1050" dirty="0"/>
          </a:p>
          <a:p>
            <a:pPr indent="0" marL="0">
              <a:lnSpc>
                <a:spcPct val="122000"/>
              </a:lnSpc>
              <a:buNone/>
            </a:pPr>
            <a:r>
              <a:rPr lang="en-US" sz="1050" dirty="0">
                <a:solidFill>
                  <a:srgbClr val="E8EAED"/>
                </a:solidFill>
                <a:latin typeface="Courier New" pitchFamily="34" charset="0"/>
                <a:ea typeface="Courier New" pitchFamily="34" charset="-122"/>
                <a:cs typeface="Courier New" pitchFamily="34" charset="-120"/>
              </a:rPr>
              <a:t>  FOREIGN KEY (wardNo)  REFERENCES Ward(wardNo)</a:t>
            </a:r>
            <a:endParaRPr lang="en-US" sz="1050" dirty="0"/>
          </a:p>
          <a:p>
            <a:pPr indent="0" marL="0">
              <a:lnSpc>
                <a:spcPct val="122000"/>
              </a:lnSpc>
              <a:buNone/>
            </a:pPr>
            <a:r>
              <a:rPr lang="en-US" sz="1050" dirty="0">
                <a:solidFill>
                  <a:srgbClr val="E8EAED"/>
                </a:solidFill>
                <a:latin typeface="Courier New" pitchFamily="34" charset="0"/>
                <a:ea typeface="Courier New" pitchFamily="34" charset="-122"/>
                <a:cs typeface="Courier New" pitchFamily="34" charset="-120"/>
              </a:rPr>
              <a:t>);</a:t>
            </a:r>
            <a:endParaRPr lang="en-US" sz="1050" dirty="0"/>
          </a:p>
        </p:txBody>
      </p:sp>
      <p:sp>
        <p:nvSpPr>
          <p:cNvPr id="27" name="Text 24"/>
          <p:cNvSpPr txBox="1"/>
          <p:nvPr/>
        </p:nvSpPr>
        <p:spPr>
          <a:xfrm>
            <a:off x="640080" y="5440680"/>
            <a:ext cx="10881360" cy="640080"/>
          </a:xfrm>
          <a:prstGeom prst="rect">
            <a:avLst/>
          </a:prstGeom>
          <a:noFill/>
          <a:ln/>
        </p:spPr>
        <p:txBody>
          <a:bodyPr wrap="square" lIns="0" tIns="0" rIns="0" bIns="0" rtlCol="0" anchor="ctr"/>
          <a:lstStyle/>
          <a:p>
            <a:pPr indent="0" marL="0">
              <a:buNone/>
            </a:pPr>
            <a:r>
              <a:rPr lang="en-US" sz="1100" i="1" dirty="0">
                <a:solidFill>
                  <a:srgbClr val="8A939B"/>
                </a:solidFill>
                <a:latin typeface="Calibri" pitchFamily="34" charset="0"/>
                <a:ea typeface="Calibri" pitchFamily="34" charset="-122"/>
                <a:cs typeface="Calibri" pitchFamily="34" charset="-120"/>
              </a:rPr>
              <a:t>This is exactly why relationships with attributes became entities in Lecture 13: whether you call it “a relationship with attributes” or “the M:N relationship's own relation,” you land on the identical structure.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Rule 6 — Mapping Multi-Valued Attributes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9</a:t>
            </a:r>
            <a:endParaRPr lang="en-US" sz="1000" dirty="0"/>
          </a:p>
        </p:txBody>
      </p:sp>
      <p:sp>
        <p:nvSpPr>
          <p:cNvPr id="4" name="Text 2"/>
          <p:cNvSpPr txBox="1"/>
          <p:nvPr/>
        </p:nvSpPr>
        <p:spPr>
          <a:xfrm>
            <a:off x="640080" y="960120"/>
            <a:ext cx="10881360" cy="685800"/>
          </a:xfrm>
          <a:prstGeom prst="rect">
            <a:avLst/>
          </a:prstGeom>
          <a:noFill/>
          <a:ln/>
        </p:spPr>
        <p:txBody>
          <a:bodyPr wrap="square" lIns="0" tIns="0" rIns="0" bIns="0" rtlCol="0" anchor="ctr"/>
          <a:lstStyle/>
          <a:p>
            <a:pPr indent="0" marL="0">
              <a:buNone/>
            </a:pPr>
            <a:r>
              <a:rPr lang="en-US" sz="1350" dirty="0">
                <a:solidFill>
                  <a:srgbClr val="1F2429"/>
                </a:solidFill>
                <a:latin typeface="Calibri" pitchFamily="34" charset="0"/>
                <a:ea typeface="Calibri" pitchFamily="34" charset="-122"/>
                <a:cs typeface="Calibri" pitchFamily="34" charset="-120"/>
              </a:rPr>
              <a:t>A multi-valued attribute can never be stored as an ordinary column — it ALWAYS becomes its own relation, with a composite primary key of the owning entity's key plus the attribute itself.</a:t>
            </a:r>
            <a:endParaRPr lang="en-US" sz="1350" dirty="0"/>
          </a:p>
        </p:txBody>
      </p:sp>
      <p:sp>
        <p:nvSpPr>
          <p:cNvPr id="5" name="Text 3"/>
          <p:cNvSpPr txBox="1"/>
          <p:nvPr/>
        </p:nvSpPr>
        <p:spPr>
          <a:xfrm>
            <a:off x="640080" y="1828800"/>
            <a:ext cx="749808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PatientPhone(patientNo, phoneNumber)</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2139696"/>
          <a:ext cx="7498080" cy="914400"/>
        </p:xfrm>
        <a:graphic>
          <a:graphicData uri="http://schemas.openxmlformats.org/drawingml/2006/table">
            <a:tbl>
              <a:tblPr/>
              <a:tblGrid>
                <a:gridCol w="3749040"/>
                <a:gridCol w="374904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patientNo</a:t>
                      </a:r>
                      <a:endParaRPr lang="en-US" sz="12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phoneNumber</a:t>
                      </a:r>
                      <a:endParaRPr lang="en-US" sz="12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r>
              <a:tr h="384048">
                <a:tc>
                  <a:txBody>
                    <a:bodyPr/>
                    <a:lstStyle/>
                    <a:p>
                      <a:pPr algn="ctr" indent="0" marL="0">
                        <a:buNone/>
                      </a:pPr>
                      <a:r>
                        <a:rPr lang="en-US" sz="1150" dirty="0">
                          <a:solidFill>
                            <a:srgbClr val="1F2429"/>
                          </a:solidFill>
                          <a:latin typeface="Courier New" pitchFamily="34" charset="0"/>
                          <a:ea typeface="Courier New" pitchFamily="34" charset="-122"/>
                          <a:cs typeface="Courier New" pitchFamily="34" charset="-120"/>
                        </a:rPr>
                        <a:t>P0142</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F2429"/>
                          </a:solidFill>
                          <a:latin typeface="Courier New" pitchFamily="34" charset="0"/>
                          <a:ea typeface="Courier New" pitchFamily="34" charset="-122"/>
                          <a:cs typeface="Courier New" pitchFamily="34" charset="-120"/>
                        </a:rPr>
                        <a:t>0300-1234567</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84048">
                <a:tc>
                  <a:txBody>
                    <a:bodyPr/>
                    <a:lstStyle/>
                    <a:p>
                      <a:pPr algn="ctr" indent="0" marL="0">
                        <a:buNone/>
                      </a:pPr>
                      <a:r>
                        <a:rPr lang="en-US" sz="1150" dirty="0">
                          <a:solidFill>
                            <a:srgbClr val="1F2429"/>
                          </a:solidFill>
                          <a:latin typeface="Courier New" pitchFamily="34" charset="0"/>
                          <a:ea typeface="Courier New" pitchFamily="34" charset="-122"/>
                          <a:cs typeface="Courier New" pitchFamily="34" charset="-120"/>
                        </a:rPr>
                        <a:t>P0142</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F2429"/>
                          </a:solidFill>
                          <a:latin typeface="Courier New" pitchFamily="34" charset="0"/>
                          <a:ea typeface="Courier New" pitchFamily="34" charset="-122"/>
                          <a:cs typeface="Courier New" pitchFamily="34" charset="-120"/>
                        </a:rPr>
                        <a:t>021-34567890</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84048">
                <a:tc>
                  <a:txBody>
                    <a:bodyPr/>
                    <a:lstStyle/>
                    <a:p>
                      <a:pPr algn="ctr" indent="0" marL="0">
                        <a:buNone/>
                      </a:pPr>
                      <a:r>
                        <a:rPr lang="en-US" sz="1150" dirty="0">
                          <a:solidFill>
                            <a:srgbClr val="1F2429"/>
                          </a:solidFill>
                          <a:latin typeface="Courier New" pitchFamily="34" charset="0"/>
                          <a:ea typeface="Courier New" pitchFamily="34" charset="-122"/>
                          <a:cs typeface="Courier New" pitchFamily="34" charset="-120"/>
                        </a:rPr>
                        <a:t>P0198</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F2429"/>
                          </a:solidFill>
                          <a:latin typeface="Courier New" pitchFamily="34" charset="0"/>
                          <a:ea typeface="Courier New" pitchFamily="34" charset="-122"/>
                          <a:cs typeface="Courier New" pitchFamily="34" charset="-120"/>
                        </a:rPr>
                        <a:t>0333-9876543</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3749040"/>
            <a:ext cx="10881360" cy="1737360"/>
          </a:xfrm>
          <a:prstGeom prst="roundRect">
            <a:avLst>
              <a:gd name="adj" fmla="val 4211"/>
            </a:avLst>
          </a:prstGeom>
          <a:solidFill>
            <a:srgbClr val="FFFFFF"/>
          </a:solidFill>
          <a:ln w="12700">
            <a:solidFill>
              <a:srgbClr val="E8A33D"/>
            </a:solidFill>
            <a:prstDash val="solid"/>
          </a:ln>
        </p:spPr>
      </p:sp>
      <p:sp>
        <p:nvSpPr>
          <p:cNvPr id="8" name="Shape 5"/>
          <p:cNvSpPr/>
          <p:nvPr/>
        </p:nvSpPr>
        <p:spPr>
          <a:xfrm>
            <a:off x="640080" y="3749040"/>
            <a:ext cx="54864" cy="1737360"/>
          </a:xfrm>
          <a:prstGeom prst="rect">
            <a:avLst/>
          </a:prstGeom>
          <a:solidFill>
            <a:srgbClr val="E8A33D"/>
          </a:solidFill>
          <a:ln/>
        </p:spPr>
      </p:sp>
      <p:sp>
        <p:nvSpPr>
          <p:cNvPr id="9" name="Text 6"/>
          <p:cNvSpPr txBox="1"/>
          <p:nvPr/>
        </p:nvSpPr>
        <p:spPr>
          <a:xfrm>
            <a:off x="841248" y="3858768"/>
            <a:ext cx="10515600" cy="256032"/>
          </a:xfrm>
          <a:prstGeom prst="rect">
            <a:avLst/>
          </a:prstGeom>
          <a:noFill/>
          <a:ln/>
        </p:spPr>
        <p:txBody>
          <a:bodyPr wrap="square" lIns="0" tIns="0" rIns="0" bIns="0"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Mirrors Rule 2's weak-entity pattern almost exactly</a:t>
            </a:r>
            <a:endParaRPr lang="en-US" sz="1200" dirty="0"/>
          </a:p>
        </p:txBody>
      </p:sp>
      <p:sp>
        <p:nvSpPr>
          <p:cNvPr id="10" name="Text 7"/>
          <p:cNvSpPr txBox="1"/>
          <p:nvPr/>
        </p:nvSpPr>
        <p:spPr>
          <a:xfrm>
            <a:off x="841248" y="4133088"/>
            <a:ext cx="10515600" cy="1261872"/>
          </a:xfrm>
          <a:prstGeom prst="rect">
            <a:avLst/>
          </a:prstGeom>
          <a:noFill/>
          <a:ln/>
        </p:spPr>
        <p:txBody>
          <a:bodyPr wrap="square" lIns="0" tIns="0" rIns="0" bIns="0" rtlCol="0" anchor="t"/>
          <a:lstStyle/>
          <a:p>
            <a:pPr indent="0" marL="0">
              <a:lnSpc>
                <a:spcPct val="115000"/>
              </a:lnSpc>
              <a:buNone/>
            </a:pPr>
            <a:r>
              <a:rPr lang="en-US" sz="1100" dirty="0">
                <a:solidFill>
                  <a:srgbClr val="1F2429"/>
                </a:solidFill>
                <a:latin typeface="Calibri" pitchFamily="34" charset="0"/>
                <a:ea typeface="Calibri" pitchFamily="34" charset="-122"/>
                <a:cs typeface="Calibri" pitchFamily="34" charset="-120"/>
              </a:rPr>
              <a:t>phoneNumber is, in effect, treated the same way a weak entity's partial key is: meaningless without patientNo beside it. Same composite-key shape, different motivating construct.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Rule 7 — Mapping Specialization: Three Strategies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10</a:t>
            </a:r>
            <a:endParaRPr lang="en-US" sz="1000" dirty="0"/>
          </a:p>
        </p:txBody>
      </p:sp>
      <p:sp>
        <p:nvSpPr>
          <p:cNvPr id="4" name="Text 2"/>
          <p:cNvSpPr txBox="1"/>
          <p:nvPr/>
        </p:nvSpPr>
        <p:spPr>
          <a:xfrm>
            <a:off x="640080" y="914400"/>
            <a:ext cx="10881360" cy="594360"/>
          </a:xfrm>
          <a:prstGeom prst="rect">
            <a:avLst/>
          </a:prstGeom>
          <a:noFill/>
          <a:ln/>
        </p:spPr>
        <p:txBody>
          <a:bodyPr wrap="square" lIns="0" tIns="0" rIns="0" bIns="0" rtlCol="0" anchor="ctr"/>
          <a:lstStyle/>
          <a:p>
            <a:pPr indent="0" marL="0">
              <a:buNone/>
            </a:pPr>
            <a:r>
              <a:rPr lang="en-US" sz="1300" dirty="0">
                <a:solidFill>
                  <a:srgbClr val="1F2429"/>
                </a:solidFill>
                <a:latin typeface="Calibri" pitchFamily="34" charset="0"/>
                <a:ea typeface="Calibri" pitchFamily="34" charset="-122"/>
                <a:cs typeface="Calibri" pitchFamily="34" charset="-120"/>
              </a:rPr>
              <a:t>Mapping stops being mechanical here — Connolly &amp; Begg present three viable strategies; the right one depends on the disjoint/overlapping and total/partial constraints from Lecture 14.</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881360" cy="914400"/>
        </p:xfrm>
        <a:graphic>
          <a:graphicData uri="http://schemas.openxmlformats.org/drawingml/2006/table">
            <a:tbl>
              <a:tblPr/>
              <a:tblGrid>
                <a:gridCol w="3627120"/>
                <a:gridCol w="3627120"/>
                <a:gridCol w="3627120"/>
              </a:tblGrid>
              <a:tr h="621792">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Strategy</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8B7FD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Works well when</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8B7FD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Trade-off</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8B7FD9"/>
                    </a:solidFill>
                  </a:tcPr>
                </a:tc>
              </a:tr>
              <a:tr h="621792">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A — subclass-only</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Disjoint AND total (every occurrence is exactly one subclass)</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Shared attributes duplicated across tables; “all staff” needs a UNION</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621792">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B — superclass + subclasses</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ANY combination of constraints — the general-purpose default</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One extra join needed to retrieve a subclass occurrence's full attributes</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621792">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C — single table + discriminator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Disjoint, small subclass-specific attribute sets</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Many NULL columns as subclasses grow — “attribute overload” reappearing</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640080" y="4480560"/>
            <a:ext cx="10881360" cy="365760"/>
          </a:xfrm>
          <a:prstGeom prst="rect">
            <a:avLst/>
          </a:prstGeom>
          <a:noFill/>
          <a:ln/>
        </p:spPr>
        <p:txBody>
          <a:bodyPr wrap="square" lIns="0" tIns="0" rIns="0" bIns="0" rtlCol="0" anchor="ctr"/>
          <a:lstStyle/>
          <a:p>
            <a:pPr indent="0" marL="0">
              <a:buNone/>
            </a:pPr>
            <a:r>
              <a:rPr lang="en-US" sz="1150" i="1" dirty="0">
                <a:solidFill>
                  <a:srgbClr val="8A939B"/>
                </a:solidFill>
                <a:latin typeface="Calibri" pitchFamily="34" charset="0"/>
                <a:ea typeface="Calibri" pitchFamily="34" charset="-122"/>
                <a:cs typeface="Calibri" pitchFamily="34" charset="-120"/>
              </a:rPr>
              <a:t>Recall: Staff specialized into four roles — disjoint, total (Lecture 15)</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Rule 7 — Strategies A and C, Worked</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11</a:t>
            </a:r>
            <a:endParaRPr lang="en-US" sz="1000" dirty="0"/>
          </a:p>
        </p:txBody>
      </p:sp>
      <p:sp>
        <p:nvSpPr>
          <p:cNvPr id="4" name="Text 2"/>
          <p:cNvSpPr txBox="1"/>
          <p:nvPr/>
        </p:nvSpPr>
        <p:spPr>
          <a:xfrm>
            <a:off x="640080" y="1005840"/>
            <a:ext cx="1088136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Strategy A — Doctor(staffNo, cnic, name, licenseNo, consultationFee)</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316736"/>
          <a:ext cx="10881360" cy="914400"/>
        </p:xfrm>
        <a:graphic>
          <a:graphicData uri="http://schemas.openxmlformats.org/drawingml/2006/table">
            <a:tbl>
              <a:tblPr/>
              <a:tblGrid>
                <a:gridCol w="2176272"/>
                <a:gridCol w="2176272"/>
                <a:gridCol w="2176272"/>
                <a:gridCol w="2176272"/>
                <a:gridCol w="2176272"/>
              </a:tblGrid>
              <a:tr h="384048">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staffNo</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cnic</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name</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licenseNo</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consultationFee</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r>
              <a:tr h="384048">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S014</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35202-...</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Dr. Amina Raza</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PMC-4471</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2500</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640080" y="2834640"/>
            <a:ext cx="1088136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Strategy C — Staff(staffNo, cnic, name, staffType, licenseNo, shift, labSpecialty, officeRole)</a:t>
            </a:r>
            <a:endParaRPr lang="en-US" sz="125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40080" y="3145536"/>
          <a:ext cx="10881360" cy="914400"/>
        </p:xfrm>
        <a:graphic>
          <a:graphicData uri="http://schemas.openxmlformats.org/drawingml/2006/table">
            <a:tbl>
              <a:tblPr/>
              <a:tblGrid>
                <a:gridCol w="2176272"/>
                <a:gridCol w="2176272"/>
                <a:gridCol w="2176272"/>
                <a:gridCol w="2176272"/>
                <a:gridCol w="2176272"/>
              </a:tblGrid>
              <a:tr h="384048">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staffNo</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name</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staffType</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licenseNo</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shift</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r>
              <a:tr h="384048">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S014</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Dr. Amina Raza</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Doctor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PMC-4471</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NULL</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84048">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S027</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Bilal Ahmed</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Nurse</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NULL</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Night</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4709160"/>
            <a:ext cx="10881360" cy="1691640"/>
          </a:xfrm>
          <a:prstGeom prst="roundRect">
            <a:avLst>
              <a:gd name="adj" fmla="val 4324"/>
            </a:avLst>
          </a:prstGeom>
          <a:solidFill>
            <a:srgbClr val="FFFFFF"/>
          </a:solidFill>
          <a:ln w="12700">
            <a:solidFill>
              <a:srgbClr val="E8A33D"/>
            </a:solidFill>
            <a:prstDash val="solid"/>
          </a:ln>
        </p:spPr>
      </p:sp>
      <p:sp>
        <p:nvSpPr>
          <p:cNvPr id="9" name="Shape 5"/>
          <p:cNvSpPr/>
          <p:nvPr/>
        </p:nvSpPr>
        <p:spPr>
          <a:xfrm>
            <a:off x="640080" y="4709160"/>
            <a:ext cx="54864" cy="1691640"/>
          </a:xfrm>
          <a:prstGeom prst="rect">
            <a:avLst/>
          </a:prstGeom>
          <a:solidFill>
            <a:srgbClr val="E8A33D"/>
          </a:solidFill>
          <a:ln/>
        </p:spPr>
      </p:sp>
      <p:sp>
        <p:nvSpPr>
          <p:cNvPr id="10" name="Text 6"/>
          <p:cNvSpPr txBox="1"/>
          <p:nvPr/>
        </p:nvSpPr>
        <p:spPr>
          <a:xfrm>
            <a:off x="841248" y="4818888"/>
            <a:ext cx="10515600" cy="256032"/>
          </a:xfrm>
          <a:prstGeom prst="rect">
            <a:avLst/>
          </a:prstGeom>
          <a:noFill/>
          <a:ln/>
        </p:spPr>
        <p:txBody>
          <a:bodyPr wrap="square" lIns="0" tIns="0" rIns="0" bIns="0"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Strategy A drops the superclass table; Strategy C folds everything into one wide table</a:t>
            </a:r>
            <a:endParaRPr lang="en-US" sz="1200" dirty="0"/>
          </a:p>
        </p:txBody>
      </p:sp>
      <p:sp>
        <p:nvSpPr>
          <p:cNvPr id="11" name="Text 7"/>
          <p:cNvSpPr txBox="1"/>
          <p:nvPr/>
        </p:nvSpPr>
        <p:spPr>
          <a:xfrm>
            <a:off x="841248" y="5093208"/>
            <a:ext cx="10515600" cy="1216152"/>
          </a:xfrm>
          <a:prstGeom prst="rect">
            <a:avLst/>
          </a:prstGeom>
          <a:noFill/>
          <a:ln/>
        </p:spPr>
        <p:txBody>
          <a:bodyPr wrap="square" lIns="0" tIns="0" rIns="0" bIns="0" rtlCol="0" anchor="t"/>
          <a:lstStyle/>
          <a:p>
            <a:pPr indent="0" marL="0">
              <a:lnSpc>
                <a:spcPct val="115000"/>
              </a:lnSpc>
              <a:buNone/>
            </a:pPr>
            <a:r>
              <a:rPr lang="en-US" sz="1100" dirty="0">
                <a:solidFill>
                  <a:srgbClr val="1F2429"/>
                </a:solidFill>
                <a:latin typeface="Calibri" pitchFamily="34" charset="0"/>
                <a:ea typeface="Calibri" pitchFamily="34" charset="-122"/>
                <a:cs typeface="Calibri" pitchFamily="34" charset="-120"/>
              </a:rPr>
              <a:t>Strategy A: every subclass relation carries the FULL inherited attribute set, duplicated. Strategy C: every subclass's attributes folded into one table, left NULL where they don't apply, plus a discriminator column (staffType) recording which subclass a row actually is.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Rule 7 — Strategy B: the Default, and the Hospital's Multi-Level Case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12</a:t>
            </a:r>
            <a:endParaRPr lang="en-US" sz="1000" dirty="0"/>
          </a:p>
        </p:txBody>
      </p:sp>
      <p:sp>
        <p:nvSpPr>
          <p:cNvPr id="4" name="Text 2"/>
          <p:cNvSpPr txBox="1"/>
          <p:nvPr/>
        </p:nvSpPr>
        <p:spPr>
          <a:xfrm>
            <a:off x="640080" y="914400"/>
            <a:ext cx="521208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Staff(staffNo, cnic, name, ...)</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225296"/>
          <a:ext cx="5212080" cy="914400"/>
        </p:xfrm>
        <a:graphic>
          <a:graphicData uri="http://schemas.openxmlformats.org/drawingml/2006/table">
            <a:tbl>
              <a:tblPr/>
              <a:tblGrid>
                <a:gridCol w="1737360"/>
                <a:gridCol w="1737360"/>
                <a:gridCol w="1737360"/>
              </a:tblGrid>
              <a:tr h="36576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staffNo</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cnic</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name</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r>
              <a:tr h="365760">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S014</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35202-...</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Dr. Amina Raza</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6126480" y="914400"/>
            <a:ext cx="539496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Doctor(staffNo, licenseNo, consultationFee)</a:t>
            </a:r>
            <a:endParaRPr lang="en-US" sz="125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126480" y="1225296"/>
          <a:ext cx="5394960" cy="914400"/>
        </p:xfrm>
        <a:graphic>
          <a:graphicData uri="http://schemas.openxmlformats.org/drawingml/2006/table">
            <a:tbl>
              <a:tblPr/>
              <a:tblGrid>
                <a:gridCol w="1798320"/>
                <a:gridCol w="1798320"/>
                <a:gridCol w="1798320"/>
              </a:tblGrid>
              <a:tr h="36576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staffNo</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8B7FD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licenseNo</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8B7FD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consultationFee</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8B7FD9"/>
                    </a:solidFill>
                  </a:tcPr>
                </a:tc>
              </a:tr>
              <a:tr h="365760">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S014</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PMC-4471</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2500</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40080" y="2103120"/>
            <a:ext cx="10881360" cy="502920"/>
          </a:xfrm>
          <a:prstGeom prst="rect">
            <a:avLst/>
          </a:prstGeom>
          <a:noFill/>
          <a:ln/>
        </p:spPr>
        <p:txBody>
          <a:bodyPr wrap="square" lIns="0" tIns="0" rIns="0" bIns="0" rtlCol="0" anchor="ctr"/>
          <a:lstStyle/>
          <a:p>
            <a:pPr indent="0" marL="0">
              <a:buNone/>
            </a:pPr>
            <a:r>
              <a:rPr lang="en-US" sz="1150" i="1" dirty="0">
                <a:solidFill>
                  <a:srgbClr val="8A939B"/>
                </a:solidFill>
                <a:latin typeface="Calibri" pitchFamily="34" charset="0"/>
                <a:ea typeface="Calibri" pitchFamily="34" charset="-122"/>
                <a:cs typeface="Calibri" pitchFamily="34" charset="-120"/>
              </a:rPr>
              <a:t>staffNo is PK AND FK back into Staff on the Doctor relation — shared attrs live once on the superclass; each subclass relation holds only its own extra attributes.</a:t>
            </a:r>
            <a:endParaRPr lang="en-US" sz="1150" dirty="0"/>
          </a:p>
        </p:txBody>
      </p:sp>
      <p:sp>
        <p:nvSpPr>
          <p:cNvPr id="9" name="Text 5"/>
          <p:cNvSpPr txBox="1"/>
          <p:nvPr/>
        </p:nvSpPr>
        <p:spPr>
          <a:xfrm>
            <a:off x="640080" y="2743200"/>
            <a:ext cx="521208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Consultant(staffNo, yearsOfExperience, officeRoomNo)</a:t>
            </a:r>
            <a:endParaRPr lang="en-US" sz="1250" dirty="0"/>
          </a:p>
        </p:txBody>
      </p:sp>
      <p:graphicFrame>
        <p:nvGraphicFramePr>
          <p:cNvPr id="37" name="Table 2"/>
          <p:cNvGraphicFramePr>
            <a:graphicFrameLocks noGrp="1"/>
          </p:cNvGraphicFramePr>
          <p:nvPr>
            <p:extLst>
              <p:ext uri="{D42A27DB-BD31-4B8C-83A1-F6EECF244321}">
                <p14:modId xmlns:p14="http://schemas.microsoft.com/office/powerpoint/2010/main" val="1579011935"/>
              </p:ext>
            </p:extLst>
          </p:nvPr>
        </p:nvGraphicFramePr>
        <p:xfrm>
          <a:off x="640080" y="3054096"/>
          <a:ext cx="5212080" cy="914400"/>
        </p:xfrm>
        <a:graphic>
          <a:graphicData uri="http://schemas.openxmlformats.org/drawingml/2006/table">
            <a:tbl>
              <a:tblPr/>
              <a:tblGrid>
                <a:gridCol w="1737360"/>
                <a:gridCol w="1737360"/>
                <a:gridCol w="1737360"/>
              </a:tblGrid>
              <a:tr h="36576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staffNo</a:t>
                      </a:r>
                      <a:endParaRPr lang="en-US" sz="10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years</a:t>
                      </a:r>
                      <a:endParaRPr lang="en-US" sz="10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officeRoomNo</a:t>
                      </a:r>
                      <a:endParaRPr lang="en-US" sz="10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r>
              <a:tr h="365760">
                <a:tc>
                  <a:txBody>
                    <a:bodyPr/>
                    <a:lstStyle/>
                    <a:p>
                      <a:pPr algn="ctr" indent="0" marL="0">
                        <a:buNone/>
                      </a:pPr>
                      <a:r>
                        <a:rPr lang="en-US" sz="950" dirty="0">
                          <a:solidFill>
                            <a:srgbClr val="1F2429"/>
                          </a:solidFill>
                          <a:latin typeface="Courier New" pitchFamily="34" charset="0"/>
                          <a:ea typeface="Courier New" pitchFamily="34" charset="-122"/>
                          <a:cs typeface="Courier New" pitchFamily="34" charset="-120"/>
                        </a:rPr>
                        <a:t>S014</a:t>
                      </a:r>
                      <a:endParaRPr lang="en-US" sz="9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2429"/>
                          </a:solidFill>
                          <a:latin typeface="Courier New" pitchFamily="34" charset="0"/>
                          <a:ea typeface="Courier New" pitchFamily="34" charset="-122"/>
                          <a:cs typeface="Courier New" pitchFamily="34" charset="-120"/>
                        </a:rPr>
                        <a:t>12</a:t>
                      </a:r>
                      <a:endParaRPr lang="en-US" sz="9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2429"/>
                          </a:solidFill>
                          <a:latin typeface="Courier New" pitchFamily="34" charset="0"/>
                          <a:ea typeface="Courier New" pitchFamily="34" charset="-122"/>
                          <a:cs typeface="Courier New" pitchFamily="34" charset="-120"/>
                        </a:rPr>
                        <a:t>C-204</a:t>
                      </a:r>
                      <a:endParaRPr lang="en-US" sz="9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6126480" y="2743200"/>
            <a:ext cx="539496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Resident(staffNo, rotationEndDate, supervisingConsultantNo)</a:t>
            </a:r>
            <a:endParaRPr lang="en-US" sz="1250" dirty="0"/>
          </a:p>
        </p:txBody>
      </p:sp>
      <p:graphicFrame>
        <p:nvGraphicFramePr>
          <p:cNvPr id="49" name="Table 3"/>
          <p:cNvGraphicFramePr>
            <a:graphicFrameLocks noGrp="1"/>
          </p:cNvGraphicFramePr>
          <p:nvPr>
            <p:extLst>
              <p:ext uri="{D42A27DB-BD31-4B8C-83A1-F6EECF244321}">
                <p14:modId xmlns:p14="http://schemas.microsoft.com/office/powerpoint/2010/main" val="1579011935"/>
              </p:ext>
            </p:extLst>
          </p:nvPr>
        </p:nvGraphicFramePr>
        <p:xfrm>
          <a:off x="6126480" y="3054096"/>
          <a:ext cx="5394960" cy="914400"/>
        </p:xfrm>
        <a:graphic>
          <a:graphicData uri="http://schemas.openxmlformats.org/drawingml/2006/table">
            <a:tbl>
              <a:tblPr/>
              <a:tblGrid>
                <a:gridCol w="1798320"/>
                <a:gridCol w="1798320"/>
                <a:gridCol w="1798320"/>
              </a:tblGrid>
              <a:tr h="365760">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staffNo</a:t>
                      </a:r>
                      <a:endParaRPr lang="en-US" sz="9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rotationEndDate</a:t>
                      </a:r>
                      <a:endParaRPr lang="en-US" sz="9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supervisingConsultantNo</a:t>
                      </a:r>
                      <a:endParaRPr lang="en-US" sz="9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E8A33D"/>
                    </a:solidFill>
                  </a:tcPr>
                </a:tc>
              </a:tr>
              <a:tr h="365760">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S099</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2027-01-15</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S014</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13" name="Shape 7"/>
          <p:cNvSpPr/>
          <p:nvPr/>
        </p:nvSpPr>
        <p:spPr>
          <a:xfrm>
            <a:off x="640080" y="3977640"/>
            <a:ext cx="10881360" cy="2377440"/>
          </a:xfrm>
          <a:prstGeom prst="roundRect">
            <a:avLst>
              <a:gd name="adj" fmla="val 3077"/>
            </a:avLst>
          </a:prstGeom>
          <a:solidFill>
            <a:srgbClr val="FFFFFF"/>
          </a:solidFill>
          <a:ln w="12700">
            <a:solidFill>
              <a:srgbClr val="2FE6C4"/>
            </a:solidFill>
            <a:prstDash val="solid"/>
          </a:ln>
        </p:spPr>
      </p:sp>
      <p:sp>
        <p:nvSpPr>
          <p:cNvPr id="14" name="Shape 8"/>
          <p:cNvSpPr/>
          <p:nvPr/>
        </p:nvSpPr>
        <p:spPr>
          <a:xfrm>
            <a:off x="640080" y="3977640"/>
            <a:ext cx="54864" cy="2377440"/>
          </a:xfrm>
          <a:prstGeom prst="rect">
            <a:avLst/>
          </a:prstGeom>
          <a:solidFill>
            <a:srgbClr val="2FE6C4"/>
          </a:solidFill>
          <a:ln/>
        </p:spPr>
      </p:sp>
      <p:sp>
        <p:nvSpPr>
          <p:cNvPr id="15" name="Text 9"/>
          <p:cNvSpPr txBox="1"/>
          <p:nvPr/>
        </p:nvSpPr>
        <p:spPr>
          <a:xfrm>
            <a:off x="841248" y="4087368"/>
            <a:ext cx="10515600" cy="256032"/>
          </a:xfrm>
          <a:prstGeom prst="rect">
            <a:avLst/>
          </a:prstGeom>
          <a:noFill/>
          <a:ln/>
        </p:spPr>
        <p:txBody>
          <a:bodyPr wrap="square" lIns="0" tIns="0" rIns="0" bIns="0"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Strategy B is the only one that composes cleanly across multiple levels</a:t>
            </a:r>
            <a:endParaRPr lang="en-US" sz="1200" dirty="0"/>
          </a:p>
        </p:txBody>
      </p:sp>
      <p:sp>
        <p:nvSpPr>
          <p:cNvPr id="16" name="Text 10"/>
          <p:cNvSpPr txBox="1"/>
          <p:nvPr/>
        </p:nvSpPr>
        <p:spPr>
          <a:xfrm>
            <a:off x="841248" y="4361688"/>
            <a:ext cx="10515600" cy="1901952"/>
          </a:xfrm>
          <a:prstGeom prst="rect">
            <a:avLst/>
          </a:prstGeom>
          <a:noFill/>
          <a:ln/>
        </p:spPr>
        <p:txBody>
          <a:bodyPr wrap="square" lIns="0" tIns="0" rIns="0" bIns="0" rtlCol="0" anchor="t"/>
          <a:lstStyle/>
          <a:p>
            <a:pPr indent="0" marL="0">
              <a:lnSpc>
                <a:spcPct val="115000"/>
              </a:lnSpc>
              <a:buNone/>
            </a:pPr>
            <a:r>
              <a:rPr lang="en-US" sz="1100" dirty="0">
                <a:solidFill>
                  <a:srgbClr val="1F2429"/>
                </a:solidFill>
                <a:latin typeface="Calibri" pitchFamily="34" charset="0"/>
                <a:ea typeface="Calibri" pitchFamily="34" charset="-122"/>
                <a:cs typeface="Calibri" pitchFamily="34" charset="-120"/>
              </a:rPr>
              <a:t>For the hospital's two-level hierarchy (Staff → Doctor → {Consultant, Resident}), Strategy B works with no modification. Resident.supervisingConsultantNo is a foreign key into Consultant.staffNo — NOT into Staff.staffNo — because the requirement was specifically “supervised by one of the CONSULTANTS,” and Strategy B's per-level relations let the FK target exactly the right level.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Rule 8 — Mapping Categorization (Union Types)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13</a:t>
            </a:r>
            <a:endParaRPr lang="en-US" sz="1000" dirty="0"/>
          </a:p>
        </p:txBody>
      </p:sp>
      <p:sp>
        <p:nvSpPr>
          <p:cNvPr id="4" name="Text 2"/>
          <p:cNvSpPr txBox="1"/>
          <p:nvPr/>
        </p:nvSpPr>
        <p:spPr>
          <a:xfrm>
            <a:off x="640080" y="914400"/>
            <a:ext cx="10881360" cy="685800"/>
          </a:xfrm>
          <a:prstGeom prst="rect">
            <a:avLst/>
          </a:prstGeom>
          <a:noFill/>
          <a:ln/>
        </p:spPr>
        <p:txBody>
          <a:bodyPr wrap="square" lIns="0" tIns="0" rIns="0" bIns="0" rtlCol="0" anchor="ctr"/>
          <a:lstStyle/>
          <a:p>
            <a:pPr indent="0" marL="0">
              <a:buNone/>
            </a:pPr>
            <a:r>
              <a:rPr lang="en-US" sz="1300" dirty="0">
                <a:solidFill>
                  <a:srgbClr val="1F2429"/>
                </a:solidFill>
                <a:latin typeface="Calibri" pitchFamily="34" charset="0"/>
                <a:ea typeface="Calibri" pitchFamily="34" charset="-122"/>
                <a:cs typeface="Calibri" pitchFamily="34" charset="-120"/>
              </a:rPr>
              <a:t>Because the superclasses' primary keys aren't even the same type (cnic vs. bankCode vs. regNo), the category needs its OWN independent surrogate key, and each superclass gets an optional foreign key pointing at it.</a:t>
            </a:r>
            <a:endParaRPr lang="en-US" sz="1300" dirty="0"/>
          </a:p>
        </p:txBody>
      </p:sp>
      <p:sp>
        <p:nvSpPr>
          <p:cNvPr id="5" name="Text 3"/>
          <p:cNvSpPr txBox="1"/>
          <p:nvPr/>
        </p:nvSpPr>
        <p:spPr>
          <a:xfrm>
            <a:off x="640080" y="1737360"/>
            <a:ext cx="512064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RegisteredOwner(ownerNo, ownerSince)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2048256"/>
          <a:ext cx="5120640" cy="914400"/>
        </p:xfrm>
        <a:graphic>
          <a:graphicData uri="http://schemas.openxmlformats.org/drawingml/2006/table">
            <a:tbl>
              <a:tblPr/>
              <a:tblGrid>
                <a:gridCol w="2560320"/>
                <a:gridCol w="256032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ownerNo</a:t>
                      </a:r>
                      <a:endParaRPr lang="en-US" sz="11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8B7FD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ownerSince</a:t>
                      </a:r>
                      <a:endParaRPr lang="en-US" sz="110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8B7FD9"/>
                    </a:solidFill>
                  </a:tcPr>
                </a:tc>
              </a:tr>
              <a:tr h="384048">
                <a:tc>
                  <a:txBody>
                    <a:bodyPr/>
                    <a:lstStyle/>
                    <a:p>
                      <a:pPr algn="ctr" indent="0" marL="0">
                        <a:buNone/>
                      </a:pPr>
                      <a:r>
                        <a:rPr lang="en-US" sz="1050" dirty="0">
                          <a:solidFill>
                            <a:srgbClr val="1F2429"/>
                          </a:solidFill>
                          <a:latin typeface="Courier New" pitchFamily="34" charset="0"/>
                          <a:ea typeface="Courier New" pitchFamily="34" charset="-122"/>
                          <a:cs typeface="Courier New" pitchFamily="34" charset="-120"/>
                        </a:rPr>
                        <a:t>RO-001</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429"/>
                          </a:solidFill>
                          <a:latin typeface="Courier New" pitchFamily="34" charset="0"/>
                          <a:ea typeface="Courier New" pitchFamily="34" charset="-122"/>
                          <a:cs typeface="Courier New" pitchFamily="34" charset="-120"/>
                        </a:rPr>
                        <a:t>2019-03-01</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035040" y="1737360"/>
            <a:ext cx="5486400" cy="274320"/>
          </a:xfrm>
          <a:prstGeom prst="rect">
            <a:avLst/>
          </a:prstGeom>
          <a:noFill/>
          <a:ln/>
        </p:spPr>
        <p:txBody>
          <a:bodyPr wrap="square" lIns="0" tIns="0" rIns="0" bIns="0" rtlCol="0" anchor="ctr"/>
          <a:lstStyle/>
          <a:p>
            <a:pPr indent="0" marL="0">
              <a:buNone/>
            </a:pPr>
            <a:r>
              <a:rPr lang="en-US" sz="1250" b="1" dirty="0">
                <a:solidFill>
                  <a:srgbClr val="1F2429"/>
                </a:solidFill>
                <a:latin typeface="Courier New" pitchFamily="34" charset="0"/>
                <a:ea typeface="Courier New" pitchFamily="34" charset="-122"/>
                <a:cs typeface="Courier New" pitchFamily="34" charset="-120"/>
              </a:rPr>
              <a:t>Person(cnic, name, ownerNo)</a:t>
            </a:r>
            <a:endParaRPr lang="en-US" sz="12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035040" y="2048256"/>
          <a:ext cx="5486400" cy="914400"/>
        </p:xfrm>
        <a:graphic>
          <a:graphicData uri="http://schemas.openxmlformats.org/drawingml/2006/table">
            <a:tbl>
              <a:tblPr/>
              <a:tblGrid>
                <a:gridCol w="1828800"/>
                <a:gridCol w="1828800"/>
                <a:gridCol w="1828800"/>
              </a:tblGrid>
              <a:tr h="384048">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cnic</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name</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ownerNo</a:t>
                      </a:r>
                      <a:endParaRPr lang="en-US" sz="10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r>
              <a:tr h="384048">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35202-1234567-1</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Hina Tariq</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429"/>
                          </a:solidFill>
                          <a:latin typeface="Courier New" pitchFamily="34" charset="0"/>
                          <a:ea typeface="Courier New" pitchFamily="34" charset="-122"/>
                          <a:cs typeface="Courier New" pitchFamily="34" charset="-120"/>
                        </a:rPr>
                        <a:t>RO-001</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
        <p:nvSpPr>
          <p:cNvPr id="9" name="Shape 5"/>
          <p:cNvSpPr/>
          <p:nvPr/>
        </p:nvSpPr>
        <p:spPr>
          <a:xfrm>
            <a:off x="640080" y="3200400"/>
            <a:ext cx="10881360" cy="2286000"/>
          </a:xfrm>
          <a:prstGeom prst="roundRect">
            <a:avLst>
              <a:gd name="adj" fmla="val 3200"/>
            </a:avLst>
          </a:prstGeom>
          <a:solidFill>
            <a:srgbClr val="FFFFFF"/>
          </a:solidFill>
          <a:ln w="12700">
            <a:solidFill>
              <a:srgbClr val="E8A33D"/>
            </a:solidFill>
            <a:prstDash val="solid"/>
          </a:ln>
        </p:spPr>
      </p:sp>
      <p:sp>
        <p:nvSpPr>
          <p:cNvPr id="10" name="Shape 6"/>
          <p:cNvSpPr/>
          <p:nvPr/>
        </p:nvSpPr>
        <p:spPr>
          <a:xfrm>
            <a:off x="640080" y="3200400"/>
            <a:ext cx="54864" cy="2286000"/>
          </a:xfrm>
          <a:prstGeom prst="rect">
            <a:avLst/>
          </a:prstGeom>
          <a:solidFill>
            <a:srgbClr val="E8A33D"/>
          </a:solidFill>
          <a:ln/>
        </p:spPr>
      </p:sp>
      <p:sp>
        <p:nvSpPr>
          <p:cNvPr id="11" name="Text 7"/>
          <p:cNvSpPr txBox="1"/>
          <p:nvPr/>
        </p:nvSpPr>
        <p:spPr>
          <a:xfrm>
            <a:off x="841248" y="3310128"/>
            <a:ext cx="10515600" cy="256032"/>
          </a:xfrm>
          <a:prstGeom prst="rect">
            <a:avLst/>
          </a:prstGeom>
          <a:noFill/>
          <a:ln/>
        </p:spPr>
        <p:txBody>
          <a:bodyPr wrap="square" lIns="0" tIns="0" rIns="0" bIns="0"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Person.ownerNo is nullable</a:t>
            </a:r>
            <a:endParaRPr lang="en-US" sz="1200" dirty="0"/>
          </a:p>
        </p:txBody>
      </p:sp>
      <p:sp>
        <p:nvSpPr>
          <p:cNvPr id="12" name="Text 8"/>
          <p:cNvSpPr txBox="1"/>
          <p:nvPr/>
        </p:nvSpPr>
        <p:spPr>
          <a:xfrm>
            <a:off x="841248" y="3584448"/>
            <a:ext cx="10515600" cy="1810512"/>
          </a:xfrm>
          <a:prstGeom prst="rect">
            <a:avLst/>
          </a:prstGeom>
          <a:noFill/>
          <a:ln/>
        </p:spPr>
        <p:txBody>
          <a:bodyPr wrap="square" lIns="0" tIns="0" rIns="0" bIns="0" rtlCol="0" anchor="t"/>
          <a:lstStyle/>
          <a:p>
            <a:pPr indent="0" marL="0">
              <a:lnSpc>
                <a:spcPct val="115000"/>
              </a:lnSpc>
              <a:buNone/>
            </a:pPr>
            <a:r>
              <a:rPr lang="en-US" sz="1100" dirty="0">
                <a:solidFill>
                  <a:srgbClr val="1F2429"/>
                </a:solidFill>
                <a:latin typeface="Calibri" pitchFamily="34" charset="0"/>
                <a:ea typeface="Calibri" pitchFamily="34" charset="-122"/>
                <a:cs typeface="Calibri" pitchFamily="34" charset="-120"/>
              </a:rPr>
              <a:t>Most Person rows are not vehicle owners at all — mirroring exactly the “put the FK on the side that may or may not participate” logic from Rule 3's 1:1 mapping. Bank and Company each get the identical treatment: their own nullable ownerNo foreign key into RegisteredOwner.</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Rule 9 — Mapping Aggregation</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14</a:t>
            </a:r>
            <a:endParaRPr lang="en-US" sz="1000" dirty="0"/>
          </a:p>
        </p:txBody>
      </p:sp>
      <p:sp>
        <p:nvSpPr>
          <p:cNvPr id="4" name="Text 2"/>
          <p:cNvSpPr txBox="1"/>
          <p:nvPr/>
        </p:nvSpPr>
        <p:spPr>
          <a:xfrm>
            <a:off x="640080" y="914400"/>
            <a:ext cx="10881360" cy="777240"/>
          </a:xfrm>
          <a:prstGeom prst="rect">
            <a:avLst/>
          </a:prstGeom>
          <a:noFill/>
          <a:ln/>
        </p:spPr>
        <p:txBody>
          <a:bodyPr wrap="square" lIns="0" tIns="0" rIns="0" bIns="0" rtlCol="0" anchor="ctr"/>
          <a:lstStyle/>
          <a:p>
            <a:pPr indent="0" marL="0">
              <a:buNone/>
            </a:pPr>
            <a:r>
              <a:rPr lang="en-US" sz="1250" dirty="0">
                <a:solidFill>
                  <a:srgbClr val="1F2429"/>
                </a:solidFill>
                <a:latin typeface="Calibri" pitchFamily="34" charset="0"/>
                <a:ea typeface="Calibri" pitchFamily="34" charset="-122"/>
                <a:cs typeface="Calibri" pitchFamily="34" charset="-120"/>
              </a:rPr>
              <a:t>Aggregation needs NO new mapping machinery of its own — it reduces entirely to relations already produced by earlier rules. The aggregate becomes a relation per Rules 1–6; the outer relationship becomes one additional foreign key column.</a:t>
            </a:r>
            <a:endParaRPr lang="en-US" sz="1250" dirty="0"/>
          </a:p>
        </p:txBody>
      </p:sp>
      <p:sp>
        <p:nvSpPr>
          <p:cNvPr id="5" name="Shape 3"/>
          <p:cNvSpPr/>
          <p:nvPr/>
        </p:nvSpPr>
        <p:spPr>
          <a:xfrm>
            <a:off x="640080" y="1783080"/>
            <a:ext cx="10881360" cy="3246120"/>
          </a:xfrm>
          <a:prstGeom prst="roundRect">
            <a:avLst>
              <a:gd name="adj" fmla="val 1690"/>
            </a:avLst>
          </a:prstGeom>
          <a:solidFill>
            <a:srgbClr val="1F2429"/>
          </a:solidFill>
          <a:ln/>
        </p:spPr>
      </p:sp>
      <p:sp>
        <p:nvSpPr>
          <p:cNvPr id="6" name="Text 4"/>
          <p:cNvSpPr txBox="1"/>
          <p:nvPr/>
        </p:nvSpPr>
        <p:spPr>
          <a:xfrm>
            <a:off x="822960" y="1920240"/>
            <a:ext cx="10515600" cy="228600"/>
          </a:xfrm>
          <a:prstGeom prst="rect">
            <a:avLst/>
          </a:prstGeom>
          <a:noFill/>
          <a:ln/>
        </p:spPr>
        <p:txBody>
          <a:bodyPr wrap="square" lIns="0" tIns="0" rIns="0" bIns="0" rtlCol="0" anchor="ctr"/>
          <a:lstStyle/>
          <a:p>
            <a:pPr indent="0" marL="0">
              <a:buNone/>
            </a:pPr>
            <a:r>
              <a:rPr lang="en-US" sz="1050" b="1" dirty="0">
                <a:solidFill>
                  <a:srgbClr val="2FE6C4"/>
                </a:solidFill>
                <a:latin typeface="Calibri" pitchFamily="34" charset="0"/>
                <a:ea typeface="Calibri" pitchFamily="34" charset="-122"/>
                <a:cs typeface="Calibri" pitchFamily="34" charset="-120"/>
              </a:rPr>
              <a:t>CREATE TABLE Admission</a:t>
            </a:r>
            <a:endParaRPr lang="en-US" sz="1050" dirty="0"/>
          </a:p>
        </p:txBody>
      </p:sp>
      <p:sp>
        <p:nvSpPr>
          <p:cNvPr id="7" name="Text 5"/>
          <p:cNvSpPr txBox="1"/>
          <p:nvPr/>
        </p:nvSpPr>
        <p:spPr>
          <a:xfrm>
            <a:off x="822960" y="2194560"/>
            <a:ext cx="10515600" cy="2633472"/>
          </a:xfrm>
          <a:prstGeom prst="rect">
            <a:avLst/>
          </a:prstGeom>
          <a:noFill/>
          <a:ln/>
        </p:spPr>
        <p:txBody>
          <a:bodyPr wrap="square" lIns="0" tIns="0" rIns="0" bIns="0" rtlCol="0" anchor="t"/>
          <a:lstStyle/>
          <a:p>
            <a:pPr indent="0" marL="0">
              <a:lnSpc>
                <a:spcPct val="122000"/>
              </a:lnSpc>
              <a:buNone/>
            </a:pPr>
            <a:r>
              <a:rPr lang="en-US" sz="950" dirty="0">
                <a:solidFill>
                  <a:srgbClr val="E8EAED"/>
                </a:solidFill>
                <a:latin typeface="Courier New" pitchFamily="34" charset="0"/>
                <a:ea typeface="Courier New" pitchFamily="34" charset="-122"/>
                <a:cs typeface="Courier New" pitchFamily="34" charset="-120"/>
              </a:rPr>
              <a:t>CREATE TABLE Admission (</a:t>
            </a:r>
            <a:endParaRPr lang="en-US" sz="950" dirty="0"/>
          </a:p>
          <a:p>
            <a:pPr indent="0" marL="0">
              <a:lnSpc>
                <a:spcPct val="122000"/>
              </a:lnSpc>
              <a:buNone/>
            </a:pPr>
            <a:r>
              <a:rPr lang="en-US" sz="950" dirty="0">
                <a:solidFill>
                  <a:srgbClr val="E8EAED"/>
                </a:solidFill>
                <a:latin typeface="Courier New" pitchFamily="34" charset="0"/>
                <a:ea typeface="Courier New" pitchFamily="34" charset="-122"/>
                <a:cs typeface="Courier New" pitchFamily="34" charset="-120"/>
              </a:rPr>
              <a:t>  admissionNo        VARCHAR(8)  NOT NULL,</a:t>
            </a:r>
            <a:endParaRPr lang="en-US" sz="950" dirty="0"/>
          </a:p>
          <a:p>
            <a:pPr indent="0" marL="0">
              <a:lnSpc>
                <a:spcPct val="122000"/>
              </a:lnSpc>
              <a:buNone/>
            </a:pPr>
            <a:r>
              <a:rPr lang="en-US" sz="950" dirty="0">
                <a:solidFill>
                  <a:srgbClr val="E8EAED"/>
                </a:solidFill>
                <a:latin typeface="Courier New" pitchFamily="34" charset="0"/>
                <a:ea typeface="Courier New" pitchFamily="34" charset="-122"/>
                <a:cs typeface="Courier New" pitchFamily="34" charset="-120"/>
              </a:rPr>
              <a:t>  admissionDate      DATE        NOT NULL,</a:t>
            </a:r>
            <a:endParaRPr lang="en-US" sz="950" dirty="0"/>
          </a:p>
          <a:p>
            <a:pPr indent="0" marL="0">
              <a:lnSpc>
                <a:spcPct val="122000"/>
              </a:lnSpc>
              <a:buNone/>
            </a:pPr>
            <a:r>
              <a:rPr lang="en-US" sz="950" dirty="0">
                <a:solidFill>
                  <a:srgbClr val="E8EAED"/>
                </a:solidFill>
                <a:latin typeface="Courier New" pitchFamily="34" charset="0"/>
                <a:ea typeface="Courier New" pitchFamily="34" charset="-122"/>
                <a:cs typeface="Courier New" pitchFamily="34" charset="-120"/>
              </a:rPr>
              <a:t>  dischargeDate       DATE,</a:t>
            </a:r>
            <a:endParaRPr lang="en-US" sz="950" dirty="0"/>
          </a:p>
          <a:p>
            <a:pPr indent="0" marL="0">
              <a:lnSpc>
                <a:spcPct val="122000"/>
              </a:lnSpc>
              <a:buNone/>
            </a:pPr>
            <a:r>
              <a:rPr lang="en-US" sz="950" dirty="0">
                <a:solidFill>
                  <a:srgbClr val="E8EAED"/>
                </a:solidFill>
                <a:latin typeface="Courier New" pitchFamily="34" charset="0"/>
                <a:ea typeface="Courier New" pitchFamily="34" charset="-122"/>
                <a:cs typeface="Courier New" pitchFamily="34" charset="-120"/>
              </a:rPr>
              <a:t>  patientNo          VARCHAR(6)  NOT NULL,</a:t>
            </a:r>
            <a:endParaRPr lang="en-US" sz="950" dirty="0"/>
          </a:p>
          <a:p>
            <a:pPr indent="0" marL="0">
              <a:lnSpc>
                <a:spcPct val="122000"/>
              </a:lnSpc>
              <a:buNone/>
            </a:pPr>
            <a:r>
              <a:rPr lang="en-US" sz="950" dirty="0">
                <a:solidFill>
                  <a:srgbClr val="E8EAED"/>
                </a:solidFill>
                <a:latin typeface="Courier New" pitchFamily="34" charset="0"/>
                <a:ea typeface="Courier New" pitchFamily="34" charset="-122"/>
                <a:cs typeface="Courier New" pitchFamily="34" charset="-120"/>
              </a:rPr>
              <a:t>  wardNo              VARCHAR(4)  NOT NULL,</a:t>
            </a:r>
            <a:endParaRPr lang="en-US" sz="950" dirty="0"/>
          </a:p>
          <a:p>
            <a:pPr indent="0" marL="0">
              <a:lnSpc>
                <a:spcPct val="122000"/>
              </a:lnSpc>
              <a:buNone/>
            </a:pPr>
            <a:r>
              <a:rPr lang="en-US" sz="950" dirty="0">
                <a:solidFill>
                  <a:srgbClr val="E8EAED"/>
                </a:solidFill>
                <a:latin typeface="Courier New" pitchFamily="34" charset="0"/>
                <a:ea typeface="Courier New" pitchFamily="34" charset="-122"/>
                <a:cs typeface="Courier New" pitchFamily="34" charset="-120"/>
              </a:rPr>
              <a:t>  bedNo               SMALLINT    NOT NULL,</a:t>
            </a:r>
            <a:endParaRPr lang="en-US" sz="950" dirty="0"/>
          </a:p>
          <a:p>
            <a:pPr indent="0" marL="0">
              <a:lnSpc>
                <a:spcPct val="122000"/>
              </a:lnSpc>
              <a:buNone/>
            </a:pPr>
            <a:r>
              <a:rPr lang="en-US" sz="950" dirty="0">
                <a:solidFill>
                  <a:srgbClr val="E8EAED"/>
                </a:solidFill>
                <a:latin typeface="Courier New" pitchFamily="34" charset="0"/>
                <a:ea typeface="Courier New" pitchFamily="34" charset="-122"/>
                <a:cs typeface="Courier New" pitchFamily="34" charset="-120"/>
              </a:rPr>
              <a:t>  attendingDoctorNo   VARCHAR(6)  NOT NULL,</a:t>
            </a:r>
            <a:endParaRPr lang="en-US" sz="950" dirty="0"/>
          </a:p>
          <a:p>
            <a:pPr indent="0" marL="0">
              <a:lnSpc>
                <a:spcPct val="122000"/>
              </a:lnSpc>
              <a:buNone/>
            </a:pPr>
            <a:r>
              <a:rPr lang="en-US" sz="950" dirty="0">
                <a:solidFill>
                  <a:srgbClr val="E8EAED"/>
                </a:solidFill>
                <a:latin typeface="Courier New" pitchFamily="34" charset="0"/>
                <a:ea typeface="Courier New" pitchFamily="34" charset="-122"/>
                <a:cs typeface="Courier New" pitchFamily="34" charset="-120"/>
              </a:rPr>
              <a:t>  PRIMARY KEY (admissionNo),</a:t>
            </a:r>
            <a:endParaRPr lang="en-US" sz="950" dirty="0"/>
          </a:p>
          <a:p>
            <a:pPr indent="0" marL="0">
              <a:lnSpc>
                <a:spcPct val="122000"/>
              </a:lnSpc>
              <a:buNone/>
            </a:pPr>
            <a:r>
              <a:rPr lang="en-US" sz="950" dirty="0">
                <a:solidFill>
                  <a:srgbClr val="E8EAED"/>
                </a:solidFill>
                <a:latin typeface="Courier New" pitchFamily="34" charset="0"/>
                <a:ea typeface="Courier New" pitchFamily="34" charset="-122"/>
                <a:cs typeface="Courier New" pitchFamily="34" charset="-120"/>
              </a:rPr>
              <a:t>  FOREIGN KEY (patientNo) REFERENCES Patient(patientNo),</a:t>
            </a:r>
            <a:endParaRPr lang="en-US" sz="950" dirty="0"/>
          </a:p>
          <a:p>
            <a:pPr indent="0" marL="0">
              <a:lnSpc>
                <a:spcPct val="122000"/>
              </a:lnSpc>
              <a:buNone/>
            </a:pPr>
            <a:r>
              <a:rPr lang="en-US" sz="950" dirty="0">
                <a:solidFill>
                  <a:srgbClr val="E8EAED"/>
                </a:solidFill>
                <a:latin typeface="Courier New" pitchFamily="34" charset="0"/>
                <a:ea typeface="Courier New" pitchFamily="34" charset="-122"/>
                <a:cs typeface="Courier New" pitchFamily="34" charset="-120"/>
              </a:rPr>
              <a:t>  FOREIGN KEY (wardNo, bedNo) REFERENCES Bed(wardNo, bedNo),</a:t>
            </a:r>
            <a:endParaRPr lang="en-US" sz="950" dirty="0"/>
          </a:p>
          <a:p>
            <a:pPr indent="0" marL="0">
              <a:lnSpc>
                <a:spcPct val="122000"/>
              </a:lnSpc>
              <a:buNone/>
            </a:pPr>
            <a:r>
              <a:rPr lang="en-US" sz="950" dirty="0">
                <a:solidFill>
                  <a:srgbClr val="E8EAED"/>
                </a:solidFill>
                <a:latin typeface="Courier New" pitchFamily="34" charset="0"/>
                <a:ea typeface="Courier New" pitchFamily="34" charset="-122"/>
                <a:cs typeface="Courier New" pitchFamily="34" charset="-120"/>
              </a:rPr>
              <a:t>  FOREIGN KEY (attendingDoctorNo) REFERENCES Doctor(staffNo)</a:t>
            </a:r>
            <a:endParaRPr lang="en-US" sz="950" dirty="0"/>
          </a:p>
          <a:p>
            <a:pPr indent="0" marL="0">
              <a:lnSpc>
                <a:spcPct val="122000"/>
              </a:lnSpc>
              <a:buNone/>
            </a:pPr>
            <a:r>
              <a:rPr lang="en-US" sz="950" dirty="0">
                <a:solidFill>
                  <a:srgbClr val="E8EAED"/>
                </a:solidFill>
                <a:latin typeface="Courier New" pitchFamily="34" charset="0"/>
                <a:ea typeface="Courier New" pitchFamily="34" charset="-122"/>
                <a:cs typeface="Courier New" pitchFamily="34" charset="-120"/>
              </a:rPr>
              <a:t>);</a:t>
            </a:r>
            <a:endParaRPr lang="en-US" sz="950" dirty="0"/>
          </a:p>
        </p:txBody>
      </p:sp>
      <p:sp>
        <p:nvSpPr>
          <p:cNvPr id="8" name="Shape 6"/>
          <p:cNvSpPr/>
          <p:nvPr/>
        </p:nvSpPr>
        <p:spPr>
          <a:xfrm>
            <a:off x="640080" y="5166360"/>
            <a:ext cx="10881360" cy="1188720"/>
          </a:xfrm>
          <a:prstGeom prst="roundRect">
            <a:avLst>
              <a:gd name="adj" fmla="val 6154"/>
            </a:avLst>
          </a:prstGeom>
          <a:solidFill>
            <a:srgbClr val="FFFFFF"/>
          </a:solidFill>
          <a:ln w="12700">
            <a:solidFill>
              <a:srgbClr val="2FE6C4"/>
            </a:solidFill>
            <a:prstDash val="solid"/>
          </a:ln>
        </p:spPr>
      </p:sp>
      <p:sp>
        <p:nvSpPr>
          <p:cNvPr id="9" name="Shape 7"/>
          <p:cNvSpPr/>
          <p:nvPr/>
        </p:nvSpPr>
        <p:spPr>
          <a:xfrm>
            <a:off x="640080" y="5166360"/>
            <a:ext cx="54864" cy="1188720"/>
          </a:xfrm>
          <a:prstGeom prst="rect">
            <a:avLst/>
          </a:prstGeom>
          <a:solidFill>
            <a:srgbClr val="2FE6C4"/>
          </a:solidFill>
          <a:ln/>
        </p:spPr>
      </p:sp>
      <p:sp>
        <p:nvSpPr>
          <p:cNvPr id="10" name="Text 8"/>
          <p:cNvSpPr txBox="1"/>
          <p:nvPr/>
        </p:nvSpPr>
        <p:spPr>
          <a:xfrm>
            <a:off x="841248" y="5276088"/>
            <a:ext cx="10515600" cy="256032"/>
          </a:xfrm>
          <a:prstGeom prst="rect">
            <a:avLst/>
          </a:prstGeom>
          <a:noFill/>
          <a:ln/>
        </p:spPr>
        <p:txBody>
          <a:bodyPr wrap="square" lIns="0" tIns="0" rIns="0" bIns="0"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A genuinely reassuring result</a:t>
            </a:r>
            <a:endParaRPr lang="en-US" sz="1200" dirty="0"/>
          </a:p>
        </p:txBody>
      </p:sp>
      <p:sp>
        <p:nvSpPr>
          <p:cNvPr id="11" name="Text 9"/>
          <p:cNvSpPr txBox="1"/>
          <p:nvPr/>
        </p:nvSpPr>
        <p:spPr>
          <a:xfrm>
            <a:off x="841248" y="5550408"/>
            <a:ext cx="10515600" cy="713232"/>
          </a:xfrm>
          <a:prstGeom prst="rect">
            <a:avLst/>
          </a:prstGeom>
          <a:noFill/>
          <a:ln/>
        </p:spPr>
        <p:txBody>
          <a:bodyPr wrap="square" lIns="0" tIns="0" rIns="0" bIns="0" rtlCol="0" anchor="t"/>
          <a:lstStyle/>
          <a:p>
            <a:pPr indent="0" marL="0">
              <a:lnSpc>
                <a:spcPct val="115000"/>
              </a:lnSpc>
              <a:buNone/>
            </a:pPr>
            <a:r>
              <a:rPr lang="en-US" sz="1100" dirty="0">
                <a:solidFill>
                  <a:srgbClr val="1F2429"/>
                </a:solidFill>
                <a:latin typeface="Calibri" pitchFamily="34" charset="0"/>
                <a:ea typeface="Calibri" pitchFamily="34" charset="-122"/>
                <a:cs typeface="Calibri" pitchFamily="34" charset="-120"/>
              </a:rPr>
              <a:t>attendingDoctorNo is a completely ordinary foreign key by the time mapping is done. Aggregation is a conceptual tool for thinking clearly while modeling — it leaves no special trace in the final relational schema beyond an ordinary FK.</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Rule 10 — Mapping EER Constraints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15</a:t>
            </a:r>
            <a:endParaRPr lang="en-US" sz="1000" dirty="0"/>
          </a:p>
        </p:txBody>
      </p:sp>
      <p:sp>
        <p:nvSpPr>
          <p:cNvPr id="4" name="Shape 2"/>
          <p:cNvSpPr/>
          <p:nvPr/>
        </p:nvSpPr>
        <p:spPr>
          <a:xfrm>
            <a:off x="640080" y="960120"/>
            <a:ext cx="3474720" cy="2286000"/>
          </a:xfrm>
          <a:prstGeom prst="roundRect">
            <a:avLst>
              <a:gd name="adj" fmla="val 3200"/>
            </a:avLst>
          </a:prstGeom>
          <a:solidFill>
            <a:srgbClr val="2FE6C4"/>
          </a:solidFill>
          <a:ln/>
        </p:spPr>
      </p:sp>
      <p:sp>
        <p:nvSpPr>
          <p:cNvPr id="5" name="Text 3"/>
          <p:cNvSpPr txBox="1"/>
          <p:nvPr/>
        </p:nvSpPr>
        <p:spPr>
          <a:xfrm>
            <a:off x="822960" y="1088136"/>
            <a:ext cx="3108960" cy="3200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Mandatory (1,...) → NOT NULL</a:t>
            </a:r>
            <a:endParaRPr lang="en-US" sz="1350" dirty="0"/>
          </a:p>
        </p:txBody>
      </p:sp>
      <p:sp>
        <p:nvSpPr>
          <p:cNvPr id="6" name="Text 4"/>
          <p:cNvSpPr txBox="1"/>
          <p:nvPr/>
        </p:nvSpPr>
        <p:spPr>
          <a:xfrm>
            <a:off x="822960" y="1435608"/>
            <a:ext cx="3108960" cy="171907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branchNo NOT NULL enforces “must always belong to a branch” directly.</a:t>
            </a:r>
            <a:endParaRPr lang="en-US" sz="1050" dirty="0"/>
          </a:p>
        </p:txBody>
      </p:sp>
      <p:sp>
        <p:nvSpPr>
          <p:cNvPr id="7" name="Shape 5"/>
          <p:cNvSpPr/>
          <p:nvPr/>
        </p:nvSpPr>
        <p:spPr>
          <a:xfrm>
            <a:off x="4343400" y="960120"/>
            <a:ext cx="3474720" cy="2286000"/>
          </a:xfrm>
          <a:prstGeom prst="roundRect">
            <a:avLst>
              <a:gd name="adj" fmla="val 3200"/>
            </a:avLst>
          </a:prstGeom>
          <a:solidFill>
            <a:srgbClr val="8B7FD9"/>
          </a:solidFill>
          <a:ln/>
        </p:spPr>
      </p:sp>
      <p:sp>
        <p:nvSpPr>
          <p:cNvPr id="8" name="Text 6"/>
          <p:cNvSpPr txBox="1"/>
          <p:nvPr/>
        </p:nvSpPr>
        <p:spPr>
          <a:xfrm>
            <a:off x="4526280" y="1088136"/>
            <a:ext cx="3108960" cy="3200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Disjoint + Strategy C → CHECK</a:t>
            </a:r>
            <a:endParaRPr lang="en-US" sz="1350" dirty="0"/>
          </a:p>
        </p:txBody>
      </p:sp>
      <p:sp>
        <p:nvSpPr>
          <p:cNvPr id="9" name="Text 7"/>
          <p:cNvSpPr txBox="1"/>
          <p:nvPr/>
        </p:nvSpPr>
        <p:spPr>
          <a:xfrm>
            <a:off x="4526280" y="1435608"/>
            <a:ext cx="3108960" cy="171907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CHECK (staffType IN ('Doctor','Nurse','Technician','Administrator'))</a:t>
            </a:r>
            <a:endParaRPr lang="en-US" sz="1050" dirty="0"/>
          </a:p>
        </p:txBody>
      </p:sp>
      <p:sp>
        <p:nvSpPr>
          <p:cNvPr id="10" name="Shape 8"/>
          <p:cNvSpPr/>
          <p:nvPr/>
        </p:nvSpPr>
        <p:spPr>
          <a:xfrm>
            <a:off x="8046720" y="960120"/>
            <a:ext cx="3474720" cy="2286000"/>
          </a:xfrm>
          <a:prstGeom prst="roundRect">
            <a:avLst>
              <a:gd name="adj" fmla="val 3200"/>
            </a:avLst>
          </a:prstGeom>
          <a:solidFill>
            <a:srgbClr val="E8A33D"/>
          </a:solidFill>
          <a:ln/>
        </p:spPr>
      </p:sp>
      <p:sp>
        <p:nvSpPr>
          <p:cNvPr id="11" name="Text 9"/>
          <p:cNvSpPr txBox="1"/>
          <p:nvPr/>
        </p:nvSpPr>
        <p:spPr>
          <a:xfrm>
            <a:off x="8229600" y="1088136"/>
            <a:ext cx="3108960" cy="3200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Disjoint + Strategy B → no single declarative constraint</a:t>
            </a:r>
            <a:endParaRPr lang="en-US" sz="1350" dirty="0"/>
          </a:p>
        </p:txBody>
      </p:sp>
      <p:sp>
        <p:nvSpPr>
          <p:cNvPr id="12" name="Text 10"/>
          <p:cNvSpPr txBox="1"/>
          <p:nvPr/>
        </p:nvSpPr>
        <p:spPr>
          <a:xfrm>
            <a:off x="8229600" y="1435608"/>
            <a:ext cx="3108960" cy="171907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Nothing in plain SQL stops a staffNo from appearing in more than one subclass table — needs a trigger.</a:t>
            </a:r>
            <a:endParaRPr lang="en-US" sz="1050" dirty="0"/>
          </a:p>
        </p:txBody>
      </p:sp>
      <p:sp>
        <p:nvSpPr>
          <p:cNvPr id="13" name="Shape 11"/>
          <p:cNvSpPr/>
          <p:nvPr/>
        </p:nvSpPr>
        <p:spPr>
          <a:xfrm>
            <a:off x="640080" y="3429000"/>
            <a:ext cx="10881360" cy="2834640"/>
          </a:xfrm>
          <a:prstGeom prst="roundRect">
            <a:avLst>
              <a:gd name="adj" fmla="val 2581"/>
            </a:avLst>
          </a:prstGeom>
          <a:solidFill>
            <a:srgbClr val="FFFFFF"/>
          </a:solidFill>
          <a:ln w="12700">
            <a:solidFill>
              <a:srgbClr val="D96B4C"/>
            </a:solidFill>
            <a:prstDash val="solid"/>
          </a:ln>
        </p:spPr>
      </p:sp>
      <p:sp>
        <p:nvSpPr>
          <p:cNvPr id="14" name="Shape 12"/>
          <p:cNvSpPr/>
          <p:nvPr/>
        </p:nvSpPr>
        <p:spPr>
          <a:xfrm>
            <a:off x="640080" y="3429000"/>
            <a:ext cx="54864" cy="2834640"/>
          </a:xfrm>
          <a:prstGeom prst="rect">
            <a:avLst/>
          </a:prstGeom>
          <a:solidFill>
            <a:srgbClr val="D96B4C"/>
          </a:solidFill>
          <a:ln/>
        </p:spPr>
      </p:sp>
      <p:sp>
        <p:nvSpPr>
          <p:cNvPr id="15" name="Text 13"/>
          <p:cNvSpPr txBox="1"/>
          <p:nvPr/>
        </p:nvSpPr>
        <p:spPr>
          <a:xfrm>
            <a:off x="841248" y="3538728"/>
            <a:ext cx="10515600" cy="256032"/>
          </a:xfrm>
          <a:prstGeom prst="rect">
            <a:avLst/>
          </a:prstGeom>
          <a:noFill/>
          <a:ln/>
        </p:spPr>
        <p:txBody>
          <a:bodyPr wrap="square" lIns="0" tIns="0" rIns="0" bIns="0" rtlCol="0" anchor="ctr"/>
          <a:lstStyle/>
          <a:p>
            <a:pPr indent="0" marL="0">
              <a:buNone/>
            </a:pPr>
            <a:r>
              <a:rPr lang="en-US" sz="1200" b="1" dirty="0">
                <a:solidFill>
                  <a:srgbClr val="1F2429"/>
                </a:solidFill>
                <a:latin typeface="Calibri" pitchFamily="34" charset="0"/>
                <a:ea typeface="Calibri" pitchFamily="34" charset="-122"/>
                <a:cs typeface="Calibri" pitchFamily="34" charset="-120"/>
              </a:rPr>
              <a:t>Minimum cardinality of “1 or more” is a real, common gap</a:t>
            </a:r>
            <a:endParaRPr lang="en-US" sz="1200" dirty="0"/>
          </a:p>
        </p:txBody>
      </p:sp>
      <p:sp>
        <p:nvSpPr>
          <p:cNvPr id="16" name="Text 14"/>
          <p:cNvSpPr txBox="1"/>
          <p:nvPr/>
        </p:nvSpPr>
        <p:spPr>
          <a:xfrm>
            <a:off x="841248" y="3813048"/>
            <a:ext cx="10515600" cy="2359152"/>
          </a:xfrm>
          <a:prstGeom prst="rect">
            <a:avLst/>
          </a:prstGeom>
          <a:noFill/>
          <a:ln/>
        </p:spPr>
        <p:txBody>
          <a:bodyPr wrap="square" lIns="0" tIns="0" rIns="0" bIns="0" rtlCol="0" anchor="t"/>
          <a:lstStyle/>
          <a:p>
            <a:pPr indent="0" marL="0">
              <a:lnSpc>
                <a:spcPct val="115000"/>
              </a:lnSpc>
              <a:buNone/>
            </a:pPr>
            <a:r>
              <a:rPr lang="en-US" sz="1100" dirty="0">
                <a:solidFill>
                  <a:srgbClr val="1F2429"/>
                </a:solidFill>
                <a:latin typeface="Calibri" pitchFamily="34" charset="0"/>
                <a:ea typeface="Calibri" pitchFamily="34" charset="-122"/>
                <a:cs typeface="Calibri" pitchFamily="34" charset="-120"/>
              </a:rPr>
              <a:t>A foreign key naturally enforces “at most one” on the referencing side and “referenced value must exist” on the target — but has NO built-in way to enforce “this referenced row must be pointed at by at least one row.” Nothing stops a Department from being inserted with zero Staff ever assigned to it, even if the business rule is “every department must have at least one staff member.” Enforcing a true minimum cardinality of (1,*) generally requires a trigger or application-level check — the relational model's declarative constraints are genuinely weaker here than the EER diagram's multiplicity notation promises.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Summary: Every EER Construct, Mapped</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960120"/>
          <a:ext cx="10881360" cy="914400"/>
        </p:xfrm>
        <a:graphic>
          <a:graphicData uri="http://schemas.openxmlformats.org/drawingml/2006/table">
            <a:tbl>
              <a:tblPr/>
              <a:tblGrid>
                <a:gridCol w="5440680"/>
                <a:gridCol w="5440680"/>
              </a:tblGrid>
              <a:tr h="338328">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EER construct</a:t>
                      </a:r>
                      <a:endParaRPr lang="en-US" sz="9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Relational mapping</a:t>
                      </a:r>
                      <a:endParaRPr lang="en-US" sz="950" dirty="0">
                        <a:latin typeface="Calibri" charset="0"/>
                        <a:ea typeface="Calibri" charset="0"/>
                        <a:cs typeface="Calibri"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2FE6C4"/>
                    </a:solidFill>
                  </a:tcPr>
                </a:tc>
              </a:tr>
              <a:tr h="338328">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Strong entity type</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One relation; identifier → primary key</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38328">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Weak entity type</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One relation; composite key = partial key + owner's entire key</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38328">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1:1 relationship</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FK on the mandatory-participation side; no new relation</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38328">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1:N relationship</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FK on the “many” side; no new relation</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38328">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M:N relationship</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New relation; PK = combination of both sides' keys</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38328">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Multi-valued attribute</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New relation; PK = owner's key + the attribute</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38328">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Relationship with attributes</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New relation exactly as the M:N rule, holding the extra attributes</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38328">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Specialization / generalization</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Strategy A, B, or C — chosen from disjoint/total constraints</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38328">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Aggregation</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Aggregate maps via the rules above; outer relationship → one ordinary FK</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38328">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Composition</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Same as 1:N, plus ON DELETE CASCADE on the FK</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r h="338328">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Categorization / union type</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429"/>
                          </a:solidFill>
                          <a:latin typeface="Courier New" pitchFamily="34" charset="0"/>
                          <a:ea typeface="Courier New" pitchFamily="34" charset="-122"/>
                          <a:cs typeface="Courier New" pitchFamily="34" charset="-120"/>
                        </a:rPr>
                        <a:t>New relation with surrogate key; each superclass gets a nullable FK</a:t>
                      </a:r>
                      <a:endParaRPr lang="en-US" sz="900" dirty="0">
                        <a:latin typeface="Courier New" charset="0"/>
                        <a:ea typeface="Courier New" charset="0"/>
                        <a:cs typeface="Courier New" charset="0"/>
                      </a:endParaRPr>
                    </a:p>
                  </a:txBody>
                  <a:tcPr marL="91440" marR="91440" marT="45720" marB="45720" anchor="ctr">
                    <a:lnL w="9525" cap="flat" cmpd="sng" algn="ctr">
                      <a:solidFill>
                        <a:srgbClr val="D8DCE1"/>
                      </a:solidFill>
                      <a:prstDash val="solid"/>
                      <a:round/>
                      <a:headEnd type="none" w="med" len="med"/>
                      <a:tailEnd type="none" w="med" len="med"/>
                    </a:lnL>
                    <a:lnR w="9525" cap="flat" cmpd="sng" algn="ctr">
                      <a:solidFill>
                        <a:srgbClr val="D8DCE1"/>
                      </a:solidFill>
                      <a:prstDash val="solid"/>
                      <a:round/>
                      <a:headEnd type="none" w="med" len="med"/>
                      <a:tailEnd type="none" w="med" len="med"/>
                    </a:lnR>
                    <a:lnT w="9525" cap="flat" cmpd="sng" algn="ctr">
                      <a:solidFill>
                        <a:srgbClr val="D8DCE1"/>
                      </a:solidFill>
                      <a:prstDash val="solid"/>
                      <a:round/>
                      <a:headEnd type="none" w="med" len="med"/>
                      <a:tailEnd type="none" w="med" len="med"/>
                    </a:lnT>
                    <a:lnB w="9525" cap="flat" cmpd="sng" algn="ctr">
                      <a:solidFill>
                        <a:srgbClr val="D8DCE1"/>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640080"/>
            <a:ext cx="10515600"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Key Takeaways</a:t>
            </a:r>
            <a:endParaRPr lang="en-US" sz="3400" dirty="0"/>
          </a:p>
        </p:txBody>
      </p:sp>
      <p:sp>
        <p:nvSpPr>
          <p:cNvPr id="3" name="Text 1"/>
          <p:cNvSpPr txBox="1"/>
          <p:nvPr/>
        </p:nvSpPr>
        <p:spPr>
          <a:xfrm>
            <a:off x="822960" y="1645920"/>
            <a:ext cx="10332720" cy="4572000"/>
          </a:xfrm>
          <a:prstGeom prst="rect">
            <a:avLst/>
          </a:prstGeom>
          <a:noFill/>
          <a:ln/>
        </p:spPr>
        <p:txBody>
          <a:bodyPr wrap="square" lIns="0" tIns="0" rIns="0" bIns="0" rtlCol="0" anchor="t"/>
          <a:lstStyle/>
          <a:p>
            <a:pPr marL="342900" indent="-342900">
              <a:spcAft>
                <a:spcPts val="1600"/>
              </a:spcAft>
              <a:buSzPct val="100000"/>
              <a:buChar char="•"/>
            </a:pPr>
            <a:r>
              <a:rPr lang="en-US" sz="1600" dirty="0">
                <a:solidFill>
                  <a:srgbClr val="FFFFFF"/>
                </a:solidFill>
                <a:latin typeface="Calibri" pitchFamily="34" charset="0"/>
                <a:ea typeface="Calibri" pitchFamily="34" charset="-122"/>
                <a:cs typeface="Calibri" pitchFamily="34" charset="-120"/>
              </a:rPr>
              <a:t>Mapping proceeds in a fixed order — strong entities, weak entities, relationships, multi-valued attributes, specialization, categorization/aggregation, then constraints.</a:t>
            </a:r>
            <a:endParaRPr lang="en-US" sz="1600" dirty="0"/>
          </a:p>
          <a:p>
            <a:pPr marL="342900" indent="-342900">
              <a:spcAft>
                <a:spcPts val="1600"/>
              </a:spcAft>
              <a:buSzPct val="100000"/>
              <a:buChar char="•"/>
            </a:pPr>
            <a:r>
              <a:rPr lang="en-US" sz="1600" dirty="0">
                <a:solidFill>
                  <a:srgbClr val="FFFFFF"/>
                </a:solidFill>
                <a:latin typeface="Calibri" pitchFamily="34" charset="0"/>
                <a:ea typeface="Calibri" pitchFamily="34" charset="-122"/>
                <a:cs typeface="Calibri" pitchFamily="34" charset="-120"/>
              </a:rPr>
              <a:t>1:1 and 1:N relationships never need a new relation, only correct FK placement; M:N relationships and multi-valued attributes always need one.</a:t>
            </a:r>
            <a:endParaRPr lang="en-US" sz="1600" dirty="0"/>
          </a:p>
          <a:p>
            <a:pPr marL="342900" indent="-342900">
              <a:spcAft>
                <a:spcPts val="1600"/>
              </a:spcAft>
              <a:buSzPct val="100000"/>
              <a:buChar char="•"/>
            </a:pPr>
            <a:r>
              <a:rPr lang="en-US" sz="1600" dirty="0">
                <a:solidFill>
                  <a:srgbClr val="FFFFFF"/>
                </a:solidFill>
                <a:latin typeface="Calibri" pitchFamily="34" charset="0"/>
                <a:ea typeface="Calibri" pitchFamily="34" charset="-122"/>
                <a:cs typeface="Calibri" pitchFamily="34" charset="-120"/>
              </a:rPr>
              <a:t>Specialization has three mapping strategies with genuinely different trade-offs — Strategy B (superclass + one relation per subclass) is the safest default and the only one that composes cleanly across multi-level hierarchies.</a:t>
            </a:r>
            <a:endParaRPr lang="en-US" sz="1600" dirty="0"/>
          </a:p>
          <a:p>
            <a:pPr marL="342900" indent="-342900">
              <a:spcAft>
                <a:spcPts val="1600"/>
              </a:spcAft>
              <a:buSzPct val="100000"/>
              <a:buChar char="•"/>
            </a:pPr>
            <a:r>
              <a:rPr lang="en-US" sz="1600" dirty="0">
                <a:solidFill>
                  <a:srgbClr val="FFFFFF"/>
                </a:solidFill>
                <a:latin typeface="Calibri" pitchFamily="34" charset="0"/>
                <a:ea typeface="Calibri" pitchFamily="34" charset="-122"/>
                <a:cs typeface="Calibri" pitchFamily="34" charset="-120"/>
              </a:rPr>
              <a:t>Categorization needs its own surrogate key because its superclasses don't share compatible primary keys.</a:t>
            </a:r>
            <a:endParaRPr lang="en-US" sz="1600" dirty="0"/>
          </a:p>
          <a:p>
            <a:pPr marL="342900" indent="-342900">
              <a:spcAft>
                <a:spcPts val="1600"/>
              </a:spcAft>
              <a:buSzPct val="100000"/>
              <a:buChar char="•"/>
            </a:pPr>
            <a:r>
              <a:rPr lang="en-US" sz="1600" dirty="0">
                <a:solidFill>
                  <a:srgbClr val="FFFFFF"/>
                </a:solidFill>
                <a:latin typeface="Calibri" pitchFamily="34" charset="0"/>
                <a:ea typeface="Calibri" pitchFamily="34" charset="-122"/>
                <a:cs typeface="Calibri" pitchFamily="34" charset="-120"/>
              </a:rPr>
              <a:t>Aggregation and composition both resolve entirely into ordinary relations and foreign keys once mapped — and not every EER constraint survives the trip to SQL with full declarative strength.</a:t>
            </a:r>
            <a:endParaRPr lang="en-US" sz="1600" dirty="0"/>
          </a:p>
        </p:txBody>
      </p:sp>
      <p:sp>
        <p:nvSpPr>
          <p:cNvPr id="4" name="Text 2"/>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0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000" dirty="0">
                <a:solidFill>
                  <a:srgbClr val="8A939B"/>
                </a:solidFill>
                <a:latin typeface="Calibri" pitchFamily="34" charset="0"/>
                <a:ea typeface="Calibri" pitchFamily="34" charset="-122"/>
                <a:cs typeface="Calibri" pitchFamily="34" charset="-120"/>
              </a:rPr>
              <a:t>  ·  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2026-09-29T15:40:10Z</dcterms:created>
  <dcterms:modified xsi:type="dcterms:W3CDTF">2026-09-29T15:40:10Z</dcterms:modified>
</cp:coreProperties>
</file>
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1874520"/>
            <a:ext cx="9144000" cy="457200"/>
          </a:xfrm>
          <a:prstGeom prst="rect">
            <a:avLst/>
          </a:prstGeom>
          <a:noFill/>
          <a:ln/>
        </p:spPr>
        <p:txBody>
          <a:bodyPr wrap="square" lIns="0" tIns="0" rIns="0" bIns="0" rtlCol="0" anchor="ctr"/>
          <a:lstStyle/>
          <a:p>
            <a:pPr indent="0" marL="0">
              <a:buNone/>
            </a:pPr>
            <a:r>
              <a:rPr lang="en-US" sz="1500" b="1" spc="400" kern="0" dirty="0">
                <a:solidFill>
                  <a:srgbClr val="2FE6C4"/>
                </a:solidFill>
                <a:latin typeface="Calibri" pitchFamily="34" charset="0"/>
                <a:ea typeface="Calibri" pitchFamily="34" charset="-122"/>
                <a:cs typeface="Calibri" pitchFamily="34" charset="-120"/>
              </a:rPr>
              <a:t>LECTURE 17</a:t>
            </a:r>
            <a:endParaRPr lang="en-US" sz="1500" dirty="0"/>
          </a:p>
        </p:txBody>
      </p:sp>
      <p:sp>
        <p:nvSpPr>
          <p:cNvPr id="3" name="Text 1"/>
          <p:cNvSpPr txBox="1"/>
          <p:nvPr/>
        </p:nvSpPr>
        <p:spPr>
          <a:xfrm>
            <a:off x="777240" y="2331720"/>
            <a:ext cx="10424160" cy="192024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libri" pitchFamily="34" charset="0"/>
                <a:ea typeface="Calibri" pitchFamily="34" charset="-122"/>
                <a:cs typeface="Calibri" pitchFamily="34" charset="-120"/>
              </a:rPr>
              <a:t>Midterm Review</a:t>
            </a:r>
            <a:endParaRPr lang="en-US" sz="4000" dirty="0"/>
          </a:p>
        </p:txBody>
      </p:sp>
      <p:sp>
        <p:nvSpPr>
          <p:cNvPr id="4" name="Text 2"/>
          <p:cNvSpPr txBox="1"/>
          <p:nvPr/>
        </p:nvSpPr>
        <p:spPr>
          <a:xfrm>
            <a:off x="822960" y="4343400"/>
            <a:ext cx="9601200" cy="457200"/>
          </a:xfrm>
          <a:prstGeom prst="rect">
            <a:avLst/>
          </a:prstGeom>
          <a:noFill/>
          <a:ln/>
        </p:spPr>
        <p:txBody>
          <a:bodyPr wrap="square" lIns="0" tIns="0" rIns="0" bIns="0" rtlCol="0" anchor="ctr"/>
          <a:lstStyle/>
          <a:p>
            <a:pPr indent="0" marL="0">
              <a:buNone/>
            </a:pPr>
            <a:r>
              <a:rPr lang="en-US" sz="1600" dirty="0">
                <a:solidFill>
                  <a:srgbClr val="2FE6C4"/>
                </a:solidFill>
                <a:latin typeface="Calibri" pitchFamily="34" charset="0"/>
                <a:ea typeface="Calibri" pitchFamily="34" charset="-122"/>
                <a:cs typeface="Calibri" pitchFamily="34" charset="-120"/>
              </a:rPr>
              <a:t>A checkpoint across Lectures 1–16</a:t>
            </a:r>
            <a:endParaRPr lang="en-US" sz="1600" dirty="0"/>
          </a:p>
        </p:txBody>
      </p:sp>
      <p:sp>
        <p:nvSpPr>
          <p:cNvPr id="5" name="Text 3"/>
          <p:cNvSpPr txBox="1"/>
          <p:nvPr/>
        </p:nvSpPr>
        <p:spPr>
          <a:xfrm>
            <a:off x="822960" y="4800600"/>
            <a:ext cx="9601200" cy="365760"/>
          </a:xfrm>
          <a:prstGeom prst="rect">
            <a:avLst/>
          </a:prstGeom>
          <a:noFill/>
          <a:ln/>
        </p:spPr>
        <p:txBody>
          <a:bodyPr wrap="square" lIns="0" tIns="0" rIns="0" bIns="0" rtlCol="0" anchor="ctr"/>
          <a:lstStyle/>
          <a:p>
            <a:pPr indent="0" marL="0">
              <a:buNone/>
            </a:pPr>
            <a:r>
              <a:rPr lang="en-US" sz="1400" dirty="0">
                <a:solidFill>
                  <a:srgbClr val="B9BFC6"/>
                </a:solidFill>
                <a:latin typeface="Calibri" pitchFamily="34" charset="0"/>
                <a:ea typeface="Calibri" pitchFamily="34" charset="-122"/>
                <a:cs typeface="Calibri" pitchFamily="34" charset="-120"/>
              </a:rPr>
              <a:t>CSC270 · Database Systems</a:t>
            </a:r>
            <a:endParaRPr lang="en-US" sz="1400" dirty="0"/>
          </a:p>
        </p:txBody>
      </p:sp>
      <p:sp>
        <p:nvSpPr>
          <p:cNvPr id="6" name="Text 4"/>
          <p:cNvSpPr txBox="1"/>
          <p:nvPr/>
        </p:nvSpPr>
        <p:spPr>
          <a:xfrm>
            <a:off x="822960" y="5166360"/>
            <a:ext cx="9601200" cy="365760"/>
          </a:xfrm>
          <a:prstGeom prst="rect">
            <a:avLst/>
          </a:prstGeom>
          <a:noFill/>
          <a:ln/>
        </p:spPr>
        <p:txBody>
          <a:bodyPr wrap="square" lIns="0" tIns="0" rIns="0" bIns="0" rtlCol="0" anchor="ctr"/>
          <a:lstStyle/>
          <a:p>
            <a:pPr indent="0" marL="0">
              <a:buNone/>
            </a:pPr>
            <a:r>
              <a:rPr lang="en-US" sz="1200" dirty="0">
                <a:solidFill>
                  <a:srgbClr val="757C84"/>
                </a:solidFill>
                <a:latin typeface="Calibri" pitchFamily="34" charset="0"/>
                <a:ea typeface="Calibri" pitchFamily="34" charset="-122"/>
                <a:cs typeface="Calibri" pitchFamily="34" charset="-120"/>
              </a:rPr>
              <a:t>COMSATS University Islamabad, Lahore Campus</a:t>
            </a:r>
            <a:endParaRPr lang="en-US" sz="1200" dirty="0"/>
          </a:p>
        </p:txBody>
      </p:sp>
      <p:sp>
        <p:nvSpPr>
          <p:cNvPr id="7" name="Text 5"/>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WHAT WE'LL RECAP</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Four Units, One Exam</a:t>
            </a:r>
            <a:endParaRPr lang="en-US" sz="2600" dirty="0"/>
          </a:p>
        </p:txBody>
      </p:sp>
      <p:sp>
        <p:nvSpPr>
          <p:cNvPr id="4" name="Shape 2"/>
          <p:cNvSpPr/>
          <p:nvPr/>
        </p:nvSpPr>
        <p:spPr>
          <a:xfrm>
            <a:off x="640080" y="1691640"/>
            <a:ext cx="365760" cy="365760"/>
          </a:xfrm>
          <a:prstGeom prst="ellipse">
            <a:avLst/>
          </a:prstGeom>
          <a:solidFill>
            <a:srgbClr val="2FE6C4"/>
          </a:solidFill>
          <a:ln/>
        </p:spPr>
      </p:sp>
      <p:sp>
        <p:nvSpPr>
          <p:cNvPr id="5" name="Text 3"/>
          <p:cNvSpPr txBox="1"/>
          <p:nvPr/>
        </p:nvSpPr>
        <p:spPr>
          <a:xfrm>
            <a:off x="640080" y="1691640"/>
            <a:ext cx="365760" cy="365760"/>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07008" y="1636776"/>
            <a:ext cx="10344607" cy="658368"/>
          </a:xfrm>
          <a:prstGeom prst="rect">
            <a:avLst/>
          </a:prstGeom>
          <a:noFill/>
          <a:ln/>
        </p:spPr>
        <p:txBody>
          <a:bodyPr wrap="square" lIns="0" tIns="0" rIns="0" bIns="0" rtlCol="0" anchor="ctr"/>
          <a:lstStyle/>
          <a:p>
            <a:pPr indent="0" marL="0">
              <a:buNone/>
            </a:pPr>
            <a:r>
              <a:rPr lang="en-US" sz="1500" dirty="0">
                <a:solidFill>
                  <a:srgbClr val="1F2429"/>
                </a:solidFill>
                <a:latin typeface="Calibri" pitchFamily="34" charset="0"/>
                <a:ea typeface="Calibri" pitchFamily="34" charset="-122"/>
                <a:cs typeface="Calibri" pitchFamily="34" charset="-120"/>
              </a:rPr>
              <a:t>Unit 1: Foundations — DBMS, database approach, three-schema architecture</a:t>
            </a:r>
            <a:endParaRPr lang="en-US" sz="1500" dirty="0"/>
          </a:p>
        </p:txBody>
      </p:sp>
      <p:sp>
        <p:nvSpPr>
          <p:cNvPr id="7" name="Shape 5"/>
          <p:cNvSpPr/>
          <p:nvPr/>
        </p:nvSpPr>
        <p:spPr>
          <a:xfrm>
            <a:off x="640080" y="2350008"/>
            <a:ext cx="365760" cy="365760"/>
          </a:xfrm>
          <a:prstGeom prst="ellipse">
            <a:avLst/>
          </a:prstGeom>
          <a:solidFill>
            <a:srgbClr val="2FE6C4"/>
          </a:solidFill>
          <a:ln/>
        </p:spPr>
      </p:sp>
      <p:sp>
        <p:nvSpPr>
          <p:cNvPr id="8" name="Text 6"/>
          <p:cNvSpPr txBox="1"/>
          <p:nvPr/>
        </p:nvSpPr>
        <p:spPr>
          <a:xfrm>
            <a:off x="640080" y="2350008"/>
            <a:ext cx="365760" cy="365760"/>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207008" y="2295144"/>
            <a:ext cx="10344607" cy="658368"/>
          </a:xfrm>
          <a:prstGeom prst="rect">
            <a:avLst/>
          </a:prstGeom>
          <a:noFill/>
          <a:ln/>
        </p:spPr>
        <p:txBody>
          <a:bodyPr wrap="square" lIns="0" tIns="0" rIns="0" bIns="0" rtlCol="0" anchor="ctr"/>
          <a:lstStyle/>
          <a:p>
            <a:pPr indent="0" marL="0">
              <a:buNone/>
            </a:pPr>
            <a:r>
              <a:rPr lang="en-US" sz="1500" dirty="0">
                <a:solidFill>
                  <a:srgbClr val="1F2429"/>
                </a:solidFill>
                <a:latin typeface="Calibri" pitchFamily="34" charset="0"/>
                <a:ea typeface="Calibri" pitchFamily="34" charset="-122"/>
                <a:cs typeface="Calibri" pitchFamily="34" charset="-120"/>
              </a:rPr>
              <a:t>Unit 2: The Relational Model — keys and integrity constraints</a:t>
            </a:r>
            <a:endParaRPr lang="en-US" sz="1500" dirty="0"/>
          </a:p>
        </p:txBody>
      </p:sp>
      <p:sp>
        <p:nvSpPr>
          <p:cNvPr id="10" name="Shape 8"/>
          <p:cNvSpPr/>
          <p:nvPr/>
        </p:nvSpPr>
        <p:spPr>
          <a:xfrm>
            <a:off x="640080" y="3008376"/>
            <a:ext cx="365760" cy="365760"/>
          </a:xfrm>
          <a:prstGeom prst="ellipse">
            <a:avLst/>
          </a:prstGeom>
          <a:solidFill>
            <a:srgbClr val="2FE6C4"/>
          </a:solidFill>
          <a:ln/>
        </p:spPr>
      </p:sp>
      <p:sp>
        <p:nvSpPr>
          <p:cNvPr id="11" name="Text 9"/>
          <p:cNvSpPr txBox="1"/>
          <p:nvPr/>
        </p:nvSpPr>
        <p:spPr>
          <a:xfrm>
            <a:off x="640080" y="3008376"/>
            <a:ext cx="365760" cy="365760"/>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207008" y="2953512"/>
            <a:ext cx="10344607" cy="658368"/>
          </a:xfrm>
          <a:prstGeom prst="rect">
            <a:avLst/>
          </a:prstGeom>
          <a:noFill/>
          <a:ln/>
        </p:spPr>
        <p:txBody>
          <a:bodyPr wrap="square" lIns="0" tIns="0" rIns="0" bIns="0" rtlCol="0" anchor="ctr"/>
          <a:lstStyle/>
          <a:p>
            <a:pPr indent="0" marL="0">
              <a:buNone/>
            </a:pPr>
            <a:r>
              <a:rPr lang="en-US" sz="1500" dirty="0">
                <a:solidFill>
                  <a:srgbClr val="1F2429"/>
                </a:solidFill>
                <a:latin typeface="Calibri" pitchFamily="34" charset="0"/>
                <a:ea typeface="Calibri" pitchFamily="34" charset="-122"/>
                <a:cs typeface="Calibri" pitchFamily="34" charset="-120"/>
              </a:rPr>
              <a:t>Unit 3: Relational Algebra &amp; Calculus — operators, TRC/DRC</a:t>
            </a:r>
            <a:endParaRPr lang="en-US" sz="1500" dirty="0"/>
          </a:p>
        </p:txBody>
      </p:sp>
      <p:sp>
        <p:nvSpPr>
          <p:cNvPr id="13" name="Shape 11"/>
          <p:cNvSpPr/>
          <p:nvPr/>
        </p:nvSpPr>
        <p:spPr>
          <a:xfrm>
            <a:off x="640080" y="3666744"/>
            <a:ext cx="365760" cy="365760"/>
          </a:xfrm>
          <a:prstGeom prst="ellipse">
            <a:avLst/>
          </a:prstGeom>
          <a:solidFill>
            <a:srgbClr val="2FE6C4"/>
          </a:solidFill>
          <a:ln/>
        </p:spPr>
      </p:sp>
      <p:sp>
        <p:nvSpPr>
          <p:cNvPr id="14" name="Text 12"/>
          <p:cNvSpPr txBox="1"/>
          <p:nvPr/>
        </p:nvSpPr>
        <p:spPr>
          <a:xfrm>
            <a:off x="640080" y="3666744"/>
            <a:ext cx="365760" cy="365760"/>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207008" y="3611880"/>
            <a:ext cx="10344607" cy="658368"/>
          </a:xfrm>
          <a:prstGeom prst="rect">
            <a:avLst/>
          </a:prstGeom>
          <a:noFill/>
          <a:ln/>
        </p:spPr>
        <p:txBody>
          <a:bodyPr wrap="square" lIns="0" tIns="0" rIns="0" bIns="0" rtlCol="0" anchor="ctr"/>
          <a:lstStyle/>
          <a:p>
            <a:pPr indent="0" marL="0">
              <a:buNone/>
            </a:pPr>
            <a:r>
              <a:rPr lang="en-US" sz="1500" dirty="0">
                <a:solidFill>
                  <a:srgbClr val="1F2429"/>
                </a:solidFill>
                <a:latin typeface="Calibri" pitchFamily="34" charset="0"/>
                <a:ea typeface="Calibri" pitchFamily="34" charset="-122"/>
                <a:cs typeface="Calibri" pitchFamily="34" charset="-120"/>
              </a:rPr>
              <a:t>Unit 4: ER &amp; EER Modeling — conceptual design and mapping to relations</a:t>
            </a:r>
            <a:endParaRPr lang="en-US" sz="1500" dirty="0"/>
          </a:p>
        </p:txBody>
      </p:sp>
      <p:sp>
        <p:nvSpPr>
          <p:cNvPr id="16" name="Shape 14"/>
          <p:cNvSpPr/>
          <p:nvPr/>
        </p:nvSpPr>
        <p:spPr>
          <a:xfrm>
            <a:off x="640080" y="4325112"/>
            <a:ext cx="365760" cy="365760"/>
          </a:xfrm>
          <a:prstGeom prst="ellipse">
            <a:avLst/>
          </a:prstGeom>
          <a:solidFill>
            <a:srgbClr val="2FE6C4"/>
          </a:solidFill>
          <a:ln/>
        </p:spPr>
      </p:sp>
      <p:sp>
        <p:nvSpPr>
          <p:cNvPr id="17" name="Text 15"/>
          <p:cNvSpPr txBox="1"/>
          <p:nvPr/>
        </p:nvSpPr>
        <p:spPr>
          <a:xfrm>
            <a:off x="640080" y="4325112"/>
            <a:ext cx="365760" cy="365760"/>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207008" y="4270248"/>
            <a:ext cx="10344607" cy="658368"/>
          </a:xfrm>
          <a:prstGeom prst="rect">
            <a:avLst/>
          </a:prstGeom>
          <a:noFill/>
          <a:ln/>
        </p:spPr>
        <p:txBody>
          <a:bodyPr wrap="square" lIns="0" tIns="0" rIns="0" bIns="0" rtlCol="0" anchor="ctr"/>
          <a:lstStyle/>
          <a:p>
            <a:pPr indent="0" marL="0">
              <a:buNone/>
            </a:pPr>
            <a:r>
              <a:rPr lang="en-US" sz="1500" dirty="0">
                <a:solidFill>
                  <a:srgbClr val="1F2429"/>
                </a:solidFill>
                <a:latin typeface="Calibri" pitchFamily="34" charset="0"/>
                <a:ea typeface="Calibri" pitchFamily="34" charset="-122"/>
                <a:cs typeface="Calibri" pitchFamily="34" charset="-120"/>
              </a:rPr>
              <a:t>Self-test: eight questions in the style the exam will ask</a:t>
            </a:r>
            <a:endParaRPr lang="en-US" sz="1500" dirty="0"/>
          </a:p>
        </p:txBody>
      </p:sp>
      <p:sp>
        <p:nvSpPr>
          <p:cNvPr id="19" name="Text 17"/>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CONCEPT MAP</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Lectures 1–16, Four Units</a:t>
            </a:r>
            <a:endParaRPr lang="en-US" sz="2600" dirty="0"/>
          </a:p>
        </p:txBody>
      </p:sp>
      <p:sp>
        <p:nvSpPr>
          <p:cNvPr id="4" name="Text 2"/>
          <p:cNvSpPr txBox="1"/>
          <p:nvPr/>
        </p:nvSpPr>
        <p:spPr>
          <a:xfrm>
            <a:off x="640080" y="1508760"/>
            <a:ext cx="10911535" cy="457200"/>
          </a:xfrm>
          <a:prstGeom prst="rect">
            <a:avLst/>
          </a:prstGeom>
          <a:noFill/>
          <a:ln/>
        </p:spPr>
        <p:txBody>
          <a:bodyPr wrap="square" lIns="0" tIns="0" rIns="0" bIns="0" rtlCol="0" anchor="ctr"/>
          <a:lstStyle/>
          <a:p>
            <a:pPr indent="0" marL="0">
              <a:buNone/>
            </a:pPr>
            <a:r>
              <a:rPr lang="en-US" sz="1350" dirty="0">
                <a:solidFill>
                  <a:srgbClr val="1F2429"/>
                </a:solidFill>
                <a:latin typeface="Calibri" pitchFamily="34" charset="0"/>
                <a:ea typeface="Calibri" pitchFamily="34" charset="-122"/>
                <a:cs typeface="Calibri" pitchFamily="34" charset="-120"/>
              </a:rPr>
              <a:t>Each unit hands the next one a vocabulary it assumes fluency with — and Unit 4 is exactly where normalization (Lecture 18 onward) picks up.</a:t>
            </a:r>
            <a:endParaRPr lang="en-US" sz="1350" dirty="0"/>
          </a:p>
        </p:txBody>
      </p:sp>
      <p:sp>
        <p:nvSpPr>
          <p:cNvPr id="5" name="Shape 3"/>
          <p:cNvSpPr/>
          <p:nvPr/>
        </p:nvSpPr>
        <p:spPr>
          <a:xfrm>
            <a:off x="640080" y="2057400"/>
            <a:ext cx="10911535" cy="870966"/>
          </a:xfrm>
          <a:prstGeom prst="roundRect">
            <a:avLst>
              <a:gd name="adj" fmla="val 8399"/>
            </a:avLst>
          </a:prstGeom>
          <a:solidFill>
            <a:srgbClr val="2FE6C4"/>
          </a:solidFill>
          <a:ln/>
        </p:spPr>
      </p:sp>
      <p:sp>
        <p:nvSpPr>
          <p:cNvPr id="6" name="Text 4"/>
          <p:cNvSpPr txBox="1"/>
          <p:nvPr/>
        </p:nvSpPr>
        <p:spPr>
          <a:xfrm>
            <a:off x="868680" y="2130552"/>
            <a:ext cx="10454335" cy="365806"/>
          </a:xfrm>
          <a:prstGeom prst="rect">
            <a:avLst/>
          </a:prstGeom>
          <a:noFill/>
          <a:ln/>
        </p:spPr>
        <p:txBody>
          <a:bodyPr wrap="square" lIns="0" tIns="0" rIns="0" bIns="0" rtlCol="0" anchor="ctr"/>
          <a:lstStyle/>
          <a:p>
            <a:pPr algn="l" indent="0" marL="0">
              <a:buNone/>
            </a:pPr>
            <a:r>
              <a:rPr lang="en-US" sz="1400" b="1" dirty="0">
                <a:solidFill>
                  <a:srgbClr val="14181C"/>
                </a:solidFill>
                <a:latin typeface="Calibri" pitchFamily="34" charset="0"/>
                <a:ea typeface="Calibri" pitchFamily="34" charset="-122"/>
                <a:cs typeface="Calibri" pitchFamily="34" charset="-120"/>
              </a:rPr>
              <a:t>Unit 1: Foundations (L1–4)</a:t>
            </a:r>
            <a:endParaRPr lang="en-US" sz="1400" dirty="0"/>
          </a:p>
        </p:txBody>
      </p:sp>
      <p:sp>
        <p:nvSpPr>
          <p:cNvPr id="7" name="Text 5"/>
          <p:cNvSpPr txBox="1"/>
          <p:nvPr/>
        </p:nvSpPr>
        <p:spPr>
          <a:xfrm>
            <a:off x="868680" y="2458044"/>
            <a:ext cx="10454335" cy="418064"/>
          </a:xfrm>
          <a:prstGeom prst="rect">
            <a:avLst/>
          </a:prstGeom>
          <a:noFill/>
          <a:ln/>
        </p:spPr>
        <p:txBody>
          <a:bodyPr wrap="square" lIns="0" tIns="0" rIns="0" bIns="0" rtlCol="0" anchor="t"/>
          <a:lstStyle/>
          <a:p>
            <a:pPr algn="l" indent="0" marL="0">
              <a:buNone/>
            </a:pPr>
            <a:r>
              <a:rPr lang="en-US" sz="1150" dirty="0">
                <a:solidFill>
                  <a:srgbClr val="20242A"/>
                </a:solidFill>
                <a:latin typeface="Calibri" pitchFamily="34" charset="0"/>
                <a:ea typeface="Calibri" pitchFamily="34" charset="-122"/>
                <a:cs typeface="Calibri" pitchFamily="34" charset="-120"/>
              </a:rPr>
              <a:t>DBMS, database approach, DDL/DML, three-schema architecture, data independence</a:t>
            </a:r>
            <a:endParaRPr lang="en-US" sz="1150" dirty="0"/>
          </a:p>
        </p:txBody>
      </p:sp>
      <p:sp>
        <p:nvSpPr>
          <p:cNvPr id="8" name="Shape 6"/>
          <p:cNvSpPr/>
          <p:nvPr/>
        </p:nvSpPr>
        <p:spPr>
          <a:xfrm>
            <a:off x="6095848" y="2928366"/>
            <a:ext cx="0" cy="164592"/>
          </a:xfrm>
          <a:prstGeom prst="line">
            <a:avLst/>
          </a:prstGeom>
          <a:noFill/>
          <a:ln w="25400">
            <a:solidFill>
              <a:srgbClr val="6B7280"/>
            </a:solidFill>
            <a:prstDash val="solid"/>
            <a:tailEnd type="triangle"/>
          </a:ln>
        </p:spPr>
      </p:sp>
      <p:sp>
        <p:nvSpPr>
          <p:cNvPr id="9" name="Shape 7"/>
          <p:cNvSpPr/>
          <p:nvPr/>
        </p:nvSpPr>
        <p:spPr>
          <a:xfrm>
            <a:off x="640080" y="3092958"/>
            <a:ext cx="10911535" cy="870966"/>
          </a:xfrm>
          <a:prstGeom prst="roundRect">
            <a:avLst>
              <a:gd name="adj" fmla="val 8399"/>
            </a:avLst>
          </a:prstGeom>
          <a:solidFill>
            <a:srgbClr val="8B7FD9"/>
          </a:solidFill>
          <a:ln/>
        </p:spPr>
      </p:sp>
      <p:sp>
        <p:nvSpPr>
          <p:cNvPr id="10" name="Text 8"/>
          <p:cNvSpPr txBox="1"/>
          <p:nvPr/>
        </p:nvSpPr>
        <p:spPr>
          <a:xfrm>
            <a:off x="868680" y="3166110"/>
            <a:ext cx="10454335" cy="365806"/>
          </a:xfrm>
          <a:prstGeom prst="rect">
            <a:avLst/>
          </a:prstGeom>
          <a:noFill/>
          <a:ln/>
        </p:spPr>
        <p:txBody>
          <a:bodyPr wrap="square" lIns="0" tIns="0" rIns="0" bIns="0" rtlCol="0" anchor="ctr"/>
          <a:lstStyle/>
          <a:p>
            <a:pPr algn="l" indent="0" marL="0">
              <a:buNone/>
            </a:pPr>
            <a:r>
              <a:rPr lang="en-US" sz="1400" b="1" dirty="0">
                <a:solidFill>
                  <a:srgbClr val="14181C"/>
                </a:solidFill>
                <a:latin typeface="Calibri" pitchFamily="34" charset="0"/>
                <a:ea typeface="Calibri" pitchFamily="34" charset="-122"/>
                <a:cs typeface="Calibri" pitchFamily="34" charset="-120"/>
              </a:rPr>
              <a:t>Unit 2: Relational Model (L5–6)</a:t>
            </a:r>
            <a:endParaRPr lang="en-US" sz="1400" dirty="0"/>
          </a:p>
        </p:txBody>
      </p:sp>
      <p:sp>
        <p:nvSpPr>
          <p:cNvPr id="11" name="Text 9"/>
          <p:cNvSpPr txBox="1"/>
          <p:nvPr/>
        </p:nvSpPr>
        <p:spPr>
          <a:xfrm>
            <a:off x="868680" y="3493602"/>
            <a:ext cx="10454335" cy="418064"/>
          </a:xfrm>
          <a:prstGeom prst="rect">
            <a:avLst/>
          </a:prstGeom>
          <a:noFill/>
          <a:ln/>
        </p:spPr>
        <p:txBody>
          <a:bodyPr wrap="square" lIns="0" tIns="0" rIns="0" bIns="0" rtlCol="0" anchor="t"/>
          <a:lstStyle/>
          <a:p>
            <a:pPr algn="l" indent="0" marL="0">
              <a:buNone/>
            </a:pPr>
            <a:r>
              <a:rPr lang="en-US" sz="1150" dirty="0">
                <a:solidFill>
                  <a:srgbClr val="20242A"/>
                </a:solidFill>
                <a:latin typeface="Calibri" pitchFamily="34" charset="0"/>
                <a:ea typeface="Calibri" pitchFamily="34" charset="-122"/>
                <a:cs typeface="Calibri" pitchFamily="34" charset="-120"/>
              </a:rPr>
              <a:t>Relations, attributes, domains, keys, integrity constraints</a:t>
            </a:r>
            <a:endParaRPr lang="en-US" sz="1150" dirty="0"/>
          </a:p>
        </p:txBody>
      </p:sp>
      <p:sp>
        <p:nvSpPr>
          <p:cNvPr id="12" name="Shape 10"/>
          <p:cNvSpPr/>
          <p:nvPr/>
        </p:nvSpPr>
        <p:spPr>
          <a:xfrm>
            <a:off x="6095848" y="3963924"/>
            <a:ext cx="0" cy="164592"/>
          </a:xfrm>
          <a:prstGeom prst="line">
            <a:avLst/>
          </a:prstGeom>
          <a:noFill/>
          <a:ln w="25400">
            <a:solidFill>
              <a:srgbClr val="6B7280"/>
            </a:solidFill>
            <a:prstDash val="solid"/>
            <a:tailEnd type="triangle"/>
          </a:ln>
        </p:spPr>
      </p:sp>
      <p:sp>
        <p:nvSpPr>
          <p:cNvPr id="13" name="Shape 11"/>
          <p:cNvSpPr/>
          <p:nvPr/>
        </p:nvSpPr>
        <p:spPr>
          <a:xfrm>
            <a:off x="640080" y="4128516"/>
            <a:ext cx="10911535" cy="870966"/>
          </a:xfrm>
          <a:prstGeom prst="roundRect">
            <a:avLst>
              <a:gd name="adj" fmla="val 8399"/>
            </a:avLst>
          </a:prstGeom>
          <a:solidFill>
            <a:srgbClr val="E8A33D"/>
          </a:solidFill>
          <a:ln/>
        </p:spPr>
      </p:sp>
      <p:sp>
        <p:nvSpPr>
          <p:cNvPr id="14" name="Text 12"/>
          <p:cNvSpPr txBox="1"/>
          <p:nvPr/>
        </p:nvSpPr>
        <p:spPr>
          <a:xfrm>
            <a:off x="868680" y="4201668"/>
            <a:ext cx="10454335" cy="365806"/>
          </a:xfrm>
          <a:prstGeom prst="rect">
            <a:avLst/>
          </a:prstGeom>
          <a:noFill/>
          <a:ln/>
        </p:spPr>
        <p:txBody>
          <a:bodyPr wrap="square" lIns="0" tIns="0" rIns="0" bIns="0" rtlCol="0" anchor="ctr"/>
          <a:lstStyle/>
          <a:p>
            <a:pPr algn="l" indent="0" marL="0">
              <a:buNone/>
            </a:pPr>
            <a:r>
              <a:rPr lang="en-US" sz="1400" b="1" dirty="0">
                <a:solidFill>
                  <a:srgbClr val="14181C"/>
                </a:solidFill>
                <a:latin typeface="Calibri" pitchFamily="34" charset="0"/>
                <a:ea typeface="Calibri" pitchFamily="34" charset="-122"/>
                <a:cs typeface="Calibri" pitchFamily="34" charset="-120"/>
              </a:rPr>
              <a:t>Unit 3: Algebra &amp; Calculus (L7–10)</a:t>
            </a:r>
            <a:endParaRPr lang="en-US" sz="1400" dirty="0"/>
          </a:p>
        </p:txBody>
      </p:sp>
      <p:sp>
        <p:nvSpPr>
          <p:cNvPr id="15" name="Text 13"/>
          <p:cNvSpPr txBox="1"/>
          <p:nvPr/>
        </p:nvSpPr>
        <p:spPr>
          <a:xfrm>
            <a:off x="868680" y="4529160"/>
            <a:ext cx="10454335" cy="418064"/>
          </a:xfrm>
          <a:prstGeom prst="rect">
            <a:avLst/>
          </a:prstGeom>
          <a:noFill/>
          <a:ln/>
        </p:spPr>
        <p:txBody>
          <a:bodyPr wrap="square" lIns="0" tIns="0" rIns="0" bIns="0" rtlCol="0" anchor="t"/>
          <a:lstStyle/>
          <a:p>
            <a:pPr algn="l" indent="0" marL="0">
              <a:buNone/>
            </a:pPr>
            <a:r>
              <a:rPr lang="en-US" sz="1150" dirty="0">
                <a:solidFill>
                  <a:srgbClr val="20242A"/>
                </a:solidFill>
                <a:latin typeface="Calibri" pitchFamily="34" charset="0"/>
                <a:ea typeface="Calibri" pitchFamily="34" charset="-122"/>
                <a:cs typeface="Calibri" pitchFamily="34" charset="-120"/>
              </a:rPr>
              <a:t>SELECT/PROJECT, joins, division, aggregation, TRC/DRC</a:t>
            </a:r>
            <a:endParaRPr lang="en-US" sz="1150" dirty="0"/>
          </a:p>
        </p:txBody>
      </p:sp>
      <p:sp>
        <p:nvSpPr>
          <p:cNvPr id="16" name="Shape 14"/>
          <p:cNvSpPr/>
          <p:nvPr/>
        </p:nvSpPr>
        <p:spPr>
          <a:xfrm>
            <a:off x="6095848" y="4999482"/>
            <a:ext cx="0" cy="164592"/>
          </a:xfrm>
          <a:prstGeom prst="line">
            <a:avLst/>
          </a:prstGeom>
          <a:noFill/>
          <a:ln w="25400">
            <a:solidFill>
              <a:srgbClr val="6B7280"/>
            </a:solidFill>
            <a:prstDash val="solid"/>
            <a:tailEnd type="triangle"/>
          </a:ln>
        </p:spPr>
      </p:sp>
      <p:sp>
        <p:nvSpPr>
          <p:cNvPr id="17" name="Shape 15"/>
          <p:cNvSpPr/>
          <p:nvPr/>
        </p:nvSpPr>
        <p:spPr>
          <a:xfrm>
            <a:off x="640080" y="5164074"/>
            <a:ext cx="10911535" cy="870966"/>
          </a:xfrm>
          <a:prstGeom prst="roundRect">
            <a:avLst>
              <a:gd name="adj" fmla="val 8399"/>
            </a:avLst>
          </a:prstGeom>
          <a:solidFill>
            <a:srgbClr val="2FE6C4"/>
          </a:solidFill>
          <a:ln/>
        </p:spPr>
      </p:sp>
      <p:sp>
        <p:nvSpPr>
          <p:cNvPr id="18" name="Text 16"/>
          <p:cNvSpPr txBox="1"/>
          <p:nvPr/>
        </p:nvSpPr>
        <p:spPr>
          <a:xfrm>
            <a:off x="868680" y="5237226"/>
            <a:ext cx="10454335" cy="365806"/>
          </a:xfrm>
          <a:prstGeom prst="rect">
            <a:avLst/>
          </a:prstGeom>
          <a:noFill/>
          <a:ln/>
        </p:spPr>
        <p:txBody>
          <a:bodyPr wrap="square" lIns="0" tIns="0" rIns="0" bIns="0" rtlCol="0" anchor="ctr"/>
          <a:lstStyle/>
          <a:p>
            <a:pPr algn="l" indent="0" marL="0">
              <a:buNone/>
            </a:pPr>
            <a:r>
              <a:rPr lang="en-US" sz="1400" b="1" dirty="0">
                <a:solidFill>
                  <a:srgbClr val="14181C"/>
                </a:solidFill>
                <a:latin typeface="Calibri" pitchFamily="34" charset="0"/>
                <a:ea typeface="Calibri" pitchFamily="34" charset="-122"/>
                <a:cs typeface="Calibri" pitchFamily="34" charset="-120"/>
              </a:rPr>
              <a:t>Unit 4: ER &amp; EER Modeling (L11–16)</a:t>
            </a:r>
            <a:endParaRPr lang="en-US" sz="1400" dirty="0"/>
          </a:p>
        </p:txBody>
      </p:sp>
      <p:sp>
        <p:nvSpPr>
          <p:cNvPr id="19" name="Text 17"/>
          <p:cNvSpPr txBox="1"/>
          <p:nvPr/>
        </p:nvSpPr>
        <p:spPr>
          <a:xfrm>
            <a:off x="868680" y="5564718"/>
            <a:ext cx="10454335" cy="418064"/>
          </a:xfrm>
          <a:prstGeom prst="rect">
            <a:avLst/>
          </a:prstGeom>
          <a:noFill/>
          <a:ln/>
        </p:spPr>
        <p:txBody>
          <a:bodyPr wrap="square" lIns="0" tIns="0" rIns="0" bIns="0" rtlCol="0" anchor="t"/>
          <a:lstStyle/>
          <a:p>
            <a:pPr algn="l" indent="0" marL="0">
              <a:buNone/>
            </a:pPr>
            <a:r>
              <a:rPr lang="en-US" sz="1150" dirty="0">
                <a:solidFill>
                  <a:srgbClr val="20242A"/>
                </a:solidFill>
                <a:latin typeface="Calibri" pitchFamily="34" charset="0"/>
                <a:ea typeface="Calibri" pitchFamily="34" charset="-122"/>
                <a:cs typeface="Calibri" pitchFamily="34" charset="-120"/>
              </a:rPr>
              <a:t>Conceptual design, ER, EER, mapping to relational schemas</a:t>
            </a:r>
            <a:endParaRPr lang="en-US" sz="1150" dirty="0"/>
          </a:p>
        </p:txBody>
      </p:sp>
      <p:sp>
        <p:nvSpPr>
          <p:cNvPr id="20" name="Text 18"/>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UNIT 1 · LECTURES 1–4</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Foundations of Database Systems</a:t>
            </a:r>
            <a:endParaRPr lang="en-US" sz="2600" dirty="0"/>
          </a:p>
        </p:txBody>
      </p:sp>
      <p:sp>
        <p:nvSpPr>
          <p:cNvPr id="4" name="Text 2"/>
          <p:cNvSpPr txBox="1"/>
          <p:nvPr/>
        </p:nvSpPr>
        <p:spPr>
          <a:xfrm>
            <a:off x="640080" y="1508760"/>
            <a:ext cx="10911535" cy="169164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350" dirty="0">
                <a:solidFill>
                  <a:srgbClr val="1F2429"/>
                </a:solidFill>
                <a:latin typeface="Calibri" pitchFamily="34" charset="0"/>
                <a:ea typeface="Calibri" pitchFamily="34" charset="-122"/>
                <a:cs typeface="Calibri" pitchFamily="34" charset="-120"/>
              </a:rPr>
              <a:t>File-based approach: data duplicated across programs, formats tightly coupled to whichever application wrote them</a:t>
            </a:r>
            <a:endParaRPr lang="en-US" sz="1350" dirty="0"/>
          </a:p>
          <a:p>
            <a:pPr marL="228600" indent="-228600">
              <a:lnSpc>
                <a:spcPct val="115000"/>
              </a:lnSpc>
              <a:spcAft>
                <a:spcPts val="800"/>
              </a:spcAft>
              <a:buSzPct val="100000"/>
              <a:buChar char="•"/>
            </a:pPr>
            <a:r>
              <a:rPr lang="en-US" sz="1350" dirty="0">
                <a:solidFill>
                  <a:srgbClr val="1F2429"/>
                </a:solidFill>
                <a:latin typeface="Calibri" pitchFamily="34" charset="0"/>
                <a:ea typeface="Calibri" pitchFamily="34" charset="-122"/>
                <a:cs typeface="Calibri" pitchFamily="34" charset="-120"/>
              </a:rPr>
              <a:t>Database approach: centralizes data and metadata behind one DBMS, shared via DDL/DML</a:t>
            </a:r>
            <a:endParaRPr lang="en-US" sz="1350" dirty="0"/>
          </a:p>
          <a:p>
            <a:pPr marL="228600" indent="-228600">
              <a:lnSpc>
                <a:spcPct val="115000"/>
              </a:lnSpc>
              <a:spcAft>
                <a:spcPts val="800"/>
              </a:spcAft>
              <a:buSzPct val="100000"/>
              <a:buChar char="•"/>
            </a:pPr>
            <a:r>
              <a:rPr lang="en-US" sz="1350" dirty="0">
                <a:solidFill>
                  <a:srgbClr val="1F2429"/>
                </a:solidFill>
                <a:latin typeface="Calibri" pitchFamily="34" charset="0"/>
                <a:ea typeface="Calibri" pitchFamily="34" charset="-122"/>
                <a:cs typeface="Calibri" pitchFamily="34" charset="-120"/>
              </a:rPr>
              <a:t>Payoff: data independence — applications keep working even when storage details change</a:t>
            </a:r>
            <a:endParaRPr lang="en-US" sz="1350" dirty="0"/>
          </a:p>
        </p:txBody>
      </p:sp>
      <p:sp>
        <p:nvSpPr>
          <p:cNvPr id="5" name="Shape 3"/>
          <p:cNvSpPr/>
          <p:nvPr/>
        </p:nvSpPr>
        <p:spPr>
          <a:xfrm>
            <a:off x="640080" y="3337560"/>
            <a:ext cx="3393338" cy="1874520"/>
          </a:xfrm>
          <a:prstGeom prst="roundRect">
            <a:avLst>
              <a:gd name="adj" fmla="val 3902"/>
            </a:avLst>
          </a:prstGeom>
          <a:solidFill>
            <a:srgbClr val="2FE6C4"/>
          </a:solidFill>
          <a:ln/>
        </p:spPr>
      </p:sp>
      <p:sp>
        <p:nvSpPr>
          <p:cNvPr id="6" name="Text 4"/>
          <p:cNvSpPr txBox="1"/>
          <p:nvPr/>
        </p:nvSpPr>
        <p:spPr>
          <a:xfrm>
            <a:off x="731520" y="3447288"/>
            <a:ext cx="3210458" cy="843534"/>
          </a:xfrm>
          <a:prstGeom prst="rect">
            <a:avLst/>
          </a:prstGeom>
          <a:noFill/>
          <a:ln/>
        </p:spPr>
        <p:txBody>
          <a:bodyPr wrap="square" lIns="0" tIns="0" rIns="0" bIns="0" rtlCol="0" anchor="b"/>
          <a:lstStyle/>
          <a:p>
            <a:pPr algn="ctr" indent="0" marL="0">
              <a:lnSpc>
                <a:spcPct val="105000"/>
              </a:lnSpc>
              <a:buNone/>
            </a:pPr>
            <a:r>
              <a:rPr lang="en-US" sz="1300" b="1" dirty="0">
                <a:solidFill>
                  <a:srgbClr val="14181C"/>
                </a:solidFill>
                <a:latin typeface="Calibri" pitchFamily="34" charset="0"/>
                <a:ea typeface="Calibri" pitchFamily="34" charset="-122"/>
                <a:cs typeface="Calibri" pitchFamily="34" charset="-120"/>
              </a:rPr>
              <a:t>External level</a:t>
            </a:r>
            <a:endParaRPr lang="en-US" sz="1300" dirty="0"/>
          </a:p>
        </p:txBody>
      </p:sp>
      <p:sp>
        <p:nvSpPr>
          <p:cNvPr id="7" name="Text 5"/>
          <p:cNvSpPr txBox="1"/>
          <p:nvPr/>
        </p:nvSpPr>
        <p:spPr>
          <a:xfrm>
            <a:off x="749808" y="4312310"/>
            <a:ext cx="3173882" cy="787298"/>
          </a:xfrm>
          <a:prstGeom prst="rect">
            <a:avLst/>
          </a:prstGeom>
          <a:noFill/>
          <a:ln/>
        </p:spPr>
        <p:txBody>
          <a:bodyPr wrap="square" lIns="0" tIns="0" rIns="0" bIns="0" rtlCol="0" anchor="t"/>
          <a:lstStyle/>
          <a:p>
            <a:pPr algn="ctr" indent="0" marL="0">
              <a:lnSpc>
                <a:spcPct val="105000"/>
              </a:lnSpc>
              <a:buNone/>
            </a:pPr>
            <a:r>
              <a:rPr lang="en-US" sz="1050" dirty="0">
                <a:solidFill>
                  <a:srgbClr val="20242A"/>
                </a:solidFill>
                <a:latin typeface="Calibri" pitchFamily="34" charset="0"/>
                <a:ea typeface="Calibri" pitchFamily="34" charset="-122"/>
                <a:cs typeface="Calibri" pitchFamily="34" charset="-120"/>
              </a:rPr>
              <a:t>Many user views — each application sees only the data it needs</a:t>
            </a:r>
            <a:endParaRPr lang="en-US" sz="1050" dirty="0"/>
          </a:p>
        </p:txBody>
      </p:sp>
      <p:sp>
        <p:nvSpPr>
          <p:cNvPr id="8" name="Shape 6"/>
          <p:cNvSpPr/>
          <p:nvPr/>
        </p:nvSpPr>
        <p:spPr>
          <a:xfrm>
            <a:off x="4033418" y="4274820"/>
            <a:ext cx="365760" cy="0"/>
          </a:xfrm>
          <a:prstGeom prst="line">
            <a:avLst/>
          </a:prstGeom>
          <a:noFill/>
          <a:ln w="25400">
            <a:solidFill>
              <a:srgbClr val="6B7280"/>
            </a:solidFill>
            <a:prstDash val="solid"/>
            <a:tailEnd type="triangle"/>
          </a:ln>
        </p:spPr>
      </p:sp>
      <p:sp>
        <p:nvSpPr>
          <p:cNvPr id="9" name="Shape 7"/>
          <p:cNvSpPr/>
          <p:nvPr/>
        </p:nvSpPr>
        <p:spPr>
          <a:xfrm>
            <a:off x="4399178" y="3337560"/>
            <a:ext cx="3393338" cy="1874520"/>
          </a:xfrm>
          <a:prstGeom prst="roundRect">
            <a:avLst>
              <a:gd name="adj" fmla="val 3902"/>
            </a:avLst>
          </a:prstGeom>
          <a:solidFill>
            <a:srgbClr val="8B7FD9"/>
          </a:solidFill>
          <a:ln/>
        </p:spPr>
      </p:sp>
      <p:sp>
        <p:nvSpPr>
          <p:cNvPr id="10" name="Text 8"/>
          <p:cNvSpPr txBox="1"/>
          <p:nvPr/>
        </p:nvSpPr>
        <p:spPr>
          <a:xfrm>
            <a:off x="4490618" y="3447288"/>
            <a:ext cx="3210458" cy="843534"/>
          </a:xfrm>
          <a:prstGeom prst="rect">
            <a:avLst/>
          </a:prstGeom>
          <a:noFill/>
          <a:ln/>
        </p:spPr>
        <p:txBody>
          <a:bodyPr wrap="square" lIns="0" tIns="0" rIns="0" bIns="0" rtlCol="0" anchor="b"/>
          <a:lstStyle/>
          <a:p>
            <a:pPr algn="ctr" indent="0" marL="0">
              <a:lnSpc>
                <a:spcPct val="105000"/>
              </a:lnSpc>
              <a:buNone/>
            </a:pPr>
            <a:r>
              <a:rPr lang="en-US" sz="1300" b="1" dirty="0">
                <a:solidFill>
                  <a:srgbClr val="14181C"/>
                </a:solidFill>
                <a:latin typeface="Calibri" pitchFamily="34" charset="0"/>
                <a:ea typeface="Calibri" pitchFamily="34" charset="-122"/>
                <a:cs typeface="Calibri" pitchFamily="34" charset="-120"/>
              </a:rPr>
              <a:t>Conceptual level</a:t>
            </a:r>
            <a:endParaRPr lang="en-US" sz="1300" dirty="0"/>
          </a:p>
        </p:txBody>
      </p:sp>
      <p:sp>
        <p:nvSpPr>
          <p:cNvPr id="11" name="Text 9"/>
          <p:cNvSpPr txBox="1"/>
          <p:nvPr/>
        </p:nvSpPr>
        <p:spPr>
          <a:xfrm>
            <a:off x="4508906" y="4312310"/>
            <a:ext cx="3173882" cy="787298"/>
          </a:xfrm>
          <a:prstGeom prst="rect">
            <a:avLst/>
          </a:prstGeom>
          <a:noFill/>
          <a:ln/>
        </p:spPr>
        <p:txBody>
          <a:bodyPr wrap="square" lIns="0" tIns="0" rIns="0" bIns="0" rtlCol="0" anchor="t"/>
          <a:lstStyle/>
          <a:p>
            <a:pPr algn="ctr" indent="0" marL="0">
              <a:lnSpc>
                <a:spcPct val="105000"/>
              </a:lnSpc>
              <a:buNone/>
            </a:pPr>
            <a:r>
              <a:rPr lang="en-US" sz="1050" dirty="0">
                <a:solidFill>
                  <a:srgbClr val="20242A"/>
                </a:solidFill>
                <a:latin typeface="Calibri" pitchFamily="34" charset="0"/>
                <a:ea typeface="Calibri" pitchFamily="34" charset="-122"/>
                <a:cs typeface="Calibri" pitchFamily="34" charset="-120"/>
              </a:rPr>
              <a:t>One community-wide logical structure — entities, relationships, constraints</a:t>
            </a:r>
            <a:endParaRPr lang="en-US" sz="1050" dirty="0"/>
          </a:p>
        </p:txBody>
      </p:sp>
      <p:sp>
        <p:nvSpPr>
          <p:cNvPr id="12" name="Shape 10"/>
          <p:cNvSpPr/>
          <p:nvPr/>
        </p:nvSpPr>
        <p:spPr>
          <a:xfrm>
            <a:off x="7792517" y="4274820"/>
            <a:ext cx="365760" cy="0"/>
          </a:xfrm>
          <a:prstGeom prst="line">
            <a:avLst/>
          </a:prstGeom>
          <a:noFill/>
          <a:ln w="25400">
            <a:solidFill>
              <a:srgbClr val="6B7280"/>
            </a:solidFill>
            <a:prstDash val="solid"/>
            <a:tailEnd type="triangle"/>
          </a:ln>
        </p:spPr>
      </p:sp>
      <p:sp>
        <p:nvSpPr>
          <p:cNvPr id="13" name="Shape 11"/>
          <p:cNvSpPr/>
          <p:nvPr/>
        </p:nvSpPr>
        <p:spPr>
          <a:xfrm>
            <a:off x="8158277" y="3337560"/>
            <a:ext cx="3393338" cy="1874520"/>
          </a:xfrm>
          <a:prstGeom prst="roundRect">
            <a:avLst>
              <a:gd name="adj" fmla="val 3902"/>
            </a:avLst>
          </a:prstGeom>
          <a:solidFill>
            <a:srgbClr val="E8A33D"/>
          </a:solidFill>
          <a:ln/>
        </p:spPr>
      </p:sp>
      <p:sp>
        <p:nvSpPr>
          <p:cNvPr id="14" name="Text 12"/>
          <p:cNvSpPr txBox="1"/>
          <p:nvPr/>
        </p:nvSpPr>
        <p:spPr>
          <a:xfrm>
            <a:off x="8249717" y="3447288"/>
            <a:ext cx="3210458" cy="843534"/>
          </a:xfrm>
          <a:prstGeom prst="rect">
            <a:avLst/>
          </a:prstGeom>
          <a:noFill/>
          <a:ln/>
        </p:spPr>
        <p:txBody>
          <a:bodyPr wrap="square" lIns="0" tIns="0" rIns="0" bIns="0" rtlCol="0" anchor="b"/>
          <a:lstStyle/>
          <a:p>
            <a:pPr algn="ctr" indent="0" marL="0">
              <a:lnSpc>
                <a:spcPct val="105000"/>
              </a:lnSpc>
              <a:buNone/>
            </a:pPr>
            <a:r>
              <a:rPr lang="en-US" sz="1300" b="1" dirty="0">
                <a:solidFill>
                  <a:srgbClr val="14181C"/>
                </a:solidFill>
                <a:latin typeface="Calibri" pitchFamily="34" charset="0"/>
                <a:ea typeface="Calibri" pitchFamily="34" charset="-122"/>
                <a:cs typeface="Calibri" pitchFamily="34" charset="-120"/>
              </a:rPr>
              <a:t>Internal level</a:t>
            </a:r>
            <a:endParaRPr lang="en-US" sz="1300" dirty="0"/>
          </a:p>
        </p:txBody>
      </p:sp>
      <p:sp>
        <p:nvSpPr>
          <p:cNvPr id="15" name="Text 13"/>
          <p:cNvSpPr txBox="1"/>
          <p:nvPr/>
        </p:nvSpPr>
        <p:spPr>
          <a:xfrm>
            <a:off x="8268005" y="4312310"/>
            <a:ext cx="3173882" cy="787298"/>
          </a:xfrm>
          <a:prstGeom prst="rect">
            <a:avLst/>
          </a:prstGeom>
          <a:noFill/>
          <a:ln/>
        </p:spPr>
        <p:txBody>
          <a:bodyPr wrap="square" lIns="0" tIns="0" rIns="0" bIns="0" rtlCol="0" anchor="t"/>
          <a:lstStyle/>
          <a:p>
            <a:pPr algn="ctr" indent="0" marL="0">
              <a:lnSpc>
                <a:spcPct val="105000"/>
              </a:lnSpc>
              <a:buNone/>
            </a:pPr>
            <a:r>
              <a:rPr lang="en-US" sz="1050" dirty="0">
                <a:solidFill>
                  <a:srgbClr val="20242A"/>
                </a:solidFill>
                <a:latin typeface="Calibri" pitchFamily="34" charset="0"/>
                <a:ea typeface="Calibri" pitchFamily="34" charset="-122"/>
                <a:cs typeface="Calibri" pitchFamily="34" charset="-120"/>
              </a:rPr>
              <a:t>Physical storage — file organization, indexes, access paths</a:t>
            </a:r>
            <a:endParaRPr lang="en-US" sz="1050" dirty="0"/>
          </a:p>
        </p:txBody>
      </p:sp>
      <p:sp>
        <p:nvSpPr>
          <p:cNvPr id="16" name="Text 14"/>
          <p:cNvSpPr txBox="1"/>
          <p:nvPr/>
        </p:nvSpPr>
        <p:spPr>
          <a:xfrm>
            <a:off x="640080" y="5394960"/>
            <a:ext cx="10911535" cy="457200"/>
          </a:xfrm>
          <a:prstGeom prst="rect">
            <a:avLst/>
          </a:prstGeom>
          <a:noFill/>
          <a:ln/>
        </p:spPr>
        <p:txBody>
          <a:bodyPr wrap="square" lIns="0" tIns="0" rIns="0" bIns="0" rtlCol="0" anchor="ctr"/>
          <a:lstStyle/>
          <a:p>
            <a:pPr indent="0" marL="0">
              <a:buNone/>
            </a:pPr>
            <a:r>
              <a:rPr lang="en-US" sz="1250" b="1" dirty="0">
                <a:solidFill>
                  <a:srgbClr val="2FE6C4"/>
                </a:solidFill>
                <a:latin typeface="Calibri" pitchFamily="34" charset="0"/>
                <a:ea typeface="Calibri" pitchFamily="34" charset="-122"/>
                <a:cs typeface="Calibri" pitchFamily="34" charset="-120"/>
              </a:rPr>
              <a:t>External–conceptual mapping </a:t>
            </a:r>
            <a:pPr indent="0" marL="0">
              <a:buNone/>
            </a:pPr>
            <a:r>
              <a:rPr lang="en-US" sz="1250" dirty="0">
                <a:solidFill>
                  <a:srgbClr val="1F2429"/>
                </a:solidFill>
                <a:latin typeface="Calibri" pitchFamily="34" charset="0"/>
                <a:ea typeface="Calibri" pitchFamily="34" charset="-122"/>
                <a:cs typeface="Calibri" pitchFamily="34" charset="-120"/>
              </a:rPr>
              <a:t>→ logical data independence.  </a:t>
            </a:r>
            <a:pPr indent="0" marL="0">
              <a:buNone/>
            </a:pPr>
            <a:r>
              <a:rPr lang="en-US" sz="1250" b="1" dirty="0">
                <a:solidFill>
                  <a:srgbClr val="E8A33D"/>
                </a:solidFill>
                <a:latin typeface="Calibri" pitchFamily="34" charset="0"/>
                <a:ea typeface="Calibri" pitchFamily="34" charset="-122"/>
                <a:cs typeface="Calibri" pitchFamily="34" charset="-120"/>
              </a:rPr>
              <a:t>Conceptual–internal mapping </a:t>
            </a:r>
            <a:pPr indent="0" marL="0">
              <a:buNone/>
            </a:pPr>
            <a:r>
              <a:rPr lang="en-US" sz="1250" dirty="0">
                <a:solidFill>
                  <a:srgbClr val="1F2429"/>
                </a:solidFill>
                <a:latin typeface="Calibri" pitchFamily="34" charset="0"/>
                <a:ea typeface="Calibri" pitchFamily="34" charset="-122"/>
                <a:cs typeface="Calibri" pitchFamily="34" charset="-120"/>
              </a:rPr>
              <a:t>→ physical data independence.</a:t>
            </a:r>
            <a:endParaRPr lang="en-US" sz="1250" dirty="0"/>
          </a:p>
        </p:txBody>
      </p:sp>
      <p:sp>
        <p:nvSpPr>
          <p:cNvPr id="17" name="Text 15"/>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UNIT 2 · LECTURES 5–6</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The Relational Model: Keys &amp; Constraints</a:t>
            </a:r>
            <a:endParaRPr lang="en-US" sz="2600" dirty="0"/>
          </a:p>
        </p:txBody>
      </p:sp>
      <p:sp>
        <p:nvSpPr>
          <p:cNvPr id="4" name="Text 2"/>
          <p:cNvSpPr txBox="1"/>
          <p:nvPr/>
        </p:nvSpPr>
        <p:spPr>
          <a:xfrm>
            <a:off x="640080" y="1417320"/>
            <a:ext cx="10911535" cy="59436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A relation is a named set of tuples over fixed attributes — a set, so no duplicate tuples and every value must be atomic. The key vocabulary nests strictly inside itself:</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10911535" cy="914400"/>
        </p:xfrm>
        <a:graphic>
          <a:graphicData uri="http://schemas.openxmlformats.org/drawingml/2006/table">
            <a:tbl>
              <a:tblPr/>
              <a:tblGrid>
                <a:gridCol w="2377440"/>
                <a:gridCol w="8531352"/>
              </a:tblGrid>
              <a:tr h="40233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402336">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Superkey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Any attribute set that uniquely identifies a tuple — may carry extra attributes</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Candidate key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A minimal superkey — remove any one attribute and uniqueness breaks</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402336">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Primary key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The candidate key the designer chooses to identify tuples</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Alternate key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Every candidate key that was NOT chosen as primary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402336">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Foreign key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An attribute set reproducing another relation's primary key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700016"/>
            <a:ext cx="10911535" cy="1417320"/>
          </a:xfrm>
          <a:prstGeom prst="roundRect">
            <a:avLst>
              <a:gd name="adj" fmla="val 5161"/>
            </a:avLst>
          </a:prstGeom>
          <a:solidFill>
            <a:srgbClr val="F7F8F9"/>
          </a:solidFill>
          <a:ln w="12700">
            <a:solidFill>
              <a:srgbClr val="E2E5E9"/>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868680" y="4837176"/>
            <a:ext cx="10454335" cy="1143000"/>
          </a:xfrm>
          <a:prstGeom prst="rect">
            <a:avLst/>
          </a:prstGeom>
          <a:noFill/>
          <a:ln/>
        </p:spPr>
        <p:txBody>
          <a:bodyPr wrap="square" lIns="0" tIns="0" rIns="0" bIns="0" rtlCol="0" anchor="t"/>
          <a:lstStyle/>
          <a:p>
            <a:pPr indent="0" marL="0">
              <a:lnSpc>
                <a:spcPct val="120000"/>
              </a:lnSpc>
              <a:buNone/>
            </a:pPr>
            <a:r>
              <a:rPr lang="en-US" sz="1250" b="1" dirty="0">
                <a:solidFill>
                  <a:srgbClr val="1F2429"/>
                </a:solidFill>
                <a:latin typeface="Calibri" pitchFamily="34" charset="0"/>
                <a:ea typeface="Calibri" pitchFamily="34" charset="-122"/>
                <a:cs typeface="Calibri" pitchFamily="34" charset="-120"/>
              </a:rPr>
              <a:t>Integrity constraints keep a schema honest: </a:t>
            </a:r>
            <a:pPr indent="0" marL="0">
              <a:lnSpc>
                <a:spcPct val="120000"/>
              </a:lnSpc>
              <a:buNone/>
            </a:pPr>
            <a:r>
              <a:rPr lang="en-US" sz="1250" dirty="0">
                <a:solidFill>
                  <a:srgbClr val="1F2429"/>
                </a:solidFill>
                <a:latin typeface="Calibri" pitchFamily="34" charset="0"/>
                <a:ea typeface="Calibri" pitchFamily="34" charset="-122"/>
                <a:cs typeface="Calibri" pitchFamily="34" charset="-120"/>
              </a:rPr>
              <a:t>domain constraint (one value vs. its domain) · entity integrity (no NULL in a PK) · referential integrity (FK matches an existing key, enforced via RESTRICT / CASCADE / SET NULL) · general constraints (business rules)</a:t>
            </a:r>
            <a:endParaRPr lang="en-US" sz="1250" dirty="0"/>
          </a:p>
        </p:txBody>
      </p:sp>
      <p:sp>
        <p:nvSpPr>
          <p:cNvPr id="8" name="Text 5"/>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UNIT 3 · LECTURES 7–10</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Relational Algebra: Operator Families</a:t>
            </a:r>
            <a:endParaRPr lang="en-US" sz="2600" dirty="0"/>
          </a:p>
        </p:txBody>
      </p:sp>
      <p:sp>
        <p:nvSpPr>
          <p:cNvPr id="4" name="Text 2"/>
          <p:cNvSpPr txBox="1"/>
          <p:nvPr/>
        </p:nvSpPr>
        <p:spPr>
          <a:xfrm>
            <a:off x="640080" y="1417320"/>
            <a:ext cx="10911535" cy="365760"/>
          </a:xfrm>
          <a:prstGeom prst="rect">
            <a:avLst/>
          </a:prstGeom>
          <a:noFill/>
          <a:ln/>
        </p:spPr>
        <p:txBody>
          <a:bodyPr wrap="square" lIns="0" tIns="0" rIns="0" bIns="0" rtlCol="0" anchor="ctr"/>
          <a:lstStyle/>
          <a:p>
            <a:pPr indent="0" marL="0">
              <a:buNone/>
            </a:pPr>
            <a:r>
              <a:rPr lang="en-US" sz="1300" dirty="0">
                <a:solidFill>
                  <a:srgbClr val="1F2429"/>
                </a:solidFill>
                <a:latin typeface="Calibri" pitchFamily="34" charset="0"/>
                <a:ea typeface="Calibri" pitchFamily="34" charset="-122"/>
                <a:cs typeface="Calibri" pitchFamily="34" charset="-120"/>
              </a:rPr>
              <a:t>Relational algebra is </a:t>
            </a:r>
            <a:pPr indent="0" marL="0">
              <a:buNone/>
            </a:pPr>
            <a:r>
              <a:rPr lang="en-US" sz="1300" b="1" dirty="0">
                <a:solidFill>
                  <a:srgbClr val="8B7FD9"/>
                </a:solidFill>
                <a:latin typeface="Calibri" pitchFamily="34" charset="0"/>
                <a:ea typeface="Calibri" pitchFamily="34" charset="-122"/>
                <a:cs typeface="Calibri" pitchFamily="34" charset="-120"/>
              </a:rPr>
              <a:t>procedural</a:t>
            </a:r>
            <a:pPr indent="0" marL="0">
              <a:buNone/>
            </a:pPr>
            <a:r>
              <a:rPr lang="en-US" sz="1300" dirty="0">
                <a:solidFill>
                  <a:srgbClr val="1F2429"/>
                </a:solidFill>
                <a:latin typeface="Calibri" pitchFamily="34" charset="0"/>
                <a:ea typeface="Calibri" pitchFamily="34" charset="-122"/>
                <a:cs typeface="Calibri" pitchFamily="34" charset="-120"/>
              </a:rPr>
              <a:t> — every operator's output is itself a relation (closure property), so operators nest freely:</a:t>
            </a:r>
            <a:endParaRPr lang="en-US" sz="1300" dirty="0"/>
          </a:p>
        </p:txBody>
      </p:sp>
      <p:sp>
        <p:nvSpPr>
          <p:cNvPr id="5" name="Shape 3"/>
          <p:cNvSpPr/>
          <p:nvPr/>
        </p:nvSpPr>
        <p:spPr>
          <a:xfrm>
            <a:off x="640080" y="1828800"/>
            <a:ext cx="10911535" cy="594360"/>
          </a:xfrm>
          <a:prstGeom prst="roundRect">
            <a:avLst>
              <a:gd name="adj" fmla="val 12308"/>
            </a:avLst>
          </a:prstGeom>
          <a:solidFill>
            <a:srgbClr val="1F2429"/>
          </a:solidFill>
          <a:ln/>
        </p:spPr>
      </p:sp>
      <p:sp>
        <p:nvSpPr>
          <p:cNvPr id="6" name="Text 4"/>
          <p:cNvSpPr txBox="1"/>
          <p:nvPr/>
        </p:nvSpPr>
        <p:spPr>
          <a:xfrm>
            <a:off x="914400" y="2011680"/>
            <a:ext cx="10362895" cy="228600"/>
          </a:xfrm>
          <a:prstGeom prst="rect">
            <a:avLst/>
          </a:prstGeom>
          <a:noFill/>
          <a:ln/>
        </p:spPr>
        <p:txBody>
          <a:bodyPr wrap="square" lIns="0" tIns="0" rIns="0" bIns="0" rtlCol="0" anchor="ctr"/>
          <a:lstStyle/>
          <a:p>
            <a:pPr algn="ctr" indent="0" marL="0">
              <a:lnSpc>
                <a:spcPct val="130000"/>
              </a:lnSpc>
              <a:buNone/>
            </a:pPr>
            <a:r>
              <a:rPr lang="en-US" sz="1500" dirty="0">
                <a:solidFill>
                  <a:srgbClr val="2FE6C4"/>
                </a:solidFill>
                <a:latin typeface="Courier New" pitchFamily="34" charset="0"/>
                <a:ea typeface="Courier New" pitchFamily="34" charset="-122"/>
                <a:cs typeface="Courier New" pitchFamily="34" charset="-120"/>
              </a:rPr>
              <a:t>π staffNo, name (σ salary&gt;20000 (Staff))</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697480"/>
          <a:ext cx="10911535" cy="914400"/>
        </p:xfrm>
        <a:graphic>
          <a:graphicData uri="http://schemas.openxmlformats.org/drawingml/2006/table">
            <a:tbl>
              <a:tblPr/>
              <a:tblGrid>
                <a:gridCol w="2194560"/>
                <a:gridCol w="7434072"/>
                <a:gridCol w="128016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Family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Operators</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Lecture</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502920">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Unary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SELECT (σ) filters rows, PROJECT (π) filters columns</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02920">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Set</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UNION (∪), INTERSECTION (∩), DIFFERENCE (−), CARTESIAN PRODUCT (×)</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02920">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Join / Division</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Theta-join, equijoin, natural join (⋈), outer joins, DIVISION (÷)</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02920">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Aggregation</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SUM, COUNT, AVG, ... with GROUP BY-style grouping</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bl>
          </a:graphicData>
        </a:graphic>
      </p:graphicFrame>
      <p:sp>
        <p:nvSpPr>
          <p:cNvPr id="8" name="Text 5"/>
          <p:cNvSpPr txBox="1"/>
          <p:nvPr/>
        </p:nvSpPr>
        <p:spPr>
          <a:xfrm>
            <a:off x="640080" y="5074920"/>
            <a:ext cx="10911535" cy="1005840"/>
          </a:xfrm>
          <a:prstGeom prst="rect">
            <a:avLst/>
          </a:prstGeom>
          <a:noFill/>
          <a:ln/>
        </p:spPr>
        <p:txBody>
          <a:bodyPr wrap="square" lIns="0" tIns="0" rIns="0" bIns="0" rtlCol="0" anchor="t"/>
          <a:lstStyle/>
          <a:p>
            <a:pPr indent="0" marL="0">
              <a:lnSpc>
                <a:spcPct val="120000"/>
              </a:lnSpc>
              <a:buNone/>
            </a:pPr>
            <a:r>
              <a:rPr lang="en-US" sz="1250" b="1" dirty="0">
                <a:solidFill>
                  <a:srgbClr val="E8A33D"/>
                </a:solidFill>
                <a:latin typeface="Calibri" pitchFamily="34" charset="0"/>
                <a:ea typeface="Calibri" pitchFamily="34" charset="-122"/>
                <a:cs typeface="Calibri" pitchFamily="34" charset="-120"/>
              </a:rPr>
              <a:t>Relational calculus </a:t>
            </a:r>
            <a:pPr indent="0" marL="0">
              <a:lnSpc>
                <a:spcPct val="120000"/>
              </a:lnSpc>
              <a:buNone/>
            </a:pPr>
            <a:r>
              <a:rPr lang="en-US" sz="1250" dirty="0">
                <a:solidFill>
                  <a:srgbClr val="1F2429"/>
                </a:solidFill>
                <a:latin typeface="Calibri" pitchFamily="34" charset="0"/>
                <a:ea typeface="Calibri" pitchFamily="34" charset="-122"/>
                <a:cs typeface="Calibri" pitchFamily="34" charset="-120"/>
              </a:rPr>
              <a:t>(Lecture 10) answers the same questions declaratively — you state the properties the result must satisfy (TRC uses tuple variables, DRC uses domain variables) and leave “how” to the DBMS. Both are equivalent in power (Codd's theorem), restricted to safe expressions.</a:t>
            </a:r>
            <a:endParaRPr lang="en-US" sz="1250" dirty="0"/>
          </a:p>
        </p:txBody>
      </p:sp>
      <p:sp>
        <p:nvSpPr>
          <p:cNvPr id="9" name="Text 6"/>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UNIT 3</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Relational Algebra vs. Relational Calculus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11535" cy="914400"/>
        </p:xfrm>
        <a:graphic>
          <a:graphicData uri="http://schemas.openxmlformats.org/drawingml/2006/table">
            <a:tbl>
              <a:tblPr/>
              <a:tblGrid>
                <a:gridCol w="2011680"/>
                <a:gridCol w="4572000"/>
                <a:gridCol w="4325112"/>
              </a:tblGrid>
              <a:tr h="530352">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Relational Algebra</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Relational Calculus</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530352">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Paradigm</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Procedural — specify HOW</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Declarative — specify WHAT</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30352">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Notation</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σ, π, ⋈, ÷, ∪, ∩, −</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 ∀, ∧, ∨, ¬ (TRC/DRC)</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30352">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Variables</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None — operates on named relations</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Tuple (TRC) or domain (DRC) variables</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30352">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Best when...</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Tracing a query step by step</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Stating a condition without an order</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30352">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None — always safe</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Unrestricted ¬ can be unsafe (infinite result)</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30352">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Division (÷)</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A dedicated operator</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Nested ∀/∃ quantification — harder by hand</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bl>
          </a:graphicData>
        </a:graphic>
      </p:graphicFrame>
      <p:sp>
        <p:nvSpPr>
          <p:cNvPr id="5" name="Shape 2"/>
          <p:cNvSpPr/>
          <p:nvPr/>
        </p:nvSpPr>
        <p:spPr>
          <a:xfrm>
            <a:off x="640080" y="5166360"/>
            <a:ext cx="10911535" cy="960120"/>
          </a:xfrm>
          <a:prstGeom prst="roundRect">
            <a:avLst>
              <a:gd name="adj" fmla="val 6667"/>
            </a:avLst>
          </a:prstGeom>
          <a:solidFill>
            <a:srgbClr val="E9F9F3"/>
          </a:solidFill>
          <a:ln w="12700">
            <a:solidFill>
              <a:srgbClr val="1FAE8C"/>
            </a:solidFill>
            <a:prstDash val="solid"/>
          </a:ln>
        </p:spPr>
      </p:sp>
      <p:sp>
        <p:nvSpPr>
          <p:cNvPr id="6" name="Text 3"/>
          <p:cNvSpPr txBox="1"/>
          <p:nvPr/>
        </p:nvSpPr>
        <p:spPr>
          <a:xfrm>
            <a:off x="896112" y="5312664"/>
            <a:ext cx="10399471" cy="274320"/>
          </a:xfrm>
          <a:prstGeom prst="rect">
            <a:avLst/>
          </a:prstGeom>
          <a:noFill/>
          <a:ln/>
        </p:spPr>
        <p:txBody>
          <a:bodyPr wrap="square" lIns="0" tIns="0" rIns="0" bIns="0" rtlCol="0" anchor="ctr"/>
          <a:lstStyle/>
          <a:p>
            <a:pPr indent="0" marL="0">
              <a:buNone/>
            </a:pPr>
            <a:r>
              <a:rPr lang="en-US" sz="1100" b="1" spc="200" kern="0" dirty="0">
                <a:solidFill>
                  <a:srgbClr val="0E7A61"/>
                </a:solidFill>
                <a:latin typeface="Calibri" pitchFamily="34" charset="0"/>
                <a:ea typeface="Calibri" pitchFamily="34" charset="-122"/>
                <a:cs typeface="Calibri" pitchFamily="34" charset="-120"/>
              </a:rPr>
              <a:t>TIP</a:t>
            </a:r>
            <a:endParaRPr lang="en-US" sz="1100" dirty="0"/>
          </a:p>
        </p:txBody>
      </p:sp>
      <p:sp>
        <p:nvSpPr>
          <p:cNvPr id="7" name="Text 4"/>
          <p:cNvSpPr txBox="1"/>
          <p:nvPr/>
        </p:nvSpPr>
        <p:spPr>
          <a:xfrm>
            <a:off x="896112" y="5623560"/>
            <a:ext cx="10399471" cy="338328"/>
          </a:xfrm>
          <a:prstGeom prst="rect">
            <a:avLst/>
          </a:prstGeom>
          <a:noFill/>
          <a:ln/>
        </p:spPr>
        <p:txBody>
          <a:bodyPr wrap="square" lIns="0" tIns="0" rIns="0" bIns="0" rtlCol="0" anchor="t"/>
          <a:lstStyle/>
          <a:p>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The fastest way to check a TRC formula: write the algebra expression you trust first, then translate operator by operator — σ becomes a conjunct, π becomes which attributes you keep, a join becomes an existentially-quantified tuple variable.</a:t>
            </a:r>
            <a:endParaRPr lang="en-US" sz="1300" dirty="0"/>
          </a:p>
        </p:txBody>
      </p:sp>
      <p:sp>
        <p:nvSpPr>
          <p:cNvPr id="8" name="Text 5"/>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UNIT 4 · LECTURES 11–16</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ER &amp; EER Modeling</a:t>
            </a:r>
            <a:endParaRPr lang="en-US" sz="2600" dirty="0"/>
          </a:p>
        </p:txBody>
      </p:sp>
      <p:sp>
        <p:nvSpPr>
          <p:cNvPr id="4" name="Text 2"/>
          <p:cNvSpPr txBox="1"/>
          <p:nvPr/>
        </p:nvSpPr>
        <p:spPr>
          <a:xfrm>
            <a:off x="640080" y="1463040"/>
            <a:ext cx="10911535" cy="155448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300" dirty="0">
                <a:solidFill>
                  <a:srgbClr val="1F2429"/>
                </a:solidFill>
                <a:latin typeface="Calibri" pitchFamily="34" charset="0"/>
                <a:ea typeface="Calibri" pitchFamily="34" charset="-122"/>
                <a:cs typeface="Calibri" pitchFamily="34" charset="-120"/>
              </a:rPr>
              <a:t>ER model: entity types, relationship types, attributes, structural constraints (cardinality + participation)</a:t>
            </a:r>
            <a:endParaRPr lang="en-US" sz="1300" dirty="0"/>
          </a:p>
          <a:p>
            <a:pPr marL="228600" indent="-228600">
              <a:lnSpc>
                <a:spcPct val="115000"/>
              </a:lnSpc>
              <a:spcAft>
                <a:spcPts val="800"/>
              </a:spcAft>
              <a:buSzPct val="100000"/>
              <a:buChar char="•"/>
            </a:pPr>
            <a:r>
              <a:rPr lang="en-US" sz="1300" dirty="0">
                <a:solidFill>
                  <a:srgbClr val="1F2429"/>
                </a:solidFill>
                <a:latin typeface="Calibri" pitchFamily="34" charset="0"/>
                <a:ea typeface="Calibri" pitchFamily="34" charset="-122"/>
                <a:cs typeface="Calibri" pitchFamily="34" charset="-120"/>
              </a:rPr>
              <a:t>EER adds: superclass/subclass hierarchies, specialization, generalization, aggregation, composition, categorization</a:t>
            </a:r>
            <a:endParaRPr lang="en-US" sz="1300" dirty="0"/>
          </a:p>
          <a:p>
            <a:pPr marL="228600" indent="-228600">
              <a:lnSpc>
                <a:spcPct val="115000"/>
              </a:lnSpc>
              <a:spcAft>
                <a:spcPts val="800"/>
              </a:spcAft>
              <a:buSzPct val="100000"/>
              <a:buChar char="•"/>
            </a:pPr>
            <a:r>
              <a:rPr lang="en-US" sz="1300" dirty="0">
                <a:solidFill>
                  <a:srgbClr val="1F2429"/>
                </a:solidFill>
                <a:latin typeface="Calibri" pitchFamily="34" charset="0"/>
                <a:ea typeface="Calibri" pitchFamily="34" charset="-122"/>
                <a:cs typeface="Calibri" pitchFamily="34" charset="-120"/>
              </a:rPr>
              <a:t>Lecture 16 is the rulebook mapping every EER construct down to relations</a:t>
            </a:r>
            <a:endParaRPr lang="en-US" sz="1300" dirty="0"/>
          </a:p>
        </p:txBody>
      </p:sp>
      <p:sp>
        <p:nvSpPr>
          <p:cNvPr id="5" name="Shape 3"/>
          <p:cNvSpPr/>
          <p:nvPr/>
        </p:nvSpPr>
        <p:spPr>
          <a:xfrm>
            <a:off x="1280160" y="3246120"/>
            <a:ext cx="3108960" cy="1060704"/>
          </a:xfrm>
          <a:prstGeom prst="roundRect">
            <a:avLst>
              <a:gd name="adj" fmla="val 6897"/>
            </a:avLst>
          </a:prstGeom>
          <a:solidFill>
            <a:srgbClr val="FFFFFF"/>
          </a:solidFill>
          <a:ln w="15875">
            <a:solidFill>
              <a:srgbClr val="1F2429"/>
            </a:solidFill>
            <a:prstDash val="solid"/>
          </a:ln>
        </p:spPr>
      </p:sp>
      <p:sp>
        <p:nvSpPr>
          <p:cNvPr id="6" name="Shape 4"/>
          <p:cNvSpPr/>
          <p:nvPr/>
        </p:nvSpPr>
        <p:spPr>
          <a:xfrm>
            <a:off x="1280160" y="3246120"/>
            <a:ext cx="3108960" cy="384048"/>
          </a:xfrm>
          <a:prstGeom prst="roundRect">
            <a:avLst>
              <a:gd name="adj" fmla="val 19048"/>
            </a:avLst>
          </a:prstGeom>
          <a:solidFill>
            <a:srgbClr val="2FE6C4"/>
          </a:solidFill>
          <a:ln/>
        </p:spPr>
      </p:sp>
      <p:sp>
        <p:nvSpPr>
          <p:cNvPr id="7" name="Shape 5"/>
          <p:cNvSpPr/>
          <p:nvPr/>
        </p:nvSpPr>
        <p:spPr>
          <a:xfrm>
            <a:off x="1280160" y="3438144"/>
            <a:ext cx="3108960" cy="192024"/>
          </a:xfrm>
          <a:prstGeom prst="rect">
            <a:avLst/>
          </a:prstGeom>
          <a:solidFill>
            <a:srgbClr val="2FE6C4"/>
          </a:solidFill>
          <a:ln/>
        </p:spPr>
      </p:sp>
      <p:sp>
        <p:nvSpPr>
          <p:cNvPr id="8" name="Text 6"/>
          <p:cNvSpPr txBox="1"/>
          <p:nvPr/>
        </p:nvSpPr>
        <p:spPr>
          <a:xfrm>
            <a:off x="1389888" y="3246120"/>
            <a:ext cx="2889504" cy="384048"/>
          </a:xfrm>
          <a:prstGeom prst="rect">
            <a:avLst/>
          </a:prstGeom>
          <a:noFill/>
          <a:ln/>
        </p:spPr>
        <p:txBody>
          <a:bodyPr wrap="square" lIns="0" tIns="0" rIns="0" bIns="0" rtlCol="0" anchor="ctr"/>
          <a:lstStyle/>
          <a:p>
            <a:pPr algn="l" indent="0" marL="0">
              <a:buNone/>
            </a:pPr>
            <a:r>
              <a:rPr lang="en-US" sz="1300" b="1" dirty="0">
                <a:solidFill>
                  <a:srgbClr val="14181C"/>
                </a:solidFill>
                <a:latin typeface="Calibri" pitchFamily="34" charset="0"/>
                <a:ea typeface="Calibri" pitchFamily="34" charset="-122"/>
                <a:cs typeface="Calibri" pitchFamily="34" charset="-120"/>
              </a:rPr>
              <a:t>Branch</a:t>
            </a:r>
            <a:endParaRPr lang="en-US" sz="1300" dirty="0"/>
          </a:p>
        </p:txBody>
      </p:sp>
      <p:sp>
        <p:nvSpPr>
          <p:cNvPr id="9" name="Text 7"/>
          <p:cNvSpPr txBox="1"/>
          <p:nvPr/>
        </p:nvSpPr>
        <p:spPr>
          <a:xfrm>
            <a:off x="1426464" y="3685032"/>
            <a:ext cx="2834640" cy="548640"/>
          </a:xfrm>
          <a:prstGeom prst="rect">
            <a:avLst/>
          </a:prstGeom>
          <a:noFill/>
          <a:ln/>
        </p:spPr>
        <p:txBody>
          <a:bodyPr wrap="square" lIns="0" tIns="0" rIns="0" bIns="0" rtlCol="0" anchor="t"/>
          <a:lstStyle/>
          <a:p>
            <a:pPr indent="0" marL="0">
              <a:lnSpc>
                <a:spcPct val="115000"/>
              </a:lnSpc>
              <a:spcAft>
                <a:spcPts val="100"/>
              </a:spcAft>
              <a:buNone/>
            </a:pPr>
            <a:r>
              <a:rPr lang="en-US" sz="1150" b="1" u="sng" dirty="0">
                <a:solidFill>
                  <a:srgbClr val="1F2429"/>
                </a:solidFill>
                <a:latin typeface="Calibri" pitchFamily="34" charset="0"/>
                <a:ea typeface="Calibri" pitchFamily="34" charset="-122"/>
                <a:cs typeface="Calibri" pitchFamily="34" charset="-120"/>
              </a:rPr>
              <a:t>branchNo</a:t>
            </a:r>
            <a:endParaRPr lang="en-US" sz="1150" dirty="0"/>
          </a:p>
          <a:p>
            <a:pPr indent="0" marL="0">
              <a:lnSpc>
                <a:spcPct val="115000"/>
              </a:lnSpc>
              <a:spcAft>
                <a:spcPts val="100"/>
              </a:spcAft>
              <a:buNone/>
            </a:pPr>
            <a:r>
              <a:rPr lang="en-US" sz="1150" dirty="0">
                <a:solidFill>
                  <a:srgbClr val="1F2429"/>
                </a:solidFill>
                <a:latin typeface="Calibri" pitchFamily="34" charset="0"/>
                <a:ea typeface="Calibri" pitchFamily="34" charset="-122"/>
                <a:cs typeface="Calibri" pitchFamily="34" charset="-120"/>
              </a:rPr>
              <a:t>street</a:t>
            </a:r>
            <a:endParaRPr lang="en-US" sz="1150" dirty="0"/>
          </a:p>
        </p:txBody>
      </p:sp>
      <p:sp>
        <p:nvSpPr>
          <p:cNvPr id="10" name="Shape 8"/>
          <p:cNvSpPr/>
          <p:nvPr/>
        </p:nvSpPr>
        <p:spPr>
          <a:xfrm>
            <a:off x="7772400" y="3246120"/>
            <a:ext cx="3108960" cy="1060704"/>
          </a:xfrm>
          <a:prstGeom prst="roundRect">
            <a:avLst>
              <a:gd name="adj" fmla="val 6897"/>
            </a:avLst>
          </a:prstGeom>
          <a:solidFill>
            <a:srgbClr val="FFFFFF"/>
          </a:solidFill>
          <a:ln w="15875">
            <a:solidFill>
              <a:srgbClr val="1F2429"/>
            </a:solidFill>
            <a:prstDash val="solid"/>
          </a:ln>
        </p:spPr>
      </p:sp>
      <p:sp>
        <p:nvSpPr>
          <p:cNvPr id="11" name="Shape 9"/>
          <p:cNvSpPr/>
          <p:nvPr/>
        </p:nvSpPr>
        <p:spPr>
          <a:xfrm>
            <a:off x="7772400" y="3246120"/>
            <a:ext cx="3108960" cy="384048"/>
          </a:xfrm>
          <a:prstGeom prst="roundRect">
            <a:avLst>
              <a:gd name="adj" fmla="val 19048"/>
            </a:avLst>
          </a:prstGeom>
          <a:solidFill>
            <a:srgbClr val="E8A33D"/>
          </a:solidFill>
          <a:ln/>
        </p:spPr>
      </p:sp>
      <p:sp>
        <p:nvSpPr>
          <p:cNvPr id="12" name="Shape 10"/>
          <p:cNvSpPr/>
          <p:nvPr/>
        </p:nvSpPr>
        <p:spPr>
          <a:xfrm>
            <a:off x="7772400" y="3438144"/>
            <a:ext cx="3108960" cy="192024"/>
          </a:xfrm>
          <a:prstGeom prst="rect">
            <a:avLst/>
          </a:prstGeom>
          <a:solidFill>
            <a:srgbClr val="E8A33D"/>
          </a:solidFill>
          <a:ln/>
        </p:spPr>
      </p:sp>
      <p:sp>
        <p:nvSpPr>
          <p:cNvPr id="13" name="Text 11"/>
          <p:cNvSpPr txBox="1"/>
          <p:nvPr/>
        </p:nvSpPr>
        <p:spPr>
          <a:xfrm>
            <a:off x="7882128" y="3246120"/>
            <a:ext cx="2889504" cy="384048"/>
          </a:xfrm>
          <a:prstGeom prst="rect">
            <a:avLst/>
          </a:prstGeom>
          <a:noFill/>
          <a:ln/>
        </p:spPr>
        <p:txBody>
          <a:bodyPr wrap="square" lIns="0" tIns="0" rIns="0" bIns="0" rtlCol="0" anchor="ctr"/>
          <a:lstStyle/>
          <a:p>
            <a:pPr algn="l" indent="0" marL="0">
              <a:buNone/>
            </a:pPr>
            <a:r>
              <a:rPr lang="en-US" sz="1300" b="1" dirty="0">
                <a:solidFill>
                  <a:srgbClr val="14181C"/>
                </a:solidFill>
                <a:latin typeface="Calibri" pitchFamily="34" charset="0"/>
                <a:ea typeface="Calibri" pitchFamily="34" charset="-122"/>
                <a:cs typeface="Calibri" pitchFamily="34" charset="-120"/>
              </a:rPr>
              <a:t>Staff</a:t>
            </a:r>
            <a:endParaRPr lang="en-US" sz="1300" dirty="0"/>
          </a:p>
        </p:txBody>
      </p:sp>
      <p:sp>
        <p:nvSpPr>
          <p:cNvPr id="14" name="Text 12"/>
          <p:cNvSpPr txBox="1"/>
          <p:nvPr/>
        </p:nvSpPr>
        <p:spPr>
          <a:xfrm>
            <a:off x="7918704" y="3685032"/>
            <a:ext cx="2834640" cy="548640"/>
          </a:xfrm>
          <a:prstGeom prst="rect">
            <a:avLst/>
          </a:prstGeom>
          <a:noFill/>
          <a:ln/>
        </p:spPr>
        <p:txBody>
          <a:bodyPr wrap="square" lIns="0" tIns="0" rIns="0" bIns="0" rtlCol="0" anchor="t"/>
          <a:lstStyle/>
          <a:p>
            <a:pPr indent="0" marL="0">
              <a:lnSpc>
                <a:spcPct val="115000"/>
              </a:lnSpc>
              <a:spcAft>
                <a:spcPts val="100"/>
              </a:spcAft>
              <a:buNone/>
            </a:pPr>
            <a:r>
              <a:rPr lang="en-US" sz="1150" b="1" u="sng" dirty="0">
                <a:solidFill>
                  <a:srgbClr val="1F2429"/>
                </a:solidFill>
                <a:latin typeface="Calibri" pitchFamily="34" charset="0"/>
                <a:ea typeface="Calibri" pitchFamily="34" charset="-122"/>
                <a:cs typeface="Calibri" pitchFamily="34" charset="-120"/>
              </a:rPr>
              <a:t>staffNo</a:t>
            </a:r>
            <a:endParaRPr lang="en-US" sz="1150" dirty="0"/>
          </a:p>
          <a:p>
            <a:pPr indent="0" marL="0">
              <a:lnSpc>
                <a:spcPct val="115000"/>
              </a:lnSpc>
              <a:spcAft>
                <a:spcPts val="100"/>
              </a:spcAft>
              <a:buNone/>
            </a:pPr>
            <a:r>
              <a:rPr lang="en-US" sz="1150" i="1" dirty="0">
                <a:solidFill>
                  <a:srgbClr val="5B6470"/>
                </a:solidFill>
                <a:latin typeface="Calibri" pitchFamily="34" charset="0"/>
                <a:ea typeface="Calibri" pitchFamily="34" charset="-122"/>
                <a:cs typeface="Calibri" pitchFamily="34" charset="-120"/>
              </a:rPr>
              <a:t>branchNo</a:t>
            </a:r>
            <a:endParaRPr lang="en-US" sz="1150" dirty="0"/>
          </a:p>
        </p:txBody>
      </p:sp>
      <p:sp>
        <p:nvSpPr>
          <p:cNvPr id="15" name="Shape 13"/>
          <p:cNvSpPr/>
          <p:nvPr/>
        </p:nvSpPr>
        <p:spPr>
          <a:xfrm>
            <a:off x="4389120" y="3776472"/>
            <a:ext cx="3383280" cy="9144"/>
          </a:xfrm>
          <a:prstGeom prst="line">
            <a:avLst/>
          </a:prstGeom>
          <a:noFill/>
          <a:ln w="22225">
            <a:solidFill>
              <a:srgbClr val="9AA1A9"/>
            </a:solidFill>
            <a:prstDash val="solid"/>
          </a:ln>
        </p:spPr>
      </p:sp>
      <p:sp>
        <p:nvSpPr>
          <p:cNvPr id="16" name="Text 14"/>
          <p:cNvSpPr txBox="1"/>
          <p:nvPr/>
        </p:nvSpPr>
        <p:spPr>
          <a:xfrm>
            <a:off x="5394960" y="3392424"/>
            <a:ext cx="1371600" cy="274320"/>
          </a:xfrm>
          <a:prstGeom prst="rect">
            <a:avLst/>
          </a:prstGeom>
          <a:solidFill>
            <a:srgbClr val="F7F8F9"/>
          </a:solidFill>
          <a:ln/>
        </p:spPr>
        <p:txBody>
          <a:bodyPr wrap="square" lIns="0" tIns="0" rIns="0" bIns="0" rtlCol="0" anchor="ctr"/>
          <a:lstStyle/>
          <a:p>
            <a:pPr algn="ctr" indent="0" marL="0">
              <a:buNone/>
            </a:pPr>
            <a:r>
              <a:rPr lang="en-US" sz="1100" i="1" dirty="0">
                <a:solidFill>
                  <a:srgbClr val="1F2429"/>
                </a:solidFill>
                <a:latin typeface="Calibri" pitchFamily="34" charset="0"/>
                <a:ea typeface="Calibri" pitchFamily="34" charset="-122"/>
                <a:cs typeface="Calibri" pitchFamily="34" charset="-120"/>
              </a:rPr>
              <a:t>employs (total)</a:t>
            </a:r>
            <a:endParaRPr lang="en-US" sz="1100" dirty="0"/>
          </a:p>
        </p:txBody>
      </p:sp>
      <p:sp>
        <p:nvSpPr>
          <p:cNvPr id="17" name="Shape 15"/>
          <p:cNvSpPr/>
          <p:nvPr/>
        </p:nvSpPr>
        <p:spPr>
          <a:xfrm>
            <a:off x="5577840" y="3758184"/>
            <a:ext cx="274320" cy="274320"/>
          </a:xfrm>
          <a:prstGeom prst="ellipse">
            <a:avLst/>
          </a:prstGeom>
          <a:solidFill>
            <a:srgbClr val="2FE6C4"/>
          </a:solidFill>
          <a:ln/>
        </p:spPr>
      </p:sp>
      <p:sp>
        <p:nvSpPr>
          <p:cNvPr id="18" name="Text 16"/>
          <p:cNvSpPr txBox="1"/>
          <p:nvPr/>
        </p:nvSpPr>
        <p:spPr>
          <a:xfrm>
            <a:off x="5577840" y="3758184"/>
            <a:ext cx="274320" cy="274320"/>
          </a:xfrm>
          <a:prstGeom prst="rect">
            <a:avLst/>
          </a:prstGeom>
          <a:noFill/>
          <a:ln/>
        </p:spPr>
        <p:txBody>
          <a:bodyPr wrap="square" lIns="0" tIns="0" rIns="0" bIns="0" rtlCol="0" anchor="ctr"/>
          <a:lstStyle/>
          <a:p>
            <a:pPr algn="ctr" indent="0" marL="0">
              <a:buNone/>
            </a:pPr>
            <a:r>
              <a:rPr lang="en-US" sz="1300" b="1" dirty="0">
                <a:solidFill>
                  <a:srgbClr val="14181C"/>
                </a:solidFill>
                <a:latin typeface="Calibri" pitchFamily="34" charset="0"/>
                <a:ea typeface="Calibri" pitchFamily="34" charset="-122"/>
                <a:cs typeface="Calibri" pitchFamily="34" charset="-120"/>
              </a:rPr>
              <a:t>1</a:t>
            </a:r>
            <a:endParaRPr lang="en-US" sz="1300" dirty="0"/>
          </a:p>
        </p:txBody>
      </p:sp>
      <p:sp>
        <p:nvSpPr>
          <p:cNvPr id="19" name="Shape 17"/>
          <p:cNvSpPr/>
          <p:nvPr/>
        </p:nvSpPr>
        <p:spPr>
          <a:xfrm>
            <a:off x="6309360" y="3758184"/>
            <a:ext cx="274320" cy="274320"/>
          </a:xfrm>
          <a:prstGeom prst="ellipse">
            <a:avLst/>
          </a:prstGeom>
          <a:solidFill>
            <a:srgbClr val="E8A33D"/>
          </a:solidFill>
          <a:ln/>
        </p:spPr>
      </p:sp>
      <p:sp>
        <p:nvSpPr>
          <p:cNvPr id="20" name="Text 18"/>
          <p:cNvSpPr txBox="1"/>
          <p:nvPr/>
        </p:nvSpPr>
        <p:spPr>
          <a:xfrm>
            <a:off x="6309360" y="3758184"/>
            <a:ext cx="274320" cy="274320"/>
          </a:xfrm>
          <a:prstGeom prst="rect">
            <a:avLst/>
          </a:prstGeom>
          <a:noFill/>
          <a:ln/>
        </p:spPr>
        <p:txBody>
          <a:bodyPr wrap="square" lIns="0" tIns="0" rIns="0" bIns="0" rtlCol="0" anchor="ctr"/>
          <a:lstStyle/>
          <a:p>
            <a:pPr algn="ctr" indent="0" marL="0">
              <a:buNone/>
            </a:pPr>
            <a:r>
              <a:rPr lang="en-US" sz="1300" b="1" dirty="0">
                <a:solidFill>
                  <a:srgbClr val="14181C"/>
                </a:solidFill>
                <a:latin typeface="Calibri" pitchFamily="34" charset="0"/>
                <a:ea typeface="Calibri" pitchFamily="34" charset="-122"/>
                <a:cs typeface="Calibri" pitchFamily="34" charset="-120"/>
              </a:rPr>
              <a:t>N</a:t>
            </a:r>
            <a:endParaRPr lang="en-US" sz="1300" dirty="0"/>
          </a:p>
        </p:txBody>
      </p:sp>
      <p:sp>
        <p:nvSpPr>
          <p:cNvPr id="21" name="Text 19"/>
          <p:cNvSpPr txBox="1"/>
          <p:nvPr/>
        </p:nvSpPr>
        <p:spPr>
          <a:xfrm>
            <a:off x="640080" y="4937760"/>
            <a:ext cx="10911535" cy="1097280"/>
          </a:xfrm>
          <a:prstGeom prst="rect">
            <a:avLst/>
          </a:prstGeom>
          <a:noFill/>
          <a:ln/>
        </p:spPr>
        <p:txBody>
          <a:bodyPr wrap="square" lIns="0" tIns="0" rIns="0" bIns="0" rtlCol="0" anchor="t"/>
          <a:lstStyle/>
          <a:p>
            <a:pPr indent="0" marL="0">
              <a:lnSpc>
                <a:spcPct val="120000"/>
              </a:lnSpc>
              <a:buNone/>
            </a:pPr>
            <a:r>
              <a:rPr lang="en-US" sz="1250" dirty="0">
                <a:solidFill>
                  <a:srgbClr val="1F2429"/>
                </a:solidFill>
                <a:latin typeface="Calibri" pitchFamily="34" charset="0"/>
                <a:ea typeface="Calibri" pitchFamily="34" charset="-122"/>
                <a:cs typeface="Calibri" pitchFamily="34" charset="-120"/>
              </a:rPr>
              <a:t>A 1/N badge pair is the cardinality ratio; whether every instance must participate (total) or some may not (partial) is the participation constraint — independent of each other.</a:t>
            </a:r>
            <a:endParaRPr lang="en-US" sz="1250" dirty="0"/>
          </a:p>
        </p:txBody>
      </p:sp>
      <p:sp>
        <p:nvSpPr>
          <p:cNvPr id="22" name="Text 20"/>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UNIT 4</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ER / EER Constraint Cheat-Sheet</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911535" cy="914400"/>
        </p:xfrm>
        <a:graphic>
          <a:graphicData uri="http://schemas.openxmlformats.org/drawingml/2006/table">
            <a:tbl>
              <a:tblPr/>
              <a:tblGrid>
                <a:gridCol w="2103120"/>
                <a:gridCol w="4690872"/>
                <a:gridCol w="4114800"/>
              </a:tblGrid>
              <a:tr h="50292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Worked example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502920">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Cardinality ratio</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Max relationship instances one entity can participate in: 1:1, 1:N, M:N</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One Branch employs many Staff → 1:N</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02920">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Total participation</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EVERY instance must participate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Every Staff row has a branchNo</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02920">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Partial participation</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SOME instances may not participate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Not every Client has booked a Viewing</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02920">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Disjoint (d)</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An instance belongs to at most ONE subclass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Staff is Manager OR Assistant, never both</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02920">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Overlapping (o)</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An instance MAY belong to several subclasses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A Person could be Student AND Employee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02920">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Total specialization</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Every superclass instance belongs to ≥ 1 subclass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Every Staff is Manager/Supervisor/Assistant</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02920">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Partial specialization</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Some instances belong to NO subclass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A Vehicle may have no Car/Truck subtype yet</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5" name="Text 2"/>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UNIT 4 · LECTURE 16</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Mapping Specialization to Relations</a:t>
            </a:r>
            <a:endParaRPr lang="en-US" sz="2600" dirty="0"/>
          </a:p>
        </p:txBody>
      </p:sp>
      <p:sp>
        <p:nvSpPr>
          <p:cNvPr id="4" name="Shape 2"/>
          <p:cNvSpPr/>
          <p:nvPr/>
        </p:nvSpPr>
        <p:spPr>
          <a:xfrm>
            <a:off x="640080" y="1554480"/>
            <a:ext cx="10911535" cy="1021080"/>
          </a:xfrm>
          <a:prstGeom prst="roundRect">
            <a:avLst>
              <a:gd name="adj" fmla="val 7164"/>
            </a:avLst>
          </a:prstGeom>
          <a:solidFill>
            <a:srgbClr val="2FE6C4"/>
          </a:solidFill>
          <a:ln/>
        </p:spPr>
      </p:sp>
      <p:sp>
        <p:nvSpPr>
          <p:cNvPr id="5" name="Text 3"/>
          <p:cNvSpPr txBox="1"/>
          <p:nvPr/>
        </p:nvSpPr>
        <p:spPr>
          <a:xfrm>
            <a:off x="868680" y="1627632"/>
            <a:ext cx="10454335" cy="428854"/>
          </a:xfrm>
          <a:prstGeom prst="rect">
            <a:avLst/>
          </a:prstGeom>
          <a:noFill/>
          <a:ln/>
        </p:spPr>
        <p:txBody>
          <a:bodyPr wrap="square" lIns="0" tIns="0" rIns="0" bIns="0" rtlCol="0" anchor="ctr"/>
          <a:lstStyle/>
          <a:p>
            <a:pPr algn="l" indent="0" marL="0">
              <a:buNone/>
            </a:pPr>
            <a:r>
              <a:rPr lang="en-US" sz="1400" b="1" dirty="0">
                <a:solidFill>
                  <a:srgbClr val="14181C"/>
                </a:solidFill>
                <a:latin typeface="Calibri" pitchFamily="34" charset="0"/>
                <a:ea typeface="Calibri" pitchFamily="34" charset="-122"/>
                <a:cs typeface="Calibri" pitchFamily="34" charset="-120"/>
              </a:rPr>
              <a:t>Option A — one relation, type attribute</a:t>
            </a:r>
            <a:endParaRPr lang="en-US" sz="1400" dirty="0"/>
          </a:p>
        </p:txBody>
      </p:sp>
      <p:sp>
        <p:nvSpPr>
          <p:cNvPr id="6" name="Text 4"/>
          <p:cNvSpPr txBox="1"/>
          <p:nvPr/>
        </p:nvSpPr>
        <p:spPr>
          <a:xfrm>
            <a:off x="868680" y="2024177"/>
            <a:ext cx="10454335" cy="490118"/>
          </a:xfrm>
          <a:prstGeom prst="rect">
            <a:avLst/>
          </a:prstGeom>
          <a:noFill/>
          <a:ln/>
        </p:spPr>
        <p:txBody>
          <a:bodyPr wrap="square" lIns="0" tIns="0" rIns="0" bIns="0" rtlCol="0" anchor="t"/>
          <a:lstStyle/>
          <a:p>
            <a:pPr algn="l" indent="0" marL="0">
              <a:buNone/>
            </a:pPr>
            <a:r>
              <a:rPr lang="en-US" sz="1150" dirty="0">
                <a:solidFill>
                  <a:srgbClr val="20242A"/>
                </a:solidFill>
                <a:latin typeface="Calibri" pitchFamily="34" charset="0"/>
                <a:ea typeface="Calibri" pitchFamily="34" charset="-122"/>
                <a:cs typeface="Calibri" pitchFamily="34" charset="-120"/>
              </a:rPr>
              <a:t>Single Staff(staffNo,...,staffType,bonus,trainingLevel); unused attrs NULL per row. Best: disjoint + total, few subclasses</a:t>
            </a:r>
            <a:endParaRPr lang="en-US" sz="1150" dirty="0"/>
          </a:p>
        </p:txBody>
      </p:sp>
      <p:sp>
        <p:nvSpPr>
          <p:cNvPr id="7" name="Shape 5"/>
          <p:cNvSpPr/>
          <p:nvPr/>
        </p:nvSpPr>
        <p:spPr>
          <a:xfrm>
            <a:off x="6095848" y="2575560"/>
            <a:ext cx="0" cy="182880"/>
          </a:xfrm>
          <a:prstGeom prst="line">
            <a:avLst/>
          </a:prstGeom>
          <a:noFill/>
          <a:ln w="25400">
            <a:solidFill>
              <a:srgbClr val="6B7280"/>
            </a:solidFill>
            <a:prstDash val="solid"/>
            <a:tailEnd type="triangle"/>
          </a:ln>
        </p:spPr>
      </p:sp>
      <p:sp>
        <p:nvSpPr>
          <p:cNvPr id="8" name="Shape 6"/>
          <p:cNvSpPr/>
          <p:nvPr/>
        </p:nvSpPr>
        <p:spPr>
          <a:xfrm>
            <a:off x="640080" y="2758440"/>
            <a:ext cx="10911535" cy="1021080"/>
          </a:xfrm>
          <a:prstGeom prst="roundRect">
            <a:avLst>
              <a:gd name="adj" fmla="val 7164"/>
            </a:avLst>
          </a:prstGeom>
          <a:solidFill>
            <a:srgbClr val="8B7FD9"/>
          </a:solidFill>
          <a:ln/>
        </p:spPr>
      </p:sp>
      <p:sp>
        <p:nvSpPr>
          <p:cNvPr id="9" name="Text 7"/>
          <p:cNvSpPr txBox="1"/>
          <p:nvPr/>
        </p:nvSpPr>
        <p:spPr>
          <a:xfrm>
            <a:off x="868680" y="2831592"/>
            <a:ext cx="10454335" cy="428854"/>
          </a:xfrm>
          <a:prstGeom prst="rect">
            <a:avLst/>
          </a:prstGeom>
          <a:noFill/>
          <a:ln/>
        </p:spPr>
        <p:txBody>
          <a:bodyPr wrap="square" lIns="0" tIns="0" rIns="0" bIns="0" rtlCol="0" anchor="ctr"/>
          <a:lstStyle/>
          <a:p>
            <a:pPr algn="l" indent="0" marL="0">
              <a:buNone/>
            </a:pPr>
            <a:r>
              <a:rPr lang="en-US" sz="1400" b="1" dirty="0">
                <a:solidFill>
                  <a:srgbClr val="14181C"/>
                </a:solidFill>
                <a:latin typeface="Calibri" pitchFamily="34" charset="0"/>
                <a:ea typeface="Calibri" pitchFamily="34" charset="-122"/>
                <a:cs typeface="Calibri" pitchFamily="34" charset="-120"/>
              </a:rPr>
              <a:t>Option B — one relation per subclass only</a:t>
            </a:r>
            <a:endParaRPr lang="en-US" sz="1400" dirty="0"/>
          </a:p>
        </p:txBody>
      </p:sp>
      <p:sp>
        <p:nvSpPr>
          <p:cNvPr id="10" name="Text 8"/>
          <p:cNvSpPr txBox="1"/>
          <p:nvPr/>
        </p:nvSpPr>
        <p:spPr>
          <a:xfrm>
            <a:off x="868680" y="3228137"/>
            <a:ext cx="10454335" cy="490118"/>
          </a:xfrm>
          <a:prstGeom prst="rect">
            <a:avLst/>
          </a:prstGeom>
          <a:noFill/>
          <a:ln/>
        </p:spPr>
        <p:txBody>
          <a:bodyPr wrap="square" lIns="0" tIns="0" rIns="0" bIns="0" rtlCol="0" anchor="t"/>
          <a:lstStyle/>
          <a:p>
            <a:pPr algn="l" indent="0" marL="0">
              <a:buNone/>
            </a:pPr>
            <a:r>
              <a:rPr lang="en-US" sz="1150" dirty="0">
                <a:solidFill>
                  <a:srgbClr val="20242A"/>
                </a:solidFill>
                <a:latin typeface="Calibri" pitchFamily="34" charset="0"/>
                <a:ea typeface="Calibri" pitchFamily="34" charset="-122"/>
                <a:cs typeface="Calibri" pitchFamily="34" charset="-120"/>
              </a:rPr>
              <a:t>Manager(staffNo,...,bonus), Assistant(staffNo,...,trainingLevel) — no Staff relation. Best: disjoint + total ONLY</a:t>
            </a:r>
            <a:endParaRPr lang="en-US" sz="1150" dirty="0"/>
          </a:p>
        </p:txBody>
      </p:sp>
      <p:sp>
        <p:nvSpPr>
          <p:cNvPr id="11" name="Shape 9"/>
          <p:cNvSpPr/>
          <p:nvPr/>
        </p:nvSpPr>
        <p:spPr>
          <a:xfrm>
            <a:off x="6095848" y="3779520"/>
            <a:ext cx="0" cy="182880"/>
          </a:xfrm>
          <a:prstGeom prst="line">
            <a:avLst/>
          </a:prstGeom>
          <a:noFill/>
          <a:ln w="25400">
            <a:solidFill>
              <a:srgbClr val="6B7280"/>
            </a:solidFill>
            <a:prstDash val="solid"/>
            <a:tailEnd type="triangle"/>
          </a:ln>
        </p:spPr>
      </p:sp>
      <p:sp>
        <p:nvSpPr>
          <p:cNvPr id="12" name="Shape 10"/>
          <p:cNvSpPr/>
          <p:nvPr/>
        </p:nvSpPr>
        <p:spPr>
          <a:xfrm>
            <a:off x="640080" y="3962400"/>
            <a:ext cx="10911535" cy="1021080"/>
          </a:xfrm>
          <a:prstGeom prst="roundRect">
            <a:avLst>
              <a:gd name="adj" fmla="val 7164"/>
            </a:avLst>
          </a:prstGeom>
          <a:solidFill>
            <a:srgbClr val="E8A33D"/>
          </a:solidFill>
          <a:ln/>
        </p:spPr>
      </p:sp>
      <p:sp>
        <p:nvSpPr>
          <p:cNvPr id="13" name="Text 11"/>
          <p:cNvSpPr txBox="1"/>
          <p:nvPr/>
        </p:nvSpPr>
        <p:spPr>
          <a:xfrm>
            <a:off x="868680" y="4035552"/>
            <a:ext cx="10454335" cy="428854"/>
          </a:xfrm>
          <a:prstGeom prst="rect">
            <a:avLst/>
          </a:prstGeom>
          <a:noFill/>
          <a:ln/>
        </p:spPr>
        <p:txBody>
          <a:bodyPr wrap="square" lIns="0" tIns="0" rIns="0" bIns="0" rtlCol="0" anchor="ctr"/>
          <a:lstStyle/>
          <a:p>
            <a:pPr algn="l" indent="0" marL="0">
              <a:buNone/>
            </a:pPr>
            <a:r>
              <a:rPr lang="en-US" sz="1400" b="1" dirty="0">
                <a:solidFill>
                  <a:srgbClr val="14181C"/>
                </a:solidFill>
                <a:latin typeface="Calibri" pitchFamily="34" charset="0"/>
                <a:ea typeface="Calibri" pitchFamily="34" charset="-122"/>
                <a:cs typeface="Calibri" pitchFamily="34" charset="-120"/>
              </a:rPr>
              <a:t>Option C — superclass + one relation per subclass</a:t>
            </a:r>
            <a:endParaRPr lang="en-US" sz="1400" dirty="0"/>
          </a:p>
        </p:txBody>
      </p:sp>
      <p:sp>
        <p:nvSpPr>
          <p:cNvPr id="14" name="Text 12"/>
          <p:cNvSpPr txBox="1"/>
          <p:nvPr/>
        </p:nvSpPr>
        <p:spPr>
          <a:xfrm>
            <a:off x="868680" y="4432097"/>
            <a:ext cx="10454335" cy="490118"/>
          </a:xfrm>
          <a:prstGeom prst="rect">
            <a:avLst/>
          </a:prstGeom>
          <a:noFill/>
          <a:ln/>
        </p:spPr>
        <p:txBody>
          <a:bodyPr wrap="square" lIns="0" tIns="0" rIns="0" bIns="0" rtlCol="0" anchor="t"/>
          <a:lstStyle/>
          <a:p>
            <a:pPr algn="l" indent="0" marL="0">
              <a:buNone/>
            </a:pPr>
            <a:r>
              <a:rPr lang="en-US" sz="1150" dirty="0">
                <a:solidFill>
                  <a:srgbClr val="20242A"/>
                </a:solidFill>
                <a:latin typeface="Calibri" pitchFamily="34" charset="0"/>
                <a:ea typeface="Calibri" pitchFamily="34" charset="-122"/>
                <a:cs typeface="Calibri" pitchFamily="34" charset="-120"/>
              </a:rPr>
              <a:t>Staff(staffNo,...); Manager(staffNo,bonus); Assistant(staffNo,trainingLevel). Best: overlapping, or partial — always works</a:t>
            </a:r>
            <a:endParaRPr lang="en-US" sz="1150" dirty="0"/>
          </a:p>
        </p:txBody>
      </p:sp>
      <p:sp>
        <p:nvSpPr>
          <p:cNvPr id="15" name="Shape 13"/>
          <p:cNvSpPr/>
          <p:nvPr/>
        </p:nvSpPr>
        <p:spPr>
          <a:xfrm>
            <a:off x="640080" y="5166360"/>
            <a:ext cx="10911535" cy="960120"/>
          </a:xfrm>
          <a:prstGeom prst="roundRect">
            <a:avLst>
              <a:gd name="adj" fmla="val 6667"/>
            </a:avLst>
          </a:prstGeom>
          <a:solidFill>
            <a:srgbClr val="FCF1E3"/>
          </a:solidFill>
          <a:ln w="12700">
            <a:solidFill>
              <a:srgbClr val="E8A33D"/>
            </a:solidFill>
            <a:prstDash val="solid"/>
          </a:ln>
        </p:spPr>
      </p:sp>
      <p:sp>
        <p:nvSpPr>
          <p:cNvPr id="16" name="Text 14"/>
          <p:cNvSpPr txBox="1"/>
          <p:nvPr/>
        </p:nvSpPr>
        <p:spPr>
          <a:xfrm>
            <a:off x="896112" y="5312664"/>
            <a:ext cx="10399471" cy="274320"/>
          </a:xfrm>
          <a:prstGeom prst="rect">
            <a:avLst/>
          </a:prstGeom>
          <a:noFill/>
          <a:ln/>
        </p:spPr>
        <p:txBody>
          <a:bodyPr wrap="square" lIns="0" tIns="0" rIns="0" bIns="0" rtlCol="0" anchor="ctr"/>
          <a:lstStyle/>
          <a:p>
            <a:pPr indent="0" marL="0">
              <a:buNone/>
            </a:pPr>
            <a:r>
              <a:rPr lang="en-US" sz="1100" b="1" spc="200" kern="0" dirty="0">
                <a:solidFill>
                  <a:srgbClr val="8A5A12"/>
                </a:solidFill>
                <a:latin typeface="Calibri" pitchFamily="34" charset="0"/>
                <a:ea typeface="Calibri" pitchFamily="34" charset="-122"/>
                <a:cs typeface="Calibri" pitchFamily="34" charset="-120"/>
              </a:rPr>
              <a:t>WARNING</a:t>
            </a:r>
            <a:endParaRPr lang="en-US" sz="1100" dirty="0"/>
          </a:p>
        </p:txBody>
      </p:sp>
      <p:sp>
        <p:nvSpPr>
          <p:cNvPr id="17" name="Text 15"/>
          <p:cNvSpPr txBox="1"/>
          <p:nvPr/>
        </p:nvSpPr>
        <p:spPr>
          <a:xfrm>
            <a:off x="896112" y="5623560"/>
            <a:ext cx="10399471" cy="338328"/>
          </a:xfrm>
          <a:prstGeom prst="rect">
            <a:avLst/>
          </a:prstGeom>
          <a:noFill/>
          <a:ln/>
        </p:spPr>
        <p:txBody>
          <a:bodyPr wrap="square" lIns="0" tIns="0" rIns="0" bIns="0" rtlCol="0" anchor="t"/>
          <a:lstStyle/>
          <a:p>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Option B has no relation to hold a Staff row belonging to NO subclass — breaks under partial specialization. Option C always works, at the cost of an extra join.</a:t>
            </a:r>
            <a:endParaRPr lang="en-US" sz="1300" dirty="0"/>
          </a:p>
        </p:txBody>
      </p:sp>
      <p:sp>
        <p:nvSpPr>
          <p:cNvPr id="18" name="Text 16"/>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DECISION RULE</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When to Use Algebra vs. Calculus</a:t>
            </a:r>
            <a:endParaRPr lang="en-US" sz="2600" dirty="0"/>
          </a:p>
        </p:txBody>
      </p:sp>
      <p:sp>
        <p:nvSpPr>
          <p:cNvPr id="4" name="Text 2"/>
          <p:cNvSpPr txBox="1"/>
          <p:nvPr/>
        </p:nvSpPr>
        <p:spPr>
          <a:xfrm>
            <a:off x="640080" y="1600200"/>
            <a:ext cx="10911535" cy="237744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1450" dirty="0">
                <a:solidFill>
                  <a:srgbClr val="1F2429"/>
                </a:solidFill>
                <a:latin typeface="Calibri" pitchFamily="34" charset="0"/>
                <a:ea typeface="Calibri" pitchFamily="34" charset="-122"/>
                <a:cs typeface="Calibri" pitchFamily="34" charset="-120"/>
              </a:rPr>
              <a:t>Reach for algebra when: you're asked for a step-by-step derivation, need to reason about intermediate relations, or translate to an execution plan</a:t>
            </a:r>
            <a:endParaRPr lang="en-US" sz="1450" dirty="0"/>
          </a:p>
          <a:p>
            <a:pPr marL="228600" indent="-228600">
              <a:lnSpc>
                <a:spcPct val="115000"/>
              </a:lnSpc>
              <a:spcAft>
                <a:spcPts val="1600"/>
              </a:spcAft>
              <a:buSzPct val="100000"/>
              <a:buChar char="•"/>
            </a:pPr>
            <a:r>
              <a:rPr lang="en-US" sz="1450" dirty="0">
                <a:solidFill>
                  <a:srgbClr val="1F2429"/>
                </a:solidFill>
                <a:latin typeface="Calibri" pitchFamily="34" charset="0"/>
                <a:ea typeface="Calibri" pitchFamily="34" charset="-122"/>
                <a:cs typeface="Calibri" pitchFamily="34" charset="-120"/>
              </a:rPr>
              <a:t>Reach for calculus when: you're asked to state a condition concisely without committing to an order of operations</a:t>
            </a:r>
            <a:endParaRPr lang="en-US" sz="1450" dirty="0"/>
          </a:p>
          <a:p>
            <a:pPr marL="228600" indent="-228600">
              <a:lnSpc>
                <a:spcPct val="115000"/>
              </a:lnSpc>
              <a:spcAft>
                <a:spcPts val="1600"/>
              </a:spcAft>
              <a:buSzPct val="100000"/>
              <a:buChar char="•"/>
            </a:pPr>
            <a:r>
              <a:rPr lang="en-US" sz="1450" dirty="0">
                <a:solidFill>
                  <a:srgbClr val="1F2429"/>
                </a:solidFill>
                <a:latin typeface="Calibri" pitchFamily="34" charset="0"/>
                <a:ea typeface="Calibri" pitchFamily="34" charset="-122"/>
                <a:cs typeface="Calibri" pitchFamily="34" charset="-120"/>
              </a:rPr>
              <a:t>Both are equally correct for anything expressible safely in either (Codd's theorem) — “which is right” is rarely the question; “which is asked for” is</a:t>
            </a:r>
            <a:endParaRPr lang="en-US" sz="1450" dirty="0"/>
          </a:p>
        </p:txBody>
      </p:sp>
      <p:sp>
        <p:nvSpPr>
          <p:cNvPr id="5" name="Shape 3"/>
          <p:cNvSpPr/>
          <p:nvPr/>
        </p:nvSpPr>
        <p:spPr>
          <a:xfrm>
            <a:off x="640080" y="4251960"/>
            <a:ext cx="10911535" cy="1417320"/>
          </a:xfrm>
          <a:prstGeom prst="roundRect">
            <a:avLst>
              <a:gd name="adj" fmla="val 5161"/>
            </a:avLst>
          </a:prstGeom>
          <a:solidFill>
            <a:srgbClr val="1F2429"/>
          </a:solidFill>
          <a:ln/>
        </p:spPr>
      </p:sp>
      <p:sp>
        <p:nvSpPr>
          <p:cNvPr id="6" name="Text 4"/>
          <p:cNvSpPr txBox="1"/>
          <p:nvPr/>
        </p:nvSpPr>
        <p:spPr>
          <a:xfrm>
            <a:off x="914400" y="4434840"/>
            <a:ext cx="10362895" cy="10515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ourier New" pitchFamily="34" charset="0"/>
                <a:ea typeface="Courier New" pitchFamily="34" charset="-122"/>
                <a:cs typeface="Courier New" pitchFamily="34" charset="-120"/>
              </a:rPr>
              <a:t>“Find every client such that no property they'd accept is currently vacant”</a:t>
            </a:r>
            <a:endParaRPr lang="en-US" sz="1300" dirty="0"/>
          </a:p>
          <a:p>
            <a:pPr algn="ctr" indent="0" marL="0">
              <a:lnSpc>
                <a:spcPct val="130000"/>
              </a:lnSpc>
              <a:buNone/>
            </a:pPr>
            <a:r>
              <a:rPr lang="en-US" sz="1300" dirty="0">
                <a:solidFill>
                  <a:srgbClr val="FFFFFF"/>
                </a:solidFill>
                <a:latin typeface="Courier New" pitchFamily="34" charset="0"/>
                <a:ea typeface="Courier New" pitchFamily="34" charset="-122"/>
                <a:cs typeface="Courier New" pitchFamily="34" charset="-120"/>
              </a:rPr>
              <a:t>reads far more naturally as a quantified calculus formula than a nested algebra expression.</a:t>
            </a:r>
            <a:endParaRPr lang="en-US" sz="1300" dirty="0"/>
          </a:p>
        </p:txBody>
      </p:sp>
      <p:sp>
        <p:nvSpPr>
          <p:cNvPr id="7" name="Text 5"/>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SELF-TEST · 1 OF 3</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Algebra &amp; Calculus</a:t>
            </a:r>
            <a:endParaRPr lang="en-US" sz="2600" dirty="0"/>
          </a:p>
        </p:txBody>
      </p:sp>
      <p:sp>
        <p:nvSpPr>
          <p:cNvPr id="4" name="Text 2"/>
          <p:cNvSpPr txBox="1"/>
          <p:nvPr/>
        </p:nvSpPr>
        <p:spPr>
          <a:xfrm>
            <a:off x="640080" y="1463040"/>
            <a:ext cx="10911535" cy="54864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Q1.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Write the relational algebra expression: names of staff at branch B003 earning more than 15,000.</a:t>
            </a:r>
            <a:endParaRPr lang="en-US" sz="1300" dirty="0"/>
          </a:p>
        </p:txBody>
      </p:sp>
      <p:sp>
        <p:nvSpPr>
          <p:cNvPr id="5" name="Shape 3"/>
          <p:cNvSpPr/>
          <p:nvPr/>
        </p:nvSpPr>
        <p:spPr>
          <a:xfrm>
            <a:off x="640080" y="2011680"/>
            <a:ext cx="10911535" cy="960120"/>
          </a:xfrm>
          <a:prstGeom prst="roundRect">
            <a:avLst>
              <a:gd name="adj" fmla="val 7619"/>
            </a:avLst>
          </a:prstGeom>
          <a:solidFill>
            <a:srgbClr val="EDF7F4"/>
          </a:solidFill>
          <a:ln w="12700">
            <a:solidFill>
              <a:srgbClr val="2FE6C4"/>
            </a:solidFill>
            <a:prstDash val="solid"/>
          </a:ln>
        </p:spPr>
      </p:sp>
      <p:sp>
        <p:nvSpPr>
          <p:cNvPr id="6" name="Text 4"/>
          <p:cNvSpPr txBox="1"/>
          <p:nvPr/>
        </p:nvSpPr>
        <p:spPr>
          <a:xfrm>
            <a:off x="868680" y="2121408"/>
            <a:ext cx="10454335" cy="740664"/>
          </a:xfrm>
          <a:prstGeom prst="rect">
            <a:avLst/>
          </a:prstGeom>
          <a:noFill/>
          <a:ln/>
        </p:spPr>
        <p:txBody>
          <a:bodyPr wrap="square" lIns="0" tIns="0" rIns="0" bIns="0" rtlCol="0" anchor="t"/>
          <a:lstStyle/>
          <a:p>
            <a:pPr indent="0" marL="0">
              <a:lnSpc>
                <a:spcPct val="115000"/>
              </a:lnSpc>
              <a:buNone/>
            </a:pPr>
            <a:r>
              <a:rPr lang="en-US" sz="1200" dirty="0">
                <a:solidFill>
                  <a:srgbClr val="1F2429"/>
                </a:solidFill>
                <a:latin typeface="Calibri" pitchFamily="34" charset="0"/>
                <a:ea typeface="Calibri" pitchFamily="34" charset="-122"/>
                <a:cs typeface="Calibri" pitchFamily="34" charset="-120"/>
              </a:rPr>
              <a:t>π name (σ branchNo='B003' ∧ salary&gt;15000 (Staff))  —  SELECT (σ) runs first while branchNo/salary are still present, then PROJECT (π) narrows to name.</a:t>
            </a:r>
            <a:endParaRPr lang="en-US" sz="1200" dirty="0"/>
          </a:p>
        </p:txBody>
      </p:sp>
      <p:sp>
        <p:nvSpPr>
          <p:cNvPr id="7" name="Text 5"/>
          <p:cNvSpPr txBox="1"/>
          <p:nvPr/>
        </p:nvSpPr>
        <p:spPr>
          <a:xfrm>
            <a:off x="640080" y="3246120"/>
            <a:ext cx="10911535" cy="50292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Q2.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Write the equivalent tuple relational calculus (TRC) expression.</a:t>
            </a:r>
            <a:endParaRPr lang="en-US" sz="1300" dirty="0"/>
          </a:p>
        </p:txBody>
      </p:sp>
      <p:sp>
        <p:nvSpPr>
          <p:cNvPr id="8" name="Shape 6"/>
          <p:cNvSpPr/>
          <p:nvPr/>
        </p:nvSpPr>
        <p:spPr>
          <a:xfrm>
            <a:off x="640080" y="3749040"/>
            <a:ext cx="10911535" cy="960120"/>
          </a:xfrm>
          <a:prstGeom prst="roundRect">
            <a:avLst>
              <a:gd name="adj" fmla="val 7619"/>
            </a:avLst>
          </a:prstGeom>
          <a:solidFill>
            <a:srgbClr val="EDF7F4"/>
          </a:solidFill>
          <a:ln w="12700">
            <a:solidFill>
              <a:srgbClr val="2FE6C4"/>
            </a:solidFill>
            <a:prstDash val="solid"/>
          </a:ln>
        </p:spPr>
      </p:sp>
      <p:sp>
        <p:nvSpPr>
          <p:cNvPr id="9" name="Text 7"/>
          <p:cNvSpPr txBox="1"/>
          <p:nvPr/>
        </p:nvSpPr>
        <p:spPr>
          <a:xfrm>
            <a:off x="868680" y="3858768"/>
            <a:ext cx="10454335" cy="740664"/>
          </a:xfrm>
          <a:prstGeom prst="rect">
            <a:avLst/>
          </a:prstGeom>
          <a:noFill/>
          <a:ln/>
        </p:spPr>
        <p:txBody>
          <a:bodyPr wrap="square" lIns="0" tIns="0" rIns="0" bIns="0" rtlCol="0" anchor="t"/>
          <a:lstStyle/>
          <a:p>
            <a:pPr indent="0" marL="0">
              <a:lnSpc>
                <a:spcPct val="115000"/>
              </a:lnSpc>
              <a:buNone/>
            </a:pPr>
            <a:r>
              <a:rPr lang="en-US" sz="1200" dirty="0">
                <a:solidFill>
                  <a:srgbClr val="1F2429"/>
                </a:solidFill>
                <a:latin typeface="Calibri" pitchFamily="34" charset="0"/>
                <a:ea typeface="Calibri" pitchFamily="34" charset="-122"/>
                <a:cs typeface="Calibri" pitchFamily="34" charset="-120"/>
              </a:rPr>
              <a:t>{ S.name | Staff(S) ∧ S.branchNo='B003' ∧ S.salary&gt;15000 }  — “the set of name values for every tuple S in Staff such that S's branch is B003 and salary exceeds 15000.”</a:t>
            </a:r>
            <a:endParaRPr lang="en-US" sz="1200" dirty="0"/>
          </a:p>
        </p:txBody>
      </p:sp>
      <p:sp>
        <p:nvSpPr>
          <p:cNvPr id="10" name="Text 8"/>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SELF-TEST · 2 OF 3</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Keys &amp; Referential Integrity</a:t>
            </a:r>
            <a:endParaRPr lang="en-US" sz="2600" dirty="0"/>
          </a:p>
        </p:txBody>
      </p:sp>
      <p:sp>
        <p:nvSpPr>
          <p:cNvPr id="4" name="Text 2"/>
          <p:cNvSpPr txBox="1"/>
          <p:nvPr/>
        </p:nvSpPr>
        <p:spPr>
          <a:xfrm>
            <a:off x="640080" y="1463040"/>
            <a:ext cx="10911535" cy="45720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Q3.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Difference between a candidate key and the primary key of a relation?</a:t>
            </a:r>
            <a:endParaRPr lang="en-US" sz="1300" dirty="0"/>
          </a:p>
        </p:txBody>
      </p:sp>
      <p:sp>
        <p:nvSpPr>
          <p:cNvPr id="5" name="Shape 3"/>
          <p:cNvSpPr/>
          <p:nvPr/>
        </p:nvSpPr>
        <p:spPr>
          <a:xfrm>
            <a:off x="640080" y="1920240"/>
            <a:ext cx="10911535" cy="1051560"/>
          </a:xfrm>
          <a:prstGeom prst="roundRect">
            <a:avLst>
              <a:gd name="adj" fmla="val 6957"/>
            </a:avLst>
          </a:prstGeom>
          <a:solidFill>
            <a:srgbClr val="EDF7F4"/>
          </a:solidFill>
          <a:ln w="12700">
            <a:solidFill>
              <a:srgbClr val="2FE6C4"/>
            </a:solidFill>
            <a:prstDash val="solid"/>
          </a:ln>
        </p:spPr>
      </p:sp>
      <p:sp>
        <p:nvSpPr>
          <p:cNvPr id="6" name="Text 4"/>
          <p:cNvSpPr txBox="1"/>
          <p:nvPr/>
        </p:nvSpPr>
        <p:spPr>
          <a:xfrm>
            <a:off x="868680" y="2029968"/>
            <a:ext cx="10454335" cy="832104"/>
          </a:xfrm>
          <a:prstGeom prst="rect">
            <a:avLst/>
          </a:prstGeom>
          <a:noFill/>
          <a:ln/>
        </p:spPr>
        <p:txBody>
          <a:bodyPr wrap="square" lIns="0" tIns="0" rIns="0" bIns="0" rtlCol="0" anchor="t"/>
          <a:lstStyle/>
          <a:p>
            <a:pPr indent="0" marL="0">
              <a:lnSpc>
                <a:spcPct val="115000"/>
              </a:lnSpc>
              <a:buNone/>
            </a:pPr>
            <a:r>
              <a:rPr lang="en-US" sz="1200" dirty="0">
                <a:solidFill>
                  <a:srgbClr val="1F2429"/>
                </a:solidFill>
                <a:latin typeface="Calibri" pitchFamily="34" charset="0"/>
                <a:ea typeface="Calibri" pitchFamily="34" charset="-122"/>
                <a:cs typeface="Calibri" pitchFamily="34" charset="-120"/>
              </a:rPr>
              <a:t>A relation may have several candidate keys — minimal sets that each independently guarantee uniqueness. The primary key is the ONE candidate key the designer chooses; every other candidate key becomes an alternate key. No structural difference until that choice is made.</a:t>
            </a:r>
            <a:endParaRPr lang="en-US" sz="1200" dirty="0"/>
          </a:p>
        </p:txBody>
      </p:sp>
      <p:sp>
        <p:nvSpPr>
          <p:cNvPr id="7" name="Text 5"/>
          <p:cNvSpPr txBox="1"/>
          <p:nvPr/>
        </p:nvSpPr>
        <p:spPr>
          <a:xfrm>
            <a:off x="640080" y="3246120"/>
            <a:ext cx="10911535" cy="59436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Q4.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Branch B003 is deleted while 3 PropertyForRent rows still reference it. RESTRICT vs. CASCADE?</a:t>
            </a:r>
            <a:endParaRPr lang="en-US" sz="1300" dirty="0"/>
          </a:p>
        </p:txBody>
      </p:sp>
      <p:sp>
        <p:nvSpPr>
          <p:cNvPr id="8" name="Shape 6"/>
          <p:cNvSpPr/>
          <p:nvPr/>
        </p:nvSpPr>
        <p:spPr>
          <a:xfrm>
            <a:off x="640080" y="3840480"/>
            <a:ext cx="10911535" cy="1051560"/>
          </a:xfrm>
          <a:prstGeom prst="roundRect">
            <a:avLst>
              <a:gd name="adj" fmla="val 6957"/>
            </a:avLst>
          </a:prstGeom>
          <a:solidFill>
            <a:srgbClr val="EDF7F4"/>
          </a:solidFill>
          <a:ln w="12700">
            <a:solidFill>
              <a:srgbClr val="2FE6C4"/>
            </a:solidFill>
            <a:prstDash val="solid"/>
          </a:ln>
        </p:spPr>
      </p:sp>
      <p:sp>
        <p:nvSpPr>
          <p:cNvPr id="9" name="Text 7"/>
          <p:cNvSpPr txBox="1"/>
          <p:nvPr/>
        </p:nvSpPr>
        <p:spPr>
          <a:xfrm>
            <a:off x="868680" y="3950208"/>
            <a:ext cx="10454335" cy="832104"/>
          </a:xfrm>
          <a:prstGeom prst="rect">
            <a:avLst/>
          </a:prstGeom>
          <a:noFill/>
          <a:ln/>
        </p:spPr>
        <p:txBody>
          <a:bodyPr wrap="square" lIns="0" tIns="0" rIns="0" bIns="0" rtlCol="0" anchor="t"/>
          <a:lstStyle/>
          <a:p>
            <a:pPr indent="0" marL="0">
              <a:lnSpc>
                <a:spcPct val="115000"/>
              </a:lnSpc>
              <a:buNone/>
            </a:pPr>
            <a:r>
              <a:rPr lang="en-US" sz="1200" dirty="0">
                <a:solidFill>
                  <a:srgbClr val="1F2429"/>
                </a:solidFill>
                <a:latin typeface="Calibri" pitchFamily="34" charset="0"/>
                <a:ea typeface="Calibri" pitchFamily="34" charset="-122"/>
                <a:cs typeface="Calibri" pitchFamily="34" charset="-120"/>
              </a:rPr>
              <a:t>RESTRICT: the delete is refused as long as any PropertyForRent row references B003 — properties must be reassigned/deleted first. CASCADE: the delete succeeds and automatically removes all 3 referencing rows too.</a:t>
            </a:r>
            <a:endParaRPr lang="en-US" sz="1200" dirty="0"/>
          </a:p>
        </p:txBody>
      </p:sp>
      <p:sp>
        <p:nvSpPr>
          <p:cNvPr id="10" name="Text 8"/>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SELF-TEST · 3 OF 3</a:t>
            </a:r>
            <a:endParaRPr lang="en-US" sz="1250" dirty="0"/>
          </a:p>
        </p:txBody>
      </p:sp>
      <p:sp>
        <p:nvSpPr>
          <p:cNvPr id="3" name="Text 1"/>
          <p:cNvSpPr txBox="1"/>
          <p:nvPr/>
        </p:nvSpPr>
        <p:spPr>
          <a:xfrm>
            <a:off x="640080" y="713232"/>
            <a:ext cx="10911535" cy="777240"/>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EER Specialization</a:t>
            </a:r>
            <a:endParaRPr lang="en-US" sz="2600" dirty="0"/>
          </a:p>
        </p:txBody>
      </p:sp>
      <p:sp>
        <p:nvSpPr>
          <p:cNvPr id="4" name="Text 2"/>
          <p:cNvSpPr txBox="1"/>
          <p:nvPr/>
        </p:nvSpPr>
        <p:spPr>
          <a:xfrm>
            <a:off x="640080" y="1463040"/>
            <a:ext cx="10911535" cy="64008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Q5.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Staff specialization: Manager (bonus), Assistant (trainingLevel), disjoint + total. Using Option C, write the schemas.</a:t>
            </a:r>
            <a:endParaRPr lang="en-US" sz="1300" dirty="0"/>
          </a:p>
        </p:txBody>
      </p:sp>
      <p:sp>
        <p:nvSpPr>
          <p:cNvPr id="5" name="Shape 3"/>
          <p:cNvSpPr/>
          <p:nvPr/>
        </p:nvSpPr>
        <p:spPr>
          <a:xfrm>
            <a:off x="640080" y="2103120"/>
            <a:ext cx="10911535" cy="1188720"/>
          </a:xfrm>
          <a:prstGeom prst="roundRect">
            <a:avLst>
              <a:gd name="adj" fmla="val 6154"/>
            </a:avLst>
          </a:prstGeom>
          <a:solidFill>
            <a:srgbClr val="EDF7F4"/>
          </a:solidFill>
          <a:ln w="12700">
            <a:solidFill>
              <a:srgbClr val="2FE6C4"/>
            </a:solidFill>
            <a:prstDash val="solid"/>
          </a:ln>
        </p:spPr>
      </p:sp>
      <p:sp>
        <p:nvSpPr>
          <p:cNvPr id="6" name="Text 4"/>
          <p:cNvSpPr txBox="1"/>
          <p:nvPr/>
        </p:nvSpPr>
        <p:spPr>
          <a:xfrm>
            <a:off x="868680" y="2212848"/>
            <a:ext cx="10454335" cy="969264"/>
          </a:xfrm>
          <a:prstGeom prst="rect">
            <a:avLst/>
          </a:prstGeom>
          <a:noFill/>
          <a:ln/>
        </p:spPr>
        <p:txBody>
          <a:bodyPr wrap="square" lIns="0" tIns="0" rIns="0" bIns="0" rtlCol="0" anchor="t"/>
          <a:lstStyle/>
          <a:p>
            <a:pPr indent="0" marL="0">
              <a:lnSpc>
                <a:spcPct val="115000"/>
              </a:lnSpc>
              <a:buNone/>
            </a:pPr>
            <a:r>
              <a:rPr lang="en-US" sz="1100" dirty="0">
                <a:solidFill>
                  <a:srgbClr val="1F2429"/>
                </a:solidFill>
                <a:latin typeface="Courier New" pitchFamily="34" charset="0"/>
                <a:ea typeface="Courier New" pitchFamily="34" charset="-122"/>
                <a:cs typeface="Courier New" pitchFamily="34" charset="-120"/>
              </a:rPr>
              <a:t>Staff(staffNo, name, position, salary, branchNo)</a:t>
            </a:r>
            <a:endParaRPr lang="en-US" sz="1100" dirty="0"/>
          </a:p>
          <a:p>
            <a:pPr indent="0" marL="0">
              <a:lnSpc>
                <a:spcPct val="115000"/>
              </a:lnSpc>
              <a:buNone/>
            </a:pPr>
            <a:r>
              <a:rPr lang="en-US" sz="1100" dirty="0">
                <a:solidFill>
                  <a:srgbClr val="1F2429"/>
                </a:solidFill>
                <a:latin typeface="Courier New" pitchFamily="34" charset="0"/>
                <a:ea typeface="Courier New" pitchFamily="34" charset="-122"/>
                <a:cs typeface="Courier New" pitchFamily="34" charset="-120"/>
              </a:rPr>
              <a:t>Manager(staffNo, bonus) — staffNo is PK and FK referencing Staff</a:t>
            </a:r>
            <a:endParaRPr lang="en-US" sz="1100" dirty="0"/>
          </a:p>
          <a:p>
            <a:pPr indent="0" marL="0">
              <a:lnSpc>
                <a:spcPct val="115000"/>
              </a:lnSpc>
              <a:buNone/>
            </a:pPr>
            <a:r>
              <a:rPr lang="en-US" sz="1100" dirty="0">
                <a:solidFill>
                  <a:srgbClr val="1F2429"/>
                </a:solidFill>
                <a:latin typeface="Courier New" pitchFamily="34" charset="0"/>
                <a:ea typeface="Courier New" pitchFamily="34" charset="-122"/>
                <a:cs typeface="Courier New" pitchFamily="34" charset="-120"/>
              </a:rPr>
              <a:t>Assistant(staffNo, trainingLevel) — same pattern. (Option B would also work here, but C is the safe general-purpose choice.)</a:t>
            </a:r>
            <a:endParaRPr lang="en-US" sz="1100" dirty="0"/>
          </a:p>
        </p:txBody>
      </p:sp>
      <p:sp>
        <p:nvSpPr>
          <p:cNvPr id="7" name="Text 5"/>
          <p:cNvSpPr txBox="1"/>
          <p:nvPr/>
        </p:nvSpPr>
        <p:spPr>
          <a:xfrm>
            <a:off x="640080" y="3566160"/>
            <a:ext cx="10911535" cy="54864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Q8.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Distinguish disjoint vs. overlapping, and total vs. partial specialization, in one sentence each.</a:t>
            </a:r>
            <a:endParaRPr lang="en-US" sz="1300" dirty="0"/>
          </a:p>
        </p:txBody>
      </p:sp>
      <p:sp>
        <p:nvSpPr>
          <p:cNvPr id="8" name="Shape 6"/>
          <p:cNvSpPr/>
          <p:nvPr/>
        </p:nvSpPr>
        <p:spPr>
          <a:xfrm>
            <a:off x="640080" y="4114800"/>
            <a:ext cx="10911535" cy="960120"/>
          </a:xfrm>
          <a:prstGeom prst="roundRect">
            <a:avLst>
              <a:gd name="adj" fmla="val 7619"/>
            </a:avLst>
          </a:prstGeom>
          <a:solidFill>
            <a:srgbClr val="EDF7F4"/>
          </a:solidFill>
          <a:ln w="12700">
            <a:solidFill>
              <a:srgbClr val="2FE6C4"/>
            </a:solidFill>
            <a:prstDash val="solid"/>
          </a:ln>
        </p:spPr>
      </p:sp>
      <p:sp>
        <p:nvSpPr>
          <p:cNvPr id="9" name="Text 7"/>
          <p:cNvSpPr txBox="1"/>
          <p:nvPr/>
        </p:nvSpPr>
        <p:spPr>
          <a:xfrm>
            <a:off x="868680" y="4224528"/>
            <a:ext cx="10454335" cy="740664"/>
          </a:xfrm>
          <a:prstGeom prst="rect">
            <a:avLst/>
          </a:prstGeom>
          <a:noFill/>
          <a:ln/>
        </p:spPr>
        <p:txBody>
          <a:bodyPr wrap="square" lIns="0" tIns="0" rIns="0" bIns="0" rtlCol="0" anchor="t"/>
          <a:lstStyle/>
          <a:p>
            <a:pPr indent="0" marL="0">
              <a:lnSpc>
                <a:spcPct val="115000"/>
              </a:lnSpc>
              <a:buNone/>
            </a:pPr>
            <a:r>
              <a:rPr lang="en-US" sz="1200" dirty="0">
                <a:solidFill>
                  <a:srgbClr val="1F2429"/>
                </a:solidFill>
                <a:latin typeface="Calibri" pitchFamily="34" charset="0"/>
                <a:ea typeface="Calibri" pitchFamily="34" charset="-122"/>
                <a:cs typeface="Calibri" pitchFamily="34" charset="-120"/>
              </a:rPr>
              <a:t>Disjoint: an instance belongs to at most one subclass. Overlapping: it may belong to several at once. Total: every superclass instance must belong to some subclass. Partial: some instances may belong to none.</a:t>
            </a:r>
            <a:endParaRPr lang="en-US" sz="1200" dirty="0"/>
          </a:p>
        </p:txBody>
      </p:sp>
      <p:sp>
        <p:nvSpPr>
          <p:cNvPr id="10" name="Text 8"/>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9144000" cy="457200"/>
          </a:xfrm>
          <a:prstGeom prst="rect">
            <a:avLst/>
          </a:prstGeom>
          <a:noFill/>
          <a:ln/>
        </p:spPr>
        <p:txBody>
          <a:bodyPr wrap="square" lIns="0" tIns="0" rIns="0" bIns="0" rtlCol="0" anchor="ctr"/>
          <a:lstStyle/>
          <a:p>
            <a:pPr indent="0" marL="0">
              <a:buNone/>
            </a:pPr>
            <a:r>
              <a:rPr lang="en-US" sz="1500" b="1" spc="400" kern="0" dirty="0">
                <a:solidFill>
                  <a:srgbClr val="2FE6C4"/>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09728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Ready for the Midterm</a:t>
            </a:r>
            <a:endParaRPr lang="en-US" sz="3000" dirty="0"/>
          </a:p>
        </p:txBody>
      </p:sp>
      <p:sp>
        <p:nvSpPr>
          <p:cNvPr id="4" name="Shape 2"/>
          <p:cNvSpPr/>
          <p:nvPr/>
        </p:nvSpPr>
        <p:spPr>
          <a:xfrm>
            <a:off x="822960" y="2148840"/>
            <a:ext cx="384048" cy="384048"/>
          </a:xfrm>
          <a:prstGeom prst="ellipse">
            <a:avLst/>
          </a:prstGeom>
          <a:solidFill>
            <a:srgbClr val="2FE6C4"/>
          </a:solidFill>
          <a:ln/>
        </p:spPr>
      </p:sp>
      <p:sp>
        <p:nvSpPr>
          <p:cNvPr id="5" name="Text 3"/>
          <p:cNvSpPr txBox="1"/>
          <p:nvPr/>
        </p:nvSpPr>
        <p:spPr>
          <a:xfrm>
            <a:off x="822960" y="214884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417320" y="2075688"/>
            <a:ext cx="10058400" cy="685800"/>
          </a:xfrm>
          <a:prstGeom prst="rect">
            <a:avLst/>
          </a:prstGeom>
          <a:noFill/>
          <a:ln/>
        </p:spPr>
        <p:txBody>
          <a:bodyPr wrap="square" lIns="0" tIns="0" rIns="0" bIns="0" rtlCol="0" anchor="ctr"/>
          <a:lstStyle/>
          <a:p>
            <a:pPr indent="0" marL="0">
              <a:lnSpc>
                <a:spcPct val="110000"/>
              </a:lnSpc>
              <a:buNone/>
            </a:pPr>
            <a:r>
              <a:rPr lang="en-US" sz="1350" dirty="0">
                <a:solidFill>
                  <a:srgbClr val="E4E7EA"/>
                </a:solidFill>
                <a:latin typeface="Calibri" pitchFamily="34" charset="0"/>
                <a:ea typeface="Calibri" pitchFamily="34" charset="-122"/>
                <a:cs typeface="Calibri" pitchFamily="34" charset="-120"/>
              </a:rPr>
              <a:t>Units 1–4 build strictly on each other: DBMS/architecture → relational model → algebra/calculus → ER/EER design</a:t>
            </a:r>
            <a:endParaRPr lang="en-US" sz="1350" dirty="0"/>
          </a:p>
        </p:txBody>
      </p:sp>
      <p:sp>
        <p:nvSpPr>
          <p:cNvPr id="7" name="Shape 5"/>
          <p:cNvSpPr/>
          <p:nvPr/>
        </p:nvSpPr>
        <p:spPr>
          <a:xfrm>
            <a:off x="822960" y="2834640"/>
            <a:ext cx="384048" cy="384048"/>
          </a:xfrm>
          <a:prstGeom prst="ellipse">
            <a:avLst/>
          </a:prstGeom>
          <a:solidFill>
            <a:srgbClr val="2FE6C4"/>
          </a:solidFill>
          <a:ln/>
        </p:spPr>
      </p:sp>
      <p:sp>
        <p:nvSpPr>
          <p:cNvPr id="8" name="Text 6"/>
          <p:cNvSpPr txBox="1"/>
          <p:nvPr/>
        </p:nvSpPr>
        <p:spPr>
          <a:xfrm>
            <a:off x="822960" y="283464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417320" y="2761488"/>
            <a:ext cx="10058400" cy="685800"/>
          </a:xfrm>
          <a:prstGeom prst="rect">
            <a:avLst/>
          </a:prstGeom>
          <a:noFill/>
          <a:ln/>
        </p:spPr>
        <p:txBody>
          <a:bodyPr wrap="square" lIns="0" tIns="0" rIns="0" bIns="0" rtlCol="0" anchor="ctr"/>
          <a:lstStyle/>
          <a:p>
            <a:pPr indent="0" marL="0">
              <a:lnSpc>
                <a:spcPct val="110000"/>
              </a:lnSpc>
              <a:buNone/>
            </a:pPr>
            <a:r>
              <a:rPr lang="en-US" sz="1350" dirty="0">
                <a:solidFill>
                  <a:srgbClr val="E4E7EA"/>
                </a:solidFill>
                <a:latin typeface="Calibri" pitchFamily="34" charset="0"/>
                <a:ea typeface="Calibri" pitchFamily="34" charset="-122"/>
                <a:cs typeface="Calibri" pitchFamily="34" charset="-120"/>
              </a:rPr>
              <a:t>Three-schema architecture is the mechanism behind data independence — know which mapping buys which kind</a:t>
            </a:r>
            <a:endParaRPr lang="en-US" sz="1350" dirty="0"/>
          </a:p>
        </p:txBody>
      </p:sp>
      <p:sp>
        <p:nvSpPr>
          <p:cNvPr id="10" name="Shape 8"/>
          <p:cNvSpPr/>
          <p:nvPr/>
        </p:nvSpPr>
        <p:spPr>
          <a:xfrm>
            <a:off x="822960" y="3520440"/>
            <a:ext cx="384048" cy="384048"/>
          </a:xfrm>
          <a:prstGeom prst="ellipse">
            <a:avLst/>
          </a:prstGeom>
          <a:solidFill>
            <a:srgbClr val="2FE6C4"/>
          </a:solidFill>
          <a:ln/>
        </p:spPr>
      </p:sp>
      <p:sp>
        <p:nvSpPr>
          <p:cNvPr id="11" name="Text 9"/>
          <p:cNvSpPr txBox="1"/>
          <p:nvPr/>
        </p:nvSpPr>
        <p:spPr>
          <a:xfrm>
            <a:off x="822960" y="352044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417320" y="3447288"/>
            <a:ext cx="10058400" cy="685800"/>
          </a:xfrm>
          <a:prstGeom prst="rect">
            <a:avLst/>
          </a:prstGeom>
          <a:noFill/>
          <a:ln/>
        </p:spPr>
        <p:txBody>
          <a:bodyPr wrap="square" lIns="0" tIns="0" rIns="0" bIns="0" rtlCol="0" anchor="ctr"/>
          <a:lstStyle/>
          <a:p>
            <a:pPr indent="0" marL="0">
              <a:lnSpc>
                <a:spcPct val="110000"/>
              </a:lnSpc>
              <a:buNone/>
            </a:pPr>
            <a:r>
              <a:rPr lang="en-US" sz="1350" dirty="0">
                <a:solidFill>
                  <a:srgbClr val="E4E7EA"/>
                </a:solidFill>
                <a:latin typeface="Calibri" pitchFamily="34" charset="0"/>
                <a:ea typeface="Calibri" pitchFamily="34" charset="-122"/>
                <a:cs typeface="Calibri" pitchFamily="34" charset="-120"/>
              </a:rPr>
              <a:t>Key hierarchy nests: candidate key ⊇ primary key; superkey ⊇ candidate key (minimality separates them)</a:t>
            </a:r>
            <a:endParaRPr lang="en-US" sz="1350" dirty="0"/>
          </a:p>
        </p:txBody>
      </p:sp>
      <p:sp>
        <p:nvSpPr>
          <p:cNvPr id="13" name="Shape 11"/>
          <p:cNvSpPr/>
          <p:nvPr/>
        </p:nvSpPr>
        <p:spPr>
          <a:xfrm>
            <a:off x="822960" y="4206240"/>
            <a:ext cx="384048" cy="384048"/>
          </a:xfrm>
          <a:prstGeom prst="ellipse">
            <a:avLst/>
          </a:prstGeom>
          <a:solidFill>
            <a:srgbClr val="2FE6C4"/>
          </a:solidFill>
          <a:ln/>
        </p:spPr>
      </p:sp>
      <p:sp>
        <p:nvSpPr>
          <p:cNvPr id="14" name="Text 12"/>
          <p:cNvSpPr txBox="1"/>
          <p:nvPr/>
        </p:nvSpPr>
        <p:spPr>
          <a:xfrm>
            <a:off x="822960" y="420624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417320" y="4133088"/>
            <a:ext cx="10058400" cy="685800"/>
          </a:xfrm>
          <a:prstGeom prst="rect">
            <a:avLst/>
          </a:prstGeom>
          <a:noFill/>
          <a:ln/>
        </p:spPr>
        <p:txBody>
          <a:bodyPr wrap="square" lIns="0" tIns="0" rIns="0" bIns="0" rtlCol="0" anchor="ctr"/>
          <a:lstStyle/>
          <a:p>
            <a:pPr indent="0" marL="0">
              <a:lnSpc>
                <a:spcPct val="110000"/>
              </a:lnSpc>
              <a:buNone/>
            </a:pPr>
            <a:r>
              <a:rPr lang="en-US" sz="1350" dirty="0">
                <a:solidFill>
                  <a:srgbClr val="E4E7EA"/>
                </a:solidFill>
                <a:latin typeface="Calibri" pitchFamily="34" charset="0"/>
                <a:ea typeface="Calibri" pitchFamily="34" charset="-122"/>
                <a:cs typeface="Calibri" pitchFamily="34" charset="-120"/>
              </a:rPr>
              <a:t>Algebra is procedural (how); calculus is declarative (what) — both equally expressive over safe expressions</a:t>
            </a:r>
            <a:endParaRPr lang="en-US" sz="1350" dirty="0"/>
          </a:p>
        </p:txBody>
      </p:sp>
      <p:sp>
        <p:nvSpPr>
          <p:cNvPr id="16" name="Shape 14"/>
          <p:cNvSpPr/>
          <p:nvPr/>
        </p:nvSpPr>
        <p:spPr>
          <a:xfrm>
            <a:off x="822960" y="4892040"/>
            <a:ext cx="384048" cy="384048"/>
          </a:xfrm>
          <a:prstGeom prst="ellipse">
            <a:avLst/>
          </a:prstGeom>
          <a:solidFill>
            <a:srgbClr val="2FE6C4"/>
          </a:solidFill>
          <a:ln/>
        </p:spPr>
      </p:sp>
      <p:sp>
        <p:nvSpPr>
          <p:cNvPr id="17" name="Text 15"/>
          <p:cNvSpPr txBox="1"/>
          <p:nvPr/>
        </p:nvSpPr>
        <p:spPr>
          <a:xfrm>
            <a:off x="822960" y="489204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417320" y="4818888"/>
            <a:ext cx="10058400" cy="685800"/>
          </a:xfrm>
          <a:prstGeom prst="rect">
            <a:avLst/>
          </a:prstGeom>
          <a:noFill/>
          <a:ln/>
        </p:spPr>
        <p:txBody>
          <a:bodyPr wrap="square" lIns="0" tIns="0" rIns="0" bIns="0" rtlCol="0" anchor="ctr"/>
          <a:lstStyle/>
          <a:p>
            <a:pPr indent="0" marL="0">
              <a:lnSpc>
                <a:spcPct val="110000"/>
              </a:lnSpc>
              <a:buNone/>
            </a:pPr>
            <a:r>
              <a:rPr lang="en-US" sz="1350" dirty="0">
                <a:solidFill>
                  <a:srgbClr val="E4E7EA"/>
                </a:solidFill>
                <a:latin typeface="Calibri" pitchFamily="34" charset="0"/>
                <a:ea typeface="Calibri" pitchFamily="34" charset="-122"/>
                <a:cs typeface="Calibri" pitchFamily="34" charset="-120"/>
              </a:rPr>
              <a:t>Mapping EER to relations comes down to 3 specialization strategies — Option C never breaks</a:t>
            </a:r>
            <a:endParaRPr lang="en-US" sz="1350" dirty="0"/>
          </a:p>
        </p:txBody>
      </p:sp>
      <p:sp>
        <p:nvSpPr>
          <p:cNvPr id="19" name="Shape 17"/>
          <p:cNvSpPr/>
          <p:nvPr/>
        </p:nvSpPr>
        <p:spPr>
          <a:xfrm>
            <a:off x="822960" y="5577840"/>
            <a:ext cx="384048" cy="384048"/>
          </a:xfrm>
          <a:prstGeom prst="ellipse">
            <a:avLst/>
          </a:prstGeom>
          <a:solidFill>
            <a:srgbClr val="2FE6C4"/>
          </a:solidFill>
          <a:ln/>
        </p:spPr>
      </p:sp>
      <p:sp>
        <p:nvSpPr>
          <p:cNvPr id="20" name="Text 18"/>
          <p:cNvSpPr txBox="1"/>
          <p:nvPr/>
        </p:nvSpPr>
        <p:spPr>
          <a:xfrm>
            <a:off x="822960" y="557784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6</a:t>
            </a:r>
            <a:endParaRPr lang="en-US" sz="1400" dirty="0"/>
          </a:p>
        </p:txBody>
      </p:sp>
      <p:sp>
        <p:nvSpPr>
          <p:cNvPr id="21" name="Text 19"/>
          <p:cNvSpPr txBox="1"/>
          <p:nvPr/>
        </p:nvSpPr>
        <p:spPr>
          <a:xfrm>
            <a:off x="1417320" y="5504688"/>
            <a:ext cx="10058400" cy="685800"/>
          </a:xfrm>
          <a:prstGeom prst="rect">
            <a:avLst/>
          </a:prstGeom>
          <a:noFill/>
          <a:ln/>
        </p:spPr>
        <p:txBody>
          <a:bodyPr wrap="square" lIns="0" tIns="0" rIns="0" bIns="0" rtlCol="0" anchor="ctr"/>
          <a:lstStyle/>
          <a:p>
            <a:pPr indent="0" marL="0">
              <a:lnSpc>
                <a:spcPct val="110000"/>
              </a:lnSpc>
              <a:buNone/>
            </a:pPr>
            <a:r>
              <a:rPr lang="en-US" sz="1350" dirty="0">
                <a:solidFill>
                  <a:srgbClr val="E4E7EA"/>
                </a:solidFill>
                <a:latin typeface="Calibri" pitchFamily="34" charset="0"/>
                <a:ea typeface="Calibri" pitchFamily="34" charset="-122"/>
                <a:cs typeface="Calibri" pitchFamily="34" charset="-120"/>
              </a:rPr>
              <a:t>Lecture 18 onward (normalization) assumes every idea here is second nature — especially FDs and keys</a:t>
            </a:r>
            <a:endParaRPr lang="en-US" sz="1350" dirty="0"/>
          </a:p>
        </p:txBody>
      </p:sp>
      <p:sp>
        <p:nvSpPr>
          <p:cNvPr id="22" name="Text 20"/>
          <p:cNvSpPr/>
          <p:nvPr/>
        </p:nvSpPr>
        <p:spPr>
          <a:xfrm>
            <a:off x="9951415" y="6455664"/>
            <a:ext cx="2011680" cy="292608"/>
          </a:xfrm>
          <a:prstGeom prst="rect">
            <a:avLst/>
          </a:prstGeom>
          <a:noFill/>
          <a:ln/>
        </p:spPr>
        <p:txBody>
          <a:bodyPr wrap="square"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cuinotes.com</dc:creator>
  <cp:lastModifiedBy>cuinotes.com</cp:lastModifiedBy>
  <cp:revision>1</cp:revision>
  <dcterms:created xsi:type="dcterms:W3CDTF">2026-09-29T15:27:07Z</dcterms:created>
  <dcterms:modified xsi:type="dcterms:W3CDTF">2026-09-29T15:27:07Z</dcterms:modified>
</cp:coreProperties>
</file>
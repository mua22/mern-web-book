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20"/>
    <p:sldId id="260" r:id="rId6"/>
    <p:sldId id="270" r:id="rId21"/>
    <p:sldId id="271" r:id="rId22"/>
    <p:sldId id="272" r:id="rId23"/>
    <p:sldId id="273" r:id="rId24"/>
    <p:sldId id="262" r:id="rId8"/>
    <p:sldId id="274" r:id="rId25"/>
    <p:sldId id="263" r:id="rId9"/>
    <p:sldId id="264" r:id="rId10"/>
    <p:sldId id="275" r:id="rId26"/>
    <p:sldId id="265" r:id="rId11"/>
    <p:sldId id="276" r:id="rId27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8" Type="http://schemas.openxmlformats.org/officeDocument/2006/relationships/slide" Target="slides/slide11.xml"/><Relationship Id="rId9" Type="http://schemas.openxmlformats.org/officeDocument/2006/relationships/slide" Target="slides/slide13.xml"/><Relationship Id="rId10" Type="http://schemas.openxmlformats.org/officeDocument/2006/relationships/slide" Target="slides/slide14.xml"/><Relationship Id="rId11" Type="http://schemas.openxmlformats.org/officeDocument/2006/relationships/slide" Target="slides/slide16.xml"/><Relationship Id="rId12" Type="http://schemas.openxmlformats.org/officeDocument/2006/relationships/slide" Target="slides/slide18.xml"/><Relationship Id="rId13" Type="http://schemas.openxmlformats.org/officeDocument/2006/relationships/slide" Target="slides/slide19.xml"/><Relationship Id="rId14" Type="http://schemas.openxmlformats.org/officeDocument/2006/relationships/slide" Target="slides/slide20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5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2.xml"/><Relationship Id="rId26" Type="http://schemas.openxmlformats.org/officeDocument/2006/relationships/slide" Target="slides/slide15.xml"/><Relationship Id="rId27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74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18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3172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Normalization: Purpose and Concepts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some relation designs quietly corrupt themselves — and how to know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00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CSC270 · Database Systems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166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5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Redundancy to a Fixable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636776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normalization is for — not “make it neat,” but eliminate provable problems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50008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295144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redundancy: a concrete, worked example of a poorly designed relation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008376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953512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update anomalies — insertion, deletion, modification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666744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40080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611880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dependencies: the notation X → Y that makes “good design” checkable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325112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40080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270248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Decomposition, and its two required properties: lossless-join &amp; dependency-preservation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4008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4928616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shape of the normalization process — 1NF through BCNF/4NF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Normalization Is For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formal technique for analyzing a relation based on its functional dependencies, and systematically decomposing it into smaller relations that are provably free of certain kinds of redundancy — and the anomalies that redundancy causes.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0911535" cy="1450000"/>
          </a:xfrm>
          <a:prstGeom prst="roundRect">
            <a:avLst>
              <a:gd name="adj" fmla="val 5833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96112" y="288950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200400"/>
            <a:ext cx="10399471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does not tell you WHAT entities or relationships your database needs — that's ER/EER modeling's job. It tells you whether the relations you already derived are well-structured, and how to repair them if they aren't.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364800"/>
            <a:ext cx="2522144" cy="1965960"/>
          </a:xfrm>
          <a:prstGeom prst="roundRect">
            <a:avLst>
              <a:gd name="adj" fmla="val 3721"/>
            </a:avLst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31520" y="4474528"/>
            <a:ext cx="2339264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/ EER modeling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5387099"/>
            <a:ext cx="2302688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 11–16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62224" y="5347780"/>
            <a:ext cx="2743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436544" y="4364800"/>
            <a:ext cx="2522144" cy="1965960"/>
          </a:xfrm>
          <a:prstGeom prst="roundRect">
            <a:avLst>
              <a:gd name="adj" fmla="val 3721"/>
            </a:avLst>
          </a:prstGeom>
          <a:solidFill>
            <a:srgbClr val="8B7FD9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3527984" y="4474528"/>
            <a:ext cx="2339264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to draft relations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46272" y="5387099"/>
            <a:ext cx="2302688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16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58688" y="5347780"/>
            <a:ext cx="2743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233008" y="4364800"/>
            <a:ext cx="2522144" cy="1965960"/>
          </a:xfrm>
          <a:prstGeom prst="roundRect">
            <a:avLst>
              <a:gd name="adj" fmla="val 3721"/>
            </a:avLst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324448" y="4474528"/>
            <a:ext cx="2339264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42736" y="5387099"/>
            <a:ext cx="2302688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unit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55151" y="5347780"/>
            <a:ext cx="2743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029471" y="4364800"/>
            <a:ext cx="2522144" cy="1965960"/>
          </a:xfrm>
          <a:prstGeom prst="roundRect">
            <a:avLst>
              <a:gd name="adj" fmla="val 3721"/>
            </a:avLst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9120911" y="4474528"/>
            <a:ext cx="2339264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design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139199" y="5387099"/>
            <a:ext cx="2302688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6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Redundancy: A Worked Example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rushed designer proposes one wide relation to record orders and their products: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Order (orderNo, orderDate, custNo, custName, custAddress, productNo, productName, unitPrice, qty)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30552"/>
          <a:ext cx="1091153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554480"/>
                <a:gridCol w="2377440"/>
                <a:gridCol w="1280160"/>
                <a:gridCol w="155448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custAddress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Elm St, Lahore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Elm St, Lahore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Kelly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Oak Ave, Karachi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Elm St, Lahore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Sprocket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4233672"/>
            <a:ext cx="10911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Beech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 name/address repeats in 3 rows; </a:t>
            </a:r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 name/price repeats in 2 rows — the same fact, stored redundantly, because this one relation describes three different kinds of things (orders, customers, products) at once.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BREAK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the Redundancy, Row by Row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four rows as the previous slide. Before the anomalies, trace each repeated value by hand: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10911535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Rows 1, 2, 4 share custNo = C001.   Rows 1, 3 share productNo = P01.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00000"/>
          <a:ext cx="1091153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554480"/>
                <a:gridCol w="2377440"/>
                <a:gridCol w="1280160"/>
                <a:gridCol w="155448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custAddress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Elm St, Lahore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Elm St, Lahore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Kelly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Oak Ave, Karachi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Elm St, Lahore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Sprocket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4450000"/>
            <a:ext cx="10911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custName / custAddress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repeat in rows 1, 2, and 4 — three copies of one customer fact (“Ann Beech”, 12 Elm St, Lahore). </a:t>
            </a:r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productName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repeats in rows 1 and 3 — two copies of one product fact (“Widget”). Nothing in this table keeps the copies in sync.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ANOMALIES · 1 OF 4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Anomaly — New Product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P04 (“Cog”) hasn't been ordered yet.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way to insert this fact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the Order relation — every row requires an orderNo, and there is no order to attach it to.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1460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should be able to exist in the catalog before its first sale. Attempted row: (orderNo = —, productNo = P04, productName = Cog, qty = —) → REJECTED: orderNo cannot be NULL (entity integrity).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10911535" cy="2011680"/>
          </a:xfrm>
          <a:prstGeom prst="roundRect">
            <a:avLst>
              <a:gd name="adj" fmla="val 3636"/>
            </a:avLst>
          </a:prstGeom>
          <a:solidFill>
            <a:srgbClr val="14181C"/>
          </a:solidFill>
          <a:ln w="12700">
            <a:solidFill>
              <a:srgbClr val="14181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60120" y="3977640"/>
            <a:ext cx="102714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catalog and the sales history are two different kinds of facts, but this one relation fuses them — you cannot record one without faking the other.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ANOMALIES · 2 OF 4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Anomaly — New Customer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brand-new customer, C003 (“Zara Malik”), has registered but hasn’t placed an order yet.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way to insert this fact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the Order relation either — custName and custAddress only ever exist attached to an orderNo, and there is no order yet.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1460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Attempted row: (orderNo = —, custNo = C003, custName = Zara Malik, custAddress = 9 Mall Rd, Lahore, productNo = —, qty = —) → REJECTED: orderNo cannot be NULL (entity integrity).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10911535" cy="2011680"/>
          </a:xfrm>
          <a:prstGeom prst="roundRect">
            <a:avLst>
              <a:gd name="adj" fmla="val 3636"/>
            </a:avLst>
          </a:prstGeom>
          <a:solidFill>
            <a:srgbClr val="14181C"/>
          </a:solidFill>
          <a:ln w="12700">
            <a:solidFill>
              <a:srgbClr val="14181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60120" y="3977640"/>
            <a:ext cx="102714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system needs to record leads and sign-ups before their first purchase — this schema structurally cannot.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ANOMALIES · 3 OF 4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Anomaly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O101 — Tom Kelly’s ONLY order — is cancelled, so its row is deleted: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10911535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Deleting one row should remove one fact (“an order was placed”). Watch what else goes.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00000"/>
          <a:ext cx="1091153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554480"/>
                <a:gridCol w="2377440"/>
                <a:gridCol w="1280160"/>
                <a:gridCol w="155448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custAddress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Elm St, Lahore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Elm St, Lahore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 strike="sngStrike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 strike="sngStrike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 strike="sngStrike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Kelly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 strike="sngStrike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Oak Ave, Karachi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 strike="sngStrike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 strike="sngStrike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 strike="sngStrike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Elm St, Lahore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Sprocket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4450000"/>
            <a:ext cx="10911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Kelly’s row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ONLY place his name and address exist anywhere in this database. </a:t>
            </a:r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it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doesn’t just cancel one order — it erases the customer record entirely, even though “Tom Kelly exists” and “O101 was ordered” are two unrelated facts that should never live or die together.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ANOMALIES · 4 OF 4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Anomaly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anomaly — 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Widget’s (P01) catalog price changes from 9.99 to 11.49. That single fact is stored in TWO rows of this table — one per order line that included Widget.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2316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after: 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only O100’s row — easy to do by accident — leaves O101’s copy stale: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00400"/>
          <a:ext cx="1091153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743200"/>
                <a:gridCol w="359359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unitPrice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11.49  (updated)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9.99  (STALE — should be 11.49)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572000"/>
            <a:ext cx="10911535" cy="1300000"/>
          </a:xfrm>
          <a:prstGeom prst="roundRect">
            <a:avLst>
              <a:gd name="adj" fmla="val 6667"/>
            </a:avLst>
          </a:prstGeom>
          <a:solidFill>
            <a:srgbClr val="FCF1E3"/>
          </a:solidFill>
          <a:ln w="1270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896112" y="471830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5029200"/>
            <a:ext cx="1039947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product now has two different prices depending on which row you query — easy to trigger by accident through application code that updates only “the row the user is looking at.”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Why All Three Happen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Insertion, deletion, and modification are not three unrelated bugs.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share exactly one structural cause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once you name it, none of the three stays surprising.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1460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last four slides failed because ONE fact — a customer’s address, a product’s price, an order’s existence — was stored in MORE THAN ONE row, with nothing in the table’s structure keeping the copies in sync.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10911535" cy="2011680"/>
          </a:xfrm>
          <a:prstGeom prst="roundRect">
            <a:avLst>
              <a:gd name="adj" fmla="val 3636"/>
            </a:avLst>
          </a:prstGeom>
          <a:solidFill>
            <a:srgbClr val="14181C"/>
          </a:solidFill>
          <a:ln w="12700">
            <a:solidFill>
              <a:srgbClr val="14181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60120" y="3977640"/>
            <a:ext cx="102714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anomalies trace to one root cause:
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relation forces facts about three different kinds of things — orders, customers, and products — to live and die together, when in reality they don't.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VOCABULARY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11535" cy="1500000"/>
          </a:xfrm>
          <a:prstGeom prst="roundRect">
            <a:avLst>
              <a:gd name="adj" fmla="val 5185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96112" y="156362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874520"/>
            <a:ext cx="10399471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relation R and attribute sets X, Y ⊆ R, Y is functionally dependent on X — written X → Y, read “X functionally determines Y” — if every legal value of X is associated with exactly one value of Y. If two tuples agree on X, they must agree on Y too. X is the determinant.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000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FDs actually present in the Order relation: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80000"/>
            <a:ext cx="10911535" cy="1691640"/>
          </a:xfrm>
          <a:prstGeom prst="roundRect">
            <a:avLst>
              <a:gd name="adj" fmla="val 4324"/>
            </a:avLst>
          </a:prstGeom>
          <a:solidFill>
            <a:srgbClr val="1F2429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14400" y="3500000"/>
            <a:ext cx="103628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orderNo → orderDate, custNo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custNo → custName, custAddress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productNo → productName, unitPrice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{ orderNo, productNo } → qty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35000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FD is a statement about the SCHEMA, not about today's data — it must hold for every possible legal instance, not just the sample rows shown.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IT THROUGH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the FDs Against Real Rows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11535" cy="1400000"/>
          </a:xfrm>
          <a:prstGeom prst="roundRect">
            <a:avLst>
              <a:gd name="adj" fmla="val 5185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96112" y="156362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#1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874520"/>
            <a:ext cx="10399471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custNo → custName, custAddress: rows with custNo = C001 (rows 1, 2, 4) all show “Ann Beech” and “12 Elm St, Lahore”. This holds by business rule, not because the sample rows happen to agree.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000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#2 — does orderNo ALONE determine qty?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80000"/>
            <a:ext cx="10911535" cy="1900000"/>
          </a:xfrm>
          <a:prstGeom prst="roundRect">
            <a:avLst>
              <a:gd name="adj" fmla="val 4324"/>
            </a:avLst>
          </a:prstGeom>
          <a:solidFill>
            <a:srgbClr val="1F2429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14400" y="3500000"/>
            <a:ext cx="10362895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orderNo = O100 is on TWO rows (qty 3 with P01, qty 1 with P02): orderNo alone does NOT fix qty.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productNo = P01 is on TWO rows (qty 3 with O100, qty 2 with O101): productNo alone does NOT fix qty either.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Only the PAIR {orderNo, productNo} picks out exactly one row, so only the pair determines qty.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That is exactly what { orderNo, productNo } → qty means, and why BOTH attributes are on the left.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550000"/>
            <a:ext cx="10911535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distinction — qty needs the WHOLE key; customer/product facts need only PART of it — is precisely what Lecture 19 formalizes as 2NF.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THEORETICAL FOUNDATION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Dependency and Normalization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normal form from this point on is defined purely in terms of which FDs hold and how they relate to the relation's keys: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91153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897112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Asks...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1NF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every attribute value atomic? (independent of FDs)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every non-key attribute depend on the WHOLE key, or only part (partial dependency)?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every non-key attribute depend DIRECTLY on the key, or only through another non-key attribute (transitive)?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BCNF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EVERY determinant a superkey, with no exceptions?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48920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functional dependencies, “well-designed” stays a matter of taste. With them, it becomes something you can prove.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of Relations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replaces one relation with several that together keep the same information. Preview: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Customer (custNo, custName, custAddress)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96312"/>
          <a:ext cx="5318608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22860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custAddress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Elm St, Lahore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Kelly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Oak Ave, Karachi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233008" y="2148840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Product (productNo, productName, unitPrice)</a:t>
            </a:r>
            <a:endParaRPr lang="en-US" sz="1250" dirty="0"/>
          </a:p>
        </p:txBody>
      </p:sp>
      <p:graphicFrame>
        <p:nvGraphicFramePr>
          <p:cNvPr id="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2496312"/>
          <a:ext cx="5318608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Sprocket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40080" y="4160520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Order (orderNo, orderDate, custNo)</a:t>
            </a:r>
            <a:endParaRPr lang="en-US" sz="125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507992"/>
          <a:ext cx="5318608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920240"/>
                <a:gridCol w="15544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6233008" y="4160520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OrderLine (orderNo, productNo, qty)</a:t>
            </a:r>
            <a:endParaRPr lang="en-US" sz="1250" dirty="0"/>
          </a:p>
        </p:txBody>
      </p:sp>
      <p:graphicFrame>
        <p:nvGraphicFramePr>
          <p:cNvPr id="12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4507992"/>
          <a:ext cx="5318608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6459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FD Drove Which Split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previous slide, Order was decomposed into four relations. Each FD became the primary key of exactly one of them: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91153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897112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Dependency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Enforced By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orderNo → orderDate, custNo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(orderNo, orderDate, custNo)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custNo → custName, custAddress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(custNo, custName, custAddress)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productNo → productName, unitPrice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(productNo, productName, unitPrice)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{orderNo, productNo} → qty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OrderLine (orderNo, productNo, qty)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48920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attribute of the original Order relation lands in exactly one decomposed relation, and every FD is enforced there by a simple key constraint — no application code required.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PROPERTY · 1 OF 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Lossless-Join Property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decomposition of R into R₁, R₂, ..., Rₙ has the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lossless-join property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the natural join R₁ ⋈ R₂ ⋈ ... ⋈ Rₙ reconstructs exactly R — no rows lost, and no extra spurious rows gained.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10911535" cy="685800"/>
          </a:xfrm>
          <a:prstGeom prst="roundRect">
            <a:avLst>
              <a:gd name="adj" fmla="val 10667"/>
            </a:avLst>
          </a:prstGeom>
          <a:solidFill>
            <a:srgbClr val="1F2429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14400" y="288036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Customer ⋈ Order ⋈ OrderLine ⋈ Product  reproduces the original Order table exactly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10911535" cy="2194560"/>
          </a:xfrm>
          <a:prstGeom prst="roundRect">
            <a:avLst>
              <a:gd name="adj" fmla="val 2917"/>
            </a:avLst>
          </a:prstGeom>
          <a:solidFill>
            <a:srgbClr val="FCF1E3"/>
          </a:solidFill>
          <a:ln w="1270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96112" y="380390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114800"/>
            <a:ext cx="10399471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way to lose losslessness: split on the wrong attribute. If Order were split into (orderNo, custNo, productNo) and (productNo, productName, unitPrice, qty) — dividing attributes without regard to which FDs justify the split — rejoining on productNo alone would produce every combination of order and quantity for a product, most of which never happened. A correct decomposition is always guided by functional dependencies, never an arbitrary attribute split.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PROPERTY · WHAT GOES WRONG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Lossless-Join: A Wrong Split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split is lossless only if rejoining the pieces recreates exactly the original rows.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split ignores the FDs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produces ghost rows.</a:t>
            </a:r>
            <a:endParaRPr lang="en-US" sz="1500" dirty="0"/>
          </a:p>
        </p:txBody>
      </p:sp>
      <p:sp>
        <p:nvSpPr>
          <p:cNvPr id="5" name="Text 4"/>
          <p:cNvSpPr txBox="1"/>
          <p:nvPr/>
        </p:nvSpPr>
        <p:spPr>
          <a:xfrm>
            <a:off x="914400" y="2130000"/>
            <a:ext cx="10362895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 i="1">
                <a:solidFill>
                  <a:srgbClr val="1F2429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Wrong split: R1(orderNo, custNo, productNo) and R2(productNo, qty), joined on productNo alone.</a:t>
            </a:r>
            <a:endParaRPr lang="en-US" sz="1350" dirty="0"/>
          </a:p>
        </p:txBody>
      </p:sp>
      <p:sp>
        <p:nvSpPr>
          <p:cNvPr id="6" name="Shape 5"/>
          <p:cNvSpPr/>
          <p:nvPr/>
        </p:nvSpPr>
        <p:spPr>
          <a:xfrm>
            <a:off x="640080" y="2800000"/>
            <a:ext cx="10911535" cy="1000000"/>
          </a:xfrm>
          <a:prstGeom prst="roundRect">
            <a:avLst>
              <a:gd name="adj" fmla="val 2917"/>
            </a:avLst>
          </a:prstGeom>
          <a:solidFill>
            <a:srgbClr val="FCF1E3"/>
          </a:solidFill>
          <a:ln w="1270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7" name="Text 6"/>
          <p:cNvSpPr txBox="1"/>
          <p:nvPr/>
        </p:nvSpPr>
        <p:spPr>
          <a:xfrm>
            <a:off x="896112" y="2860000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</a:t>
            </a:r>
            <a:endParaRPr lang="en-US" sz="1100" dirty="0"/>
          </a:p>
        </p:txBody>
      </p:sp>
      <p:sp>
        <p:nvSpPr>
          <p:cNvPr id="8" name="Text 7"/>
          <p:cNvSpPr txBox="1"/>
          <p:nvPr/>
        </p:nvSpPr>
        <p:spPr>
          <a:xfrm>
            <a:off x="896112" y="3130000"/>
            <a:ext cx="103994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 has 2 rows in R1 and 2 rows in R2, so the join makes 2 × 2 = 4 P01 combinations. Only 2 are real; the other 2 are spurious.</a:t>
            </a:r>
            <a:endParaRPr lang="en-US" sz="1300" dirty="0"/>
          </a:p>
        </p:txBody>
      </p:sp>
      <p:sp>
        <p:nvSpPr>
          <p:cNvPr id="9" name="Text 8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17</a:t>
            </a:r>
            <a:endParaRPr lang="en-US" sz="1000" dirty="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914400" y="3900000"/>
          <a:ext cx="10362895" cy="23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000"/>
                <a:gridCol w="1600000"/>
                <a:gridCol w="1800000"/>
                <a:gridCol w="1200000"/>
                <a:gridCol w="4162895"/>
              </a:tblGrid>
              <a:tr h="3400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orderNo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custNo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productNo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qty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O100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C001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P01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real (true row)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62828"/>
                          </a:solidFill>
                          <a:latin typeface="Calibri"/>
                        </a:rPr>
                        <a:t>O100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62828"/>
                          </a:solidFill>
                          <a:latin typeface="Calibri"/>
                        </a:rPr>
                        <a:t>C001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62828"/>
                          </a:solidFill>
                          <a:latin typeface="Calibri"/>
                        </a:rPr>
                        <a:t>P01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6282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62828"/>
                          </a:solidFill>
                          <a:latin typeface="Calibri"/>
                        </a:rPr>
                        <a:t>SPURIOUS: O100 never bought P01 at qty 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62828"/>
                          </a:solidFill>
                          <a:latin typeface="Calibri"/>
                        </a:rPr>
                        <a:t>O101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62828"/>
                          </a:solidFill>
                          <a:latin typeface="Calibri"/>
                        </a:rPr>
                        <a:t>C002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62828"/>
                          </a:solidFill>
                          <a:latin typeface="Calibri"/>
                        </a:rPr>
                        <a:t>P01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6282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62828"/>
                          </a:solidFill>
                          <a:latin typeface="Calibri"/>
                        </a:rPr>
                        <a:t>SPURIOUS: O101 never bought P01 at qty 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O101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C002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P01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real (true row)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O100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C001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P02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real (true row)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O102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C001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P03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real (true row)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PROPERTY · 2 OF 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Dependency-Preservation Property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decomposition has the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dependency-preservation property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every FD from the original relation's FD set can still be checked directly on the decomposed relations — without joining them back together first.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10911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Order decomposition: custNo → custName is checkable directly on Customer alone (declare custNo its PK, the DBMS enforces it automatically), and {orderNo, productNo} → qty is checkable directly on OrderLine. Every original FD survives onto exactly one decomposed relation — lossless AND dependency-preserving.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069080"/>
            <a:ext cx="10911535" cy="1508760"/>
          </a:xfrm>
          <a:prstGeom prst="roundRect">
            <a:avLst>
              <a:gd name="adj" fmla="val 4242"/>
            </a:avLst>
          </a:prstGeom>
          <a:solidFill>
            <a:srgbClr val="E9F9F3"/>
          </a:solidFill>
          <a:ln w="12700">
            <a:solidFill>
              <a:srgbClr val="1FAE8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96112" y="421538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4526280"/>
            <a:ext cx="10399471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practically: a dependency that can only be verified after a join is one the DBMS cannot enforce cheaply with a simple key constraint on one table. Lecture 20 shows this property isn't always achievable simultaneously with the strictest normal form, BCNF — a genuine trade-off.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Normalization Process, Staged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911535" cy="693420"/>
          </a:xfrm>
          <a:prstGeom prst="roundRect">
            <a:avLst>
              <a:gd name="adj" fmla="val 10549"/>
            </a:avLst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1536192"/>
            <a:ext cx="10454335" cy="29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Unnormalized (UNF)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782013"/>
            <a:ext cx="10454335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contain repeating groups / non-atomic values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95848" y="2156460"/>
            <a:ext cx="0" cy="109728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2266188"/>
            <a:ext cx="10911535" cy="693420"/>
          </a:xfrm>
          <a:prstGeom prst="roundRect">
            <a:avLst>
              <a:gd name="adj" fmla="val 10549"/>
            </a:avLst>
          </a:prstGeom>
          <a:solidFill>
            <a:srgbClr val="8B7FD9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868680" y="2339340"/>
            <a:ext cx="10454335" cy="29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585161"/>
            <a:ext cx="10454335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values, no repeating groups (Lecture 19)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95848" y="2959608"/>
            <a:ext cx="0" cy="109728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3069336"/>
            <a:ext cx="10911535" cy="693420"/>
          </a:xfrm>
          <a:prstGeom prst="roundRect">
            <a:avLst>
              <a:gd name="adj" fmla="val 10549"/>
            </a:avLst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68680" y="3142488"/>
            <a:ext cx="10454335" cy="29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388309"/>
            <a:ext cx="10454335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partial dependency on a composite key (Lecture 19)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95848" y="3762756"/>
            <a:ext cx="0" cy="109728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" y="3872484"/>
            <a:ext cx="10911535" cy="693420"/>
          </a:xfrm>
          <a:prstGeom prst="roundRect">
            <a:avLst>
              <a:gd name="adj" fmla="val 10549"/>
            </a:avLst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68680" y="3945636"/>
            <a:ext cx="10454335" cy="29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191457"/>
            <a:ext cx="10454335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dependency (Lecture 19)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95848" y="4565904"/>
            <a:ext cx="0" cy="109728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0080" y="4675632"/>
            <a:ext cx="10911535" cy="693420"/>
          </a:xfrm>
          <a:prstGeom prst="roundRect">
            <a:avLst>
              <a:gd name="adj" fmla="val 10549"/>
            </a:avLst>
          </a:prstGeom>
          <a:solidFill>
            <a:srgbClr val="8B7FD9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868680" y="4748784"/>
            <a:ext cx="10454335" cy="29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994605"/>
            <a:ext cx="10454335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determinant is a superkey (Lecture 20–21)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95848" y="5369052"/>
            <a:ext cx="0" cy="109728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40080" y="5478780"/>
            <a:ext cx="10911535" cy="693420"/>
          </a:xfrm>
          <a:prstGeom prst="roundRect">
            <a:avLst>
              <a:gd name="adj" fmla="val 10549"/>
            </a:avLst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868680" y="5551932"/>
            <a:ext cx="10454335" cy="29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4NF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5797753"/>
            <a:ext cx="10454335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non-trivial multi-valued dependency (Lecture 22)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97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07568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is a formal, FD-driven technique for validating and refining relations produced during ER/EER design — a check, not a replacement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85292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is the root cause of the three update anomalies: insertion, deletion, modification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6301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 dependency X → Y formalizes “X determines Y” precisely enough to check mechanically — every later normal form is defined in terms of FDs and keys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48056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4074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must satisfy the lossless-join property and, ideally, dependency-preservation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525780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22960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18464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is fixed and increasingly strict: UNF → 1NF → 2NF → 3NF → BCNF → 4NF, each removing one specific category of dependency problem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cuinotes.com</dc:creator>
  <cp:lastModifiedBy>cuinotes.com</cp:lastModifiedBy>
  <cp:revision>1</cp:revision>
  <dcterms:created xsi:type="dcterms:W3CDTF">2026-09-29T15:34:03Z</dcterms:created>
  <dcterms:modified xsi:type="dcterms:W3CDTF">2026-09-29T15:34:03Z</dcterms:modified>
</cp:coreProperties>
</file>
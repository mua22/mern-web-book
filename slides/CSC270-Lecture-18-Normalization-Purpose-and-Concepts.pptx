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Normalization: Purpose and Concepts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some relation designs quietly corrupt themselves — and how to know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Redundancy to a Fixable Problem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normalization is for — not “make it neat,” but eliminate provable problems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redundancy: a concrete, worked example of a poorly designed relation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update anomalies — insertion, deletion, modification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dependencies: the notation X → Y that makes “good design” checkable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Decomposition, and its two required properties: lossless-join &amp; dependency-preservation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shape of the normalization process — 1NF through BCNF/4NF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Normalization Is For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formal technique for analyzing a relation based on its functional dependencies, and systematically decomposing it into smaller relations that are provably free of certain kinds of redundancy — and the anomalies that redundancy causes.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0911535" cy="1097280"/>
          </a:xfrm>
          <a:prstGeom prst="roundRect">
            <a:avLst>
              <a:gd name="adj" fmla="val 5833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8895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103994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does not tell you WHAT entities or relationships your database needs — that's ER/EER modeling's job. It tells you whether the relations you already derived are well-structured, and how to repair them if they aren't.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114800"/>
            <a:ext cx="2522144" cy="1965960"/>
          </a:xfrm>
          <a:prstGeom prst="roundRect">
            <a:avLst>
              <a:gd name="adj" fmla="val 3721"/>
            </a:avLst>
          </a:prstGeom>
          <a:solidFill>
            <a:srgbClr val="2FE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4224528"/>
            <a:ext cx="23392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/ EER modeling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5137099"/>
            <a:ext cx="2302688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11–16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62224" y="509778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4114800"/>
            <a:ext cx="2522144" cy="1965960"/>
          </a:xfrm>
          <a:prstGeom prst="roundRect">
            <a:avLst>
              <a:gd name="adj" fmla="val 3721"/>
            </a:avLst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7984" y="4224528"/>
            <a:ext cx="23392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to draft relations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46272" y="5137099"/>
            <a:ext cx="2302688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16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58688" y="509778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33008" y="4114800"/>
            <a:ext cx="2522144" cy="1965960"/>
          </a:xfrm>
          <a:prstGeom prst="roundRect">
            <a:avLst>
              <a:gd name="adj" fmla="val 3721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24448" y="4224528"/>
            <a:ext cx="23392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42736" y="5137099"/>
            <a:ext cx="2302688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55151" y="509778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29471" y="4114800"/>
            <a:ext cx="2522144" cy="1965960"/>
          </a:xfrm>
          <a:prstGeom prst="roundRect">
            <a:avLst>
              <a:gd name="adj" fmla="val 3721"/>
            </a:avLst>
          </a:prstGeom>
          <a:solidFill>
            <a:srgbClr val="2FE6C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20911" y="4224528"/>
            <a:ext cx="233926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design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39199" y="5137099"/>
            <a:ext cx="2302688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Redundancy: A Worked Example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rushed designer proposes one wide relation to record orders and their products: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(orderNo, orderDate, custNo, custName, custAddress, productNo, productName, unitPrice, qty)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30552"/>
          <a:ext cx="1091153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554480"/>
                <a:gridCol w="2377440"/>
                <a:gridCol w="1280160"/>
                <a:gridCol w="155448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Elm St, 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Elm St, 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Kelly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Oak Ave, Karachi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Elm St, 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Sprocket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233672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Beech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name/address repeats in 3 rows;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name/price repeats in 2 rows — the same fact, stored redundantly, because this one relation describes three different kinds of things (orders, customers, products) at once.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ANOMALIES · 1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Anomaly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P04 (“Cog”) hasn't been ordered yet.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way to insert this fact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Order relation — every row requires an orderNo, and there is no order to attach it 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should be able to exist in the catalog before its first sale. Symmetrically, a brand-new customer who hasn't placed an order yet cannot be recorded either — custName and custAddress only exist attached to an orderNo.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749040"/>
            <a:ext cx="10911535" cy="2011680"/>
          </a:xfrm>
          <a:prstGeom prst="roundRect">
            <a:avLst>
              <a:gd name="adj" fmla="val 3636"/>
            </a:avLst>
          </a:prstGeom>
          <a:solidFill>
            <a:srgbClr val="14181C"/>
          </a:solidFill>
          <a:ln w="12700">
            <a:solidFill>
              <a:srgbClr val="1418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977640"/>
            <a:ext cx="102714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anomalies trace to one root cause:
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relation forces facts about three different kinds of things — orders, customers, and products — to live and die together, when in reality they don't.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ANOMALIES · 2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&amp; Modification Anomalies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anomaly —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O101 (Tom Kelly's ONLY order) is cancelled. Deleting that row silently erases the only record this database had of Tom Kelly's existence — his name and address vanish with the order.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anomaly —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Widget's (P01) price changes from 9.99 to 11.49. That fact is stored in TWO rows. Updating only one leaves the relation internally inconsistent: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0040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743200"/>
                <a:gridCol w="35935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  (updated)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9.99  (STALE — should be 11.49)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572000"/>
            <a:ext cx="10911535" cy="960120"/>
          </a:xfrm>
          <a:prstGeom prst="roundRect">
            <a:avLst>
              <a:gd name="adj" fmla="val 6667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7183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029200"/>
            <a:ext cx="1039947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 now has two different prices depending on which row you query — easy to trigger by accident through application code that updates only “the row the user is looking at.”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VOCABULARY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Dependencies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911535" cy="1234440"/>
          </a:xfrm>
          <a:prstGeom prst="roundRect">
            <a:avLst>
              <a:gd name="adj" fmla="val 5185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63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74520"/>
            <a:ext cx="10399471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relation R and attribute sets X, Y ⊆ R, Y is functionally dependent on X — written X → Y, read “X functionally determines Y” — if every legal value of X is associated with exactly one value of Y. If two tuples agree on X, they must agree on Y too. X is the determinant.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FDs actually present in the Order relation: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11535" cy="1691640"/>
          </a:xfrm>
          <a:prstGeom prst="roundRect">
            <a:avLst>
              <a:gd name="adj" fmla="val 4324"/>
            </a:avLst>
          </a:prstGeom>
          <a:solidFill>
            <a:srgbClr val="1F242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337560"/>
            <a:ext cx="103628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orderNo → orderDate, custNo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custNo → custName, custAddress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productNo → productName, unitPrice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orderNo, productNo } → qty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FD is a statement about the SCHEMA, not about today's data — it must hold for every possible legal instance, not just the sample rows shown.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THEORETICAL FOUNDATION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Dependency and Normalization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normal form from this point on is defined purely in terms of which FDs hold and how they relate to the relation's keys: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9711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Asks...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1NF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every attribute value atomic? (independent of FDs)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non-key attribute depend on the WHOLE key, or only part (partial dependency)?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non-key attribute depend DIRECTLY on the key, or only through another non-key attribute (transitive)?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BCNF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EVERY determinant a superkey, with no exceptions?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892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functional dependencies, “well-designed” stays a matter of taste. With them, it becomes something you can prove.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of Relations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replaces one relation with two or more whose attributes, together, cover the same information — removing the partial/transitive dependencies that cause anomalies. A preview of where Order is headed (full walkthrough in Lecture 19):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(custNo, custName, custAddress)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96312"/>
          <a:ext cx="5318608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Elm St, 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Kelly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Oak Ave, Karachi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33008" y="2148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(productNo, productName, unitPrice)</a:t>
            </a:r>
            <a:endParaRPr lang="en-US" sz="12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2496312"/>
          <a:ext cx="531860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Sprocket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41605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(orderNo, orderDate, custNo)</a:t>
            </a:r>
            <a:endParaRPr lang="en-US" sz="125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07992"/>
          <a:ext cx="5318608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233008" y="41605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OrderLine (orderNo, productNo, qty)</a:t>
            </a:r>
            <a:endParaRPr lang="en-US" sz="1250" dirty="0"/>
          </a:p>
        </p:txBody>
      </p:sp>
      <p:graphicFrame>
        <p:nvGraphicFramePr>
          <p:cNvPr id="3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4507992"/>
          <a:ext cx="531860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6459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PROPERTY · 1 OF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Lossless-Join Property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decomposition of R into R₁, R₂, ..., Rₙ has the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lossless-join property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the natural join R₁ ⋈ R₂ ⋈ ... ⋈ Rₙ reconstructs exactly R — no rows lost, and no extra spurious rows gained.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8803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⋈ Order ⋈ OrderLine ⋈ Product  reproduces the original Order table exactly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911535" cy="2194560"/>
          </a:xfrm>
          <a:prstGeom prst="roundRect">
            <a:avLst>
              <a:gd name="adj" fmla="val 2917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38039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114800"/>
            <a:ext cx="10399471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way to lose losslessness: split on the wrong attribute. If Order were split into (orderNo, custNo, productNo) and (productNo, productName, unitPrice, qty) — dividing attributes without regard to which FDs justify the split — rejoining on productNo alone would produce every combination of order and quantity for a product, most of which never happened. A correct decomposition is always guided by functional dependencies, never an arbitrary attribute split.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PROPERTY · 2 OF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Dependency-Preservation Property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decomposition has the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dependency-preservation property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every FD from the original relation's FD set can still be checked directly on the decomposed relations — without joining them back together first.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Order decomposition: custNo → custName is checkable directly on Customer alone (declare custNo its PK, the DBMS enforces it automatically), and {orderNo, productNo} → qty is checkable directly on OrderLine. Every original FD survives onto exactly one decomposed relation — lossless AND dependency-preserving.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10911535" cy="1508760"/>
          </a:xfrm>
          <a:prstGeom prst="roundRect">
            <a:avLst>
              <a:gd name="adj" fmla="val 4242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42153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526280"/>
            <a:ext cx="10399471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matters practically: a dependency that can only be verified after a join is one the DBMS cannot enforce cheaply with a simple key constraint on one table. Lecture 20 shows this property isn't always achievable simultaneously with the strictest normal form, BCNF — a genuine trade-off.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Normalization Process, Staged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36192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Unnormalized (UNF)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782013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contain repeating groups / non-atomic values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95848" y="2156460"/>
            <a:ext cx="0" cy="109728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266188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339340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585161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values, no repeating groups (Lecture 19)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5848" y="2959608"/>
            <a:ext cx="0" cy="109728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069336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142488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388309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partial dependency on a composite key (Lecture 19)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95848" y="3762756"/>
            <a:ext cx="0" cy="109728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3872484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3945636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191457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transitive dependency (Lecture 19)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95848" y="4565904"/>
            <a:ext cx="0" cy="109728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675632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8B7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748784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BCNF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994605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determinant is a superkey (Lecture 20–21)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95848" y="5369052"/>
            <a:ext cx="0" cy="109728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40080" y="5478780"/>
            <a:ext cx="10911535" cy="693420"/>
          </a:xfrm>
          <a:prstGeom prst="roundRect">
            <a:avLst>
              <a:gd name="adj" fmla="val 10549"/>
            </a:avLst>
          </a:prstGeom>
          <a:solidFill>
            <a:srgbClr val="E8A3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551932"/>
            <a:ext cx="10454335" cy="291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4NF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5797753"/>
            <a:ext cx="10454335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non-trivial multi-valued dependency (Lecture 22)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is a formal, FD-driven technique for validating and refining relations produced during ER/EER design — a check, not a replacement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 is the root cause of the three update anomalies: insertion, deletion, modification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dependency X → Y formalizes “X determines Y” precisely enough to check mechanically — every later normal form is defined in terms of FDs and keys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must satisfy the lossless-join property and, ideally, dependency-preservation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is fixed and increasingly strict: UNF → 1NF → 2NF → 3NF → BCNF → 4NF, each removing one specific category of dependency problem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2026-09-29T15:34:03Z</dcterms:created>
  <dcterms:modified xsi:type="dcterms:W3CDTF">2026-09-29T15:34:03Z</dcterms:modified>
</cp:coreProperties>
</file>
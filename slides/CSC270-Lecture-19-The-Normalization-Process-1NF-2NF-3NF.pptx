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8" r:id="rId19"/>
    <p:sldId id="260" r:id="rId6"/>
    <p:sldId id="269" r:id="rId20"/>
    <p:sldId id="261" r:id="rId7"/>
    <p:sldId id="262" r:id="rId8"/>
    <p:sldId id="270" r:id="rId21"/>
    <p:sldId id="263" r:id="rId9"/>
    <p:sldId id="271" r:id="rId22"/>
    <p:sldId id="264" r:id="rId10"/>
    <p:sldId id="272" r:id="rId23"/>
    <p:sldId id="265" r:id="rId11"/>
    <p:sldId id="273" r:id="rId24"/>
    <p:sldId id="275" r:id="rId26"/>
    <p:sldId id="266" r:id="rId12"/>
    <p:sldId id="274" r:id="rId25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1.xml"/><Relationship Id="rId10" Type="http://schemas.openxmlformats.org/officeDocument/2006/relationships/slide" Target="slides/slide13.xml"/><Relationship Id="rId11" Type="http://schemas.openxmlformats.org/officeDocument/2006/relationships/slide" Target="slides/slide15.xml"/><Relationship Id="rId12" Type="http://schemas.openxmlformats.org/officeDocument/2006/relationships/slide" Target="slides/slide18.xml"/><Relationship Id="rId13" Type="http://schemas.openxmlformats.org/officeDocument/2006/relationships/slide" Target="slides/slide20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5.xml"/><Relationship Id="rId20" Type="http://schemas.openxmlformats.org/officeDocument/2006/relationships/slide" Target="slides/slide7.xml"/><Relationship Id="rId21" Type="http://schemas.openxmlformats.org/officeDocument/2006/relationships/slide" Target="slides/slide10.xml"/><Relationship Id="rId22" Type="http://schemas.openxmlformats.org/officeDocument/2006/relationships/slide" Target="slides/slide12.xml"/><Relationship Id="rId23" Type="http://schemas.openxmlformats.org/officeDocument/2006/relationships/slide" Target="slides/slide14.xml"/><Relationship Id="rId24" Type="http://schemas.openxmlformats.org/officeDocument/2006/relationships/slide" Target="slides/slide16.xml"/><Relationship Id="rId25" Type="http://schemas.openxmlformats.org/officeDocument/2006/relationships/slide" Target="slides/slide19.xml"/><Relationship Id="rId26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hyperlink" Target="https://cuinotes.com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19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2331720"/>
            <a:ext cx="10424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Normalization Process: 1NF, 2NF, 3NF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running example, carried through every stage by hand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BF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CSC270 · Database Systems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516636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5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COMSATS University Islamabad, Lahore Campus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LECTURE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Repeatable Procedure, Applied Start to Finish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63677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 (1NF) — atomic values, no repeating groups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350008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" y="2350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07008" y="2295144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 (2NF) — no partial dependency on a composite key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08376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953512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 (3NF) — no transitive dependency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3666744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40080" y="36667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3611880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running example, converted step by step: UNF → 1NF → 2NF → 3NF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4325112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640080" y="43251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07008" y="4270248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second, shorter worked example to reinforce the pattern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40080" y="4983480"/>
            <a:ext cx="365760" cy="365760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40080" y="4983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207008" y="4928616"/>
            <a:ext cx="10344607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for normal forms — the checklist to apply to any relation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EXAMPLE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Unnormalized Order Table (UNF)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order, with product lines packed into a repeating group inside the row: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11535" cy="13200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645920"/>
                <a:gridCol w="6793992"/>
              </a:tblGrid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productNo, productName, unitPrice, qty 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(P01,Widget,9.99,3), (P02,Gadget,24.99,1) 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Kelly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(P01,Widget,9.99,2) 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3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 (P03,Sprocket,4.50,10) }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3300000"/>
            <a:ext cx="10911535" cy="1250000"/>
          </a:xfrm>
          <a:prstGeom prst="roundRect">
            <a:avLst>
              <a:gd name="adj" fmla="val 6667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 txBox="1"/>
          <p:nvPr/>
        </p:nvSpPr>
        <p:spPr>
          <a:xfrm>
            <a:off x="896112" y="3370000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896112" y="3650000"/>
            <a:ext cx="10399471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O100's single row holds TWO product lines inside one cell — exactly the “repeating group” Lecture 5 ruled out. This is not yet a valid relation at all — it is Unnormalized Form (UNF), the raw starting point.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4700000"/>
            <a:ext cx="10911535" cy="1450000"/>
          </a:xfrm>
          <a:prstGeom prst="roundRect">
            <a:avLst>
              <a:gd name="adj" fmla="val 6957"/>
            </a:avLst>
          </a:prstGeom>
          <a:solidFill>
            <a:srgbClr val="1F2429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914400" y="4800000"/>
            <a:ext cx="10362895" cy="1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orderNo → orderDate, custNo   ·   custNo → custName, custAddress</a:t>
            </a:r>
            <a:endParaRPr lang="en-US" sz="12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productNo → productName, unitPrice   ·   { orderNo, productNo } → qty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Normal Form (1NF)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11535" cy="12500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96112" y="15636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800000"/>
            <a:ext cx="10399471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relation is in 1NF if every attribute holds a single, atomic value — no repeating groups, no nested tables. This is simply Lecture 5's definition of a valid relation, restated as the first checkpoint.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50000"/>
            <a:ext cx="10911535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Flatten: give each product line its own row, repeating order-level attributes. A single orderNo no longer identifies one row — the primary key grows composite: {orderNo, productNo}.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00000"/>
            <a:ext cx="10911535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Order (orderNo, productNo, orderDate, custNo, custName, custAddress, productName, unitPrice, qty) — 1NF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850000"/>
          <a:ext cx="10911535" cy="15000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188720"/>
                <a:gridCol w="1645920"/>
                <a:gridCol w="1645920"/>
                <a:gridCol w="1490472"/>
                <a:gridCol w="1399032"/>
              </a:tblGrid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Kelly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Sprocket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450000"/>
            <a:ext cx="10911535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 fixed the STRUCTURAL problem. It did nothing about the redundancy problem — orderDate/custName/custAddress repeat across O100's two rows; productName/unitPrice for Widget repeat across O100 and O101.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· WHY THE KEY GREW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1NF: Why the Key Had to Grow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11535" cy="1250000"/>
          </a:xfrm>
          <a:prstGeom prst="roundRect">
            <a:avLst>
              <a:gd name="adj" fmla="val 7000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96112" y="15636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874520"/>
            <a:ext cx="10399471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UNF table, orderNo alone identified a row. After flattening, O100 appears on TWO rows, so orderNo is no longer unique.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8000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key that identifies every row: {orderNo, productNo}. (O100, P01) and (O100, P02) are different rows; neither attribute alone works.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550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Question: is orderNo alone a key of the 1NF table?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950000"/>
          <a:ext cx="10911535" cy="15500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188720"/>
                <a:gridCol w="1645920"/>
                <a:gridCol w="1645920"/>
                <a:gridCol w="1490472"/>
                <a:gridCol w="1399032"/>
              </a:tblGrid>
              <a:tr h="31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Kelly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Sprocket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0080" y="5750000"/>
            <a:ext cx="1091153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No. O100 repeats. So the key is composite, and orderDate, custNo, custName, and custAddress now repeat inside it. That is the 2NF problem.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Normal Form (2NF): Testing for Partial Dependencies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11535" cy="1250000"/>
          </a:xfrm>
          <a:prstGeom prst="roundRect">
            <a:avLst>
              <a:gd name="adj" fmla="val 7368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96112" y="15636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800000"/>
            <a:ext cx="10399471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2NF: already in 1NF, and every non-key attribute is fully functionally dependent on the WHOLE primary key — not only part of it. A partial dependency: a non-key attribute depends on a proper subset of a composite key.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000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= {orderNo, productNo}. Check each non-key attribute against both halves:</a:t>
            </a:r>
            <a:endParaRPr lang="en-US" sz="12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100000"/>
          <a:ext cx="1091153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651760"/>
                <a:gridCol w="2862072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Non-key 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orderNo alone?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productNo alone?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key?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custName / custAddress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(via custNo)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— needs BOTH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 txBox="1"/>
          <p:nvPr/>
        </p:nvSpPr>
        <p:spPr>
          <a:xfrm>
            <a:off x="640080" y="5450000"/>
            <a:ext cx="10911535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of seven non-key attributes are partially dependent — only qty needs the whole key. This relation VIOLATES 2NF.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· PROOF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2NF: Proving One Partial Dependency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11535" cy="868680"/>
          </a:xfrm>
          <a:prstGeom prst="roundRect">
            <a:avLst>
              <a:gd name="adj" fmla="val 7368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96112" y="15636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874520"/>
            <a:ext cx="1039947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orderDate against each half of the key. Does orderNo alone fix it? Look at the rows: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450000"/>
            <a:ext cx="10911535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orderNo O100 gives 2026-08-01 on BOTH rows: the same value every time. So orderDate depends on orderNo alone, a partial dependency.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5400000"/>
            <a:ext cx="10911535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productNo P01 gives 2026-08-01 (O100) and 2026-08-02 (O101): different dates, so productNo does NOT determine orderDate.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7</a:t>
            </a:r>
            <a:endParaRPr lang="en-US" sz="1000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914400" y="3300000"/>
          <a:ext cx="10362895" cy="190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54965"/>
                <a:gridCol w="3454965"/>
                <a:gridCol w="3452965"/>
              </a:tblGrid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orderNo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productNo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orderDate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O100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2026-08-01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O100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P02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2026-08-01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O101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P01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2026-08-02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O102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P03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2026-08-03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Converting to 2NF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partially-dependent attribute moves to a relation keyed by whichever part of the composite key determines it: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900000"/>
            <a:ext cx="3484778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Order (orderNo, orderDate, custNo, custName, custAddress)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600000"/>
          <a:ext cx="3484778" cy="1200000"/>
        </p:xfrm>
        <a:graphic>
          <a:graphicData uri="http://schemas.openxmlformats.org/drawingml/2006/table">
            <a:tbl>
              <a:tblPr/>
              <a:tblGrid>
                <a:gridCol w="1280160"/>
                <a:gridCol w="1554480"/>
                <a:gridCol w="1097280"/>
              </a:tblGrid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353458" y="1900000"/>
            <a:ext cx="3484778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Product (productNo, productName, unitPrice)</a:t>
            </a:r>
            <a:endParaRPr lang="en-US" sz="1250" dirty="0"/>
          </a:p>
        </p:txBody>
      </p:sp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53458" y="2600000"/>
          <a:ext cx="3484778" cy="12000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280160"/>
              </a:tblGrid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24.99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Sprocket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066837" y="1900000"/>
            <a:ext cx="3484778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OrderLine (orderNo, productNo, qty)</a:t>
            </a:r>
            <a:endParaRPr lang="en-US" sz="1250" dirty="0"/>
          </a:p>
        </p:txBody>
      </p:sp>
      <p:graphicFrame>
        <p:nvGraphicFramePr>
          <p:cNvPr id="10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66837" y="2600000"/>
          <a:ext cx="3484778" cy="150000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005840"/>
              </a:tblGrid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40080" y="4450000"/>
            <a:ext cx="10911535" cy="1200000"/>
          </a:xfrm>
          <a:prstGeom prst="roundRect">
            <a:avLst>
              <a:gd name="adj" fmla="val 7000"/>
            </a:avLst>
          </a:prstGeom>
          <a:solidFill>
            <a:srgbClr val="E9F9F3"/>
          </a:solidFill>
          <a:ln w="12700">
            <a:solidFill>
              <a:srgbClr val="1FAE8C"/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 txBox="1"/>
          <p:nvPr/>
        </p:nvSpPr>
        <p:spPr>
          <a:xfrm>
            <a:off x="896112" y="4520000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A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</a:t>
            </a:r>
            <a:endParaRPr lang="en-US" sz="1100" dirty="0"/>
          </a:p>
        </p:txBody>
      </p:sp>
      <p:sp>
        <p:nvSpPr>
          <p:cNvPr id="13" name="Text 8"/>
          <p:cNvSpPr txBox="1"/>
          <p:nvPr/>
        </p:nvSpPr>
        <p:spPr>
          <a:xfrm>
            <a:off x="896112" y="4820000"/>
            <a:ext cx="10399471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and Order now have single-attribute keys, so partial dependency is impossible there. qty needs the whole key.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640080" y="5700000"/>
            <a:ext cx="10911535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still has a problem: does custName depend on orderNo, or on custNo?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Normal Form (3NF): Transitive Dependency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11535" cy="125000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96112" y="15636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800000"/>
            <a:ext cx="10399471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3NF: already in 2NF, and no non-key attribute is transitively dependent on the primary key. Transitive dependency: Z depends on non-key Y, and Y depends on key X — X → Y → Z, but Z doesn't depend on X directly.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50000"/>
            <a:ext cx="10911535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Order(orderNo, orderDate, custNo, custName, custAddress), key orderNo: 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custNo → custName, custAddress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custNo is itself a NON-KEY attribute here. So custName/custAddress depend on orderNo only transitively: orderNo → custNo → custName. VIOLATES 3NF.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0000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Customer (custNo, custName, custAddress)</a:t>
            </a:r>
            <a:endParaRPr lang="en-US" sz="12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250000"/>
          <a:ext cx="5318608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custAddress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 Beech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Elm St, Lahore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Tom Kelly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Oak Ave, Karachi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233008" y="390000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Order (orderNo, orderDate, custNo)</a:t>
            </a:r>
            <a:endParaRPr lang="en-US" sz="12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33008" y="4250000"/>
          <a:ext cx="5318608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737360"/>
                <a:gridCol w="146304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custNo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O102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2026-08-03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C001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 txBox="1"/>
          <p:nvPr/>
        </p:nvSpPr>
        <p:spPr>
          <a:xfrm>
            <a:off x="640080" y="5550000"/>
            <a:ext cx="10911535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off the transitively-dependent attributes into Customer, keyed by custNo, leaving custNo behind in Order as a foreign key. Product and OrderLine carry over unchanged.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PROOF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3NF: Proving the Transitive Chain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11535" cy="1250000"/>
          </a:xfrm>
          <a:prstGeom prst="roundRect">
            <a:avLst>
              <a:gd name="adj" fmla="val 6667"/>
            </a:avLst>
          </a:prstGeom>
          <a:solidFill>
            <a:srgbClr val="EAF1FB"/>
          </a:solidFill>
          <a:ln w="12700">
            <a:solidFill>
              <a:srgbClr val="6C8FD6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96112" y="1563624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C4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800000"/>
            <a:ext cx="10399471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Order(orderNo, orderDate, custNo, custName, custAddress), key orderNo. Follow the chain: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50000"/>
            <a:ext cx="10911535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orderNo → custNo (one customer per order). Step 2: custNo → custName, custAddress (one name per customer). Step 3: so custName depends on orderNo only THROUGH custNo: transitive. VIOLATES 3NF.</a:t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/>
            </a:r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0000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Order: Ann Beech is stored twice (O100, O102)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6233008" y="3900000"/>
            <a:ext cx="531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After the split: each customer is stored once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5850000"/>
            <a:ext cx="1091153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 off Customer removes the repeat; Order keeps custNo as a foreign key.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10</a:t>
            </a:r>
            <a:endParaRPr lang="en-US" sz="1000" dirty="0"/>
          </a:p>
        </p:txBody>
      </p:sp>
      <p:graphicFrame>
        <p:nvGraphicFramePr>
          <p:cNvPr id="12" name="Table 13"/>
          <p:cNvGraphicFramePr>
            <a:graphicFrameLocks noGrp="1"/>
          </p:cNvGraphicFramePr>
          <p:nvPr/>
        </p:nvGraphicFramePr>
        <p:xfrm>
          <a:off x="640080" y="4250000"/>
          <a:ext cx="5318608" cy="15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72869"/>
                <a:gridCol w="1772869"/>
                <a:gridCol w="1772870"/>
              </a:tblGrid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orderNo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custNo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custName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O100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C001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Ann Beech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O101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C002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Tom Kelly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O102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C001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Ann Beech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4"/>
          <p:cNvGraphicFramePr>
            <a:graphicFrameLocks noGrp="1"/>
          </p:cNvGraphicFramePr>
          <p:nvPr/>
        </p:nvGraphicFramePr>
        <p:xfrm>
          <a:off x="6233008" y="4250000"/>
          <a:ext cx="5318608" cy="11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0000"/>
                <a:gridCol w="1600000"/>
                <a:gridCol w="2618608"/>
              </a:tblGrid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custNo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custName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custAddress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C001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Ann Beech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12 Elm St, Lahore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C002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Tom Kelly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5 Oak Ave, Karachi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· RESULT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3NF Schema — Verified BCNF Too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00000"/>
            <a:ext cx="10911535" cy="2150000"/>
          </a:xfrm>
          <a:prstGeom prst="roundRect">
            <a:avLst>
              <a:gd name="adj" fmla="val 3721"/>
            </a:avLst>
          </a:prstGeom>
          <a:solidFill>
            <a:srgbClr val="1F2429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914400" y="1480000"/>
            <a:ext cx="10362895" cy="2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Customer  (custNo, custName, custAddress)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Product   (productNo, productName, unitPrice)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Order     (orderNo, orderDate, custNo)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    Foreign Key custNo references Customer(custNo)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OrderLine (orderNo, productNo, qty)</a:t>
            </a:r>
            <a:endParaRPr lang="en-US" sz="13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6B7280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    FK orderNo → Order, FK productNo → Product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2522144" cy="2468880"/>
          </a:xfrm>
          <a:prstGeom prst="roundRect">
            <a:avLst>
              <a:gd name="adj" fmla="val 2963"/>
            </a:avLst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3767328"/>
            <a:ext cx="2339264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4941418"/>
            <a:ext cx="2302688" cy="103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order, product lines repeat inside 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162224" y="489204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436544" y="3657600"/>
            <a:ext cx="2522144" cy="2468880"/>
          </a:xfrm>
          <a:prstGeom prst="roundRect">
            <a:avLst>
              <a:gd name="adj" fmla="val 2963"/>
            </a:avLst>
          </a:prstGeom>
          <a:solidFill>
            <a:srgbClr val="8B7FD9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527984" y="3767328"/>
            <a:ext cx="2339264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546272" y="4941418"/>
            <a:ext cx="2302688" cy="103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Flattened — one row per (order, product); key grows composite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958688" y="489204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6233008" y="3657600"/>
            <a:ext cx="2522144" cy="2468880"/>
          </a:xfrm>
          <a:prstGeom prst="roundRect">
            <a:avLst>
              <a:gd name="adj" fmla="val 2963"/>
            </a:avLst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6324448" y="3767328"/>
            <a:ext cx="2339264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342736" y="4941418"/>
            <a:ext cx="2302688" cy="103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off attributes depending on only half the composite key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755151" y="4892040"/>
            <a:ext cx="274320" cy="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029471" y="3657600"/>
            <a:ext cx="2522144" cy="2468880"/>
          </a:xfrm>
          <a:prstGeom prst="roundRect">
            <a:avLst>
              <a:gd name="adj" fmla="val 2963"/>
            </a:avLst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9120911" y="3767328"/>
            <a:ext cx="2339264" cy="11109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139199" y="4941418"/>
            <a:ext cx="2302688" cy="103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off attributes depending on a non-key attribute, not the key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1-3 · SUMMARY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Stage Removed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fixed one specific kind of problem. Nothing was lost along the way:</a:t>
            </a:r>
            <a:endParaRPr lang="en-US" sz="1250" dirty="0"/>
          </a:p>
        </p:txBody>
      </p:sp>
      <p:sp>
        <p:nvSpPr>
          <p:cNvPr id="5" name="Text 1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12</a:t>
            </a:r>
            <a:endParaRPr lang="en-US" sz="1000" dirty="0"/>
          </a:p>
        </p:txBody>
      </p:sp>
      <p:graphicFrame>
        <p:nvGraphicFramePr>
          <p:cNvPr id="6" name="Table 15"/>
          <p:cNvGraphicFramePr>
            <a:graphicFrameLocks noGrp="1"/>
          </p:cNvGraphicFramePr>
          <p:nvPr/>
        </p:nvGraphicFramePr>
        <p:xfrm>
          <a:off x="640080" y="2011680"/>
          <a:ext cx="10911535" cy="30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0000"/>
                <a:gridCol w="2800000"/>
                <a:gridCol w="3900000"/>
                <a:gridCol w="2311535"/>
              </a:tblGrid>
              <a:tr h="760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Problem found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Attributes involved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Fix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UNF → 1NF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Repeating group in one cell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productNo, productName, unitPrice, qty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Flatten to one row per (order, product)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1NF → 2NF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Partial dependency on half the key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orderDate, custNo, custName, custAddress on orderNo; productName, unitPrice on productNo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Move each group to Order or Product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2NF → 3NF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Transitive dependency through custNo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custName, custAddress via orderNo → custNo → custName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Move to Customer; keep custNo in Order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Anomaly Gone — At No Cost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accepts new, unordered product P04 — insertion anomaly gone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Deleting O101 leaves Customer row C002 intact — deletion anomaly gone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Widget's price lives in exactly one row of Product — modification anomaly gone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3429000"/>
            <a:ext cx="10911535" cy="777240"/>
          </a:xfrm>
          <a:prstGeom prst="roundRect">
            <a:avLst>
              <a:gd name="adj" fmla="val 9412"/>
            </a:avLst>
          </a:prstGeom>
          <a:solidFill>
            <a:srgbClr val="1F2429"/>
          </a:solidFill>
          <a:ln/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914400" y="3611880"/>
            <a:ext cx="103628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Customer ⋈ Order ⋈ OrderLine ⋈ Product  reconstructs the original flattened 1NF table exactly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43484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join attribute (custNo, orderNo, productNo) is the primary key of the relation on the “one” side of the join — which is exactly why this decomposition is lossless.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· HAND-TRACE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Hand-Tracing the Lossless Join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4173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Rejoin the four 3NF relations one step at a time. Each join matches on a primary key of the "one" side:</a:t>
            </a:r>
            <a:endParaRPr lang="en-US" sz="1250" dirty="0"/>
          </a:p>
        </p:txBody>
      </p:sp>
      <p:sp>
        <p:nvSpPr>
          <p:cNvPr id="5" name="Text 1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14</a:t>
            </a:r>
            <a:endParaRPr lang="en-US" sz="1000" dirty="0"/>
          </a:p>
        </p:txBody>
      </p:sp>
      <p:graphicFrame>
        <p:nvGraphicFramePr>
          <p:cNvPr id="6" name="Table 15"/>
          <p:cNvGraphicFramePr>
            <a:graphicFrameLocks noGrp="1"/>
          </p:cNvGraphicFramePr>
          <p:nvPr/>
        </p:nvGraphicFramePr>
        <p:xfrm>
          <a:off x="640080" y="2011680"/>
          <a:ext cx="10911535" cy="25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0000"/>
                <a:gridCol w="3300000"/>
                <a:gridCol w="4511535"/>
                <a:gridCol w="2200000"/>
              </a:tblGrid>
              <a:tr h="640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Join performed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Rows produced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Check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Order ⋈ Customer on custNo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3 rows: O100, O101, O102, each with its name and address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Matches 3 orders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… ⋈ OrderLine on orderNo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4 rows: O100 (2 lines), O101 (1), O102 (1)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Matches 4 order lines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… ⋈ Product on productNo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4 rows with productName and unitPrice attached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Equals original 1NF table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PASS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Confirming the Pattern Generalizes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Enrollment (studentNo, courseNo, studentName, courseName, instructorNo, instructorOffice, grade) — 1NF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19072"/>
          <a:ext cx="1091153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463040"/>
                <a:gridCol w="1371600"/>
                <a:gridCol w="1371600"/>
                <a:gridCol w="1645920"/>
                <a:gridCol w="10332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instructorOffice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 Khan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CS305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 Khan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108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 Malik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3050000"/>
            <a:ext cx="10911535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FDs: studentNo → studentName;  courseNo → courseName, instructorNo;  instructorNo → instructorOffice;  {studentNo, courseNo} → grade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50000"/>
            <a:ext cx="10911535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check vs {studentNo, courseNo}: studentName depends on studentNo alone; courseName and instructorNo on courseNo alone; instructorOffice follows instructorNo. Only grade needs both. VIOLATES 2NF.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5450000"/>
            <a:ext cx="10911535" cy="850000"/>
          </a:xfrm>
          <a:prstGeom prst="roundRect">
            <a:avLst>
              <a:gd name="adj" fmla="val 10000"/>
            </a:avLst>
          </a:prstGeom>
          <a:solidFill>
            <a:srgbClr val="1F2429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5550000"/>
            <a:ext cx="10362895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Student(studentNo,studentName)  Instructor(instructorNo,instructorOffice)  Course(courseNo,courseName,instructorNo)  Enrollment(studentNo,courseNo,grade)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PASS · 2NF STEP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Splitting on 2NF Violations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Enrollment (studentNo, courseNo, studentName, courseName, instructorNo, instructorOffice, grade) — 1NF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19072"/>
          <a:ext cx="1091153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188720"/>
                <a:gridCol w="1463040"/>
                <a:gridCol w="1371600"/>
                <a:gridCol w="1371600"/>
                <a:gridCol w="1645920"/>
                <a:gridCol w="10332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courseName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instructorNo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instructorOffice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 Khan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CS305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Bilal Khan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108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B+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2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CS201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Sara Malik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I01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 214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4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A−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40080" y="3050000"/>
            <a:ext cx="10911535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FDs: studentNo → studentName;  courseNo → courseName, instructorNo;  instructorNo → instructorOffice;  {studentNo, courseNo} → grade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50000"/>
            <a:ext cx="10911535" cy="1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 test against {studentNo, courseNo}: studentName depends on studentNo alone; courseName and instructorNo on courseNo alone; instructorOffice follows instructorNo. Only grade needs both.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" y="5450000"/>
            <a:ext cx="10911535" cy="850000"/>
          </a:xfrm>
          <a:prstGeom prst="roundRect">
            <a:avLst>
              <a:gd name="adj" fmla="val 10000"/>
            </a:avLst>
          </a:prstGeom>
          <a:solidFill>
            <a:srgbClr val="1F2429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914400" y="5550000"/>
            <a:ext cx="10362895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Result: Student(studentNo, studentName), Course(courseNo, courseName, instructorNo, instructorOffice), Enrollment(studentNo, courseNo, grade)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SECOND PASS · 3NF STEP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Enrollment: Removing the Transitive Dependency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Course(courseNo, courseName, instructorNo, instructorOffice), key courseNo. Follow the chain: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127248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8B7FD9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Transitive: courseNo → instructorNo → instructorOffice. instructorOffice depends on courseNo only through instructorNo, a non-key attribute of Course.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950000"/>
            <a:ext cx="10911535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Instructor(instructorNo, instructorOffice) and Course(courseNo, courseName, instructorNo). Now every FD has a key on its left.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5486400"/>
            <a:ext cx="10911535" cy="731520"/>
          </a:xfrm>
          <a:prstGeom prst="roundRect">
            <a:avLst>
              <a:gd name="adj" fmla="val 10000"/>
            </a:avLst>
          </a:prstGeom>
          <a:solidFill>
            <a:srgbClr val="1F2429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914400" y="56692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2FE6C4"/>
                </a:solidFill>
                <a:latin typeface="Calibri" pitchFamily="34" charset="0"/>
                <a:ea typeface="Courier New" pitchFamily="34" charset="-122"/>
                <a:cs typeface="Courier New" pitchFamily="34" charset="-120"/>
              </a:rPr>
              <a:t>Final: Student(studentNo, studentName), Instructor(instructorNo, instructorOffice), Course(courseNo, courseName, instructorNo), Enrollment(studentNo, courseNo, grade)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17</a:t>
            </a:r>
            <a:endParaRPr lang="en-US" sz="1000" dirty="0"/>
          </a:p>
        </p:txBody>
      </p:sp>
      <p:graphicFrame>
        <p:nvGraphicFramePr>
          <p:cNvPr id="10" name="Table 10"/>
          <p:cNvGraphicFramePr>
            <a:graphicFrameLocks noGrp="1"/>
          </p:cNvGraphicFramePr>
          <p:nvPr/>
        </p:nvGraphicFramePr>
        <p:xfrm>
          <a:off x="914400" y="1719072"/>
          <a:ext cx="10362895" cy="12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00000"/>
                <a:gridCol w="2800000"/>
                <a:gridCol w="2600000"/>
                <a:gridCol w="2562895"/>
              </a:tblGrid>
              <a:tr h="4200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courseNo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courseName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instructorNo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instructorOffice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81C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CS201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Databases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I01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Room 214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CS305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Networks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I02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1F2429"/>
                          </a:solidFill>
                          <a:latin typeface="Calibri"/>
                        </a:rPr>
                        <a:t>Room 108</a:t>
                      </a: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5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CHECKLIST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Any Relation for Normal Forms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975360"/>
          </a:xfrm>
          <a:prstGeom prst="roundRect">
            <a:avLst>
              <a:gd name="adj" fmla="val 7500"/>
            </a:avLst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627632"/>
            <a:ext cx="104543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Is every attribute value atomic?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03146"/>
            <a:ext cx="10454335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repeating groups, no multi-valued cells. No → not even 1NF; flatten first.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95848" y="2529840"/>
            <a:ext cx="0" cy="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58440"/>
            <a:ext cx="10911535" cy="975360"/>
          </a:xfrm>
          <a:prstGeom prst="roundRect">
            <a:avLst>
              <a:gd name="adj" fmla="val 7500"/>
            </a:avLst>
          </a:prstGeom>
          <a:solidFill>
            <a:srgbClr val="8B7FD9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68680" y="2831592"/>
            <a:ext cx="104543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Is the key composite? Does every non-key need the WHOLE key?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07106"/>
            <a:ext cx="10454335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Single-attribute key → automatically 2NF. Composite → check each attribute against each proper subset.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5848" y="3733800"/>
            <a:ext cx="0" cy="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3962400"/>
            <a:ext cx="10911535" cy="975360"/>
          </a:xfrm>
          <a:prstGeom prst="roundRect">
            <a:avLst>
              <a:gd name="adj" fmla="val 7500"/>
            </a:avLst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68680" y="4035552"/>
            <a:ext cx="104543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Does every non-key attribute depend ONLY on the key?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411066"/>
            <a:ext cx="10454335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X (key) → Y (non-key) → Z (non-key), Z is transitively dependent → violates 3NF.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000000"/>
            <a:ext cx="10911535" cy="1350000"/>
          </a:xfrm>
          <a:prstGeom prst="roundRect">
            <a:avLst>
              <a:gd name="adj" fmla="val 6364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96112" y="5080000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5380000"/>
            <a:ext cx="10399471" cy="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vs. transitive — the most common exam mix-up: partial is about a composite key (some attribute depends on only part of it). Transitive can happen even with a single-attribute key — the culprit is a non-key attribute standing in the way. If the key is single-attribute, only check for transitive dependency.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8B7F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When Normalizing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1150000"/>
          </a:xfrm>
          <a:prstGeom prst="roundRect">
            <a:avLst>
              <a:gd name="adj" fmla="val 7500"/>
            </a:avLst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68680" y="1627632"/>
            <a:ext cx="104543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Calling every violation "partial"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003146"/>
            <a:ext cx="10454335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needs a COMPOSITE key. In a relation keyed by orderNo alone, custNo → custName is transitive, not partial.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095848" y="2529840"/>
            <a:ext cx="0" cy="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40080" y="2758440"/>
            <a:ext cx="10911535" cy="975360"/>
          </a:xfrm>
          <a:prstGeom prst="roundRect">
            <a:avLst>
              <a:gd name="adj" fmla="val 7500"/>
            </a:avLst>
          </a:prstGeom>
          <a:solidFill>
            <a:srgbClr val="8B7FD9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868680" y="2831592"/>
            <a:ext cx="104543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Testing sample rows instead of business rules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3207106"/>
            <a:ext cx="10454335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rows agreeing on custName do not prove custNo → custName. The FD must hold for every legal instance.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95848" y="3733800"/>
            <a:ext cx="0" cy="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640080" y="3962400"/>
            <a:ext cx="10911535" cy="975360"/>
          </a:xfrm>
          <a:prstGeom prst="roundRect">
            <a:avLst>
              <a:gd name="adj" fmla="val 7500"/>
            </a:avLst>
          </a:prstGeom>
          <a:solidFill>
            <a:srgbClr val="E8A33D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868680" y="4035552"/>
            <a:ext cx="104543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Dropping the foreign key after a split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411066"/>
            <a:ext cx="10454335" cy="4681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202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keeps custNo so it can still reach Customer. Dropping it breaks the lossless join.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5000000"/>
            <a:ext cx="10911535" cy="1350000"/>
          </a:xfrm>
          <a:prstGeom prst="roundRect">
            <a:avLst>
              <a:gd name="adj" fmla="val 6364"/>
            </a:avLst>
          </a:prstGeom>
          <a:solidFill>
            <a:srgbClr val="FCF1E3"/>
          </a:solidFill>
          <a:ln w="12700">
            <a:solidFill>
              <a:srgbClr val="E8A33D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896112" y="5080000"/>
            <a:ext cx="103994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5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896112" y="5380000"/>
            <a:ext cx="10399471" cy="9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1F2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every split, rejoin and compare to the original. If the join rebuilds the original rows exactly, the split is safe.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2FE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0756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1NF: every attribute value is atomic — fixed by flattening, which often forces the key to become composite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8346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22960" y="2834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7614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2NF: every non-key attribute depends on the WHOLE composite key, not part of it — relevant only for composite keys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822960" y="3520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34472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3NF: every non-key attribute depends DIRECTLY on the key, never transitively through another non-key attribute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2062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82296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1330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running Order example went UNF → 1NF → 2NF → 3NF, ending at Customer, Product, Order, OrderLine — zero redundancy, verified lossless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22960" y="48920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22960" y="4892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8188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any relation: atomicity, then partial dependency (composite keys only), then transitive dependency — in that order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22960" y="5577840"/>
            <a:ext cx="384048" cy="384048"/>
          </a:xfrm>
          <a:prstGeom prst="ellipse">
            <a:avLst/>
          </a:prstGeom>
          <a:solidFill>
            <a:srgbClr val="2FE6C4"/>
          </a:solidFill>
          <a:ln/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822960" y="5577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550468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E4E7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 eliminates most redundancy, but not all — Lecture 20 introduces BCNF, a stricter test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951415" y="6455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u="sng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cuinotes.com</a:t>
            </a:r>
            <a:pPr algn="r" indent="0" marL="0">
              <a:buNone/>
            </a:pPr>
            <a:r>
              <a:rPr lang="en-US" sz="1200" dirty="0">
                <a:solidFill>
                  <a:srgbClr val="8A93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cuinotes.com</dc:creator>
  <cp:lastModifiedBy>cuinotes.com</cp:lastModifiedBy>
  <cp:revision>1</cp:revision>
  <dcterms:created xsi:type="dcterms:W3CDTF">2026-09-29T15:34:04Z</dcterms:created>
  <dcterms:modified xsi:type="dcterms:W3CDTF">2026-09-29T15:34:04Z</dcterms:modified>
</cp:coreProperties>
</file>
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Normalization Process: 1NF, 2NF, 3NF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running example, carried through every stage by hand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Repeatable Procedure, Applied Start to Finish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Normal Form (1NF) — atomic values, no repeating groups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Normal Form (2NF) — no partial dependency on a composite key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Normal Form (3NF) — no transitive dependency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running example, converted step by step: UNF → 1NF → 2NF → 3NF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shorter worked example to reinforce the pattern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for normal forms — the checklist to apply to any relation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EXAMPLE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Unnormalized Order Table (UNF)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order, with product lines packed into a repeating group inside the row: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645920"/>
                <a:gridCol w="679399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 productNo, productName, unitPrice, qty 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 (P01,Widget,9.99,3), (P02,Gadget,24.99,1) 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Kelly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 (P01,Widget,9.99,2) 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 (P03,Sprocket,4.50,10) 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931920"/>
            <a:ext cx="10911535" cy="960120"/>
          </a:xfrm>
          <a:prstGeom prst="roundRect">
            <a:avLst>
              <a:gd name="adj" fmla="val 6667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0782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4389120"/>
            <a:ext cx="1039947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O100's single row holds TWO product lines inside one cell — exactly the “repeating group” Lecture 5 ruled out. This is not yet a valid relation at all — it is Unnormalized Form (UNF), the raw starting point.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F242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52120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orderNo → orderDate, custNo   ·   custNo → custName, custAddress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productNo → productName, unitPrice   ·   { orderNo, productNo } → qty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Normal Form (1NF)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63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7452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 is in 1NF if every attribute holds a single, atomic value — no repeating groups, no nested tables. This is simply Lecture 5's definition of a valid relation, restated as the first checkpoint.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Flatten: give each product line its own row, repeating order-level attributes. A single orderNo no longer identifies one row — the primary key grows composite: {orderNo, productNo}.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004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(orderNo, productNo, orderDate, custNo, custName, custAddress, productName, unitPrice, qty) — 1NF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47872"/>
          <a:ext cx="1091153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188720"/>
                <a:gridCol w="1645920"/>
                <a:gridCol w="1645920"/>
                <a:gridCol w="1490472"/>
                <a:gridCol w="139903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Kelly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Sprocket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5257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 fixed the STRUCTURAL problem. It did nothing about the redundancy problem — orderDate/custName/custAddress repeat across O100's two rows; productName/unitPrice for Widget repeat across O100 and O101.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Normal Form (2NF): Testing for Partial Dependencies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911535" cy="868680"/>
          </a:xfrm>
          <a:prstGeom prst="roundRect">
            <a:avLst>
              <a:gd name="adj" fmla="val 7368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63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74520"/>
            <a:ext cx="103994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2NF: already in 1NF, and every non-key attribute is fully functionally dependent on the WHOLE primary key — not only part of it. A partial dependency: a non-key attribute depends on a proper subset of a composite key.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231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= {orderNo, productNo}. Check each non-key attribute against both halves: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651760"/>
                <a:gridCol w="2862072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Non-key attribute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orderNo alone?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productNo alone?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key?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 / custAddress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(via custNo)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— needs BOTH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of seven non-key attributes are partially dependent — only qty needs the whole key. This relation VIOLATES 2NF.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to 2NF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partially-dependent attribute moves to a relation keyed by whichever part of the composite key determines it: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(orderNo, orderDate, custNo, custName, custAddress)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13432"/>
          <a:ext cx="3484778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544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53458" y="196596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(productNo, productName, unitPrice)</a:t>
            </a:r>
            <a:endParaRPr lang="en-US" sz="12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3458" y="2313432"/>
          <a:ext cx="3484778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Sprocket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066837" y="1965960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OrderLine (orderNo, productNo, qty)</a:t>
            </a:r>
            <a:endParaRPr lang="en-US" sz="125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6837" y="2313432"/>
          <a:ext cx="3484778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43434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96112" y="44897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896112" y="4800600"/>
            <a:ext cx="103994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Order now have single-attribute keys — partial dependency is structurally impossible. OrderLine's only non-key attribute (qty) genuinely needs the entire composite key. Widget's price no longer repeats per order.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53949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Order still has a problem: does custName really depend on orderNo, or on custNo, which merely happens to be reachable from orderNo? That's exactly what 3NF answers.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Normal Form (3NF): Transitive Dependency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911535" cy="960120"/>
          </a:xfrm>
          <a:prstGeom prst="roundRect">
            <a:avLst>
              <a:gd name="adj" fmla="val 6667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56362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874520"/>
            <a:ext cx="1039947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3NF: already in 2NF, and no non-key attribute is transitively dependent on the primary key. Transitive dependency: Z depends on non-key Y, and Y depends on key X — X → Y → Z, but Z doesn't depend on X directly.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Order(orderNo, orderDate, custNo, custName, custAddress), key orderNo: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custNo → custName, custAddress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custNo is itself a NON-KEY attribute here. So custName/custAddress depend on orderNo only transitively: orderNo → custNo → custName. VIOLATES 3NF.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(custNo, custName, custAddress)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42232"/>
          <a:ext cx="5318608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Elm St, Lahore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Kelly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Oak Ave, Karachi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233008" y="379476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(orderNo, orderDate, custNo)</a:t>
            </a:r>
            <a:endParaRPr lang="en-US" sz="12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4142232"/>
          <a:ext cx="5318608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54864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off the transitively-dependent attributes into Customer, keyed by custNo, leaving custNo behind in Order as a foreign key. Product and OrderLine carry over unchanged.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· RESULT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3NF Schema — Verified BCNF Too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1965960"/>
          </a:xfrm>
          <a:prstGeom prst="roundRect">
            <a:avLst>
              <a:gd name="adj" fmla="val 3721"/>
            </a:avLst>
          </a:prstGeom>
          <a:solidFill>
            <a:srgbClr val="1F24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103628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 (custNo, custName, custAddress)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  (productNo, productName, unitPrice)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    (orderNo, orderDate, custNo)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Foreign Key custNo references Customer(custNo)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OrderLine (orderNo, productNo, qty)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FK orderNo → Order, FK productNo → Product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767328"/>
            <a:ext cx="233926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941418"/>
            <a:ext cx="2302688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order, product lines repeat inside 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62224" y="489204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36544" y="365760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7984" y="3767328"/>
            <a:ext cx="233926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46272" y="4941418"/>
            <a:ext cx="2302688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— one row per (order, product); key grows composite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58688" y="489204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33008" y="365760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24448" y="3767328"/>
            <a:ext cx="233926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42736" y="4941418"/>
            <a:ext cx="2302688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off attributes depending on only half the composite key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55151" y="489204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29471" y="3657600"/>
            <a:ext cx="2522144" cy="2468880"/>
          </a:xfrm>
          <a:prstGeom prst="roundRect">
            <a:avLst>
              <a:gd name="adj" fmla="val 2963"/>
            </a:avLst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20911" y="3767328"/>
            <a:ext cx="233926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39199" y="4941418"/>
            <a:ext cx="2302688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off attributes depending on a non-key attribute, not the key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Anomaly Gone — At No Cost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accepts new, unordered product P04 — insertion anomaly gone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O101 leaves Customer row C002 intact — deletion anomaly gone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Widget's price lives in exactly one row of Product — modification anomaly gone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61188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⋈ Order ⋈ OrderLine ⋈ Product  reconstructs the original flattened 1NF table exactly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 attribute (custNo, orderNo, productNo) is the primary key of the relation on the “one” side of the join — which is exactly why this decomposition is lossless.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Enrollment: Confirming the Pattern Generalizes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Enrollment (studentNo, courseNo, studentName, courseName, instructorNo, instructorOffice, grade) — 1NF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19072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463040"/>
                <a:gridCol w="1371600"/>
                <a:gridCol w="1371600"/>
                <a:gridCol w="1645920"/>
                <a:gridCol w="103327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instructorOffice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Khan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CS305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Khan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108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Sara Malik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31272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FDs: studentNo → studentName;  courseNo → courseName, instructorNo;  instructorNo → instructorOffice;  {studentNo, courseNo} → grade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1091153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 check vs {studentNo, courseNo}: studentName partial (needs studentNo only); courseName &amp; instructorNo partial (need courseNo only); instructorOffice reachable from courseNo alone — partial; only grade needs the full key. VIOLATES 2NF.</a:t>
            </a:r>
            <a:endParaRPr lang="en-US" sz="11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check on new Course(courseNo, courseName, instructorNo, instructorOffice): instructorOffice depends on instructorNo, itself non-key — transitive. VIOLATES 3NF.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5486400"/>
            <a:ext cx="10911535" cy="731520"/>
          </a:xfrm>
          <a:prstGeom prst="roundRect">
            <a:avLst>
              <a:gd name="adj" fmla="val 10000"/>
            </a:avLst>
          </a:prstGeom>
          <a:solidFill>
            <a:srgbClr val="1F242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5669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Student(studentNo,studentName)  Instructor(instructorNo,instructorOffice)  Course(courseNo,courseName,instructorNo)  Enrollment(studentNo,courseNo,grade)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Any Relation for Normal Forms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975360"/>
          </a:xfrm>
          <a:prstGeom prst="roundRect">
            <a:avLst>
              <a:gd name="adj" fmla="val 7500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27632"/>
            <a:ext cx="104543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every attribute value atomic?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03146"/>
            <a:ext cx="10454335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repeating groups, no multi-valued cells. No → not even 1NF; flatten first.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95848" y="252984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758440"/>
            <a:ext cx="10911535" cy="975360"/>
          </a:xfrm>
          <a:prstGeom prst="roundRect">
            <a:avLst>
              <a:gd name="adj" fmla="val 7500"/>
            </a:avLst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831592"/>
            <a:ext cx="104543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Is the key composite? Does every non-key need the WHOLE key?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207106"/>
            <a:ext cx="10454335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Single-attribute key → automatically 2NF. Composite → check each attribute against each proper subset.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5848" y="373380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3962400"/>
            <a:ext cx="10911535" cy="975360"/>
          </a:xfrm>
          <a:prstGeom prst="roundRect">
            <a:avLst>
              <a:gd name="adj" fmla="val 7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035552"/>
            <a:ext cx="104543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Does every non-key attribute depend ONLY on the key?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411066"/>
            <a:ext cx="10454335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(key) → Y (non-key) → Z (non-key), Z is transitively dependent → violates 3NF.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2669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5577840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vs. transitive — the most common exam mix-up: partial is about a composite key (some attribute depends on only part of it). Transitive can happen even with a single-attribute key — the culprit is a non-key attribute standing in the way. If the key is single-attribute, only check for transitive dependency.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1NF: every attribute value is atomic — fixed by flattening, which often forces the key to become composite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7614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2NF: every non-key attribute depends on the WHOLE composite key, not part of it — relevant only for composite keys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5204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4472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3NF: every non-key attribute depends DIRECTLY on the key, never transitively through another non-key attribute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2062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1330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Order example went UNF → 1NF → 2NF → 3NF, ending at Customer, Product, Order, OrderLine — zero redundancy, verified lossless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48920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8188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any relation: atomicity, then partial dependency (composite keys only), then transitive dependency — in that order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5577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55046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 eliminates most redundancy, but not all — Lecture 20 introduces BCNF, a stricter test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2026-09-29T15:34:04Z</dcterms:created>
  <dcterms:modified xsi:type="dcterms:W3CDTF">2026-09-29T15:34:04Z</dcterms:modified>
</cp:coreProperties>
</file>
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18"/>
    <p:sldId id="259" r:id="rId5"/>
    <p:sldId id="260" r:id="rId6"/>
    <p:sldId id="268" r:id="rId19"/>
    <p:sldId id="261" r:id="rId7"/>
    <p:sldId id="269" r:id="rId20"/>
    <p:sldId id="262" r:id="rId8"/>
    <p:sldId id="270" r:id="rId21"/>
    <p:sldId id="271" r:id="rId22"/>
    <p:sldId id="263" r:id="rId9"/>
    <p:sldId id="272" r:id="rId23"/>
    <p:sldId id="264" r:id="rId10"/>
    <p:sldId id="273" r:id="rId24"/>
    <p:sldId id="274" r:id="rId25"/>
    <p:sldId id="275" r:id="rId26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10.xml"/><Relationship Id="rId9" Type="http://schemas.openxmlformats.org/officeDocument/2006/relationships/slide" Target="slides/slide13.xml"/><Relationship Id="rId10" Type="http://schemas.openxmlformats.org/officeDocument/2006/relationships/slide" Target="slides/slide15.xml"/><Relationship Id="rId11" Type="http://schemas.openxmlformats.org/officeDocument/2006/relationships/slide" Target="slides/slide19.xml"/><Relationship Id="rId12" Type="http://schemas.openxmlformats.org/officeDocument/2006/relationships/slide" Target="slides/slide2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7.xml"/><Relationship Id="rId20" Type="http://schemas.openxmlformats.org/officeDocument/2006/relationships/slide" Target="slides/slide9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4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Normalization: Functional Dependencies and BCNF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proof system for FDs, and the normal form that catches what 3NF misses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66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57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LECTURE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Axioms to the Strictest Normal 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3677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Armstrong's Axioms — reflexivity, augmentation, transitivity + derived rules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295144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closure of a functional dependency set, F⁺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953512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closure, X⁺ — the algorithm, and how it finds candidate keys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008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611880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Boyce-Codd Normal Form (BCNF) and how it differs from 3NF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270248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for BCNF using attribute closure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4008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2861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3NF-but-not-BCNF relation, and BCNF decomposition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FOUNDATION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Armstrong's Axioms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(only ever derive FDs that genuinely hold) and 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(repeated application derives EVERY implied FD). Working example — StudentAdvisor(StudentNo, StudentName, AdvisorNo, AdvisorName, DeptNo, DeptName):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1153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615391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Reflexivity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 ⊆ X, then X → Y (trivial)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{StudentNo,StudentName} → StudentNo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Augmentation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X → Y, then XZ → YZ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StudentNo→StudentName gives {StudentNo,DeptNo}→{StudentName,DeptNo}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X→Y and Y→Z, then X→Z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StudentNo→AdvisorNo, AdvisorNo→AdvisorName ⇒ StudentNo→AdvisorName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41148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three are the formal foundation everything else in this lecture builds on.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26280"/>
          <a:ext cx="10911535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52551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Derived Rule (from the 3 axioms)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Union (additivity)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X→Y and X→Z, then X→YZ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Decomposition (projectivity)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X→YZ, then X→Y and X→Z separately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Pseudotransitivity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X→Y and WY→Z, then WX→Z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FOUNDATION · WORKED PROOF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Deriving an FD with Armstrong’s Axioms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10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56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50000"/>
            <a:ext cx="10399471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 = {StudentNo → AdvisorNo, AdvisorNo → AdvisorName}, prove StudentNo → AdvisorName.</a:t>
            </a:r>
            <a:endParaRPr lang="en-US" sz="1300" dirty="0"/>
          </a:p>
        </p:txBody>
      </p:sp>
      <p:sp>
        <p:nvSpPr>
          <p:cNvPr id="7" name="Shape 6"/>
          <p:cNvSpPr/>
          <p:nvPr/>
        </p:nvSpPr>
        <p:spPr>
          <a:xfrm>
            <a:off x="640080" y="5100000"/>
            <a:ext cx="10911535" cy="1150000"/>
          </a:xfrm>
          <a:prstGeom prst="roundRect">
            <a:avLst>
              <a:gd name="adj" fmla="val 2456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 txBox="1"/>
          <p:nvPr/>
        </p:nvSpPr>
        <p:spPr>
          <a:xfrm>
            <a:off x="896112" y="519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9" name="Text 8"/>
          <p:cNvSpPr txBox="1"/>
          <p:nvPr/>
        </p:nvSpPr>
        <p:spPr>
          <a:xfrm>
            <a:off x="896112" y="5480000"/>
            <a:ext cx="10399471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 follows from earlier lines by one axiom. Attribute closure, on the next slides, reaches the same conclusions faster.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40080" y="2750000"/>
          <a:ext cx="10911535" cy="21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00000"/>
                <a:gridCol w="5600000"/>
                <a:gridCol w="4111535"/>
              </a:tblGrid>
              <a:tr h="4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Statement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Justification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StudentNo → AdvisorNo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Given (in F)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AdvisorNo → AdvisorName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Given (in F)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StudentNo → AdvisorName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Transitivity, steps 1 and 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StudentNo, DeptNo → AdvisorName, DeptNo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Augmentation of step 3 with DeptNo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TOOL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of FDs (F⁺) and Attribute Closure (X⁺)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F⁺, the closure of F,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every FD derivable from F by repeatedly applying Armstrong's Axioms — usually far too large to enumerate directly.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911535" cy="150000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96112" y="224942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00000"/>
            <a:ext cx="10399471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closure X⁺ (under F) is the set of ALL attributes functionally determined by X — every attribute A such that X→A is in F⁺. This answers the one question actually needed over and over: “given X, what does it determine?”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00000"/>
            <a:ext cx="27432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950000"/>
            <a:ext cx="10911535" cy="1900000"/>
          </a:xfrm>
          <a:prstGeom prst="roundRect">
            <a:avLst>
              <a:gd name="adj" fmla="val 4706"/>
            </a:avLst>
          </a:prstGeom>
          <a:solidFill>
            <a:srgbClr val="1F2429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14400" y="4050000"/>
            <a:ext cx="10362895" cy="1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Result := X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    for each FD (LHS → RHS) in F: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        if LHS ⊆ Result: Result := Result ∪ RHS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until Result stops changing  →  return Result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950000"/>
            <a:ext cx="10911535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keys: K⁺ = all attributes means K is a superkey; minimal such K is a candidate key.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{StudentNo}⁺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0911535" cy="754380"/>
          </a:xfrm>
          <a:prstGeom prst="roundRect">
            <a:avLst>
              <a:gd name="adj" fmla="val 9697"/>
            </a:avLst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1581912"/>
            <a:ext cx="10454335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Result = {StudentNo}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95848" y="2263140"/>
            <a:ext cx="0" cy="18288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2446020"/>
            <a:ext cx="10911535" cy="754380"/>
          </a:xfrm>
          <a:prstGeom prst="roundRect">
            <a:avLst>
              <a:gd name="adj" fmla="val 9697"/>
            </a:avLst>
          </a:prstGeom>
          <a:solidFill>
            <a:srgbClr val="8B7FD9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68680" y="2519172"/>
            <a:ext cx="10454335" cy="31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StudentNo→StudentName, StudentNo→AdvisorNo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93035"/>
            <a:ext cx="1045433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= {StudentNo, StudentName, AdvisorNo}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95848" y="3200400"/>
            <a:ext cx="0" cy="18288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0080" y="3383280"/>
            <a:ext cx="10911535" cy="754380"/>
          </a:xfrm>
          <a:prstGeom prst="roundRect">
            <a:avLst>
              <a:gd name="adj" fmla="val 9697"/>
            </a:avLst>
          </a:prstGeom>
          <a:solidFill>
            <a:srgbClr val="E8A33D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68680" y="3456432"/>
            <a:ext cx="10454335" cy="31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AdvisorNo→AdvisorName, AdvisorNo→DeptNo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730295"/>
            <a:ext cx="1045433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AdvisorNo now ⊆ Result (just added)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95848" y="4137660"/>
            <a:ext cx="0" cy="18288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0080" y="4320540"/>
            <a:ext cx="10911535" cy="754380"/>
          </a:xfrm>
          <a:prstGeom prst="roundRect">
            <a:avLst>
              <a:gd name="adj" fmla="val 9697"/>
            </a:avLst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68680" y="4393692"/>
            <a:ext cx="10454335" cy="31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DeptNo→DeptName — done, no FD left to apply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667555"/>
            <a:ext cx="1045433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{StudentNo}⁺ = ALL 6 attributes of StudentAdvisor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5150000"/>
            <a:ext cx="10911535" cy="1200000"/>
          </a:xfrm>
          <a:prstGeom prst="roundRect">
            <a:avLst>
              <a:gd name="adj" fmla="val 6364"/>
            </a:avLst>
          </a:prstGeom>
          <a:solidFill>
            <a:srgbClr val="E9F9F3"/>
          </a:solidFill>
          <a:ln w="12700">
            <a:solidFill>
              <a:srgbClr val="1FAE8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523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5520000"/>
            <a:ext cx="10399471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{StudentNo}⁺ is all of StudentAdvisor, so {StudentNo} is a candidate key. {AdvisorNo}⁺ misses StudentNo: not a superkey.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Candidate Keys with Attribute Closure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10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56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50000"/>
            <a:ext cx="10399471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is a superkey iff K⁺ = all attributes. K is a candidate key if it is a superkey and no proper subset is.</a:t>
            </a:r>
            <a:endParaRPr lang="en-US" sz="1300" dirty="0"/>
          </a:p>
        </p:txBody>
      </p:sp>
      <p:sp>
        <p:nvSpPr>
          <p:cNvPr id="7" name="Shape 6"/>
          <p:cNvSpPr/>
          <p:nvPr/>
        </p:nvSpPr>
        <p:spPr>
          <a:xfrm>
            <a:off x="640080" y="5400000"/>
            <a:ext cx="10911535" cy="900000"/>
          </a:xfrm>
          <a:prstGeom prst="roundRect">
            <a:avLst>
              <a:gd name="adj" fmla="val 2456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 txBox="1"/>
          <p:nvPr/>
        </p:nvSpPr>
        <p:spPr>
          <a:xfrm>
            <a:off x="896112" y="549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100" dirty="0"/>
          </a:p>
        </p:txBody>
      </p:sp>
      <p:sp>
        <p:nvSpPr>
          <p:cNvPr id="9" name="Text 8"/>
          <p:cNvSpPr txBox="1"/>
          <p:nvPr/>
        </p:nvSpPr>
        <p:spPr>
          <a:xfrm>
            <a:off x="896112" y="5780000"/>
            <a:ext cx="10399471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every single attribute: only {StudentNo} reaches all six, so it is the only candidate key.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40080" y="2750000"/>
          <a:ext cx="10911535" cy="24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00000"/>
                <a:gridCol w="4900000"/>
                <a:gridCol w="2300000"/>
                <a:gridCol w="1411535"/>
              </a:tblGrid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Attribute set 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Closure X⁺ (steps)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{StudentNo}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add StudentName, AdvisorNo, then AdvisorName, DeptNo, then DeptName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all 6 attributes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Candidate key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{AdvisorNo}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add AdvisorName, DeptNo, then DeptName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misses StudentNo, StudentName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Not a superkey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{StudentName}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no FD has StudentName on the left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StudentName only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Not a superkey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STRICTEST TEST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Boyce-Codd Normal Form (BCNF)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777240"/>
          </a:xfrm>
          <a:prstGeom prst="roundRect">
            <a:avLst>
              <a:gd name="adj" fmla="val 8235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60934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920240"/>
            <a:ext cx="1039947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 R is in BCNF if, for EVERY non-trivial FD X→Y that holds in R, X is a superkey of R — with no exception.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1153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029200"/>
                <a:gridCol w="39593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3NF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BCNF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clause?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if X isn't a superkey but every attribute of Y is prime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X must always be a superkey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BCNF relation is automatically 3NF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reverse is NOT guaranteed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41605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directly against 3NF's definition (Lecture 19): BCNF removes 3NF's prime-attribute exception entirely — exactly the gap the next section makes concrete.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507492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1F2429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914400" y="52578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for each FD (X → Y) in F (or a minimal cover):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    compute X+; if X+ ≠ all attributes of R → X not a superkey → VIOLATES BCNF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 TEST · LECTURE 19 SCHEMA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BCNF Test to the 3NF Schema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10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56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50000"/>
            <a:ext cx="10399471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FD X → Y: compute X⁺. If X⁺ is not all of R, X is not a superkey, and the FD violates BCNF.</a:t>
            </a:r>
            <a:endParaRPr lang="en-US" sz="1300" dirty="0"/>
          </a:p>
        </p:txBody>
      </p:sp>
      <p:sp>
        <p:nvSpPr>
          <p:cNvPr id="7" name="Shape 6"/>
          <p:cNvSpPr/>
          <p:nvPr/>
        </p:nvSpPr>
        <p:spPr>
          <a:xfrm>
            <a:off x="640080" y="5000000"/>
            <a:ext cx="10911535" cy="1150000"/>
          </a:xfrm>
          <a:prstGeom prst="roundRect">
            <a:avLst>
              <a:gd name="adj" fmla="val 2456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 txBox="1"/>
          <p:nvPr/>
        </p:nvSpPr>
        <p:spPr>
          <a:xfrm>
            <a:off x="896112" y="509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9" name="Text 8"/>
          <p:cNvSpPr txBox="1"/>
          <p:nvPr/>
        </p:nvSpPr>
        <p:spPr>
          <a:xfrm>
            <a:off x="896112" y="5380000"/>
            <a:ext cx="10399471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determinant is a superkey, so the Lecture 19 schema is already in BCNF. No decomposition is needed.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40080" y="2750000"/>
          <a:ext cx="10911535" cy="2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0000"/>
                <a:gridCol w="3700000"/>
                <a:gridCol w="2300000"/>
                <a:gridCol w="1500000"/>
                <a:gridCol w="1511535"/>
              </a:tblGrid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Relation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FD (determinant X)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X⁺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X superkey?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BCNF?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custNo → custName, custAddress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all 3 attributes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Order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orderNo → orderDate, custNo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all 3 attributes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productNo → productName, unitPrice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all 3 attributes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OrderLine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{orderNo, productNo} → qty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all 3 attributes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COUNTEREXAMPLE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Enrollment(StudentNo, CourseNo, InstructorNo)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rule: each instructor teaches only one course (in a given term).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3639312"/>
                <a:gridCol w="36393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CS201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CS201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CS305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56616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1F2429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14400" y="374904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F = { {StudentNo, CourseNo} → InstructorNo,   InstructorNo → CourseNo }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29768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{StudentNo,CourseNo}+: apply FD1 → adds InstructorNo → all 3 attrs. Superkey, minimal → Candidate key #1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{StudentNo,InstructorNo}+: apply FD2 (InstructorNo→CourseNo) → adds CourseNo → all 3 attrs. Superkey, minimal → Candidate key #2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candidate keys — between them, StudentNo, CourseNo, and InstructorNo are ALL prime attributes.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KEYS · ENROLLMENT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Keys of Enrollment, Step by Step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10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56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50000"/>
            <a:ext cx="10399471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X⁺ for each candidate set. FDs: {StudentNo, CourseNo} → InstructorNo and InstructorNo → CourseNo.</a:t>
            </a:r>
            <a:endParaRPr lang="en-US" sz="1300" dirty="0"/>
          </a:p>
        </p:txBody>
      </p:sp>
      <p:sp>
        <p:nvSpPr>
          <p:cNvPr id="7" name="Shape 6"/>
          <p:cNvSpPr/>
          <p:nvPr/>
        </p:nvSpPr>
        <p:spPr>
          <a:xfrm>
            <a:off x="640080" y="5150000"/>
            <a:ext cx="10911535" cy="1100000"/>
          </a:xfrm>
          <a:prstGeom prst="roundRect">
            <a:avLst>
              <a:gd name="adj" fmla="val 2456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 txBox="1"/>
          <p:nvPr/>
        </p:nvSpPr>
        <p:spPr>
          <a:xfrm>
            <a:off x="896112" y="524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100" dirty="0"/>
          </a:p>
        </p:txBody>
      </p:sp>
      <p:sp>
        <p:nvSpPr>
          <p:cNvPr id="9" name="Text 8"/>
          <p:cNvSpPr txBox="1"/>
          <p:nvPr/>
        </p:nvSpPr>
        <p:spPr>
          <a:xfrm>
            <a:off x="896112" y="5530000"/>
            <a:ext cx="10399471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candidate keys are minimal, so StudentNo, CourseNo, and InstructorNo are all prime attributes.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40080" y="2750000"/>
          <a:ext cx="10911535" cy="2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00000"/>
                <a:gridCol w="3900000"/>
                <a:gridCol w="2200000"/>
                <a:gridCol w="1511535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Attribute set 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Closure steps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{StudentNo, CourseNo}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apply FD1: add InstructorNo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all 3 attributes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Candidate key #1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{StudentNo, InstructorNo}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apply FD2: add CourseNo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all 3 attributes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Candidate key #2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{CourseNo}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no FD has CourseNo alone on the left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CourseNo only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Not a superkey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BCNF MATTERS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Anomalies That Survive 3NF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10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56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50000"/>
            <a:ext cx="10399471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Enrollment(StudentNo, CourseNo, InstructorNo) is in 3NF but not BCNF. The redundancy shows up in the rows:</a:t>
            </a:r>
            <a:endParaRPr lang="en-US" sz="1300" dirty="0"/>
          </a:p>
        </p:txBody>
      </p:sp>
      <p:sp>
        <p:nvSpPr>
          <p:cNvPr id="7" name="Shape 6"/>
          <p:cNvSpPr/>
          <p:nvPr/>
        </p:nvSpPr>
        <p:spPr>
          <a:xfrm>
            <a:off x="640080" y="5240000"/>
            <a:ext cx="10911535" cy="1060000"/>
          </a:xfrm>
          <a:prstGeom prst="roundRect">
            <a:avLst>
              <a:gd name="adj" fmla="val 2456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 txBox="1"/>
          <p:nvPr/>
        </p:nvSpPr>
        <p:spPr>
          <a:xfrm>
            <a:off x="896112" y="533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1100" dirty="0"/>
          </a:p>
        </p:txBody>
      </p:sp>
      <p:sp>
        <p:nvSpPr>
          <p:cNvPr id="9" name="Text 8"/>
          <p:cNvSpPr txBox="1"/>
          <p:nvPr/>
        </p:nvSpPr>
        <p:spPr>
          <a:xfrm>
            <a:off x="896112" y="5620000"/>
            <a:ext cx="10399471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anomaly comes from InstructorNo → CourseNo, whose determinant is not a superkey. BCNF forbids that.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40080" y="2750000"/>
          <a:ext cx="10911535" cy="22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0000"/>
                <a:gridCol w="4000000"/>
                <a:gridCol w="4911535"/>
              </a:tblGrid>
              <a:tr h="5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Anomaly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Rows involved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Consequence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Modification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I1 teaches CS201 in rows for S1 and S2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Move I1 to CS410 in one row only: I1 appears to teach two courses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Insertion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I3 teaches CS500 but has no student yet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I3’s course cannot be recorded until someone enrolls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Deletion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S3 is the only row for I2 and CS305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Deleting S3’s enrollment erases that I2 teaches CS305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COUNTEREXAMPLE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 Passes, BCNF Fails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Is Enrollment in 3NF?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01952"/>
          <a:ext cx="5318608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checked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{StudentNo, CourseNo} → InstructorNo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Determinant IS a candidate key 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InstructorNo → CourseNo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Determinant not a superkey, but CourseNo is prime — exception applies 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33008" y="155448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Is Enrollment in BCNF?</a:t>
            </a:r>
            <a:endParaRPr lang="en-US" sz="12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901952"/>
          <a:ext cx="5318608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checked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{StudentNo, CourseNo} → InstructorNo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Determinant IS a candidate key 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InstructorNo → CourseNo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Determinant NOT a superkey — VIOLATION, no exception exists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40080" y="4050000"/>
            <a:ext cx="10911535" cy="2200000"/>
          </a:xfrm>
          <a:prstGeom prst="roundRect">
            <a:avLst>
              <a:gd name="adj" fmla="val 2807"/>
            </a:avLst>
          </a:prstGeom>
          <a:solidFill>
            <a:srgbClr val="14181C"/>
          </a:solidFill>
          <a:ln w="12700">
            <a:solidFill>
              <a:srgbClr val="14181C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914400" y="4150000"/>
            <a:ext cx="10362895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 is in 3NF, yet NOT in BCNF — and still carries real redundancy: I1 teaching CS201 repeats once per enrolled student.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4800000"/>
            <a:ext cx="10362895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— reassigning I1 to CS410 must update BOTH S1's and S2's rows together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— instructor I3 (assigned CS500) can't be recorded until a student enrolls with them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Deletion — S3 is I2's only enrollment; deleting it erases that I2 teaches CS305 at all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 TEST · ENROLLMENT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Each FD Against BCNF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10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56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50000"/>
            <a:ext cx="10399471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FD, is the determinant a superkey? Candidate keys: {StudentNo, CourseNo} and {StudentNo, InstructorNo}.</a:t>
            </a:r>
            <a:endParaRPr lang="en-US" sz="1300" dirty="0"/>
          </a:p>
        </p:txBody>
      </p:sp>
      <p:sp>
        <p:nvSpPr>
          <p:cNvPr id="7" name="Shape 6"/>
          <p:cNvSpPr/>
          <p:nvPr/>
        </p:nvSpPr>
        <p:spPr>
          <a:xfrm>
            <a:off x="640080" y="4560000"/>
            <a:ext cx="10911535" cy="1150000"/>
          </a:xfrm>
          <a:prstGeom prst="roundRect">
            <a:avLst>
              <a:gd name="adj" fmla="val 2456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 txBox="1"/>
          <p:nvPr/>
        </p:nvSpPr>
        <p:spPr>
          <a:xfrm>
            <a:off x="896112" y="465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3NF MISSED IT</a:t>
            </a:r>
            <a:endParaRPr lang="en-US" sz="1100" dirty="0"/>
          </a:p>
        </p:txBody>
      </p:sp>
      <p:sp>
        <p:nvSpPr>
          <p:cNvPr id="9" name="Text 8"/>
          <p:cNvSpPr txBox="1"/>
          <p:nvPr/>
        </p:nvSpPr>
        <p:spPr>
          <a:xfrm>
            <a:off x="896112" y="4940000"/>
            <a:ext cx="10399471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CourseNo is a prime attribute (it lies in a candidate key), so 3NF’s exception applies. BCNF has no such exception.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000" dirty="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40080" y="2750000"/>
          <a:ext cx="10911535" cy="156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0"/>
                <a:gridCol w="2300000"/>
                <a:gridCol w="2600000"/>
                <a:gridCol w="1200000"/>
                <a:gridCol w="1211535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Determinant 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X⁺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X superkey?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{StudentNo, CourseNo} → InstructorNo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{StudentNo, CourseNo}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all 3 attributes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InstructorNo → CourseNo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{InstructorNo}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{InstructorNo, CourseNo}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VIOLATES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 Decomposition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1F2429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R₁ = X ∪ Y                (the violating FD becomes R₁'s own key)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R₂ = (R − Y) ∪ X          (everything else, keeping X to reconnect)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it to Enrollment using the violating FD InstructorNo → CourseNo (X={InstructorNo}, Y={CourseNo}):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Teaches (InstructorNo, CourseNo)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27832"/>
          <a:ext cx="5318608" cy="914400"/>
        </p:xfrm>
        <a:graphic>
          <a:graphicData uri="http://schemas.openxmlformats.org/drawingml/2006/table">
            <a:tbl>
              <a:tblPr/>
              <a:tblGrid>
                <a:gridCol w="1819656"/>
                <a:gridCol w="181965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CS201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CS305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33008" y="288036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ourier New" pitchFamily="34" charset="-122"/>
                <a:cs typeface="Courier New" pitchFamily="34" charset="-120"/>
              </a:rPr>
              <a:t>Enrolls (StudentNo, InstructorNo)</a:t>
            </a:r>
            <a:endParaRPr lang="en-US" sz="1250" dirty="0"/>
          </a:p>
        </p:txBody>
      </p:sp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3227832"/>
          <a:ext cx="5318608" cy="914400"/>
        </p:xfrm>
        <a:graphic>
          <a:graphicData uri="http://schemas.openxmlformats.org/drawingml/2006/table">
            <a:tbl>
              <a:tblPr/>
              <a:tblGrid>
                <a:gridCol w="1819656"/>
                <a:gridCol w="1819656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950000"/>
            <a:ext cx="10911535" cy="1150000"/>
          </a:xfrm>
          <a:prstGeom prst="roundRect">
            <a:avLst>
              <a:gd name="adj" fmla="val 6667"/>
            </a:avLst>
          </a:prstGeom>
          <a:solidFill>
            <a:srgbClr val="E9F9F3"/>
          </a:solidFill>
          <a:ln w="12700">
            <a:solidFill>
              <a:srgbClr val="1FAE8C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 txBox="1"/>
          <p:nvPr/>
        </p:nvSpPr>
        <p:spPr>
          <a:xfrm>
            <a:off x="896112" y="505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" y="5350000"/>
            <a:ext cx="10399471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now in BCNF: Teaches's only determinant (InstructorNo) IS its own key. Enrolls has no non-trivial FD left to violate anything. I1's course now lives in exactly one row of Teaches — all three anomalies are gone.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 DECOMPOSITION · PROCEDURE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Decomposition Procedure, Step by Step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10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56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50000"/>
            <a:ext cx="10399471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split follows one violating FD. Lecture 21 gives the full algorithm for relations with several violations.</a:t>
            </a:r>
            <a:endParaRPr lang="en-US" sz="1300" dirty="0"/>
          </a:p>
        </p:txBody>
      </p:sp>
      <p:sp>
        <p:nvSpPr>
          <p:cNvPr id="7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000" dirty="0"/>
          </a:p>
        </p:txBody>
      </p:sp>
      <p:graphicFrame>
        <p:nvGraphicFramePr>
          <p:cNvPr id="8" name="Table 11"/>
          <p:cNvGraphicFramePr>
            <a:graphicFrameLocks noGrp="1"/>
          </p:cNvGraphicFramePr>
          <p:nvPr/>
        </p:nvGraphicFramePr>
        <p:xfrm>
          <a:off x="640080" y="2750000"/>
          <a:ext cx="10911535" cy="312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00000"/>
                <a:gridCol w="5300000"/>
                <a:gridCol w="4511535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 for Enrollment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Find a non-trivial FD X → Y that violates BCNF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InstructorNo → CourseNo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Form R1 = X ∪ 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R1 = Teaches(InstructorNo, CourseNo)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Form R2 = (R − Y) ∪ 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R2 = Enrolls(StudentNo, InstructorNo)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Check the join: shared attributes must be a key of R1 or R2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{InstructorNo} is the key of Teaches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Repeat on R1 and R2 until every relation is in BCNF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Both are in BCNF: stop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· LOSSLESS RULE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Lossless-Join Test by Rule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10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56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50000"/>
            <a:ext cx="10399471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and R2 join losslessly if their shared attributes contain a key of R1 or of R2.</a:t>
            </a:r>
            <a:endParaRPr lang="en-US" sz="1300" dirty="0"/>
          </a:p>
        </p:txBody>
      </p:sp>
      <p:sp>
        <p:nvSpPr>
          <p:cNvPr id="7" name="Shape 6"/>
          <p:cNvSpPr/>
          <p:nvPr/>
        </p:nvSpPr>
        <p:spPr>
          <a:xfrm>
            <a:off x="640080" y="5080000"/>
            <a:ext cx="10911535" cy="1150000"/>
          </a:xfrm>
          <a:prstGeom prst="roundRect">
            <a:avLst>
              <a:gd name="adj" fmla="val 2456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 txBox="1"/>
          <p:nvPr/>
        </p:nvSpPr>
        <p:spPr>
          <a:xfrm>
            <a:off x="896112" y="517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9" name="Text 8"/>
          <p:cNvSpPr txBox="1"/>
          <p:nvPr/>
        </p:nvSpPr>
        <p:spPr>
          <a:xfrm>
            <a:off x="896112" y="5460000"/>
            <a:ext cx="10399471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side needs the key. Teaches supplies it here, so the BCNF split is lossless.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000" dirty="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40080" y="2750000"/>
          <a:ext cx="10911535" cy="2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000"/>
                <a:gridCol w="3211535"/>
                <a:gridCol w="2400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Shared attributes R1 ∩ R2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{InstructorNo}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Is {InstructorNo} a key of Teaches(InstructorNo, CourseNo)?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yes (its primary key)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Lossless ✓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Is {InstructorNo} a key of Enrolls(StudentNo, InstructorNo)?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Not needed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· HAND-TRACE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Rejoining Teaches and Enrolls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10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56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50000"/>
            <a:ext cx="10399471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 ⋈ Enrolls on InstructorNo, one Enrolls row at a time:</a:t>
            </a:r>
            <a:endParaRPr lang="en-US" sz="1300" dirty="0"/>
          </a:p>
        </p:txBody>
      </p:sp>
      <p:sp>
        <p:nvSpPr>
          <p:cNvPr id="7" name="Shape 6"/>
          <p:cNvSpPr/>
          <p:nvPr/>
        </p:nvSpPr>
        <p:spPr>
          <a:xfrm>
            <a:off x="640080" y="4840000"/>
            <a:ext cx="10911535" cy="1150000"/>
          </a:xfrm>
          <a:prstGeom prst="roundRect">
            <a:avLst>
              <a:gd name="adj" fmla="val 2456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 txBox="1"/>
          <p:nvPr/>
        </p:nvSpPr>
        <p:spPr>
          <a:xfrm>
            <a:off x="896112" y="493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9" name="Text 8"/>
          <p:cNvSpPr txBox="1"/>
          <p:nvPr/>
        </p:nvSpPr>
        <p:spPr>
          <a:xfrm>
            <a:off x="896112" y="5220000"/>
            <a:ext cx="10399471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 returns exactly the three original Enrollment rows: no rows lost, no spurious rows gained.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000" dirty="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40080" y="2750000"/>
          <a:ext cx="10911535" cy="18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00000"/>
                <a:gridCol w="3600000"/>
                <a:gridCol w="3000000"/>
                <a:gridCol w="2011535"/>
              </a:tblGrid>
              <a:tr h="4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Enrolls row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Teaches row (same InstructorNo)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Joined row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 original?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(S1, I1)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(I1, CS201)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(S1, CS201, I1)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yes, row 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(S2, I1)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(I1, CS201)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(S2, CS201, I1)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yes, row 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(S3, I2)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(I2, CS305)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(S3, CS305, I2)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9"/>
                          </a:solidFill>
                          <a:latin typeface="Calibri"/>
                        </a:rPr>
                        <a:t>yes, row 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— But Not Dependency-Preserving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25000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60934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920240"/>
            <a:ext cx="10399471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decomposition into R₁ and R₂ is lossless whenever the shared attributes (R₁∩R₂) form a key of at least one relation: (R₁∩R₂)→R₁ or (R₁∩R₂)→R₂ holds in F⁺.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500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 ∩ Enrolls = {InstructorNo}.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InstructorNo is Teaches's declared PK, so InstructorNo → Teaches holds trivially. 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Lossless: Teaches ⋈ Enrolls (on InstructorNo) reconstructs Enrollment exactly.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800000"/>
            <a:ext cx="10911535" cy="2400000"/>
          </a:xfrm>
          <a:prstGeom prst="roundRect">
            <a:avLst>
              <a:gd name="adj" fmla="val 2456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96112" y="392000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230000"/>
            <a:ext cx="10399471" cy="19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ORIGINAL FD {StudentNo,CourseNo}→InstructorNo against the decomposed schema: StudentNo lives only in Enrolls, CourseNo only in Teaches — no single relation has both attributes, so this dependency cannot be verified without joining the tables back together. This is not a mistake — BCNF decomposition always guarantees lossless-join, but does NOT always guarantee dependency-preservation. 3NF (via synthesis, Lecture 21) guarantees both simultaneously — a genuine trade-off.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07568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Armstrong's Axioms — reflexivity, augmentation, transitivity — are sound and complete; union, decomposition, pseudotransitivity are convenient derived rules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529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closure (X⁺) finds every attribute X determines, and is the mechanical way to find candidate keys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63016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 requires every non-trivial FD's determinant to be a superkey — no exception. 3NF tolerates one: a non-superkey determinant is OK if every attribute it determines is prime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4074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Enrollment(StudentNo, CourseNo, InstructorNo) with InstructorNo→CourseNo is 3NF but NOT BCNF — and still carries real redundancy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25780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8464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 decomposition splits along a violating FD (R₁=XY, R₂=(R−Y)∪X) and is always lossless-join, but can sacrifice dependency-preservation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cuinotes.com</dc:creator>
  <cp:lastModifiedBy>cuinotes.com</cp:lastModifiedBy>
  <cp:revision>1</cp:revision>
  <dcterms:created xsi:type="dcterms:W3CDTF">2026-09-29T15:35:32Z</dcterms:created>
  <dcterms:modified xsi:type="dcterms:W3CDTF">2026-09-29T15:35:32Z</dcterms:modified>
</cp:coreProperties>
</file>
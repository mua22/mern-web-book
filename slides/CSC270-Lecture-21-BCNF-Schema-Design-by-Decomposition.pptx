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</p:sldIdLst>
  <p:notesMasterIdLst>
    <p:notesMasterId r:id="rId18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notesMaster" Target="notesMasters/notesMaster1.xml"/><Relationship Id="rId19" Type="http://schemas.openxmlformats.org/officeDocument/2006/relationships/presProps" Target="presProps.xml"/><Relationship Id="rId20" Type="http://schemas.openxmlformats.org/officeDocument/2006/relationships/viewProps" Target="viewProps.xml"/><Relationship Id="rId21" Type="http://schemas.openxmlformats.org/officeDocument/2006/relationships/theme" Target="theme/theme1.xml"/><Relationship Id="rId2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hyperlink" Target="https://cuinotes.com" TargetMode="Externa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hyperlink" Target="https://cuinotes.com" TargetMode="Externa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hyperlink" Target="https://cuinotes.com" TargetMode="Externa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hyperlink" Target="https://cuinotes.com" TargetMode="Externa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hyperlink" Target="https://cuinotes.com" TargetMode="Externa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hyperlink" Target="https://cuinotes.com" TargetMode="Externa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hyperlink" Target="https://cuinotes.com" TargetMode="Externa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hyperlink" Target="https://cuinotes.com" TargetMode="Externa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hyperlink" Target="https://cuinotes.com" TargetMode="Externa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hyperlink" Target="https://cuinotes.com" TargetMode="Externa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hyperlink" Target="https://cuinotes.com" TargetMode="Externa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hyperlink" Target="https://cuinotes.com" TargetMode="Externa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hyperlink" Target="https://cuinotes.com" TargetMode="Externa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hyperlink" Target="https://cuinotes.com" TargetMode="Externa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hyperlink" Target="https://cuinotes.com" TargetMode="Externa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hyperlink" Target="https://cuinotes.com" TargetMode="Externa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418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692640" y="-1188720"/>
            <a:ext cx="3840480" cy="3840480"/>
          </a:xfrm>
          <a:prstGeom prst="ellipse">
            <a:avLst/>
          </a:prstGeom>
          <a:solidFill>
            <a:srgbClr val="2FE6C4">
              <a:alpha val="10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10607040" y="4206240"/>
            <a:ext cx="2743200" cy="2743200"/>
          </a:xfrm>
          <a:prstGeom prst="ellipse">
            <a:avLst/>
          </a:prstGeom>
          <a:solidFill>
            <a:srgbClr val="8B7FD9">
              <a:alpha val="12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822960" y="2148840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spc="300" kern="0" dirty="0">
                <a:solidFill>
                  <a:srgbClr val="2FE6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LECTURE 21</a:t>
            </a:r>
            <a:endParaRPr lang="en-US" sz="1500" dirty="0"/>
          </a:p>
        </p:txBody>
      </p:sp>
      <p:sp>
        <p:nvSpPr>
          <p:cNvPr id="5" name="Text 3"/>
          <p:cNvSpPr txBox="1"/>
          <p:nvPr/>
        </p:nvSpPr>
        <p:spPr>
          <a:xfrm>
            <a:off x="822960" y="2606040"/>
            <a:ext cx="987552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3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BCNF Schema Design by Decomposition</a:t>
            </a:r>
            <a:endParaRPr lang="en-US" sz="3800" dirty="0"/>
          </a:p>
        </p:txBody>
      </p:sp>
      <p:sp>
        <p:nvSpPr>
          <p:cNvPr id="6" name="Text 4"/>
          <p:cNvSpPr txBox="1"/>
          <p:nvPr/>
        </p:nvSpPr>
        <p:spPr>
          <a:xfrm>
            <a:off x="822960" y="4617720"/>
            <a:ext cx="8229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9AA3A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CSC270 · Database Systems</a:t>
            </a:r>
            <a:endParaRPr lang="en-US" sz="1800" dirty="0"/>
          </a:p>
        </p:txBody>
      </p:sp>
      <p:sp>
        <p:nvSpPr>
          <p:cNvPr id="7" name="Text 5"/>
          <p:cNvSpPr txBox="1"/>
          <p:nvPr/>
        </p:nvSpPr>
        <p:spPr>
          <a:xfrm>
            <a:off x="822960" y="502920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B74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COMSATS University Islamabad, Lahore Campus</a:t>
            </a:r>
            <a:endParaRPr lang="en-US" sz="1300" dirty="0"/>
          </a:p>
        </p:txBody>
      </p:sp>
      <p:sp>
        <p:nvSpPr>
          <p:cNvPr id="8" name="Text 6"/>
          <p:cNvSpPr txBox="1"/>
          <p:nvPr/>
        </p:nvSpPr>
        <p:spPr>
          <a:xfrm>
            <a:off x="9951415" y="6455664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u="sng" dirty="0">
                <a:solidFill>
                  <a:srgbClr val="8A939B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cuinotes.com</a:t>
            </a:r>
            <a:pPr algn="r" indent="0" marL="0">
              <a:buNone/>
            </a:pPr>
            <a:r>
              <a:rPr lang="en-US" sz="1000" dirty="0">
                <a:solidFill>
                  <a:srgbClr val="8A939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1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7F8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320040"/>
            <a:ext cx="7315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8B7F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AGENDA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594360"/>
            <a:ext cx="10881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24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We'll Cover</a:t>
            </a:r>
            <a:endParaRPr lang="en-US" sz="2600" dirty="0"/>
          </a:p>
        </p:txBody>
      </p:sp>
      <p:sp>
        <p:nvSpPr>
          <p:cNvPr id="4" name="Text 2"/>
          <p:cNvSpPr txBox="1"/>
          <p:nvPr/>
        </p:nvSpPr>
        <p:spPr>
          <a:xfrm>
            <a:off x="9951415" y="6455664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u="sng" dirty="0">
                <a:solidFill>
                  <a:srgbClr val="8A939B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cuinotes.com</a:t>
            </a:r>
            <a:pPr algn="r" indent="0" marL="0">
              <a:buNone/>
            </a:pPr>
            <a:r>
              <a:rPr lang="en-US" sz="1000" dirty="0">
                <a:solidFill>
                  <a:srgbClr val="8A939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2</a:t>
            </a:r>
            <a:endParaRPr lang="en-US" sz="1000" dirty="0"/>
          </a:p>
        </p:txBody>
      </p:sp>
      <p:sp>
        <p:nvSpPr>
          <p:cNvPr id="5" name="Text 3"/>
          <p:cNvSpPr txBox="1"/>
          <p:nvPr/>
        </p:nvSpPr>
        <p:spPr>
          <a:xfrm>
            <a:off x="822960" y="1554480"/>
            <a:ext cx="7863840" cy="4572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15000"/>
              </a:lnSpc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1F24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formal BCNF Decomposition Algorithm, as a repeatable loop</a:t>
            </a:r>
            <a:endParaRPr lang="en-US" sz="1600" dirty="0"/>
          </a:p>
          <a:p>
            <a:pPr marL="342900" indent="-342900">
              <a:lnSpc>
                <a:spcPct val="115000"/>
              </a:lnSpc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1F24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Picking which FD to split on when a relation has several violations</a:t>
            </a:r>
            <a:endParaRPr lang="en-US" sz="1600" dirty="0"/>
          </a:p>
          <a:p>
            <a:pPr marL="342900" indent="-342900">
              <a:lnSpc>
                <a:spcPct val="115000"/>
              </a:lnSpc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1F24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every split must be checked for the lossless-join property</a:t>
            </a:r>
            <a:endParaRPr lang="en-US" sz="1600" dirty="0"/>
          </a:p>
          <a:p>
            <a:pPr marL="342900" indent="-342900">
              <a:lnSpc>
                <a:spcPct val="115000"/>
              </a:lnSpc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1F24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complete, multi-step worked example, iterated to completion</a:t>
            </a:r>
            <a:endParaRPr lang="en-US" sz="1600" dirty="0"/>
          </a:p>
          <a:p>
            <a:pPr marL="342900" indent="-342900">
              <a:lnSpc>
                <a:spcPct val="115000"/>
              </a:lnSpc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1F24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Dependency preservation — and why BCNF can sacrifice it</a:t>
            </a:r>
            <a:endParaRPr lang="en-US" sz="1600" dirty="0"/>
          </a:p>
          <a:p>
            <a:pPr marL="342900" indent="-342900">
              <a:lnSpc>
                <a:spcPct val="115000"/>
              </a:lnSpc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1F24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BCNF vs. 3NF synthesis, side by side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9052560" y="1600200"/>
            <a:ext cx="2468880" cy="2468880"/>
          </a:xfrm>
          <a:prstGeom prst="roundRect">
            <a:avLst>
              <a:gd name="adj" fmla="val 5556"/>
            </a:avLst>
          </a:prstGeom>
          <a:solidFill>
            <a:srgbClr val="14181C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9052560" y="2057400"/>
            <a:ext cx="24688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2FE6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BCNF</a:t>
            </a:r>
            <a:endParaRPr lang="en-US" sz="2200" dirty="0"/>
          </a:p>
        </p:txBody>
      </p:sp>
      <p:sp>
        <p:nvSpPr>
          <p:cNvPr id="8" name="Text 6"/>
          <p:cNvSpPr txBox="1"/>
          <p:nvPr/>
        </p:nvSpPr>
        <p:spPr>
          <a:xfrm>
            <a:off x="9052560" y="2606040"/>
            <a:ext cx="24688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9AA3A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split → test →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dirty="0">
                <a:solidFill>
                  <a:srgbClr val="9AA3A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repeat</a:t>
            </a:r>
            <a:endParaRPr lang="en-US" sz="13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7F8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320040"/>
            <a:ext cx="7315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8B7F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RECAP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594360"/>
            <a:ext cx="10881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24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BCNF Requires</a:t>
            </a:r>
            <a:endParaRPr lang="en-US" sz="2600" dirty="0"/>
          </a:p>
        </p:txBody>
      </p:sp>
      <p:sp>
        <p:nvSpPr>
          <p:cNvPr id="4" name="Text 2"/>
          <p:cNvSpPr txBox="1"/>
          <p:nvPr/>
        </p:nvSpPr>
        <p:spPr>
          <a:xfrm>
            <a:off x="9951415" y="6455664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u="sng" dirty="0">
                <a:solidFill>
                  <a:srgbClr val="8A939B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cuinotes.com</a:t>
            </a:r>
            <a:pPr algn="r" indent="0" marL="0">
              <a:buNone/>
            </a:pPr>
            <a:r>
              <a:rPr lang="en-US" sz="1000" dirty="0">
                <a:solidFill>
                  <a:srgbClr val="8A939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3</a:t>
            </a:r>
            <a:endParaRPr lang="en-US" sz="10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1554480"/>
            <a:ext cx="6675120" cy="4572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15000"/>
              </a:lnSpc>
              <a:spcAft>
                <a:spcPts val="1000"/>
              </a:spcAft>
              <a:buSzPct val="100000"/>
              <a:buChar char="•"/>
            </a:pPr>
            <a:r>
              <a:rPr lang="en-US" sz="1550" dirty="0">
                <a:solidFill>
                  <a:srgbClr val="1F24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relation R is in Boyce-Codd Normal Form if, for every non-trivial FD X → Y that holds over R, X is a superkey of R</a:t>
            </a:r>
            <a:endParaRPr lang="en-US" sz="1550" dirty="0"/>
          </a:p>
          <a:p>
            <a:pPr marL="342900" indent="-342900">
              <a:lnSpc>
                <a:spcPct val="115000"/>
              </a:lnSpc>
              <a:spcAft>
                <a:spcPts val="1000"/>
              </a:spcAft>
              <a:buSzPct val="100000"/>
              <a:buChar char="•"/>
            </a:pPr>
            <a:r>
              <a:rPr lang="en-US" sz="1550" dirty="0">
                <a:solidFill>
                  <a:srgbClr val="1F24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determinant must be able to determine ALL of R's attributes — not just the ones on the right-hand side</a:t>
            </a:r>
            <a:endParaRPr lang="en-US" sz="1550" dirty="0"/>
          </a:p>
          <a:p>
            <a:pPr marL="342900" indent="-342900">
              <a:lnSpc>
                <a:spcPct val="115000"/>
              </a:lnSpc>
              <a:spcAft>
                <a:spcPts val="1000"/>
              </a:spcAft>
              <a:buSzPct val="100000"/>
              <a:buChar char="•"/>
            </a:pPr>
            <a:r>
              <a:rPr lang="en-US" sz="1550" dirty="0">
                <a:solidFill>
                  <a:srgbClr val="1F24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Test: compute X⁺ under R's full FD set; confirm X⁺ = all attributes of R</a:t>
            </a:r>
            <a:endParaRPr lang="en-US" sz="1550" dirty="0"/>
          </a:p>
          <a:p>
            <a:pPr marL="342900" indent="-342900">
              <a:lnSpc>
                <a:spcPct val="115000"/>
              </a:lnSpc>
              <a:spcAft>
                <a:spcPts val="1000"/>
              </a:spcAft>
              <a:buSzPct val="100000"/>
              <a:buChar char="•"/>
            </a:pPr>
            <a:r>
              <a:rPr lang="en-US" sz="1550" dirty="0">
                <a:solidFill>
                  <a:srgbClr val="1F24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If some FD's determinant fails the test, R violates BCNF — this lecture's algorithm fixes it</a:t>
            </a:r>
            <a:endParaRPr lang="en-US" sz="1550" dirty="0"/>
          </a:p>
        </p:txBody>
      </p:sp>
      <p:sp>
        <p:nvSpPr>
          <p:cNvPr id="6" name="Shape 4"/>
          <p:cNvSpPr/>
          <p:nvPr/>
        </p:nvSpPr>
        <p:spPr>
          <a:xfrm>
            <a:off x="7680960" y="1737360"/>
            <a:ext cx="3840480" cy="18288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9050">
            <a:solidFill>
              <a:srgbClr val="2FE6C4"/>
            </a:solidFill>
            <a:prstDash val="solid"/>
          </a:ln>
          <a:effectLst>
            <a:outerShdw sx="100000" sy="100000" kx="0" ky="0" algn="bl" rotWithShape="0" blurRad="63500" dist="25400" dir="5400000">
              <a:srgbClr val="000000">
                <a:alpha val="12000"/>
              </a:srgbClr>
            </a:outerShdw>
          </a:effectLst>
        </p:spPr>
      </p:sp>
      <p:sp>
        <p:nvSpPr>
          <p:cNvPr id="7" name="Text 5"/>
          <p:cNvSpPr txBox="1"/>
          <p:nvPr/>
        </p:nvSpPr>
        <p:spPr>
          <a:xfrm>
            <a:off x="7909560" y="1920240"/>
            <a:ext cx="347472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200" b="1" dirty="0">
                <a:solidFill>
                  <a:srgbClr val="8B7FD9"/>
                </a:solidFill>
              </a:rPr>
              <a:t>BCNF TEST</a:t>
            </a:r>
            <a:endParaRPr lang="en-US" sz="12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600" dirty="0">
                <a:solidFill>
                  <a:srgbClr val="1F242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X → Y over R</a:t>
            </a:r>
            <a:endParaRPr lang="en-US" sz="12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600" dirty="0">
                <a:solidFill>
                  <a:srgbClr val="1F242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X⁺ = all attrs of R ?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7680960" y="3794760"/>
            <a:ext cx="3840480" cy="1737360"/>
          </a:xfrm>
          <a:prstGeom prst="roundRect">
            <a:avLst>
              <a:gd name="adj" fmla="val 5263"/>
            </a:avLst>
          </a:prstGeom>
          <a:solidFill>
            <a:srgbClr val="14181C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7909560" y="3977640"/>
            <a:ext cx="34747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300" b="1" dirty="0">
                <a:solidFill>
                  <a:srgbClr val="E8A33D"/>
                </a:solidFill>
              </a:rPr>
              <a:t>Fails the test?</a:t>
            </a:r>
            <a:endParaRPr lang="en-US" sz="13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350" dirty="0">
                <a:solidFill>
                  <a:srgbClr val="FFFFFF"/>
                </a:solidFill>
              </a:rPr>
              <a:t>R violates BCNF — run the decomposition algorithm.</a:t>
            </a:r>
            <a:endParaRPr lang="en-US" sz="13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7F8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320040"/>
            <a:ext cx="7315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8B7F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ALGORITHM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594360"/>
            <a:ext cx="10881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24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BCNF Decomposition Loop</a:t>
            </a:r>
            <a:endParaRPr lang="en-US" sz="2600" dirty="0"/>
          </a:p>
        </p:txBody>
      </p:sp>
      <p:sp>
        <p:nvSpPr>
          <p:cNvPr id="4" name="Text 2"/>
          <p:cNvSpPr txBox="1"/>
          <p:nvPr/>
        </p:nvSpPr>
        <p:spPr>
          <a:xfrm>
            <a:off x="9951415" y="6455664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u="sng" dirty="0">
                <a:solidFill>
                  <a:srgbClr val="8A939B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cuinotes.com</a:t>
            </a:r>
            <a:pPr algn="r" indent="0" marL="0">
              <a:buNone/>
            </a:pPr>
            <a:r>
              <a:rPr lang="en-US" sz="1000" dirty="0">
                <a:solidFill>
                  <a:srgbClr val="8A939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4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3566160" y="1417320"/>
            <a:ext cx="5486400" cy="610819"/>
          </a:xfrm>
          <a:prstGeom prst="roundRect">
            <a:avLst>
              <a:gd name="adj" fmla="val 14970"/>
            </a:avLst>
          </a:prstGeom>
          <a:solidFill>
            <a:srgbClr val="FFFFFF"/>
          </a:solidFill>
          <a:ln w="22225">
            <a:solidFill>
              <a:srgbClr val="2FE6C4"/>
            </a:solidFill>
            <a:prstDash val="solid"/>
          </a:ln>
          <a:effectLst>
            <a:outerShdw sx="100000" sy="100000" kx="0" ky="0" algn="bl" rotWithShape="0" blurRad="63500" dist="25400" dir="5400000">
              <a:srgbClr val="000000">
                <a:alpha val="12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3566160" y="1417320"/>
            <a:ext cx="82296" cy="610819"/>
          </a:xfrm>
          <a:prstGeom prst="roundRect">
            <a:avLst/>
          </a:prstGeom>
          <a:solidFill>
            <a:srgbClr val="2FE6C4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3822192" y="1417320"/>
            <a:ext cx="5120640" cy="6108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1F24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Pick a relation R</a:t>
            </a:r>
            <a:endParaRPr lang="en-US" sz="13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From the current decomposition (initially, the original relation)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6309360" y="2028139"/>
            <a:ext cx="914" cy="128016"/>
          </a:xfrm>
          <a:prstGeom prst="line">
            <a:avLst/>
          </a:prstGeom>
          <a:noFill/>
          <a:ln w="25400">
            <a:solidFill>
              <a:srgbClr val="AEB4BA"/>
            </a:solidFill>
            <a:prstDash val="solid"/>
            <a:tailEnd type="triangle"/>
          </a:ln>
        </p:spPr>
      </p:sp>
      <p:sp>
        <p:nvSpPr>
          <p:cNvPr id="9" name="Shape 7"/>
          <p:cNvSpPr/>
          <p:nvPr/>
        </p:nvSpPr>
        <p:spPr>
          <a:xfrm>
            <a:off x="3566160" y="2156155"/>
            <a:ext cx="5486400" cy="610819"/>
          </a:xfrm>
          <a:prstGeom prst="roundRect">
            <a:avLst>
              <a:gd name="adj" fmla="val 14970"/>
            </a:avLst>
          </a:prstGeom>
          <a:solidFill>
            <a:srgbClr val="FFFFFF"/>
          </a:solidFill>
          <a:ln w="22225">
            <a:solidFill>
              <a:srgbClr val="8B7FD9"/>
            </a:solidFill>
            <a:prstDash val="solid"/>
          </a:ln>
          <a:effectLst>
            <a:outerShdw sx="100000" sy="100000" kx="0" ky="0" algn="bl" rotWithShape="0" blurRad="63500" dist="25400" dir="5400000">
              <a:srgbClr val="000000">
                <a:alpha val="12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3566160" y="2156155"/>
            <a:ext cx="82296" cy="610819"/>
          </a:xfrm>
          <a:prstGeom prst="roundRect">
            <a:avLst/>
          </a:prstGeom>
          <a:solidFill>
            <a:srgbClr val="8B7FD9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3822192" y="2156155"/>
            <a:ext cx="5120640" cy="6108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1F24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Test R for BCNF</a:t>
            </a:r>
            <a:endParaRPr lang="en-US" sz="13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 every FD X → Y, check whether X⁺ covers all of R's attributes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6309360" y="2766974"/>
            <a:ext cx="914" cy="128016"/>
          </a:xfrm>
          <a:prstGeom prst="line">
            <a:avLst/>
          </a:prstGeom>
          <a:noFill/>
          <a:ln w="25400">
            <a:solidFill>
              <a:srgbClr val="AEB4BA"/>
            </a:solidFill>
            <a:prstDash val="solid"/>
            <a:tailEnd type="triangle"/>
          </a:ln>
        </p:spPr>
      </p:sp>
      <p:sp>
        <p:nvSpPr>
          <p:cNvPr id="13" name="Shape 11"/>
          <p:cNvSpPr/>
          <p:nvPr/>
        </p:nvSpPr>
        <p:spPr>
          <a:xfrm>
            <a:off x="3566160" y="2894990"/>
            <a:ext cx="5486400" cy="610819"/>
          </a:xfrm>
          <a:prstGeom prst="roundRect">
            <a:avLst>
              <a:gd name="adj" fmla="val 14970"/>
            </a:avLst>
          </a:prstGeom>
          <a:solidFill>
            <a:srgbClr val="FFFFFF"/>
          </a:solidFill>
          <a:ln w="22225">
            <a:solidFill>
              <a:srgbClr val="E8A33D"/>
            </a:solidFill>
            <a:prstDash val="solid"/>
          </a:ln>
          <a:effectLst>
            <a:outerShdw sx="100000" sy="100000" kx="0" ky="0" algn="bl" rotWithShape="0" blurRad="63500" dist="25400" dir="5400000">
              <a:srgbClr val="000000">
                <a:alpha val="12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3566160" y="2894990"/>
            <a:ext cx="82296" cy="610819"/>
          </a:xfrm>
          <a:prstGeom prst="roundRect">
            <a:avLst/>
          </a:prstGeom>
          <a:solidFill>
            <a:srgbClr val="E8A33D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3822192" y="2894990"/>
            <a:ext cx="5120640" cy="6108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1F24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Violation found?</a:t>
            </a:r>
            <a:endParaRPr lang="en-US" sz="13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If every determinant is a superkey, R is done — set it aside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6309360" y="3505810"/>
            <a:ext cx="914" cy="128016"/>
          </a:xfrm>
          <a:prstGeom prst="line">
            <a:avLst/>
          </a:prstGeom>
          <a:noFill/>
          <a:ln w="25400">
            <a:solidFill>
              <a:srgbClr val="AEB4BA"/>
            </a:solidFill>
            <a:prstDash val="solid"/>
            <a:tailEnd type="triangle"/>
          </a:ln>
        </p:spPr>
      </p:sp>
      <p:sp>
        <p:nvSpPr>
          <p:cNvPr id="17" name="Shape 15"/>
          <p:cNvSpPr/>
          <p:nvPr/>
        </p:nvSpPr>
        <p:spPr>
          <a:xfrm>
            <a:off x="3566160" y="3633826"/>
            <a:ext cx="5486400" cy="610819"/>
          </a:xfrm>
          <a:prstGeom prst="roundRect">
            <a:avLst>
              <a:gd name="adj" fmla="val 14970"/>
            </a:avLst>
          </a:prstGeom>
          <a:solidFill>
            <a:srgbClr val="FFFFFF"/>
          </a:solidFill>
          <a:ln w="22225">
            <a:solidFill>
              <a:srgbClr val="2FE6C4"/>
            </a:solidFill>
            <a:prstDash val="solid"/>
          </a:ln>
          <a:effectLst>
            <a:outerShdw sx="100000" sy="100000" kx="0" ky="0" algn="bl" rotWithShape="0" blurRad="63500" dist="25400" dir="5400000">
              <a:srgbClr val="000000">
                <a:alpha val="12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3566160" y="3633826"/>
            <a:ext cx="82296" cy="610819"/>
          </a:xfrm>
          <a:prstGeom prst="roundRect">
            <a:avLst/>
          </a:prstGeom>
          <a:solidFill>
            <a:srgbClr val="2FE6C4"/>
          </a:solidFill>
          <a:ln/>
        </p:spPr>
      </p:sp>
      <p:sp>
        <p:nvSpPr>
          <p:cNvPr id="19" name="Text 17"/>
          <p:cNvSpPr txBox="1"/>
          <p:nvPr/>
        </p:nvSpPr>
        <p:spPr>
          <a:xfrm>
            <a:off x="3822192" y="3633826"/>
            <a:ext cx="5120640" cy="6108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1F24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Split R on X → Y</a:t>
            </a:r>
            <a:endParaRPr lang="en-US" sz="13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R₁ = X ∪ Y      R₂ = X ∪ (R − Y)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6309360" y="4244645"/>
            <a:ext cx="914" cy="128016"/>
          </a:xfrm>
          <a:prstGeom prst="line">
            <a:avLst/>
          </a:prstGeom>
          <a:noFill/>
          <a:ln w="25400">
            <a:solidFill>
              <a:srgbClr val="AEB4BA"/>
            </a:solidFill>
            <a:prstDash val="solid"/>
            <a:tailEnd type="triangle"/>
          </a:ln>
        </p:spPr>
      </p:sp>
      <p:sp>
        <p:nvSpPr>
          <p:cNvPr id="21" name="Shape 19"/>
          <p:cNvSpPr/>
          <p:nvPr/>
        </p:nvSpPr>
        <p:spPr>
          <a:xfrm>
            <a:off x="3566160" y="4372661"/>
            <a:ext cx="5486400" cy="610819"/>
          </a:xfrm>
          <a:prstGeom prst="roundRect">
            <a:avLst>
              <a:gd name="adj" fmla="val 14970"/>
            </a:avLst>
          </a:prstGeom>
          <a:solidFill>
            <a:srgbClr val="FFFFFF"/>
          </a:solidFill>
          <a:ln w="22225">
            <a:solidFill>
              <a:srgbClr val="8B7FD9"/>
            </a:solidFill>
            <a:prstDash val="solid"/>
          </a:ln>
          <a:effectLst>
            <a:outerShdw sx="100000" sy="100000" kx="0" ky="0" algn="bl" rotWithShape="0" blurRad="63500" dist="25400" dir="5400000">
              <a:srgbClr val="000000">
                <a:alpha val="12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3566160" y="4372661"/>
            <a:ext cx="82296" cy="610819"/>
          </a:xfrm>
          <a:prstGeom prst="roundRect">
            <a:avLst/>
          </a:prstGeom>
          <a:solidFill>
            <a:srgbClr val="8B7FD9"/>
          </a:solidFill>
          <a:ln/>
        </p:spPr>
      </p:sp>
      <p:sp>
        <p:nvSpPr>
          <p:cNvPr id="23" name="Text 21"/>
          <p:cNvSpPr txBox="1"/>
          <p:nvPr/>
        </p:nvSpPr>
        <p:spPr>
          <a:xfrm>
            <a:off x="3822192" y="4372661"/>
            <a:ext cx="5120640" cy="6108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1F24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5. Replace R with R₁, R₂</a:t>
            </a:r>
            <a:endParaRPr lang="en-US" sz="13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Project R's FDs onto each; loop back to step 1 for both</a:t>
            </a:r>
            <a:endParaRPr lang="en-US" sz="1300" dirty="0"/>
          </a:p>
        </p:txBody>
      </p:sp>
      <p:sp>
        <p:nvSpPr>
          <p:cNvPr id="24" name="Text 22"/>
          <p:cNvSpPr txBox="1"/>
          <p:nvPr/>
        </p:nvSpPr>
        <p:spPr>
          <a:xfrm>
            <a:off x="502920" y="3017520"/>
            <a:ext cx="28346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loop while any relation still violates BCNF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7F8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320040"/>
            <a:ext cx="7315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8B7F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 DETAILS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594360"/>
            <a:ext cx="10881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24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Easy to Get Wrong</a:t>
            </a:r>
            <a:endParaRPr lang="en-US" sz="2600" dirty="0"/>
          </a:p>
        </p:txBody>
      </p:sp>
      <p:sp>
        <p:nvSpPr>
          <p:cNvPr id="4" name="Text 2"/>
          <p:cNvSpPr txBox="1"/>
          <p:nvPr/>
        </p:nvSpPr>
        <p:spPr>
          <a:xfrm>
            <a:off x="9951415" y="6455664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u="sng" dirty="0">
                <a:solidFill>
                  <a:srgbClr val="8A939B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cuinotes.com</a:t>
            </a:r>
            <a:pPr algn="r" indent="0" marL="0">
              <a:buNone/>
            </a:pPr>
            <a:r>
              <a:rPr lang="en-US" sz="1000" dirty="0">
                <a:solidFill>
                  <a:srgbClr val="8A939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5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640080" y="1691640"/>
            <a:ext cx="5212080" cy="3566160"/>
          </a:xfrm>
          <a:prstGeom prst="roundRect">
            <a:avLst>
              <a:gd name="adj" fmla="val 3077"/>
            </a:avLst>
          </a:prstGeom>
          <a:solidFill>
            <a:srgbClr val="FFFFFF"/>
          </a:solidFill>
          <a:ln w="19050">
            <a:solidFill>
              <a:srgbClr val="2FE6C4"/>
            </a:solidFill>
            <a:prstDash val="solid"/>
          </a:ln>
          <a:effectLst>
            <a:outerShdw sx="100000" sy="100000" kx="0" ky="0" algn="bl" rotWithShape="0" blurRad="63500" dist="25400" dir="54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960120" y="2011680"/>
            <a:ext cx="457200" cy="457200"/>
          </a:xfrm>
          <a:prstGeom prst="ellipse">
            <a:avLst/>
          </a:prstGeom>
          <a:solidFill>
            <a:srgbClr val="2FE6C4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960120" y="20116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4181C"/>
                </a:solidFill>
              </a:rPr>
              <a:t>1</a:t>
            </a:r>
            <a:endParaRPr lang="en-US" sz="1800" dirty="0"/>
          </a:p>
        </p:txBody>
      </p:sp>
      <p:sp>
        <p:nvSpPr>
          <p:cNvPr id="8" name="Text 6"/>
          <p:cNvSpPr txBox="1"/>
          <p:nvPr/>
        </p:nvSpPr>
        <p:spPr>
          <a:xfrm>
            <a:off x="960120" y="2651760"/>
            <a:ext cx="4572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24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X appears in both halves</a:t>
            </a:r>
            <a:endParaRPr lang="en-US" sz="1700" dirty="0"/>
          </a:p>
        </p:txBody>
      </p:sp>
      <p:sp>
        <p:nvSpPr>
          <p:cNvPr id="9" name="Text 7"/>
          <p:cNvSpPr txBox="1"/>
          <p:nvPr/>
        </p:nvSpPr>
        <p:spPr>
          <a:xfrm>
            <a:off x="960120" y="3246120"/>
            <a:ext cx="457200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3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 a mistake — it's exactly what makes the join lossless. X becomes the connecting column between R₁ and R₂, playing the role a foreign key plays after the split.</a:t>
            </a:r>
            <a:endParaRPr lang="en-US" sz="1350" dirty="0"/>
          </a:p>
        </p:txBody>
      </p:sp>
      <p:sp>
        <p:nvSpPr>
          <p:cNvPr id="10" name="Shape 8"/>
          <p:cNvSpPr/>
          <p:nvPr/>
        </p:nvSpPr>
        <p:spPr>
          <a:xfrm>
            <a:off x="6309360" y="1691640"/>
            <a:ext cx="5212080" cy="3566160"/>
          </a:xfrm>
          <a:prstGeom prst="roundRect">
            <a:avLst>
              <a:gd name="adj" fmla="val 3077"/>
            </a:avLst>
          </a:prstGeom>
          <a:solidFill>
            <a:srgbClr val="FFFFFF"/>
          </a:solidFill>
          <a:ln w="19050">
            <a:solidFill>
              <a:srgbClr val="E8A33D"/>
            </a:solidFill>
            <a:prstDash val="solid"/>
          </a:ln>
          <a:effectLst>
            <a:outerShdw sx="100000" sy="100000" kx="0" ky="0" algn="bl" rotWithShape="0" blurRad="63500" dist="25400" dir="5400000">
              <a:srgbClr val="000000">
                <a:alpha val="10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6629400" y="2011680"/>
            <a:ext cx="457200" cy="457200"/>
          </a:xfrm>
          <a:prstGeom prst="ellipse">
            <a:avLst/>
          </a:prstGeom>
          <a:solidFill>
            <a:srgbClr val="E8A33D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6629400" y="20116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4181C"/>
                </a:solidFill>
              </a:rPr>
              <a:t>2</a:t>
            </a:r>
            <a:endParaRPr lang="en-US" sz="1800" dirty="0"/>
          </a:p>
        </p:txBody>
      </p:sp>
      <p:sp>
        <p:nvSpPr>
          <p:cNvPr id="13" name="Text 11"/>
          <p:cNvSpPr txBox="1"/>
          <p:nvPr/>
        </p:nvSpPr>
        <p:spPr>
          <a:xfrm>
            <a:off x="6629400" y="2651760"/>
            <a:ext cx="4572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24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Re-test the NEW relations</a:t>
            </a:r>
            <a:endParaRPr lang="en-US" sz="1700" dirty="0"/>
          </a:p>
        </p:txBody>
      </p:sp>
      <p:sp>
        <p:nvSpPr>
          <p:cNvPr id="14" name="Text 12"/>
          <p:cNvSpPr txBox="1"/>
          <p:nvPr/>
        </p:nvSpPr>
        <p:spPr>
          <a:xfrm>
            <a:off x="6629400" y="3246120"/>
            <a:ext cx="457200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3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Don't declare victory after one split. A single split can leave one or both halves still violating BCNF if the original had more than one problem FD — exactly what happens next.</a:t>
            </a:r>
            <a:endParaRPr lang="en-US" sz="13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7F8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320040"/>
            <a:ext cx="7315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8B7F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WORKED EXAMPLE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594360"/>
            <a:ext cx="10881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24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Course Enrollment Relation</a:t>
            </a:r>
            <a:endParaRPr lang="en-US" sz="2600" dirty="0"/>
          </a:p>
        </p:txBody>
      </p:sp>
      <p:sp>
        <p:nvSpPr>
          <p:cNvPr id="4" name="Text 2"/>
          <p:cNvSpPr txBox="1"/>
          <p:nvPr/>
        </p:nvSpPr>
        <p:spPr>
          <a:xfrm>
            <a:off x="9951415" y="6455664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u="sng" dirty="0">
                <a:solidFill>
                  <a:srgbClr val="8A939B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cuinotes.com</a:t>
            </a:r>
            <a:pPr algn="r" indent="0" marL="0">
              <a:buNone/>
            </a:pPr>
            <a:r>
              <a:rPr lang="en-US" sz="1000" dirty="0">
                <a:solidFill>
                  <a:srgbClr val="8A939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6</a:t>
            </a:r>
            <a:endParaRPr lang="en-US" sz="10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1481328"/>
            <a:ext cx="67665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F242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Enrollment (studentNo, courseNo, instructorNo, room)</a:t>
            </a:r>
            <a:endParaRPr lang="en-US" sz="130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1828800"/>
          <a:ext cx="6766560" cy="914400"/>
        </p:xfrm>
        <a:graphic>
          <a:graphicData uri="http://schemas.openxmlformats.org/drawingml/2006/table">
            <a:tbl>
              <a:tblPr/>
              <a:tblGrid>
                <a:gridCol w="1691640"/>
                <a:gridCol w="1691640"/>
                <a:gridCol w="1691640"/>
                <a:gridCol w="1691640"/>
              </a:tblGrid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studentNo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7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81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courseNo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7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81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instructorNo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7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81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room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7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81C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1F242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S1001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7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1F242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CSC270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7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1F242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I01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7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1F242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LT-3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7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1F242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S1002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7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1F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1F242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CSC270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7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1F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1F242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I01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7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1F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1F242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LT-3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7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1F3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1F242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S1001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7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1F242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CSC211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7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1F242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I02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7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1F242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LT-1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7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1F242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S1003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7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1F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1F242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CSC270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7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1F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1F242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I01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7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1F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1F242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LT-3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7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1F3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1F242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S1003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7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1F242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CSC211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7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1F242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I02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7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1F242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LT-1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7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Text 4"/>
          <p:cNvSpPr txBox="1"/>
          <p:nvPr/>
        </p:nvSpPr>
        <p:spPr>
          <a:xfrm>
            <a:off x="7772400" y="1600200"/>
            <a:ext cx="3840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8B7F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Business rules (functional dependencies)</a:t>
            </a:r>
            <a:endParaRPr lang="en-US" sz="1300" dirty="0"/>
          </a:p>
        </p:txBody>
      </p:sp>
      <p:sp>
        <p:nvSpPr>
          <p:cNvPr id="8" name="Shape 5"/>
          <p:cNvSpPr/>
          <p:nvPr/>
        </p:nvSpPr>
        <p:spPr>
          <a:xfrm>
            <a:off x="7772400" y="2011680"/>
            <a:ext cx="3840480" cy="1051560"/>
          </a:xfrm>
          <a:prstGeom prst="roundRect">
            <a:avLst>
              <a:gd name="adj" fmla="val 6957"/>
            </a:avLst>
          </a:prstGeom>
          <a:solidFill>
            <a:srgbClr val="FFFFFF"/>
          </a:solidFill>
          <a:ln w="12700">
            <a:solidFill>
              <a:srgbClr val="D7DBDF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7936992" y="2121408"/>
            <a:ext cx="35661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b="1" dirty="0">
                <a:solidFill>
                  <a:srgbClr val="1F242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FD1: studentNo, courseNo → instructorNo, room</a:t>
            </a:r>
            <a:endParaRPr lang="en-US" sz="115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enrollment fixes who teaches it and where</a:t>
            </a:r>
            <a:endParaRPr lang="en-US" sz="1150" dirty="0"/>
          </a:p>
        </p:txBody>
      </p:sp>
      <p:sp>
        <p:nvSpPr>
          <p:cNvPr id="10" name="Shape 7"/>
          <p:cNvSpPr/>
          <p:nvPr/>
        </p:nvSpPr>
        <p:spPr>
          <a:xfrm>
            <a:off x="7772400" y="3246120"/>
            <a:ext cx="3840480" cy="1051560"/>
          </a:xfrm>
          <a:prstGeom prst="roundRect">
            <a:avLst>
              <a:gd name="adj" fmla="val 6957"/>
            </a:avLst>
          </a:prstGeom>
          <a:solidFill>
            <a:srgbClr val="FFFFFF"/>
          </a:solidFill>
          <a:ln w="12700">
            <a:solidFill>
              <a:srgbClr val="D7DBDF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7936992" y="3355848"/>
            <a:ext cx="35661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b="1" dirty="0">
                <a:solidFill>
                  <a:srgbClr val="1F242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FD2: courseNo → instructorNo</a:t>
            </a:r>
            <a:endParaRPr lang="en-US" sz="115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single-section policy: one instructor per course</a:t>
            </a:r>
            <a:endParaRPr lang="en-US" sz="1150" dirty="0"/>
          </a:p>
        </p:txBody>
      </p:sp>
      <p:sp>
        <p:nvSpPr>
          <p:cNvPr id="12" name="Shape 9"/>
          <p:cNvSpPr/>
          <p:nvPr/>
        </p:nvSpPr>
        <p:spPr>
          <a:xfrm>
            <a:off x="7772400" y="4480560"/>
            <a:ext cx="3840480" cy="1051560"/>
          </a:xfrm>
          <a:prstGeom prst="roundRect">
            <a:avLst>
              <a:gd name="adj" fmla="val 6957"/>
            </a:avLst>
          </a:prstGeom>
          <a:solidFill>
            <a:srgbClr val="FFFFFF"/>
          </a:solidFill>
          <a:ln w="12700">
            <a:solidFill>
              <a:srgbClr val="D7DBDF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7936992" y="4590288"/>
            <a:ext cx="35661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b="1" dirty="0">
                <a:solidFill>
                  <a:srgbClr val="1F242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FD3: instructorNo → room</a:t>
            </a:r>
            <a:endParaRPr lang="en-US" sz="115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instructor teaches from one fixed room</a:t>
            </a:r>
            <a:endParaRPr lang="en-US" sz="11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7F8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320040"/>
            <a:ext cx="7315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8B7F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 1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594360"/>
            <a:ext cx="10881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24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 the Original Relation</a:t>
            </a:r>
            <a:endParaRPr lang="en-US" sz="2600" dirty="0"/>
          </a:p>
        </p:txBody>
      </p:sp>
      <p:sp>
        <p:nvSpPr>
          <p:cNvPr id="4" name="Text 2"/>
          <p:cNvSpPr txBox="1"/>
          <p:nvPr/>
        </p:nvSpPr>
        <p:spPr>
          <a:xfrm>
            <a:off x="9951415" y="6455664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u="sng" dirty="0">
                <a:solidFill>
                  <a:srgbClr val="8A939B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cuinotes.com</a:t>
            </a:r>
            <a:pPr algn="r" indent="0" marL="0">
              <a:buNone/>
            </a:pPr>
            <a:r>
              <a:rPr lang="en-US" sz="1000" dirty="0">
                <a:solidFill>
                  <a:srgbClr val="8A939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7</a:t>
            </a:r>
            <a:endParaRPr lang="en-US" sz="10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1554480"/>
            <a:ext cx="10881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F24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Candidate key: {studentNo, courseNo} — its closure already reaches all four attributes via FD1, and no smaller set does.</a:t>
            </a:r>
            <a:endParaRPr lang="en-US" sz="140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22960" y="2331720"/>
          <a:ext cx="10515600" cy="914400"/>
        </p:xfrm>
        <a:graphic>
          <a:graphicData uri="http://schemas.openxmlformats.org/drawingml/2006/table">
            <a:tbl>
              <a:tblPr/>
              <a:tblGrid>
                <a:gridCol w="1188720"/>
                <a:gridCol w="2743200"/>
                <a:gridCol w="5120640"/>
                <a:gridCol w="1463040"/>
              </a:tblGrid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FD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7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81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Determinant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7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81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Superkey of Enrollment?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7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81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BCNF?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7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81C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F242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FD1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7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F242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studentNo, courseNo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7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F242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Yes — it IS the key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7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F242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OK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7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F242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FD2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7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1F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F242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courseNo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7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1F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F242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 — courseNo⁺ = {courseNo, instructorNo, room}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7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1F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F242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Violation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7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1F3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F242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FD3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7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F242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instructorNo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7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F242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 — instructorNo⁺ = {instructorNo, room}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7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F242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Violation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7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Shape 4"/>
          <p:cNvSpPr/>
          <p:nvPr/>
        </p:nvSpPr>
        <p:spPr>
          <a:xfrm>
            <a:off x="822960" y="4754880"/>
            <a:ext cx="10515600" cy="777240"/>
          </a:xfrm>
          <a:prstGeom prst="roundRect">
            <a:avLst>
              <a:gd name="adj" fmla="val 9412"/>
            </a:avLst>
          </a:prstGeom>
          <a:solidFill>
            <a:srgbClr val="14181C"/>
          </a:solidFill>
          <a:ln/>
        </p:spPr>
      </p:sp>
      <p:sp>
        <p:nvSpPr>
          <p:cNvPr id="8" name="Text 5"/>
          <p:cNvSpPr txBox="1"/>
          <p:nvPr/>
        </p:nvSpPr>
        <p:spPr>
          <a:xfrm>
            <a:off x="1097280" y="4754880"/>
            <a:ext cx="100584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E8A3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Enrollment violates BCNF — twice over. The algorithm says: pick ONE violation and split.</a:t>
            </a:r>
            <a:endParaRPr lang="en-US" sz="14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7F8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320040"/>
            <a:ext cx="7315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8B7F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 2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594360"/>
            <a:ext cx="10881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24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First Split, on courseNo → instructorNo</a:t>
            </a:r>
            <a:endParaRPr lang="en-US" sz="2600" dirty="0"/>
          </a:p>
        </p:txBody>
      </p:sp>
      <p:sp>
        <p:nvSpPr>
          <p:cNvPr id="4" name="Text 2"/>
          <p:cNvSpPr txBox="1"/>
          <p:nvPr/>
        </p:nvSpPr>
        <p:spPr>
          <a:xfrm>
            <a:off x="9951415" y="6455664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u="sng" dirty="0">
                <a:solidFill>
                  <a:srgbClr val="8A939B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cuinotes.com</a:t>
            </a:r>
            <a:pPr algn="r" indent="0" marL="0">
              <a:buNone/>
            </a:pPr>
            <a:r>
              <a:rPr lang="en-US" sz="1000" dirty="0">
                <a:solidFill>
                  <a:srgbClr val="8A939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8</a:t>
            </a:r>
            <a:endParaRPr lang="en-US" sz="10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1463040"/>
            <a:ext cx="10881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B72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X = courseNo,  Y = instructorNo   →   R₁ = X ∪ Y     R₂ = X ∪ (R − Y)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1984248"/>
            <a:ext cx="51206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FE6C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CourseInstructor (courseNo, instructorNo)</a:t>
            </a:r>
            <a:endParaRPr lang="en-US" sz="1300" dirty="0"/>
          </a:p>
        </p:txBody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2331720"/>
          <a:ext cx="5120640" cy="914400"/>
        </p:xfrm>
        <a:graphic>
          <a:graphicData uri="http://schemas.openxmlformats.org/drawingml/2006/table">
            <a:tbl>
              <a:tblPr/>
              <a:tblGrid>
                <a:gridCol w="2560320"/>
                <a:gridCol w="2560320"/>
              </a:tblGrid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courseNo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7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81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instructorNo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7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81C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1F242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CSC270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7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1F242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I01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7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1F242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CSC211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7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1F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1F242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I02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7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1F3"/>
                    </a:solidFill>
                  </a:tcPr>
                </a:tc>
              </a:tr>
            </a:tbl>
          </a:graphicData>
        </a:graphic>
      </p:graphicFrame>
      <p:sp>
        <p:nvSpPr>
          <p:cNvPr id="8" name="Text 5"/>
          <p:cNvSpPr txBox="1"/>
          <p:nvPr/>
        </p:nvSpPr>
        <p:spPr>
          <a:xfrm>
            <a:off x="6309360" y="1984248"/>
            <a:ext cx="52120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8B7F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StudentCourseRoom (studentNo, courseNo, room)</a:t>
            </a:r>
            <a:endParaRPr lang="en-US" sz="1300" dirty="0"/>
          </a:p>
        </p:txBody>
      </p:sp>
      <p:graphicFrame>
        <p:nvGraphicFramePr>
          <p:cNvPr id="17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309360" y="2331720"/>
          <a:ext cx="5212080" cy="914400"/>
        </p:xfrm>
        <a:graphic>
          <a:graphicData uri="http://schemas.openxmlformats.org/drawingml/2006/table">
            <a:tbl>
              <a:tblPr/>
              <a:tblGrid>
                <a:gridCol w="1737360"/>
                <a:gridCol w="1737360"/>
                <a:gridCol w="1737360"/>
              </a:tblGrid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studentNo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7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81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courseNo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7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81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room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7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81C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1F242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S1001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7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1F242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CSC270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7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1F242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LT-3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7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1F242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S1002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7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1F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1F242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CSC270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7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1F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1F242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LT-3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7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1F3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1F242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S1001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7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1F242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CSC211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7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1F242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LT-1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7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1F242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S1003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7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1F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1F242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CSC270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7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1F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1F242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LT-3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7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1F3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1F242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S1003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7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1F242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CSC211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7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1F242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LT-1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7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Shape 6"/>
          <p:cNvSpPr/>
          <p:nvPr/>
        </p:nvSpPr>
        <p:spPr>
          <a:xfrm>
            <a:off x="640080" y="5486400"/>
            <a:ext cx="10881360" cy="548640"/>
          </a:xfrm>
          <a:prstGeom prst="roundRect">
            <a:avLst>
              <a:gd name="adj" fmla="val 13333"/>
            </a:avLst>
          </a:prstGeom>
          <a:solidFill>
            <a:srgbClr val="EEF1F3"/>
          </a:solidFill>
          <a:ln/>
        </p:spPr>
      </p:sp>
      <p:sp>
        <p:nvSpPr>
          <p:cNvPr id="11" name="Text 7"/>
          <p:cNvSpPr txBox="1"/>
          <p:nvPr/>
        </p:nvSpPr>
        <p:spPr>
          <a:xfrm>
            <a:off x="914400" y="5486400"/>
            <a:ext cx="10332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CourseInstructor carries FD2; StudentCourseRoom still needs testing — it inherited FD3's consequence.</a:t>
            </a:r>
            <a:endParaRPr lang="en-US" sz="12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7F8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320040"/>
            <a:ext cx="7315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8B7F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 3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594360"/>
            <a:ext cx="10881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24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 Both New Relations</a:t>
            </a:r>
            <a:endParaRPr lang="en-US" sz="2600" dirty="0"/>
          </a:p>
        </p:txBody>
      </p:sp>
      <p:sp>
        <p:nvSpPr>
          <p:cNvPr id="4" name="Text 2"/>
          <p:cNvSpPr txBox="1"/>
          <p:nvPr/>
        </p:nvSpPr>
        <p:spPr>
          <a:xfrm>
            <a:off x="9951415" y="6455664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u="sng" dirty="0">
                <a:solidFill>
                  <a:srgbClr val="8A939B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cuinotes.com</a:t>
            </a:r>
            <a:pPr algn="r" indent="0" marL="0">
              <a:buNone/>
            </a:pPr>
            <a:r>
              <a:rPr lang="en-US" sz="1000" dirty="0">
                <a:solidFill>
                  <a:srgbClr val="8A939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9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640080" y="1691640"/>
            <a:ext cx="5212080" cy="4114800"/>
          </a:xfrm>
          <a:prstGeom prst="roundRect">
            <a:avLst>
              <a:gd name="adj" fmla="val 2667"/>
            </a:avLst>
          </a:prstGeom>
          <a:solidFill>
            <a:srgbClr val="FFFFFF"/>
          </a:solidFill>
          <a:ln w="19050">
            <a:solidFill>
              <a:srgbClr val="2FE6C4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914400" y="1965960"/>
            <a:ext cx="4663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F242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CourseInstructor(courseNo, instructorNo)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914400" y="2514600"/>
            <a:ext cx="4663440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15000"/>
              </a:lnSpc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rgbClr val="1F24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Only projected FD: courseNo → instructorNo</a:t>
            </a:r>
            <a:endParaRPr lang="en-US" sz="1350" dirty="0"/>
          </a:p>
          <a:p>
            <a:pPr marL="342900" indent="-342900">
              <a:lnSpc>
                <a:spcPct val="115000"/>
              </a:lnSpc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rgbClr val="1F24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courseNo is a candidate key — its closure reaches both attributes</a:t>
            </a:r>
            <a:endParaRPr lang="en-US" sz="1350" dirty="0"/>
          </a:p>
          <a:p>
            <a:pPr marL="342900" indent="-342900">
              <a:lnSpc>
                <a:spcPct val="115000"/>
              </a:lnSpc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rgbClr val="1F24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Its determinant IS the key</a:t>
            </a:r>
            <a:endParaRPr lang="en-US" sz="1350" dirty="0"/>
          </a:p>
        </p:txBody>
      </p:sp>
      <p:sp>
        <p:nvSpPr>
          <p:cNvPr id="8" name="Shape 6"/>
          <p:cNvSpPr/>
          <p:nvPr/>
        </p:nvSpPr>
        <p:spPr>
          <a:xfrm>
            <a:off x="914400" y="4892040"/>
            <a:ext cx="4663440" cy="548640"/>
          </a:xfrm>
          <a:prstGeom prst="roundRect">
            <a:avLst>
              <a:gd name="adj" fmla="val 13333"/>
            </a:avLst>
          </a:prstGeom>
          <a:solidFill>
            <a:srgbClr val="2FE6C4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914400" y="4892040"/>
            <a:ext cx="4663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4181C"/>
                </a:solidFill>
              </a:rPr>
              <a:t>BCNF — done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6309360" y="1691640"/>
            <a:ext cx="5212080" cy="4114800"/>
          </a:xfrm>
          <a:prstGeom prst="roundRect">
            <a:avLst>
              <a:gd name="adj" fmla="val 2667"/>
            </a:avLst>
          </a:prstGeom>
          <a:solidFill>
            <a:srgbClr val="FFFFFF"/>
          </a:solidFill>
          <a:ln w="19050">
            <a:solidFill>
              <a:srgbClr val="E8A33D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6583680" y="1965960"/>
            <a:ext cx="4663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F242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StudentCourseRoom(studentNo, courseNo, room)</a:t>
            </a:r>
            <a:endParaRPr lang="en-US" sz="1200" dirty="0"/>
          </a:p>
        </p:txBody>
      </p:sp>
      <p:sp>
        <p:nvSpPr>
          <p:cNvPr id="12" name="Text 10"/>
          <p:cNvSpPr txBox="1"/>
          <p:nvPr/>
        </p:nvSpPr>
        <p:spPr>
          <a:xfrm>
            <a:off x="6583680" y="2468880"/>
            <a:ext cx="466344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15000"/>
              </a:lnSpc>
              <a:spcAft>
                <a:spcPts val="1000"/>
              </a:spcAft>
              <a:buSzPct val="100000"/>
              <a:buChar char="•"/>
            </a:pPr>
            <a:r>
              <a:rPr lang="en-US" sz="1300" dirty="0">
                <a:solidFill>
                  <a:srgbClr val="1F24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still {studentNo, courseNo}</a:t>
            </a:r>
            <a:endParaRPr lang="en-US" sz="1300" dirty="0"/>
          </a:p>
          <a:p>
            <a:pPr marL="342900" indent="-342900">
              <a:lnSpc>
                <a:spcPct val="115000"/>
              </a:lnSpc>
              <a:spcAft>
                <a:spcPts val="1000"/>
              </a:spcAft>
              <a:buSzPct val="100000"/>
              <a:buChar char="•"/>
            </a:pPr>
            <a:r>
              <a:rPr lang="en-US" sz="1300" dirty="0">
                <a:solidFill>
                  <a:srgbClr val="1F24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courseNo → room holds indirectly (courseNo → instructorNo → room)</a:t>
            </a:r>
            <a:endParaRPr lang="en-US" sz="1300" dirty="0"/>
          </a:p>
          <a:p>
            <a:pPr marL="342900" indent="-342900">
              <a:lnSpc>
                <a:spcPct val="115000"/>
              </a:lnSpc>
              <a:spcAft>
                <a:spcPts val="1000"/>
              </a:spcAft>
              <a:buSzPct val="100000"/>
              <a:buChar char="•"/>
            </a:pPr>
            <a:r>
              <a:rPr lang="en-US" sz="1300" dirty="0">
                <a:solidFill>
                  <a:srgbClr val="1F24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courseNo⁺ = {courseNo, room} — does NOT cover studentNo</a:t>
            </a:r>
            <a:endParaRPr lang="en-US" sz="1300" dirty="0"/>
          </a:p>
          <a:p>
            <a:pPr marL="342900" indent="-342900">
              <a:lnSpc>
                <a:spcPct val="115000"/>
              </a:lnSpc>
              <a:spcAft>
                <a:spcPts val="1000"/>
              </a:spcAft>
              <a:buSzPct val="100000"/>
              <a:buChar char="•"/>
            </a:pPr>
            <a:r>
              <a:rPr lang="en-US" sz="1300" dirty="0">
                <a:solidFill>
                  <a:srgbClr val="1F24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courseNo is not a superkey here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6583680" y="4892040"/>
            <a:ext cx="4663440" cy="548640"/>
          </a:xfrm>
          <a:prstGeom prst="roundRect">
            <a:avLst>
              <a:gd name="adj" fmla="val 13333"/>
            </a:avLst>
          </a:prstGeom>
          <a:solidFill>
            <a:srgbClr val="E8A33D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6583680" y="4892040"/>
            <a:ext cx="4663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4181C"/>
                </a:solidFill>
              </a:rPr>
              <a:t>Violation — split again</a:t>
            </a:r>
            <a:endParaRPr lang="en-US" sz="14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7F8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320040"/>
            <a:ext cx="7315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8B7F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 4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594360"/>
            <a:ext cx="10881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24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Second Split, on courseNo → room</a:t>
            </a:r>
            <a:endParaRPr lang="en-US" sz="2600" dirty="0"/>
          </a:p>
        </p:txBody>
      </p:sp>
      <p:sp>
        <p:nvSpPr>
          <p:cNvPr id="4" name="Text 2"/>
          <p:cNvSpPr txBox="1"/>
          <p:nvPr/>
        </p:nvSpPr>
        <p:spPr>
          <a:xfrm>
            <a:off x="9951415" y="6455664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u="sng" dirty="0">
                <a:solidFill>
                  <a:srgbClr val="8A939B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cuinotes.com</a:t>
            </a:r>
            <a:pPr algn="r" indent="0" marL="0">
              <a:buNone/>
            </a:pPr>
            <a:r>
              <a:rPr lang="en-US" sz="1000" dirty="0">
                <a:solidFill>
                  <a:srgbClr val="8A939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10</a:t>
            </a:r>
            <a:endParaRPr lang="en-US" sz="10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1463040"/>
            <a:ext cx="10881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B72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Splitting StudentCourseRoom.  X = courseNo,  Y = room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1097280" y="2029968"/>
            <a:ext cx="45720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FE6C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CourseRoom (courseNo, room)</a:t>
            </a:r>
            <a:endParaRPr lang="en-US" sz="130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1097280" y="2377440"/>
          <a:ext cx="4572000" cy="914400"/>
        </p:xfrm>
        <a:graphic>
          <a:graphicData uri="http://schemas.openxmlformats.org/drawingml/2006/table">
            <a:tbl>
              <a:tblPr/>
              <a:tblGrid>
                <a:gridCol w="2286000"/>
                <a:gridCol w="2286000"/>
              </a:tblGrid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courseNo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7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81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room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7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81C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F242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CSC270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7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F242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LT-3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7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F242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CSC211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7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1F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F242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LT-1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7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1F3"/>
                    </a:solidFill>
                  </a:tcPr>
                </a:tc>
              </a:tr>
            </a:tbl>
          </a:graphicData>
        </a:graphic>
      </p:graphicFrame>
      <p:sp>
        <p:nvSpPr>
          <p:cNvPr id="8" name="Text 5"/>
          <p:cNvSpPr txBox="1"/>
          <p:nvPr/>
        </p:nvSpPr>
        <p:spPr>
          <a:xfrm>
            <a:off x="6492240" y="2029968"/>
            <a:ext cx="47548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8B7F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StudentCourse (studentNo, courseNo)</a:t>
            </a:r>
            <a:endParaRPr lang="en-US" sz="1300" dirty="0"/>
          </a:p>
        </p:txBody>
      </p:sp>
      <p:graphicFrame>
        <p:nvGraphicFramePr>
          <p:cNvPr id="21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92240" y="2377440"/>
          <a:ext cx="4754880" cy="914400"/>
        </p:xfrm>
        <a:graphic>
          <a:graphicData uri="http://schemas.openxmlformats.org/drawingml/2006/table">
            <a:tbl>
              <a:tblPr/>
              <a:tblGrid>
                <a:gridCol w="2377440"/>
                <a:gridCol w="2377440"/>
              </a:tblGrid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studentNo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7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81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courseNo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7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81C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F242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S1001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7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F242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CSC270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7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F242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S1002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7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1F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F242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CSC270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7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1F3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F242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S1001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7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F242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CSC211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7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F242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S1003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7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1F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F242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CSC270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7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1F3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F242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S1003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7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F242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CSC211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7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Shape 6"/>
          <p:cNvSpPr/>
          <p:nvPr/>
        </p:nvSpPr>
        <p:spPr>
          <a:xfrm>
            <a:off x="640080" y="5623560"/>
            <a:ext cx="10881360" cy="502920"/>
          </a:xfrm>
          <a:prstGeom prst="roundRect">
            <a:avLst>
              <a:gd name="adj" fmla="val 14545"/>
            </a:avLst>
          </a:prstGeom>
          <a:solidFill>
            <a:srgbClr val="EEF1F3"/>
          </a:solidFill>
          <a:ln/>
        </p:spPr>
      </p:sp>
      <p:sp>
        <p:nvSpPr>
          <p:cNvPr id="11" name="Text 7"/>
          <p:cNvSpPr txBox="1"/>
          <p:nvPr/>
        </p:nvSpPr>
        <p:spPr>
          <a:xfrm>
            <a:off x="914400" y="5623560"/>
            <a:ext cx="103327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StudentCourse is all-key (studentNo, courseNo) — no non-trivial FDs remain, so it is automatically in BCNF.</a:t>
            </a:r>
            <a:endParaRPr lang="en-US" sz="12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7F8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320040"/>
            <a:ext cx="7315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8B7F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 5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594360"/>
            <a:ext cx="10881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24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Final BCNF Check on Every Piece</a:t>
            </a:r>
            <a:endParaRPr lang="en-US" sz="2600" dirty="0"/>
          </a:p>
        </p:txBody>
      </p:sp>
      <p:sp>
        <p:nvSpPr>
          <p:cNvPr id="4" name="Text 2"/>
          <p:cNvSpPr txBox="1"/>
          <p:nvPr/>
        </p:nvSpPr>
        <p:spPr>
          <a:xfrm>
            <a:off x="9951415" y="6455664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u="sng" dirty="0">
                <a:solidFill>
                  <a:srgbClr val="8A939B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cuinotes.com</a:t>
            </a:r>
            <a:pPr algn="r" indent="0" marL="0">
              <a:buNone/>
            </a:pPr>
            <a:r>
              <a:rPr lang="en-US" sz="1000" dirty="0">
                <a:solidFill>
                  <a:srgbClr val="8A939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11</a:t>
            </a:r>
            <a:endParaRPr lang="en-US" sz="1000" dirty="0"/>
          </a:p>
        </p:txBody>
      </p:sp>
      <p:graphicFrame>
        <p:nvGraphicFramePr>
          <p:cNvPr id="1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1737360"/>
          <a:ext cx="10881360" cy="914400"/>
        </p:xfrm>
        <a:graphic>
          <a:graphicData uri="http://schemas.openxmlformats.org/drawingml/2006/table">
            <a:tbl>
              <a:tblPr/>
              <a:tblGrid>
                <a:gridCol w="3931920"/>
                <a:gridCol w="2194560"/>
                <a:gridCol w="3383280"/>
                <a:gridCol w="1371600"/>
              </a:tblGrid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Relation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7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81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Candidate Key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7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81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Every Determinant a Superkey?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7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81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BCNF?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7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81C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F242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CourseInstructor(courseNo, instructorNo)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7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F242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courseNo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7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F242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Yes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7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F242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Pass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7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F242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CourseRoom(courseNo, room)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7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1F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F242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courseNo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7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1F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F242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Yes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7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1F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F242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Pass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7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1F3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F242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StudentCourse(studentNo, courseNo)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7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F242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studentNo, courseNo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7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F242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Yes — all-key relation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7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F242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Pass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7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Shape 3"/>
          <p:cNvSpPr/>
          <p:nvPr/>
        </p:nvSpPr>
        <p:spPr>
          <a:xfrm>
            <a:off x="640080" y="3474720"/>
            <a:ext cx="10881360" cy="2377440"/>
          </a:xfrm>
          <a:prstGeom prst="roundRect">
            <a:avLst>
              <a:gd name="adj" fmla="val 4615"/>
            </a:avLst>
          </a:prstGeom>
          <a:solidFill>
            <a:srgbClr val="14181C"/>
          </a:solidFill>
          <a:ln/>
        </p:spPr>
      </p:sp>
      <p:sp>
        <p:nvSpPr>
          <p:cNvPr id="7" name="Text 4"/>
          <p:cNvSpPr txBox="1"/>
          <p:nvPr/>
        </p:nvSpPr>
        <p:spPr>
          <a:xfrm>
            <a:off x="1005840" y="3703320"/>
            <a:ext cx="10149840" cy="1965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600" b="1" dirty="0">
                <a:solidFill>
                  <a:srgbClr val="2FE6C4"/>
                </a:solidFill>
              </a:rPr>
              <a:t>Three relations, not two</a:t>
            </a:r>
            <a:endParaRPr lang="en-US" sz="16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400" dirty="0">
                <a:solidFill>
                  <a:srgbClr val="FFFFFF"/>
                </a:solidFill>
              </a:rPr>
              <a:t>A direct consequence of Enrollment having had two independent violations, not one. The first split fixed FD2's violation but inherited FD3's problem into one half, which needed a second pass to resolve. This is exactly the “repeat” in “iterative BCNF decomposition.”</a:t>
            </a:r>
            <a:endParaRPr lang="en-US" sz="16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7F8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320040"/>
            <a:ext cx="7315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8B7F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VERIFICATION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594360"/>
            <a:ext cx="10881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24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Checking the Lossless-Join Property</a:t>
            </a:r>
            <a:endParaRPr lang="en-US" sz="2600" dirty="0"/>
          </a:p>
        </p:txBody>
      </p:sp>
      <p:sp>
        <p:nvSpPr>
          <p:cNvPr id="4" name="Text 2"/>
          <p:cNvSpPr txBox="1"/>
          <p:nvPr/>
        </p:nvSpPr>
        <p:spPr>
          <a:xfrm>
            <a:off x="9951415" y="6455664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u="sng" dirty="0">
                <a:solidFill>
                  <a:srgbClr val="8A939B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cuinotes.com</a:t>
            </a:r>
            <a:pPr algn="r" indent="0" marL="0">
              <a:buNone/>
            </a:pPr>
            <a:r>
              <a:rPr lang="en-US" sz="1000" dirty="0">
                <a:solidFill>
                  <a:srgbClr val="8A939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12</a:t>
            </a:r>
            <a:endParaRPr lang="en-US" sz="10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1554480"/>
            <a:ext cx="1088136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15000"/>
              </a:lnSpc>
              <a:spcAft>
                <a:spcPts val="1000"/>
              </a:spcAft>
              <a:buSzPct val="100000"/>
              <a:buChar char="•"/>
            </a:pPr>
            <a:r>
              <a:rPr lang="en-US" sz="1450" dirty="0">
                <a:solidFill>
                  <a:srgbClr val="1F24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decomposition is lossless if natural-joining the pieces reconstructs exactly the original relation — no rows lost, no spurious rows gained</a:t>
            </a:r>
            <a:endParaRPr lang="en-US" sz="1450" dirty="0"/>
          </a:p>
          <a:p>
            <a:pPr marL="342900" indent="-342900">
              <a:lnSpc>
                <a:spcPct val="115000"/>
              </a:lnSpc>
              <a:spcAft>
                <a:spcPts val="1000"/>
              </a:spcAft>
              <a:buSzPct val="100000"/>
              <a:buChar char="•"/>
            </a:pPr>
            <a:r>
              <a:rPr lang="en-US" sz="1450" dirty="0">
                <a:solidFill>
                  <a:srgbClr val="1F24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Theorem: R decomposes losslessly into R₁, R₂ iff R₁ ∩ R₂ → R₁ or R₁ ∩ R₂ → R₂</a:t>
            </a:r>
            <a:endParaRPr lang="en-US" sz="1450" dirty="0"/>
          </a:p>
          <a:p>
            <a:pPr marL="342900" indent="-342900">
              <a:lnSpc>
                <a:spcPct val="115000"/>
              </a:lnSpc>
              <a:spcAft>
                <a:spcPts val="1000"/>
              </a:spcAft>
              <a:buSzPct val="100000"/>
              <a:buChar char="•"/>
            </a:pPr>
            <a:r>
              <a:rPr lang="en-US" sz="1450" dirty="0">
                <a:solidFill>
                  <a:srgbClr val="1F24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Here R₁ ∩ R₂ = X, and X → Y was the FD we split on — so X → R₁ holds by construction, every time</a:t>
            </a:r>
            <a:endParaRPr lang="en-US" sz="1450" dirty="0"/>
          </a:p>
        </p:txBody>
      </p:sp>
      <p:sp>
        <p:nvSpPr>
          <p:cNvPr id="6" name="Shape 4"/>
          <p:cNvSpPr/>
          <p:nvPr/>
        </p:nvSpPr>
        <p:spPr>
          <a:xfrm>
            <a:off x="640080" y="3657600"/>
            <a:ext cx="10881360" cy="2286000"/>
          </a:xfrm>
          <a:prstGeom prst="roundRect">
            <a:avLst>
              <a:gd name="adj" fmla="val 3200"/>
            </a:avLst>
          </a:prstGeom>
          <a:solidFill>
            <a:srgbClr val="1E1E4C"/>
          </a:solidFill>
          <a:ln/>
          <a:effectLst>
            <a:outerShdw sx="100000" sy="100000" kx="0" ky="0" algn="bl" rotWithShape="0" blurRad="76200" dist="25400" dir="5400000">
              <a:srgbClr val="000000">
                <a:alpha val="25000"/>
              </a:srgbClr>
            </a:outerShdw>
          </a:effectLst>
        </p:spPr>
      </p:sp>
      <p:sp>
        <p:nvSpPr>
          <p:cNvPr id="7" name="Text 5"/>
          <p:cNvSpPr txBox="1"/>
          <p:nvPr/>
        </p:nvSpPr>
        <p:spPr>
          <a:xfrm>
            <a:off x="868680" y="3822192"/>
            <a:ext cx="10424160" cy="19568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250" dirty="0">
                <a:solidFill>
                  <a:srgbClr val="E8ECE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StudentCourse ⋈ CourseInstructor ⋈ CourseRoom</a:t>
            </a:r>
            <a:endParaRPr lang="en-US" sz="125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250" dirty="0">
                <a:solidFill>
                  <a:srgbClr val="E8ECE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(join on courseNo, then studentNo+courseNo)</a:t>
            </a:r>
            <a:endParaRPr lang="en-US" sz="125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250" dirty="0">
                <a:solidFill>
                  <a:srgbClr val="E8ECE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125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250" dirty="0">
                <a:solidFill>
                  <a:srgbClr val="E8ECE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studentNo | courseNo | instructorNo | room</a:t>
            </a:r>
            <a:endParaRPr lang="en-US" sz="125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250" dirty="0">
                <a:solidFill>
                  <a:srgbClr val="E8ECE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S1001     | CSC270   | I01          | LT-3</a:t>
            </a:r>
            <a:endParaRPr lang="en-US" sz="125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250" dirty="0">
                <a:solidFill>
                  <a:srgbClr val="E8ECE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S1002     | CSC270   | I01          | LT-3</a:t>
            </a:r>
            <a:endParaRPr lang="en-US" sz="125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250" dirty="0">
                <a:solidFill>
                  <a:srgbClr val="E8ECE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S1001     | CSC211   | I02          | LT-1</a:t>
            </a:r>
            <a:endParaRPr lang="en-US" sz="125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250" dirty="0">
                <a:solidFill>
                  <a:srgbClr val="E8ECE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S1003     | CSC270   | I01          | LT-3</a:t>
            </a:r>
            <a:endParaRPr lang="en-US" sz="125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250" dirty="0">
                <a:solidFill>
                  <a:srgbClr val="E8ECE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S1003     | CSC211   | I02          | LT-1</a:t>
            </a:r>
            <a:endParaRPr lang="en-US" sz="1250" dirty="0"/>
          </a:p>
        </p:txBody>
      </p:sp>
      <p:sp>
        <p:nvSpPr>
          <p:cNvPr id="8" name="Text 6"/>
          <p:cNvSpPr txBox="1"/>
          <p:nvPr/>
        </p:nvSpPr>
        <p:spPr>
          <a:xfrm>
            <a:off x="868680" y="3328416"/>
            <a:ext cx="10424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Rejoining the three relations — 5 rows out, 5 rows in</a:t>
            </a:r>
            <a:endParaRPr lang="en-US" sz="12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7F8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320040"/>
            <a:ext cx="7315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8B7F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TRADE-OFF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594360"/>
            <a:ext cx="10881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24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Dependency Preservation</a:t>
            </a:r>
            <a:endParaRPr lang="en-US" sz="2600" dirty="0"/>
          </a:p>
        </p:txBody>
      </p:sp>
      <p:sp>
        <p:nvSpPr>
          <p:cNvPr id="4" name="Text 2"/>
          <p:cNvSpPr txBox="1"/>
          <p:nvPr/>
        </p:nvSpPr>
        <p:spPr>
          <a:xfrm>
            <a:off x="9951415" y="6455664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u="sng" dirty="0">
                <a:solidFill>
                  <a:srgbClr val="8A939B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cuinotes.com</a:t>
            </a:r>
            <a:pPr algn="r" indent="0" marL="0">
              <a:buNone/>
            </a:pPr>
            <a:r>
              <a:rPr lang="en-US" sz="1000" dirty="0">
                <a:solidFill>
                  <a:srgbClr val="8A939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13</a:t>
            </a:r>
            <a:endParaRPr lang="en-US" sz="10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1554480"/>
            <a:ext cx="1088136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15000"/>
              </a:lnSpc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1F24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decomposition is dependency-preserving if every original FD holds directly in one relation, or can be inferred by combining local FDs — without a join</a:t>
            </a:r>
            <a:endParaRPr lang="en-US" sz="1500" dirty="0"/>
          </a:p>
          <a:p>
            <a:pPr marL="342900" indent="-342900">
              <a:lnSpc>
                <a:spcPct val="115000"/>
              </a:lnSpc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1F24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3NF synthesis always preserves every original FD — BCNF decomposition sometimes cannot, even when fully lossless</a:t>
            </a:r>
            <a:endParaRPr lang="en-US" sz="1500" dirty="0"/>
          </a:p>
          <a:p>
            <a:pPr marL="342900" indent="-342900">
              <a:lnSpc>
                <a:spcPct val="115000"/>
              </a:lnSpc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1F24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our example: FD2 lives entirely in CourseInstructor. FD3 is only implied by combining CourseInstructor + CourseRoom — checking it now depends on a join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640080" y="4892040"/>
            <a:ext cx="10881360" cy="1325880"/>
          </a:xfrm>
          <a:prstGeom prst="roundRect">
            <a:avLst>
              <a:gd name="adj" fmla="val 6897"/>
            </a:avLst>
          </a:prstGeom>
          <a:solidFill>
            <a:srgbClr val="FBF0DD"/>
          </a:solidFill>
          <a:ln w="15875">
            <a:solidFill>
              <a:srgbClr val="E8A33D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914400" y="5029200"/>
            <a:ext cx="1033272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b="1" dirty="0">
                <a:solidFill>
                  <a:srgbClr val="8A5A0F"/>
                </a:solidFill>
              </a:rPr>
              <a:t>A real design decision, not a footnote</a:t>
            </a:r>
            <a:endParaRPr lang="en-US" sz="135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250" dirty="0">
                <a:solidFill>
                  <a:srgbClr val="5C4210"/>
                </a:solidFill>
              </a:rPr>
              <a:t>When BCNF loses dependency preservation: (1) enforce the lost constraint with a trigger, (2) settle for 3NF on that relation, or (3) redesign the business rule — there is no universal right answer.</a:t>
            </a:r>
            <a:endParaRPr lang="en-US" sz="135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7F8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320040"/>
            <a:ext cx="7315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8B7F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SIDE BY SIDE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594360"/>
            <a:ext cx="10881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24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3NF Synthesis vs. BCNF Decomposition</a:t>
            </a:r>
            <a:endParaRPr lang="en-US" sz="2600" dirty="0"/>
          </a:p>
        </p:txBody>
      </p:sp>
      <p:sp>
        <p:nvSpPr>
          <p:cNvPr id="4" name="Text 2"/>
          <p:cNvSpPr txBox="1"/>
          <p:nvPr/>
        </p:nvSpPr>
        <p:spPr>
          <a:xfrm>
            <a:off x="9951415" y="6455664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u="sng" dirty="0">
                <a:solidFill>
                  <a:srgbClr val="8A939B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cuinotes.com</a:t>
            </a:r>
            <a:pPr algn="r" indent="0" marL="0">
              <a:buNone/>
            </a:pPr>
            <a:r>
              <a:rPr lang="en-US" sz="1000" dirty="0">
                <a:solidFill>
                  <a:srgbClr val="8A939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14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640080" y="1691640"/>
            <a:ext cx="5212080" cy="4206240"/>
          </a:xfrm>
          <a:prstGeom prst="roundRect">
            <a:avLst>
              <a:gd name="adj" fmla="val 2609"/>
            </a:avLst>
          </a:prstGeom>
          <a:solidFill>
            <a:srgbClr val="FFFFFF"/>
          </a:solidFill>
          <a:ln w="19050">
            <a:solidFill>
              <a:srgbClr val="2FE6C4"/>
            </a:solidFill>
            <a:prstDash val="solid"/>
          </a:ln>
          <a:effectLst>
            <a:outerShdw sx="100000" sy="100000" kx="0" ky="0" algn="bl" rotWithShape="0" blurRad="63500" dist="25400" dir="54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960120" y="2011680"/>
            <a:ext cx="2377440" cy="502920"/>
          </a:xfrm>
          <a:prstGeom prst="roundRect">
            <a:avLst>
              <a:gd name="adj" fmla="val 10909"/>
            </a:avLst>
          </a:prstGeom>
          <a:solidFill>
            <a:srgbClr val="2FE6C4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960120" y="2011680"/>
            <a:ext cx="2377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4181C"/>
                </a:solidFill>
              </a:rPr>
              <a:t>3NF Synthesis</a:t>
            </a:r>
            <a:endParaRPr lang="en-US" sz="1500" dirty="0"/>
          </a:p>
        </p:txBody>
      </p:sp>
      <p:sp>
        <p:nvSpPr>
          <p:cNvPr id="8" name="Text 6"/>
          <p:cNvSpPr txBox="1"/>
          <p:nvPr/>
        </p:nvSpPr>
        <p:spPr>
          <a:xfrm>
            <a:off x="960120" y="2743200"/>
            <a:ext cx="45720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350" dirty="0">
                <a:solidFill>
                  <a:srgbClr val="1F24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Always lossless AND always dependency-preserving — the synthesis algorithm builds one relation per FD specifically to guarantee this.</a:t>
            </a:r>
            <a:endParaRPr lang="en-US" sz="1350" dirty="0"/>
          </a:p>
        </p:txBody>
      </p:sp>
      <p:sp>
        <p:nvSpPr>
          <p:cNvPr id="9" name="Text 7"/>
          <p:cNvSpPr txBox="1"/>
          <p:nvPr/>
        </p:nvSpPr>
        <p:spPr>
          <a:xfrm>
            <a:off x="960120" y="4343400"/>
            <a:ext cx="45720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Trade-off: may retain a small amount of redundancy that BCNF would remove.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6309360" y="1691640"/>
            <a:ext cx="5212080" cy="4206240"/>
          </a:xfrm>
          <a:prstGeom prst="roundRect">
            <a:avLst>
              <a:gd name="adj" fmla="val 2609"/>
            </a:avLst>
          </a:prstGeom>
          <a:solidFill>
            <a:srgbClr val="FFFFFF"/>
          </a:solidFill>
          <a:ln w="19050">
            <a:solidFill>
              <a:srgbClr val="E8A33D"/>
            </a:solidFill>
            <a:prstDash val="solid"/>
          </a:ln>
          <a:effectLst>
            <a:outerShdw sx="100000" sy="100000" kx="0" ky="0" algn="bl" rotWithShape="0" blurRad="63500" dist="25400" dir="5400000">
              <a:srgbClr val="000000">
                <a:alpha val="10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6629400" y="2011680"/>
            <a:ext cx="2377440" cy="502920"/>
          </a:xfrm>
          <a:prstGeom prst="roundRect">
            <a:avLst>
              <a:gd name="adj" fmla="val 10909"/>
            </a:avLst>
          </a:prstGeom>
          <a:solidFill>
            <a:srgbClr val="E8A33D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6629400" y="2011680"/>
            <a:ext cx="2377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4181C"/>
                </a:solidFill>
              </a:rPr>
              <a:t>BCNF Decomposition</a:t>
            </a:r>
            <a:endParaRPr lang="en-US" sz="1500" dirty="0"/>
          </a:p>
        </p:txBody>
      </p:sp>
      <p:sp>
        <p:nvSpPr>
          <p:cNvPr id="13" name="Text 11"/>
          <p:cNvSpPr txBox="1"/>
          <p:nvPr/>
        </p:nvSpPr>
        <p:spPr>
          <a:xfrm>
            <a:off x="6629400" y="2743200"/>
            <a:ext cx="45720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350" dirty="0">
                <a:solidFill>
                  <a:srgbClr val="1F24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Always lossless, but NOT guaranteed dependency-preserving.</a:t>
            </a:r>
            <a:endParaRPr lang="en-US" sz="1350" dirty="0"/>
          </a:p>
        </p:txBody>
      </p:sp>
      <p:sp>
        <p:nvSpPr>
          <p:cNvPr id="14" name="Text 12"/>
          <p:cNvSpPr txBox="1"/>
          <p:nvPr/>
        </p:nvSpPr>
        <p:spPr>
          <a:xfrm>
            <a:off x="6629400" y="4343400"/>
            <a:ext cx="45720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Trade-off: removes all redundancy tied to a non-key determinant, at the possible cost of needing a join to re-check some constraint.</a:t>
            </a:r>
            <a:endParaRPr lang="en-US" sz="125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7F8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320040"/>
            <a:ext cx="7315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8B7F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CONSOLIDATED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594360"/>
            <a:ext cx="10881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24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Testing Relations for BCNF — the Checklist</a:t>
            </a:r>
            <a:endParaRPr lang="en-US" sz="2600" dirty="0"/>
          </a:p>
        </p:txBody>
      </p:sp>
      <p:sp>
        <p:nvSpPr>
          <p:cNvPr id="4" name="Text 2"/>
          <p:cNvSpPr txBox="1"/>
          <p:nvPr/>
        </p:nvSpPr>
        <p:spPr>
          <a:xfrm>
            <a:off x="9951415" y="6455664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u="sng" dirty="0">
                <a:solidFill>
                  <a:srgbClr val="8A939B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cuinotes.com</a:t>
            </a:r>
            <a:pPr algn="r" indent="0" marL="0">
              <a:buNone/>
            </a:pPr>
            <a:r>
              <a:rPr lang="en-US" sz="1000" dirty="0">
                <a:solidFill>
                  <a:srgbClr val="8A939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15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640080" y="1600200"/>
            <a:ext cx="777240" cy="777240"/>
          </a:xfrm>
          <a:prstGeom prst="ellipse">
            <a:avLst/>
          </a:prstGeom>
          <a:solidFill>
            <a:srgbClr val="2FE6C4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640080" y="1600200"/>
            <a:ext cx="777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14181C"/>
                </a:solidFill>
              </a:rPr>
              <a:t>1</a:t>
            </a:r>
            <a:endParaRPr lang="en-US" sz="2200" dirty="0"/>
          </a:p>
        </p:txBody>
      </p:sp>
      <p:sp>
        <p:nvSpPr>
          <p:cNvPr id="7" name="Shape 5"/>
          <p:cNvSpPr/>
          <p:nvPr/>
        </p:nvSpPr>
        <p:spPr>
          <a:xfrm>
            <a:off x="1691640" y="1600200"/>
            <a:ext cx="9692640" cy="777240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 w="12700">
            <a:solidFill>
              <a:srgbClr val="D7DBDF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1965960" y="1600200"/>
            <a:ext cx="91440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F24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 every attribute of the relation and every FD projected onto it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" y="2523744"/>
            <a:ext cx="777240" cy="777240"/>
          </a:xfrm>
          <a:prstGeom prst="ellipse">
            <a:avLst/>
          </a:prstGeom>
          <a:solidFill>
            <a:srgbClr val="8B7FD9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640080" y="2523744"/>
            <a:ext cx="777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14181C"/>
                </a:solidFill>
              </a:rPr>
              <a:t>2</a:t>
            </a:r>
            <a:endParaRPr lang="en-US" sz="2200" dirty="0"/>
          </a:p>
        </p:txBody>
      </p:sp>
      <p:sp>
        <p:nvSpPr>
          <p:cNvPr id="11" name="Shape 9"/>
          <p:cNvSpPr/>
          <p:nvPr/>
        </p:nvSpPr>
        <p:spPr>
          <a:xfrm>
            <a:off x="1691640" y="2523744"/>
            <a:ext cx="9692640" cy="777240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 w="12700">
            <a:solidFill>
              <a:srgbClr val="D7DBDF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1965960" y="2523744"/>
            <a:ext cx="91440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F24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Find every candidate key by computing closures (Lecture 20)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640080" y="3447288"/>
            <a:ext cx="777240" cy="777240"/>
          </a:xfrm>
          <a:prstGeom prst="ellipse">
            <a:avLst/>
          </a:prstGeom>
          <a:solidFill>
            <a:srgbClr val="2FE6C4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640080" y="3447288"/>
            <a:ext cx="777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14181C"/>
                </a:solidFill>
              </a:rPr>
              <a:t>3</a:t>
            </a:r>
            <a:endParaRPr lang="en-US" sz="2200" dirty="0"/>
          </a:p>
        </p:txBody>
      </p:sp>
      <p:sp>
        <p:nvSpPr>
          <p:cNvPr id="15" name="Shape 13"/>
          <p:cNvSpPr/>
          <p:nvPr/>
        </p:nvSpPr>
        <p:spPr>
          <a:xfrm>
            <a:off x="1691640" y="3447288"/>
            <a:ext cx="9692640" cy="777240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 w="12700">
            <a:solidFill>
              <a:srgbClr val="D7DBDF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1965960" y="3447288"/>
            <a:ext cx="91440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F24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 every non-trivial FD X → Y in that set, compute X⁺</a:t>
            </a:r>
            <a:endParaRPr lang="en-US" sz="1400" dirty="0"/>
          </a:p>
        </p:txBody>
      </p:sp>
      <p:sp>
        <p:nvSpPr>
          <p:cNvPr id="17" name="Shape 15"/>
          <p:cNvSpPr/>
          <p:nvPr/>
        </p:nvSpPr>
        <p:spPr>
          <a:xfrm>
            <a:off x="640080" y="4370832"/>
            <a:ext cx="777240" cy="777240"/>
          </a:xfrm>
          <a:prstGeom prst="ellipse">
            <a:avLst/>
          </a:prstGeom>
          <a:solidFill>
            <a:srgbClr val="8B7FD9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640080" y="4370832"/>
            <a:ext cx="777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14181C"/>
                </a:solidFill>
              </a:rPr>
              <a:t>4</a:t>
            </a:r>
            <a:endParaRPr lang="en-US" sz="2200" dirty="0"/>
          </a:p>
        </p:txBody>
      </p:sp>
      <p:sp>
        <p:nvSpPr>
          <p:cNvPr id="19" name="Shape 17"/>
          <p:cNvSpPr/>
          <p:nvPr/>
        </p:nvSpPr>
        <p:spPr>
          <a:xfrm>
            <a:off x="1691640" y="4370832"/>
            <a:ext cx="9692640" cy="777240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 w="12700">
            <a:solidFill>
              <a:srgbClr val="D7DBDF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1965960" y="4370832"/>
            <a:ext cx="91440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F24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If X⁺ covers all attributes, that FD is fine; if any FD fails, split on it</a:t>
            </a:r>
            <a:endParaRPr lang="en-US" sz="1400" dirty="0"/>
          </a:p>
        </p:txBody>
      </p:sp>
      <p:sp>
        <p:nvSpPr>
          <p:cNvPr id="21" name="Shape 19"/>
          <p:cNvSpPr/>
          <p:nvPr/>
        </p:nvSpPr>
        <p:spPr>
          <a:xfrm>
            <a:off x="640080" y="5294376"/>
            <a:ext cx="777240" cy="777240"/>
          </a:xfrm>
          <a:prstGeom prst="ellipse">
            <a:avLst/>
          </a:prstGeom>
          <a:solidFill>
            <a:srgbClr val="2FE6C4"/>
          </a:solidFill>
          <a:ln/>
        </p:spPr>
      </p:sp>
      <p:sp>
        <p:nvSpPr>
          <p:cNvPr id="22" name="Text 20"/>
          <p:cNvSpPr txBox="1"/>
          <p:nvPr/>
        </p:nvSpPr>
        <p:spPr>
          <a:xfrm>
            <a:off x="640080" y="5294376"/>
            <a:ext cx="777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14181C"/>
                </a:solidFill>
              </a:rPr>
              <a:t>5</a:t>
            </a:r>
            <a:endParaRPr lang="en-US" sz="2200" dirty="0"/>
          </a:p>
        </p:txBody>
      </p:sp>
      <p:sp>
        <p:nvSpPr>
          <p:cNvPr id="23" name="Shape 21"/>
          <p:cNvSpPr/>
          <p:nvPr/>
        </p:nvSpPr>
        <p:spPr>
          <a:xfrm>
            <a:off x="1691640" y="5294376"/>
            <a:ext cx="9692640" cy="777240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 w="12700">
            <a:solidFill>
              <a:srgbClr val="D7DBDF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1965960" y="5294376"/>
            <a:ext cx="91440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F24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Stop only when every relation in the decomposition passes with no exceptions</a:t>
            </a:r>
            <a:endParaRPr lang="en-US" sz="14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1418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463040" y="4572000"/>
            <a:ext cx="3291840" cy="3291840"/>
          </a:xfrm>
          <a:prstGeom prst="ellipse">
            <a:avLst/>
          </a:prstGeom>
          <a:solidFill>
            <a:srgbClr val="E8A33D">
              <a:alpha val="10000"/>
            </a:srgbClr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822960" y="548640"/>
            <a:ext cx="91440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Takeaways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822960" y="1234440"/>
            <a:ext cx="91" cy="91"/>
          </a:xfrm>
          <a:prstGeom prst="line">
            <a:avLst/>
          </a:prstGeom>
          <a:noFill/>
          <a:ln/>
        </p:spPr>
      </p:sp>
      <p:sp>
        <p:nvSpPr>
          <p:cNvPr id="5" name="Shape 3"/>
          <p:cNvSpPr/>
          <p:nvPr/>
        </p:nvSpPr>
        <p:spPr>
          <a:xfrm>
            <a:off x="822960" y="1842516"/>
            <a:ext cx="164592" cy="164592"/>
          </a:xfrm>
          <a:prstGeom prst="ellipse">
            <a:avLst/>
          </a:prstGeom>
          <a:solidFill>
            <a:srgbClr val="2FE6C4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1234440" y="1600200"/>
            <a:ext cx="10149840" cy="6492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6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BCNF algorithm is a loop: while some relation violates BCNF, split on a violating FD X → Y into R₁ = X ∪ Y and R₂ = X ∪ (R − Y), then re-test both halves.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822960" y="2491740"/>
            <a:ext cx="164592" cy="164592"/>
          </a:xfrm>
          <a:prstGeom prst="ellipse">
            <a:avLst/>
          </a:prstGeom>
          <a:solidFill>
            <a:srgbClr val="8B7FD9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1234440" y="2249424"/>
            <a:ext cx="10149840" cy="6492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6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relation can have more than one BCNF violation — fixing one split can leave or inherit a second, exactly as Enrollment needed two passes.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822960" y="3140964"/>
            <a:ext cx="164592" cy="164592"/>
          </a:xfrm>
          <a:prstGeom prst="ellipse">
            <a:avLst/>
          </a:prstGeom>
          <a:solidFill>
            <a:srgbClr val="E8A33D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1234440" y="2898648"/>
            <a:ext cx="10149840" cy="6492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6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split by this rule is automatically lossless: R₁ ∩ R₂ = X and X → R₁ holds by construction — no separate proof needed.</a:t>
            </a:r>
            <a:endParaRPr lang="en-US" sz="1600" dirty="0"/>
          </a:p>
        </p:txBody>
      </p:sp>
      <p:sp>
        <p:nvSpPr>
          <p:cNvPr id="11" name="Shape 9"/>
          <p:cNvSpPr/>
          <p:nvPr/>
        </p:nvSpPr>
        <p:spPr>
          <a:xfrm>
            <a:off x="822960" y="3790188"/>
            <a:ext cx="164592" cy="164592"/>
          </a:xfrm>
          <a:prstGeom prst="ellipse">
            <a:avLst/>
          </a:prstGeom>
          <a:solidFill>
            <a:srgbClr val="2FE6C4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1234440" y="3547872"/>
            <a:ext cx="10149840" cy="6492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6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Unlike 3NF synthesis, BCNF decomposition is NOT guaranteed to preserve every original FD — a genuine trade-off worth naming explicitly.</a:t>
            </a:r>
            <a:endParaRPr lang="en-US" sz="1600" dirty="0"/>
          </a:p>
        </p:txBody>
      </p:sp>
      <p:sp>
        <p:nvSpPr>
          <p:cNvPr id="13" name="Shape 11"/>
          <p:cNvSpPr/>
          <p:nvPr/>
        </p:nvSpPr>
        <p:spPr>
          <a:xfrm>
            <a:off x="822960" y="4439412"/>
            <a:ext cx="164592" cy="164592"/>
          </a:xfrm>
          <a:prstGeom prst="ellipse">
            <a:avLst/>
          </a:prstGeom>
          <a:solidFill>
            <a:srgbClr val="8B7FD9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1234440" y="4197096"/>
            <a:ext cx="10149840" cy="6492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6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re-test-every-piece discipline, driven by closure computation, is the engine of the whole algorithm.</a:t>
            </a:r>
            <a:endParaRPr lang="en-US" sz="1600" dirty="0"/>
          </a:p>
        </p:txBody>
      </p:sp>
      <p:sp>
        <p:nvSpPr>
          <p:cNvPr id="15" name="Text 13"/>
          <p:cNvSpPr txBox="1"/>
          <p:nvPr/>
        </p:nvSpPr>
        <p:spPr>
          <a:xfrm>
            <a:off x="9951415" y="6455664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u="sng" dirty="0">
                <a:solidFill>
                  <a:srgbClr val="8A939B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cuinotes.com</a:t>
            </a:r>
            <a:pPr algn="r" indent="0" marL="0">
              <a:buNone/>
            </a:pPr>
            <a:r>
              <a:rPr lang="en-US" sz="1000" dirty="0">
                <a:solidFill>
                  <a:srgbClr val="8A939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16</a:t>
            </a:r>
            <a:endParaRPr lang="en-US" sz="1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16</Slides>
  <Notes>16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16</vt:i4>
      </vt:variant>
    </vt:vector>
  </HeadingPairs>
  <TitlesOfParts>
    <vt:vector size="1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2026-09-29T08:26:22Z</dcterms:created>
  <dcterms:modified xsi:type="dcterms:W3CDTF">2026-09-29T08:26:22Z</dcterms:modified>
</cp:coreProperties>
</file>
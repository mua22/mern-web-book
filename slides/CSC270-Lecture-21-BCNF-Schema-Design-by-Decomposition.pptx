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  <Relationship Id="rId30" Type="http://schemas.openxmlformats.org/officeDocument/2006/relationships/slide" Target="slides/slide24.xml"/>
  <Relationship Id="rId31" Type="http://schemas.openxmlformats.org/officeDocument/2006/relationships/slide" Target="slides/slide25.xml"/>
  <Relationship Id="rId32" Type="http://schemas.openxmlformats.org/officeDocument/2006/relationships/slide" Target="slides/slide26.xml"/>
  <Relationship Id="rId33" Type="http://schemas.openxmlformats.org/officeDocument/2006/relationships/slide" Target="slides/slide27.xml"/>
  <Relationship Id="rId34" Type="http://schemas.openxmlformats.org/officeDocument/2006/relationships/slide" Target="slides/slide28.xml"/>
  <Relationship Id="rId35" Type="http://schemas.openxmlformats.org/officeDocument/2006/relationships/slide" Target="slides/slide29.xml"/>
  <Relationship Id="rId36" Type="http://schemas.openxmlformats.org/officeDocument/2006/relationships/slide" Target="slides/slide30.xml"/>
  <Relationship Id="rId37" Type="http://schemas.openxmlformats.org/officeDocument/2006/relationships/slide" Target="slides/slide31.xml"/>
  <Relationship Id="rId38" Type="http://schemas.openxmlformats.org/officeDocument/2006/relationships/slide" Target="slides/slide32.xml"/>
  <Relationship Id="rId39" Type="http://schemas.openxmlformats.org/officeDocument/2006/relationships/slide" Target="slides/slide33.xml"/>
  <Relationship Id="rId40" Type="http://schemas.openxmlformats.org/officeDocument/2006/relationships/slide" Target="slides/slide34.xml"/>
  <Relationship Id="rId41" Type="http://schemas.openxmlformats.org/officeDocument/2006/relationships/slide" Target="slides/slide35.xml"/>
  <Relationship Id="rId42" Type="http://schemas.openxmlformats.org/officeDocument/2006/relationships/slide" Target="slides/slide36.xml"/>
  <Relationship Id="rId43" Type="http://schemas.openxmlformats.org/officeDocument/2006/relationships/slide" Target="slides/slide37.xml"/>
  <Relationship Id="rId44" Type="http://schemas.openxmlformats.org/officeDocument/2006/relationships/slide" Target="slides/slide38.xml"/>
  <Relationship Id="rId45" Type="http://schemas.openxmlformats.org/officeDocument/2006/relationships/slide" Target="slides/slide39.xml"/>
  <Relationship Id="rId46" Type="http://schemas.openxmlformats.org/officeDocument/2006/relationships/slide" Target="slides/slide40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8B7FD9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Schema Design by Decomposition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822960" y="1554480"/>
            <a:ext cx="9509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BCNF Decomposition Algorithm, stated as a repeatable loop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which FD to split on when a relation has several violations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multi-step worked example — iterated until every piece is in BCNF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split must be checked for the lossless-join property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preservation: what it means, and why BCNF can sacrifice it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BCNF vs. 3NF synthesis trade-off, side by side</a:t>
            </a:r>
            <a:endParaRPr lang="en-US" sz="1800" dirty="0"/>
          </a:p>
        </p:txBody>
      </p:sp>
      <p:sp>
        <p:nvSpPr>
          <p:cNvPr id="5" name="Text 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BCNF Requires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R is in Boyce-Codd Normal Form if, for every non-trivial functional dependency X → Y that holds over R, X is a superkey of R.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must be able to determine ALL of R's attributes — not just the ones on the right-hand side of that one dependency.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640080" y="4114800"/>
            <a:ext cx="10515600" cy="19202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4114800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BCNF Test (from Lecture 20)</a:t>
            </a:r>
            <a:endParaRPr lang="en-US" sz="18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X⁺ under R's full FD set, and confirm X⁺ covers every attribute of R. If some FD's determinant fails that test, R violates BCNF — and this lecture's algorithm tells you exactly how to fix it.</a:t>
            </a:r>
            <a:endParaRPr lang="en-US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BCNF Decomposition Loop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1463040" y="1417320"/>
            <a:ext cx="841248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1463040" y="1417320"/>
            <a:ext cx="82296" cy="86868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1801368" y="1417320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 relation R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current decomposition — initially, just the original relation</a:t>
            </a:r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5669280" y="2286000"/>
            <a:ext cx="914" cy="201168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8" name="Shape 8"/>
          <p:cNvSpPr/>
          <p:nvPr/>
        </p:nvSpPr>
        <p:spPr>
          <a:xfrm>
            <a:off x="1463040" y="2487168"/>
            <a:ext cx="841248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1463040" y="2487168"/>
            <a:ext cx="82296" cy="86868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1801368" y="2487168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R for BCNF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FD X → Y over R, check whether X⁺ covers all of R's attributes</a:t>
            </a:r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5669280" y="3355848"/>
            <a:ext cx="914" cy="201168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2" name="Shape 12"/>
          <p:cNvSpPr/>
          <p:nvPr/>
        </p:nvSpPr>
        <p:spPr>
          <a:xfrm>
            <a:off x="1463040" y="3557016"/>
            <a:ext cx="841248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3"/>
          <p:cNvSpPr/>
          <p:nvPr/>
        </p:nvSpPr>
        <p:spPr>
          <a:xfrm>
            <a:off x="1463040" y="3557016"/>
            <a:ext cx="82296" cy="86868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4" name="Text 14"/>
          <p:cNvSpPr txBox="1"/>
          <p:nvPr/>
        </p:nvSpPr>
        <p:spPr>
          <a:xfrm>
            <a:off x="1801368" y="3557016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Split on a violating FD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X → Y where X is NOT a superkey — a genuine violation</a:t>
            </a:r>
            <a:endParaRPr lang="en-US" sz="1400" dirty="0"/>
          </a:p>
        </p:txBody>
      </p:sp>
      <p:sp>
        <p:nvSpPr>
          <p:cNvPr id="15" name="Shape 15"/>
          <p:cNvSpPr/>
          <p:nvPr/>
        </p:nvSpPr>
        <p:spPr>
          <a:xfrm>
            <a:off x="5669280" y="4425696"/>
            <a:ext cx="914" cy="201168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6" name="Shape 16"/>
          <p:cNvSpPr/>
          <p:nvPr/>
        </p:nvSpPr>
        <p:spPr>
          <a:xfrm>
            <a:off x="1463040" y="4626864"/>
            <a:ext cx="841248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1463040" y="4626864"/>
            <a:ext cx="82296" cy="86868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1801368" y="4626864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Replace R with R₁, R₂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 = X ∪ Y     R₂ = X ∪ (R − Y); project R's FDs onto each</a:t>
            </a:r>
            <a:endParaRPr lang="en-US" sz="1400" dirty="0"/>
          </a:p>
        </p:txBody>
      </p:sp>
      <p:sp>
        <p:nvSpPr>
          <p:cNvPr id="19" name="Shape 19"/>
          <p:cNvSpPr/>
          <p:nvPr/>
        </p:nvSpPr>
        <p:spPr>
          <a:xfrm>
            <a:off x="5669280" y="5495544"/>
            <a:ext cx="914" cy="201168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20" name="Shape 20"/>
          <p:cNvSpPr/>
          <p:nvPr/>
        </p:nvSpPr>
        <p:spPr>
          <a:xfrm>
            <a:off x="1463040" y="5696712"/>
            <a:ext cx="841248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21"/>
          <p:cNvSpPr/>
          <p:nvPr/>
        </p:nvSpPr>
        <p:spPr>
          <a:xfrm>
            <a:off x="1463040" y="5696712"/>
            <a:ext cx="82296" cy="86868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22" name="Text 22"/>
          <p:cNvSpPr txBox="1"/>
          <p:nvPr/>
        </p:nvSpPr>
        <p:spPr>
          <a:xfrm>
            <a:off x="1801368" y="5696712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Loop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R₁ and R₂ from step 1; stop only when every relation passes step 2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DETAILS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Get Wrong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512064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960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96012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appears in both halves</a:t>
            </a:r>
            <a:endParaRPr lang="en-US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960120" y="31089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mistake — it's exactly what makes the join lossless. X becomes the connecting column between R₁ and R₂, playing the same role a foreign key plays after the split.</a:t>
            </a:r>
            <a:endParaRPr lang="en-US" sz="1800" dirty="0"/>
          </a:p>
        </p:txBody>
      </p:sp>
      <p:sp>
        <p:nvSpPr>
          <p:cNvPr id="9" name="Shape 9"/>
          <p:cNvSpPr/>
          <p:nvPr/>
        </p:nvSpPr>
        <p:spPr>
          <a:xfrm>
            <a:off x="6035040" y="1554480"/>
            <a:ext cx="5120640" cy="4480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6355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635508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NEW relations</a:t>
            </a:r>
            <a:endParaRPr lang="en-US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6355080" y="31089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declare victory after one split. A single split can easily leave one or both halves still violating BCNF if the original relation had more than one problem FD — exactly what happens in the worked example next.</a:t>
            </a:r>
            <a:endParaRPr lang="en-US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Enrollment Relation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17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(studentNo, courseNo, instructorNo, room)</a:t>
            </a:r>
            <a:endParaRPr lang="en-US" sz="18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1965960"/>
          <a:ext cx="9966960" cy="2743200"/>
        </p:xfrm>
        <a:graphic>
          <a:graphicData uri="http://schemas.openxmlformats.org/drawingml/2006/table">
            <a:tbl>
              <a:tblPr firstRow="1" bandRow="1"/>
              <a:tblGrid>
                <a:gridCol w="2491740"/>
                <a:gridCol w="2491740"/>
                <a:gridCol w="2491740"/>
                <a:gridCol w="24917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640080" y="512064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relation recording which student is enrolled in which course, taught by which instructor, meeting in which room.</a:t>
            </a:r>
            <a:endParaRPr lang="en-US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Rules (Functional Dependencies)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463040"/>
            <a:ext cx="9966960" cy="137160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640080" y="1463040"/>
            <a:ext cx="82296" cy="137160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978408" y="1463040"/>
            <a:ext cx="9464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FD1: studentNo, courseNo → instructorNo, room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enrollment in a course fixes who teaches it and where (a student can't be in two sections of the same course).</a:t>
            </a:r>
            <a:endParaRPr lang="en-US" sz="1500" dirty="0"/>
          </a:p>
        </p:txBody>
      </p:sp>
      <p:sp>
        <p:nvSpPr>
          <p:cNvPr id="7" name="Shape 7"/>
          <p:cNvSpPr/>
          <p:nvPr/>
        </p:nvSpPr>
        <p:spPr>
          <a:xfrm>
            <a:off x="640080" y="3017520"/>
            <a:ext cx="9966960" cy="137160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8"/>
          <p:cNvSpPr/>
          <p:nvPr/>
        </p:nvSpPr>
        <p:spPr>
          <a:xfrm>
            <a:off x="640080" y="3017520"/>
            <a:ext cx="82296" cy="137160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978408" y="3017520"/>
            <a:ext cx="9464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FD2: courseNo → instructorNo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course is taught by exactly one instructor (single-section policy — no parallel sections this term).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40080" y="4572000"/>
            <a:ext cx="9966960" cy="137160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640080" y="4572000"/>
            <a:ext cx="82296" cy="137160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978408" y="4572000"/>
            <a:ext cx="9464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FD3: instructorNo → room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instructor teaches out of one fixed room all term.</a:t>
            </a:r>
            <a:endParaRPr lang="en-US" sz="1500" dirty="0"/>
          </a:p>
        </p:txBody>
      </p:sp>
      <p:sp>
        <p:nvSpPr>
          <p:cNvPr id="13" name="Text 1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Candidate Key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17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testing BCNF we need the candidate key. Try each attribute set's closure under FD1, FD2, FD3:</a:t>
            </a:r>
            <a:endParaRPr lang="en-US" sz="18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2148840"/>
          <a:ext cx="9966960" cy="2267712"/>
        </p:xfrm>
        <a:graphic>
          <a:graphicData uri="http://schemas.openxmlformats.org/drawingml/2006/table">
            <a:tbl>
              <a:tblPr firstRow="1" bandRow="1"/>
              <a:tblGrid>
                <a:gridCol w="2790749"/>
                <a:gridCol w="3687775"/>
                <a:gridCol w="348843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set tried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all 4 attributes?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 FD starts with studentNo alone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{courseNo, instructorNo, room}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missing studentNo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{studentNo, courseNo}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{studentNo, courseNo, instructorNo, room}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via FD1 directly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40080" y="5074920"/>
            <a:ext cx="9966960" cy="123444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914400" y="5074920"/>
            <a:ext cx="9418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key: {studentNo, courseNo}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closure already reaches all four attributes, and no smaller set does — this is the only legal superkey-forming determinant.</a:t>
            </a:r>
            <a:endParaRPr lang="en-US" sz="1500" dirty="0"/>
          </a:p>
        </p:txBody>
      </p:sp>
      <p:sp>
        <p:nvSpPr>
          <p:cNvPr id="8" name="Text 8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Original Relation</a:t>
            </a:r>
            <a:endParaRPr lang="en-US" sz="26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40080" y="1554480"/>
          <a:ext cx="9966960" cy="2743200"/>
        </p:xfrm>
        <a:graphic>
          <a:graphicData uri="http://schemas.openxmlformats.org/drawingml/2006/table">
            <a:tbl>
              <a:tblPr firstRow="1" bandRow="1"/>
              <a:tblGrid>
                <a:gridCol w="996696"/>
                <a:gridCol w="2192731"/>
                <a:gridCol w="4784141"/>
                <a:gridCol w="199339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 superkey of Enrollment?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studentNo, 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it IS the key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courseNo⁺ = {courseNo, instructorNo, room}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instructorNo⁺ = {instructorNo, room}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40080" y="4526280"/>
            <a:ext cx="9966960" cy="173736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452628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violates BCNF — twice over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FDs (FD2 and FD3) each have a determinant that is not a superkey. The algorithm says: pick ONE violation and split; we'll pick FD2 first and come back to FD3's consequence afterward.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Split — Setting Up the Split on FD2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FD2: courseNo → instructorNo. Set X = courseNo, Y = instructorNo.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640080" y="2286000"/>
            <a:ext cx="9966960" cy="118872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640080" y="2286000"/>
            <a:ext cx="82296" cy="118872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7" name="Text 7"/>
          <p:cNvSpPr txBox="1"/>
          <p:nvPr/>
        </p:nvSpPr>
        <p:spPr>
          <a:xfrm>
            <a:off x="978408" y="2286000"/>
            <a:ext cx="9464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 = X ∪ Y = {courseNo} ∪ {instructorNo}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{courseNo, instructorNo}  →  becomes CourseInstructor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640080" y="3749040"/>
            <a:ext cx="9966960" cy="118872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9"/>
          <p:cNvSpPr/>
          <p:nvPr/>
        </p:nvSpPr>
        <p:spPr>
          <a:xfrm>
            <a:off x="640080" y="3749040"/>
            <a:ext cx="82296" cy="118872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978408" y="3749040"/>
            <a:ext cx="9464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 = X ∪ (R − Y) = {courseNo} ∪ {studentNo, courseNo, room}</a:t>
            </a:r>
            <a:endParaRPr lang="en-US" sz="18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{studentNo, courseNo, room}  →  becomes StudentCourseRoom</a:t>
            </a:r>
            <a:endParaRPr lang="en-US" sz="1600" dirty="0"/>
          </a:p>
        </p:txBody>
      </p:sp>
      <p:sp>
        <p:nvSpPr>
          <p:cNvPr id="11" name="Text 11"/>
          <p:cNvSpPr txBox="1"/>
          <p:nvPr/>
        </p:nvSpPr>
        <p:spPr>
          <a:xfrm>
            <a:off x="640080" y="52578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courseNo appears in BOTH halves — it becomes the connecting column, exactly like the foreign key it will act as once these are separate tables.</a:t>
            </a:r>
            <a:endParaRPr lang="en-US" sz="1500" dirty="0"/>
          </a:p>
        </p:txBody>
      </p:sp>
      <p:sp>
        <p:nvSpPr>
          <p:cNvPr id="12" name="Text 12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Split — the Resulting Relations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 (courseNo, instructorNo)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1828800"/>
          <a:ext cx="4846320" cy="1371600"/>
        </p:xfrm>
        <a:graphic>
          <a:graphicData uri="http://schemas.openxmlformats.org/drawingml/2006/table">
            <a:tbl>
              <a:tblPr firstRow="1" bandRow="1"/>
              <a:tblGrid>
                <a:gridCol w="242316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8521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StudentCourseRoom (studentNo, courseNo, room)</a:t>
            </a:r>
            <a:endParaRPr lang="en-US" sz="16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852160" y="1828800"/>
          <a:ext cx="5303520" cy="2414016"/>
        </p:xfrm>
        <a:graphic>
          <a:graphicData uri="http://schemas.openxmlformats.org/drawingml/2006/table">
            <a:tbl>
              <a:tblPr firstRow="1" bandRow="1"/>
              <a:tblGrid>
                <a:gridCol w="1767840"/>
                <a:gridCol w="1767840"/>
                <a:gridCol w="1767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640080" y="5212080"/>
            <a:ext cx="10515600" cy="109728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914400" y="52120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finished yet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 carries FD2 and looks fine. StudentCourseRoom still needs testing — it inherited FD3's consequence indirectly, as the next two slides show.</a:t>
            </a:r>
            <a:endParaRPr lang="en-US" sz="1500" dirty="0"/>
          </a:p>
        </p:txBody>
      </p:sp>
      <p:sp>
        <p:nvSpPr>
          <p:cNvPr id="10" name="Text 10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CourseInstructor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CourseInstructor(courseNo, instructorNo) — the only FD projected here is FD2 itself: courseNo → instructorNo.</a:t>
            </a:r>
            <a:endParaRPr lang="en-US" sz="18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2651760"/>
          <a:ext cx="9966960" cy="2057400"/>
        </p:xfrm>
        <a:graphic>
          <a:graphicData uri="http://schemas.openxmlformats.org/drawingml/2006/table">
            <a:tbl>
              <a:tblPr firstRow="1" bandRow="1"/>
              <a:tblGrid>
                <a:gridCol w="3289097"/>
                <a:gridCol w="6677863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 — its closure courseNo⁺ = {courseNo, instructorNo} reaches both attributes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determinant a superkey?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courseNo IS the key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40080" y="4846320"/>
            <a:ext cx="9966960" cy="11887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E6C4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914400" y="48463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 is in BCNF — done</a:t>
            </a:r>
            <a:endParaRPr lang="en-US" sz="18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relation needs no further splitting. Set it aside as one of the final pieces.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StudentCourseRoom Inherits a Violation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173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StudentCourseRoom(studentNo, courseNo, room) no longer even mentions instructorNo — so does FD3 (instructorNo → room) just vanish? No: its CONSEQUENCE survives indirectly, through transitivity.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640080" y="2606040"/>
            <a:ext cx="9966960" cy="96012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640080" y="2606040"/>
            <a:ext cx="82296" cy="96012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7" name="Text 7"/>
          <p:cNvSpPr txBox="1"/>
          <p:nvPr/>
        </p:nvSpPr>
        <p:spPr>
          <a:xfrm>
            <a:off x="978408" y="2606040"/>
            <a:ext cx="9464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A: courseNo → instructorNo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FD2, still true of the data.</a:t>
            </a:r>
            <a:endParaRPr lang="en-US" sz="1500" dirty="0"/>
          </a:p>
        </p:txBody>
      </p:sp>
      <p:sp>
        <p:nvSpPr>
          <p:cNvPr id="8" name="Shape 8"/>
          <p:cNvSpPr/>
          <p:nvPr/>
        </p:nvSpPr>
        <p:spPr>
          <a:xfrm>
            <a:off x="5623560" y="3566160"/>
            <a:ext cx="914" cy="182880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9" name="Shape 9"/>
          <p:cNvSpPr/>
          <p:nvPr/>
        </p:nvSpPr>
        <p:spPr>
          <a:xfrm>
            <a:off x="640080" y="3931920"/>
            <a:ext cx="9966960" cy="96012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640080" y="3931920"/>
            <a:ext cx="82296" cy="96012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978408" y="3931920"/>
            <a:ext cx="9464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B: instructorNo → room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FD3, still true of the data.</a:t>
            </a:r>
            <a:endParaRPr lang="en-US" sz="1500" dirty="0"/>
          </a:p>
        </p:txBody>
      </p:sp>
      <p:sp>
        <p:nvSpPr>
          <p:cNvPr id="12" name="Shape 12"/>
          <p:cNvSpPr/>
          <p:nvPr/>
        </p:nvSpPr>
        <p:spPr>
          <a:xfrm>
            <a:off x="640080" y="5120640"/>
            <a:ext cx="9966960" cy="123444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914400" y="5120640"/>
            <a:ext cx="9418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A and B: courseNo → room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transitivity, courseNo determines room too — even though this new FD was never written down explicitly; it's a logical consequence of FD2 + FD3.</a:t>
            </a:r>
            <a:endParaRPr lang="en-US" sz="1500" dirty="0"/>
          </a:p>
        </p:txBody>
      </p:sp>
      <p:sp>
        <p:nvSpPr>
          <p:cNvPr id="14" name="Text 14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StudentCourseRoom — the Inherited Violation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173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test courseNo → room against StudentCourseRoom's candidate key, {studentNo, courseNo}:</a:t>
            </a:r>
            <a:endParaRPr lang="en-US" sz="18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2148840"/>
          <a:ext cx="9966960" cy="2487168"/>
        </p:xfrm>
        <a:graphic>
          <a:graphicData uri="http://schemas.openxmlformats.org/drawingml/2006/table">
            <a:tbl>
              <a:tblPr firstRow="1" bandRow="1"/>
              <a:tblGrid>
                <a:gridCol w="3986784"/>
                <a:gridCol w="5980176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courseNo⁺ over StudentCourseRoom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{courseNo, room} — using the inherited FD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cover studentNo?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studentNo is missing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courseNo a superkey here?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Violation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40080" y="4800600"/>
            <a:ext cx="9966960" cy="118872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914400" y="48006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StudentCourseRoom violates BCNF — split again</a:t>
            </a:r>
            <a:endParaRPr lang="en-US" sz="16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“repeat” in “iterative BCNF decomposition.” The first split fixed FD2's violation but inherited FD3's problem into one half, which needs its own second pass.</a:t>
            </a:r>
            <a:endParaRPr lang="en-US" sz="1400" dirty="0"/>
          </a:p>
        </p:txBody>
      </p:sp>
      <p:sp>
        <p:nvSpPr>
          <p:cNvPr id="8" name="Text 8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Split — on courseNo → room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371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StudentCourseRoom on courseNo → room. X = courseNo, Y = room.</a:t>
            </a:r>
            <a:endParaRPr lang="en-US" sz="1600" dirty="0"/>
          </a:p>
        </p:txBody>
      </p:sp>
      <p:sp>
        <p:nvSpPr>
          <p:cNvPr id="5" name="Text 5"/>
          <p:cNvSpPr txBox="1"/>
          <p:nvPr/>
        </p:nvSpPr>
        <p:spPr>
          <a:xfrm>
            <a:off x="6400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CourseRoom (courseNo, room)</a:t>
            </a:r>
            <a:endParaRPr lang="en-US" sz="16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40080" y="2423160"/>
          <a:ext cx="4846320" cy="1316736"/>
        </p:xfrm>
        <a:graphic>
          <a:graphicData uri="http://schemas.openxmlformats.org/drawingml/2006/table">
            <a:tbl>
              <a:tblPr firstRow="1" bandRow="1"/>
              <a:tblGrid>
                <a:gridCol w="2423160"/>
                <a:gridCol w="24231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585216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 (studentNo, courseNo)</a:t>
            </a:r>
            <a:endParaRPr lang="en-US" sz="1600" dirty="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852160" y="2423160"/>
          <a:ext cx="5303520" cy="2194560"/>
        </p:xfrm>
        <a:graphic>
          <a:graphicData uri="http://schemas.openxmlformats.org/drawingml/2006/table">
            <a:tbl>
              <a:tblPr firstRow="1" bandRow="1"/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9"/>
          <p:cNvSpPr/>
          <p:nvPr/>
        </p:nvSpPr>
        <p:spPr>
          <a:xfrm>
            <a:off x="640080" y="5440680"/>
            <a:ext cx="10515600" cy="100584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914400" y="54406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 is all-key</a:t>
            </a:r>
            <a:endParaRPr lang="en-US" sz="16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{studentNo, courseNo} — no non-trivial FDs remain, so it is automatically in BCNF.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BCNF Check on Every Piece</a:t>
            </a:r>
            <a:endParaRPr lang="en-US" sz="26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40080" y="1554480"/>
          <a:ext cx="9966960" cy="2743200"/>
        </p:xfrm>
        <a:graphic>
          <a:graphicData uri="http://schemas.openxmlformats.org/drawingml/2006/table">
            <a:tbl>
              <a:tblPr firstRow="1" bandRow="1"/>
              <a:tblGrid>
                <a:gridCol w="3787445"/>
                <a:gridCol w="1993392"/>
                <a:gridCol w="2990088"/>
                <a:gridCol w="119603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determinant a superkey?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BCNF?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CourseInstructor(courseNo, instructorNo)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CourseRoom(courseNo, room)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StudentCourse(studentNo, courseNo)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studentNo, courseNo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all-key relation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40080" y="4526280"/>
            <a:ext cx="9966960" cy="173736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452628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relations, not two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consequence of Enrollment having had two independent violations, not one. The first split fixed FD2's violation but inherited FD3's problem into one half, which needed a second pass to resolve.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ITERATION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Decomposition Tree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2834640" y="1371600"/>
            <a:ext cx="5760720" cy="86868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2834640" y="1371600"/>
            <a:ext cx="82296" cy="86868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3172968" y="13716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studentNo, courseNo, instructorNo, room — 2 BCNF violations</a:t>
            </a:r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5669280" y="2240280"/>
            <a:ext cx="914" cy="228600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8" name="Text 8"/>
          <p:cNvSpPr txBox="1"/>
          <p:nvPr/>
        </p:nvSpPr>
        <p:spPr>
          <a:xfrm>
            <a:off x="2834640" y="2468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FD2 (courseNo → instructorNo)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640080" y="2834640"/>
            <a:ext cx="4480560" cy="77724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10"/>
          <p:cNvSpPr/>
          <p:nvPr/>
        </p:nvSpPr>
        <p:spPr>
          <a:xfrm>
            <a:off x="640080" y="2834640"/>
            <a:ext cx="82296" cy="77724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978408" y="28346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— done</a:t>
            </a:r>
            <a:endParaRPr lang="en-US" sz="1400" dirty="0"/>
          </a:p>
        </p:txBody>
      </p:sp>
      <p:sp>
        <p:nvSpPr>
          <p:cNvPr id="12" name="Shape 12"/>
          <p:cNvSpPr/>
          <p:nvPr/>
        </p:nvSpPr>
        <p:spPr>
          <a:xfrm>
            <a:off x="6217920" y="2834640"/>
            <a:ext cx="4480560" cy="77724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3"/>
          <p:cNvSpPr/>
          <p:nvPr/>
        </p:nvSpPr>
        <p:spPr>
          <a:xfrm>
            <a:off x="6217920" y="283464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4" name="Text 14"/>
          <p:cNvSpPr txBox="1"/>
          <p:nvPr/>
        </p:nvSpPr>
        <p:spPr>
          <a:xfrm>
            <a:off x="6556248" y="28346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StudentCourseRoom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violates — split again</a:t>
            </a:r>
            <a:endParaRPr lang="en-US" sz="1400" dirty="0"/>
          </a:p>
        </p:txBody>
      </p:sp>
      <p:sp>
        <p:nvSpPr>
          <p:cNvPr id="15" name="Shape 15"/>
          <p:cNvSpPr/>
          <p:nvPr/>
        </p:nvSpPr>
        <p:spPr>
          <a:xfrm>
            <a:off x="8412480" y="3611880"/>
            <a:ext cx="914" cy="228600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16" name="Text 16"/>
          <p:cNvSpPr txBox="1"/>
          <p:nvPr/>
        </p:nvSpPr>
        <p:spPr>
          <a:xfrm>
            <a:off x="6217920" y="3840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courseNo → room</a:t>
            </a:r>
            <a:endParaRPr lang="en-US" sz="1300" dirty="0"/>
          </a:p>
        </p:txBody>
      </p:sp>
      <p:sp>
        <p:nvSpPr>
          <p:cNvPr id="17" name="Shape 17"/>
          <p:cNvSpPr/>
          <p:nvPr/>
        </p:nvSpPr>
        <p:spPr>
          <a:xfrm>
            <a:off x="5394960" y="4206240"/>
            <a:ext cx="2651760" cy="77724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8"/>
          <p:cNvSpPr/>
          <p:nvPr/>
        </p:nvSpPr>
        <p:spPr>
          <a:xfrm>
            <a:off x="5394960" y="4206240"/>
            <a:ext cx="82296" cy="77724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19" name="Text 19"/>
          <p:cNvSpPr txBox="1"/>
          <p:nvPr/>
        </p:nvSpPr>
        <p:spPr>
          <a:xfrm>
            <a:off x="5733288" y="4206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CourseRoom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— done</a:t>
            </a:r>
            <a:endParaRPr lang="en-US" sz="1400" dirty="0"/>
          </a:p>
        </p:txBody>
      </p:sp>
      <p:sp>
        <p:nvSpPr>
          <p:cNvPr id="20" name="Shape 20"/>
          <p:cNvSpPr/>
          <p:nvPr/>
        </p:nvSpPr>
        <p:spPr>
          <a:xfrm>
            <a:off x="8229600" y="4206240"/>
            <a:ext cx="2514600" cy="777240"/>
          </a:xfrm>
          <a:prstGeom prst="roundRect">
            <a:avLst>
              <a:gd name="adj" fmla="val 1497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21"/>
          <p:cNvSpPr/>
          <p:nvPr/>
        </p:nvSpPr>
        <p:spPr>
          <a:xfrm>
            <a:off x="8229600" y="4206240"/>
            <a:ext cx="82296" cy="77724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22" name="Text 22"/>
          <p:cNvSpPr txBox="1"/>
          <p:nvPr/>
        </p:nvSpPr>
        <p:spPr>
          <a:xfrm>
            <a:off x="8567928" y="4206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all-key — BCNF</a:t>
            </a:r>
            <a:endParaRPr lang="en-US" sz="1400" dirty="0"/>
          </a:p>
        </p:txBody>
      </p:sp>
      <p:sp>
        <p:nvSpPr>
          <p:cNvPr id="23" name="Shape 23"/>
          <p:cNvSpPr/>
          <p:nvPr/>
        </p:nvSpPr>
        <p:spPr>
          <a:xfrm>
            <a:off x="640080" y="5257800"/>
            <a:ext cx="10515600" cy="105156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914400" y="52578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 can require more than one pass</a:t>
            </a:r>
            <a:endParaRPr lang="en-US" sz="16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45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violations in the original relation → two passes of the loop → three final relations.</a:t>
            </a:r>
            <a:endParaRPr lang="en-US" sz="1450" dirty="0"/>
          </a:p>
        </p:txBody>
      </p:sp>
      <p:sp>
        <p:nvSpPr>
          <p:cNvPr id="25" name="Text 2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Lossless-Join Property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is lossless if natural-joining the pieces back together reconstructs exactly the original relation — no rows lost, no spurious rows gained.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(Lecture 20): a decomposition of R into R₁, R₂ is lossless if and only if R₁ ∩ R₂ → R₁ or R₁ ∩ R₂ → R₂ holds.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640080" y="3657600"/>
            <a:ext cx="9966960" cy="256032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3657600"/>
            <a:ext cx="9418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BCNF-algorithm split satisfies this automatically</a:t>
            </a:r>
            <a:endParaRPr lang="en-US" sz="18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R₁ ∩ R₂ = X, and X → Y was the very FD we split on — so X → R₁ holds trivially (R₁ = X ∪ Y, and X → X ∪ Y whenever X → Y). You never need to separately prove losslessness for a BCNF-algorithm split; you only need to confirm you split on a real, verified FD.</a:t>
            </a:r>
            <a:endParaRPr lang="en-US" sz="16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Lossless-Join, Checked by Hand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StudentCourse ⋈ CourseInstructor ⋈ CourseRoom  (on courseNo, then studentNo+courseNo)</a:t>
            </a:r>
            <a:endParaRPr lang="en-US" sz="15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40080" y="2057400"/>
          <a:ext cx="9966960" cy="2743200"/>
        </p:xfrm>
        <a:graphic>
          <a:graphicData uri="http://schemas.openxmlformats.org/drawingml/2006/table">
            <a:tbl>
              <a:tblPr firstRow="1" bandRow="1"/>
              <a:tblGrid>
                <a:gridCol w="2491740"/>
                <a:gridCol w="2491740"/>
                <a:gridCol w="2491740"/>
                <a:gridCol w="24917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CSC211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LT-1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40080" y="5166360"/>
            <a:ext cx="9966960" cy="132588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914400" y="5166360"/>
            <a:ext cx="9418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rows out, five rows in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original Enrollment tuple reappears exactly once, with no extras. Lossless does not mean “nothing changed” — it means “nothing lost or invented.”</a:t>
            </a:r>
            <a:endParaRPr lang="en-US" sz="1500" dirty="0"/>
          </a:p>
        </p:txBody>
      </p:sp>
      <p:sp>
        <p:nvSpPr>
          <p:cNvPr id="8" name="Text 8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Preservation — the Definition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463040"/>
            <a:ext cx="9966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is dependency-preserving if every FD from the original relation's FD set either holds directly within one decomposed relation, or can be inferred by combining FDs that hold within the decomposed relations — without ever computing a join just to check a constraint.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synthesis always preserves every original FD. BCNF decomposition sometimes cannot — even when it is fully lossless.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640080" y="4251960"/>
            <a:ext cx="9966960" cy="192024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4251960"/>
            <a:ext cx="9418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dependency is lost, the DBMS can no longer enforce that business rule with a simple PRIMARY KEY or UNIQUE constraint on one small table — the next slide shows exactly where that happens in our example.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Loss Actually Happens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371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FD2 (courseNo → instructorNo) lives entirely inside CourseInstructor — fully preserved, enforceable with a key on that one table.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640080" y="2377440"/>
            <a:ext cx="9966960" cy="15544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914400" y="2377440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FD3 (instructorNo → room) is the one that gets hurt</a:t>
            </a:r>
            <a:endParaRPr lang="en-US" sz="17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only implied by combining CourseInstructor + CourseRoom. No single table stores instructorNo and room together anymore, so no single table's key can check it.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640080" y="4160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insert anomaly: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822960" y="45720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CourseInstructor VALUES ('CSC401', 'I01')  — legal: courseNo is the key, no violation locally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CourseRoom VALUES ('CSC401', 'LT-5')  — also legal, same reasoning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imply I01 teaches from BOTH LT-3 and LT-5 — FD3 is now broken, and neither table's own key constraint could ever catch it</a:t>
            </a:r>
            <a:endParaRPr lang="en-US" sz="1450" dirty="0"/>
          </a:p>
        </p:txBody>
      </p:sp>
      <p:sp>
        <p:nvSpPr>
          <p:cNvPr id="9" name="Text 9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Practical Choices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9966960" cy="2194560"/>
          </a:xfrm>
          <a:prstGeom prst="roundRect">
            <a:avLst>
              <a:gd name="adj" fmla="val 6897"/>
            </a:avLst>
          </a:prstGeom>
          <a:solidFill>
            <a:srgbClr val="FBF0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914400" y="1554480"/>
            <a:ext cx="9418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design decision, not a footnote</a:t>
            </a:r>
            <a:endParaRPr lang="en-US" sz="1800" dirty="0"/>
          </a:p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5C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BCNF decomposition loses dependency preservation, you have three practical choices in a real system.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640080" y="3931920"/>
            <a:ext cx="3246120" cy="2651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9"/>
          <p:cNvSpPr txBox="1"/>
          <p:nvPr/>
        </p:nvSpPr>
        <p:spPr>
          <a:xfrm>
            <a:off x="960120" y="4892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BCNF</a:t>
            </a:r>
            <a:endParaRPr lang="en-US" sz="1500" dirty="0"/>
          </a:p>
        </p:txBody>
      </p:sp>
      <p:sp>
        <p:nvSpPr>
          <p:cNvPr id="10" name="Text 10"/>
          <p:cNvSpPr txBox="1"/>
          <p:nvPr/>
        </p:nvSpPr>
        <p:spPr>
          <a:xfrm>
            <a:off x="960120" y="5486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lost constraint with a database trigger or application-level check instead of a simple key.</a:t>
            </a:r>
            <a:endParaRPr lang="en-US" sz="1350" dirty="0"/>
          </a:p>
        </p:txBody>
      </p:sp>
      <p:sp>
        <p:nvSpPr>
          <p:cNvPr id="11" name="Shape 11"/>
          <p:cNvSpPr/>
          <p:nvPr/>
        </p:nvSpPr>
        <p:spPr>
          <a:xfrm>
            <a:off x="4069080" y="3931920"/>
            <a:ext cx="3246120" cy="2651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389120" y="42519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3" name="Text 13"/>
          <p:cNvSpPr txBox="1"/>
          <p:nvPr/>
        </p:nvSpPr>
        <p:spPr>
          <a:xfrm>
            <a:off x="4389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4389120" y="4892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for 3NF</a:t>
            </a:r>
            <a:endParaRPr lang="en-US" sz="1500" dirty="0"/>
          </a:p>
        </p:txBody>
      </p:sp>
      <p:sp>
        <p:nvSpPr>
          <p:cNvPr id="15" name="Text 15"/>
          <p:cNvSpPr txBox="1"/>
          <p:nvPr/>
        </p:nvSpPr>
        <p:spPr>
          <a:xfrm>
            <a:off x="4389120" y="5486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tolerate a small amount of redundancy on that one relation, in exchange for a locally checkable constraint.</a:t>
            </a:r>
            <a:endParaRPr lang="en-US" sz="1350" dirty="0"/>
          </a:p>
        </p:txBody>
      </p:sp>
      <p:sp>
        <p:nvSpPr>
          <p:cNvPr id="16" name="Shape 16"/>
          <p:cNvSpPr/>
          <p:nvPr/>
        </p:nvSpPr>
        <p:spPr>
          <a:xfrm>
            <a:off x="7498080" y="3931920"/>
            <a:ext cx="3108960" cy="26517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81812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818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9"/>
          <p:cNvSpPr txBox="1"/>
          <p:nvPr/>
        </p:nvSpPr>
        <p:spPr>
          <a:xfrm>
            <a:off x="781812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rule</a:t>
            </a:r>
            <a:endParaRPr lang="en-US" sz="1500" dirty="0"/>
          </a:p>
        </p:txBody>
      </p:sp>
      <p:sp>
        <p:nvSpPr>
          <p:cNvPr id="20" name="Text 20"/>
          <p:cNvSpPr txBox="1"/>
          <p:nvPr/>
        </p:nvSpPr>
        <p:spPr>
          <a:xfrm>
            <a:off x="7818120" y="5486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lost dependency turns out not to be as important as it first seemed, change the business rule itself.</a:t>
            </a:r>
            <a:endParaRPr lang="en-US" sz="1350" dirty="0"/>
          </a:p>
        </p:txBody>
      </p:sp>
      <p:sp>
        <p:nvSpPr>
          <p:cNvPr id="21" name="Text 21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Synthesis vs. BCNF Decomposition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554480"/>
            <a:ext cx="5029200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5" name="Shape 5"/>
          <p:cNvSpPr/>
          <p:nvPr/>
        </p:nvSpPr>
        <p:spPr>
          <a:xfrm>
            <a:off x="960120" y="1874520"/>
            <a:ext cx="2743200" cy="502920"/>
          </a:xfrm>
          <a:prstGeom prst="roundRect">
            <a:avLst>
              <a:gd name="adj" fmla="val 15000"/>
            </a:avLst>
          </a:prstGeom>
          <a:solidFill>
            <a:srgbClr val="2FE6C4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9601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Synthesis</a:t>
            </a:r>
            <a:endParaRPr lang="en-US" sz="1600" dirty="0"/>
          </a:p>
        </p:txBody>
      </p:sp>
      <p:sp>
        <p:nvSpPr>
          <p:cNvPr id="7" name="Text 7"/>
          <p:cNvSpPr txBox="1"/>
          <p:nvPr/>
        </p:nvSpPr>
        <p:spPr>
          <a:xfrm>
            <a:off x="960120" y="260604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lossless AND always dependency-preserving — the synthesis algorithm builds one relation per FD specifically to guarantee this.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960120" y="54406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may retain a small amount of redundancy that BCNF would remove.</a:t>
            </a:r>
            <a:endParaRPr lang="en-US" sz="1450" dirty="0"/>
          </a:p>
        </p:txBody>
      </p:sp>
      <p:sp>
        <p:nvSpPr>
          <p:cNvPr id="9" name="Shape 9"/>
          <p:cNvSpPr/>
          <p:nvPr/>
        </p:nvSpPr>
        <p:spPr>
          <a:xfrm>
            <a:off x="5943600" y="1554480"/>
            <a:ext cx="5029200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6263640" y="1874520"/>
            <a:ext cx="2743200" cy="50292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626364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Decomposition</a:t>
            </a:r>
            <a:endParaRPr lang="en-US" sz="1600" dirty="0"/>
          </a:p>
        </p:txBody>
      </p:sp>
      <p:sp>
        <p:nvSpPr>
          <p:cNvPr id="12" name="Text 12"/>
          <p:cNvSpPr txBox="1"/>
          <p:nvPr/>
        </p:nvSpPr>
        <p:spPr>
          <a:xfrm>
            <a:off x="6263640" y="260604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lossless, but NOT guaranteed dependency-preserving.</a:t>
            </a:r>
            <a:endParaRPr lang="en-US" sz="1600" dirty="0"/>
          </a:p>
        </p:txBody>
      </p:sp>
      <p:sp>
        <p:nvSpPr>
          <p:cNvPr id="13" name="Text 13"/>
          <p:cNvSpPr txBox="1"/>
          <p:nvPr/>
        </p:nvSpPr>
        <p:spPr>
          <a:xfrm>
            <a:off x="6263640" y="54406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removes all redundancy tied to a non-key determinant, at the possible cost of needing a join to re-check some constraint.</a:t>
            </a:r>
            <a:endParaRPr lang="en-US" sz="1450" dirty="0"/>
          </a:p>
        </p:txBody>
      </p:sp>
      <p:sp>
        <p:nvSpPr>
          <p:cNvPr id="14" name="Text 14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Relations for BCNF — the Checklist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640080" y="1682496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400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6"/>
          <p:cNvSpPr txBox="1"/>
          <p:nvPr/>
        </p:nvSpPr>
        <p:spPr>
          <a:xfrm>
            <a:off x="1325880" y="146304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attribute of the relation and every FD that holds over it (project the original FD set onto just this relation's attributes)</a:t>
            </a:r>
            <a:endParaRPr lang="en-US" sz="1500" dirty="0"/>
          </a:p>
        </p:txBody>
      </p:sp>
      <p:sp>
        <p:nvSpPr>
          <p:cNvPr id="7" name="Shape 7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6400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1325880" y="2450592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candidate key by computing closures (Lecture 20)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2"/>
          <p:cNvSpPr txBox="1"/>
          <p:nvPr/>
        </p:nvSpPr>
        <p:spPr>
          <a:xfrm>
            <a:off x="1325880" y="343814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non-trivial FD X → Y in that projected set, compute X⁺</a:t>
            </a:r>
            <a:endParaRPr lang="en-US" sz="1500" dirty="0"/>
          </a:p>
        </p:txBody>
      </p:sp>
      <p:sp>
        <p:nvSpPr>
          <p:cNvPr id="13" name="Shape 13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4"/>
          <p:cNvSpPr txBox="1"/>
          <p:nvPr/>
        </p:nvSpPr>
        <p:spPr>
          <a:xfrm>
            <a:off x="640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1325880" y="4425696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X⁺ covers ALL attributes, that FD is fine; if even one FD fails this test, split on it and repeat on both halves</a:t>
            </a:r>
            <a:endParaRPr lang="en-US" sz="1500" dirty="0"/>
          </a:p>
        </p:txBody>
      </p:sp>
      <p:sp>
        <p:nvSpPr>
          <p:cNvPr id="16" name="Shape 16"/>
          <p:cNvSpPr/>
          <p:nvPr/>
        </p:nvSpPr>
        <p:spPr>
          <a:xfrm>
            <a:off x="640080" y="5632704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7"/>
          <p:cNvSpPr txBox="1"/>
          <p:nvPr/>
        </p:nvSpPr>
        <p:spPr>
          <a:xfrm>
            <a:off x="640080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8"/>
          <p:cNvSpPr txBox="1"/>
          <p:nvPr/>
        </p:nvSpPr>
        <p:spPr>
          <a:xfrm>
            <a:off x="1325880" y="541324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only when every relation currently in the decomposition passes with no exceptions</a:t>
            </a:r>
            <a:endParaRPr lang="en-US" sz="1500" dirty="0"/>
          </a:p>
        </p:txBody>
      </p:sp>
      <p:sp>
        <p:nvSpPr>
          <p:cNvPr id="19" name="Text 19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3"/>
          <p:cNvSpPr/>
          <p:nvPr/>
        </p:nvSpPr>
        <p:spPr>
          <a:xfrm>
            <a:off x="822960" y="17282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4"/>
          <p:cNvSpPr txBox="1"/>
          <p:nvPr/>
        </p:nvSpPr>
        <p:spPr>
          <a:xfrm>
            <a:off x="1234440" y="15270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BCNF algorithm is a loop: while some relation violates BCNF, split on a violating FD X → Y into R₁ = X ∪ Y and R₂ = X ∪ (R − Y), then re-test both halves.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822960" y="26426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1234440" y="2441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can have more than one BCNF violation — fixing one split can leave or inherit a second, exactly as Enrollment needed two passes.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822960" y="35570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1234440" y="33558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split by this rule is automatically lossless: R₁ ∩ R₂ = X and X → R₁ holds by construction — no separate proof needed.</a:t>
            </a:r>
            <a:endParaRPr lang="en-US" sz="1800" dirty="0"/>
          </a:p>
        </p:txBody>
      </p:sp>
      <p:sp>
        <p:nvSpPr>
          <p:cNvPr id="9" name="Shape 9"/>
          <p:cNvSpPr/>
          <p:nvPr/>
        </p:nvSpPr>
        <p:spPr>
          <a:xfrm>
            <a:off x="822960" y="44714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1234440" y="42702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3NF synthesis, BCNF decomposition is NOT guaranteed to preserve every original FD — a genuine trade-off worth naming explicitly in a design review.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822960" y="53858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1234440" y="51846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re-test-every-piece discipline, driven by closure computation, is the engine of the whole algorithm — there is no shortcut around it.</a:t>
            </a:r>
            <a:endParaRPr lang="en-US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/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2026-09-29T08:26:22Z</dcterms:created>
  <dcterms:modified xsi:type="dcterms:W3CDTF">2026-09-29T08:26:22Z</dcterms:modified>
</cp:coreProperties>
</file>
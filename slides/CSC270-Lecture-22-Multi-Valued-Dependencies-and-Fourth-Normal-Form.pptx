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1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C"/>
        </a:solidFill>
      </p:bgPr>
    </p:bg>
    <p:spTree>
      <p:nvGrpSpPr>
        <p:cNvPr id="1" name=""/>
        <p:cNvGrpSpPr/>
        <p:nvPr/>
      </p:nvGrpSpPr>
      <p:grpSpPr>
        <a:xfrm>
          <a:off x="0" y="0"/>
          <a:ext cx="0" cy="0"/>
          <a:chOff x="0" y="0"/>
          <a:chExt cx="0" cy="0"/>
        </a:xfrm>
      </p:grpSpPr>
      <p:sp>
        <p:nvSpPr>
          <p:cNvPr id="2" name="Shape 0"/>
          <p:cNvSpPr/>
          <p:nvPr/>
        </p:nvSpPr>
        <p:spPr>
          <a:xfrm>
            <a:off x="9692640" y="-1188720"/>
            <a:ext cx="3840480" cy="3840480"/>
          </a:xfrm>
          <a:prstGeom prst="ellipse">
            <a:avLst/>
          </a:prstGeom>
          <a:solidFill>
            <a:srgbClr val="2FE6C4">
              <a:alpha val="10000"/>
            </a:srgbClr>
          </a:solidFill>
          <a:ln/>
        </p:spPr>
      </p:sp>
      <p:sp>
        <p:nvSpPr>
          <p:cNvPr id="3" name="Shape 1"/>
          <p:cNvSpPr/>
          <p:nvPr/>
        </p:nvSpPr>
        <p:spPr>
          <a:xfrm>
            <a:off x="10607040" y="4206240"/>
            <a:ext cx="2743200" cy="2743200"/>
          </a:xfrm>
          <a:prstGeom prst="ellipse">
            <a:avLst/>
          </a:prstGeom>
          <a:solidFill>
            <a:srgbClr val="8B7FD9">
              <a:alpha val="12000"/>
            </a:srgbClr>
          </a:solidFill>
          <a:ln/>
        </p:spPr>
      </p:sp>
      <p:sp>
        <p:nvSpPr>
          <p:cNvPr id="4" name="Text 2"/>
          <p:cNvSpPr txBox="1"/>
          <p:nvPr/>
        </p:nvSpPr>
        <p:spPr>
          <a:xfrm>
            <a:off x="822960" y="2148840"/>
            <a:ext cx="7315200" cy="457200"/>
          </a:xfrm>
          <a:prstGeom prst="rect">
            <a:avLst/>
          </a:prstGeom>
          <a:noFill/>
          <a:ln/>
        </p:spPr>
        <p:txBody>
          <a:bodyPr wrap="square" lIns="0" tIns="0" rIns="0" bIns="0" rtlCol="0" anchor="ctr"/>
          <a:lstStyle/>
          <a:p>
            <a:pPr indent="0" marL="0">
              <a:buNone/>
            </a:pPr>
            <a:r>
              <a:rPr lang="en-US" sz="1500" b="1" spc="300" kern="0" dirty="0">
                <a:solidFill>
                  <a:srgbClr val="2FE6C4"/>
                </a:solidFill>
                <a:latin typeface="Calibri" pitchFamily="34" charset="0"/>
                <a:ea typeface="Calibri" pitchFamily="34" charset="-122"/>
                <a:cs typeface="Calibri" pitchFamily="34" charset="-120"/>
              </a:rPr>
              <a:t>LECTURE 22</a:t>
            </a:r>
            <a:endParaRPr lang="en-US" sz="1500" dirty="0"/>
          </a:p>
        </p:txBody>
      </p:sp>
      <p:sp>
        <p:nvSpPr>
          <p:cNvPr id="5" name="Text 3"/>
          <p:cNvSpPr txBox="1"/>
          <p:nvPr/>
        </p:nvSpPr>
        <p:spPr>
          <a:xfrm>
            <a:off x="822960" y="2606040"/>
            <a:ext cx="9875520" cy="1920240"/>
          </a:xfrm>
          <a:prstGeom prst="rect">
            <a:avLst/>
          </a:prstGeom>
          <a:noFill/>
          <a:ln/>
        </p:spPr>
        <p:txBody>
          <a:bodyPr wrap="square" lIns="0" tIns="0" rIns="0" bIns="0" rtlCol="0" anchor="t"/>
          <a:lstStyle/>
          <a:p>
            <a:pPr indent="0" marL="0">
              <a:lnSpc>
                <a:spcPct val="108000"/>
              </a:lnSpc>
              <a:buNone/>
            </a:pPr>
            <a:r>
              <a:rPr lang="en-US" sz="3800" b="1" dirty="0">
                <a:solidFill>
                  <a:srgbClr val="FFFFFF"/>
                </a:solidFill>
                <a:latin typeface="Calibri" pitchFamily="34" charset="0"/>
                <a:ea typeface="Calibri" pitchFamily="34" charset="-122"/>
                <a:cs typeface="Calibri" pitchFamily="34" charset="-120"/>
              </a:rPr>
              <a:t>Multi-Valued Dependencies and Fourth Normal Form</a:t>
            </a:r>
            <a:endParaRPr lang="en-US" sz="3800" dirty="0"/>
          </a:p>
        </p:txBody>
      </p:sp>
      <p:sp>
        <p:nvSpPr>
          <p:cNvPr id="6" name="Text 4"/>
          <p:cNvSpPr txBox="1"/>
          <p:nvPr/>
        </p:nvSpPr>
        <p:spPr>
          <a:xfrm>
            <a:off x="822960" y="4617720"/>
            <a:ext cx="8229600" cy="411480"/>
          </a:xfrm>
          <a:prstGeom prst="rect">
            <a:avLst/>
          </a:prstGeom>
          <a:noFill/>
          <a:ln/>
        </p:spPr>
        <p:txBody>
          <a:bodyPr wrap="square" lIns="0" tIns="0" rIns="0" bIns="0" rtlCol="0" anchor="ctr"/>
          <a:lstStyle/>
          <a:p>
            <a:pPr indent="0" marL="0">
              <a:buNone/>
            </a:pPr>
            <a:r>
              <a:rPr lang="en-US" sz="1800" dirty="0">
                <a:solidFill>
                  <a:srgbClr val="9AA3AD"/>
                </a:solidFill>
                <a:latin typeface="Calibri" pitchFamily="34" charset="0"/>
                <a:ea typeface="Calibri" pitchFamily="34" charset="-122"/>
                <a:cs typeface="Calibri" pitchFamily="34" charset="-120"/>
              </a:rPr>
              <a:t>CSC270 · Database Systems</a:t>
            </a:r>
            <a:endParaRPr lang="en-US" sz="1800" dirty="0"/>
          </a:p>
        </p:txBody>
      </p:sp>
      <p:sp>
        <p:nvSpPr>
          <p:cNvPr id="7" name="Text 5"/>
          <p:cNvSpPr txBox="1"/>
          <p:nvPr/>
        </p:nvSpPr>
        <p:spPr>
          <a:xfrm>
            <a:off x="822960" y="5029200"/>
            <a:ext cx="8229600" cy="365760"/>
          </a:xfrm>
          <a:prstGeom prst="rect">
            <a:avLst/>
          </a:prstGeom>
          <a:noFill/>
          <a:ln/>
        </p:spPr>
        <p:txBody>
          <a:bodyPr wrap="square" lIns="0" tIns="0" rIns="0" bIns="0" rtlCol="0" anchor="ctr"/>
          <a:lstStyle/>
          <a:p>
            <a:pPr indent="0" marL="0">
              <a:buNone/>
            </a:pPr>
            <a:r>
              <a:rPr lang="en-US" sz="1300" dirty="0">
                <a:solidFill>
                  <a:srgbClr val="6B7480"/>
                </a:solidFill>
                <a:latin typeface="Calibri" pitchFamily="34" charset="0"/>
                <a:ea typeface="Calibri" pitchFamily="34" charset="-122"/>
                <a:cs typeface="Calibri" pitchFamily="34" charset="-120"/>
              </a:rPr>
              <a:t>COMSATS University Islamabad, Lahore Campus</a:t>
            </a:r>
            <a:endParaRPr lang="en-US" sz="1300" dirty="0"/>
          </a:p>
        </p:txBody>
      </p:sp>
      <p:sp>
        <p:nvSpPr>
          <p:cNvPr id="8" name="Text 6"/>
          <p:cNvSpPr txBox="1"/>
          <p:nvPr/>
        </p:nvSpPr>
        <p:spPr>
          <a:xfrm>
            <a:off x="9951415"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AGENDA</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What We'll Cover</a:t>
            </a:r>
            <a:endParaRPr lang="en-US" sz="2600" dirty="0"/>
          </a:p>
        </p:txBody>
      </p:sp>
      <p:sp>
        <p:nvSpPr>
          <p:cNvPr id="4" name="Text 4"/>
          <p:cNvSpPr txBox="1"/>
          <p:nvPr/>
        </p:nvSpPr>
        <p:spPr>
          <a:xfrm>
            <a:off x="822960" y="1554480"/>
            <a:ext cx="9966960" cy="457200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Why BCNF alone does not catch every source of redundancy</a:t>
            </a:r>
            <a:endParaRPr lang="en-US" sz="1800" dirty="0"/>
          </a:p>
          <a:p>
            <a:pPr marL="342900" indent="-3429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Multi-valued dependencies: notation X ↠ Y and what it means</a:t>
            </a:r>
            <a:endParaRPr lang="en-US" sz="1800" dirty="0"/>
          </a:p>
          <a:p>
            <a:pPr marL="342900" indent="-3429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Trivial vs. non-trivial MVDs, and the properties of MVDs</a:t>
            </a:r>
            <a:endParaRPr lang="en-US" sz="1800" dirty="0"/>
          </a:p>
          <a:p>
            <a:pPr marL="342900" indent="-3429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Inference rules for MVDs, parallel to Armstrong's Axioms</a:t>
            </a:r>
            <a:endParaRPr lang="en-US" sz="1800" dirty="0"/>
          </a:p>
          <a:p>
            <a:pPr marL="342900" indent="-3429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Fourth Normal Form: definition and test</a:t>
            </a:r>
            <a:endParaRPr lang="en-US" sz="1800" dirty="0"/>
          </a:p>
          <a:p>
            <a:pPr marL="342900" indent="-3429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A complete worked example: Employee, Skills, and Languages</a:t>
            </a:r>
            <a:endParaRPr lang="en-US" sz="1800" dirty="0"/>
          </a:p>
          <a:p>
            <a:pPr marL="342900" indent="-342900">
              <a:lnSpc>
                <a:spcPct val="115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4NF decomposition and the lossless-join property</a:t>
            </a:r>
            <a:endParaRPr lang="en-US" sz="1800" dirty="0"/>
          </a:p>
        </p:txBody>
      </p:sp>
      <p:sp>
        <p:nvSpPr>
          <p:cNvPr id="5" name="Text 5"/>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THE GAP</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A Table With Two Independent Facts</a:t>
            </a:r>
            <a:endParaRPr lang="en-US" sz="2600" dirty="0"/>
          </a:p>
        </p:txBody>
      </p:sp>
      <p:sp>
        <p:nvSpPr>
          <p:cNvPr id="4" name="Text 4"/>
          <p:cNvSpPr txBox="1"/>
          <p:nvPr/>
        </p:nvSpPr>
        <p:spPr>
          <a:xfrm>
            <a:off x="640080" y="1417320"/>
            <a:ext cx="9966960" cy="457200"/>
          </a:xfrm>
          <a:prstGeom prst="rect">
            <a:avLst/>
          </a:prstGeom>
          <a:noFill/>
          <a:ln/>
        </p:spPr>
        <p:txBody>
          <a:bodyPr wrap="square" lIns="0" tIns="0" rIns="0" bIns="0" rtlCol="0" anchor="t"/>
          <a:lstStyle/>
          <a:p>
            <a:pPr indent="0" marL="0">
              <a:lnSpc>
                <a:spcPct val="115000"/>
              </a:lnSpc>
              <a:spcAft>
                <a:spcPts val="1000"/>
              </a:spcAft>
              <a:buNone/>
            </a:pPr>
            <a:r>
              <a:rPr lang="en-US" sz="1800" b="1" dirty="0">
                <a:solidFill>
                  <a:srgbClr val="1F2429"/>
                </a:solidFill>
                <a:latin typeface="Calibri" pitchFamily="34" charset="0"/>
                <a:ea typeface="Calibri" pitchFamily="34" charset="-122"/>
                <a:cs typeface="Calibri" pitchFamily="34" charset="-120"/>
              </a:rPr>
              <a:t>EmpSkillsLangs (empNo, skill, language)</a:t>
            </a:r>
            <a:endParaRPr lang="en-US" sz="1800" dirty="0"/>
          </a:p>
        </p:txBody>
      </p:sp>
      <p:graphicFrame>
        <p:nvGraphicFramePr>
          <p:cNvPr id="5" name="Table 5"/>
          <p:cNvGraphicFramePr>
            <a:graphicFrameLocks noGrp="1"/>
          </p:cNvGraphicFramePr>
          <p:nvPr/>
        </p:nvGraphicFramePr>
        <p:xfrm>
          <a:off x="640080" y="1965960"/>
          <a:ext cx="9966960" cy="2743200"/>
        </p:xfrm>
        <a:graphic>
          <a:graphicData uri="http://schemas.openxmlformats.org/drawingml/2006/table">
            <a:tbl>
              <a:tblPr firstRow="1" bandRow="1"/>
              <a:tblGrid>
                <a:gridCol w="3322320"/>
                <a:gridCol w="3322320"/>
                <a:gridCol w="3322320"/>
              </a:tblGrid>
              <a:tr h="45720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empNo</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skill</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language</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r>
              <a:tr h="457200">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E1</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Java</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English</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457200">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E1</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Java</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Urdu</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457200">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E1</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Python</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English</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457200">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E1</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Python</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Urdu</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457200">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E2</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SQL</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600" dirty="0">
                          <a:solidFill>
                            <a:srgbClr val="1F2429"/>
                          </a:solidFill>
                          <a:latin typeface="Calibri" pitchFamily="34" charset="0"/>
                          <a:ea typeface="Calibri" pitchFamily="34" charset="-122"/>
                          <a:cs typeface="Calibri" pitchFamily="34" charset="-120"/>
                        </a:rPr>
                        <a:t>English</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bl>
          </a:graphicData>
        </a:graphic>
      </p:graphicFrame>
      <p:sp>
        <p:nvSpPr>
          <p:cNvPr id="6" name="Text 6"/>
          <p:cNvSpPr txBox="1"/>
          <p:nvPr/>
        </p:nvSpPr>
        <p:spPr>
          <a:xfrm>
            <a:off x="640080" y="4800600"/>
            <a:ext cx="9966960" cy="1463040"/>
          </a:xfrm>
          <a:prstGeom prst="rect">
            <a:avLst/>
          </a:prstGeom>
          <a:noFill/>
          <a:ln/>
        </p:spPr>
        <p:txBody>
          <a:bodyPr wrap="square" lIns="0" tIns="0" rIns="0" bIns="0" rtlCol="0" anchor="t"/>
          <a:lstStyle/>
          <a:p>
            <a:pPr indent="0" marL="0">
              <a:lnSpc>
                <a:spcPct val="120000"/>
              </a:lnSpc>
              <a:spcAft>
                <a:spcPts val="0"/>
              </a:spcAft>
              <a:buNone/>
            </a:pPr>
            <a:r>
              <a:rPr lang="en-US" sz="1800" dirty="0">
                <a:solidFill>
                  <a:srgbClr val="1F2429"/>
                </a:solidFill>
                <a:latin typeface="Calibri" pitchFamily="34" charset="0"/>
                <a:ea typeface="Calibri" pitchFamily="34" charset="-122"/>
                <a:cs typeface="Calibri" pitchFamily="34" charset="-120"/>
              </a:rPr>
              <a:t>Two independent facts about each employee: the skills they have, and the languages they speak. Both are one-to-many, and they are stored together in the same table.</a:t>
            </a:r>
            <a:endParaRPr lang="en-US" sz="1800" dirty="0"/>
          </a:p>
        </p:txBody>
      </p:sp>
      <p:sp>
        <p:nvSpPr>
          <p:cNvPr id="7" name="Text 7"/>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3</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THE GAP</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Why BCNF Cannot See the Problem</a:t>
            </a:r>
            <a:endParaRPr lang="en-US" sz="2600" dirty="0"/>
          </a:p>
        </p:txBody>
      </p:sp>
      <p:sp>
        <p:nvSpPr>
          <p:cNvPr id="4" name="Text 4"/>
          <p:cNvSpPr txBox="1"/>
          <p:nvPr/>
        </p:nvSpPr>
        <p:spPr>
          <a:xfrm>
            <a:off x="640080" y="1417320"/>
            <a:ext cx="9966960" cy="548640"/>
          </a:xfrm>
          <a:prstGeom prst="rect">
            <a:avLst/>
          </a:prstGeom>
          <a:noFill/>
          <a:ln/>
        </p:spPr>
        <p:txBody>
          <a:bodyPr wrap="square" lIns="0" tIns="0" rIns="0" bIns="0" rtlCol="0" anchor="t"/>
          <a:lstStyle/>
          <a:p>
            <a:pPr indent="0" marL="0">
              <a:lnSpc>
                <a:spcPct val="120000"/>
              </a:lnSpc>
              <a:spcAft>
                <a:spcPts val="0"/>
              </a:spcAft>
              <a:buNone/>
            </a:pPr>
            <a:r>
              <a:rPr lang="en-US" sz="1800" dirty="0">
                <a:solidFill>
                  <a:srgbClr val="1F2429"/>
                </a:solidFill>
                <a:latin typeface="Calibri" pitchFamily="34" charset="0"/>
                <a:ea typeface="Calibri" pitchFamily="34" charset="-122"/>
                <a:cs typeface="Calibri" pitchFamily="34" charset="-120"/>
              </a:rPr>
              <a:t>Check BCNF formally. Are there any non-trivial functional dependencies?</a:t>
            </a:r>
            <a:endParaRPr lang="en-US" sz="1800" dirty="0"/>
          </a:p>
        </p:txBody>
      </p:sp>
      <p:graphicFrame>
        <p:nvGraphicFramePr>
          <p:cNvPr id="5" name="Table 5"/>
          <p:cNvGraphicFramePr>
            <a:graphicFrameLocks noGrp="1"/>
          </p:cNvGraphicFramePr>
          <p:nvPr/>
        </p:nvGraphicFramePr>
        <p:xfrm>
          <a:off x="640080" y="2103120"/>
          <a:ext cx="9966960" cy="2194560"/>
        </p:xfrm>
        <a:graphic>
          <a:graphicData uri="http://schemas.openxmlformats.org/drawingml/2006/table">
            <a:tbl>
              <a:tblPr firstRow="1" bandRow="1"/>
              <a:tblGrid>
                <a:gridCol w="2990088"/>
                <a:gridCol w="1196035"/>
                <a:gridCol w="5780837"/>
              </a:tblGrid>
              <a:tr h="54864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Candidate FD</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Holds?</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Why</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r>
              <a:tr h="54864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empNo → skill</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No</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 has two skill values (Java, Python)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54864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skill → language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No</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Java goes with both English and Urdu</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54864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empNo → language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No</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 has two language values</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bl>
          </a:graphicData>
        </a:graphic>
      </p:graphicFrame>
      <p:sp>
        <p:nvSpPr>
          <p:cNvPr id="6" name="Shape 6"/>
          <p:cNvSpPr/>
          <p:nvPr/>
        </p:nvSpPr>
        <p:spPr>
          <a:xfrm>
            <a:off x="640080" y="4434840"/>
            <a:ext cx="9966960" cy="1828800"/>
          </a:xfrm>
          <a:prstGeom prst="roundRect">
            <a:avLst>
              <a:gd name="adj" fmla="val 6897"/>
            </a:avLst>
          </a:prstGeom>
          <a:solidFill>
            <a:srgbClr val="FFFFFF"/>
          </a:solidFill>
          <a:ln w="15875">
            <a:solidFill>
              <a:srgbClr val="2FE6C4"/>
            </a:solidFill>
            <a:prstDash val="solid"/>
          </a:ln>
        </p:spPr>
      </p:sp>
      <p:sp>
        <p:nvSpPr>
          <p:cNvPr id="7" name="Text 7"/>
          <p:cNvSpPr txBox="1"/>
          <p:nvPr/>
        </p:nvSpPr>
        <p:spPr>
          <a:xfrm>
            <a:off x="914400" y="4434840"/>
            <a:ext cx="9418320" cy="1828800"/>
          </a:xfrm>
          <a:prstGeom prst="rect">
            <a:avLst/>
          </a:prstGeom>
          <a:noFill/>
          <a:ln/>
        </p:spPr>
        <p:txBody>
          <a:bodyPr wrap="square" lIns="0" tIns="0" rIns="0" bIns="0" rtlCol="0" anchor="ctr"/>
          <a:lstStyle/>
          <a:p>
            <a:pPr indent="0" marL="0">
              <a:lnSpc>
                <a:spcPct val="118000"/>
              </a:lnSpc>
              <a:spcAft>
                <a:spcPts val="300"/>
              </a:spcAft>
              <a:buNone/>
            </a:pPr>
            <a:r>
              <a:rPr lang="en-US" sz="1700" b="1" dirty="0">
                <a:solidFill>
                  <a:srgbClr val="1F2429"/>
                </a:solidFill>
                <a:latin typeface="Calibri" pitchFamily="34" charset="0"/>
                <a:ea typeface="Calibri" pitchFamily="34" charset="-122"/>
                <a:cs typeface="Calibri" pitchFamily="34" charset="-120"/>
              </a:rPr>
              <a:t>So the relation is already in BCNF</a:t>
            </a:r>
            <a:endParaRPr lang="en-US" sz="1700" dirty="0"/>
          </a:p>
          <a:p>
            <a:pPr indent="0" marL="0">
              <a:lnSpc>
                <a:spcPct val="122000"/>
              </a:lnSpc>
              <a:spcAft>
                <a:spcPts val="0"/>
              </a:spcAft>
              <a:buNone/>
            </a:pPr>
            <a:r>
              <a:rPr lang="en-US" sz="1500" dirty="0">
                <a:solidFill>
                  <a:srgbClr val="6B7280"/>
                </a:solidFill>
                <a:latin typeface="Calibri" pitchFamily="34" charset="0"/>
                <a:ea typeface="Calibri" pitchFamily="34" charset="-122"/>
                <a:cs typeface="Calibri" pitchFamily="34" charset="-120"/>
              </a:rPr>
              <a:t>With no non-trivial FDs, nothing can violate BCNF. The only candidate key is the full set {empNo, skill, language}, an all-key relation. BCNF has no way to see the redundancy in this table.</a:t>
            </a:r>
            <a:endParaRPr lang="en-US" sz="1500" dirty="0"/>
          </a:p>
        </p:txBody>
      </p:sp>
      <p:sp>
        <p:nvSpPr>
          <p:cNvPr id="8" name="Text 8"/>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4</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THE ANOMALY</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The Spurious Combination</a:t>
            </a:r>
            <a:endParaRPr lang="en-US" sz="2600" dirty="0"/>
          </a:p>
        </p:txBody>
      </p:sp>
      <p:sp>
        <p:nvSpPr>
          <p:cNvPr id="4" name="Text 4"/>
          <p:cNvSpPr txBox="1"/>
          <p:nvPr/>
        </p:nvSpPr>
        <p:spPr>
          <a:xfrm>
            <a:off x="640080" y="1371600"/>
            <a:ext cx="9966960" cy="457200"/>
          </a:xfrm>
          <a:prstGeom prst="rect">
            <a:avLst/>
          </a:prstGeom>
          <a:noFill/>
          <a:ln/>
        </p:spPr>
        <p:txBody>
          <a:bodyPr wrap="square" lIns="0" tIns="0" rIns="0" bIns="0" rtlCol="0" anchor="t"/>
          <a:lstStyle/>
          <a:p>
            <a:pPr indent="0" marL="0">
              <a:lnSpc>
                <a:spcPct val="120000"/>
              </a:lnSpc>
              <a:spcAft>
                <a:spcPts val="0"/>
              </a:spcAft>
              <a:buNone/>
            </a:pPr>
            <a:r>
              <a:rPr lang="en-US" sz="1800" dirty="0">
                <a:solidFill>
                  <a:srgbClr val="1F2429"/>
                </a:solidFill>
                <a:latin typeface="Calibri" pitchFamily="34" charset="0"/>
                <a:ea typeface="Calibri" pitchFamily="34" charset="-122"/>
                <a:cs typeface="Calibri" pitchFamily="34" charset="-120"/>
              </a:rPr>
              <a:t>E1's two skills and two languages were cross-multiplied into four rows.</a:t>
            </a:r>
            <a:endParaRPr lang="en-US" sz="1800" dirty="0"/>
          </a:p>
        </p:txBody>
      </p:sp>
      <p:sp>
        <p:nvSpPr>
          <p:cNvPr id="5" name="Shape 5"/>
          <p:cNvSpPr/>
          <p:nvPr/>
        </p:nvSpPr>
        <p:spPr>
          <a:xfrm>
            <a:off x="640080" y="2011680"/>
            <a:ext cx="9966960" cy="1097280"/>
          </a:xfrm>
          <a:prstGeom prst="roundRect">
            <a:avLst>
              <a:gd name="adj" fmla="val 14970"/>
            </a:avLst>
          </a:prstGeom>
          <a:solidFill>
            <a:srgbClr val="FFFFFF"/>
          </a:solidFill>
          <a:ln w="22225">
            <a:solidFill>
              <a:srgbClr val="E8A33D"/>
            </a:solidFill>
            <a:prstDash val="solid"/>
          </a:ln>
          <a:effectLst>
            <a:outerShdw sx="100000" sy="100000" kx="0" ky="0" algn="bl" rotWithShape="0" blurRad="63500" dist="25400" dir="5400000">
              <a:srgbClr val="000000">
                <a:alpha val="12000"/>
              </a:srgbClr>
            </a:outerShdw>
          </a:effectLst>
        </p:spPr>
      </p:sp>
      <p:sp>
        <p:nvSpPr>
          <p:cNvPr id="6" name="Shape 6"/>
          <p:cNvSpPr/>
          <p:nvPr/>
        </p:nvSpPr>
        <p:spPr>
          <a:xfrm>
            <a:off x="640080" y="2011680"/>
            <a:ext cx="82296" cy="1097280"/>
          </a:xfrm>
          <a:prstGeom prst="roundRect">
            <a:avLst/>
          </a:prstGeom>
          <a:solidFill>
            <a:srgbClr val="E8A33D"/>
          </a:solidFill>
          <a:ln/>
        </p:spPr>
      </p:sp>
      <p:sp>
        <p:nvSpPr>
          <p:cNvPr id="7" name="Text 7"/>
          <p:cNvSpPr txBox="1"/>
          <p:nvPr/>
        </p:nvSpPr>
        <p:spPr>
          <a:xfrm>
            <a:off x="978408" y="2011680"/>
            <a:ext cx="9464040" cy="1097280"/>
          </a:xfrm>
          <a:prstGeom prst="rect">
            <a:avLst/>
          </a:prstGeom>
          <a:noFill/>
          <a:ln/>
        </p:spPr>
        <p:txBody>
          <a:bodyPr wrap="square" lIns="0" tIns="0" rIns="0" bIns="0" rtlCol="0" anchor="ctr"/>
          <a:lstStyle/>
          <a:p>
            <a:pPr indent="0" marL="0">
              <a:lnSpc>
                <a:spcPct val="108000"/>
              </a:lnSpc>
              <a:spcAft>
                <a:spcPts val="200"/>
              </a:spcAft>
              <a:buNone/>
            </a:pPr>
            <a:r>
              <a:rPr lang="en-US" sz="1700" b="1" dirty="0">
                <a:solidFill>
                  <a:srgbClr val="1F2429"/>
                </a:solidFill>
                <a:latin typeface="Calibri" pitchFamily="34" charset="0"/>
                <a:ea typeface="Calibri" pitchFamily="34" charset="-122"/>
                <a:cs typeface="Calibri" pitchFamily="34" charset="-120"/>
              </a:rPr>
              <a:t>Row 2 claims: E1's Java skill is paired with Urdu</a:t>
            </a:r>
            <a:endParaRPr lang="en-US" sz="1700" dirty="0"/>
          </a:p>
          <a:p>
            <a:pPr indent="0" marL="0">
              <a:lnSpc>
                <a:spcPct val="112000"/>
              </a:lnSpc>
              <a:spcAft>
                <a:spcPts val="0"/>
              </a:spcAft>
              <a:buNone/>
            </a:pPr>
            <a:r>
              <a:rPr lang="en-US" sz="1500" dirty="0">
                <a:solidFill>
                  <a:srgbClr val="8A939B"/>
                </a:solidFill>
                <a:latin typeface="Calibri" pitchFamily="34" charset="0"/>
                <a:ea typeface="Calibri" pitchFamily="34" charset="-122"/>
                <a:cs typeface="Calibri" pitchFamily="34" charset="-120"/>
              </a:rPr>
              <a:t>Skill and language were never linked for E1. They are two unrelated facts forced into one row.</a:t>
            </a:r>
            <a:endParaRPr lang="en-US" sz="1500" dirty="0"/>
          </a:p>
        </p:txBody>
      </p:sp>
      <p:sp>
        <p:nvSpPr>
          <p:cNvPr id="8" name="Shape 8"/>
          <p:cNvSpPr/>
          <p:nvPr/>
        </p:nvSpPr>
        <p:spPr>
          <a:xfrm>
            <a:off x="640080" y="3291840"/>
            <a:ext cx="9966960" cy="1097280"/>
          </a:xfrm>
          <a:prstGeom prst="roundRect">
            <a:avLst>
              <a:gd name="adj" fmla="val 14970"/>
            </a:avLst>
          </a:prstGeom>
          <a:solidFill>
            <a:srgbClr val="FFFFFF"/>
          </a:solidFill>
          <a:ln w="22225">
            <a:solidFill>
              <a:srgbClr val="E8A33D"/>
            </a:solidFill>
            <a:prstDash val="solid"/>
          </a:ln>
          <a:effectLst>
            <a:outerShdw sx="100000" sy="100000" kx="0" ky="0" algn="bl" rotWithShape="0" blurRad="63500" dist="25400" dir="5400000">
              <a:srgbClr val="000000">
                <a:alpha val="12000"/>
              </a:srgbClr>
            </a:outerShdw>
          </a:effectLst>
        </p:spPr>
      </p:sp>
      <p:sp>
        <p:nvSpPr>
          <p:cNvPr id="9" name="Shape 9"/>
          <p:cNvSpPr/>
          <p:nvPr/>
        </p:nvSpPr>
        <p:spPr>
          <a:xfrm>
            <a:off x="640080" y="3291840"/>
            <a:ext cx="82296" cy="1097280"/>
          </a:xfrm>
          <a:prstGeom prst="roundRect">
            <a:avLst/>
          </a:prstGeom>
          <a:solidFill>
            <a:srgbClr val="E8A33D"/>
          </a:solidFill>
          <a:ln/>
        </p:spPr>
      </p:sp>
      <p:sp>
        <p:nvSpPr>
          <p:cNvPr id="10" name="Text 10"/>
          <p:cNvSpPr txBox="1"/>
          <p:nvPr/>
        </p:nvSpPr>
        <p:spPr>
          <a:xfrm>
            <a:off x="978408" y="3291840"/>
            <a:ext cx="9464040" cy="1097280"/>
          </a:xfrm>
          <a:prstGeom prst="rect">
            <a:avLst/>
          </a:prstGeom>
          <a:noFill/>
          <a:ln/>
        </p:spPr>
        <p:txBody>
          <a:bodyPr wrap="square" lIns="0" tIns="0" rIns="0" bIns="0" rtlCol="0" anchor="ctr"/>
          <a:lstStyle/>
          <a:p>
            <a:pPr indent="0" marL="0">
              <a:lnSpc>
                <a:spcPct val="108000"/>
              </a:lnSpc>
              <a:spcAft>
                <a:spcPts val="200"/>
              </a:spcAft>
              <a:buNone/>
            </a:pPr>
            <a:r>
              <a:rPr lang="en-US" sz="1700" b="1" dirty="0">
                <a:solidFill>
                  <a:srgbClr val="1F2429"/>
                </a:solidFill>
                <a:latin typeface="Calibri" pitchFamily="34" charset="0"/>
                <a:ea typeface="Calibri" pitchFamily="34" charset="-122"/>
                <a:cs typeface="Calibri" pitchFamily="34" charset="-120"/>
              </a:rPr>
              <a:t>Row 3 claims: E1's Python skill is paired with English</a:t>
            </a:r>
            <a:endParaRPr lang="en-US" sz="1700" dirty="0"/>
          </a:p>
          <a:p>
            <a:pPr indent="0" marL="0">
              <a:lnSpc>
                <a:spcPct val="112000"/>
              </a:lnSpc>
              <a:spcAft>
                <a:spcPts val="0"/>
              </a:spcAft>
              <a:buNone/>
            </a:pPr>
            <a:r>
              <a:rPr lang="en-US" sz="1500" dirty="0">
                <a:solidFill>
                  <a:srgbClr val="8A939B"/>
                </a:solidFill>
                <a:latin typeface="Calibri" pitchFamily="34" charset="0"/>
                <a:ea typeface="Calibri" pitchFamily="34" charset="-122"/>
                <a:cs typeface="Calibri" pitchFamily="34" charset="-120"/>
              </a:rPr>
              <a:t>This pairing is meaningless. The table just happens to store both combinations.</a:t>
            </a:r>
            <a:endParaRPr lang="en-US" sz="1500" dirty="0"/>
          </a:p>
        </p:txBody>
      </p:sp>
      <p:sp>
        <p:nvSpPr>
          <p:cNvPr id="11" name="Shape 11"/>
          <p:cNvSpPr/>
          <p:nvPr/>
        </p:nvSpPr>
        <p:spPr>
          <a:xfrm>
            <a:off x="640080" y="4709160"/>
            <a:ext cx="9966960" cy="1554480"/>
          </a:xfrm>
          <a:prstGeom prst="roundRect">
            <a:avLst>
              <a:gd name="adj" fmla="val 6897"/>
            </a:avLst>
          </a:prstGeom>
          <a:solidFill>
            <a:srgbClr val="FBF0DD"/>
          </a:solidFill>
          <a:ln w="15875">
            <a:solidFill>
              <a:srgbClr val="E8A33D"/>
            </a:solidFill>
            <a:prstDash val="solid"/>
          </a:ln>
        </p:spPr>
      </p:sp>
      <p:sp>
        <p:nvSpPr>
          <p:cNvPr id="12" name="Text 12"/>
          <p:cNvSpPr txBox="1"/>
          <p:nvPr/>
        </p:nvSpPr>
        <p:spPr>
          <a:xfrm>
            <a:off x="914400" y="4709160"/>
            <a:ext cx="9418320" cy="1554480"/>
          </a:xfrm>
          <a:prstGeom prst="rect">
            <a:avLst/>
          </a:prstGeom>
          <a:noFill/>
          <a:ln/>
        </p:spPr>
        <p:txBody>
          <a:bodyPr wrap="square" lIns="0" tIns="0" rIns="0" bIns="0" rtlCol="0" anchor="ctr"/>
          <a:lstStyle/>
          <a:p>
            <a:pPr indent="0" marL="0">
              <a:lnSpc>
                <a:spcPct val="118000"/>
              </a:lnSpc>
              <a:spcAft>
                <a:spcPts val="300"/>
              </a:spcAft>
              <a:buNone/>
            </a:pPr>
            <a:r>
              <a:rPr lang="en-US" sz="1700" b="1" dirty="0">
                <a:solidFill>
                  <a:srgbClr val="8A5A0F"/>
                </a:solidFill>
                <a:latin typeface="Calibri" pitchFamily="34" charset="0"/>
                <a:ea typeface="Calibri" pitchFamily="34" charset="-122"/>
                <a:cs typeface="Calibri" pitchFamily="34" charset="-120"/>
              </a:rPr>
              <a:t>The real structure</a:t>
            </a:r>
            <a:endParaRPr lang="en-US" sz="1700" dirty="0"/>
          </a:p>
          <a:p>
            <a:pPr indent="0" marL="0">
              <a:lnSpc>
                <a:spcPct val="122000"/>
              </a:lnSpc>
              <a:spcAft>
                <a:spcPts val="0"/>
              </a:spcAft>
              <a:buNone/>
            </a:pPr>
            <a:r>
              <a:rPr lang="en-US" sz="1500" dirty="0">
                <a:solidFill>
                  <a:srgbClr val="5C4210"/>
                </a:solidFill>
                <a:latin typeface="Calibri" pitchFamily="34" charset="0"/>
                <a:ea typeface="Calibri" pitchFamily="34" charset="-122"/>
                <a:cs typeface="Calibri" pitchFamily="34" charset="-120"/>
              </a:rPr>
              <a:t>Two independent one-to-many facts: E1 knows {Java, Python} and E1 speaks {English, Urdu}. The four E1 rows encode two independent lists of two values each (2 + 2 facts), not four correlated pairs.</a:t>
            </a:r>
            <a:endParaRPr lang="en-US" sz="1500" dirty="0"/>
          </a:p>
        </p:txBody>
      </p:sp>
      <p:sp>
        <p:nvSpPr>
          <p:cNvPr id="13" name="Text 13"/>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5</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THE ANOMALY</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The Update Anomaly</a:t>
            </a:r>
            <a:endParaRPr lang="en-US" sz="2600" dirty="0"/>
          </a:p>
        </p:txBody>
      </p:sp>
      <p:sp>
        <p:nvSpPr>
          <p:cNvPr id="4" name="Text 4"/>
          <p:cNvSpPr txBox="1"/>
          <p:nvPr/>
        </p:nvSpPr>
        <p:spPr>
          <a:xfrm>
            <a:off x="640080" y="1371600"/>
            <a:ext cx="9966960" cy="731520"/>
          </a:xfrm>
          <a:prstGeom prst="rect">
            <a:avLst/>
          </a:prstGeom>
          <a:noFill/>
          <a:ln/>
        </p:spPr>
        <p:txBody>
          <a:bodyPr wrap="square" lIns="0" tIns="0" rIns="0" bIns="0" rtlCol="0" anchor="t"/>
          <a:lstStyle/>
          <a:p>
            <a:pPr indent="0" marL="0">
              <a:lnSpc>
                <a:spcPct val="120000"/>
              </a:lnSpc>
              <a:spcAft>
                <a:spcPts val="0"/>
              </a:spcAft>
              <a:buNone/>
            </a:pPr>
            <a:r>
              <a:rPr lang="en-US" sz="1800" dirty="0">
                <a:solidFill>
                  <a:srgbClr val="1F2429"/>
                </a:solidFill>
                <a:latin typeface="Calibri" pitchFamily="34" charset="0"/>
                <a:ea typeface="Calibri" pitchFamily="34" charset="-122"/>
                <a:cs typeface="Calibri" pitchFamily="34" charset="-120"/>
              </a:rPr>
              <a:t>Now E1 learns French. How many rows must we insert?</a:t>
            </a:r>
            <a:endParaRPr lang="en-US" sz="1800" dirty="0"/>
          </a:p>
        </p:txBody>
      </p:sp>
      <p:graphicFrame>
        <p:nvGraphicFramePr>
          <p:cNvPr id="5" name="Table 5"/>
          <p:cNvGraphicFramePr>
            <a:graphicFrameLocks noGrp="1"/>
          </p:cNvGraphicFramePr>
          <p:nvPr/>
        </p:nvGraphicFramePr>
        <p:xfrm>
          <a:off x="640080" y="1965960"/>
          <a:ext cx="9966960" cy="2688336"/>
        </p:xfrm>
        <a:graphic>
          <a:graphicData uri="http://schemas.openxmlformats.org/drawingml/2006/table">
            <a:tbl>
              <a:tblPr firstRow="1" bandRow="1"/>
              <a:tblGrid>
                <a:gridCol w="3322320"/>
                <a:gridCol w="3322320"/>
                <a:gridCol w="33223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empNo</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skill</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language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r>
              <a:tr h="384048">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Java</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English</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384048">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Java</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Urdu</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384048">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Python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English</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384048">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Python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Urdu</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384048">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Java</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French</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384048">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Python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French</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bl>
          </a:graphicData>
        </a:graphic>
      </p:graphicFrame>
      <p:sp>
        <p:nvSpPr>
          <p:cNvPr id="6" name="Shape 6"/>
          <p:cNvSpPr/>
          <p:nvPr/>
        </p:nvSpPr>
        <p:spPr>
          <a:xfrm>
            <a:off x="640080" y="4892040"/>
            <a:ext cx="9966960" cy="1280160"/>
          </a:xfrm>
          <a:prstGeom prst="roundRect">
            <a:avLst>
              <a:gd name="adj" fmla="val 6897"/>
            </a:avLst>
          </a:prstGeom>
          <a:solidFill>
            <a:srgbClr val="FBF0DD"/>
          </a:solidFill>
          <a:ln w="15875">
            <a:solidFill>
              <a:srgbClr val="E8A33D"/>
            </a:solidFill>
            <a:prstDash val="solid"/>
          </a:ln>
        </p:spPr>
      </p:sp>
      <p:sp>
        <p:nvSpPr>
          <p:cNvPr id="7" name="Text 7"/>
          <p:cNvSpPr txBox="1"/>
          <p:nvPr/>
        </p:nvSpPr>
        <p:spPr>
          <a:xfrm>
            <a:off x="914400" y="4892040"/>
            <a:ext cx="9418320" cy="1280160"/>
          </a:xfrm>
          <a:prstGeom prst="rect">
            <a:avLst/>
          </a:prstGeom>
          <a:noFill/>
          <a:ln/>
        </p:spPr>
        <p:txBody>
          <a:bodyPr wrap="square" lIns="0" tIns="0" rIns="0" bIns="0" rtlCol="0" anchor="ctr"/>
          <a:lstStyle/>
          <a:p>
            <a:pPr indent="0" marL="0">
              <a:lnSpc>
                <a:spcPct val="118000"/>
              </a:lnSpc>
              <a:spcAft>
                <a:spcPts val="300"/>
              </a:spcAft>
              <a:buNone/>
            </a:pPr>
            <a:r>
              <a:rPr lang="en-US" sz="1700" b="1" dirty="0">
                <a:solidFill>
                  <a:srgbClr val="8A5A0F"/>
                </a:solidFill>
                <a:latin typeface="Calibri" pitchFamily="34" charset="0"/>
                <a:ea typeface="Calibri" pitchFamily="34" charset="-122"/>
                <a:cs typeface="Calibri" pitchFamily="34" charset="-120"/>
              </a:rPr>
              <a:t>Two rows, not one</a:t>
            </a:r>
            <a:endParaRPr lang="en-US" sz="1700" dirty="0"/>
          </a:p>
          <a:p>
            <a:pPr indent="0" marL="0">
              <a:lnSpc>
                <a:spcPct val="122000"/>
              </a:lnSpc>
              <a:spcAft>
                <a:spcPts val="0"/>
              </a:spcAft>
              <a:buNone/>
            </a:pPr>
            <a:r>
              <a:rPr lang="en-US" sz="1500" dirty="0">
                <a:solidFill>
                  <a:srgbClr val="5C4210"/>
                </a:solidFill>
                <a:latin typeface="Calibri" pitchFamily="34" charset="0"/>
                <a:ea typeface="Calibri" pitchFamily="34" charset="-122"/>
                <a:cs typeface="Calibri" pitchFamily="34" charset="-120"/>
              </a:rPr>
              <a:t>Inserting only (E1, Java, French) leaves “does E1 speak French?” with a different answer depending on which row you check. Forgetting a row is an update anomaly.</a:t>
            </a:r>
            <a:endParaRPr lang="en-US" sz="1500" dirty="0"/>
          </a:p>
        </p:txBody>
      </p:sp>
      <p:sp>
        <p:nvSpPr>
          <p:cNvPr id="8" name="Text 8"/>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6</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7">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NEW DEPENDENCY</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Multi-Valued Dependencies, Defined</a:t>
            </a:r>
            <a:endParaRPr lang="en-US" sz="2600" dirty="0"/>
          </a:p>
        </p:txBody>
      </p:sp>
      <p:sp>
        <p:nvSpPr>
          <p:cNvPr id="4" name="Text 4"/>
          <p:cNvSpPr txBox="1"/>
          <p:nvPr/>
        </p:nvSpPr>
        <p:spPr>
          <a:xfrm>
            <a:off x="640080" y="1371600"/>
            <a:ext cx="9966960" cy="914400"/>
          </a:xfrm>
          <a:prstGeom prst="rect">
            <a:avLst/>
          </a:prstGeom>
          <a:noFill/>
          <a:ln/>
        </p:spPr>
        <p:txBody>
          <a:bodyPr wrap="square" lIns="0" tIns="0" rIns="0" bIns="0" rtlCol="0" anchor="t"/>
          <a:lstStyle/>
          <a:p>
            <a:pPr indent="0" marL="0">
              <a:lnSpc>
                <a:spcPct val="122000"/>
              </a:lnSpc>
              <a:spcAft>
                <a:spcPts val="0"/>
              </a:spcAft>
              <a:buNone/>
            </a:pPr>
            <a:r>
              <a:rPr lang="en-US" sz="1800" dirty="0">
                <a:solidFill>
                  <a:srgbClr val="1F2429"/>
                </a:solidFill>
                <a:latin typeface="Calibri" pitchFamily="34" charset="0"/>
                <a:ea typeface="Calibri" pitchFamily="34" charset="-122"/>
                <a:cs typeface="Calibri" pitchFamily="34" charset="-120"/>
              </a:rPr>
              <a:t>A multi-valued dependency X ↠ Y over R (with Z = R − X − Y) holds when, for each value of X, the set of Y-values is completely independent of the Z-values.</a:t>
            </a:r>
            <a:endParaRPr lang="en-US" sz="1800" dirty="0"/>
          </a:p>
        </p:txBody>
      </p:sp>
      <p:sp>
        <p:nvSpPr>
          <p:cNvPr id="5" name="Shape 5"/>
          <p:cNvSpPr/>
          <p:nvPr/>
        </p:nvSpPr>
        <p:spPr>
          <a:xfrm>
            <a:off x="640080" y="2514600"/>
            <a:ext cx="9966960" cy="1143000"/>
          </a:xfrm>
          <a:prstGeom prst="roundRect">
            <a:avLst>
              <a:gd name="adj" fmla="val 14970"/>
            </a:avLst>
          </a:prstGeom>
          <a:solidFill>
            <a:srgbClr val="FFFFFF"/>
          </a:solidFill>
          <a:ln w="22225">
            <a:solidFill>
              <a:srgbClr val="8B7FD9"/>
            </a:solidFill>
            <a:prstDash val="solid"/>
          </a:ln>
          <a:effectLst>
            <a:outerShdw sx="100000" sy="100000" kx="0" ky="0" algn="bl" rotWithShape="0" blurRad="63500" dist="25400" dir="5400000">
              <a:srgbClr val="000000">
                <a:alpha val="12000"/>
              </a:srgbClr>
            </a:outerShdw>
          </a:effectLst>
        </p:spPr>
      </p:sp>
      <p:sp>
        <p:nvSpPr>
          <p:cNvPr id="6" name="Shape 6"/>
          <p:cNvSpPr/>
          <p:nvPr/>
        </p:nvSpPr>
        <p:spPr>
          <a:xfrm>
            <a:off x="640080" y="2514600"/>
            <a:ext cx="82296" cy="1143000"/>
          </a:xfrm>
          <a:prstGeom prst="roundRect">
            <a:avLst/>
          </a:prstGeom>
          <a:solidFill>
            <a:srgbClr val="8B7FD9"/>
          </a:solidFill>
          <a:ln/>
        </p:spPr>
      </p:sp>
      <p:sp>
        <p:nvSpPr>
          <p:cNvPr id="7" name="Text 7"/>
          <p:cNvSpPr txBox="1"/>
          <p:nvPr/>
        </p:nvSpPr>
        <p:spPr>
          <a:xfrm>
            <a:off x="978408" y="2514600"/>
            <a:ext cx="9464040" cy="1143000"/>
          </a:xfrm>
          <a:prstGeom prst="rect">
            <a:avLst/>
          </a:prstGeom>
          <a:noFill/>
          <a:ln/>
        </p:spPr>
        <p:txBody>
          <a:bodyPr wrap="square" lIns="0" tIns="0" rIns="0" bIns="0" rtlCol="0" anchor="ctr"/>
          <a:lstStyle/>
          <a:p>
            <a:pPr indent="0" marL="0">
              <a:lnSpc>
                <a:spcPct val="108000"/>
              </a:lnSpc>
              <a:spcAft>
                <a:spcPts val="200"/>
              </a:spcAft>
              <a:buNone/>
            </a:pPr>
            <a:r>
              <a:rPr lang="en-US" sz="1700" b="1" dirty="0">
                <a:solidFill>
                  <a:srgbClr val="1F2429"/>
                </a:solidFill>
                <a:latin typeface="Calibri" pitchFamily="34" charset="0"/>
                <a:ea typeface="Calibri" pitchFamily="34" charset="-122"/>
                <a:cs typeface="Calibri" pitchFamily="34" charset="-120"/>
              </a:rPr>
              <a:t>Formal test: tuples t₁ and t₂ agree on X</a:t>
            </a:r>
            <a:endParaRPr lang="en-US" sz="1700" dirty="0"/>
          </a:p>
          <a:p>
            <a:pPr indent="0" marL="0">
              <a:lnSpc>
                <a:spcPct val="112000"/>
              </a:lnSpc>
              <a:spcAft>
                <a:spcPts val="0"/>
              </a:spcAft>
              <a:buNone/>
            </a:pPr>
            <a:r>
              <a:rPr lang="en-US" sz="1500" dirty="0">
                <a:solidFill>
                  <a:srgbClr val="8A939B"/>
                </a:solidFill>
                <a:latin typeface="Calibri" pitchFamily="34" charset="0"/>
                <a:ea typeface="Calibri" pitchFamily="34" charset="-122"/>
                <a:cs typeface="Calibri" pitchFamily="34" charset="-120"/>
              </a:rPr>
              <a:t>Then R must also contain a tuple with t₁'s X and Y values and t₂'s Z value, and one with t₂'s X and Y values and t₁'s Z value.</a:t>
            </a:r>
            <a:endParaRPr lang="en-US" sz="1500" dirty="0"/>
          </a:p>
        </p:txBody>
      </p:sp>
      <p:sp>
        <p:nvSpPr>
          <p:cNvPr id="8" name="Shape 8"/>
          <p:cNvSpPr/>
          <p:nvPr/>
        </p:nvSpPr>
        <p:spPr>
          <a:xfrm>
            <a:off x="640080" y="3840480"/>
            <a:ext cx="9966960" cy="1143000"/>
          </a:xfrm>
          <a:prstGeom prst="roundRect">
            <a:avLst>
              <a:gd name="adj" fmla="val 14970"/>
            </a:avLst>
          </a:prstGeom>
          <a:solidFill>
            <a:srgbClr val="FFFFFF"/>
          </a:solidFill>
          <a:ln w="22225">
            <a:solidFill>
              <a:srgbClr val="2FE6C4"/>
            </a:solidFill>
            <a:prstDash val="solid"/>
          </a:ln>
          <a:effectLst>
            <a:outerShdw sx="100000" sy="100000" kx="0" ky="0" algn="bl" rotWithShape="0" blurRad="63500" dist="25400" dir="5400000">
              <a:srgbClr val="000000">
                <a:alpha val="12000"/>
              </a:srgbClr>
            </a:outerShdw>
          </a:effectLst>
        </p:spPr>
      </p:sp>
      <p:sp>
        <p:nvSpPr>
          <p:cNvPr id="9" name="Shape 9"/>
          <p:cNvSpPr/>
          <p:nvPr/>
        </p:nvSpPr>
        <p:spPr>
          <a:xfrm>
            <a:off x="640080" y="3840480"/>
            <a:ext cx="82296" cy="1143000"/>
          </a:xfrm>
          <a:prstGeom prst="roundRect">
            <a:avLst/>
          </a:prstGeom>
          <a:solidFill>
            <a:srgbClr val="2FE6C4"/>
          </a:solidFill>
          <a:ln/>
        </p:spPr>
      </p:sp>
      <p:sp>
        <p:nvSpPr>
          <p:cNvPr id="10" name="Text 10"/>
          <p:cNvSpPr txBox="1"/>
          <p:nvPr/>
        </p:nvSpPr>
        <p:spPr>
          <a:xfrm>
            <a:off x="978408" y="3840480"/>
            <a:ext cx="9464040" cy="1143000"/>
          </a:xfrm>
          <a:prstGeom prst="rect">
            <a:avLst/>
          </a:prstGeom>
          <a:noFill/>
          <a:ln/>
        </p:spPr>
        <p:txBody>
          <a:bodyPr wrap="square" lIns="0" tIns="0" rIns="0" bIns="0" rtlCol="0" anchor="ctr"/>
          <a:lstStyle/>
          <a:p>
            <a:pPr indent="0" marL="0">
              <a:lnSpc>
                <a:spcPct val="108000"/>
              </a:lnSpc>
              <a:spcAft>
                <a:spcPts val="200"/>
              </a:spcAft>
              <a:buNone/>
            </a:pPr>
            <a:r>
              <a:rPr lang="en-US" sz="1700" b="1" dirty="0">
                <a:solidFill>
                  <a:srgbClr val="1F2429"/>
                </a:solidFill>
                <a:latin typeface="Calibri" pitchFamily="34" charset="0"/>
                <a:ea typeface="Calibri" pitchFamily="34" charset="-122"/>
                <a:cs typeface="Calibri" pitchFamily="34" charset="-120"/>
              </a:rPr>
              <a:t>In EmpSkillsLangs: empNo ↠ skill</a:t>
            </a:r>
            <a:endParaRPr lang="en-US" sz="1700" dirty="0"/>
          </a:p>
          <a:p>
            <a:pPr indent="0" marL="0">
              <a:lnSpc>
                <a:spcPct val="112000"/>
              </a:lnSpc>
              <a:spcAft>
                <a:spcPts val="0"/>
              </a:spcAft>
              <a:buNone/>
            </a:pPr>
            <a:r>
              <a:rPr lang="en-US" sz="1500" dirty="0">
                <a:solidFill>
                  <a:srgbClr val="8A939B"/>
                </a:solidFill>
                <a:latin typeface="Calibri" pitchFamily="34" charset="0"/>
                <a:ea typeface="Calibri" pitchFamily="34" charset="-122"/>
                <a:cs typeface="Calibri" pitchFamily="34" charset="-120"/>
              </a:rPr>
              <a:t>Here X = {empNo}, Y = {skill}, Z = {language}. Skills are independent of languages for each employee.</a:t>
            </a:r>
            <a:endParaRPr lang="en-US" sz="1500" dirty="0"/>
          </a:p>
        </p:txBody>
      </p:sp>
      <p:sp>
        <p:nvSpPr>
          <p:cNvPr id="11" name="Text 11"/>
          <p:cNvSpPr txBox="1"/>
          <p:nvPr/>
        </p:nvSpPr>
        <p:spPr>
          <a:xfrm>
            <a:off x="640080" y="5257800"/>
            <a:ext cx="9966960" cy="822960"/>
          </a:xfrm>
          <a:prstGeom prst="rect">
            <a:avLst/>
          </a:prstGeom>
          <a:noFill/>
          <a:ln/>
        </p:spPr>
        <p:txBody>
          <a:bodyPr wrap="square" lIns="0" tIns="0" rIns="0" bIns="0" rtlCol="0" anchor="t"/>
          <a:lstStyle/>
          <a:p>
            <a:pPr indent="0" marL="0">
              <a:lnSpc>
                <a:spcPct val="120000"/>
              </a:lnSpc>
              <a:spcAft>
                <a:spcPts val="0"/>
              </a:spcAft>
              <a:buNone/>
            </a:pPr>
            <a:r>
              <a:rPr lang="en-US" sz="1600" dirty="0">
                <a:solidFill>
                  <a:srgbClr val="6B7280"/>
                </a:solidFill>
                <a:latin typeface="Calibri" pitchFamily="34" charset="0"/>
                <a:ea typeface="Calibri" pitchFamily="34" charset="-122"/>
                <a:cs typeface="Calibri" pitchFamily="34" charset="-120"/>
              </a:rPr>
              <a:t>Complementation: if empNo ↠ skill holds, so does empNo ↠ language.</a:t>
            </a:r>
            <a:endParaRPr lang="en-US" sz="1600" dirty="0"/>
          </a:p>
        </p:txBody>
      </p:sp>
      <p:sp>
        <p:nvSpPr>
          <p:cNvPr id="12" name="Text 12"/>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7</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8">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NEW DEPENDENCY</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Applying the Definition to the Table</a:t>
            </a:r>
            <a:endParaRPr lang="en-US" sz="2600" dirty="0"/>
          </a:p>
        </p:txBody>
      </p:sp>
      <p:sp>
        <p:nvSpPr>
          <p:cNvPr id="4" name="Text 4"/>
          <p:cNvSpPr txBox="1"/>
          <p:nvPr/>
        </p:nvSpPr>
        <p:spPr>
          <a:xfrm>
            <a:off x="640080" y="1371600"/>
            <a:ext cx="9966960" cy="640080"/>
          </a:xfrm>
          <a:prstGeom prst="rect">
            <a:avLst/>
          </a:prstGeom>
          <a:noFill/>
          <a:ln/>
        </p:spPr>
        <p:txBody>
          <a:bodyPr wrap="square" lIns="0" tIns="0" rIns="0" bIns="0" rtlCol="0" anchor="t"/>
          <a:lstStyle/>
          <a:p>
            <a:pPr indent="0" marL="0">
              <a:lnSpc>
                <a:spcPct val="120000"/>
              </a:lnSpc>
              <a:spcAft>
                <a:spcPts val="0"/>
              </a:spcAft>
              <a:buNone/>
            </a:pPr>
            <a:r>
              <a:rPr lang="en-US" sz="1800" dirty="0">
                <a:solidFill>
                  <a:srgbClr val="1F2429"/>
                </a:solidFill>
                <a:latin typeface="Calibri" pitchFamily="34" charset="0"/>
                <a:ea typeface="Calibri" pitchFamily="34" charset="-122"/>
                <a:cs typeface="Calibri" pitchFamily="34" charset="-120"/>
              </a:rPr>
              <a:t>Check empNo ↠ skill with two tuples that agree on empNo = E1:</a:t>
            </a:r>
            <a:endParaRPr lang="en-US" sz="1800" dirty="0"/>
          </a:p>
        </p:txBody>
      </p:sp>
      <p:graphicFrame>
        <p:nvGraphicFramePr>
          <p:cNvPr id="5" name="Table 5"/>
          <p:cNvGraphicFramePr>
            <a:graphicFrameLocks noGrp="1"/>
          </p:cNvGraphicFramePr>
          <p:nvPr/>
        </p:nvGraphicFramePr>
        <p:xfrm>
          <a:off x="640080" y="2057400"/>
          <a:ext cx="9966960" cy="2514600"/>
        </p:xfrm>
        <a:graphic>
          <a:graphicData uri="http://schemas.openxmlformats.org/drawingml/2006/table">
            <a:tbl>
              <a:tblPr firstRow="1" bandRow="1"/>
              <a:tblGrid>
                <a:gridCol w="1395374"/>
                <a:gridCol w="1395374"/>
                <a:gridCol w="1993392"/>
                <a:gridCol w="1993392"/>
                <a:gridCol w="3189427"/>
              </a:tblGrid>
              <a:tr h="50292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Tuple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empNo</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skill</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language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Role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r>
              <a:tr h="50292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t₁</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Java</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English</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given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50292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t₂</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Python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Urdu</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given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50292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needed</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Java</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Urdu</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present ✓</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50292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needed</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Python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English</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present ✓</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bl>
          </a:graphicData>
        </a:graphic>
      </p:graphicFrame>
      <p:sp>
        <p:nvSpPr>
          <p:cNvPr id="6" name="Shape 6"/>
          <p:cNvSpPr/>
          <p:nvPr/>
        </p:nvSpPr>
        <p:spPr>
          <a:xfrm>
            <a:off x="640080" y="4800600"/>
            <a:ext cx="9966960" cy="1463040"/>
          </a:xfrm>
          <a:prstGeom prst="roundRect">
            <a:avLst>
              <a:gd name="adj" fmla="val 6897"/>
            </a:avLst>
          </a:prstGeom>
          <a:solidFill>
            <a:srgbClr val="FFFFFF"/>
          </a:solidFill>
          <a:ln w="15875">
            <a:solidFill>
              <a:srgbClr val="2FE6C4"/>
            </a:solidFill>
            <a:prstDash val="solid"/>
          </a:ln>
        </p:spPr>
      </p:sp>
      <p:sp>
        <p:nvSpPr>
          <p:cNvPr id="7" name="Text 7"/>
          <p:cNvSpPr txBox="1"/>
          <p:nvPr/>
        </p:nvSpPr>
        <p:spPr>
          <a:xfrm>
            <a:off x="914400" y="4800600"/>
            <a:ext cx="9418320" cy="1463040"/>
          </a:xfrm>
          <a:prstGeom prst="rect">
            <a:avLst/>
          </a:prstGeom>
          <a:noFill/>
          <a:ln/>
        </p:spPr>
        <p:txBody>
          <a:bodyPr wrap="square" lIns="0" tIns="0" rIns="0" bIns="0" rtlCol="0" anchor="ctr"/>
          <a:lstStyle/>
          <a:p>
            <a:pPr indent="0" marL="0">
              <a:lnSpc>
                <a:spcPct val="118000"/>
              </a:lnSpc>
              <a:spcAft>
                <a:spcPts val="300"/>
              </a:spcAft>
              <a:buNone/>
            </a:pPr>
            <a:r>
              <a:rPr lang="en-US" sz="1700" b="1" dirty="0">
                <a:solidFill>
                  <a:srgbClr val="1F2429"/>
                </a:solidFill>
                <a:latin typeface="Calibri" pitchFamily="34" charset="0"/>
                <a:ea typeface="Calibri" pitchFamily="34" charset="-122"/>
                <a:cs typeface="Calibri" pitchFamily="34" charset="-120"/>
              </a:rPr>
              <a:t>Conclusion: the MVD holds</a:t>
            </a:r>
            <a:endParaRPr lang="en-US" sz="1700" dirty="0"/>
          </a:p>
          <a:p>
            <a:pPr indent="0" marL="0">
              <a:lnSpc>
                <a:spcPct val="122000"/>
              </a:lnSpc>
              <a:spcAft>
                <a:spcPts val="0"/>
              </a:spcAft>
              <a:buNone/>
            </a:pPr>
            <a:r>
              <a:rPr lang="en-US" sz="1500" dirty="0">
                <a:solidFill>
                  <a:srgbClr val="6B7280"/>
                </a:solidFill>
                <a:latin typeface="Calibri" pitchFamily="34" charset="0"/>
                <a:ea typeface="Calibri" pitchFamily="34" charset="-122"/>
                <a:cs typeface="Calibri" pitchFamily="34" charset="-120"/>
              </a:rPr>
              <a:t>Both mixed tuples the definition requires are already in the table. The two skills combine with both languages, so skill is independent of language for E1. For E2 there is only one row, so the condition holds trivially.</a:t>
            </a:r>
            <a:endParaRPr lang="en-US" sz="1500" dirty="0"/>
          </a:p>
        </p:txBody>
      </p:sp>
      <p:sp>
        <p:nvSpPr>
          <p:cNvPr id="8" name="Text 8"/>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8</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9">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NEW DEPENDENCY</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The Intuitive Test</a:t>
            </a:r>
            <a:endParaRPr lang="en-US" sz="2600" dirty="0"/>
          </a:p>
        </p:txBody>
      </p:sp>
      <p:sp>
        <p:nvSpPr>
          <p:cNvPr id="4" name="Text 4"/>
          <p:cNvSpPr txBox="1"/>
          <p:nvPr/>
        </p:nvSpPr>
        <p:spPr>
          <a:xfrm>
            <a:off x="640080" y="1417320"/>
            <a:ext cx="9966960" cy="914400"/>
          </a:xfrm>
          <a:prstGeom prst="rect">
            <a:avLst/>
          </a:prstGeom>
          <a:noFill/>
          <a:ln/>
        </p:spPr>
        <p:txBody>
          <a:bodyPr wrap="square" lIns="0" tIns="0" rIns="0" bIns="0" rtlCol="0" anchor="t"/>
          <a:lstStyle/>
          <a:p>
            <a:pPr indent="0" marL="0">
              <a:lnSpc>
                <a:spcPct val="122000"/>
              </a:lnSpc>
              <a:spcAft>
                <a:spcPts val="0"/>
              </a:spcAft>
              <a:buNone/>
            </a:pPr>
            <a:r>
              <a:rPr lang="en-US" sz="1800" dirty="0">
                <a:solidFill>
                  <a:srgbClr val="1F2429"/>
                </a:solidFill>
                <a:latin typeface="Calibri" pitchFamily="34" charset="0"/>
                <a:ea typeface="Calibri" pitchFamily="34" charset="-122"/>
                <a:cs typeface="Calibri" pitchFamily="34" charset="-120"/>
              </a:rPr>
              <a:t>The intuitive test: for a fixed employee, does knowing which language they speak change which skills are possible?</a:t>
            </a:r>
            <a:endParaRPr lang="en-US" sz="1800" dirty="0"/>
          </a:p>
        </p:txBody>
      </p:sp>
      <p:sp>
        <p:nvSpPr>
          <p:cNvPr id="5" name="Shape 5"/>
          <p:cNvSpPr/>
          <p:nvPr/>
        </p:nvSpPr>
        <p:spPr>
          <a:xfrm>
            <a:off x="640080" y="2606040"/>
            <a:ext cx="4846320" cy="3566160"/>
          </a:xfrm>
          <a:prstGeom prst="roundRect">
            <a:avLst>
              <a:gd name="adj" fmla="val 3077"/>
            </a:avLst>
          </a:prstGeom>
          <a:solidFill>
            <a:srgbClr val="FFFFFF"/>
          </a:solidFill>
          <a:ln w="19050">
            <a:solidFill>
              <a:srgbClr val="2FE6C4"/>
            </a:solidFill>
            <a:prstDash val="solid"/>
          </a:ln>
          <a:effectLst>
            <a:outerShdw sx="100000" sy="100000" kx="0" ky="0" algn="bl" rotWithShape="0" blurRad="63500" dist="25400" dir="5400000">
              <a:srgbClr val="000000">
                <a:alpha val="12000"/>
              </a:srgbClr>
            </a:outerShdw>
          </a:effectLst>
        </p:spPr>
      </p:sp>
      <p:sp>
        <p:nvSpPr>
          <p:cNvPr id="6" name="Shape 6"/>
          <p:cNvSpPr/>
          <p:nvPr/>
        </p:nvSpPr>
        <p:spPr>
          <a:xfrm>
            <a:off x="960120" y="2926080"/>
            <a:ext cx="457200" cy="457200"/>
          </a:xfrm>
          <a:prstGeom prst="ellipse">
            <a:avLst/>
          </a:prstGeom>
          <a:solidFill>
            <a:srgbClr val="2FE6C4"/>
          </a:solidFill>
          <a:ln/>
        </p:spPr>
      </p:sp>
      <p:sp>
        <p:nvSpPr>
          <p:cNvPr id="7" name="Text 7"/>
          <p:cNvSpPr txBox="1"/>
          <p:nvPr/>
        </p:nvSpPr>
        <p:spPr>
          <a:xfrm>
            <a:off x="960120" y="2926080"/>
            <a:ext cx="457200" cy="457200"/>
          </a:xfrm>
          <a:prstGeom prst="rect">
            <a:avLst/>
          </a:prstGeom>
          <a:noFill/>
          <a:ln/>
        </p:spPr>
        <p:txBody>
          <a:bodyPr wrap="square" lIns="0" tIns="0" rIns="0" bIns="0" rtlCol="0" anchor="ctr"/>
          <a:lstStyle/>
          <a:p>
            <a:pPr algn="ctr" indent="0" marL="0">
              <a:lnSpc>
                <a:spcPct val="100000"/>
              </a:lnSpc>
              <a:spcAft>
                <a:spcPts val="0"/>
              </a:spcAft>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8"/>
          <p:cNvSpPr txBox="1"/>
          <p:nvPr/>
        </p:nvSpPr>
        <p:spPr>
          <a:xfrm>
            <a:off x="960120" y="3566160"/>
            <a:ext cx="4206240" cy="548640"/>
          </a:xfrm>
          <a:prstGeom prst="rect">
            <a:avLst/>
          </a:prstGeom>
          <a:noFill/>
          <a:ln/>
        </p:spPr>
        <p:txBody>
          <a:bodyPr wrap="square" lIns="0" tIns="0" rIns="0" bIns="0" rtlCol="0" anchor="t"/>
          <a:lstStyle/>
          <a:p>
            <a:pPr indent="0" marL="0">
              <a:lnSpc>
                <a:spcPct val="108000"/>
              </a:lnSpc>
              <a:spcAft>
                <a:spcPts val="0"/>
              </a:spcAft>
              <a:buNone/>
            </a:pPr>
            <a:r>
              <a:rPr lang="en-US" sz="1600" b="1" dirty="0">
                <a:solidFill>
                  <a:srgbClr val="1F2429"/>
                </a:solidFill>
                <a:latin typeface="Calibri" pitchFamily="34" charset="0"/>
                <a:ea typeface="Calibri" pitchFamily="34" charset="-122"/>
                <a:cs typeface="Calibri" pitchFamily="34" charset="-120"/>
              </a:rPr>
              <a:t>Independent: an MVD</a:t>
            </a:r>
            <a:endParaRPr lang="en-US" sz="1600" dirty="0"/>
          </a:p>
        </p:txBody>
      </p:sp>
      <p:sp>
        <p:nvSpPr>
          <p:cNvPr id="9" name="Text 9"/>
          <p:cNvSpPr txBox="1"/>
          <p:nvPr/>
        </p:nvSpPr>
        <p:spPr>
          <a:xfrm>
            <a:off x="960120" y="4160520"/>
            <a:ext cx="4206240" cy="1828800"/>
          </a:xfrm>
          <a:prstGeom prst="rect">
            <a:avLst/>
          </a:prstGeom>
          <a:noFill/>
          <a:ln/>
        </p:spPr>
        <p:txBody>
          <a:bodyPr wrap="square" lIns="0" tIns="0" rIns="0" bIns="0" rtlCol="0" anchor="t"/>
          <a:lstStyle/>
          <a:p>
            <a:pPr indent="0" marL="0">
              <a:lnSpc>
                <a:spcPct val="122000"/>
              </a:lnSpc>
              <a:spcAft>
                <a:spcPts val="0"/>
              </a:spcAft>
              <a:buNone/>
            </a:pPr>
            <a:r>
              <a:rPr lang="en-US" sz="1400" dirty="0">
                <a:solidFill>
                  <a:srgbClr val="6B7280"/>
                </a:solidFill>
                <a:latin typeface="Calibri" pitchFamily="34" charset="0"/>
                <a:ea typeface="Calibri" pitchFamily="34" charset="-122"/>
                <a:cs typeface="Calibri" pitchFamily="34" charset="-120"/>
              </a:rPr>
              <a:t>The two lists are just attached to the same employee. Knowing one tells you nothing new about the other. This is an MVD, and the cross-product is spurious.</a:t>
            </a:r>
            <a:endParaRPr lang="en-US" sz="1400" dirty="0"/>
          </a:p>
        </p:txBody>
      </p:sp>
      <p:sp>
        <p:nvSpPr>
          <p:cNvPr id="10" name="Shape 10"/>
          <p:cNvSpPr/>
          <p:nvPr/>
        </p:nvSpPr>
        <p:spPr>
          <a:xfrm>
            <a:off x="5760720" y="2606040"/>
            <a:ext cx="4846320" cy="3566160"/>
          </a:xfrm>
          <a:prstGeom prst="roundRect">
            <a:avLst>
              <a:gd name="adj" fmla="val 3077"/>
            </a:avLst>
          </a:prstGeom>
          <a:solidFill>
            <a:srgbClr val="FFFFFF"/>
          </a:solidFill>
          <a:ln w="19050">
            <a:solidFill>
              <a:srgbClr val="E8A33D"/>
            </a:solidFill>
            <a:prstDash val="solid"/>
          </a:ln>
          <a:effectLst>
            <a:outerShdw sx="100000" sy="100000" kx="0" ky="0" algn="bl" rotWithShape="0" blurRad="63500" dist="25400" dir="5400000">
              <a:srgbClr val="000000">
                <a:alpha val="12000"/>
              </a:srgbClr>
            </a:outerShdw>
          </a:effectLst>
        </p:spPr>
      </p:sp>
      <p:sp>
        <p:nvSpPr>
          <p:cNvPr id="11" name="Shape 11"/>
          <p:cNvSpPr/>
          <p:nvPr/>
        </p:nvSpPr>
        <p:spPr>
          <a:xfrm>
            <a:off x="6080760" y="2926080"/>
            <a:ext cx="457200" cy="457200"/>
          </a:xfrm>
          <a:prstGeom prst="ellipse">
            <a:avLst/>
          </a:prstGeom>
          <a:solidFill>
            <a:srgbClr val="E8A33D"/>
          </a:solidFill>
          <a:ln/>
        </p:spPr>
      </p:sp>
      <p:sp>
        <p:nvSpPr>
          <p:cNvPr id="12" name="Text 12"/>
          <p:cNvSpPr txBox="1"/>
          <p:nvPr/>
        </p:nvSpPr>
        <p:spPr>
          <a:xfrm>
            <a:off x="6080760" y="2926080"/>
            <a:ext cx="457200" cy="457200"/>
          </a:xfrm>
          <a:prstGeom prst="rect">
            <a:avLst/>
          </a:prstGeom>
          <a:noFill/>
          <a:ln/>
        </p:spPr>
        <p:txBody>
          <a:bodyPr wrap="square" lIns="0" tIns="0" rIns="0" bIns="0" rtlCol="0" anchor="ctr"/>
          <a:lstStyle/>
          <a:p>
            <a:pPr algn="ctr" indent="0" marL="0">
              <a:lnSpc>
                <a:spcPct val="100000"/>
              </a:lnSpc>
              <a:spcAft>
                <a:spcPts val="0"/>
              </a:spcAft>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3"/>
          <p:cNvSpPr txBox="1"/>
          <p:nvPr/>
        </p:nvSpPr>
        <p:spPr>
          <a:xfrm>
            <a:off x="6080760" y="3566160"/>
            <a:ext cx="4206240" cy="548640"/>
          </a:xfrm>
          <a:prstGeom prst="rect">
            <a:avLst/>
          </a:prstGeom>
          <a:noFill/>
          <a:ln/>
        </p:spPr>
        <p:txBody>
          <a:bodyPr wrap="square" lIns="0" tIns="0" rIns="0" bIns="0" rtlCol="0" anchor="t"/>
          <a:lstStyle/>
          <a:p>
            <a:pPr indent="0" marL="0">
              <a:lnSpc>
                <a:spcPct val="108000"/>
              </a:lnSpc>
              <a:spcAft>
                <a:spcPts val="0"/>
              </a:spcAft>
              <a:buNone/>
            </a:pPr>
            <a:r>
              <a:rPr lang="en-US" sz="1600" b="1" dirty="0">
                <a:solidFill>
                  <a:srgbClr val="1F2429"/>
                </a:solidFill>
                <a:latin typeface="Calibri" pitchFamily="34" charset="0"/>
                <a:ea typeface="Calibri" pitchFamily="34" charset="-122"/>
                <a:cs typeface="Calibri" pitchFamily="34" charset="-120"/>
              </a:rPr>
              <a:t>Interacting: no MVD</a:t>
            </a:r>
            <a:endParaRPr lang="en-US" sz="1600" dirty="0"/>
          </a:p>
        </p:txBody>
      </p:sp>
      <p:sp>
        <p:nvSpPr>
          <p:cNvPr id="14" name="Text 14"/>
          <p:cNvSpPr txBox="1"/>
          <p:nvPr/>
        </p:nvSpPr>
        <p:spPr>
          <a:xfrm>
            <a:off x="6080760" y="4160520"/>
            <a:ext cx="4206240" cy="1828800"/>
          </a:xfrm>
          <a:prstGeom prst="rect">
            <a:avLst/>
          </a:prstGeom>
          <a:noFill/>
          <a:ln/>
        </p:spPr>
        <p:txBody>
          <a:bodyPr wrap="square" lIns="0" tIns="0" rIns="0" bIns="0" rtlCol="0" anchor="t"/>
          <a:lstStyle/>
          <a:p>
            <a:pPr indent="0" marL="0">
              <a:lnSpc>
                <a:spcPct val="122000"/>
              </a:lnSpc>
              <a:spcAft>
                <a:spcPts val="0"/>
              </a:spcAft>
              <a:buNone/>
            </a:pPr>
            <a:r>
              <a:rPr lang="en-US" sz="1400" dirty="0">
                <a:solidFill>
                  <a:srgbClr val="6B7280"/>
                </a:solidFill>
                <a:latin typeface="Calibri" pitchFamily="34" charset="0"/>
                <a:ea typeface="Calibri" pitchFamily="34" charset="-122"/>
                <a:cs typeface="Calibri" pitchFamily="34" charset="-120"/>
              </a:rPr>
              <a:t>If Java were certified in English and Python in Urdu, the skill-language link becomes real. The MVD breaks, and the cross-product is no longer spurious.</a:t>
            </a:r>
            <a:endParaRPr lang="en-US" sz="1400" dirty="0"/>
          </a:p>
        </p:txBody>
      </p:sp>
      <p:sp>
        <p:nvSpPr>
          <p:cNvPr id="15" name="Text 15"/>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9</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0">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DEFINITIONS</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Trivial and Non-Trivial MVDs</a:t>
            </a:r>
            <a:endParaRPr lang="en-US" sz="2600" dirty="0"/>
          </a:p>
        </p:txBody>
      </p:sp>
      <p:sp>
        <p:nvSpPr>
          <p:cNvPr id="4" name="Shape 4"/>
          <p:cNvSpPr/>
          <p:nvPr/>
        </p:nvSpPr>
        <p:spPr>
          <a:xfrm>
            <a:off x="640080" y="1554480"/>
            <a:ext cx="4846320" cy="4480560"/>
          </a:xfrm>
          <a:prstGeom prst="roundRect">
            <a:avLst>
              <a:gd name="adj" fmla="val 3077"/>
            </a:avLst>
          </a:prstGeom>
          <a:solidFill>
            <a:srgbClr val="FFFFFF"/>
          </a:solidFill>
          <a:ln w="19050">
            <a:solidFill>
              <a:srgbClr val="8B7FD9"/>
            </a:solidFill>
            <a:prstDash val="solid"/>
          </a:ln>
          <a:effectLst>
            <a:outerShdw sx="100000" sy="100000" kx="0" ky="0" algn="bl" rotWithShape="0" blurRad="63500" dist="25400" dir="5400000">
              <a:srgbClr val="000000">
                <a:alpha val="12000"/>
              </a:srgbClr>
            </a:outerShdw>
          </a:effectLst>
        </p:spPr>
      </p:sp>
      <p:sp>
        <p:nvSpPr>
          <p:cNvPr id="5" name="Shape 5"/>
          <p:cNvSpPr/>
          <p:nvPr/>
        </p:nvSpPr>
        <p:spPr>
          <a:xfrm>
            <a:off x="960120" y="1874520"/>
            <a:ext cx="457200" cy="457200"/>
          </a:xfrm>
          <a:prstGeom prst="ellipse">
            <a:avLst/>
          </a:prstGeom>
          <a:solidFill>
            <a:srgbClr val="8B7FD9"/>
          </a:solidFill>
          <a:ln/>
        </p:spPr>
      </p:sp>
      <p:sp>
        <p:nvSpPr>
          <p:cNvPr id="6" name="Text 6"/>
          <p:cNvSpPr txBox="1"/>
          <p:nvPr/>
        </p:nvSpPr>
        <p:spPr>
          <a:xfrm>
            <a:off x="960120" y="1874520"/>
            <a:ext cx="457200" cy="457200"/>
          </a:xfrm>
          <a:prstGeom prst="rect">
            <a:avLst/>
          </a:prstGeom>
          <a:noFill/>
          <a:ln/>
        </p:spPr>
        <p:txBody>
          <a:bodyPr wrap="square" lIns="0" tIns="0" rIns="0" bIns="0" rtlCol="0" anchor="ctr"/>
          <a:lstStyle/>
          <a:p>
            <a:pPr algn="ctr" indent="0" marL="0">
              <a:lnSpc>
                <a:spcPct val="100000"/>
              </a:lnSpc>
              <a:spcAft>
                <a:spcPts val="0"/>
              </a:spcAft>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7"/>
          <p:cNvSpPr txBox="1"/>
          <p:nvPr/>
        </p:nvSpPr>
        <p:spPr>
          <a:xfrm>
            <a:off x="960120" y="2514600"/>
            <a:ext cx="4206240" cy="548640"/>
          </a:xfrm>
          <a:prstGeom prst="rect">
            <a:avLst/>
          </a:prstGeom>
          <a:noFill/>
          <a:ln/>
        </p:spPr>
        <p:txBody>
          <a:bodyPr wrap="square" lIns="0" tIns="0" rIns="0" bIns="0" rtlCol="0" anchor="t"/>
          <a:lstStyle/>
          <a:p>
            <a:pPr indent="0" marL="0">
              <a:lnSpc>
                <a:spcPct val="108000"/>
              </a:lnSpc>
              <a:spcAft>
                <a:spcPts val="0"/>
              </a:spcAft>
              <a:buNone/>
            </a:pPr>
            <a:r>
              <a:rPr lang="en-US" sz="1600" b="1" dirty="0">
                <a:solidFill>
                  <a:srgbClr val="1F2429"/>
                </a:solidFill>
                <a:latin typeface="Calibri" pitchFamily="34" charset="0"/>
                <a:ea typeface="Calibri" pitchFamily="34" charset="-122"/>
                <a:cs typeface="Calibri" pitchFamily="34" charset="-120"/>
              </a:rPr>
              <a:t>Trivial MVD</a:t>
            </a:r>
            <a:endParaRPr lang="en-US" sz="1600" dirty="0"/>
          </a:p>
        </p:txBody>
      </p:sp>
      <p:sp>
        <p:nvSpPr>
          <p:cNvPr id="8" name="Text 8"/>
          <p:cNvSpPr txBox="1"/>
          <p:nvPr/>
        </p:nvSpPr>
        <p:spPr>
          <a:xfrm>
            <a:off x="960120" y="3108960"/>
            <a:ext cx="4206240" cy="2743200"/>
          </a:xfrm>
          <a:prstGeom prst="rect">
            <a:avLst/>
          </a:prstGeom>
          <a:noFill/>
          <a:ln/>
        </p:spPr>
        <p:txBody>
          <a:bodyPr wrap="square" lIns="0" tIns="0" rIns="0" bIns="0" rtlCol="0" anchor="t"/>
          <a:lstStyle/>
          <a:p>
            <a:pPr indent="0" marL="0">
              <a:lnSpc>
                <a:spcPct val="122000"/>
              </a:lnSpc>
              <a:spcAft>
                <a:spcPts val="0"/>
              </a:spcAft>
              <a:buNone/>
            </a:pPr>
            <a:r>
              <a:rPr lang="en-US" sz="1500" dirty="0">
                <a:solidFill>
                  <a:srgbClr val="6B7280"/>
                </a:solidFill>
                <a:latin typeface="Calibri" pitchFamily="34" charset="0"/>
                <a:ea typeface="Calibri" pitchFamily="34" charset="-122"/>
                <a:cs typeface="Calibri" pitchFamily="34" charset="-120"/>
              </a:rPr>
              <a:t>X ↠ Y is trivial if Y ⊆ X, or if X ∪ Y = R. It holds in every relation and says nothing about design.</a:t>
            </a:r>
            <a:endParaRPr lang="en-US" sz="1500" dirty="0"/>
          </a:p>
        </p:txBody>
      </p:sp>
      <p:sp>
        <p:nvSpPr>
          <p:cNvPr id="9" name="Shape 9"/>
          <p:cNvSpPr/>
          <p:nvPr/>
        </p:nvSpPr>
        <p:spPr>
          <a:xfrm>
            <a:off x="5760720" y="1554480"/>
            <a:ext cx="4846320" cy="4480560"/>
          </a:xfrm>
          <a:prstGeom prst="roundRect">
            <a:avLst>
              <a:gd name="adj" fmla="val 3077"/>
            </a:avLst>
          </a:prstGeom>
          <a:solidFill>
            <a:srgbClr val="FFFFFF"/>
          </a:solidFill>
          <a:ln w="19050">
            <a:solidFill>
              <a:srgbClr val="E8A33D"/>
            </a:solidFill>
            <a:prstDash val="solid"/>
          </a:ln>
          <a:effectLst>
            <a:outerShdw sx="100000" sy="100000" kx="0" ky="0" algn="bl" rotWithShape="0" blurRad="63500" dist="25400" dir="5400000">
              <a:srgbClr val="000000">
                <a:alpha val="12000"/>
              </a:srgbClr>
            </a:outerShdw>
          </a:effectLst>
        </p:spPr>
      </p:sp>
      <p:sp>
        <p:nvSpPr>
          <p:cNvPr id="10" name="Shape 10"/>
          <p:cNvSpPr/>
          <p:nvPr/>
        </p:nvSpPr>
        <p:spPr>
          <a:xfrm>
            <a:off x="6080760" y="1874520"/>
            <a:ext cx="457200" cy="457200"/>
          </a:xfrm>
          <a:prstGeom prst="ellipse">
            <a:avLst/>
          </a:prstGeom>
          <a:solidFill>
            <a:srgbClr val="E8A33D"/>
          </a:solidFill>
          <a:ln/>
        </p:spPr>
      </p:sp>
      <p:sp>
        <p:nvSpPr>
          <p:cNvPr id="11" name="Text 11"/>
          <p:cNvSpPr txBox="1"/>
          <p:nvPr/>
        </p:nvSpPr>
        <p:spPr>
          <a:xfrm>
            <a:off x="6080760" y="1874520"/>
            <a:ext cx="457200" cy="457200"/>
          </a:xfrm>
          <a:prstGeom prst="rect">
            <a:avLst/>
          </a:prstGeom>
          <a:noFill/>
          <a:ln/>
        </p:spPr>
        <p:txBody>
          <a:bodyPr wrap="square" lIns="0" tIns="0" rIns="0" bIns="0" rtlCol="0" anchor="ctr"/>
          <a:lstStyle/>
          <a:p>
            <a:pPr algn="ctr" indent="0" marL="0">
              <a:lnSpc>
                <a:spcPct val="100000"/>
              </a:lnSpc>
              <a:spcAft>
                <a:spcPts val="0"/>
              </a:spcAft>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2"/>
          <p:cNvSpPr txBox="1"/>
          <p:nvPr/>
        </p:nvSpPr>
        <p:spPr>
          <a:xfrm>
            <a:off x="6080760" y="2514600"/>
            <a:ext cx="4206240" cy="548640"/>
          </a:xfrm>
          <a:prstGeom prst="rect">
            <a:avLst/>
          </a:prstGeom>
          <a:noFill/>
          <a:ln/>
        </p:spPr>
        <p:txBody>
          <a:bodyPr wrap="square" lIns="0" tIns="0" rIns="0" bIns="0" rtlCol="0" anchor="t"/>
          <a:lstStyle/>
          <a:p>
            <a:pPr indent="0" marL="0">
              <a:lnSpc>
                <a:spcPct val="108000"/>
              </a:lnSpc>
              <a:spcAft>
                <a:spcPts val="0"/>
              </a:spcAft>
              <a:buNone/>
            </a:pPr>
            <a:r>
              <a:rPr lang="en-US" sz="1600" b="1" dirty="0">
                <a:solidFill>
                  <a:srgbClr val="1F2429"/>
                </a:solidFill>
                <a:latin typeface="Calibri" pitchFamily="34" charset="0"/>
                <a:ea typeface="Calibri" pitchFamily="34" charset="-122"/>
                <a:cs typeface="Calibri" pitchFamily="34" charset="-120"/>
              </a:rPr>
              <a:t>Non-trivial MVD</a:t>
            </a:r>
            <a:endParaRPr lang="en-US" sz="1600" dirty="0"/>
          </a:p>
        </p:txBody>
      </p:sp>
      <p:sp>
        <p:nvSpPr>
          <p:cNvPr id="13" name="Text 13"/>
          <p:cNvSpPr txBox="1"/>
          <p:nvPr/>
        </p:nvSpPr>
        <p:spPr>
          <a:xfrm>
            <a:off x="6080760" y="3108960"/>
            <a:ext cx="4206240" cy="2743200"/>
          </a:xfrm>
          <a:prstGeom prst="rect">
            <a:avLst/>
          </a:prstGeom>
          <a:noFill/>
          <a:ln/>
        </p:spPr>
        <p:txBody>
          <a:bodyPr wrap="square" lIns="0" tIns="0" rIns="0" bIns="0" rtlCol="0" anchor="t"/>
          <a:lstStyle/>
          <a:p>
            <a:pPr indent="0" marL="0">
              <a:lnSpc>
                <a:spcPct val="122000"/>
              </a:lnSpc>
              <a:spcAft>
                <a:spcPts val="0"/>
              </a:spcAft>
              <a:buNone/>
            </a:pPr>
            <a:r>
              <a:rPr lang="en-US" sz="1500" dirty="0">
                <a:solidFill>
                  <a:srgbClr val="6B7280"/>
                </a:solidFill>
                <a:latin typeface="Calibri" pitchFamily="34" charset="0"/>
                <a:ea typeface="Calibri" pitchFamily="34" charset="-122"/>
                <a:cs typeface="Calibri" pitchFamily="34" charset="-120"/>
              </a:rPr>
              <a:t>Neither condition holds. Only non-trivial MVDs can violate 4NF. empNo ↠ skill is non-trivial: skill is not in empNo, and {empNo, skill} misses language.</a:t>
            </a:r>
            <a:endParaRPr lang="en-US" sz="1500" dirty="0"/>
          </a:p>
        </p:txBody>
      </p:sp>
      <p:sp>
        <p:nvSpPr>
          <p:cNvPr id="14" name="Text 14"/>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10</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1">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DEFINITIONS</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Properties of MVDs</a:t>
            </a:r>
            <a:endParaRPr lang="en-US" sz="2600" dirty="0"/>
          </a:p>
        </p:txBody>
      </p:sp>
      <p:sp>
        <p:nvSpPr>
          <p:cNvPr id="4" name="Text 4"/>
          <p:cNvSpPr txBox="1"/>
          <p:nvPr/>
        </p:nvSpPr>
        <p:spPr>
          <a:xfrm>
            <a:off x="822960" y="1554480"/>
            <a:ext cx="9966960" cy="457200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800" dirty="0">
                <a:solidFill>
                  <a:srgbClr val="1F2429"/>
                </a:solidFill>
                <a:latin typeface="Calibri" pitchFamily="34" charset="0"/>
                <a:ea typeface="Calibri" pitchFamily="34" charset="-122"/>
                <a:cs typeface="Calibri" pitchFamily="34" charset="-120"/>
              </a:rPr>
              <a:t>Every FD is also an MVD: if X → Y, then for fixed X there is exactly one Y, so there is no choice to be independent about.</a:t>
            </a:r>
            <a:endParaRPr lang="en-US" sz="1800" dirty="0"/>
          </a:p>
          <a:p>
            <a:pPr marL="342900" indent="-342900">
              <a:lnSpc>
                <a:spcPct val="115000"/>
              </a:lnSpc>
              <a:spcAft>
                <a:spcPts val="1400"/>
              </a:spcAft>
              <a:buSzPct val="100000"/>
              <a:buChar char="•"/>
            </a:pPr>
            <a:r>
              <a:rPr lang="en-US" sz="1800" dirty="0">
                <a:solidFill>
                  <a:srgbClr val="1F2429"/>
                </a:solidFill>
                <a:latin typeface="Calibri" pitchFamily="34" charset="0"/>
                <a:ea typeface="Calibri" pitchFamily="34" charset="-122"/>
                <a:cs typeface="Calibri" pitchFamily="34" charset="-120"/>
              </a:rPr>
              <a:t>MVDs always come in a complementary pair: X ↠ Y over {X, Y, Z} holds if and only if X ↠ Z holds.</a:t>
            </a:r>
            <a:endParaRPr lang="en-US" sz="1800" dirty="0"/>
          </a:p>
          <a:p>
            <a:pPr marL="342900" indent="-342900">
              <a:lnSpc>
                <a:spcPct val="115000"/>
              </a:lnSpc>
              <a:spcAft>
                <a:spcPts val="1400"/>
              </a:spcAft>
              <a:buSzPct val="100000"/>
              <a:buChar char="•"/>
            </a:pPr>
            <a:r>
              <a:rPr lang="en-US" sz="1800" dirty="0">
                <a:solidFill>
                  <a:srgbClr val="1F2429"/>
                </a:solidFill>
                <a:latin typeface="Calibri" pitchFamily="34" charset="0"/>
                <a:ea typeface="Calibri" pitchFamily="34" charset="-122"/>
                <a:cs typeface="Calibri" pitchFamily="34" charset="-120"/>
              </a:rPr>
              <a:t>Checking an MVD means looking at the whole relation, not one row pair. It says which combinations of rows must exist.</a:t>
            </a:r>
            <a:endParaRPr lang="en-US" sz="1800" dirty="0"/>
          </a:p>
        </p:txBody>
      </p:sp>
      <p:sp>
        <p:nvSpPr>
          <p:cNvPr id="5" name="Text 5"/>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11</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INFERENCE RULES</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Deriving New MVDs</a:t>
            </a:r>
            <a:endParaRPr lang="en-US" sz="2600" dirty="0"/>
          </a:p>
        </p:txBody>
      </p:sp>
      <p:graphicFrame>
        <p:nvGraphicFramePr>
          <p:cNvPr id="4" name="Table 4"/>
          <p:cNvGraphicFramePr>
            <a:graphicFrameLocks noGrp="1"/>
          </p:cNvGraphicFramePr>
          <p:nvPr/>
        </p:nvGraphicFramePr>
        <p:xfrm>
          <a:off x="640080" y="1554480"/>
          <a:ext cx="9966960" cy="4389120"/>
        </p:xfrm>
        <a:graphic>
          <a:graphicData uri="http://schemas.openxmlformats.org/drawingml/2006/table">
            <a:tbl>
              <a:tblPr firstRow="1" bandRow="1"/>
              <a:tblGrid>
                <a:gridCol w="2491740"/>
                <a:gridCol w="7475220"/>
              </a:tblGrid>
              <a:tr h="7315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Rule</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Statement</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r>
              <a:tr h="731520">
                <a:tc>
                  <a:txBody>
                    <a:bodyPr/>
                    <a:lstStyle/>
                    <a:p>
                      <a:pPr algn="l" indent="0" marL="0">
                        <a:buNone/>
                      </a:pPr>
                      <a:r>
                        <a:rPr lang="en-US" sz="1500" dirty="0">
                          <a:solidFill>
                            <a:srgbClr val="1F2429"/>
                          </a:solidFill>
                          <a:latin typeface="Calibri" pitchFamily="34" charset="0"/>
                          <a:ea typeface="Calibri" pitchFamily="34" charset="-122"/>
                          <a:cs typeface="Calibri" pitchFamily="34" charset="-120"/>
                        </a:rPr>
                        <a:t>Complementation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l" indent="0" marL="0">
                        <a:buNone/>
                      </a:pPr>
                      <a:r>
                        <a:rPr lang="en-US" sz="1500" dirty="0">
                          <a:solidFill>
                            <a:srgbClr val="1F2429"/>
                          </a:solidFill>
                          <a:latin typeface="Calibri" pitchFamily="34" charset="0"/>
                          <a:ea typeface="Calibri" pitchFamily="34" charset="-122"/>
                          <a:cs typeface="Calibri" pitchFamily="34" charset="-120"/>
                        </a:rPr>
                        <a:t>If X ↠ Y holds over R, then X ↠ (R − X − Y) also holds.</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731520">
                <a:tc>
                  <a:txBody>
                    <a:bodyPr/>
                    <a:lstStyle/>
                    <a:p>
                      <a:pPr algn="l" indent="0" marL="0">
                        <a:buNone/>
                      </a:pPr>
                      <a:r>
                        <a:rPr lang="en-US" sz="1500" dirty="0">
                          <a:solidFill>
                            <a:srgbClr val="1F2429"/>
                          </a:solidFill>
                          <a:latin typeface="Calibri" pitchFamily="34" charset="0"/>
                          <a:ea typeface="Calibri" pitchFamily="34" charset="-122"/>
                          <a:cs typeface="Calibri" pitchFamily="34" charset="-120"/>
                        </a:rPr>
                        <a:t>Augmentation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l" indent="0" marL="0">
                        <a:buNone/>
                      </a:pPr>
                      <a:r>
                        <a:rPr lang="en-US" sz="1500" dirty="0">
                          <a:solidFill>
                            <a:srgbClr val="1F2429"/>
                          </a:solidFill>
                          <a:latin typeface="Calibri" pitchFamily="34" charset="0"/>
                          <a:ea typeface="Calibri" pitchFamily="34" charset="-122"/>
                          <a:cs typeface="Calibri" pitchFamily="34" charset="-120"/>
                        </a:rPr>
                        <a:t>If X ↠ Y and W ⊇ Z, then WX ↠ YZ holds.</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731520">
                <a:tc>
                  <a:txBody>
                    <a:bodyPr/>
                    <a:lstStyle/>
                    <a:p>
                      <a:pPr algn="l" indent="0" marL="0">
                        <a:buNone/>
                      </a:pPr>
                      <a:r>
                        <a:rPr lang="en-US" sz="1500" dirty="0">
                          <a:solidFill>
                            <a:srgbClr val="1F2429"/>
                          </a:solidFill>
                          <a:latin typeface="Calibri" pitchFamily="34" charset="0"/>
                          <a:ea typeface="Calibri" pitchFamily="34" charset="-122"/>
                          <a:cs typeface="Calibri" pitchFamily="34" charset="-120"/>
                        </a:rPr>
                        <a:t>Transitivity</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l" indent="0" marL="0">
                        <a:buNone/>
                      </a:pPr>
                      <a:r>
                        <a:rPr lang="en-US" sz="1500" dirty="0">
                          <a:solidFill>
                            <a:srgbClr val="1F2429"/>
                          </a:solidFill>
                          <a:latin typeface="Calibri" pitchFamily="34" charset="0"/>
                          <a:ea typeface="Calibri" pitchFamily="34" charset="-122"/>
                          <a:cs typeface="Calibri" pitchFamily="34" charset="-120"/>
                        </a:rPr>
                        <a:t>If X ↠ Y and Y ↠ Z, then X ↠ (Z − Y) holds.</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731520">
                <a:tc>
                  <a:txBody>
                    <a:bodyPr/>
                    <a:lstStyle/>
                    <a:p>
                      <a:pPr algn="l" indent="0" marL="0">
                        <a:buNone/>
                      </a:pPr>
                      <a:r>
                        <a:rPr lang="en-US" sz="1500" dirty="0">
                          <a:solidFill>
                            <a:srgbClr val="1F2429"/>
                          </a:solidFill>
                          <a:latin typeface="Calibri" pitchFamily="34" charset="0"/>
                          <a:ea typeface="Calibri" pitchFamily="34" charset="-122"/>
                          <a:cs typeface="Calibri" pitchFamily="34" charset="-120"/>
                        </a:rPr>
                        <a:t>Replication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l" indent="0" marL="0">
                        <a:buNone/>
                      </a:pPr>
                      <a:r>
                        <a:rPr lang="en-US" sz="1500" dirty="0">
                          <a:solidFill>
                            <a:srgbClr val="1F2429"/>
                          </a:solidFill>
                          <a:latin typeface="Calibri" pitchFamily="34" charset="0"/>
                          <a:ea typeface="Calibri" pitchFamily="34" charset="-122"/>
                          <a:cs typeface="Calibri" pitchFamily="34" charset="-120"/>
                        </a:rPr>
                        <a:t>If X → Y holds, then X ↠ Y holds (every FD is an MVD).</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731520">
                <a:tc>
                  <a:txBody>
                    <a:bodyPr/>
                    <a:lstStyle/>
                    <a:p>
                      <a:pPr algn="l" indent="0" marL="0">
                        <a:buNone/>
                      </a:pPr>
                      <a:r>
                        <a:rPr lang="en-US" sz="1500" dirty="0">
                          <a:solidFill>
                            <a:srgbClr val="1F2429"/>
                          </a:solidFill>
                          <a:latin typeface="Calibri" pitchFamily="34" charset="0"/>
                          <a:ea typeface="Calibri" pitchFamily="34" charset="-122"/>
                          <a:cs typeface="Calibri" pitchFamily="34" charset="-120"/>
                        </a:rPr>
                        <a:t>Coalescence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l" indent="0" marL="0">
                        <a:buNone/>
                      </a:pPr>
                      <a:r>
                        <a:rPr lang="en-US" sz="1500" dirty="0">
                          <a:solidFill>
                            <a:srgbClr val="1F2429"/>
                          </a:solidFill>
                          <a:latin typeface="Calibri" pitchFamily="34" charset="0"/>
                          <a:ea typeface="Calibri" pitchFamily="34" charset="-122"/>
                          <a:cs typeface="Calibri" pitchFamily="34" charset="-120"/>
                        </a:rPr>
                        <a:t>If X ↠ Y, and W ∩ Y = ∅ with W → Z for some Z ⊆ Y, then X → Z.</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bl>
          </a:graphicData>
        </a:graphic>
      </p:graphicFrame>
      <p:sp>
        <p:nvSpPr>
          <p:cNvPr id="5" name="Text 5"/>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12</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WHY 4NF</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Why 4NF Exists Beyond BCNF</a:t>
            </a:r>
            <a:endParaRPr lang="en-US" sz="2600" dirty="0"/>
          </a:p>
        </p:txBody>
      </p:sp>
      <p:sp>
        <p:nvSpPr>
          <p:cNvPr id="4" name="Shape 4"/>
          <p:cNvSpPr/>
          <p:nvPr/>
        </p:nvSpPr>
        <p:spPr>
          <a:xfrm>
            <a:off x="640080" y="1554480"/>
            <a:ext cx="4846320" cy="4480560"/>
          </a:xfrm>
          <a:prstGeom prst="roundRect">
            <a:avLst>
              <a:gd name="adj" fmla="val 3077"/>
            </a:avLst>
          </a:prstGeom>
          <a:solidFill>
            <a:srgbClr val="FFFFFF"/>
          </a:solidFill>
          <a:ln w="19050">
            <a:solidFill>
              <a:srgbClr val="2FE6C4"/>
            </a:solidFill>
            <a:prstDash val="solid"/>
          </a:ln>
          <a:effectLst>
            <a:outerShdw sx="100000" sy="100000" kx="0" ky="0" algn="bl" rotWithShape="0" blurRad="63500" dist="25400" dir="5400000">
              <a:srgbClr val="000000">
                <a:alpha val="12000"/>
              </a:srgbClr>
            </a:outerShdw>
          </a:effectLst>
        </p:spPr>
      </p:sp>
      <p:sp>
        <p:nvSpPr>
          <p:cNvPr id="5" name="Shape 5"/>
          <p:cNvSpPr/>
          <p:nvPr/>
        </p:nvSpPr>
        <p:spPr>
          <a:xfrm>
            <a:off x="960120" y="1874520"/>
            <a:ext cx="457200" cy="457200"/>
          </a:xfrm>
          <a:prstGeom prst="ellipse">
            <a:avLst/>
          </a:prstGeom>
          <a:solidFill>
            <a:srgbClr val="2FE6C4"/>
          </a:solidFill>
          <a:ln/>
        </p:spPr>
      </p:sp>
      <p:sp>
        <p:nvSpPr>
          <p:cNvPr id="6" name="Text 6"/>
          <p:cNvSpPr txBox="1"/>
          <p:nvPr/>
        </p:nvSpPr>
        <p:spPr>
          <a:xfrm>
            <a:off x="960120" y="1874520"/>
            <a:ext cx="457200" cy="457200"/>
          </a:xfrm>
          <a:prstGeom prst="rect">
            <a:avLst/>
          </a:prstGeom>
          <a:noFill/>
          <a:ln/>
        </p:spPr>
        <p:txBody>
          <a:bodyPr wrap="square" lIns="0" tIns="0" rIns="0" bIns="0" rtlCol="0" anchor="ctr"/>
          <a:lstStyle/>
          <a:p>
            <a:pPr algn="ctr" indent="0" marL="0">
              <a:lnSpc>
                <a:spcPct val="100000"/>
              </a:lnSpc>
              <a:spcAft>
                <a:spcPts val="0"/>
              </a:spcAft>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7"/>
          <p:cNvSpPr txBox="1"/>
          <p:nvPr/>
        </p:nvSpPr>
        <p:spPr>
          <a:xfrm>
            <a:off x="960120" y="2514600"/>
            <a:ext cx="4206240" cy="548640"/>
          </a:xfrm>
          <a:prstGeom prst="rect">
            <a:avLst/>
          </a:prstGeom>
          <a:noFill/>
          <a:ln/>
        </p:spPr>
        <p:txBody>
          <a:bodyPr wrap="square" lIns="0" tIns="0" rIns="0" bIns="0" rtlCol="0" anchor="t"/>
          <a:lstStyle/>
          <a:p>
            <a:pPr indent="0" marL="0">
              <a:lnSpc>
                <a:spcPct val="108000"/>
              </a:lnSpc>
              <a:spcAft>
                <a:spcPts val="0"/>
              </a:spcAft>
              <a:buNone/>
            </a:pPr>
            <a:r>
              <a:rPr lang="en-US" sz="1600" b="1" dirty="0">
                <a:solidFill>
                  <a:srgbClr val="1F2429"/>
                </a:solidFill>
                <a:latin typeface="Calibri" pitchFamily="34" charset="0"/>
                <a:ea typeface="Calibri" pitchFamily="34" charset="-122"/>
                <a:cs typeface="Calibri" pitchFamily="34" charset="-120"/>
              </a:rPr>
              <a:t>BCNF only sees FDs</a:t>
            </a:r>
            <a:endParaRPr lang="en-US" sz="1600" dirty="0"/>
          </a:p>
        </p:txBody>
      </p:sp>
      <p:sp>
        <p:nvSpPr>
          <p:cNvPr id="8" name="Text 8"/>
          <p:cNvSpPr txBox="1"/>
          <p:nvPr/>
        </p:nvSpPr>
        <p:spPr>
          <a:xfrm>
            <a:off x="960120" y="3108960"/>
            <a:ext cx="4206240" cy="2743200"/>
          </a:xfrm>
          <a:prstGeom prst="rect">
            <a:avLst/>
          </a:prstGeom>
          <a:noFill/>
          <a:ln/>
        </p:spPr>
        <p:txBody>
          <a:bodyPr wrap="square" lIns="0" tIns="0" rIns="0" bIns="0" rtlCol="0" anchor="t"/>
          <a:lstStyle/>
          <a:p>
            <a:pPr indent="0" marL="0">
              <a:lnSpc>
                <a:spcPct val="122000"/>
              </a:lnSpc>
              <a:spcAft>
                <a:spcPts val="0"/>
              </a:spcAft>
              <a:buNone/>
            </a:pPr>
            <a:r>
              <a:rPr lang="en-US" sz="1500" dirty="0">
                <a:solidFill>
                  <a:srgbClr val="6B7280"/>
                </a:solidFill>
                <a:latin typeface="Calibri" pitchFamily="34" charset="0"/>
                <a:ea typeface="Calibri" pitchFamily="34" charset="-122"/>
                <a:cs typeface="Calibri" pitchFamily="34" charset="-120"/>
              </a:rPr>
              <a:t>BCNF tests functional dependencies. EmpSkillsLangs has none, so BCNF passes it with no warning.</a:t>
            </a:r>
            <a:endParaRPr lang="en-US" sz="1500" dirty="0"/>
          </a:p>
        </p:txBody>
      </p:sp>
      <p:sp>
        <p:nvSpPr>
          <p:cNvPr id="9" name="Shape 9"/>
          <p:cNvSpPr/>
          <p:nvPr/>
        </p:nvSpPr>
        <p:spPr>
          <a:xfrm>
            <a:off x="5760720" y="1554480"/>
            <a:ext cx="4846320" cy="4480560"/>
          </a:xfrm>
          <a:prstGeom prst="roundRect">
            <a:avLst>
              <a:gd name="adj" fmla="val 3077"/>
            </a:avLst>
          </a:prstGeom>
          <a:solidFill>
            <a:srgbClr val="FFFFFF"/>
          </a:solidFill>
          <a:ln w="19050">
            <a:solidFill>
              <a:srgbClr val="8B7FD9"/>
            </a:solidFill>
            <a:prstDash val="solid"/>
          </a:ln>
          <a:effectLst>
            <a:outerShdw sx="100000" sy="100000" kx="0" ky="0" algn="bl" rotWithShape="0" blurRad="63500" dist="25400" dir="5400000">
              <a:srgbClr val="000000">
                <a:alpha val="12000"/>
              </a:srgbClr>
            </a:outerShdw>
          </a:effectLst>
        </p:spPr>
      </p:sp>
      <p:sp>
        <p:nvSpPr>
          <p:cNvPr id="10" name="Shape 10"/>
          <p:cNvSpPr/>
          <p:nvPr/>
        </p:nvSpPr>
        <p:spPr>
          <a:xfrm>
            <a:off x="6080760" y="1874520"/>
            <a:ext cx="457200" cy="457200"/>
          </a:xfrm>
          <a:prstGeom prst="ellipse">
            <a:avLst/>
          </a:prstGeom>
          <a:solidFill>
            <a:srgbClr val="8B7FD9"/>
          </a:solidFill>
          <a:ln/>
        </p:spPr>
      </p:sp>
      <p:sp>
        <p:nvSpPr>
          <p:cNvPr id="11" name="Text 11"/>
          <p:cNvSpPr txBox="1"/>
          <p:nvPr/>
        </p:nvSpPr>
        <p:spPr>
          <a:xfrm>
            <a:off x="6080760" y="1874520"/>
            <a:ext cx="457200" cy="457200"/>
          </a:xfrm>
          <a:prstGeom prst="rect">
            <a:avLst/>
          </a:prstGeom>
          <a:noFill/>
          <a:ln/>
        </p:spPr>
        <p:txBody>
          <a:bodyPr wrap="square" lIns="0" tIns="0" rIns="0" bIns="0" rtlCol="0" anchor="ctr"/>
          <a:lstStyle/>
          <a:p>
            <a:pPr algn="ctr" indent="0" marL="0">
              <a:lnSpc>
                <a:spcPct val="100000"/>
              </a:lnSpc>
              <a:spcAft>
                <a:spcPts val="0"/>
              </a:spcAft>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2"/>
          <p:cNvSpPr txBox="1"/>
          <p:nvPr/>
        </p:nvSpPr>
        <p:spPr>
          <a:xfrm>
            <a:off x="6080760" y="2514600"/>
            <a:ext cx="4206240" cy="548640"/>
          </a:xfrm>
          <a:prstGeom prst="rect">
            <a:avLst/>
          </a:prstGeom>
          <a:noFill/>
          <a:ln/>
        </p:spPr>
        <p:txBody>
          <a:bodyPr wrap="square" lIns="0" tIns="0" rIns="0" bIns="0" rtlCol="0" anchor="t"/>
          <a:lstStyle/>
          <a:p>
            <a:pPr indent="0" marL="0">
              <a:lnSpc>
                <a:spcPct val="108000"/>
              </a:lnSpc>
              <a:spcAft>
                <a:spcPts val="0"/>
              </a:spcAft>
              <a:buNone/>
            </a:pPr>
            <a:r>
              <a:rPr lang="en-US" sz="1600" b="1" dirty="0">
                <a:solidFill>
                  <a:srgbClr val="1F2429"/>
                </a:solidFill>
                <a:latin typeface="Calibri" pitchFamily="34" charset="0"/>
                <a:ea typeface="Calibri" pitchFamily="34" charset="-122"/>
                <a:cs typeface="Calibri" pitchFamily="34" charset="-120"/>
              </a:rPr>
              <a:t>MVDs need their own rule</a:t>
            </a:r>
            <a:endParaRPr lang="en-US" sz="1600" dirty="0"/>
          </a:p>
        </p:txBody>
      </p:sp>
      <p:sp>
        <p:nvSpPr>
          <p:cNvPr id="13" name="Text 13"/>
          <p:cNvSpPr txBox="1"/>
          <p:nvPr/>
        </p:nvSpPr>
        <p:spPr>
          <a:xfrm>
            <a:off x="6080760" y="3108960"/>
            <a:ext cx="4206240" cy="2743200"/>
          </a:xfrm>
          <a:prstGeom prst="rect">
            <a:avLst/>
          </a:prstGeom>
          <a:noFill/>
          <a:ln/>
        </p:spPr>
        <p:txBody>
          <a:bodyPr wrap="square" lIns="0" tIns="0" rIns="0" bIns="0" rtlCol="0" anchor="t"/>
          <a:lstStyle/>
          <a:p>
            <a:pPr indent="0" marL="0">
              <a:lnSpc>
                <a:spcPct val="122000"/>
              </a:lnSpc>
              <a:spcAft>
                <a:spcPts val="0"/>
              </a:spcAft>
              <a:buNone/>
            </a:pPr>
            <a:r>
              <a:rPr lang="en-US" sz="1500" dirty="0">
                <a:solidFill>
                  <a:srgbClr val="6B7280"/>
                </a:solidFill>
                <a:latin typeface="Calibri" pitchFamily="34" charset="0"/>
                <a:ea typeface="Calibri" pitchFamily="34" charset="-122"/>
                <a:cs typeface="Calibri" pitchFamily="34" charset="-120"/>
              </a:rPr>
              <a:t>Redundancy can come from independent multi-valued facts. A stronger normal form, 4NF, is needed to remove it. 4NF is to MVDs what BCNF is to FDs.</a:t>
            </a:r>
            <a:endParaRPr lang="en-US" sz="1500" dirty="0"/>
          </a:p>
        </p:txBody>
      </p:sp>
      <p:sp>
        <p:nvSpPr>
          <p:cNvPr id="14" name="Text 14"/>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13</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4">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THE NORMAL FORM</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Fourth Normal Form (4NF)</a:t>
            </a:r>
            <a:endParaRPr lang="en-US" sz="2600" dirty="0"/>
          </a:p>
        </p:txBody>
      </p:sp>
      <p:sp>
        <p:nvSpPr>
          <p:cNvPr id="4" name="Text 4"/>
          <p:cNvSpPr txBox="1"/>
          <p:nvPr/>
        </p:nvSpPr>
        <p:spPr>
          <a:xfrm>
            <a:off x="640080" y="1463040"/>
            <a:ext cx="9966960" cy="1280160"/>
          </a:xfrm>
          <a:prstGeom prst="rect">
            <a:avLst/>
          </a:prstGeom>
          <a:noFill/>
          <a:ln/>
        </p:spPr>
        <p:txBody>
          <a:bodyPr wrap="square" lIns="0" tIns="0" rIns="0" bIns="0" rtlCol="0" anchor="t"/>
          <a:lstStyle/>
          <a:p>
            <a:pPr indent="0" marL="0">
              <a:lnSpc>
                <a:spcPct val="122000"/>
              </a:lnSpc>
              <a:spcAft>
                <a:spcPts val="0"/>
              </a:spcAft>
              <a:buNone/>
            </a:pPr>
            <a:r>
              <a:rPr lang="en-US" sz="1800" dirty="0">
                <a:solidFill>
                  <a:srgbClr val="1F2429"/>
                </a:solidFill>
                <a:latin typeface="Calibri" pitchFamily="34" charset="0"/>
                <a:ea typeface="Calibri" pitchFamily="34" charset="-122"/>
                <a:cs typeface="Calibri" pitchFamily="34" charset="-120"/>
              </a:rPr>
              <a:t>A relation R is in Fourth Normal Form if, for every non-trivial MVD X ↠ Y over R, X is a superkey of R.</a:t>
            </a:r>
            <a:endParaRPr lang="en-US" sz="1800" dirty="0"/>
          </a:p>
        </p:txBody>
      </p:sp>
      <p:sp>
        <p:nvSpPr>
          <p:cNvPr id="5" name="Shape 5"/>
          <p:cNvSpPr/>
          <p:nvPr/>
        </p:nvSpPr>
        <p:spPr>
          <a:xfrm>
            <a:off x="640080" y="2926080"/>
            <a:ext cx="9966960" cy="1097280"/>
          </a:xfrm>
          <a:prstGeom prst="roundRect">
            <a:avLst>
              <a:gd name="adj" fmla="val 14970"/>
            </a:avLst>
          </a:prstGeom>
          <a:solidFill>
            <a:srgbClr val="FFFFFF"/>
          </a:solidFill>
          <a:ln w="22225">
            <a:solidFill>
              <a:srgbClr val="8B7FD9"/>
            </a:solidFill>
            <a:prstDash val="solid"/>
          </a:ln>
          <a:effectLst>
            <a:outerShdw sx="100000" sy="100000" kx="0" ky="0" algn="bl" rotWithShape="0" blurRad="63500" dist="25400" dir="5400000">
              <a:srgbClr val="000000">
                <a:alpha val="12000"/>
              </a:srgbClr>
            </a:outerShdw>
          </a:effectLst>
        </p:spPr>
      </p:sp>
      <p:sp>
        <p:nvSpPr>
          <p:cNvPr id="6" name="Shape 6"/>
          <p:cNvSpPr/>
          <p:nvPr/>
        </p:nvSpPr>
        <p:spPr>
          <a:xfrm>
            <a:off x="640080" y="2926080"/>
            <a:ext cx="82296" cy="1097280"/>
          </a:xfrm>
          <a:prstGeom prst="roundRect">
            <a:avLst/>
          </a:prstGeom>
          <a:solidFill>
            <a:srgbClr val="8B7FD9"/>
          </a:solidFill>
          <a:ln/>
        </p:spPr>
      </p:sp>
      <p:sp>
        <p:nvSpPr>
          <p:cNvPr id="7" name="Text 7"/>
          <p:cNvSpPr txBox="1"/>
          <p:nvPr/>
        </p:nvSpPr>
        <p:spPr>
          <a:xfrm>
            <a:off x="978408" y="2926080"/>
            <a:ext cx="9464040" cy="1097280"/>
          </a:xfrm>
          <a:prstGeom prst="rect">
            <a:avLst/>
          </a:prstGeom>
          <a:noFill/>
          <a:ln/>
        </p:spPr>
        <p:txBody>
          <a:bodyPr wrap="square" lIns="0" tIns="0" rIns="0" bIns="0" rtlCol="0" anchor="ctr"/>
          <a:lstStyle/>
          <a:p>
            <a:pPr indent="0" marL="0">
              <a:lnSpc>
                <a:spcPct val="108000"/>
              </a:lnSpc>
              <a:spcAft>
                <a:spcPts val="200"/>
              </a:spcAft>
              <a:buNone/>
            </a:pPr>
            <a:r>
              <a:rPr lang="en-US" sz="1700" b="1" dirty="0">
                <a:solidFill>
                  <a:srgbClr val="1F2429"/>
                </a:solidFill>
                <a:latin typeface="Calibri" pitchFamily="34" charset="0"/>
                <a:ea typeface="Calibri" pitchFamily="34" charset="-122"/>
                <a:cs typeface="Calibri" pitchFamily="34" charset="-120"/>
              </a:rPr>
              <a:t>Same shape as BCNF</a:t>
            </a:r>
            <a:endParaRPr lang="en-US" sz="1700" dirty="0"/>
          </a:p>
          <a:p>
            <a:pPr indent="0" marL="0">
              <a:lnSpc>
                <a:spcPct val="112000"/>
              </a:lnSpc>
              <a:spcAft>
                <a:spcPts val="0"/>
              </a:spcAft>
              <a:buNone/>
            </a:pPr>
            <a:r>
              <a:rPr lang="en-US" sz="1500" dirty="0">
                <a:solidFill>
                  <a:srgbClr val="8A939B"/>
                </a:solidFill>
                <a:latin typeface="Calibri" pitchFamily="34" charset="0"/>
                <a:ea typeface="Calibri" pitchFamily="34" charset="-122"/>
                <a:cs typeface="Calibri" pitchFamily="34" charset="-120"/>
              </a:rPr>
              <a:t>Replace “functional dependency” with “multi-valued dependency” and the rule is identical.</a:t>
            </a:r>
            <a:endParaRPr lang="en-US" sz="1500" dirty="0"/>
          </a:p>
        </p:txBody>
      </p:sp>
      <p:sp>
        <p:nvSpPr>
          <p:cNvPr id="8" name="Shape 8"/>
          <p:cNvSpPr/>
          <p:nvPr/>
        </p:nvSpPr>
        <p:spPr>
          <a:xfrm>
            <a:off x="640080" y="4297680"/>
            <a:ext cx="9966960" cy="1097280"/>
          </a:xfrm>
          <a:prstGeom prst="roundRect">
            <a:avLst>
              <a:gd name="adj" fmla="val 14970"/>
            </a:avLst>
          </a:prstGeom>
          <a:solidFill>
            <a:srgbClr val="FFFFFF"/>
          </a:solidFill>
          <a:ln w="22225">
            <a:solidFill>
              <a:srgbClr val="2FE6C4"/>
            </a:solidFill>
            <a:prstDash val="solid"/>
          </a:ln>
          <a:effectLst>
            <a:outerShdw sx="100000" sy="100000" kx="0" ky="0" algn="bl" rotWithShape="0" blurRad="63500" dist="25400" dir="5400000">
              <a:srgbClr val="000000">
                <a:alpha val="12000"/>
              </a:srgbClr>
            </a:outerShdw>
          </a:effectLst>
        </p:spPr>
      </p:sp>
      <p:sp>
        <p:nvSpPr>
          <p:cNvPr id="9" name="Shape 9"/>
          <p:cNvSpPr/>
          <p:nvPr/>
        </p:nvSpPr>
        <p:spPr>
          <a:xfrm>
            <a:off x="640080" y="4297680"/>
            <a:ext cx="82296" cy="1097280"/>
          </a:xfrm>
          <a:prstGeom prst="roundRect">
            <a:avLst/>
          </a:prstGeom>
          <a:solidFill>
            <a:srgbClr val="2FE6C4"/>
          </a:solidFill>
          <a:ln/>
        </p:spPr>
      </p:sp>
      <p:sp>
        <p:nvSpPr>
          <p:cNvPr id="10" name="Text 10"/>
          <p:cNvSpPr txBox="1"/>
          <p:nvPr/>
        </p:nvSpPr>
        <p:spPr>
          <a:xfrm>
            <a:off x="978408" y="4297680"/>
            <a:ext cx="9464040" cy="1097280"/>
          </a:xfrm>
          <a:prstGeom prst="rect">
            <a:avLst/>
          </a:prstGeom>
          <a:noFill/>
          <a:ln/>
        </p:spPr>
        <p:txBody>
          <a:bodyPr wrap="square" lIns="0" tIns="0" rIns="0" bIns="0" rtlCol="0" anchor="ctr"/>
          <a:lstStyle/>
          <a:p>
            <a:pPr indent="0" marL="0">
              <a:lnSpc>
                <a:spcPct val="108000"/>
              </a:lnSpc>
              <a:spcAft>
                <a:spcPts val="200"/>
              </a:spcAft>
              <a:buNone/>
            </a:pPr>
            <a:r>
              <a:rPr lang="en-US" sz="1700" b="1" dirty="0">
                <a:solidFill>
                  <a:srgbClr val="1F2429"/>
                </a:solidFill>
                <a:latin typeface="Calibri" pitchFamily="34" charset="0"/>
                <a:ea typeface="Calibri" pitchFamily="34" charset="-122"/>
                <a:cs typeface="Calibri" pitchFamily="34" charset="-120"/>
              </a:rPr>
              <a:t>Every FD is also an MVD</a:t>
            </a:r>
            <a:endParaRPr lang="en-US" sz="1700" dirty="0"/>
          </a:p>
          <a:p>
            <a:pPr indent="0" marL="0">
              <a:lnSpc>
                <a:spcPct val="112000"/>
              </a:lnSpc>
              <a:spcAft>
                <a:spcPts val="0"/>
              </a:spcAft>
              <a:buNone/>
            </a:pPr>
            <a:r>
              <a:rPr lang="en-US" sz="1500" dirty="0">
                <a:solidFill>
                  <a:srgbClr val="8A939B"/>
                </a:solidFill>
                <a:latin typeface="Calibri" pitchFamily="34" charset="0"/>
                <a:ea typeface="Calibri" pitchFamily="34" charset="-122"/>
                <a:cs typeface="Calibri" pitchFamily="34" charset="-120"/>
              </a:rPr>
              <a:t>So 4NF automatically re-checks every BCNF condition, plus the MVD conditions BCNF cannot see.</a:t>
            </a:r>
            <a:endParaRPr lang="en-US" sz="1500" dirty="0"/>
          </a:p>
        </p:txBody>
      </p:sp>
      <p:sp>
        <p:nvSpPr>
          <p:cNvPr id="11" name="Text 11"/>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14</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5">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THE NORMAL FORM</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4NF Is Strictly Stronger Than BCNF</a:t>
            </a:r>
            <a:endParaRPr lang="en-US" sz="2600" dirty="0"/>
          </a:p>
        </p:txBody>
      </p:sp>
      <p:sp>
        <p:nvSpPr>
          <p:cNvPr id="4" name="Shape 4"/>
          <p:cNvSpPr/>
          <p:nvPr/>
        </p:nvSpPr>
        <p:spPr>
          <a:xfrm>
            <a:off x="640080" y="1554480"/>
            <a:ext cx="4846320" cy="4754880"/>
          </a:xfrm>
          <a:prstGeom prst="roundRect">
            <a:avLst>
              <a:gd name="adj" fmla="val 4500"/>
            </a:avLst>
          </a:prstGeom>
          <a:solidFill>
            <a:srgbClr val="FFFFFF"/>
          </a:solidFill>
          <a:ln w="12700">
            <a:solidFill>
              <a:srgbClr val="D7DBDF"/>
            </a:solidFill>
            <a:prstDash val="solid"/>
          </a:ln>
        </p:spPr>
      </p:sp>
      <p:sp>
        <p:nvSpPr>
          <p:cNvPr id="5" name="Shape 5"/>
          <p:cNvSpPr/>
          <p:nvPr/>
        </p:nvSpPr>
        <p:spPr>
          <a:xfrm>
            <a:off x="960120" y="1874520"/>
            <a:ext cx="2743200" cy="502920"/>
          </a:xfrm>
          <a:prstGeom prst="roundRect">
            <a:avLst>
              <a:gd name="adj" fmla="val 15000"/>
            </a:avLst>
          </a:prstGeom>
          <a:solidFill>
            <a:srgbClr val="8B7FD9"/>
          </a:solidFill>
          <a:ln/>
        </p:spPr>
      </p:sp>
      <p:sp>
        <p:nvSpPr>
          <p:cNvPr id="6" name="Text 6"/>
          <p:cNvSpPr txBox="1"/>
          <p:nvPr/>
        </p:nvSpPr>
        <p:spPr>
          <a:xfrm>
            <a:off x="960120" y="1874520"/>
            <a:ext cx="2743200" cy="502920"/>
          </a:xfrm>
          <a:prstGeom prst="rect">
            <a:avLst/>
          </a:prstGeom>
          <a:noFill/>
          <a:ln/>
        </p:spPr>
        <p:txBody>
          <a:bodyPr wrap="square" lIns="0" tIns="0" rIns="0" bIns="0" rtlCol="0" anchor="ctr"/>
          <a:lstStyle/>
          <a:p>
            <a:pPr algn="ctr" indent="0" marL="0">
              <a:lnSpc>
                <a:spcPct val="100000"/>
              </a:lnSpc>
              <a:spcAft>
                <a:spcPts val="0"/>
              </a:spcAft>
              <a:buNone/>
            </a:pPr>
            <a:r>
              <a:rPr lang="en-US" sz="1600" b="1" dirty="0">
                <a:solidFill>
                  <a:srgbClr val="FFFFFF"/>
                </a:solidFill>
                <a:latin typeface="Calibri" pitchFamily="34" charset="0"/>
                <a:ea typeface="Calibri" pitchFamily="34" charset="-122"/>
                <a:cs typeface="Calibri" pitchFamily="34" charset="-120"/>
              </a:rPr>
              <a:t>BCNF</a:t>
            </a:r>
            <a:endParaRPr lang="en-US" sz="1600" dirty="0"/>
          </a:p>
        </p:txBody>
      </p:sp>
      <p:sp>
        <p:nvSpPr>
          <p:cNvPr id="7" name="Text 7"/>
          <p:cNvSpPr txBox="1"/>
          <p:nvPr/>
        </p:nvSpPr>
        <p:spPr>
          <a:xfrm>
            <a:off x="960120" y="2606040"/>
            <a:ext cx="4206240" cy="3017520"/>
          </a:xfrm>
          <a:prstGeom prst="rect">
            <a:avLst/>
          </a:prstGeom>
          <a:noFill/>
          <a:ln/>
        </p:spPr>
        <p:txBody>
          <a:bodyPr wrap="square" lIns="0" tIns="0" rIns="0" bIns="0" rtlCol="0" anchor="t"/>
          <a:lstStyle/>
          <a:p>
            <a:pPr indent="0" marL="0">
              <a:lnSpc>
                <a:spcPct val="122000"/>
              </a:lnSpc>
              <a:spcAft>
                <a:spcPts val="0"/>
              </a:spcAft>
              <a:buNone/>
            </a:pPr>
            <a:r>
              <a:rPr lang="en-US" sz="1500" dirty="0">
                <a:solidFill>
                  <a:srgbClr val="1F2429"/>
                </a:solidFill>
                <a:latin typeface="Calibri" pitchFamily="34" charset="0"/>
                <a:ea typeface="Calibri" pitchFamily="34" charset="-122"/>
                <a:cs typeface="Calibri" pitchFamily="34" charset="-120"/>
              </a:rPr>
              <a:t>Every non-trivial FD has a determinant that is a superkey. EmpSkillsLangs passes: it has no FDs at all.</a:t>
            </a:r>
            <a:endParaRPr lang="en-US" sz="1500" dirty="0"/>
          </a:p>
        </p:txBody>
      </p:sp>
      <p:sp>
        <p:nvSpPr>
          <p:cNvPr id="8" name="Text 8"/>
          <p:cNvSpPr txBox="1"/>
          <p:nvPr/>
        </p:nvSpPr>
        <p:spPr>
          <a:xfrm>
            <a:off x="960120" y="5440680"/>
            <a:ext cx="4206240" cy="777240"/>
          </a:xfrm>
          <a:prstGeom prst="rect">
            <a:avLst/>
          </a:prstGeom>
          <a:noFill/>
          <a:ln/>
        </p:spPr>
        <p:txBody>
          <a:bodyPr wrap="square" lIns="0" tIns="0" rIns="0" bIns="0" rtlCol="0" anchor="t"/>
          <a:lstStyle/>
          <a:p>
            <a:pPr indent="0" marL="0">
              <a:lnSpc>
                <a:spcPct val="118000"/>
              </a:lnSpc>
              <a:spcAft>
                <a:spcPts val="0"/>
              </a:spcAft>
              <a:buNone/>
            </a:pPr>
            <a:r>
              <a:rPr lang="en-US" sz="1400" dirty="0">
                <a:solidFill>
                  <a:srgbClr val="6B7280"/>
                </a:solidFill>
                <a:latin typeface="Calibri" pitchFamily="34" charset="0"/>
                <a:ea typeface="Calibri" pitchFamily="34" charset="-122"/>
                <a:cs typeface="Calibri" pitchFamily="34" charset="-120"/>
              </a:rPr>
              <a:t>Looks only at functional dependencies.</a:t>
            </a:r>
            <a:endParaRPr lang="en-US" sz="1400" dirty="0"/>
          </a:p>
        </p:txBody>
      </p:sp>
      <p:sp>
        <p:nvSpPr>
          <p:cNvPr id="9" name="Shape 9"/>
          <p:cNvSpPr/>
          <p:nvPr/>
        </p:nvSpPr>
        <p:spPr>
          <a:xfrm>
            <a:off x="5760720" y="1554480"/>
            <a:ext cx="4846320" cy="4754880"/>
          </a:xfrm>
          <a:prstGeom prst="roundRect">
            <a:avLst>
              <a:gd name="adj" fmla="val 4500"/>
            </a:avLst>
          </a:prstGeom>
          <a:solidFill>
            <a:srgbClr val="FFFFFF"/>
          </a:solidFill>
          <a:ln w="12700">
            <a:solidFill>
              <a:srgbClr val="D7DBDF"/>
            </a:solidFill>
            <a:prstDash val="solid"/>
          </a:ln>
        </p:spPr>
      </p:sp>
      <p:sp>
        <p:nvSpPr>
          <p:cNvPr id="10" name="Shape 10"/>
          <p:cNvSpPr/>
          <p:nvPr/>
        </p:nvSpPr>
        <p:spPr>
          <a:xfrm>
            <a:off x="6080760" y="1874520"/>
            <a:ext cx="2743200" cy="502920"/>
          </a:xfrm>
          <a:prstGeom prst="roundRect">
            <a:avLst>
              <a:gd name="adj" fmla="val 15000"/>
            </a:avLst>
          </a:prstGeom>
          <a:solidFill>
            <a:srgbClr val="2FE6C4"/>
          </a:solidFill>
          <a:ln/>
        </p:spPr>
      </p:sp>
      <p:sp>
        <p:nvSpPr>
          <p:cNvPr id="11" name="Text 11"/>
          <p:cNvSpPr txBox="1"/>
          <p:nvPr/>
        </p:nvSpPr>
        <p:spPr>
          <a:xfrm>
            <a:off x="6080760" y="1874520"/>
            <a:ext cx="2743200" cy="502920"/>
          </a:xfrm>
          <a:prstGeom prst="rect">
            <a:avLst/>
          </a:prstGeom>
          <a:noFill/>
          <a:ln/>
        </p:spPr>
        <p:txBody>
          <a:bodyPr wrap="square" lIns="0" tIns="0" rIns="0" bIns="0" rtlCol="0" anchor="ctr"/>
          <a:lstStyle/>
          <a:p>
            <a:pPr algn="ctr" indent="0" marL="0">
              <a:lnSpc>
                <a:spcPct val="100000"/>
              </a:lnSpc>
              <a:spcAft>
                <a:spcPts val="0"/>
              </a:spcAft>
              <a:buNone/>
            </a:pPr>
            <a:r>
              <a:rPr lang="en-US" sz="1600" b="1" dirty="0">
                <a:solidFill>
                  <a:srgbClr val="FFFFFF"/>
                </a:solidFill>
                <a:latin typeface="Calibri" pitchFamily="34" charset="0"/>
                <a:ea typeface="Calibri" pitchFamily="34" charset="-122"/>
                <a:cs typeface="Calibri" pitchFamily="34" charset="-120"/>
              </a:rPr>
              <a:t>4NF</a:t>
            </a:r>
            <a:endParaRPr lang="en-US" sz="1600" dirty="0"/>
          </a:p>
        </p:txBody>
      </p:sp>
      <p:sp>
        <p:nvSpPr>
          <p:cNvPr id="12" name="Text 12"/>
          <p:cNvSpPr txBox="1"/>
          <p:nvPr/>
        </p:nvSpPr>
        <p:spPr>
          <a:xfrm>
            <a:off x="6080760" y="2606040"/>
            <a:ext cx="4206240" cy="3017520"/>
          </a:xfrm>
          <a:prstGeom prst="rect">
            <a:avLst/>
          </a:prstGeom>
          <a:noFill/>
          <a:ln/>
        </p:spPr>
        <p:txBody>
          <a:bodyPr wrap="square" lIns="0" tIns="0" rIns="0" bIns="0" rtlCol="0" anchor="t"/>
          <a:lstStyle/>
          <a:p>
            <a:pPr indent="0" marL="0">
              <a:lnSpc>
                <a:spcPct val="122000"/>
              </a:lnSpc>
              <a:spcAft>
                <a:spcPts val="0"/>
              </a:spcAft>
              <a:buNone/>
            </a:pPr>
            <a:r>
              <a:rPr lang="en-US" sz="1500" dirty="0">
                <a:solidFill>
                  <a:srgbClr val="1F2429"/>
                </a:solidFill>
                <a:latin typeface="Calibri" pitchFamily="34" charset="0"/>
                <a:ea typeface="Calibri" pitchFamily="34" charset="-122"/>
                <a:cs typeface="Calibri" pitchFamily="34" charset="-120"/>
              </a:rPr>
              <a:t>Every non-trivial MVD has a superkey determinant. EmpSkillsLangs fails: empNo ↠ skill is non-trivial, and empNo is not a superkey.</a:t>
            </a:r>
            <a:endParaRPr lang="en-US" sz="1500" dirty="0"/>
          </a:p>
        </p:txBody>
      </p:sp>
      <p:sp>
        <p:nvSpPr>
          <p:cNvPr id="13" name="Text 13"/>
          <p:cNvSpPr txBox="1"/>
          <p:nvPr/>
        </p:nvSpPr>
        <p:spPr>
          <a:xfrm>
            <a:off x="6080760" y="5440680"/>
            <a:ext cx="4206240" cy="777240"/>
          </a:xfrm>
          <a:prstGeom prst="rect">
            <a:avLst/>
          </a:prstGeom>
          <a:noFill/>
          <a:ln/>
        </p:spPr>
        <p:txBody>
          <a:bodyPr wrap="square" lIns="0" tIns="0" rIns="0" bIns="0" rtlCol="0" anchor="t"/>
          <a:lstStyle/>
          <a:p>
            <a:pPr indent="0" marL="0">
              <a:lnSpc>
                <a:spcPct val="118000"/>
              </a:lnSpc>
              <a:spcAft>
                <a:spcPts val="0"/>
              </a:spcAft>
              <a:buNone/>
            </a:pPr>
            <a:r>
              <a:rPr lang="en-US" sz="1400" dirty="0">
                <a:solidFill>
                  <a:srgbClr val="6B7280"/>
                </a:solidFill>
                <a:latin typeface="Calibri" pitchFamily="34" charset="0"/>
                <a:ea typeface="Calibri" pitchFamily="34" charset="-122"/>
                <a:cs typeface="Calibri" pitchFamily="34" charset="-120"/>
              </a:rPr>
              <a:t>Implies BCNF: every 4NF relation is also in BCNF.</a:t>
            </a:r>
            <a:endParaRPr lang="en-US" sz="1400" dirty="0"/>
          </a:p>
        </p:txBody>
      </p:sp>
      <p:sp>
        <p:nvSpPr>
          <p:cNvPr id="14" name="Text 14"/>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15</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6">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APPLYING THE TEST</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Testing EmpSkillsLangs Against 4NF</a:t>
            </a:r>
            <a:endParaRPr lang="en-US" sz="2600" dirty="0"/>
          </a:p>
        </p:txBody>
      </p:sp>
      <p:graphicFrame>
        <p:nvGraphicFramePr>
          <p:cNvPr id="4" name="Table 4"/>
          <p:cNvGraphicFramePr>
            <a:graphicFrameLocks noGrp="1"/>
          </p:cNvGraphicFramePr>
          <p:nvPr/>
        </p:nvGraphicFramePr>
        <p:xfrm>
          <a:off x="640080" y="1554480"/>
          <a:ext cx="9966960" cy="3566160"/>
        </p:xfrm>
        <a:graphic>
          <a:graphicData uri="http://schemas.openxmlformats.org/drawingml/2006/table">
            <a:tbl>
              <a:tblPr firstRow="1" bandRow="1"/>
              <a:tblGrid>
                <a:gridCol w="3488436"/>
                <a:gridCol w="6478524"/>
              </a:tblGrid>
              <a:tr h="71323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Test</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Result for EmpSkillsLangs</a:t>
                      </a:r>
                      <a:endParaRPr lang="en-US" sz="16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r>
              <a:tr h="713232">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Candidate key</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{empNo, skill, language}: the full set</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713232">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Non-trivial MVD</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empNo ↠ skill (skill ⊈ empNo; {empNo, skill} misses language)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713232">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Is empNo a superkey?</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No: it does not even determine one skill value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713232">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4NF verdict</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VIOLATES 4NF</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bl>
          </a:graphicData>
        </a:graphic>
      </p:graphicFrame>
      <p:sp>
        <p:nvSpPr>
          <p:cNvPr id="5" name="Text 5"/>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16</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7">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THE 4NF FIX</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The 4NF Split Rule</a:t>
            </a:r>
            <a:endParaRPr lang="en-US" sz="2600" dirty="0"/>
          </a:p>
        </p:txBody>
      </p:sp>
      <p:sp>
        <p:nvSpPr>
          <p:cNvPr id="4" name="Text 4"/>
          <p:cNvSpPr txBox="1"/>
          <p:nvPr/>
        </p:nvSpPr>
        <p:spPr>
          <a:xfrm>
            <a:off x="640080" y="1371600"/>
            <a:ext cx="9966960" cy="640080"/>
          </a:xfrm>
          <a:prstGeom prst="rect">
            <a:avLst/>
          </a:prstGeom>
          <a:noFill/>
          <a:ln/>
        </p:spPr>
        <p:txBody>
          <a:bodyPr wrap="square" lIns="0" tIns="0" rIns="0" bIns="0" rtlCol="0" anchor="t"/>
          <a:lstStyle/>
          <a:p>
            <a:pPr indent="0" marL="0">
              <a:lnSpc>
                <a:spcPct val="120000"/>
              </a:lnSpc>
              <a:spcAft>
                <a:spcPts val="0"/>
              </a:spcAft>
              <a:buNone/>
            </a:pPr>
            <a:r>
              <a:rPr lang="en-US" sz="1800" dirty="0">
                <a:solidFill>
                  <a:srgbClr val="1F2429"/>
                </a:solidFill>
                <a:latin typeface="Calibri" pitchFamily="34" charset="0"/>
                <a:ea typeface="Calibri" pitchFamily="34" charset="-122"/>
                <a:cs typeface="Calibri" pitchFamily="34" charset="-120"/>
              </a:rPr>
              <a:t>Given R violating 4NF via non-trivial X ↠ Y, with Z = R − X − Y, replace R with:</a:t>
            </a:r>
            <a:endParaRPr lang="en-US" sz="1800" dirty="0"/>
          </a:p>
        </p:txBody>
      </p:sp>
      <p:sp>
        <p:nvSpPr>
          <p:cNvPr id="5" name="Shape 5"/>
          <p:cNvSpPr/>
          <p:nvPr/>
        </p:nvSpPr>
        <p:spPr>
          <a:xfrm>
            <a:off x="640080" y="2148840"/>
            <a:ext cx="9966960" cy="1143000"/>
          </a:xfrm>
          <a:prstGeom prst="roundRect">
            <a:avLst>
              <a:gd name="adj" fmla="val 14970"/>
            </a:avLst>
          </a:prstGeom>
          <a:solidFill>
            <a:srgbClr val="FFFFFF"/>
          </a:solidFill>
          <a:ln w="22225">
            <a:solidFill>
              <a:srgbClr val="2FE6C4"/>
            </a:solidFill>
            <a:prstDash val="solid"/>
          </a:ln>
          <a:effectLst>
            <a:outerShdw sx="100000" sy="100000" kx="0" ky="0" algn="bl" rotWithShape="0" blurRad="63500" dist="25400" dir="5400000">
              <a:srgbClr val="000000">
                <a:alpha val="12000"/>
              </a:srgbClr>
            </a:outerShdw>
          </a:effectLst>
        </p:spPr>
      </p:sp>
      <p:sp>
        <p:nvSpPr>
          <p:cNvPr id="6" name="Shape 6"/>
          <p:cNvSpPr/>
          <p:nvPr/>
        </p:nvSpPr>
        <p:spPr>
          <a:xfrm>
            <a:off x="640080" y="2148840"/>
            <a:ext cx="82296" cy="1143000"/>
          </a:xfrm>
          <a:prstGeom prst="roundRect">
            <a:avLst/>
          </a:prstGeom>
          <a:solidFill>
            <a:srgbClr val="2FE6C4"/>
          </a:solidFill>
          <a:ln/>
        </p:spPr>
      </p:sp>
      <p:sp>
        <p:nvSpPr>
          <p:cNvPr id="7" name="Text 7"/>
          <p:cNvSpPr txBox="1"/>
          <p:nvPr/>
        </p:nvSpPr>
        <p:spPr>
          <a:xfrm>
            <a:off x="978408" y="2148840"/>
            <a:ext cx="9464040" cy="1143000"/>
          </a:xfrm>
          <a:prstGeom prst="rect">
            <a:avLst/>
          </a:prstGeom>
          <a:noFill/>
          <a:ln/>
        </p:spPr>
        <p:txBody>
          <a:bodyPr wrap="square" lIns="0" tIns="0" rIns="0" bIns="0" rtlCol="0" anchor="ctr"/>
          <a:lstStyle/>
          <a:p>
            <a:pPr indent="0" marL="0">
              <a:lnSpc>
                <a:spcPct val="108000"/>
              </a:lnSpc>
              <a:spcAft>
                <a:spcPts val="200"/>
              </a:spcAft>
              <a:buNone/>
            </a:pPr>
            <a:r>
              <a:rPr lang="en-US" sz="1800" b="1" dirty="0">
                <a:solidFill>
                  <a:srgbClr val="1F2429"/>
                </a:solidFill>
                <a:latin typeface="Calibri" pitchFamily="34" charset="0"/>
                <a:ea typeface="Calibri" pitchFamily="34" charset="-122"/>
                <a:cs typeface="Calibri" pitchFamily="34" charset="-120"/>
              </a:rPr>
              <a:t>R₁ = X ∪ Y</a:t>
            </a:r>
            <a:endParaRPr lang="en-US" sz="1800" dirty="0"/>
          </a:p>
          <a:p>
            <a:pPr indent="0" marL="0">
              <a:lnSpc>
                <a:spcPct val="112000"/>
              </a:lnSpc>
              <a:spcAft>
                <a:spcPts val="0"/>
              </a:spcAft>
              <a:buNone/>
            </a:pPr>
            <a:r>
              <a:rPr lang="en-US" sz="1500" dirty="0">
                <a:solidFill>
                  <a:srgbClr val="8A939B"/>
                </a:solidFill>
                <a:latin typeface="Calibri" pitchFamily="34" charset="0"/>
                <a:ea typeface="Calibri" pitchFamily="34" charset="-122"/>
                <a:cs typeface="Calibri" pitchFamily="34" charset="-120"/>
              </a:rPr>
              <a:t>For our example: R₁ = {empNo} ∪ {skill} = EmpSkills(empNo, skill)</a:t>
            </a:r>
            <a:endParaRPr lang="en-US" sz="1500" dirty="0"/>
          </a:p>
        </p:txBody>
      </p:sp>
      <p:sp>
        <p:nvSpPr>
          <p:cNvPr id="8" name="Shape 8"/>
          <p:cNvSpPr/>
          <p:nvPr/>
        </p:nvSpPr>
        <p:spPr>
          <a:xfrm>
            <a:off x="640080" y="3520440"/>
            <a:ext cx="9966960" cy="1143000"/>
          </a:xfrm>
          <a:prstGeom prst="roundRect">
            <a:avLst>
              <a:gd name="adj" fmla="val 14970"/>
            </a:avLst>
          </a:prstGeom>
          <a:solidFill>
            <a:srgbClr val="FFFFFF"/>
          </a:solidFill>
          <a:ln w="22225">
            <a:solidFill>
              <a:srgbClr val="8B7FD9"/>
            </a:solidFill>
            <a:prstDash val="solid"/>
          </a:ln>
          <a:effectLst>
            <a:outerShdw sx="100000" sy="100000" kx="0" ky="0" algn="bl" rotWithShape="0" blurRad="63500" dist="25400" dir="5400000">
              <a:srgbClr val="000000">
                <a:alpha val="12000"/>
              </a:srgbClr>
            </a:outerShdw>
          </a:effectLst>
        </p:spPr>
      </p:sp>
      <p:sp>
        <p:nvSpPr>
          <p:cNvPr id="9" name="Shape 9"/>
          <p:cNvSpPr/>
          <p:nvPr/>
        </p:nvSpPr>
        <p:spPr>
          <a:xfrm>
            <a:off x="640080" y="3520440"/>
            <a:ext cx="82296" cy="1143000"/>
          </a:xfrm>
          <a:prstGeom prst="roundRect">
            <a:avLst/>
          </a:prstGeom>
          <a:solidFill>
            <a:srgbClr val="8B7FD9"/>
          </a:solidFill>
          <a:ln/>
        </p:spPr>
      </p:sp>
      <p:sp>
        <p:nvSpPr>
          <p:cNvPr id="10" name="Text 10"/>
          <p:cNvSpPr txBox="1"/>
          <p:nvPr/>
        </p:nvSpPr>
        <p:spPr>
          <a:xfrm>
            <a:off x="978408" y="3520440"/>
            <a:ext cx="9464040" cy="1143000"/>
          </a:xfrm>
          <a:prstGeom prst="rect">
            <a:avLst/>
          </a:prstGeom>
          <a:noFill/>
          <a:ln/>
        </p:spPr>
        <p:txBody>
          <a:bodyPr wrap="square" lIns="0" tIns="0" rIns="0" bIns="0" rtlCol="0" anchor="ctr"/>
          <a:lstStyle/>
          <a:p>
            <a:pPr indent="0" marL="0">
              <a:lnSpc>
                <a:spcPct val="108000"/>
              </a:lnSpc>
              <a:spcAft>
                <a:spcPts val="200"/>
              </a:spcAft>
              <a:buNone/>
            </a:pPr>
            <a:r>
              <a:rPr lang="en-US" sz="1800" b="1" dirty="0">
                <a:solidFill>
                  <a:srgbClr val="1F2429"/>
                </a:solidFill>
                <a:latin typeface="Calibri" pitchFamily="34" charset="0"/>
                <a:ea typeface="Calibri" pitchFamily="34" charset="-122"/>
                <a:cs typeface="Calibri" pitchFamily="34" charset="-120"/>
              </a:rPr>
              <a:t>R₂ = X ∪ Z</a:t>
            </a:r>
            <a:endParaRPr lang="en-US" sz="1800" dirty="0"/>
          </a:p>
          <a:p>
            <a:pPr indent="0" marL="0">
              <a:lnSpc>
                <a:spcPct val="112000"/>
              </a:lnSpc>
              <a:spcAft>
                <a:spcPts val="0"/>
              </a:spcAft>
              <a:buNone/>
            </a:pPr>
            <a:r>
              <a:rPr lang="en-US" sz="1500" dirty="0">
                <a:solidFill>
                  <a:srgbClr val="8A939B"/>
                </a:solidFill>
                <a:latin typeface="Calibri" pitchFamily="34" charset="0"/>
                <a:ea typeface="Calibri" pitchFamily="34" charset="-122"/>
                <a:cs typeface="Calibri" pitchFamily="34" charset="-120"/>
              </a:rPr>
              <a:t>For our example: R₂ = {empNo} ∪ {language} = EmpLanguages(empNo, language)</a:t>
            </a:r>
            <a:endParaRPr lang="en-US" sz="1500" dirty="0"/>
          </a:p>
        </p:txBody>
      </p:sp>
      <p:sp>
        <p:nvSpPr>
          <p:cNvPr id="11" name="Text 11"/>
          <p:cNvSpPr txBox="1"/>
          <p:nvPr/>
        </p:nvSpPr>
        <p:spPr>
          <a:xfrm>
            <a:off x="640080" y="5029200"/>
            <a:ext cx="9966960" cy="1005840"/>
          </a:xfrm>
          <a:prstGeom prst="rect">
            <a:avLst/>
          </a:prstGeom>
          <a:noFill/>
          <a:ln/>
        </p:spPr>
        <p:txBody>
          <a:bodyPr wrap="square" lIns="0" tIns="0" rIns="0" bIns="0" rtlCol="0" anchor="t"/>
          <a:lstStyle/>
          <a:p>
            <a:pPr indent="0" marL="0">
              <a:lnSpc>
                <a:spcPct val="120000"/>
              </a:lnSpc>
              <a:spcAft>
                <a:spcPts val="0"/>
              </a:spcAft>
              <a:buNone/>
            </a:pPr>
            <a:r>
              <a:rPr lang="en-US" sz="1600" dirty="0">
                <a:solidFill>
                  <a:srgbClr val="6B7280"/>
                </a:solidFill>
                <a:latin typeface="Calibri" pitchFamily="34" charset="0"/>
                <a:ea typeface="Calibri" pitchFamily="34" charset="-122"/>
                <a:cs typeface="Calibri" pitchFamily="34" charset="-120"/>
              </a:rPr>
              <a:t>X becomes the join column, the same role it played in the BCNF split.</a:t>
            </a:r>
            <a:endParaRPr lang="en-US" sz="1600" dirty="0"/>
          </a:p>
        </p:txBody>
      </p:sp>
      <p:sp>
        <p:nvSpPr>
          <p:cNvPr id="12" name="Text 12"/>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17</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8">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THE 4NF FIX</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The Two Resulting Tables</a:t>
            </a:r>
            <a:endParaRPr lang="en-US" sz="2600" dirty="0"/>
          </a:p>
        </p:txBody>
      </p:sp>
      <p:sp>
        <p:nvSpPr>
          <p:cNvPr id="4" name="Text 4"/>
          <p:cNvSpPr txBox="1"/>
          <p:nvPr/>
        </p:nvSpPr>
        <p:spPr>
          <a:xfrm>
            <a:off x="640080" y="1417320"/>
            <a:ext cx="4846320" cy="365760"/>
          </a:xfrm>
          <a:prstGeom prst="rect">
            <a:avLst/>
          </a:prstGeom>
          <a:noFill/>
          <a:ln/>
        </p:spPr>
        <p:txBody>
          <a:bodyPr wrap="square" lIns="0" tIns="0" rIns="0" bIns="0" rtlCol="0" anchor="t"/>
          <a:lstStyle/>
          <a:p>
            <a:pPr indent="0" marL="0">
              <a:lnSpc>
                <a:spcPct val="115000"/>
              </a:lnSpc>
              <a:spcAft>
                <a:spcPts val="1000"/>
              </a:spcAft>
              <a:buNone/>
            </a:pPr>
            <a:r>
              <a:rPr lang="en-US" sz="1600" b="1" dirty="0">
                <a:solidFill>
                  <a:srgbClr val="1F2429"/>
                </a:solidFill>
                <a:latin typeface="Calibri" pitchFamily="34" charset="0"/>
                <a:ea typeface="Calibri" pitchFamily="34" charset="-122"/>
                <a:cs typeface="Calibri" pitchFamily="34" charset="-120"/>
              </a:rPr>
              <a:t>EmpSkills (empNo, skill)</a:t>
            </a:r>
            <a:endParaRPr lang="en-US" sz="1600" dirty="0"/>
          </a:p>
        </p:txBody>
      </p:sp>
      <p:graphicFrame>
        <p:nvGraphicFramePr>
          <p:cNvPr id="5" name="Table 5"/>
          <p:cNvGraphicFramePr>
            <a:graphicFrameLocks noGrp="1"/>
          </p:cNvGraphicFramePr>
          <p:nvPr/>
        </p:nvGraphicFramePr>
        <p:xfrm>
          <a:off x="640080" y="1874520"/>
          <a:ext cx="4846320" cy="1828800"/>
        </p:xfrm>
        <a:graphic>
          <a:graphicData uri="http://schemas.openxmlformats.org/drawingml/2006/table">
            <a:tbl>
              <a:tblPr firstRow="1" bandRow="1"/>
              <a:tblGrid>
                <a:gridCol w="2423160"/>
                <a:gridCol w="2423160"/>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empNo</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skill</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r>
              <a:tr h="45720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Java</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45720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Python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45720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E2</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SQL</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bl>
          </a:graphicData>
        </a:graphic>
      </p:graphicFrame>
      <p:sp>
        <p:nvSpPr>
          <p:cNvPr id="6" name="Text 6"/>
          <p:cNvSpPr txBox="1"/>
          <p:nvPr/>
        </p:nvSpPr>
        <p:spPr>
          <a:xfrm>
            <a:off x="5852160" y="1417320"/>
            <a:ext cx="5303520" cy="365760"/>
          </a:xfrm>
          <a:prstGeom prst="rect">
            <a:avLst/>
          </a:prstGeom>
          <a:noFill/>
          <a:ln/>
        </p:spPr>
        <p:txBody>
          <a:bodyPr wrap="square" lIns="0" tIns="0" rIns="0" bIns="0" rtlCol="0" anchor="t"/>
          <a:lstStyle/>
          <a:p>
            <a:pPr indent="0" marL="0">
              <a:lnSpc>
                <a:spcPct val="115000"/>
              </a:lnSpc>
              <a:spcAft>
                <a:spcPts val="1000"/>
              </a:spcAft>
              <a:buNone/>
            </a:pPr>
            <a:r>
              <a:rPr lang="en-US" sz="1600" b="1" dirty="0">
                <a:solidFill>
                  <a:srgbClr val="1F2429"/>
                </a:solidFill>
                <a:latin typeface="Calibri" pitchFamily="34" charset="0"/>
                <a:ea typeface="Calibri" pitchFamily="34" charset="-122"/>
                <a:cs typeface="Calibri" pitchFamily="34" charset="-120"/>
              </a:rPr>
              <a:t>EmpLanguages (empNo, language)</a:t>
            </a:r>
            <a:endParaRPr lang="en-US" sz="1600" dirty="0"/>
          </a:p>
        </p:txBody>
      </p:sp>
      <p:graphicFrame>
        <p:nvGraphicFramePr>
          <p:cNvPr id="7" name="Table 7"/>
          <p:cNvGraphicFramePr>
            <a:graphicFrameLocks noGrp="1"/>
          </p:cNvGraphicFramePr>
          <p:nvPr/>
        </p:nvGraphicFramePr>
        <p:xfrm>
          <a:off x="5852160" y="1874520"/>
          <a:ext cx="5303520" cy="1828800"/>
        </p:xfrm>
        <a:graphic>
          <a:graphicData uri="http://schemas.openxmlformats.org/drawingml/2006/table">
            <a:tbl>
              <a:tblPr firstRow="1" bandRow="1"/>
              <a:tblGrid>
                <a:gridCol w="2651760"/>
                <a:gridCol w="2651760"/>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empNo</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language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r>
              <a:tr h="45720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English</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45720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Urdu</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45720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E2</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English</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bl>
          </a:graphicData>
        </a:graphic>
      </p:graphicFrame>
      <p:sp>
        <p:nvSpPr>
          <p:cNvPr id="8" name="Shape 8"/>
          <p:cNvSpPr/>
          <p:nvPr/>
        </p:nvSpPr>
        <p:spPr>
          <a:xfrm>
            <a:off x="640080" y="4206240"/>
            <a:ext cx="10515600" cy="2011680"/>
          </a:xfrm>
          <a:prstGeom prst="roundRect">
            <a:avLst>
              <a:gd name="adj" fmla="val 6897"/>
            </a:avLst>
          </a:prstGeom>
          <a:solidFill>
            <a:srgbClr val="FBF0DD"/>
          </a:solidFill>
          <a:ln w="15875">
            <a:solidFill>
              <a:srgbClr val="E8A33D"/>
            </a:solidFill>
            <a:prstDash val="solid"/>
          </a:ln>
        </p:spPr>
      </p:sp>
      <p:sp>
        <p:nvSpPr>
          <p:cNvPr id="9" name="Text 9"/>
          <p:cNvSpPr txBox="1"/>
          <p:nvPr/>
        </p:nvSpPr>
        <p:spPr>
          <a:xfrm>
            <a:off x="914400" y="4206240"/>
            <a:ext cx="9966960" cy="2011680"/>
          </a:xfrm>
          <a:prstGeom prst="rect">
            <a:avLst/>
          </a:prstGeom>
          <a:noFill/>
          <a:ln/>
        </p:spPr>
        <p:txBody>
          <a:bodyPr wrap="square" lIns="0" tIns="0" rIns="0" bIns="0" rtlCol="0" anchor="ctr"/>
          <a:lstStyle/>
          <a:p>
            <a:pPr indent="0" marL="0">
              <a:lnSpc>
                <a:spcPct val="118000"/>
              </a:lnSpc>
              <a:spcAft>
                <a:spcPts val="300"/>
              </a:spcAft>
              <a:buNone/>
            </a:pPr>
            <a:r>
              <a:rPr lang="en-US" sz="1700" b="1" dirty="0">
                <a:solidFill>
                  <a:srgbClr val="8A5A0F"/>
                </a:solidFill>
                <a:latin typeface="Calibri" pitchFamily="34" charset="0"/>
                <a:ea typeface="Calibri" pitchFamily="34" charset="-122"/>
                <a:cs typeface="Calibri" pitchFamily="34" charset="-120"/>
              </a:rPr>
              <a:t>Adding a third skill for E1 costs one row</a:t>
            </a:r>
            <a:endParaRPr lang="en-US" sz="1700" dirty="0"/>
          </a:p>
          <a:p>
            <a:pPr indent="0" marL="0">
              <a:lnSpc>
                <a:spcPct val="122000"/>
              </a:lnSpc>
              <a:spcAft>
                <a:spcPts val="0"/>
              </a:spcAft>
              <a:buNone/>
            </a:pPr>
            <a:r>
              <a:rPr lang="en-US" sz="1500" dirty="0">
                <a:solidFill>
                  <a:srgbClr val="5C4210"/>
                </a:solidFill>
                <a:latin typeface="Calibri" pitchFamily="34" charset="0"/>
                <a:ea typeface="Calibri" pitchFamily="34" charset="-122"/>
                <a:cs typeface="Calibri" pitchFamily="34" charset="-120"/>
              </a:rPr>
              <a:t>Before: a new skill meant one new row per language (2 rows). After: one new row in EmpSkills. Each table also records only its own fact, so no spurious pairing can be stored.</a:t>
            </a:r>
            <a:endParaRPr lang="en-US" sz="1500" dirty="0"/>
          </a:p>
        </p:txBody>
      </p:sp>
      <p:sp>
        <p:nvSpPr>
          <p:cNvPr id="10" name="Text 10"/>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18</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9">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WHY IT WORKS</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Redundancy Removed, Nothing Lost</a:t>
            </a:r>
            <a:endParaRPr lang="en-US" sz="2600" dirty="0"/>
          </a:p>
        </p:txBody>
      </p:sp>
      <p:sp>
        <p:nvSpPr>
          <p:cNvPr id="4" name="Text 4"/>
          <p:cNvSpPr txBox="1"/>
          <p:nvPr/>
        </p:nvSpPr>
        <p:spPr>
          <a:xfrm>
            <a:off x="640080" y="1417320"/>
            <a:ext cx="9966960" cy="457200"/>
          </a:xfrm>
          <a:prstGeom prst="rect">
            <a:avLst/>
          </a:prstGeom>
          <a:noFill/>
          <a:ln/>
        </p:spPr>
        <p:txBody>
          <a:bodyPr wrap="square" lIns="0" tIns="0" rIns="0" bIns="0" rtlCol="0" anchor="t"/>
          <a:lstStyle/>
          <a:p>
            <a:pPr indent="0" marL="0">
              <a:lnSpc>
                <a:spcPct val="115000"/>
              </a:lnSpc>
              <a:spcAft>
                <a:spcPts val="1000"/>
              </a:spcAft>
              <a:buNone/>
            </a:pPr>
            <a:r>
              <a:rPr lang="en-US" sz="1600" b="1" dirty="0">
                <a:solidFill>
                  <a:srgbClr val="1F2429"/>
                </a:solidFill>
                <a:latin typeface="Calibri" pitchFamily="34" charset="0"/>
                <a:ea typeface="Calibri" pitchFamily="34" charset="-122"/>
                <a:cs typeface="Calibri" pitchFamily="34" charset="-120"/>
              </a:rPr>
              <a:t>Rows stored: the original table versus the decomposed pair</a:t>
            </a:r>
            <a:endParaRPr lang="en-US" sz="1600" dirty="0"/>
          </a:p>
        </p:txBody>
      </p:sp>
      <p:graphicFrame>
        <p:nvGraphicFramePr>
          <p:cNvPr id="5" name="Table 5"/>
          <p:cNvGraphicFramePr>
            <a:graphicFrameLocks noGrp="1"/>
          </p:cNvGraphicFramePr>
          <p:nvPr/>
        </p:nvGraphicFramePr>
        <p:xfrm>
          <a:off x="640080" y="1920240"/>
          <a:ext cx="9966960" cy="1645920"/>
        </p:xfrm>
        <a:graphic>
          <a:graphicData uri="http://schemas.openxmlformats.org/drawingml/2006/table">
            <a:tbl>
              <a:tblPr firstRow="1" bandRow="1"/>
              <a:tblGrid>
                <a:gridCol w="3787445"/>
                <a:gridCol w="2192731"/>
                <a:gridCol w="3986784"/>
              </a:tblGrid>
              <a:tr h="54864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Design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Rows stored</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Growth when E1 learns a 3rd skill</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r>
              <a:tr h="54864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Original EmpSkillsLangs</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5</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multiplicative: +2 rows (one per language)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548640">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EmpSkills + EmpLanguages</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3 + 3 = 6</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additive: +1 row</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bl>
          </a:graphicData>
        </a:graphic>
      </p:graphicFrame>
      <p:sp>
        <p:nvSpPr>
          <p:cNvPr id="6" name="Text 6"/>
          <p:cNvSpPr txBox="1"/>
          <p:nvPr/>
        </p:nvSpPr>
        <p:spPr>
          <a:xfrm>
            <a:off x="640080" y="4114800"/>
            <a:ext cx="9966960" cy="2011680"/>
          </a:xfrm>
          <a:prstGeom prst="rect">
            <a:avLst/>
          </a:prstGeom>
          <a:noFill/>
          <a:ln/>
        </p:spPr>
        <p:txBody>
          <a:bodyPr wrap="square" lIns="0" tIns="0" rIns="0" bIns="0" rtlCol="0" anchor="t"/>
          <a:lstStyle/>
          <a:p>
            <a:pPr indent="0" marL="0">
              <a:lnSpc>
                <a:spcPct val="122000"/>
              </a:lnSpc>
              <a:spcAft>
                <a:spcPts val="0"/>
              </a:spcAft>
              <a:buNone/>
            </a:pPr>
            <a:r>
              <a:rPr lang="en-US" sz="1800" dirty="0">
                <a:solidFill>
                  <a:srgbClr val="1F2429"/>
                </a:solidFill>
                <a:latin typeface="Calibri" pitchFamily="34" charset="0"/>
                <a:ea typeface="Calibri" pitchFamily="34" charset="-122"/>
                <a:cs typeface="Calibri" pitchFamily="34" charset="-120"/>
              </a:rPr>
              <a:t>The decomposed pair stores 6 rows, not fewer. Its advantage is that the cost of new facts grows additively, while the original table's cost grows multiplicatively with |skills| × |languages|.</a:t>
            </a:r>
            <a:endParaRPr lang="en-US" sz="1800" dirty="0"/>
          </a:p>
        </p:txBody>
      </p:sp>
      <p:sp>
        <p:nvSpPr>
          <p:cNvPr id="7" name="Text 7"/>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19</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0">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VERIFICATION</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Checking Each Piece Is in 4NF</a:t>
            </a:r>
            <a:endParaRPr lang="en-US" sz="2600" dirty="0"/>
          </a:p>
        </p:txBody>
      </p:sp>
      <p:sp>
        <p:nvSpPr>
          <p:cNvPr id="4" name="Shape 4"/>
          <p:cNvSpPr/>
          <p:nvPr/>
        </p:nvSpPr>
        <p:spPr>
          <a:xfrm>
            <a:off x="640080" y="1554480"/>
            <a:ext cx="4846320" cy="4480560"/>
          </a:xfrm>
          <a:prstGeom prst="roundRect">
            <a:avLst>
              <a:gd name="adj" fmla="val 3077"/>
            </a:avLst>
          </a:prstGeom>
          <a:solidFill>
            <a:srgbClr val="FFFFFF"/>
          </a:solidFill>
          <a:ln w="19050">
            <a:solidFill>
              <a:srgbClr val="2FE6C4"/>
            </a:solidFill>
            <a:prstDash val="solid"/>
          </a:ln>
          <a:effectLst>
            <a:outerShdw sx="100000" sy="100000" kx="0" ky="0" algn="bl" rotWithShape="0" blurRad="63500" dist="25400" dir="5400000">
              <a:srgbClr val="000000">
                <a:alpha val="12000"/>
              </a:srgbClr>
            </a:outerShdw>
          </a:effectLst>
        </p:spPr>
      </p:sp>
      <p:sp>
        <p:nvSpPr>
          <p:cNvPr id="5" name="Shape 5"/>
          <p:cNvSpPr/>
          <p:nvPr/>
        </p:nvSpPr>
        <p:spPr>
          <a:xfrm>
            <a:off x="960120" y="1874520"/>
            <a:ext cx="457200" cy="457200"/>
          </a:xfrm>
          <a:prstGeom prst="ellipse">
            <a:avLst/>
          </a:prstGeom>
          <a:solidFill>
            <a:srgbClr val="2FE6C4"/>
          </a:solidFill>
          <a:ln/>
        </p:spPr>
      </p:sp>
      <p:sp>
        <p:nvSpPr>
          <p:cNvPr id="6" name="Text 6"/>
          <p:cNvSpPr txBox="1"/>
          <p:nvPr/>
        </p:nvSpPr>
        <p:spPr>
          <a:xfrm>
            <a:off x="960120" y="1874520"/>
            <a:ext cx="457200" cy="457200"/>
          </a:xfrm>
          <a:prstGeom prst="rect">
            <a:avLst/>
          </a:prstGeom>
          <a:noFill/>
          <a:ln/>
        </p:spPr>
        <p:txBody>
          <a:bodyPr wrap="square" lIns="0" tIns="0" rIns="0" bIns="0" rtlCol="0" anchor="ctr"/>
          <a:lstStyle/>
          <a:p>
            <a:pPr algn="ctr" indent="0" marL="0">
              <a:lnSpc>
                <a:spcPct val="100000"/>
              </a:lnSpc>
              <a:spcAft>
                <a:spcPts val="0"/>
              </a:spcAft>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7"/>
          <p:cNvSpPr txBox="1"/>
          <p:nvPr/>
        </p:nvSpPr>
        <p:spPr>
          <a:xfrm>
            <a:off x="960120" y="2514600"/>
            <a:ext cx="4206240" cy="548640"/>
          </a:xfrm>
          <a:prstGeom prst="rect">
            <a:avLst/>
          </a:prstGeom>
          <a:noFill/>
          <a:ln/>
        </p:spPr>
        <p:txBody>
          <a:bodyPr wrap="square" lIns="0" tIns="0" rIns="0" bIns="0" rtlCol="0" anchor="t"/>
          <a:lstStyle/>
          <a:p>
            <a:pPr indent="0" marL="0">
              <a:lnSpc>
                <a:spcPct val="108000"/>
              </a:lnSpc>
              <a:spcAft>
                <a:spcPts val="0"/>
              </a:spcAft>
              <a:buNone/>
            </a:pPr>
            <a:r>
              <a:rPr lang="en-US" sz="1600" b="1" dirty="0">
                <a:solidFill>
                  <a:srgbClr val="1F2429"/>
                </a:solidFill>
                <a:latin typeface="Calibri" pitchFamily="34" charset="0"/>
                <a:ea typeface="Calibri" pitchFamily="34" charset="-122"/>
                <a:cs typeface="Calibri" pitchFamily="34" charset="-120"/>
              </a:rPr>
              <a:t>EmpSkills(empNo, skill)</a:t>
            </a:r>
            <a:endParaRPr lang="en-US" sz="1600" dirty="0"/>
          </a:p>
        </p:txBody>
      </p:sp>
      <p:sp>
        <p:nvSpPr>
          <p:cNvPr id="8" name="Text 8"/>
          <p:cNvSpPr txBox="1"/>
          <p:nvPr/>
        </p:nvSpPr>
        <p:spPr>
          <a:xfrm>
            <a:off x="960120" y="3108960"/>
            <a:ext cx="4206240" cy="2743200"/>
          </a:xfrm>
          <a:prstGeom prst="rect">
            <a:avLst/>
          </a:prstGeom>
          <a:noFill/>
          <a:ln/>
        </p:spPr>
        <p:txBody>
          <a:bodyPr wrap="square" lIns="0" tIns="0" rIns="0" bIns="0" rtlCol="0" anchor="t"/>
          <a:lstStyle/>
          <a:p>
            <a:pPr indent="0" marL="0">
              <a:lnSpc>
                <a:spcPct val="122000"/>
              </a:lnSpc>
              <a:spcAft>
                <a:spcPts val="0"/>
              </a:spcAft>
              <a:buNone/>
            </a:pPr>
            <a:r>
              <a:rPr lang="en-US" sz="1500" dirty="0">
                <a:solidFill>
                  <a:srgbClr val="6B7280"/>
                </a:solidFill>
                <a:latin typeface="Calibri" pitchFamily="34" charset="0"/>
                <a:ea typeface="Calibri" pitchFamily="34" charset="-122"/>
                <a:cs typeface="Calibri" pitchFamily="34" charset="-120"/>
              </a:rPr>
              <a:t>Only key: {empNo, skill}, all attributes. Any MVD over a two-attribute relation is trivial, because Y ⊆ X or X ∪ Y = R. So the relation is in 4NF.</a:t>
            </a:r>
            <a:endParaRPr lang="en-US" sz="1500" dirty="0"/>
          </a:p>
        </p:txBody>
      </p:sp>
      <p:sp>
        <p:nvSpPr>
          <p:cNvPr id="9" name="Shape 9"/>
          <p:cNvSpPr/>
          <p:nvPr/>
        </p:nvSpPr>
        <p:spPr>
          <a:xfrm>
            <a:off x="5760720" y="1554480"/>
            <a:ext cx="4846320" cy="4480560"/>
          </a:xfrm>
          <a:prstGeom prst="roundRect">
            <a:avLst>
              <a:gd name="adj" fmla="val 3077"/>
            </a:avLst>
          </a:prstGeom>
          <a:solidFill>
            <a:srgbClr val="FFFFFF"/>
          </a:solidFill>
          <a:ln w="19050">
            <a:solidFill>
              <a:srgbClr val="8B7FD9"/>
            </a:solidFill>
            <a:prstDash val="solid"/>
          </a:ln>
          <a:effectLst>
            <a:outerShdw sx="100000" sy="100000" kx="0" ky="0" algn="bl" rotWithShape="0" blurRad="63500" dist="25400" dir="5400000">
              <a:srgbClr val="000000">
                <a:alpha val="12000"/>
              </a:srgbClr>
            </a:outerShdw>
          </a:effectLst>
        </p:spPr>
      </p:sp>
      <p:sp>
        <p:nvSpPr>
          <p:cNvPr id="10" name="Shape 10"/>
          <p:cNvSpPr/>
          <p:nvPr/>
        </p:nvSpPr>
        <p:spPr>
          <a:xfrm>
            <a:off x="6080760" y="1874520"/>
            <a:ext cx="457200" cy="457200"/>
          </a:xfrm>
          <a:prstGeom prst="ellipse">
            <a:avLst/>
          </a:prstGeom>
          <a:solidFill>
            <a:srgbClr val="8B7FD9"/>
          </a:solidFill>
          <a:ln/>
        </p:spPr>
      </p:sp>
      <p:sp>
        <p:nvSpPr>
          <p:cNvPr id="11" name="Text 11"/>
          <p:cNvSpPr txBox="1"/>
          <p:nvPr/>
        </p:nvSpPr>
        <p:spPr>
          <a:xfrm>
            <a:off x="6080760" y="1874520"/>
            <a:ext cx="457200" cy="457200"/>
          </a:xfrm>
          <a:prstGeom prst="rect">
            <a:avLst/>
          </a:prstGeom>
          <a:noFill/>
          <a:ln/>
        </p:spPr>
        <p:txBody>
          <a:bodyPr wrap="square" lIns="0" tIns="0" rIns="0" bIns="0" rtlCol="0" anchor="ctr"/>
          <a:lstStyle/>
          <a:p>
            <a:pPr algn="ctr" indent="0" marL="0">
              <a:lnSpc>
                <a:spcPct val="100000"/>
              </a:lnSpc>
              <a:spcAft>
                <a:spcPts val="0"/>
              </a:spcAft>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2"/>
          <p:cNvSpPr txBox="1"/>
          <p:nvPr/>
        </p:nvSpPr>
        <p:spPr>
          <a:xfrm>
            <a:off x="6080760" y="2514600"/>
            <a:ext cx="4206240" cy="548640"/>
          </a:xfrm>
          <a:prstGeom prst="rect">
            <a:avLst/>
          </a:prstGeom>
          <a:noFill/>
          <a:ln/>
        </p:spPr>
        <p:txBody>
          <a:bodyPr wrap="square" lIns="0" tIns="0" rIns="0" bIns="0" rtlCol="0" anchor="t"/>
          <a:lstStyle/>
          <a:p>
            <a:pPr indent="0" marL="0">
              <a:lnSpc>
                <a:spcPct val="108000"/>
              </a:lnSpc>
              <a:spcAft>
                <a:spcPts val="0"/>
              </a:spcAft>
              <a:buNone/>
            </a:pPr>
            <a:r>
              <a:rPr lang="en-US" sz="1600" b="1" dirty="0">
                <a:solidFill>
                  <a:srgbClr val="1F2429"/>
                </a:solidFill>
                <a:latin typeface="Calibri" pitchFamily="34" charset="0"/>
                <a:ea typeface="Calibri" pitchFamily="34" charset="-122"/>
                <a:cs typeface="Calibri" pitchFamily="34" charset="-120"/>
              </a:rPr>
              <a:t>EmpLanguages(empNo, language)</a:t>
            </a:r>
            <a:endParaRPr lang="en-US" sz="1600" dirty="0"/>
          </a:p>
        </p:txBody>
      </p:sp>
      <p:sp>
        <p:nvSpPr>
          <p:cNvPr id="13" name="Text 13"/>
          <p:cNvSpPr txBox="1"/>
          <p:nvPr/>
        </p:nvSpPr>
        <p:spPr>
          <a:xfrm>
            <a:off x="6080760" y="3108960"/>
            <a:ext cx="4206240" cy="2743200"/>
          </a:xfrm>
          <a:prstGeom prst="rect">
            <a:avLst/>
          </a:prstGeom>
          <a:noFill/>
          <a:ln/>
        </p:spPr>
        <p:txBody>
          <a:bodyPr wrap="square" lIns="0" tIns="0" rIns="0" bIns="0" rtlCol="0" anchor="t"/>
          <a:lstStyle/>
          <a:p>
            <a:pPr indent="0" marL="0">
              <a:lnSpc>
                <a:spcPct val="122000"/>
              </a:lnSpc>
              <a:spcAft>
                <a:spcPts val="0"/>
              </a:spcAft>
              <a:buNone/>
            </a:pPr>
            <a:r>
              <a:rPr lang="en-US" sz="1500" dirty="0">
                <a:solidFill>
                  <a:srgbClr val="6B7280"/>
                </a:solidFill>
                <a:latin typeface="Calibri" pitchFamily="34" charset="0"/>
                <a:ea typeface="Calibri" pitchFamily="34" charset="-122"/>
                <a:cs typeface="Calibri" pitchFamily="34" charset="-120"/>
              </a:rPr>
              <a:t>Only key: {empNo, language}, all attributes. Same argument: no non-trivial MVD is possible, so the relation is in 4NF.</a:t>
            </a:r>
            <a:endParaRPr lang="en-US" sz="1500" dirty="0"/>
          </a:p>
        </p:txBody>
      </p:sp>
      <p:sp>
        <p:nvSpPr>
          <p:cNvPr id="14" name="Text 14"/>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20</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1">
    <p:bg>
      <p:bgPr>
        <a:solidFill>
          <a:srgbClr val="F7F8F9"/>
        </a:solidFill>
      </p:bgPr>
    </p:bg>
    <p:spTree>
      <p:nvGrpSpPr>
        <p:cNvPr id="1" name=""/>
        <p:cNvGrpSpPr/>
        <p:nvPr/>
      </p:nvGrpSpPr>
      <p:grpSpPr>
        <a:xfrm>
          <a:off x="0" y="0"/>
          <a:ext cx="0" cy="0"/>
          <a:chOff x="0" y="0"/>
          <a:chExt cx="0" cy="0"/>
        </a:xfrm>
      </p:grpSpPr>
      <p:sp>
        <p:nvSpPr>
          <p:cNvPr id="2" name="Text 2"/>
          <p:cNvSpPr txBox="1"/>
          <p:nvPr/>
        </p:nvSpPr>
        <p:spPr>
          <a:xfrm>
            <a:off x="640080" y="320040"/>
            <a:ext cx="7315200" cy="292608"/>
          </a:xfrm>
          <a:prstGeom prst="rect">
            <a:avLst/>
          </a:prstGeom>
          <a:noFill/>
          <a:ln/>
        </p:spPr>
        <p:txBody>
          <a:bodyPr wrap="square" lIns="0" tIns="0" rIns="0" bIns="0" rtlCol="0" anchor="t"/>
          <a:lstStyle/>
          <a:p>
            <a:pPr indent="0" marL="0">
              <a:lnSpc>
                <a:spcPct val="115000"/>
              </a:lnSpc>
              <a:spcAft>
                <a:spcPts val="0"/>
              </a:spcAft>
              <a:buNone/>
            </a:pPr>
            <a:r>
              <a:rPr lang="en-US" sz="1200" b="1" dirty="0">
                <a:solidFill>
                  <a:srgbClr val="8B7FD9"/>
                </a:solidFill>
                <a:latin typeface="Calibri" pitchFamily="34" charset="0"/>
                <a:ea typeface="Calibri" pitchFamily="34" charset="-122"/>
                <a:cs typeface="Calibri" pitchFamily="34" charset="-120"/>
              </a:rPr>
              <a:t>VERIFICATION</a:t>
            </a:r>
            <a:endParaRPr lang="en-US" sz="1200" dirty="0"/>
          </a:p>
        </p:txBody>
      </p:sp>
      <p:sp>
        <p:nvSpPr>
          <p:cNvPr id="3" name="Text 3"/>
          <p:cNvSpPr txBox="1"/>
          <p:nvPr/>
        </p:nvSpPr>
        <p:spPr>
          <a:xfrm>
            <a:off x="640080" y="594360"/>
            <a:ext cx="10881360" cy="640080"/>
          </a:xfrm>
          <a:prstGeom prst="rect">
            <a:avLst/>
          </a:prstGeom>
          <a:noFill/>
          <a:ln/>
        </p:spPr>
        <p:txBody>
          <a:bodyPr wrap="square" lIns="0" tIns="0" rIns="0" bIns="0" rtlCol="0" anchor="t"/>
          <a:lstStyle/>
          <a:p>
            <a:pPr indent="0" marL="0">
              <a:lnSpc>
                <a:spcPct val="100000"/>
              </a:lnSpc>
              <a:spcAft>
                <a:spcPts val="0"/>
              </a:spcAft>
              <a:buNone/>
            </a:pPr>
            <a:r>
              <a:rPr lang="en-US" sz="2600" b="1" dirty="0">
                <a:solidFill>
                  <a:srgbClr val="1F2429"/>
                </a:solidFill>
                <a:latin typeface="Calibri" pitchFamily="34" charset="0"/>
                <a:ea typeface="Calibri" pitchFamily="34" charset="-122"/>
                <a:cs typeface="Calibri" pitchFamily="34" charset="-120"/>
              </a:rPr>
              <a:t>Lossless-Join Property, Confirmed</a:t>
            </a:r>
            <a:endParaRPr lang="en-US" sz="2600" dirty="0"/>
          </a:p>
        </p:txBody>
      </p:sp>
      <p:sp>
        <p:nvSpPr>
          <p:cNvPr id="4" name="Text 4"/>
          <p:cNvSpPr txBox="1"/>
          <p:nvPr/>
        </p:nvSpPr>
        <p:spPr>
          <a:xfrm>
            <a:off x="640080" y="1417320"/>
            <a:ext cx="9966960" cy="457200"/>
          </a:xfrm>
          <a:prstGeom prst="rect">
            <a:avLst/>
          </a:prstGeom>
          <a:noFill/>
          <a:ln/>
        </p:spPr>
        <p:txBody>
          <a:bodyPr wrap="square" lIns="0" tIns="0" rIns="0" bIns="0" rtlCol="0" anchor="t"/>
          <a:lstStyle/>
          <a:p>
            <a:pPr indent="0" marL="0">
              <a:lnSpc>
                <a:spcPct val="115000"/>
              </a:lnSpc>
              <a:spcAft>
                <a:spcPts val="1000"/>
              </a:spcAft>
              <a:buNone/>
            </a:pPr>
            <a:r>
              <a:rPr lang="en-US" sz="1600" b="1" dirty="0">
                <a:solidFill>
                  <a:srgbClr val="1F2429"/>
                </a:solidFill>
                <a:latin typeface="Calibri" pitchFamily="34" charset="0"/>
                <a:ea typeface="Calibri" pitchFamily="34" charset="-122"/>
                <a:cs typeface="Calibri" pitchFamily="34" charset="-120"/>
              </a:rPr>
              <a:t>EmpSkills ⋈ EmpLanguages  (on empNo)</a:t>
            </a:r>
            <a:endParaRPr lang="en-US" sz="1600" dirty="0"/>
          </a:p>
        </p:txBody>
      </p:sp>
      <p:graphicFrame>
        <p:nvGraphicFramePr>
          <p:cNvPr id="5" name="Table 5"/>
          <p:cNvGraphicFramePr>
            <a:graphicFrameLocks noGrp="1"/>
          </p:cNvGraphicFramePr>
          <p:nvPr/>
        </p:nvGraphicFramePr>
        <p:xfrm>
          <a:off x="640080" y="1920240"/>
          <a:ext cx="9966960" cy="2523744"/>
        </p:xfrm>
        <a:graphic>
          <a:graphicData uri="http://schemas.openxmlformats.org/drawingml/2006/table">
            <a:tbl>
              <a:tblPr firstRow="1" bandRow="1"/>
              <a:tblGrid>
                <a:gridCol w="3322320"/>
                <a:gridCol w="3322320"/>
                <a:gridCol w="3322320"/>
              </a:tblGrid>
              <a:tr h="42062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empNo</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skill</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language</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14181C"/>
                    </a:solidFill>
                  </a:tcPr>
                </a:tc>
              </a:tr>
              <a:tr h="420624">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Java</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English</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420624">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Java</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Urdu</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420624">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Python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English</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r h="420624">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E1</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Python</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Urdu</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solidFill>
                      <a:srgbClr val="EEF1F3"/>
                    </a:solidFill>
                  </a:tcPr>
                </a:tc>
              </a:tr>
              <a:tr h="420624">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E2</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SQL</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c>
                  <a:txBody>
                    <a:bodyPr/>
                    <a:lstStyle/>
                    <a:p>
                      <a:pPr algn="ctr" indent="0" marL="0">
                        <a:buNone/>
                      </a:pPr>
                      <a:r>
                        <a:rPr lang="en-US" sz="1500" dirty="0">
                          <a:solidFill>
                            <a:srgbClr val="1F2429"/>
                          </a:solidFill>
                          <a:latin typeface="Calibri" pitchFamily="34" charset="0"/>
                          <a:ea typeface="Calibri" pitchFamily="34" charset="-122"/>
                          <a:cs typeface="Calibri" pitchFamily="34" charset="-120"/>
                        </a:rPr>
                        <a:t>English</a:t>
                      </a:r>
                      <a:endParaRPr lang="en-US" sz="1500" dirty="0"/>
                    </a:p>
                  </a:txBody>
                  <a:tcPr marL="91440" marR="91440" marT="45720" marB="45720" anchor="ctr">
                    <a:lnL w="9525" cap="flat" cmpd="sng" algn="ctr">
                      <a:solidFill>
                        <a:srgbClr val="D7DBDF"/>
                      </a:solidFill>
                      <a:prstDash val="solid"/>
                      <a:round/>
                      <a:headEnd type="none" w="med" len="med"/>
                      <a:tailEnd type="none" w="med" len="med"/>
                    </a:lnL>
                    <a:lnR w="9525" cap="flat" cmpd="sng" algn="ctr">
                      <a:solidFill>
                        <a:srgbClr val="D7DBDF"/>
                      </a:solidFill>
                      <a:prstDash val="solid"/>
                      <a:round/>
                      <a:headEnd type="none" w="med" len="med"/>
                      <a:tailEnd type="none" w="med" len="med"/>
                    </a:lnR>
                    <a:lnT w="9525" cap="flat" cmpd="sng" algn="ctr">
                      <a:solidFill>
                        <a:srgbClr val="D7DBDF"/>
                      </a:solidFill>
                      <a:prstDash val="solid"/>
                      <a:round/>
                      <a:headEnd type="none" w="med" len="med"/>
                      <a:tailEnd type="none" w="med" len="med"/>
                    </a:lnT>
                    <a:lnB w="9525" cap="flat" cmpd="sng" algn="ctr">
                      <a:solidFill>
                        <a:srgbClr val="D7DBDF"/>
                      </a:solidFill>
                      <a:prstDash val="solid"/>
                      <a:round/>
                      <a:headEnd type="none" w="med" len="med"/>
                      <a:tailEnd type="none" w="med" len="med"/>
                    </a:lnB>
                  </a:tcPr>
                </a:tc>
              </a:tr>
            </a:tbl>
          </a:graphicData>
        </a:graphic>
      </p:graphicFrame>
      <p:sp>
        <p:nvSpPr>
          <p:cNvPr id="6" name="Shape 6"/>
          <p:cNvSpPr/>
          <p:nvPr/>
        </p:nvSpPr>
        <p:spPr>
          <a:xfrm>
            <a:off x="640080" y="4617720"/>
            <a:ext cx="9966960" cy="1645920"/>
          </a:xfrm>
          <a:prstGeom prst="roundRect">
            <a:avLst>
              <a:gd name="adj" fmla="val 6897"/>
            </a:avLst>
          </a:prstGeom>
          <a:solidFill>
            <a:srgbClr val="FBF0DD"/>
          </a:solidFill>
          <a:ln w="15875">
            <a:solidFill>
              <a:srgbClr val="E8A33D"/>
            </a:solidFill>
            <a:prstDash val="solid"/>
          </a:ln>
        </p:spPr>
      </p:sp>
      <p:sp>
        <p:nvSpPr>
          <p:cNvPr id="7" name="Text 7"/>
          <p:cNvSpPr txBox="1"/>
          <p:nvPr/>
        </p:nvSpPr>
        <p:spPr>
          <a:xfrm>
            <a:off x="914400" y="4617720"/>
            <a:ext cx="9418320" cy="1645920"/>
          </a:xfrm>
          <a:prstGeom prst="rect">
            <a:avLst/>
          </a:prstGeom>
          <a:noFill/>
          <a:ln/>
        </p:spPr>
        <p:txBody>
          <a:bodyPr wrap="square" lIns="0" tIns="0" rIns="0" bIns="0" rtlCol="0" anchor="ctr"/>
          <a:lstStyle/>
          <a:p>
            <a:pPr indent="0" marL="0">
              <a:lnSpc>
                <a:spcPct val="118000"/>
              </a:lnSpc>
              <a:spcAft>
                <a:spcPts val="300"/>
              </a:spcAft>
              <a:buNone/>
            </a:pPr>
            <a:r>
              <a:rPr lang="en-US" sz="1700" b="1" dirty="0">
                <a:solidFill>
                  <a:srgbClr val="8A5A0F"/>
                </a:solidFill>
                <a:latin typeface="Calibri" pitchFamily="34" charset="0"/>
                <a:ea typeface="Calibri" pitchFamily="34" charset="-122"/>
                <a:cs typeface="Calibri" pitchFamily="34" charset="-120"/>
              </a:rPr>
              <a:t>Lossless by Fagin's theorem</a:t>
            </a:r>
            <a:endParaRPr lang="en-US" sz="1700" dirty="0"/>
          </a:p>
          <a:p>
            <a:pPr indent="0" marL="0">
              <a:lnSpc>
                <a:spcPct val="122000"/>
              </a:lnSpc>
              <a:spcAft>
                <a:spcPts val="0"/>
              </a:spcAft>
              <a:buNone/>
            </a:pPr>
            <a:r>
              <a:rPr lang="en-US" sz="1500" dirty="0">
                <a:solidFill>
                  <a:srgbClr val="5C4210"/>
                </a:solidFill>
                <a:latin typeface="Calibri" pitchFamily="34" charset="0"/>
                <a:ea typeface="Calibri" pitchFamily="34" charset="-122"/>
                <a:cs typeface="Calibri" pitchFamily="34" charset="-120"/>
              </a:rPr>
              <a:t>R decomposes losslessly into XY and XZ if and only if X ↠ Y holds over R. Here {empNo} ↠ {skill} holds, so the join returns exactly the 5 original rows.</a:t>
            </a:r>
            <a:endParaRPr lang="en-US" sz="1500" dirty="0"/>
          </a:p>
        </p:txBody>
      </p:sp>
      <p:sp>
        <p:nvSpPr>
          <p:cNvPr id="8" name="Text 8"/>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21</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2">
    <p:bg>
      <p:bgPr>
        <a:solidFill>
          <a:srgbClr val="14181C"/>
        </a:solidFill>
      </p:bgPr>
    </p:bg>
    <p:spTree>
      <p:nvGrpSpPr>
        <p:cNvPr id="1" name=""/>
        <p:cNvGrpSpPr/>
        <p:nvPr/>
      </p:nvGrpSpPr>
      <p:grpSpPr>
        <a:xfrm>
          <a:off x="0" y="0"/>
          <a:ext cx="0" cy="0"/>
          <a:chOff x="0" y="0"/>
          <a:chExt cx="0" cy="0"/>
        </a:xfrm>
      </p:grpSpPr>
      <p:sp>
        <p:nvSpPr>
          <p:cNvPr id="2" name="Text 2"/>
          <p:cNvSpPr txBox="1"/>
          <p:nvPr/>
        </p:nvSpPr>
        <p:spPr>
          <a:xfrm>
            <a:off x="822960" y="548640"/>
            <a:ext cx="9144000" cy="640080"/>
          </a:xfrm>
          <a:prstGeom prst="rect">
            <a:avLst/>
          </a:prstGeom>
          <a:noFill/>
          <a:ln/>
        </p:spPr>
        <p:txBody>
          <a:bodyPr wrap="square" lIns="0" tIns="0" rIns="0" bIns="0" rtlCol="0" anchor="t"/>
          <a:lstStyle/>
          <a:p>
            <a:pPr indent="0" marL="0">
              <a:lnSpc>
                <a:spcPct val="115000"/>
              </a:lnSpc>
              <a:spcAft>
                <a:spcPts val="0"/>
              </a:spcAft>
              <a:buNone/>
            </a:pPr>
            <a:r>
              <a:rPr lang="en-US" sz="3200" b="1" dirty="0">
                <a:solidFill>
                  <a:srgbClr val="FFFFFF"/>
                </a:solidFill>
                <a:latin typeface="Calibri" pitchFamily="34" charset="0"/>
                <a:ea typeface="Calibri" pitchFamily="34" charset="-122"/>
                <a:cs typeface="Calibri" pitchFamily="34" charset="-120"/>
              </a:rPr>
              <a:t>Key Takeaways</a:t>
            </a:r>
            <a:endParaRPr lang="en-US" sz="3200" dirty="0"/>
          </a:p>
        </p:txBody>
      </p:sp>
      <p:sp>
        <p:nvSpPr>
          <p:cNvPr id="3" name="Shape 3"/>
          <p:cNvSpPr/>
          <p:nvPr/>
        </p:nvSpPr>
        <p:spPr>
          <a:xfrm>
            <a:off x="822960" y="1728216"/>
            <a:ext cx="164592" cy="164592"/>
          </a:xfrm>
          <a:prstGeom prst="ellipse">
            <a:avLst/>
          </a:prstGeom>
          <a:solidFill>
            <a:srgbClr val="2FE6C4"/>
          </a:solidFill>
          <a:ln/>
        </p:spPr>
      </p:sp>
      <p:sp>
        <p:nvSpPr>
          <p:cNvPr id="4" name="Text 4"/>
          <p:cNvSpPr txBox="1"/>
          <p:nvPr/>
        </p:nvSpPr>
        <p:spPr>
          <a:xfrm>
            <a:off x="1234440" y="1527048"/>
            <a:ext cx="10149840" cy="777240"/>
          </a:xfrm>
          <a:prstGeom prst="rect">
            <a:avLst/>
          </a:prstGeom>
          <a:noFill/>
          <a:ln/>
        </p:spPr>
        <p:txBody>
          <a:bodyPr wrap="square" lIns="0" tIns="0" rIns="0" bIns="0" rtlCol="0" anchor="t"/>
          <a:lstStyle/>
          <a:p>
            <a:pPr indent="0" marL="0">
              <a:lnSpc>
                <a:spcPct val="120000"/>
              </a:lnSpc>
              <a:spcAft>
                <a:spcPts val="0"/>
              </a:spcAft>
              <a:buNone/>
            </a:pPr>
            <a:r>
              <a:rPr lang="en-US" sz="1800" dirty="0">
                <a:solidFill>
                  <a:srgbClr val="FFFFFF"/>
                </a:solidFill>
                <a:latin typeface="Calibri" pitchFamily="34" charset="0"/>
                <a:ea typeface="Calibri" pitchFamily="34" charset="-122"/>
                <a:cs typeface="Calibri" pitchFamily="34" charset="-120"/>
              </a:rPr>
              <a:t>A multi-valued dependency X ↠ Y says that, for a fixed X, the Y-values are independent of every other attribute. Every FD is an MVD.</a:t>
            </a:r>
            <a:endParaRPr lang="en-US" sz="1800" dirty="0"/>
          </a:p>
        </p:txBody>
      </p:sp>
      <p:sp>
        <p:nvSpPr>
          <p:cNvPr id="5" name="Shape 5"/>
          <p:cNvSpPr/>
          <p:nvPr/>
        </p:nvSpPr>
        <p:spPr>
          <a:xfrm>
            <a:off x="822960" y="2624328"/>
            <a:ext cx="164592" cy="164592"/>
          </a:xfrm>
          <a:prstGeom prst="ellipse">
            <a:avLst/>
          </a:prstGeom>
          <a:solidFill>
            <a:srgbClr val="2FE6C4"/>
          </a:solidFill>
          <a:ln/>
        </p:spPr>
      </p:sp>
      <p:sp>
        <p:nvSpPr>
          <p:cNvPr id="6" name="Text 6"/>
          <p:cNvSpPr txBox="1"/>
          <p:nvPr/>
        </p:nvSpPr>
        <p:spPr>
          <a:xfrm>
            <a:off x="1234440" y="2423160"/>
            <a:ext cx="10149840" cy="777240"/>
          </a:xfrm>
          <a:prstGeom prst="rect">
            <a:avLst/>
          </a:prstGeom>
          <a:noFill/>
          <a:ln/>
        </p:spPr>
        <p:txBody>
          <a:bodyPr wrap="square" lIns="0" tIns="0" rIns="0" bIns="0" rtlCol="0" anchor="t"/>
          <a:lstStyle/>
          <a:p>
            <a:pPr indent="0" marL="0">
              <a:lnSpc>
                <a:spcPct val="120000"/>
              </a:lnSpc>
              <a:spcAft>
                <a:spcPts val="0"/>
              </a:spcAft>
              <a:buNone/>
            </a:pPr>
            <a:r>
              <a:rPr lang="en-US" sz="1800" dirty="0">
                <a:solidFill>
                  <a:srgbClr val="FFFFFF"/>
                </a:solidFill>
                <a:latin typeface="Calibri" pitchFamily="34" charset="0"/>
                <a:ea typeface="Calibri" pitchFamily="34" charset="-122"/>
                <a:cs typeface="Calibri" pitchFamily="34" charset="-120"/>
              </a:rPr>
              <a:t>MVDs come in complementary pairs: X ↠ Y over {X, Y, Z} if and only if X ↠ Z.</a:t>
            </a:r>
            <a:endParaRPr lang="en-US" sz="1800" dirty="0"/>
          </a:p>
        </p:txBody>
      </p:sp>
      <p:sp>
        <p:nvSpPr>
          <p:cNvPr id="7" name="Shape 7"/>
          <p:cNvSpPr/>
          <p:nvPr/>
        </p:nvSpPr>
        <p:spPr>
          <a:xfrm>
            <a:off x="822960" y="3520440"/>
            <a:ext cx="164592" cy="164592"/>
          </a:xfrm>
          <a:prstGeom prst="ellipse">
            <a:avLst/>
          </a:prstGeom>
          <a:solidFill>
            <a:srgbClr val="2FE6C4"/>
          </a:solidFill>
          <a:ln/>
        </p:spPr>
      </p:sp>
      <p:sp>
        <p:nvSpPr>
          <p:cNvPr id="8" name="Text 8"/>
          <p:cNvSpPr txBox="1"/>
          <p:nvPr/>
        </p:nvSpPr>
        <p:spPr>
          <a:xfrm>
            <a:off x="1234440" y="3319272"/>
            <a:ext cx="10149840" cy="777240"/>
          </a:xfrm>
          <a:prstGeom prst="rect">
            <a:avLst/>
          </a:prstGeom>
          <a:noFill/>
          <a:ln/>
        </p:spPr>
        <p:txBody>
          <a:bodyPr wrap="square" lIns="0" tIns="0" rIns="0" bIns="0" rtlCol="0" anchor="t"/>
          <a:lstStyle/>
          <a:p>
            <a:pPr indent="0" marL="0">
              <a:lnSpc>
                <a:spcPct val="120000"/>
              </a:lnSpc>
              <a:spcAft>
                <a:spcPts val="0"/>
              </a:spcAft>
              <a:buNone/>
            </a:pPr>
            <a:r>
              <a:rPr lang="en-US" sz="1800" dirty="0">
                <a:solidFill>
                  <a:srgbClr val="FFFFFF"/>
                </a:solidFill>
                <a:latin typeface="Calibri" pitchFamily="34" charset="0"/>
                <a:ea typeface="Calibri" pitchFamily="34" charset="-122"/>
                <a:cs typeface="Calibri" pitchFamily="34" charset="-120"/>
              </a:rPr>
              <a:t>4NF requires every non-trivial MVD's determinant to be a superkey. It is the same rule as BCNF, one level stronger.</a:t>
            </a:r>
            <a:endParaRPr lang="en-US" sz="1800" dirty="0"/>
          </a:p>
        </p:txBody>
      </p:sp>
      <p:sp>
        <p:nvSpPr>
          <p:cNvPr id="9" name="Shape 9"/>
          <p:cNvSpPr/>
          <p:nvPr/>
        </p:nvSpPr>
        <p:spPr>
          <a:xfrm>
            <a:off x="822960" y="4416552"/>
            <a:ext cx="164592" cy="164592"/>
          </a:xfrm>
          <a:prstGeom prst="ellipse">
            <a:avLst/>
          </a:prstGeom>
          <a:solidFill>
            <a:srgbClr val="2FE6C4"/>
          </a:solidFill>
          <a:ln/>
        </p:spPr>
      </p:sp>
      <p:sp>
        <p:nvSpPr>
          <p:cNvPr id="10" name="Text 10"/>
          <p:cNvSpPr txBox="1"/>
          <p:nvPr/>
        </p:nvSpPr>
        <p:spPr>
          <a:xfrm>
            <a:off x="1234440" y="4215384"/>
            <a:ext cx="10149840" cy="777240"/>
          </a:xfrm>
          <a:prstGeom prst="rect">
            <a:avLst/>
          </a:prstGeom>
          <a:noFill/>
          <a:ln/>
        </p:spPr>
        <p:txBody>
          <a:bodyPr wrap="square" lIns="0" tIns="0" rIns="0" bIns="0" rtlCol="0" anchor="t"/>
          <a:lstStyle/>
          <a:p>
            <a:pPr indent="0" marL="0">
              <a:lnSpc>
                <a:spcPct val="120000"/>
              </a:lnSpc>
              <a:spcAft>
                <a:spcPts val="0"/>
              </a:spcAft>
              <a:buNone/>
            </a:pPr>
            <a:r>
              <a:rPr lang="en-US" sz="1800" dirty="0">
                <a:solidFill>
                  <a:srgbClr val="FFFFFF"/>
                </a:solidFill>
                <a:latin typeface="Calibri" pitchFamily="34" charset="0"/>
                <a:ea typeface="Calibri" pitchFamily="34" charset="-122"/>
                <a:cs typeface="Calibri" pitchFamily="34" charset="-120"/>
              </a:rPr>
              <a:t>EmpSkillsLangs is in BCNF but not 4NF. Splitting into EmpSkills and EmpLanguages removes the spurious cross-product, losslessly.</a:t>
            </a:r>
            <a:endParaRPr lang="en-US" sz="1800" dirty="0"/>
          </a:p>
        </p:txBody>
      </p:sp>
      <p:sp>
        <p:nvSpPr>
          <p:cNvPr id="11" name="Shape 11"/>
          <p:cNvSpPr/>
          <p:nvPr/>
        </p:nvSpPr>
        <p:spPr>
          <a:xfrm>
            <a:off x="822960" y="5312664"/>
            <a:ext cx="164592" cy="164592"/>
          </a:xfrm>
          <a:prstGeom prst="ellipse">
            <a:avLst/>
          </a:prstGeom>
          <a:solidFill>
            <a:srgbClr val="2FE6C4"/>
          </a:solidFill>
          <a:ln/>
        </p:spPr>
      </p:sp>
      <p:sp>
        <p:nvSpPr>
          <p:cNvPr id="12" name="Text 12"/>
          <p:cNvSpPr txBox="1"/>
          <p:nvPr/>
        </p:nvSpPr>
        <p:spPr>
          <a:xfrm>
            <a:off x="1234440" y="5111496"/>
            <a:ext cx="10149840" cy="777240"/>
          </a:xfrm>
          <a:prstGeom prst="rect">
            <a:avLst/>
          </a:prstGeom>
          <a:noFill/>
          <a:ln/>
        </p:spPr>
        <p:txBody>
          <a:bodyPr wrap="square" lIns="0" tIns="0" rIns="0" bIns="0" rtlCol="0" anchor="t"/>
          <a:lstStyle/>
          <a:p>
            <a:pPr indent="0" marL="0">
              <a:lnSpc>
                <a:spcPct val="120000"/>
              </a:lnSpc>
              <a:spcAft>
                <a:spcPts val="0"/>
              </a:spcAft>
              <a:buNone/>
            </a:pPr>
            <a:r>
              <a:rPr lang="en-US" sz="1800" dirty="0">
                <a:solidFill>
                  <a:srgbClr val="FFFFFF"/>
                </a:solidFill>
                <a:latin typeface="Calibri" pitchFamily="34" charset="0"/>
                <a:ea typeface="Calibri" pitchFamily="34" charset="-122"/>
                <a:cs typeface="Calibri" pitchFamily="34" charset="-120"/>
              </a:rPr>
              <a:t>4NF removes physical redundancy and its update anomalies. It does not remove any information the join can express.</a:t>
            </a:r>
            <a:endParaRPr lang="en-US" sz="1800" dirty="0"/>
          </a:p>
        </p:txBody>
      </p:sp>
      <p:sp>
        <p:nvSpPr>
          <p:cNvPr id="13" name="Text 13"/>
          <p:cNvSpPr txBox="1"/>
          <p:nvPr/>
        </p:nvSpPr>
        <p:spPr>
          <a:xfrm>
            <a:off x="9948672" y="6455664"/>
            <a:ext cx="2011680" cy="292608"/>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2026-09-29T15:21:22Z</dcterms:created>
  <dcterms:modified xsi:type="dcterms:W3CDTF">2026-09-29T15:21:22Z</dcterms:modified>
</cp:coreProperties>
</file>
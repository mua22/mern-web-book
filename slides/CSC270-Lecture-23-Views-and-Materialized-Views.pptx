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  <Relationship Id="rId28" Type="http://schemas.openxmlformats.org/officeDocument/2006/relationships/slide" Target="slides/slide22.xml"/>
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  <Relationship Id="rId38" Type="http://schemas.openxmlformats.org/officeDocument/2006/relationships/slide" Target="slides/slide32.xml"/>
  <Relationship Id="rId39" Type="http://schemas.openxmlformats.org/officeDocument/2006/relationships/slide" Target="slides/slide33.xml"/>
  <Relationship Id="rId40" Type="http://schemas.openxmlformats.org/officeDocument/2006/relationships/slide" Target="slides/slide34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FE6C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8B7FD9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and Materialized Views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17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822960" y="1554480"/>
            <a:ext cx="9966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view is: a virtual table with no stored data of its own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views with CREATE VIEW ... AS SELECT ...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Querying a view exactly like a base table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views are updatable, and which cannot be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and disadvantages of ordinary views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Materialized views: what “materialized” actually changes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Creating, refreshing, and choosing materialized views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a Virtual Table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822960" y="1463040"/>
            <a:ext cx="9966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view's definition is a stored query — it has no rows of its own on disk.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against a view re-runs the underlying query against current base-table data.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duplicated: the view is a lens onto the base tables, not a copy of them.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640080" y="4389120"/>
            <a:ext cx="9966960" cy="173736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5875">
            <a:solidFill>
              <a:srgbClr val="8B7FD9"/>
            </a:solidFill>
            <a:prstDash val="solid"/>
          </a:ln>
        </p:spPr>
      </p:sp>
      <p:sp>
        <p:nvSpPr>
          <p:cNvPr id="6" name="Text 6"/>
          <p:cNvSpPr txBox="1"/>
          <p:nvPr/>
        </p:nvSpPr>
        <p:spPr>
          <a:xfrm>
            <a:off x="914400" y="4389120"/>
            <a:ext cx="9418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view as a saved SELECT with a name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application that queries the view gets the current answer, computed from the live base table. Nothing is copied, so nothing can go stale.</a:t>
            </a:r>
            <a:endParaRPr lang="en-US" sz="1400" dirty="0"/>
          </a:p>
        </p:txBody>
      </p:sp>
      <p:sp>
        <p:nvSpPr>
          <p:cNvPr id="7" name="Text 7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Example: the Staff Relation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manager should only see staff at their own branch, not the whole company.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640080" y="22402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(staffNo, name, position, salary, branchNo)</a:t>
            </a:r>
            <a:endParaRPr lang="en-US" sz="16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640080" y="2697480"/>
          <a:ext cx="9966960" cy="2286000"/>
        </p:xfrm>
        <a:graphic>
          <a:graphicData uri="http://schemas.openxmlformats.org/drawingml/2006/table">
            <a:tbl>
              <a:tblPr firstRow="1" bandRow="1"/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7" name="Text 7"/>
          <p:cNvSpPr txBox="1"/>
          <p:nvPr/>
        </p:nvSpPr>
        <p:spPr>
          <a:xfrm>
            <a:off x="640080" y="530352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SG37 and SG14 both belong to branch B003 — that is the set a B003 manager should see.</a:t>
            </a:r>
            <a:endParaRPr lang="en-US" sz="1600" dirty="0"/>
          </a:p>
        </p:txBody>
      </p:sp>
      <p:sp>
        <p:nvSpPr>
          <p:cNvPr id="8" name="Text 8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VIEW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 View: Filtering Rows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rows for one branch. Nothing is copied; the name is bound to the SELECT.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rows: one branch only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1395374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1102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 Branch003Staff AS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staffNo, name, position, salary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FROM Staff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branchNo = 'B003';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4321454"/>
            <a:ext cx="9966960" cy="137160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914400" y="4321454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reference re-runs the query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Branch003Staff is referenced, the DBMS evaluates this SELECT against the live Staff table.</a:t>
            </a:r>
            <a:endParaRPr lang="en-US" sz="1400" dirty="0"/>
          </a:p>
        </p:txBody>
      </p:sp>
      <p:sp>
        <p:nvSpPr>
          <p:cNvPr id="10" name="Text 10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VIEW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 View: Joining Tables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view can join base tables, so applications see one simple shape.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two base tables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1126541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833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 StaffWithBranchCity AS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s.staffNo, s.name, s.position, b.city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FROM Staff s JOIN Branch b ON s.branchNo = b.branchNo;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4052621"/>
            <a:ext cx="9966960" cy="146304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914400" y="4052621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no copied data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 runs on every query. The view only names the join; the rows come from Staff and Branch.</a:t>
            </a:r>
            <a:endParaRPr lang="en-US" sz="1400" dirty="0"/>
          </a:p>
        </p:txBody>
      </p:sp>
      <p:sp>
        <p:nvSpPr>
          <p:cNvPr id="10" name="Text 10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VIEW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 View: Aggregating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view can also aggregate: one row per branch, computed from Staff.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with GROUP BY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1395374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1102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 BranchSalaryTotals AS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branchNo, COUNT(*) AS staffCount,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SUM(salary) AS totalSalary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FROM Staff GROUP BY branchNo;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4321454"/>
            <a:ext cx="9966960" cy="146304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914400" y="4321454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detail is summarized away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of this view is a group. The individual Staff rows are no longer visible through it.</a:t>
            </a:r>
            <a:endParaRPr lang="en-US" sz="1400" dirty="0"/>
          </a:p>
        </p:txBody>
      </p:sp>
      <p:sp>
        <p:nvSpPr>
          <p:cNvPr id="10" name="Text 10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Querying Views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view is queried exactly like a base table. Application code does not need to know it is a view.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208483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the view like a table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468880"/>
            <a:ext cx="9966960" cy="1126541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615184"/>
            <a:ext cx="9509760" cy="833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Branch003Staff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salary &gt; 10000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salary DESC;</a:t>
            </a:r>
            <a:endParaRPr lang="en-US" sz="1400" dirty="0"/>
          </a:p>
        </p:txBody>
      </p:sp>
      <p:sp>
        <p:nvSpPr>
          <p:cNvPr id="8" name="Text 8"/>
          <p:cNvSpPr txBox="1"/>
          <p:nvPr/>
        </p:nvSpPr>
        <p:spPr>
          <a:xfrm>
            <a:off x="822960" y="4052621"/>
            <a:ext cx="9784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join a view with a base table, or with another view.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DBMS re-evaluates both underlying queries and combines the results each time.</a:t>
            </a:r>
            <a:endParaRPr lang="en-US" sz="1400" dirty="0"/>
          </a:p>
        </p:txBody>
      </p:sp>
      <p:sp>
        <p:nvSpPr>
          <p:cNvPr id="9" name="Text 9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UPDATABILITY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Can You Update Through a View?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view is updatable only if every change can be translated unambiguously onto one base table: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22960" y="2240280"/>
            <a:ext cx="97840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a single base table (no join)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DISTINCT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GROUP BY, HAVING, or aggregate function (SUM, COUNT, AVG, ...)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set operations (UNION, INTERSECT, EXCEPT)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every column that has no default and disallows NULL in the base table</a:t>
            </a:r>
            <a:endParaRPr lang="en-US" sz="1800" dirty="0"/>
          </a:p>
        </p:txBody>
      </p:sp>
      <p:sp>
        <p:nvSpPr>
          <p:cNvPr id="6" name="Text 6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UPDATABILITY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Updatable View in Practice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Branch003Staff qualifies: a single-table SELECT with no aggregates.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199339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update through the view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377440"/>
            <a:ext cx="9966960" cy="1126541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523744"/>
            <a:ext cx="9509760" cy="833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Branch003Staff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salary = salary * 1.05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staffNo = 'SG37';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3961181"/>
            <a:ext cx="9966960" cy="155448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914400" y="3961181"/>
            <a:ext cx="9418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Behaves exactly as if you had updated Staff directly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DBMS maps the change back onto the one row of Staff with staffNo SG37.</a:t>
            </a:r>
            <a:endParaRPr lang="en-US" sz="1400" dirty="0"/>
          </a:p>
        </p:txBody>
      </p:sp>
      <p:sp>
        <p:nvSpPr>
          <p:cNvPr id="10" name="Text 10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UPDATABILITY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That Cannot Be Updated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BranchSalaryTotals is not updatable. There is no row-level value to change.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199339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by the DBMS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377440"/>
            <a:ext cx="9966960" cy="1126541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523744"/>
            <a:ext cx="9509760" cy="833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BranchSalaryTotals SET totalSalary = 50000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branchNo = 'B003';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ERROR: cannot update a view that contains aggregate functions</a:t>
            </a:r>
            <a:endParaRPr lang="en-US" sz="1400" dirty="0"/>
          </a:p>
        </p:txBody>
      </p:sp>
      <p:sp>
        <p:nvSpPr>
          <p:cNvPr id="8" name="Text 8"/>
          <p:cNvSpPr txBox="1"/>
          <p:nvPr/>
        </p:nvSpPr>
        <p:spPr>
          <a:xfrm>
            <a:off x="822960" y="3869741"/>
            <a:ext cx="9784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view such as StaffWithBranchCity is also non-updatable in most systems: which base table would the change apply to?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systems offer INSTEAD OF triggers, but that custom logic is application-defined, not automatic.</a:t>
            </a:r>
            <a:endParaRPr lang="en-US" sz="1400" dirty="0"/>
          </a:p>
        </p:txBody>
      </p:sp>
      <p:sp>
        <p:nvSpPr>
          <p:cNvPr id="9" name="Text 9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of Views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views buy three things, at no storage cost: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640080" y="2011680"/>
            <a:ext cx="9966960" cy="109728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6"/>
          <p:cNvSpPr/>
          <p:nvPr/>
        </p:nvSpPr>
        <p:spPr>
          <a:xfrm>
            <a:off x="640080" y="2011680"/>
            <a:ext cx="82296" cy="1097280"/>
          </a:xfrm>
          <a:prstGeom prst="roundRect">
            <a:avLst/>
          </a:prstGeom>
          <a:solidFill>
            <a:srgbClr val="2FE6C4"/>
          </a:solidFill>
          <a:ln/>
        </p:spPr>
      </p:sp>
      <p:sp>
        <p:nvSpPr>
          <p:cNvPr id="7" name="Text 7"/>
          <p:cNvSpPr txBox="1"/>
          <p:nvPr/>
        </p:nvSpPr>
        <p:spPr>
          <a:xfrm>
            <a:off x="978408" y="2011680"/>
            <a:ext cx="9464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access to a view's rows or columns without exposing the whole base table (Lecture 24).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3291840"/>
            <a:ext cx="9966960" cy="109728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640080" y="3291840"/>
            <a:ext cx="82296" cy="1097280"/>
          </a:xfrm>
          <a:prstGeom prst="roundRect">
            <a:avLst/>
          </a:prstGeom>
          <a:solidFill>
            <a:srgbClr val="8B7FD9"/>
          </a:solidFill>
          <a:ln/>
        </p:spPr>
      </p:sp>
      <p:sp>
        <p:nvSpPr>
          <p:cNvPr id="10" name="Text 10"/>
          <p:cNvSpPr txBox="1"/>
          <p:nvPr/>
        </p:nvSpPr>
        <p:spPr>
          <a:xfrm>
            <a:off x="978408" y="3291840"/>
            <a:ext cx="9464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Simplicity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complex joins and aggregations behind one simple name.</a:t>
            </a:r>
            <a:endParaRPr lang="en-US" sz="1400" dirty="0"/>
          </a:p>
        </p:txBody>
      </p:sp>
      <p:sp>
        <p:nvSpPr>
          <p:cNvPr id="11" name="Shape 11"/>
          <p:cNvSpPr/>
          <p:nvPr/>
        </p:nvSpPr>
        <p:spPr>
          <a:xfrm>
            <a:off x="640080" y="4572000"/>
            <a:ext cx="9966960" cy="109728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2"/>
          <p:cNvSpPr/>
          <p:nvPr/>
        </p:nvSpPr>
        <p:spPr>
          <a:xfrm>
            <a:off x="640080" y="4572000"/>
            <a:ext cx="82296" cy="1097280"/>
          </a:xfrm>
          <a:prstGeom prst="roundRect">
            <a:avLst/>
          </a:prstGeom>
          <a:solidFill>
            <a:srgbClr val="2FE6C4"/>
          </a:solidFill>
          <a:ln/>
        </p:spPr>
      </p:sp>
      <p:sp>
        <p:nvSpPr>
          <p:cNvPr id="13" name="Text 13"/>
          <p:cNvSpPr txBox="1"/>
          <p:nvPr/>
        </p:nvSpPr>
        <p:spPr>
          <a:xfrm>
            <a:off x="978408" y="4572000"/>
            <a:ext cx="9464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data independence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Restructure the base schema, update the view definition, and applications keep working.</a:t>
            </a:r>
            <a:endParaRPr lang="en-US" sz="1400" dirty="0"/>
          </a:p>
        </p:txBody>
      </p:sp>
      <p:sp>
        <p:nvSpPr>
          <p:cNvPr id="14" name="Text 14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Disadvantages of Views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of a view is recomputation, and restricted updatability: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640080" y="2011680"/>
            <a:ext cx="9966960" cy="132588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6"/>
          <p:cNvSpPr/>
          <p:nvPr/>
        </p:nvSpPr>
        <p:spPr>
          <a:xfrm>
            <a:off x="640080" y="2011680"/>
            <a:ext cx="82296" cy="1325880"/>
          </a:xfrm>
          <a:prstGeom prst="roundRect">
            <a:avLst/>
          </a:prstGeom>
          <a:solidFill>
            <a:srgbClr val="E8A33D"/>
          </a:solidFill>
          <a:ln/>
        </p:spPr>
      </p:sp>
      <p:sp>
        <p:nvSpPr>
          <p:cNvPr id="7" name="Text 7"/>
          <p:cNvSpPr txBox="1"/>
          <p:nvPr/>
        </p:nvSpPr>
        <p:spPr>
          <a:xfrm>
            <a:off x="978408" y="2011680"/>
            <a:ext cx="9464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overhead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query re-runs on every reference. An expensive join or aggregate is paid again each time.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3566160"/>
            <a:ext cx="9966960" cy="132588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640080" y="3566160"/>
            <a:ext cx="82296" cy="1325880"/>
          </a:xfrm>
          <a:prstGeom prst="roundRect">
            <a:avLst/>
          </a:prstGeom>
          <a:solidFill>
            <a:srgbClr val="E8A33D"/>
          </a:solidFill>
          <a:ln/>
        </p:spPr>
      </p:sp>
      <p:sp>
        <p:nvSpPr>
          <p:cNvPr id="10" name="Text 10"/>
          <p:cNvSpPr txBox="1"/>
          <p:nvPr/>
        </p:nvSpPr>
        <p:spPr>
          <a:xfrm>
            <a:off x="978408" y="3566160"/>
            <a:ext cx="9464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restrictions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useful views (joins, aggregates, DISTINCT) are not updatable, forcing writes back to base tables.</a:t>
            </a:r>
            <a:endParaRPr lang="en-US" sz="1400" dirty="0"/>
          </a:p>
        </p:txBody>
      </p:sp>
      <p:sp>
        <p:nvSpPr>
          <p:cNvPr id="11" name="Shape 11"/>
          <p:cNvSpPr/>
          <p:nvPr/>
        </p:nvSpPr>
        <p:spPr>
          <a:xfrm>
            <a:off x="640080" y="5120640"/>
            <a:ext cx="9966960" cy="118872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12" name="Text 12"/>
          <p:cNvSpPr txBox="1"/>
          <p:nvPr/>
        </p:nvSpPr>
        <p:spPr>
          <a:xfrm>
            <a:off x="914400" y="5120640"/>
            <a:ext cx="9418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save you storage, not computation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topic, materialized views, trades storage for speed.</a:t>
            </a:r>
            <a:endParaRPr lang="en-US" sz="1400" dirty="0"/>
          </a:p>
        </p:txBody>
      </p:sp>
      <p:sp>
        <p:nvSpPr>
          <p:cNvPr id="13" name="Text 13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TRADE-OFF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View vs. Materialized View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640080" y="1463040"/>
            <a:ext cx="4846320" cy="47548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5" name="Shape 5"/>
          <p:cNvSpPr/>
          <p:nvPr/>
        </p:nvSpPr>
        <p:spPr>
          <a:xfrm>
            <a:off x="960120" y="1783080"/>
            <a:ext cx="2743200" cy="502920"/>
          </a:xfrm>
          <a:prstGeom prst="roundRect">
            <a:avLst>
              <a:gd name="adj" fmla="val 15000"/>
            </a:avLst>
          </a:prstGeom>
          <a:solidFill>
            <a:srgbClr val="2FE6C4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960120" y="1783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VIEW</a:t>
            </a:r>
            <a:endParaRPr lang="en-US" sz="1600" dirty="0"/>
          </a:p>
        </p:txBody>
      </p:sp>
      <p:sp>
        <p:nvSpPr>
          <p:cNvPr id="7" name="Text 7"/>
          <p:cNvSpPr txBox="1"/>
          <p:nvPr/>
        </p:nvSpPr>
        <p:spPr>
          <a:xfrm>
            <a:off x="960120" y="251460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Re-runs the underlying SELECT against the base tables on every query. The result is always fresh.</a:t>
            </a:r>
            <a:endParaRPr lang="en-US" sz="1800" dirty="0"/>
          </a:p>
        </p:txBody>
      </p:sp>
      <p:sp>
        <p:nvSpPr>
          <p:cNvPr id="8" name="Text 8"/>
          <p:cNvSpPr txBox="1"/>
          <p:nvPr/>
        </p:nvSpPr>
        <p:spPr>
          <a:xfrm>
            <a:off x="960120" y="53492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recomputation on every access.</a:t>
            </a:r>
            <a:endParaRPr lang="en-US" sz="1400" dirty="0"/>
          </a:p>
        </p:txBody>
      </p:sp>
      <p:sp>
        <p:nvSpPr>
          <p:cNvPr id="9" name="Shape 9"/>
          <p:cNvSpPr/>
          <p:nvPr/>
        </p:nvSpPr>
        <p:spPr>
          <a:xfrm>
            <a:off x="5760720" y="1463040"/>
            <a:ext cx="4846320" cy="47548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7DBDF"/>
            </a:solidFill>
            <a:prstDash val="solid"/>
          </a:ln>
        </p:spPr>
      </p:sp>
      <p:sp>
        <p:nvSpPr>
          <p:cNvPr id="10" name="Shape 10"/>
          <p:cNvSpPr/>
          <p:nvPr/>
        </p:nvSpPr>
        <p:spPr>
          <a:xfrm>
            <a:off x="6080760" y="1783080"/>
            <a:ext cx="2743200" cy="502920"/>
          </a:xfrm>
          <a:prstGeom prst="roundRect">
            <a:avLst>
              <a:gd name="adj" fmla="val 15000"/>
            </a:avLst>
          </a:prstGeom>
          <a:solidFill>
            <a:srgbClr val="E8A33D"/>
          </a:solidFill>
          <a:ln/>
        </p:spPr>
      </p:sp>
      <p:sp>
        <p:nvSpPr>
          <p:cNvPr id="11" name="Text 11"/>
          <p:cNvSpPr txBox="1"/>
          <p:nvPr/>
        </p:nvSpPr>
        <p:spPr>
          <a:xfrm>
            <a:off x="6080760" y="1783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MATERIALIZED VIEW</a:t>
            </a:r>
            <a:endParaRPr lang="en-US" sz="1500" dirty="0"/>
          </a:p>
        </p:txBody>
      </p:sp>
      <p:sp>
        <p:nvSpPr>
          <p:cNvPr id="12" name="Text 12"/>
          <p:cNvSpPr txBox="1"/>
          <p:nvPr/>
        </p:nvSpPr>
        <p:spPr>
          <a:xfrm>
            <a:off x="6080760" y="251460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stored result directly, like a table. Fast, but possibly stale until it is refreshed.</a:t>
            </a:r>
            <a:endParaRPr lang="en-US" sz="1800" dirty="0"/>
          </a:p>
        </p:txBody>
      </p:sp>
      <p:sp>
        <p:nvSpPr>
          <p:cNvPr id="13" name="Text 13"/>
          <p:cNvSpPr txBox="1"/>
          <p:nvPr/>
        </p:nvSpPr>
        <p:spPr>
          <a:xfrm>
            <a:off x="6080760" y="53492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storage, plus a refresh step to stay current.</a:t>
            </a:r>
            <a:endParaRPr lang="en-US" sz="1400" dirty="0"/>
          </a:p>
        </p:txBody>
      </p:sp>
      <p:sp>
        <p:nvSpPr>
          <p:cNvPr id="14" name="Text 14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MATERIALIZED VIEW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 Materialized View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syntax is nearly identical. Only the keyword changes, but the effect is very different.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194767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result set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331720"/>
            <a:ext cx="9966960" cy="1395374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478024"/>
            <a:ext cx="9509760" cy="1102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MATERIALIZED VIEW BranchSalaryTotals_MV AS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branchNo, COUNT(*) AS staffCount,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SUM(salary) AS totalSalary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FROM Staff GROUP BY branchNo;</a:t>
            </a:r>
            <a:endParaRPr lang="en-US" sz="1400" dirty="0"/>
          </a:p>
        </p:txBody>
      </p:sp>
      <p:sp>
        <p:nvSpPr>
          <p:cNvPr id="8" name="Text 8"/>
          <p:cNvSpPr txBox="1"/>
          <p:nvPr/>
        </p:nvSpPr>
        <p:spPr>
          <a:xfrm>
            <a:off x="822960" y="4138574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now occupies real storage, sized like the query's output.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reflect a later UPDATE to Staff until it is explicitly refreshed.</a:t>
            </a:r>
            <a:endParaRPr lang="en-US" sz="1400" dirty="0"/>
          </a:p>
        </p:txBody>
      </p:sp>
      <p:sp>
        <p:nvSpPr>
          <p:cNvPr id="9" name="Text 9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CURRENT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Refreshing Materialized Views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stored data can drift from the base tables, every materialized view needs a refresh.</a:t>
            </a:r>
            <a:endParaRPr lang="en-US" sz="1800" dirty="0"/>
          </a:p>
        </p:txBody>
      </p:sp>
      <p:sp>
        <p:nvSpPr>
          <p:cNvPr id="5" name="Text 5"/>
          <p:cNvSpPr txBox="1"/>
          <p:nvPr/>
        </p:nvSpPr>
        <p:spPr>
          <a:xfrm>
            <a:off x="868680" y="194767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Refreshing on demand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40080" y="2331720"/>
            <a:ext cx="9966960" cy="1664208"/>
          </a:xfrm>
          <a:prstGeom prst="roundRect">
            <a:avLst>
              <a:gd name="adj" fmla="val 5161"/>
            </a:avLst>
          </a:prstGeom>
          <a:solidFill>
            <a:srgbClr val="1E1E4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 txBox="1"/>
          <p:nvPr/>
        </p:nvSpPr>
        <p:spPr>
          <a:xfrm>
            <a:off x="868680" y="247802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On-demand: blocks until the refresh completes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 MATERIALIZED VIEW BranchSalaryTotals_MV;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On-demand: readers keep using the old data while it refreshes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 MATERIALIZED VIEW CONCURRENTLY BranchSalaryTotals_MV;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4361688"/>
            <a:ext cx="9966960" cy="128016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914400" y="4361688"/>
            <a:ext cx="9418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and on-commit refresh are next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scheduler can call REFRESH on a timer; some systems refresh automatically on each commit.</a:t>
            </a:r>
            <a:endParaRPr lang="en-US" sz="1400" dirty="0"/>
          </a:p>
        </p:txBody>
      </p:sp>
      <p:sp>
        <p:nvSpPr>
          <p:cNvPr id="10" name="Text 10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CURRENT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Refresh Strategy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refresh strategy is the most important design decision for a materialized view.</a:t>
            </a:r>
            <a:endParaRPr lang="en-US" sz="18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640080" y="2194560"/>
          <a:ext cx="9966960" cy="2852928"/>
        </p:xfrm>
        <a:graphic>
          <a:graphicData uri="http://schemas.openxmlformats.org/drawingml/2006/table">
            <a:tbl>
              <a:tblPr firstRow="1" bandRow="1"/>
              <a:tblGrid>
                <a:gridCol w="2192731"/>
                <a:gridCol w="3787445"/>
                <a:gridCol w="3986784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runs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Manually, whenever REFRESH is issued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Occasional reports where some staleness is acceptable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 timer (nightly, hourly) via a job scheduler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 with a known, bounded staleness window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On-commit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Automatically, as part of every committing transaction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that must never be stale, at the cost of slower writes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6"/>
          <p:cNvSpPr/>
          <p:nvPr/>
        </p:nvSpPr>
        <p:spPr>
          <a:xfrm>
            <a:off x="640080" y="5257800"/>
            <a:ext cx="9966960" cy="105156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7" name="Text 7"/>
          <p:cNvSpPr txBox="1"/>
          <p:nvPr/>
        </p:nvSpPr>
        <p:spPr>
          <a:xfrm>
            <a:off x="914400" y="5257800"/>
            <a:ext cx="9418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free lunch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On-commit refresh removes staleness, but every write to the base table pays for it.</a:t>
            </a:r>
            <a:endParaRPr lang="en-US" sz="1400" dirty="0"/>
          </a:p>
        </p:txBody>
      </p:sp>
      <p:sp>
        <p:nvSpPr>
          <p:cNvPr id="8" name="Text 8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17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of Materialized Views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Materialized views move the expensive work to refresh time: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640080" y="2011680"/>
            <a:ext cx="9966960" cy="132588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6"/>
          <p:cNvSpPr/>
          <p:nvPr/>
        </p:nvSpPr>
        <p:spPr>
          <a:xfrm>
            <a:off x="640080" y="2011680"/>
            <a:ext cx="82296" cy="1325880"/>
          </a:xfrm>
          <a:prstGeom prst="roundRect">
            <a:avLst/>
          </a:prstGeom>
          <a:solidFill>
            <a:srgbClr val="2FE6C4"/>
          </a:solidFill>
          <a:ln/>
        </p:spPr>
      </p:sp>
      <p:sp>
        <p:nvSpPr>
          <p:cNvPr id="7" name="Text 7"/>
          <p:cNvSpPr txBox="1"/>
          <p:nvPr/>
        </p:nvSpPr>
        <p:spPr>
          <a:xfrm>
            <a:off x="978408" y="2011680"/>
            <a:ext cx="9464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performance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joins and aggregations are computed once at refresh time, not on every read.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3566160"/>
            <a:ext cx="9966960" cy="132588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640080" y="3566160"/>
            <a:ext cx="82296" cy="1325880"/>
          </a:xfrm>
          <a:prstGeom prst="roundRect">
            <a:avLst/>
          </a:prstGeom>
          <a:solidFill>
            <a:srgbClr val="2FE6C4"/>
          </a:solidFill>
          <a:ln/>
        </p:spPr>
      </p:sp>
      <p:sp>
        <p:nvSpPr>
          <p:cNvPr id="10" name="Text 10"/>
          <p:cNvSpPr txBox="1"/>
          <p:nvPr/>
        </p:nvSpPr>
        <p:spPr>
          <a:xfrm>
            <a:off x="978408" y="3566160"/>
            <a:ext cx="9464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load on base tables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Read-heavy reporting and analytics hit the stored result instead of re-deriving it from base tables.</a:t>
            </a:r>
            <a:endParaRPr lang="en-US" sz="1400" dirty="0"/>
          </a:p>
        </p:txBody>
      </p:sp>
      <p:sp>
        <p:nvSpPr>
          <p:cNvPr id="11" name="Text 11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18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Disadvantages of Materialized Views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costs are staleness, storage, and refresh work: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640080" y="2011680"/>
            <a:ext cx="9966960" cy="132588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6"/>
          <p:cNvSpPr/>
          <p:nvPr/>
        </p:nvSpPr>
        <p:spPr>
          <a:xfrm>
            <a:off x="640080" y="2011680"/>
            <a:ext cx="82296" cy="1325880"/>
          </a:xfrm>
          <a:prstGeom prst="roundRect">
            <a:avLst/>
          </a:prstGeom>
          <a:solidFill>
            <a:srgbClr val="E8A33D"/>
          </a:solidFill>
          <a:ln/>
        </p:spPr>
      </p:sp>
      <p:sp>
        <p:nvSpPr>
          <p:cNvPr id="7" name="Text 7"/>
          <p:cNvSpPr txBox="1"/>
          <p:nvPr/>
        </p:nvSpPr>
        <p:spPr>
          <a:xfrm>
            <a:off x="978408" y="2011680"/>
            <a:ext cx="9464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Staleness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can lag behind the base tables between refreshes. Unacceptable for, e.g., real-time balances.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40080" y="3566160"/>
            <a:ext cx="9966960" cy="132588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640080" y="3566160"/>
            <a:ext cx="82296" cy="1325880"/>
          </a:xfrm>
          <a:prstGeom prst="roundRect">
            <a:avLst/>
          </a:prstGeom>
          <a:solidFill>
            <a:srgbClr val="E8A33D"/>
          </a:solidFill>
          <a:ln/>
        </p:spPr>
      </p:sp>
      <p:sp>
        <p:nvSpPr>
          <p:cNvPr id="10" name="Text 10"/>
          <p:cNvSpPr txBox="1"/>
          <p:nvPr/>
        </p:nvSpPr>
        <p:spPr>
          <a:xfrm>
            <a:off x="978408" y="3566160"/>
            <a:ext cx="9464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cost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set is physically duplicated.</a:t>
            </a:r>
            <a:endParaRPr lang="en-US" sz="1400" dirty="0"/>
          </a:p>
        </p:txBody>
      </p:sp>
      <p:sp>
        <p:nvSpPr>
          <p:cNvPr id="11" name="Shape 11"/>
          <p:cNvSpPr/>
          <p:nvPr/>
        </p:nvSpPr>
        <p:spPr>
          <a:xfrm>
            <a:off x="640080" y="5120640"/>
            <a:ext cx="9966960" cy="1097280"/>
          </a:xfrm>
          <a:prstGeom prst="roundRect">
            <a:avLst>
              <a:gd name="adj" fmla="val 1497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2"/>
          <p:cNvSpPr/>
          <p:nvPr/>
        </p:nvSpPr>
        <p:spPr>
          <a:xfrm>
            <a:off x="640080" y="5120640"/>
            <a:ext cx="82296" cy="1097280"/>
          </a:xfrm>
          <a:prstGeom prst="roundRect">
            <a:avLst/>
          </a:prstGeom>
          <a:solidFill>
            <a:srgbClr val="E8A33D"/>
          </a:solidFill>
          <a:ln/>
        </p:spPr>
      </p:sp>
      <p:sp>
        <p:nvSpPr>
          <p:cNvPr id="13" name="Text 13"/>
          <p:cNvSpPr txBox="1"/>
          <p:nvPr/>
        </p:nvSpPr>
        <p:spPr>
          <a:xfrm>
            <a:off x="978408" y="5120640"/>
            <a:ext cx="9464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overhead</a:t>
            </a:r>
            <a:endParaRPr lang="en-US" sz="1800" dirty="0"/>
          </a:p>
          <a:p>
            <a:pPr indent="0" marL="0">
              <a:lnSpc>
                <a:spcPct val="11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full, non-incremental refresh can be as expensive as the original query.</a:t>
            </a:r>
            <a:endParaRPr lang="en-US" sz="1400" dirty="0"/>
          </a:p>
        </p:txBody>
      </p:sp>
      <p:sp>
        <p:nvSpPr>
          <p:cNvPr id="14" name="Text 14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19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</a:t>
            </a:r>
            <a:endParaRPr lang="en-US" sz="1200" dirty="0"/>
          </a:p>
        </p:txBody>
      </p:sp>
      <p:sp>
        <p:nvSpPr>
          <p:cNvPr id="3" name="Text 3"/>
          <p:cNvSpPr txBox="1"/>
          <p:nvPr/>
        </p:nvSpPr>
        <p:spPr>
          <a:xfrm>
            <a:off x="640080" y="594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Between a View and a Materialized View</a:t>
            </a:r>
            <a:endParaRPr lang="en-US" sz="2600" dirty="0"/>
          </a:p>
        </p:txBody>
      </p:sp>
      <p:sp>
        <p:nvSpPr>
          <p:cNvPr id="4" name="Text 4"/>
          <p:cNvSpPr txBox="1"/>
          <p:nvPr/>
        </p:nvSpPr>
        <p:spPr>
          <a:xfrm>
            <a:off x="640080" y="137160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to an ordinary view.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a materialized view only when profiling shows an expensive query is run often enough, relative to how often its data changes, that recomputing it is measurably wasteful — and the application can tolerate the staleness window between refreshes.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640080" y="4480560"/>
            <a:ext cx="9966960" cy="1737360"/>
          </a:xfrm>
          <a:prstGeom prst="roundRect">
            <a:avLst>
              <a:gd name="adj" fmla="val 6897"/>
            </a:avLst>
          </a:prstGeom>
          <a:solidFill>
            <a:srgbClr val="FBF0DD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6" name="Text 6"/>
          <p:cNvSpPr txBox="1"/>
          <p:nvPr/>
        </p:nvSpPr>
        <p:spPr>
          <a:xfrm>
            <a:off x="914400" y="4480560"/>
            <a:ext cx="9418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8A5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zero staleness is required</a:t>
            </a:r>
            <a:endParaRPr lang="en-US" sz="1800" dirty="0"/>
          </a:p>
          <a:p>
            <a:pPr indent="0" marL="0">
              <a:lnSpc>
                <a:spcPct val="122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5C4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ON COMMIT narrows the window to zero, at the cost of slower writes to the base tables. There is no free lunch: it is a trade-off you pick deliberately.</a:t>
            </a:r>
            <a:endParaRPr lang="en-US" sz="1400" dirty="0"/>
          </a:p>
        </p:txBody>
      </p:sp>
      <p:sp>
        <p:nvSpPr>
          <p:cNvPr id="7" name="Text 7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822960" y="548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3"/>
          <p:cNvSpPr/>
          <p:nvPr/>
        </p:nvSpPr>
        <p:spPr>
          <a:xfrm>
            <a:off x="822960" y="1728216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4" name="Text 4"/>
          <p:cNvSpPr txBox="1"/>
          <p:nvPr/>
        </p:nvSpPr>
        <p:spPr>
          <a:xfrm>
            <a:off x="1234440" y="152704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view is a virtual table: a stored, named query with no data of its own, re-evaluated on every reference.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822960" y="2642616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1234440" y="244144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are queried like base tables, but only simple single-table, non-aggregate views are updatable.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822960" y="3557016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8"/>
          <p:cNvSpPr txBox="1"/>
          <p:nvPr/>
        </p:nvSpPr>
        <p:spPr>
          <a:xfrm>
            <a:off x="1234440" y="335584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views buy security, simplicity, and logical data independence, at the cost of recomputation.</a:t>
            </a:r>
            <a:endParaRPr lang="en-US" sz="1800" dirty="0"/>
          </a:p>
        </p:txBody>
      </p:sp>
      <p:sp>
        <p:nvSpPr>
          <p:cNvPr id="9" name="Shape 9"/>
          <p:cNvSpPr/>
          <p:nvPr/>
        </p:nvSpPr>
        <p:spPr>
          <a:xfrm>
            <a:off x="822960" y="4471416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0" name="Text 10"/>
          <p:cNvSpPr txBox="1"/>
          <p:nvPr/>
        </p:nvSpPr>
        <p:spPr>
          <a:xfrm>
            <a:off x="1234440" y="427024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materialized view stores its result, trading storage and staleness for query speed.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822960" y="5385816"/>
            <a:ext cx="164592" cy="16459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2" name="Text 12"/>
          <p:cNvSpPr txBox="1"/>
          <p:nvPr/>
        </p:nvSpPr>
        <p:spPr>
          <a:xfrm>
            <a:off x="1234440" y="518464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refresh strategy (on-demand, scheduled, or on-commit) decides how stale the stored data may become.</a:t>
            </a:r>
            <a:endParaRPr lang="en-US" sz="1800" dirty="0"/>
          </a:p>
        </p:txBody>
      </p:sp>
      <p:sp>
        <p:nvSpPr>
          <p:cNvPr id="13" name="Text 13"/>
          <p:cNvSpPr txBox="1"/>
          <p:nvPr/>
        </p:nvSpPr>
        <p:spPr>
          <a:xfrm>
            <a:off x="9948672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2026-09-29T15:21:23Z</dcterms:created>
  <dcterms:modified xsi:type="dcterms:W3CDTF">2026-09-29T15:21:23Z</dcterms:modified>
</cp:coreProperties>
</file>
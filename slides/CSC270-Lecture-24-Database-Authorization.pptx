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8B7FD9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Authorization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1554480"/>
            <a:ext cx="9966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database security matters: confidentiality, integrity, availability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users, privileges, and discretionary vs. mandatory access control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Granting and revoking privileges with GRANT and REVOKE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role-based access control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as a security mechanism, tying back to Lecture 23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consolidated reference, plus SQL injection and least privilege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vs. Authorization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security is the protection of data against unauthorized access, modification, or destruction.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651760"/>
            <a:ext cx="9966960" cy="123444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651760"/>
            <a:ext cx="82296" cy="1234440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651760"/>
            <a:ext cx="9464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Authentication: who are you?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identity, for example by logging in with a password. Happens first, once per session.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114800"/>
            <a:ext cx="9966960" cy="123444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4114800"/>
            <a:ext cx="82296" cy="123444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4114800"/>
            <a:ext cx="9464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what may you do?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whether this operation, by this user, on this object, is allowed. Enforced on every statement.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CIA Triad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rests on three classic goals, the CIA triad: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057400"/>
            <a:ext cx="320040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960120" y="2377440"/>
            <a:ext cx="457200" cy="45720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601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8"/>
          <p:cNvSpPr txBox="1"/>
          <p:nvPr/>
        </p:nvSpPr>
        <p:spPr>
          <a:xfrm>
            <a:off x="96012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600" dirty="0"/>
          </a:p>
        </p:txBody>
      </p:sp>
      <p:sp>
        <p:nvSpPr>
          <p:cNvPr id="9" name="Text 9"/>
          <p:cNvSpPr txBox="1"/>
          <p:nvPr/>
        </p:nvSpPr>
        <p:spPr>
          <a:xfrm>
            <a:off x="960120" y="36118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authorized users can READ the data. A student should not read other students' grades.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4297680" y="2057400"/>
            <a:ext cx="320040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11"/>
          <p:cNvSpPr/>
          <p:nvPr/>
        </p:nvSpPr>
        <p:spPr>
          <a:xfrm>
            <a:off x="4617720" y="2377440"/>
            <a:ext cx="457200" cy="457200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2"/>
          <p:cNvSpPr txBox="1"/>
          <p:nvPr/>
        </p:nvSpPr>
        <p:spPr>
          <a:xfrm>
            <a:off x="46177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461772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600" dirty="0"/>
          </a:p>
        </p:txBody>
      </p:sp>
      <p:sp>
        <p:nvSpPr>
          <p:cNvPr id="14" name="Text 14"/>
          <p:cNvSpPr txBox="1"/>
          <p:nvPr/>
        </p:nvSpPr>
        <p:spPr>
          <a:xfrm>
            <a:off x="4617720" y="36118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authorized users can MODIFY the data, and only in permitted ways. A student cannot edit their own grade.</a:t>
            </a:r>
            <a:endParaRPr lang="en-US" sz="1400" dirty="0"/>
          </a:p>
        </p:txBody>
      </p:sp>
      <p:sp>
        <p:nvSpPr>
          <p:cNvPr id="15" name="Shape 15"/>
          <p:cNvSpPr/>
          <p:nvPr/>
        </p:nvSpPr>
        <p:spPr>
          <a:xfrm>
            <a:off x="7955280" y="2057400"/>
            <a:ext cx="26517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8275320" y="23774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7"/>
          <p:cNvSpPr txBox="1"/>
          <p:nvPr/>
        </p:nvSpPr>
        <p:spPr>
          <a:xfrm>
            <a:off x="82753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8"/>
          <p:cNvSpPr txBox="1"/>
          <p:nvPr/>
        </p:nvSpPr>
        <p:spPr>
          <a:xfrm>
            <a:off x="8275320" y="3017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600" dirty="0"/>
          </a:p>
        </p:txBody>
      </p:sp>
      <p:sp>
        <p:nvSpPr>
          <p:cNvPr id="19" name="Text 19"/>
          <p:cNvSpPr txBox="1"/>
          <p:nvPr/>
        </p:nvSpPr>
        <p:spPr>
          <a:xfrm>
            <a:off x="8275320" y="3611880"/>
            <a:ext cx="2011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users can reach the data when they need it. Controls should not block legitimate access.</a:t>
            </a:r>
            <a:endParaRPr lang="en-US" sz="1400" dirty="0"/>
          </a:p>
        </p:txBody>
      </p:sp>
      <p:sp>
        <p:nvSpPr>
          <p:cNvPr id="20" name="Text 2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Users and Privileges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holds privileges: specific permissions on specific database objects.</a:t>
            </a:r>
            <a:endParaRPr lang="en-US" sz="18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40080" y="2103120"/>
          <a:ext cx="9966960" cy="3712464"/>
        </p:xfrm>
        <a:graphic>
          <a:graphicData uri="http://schemas.openxmlformats.org/drawingml/2006/table">
            <a:tbl>
              <a:tblPr firstRow="1" bandRow="1"/>
              <a:tblGrid>
                <a:gridCol w="2990088"/>
                <a:gridCol w="697687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Privilege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Lets the holder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rows from a table or view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new rows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Modify existing rows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rows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a stored procedure or function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PRIVILEGES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Shorthand for every applicable privilege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Text 6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Discretionary vs. Mandatory Access Control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640080" y="1463040"/>
            <a:ext cx="4846320" cy="4754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5" name="Shape 5"/>
          <p:cNvSpPr/>
          <p:nvPr/>
        </p:nvSpPr>
        <p:spPr>
          <a:xfrm>
            <a:off x="960120" y="1783080"/>
            <a:ext cx="2743200" cy="502920"/>
          </a:xfrm>
          <a:prstGeom prst="roundRect">
            <a:avLst>
              <a:gd name="adj" fmla="val 15000"/>
            </a:avLst>
          </a:prstGeom>
          <a:solidFill>
            <a:srgbClr val="2FE6C4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96012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Discretionary (DAC)</a:t>
            </a:r>
            <a:endParaRPr lang="en-US" sz="1500" dirty="0"/>
          </a:p>
        </p:txBody>
      </p:sp>
      <p:sp>
        <p:nvSpPr>
          <p:cNvPr id="7" name="Text 7"/>
          <p:cNvSpPr txBox="1"/>
          <p:nvPr/>
        </p:nvSpPr>
        <p:spPr>
          <a:xfrm>
            <a:off x="960120" y="251460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of an object, or an administrator, decides who gets which privileges.</a:t>
            </a:r>
            <a:endParaRPr lang="en-US" sz="1800" dirty="0"/>
          </a:p>
        </p:txBody>
      </p:sp>
      <p:sp>
        <p:nvSpPr>
          <p:cNvPr id="8" name="Text 8"/>
          <p:cNvSpPr txBox="1"/>
          <p:nvPr/>
        </p:nvSpPr>
        <p:spPr>
          <a:xfrm>
            <a:off x="960120" y="5349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GRANT and REVOKE implement, and what almost every relational DBMS uses.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5760720" y="1463040"/>
            <a:ext cx="4846320" cy="4754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6080760" y="1783080"/>
            <a:ext cx="2743200" cy="50292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/>
        </p:spPr>
      </p:sp>
      <p:sp>
        <p:nvSpPr>
          <p:cNvPr id="11" name="Text 11"/>
          <p:cNvSpPr txBox="1"/>
          <p:nvPr/>
        </p:nvSpPr>
        <p:spPr>
          <a:xfrm>
            <a:off x="608076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(MAC)</a:t>
            </a:r>
            <a:endParaRPr lang="en-US" sz="1500" dirty="0"/>
          </a:p>
        </p:txBody>
      </p:sp>
      <p:sp>
        <p:nvSpPr>
          <p:cNvPr id="12" name="Text 12"/>
          <p:cNvSpPr txBox="1"/>
          <p:nvPr/>
        </p:nvSpPr>
        <p:spPr>
          <a:xfrm>
            <a:off x="6080760" y="251460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and user has a fixed classification. Access follows a system-wide policy.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6080760" y="5349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government and military systems. This course focuses on DAC.</a:t>
            </a:r>
            <a:endParaRPr lang="en-US" sz="1400" dirty="0"/>
          </a:p>
        </p:txBody>
      </p:sp>
      <p:sp>
        <p:nvSpPr>
          <p:cNvPr id="14" name="Text 14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Granting Privileges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gives one or more privileges, on one object, to one or more users or roles.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GRANT statements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Staff TO usman;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SELECT, INSERT, UPDATE ON Staff TO usman, ayesha;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ALL PRIVILEGES ON Branch TO db_admin;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4006901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the recipient can use the privilege but cannot pass it along.</a:t>
            </a:r>
            <a:endParaRPr lang="en-US" sz="18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FINER CONTROL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Grants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grants restrict a privilege to specific columns only.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Finer-grained privileges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857707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UPDATE (position, salary) ON Staff TO hr_clerk;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EXECUTE ON ProcessPayroll TO payroll_service;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738067"/>
            <a:ext cx="9966960" cy="11887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3738067"/>
            <a:ext cx="82296" cy="118872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3738067"/>
            <a:ext cx="9464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hr_clerk can change position and salary, and nothing else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 a user must update some fields but never others on the same table.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FINER CONTROL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 with WITH GRANT OPTION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GRANT OPTION also lets the recipient grant the same privilege to others.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 the privilege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640080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Staff TO branch_manager WITH GRANT OPTION;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520440"/>
            <a:ext cx="9966960" cy="182880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3520440"/>
            <a:ext cx="9418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OPTION spreads responsibility, not just access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branch_manager can now run GRANT SELECT ON Staff TO someone_else without the DBA. Privilege chains can grow past what a single audit of top-level GRANTs shows, so use it sparingly.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Revoking Privileges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is the mirror image of GRANT, with matching syntax.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privileges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REVOKE UPDATE ON Staff FROM usman;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REVOKE ALL PRIVILEGES ON Branch FROM db_admin;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REVOKE SELECT ON Staff FROM branch_manager CASCADE;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822960" y="4006901"/>
            <a:ext cx="9784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Revoking a privilege granted WITH GRANT OPTION cascades: anything granted onward because of it is revoked too.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makes that explicit. Where supported, RESTRICT blocks a revoke that would cascade.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UP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Role-Based Access Control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Granting to dozens of individual users does not scale. RBAC adds one layer: a role is a named bundle of privileges.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377440"/>
            <a:ext cx="9966960" cy="9601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377440"/>
            <a:ext cx="82296" cy="96012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377440"/>
            <a:ext cx="9464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ROLE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named role, for example branch_staff.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5623560" y="3337560"/>
            <a:ext cx="914" cy="182880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9" name="Shape 9"/>
          <p:cNvSpPr/>
          <p:nvPr/>
        </p:nvSpPr>
        <p:spPr>
          <a:xfrm>
            <a:off x="640080" y="3566160"/>
            <a:ext cx="9966960" cy="9601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640080" y="3566160"/>
            <a:ext cx="82296" cy="960120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11" name="Text 11"/>
          <p:cNvSpPr txBox="1"/>
          <p:nvPr/>
        </p:nvSpPr>
        <p:spPr>
          <a:xfrm>
            <a:off x="978408" y="3566160"/>
            <a:ext cx="9464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GRANT privileges TO the role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every privilege the role needs, once.</a:t>
            </a:r>
            <a:endParaRPr lang="en-US" sz="1400" dirty="0"/>
          </a:p>
        </p:txBody>
      </p:sp>
      <p:sp>
        <p:nvSpPr>
          <p:cNvPr id="12" name="Shape 12"/>
          <p:cNvSpPr/>
          <p:nvPr/>
        </p:nvSpPr>
        <p:spPr>
          <a:xfrm>
            <a:off x="5623560" y="4526280"/>
            <a:ext cx="914" cy="182880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13" name="Shape 13"/>
          <p:cNvSpPr/>
          <p:nvPr/>
        </p:nvSpPr>
        <p:spPr>
          <a:xfrm>
            <a:off x="640080" y="4754880"/>
            <a:ext cx="9966960" cy="9601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0080" y="4754880"/>
            <a:ext cx="82296" cy="96012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15" name="Text 15"/>
          <p:cNvSpPr txBox="1"/>
          <p:nvPr/>
        </p:nvSpPr>
        <p:spPr>
          <a:xfrm>
            <a:off x="978408" y="4754880"/>
            <a:ext cx="9464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GRANT the role TO users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assigned user inherits the whole bundle immediately.</a:t>
            </a:r>
            <a:endParaRPr lang="en-US" sz="1400" dirty="0"/>
          </a:p>
        </p:txBody>
      </p:sp>
      <p:sp>
        <p:nvSpPr>
          <p:cNvPr id="16" name="Text 16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UP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in Practice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868680" y="121615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role once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40080" y="1600200"/>
            <a:ext cx="9966960" cy="1395374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6"/>
          <p:cNvSpPr txBox="1"/>
          <p:nvPr/>
        </p:nvSpPr>
        <p:spPr>
          <a:xfrm>
            <a:off x="868680" y="1746504"/>
            <a:ext cx="9509760" cy="1102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ROLE branch_staff;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SELECT, INSERT, UPDATE ON Staff TO branch_staff;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Branch TO branch_staff;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branch_staff TO usman, ayesha, hamza;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868680" y="316016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changes happen in one place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640080" y="3544214"/>
            <a:ext cx="9966960" cy="857707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9"/>
          <p:cNvSpPr txBox="1"/>
          <p:nvPr/>
        </p:nvSpPr>
        <p:spPr>
          <a:xfrm>
            <a:off x="868680" y="3690518"/>
            <a:ext cx="950976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DELETE ON Staff TO branch_staff;   -- everyone gets it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REVOKE branch_staff FROM hamza;          -- hamza loses it all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640080" y="4767682"/>
            <a:ext cx="9966960" cy="114300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914400" y="4767682"/>
            <a:ext cx="9418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to roles, assign users to roles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the other way around, unless a privilege is unique to one person.</a:t>
            </a:r>
            <a:endParaRPr lang="en-US" sz="1400" dirty="0"/>
          </a:p>
        </p:txBody>
      </p:sp>
      <p:sp>
        <p:nvSpPr>
          <p:cNvPr id="12" name="Text 12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Rules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authorization rule is the DBMS's internal record of which privilege a user or role holds on an object.</a:t>
            </a:r>
            <a:endParaRPr lang="en-US" sz="18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40080" y="2606040"/>
          <a:ext cx="9966960" cy="1508760"/>
        </p:xfrm>
        <a:graphic>
          <a:graphicData uri="http://schemas.openxmlformats.org/drawingml/2006/table">
            <a:tbl>
              <a:tblPr firstRow="1" bandRow="1"/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grantor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grantee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privilege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grantable?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usman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branch_manager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Shape 6"/>
          <p:cNvSpPr/>
          <p:nvPr/>
        </p:nvSpPr>
        <p:spPr>
          <a:xfrm>
            <a:off x="640080" y="4526280"/>
            <a:ext cx="9966960" cy="15544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914400" y="4526280"/>
            <a:ext cx="9418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 every single statement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matching rule means the statement is rejected outright, before anything executes. Authorization is not a one-time login check.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FOR SECURITY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Restricting Columns with a View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salary from anyone who is not HR, by granting on a restricted view instead.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restriction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395374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1102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StaffPublicInfo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staffNo, name, position, branchNo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StaffPublicInfo TO general_staff;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230014"/>
            <a:ext cx="9966960" cy="13258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230014"/>
            <a:ext cx="9418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a matter of discipline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general_staff never gets SELECT on Staff itself, so salary stays invisible to them.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FOR SECURITY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Restricting Rows with a View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each branch manager see only their own branch's staff.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restriction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664208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MyBranchStaff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staffNo, name, position, salary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branchNo = CURRENT_BRANCH();   -- resolved per session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MyBranchStaff TO branch_manager;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498848"/>
            <a:ext cx="9966960" cy="13258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498848"/>
            <a:ext cx="9418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around the filter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has no privilege on Staff itself, so querying the base table is not possible.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Authorization Commands</a:t>
            </a:r>
            <a:endParaRPr lang="en-US" sz="26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40080" y="1371600"/>
          <a:ext cx="9966960" cy="4608576"/>
        </p:xfrm>
        <a:graphic>
          <a:graphicData uri="http://schemas.openxmlformats.org/drawingml/2006/table">
            <a:tbl>
              <a:tblPr firstRow="1" bandRow="1"/>
              <a:tblGrid>
                <a:gridCol w="4983480"/>
                <a:gridCol w="4983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Command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GRANT &lt;priv&gt; ON &lt;obj&gt; TO &lt;user|role&gt;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Give privileges on an object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GRANT ... WITH GRANT 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Give privileges, plus the right to re-grant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REVOKE &lt;priv&gt; ON &lt;obj&gt; FROM &lt;user|role&gt;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 previously granted privileges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REVOKE ... CASCADE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Remove, and cascade to anything granted onward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ROLE &lt;name&gt;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Define a new named role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GRANT &lt;role&gt; TO &lt;user&gt;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Assign a user to a role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REVOKE &lt;role&gt; FROM &lt;user&gt;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 a user from a role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VIEW ... AS SELECT ...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Define a restricted row/column subset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5" name="Text 5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CONSIDERATIONS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real-world database attack: untrusted input concatenated directly into SQL.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attack works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933042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1640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Application builds this string from user input: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Staff WHERE staffNo = '" + userInput + "'"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Attacker submits, as userInput:   ' OR '1'='1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Statement actually executed: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Staff WHERE staffNo = '' OR '1'='1'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721962"/>
            <a:ext cx="9966960" cy="10972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721962"/>
            <a:ext cx="9418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every row is returned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filter is bypassed entirely. A chained payload can even run a second statement.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CONSIDERATIONS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Parameterized Queries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 parameterized query: user input is bound as a parameter and is never parsed as SQL.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statement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857707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getStaff AS SELECT * FROM Staff WHERE staffNo = $1;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 getStaff('SG37');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822960" y="3738067"/>
            <a:ext cx="9784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and parameterized queries are complementary, not substitutes.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perfectly parameterized app should connect with an account that holds only the privileges it needs.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GOVERNING PRINCIPLE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Least-Privilege Principle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 user, or an application's own database account, exactly the privileges its job requires, and nothing more.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651760"/>
            <a:ext cx="9966960" cy="11887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651760"/>
            <a:ext cx="82296" cy="118872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651760"/>
            <a:ext cx="9464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reporting dashboard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account needs SELECT and nothing else. It should never hold DELETE on any table.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114800"/>
            <a:ext cx="9966960" cy="118872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4114800"/>
            <a:ext cx="82296" cy="1188720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4114800"/>
            <a:ext cx="9464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or a successful injection cannot destroy data the account was never allowed to touch.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82296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3"/>
          <p:cNvSpPr/>
          <p:nvPr/>
        </p:nvSpPr>
        <p:spPr>
          <a:xfrm>
            <a:off x="822960" y="17282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4"/>
          <p:cNvSpPr txBox="1"/>
          <p:nvPr/>
        </p:nvSpPr>
        <p:spPr>
          <a:xfrm>
            <a:off x="1234440" y="15270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continuously decides who may do what to which data, resting on the CIA triad.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822960" y="26426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1234440" y="24414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implements discretionary access control: GRANT assigns privileges, REVOKE removes them, and WITH GRANT OPTION allows re-granting.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822960" y="35570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8"/>
          <p:cNvSpPr txBox="1"/>
          <p:nvPr/>
        </p:nvSpPr>
        <p:spPr>
          <a:xfrm>
            <a:off x="1234440" y="33558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privileges to roles and assign users to roles. One statement changes a whole policy.</a:t>
            </a:r>
            <a:endParaRPr lang="en-US" sz="1800" dirty="0"/>
          </a:p>
        </p:txBody>
      </p:sp>
      <p:sp>
        <p:nvSpPr>
          <p:cNvPr id="9" name="Shape 9"/>
          <p:cNvSpPr/>
          <p:nvPr/>
        </p:nvSpPr>
        <p:spPr>
          <a:xfrm>
            <a:off x="822960" y="44714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1234440" y="42702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double as security: grant on a restricted view instead of the base table to enforce row and column limits.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822960" y="53858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2" name="Text 12"/>
          <p:cNvSpPr txBox="1"/>
          <p:nvPr/>
        </p:nvSpPr>
        <p:spPr>
          <a:xfrm>
            <a:off x="1234440" y="51846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parameterized queries against SQL injection, and least privilege to limit the damage when a defense fails.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2026-09-29T15:21:23Z</dcterms:created>
  <dcterms:modified xsi:type="dcterms:W3CDTF">2026-09-29T15:21:23Z</dcterms:modified>
</cp:coreProperties>
</file>
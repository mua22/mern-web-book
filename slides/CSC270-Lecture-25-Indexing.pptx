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82735" y="-1463040"/>
            <a:ext cx="4206240" cy="4206240"/>
          </a:xfrm>
          <a:prstGeom prst="ellipse">
            <a:avLst/>
          </a:prstGeom>
          <a:solidFill>
            <a:srgbClr val="2FE6C4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362895" y="3291840"/>
            <a:ext cx="2926080" cy="2926080"/>
          </a:xfrm>
          <a:prstGeom prst="ellipse">
            <a:avLst/>
          </a:prstGeom>
          <a:solidFill>
            <a:srgbClr val="8B7FD9">
              <a:alpha val="14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1280160" y="4663440"/>
            <a:ext cx="3108960" cy="3108960"/>
          </a:xfrm>
          <a:prstGeom prst="ellipse">
            <a:avLst/>
          </a:prstGeom>
          <a:solidFill>
            <a:srgbClr val="E8A33D">
              <a:alpha val="10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55448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FE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CSC270 · DATABASE SYSTEMS · LECTURE 25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92024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Design — Query Performance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77440"/>
            <a:ext cx="100584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Indexing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160520"/>
            <a:ext cx="9326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CSC270 · Database Systems — COMSATS University Islamabad, Lahore Campus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563624"/>
            <a:ext cx="384048" cy="384048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6362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1490472"/>
            <a:ext cx="4663440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 index forces a full table scan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2404872"/>
            <a:ext cx="384048" cy="384048"/>
          </a:xfrm>
          <a:prstGeom prst="ellipse">
            <a:avLst/>
          </a:prstGeom>
          <a:solidFill>
            <a:srgbClr val="8B7FD9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240487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170432" y="2331720"/>
            <a:ext cx="4663440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indexes — built on the file's ordering key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40080" y="3246120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32461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170432" y="3172968"/>
            <a:ext cx="4663440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 indexes — for fields the file isn't sorted by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087368"/>
            <a:ext cx="384048" cy="384048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408736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170432" y="4014216"/>
            <a:ext cx="4663440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vs. sparse indexes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6309360" y="1563624"/>
            <a:ext cx="384048" cy="384048"/>
          </a:xfrm>
          <a:prstGeom prst="ellipse">
            <a:avLst/>
          </a:prstGeom>
          <a:solidFill>
            <a:srgbClr val="8B7FD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309360" y="156362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839712" y="1490472"/>
            <a:ext cx="4663440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Single-level vs. multi-level indexes (B-trees)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6309360" y="2404872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309360" y="240487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839712" y="2331720"/>
            <a:ext cx="4663440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CREATE INDEX SQL syntax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6309360" y="3246120"/>
            <a:ext cx="384048" cy="384048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309360" y="32461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839712" y="3172968"/>
            <a:ext cx="4663440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which columns are worth indexing</a:t>
            </a:r>
            <a:endParaRPr lang="en-US" sz="1450" dirty="0"/>
          </a:p>
        </p:txBody>
      </p:sp>
      <p:sp>
        <p:nvSpPr>
          <p:cNvPr id="24" name="Shape 22"/>
          <p:cNvSpPr/>
          <p:nvPr/>
        </p:nvSpPr>
        <p:spPr>
          <a:xfrm>
            <a:off x="6309360" y="4087368"/>
            <a:ext cx="384048" cy="384048"/>
          </a:xfrm>
          <a:prstGeom prst="ellipse">
            <a:avLst/>
          </a:prstGeom>
          <a:solidFill>
            <a:srgbClr val="8B7FD9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309360" y="408736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6839712" y="4014216"/>
            <a:ext cx="4663440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trade-off: faster reads, slower writes</a:t>
            </a:r>
            <a:endParaRPr lang="en-US" sz="1450" dirty="0"/>
          </a:p>
        </p:txBody>
      </p:sp>
      <p:sp>
        <p:nvSpPr>
          <p:cNvPr id="27" name="Text 25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Cost of Not Having an Index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3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170432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PropertyForRent with 10,000,000 rows across 500,000 disk blocks, and a query for propertyNo = 'PG21'.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27632"/>
            <a:ext cx="5349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AN INDEX — FULL TABLE SCAN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349240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22225">
            <a:solidFill>
              <a:srgbClr val="2FE6C4"/>
            </a:solidFill>
            <a:prstDash val="solid"/>
          </a:ln>
          <a:effectLst>
            <a:outerShdw sx="100000" sy="100000" kx="0" ky="0" algn="bl" rotWithShape="0" blurRad="76200" dist="25400" dir="5400000">
              <a:srgbClr val="1F2429">
                <a:alpha val="1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94944" y="2395728"/>
            <a:ext cx="91440" cy="310896"/>
          </a:xfrm>
          <a:prstGeom prst="rect">
            <a:avLst/>
          </a:prstGeom>
          <a:solidFill>
            <a:srgbClr val="2FE6C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14400" y="2039112"/>
            <a:ext cx="4800600" cy="5678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block 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2495946"/>
            <a:ext cx="4800600" cy="69403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every row — no match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23260" y="3227832"/>
            <a:ext cx="0" cy="256032"/>
          </a:xfrm>
          <a:prstGeom prst="line">
            <a:avLst/>
          </a:prstGeom>
          <a:noFill/>
          <a:ln w="25400">
            <a:solidFill>
              <a:srgbClr val="8A939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48640" y="3483864"/>
            <a:ext cx="5349240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22225">
            <a:solidFill>
              <a:srgbClr val="8B7FD9"/>
            </a:solidFill>
            <a:prstDash val="solid"/>
          </a:ln>
          <a:effectLst>
            <a:outerShdw sx="100000" sy="100000" kx="0" ky="0" algn="bl" rotWithShape="0" blurRad="76200" dist="25400" dir="5400000">
              <a:srgbClr val="1F2429">
                <a:alpha val="1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94944" y="3913632"/>
            <a:ext cx="91440" cy="310896"/>
          </a:xfrm>
          <a:prstGeom prst="rect">
            <a:avLst/>
          </a:prstGeom>
          <a:solidFill>
            <a:srgbClr val="8B7FD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3557016"/>
            <a:ext cx="4800600" cy="5678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block 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" y="4013850"/>
            <a:ext cx="4800600" cy="69403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every row — no match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223260" y="4745736"/>
            <a:ext cx="0" cy="256032"/>
          </a:xfrm>
          <a:prstGeom prst="line">
            <a:avLst/>
          </a:prstGeom>
          <a:noFill/>
          <a:ln w="25400">
            <a:solidFill>
              <a:srgbClr val="8A939B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48640" y="5001768"/>
            <a:ext cx="5349240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22225">
            <a:solidFill>
              <a:srgbClr val="E8A33D"/>
            </a:solidFill>
            <a:prstDash val="solid"/>
          </a:ln>
          <a:effectLst>
            <a:outerShdw sx="100000" sy="100000" kx="0" ky="0" algn="bl" rotWithShape="0" blurRad="76200" dist="25400" dir="5400000">
              <a:srgbClr val="1F2429">
                <a:alpha val="16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94944" y="5431536"/>
            <a:ext cx="91440" cy="310896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14400" y="5074920"/>
            <a:ext cx="4800600" cy="5678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 up to block 500,000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914400" y="5531754"/>
            <a:ext cx="4800600" cy="69403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case: read every block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263640" y="1627632"/>
            <a:ext cx="5349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FE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AN INDEX — DIRECT LOOKUP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63640" y="1965960"/>
            <a:ext cx="5349240" cy="1243584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22225">
            <a:solidFill>
              <a:srgbClr val="2FE6C4"/>
            </a:solidFill>
            <a:prstDash val="solid"/>
          </a:ln>
          <a:effectLst>
            <a:outerShdw sx="100000" sy="100000" kx="0" ky="0" algn="bl" rotWithShape="0" blurRad="76200" dist="25400" dir="5400000">
              <a:srgbClr val="1F2429">
                <a:alpha val="16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409944" y="2386584"/>
            <a:ext cx="91440" cy="310896"/>
          </a:xfrm>
          <a:prstGeom prst="rect">
            <a:avLst/>
          </a:prstGeom>
          <a:solidFill>
            <a:srgbClr val="2FE6C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629400" y="2039112"/>
            <a:ext cx="4800600" cy="55961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up PG21 in the index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629400" y="2488265"/>
            <a:ext cx="4800600" cy="68397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handful of comparisons, not 500,000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938260" y="3209544"/>
            <a:ext cx="0" cy="256032"/>
          </a:xfrm>
          <a:prstGeom prst="line">
            <a:avLst/>
          </a:prstGeom>
          <a:noFill/>
          <a:ln w="25400">
            <a:solidFill>
              <a:srgbClr val="8A939B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6263640" y="3465576"/>
            <a:ext cx="5349240" cy="1243584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22225">
            <a:solidFill>
              <a:srgbClr val="8B7FD9"/>
            </a:solidFill>
            <a:prstDash val="solid"/>
          </a:ln>
          <a:effectLst>
            <a:outerShdw sx="100000" sy="100000" kx="0" ky="0" algn="bl" rotWithShape="0" blurRad="76200" dist="25400" dir="5400000">
              <a:srgbClr val="1F2429">
                <a:alpha val="16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409944" y="3886200"/>
            <a:ext cx="91440" cy="310896"/>
          </a:xfrm>
          <a:prstGeom prst="rect">
            <a:avLst/>
          </a:prstGeom>
          <a:solidFill>
            <a:srgbClr val="8B7FD9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629400" y="3538728"/>
            <a:ext cx="4800600" cy="55961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pointer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6629400" y="3987881"/>
            <a:ext cx="4800600" cy="68397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Jump straight to block 214,009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263640" y="4892040"/>
            <a:ext cx="534924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9050">
            <a:solidFill>
              <a:srgbClr val="8B7FD9"/>
            </a:solidFill>
            <a:prstDash val="solid"/>
          </a:ln>
          <a:effectLst>
            <a:outerShdw sx="100000" sy="100000" kx="0" ky="0" algn="bl" rotWithShape="0" blurRad="50800" dist="12700" dir="5400000">
              <a:srgbClr val="1F2429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446520" y="5056632"/>
            <a:ext cx="274320" cy="82296"/>
          </a:xfrm>
          <a:prstGeom prst="rect">
            <a:avLst/>
          </a:prstGeom>
          <a:solidFill>
            <a:srgbClr val="8B7FD9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446520" y="5184648"/>
            <a:ext cx="4983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6446520" y="5440680"/>
            <a:ext cx="4983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index is a small, separate structure mapping field values directly to the block/row that holds them — the DBMS jumps to the answer instead of scanning for it.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ORDERED FILES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Indexes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4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14300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the field the data file is physically ordered by — almost always the primary key. One entry per distinct key value, pointing to the first record with that value.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745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index on PropertyForRent(propertyNo) — file ordered by propertyNo</a:t>
            </a:r>
            <a:endParaRPr lang="en-US" sz="12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40280"/>
          <a:ext cx="6583680" cy="2743200"/>
        </p:xfrm>
        <a:graphic>
          <a:graphicData uri="http://schemas.openxmlformats.org/drawingml/2006/table">
            <a:tbl>
              <a:tblPr/>
              <a:tblGrid>
                <a:gridCol w="3840480"/>
                <a:gridCol w="27432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Index entry: propertyNo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Pointer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PA14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 block 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PG4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 block 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PG21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 block 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PG36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 block 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PL94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 block 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7452360" y="2240280"/>
            <a:ext cx="416052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 w="19050">
            <a:solidFill>
              <a:srgbClr val="8B7FD9"/>
            </a:solidFill>
            <a:prstDash val="solid"/>
          </a:ln>
          <a:effectLst>
            <a:outerShdw sx="100000" sy="100000" kx="0" ky="0" algn="bl" rotWithShape="0" blurRad="50800" dist="12700" dir="5400000">
              <a:srgbClr val="1F2429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635240" y="2404872"/>
            <a:ext cx="274320" cy="82296"/>
          </a:xfrm>
          <a:prstGeom prst="rect">
            <a:avLst/>
          </a:prstGeom>
          <a:solidFill>
            <a:srgbClr val="8B7FD9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635240" y="2532888"/>
            <a:ext cx="3794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ASSUMES AN ORDERED FILE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7635240" y="2788920"/>
            <a:ext cx="379476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only works because the file is physically stored in propertyNo order. If unordered (the common case), no primary index is possible — you'd need a clustering index or a secondary index instead.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NON-ORDERING FIELDS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 Indexes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5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14300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useful queries filter on a field the file isn't ordered by — e.g. “find all properties in Lahore.” A secondary index must have one entry for every record, since matching rows can be scattered anywhere in the file.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745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 index on PropertyForRent(city)</a:t>
            </a:r>
            <a:endParaRPr lang="en-US" sz="12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40280"/>
          <a:ext cx="6583680" cy="2743200"/>
        </p:xfrm>
        <a:graphic>
          <a:graphicData uri="http://schemas.openxmlformats.org/drawingml/2006/table">
            <a:tbl>
              <a:tblPr/>
              <a:tblGrid>
                <a:gridCol w="3840480"/>
                <a:gridCol w="27432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Index entry: city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Pointer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Islamabad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 PA14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Karachi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 PL94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Lahore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 PG4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Lahore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 PG36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Lahore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 PG21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7452360" y="2240280"/>
            <a:ext cx="416052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 w="19050">
            <a:solidFill>
              <a:srgbClr val="E8A33D"/>
            </a:solidFill>
            <a:prstDash val="solid"/>
          </a:ln>
          <a:effectLst>
            <a:outerShdw sx="100000" sy="100000" kx="0" ky="0" algn="bl" rotWithShape="0" blurRad="50800" dist="12700" dir="5400000">
              <a:srgbClr val="1F2429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635240" y="2404872"/>
            <a:ext cx="274320" cy="82296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635240" y="2532888"/>
            <a:ext cx="3794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LAHORE REPEATS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7635240" y="2788920"/>
            <a:ext cx="379476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Lahore appears three times — once per matching record — because a secondary index can't compress multiple rows into one entry the way a primary index can. This is the direct cause of the dense-vs-sparse distinction next.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SHAPE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and Sparse Indexes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6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188720"/>
            <a:ext cx="5349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INDEX — 1 ENTRY / RECORD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536192"/>
            <a:ext cx="5349240" cy="764438"/>
          </a:xfrm>
          <a:prstGeom prst="roundRect">
            <a:avLst>
              <a:gd name="adj" fmla="val 9569"/>
            </a:avLst>
          </a:prstGeom>
          <a:solidFill>
            <a:srgbClr val="FFFFFF"/>
          </a:solidFill>
          <a:ln w="22225">
            <a:solidFill>
              <a:srgbClr val="2FE6C4"/>
            </a:solidFill>
            <a:prstDash val="solid"/>
          </a:ln>
          <a:effectLst>
            <a:outerShdw sx="100000" sy="100000" kx="0" ky="0" algn="bl" rotWithShape="0" blurRad="76200" dist="25400" dir="5400000">
              <a:srgbClr val="1F2429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94944" y="1717243"/>
            <a:ext cx="91440" cy="310896"/>
          </a:xfrm>
          <a:prstGeom prst="rect">
            <a:avLst/>
          </a:prstGeom>
          <a:solidFill>
            <a:srgbClr val="2FE6C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14400" y="1609344"/>
            <a:ext cx="4800600" cy="34399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PA14 → record 1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223260" y="2300630"/>
            <a:ext cx="0" cy="256032"/>
          </a:xfrm>
          <a:prstGeom prst="line">
            <a:avLst/>
          </a:prstGeom>
          <a:noFill/>
          <a:ln w="25400">
            <a:solidFill>
              <a:srgbClr val="8A939B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48640" y="2556662"/>
            <a:ext cx="5349240" cy="764438"/>
          </a:xfrm>
          <a:prstGeom prst="roundRect">
            <a:avLst>
              <a:gd name="adj" fmla="val 9569"/>
            </a:avLst>
          </a:prstGeom>
          <a:solidFill>
            <a:srgbClr val="FFFFFF"/>
          </a:solidFill>
          <a:ln w="22225">
            <a:solidFill>
              <a:srgbClr val="8B7FD9"/>
            </a:solidFill>
            <a:prstDash val="solid"/>
          </a:ln>
          <a:effectLst>
            <a:outerShdw sx="100000" sy="100000" kx="0" ky="0" algn="bl" rotWithShape="0" blurRad="76200" dist="25400" dir="5400000">
              <a:srgbClr val="1F2429">
                <a:alpha val="1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94944" y="2737714"/>
            <a:ext cx="91440" cy="310896"/>
          </a:xfrm>
          <a:prstGeom prst="rect">
            <a:avLst/>
          </a:prstGeom>
          <a:solidFill>
            <a:srgbClr val="8B7F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14400" y="2629814"/>
            <a:ext cx="4800600" cy="34399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PG4 → record 2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223260" y="3321101"/>
            <a:ext cx="0" cy="256032"/>
          </a:xfrm>
          <a:prstGeom prst="line">
            <a:avLst/>
          </a:prstGeom>
          <a:noFill/>
          <a:ln w="25400">
            <a:solidFill>
              <a:srgbClr val="8A939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48640" y="3577133"/>
            <a:ext cx="5349240" cy="764438"/>
          </a:xfrm>
          <a:prstGeom prst="roundRect">
            <a:avLst>
              <a:gd name="adj" fmla="val 9569"/>
            </a:avLst>
          </a:prstGeom>
          <a:solidFill>
            <a:srgbClr val="FFFFFF"/>
          </a:solidFill>
          <a:ln w="22225">
            <a:solidFill>
              <a:srgbClr val="E8A33D"/>
            </a:solidFill>
            <a:prstDash val="solid"/>
          </a:ln>
          <a:effectLst>
            <a:outerShdw sx="100000" sy="100000" kx="0" ky="0" algn="bl" rotWithShape="0" blurRad="76200" dist="25400" dir="5400000">
              <a:srgbClr val="1F2429">
                <a:alpha val="1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94944" y="3758184"/>
            <a:ext cx="91440" cy="310896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3650285"/>
            <a:ext cx="4800600" cy="34399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PG21 → record 3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223260" y="4341571"/>
            <a:ext cx="0" cy="256032"/>
          </a:xfrm>
          <a:prstGeom prst="line">
            <a:avLst/>
          </a:prstGeom>
          <a:noFill/>
          <a:ln w="25400">
            <a:solidFill>
              <a:srgbClr val="8A939B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48640" y="4597603"/>
            <a:ext cx="5349240" cy="764438"/>
          </a:xfrm>
          <a:prstGeom prst="roundRect">
            <a:avLst>
              <a:gd name="adj" fmla="val 9569"/>
            </a:avLst>
          </a:prstGeom>
          <a:solidFill>
            <a:srgbClr val="FFFFFF"/>
          </a:solidFill>
          <a:ln w="22225">
            <a:solidFill>
              <a:srgbClr val="2FE6C4"/>
            </a:solidFill>
            <a:prstDash val="solid"/>
          </a:ln>
          <a:effectLst>
            <a:outerShdw sx="100000" sy="100000" kx="0" ky="0" algn="bl" rotWithShape="0" blurRad="76200" dist="25400" dir="5400000">
              <a:srgbClr val="1F2429">
                <a:alpha val="1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94944" y="4778654"/>
            <a:ext cx="91440" cy="310896"/>
          </a:xfrm>
          <a:prstGeom prst="rect">
            <a:avLst/>
          </a:prstGeom>
          <a:solidFill>
            <a:srgbClr val="2FE6C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4400" y="4670755"/>
            <a:ext cx="4800600" cy="34399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PG36 → record 4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3223260" y="5362042"/>
            <a:ext cx="0" cy="256032"/>
          </a:xfrm>
          <a:prstGeom prst="line">
            <a:avLst/>
          </a:prstGeom>
          <a:noFill/>
          <a:ln w="25400">
            <a:solidFill>
              <a:srgbClr val="8A939B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548640" y="5618074"/>
            <a:ext cx="5349240" cy="764438"/>
          </a:xfrm>
          <a:prstGeom prst="roundRect">
            <a:avLst>
              <a:gd name="adj" fmla="val 9569"/>
            </a:avLst>
          </a:prstGeom>
          <a:solidFill>
            <a:srgbClr val="FFFFFF"/>
          </a:solidFill>
          <a:ln w="22225">
            <a:solidFill>
              <a:srgbClr val="8B7FD9"/>
            </a:solidFill>
            <a:prstDash val="solid"/>
          </a:ln>
          <a:effectLst>
            <a:outerShdw sx="100000" sy="100000" kx="0" ky="0" algn="bl" rotWithShape="0" blurRad="76200" dist="25400" dir="5400000">
              <a:srgbClr val="1F2429">
                <a:alpha val="16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94944" y="5799125"/>
            <a:ext cx="91440" cy="310896"/>
          </a:xfrm>
          <a:prstGeom prst="rect">
            <a:avLst/>
          </a:prstGeom>
          <a:solidFill>
            <a:srgbClr val="8B7FD9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14400" y="5691226"/>
            <a:ext cx="4800600" cy="34399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PL94 → record 5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263640" y="1188720"/>
            <a:ext cx="5349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FE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SPARSE INDEX — 1 ENTRY / BLOCK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263640" y="1536192"/>
            <a:ext cx="5349240" cy="789432"/>
          </a:xfrm>
          <a:prstGeom prst="roundRect">
            <a:avLst>
              <a:gd name="adj" fmla="val 9266"/>
            </a:avLst>
          </a:prstGeom>
          <a:solidFill>
            <a:srgbClr val="FFFFFF"/>
          </a:solidFill>
          <a:ln w="22225">
            <a:solidFill>
              <a:srgbClr val="2FE6C4"/>
            </a:solidFill>
            <a:prstDash val="solid"/>
          </a:ln>
          <a:effectLst>
            <a:outerShdw sx="100000" sy="100000" kx="0" ky="0" algn="bl" rotWithShape="0" blurRad="76200" dist="25400" dir="5400000">
              <a:srgbClr val="1F2429">
                <a:alpha val="16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409944" y="1729740"/>
            <a:ext cx="91440" cy="310896"/>
          </a:xfrm>
          <a:prstGeom prst="rect">
            <a:avLst/>
          </a:prstGeom>
          <a:solidFill>
            <a:srgbClr val="2FE6C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629400" y="1609344"/>
            <a:ext cx="4800600" cy="3552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PA14 → block 1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6629400" y="1867753"/>
            <a:ext cx="4800600" cy="4341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PA14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938260" y="2325624"/>
            <a:ext cx="0" cy="256032"/>
          </a:xfrm>
          <a:prstGeom prst="line">
            <a:avLst/>
          </a:prstGeom>
          <a:noFill/>
          <a:ln w="25400">
            <a:solidFill>
              <a:srgbClr val="8A939B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6263640" y="2581656"/>
            <a:ext cx="5349240" cy="789432"/>
          </a:xfrm>
          <a:prstGeom prst="roundRect">
            <a:avLst>
              <a:gd name="adj" fmla="val 9266"/>
            </a:avLst>
          </a:prstGeom>
          <a:solidFill>
            <a:srgbClr val="FFFFFF"/>
          </a:solidFill>
          <a:ln w="22225">
            <a:solidFill>
              <a:srgbClr val="8B7FD9"/>
            </a:solidFill>
            <a:prstDash val="solid"/>
          </a:ln>
          <a:effectLst>
            <a:outerShdw sx="100000" sy="100000" kx="0" ky="0" algn="bl" rotWithShape="0" blurRad="76200" dist="25400" dir="5400000">
              <a:srgbClr val="1F2429">
                <a:alpha val="16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409944" y="2775204"/>
            <a:ext cx="91440" cy="310896"/>
          </a:xfrm>
          <a:prstGeom prst="rect">
            <a:avLst/>
          </a:prstGeom>
          <a:solidFill>
            <a:srgbClr val="8B7FD9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629400" y="2654808"/>
            <a:ext cx="4800600" cy="3552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PG4 → block 2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6629400" y="2913217"/>
            <a:ext cx="4800600" cy="4341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PG4, PG21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8938260" y="3371088"/>
            <a:ext cx="0" cy="256032"/>
          </a:xfrm>
          <a:prstGeom prst="line">
            <a:avLst/>
          </a:prstGeom>
          <a:noFill/>
          <a:ln w="25400">
            <a:solidFill>
              <a:srgbClr val="8A939B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6263640" y="3627120"/>
            <a:ext cx="5349240" cy="789432"/>
          </a:xfrm>
          <a:prstGeom prst="roundRect">
            <a:avLst>
              <a:gd name="adj" fmla="val 9266"/>
            </a:avLst>
          </a:prstGeom>
          <a:solidFill>
            <a:srgbClr val="FFFFFF"/>
          </a:solidFill>
          <a:ln w="22225">
            <a:solidFill>
              <a:srgbClr val="E8A33D"/>
            </a:solidFill>
            <a:prstDash val="solid"/>
          </a:ln>
          <a:effectLst>
            <a:outerShdw sx="100000" sy="100000" kx="0" ky="0" algn="bl" rotWithShape="0" blurRad="76200" dist="25400" dir="5400000">
              <a:srgbClr val="1F2429">
                <a:alpha val="16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409944" y="3820668"/>
            <a:ext cx="91440" cy="310896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629400" y="3700272"/>
            <a:ext cx="4800600" cy="3552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PG36 → block 3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6629400" y="3958681"/>
            <a:ext cx="4800600" cy="4341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PG36, PL94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263640" y="4572000"/>
            <a:ext cx="5349240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9050">
            <a:solidFill>
              <a:srgbClr val="8B7FD9"/>
            </a:solidFill>
            <a:prstDash val="solid"/>
          </a:ln>
          <a:effectLst>
            <a:outerShdw sx="100000" sy="100000" kx="0" ky="0" algn="bl" rotWithShape="0" blurRad="50800" dist="12700" dir="5400000">
              <a:srgbClr val="1F2429">
                <a:alpha val="12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446520" y="4736592"/>
            <a:ext cx="274320" cy="82296"/>
          </a:xfrm>
          <a:prstGeom prst="rect">
            <a:avLst/>
          </a:prstGeom>
          <a:solidFill>
            <a:srgbClr val="8B7FD9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446520" y="4864608"/>
            <a:ext cx="4983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ONE SPARSE INDEX PER TABLE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6446520" y="5120640"/>
            <a:ext cx="498348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sparse index is smaller and faster to search, but only possible on the field the file is physically ordered by — so a table has at most one sparse (primary) index but many dense (secondary) indexes.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SCALING THE INDEX ITSELF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Single-Level and Multi-Level Indexes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7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143000"/>
            <a:ext cx="11064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index over ten million rows is itself a large file. The fix: build an index on the index — a multi-level index, the structure underlying every production B-tree/B+-tree.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7040880" cy="1274064"/>
          </a:xfrm>
          <a:prstGeom prst="roundRect">
            <a:avLst>
              <a:gd name="adj" fmla="val 5024"/>
            </a:avLst>
          </a:prstGeom>
          <a:solidFill>
            <a:srgbClr val="FFFFFF"/>
          </a:solidFill>
          <a:ln w="22225">
            <a:solidFill>
              <a:srgbClr val="2FE6C4"/>
            </a:solidFill>
            <a:prstDash val="solid"/>
          </a:ln>
          <a:effectLst>
            <a:outerShdw sx="100000" sy="100000" kx="0" ky="0" algn="bl" rotWithShape="0" blurRad="63500" dist="25400" dir="5400000">
              <a:srgbClr val="1F2429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2209800"/>
            <a:ext cx="100584" cy="329184"/>
          </a:xfrm>
          <a:prstGeom prst="rect">
            <a:avLst/>
          </a:prstGeom>
          <a:solidFill>
            <a:srgbClr val="2FE6C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87552" y="1810512"/>
            <a:ext cx="6400800" cy="61155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Top-level (second-level) index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2323429"/>
            <a:ext cx="6400800" cy="637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enough to fit in one block — one entry per block of the level below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3157728"/>
            <a:ext cx="7040880" cy="1274064"/>
          </a:xfrm>
          <a:prstGeom prst="roundRect">
            <a:avLst>
              <a:gd name="adj" fmla="val 5024"/>
            </a:avLst>
          </a:prstGeom>
          <a:solidFill>
            <a:srgbClr val="FFFFFF"/>
          </a:solidFill>
          <a:ln w="22225">
            <a:solidFill>
              <a:srgbClr val="8B7FD9"/>
            </a:solidFill>
            <a:prstDash val="solid"/>
          </a:ln>
          <a:effectLst>
            <a:outerShdw sx="100000" sy="100000" kx="0" ky="0" algn="bl" rotWithShape="0" blurRad="63500" dist="25400" dir="5400000">
              <a:srgbClr val="1F2429">
                <a:alpha val="1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31520" y="3630168"/>
            <a:ext cx="100584" cy="329184"/>
          </a:xfrm>
          <a:prstGeom prst="rect">
            <a:avLst/>
          </a:prstGeom>
          <a:solidFill>
            <a:srgbClr val="8B7F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87552" y="3230880"/>
            <a:ext cx="6400800" cy="61155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First-level index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987552" y="3743797"/>
            <a:ext cx="6400800" cy="637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entry per data block, exactly like a single-level index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4578096"/>
            <a:ext cx="7040880" cy="1274064"/>
          </a:xfrm>
          <a:prstGeom prst="roundRect">
            <a:avLst>
              <a:gd name="adj" fmla="val 5024"/>
            </a:avLst>
          </a:prstGeom>
          <a:solidFill>
            <a:srgbClr val="FFFFFF"/>
          </a:solidFill>
          <a:ln w="22225">
            <a:solidFill>
              <a:srgbClr val="E8A33D"/>
            </a:solidFill>
            <a:prstDash val="solid"/>
          </a:ln>
          <a:effectLst>
            <a:outerShdw sx="100000" sy="100000" kx="0" ky="0" algn="bl" rotWithShape="0" blurRad="63500" dist="25400" dir="5400000">
              <a:srgbClr val="1F2429">
                <a:alpha val="1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31520" y="5050536"/>
            <a:ext cx="100584" cy="329184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87552" y="4651248"/>
            <a:ext cx="6400800" cy="61155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file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987552" y="5164165"/>
            <a:ext cx="6400800" cy="637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PropertyForRent rows, in disk blocks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818120" y="1737360"/>
            <a:ext cx="3794760" cy="4114800"/>
          </a:xfrm>
          <a:prstGeom prst="roundRect">
            <a:avLst>
              <a:gd name="adj" fmla="val 1687"/>
            </a:avLst>
          </a:prstGeom>
          <a:solidFill>
            <a:srgbClr val="FFFFFF"/>
          </a:solidFill>
          <a:ln w="19050">
            <a:solidFill>
              <a:srgbClr val="2FE6C4"/>
            </a:solidFill>
            <a:prstDash val="solid"/>
          </a:ln>
          <a:effectLst>
            <a:outerShdw sx="100000" sy="100000" kx="0" ky="0" algn="bl" rotWithShape="0" blurRad="50800" dist="12700" dir="5400000">
              <a:srgbClr val="1F2429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001000" y="1901952"/>
            <a:ext cx="274320" cy="82296"/>
          </a:xfrm>
          <a:prstGeom prst="rect">
            <a:avLst/>
          </a:prstGeom>
          <a:solidFill>
            <a:srgbClr val="2FE6C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001000" y="2029968"/>
            <a:ext cx="3429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FE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IS O(LOG N)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8001000" y="2286000"/>
            <a:ext cx="3429000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level divides the search space by roughly the same factor — the entries that fit in one block. That's exactly what gives B-tree indexes their logarithmic lookup cost, versus a full scan's linear O(n) cost, even as a table grows into the billions of rows.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SYNTAX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Creating Indexes in SQL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8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never build index structures yourself — the DBMS does it once you name the column(s).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11064240" cy="4480560"/>
          </a:xfrm>
          <a:prstGeom prst="roundRect">
            <a:avLst>
              <a:gd name="adj" fmla="val 1633"/>
            </a:avLst>
          </a:prstGeom>
          <a:solidFill>
            <a:srgbClr val="1F2429"/>
          </a:solidFill>
          <a:ln w="19050">
            <a:solidFill>
              <a:srgbClr val="2FE6C4"/>
            </a:solidFill>
            <a:prstDash val="solid"/>
          </a:ln>
          <a:effectLst>
            <a:outerShdw sx="100000" sy="100000" kx="0" ky="0" algn="bl" rotWithShape="0" blurRad="76200" dist="25400" dir="5400000">
              <a:srgbClr val="14181C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13232" y="1746504"/>
            <a:ext cx="100584" cy="10058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" y="1746504"/>
            <a:ext cx="100584" cy="100584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9" name="Shape 7"/>
          <p:cNvSpPr/>
          <p:nvPr/>
        </p:nvSpPr>
        <p:spPr>
          <a:xfrm>
            <a:off x="1024128" y="1746504"/>
            <a:ext cx="100584" cy="100584"/>
          </a:xfrm>
          <a:prstGeom prst="ellipse">
            <a:avLst/>
          </a:prstGeom>
          <a:solidFill>
            <a:srgbClr val="8B7FD9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418320" y="16916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841248" y="2020824"/>
            <a:ext cx="10515600" cy="39136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7C87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A simple secondary index on one column</a:t>
            </a:r>
            <a:endParaRPr lang="en-US" sz="13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E8ED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INDEX idx_property_city</a:t>
            </a:r>
            <a:endParaRPr lang="en-US" sz="13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E8ED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 PropertyForRent (city);</a:t>
            </a:r>
            <a:endParaRPr lang="en-US" sz="13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E8ED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7C87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A unique index -- also enforces that no two rows may share a value</a:t>
            </a:r>
            <a:endParaRPr lang="en-US" sz="13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E8ED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UNIQUE INDEX idx_property_no</a:t>
            </a:r>
            <a:endParaRPr lang="en-US" sz="13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E8ED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 PropertyForRent (propertyNo);</a:t>
            </a:r>
            <a:endParaRPr lang="en-US" sz="13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E8ED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7C87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A composite (multi-column) index -- useful for queries filtering on both</a:t>
            </a:r>
            <a:endParaRPr lang="en-US" sz="13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E8ED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INDEX idx_property_city_rent</a:t>
            </a:r>
            <a:endParaRPr lang="en-US" sz="13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E8ED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 PropertyForRent (city, rent);</a:t>
            </a:r>
            <a:endParaRPr lang="en-US" sz="13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E8ED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7C87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Removing an index that is no longer earning its cost</a:t>
            </a:r>
            <a:endParaRPr lang="en-US" sz="13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E8ED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DROP INDEX idx_property_city;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DECISION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Selection and Performance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5372100" cy="1394460"/>
          </a:xfrm>
          <a:prstGeom prst="roundRect">
            <a:avLst>
              <a:gd name="adj" fmla="val 5246"/>
            </a:avLst>
          </a:prstGeom>
          <a:solidFill>
            <a:srgbClr val="FFFFFF"/>
          </a:solidFill>
          <a:ln w="22225">
            <a:solidFill>
              <a:srgbClr val="2FE6C4"/>
            </a:solidFill>
            <a:prstDash val="solid"/>
          </a:ln>
          <a:effectLst>
            <a:outerShdw sx="100000" sy="100000" kx="0" ky="0" algn="bl" rotWithShape="0" blurRad="63500" dist="25400" dir="5400000">
              <a:srgbClr val="1F2429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13232" y="1335024"/>
            <a:ext cx="201168" cy="201168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05840" y="1280160"/>
            <a:ext cx="47320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selectivity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1691640"/>
            <a:ext cx="4969764" cy="8001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distinct values (propertyNo, email). A 2-value column like isActive barely benefits.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240780" y="1188720"/>
            <a:ext cx="5372100" cy="1394460"/>
          </a:xfrm>
          <a:prstGeom prst="roundRect">
            <a:avLst>
              <a:gd name="adj" fmla="val 5246"/>
            </a:avLst>
          </a:prstGeom>
          <a:solidFill>
            <a:srgbClr val="FFFFFF"/>
          </a:solidFill>
          <a:ln w="22225">
            <a:solidFill>
              <a:srgbClr val="8B7FD9"/>
            </a:solidFill>
            <a:prstDash val="solid"/>
          </a:ln>
          <a:effectLst>
            <a:outerShdw sx="100000" sy="100000" kx="0" ky="0" algn="bl" rotWithShape="0" blurRad="63500" dist="25400" dir="5400000">
              <a:srgbClr val="1F2429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5372" y="1335024"/>
            <a:ext cx="201168" cy="201168"/>
          </a:xfrm>
          <a:prstGeom prst="ellipse">
            <a:avLst/>
          </a:prstGeom>
          <a:solidFill>
            <a:srgbClr val="8B7FD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697980" y="1280160"/>
            <a:ext cx="47320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Foreign keys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6441948" y="1691640"/>
            <a:ext cx="4969764" cy="8001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always worth indexing — constantly used in joins.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2857500"/>
            <a:ext cx="5372100" cy="1394460"/>
          </a:xfrm>
          <a:prstGeom prst="roundRect">
            <a:avLst>
              <a:gd name="adj" fmla="val 5246"/>
            </a:avLst>
          </a:prstGeom>
          <a:solidFill>
            <a:srgbClr val="FFFFFF"/>
          </a:solidFill>
          <a:ln w="22225">
            <a:solidFill>
              <a:srgbClr val="E8A33D"/>
            </a:solidFill>
            <a:prstDash val="solid"/>
          </a:ln>
          <a:effectLst>
            <a:outerShdw sx="100000" sy="100000" kx="0" ky="0" algn="bl" rotWithShape="0" blurRad="63500" dist="25400" dir="5400000">
              <a:srgbClr val="1F2429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13232" y="3003804"/>
            <a:ext cx="201168" cy="20116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005840" y="2948940"/>
            <a:ext cx="47320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Columns in WHERE clauses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749808" y="3360420"/>
            <a:ext cx="4969764" cy="8001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 run often, against large tables, are the clearest case.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240780" y="2857500"/>
            <a:ext cx="5372100" cy="1394460"/>
          </a:xfrm>
          <a:prstGeom prst="roundRect">
            <a:avLst>
              <a:gd name="adj" fmla="val 5246"/>
            </a:avLst>
          </a:prstGeom>
          <a:solidFill>
            <a:srgbClr val="FFFFFF"/>
          </a:solidFill>
          <a:ln w="22225">
            <a:solidFill>
              <a:srgbClr val="2FE6C4"/>
            </a:solidFill>
            <a:prstDash val="solid"/>
          </a:ln>
          <a:effectLst>
            <a:outerShdw sx="100000" sy="100000" kx="0" ky="0" algn="bl" rotWithShape="0" blurRad="63500" dist="25400" dir="5400000">
              <a:srgbClr val="1F2429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5372" y="3003804"/>
            <a:ext cx="201168" cy="201168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97980" y="2948940"/>
            <a:ext cx="47320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Columns in ORDER BY / JOIN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6441948" y="3360420"/>
            <a:ext cx="4969764" cy="8001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index on the sort/join column can skip a separate sort step entirely.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48640" y="4389120"/>
            <a:ext cx="11064240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 w="19050">
            <a:solidFill>
              <a:srgbClr val="E8A33D"/>
            </a:solidFill>
            <a:prstDash val="solid"/>
          </a:ln>
          <a:effectLst>
            <a:outerShdw sx="100000" sy="100000" kx="0" ky="0" algn="bl" rotWithShape="0" blurRad="50800" dist="12700" dir="5400000">
              <a:srgbClr val="1F2429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31520" y="4553712"/>
            <a:ext cx="274320" cy="82296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31520" y="4681728"/>
            <a:ext cx="10698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INDEXING EVERYTHING IS NOT A SHORTCUT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493776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index must be updated on every INSERT/UPDATE/DELETE that touches the column — over-indexing slows writes dramatically without benefit. Index selection is a real design decision driven by the actual query workload, not “more is always better.”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TRADE-OFF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Advantages and Disadvantages of Indexing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10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188720"/>
            <a:ext cx="5349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FE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ADVANTAGES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536192"/>
            <a:ext cx="5349240" cy="1444752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22225">
            <a:solidFill>
              <a:srgbClr val="2FE6C4"/>
            </a:solidFill>
            <a:prstDash val="solid"/>
          </a:ln>
          <a:effectLst>
            <a:outerShdw sx="100000" sy="100000" kx="0" ky="0" algn="bl" rotWithShape="0" blurRad="76200" dist="25400" dir="5400000">
              <a:srgbClr val="1F2429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94944" y="2057400"/>
            <a:ext cx="91440" cy="310896"/>
          </a:xfrm>
          <a:prstGeom prst="rect">
            <a:avLst/>
          </a:prstGeom>
          <a:solidFill>
            <a:srgbClr val="2FE6C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14400" y="1609344"/>
            <a:ext cx="4800600" cy="65013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Much faster reads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2142988"/>
            <a:ext cx="4800600" cy="79461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O(log n) lookups instead of O(n) scans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23260" y="2980944"/>
            <a:ext cx="0" cy="256032"/>
          </a:xfrm>
          <a:prstGeom prst="line">
            <a:avLst/>
          </a:prstGeom>
          <a:noFill/>
          <a:ln w="25400">
            <a:solidFill>
              <a:srgbClr val="8A939B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48640" y="3236976"/>
            <a:ext cx="5349240" cy="1444752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22225">
            <a:solidFill>
              <a:srgbClr val="8B7FD9"/>
            </a:solidFill>
            <a:prstDash val="solid"/>
          </a:ln>
          <a:effectLst>
            <a:outerShdw sx="100000" sy="100000" kx="0" ky="0" algn="bl" rotWithShape="0" blurRad="76200" dist="25400" dir="5400000">
              <a:srgbClr val="1F2429">
                <a:alpha val="1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94944" y="3758184"/>
            <a:ext cx="91440" cy="310896"/>
          </a:xfrm>
          <a:prstGeom prst="rect">
            <a:avLst/>
          </a:prstGeom>
          <a:solidFill>
            <a:srgbClr val="8B7FD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14400" y="3310128"/>
            <a:ext cx="4800600" cy="65013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sorting and joins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3843772"/>
            <a:ext cx="4800600" cy="79461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indexed sort order can avoid a separate sort step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23260" y="4681728"/>
            <a:ext cx="0" cy="256032"/>
          </a:xfrm>
          <a:prstGeom prst="line">
            <a:avLst/>
          </a:prstGeom>
          <a:noFill/>
          <a:ln w="25400">
            <a:solidFill>
              <a:srgbClr val="8A939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48640" y="4937760"/>
            <a:ext cx="5349240" cy="1444752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22225">
            <a:solidFill>
              <a:srgbClr val="E8A33D"/>
            </a:solidFill>
            <a:prstDash val="solid"/>
          </a:ln>
          <a:effectLst>
            <a:outerShdw sx="100000" sy="100000" kx="0" ky="0" algn="bl" rotWithShape="0" blurRad="76200" dist="25400" dir="5400000">
              <a:srgbClr val="1F2429">
                <a:alpha val="1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94944" y="5458968"/>
            <a:ext cx="91440" cy="310896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14400" y="5010912"/>
            <a:ext cx="4800600" cy="65013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Enforces uniqueness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914400" y="5544556"/>
            <a:ext cx="4800600" cy="79461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indexes double as a constraint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263640" y="1188720"/>
            <a:ext cx="5349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DISADVANTAGES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63640" y="1536192"/>
            <a:ext cx="5349240" cy="1444752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22225">
            <a:solidFill>
              <a:srgbClr val="2FE6C4"/>
            </a:solidFill>
            <a:prstDash val="solid"/>
          </a:ln>
          <a:effectLst>
            <a:outerShdw sx="100000" sy="100000" kx="0" ky="0" algn="bl" rotWithShape="0" blurRad="76200" dist="25400" dir="5400000">
              <a:srgbClr val="1F2429">
                <a:alpha val="16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09944" y="2057400"/>
            <a:ext cx="91440" cy="310896"/>
          </a:xfrm>
          <a:prstGeom prst="rect">
            <a:avLst/>
          </a:prstGeom>
          <a:solidFill>
            <a:srgbClr val="2FE6C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29400" y="1609344"/>
            <a:ext cx="4800600" cy="65013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Slower writes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629400" y="2142988"/>
            <a:ext cx="4800600" cy="79461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INSERT/UPDATE/DELETE must also update every affected index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938260" y="2980944"/>
            <a:ext cx="0" cy="256032"/>
          </a:xfrm>
          <a:prstGeom prst="line">
            <a:avLst/>
          </a:prstGeom>
          <a:noFill/>
          <a:ln w="25400">
            <a:solidFill>
              <a:srgbClr val="8A939B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6263640" y="3236976"/>
            <a:ext cx="5349240" cy="1444752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22225">
            <a:solidFill>
              <a:srgbClr val="8B7FD9"/>
            </a:solidFill>
            <a:prstDash val="solid"/>
          </a:ln>
          <a:effectLst>
            <a:outerShdw sx="100000" sy="100000" kx="0" ky="0" algn="bl" rotWithShape="0" blurRad="76200" dist="25400" dir="5400000">
              <a:srgbClr val="1F2429">
                <a:alpha val="16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409944" y="3758184"/>
            <a:ext cx="91440" cy="310896"/>
          </a:xfrm>
          <a:prstGeom prst="rect">
            <a:avLst/>
          </a:prstGeom>
          <a:solidFill>
            <a:srgbClr val="8B7FD9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629400" y="3310128"/>
            <a:ext cx="4800600" cy="65013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storage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6629400" y="3843772"/>
            <a:ext cx="4800600" cy="79461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index over a large table can itself be sizeable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938260" y="4681728"/>
            <a:ext cx="0" cy="256032"/>
          </a:xfrm>
          <a:prstGeom prst="line">
            <a:avLst/>
          </a:prstGeom>
          <a:noFill/>
          <a:ln w="25400">
            <a:solidFill>
              <a:srgbClr val="8A939B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6263640" y="4937760"/>
            <a:ext cx="5349240" cy="1444752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22225">
            <a:solidFill>
              <a:srgbClr val="E8A33D"/>
            </a:solidFill>
            <a:prstDash val="solid"/>
          </a:ln>
          <a:effectLst>
            <a:outerShdw sx="100000" sy="100000" kx="0" ky="0" algn="bl" rotWithShape="0" blurRad="76200" dist="25400" dir="5400000">
              <a:srgbClr val="1F2429">
                <a:alpha val="16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409944" y="5458968"/>
            <a:ext cx="91440" cy="310896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629400" y="5010912"/>
            <a:ext cx="4800600" cy="65013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overhead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6629400" y="5544556"/>
            <a:ext cx="4800600" cy="79461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Indexes can fragment and need periodic rebuilding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3931920"/>
            <a:ext cx="3840480" cy="3840480"/>
          </a:xfrm>
          <a:prstGeom prst="ellipse">
            <a:avLst/>
          </a:prstGeom>
          <a:solidFill>
            <a:srgbClr val="2FE6C4">
              <a:alpha val="10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4864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1946910"/>
            <a:ext cx="109728" cy="109728"/>
          </a:xfrm>
          <a:prstGeom prst="rect">
            <a:avLst/>
          </a:prstGeom>
          <a:solidFill>
            <a:srgbClr val="2FE6C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3000" y="1600200"/>
            <a:ext cx="9875520" cy="7848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no index, the DBMS runs a full table scan for any lookup — cost grows linearly with table size.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822960" y="2731770"/>
            <a:ext cx="109728" cy="109728"/>
          </a:xfrm>
          <a:prstGeom prst="rect">
            <a:avLst/>
          </a:prstGeom>
          <a:solidFill>
            <a:srgbClr val="8B7FD9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143000" y="2385060"/>
            <a:ext cx="9875520" cy="7848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primary index (one entry per key) needs an ordered file; a secondary index must be dense (one entry per record).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822960" y="3516630"/>
            <a:ext cx="109728" cy="1097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143000" y="3169920"/>
            <a:ext cx="9875520" cy="7848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Sparse indexes (one entry per block) only work on an ordered file's primary index — every secondary index is dense.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822960" y="4301490"/>
            <a:ext cx="109728" cy="109728"/>
          </a:xfrm>
          <a:prstGeom prst="rect">
            <a:avLst/>
          </a:prstGeom>
          <a:solidFill>
            <a:srgbClr val="2FE6C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143000" y="3954780"/>
            <a:ext cx="9875520" cy="7848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single-level index that grows too large is solved with a multi-level index — the idea behind B-tree/B+-tree structures.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822960" y="5086350"/>
            <a:ext cx="109728" cy="109728"/>
          </a:xfrm>
          <a:prstGeom prst="rect">
            <a:avLst/>
          </a:prstGeom>
          <a:solidFill>
            <a:srgbClr val="8B7FD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143000" y="4739640"/>
            <a:ext cx="9875520" cy="7848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indexes from real query workload — selectivity, foreign keys, WHERE/JOIN/ORDER BY columns — never every column.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822960" y="5871210"/>
            <a:ext cx="109728" cy="1097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143000" y="5524500"/>
            <a:ext cx="9875520" cy="7848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Indexing trades faster reads and joins for slower writes and extra storage — never “free” performance.</a:t>
            </a:r>
            <a:endParaRPr lang="en-US" sz="1550" dirty="0"/>
          </a:p>
        </p:txBody>
      </p:sp>
      <p:sp>
        <p:nvSpPr>
          <p:cNvPr id="16" name="Text 14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2026-09-29T15:21:37Z</dcterms:created>
  <dcterms:modified xsi:type="dcterms:W3CDTF">2026-09-29T15:21:37Z</dcterms:modified>
</cp:coreProperties>
</file>
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9" r:id="rId20"/>
    <p:sldId id="258" r:id="rId4"/>
    <p:sldId id="259" r:id="rId5"/>
    <p:sldId id="270" r:id="rId21"/>
    <p:sldId id="260" r:id="rId6"/>
    <p:sldId id="261" r:id="rId7"/>
    <p:sldId id="262" r:id="rId8"/>
    <p:sldId id="271" r:id="rId22"/>
    <p:sldId id="263" r:id="rId9"/>
    <p:sldId id="264" r:id="rId10"/>
    <p:sldId id="272" r:id="rId23"/>
    <p:sldId id="265" r:id="rId11"/>
    <p:sldId id="275" r:id="rId26"/>
    <p:sldId id="266" r:id="rId12"/>
    <p:sldId id="273" r:id="rId24"/>
    <p:sldId id="267" r:id="rId13"/>
    <p:sldId id="274" r:id="rId25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  <Relationship Id="rId20" Type="http://schemas.openxmlformats.org/officeDocument/2006/relationships/slide" Target="slides/slide14.xml"/>
  <Relationship Id="rId21" Type="http://schemas.openxmlformats.org/officeDocument/2006/relationships/slide" Target="slides/slide15.xml"/>
  <Relationship Id="rId22" Type="http://schemas.openxmlformats.org/officeDocument/2006/relationships/slide" Target="slides/slide16.xml"/>
  <Relationship Id="rId23" Type="http://schemas.openxmlformats.org/officeDocument/2006/relationships/slide" Target="slides/slide17.xml"/>
  <Relationship Id="rId24" Type="http://schemas.openxmlformats.org/officeDocument/2006/relationships/slide" Target="slides/slide18.xml"/>
  <Relationship Id="rId25" Type="http://schemas.openxmlformats.org/officeDocument/2006/relationships/slide" Target="slides/slide19.xml"/>
  <Relationship Id="rId26" Type="http://schemas.openxmlformats.org/officeDocument/2006/relationships/slide" Target="slides/slide20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82735" y="-1463040"/>
            <a:ext cx="4206240" cy="4206240"/>
          </a:xfrm>
          <a:prstGeom prst="ellipse">
            <a:avLst/>
          </a:prstGeom>
          <a:solidFill>
            <a:srgbClr val="2FE6C4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62895" y="3291840"/>
            <a:ext cx="2926080" cy="2926080"/>
          </a:xfrm>
          <a:prstGeom prst="ellipse">
            <a:avLst/>
          </a:prstGeom>
          <a:solidFill>
            <a:srgbClr val="8B7FD9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4663440"/>
            <a:ext cx="3108960" cy="3108960"/>
          </a:xfrm>
          <a:prstGeom prst="ellipse">
            <a:avLst/>
          </a:prstGeom>
          <a:solidFill>
            <a:srgbClr val="E8A33D">
              <a:alpha val="10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 · LECTURE 26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2024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Relational Model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NoSQL Databases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605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 — COMSATS University Islamabad, Lahore Campus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63624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636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1490472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relational databases struggle at web scale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404872"/>
            <a:ext cx="384048" cy="38404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4048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2331720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characteristics that define “NoSQL”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246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70432" y="3172968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vs. NoSQL, dimension by dimension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0873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4014216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major NoSQL families, with real products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309360" y="1563624"/>
            <a:ext cx="384048" cy="38404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9360" y="15636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839712" y="1490472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traded for, and the limitations that come with them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309360" y="240487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09360" y="24048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39712" y="2331720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use cases for reaching for NoSQL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309360" y="324612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09360" y="3246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839712" y="3172968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 theorem — why you can't have it all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NEED FOR NOSQL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Social-Media Startup, Three Stages of Growth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42646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13716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users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78308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relational server handles everything comfortably — posts, comments, likes, all cleanly normalized.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28016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7992" y="1426464"/>
            <a:ext cx="201168" cy="20116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13716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million users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44568" y="178308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alone start to outpace one server's disk and CPU. Buying a bigger server (vertical scaling) has a hard ceiling.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38160" y="128016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02752" y="142646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95360" y="13716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million users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178308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Friend-of-a-friend joins get expensive; every new post “type” means another schema migration nobody can afford to lock for long.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1106424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3913632"/>
            <a:ext cx="274320" cy="822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04164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“WRONG,” JUST OPTIMIZED DIFFERENTLY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297680"/>
            <a:ext cx="106984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relational model optimized for strong consistency and rich, ad-hoc querying over a schema known in advance. NoSQL systems exist for workloads where those specific guarantees matter less than raw horizontal scale and schema flexibility.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MODELS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Scaling vs. Horizontal Scaling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SCALING — THE RELATIONAL DEFAULT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349240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4944" y="2066544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719072"/>
            <a:ext cx="4800600" cy="55961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server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168225"/>
            <a:ext cx="4800600" cy="6839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Grows by adding CPU, RAM, faster disks to the same box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23260" y="2889504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3145536"/>
            <a:ext cx="5349240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94944" y="3566160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218688"/>
            <a:ext cx="4800600" cy="55961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server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667841"/>
            <a:ext cx="4800600" cy="6839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ceiling — cost rises much faster than capacity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128016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SCALING — THE NOSQL DEFAULT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1645920"/>
            <a:ext cx="1508760" cy="17373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9944" y="1773936"/>
            <a:ext cx="310896" cy="9144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9944" y="1920240"/>
            <a:ext cx="121615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1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772400" y="2514600"/>
            <a:ext cx="411480" cy="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183880" y="1645920"/>
            <a:ext cx="1508760" cy="17373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30184" y="1773936"/>
            <a:ext cx="310896" cy="91440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30184" y="1920240"/>
            <a:ext cx="121615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2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692640" y="2514600"/>
            <a:ext cx="411480" cy="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0104120" y="1645920"/>
            <a:ext cx="1508760" cy="17373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250424" y="1773936"/>
            <a:ext cx="310896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250424" y="1920240"/>
            <a:ext cx="121615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N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250424" y="2580437"/>
            <a:ext cx="1216152" cy="6931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more machines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63640" y="3657600"/>
            <a:ext cx="534924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46520" y="3822192"/>
            <a:ext cx="274320" cy="822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46520" y="3950208"/>
            <a:ext cx="4983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MACHINES, NOT MUSCLE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4206240"/>
            <a:ext cx="49834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scaling adds more ordinary servers as load grows instead of depending on one increasingly expensive machine — the foundational design choice behind every NoSQL family.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TRAITS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 of NoSQL Databases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3721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42646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137160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Schema-flexible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783080"/>
            <a:ext cx="496976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don't need to share fields; new fields added on the fly, no ALTER TABLE, no downtime.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0780" y="1280160"/>
            <a:ext cx="53721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5372" y="1426464"/>
            <a:ext cx="201168" cy="20116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97980" y="137160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Horizontally scalable by design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41948" y="1783080"/>
            <a:ext cx="496976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spread data and load across many ordinary servers, not one powerful one.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53721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98678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393192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eventually consistent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4343400"/>
            <a:ext cx="496976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relax strict consistency for availability and speed — the BASE model instead of relational ACID.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40780" y="3840480"/>
            <a:ext cx="53721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5372" y="398678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97980" y="393192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for specific access patterns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41948" y="4343400"/>
            <a:ext cx="496976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family is built around the handful of operations it needs to be extremely fast at.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TO HEAD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vs. NoSQL Databases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3794760"/>
        </p:xfrm>
        <a:graphic>
          <a:graphicData uri="http://schemas.openxmlformats.org/drawingml/2006/table">
            <a:tbl>
              <a:tblPr/>
              <a:tblGrid>
                <a:gridCol w="2468880"/>
                <a:gridCol w="4297680"/>
                <a:gridCol w="4297680"/>
              </a:tblGrid>
              <a:tr h="632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Relational (SQL)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NoSQL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 flexibility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Fixed, defined in advance; changes need ALTER TABLE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Flexible or absent; documents/records can differ in shape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Scaling 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Primarily vertical; horizontal scaling is possible but hard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Horizontal by default (add more servers)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Consistency 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consistency, ACID transactions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eventual consistency, BASE model (varies by product)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language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— standardized across vendors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Varies per product (MongoDB API, CQL, Gremlin, …)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use case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Banking, ERP — strict integrity, complex joins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mgmt, catalogs, real-time analytics, social graphs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212080"/>
            <a:ext cx="1106424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5376672"/>
            <a:ext cx="274320" cy="822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550468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SPECTRUM, NOT A STRICT LINE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relational engines support JSON columns and read replicas; several NoSQL products (MongoDB included) now support multi-document ACID transactions. This table describes each family's default center of gravity, not an absolute rule.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FAMILIES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NoSQL Databases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3721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42646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137160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Store — MongoDB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783080"/>
            <a:ext cx="496976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self-contained, JSON-like documents grouped into collections. Each document can have its own shape.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0780" y="1280160"/>
            <a:ext cx="53721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5372" y="1426464"/>
            <a:ext cx="201168" cy="20116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97980" y="137160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Key-Value Store — DynamoDB / Redis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41948" y="1783080"/>
            <a:ext cx="496976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an opaque value against a unique key — extremely fast lookups, minimal querying beyond “get this key.”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53721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98678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393192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Column-Family Store — Cassandra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4343400"/>
            <a:ext cx="496976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data in wide rows grouped by column families, tuned for very high write throughput across many nodes.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40780" y="3840480"/>
            <a:ext cx="53721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5372" y="398678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97980" y="393192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Database — Neo4j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41948" y="4343400"/>
            <a:ext cx="496976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nodes and the relationships between them, purpose-built for traversal queries like “friends of friends.”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ORGANIZING 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Data Models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/>
              <a:tblGrid>
                <a:gridCol w="1920240"/>
                <a:gridCol w="5943600"/>
                <a:gridCol w="3200400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data is organized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subject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Self-contained, nested, JSON-like structure per record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 BSON documents (Lecture 27)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Key-value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opaque value retrieved only by its exact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Redis, DynamoDB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Column-family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keyed by ID; columns grouped into families that vary row to row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 Cassandra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modeled explicitly as nodes and edges; traversal is the primitive operation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526280"/>
            <a:ext cx="1106424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4690872"/>
            <a:ext cx="274320" cy="822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481888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IDEA, DIFFERENT SHAPE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074920"/>
            <a:ext cx="106984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 pairs its product with a distinct way of organizing data — the document model (self-contained, nested, JSON-like) is the one this course goes hands-on with, starting next lecture.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and Limitations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536192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4944" y="2057400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609344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horizontally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142988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commodity servers instead of a bigger one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23260" y="2980944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3236976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94944" y="3758184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310128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schema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843772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the data model without migrations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23260" y="4681728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4937760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94944" y="5458968"/>
            <a:ext cx="91440" cy="3108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010912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for its access pattern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5544556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for the operations it targets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18872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63640" y="1536192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9944" y="2057400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1609344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Weaker consistency guarantees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2142988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Eventual consistency can surprise developers used to ACID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938260" y="2980944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263640" y="3236976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09944" y="3758184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629400" y="3310128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standard query language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629400" y="3843772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and tooling don't transfer between products like SQL does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938260" y="4681728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263640" y="4937760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9944" y="5458968"/>
            <a:ext cx="91440" cy="3108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629400" y="5010912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Weaker or absent joins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629400" y="5544556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Multi-collection/table relationships are harder to query in one step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FITS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Use Cases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42646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13716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management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78308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Articles, product pages, profiles that naturally vary in shape (document stores).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28016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7992" y="1426464"/>
            <a:ext cx="201168" cy="20116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13716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analytics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44568" y="178308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High-velocity event and metrics data written far more often than updated (column-family).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38160" y="128016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02752" y="142646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95360" y="13716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catalogs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178308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with wildly different attribute sets — a book vs. a laptop — forcing sparse relational tables otherwise.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3232" y="398678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5840" y="39319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graphs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" y="434340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 networks, recommendations, fraud detection built around “who's connected to whom” (graph).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43400" y="384048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07992" y="3986784"/>
            <a:ext cx="201168" cy="20116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00600" y="39319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stores and caches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4544568" y="434340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extremely fast get/set operations against a key (key-value).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LIMIT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Theorem Overview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database is distributed — data spread across more than one machine — it can only fully guarantee two of these three properties at once, whenever a network partition occurs: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3413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4944" y="2093976"/>
            <a:ext cx="310896" cy="9144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94944" y="2240280"/>
            <a:ext cx="312115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Consistency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2900477"/>
            <a:ext cx="3121152" cy="6931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read sees the most recent write, everywhere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962400" y="2834640"/>
            <a:ext cx="411480" cy="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373880" y="1965960"/>
            <a:ext cx="3413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20184" y="2093976"/>
            <a:ext cx="310896" cy="91440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20184" y="2240280"/>
            <a:ext cx="312115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— Availability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20184" y="2900477"/>
            <a:ext cx="3121152" cy="6931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gets a response, even if not the latest data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87640" y="2834640"/>
            <a:ext cx="411480" cy="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199120" y="1965960"/>
            <a:ext cx="3413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45424" y="2093976"/>
            <a:ext cx="310896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45424" y="2240280"/>
            <a:ext cx="312115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— Partition tolerance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345424" y="2900477"/>
            <a:ext cx="3121152" cy="6931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keeps working even if servers can't talk to each other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1106424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4142232"/>
            <a:ext cx="274320" cy="822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427024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ALL-THE-TIME — ONLY DURING A PARTITION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52628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an actual network partition, a well-built distributed system can offer strong consistency and high availability simultaneously. Most real products (MongoDB included) let you tune how they behave during a partition, rather than being locked into pure CP or pure AP.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CONCRETE SCENARIO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in Practice: The Lahore/Karachi Link Fails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70432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 span two data centers, replicating every write to each other. The link between them fails — partition tolerance isn't optional, since the failure already happened. For every write arriving while the link is down: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CONSISTENCY (GIVE UP AVAILABILITY)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534924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94944" y="2478024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2267712"/>
            <a:ext cx="4800600" cy="4361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the write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01651"/>
            <a:ext cx="4800600" cy="5330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Karachi refuses new writes until it can confirm with Lahore again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23260" y="3163824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48640" y="3419856"/>
            <a:ext cx="534924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94944" y="3703320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493008"/>
            <a:ext cx="4800600" cy="4361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CP system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826947"/>
            <a:ext cx="4800600" cy="5330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returns stale data, but some requests fail during the partition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187452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AVAILABILITY (GIVE UP CONSISTENCY)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63640" y="2194560"/>
            <a:ext cx="534924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9944" y="2478024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29400" y="2267712"/>
            <a:ext cx="4800600" cy="4361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the write locally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629400" y="2601651"/>
            <a:ext cx="4800600" cy="5330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Karachi keeps serving requests using only its own local data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38260" y="3163824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63640" y="3419856"/>
            <a:ext cx="534924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9944" y="3703320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29400" y="3493008"/>
            <a:ext cx="4800600" cy="4361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AP system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629400" y="3826947"/>
            <a:ext cx="4800600" cy="5330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responds, but Lahore and Karachi may briefly disagree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572000"/>
            <a:ext cx="1106424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31520" y="4736592"/>
            <a:ext cx="274320" cy="822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0" y="486460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EVENTUAL CONSISTENCY, AND THE CA OUTLIER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51206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link returns, an AP system reconciles the divergent writes — exactly what “eventual consistency” means. A single-server relational database is usually called CA — it was never partition-tolerant, because there was only ever one server to ask.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3931920"/>
            <a:ext cx="3840480" cy="3840480"/>
          </a:xfrm>
          <a:prstGeom prst="ellipse">
            <a:avLst/>
          </a:prstGeom>
          <a:solidFill>
            <a:srgbClr val="2FE6C4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025396"/>
            <a:ext cx="109728" cy="109728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1600200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databases hit real limits at web scale: vertical scaling's ceiling, expensive joins, rigid schemas.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967228"/>
            <a:ext cx="109728" cy="109728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43000" y="2542032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trades strict schema and strong consistency for horizontal scalability and schema flexibility — a deliberate trade-off, not a strict upgrade.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3909060"/>
            <a:ext cx="109728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3483864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major families: document (MongoDB), key-value (DynamoDB, Redis), column-family (Cassandra), graph (Neo4j).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4850892"/>
            <a:ext cx="109728" cy="109728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43000" y="4425696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theorem: a distributed system guarantees only two of Consistency, Availability, Partition tolerance during an actual partition.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5792724"/>
            <a:ext cx="109728" cy="109728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43000" y="5367528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fits content management, analytics, flexible catalogs, and social graphs — the right tool for specific workloads, not a universal replacement.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20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3931920"/>
            <a:ext cx="3840480" cy="3840480"/>
          </a:xfrm>
          <a:prstGeom prst="ellipse">
            <a:avLst/>
          </a:prstGeom>
          <a:solidFill>
            <a:srgbClr val="2FE6C4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Recap: Where We Left Off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025396"/>
            <a:ext cx="109728" cy="109728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1600200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design works well for normalized data on one strong server.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967228"/>
            <a:ext cx="109728" cy="109728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43000" y="2542032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web scale it strains: vertical scaling has a ceiling, joins get expensive, schemas resist change.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3909060"/>
            <a:ext cx="109728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3483864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trades strict schema and strong consistency for horizontal scale and flexibility.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4850892"/>
            <a:ext cx="109728" cy="109728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43000" y="4425696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families — document, key-value, column-family, graph — each tuned to one access pattern.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5792724"/>
            <a:ext cx="109728" cy="109728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43000" y="5367528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how one document database, MongoDB, works in practice.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One Feature: Posting Photos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42646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13716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users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78308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server handles photo writes in milliseconds. One table holds everything. No change needed.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28016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7992" y="1426464"/>
            <a:ext cx="201168" cy="20116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13716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million users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44568" y="178308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Peak-hour writes spike. Vertical scaling buys time, but the ceiling is close.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38160" y="128016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02752" y="142646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95360" y="13716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million users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178308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 photos by user ID across many servers. Document storage avoids a migration per new post type.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1106424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3913632"/>
            <a:ext cx="274320" cy="822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04164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ARITHMETIC MATTERS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297680"/>
            <a:ext cx="106984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peak writes double every year, a server with 2x headroom today is full in about 12 months. Growth rate, not size alone, forces the move to horizontal scaling. (Figures are illustrative.)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User Profile, Four Data Models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(MONGODB)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536192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4944" y="2057400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609344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Nested, one read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142988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 name, city, posts: [...] } is returned in a single fetch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23260" y="2980944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3236976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94944" y="3758184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310128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shape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843772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user document can hold different fields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23260" y="4681728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4937760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94944" y="5458968"/>
            <a:ext cx="91440" cy="3108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010912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directly to objects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5544556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objects map straight onto JSON-like documents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18872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KEY-VALUE  /  COLUMN-FAMILY  /  GRAPH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63640" y="1536192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9944" y="2057400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1609344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Key-value: fast, opaque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2142988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user:4821 maps to one blob; nothing can be queried inside it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938260" y="2980944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263640" y="3236976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09944" y="3758184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629400" y="3310128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Column-family: wide rows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629400" y="3843772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user, with columns grouped by feature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938260" y="4681728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263640" y="4937760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9944" y="5458968"/>
            <a:ext cx="91440" cy="3108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629400" y="5010912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Graph: relationships first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629400" y="5544556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edges are followed directly, hop by hop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Friend-of-Friend Query, Compared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42646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13716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(SQL)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78308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self-joins on a Friendships table; cost grows with each extra hop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28016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7992" y="1426464"/>
            <a:ext cx="201168" cy="20116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13716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(Neo4j)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44568" y="178308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Traverse FOLLOWS edges directly; each hop is a pointer follow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38160" y="128016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02752" y="142646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95360" y="13716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(MongoDB)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178308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 friends array per user: one fetch, but large friend lists grow heavy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3232" y="398678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5840" y="39319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" y="434340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query shape decides the model: join-heavy or traversal-heavy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43400" y="384048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07992" y="3986784"/>
            <a:ext cx="201168" cy="20116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00600" y="39319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rule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4544568" y="434340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most frequent read path, then pick the model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MODELS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vs. BASE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3721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42646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137160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Atomicity  vs.  Basically Available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783080"/>
            <a:ext cx="496976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ACID: all-or-nothing commits. BASE: the system keeps answering, even during partial failure.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0780" y="1280160"/>
            <a:ext cx="53721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5372" y="1426464"/>
            <a:ext cx="201168" cy="20116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97980" y="137160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 vs.  Soft state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41948" y="1783080"/>
            <a:ext cx="496976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ACID: every commit leaves data valid. BASE: replicas may briefly hold inconsistent state.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53721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98678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393192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 vs.  Eventual consistency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4343400"/>
            <a:ext cx="496976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ACID: concurrent transactions do not interfere. BASE: replicas converge given time.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40780" y="3840480"/>
            <a:ext cx="53721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5372" y="398678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97980" y="393192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Durability  vs.  Availability first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41948" y="4343400"/>
            <a:ext cx="496976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ACID: committed work survives crashes. BASE: favors availability over immediate agreement.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IN PRACTICE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or Availability During a Partition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19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CP WHEN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536192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4944" y="2057400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609344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and inventory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142988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stale balance is worse than a refused request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23260" y="2980944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3236976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94944" y="3758184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310128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writes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843772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Lahore side must confirm before accepting a write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23260" y="4681728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4937760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94944" y="5458968"/>
            <a:ext cx="91440" cy="3108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010912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uniqueness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5544556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users must never claim the same seat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18872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AP WHEN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63640" y="1536192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9944" y="2057400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1609344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Feeds, likes, carts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2142988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slightly stale data beats an error page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938260" y="2980944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263640" y="3236976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09944" y="3758184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629400" y="3310128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Read-heavy catalogs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629400" y="3843772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prefer a fast answer over the newest answer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938260" y="4681728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263640" y="4937760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9944" y="5458968"/>
            <a:ext cx="91440" cy="3108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629400" y="5010912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is feasible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629400" y="5544556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Conflicting writes can be merged after the partition heals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Database, Step by Step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RELATIONAL WHEN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536192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4944" y="2057400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609344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highly structured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142988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is stable and integrity rules matter most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23260" y="2980944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3236976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94944" y="3758184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310128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span many rows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843772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moves, orders, inventory: ACID is required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23260" y="4681728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4937760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94944" y="5458968"/>
            <a:ext cx="91440" cy="3108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010912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are ad-hoc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5544556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and joins across many tables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18872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NOSQL WHEN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63640" y="1536192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9944" y="2057400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1609344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varies per record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2142988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Catalogs, profiles, and content with different fields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938260" y="2980944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263640" y="3236976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09944" y="3758184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629400" y="3310128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exceeds one server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629400" y="3843772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volume or data size outgrows vertical scaling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938260" y="4681728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263640" y="4937760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9944" y="5458968"/>
            <a:ext cx="91440" cy="3108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629400" y="5010912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is by key or traversal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629400" y="5544556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Sessions, caches, social graphs, event streams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2026-09-29T15:22:26Z</dcterms:created>
  <dcterms:modified xsi:type="dcterms:W3CDTF">2026-09-29T15:22:26Z</dcterms:modified>
</cp:coreProperties>
</file>
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82735" y="-1463040"/>
            <a:ext cx="4206240" cy="4206240"/>
          </a:xfrm>
          <a:prstGeom prst="ellipse">
            <a:avLst/>
          </a:prstGeom>
          <a:solidFill>
            <a:srgbClr val="2FE6C4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362895" y="3291840"/>
            <a:ext cx="2926080" cy="2926080"/>
          </a:xfrm>
          <a:prstGeom prst="ellipse">
            <a:avLst/>
          </a:prstGeom>
          <a:solidFill>
            <a:srgbClr val="8B7FD9">
              <a:alpha val="14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280160" y="4663440"/>
            <a:ext cx="3108960" cy="3108960"/>
          </a:xfrm>
          <a:prstGeom prst="ellipse">
            <a:avLst/>
          </a:prstGeom>
          <a:solidFill>
            <a:srgbClr val="E8A33D">
              <a:alpha val="10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55448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CSC270 · DATABASE SYSTEMS · LECTURE 26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92024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the Relational Model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377440"/>
            <a:ext cx="100584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NoSQL Databases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160520"/>
            <a:ext cx="9326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CSC270 · Database Systems — COMSATS University Islamabad, Lahore Campus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563624"/>
            <a:ext cx="384048" cy="384048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56362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170432" y="1490472"/>
            <a:ext cx="466344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relational databases struggle at web scale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2404872"/>
            <a:ext cx="384048" cy="384048"/>
          </a:xfrm>
          <a:prstGeom prst="ellipse">
            <a:avLst/>
          </a:prstGeom>
          <a:solidFill>
            <a:srgbClr val="8B7FD9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24048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170432" y="2331720"/>
            <a:ext cx="466344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shared characteristics that define “NoSQL”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40080" y="3246120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" y="32461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170432" y="3172968"/>
            <a:ext cx="466344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vs. NoSQL, dimension by dimension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40080" y="4087368"/>
            <a:ext cx="384048" cy="384048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408736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170432" y="4014216"/>
            <a:ext cx="466344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major NoSQL families, with real products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6309360" y="1563624"/>
            <a:ext cx="384048" cy="384048"/>
          </a:xfrm>
          <a:prstGeom prst="ellipse">
            <a:avLst/>
          </a:prstGeom>
          <a:solidFill>
            <a:srgbClr val="8B7FD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309360" y="156362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839712" y="1490472"/>
            <a:ext cx="466344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 traded for, and the limitations that come with them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6309360" y="2404872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309360" y="24048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839712" y="2331720"/>
            <a:ext cx="466344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Realistic use cases for reaching for NoSQL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6309360" y="3246120"/>
            <a:ext cx="384048" cy="384048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309360" y="32461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839712" y="3172968"/>
            <a:ext cx="466344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CAP theorem — why you can't have it all</a:t>
            </a:r>
            <a:endParaRPr lang="en-US" sz="1450" dirty="0"/>
          </a:p>
        </p:txBody>
      </p:sp>
      <p:sp>
        <p:nvSpPr>
          <p:cNvPr id="24" name="Text 22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NEED FOR NOSQL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Social-Media Startup, Three Stages of Growth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347472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22225">
            <a:solidFill>
              <a:srgbClr val="2FE6C4"/>
            </a:solidFill>
            <a:prstDash val="solid"/>
          </a:ln>
          <a:effectLst>
            <a:outerShdw sx="100000" sy="100000" kx="0" ky="0" algn="bl" rotWithShape="0" blurRad="63500" dist="25400" dir="5400000">
              <a:srgbClr val="1F2429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13232" y="1426464"/>
            <a:ext cx="201168" cy="201168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05840" y="137160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 users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1783080"/>
            <a:ext cx="3072384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relational server handles everything comfortably — posts, comments, likes, all cleanly normalized.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43400" y="1280160"/>
            <a:ext cx="347472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22225">
            <a:solidFill>
              <a:srgbClr val="8B7FD9"/>
            </a:solidFill>
            <a:prstDash val="solid"/>
          </a:ln>
          <a:effectLst>
            <a:outerShdw sx="100000" sy="100000" kx="0" ky="0" algn="bl" rotWithShape="0" blurRad="63500" dist="25400" dir="5400000">
              <a:srgbClr val="1F2429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07992" y="1426464"/>
            <a:ext cx="201168" cy="201168"/>
          </a:xfrm>
          <a:prstGeom prst="ellipse">
            <a:avLst/>
          </a:prstGeom>
          <a:solidFill>
            <a:srgbClr val="8B7FD9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800600" y="137160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million users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4544568" y="1783080"/>
            <a:ext cx="3072384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alone start to outpace one server's disk and CPU. Buying a bigger server (vertical scaling) has a hard ceiling.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138160" y="1280160"/>
            <a:ext cx="347472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22225">
            <a:solidFill>
              <a:srgbClr val="E8A33D"/>
            </a:solidFill>
            <a:prstDash val="solid"/>
          </a:ln>
          <a:effectLst>
            <a:outerShdw sx="100000" sy="100000" kx="0" ky="0" algn="bl" rotWithShape="0" blurRad="63500" dist="25400" dir="5400000">
              <a:srgbClr val="1F2429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302752" y="1426464"/>
            <a:ext cx="201168" cy="20116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595360" y="137160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million users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8339328" y="1783080"/>
            <a:ext cx="3072384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Friend-of-a-friend joins get expensive; every new post “type” means another schema migration nobody can afford to lock for long.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3749040"/>
            <a:ext cx="11064240" cy="2011680"/>
          </a:xfrm>
          <a:prstGeom prst="roundRect">
            <a:avLst>
              <a:gd name="adj" fmla="val 3182"/>
            </a:avLst>
          </a:prstGeom>
          <a:solidFill>
            <a:srgbClr val="FFFFFF"/>
          </a:solidFill>
          <a:ln w="19050">
            <a:solidFill>
              <a:srgbClr val="8B7FD9"/>
            </a:solidFill>
            <a:prstDash val="solid"/>
          </a:ln>
          <a:effectLst>
            <a:outerShdw sx="100000" sy="100000" kx="0" ky="0" algn="bl" rotWithShape="0" blurRad="50800" dist="12700" dir="5400000">
              <a:srgbClr val="1F2429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31520" y="3913632"/>
            <a:ext cx="274320" cy="82296"/>
          </a:xfrm>
          <a:prstGeom prst="rect">
            <a:avLst/>
          </a:prstGeom>
          <a:solidFill>
            <a:srgbClr val="8B7FD9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31520" y="4041648"/>
            <a:ext cx="10698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“WRONG,” JUST OPTIMIZED DIFFERENTLY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731520" y="4297680"/>
            <a:ext cx="1069848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relational model optimized for strong consistency and rich, ad-hoc querying over a schema known in advance. NoSQL systems exist for workloads where those specific guarantees matter less than raw horizontal scale and schema flexibility.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MODELS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 Scaling vs. Horizontal Scaling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4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5349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 SCALING — THE RELATIONAL DEFAULT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349240" cy="1243584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22225">
            <a:solidFill>
              <a:srgbClr val="2FE6C4"/>
            </a:solidFill>
            <a:prstDash val="solid"/>
          </a:ln>
          <a:effectLst>
            <a:outerShdw sx="100000" sy="100000" kx="0" ky="0" algn="bl" rotWithShape="0" blurRad="76200" dist="25400" dir="5400000">
              <a:srgbClr val="1F2429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94944" y="2066544"/>
            <a:ext cx="91440" cy="310896"/>
          </a:xfrm>
          <a:prstGeom prst="rect">
            <a:avLst/>
          </a:prstGeom>
          <a:solidFill>
            <a:srgbClr val="2FE6C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14400" y="1719072"/>
            <a:ext cx="4800600" cy="55961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server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2168225"/>
            <a:ext cx="4800600" cy="68397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Grows by adding CPU, RAM, faster disks to the same box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23260" y="2889504"/>
            <a:ext cx="0" cy="256032"/>
          </a:xfrm>
          <a:prstGeom prst="line">
            <a:avLst/>
          </a:prstGeom>
          <a:noFill/>
          <a:ln w="25400">
            <a:solidFill>
              <a:srgbClr val="8A939B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48640" y="3145536"/>
            <a:ext cx="5349240" cy="1243584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22225">
            <a:solidFill>
              <a:srgbClr val="8B7FD9"/>
            </a:solidFill>
            <a:prstDash val="solid"/>
          </a:ln>
          <a:effectLst>
            <a:outerShdw sx="100000" sy="100000" kx="0" ky="0" algn="bl" rotWithShape="0" blurRad="76200" dist="25400" dir="5400000">
              <a:srgbClr val="1F2429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94944" y="3566160"/>
            <a:ext cx="91440" cy="310896"/>
          </a:xfrm>
          <a:prstGeom prst="rect">
            <a:avLst/>
          </a:prstGeom>
          <a:solidFill>
            <a:srgbClr val="8B7FD9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14400" y="3218688"/>
            <a:ext cx="4800600" cy="55961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Bigger server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3667841"/>
            <a:ext cx="4800600" cy="68397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ceiling — cost rises much faster than capacity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263640" y="1280160"/>
            <a:ext cx="5349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SCALING — THE NOSQL DEFAULT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63640" y="1645920"/>
            <a:ext cx="1508760" cy="17373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22225">
            <a:solidFill>
              <a:srgbClr val="2FE6C4"/>
            </a:solidFill>
            <a:prstDash val="solid"/>
          </a:ln>
          <a:effectLst>
            <a:outerShdw sx="100000" sy="100000" kx="0" ky="0" algn="bl" rotWithShape="0" blurRad="76200" dist="25400" dir="5400000">
              <a:srgbClr val="1F2429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9944" y="1773936"/>
            <a:ext cx="310896" cy="91440"/>
          </a:xfrm>
          <a:prstGeom prst="rect">
            <a:avLst/>
          </a:prstGeom>
          <a:solidFill>
            <a:srgbClr val="2FE6C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09944" y="1920240"/>
            <a:ext cx="1216152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1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7772400" y="2514600"/>
            <a:ext cx="411480" cy="0"/>
          </a:xfrm>
          <a:prstGeom prst="line">
            <a:avLst/>
          </a:prstGeom>
          <a:noFill/>
          <a:ln w="25400">
            <a:solidFill>
              <a:srgbClr val="8A939B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183880" y="1645920"/>
            <a:ext cx="1508760" cy="17373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22225">
            <a:solidFill>
              <a:srgbClr val="8B7FD9"/>
            </a:solidFill>
            <a:prstDash val="solid"/>
          </a:ln>
          <a:effectLst>
            <a:outerShdw sx="100000" sy="100000" kx="0" ky="0" algn="bl" rotWithShape="0" blurRad="76200" dist="25400" dir="5400000">
              <a:srgbClr val="1F2429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330184" y="1773936"/>
            <a:ext cx="310896" cy="91440"/>
          </a:xfrm>
          <a:prstGeom prst="rect">
            <a:avLst/>
          </a:prstGeom>
          <a:solidFill>
            <a:srgbClr val="8B7FD9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330184" y="1920240"/>
            <a:ext cx="1216152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2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9692640" y="2514600"/>
            <a:ext cx="411480" cy="0"/>
          </a:xfrm>
          <a:prstGeom prst="line">
            <a:avLst/>
          </a:prstGeom>
          <a:noFill/>
          <a:ln w="25400">
            <a:solidFill>
              <a:srgbClr val="8A939B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10104120" y="1645920"/>
            <a:ext cx="1508760" cy="17373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22225">
            <a:solidFill>
              <a:srgbClr val="E8A33D"/>
            </a:solidFill>
            <a:prstDash val="solid"/>
          </a:ln>
          <a:effectLst>
            <a:outerShdw sx="100000" sy="100000" kx="0" ky="0" algn="bl" rotWithShape="0" blurRad="76200" dist="25400" dir="5400000">
              <a:srgbClr val="1F2429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0250424" y="1773936"/>
            <a:ext cx="310896" cy="9144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10250424" y="1920240"/>
            <a:ext cx="1216152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N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10250424" y="2580437"/>
            <a:ext cx="1216152" cy="69311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more ordinary machines as load grows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263640" y="3657600"/>
            <a:ext cx="5349240" cy="2468880"/>
          </a:xfrm>
          <a:prstGeom prst="roundRect">
            <a:avLst>
              <a:gd name="adj" fmla="val 2593"/>
            </a:avLst>
          </a:prstGeom>
          <a:solidFill>
            <a:srgbClr val="FFFFFF"/>
          </a:solidFill>
          <a:ln w="19050">
            <a:solidFill>
              <a:srgbClr val="2FE6C4"/>
            </a:solidFill>
            <a:prstDash val="solid"/>
          </a:ln>
          <a:effectLst>
            <a:outerShdw sx="100000" sy="100000" kx="0" ky="0" algn="bl" rotWithShape="0" blurRad="50800" dist="12700" dir="5400000">
              <a:srgbClr val="1F2429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446520" y="3822192"/>
            <a:ext cx="274320" cy="82296"/>
          </a:xfrm>
          <a:prstGeom prst="rect">
            <a:avLst/>
          </a:prstGeom>
          <a:solidFill>
            <a:srgbClr val="2FE6C4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446520" y="3950208"/>
            <a:ext cx="4983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MACHINES, NOT MUSCLE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6446520" y="4206240"/>
            <a:ext cx="498348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scaling adds more ordinary servers as load grows instead of depending on one increasingly expensive machine — the foundational design choice behind every NoSQL family.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TRAITS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Characteristics of NoSQL Databases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537210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22225">
            <a:solidFill>
              <a:srgbClr val="2FE6C4"/>
            </a:solidFill>
            <a:prstDash val="solid"/>
          </a:ln>
          <a:effectLst>
            <a:outerShdw sx="100000" sy="100000" kx="0" ky="0" algn="bl" rotWithShape="0" blurRad="63500" dist="25400" dir="5400000">
              <a:srgbClr val="1F2429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13232" y="1426464"/>
            <a:ext cx="201168" cy="201168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05840" y="1371600"/>
            <a:ext cx="47320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Schema-flexible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1783080"/>
            <a:ext cx="4969764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don't need to share fields; new fields added on the fly, no ALTER TABLE, no downtime.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240780" y="1280160"/>
            <a:ext cx="537210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22225">
            <a:solidFill>
              <a:srgbClr val="8B7FD9"/>
            </a:solidFill>
            <a:prstDash val="solid"/>
          </a:ln>
          <a:effectLst>
            <a:outerShdw sx="100000" sy="100000" kx="0" ky="0" algn="bl" rotWithShape="0" blurRad="63500" dist="25400" dir="5400000">
              <a:srgbClr val="1F2429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5372" y="1426464"/>
            <a:ext cx="201168" cy="201168"/>
          </a:xfrm>
          <a:prstGeom prst="ellipse">
            <a:avLst/>
          </a:prstGeom>
          <a:solidFill>
            <a:srgbClr val="8B7FD9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697980" y="1371600"/>
            <a:ext cx="47320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Horizontally scalable by design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6441948" y="1783080"/>
            <a:ext cx="4969764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 spread data and load across many ordinary servers, not one powerful one.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3840480"/>
            <a:ext cx="537210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22225">
            <a:solidFill>
              <a:srgbClr val="E8A33D"/>
            </a:solidFill>
            <a:prstDash val="solid"/>
          </a:ln>
          <a:effectLst>
            <a:outerShdw sx="100000" sy="100000" kx="0" ky="0" algn="bl" rotWithShape="0" blurRad="63500" dist="25400" dir="5400000">
              <a:srgbClr val="1F2429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13232" y="3986784"/>
            <a:ext cx="201168" cy="20116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005840" y="3931920"/>
            <a:ext cx="47320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eventually consistent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749808" y="4343400"/>
            <a:ext cx="4969764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relax strict consistency for availability and speed — the BASE model instead of relational ACID.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240780" y="3840480"/>
            <a:ext cx="537210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22225">
            <a:solidFill>
              <a:srgbClr val="2FE6C4"/>
            </a:solidFill>
            <a:prstDash val="solid"/>
          </a:ln>
          <a:effectLst>
            <a:outerShdw sx="100000" sy="100000" kx="0" ky="0" algn="bl" rotWithShape="0" blurRad="63500" dist="25400" dir="5400000">
              <a:srgbClr val="1F2429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5372" y="3986784"/>
            <a:ext cx="201168" cy="201168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697980" y="3931920"/>
            <a:ext cx="47320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 for specific access patterns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6441948" y="4343400"/>
            <a:ext cx="4969764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family is built around the handful of operations it needs to be extremely fast at.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TO HEAD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vs. NoSQL Databases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6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3794760"/>
        </p:xfrm>
        <a:graphic>
          <a:graphicData uri="http://schemas.openxmlformats.org/drawingml/2006/table">
            <a:tbl>
              <a:tblPr/>
              <a:tblGrid>
                <a:gridCol w="2468880"/>
                <a:gridCol w="4297680"/>
                <a:gridCol w="4297680"/>
              </a:tblGrid>
              <a:tr h="6324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Relational (SQL)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NoSQL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</a:tr>
              <a:tr h="6324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Schema flexibility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Fixed, defined in advance; changes need ALTER TABLE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Flexible or absent; documents/records can differ in shape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324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Scaling 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Primarily vertical; horizontal scaling is possible but hard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Horizontal by default (add more servers)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324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Consistency 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 consistency, ACID transactions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Often eventual consistency, BASE model (varies by product)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324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Query language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 — standardized across vendors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Varies per product (MongoDB API, CQL, Gremlin, …)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324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Typical use case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Banking, ERP — strict integrity, complex joins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Content mgmt, catalogs, real-time analytics, social graphs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212080"/>
            <a:ext cx="1106424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9050">
            <a:solidFill>
              <a:srgbClr val="8B7FD9"/>
            </a:solidFill>
            <a:prstDash val="solid"/>
          </a:ln>
          <a:effectLst>
            <a:outerShdw sx="100000" sy="100000" kx="0" ky="0" algn="bl" rotWithShape="0" blurRad="50800" dist="12700" dir="5400000">
              <a:srgbClr val="1F2429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31520" y="5376672"/>
            <a:ext cx="274320" cy="82296"/>
          </a:xfrm>
          <a:prstGeom prst="rect">
            <a:avLst/>
          </a:prstGeom>
          <a:solidFill>
            <a:srgbClr val="8B7FD9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31520" y="5504688"/>
            <a:ext cx="10698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SPECTRUM, NOT A STRICT LINE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576072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relational engines support JSON columns and read replicas; several NoSQL products (MongoDB included) now support multi-document ACID transactions. This table describes each family's default center of gravity, not an absolute rule.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FAMILIES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NoSQL Databases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537210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22225">
            <a:solidFill>
              <a:srgbClr val="2FE6C4"/>
            </a:solidFill>
            <a:prstDash val="solid"/>
          </a:ln>
          <a:effectLst>
            <a:outerShdw sx="100000" sy="100000" kx="0" ky="0" algn="bl" rotWithShape="0" blurRad="63500" dist="25400" dir="5400000">
              <a:srgbClr val="1F2429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13232" y="1426464"/>
            <a:ext cx="201168" cy="201168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05840" y="1371600"/>
            <a:ext cx="47320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Store — MongoDB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1783080"/>
            <a:ext cx="4969764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self-contained, JSON-like documents grouped into collections. Each document can have its own shape.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240780" y="1280160"/>
            <a:ext cx="537210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22225">
            <a:solidFill>
              <a:srgbClr val="8B7FD9"/>
            </a:solidFill>
            <a:prstDash val="solid"/>
          </a:ln>
          <a:effectLst>
            <a:outerShdw sx="100000" sy="100000" kx="0" ky="0" algn="bl" rotWithShape="0" blurRad="63500" dist="25400" dir="5400000">
              <a:srgbClr val="1F2429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5372" y="1426464"/>
            <a:ext cx="201168" cy="201168"/>
          </a:xfrm>
          <a:prstGeom prst="ellipse">
            <a:avLst/>
          </a:prstGeom>
          <a:solidFill>
            <a:srgbClr val="8B7FD9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697980" y="1371600"/>
            <a:ext cx="47320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Key-Value Store — DynamoDB / Redis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6441948" y="1783080"/>
            <a:ext cx="4969764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an opaque value against a unique key — extremely fast lookups, minimal querying beyond “get this key.”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3840480"/>
            <a:ext cx="537210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22225">
            <a:solidFill>
              <a:srgbClr val="E8A33D"/>
            </a:solidFill>
            <a:prstDash val="solid"/>
          </a:ln>
          <a:effectLst>
            <a:outerShdw sx="100000" sy="100000" kx="0" ky="0" algn="bl" rotWithShape="0" blurRad="63500" dist="25400" dir="5400000">
              <a:srgbClr val="1F2429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13232" y="3986784"/>
            <a:ext cx="201168" cy="20116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005840" y="3931920"/>
            <a:ext cx="47320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Column-Family Store — Cassandra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749808" y="4343400"/>
            <a:ext cx="4969764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data in wide rows grouped by column families, tuned for very high write throughput across many nodes.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240780" y="3840480"/>
            <a:ext cx="537210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22225">
            <a:solidFill>
              <a:srgbClr val="2FE6C4"/>
            </a:solidFill>
            <a:prstDash val="solid"/>
          </a:ln>
          <a:effectLst>
            <a:outerShdw sx="100000" sy="100000" kx="0" ky="0" algn="bl" rotWithShape="0" blurRad="63500" dist="25400" dir="5400000">
              <a:srgbClr val="1F2429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5372" y="3986784"/>
            <a:ext cx="201168" cy="201168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697980" y="3931920"/>
            <a:ext cx="47320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Database — Neo4j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6441948" y="4343400"/>
            <a:ext cx="4969764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nodes and the relationships between them, purpose-built for traversal queries like “friends of friends.”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ORGANIZING DATA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NoSQL Data Models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8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64240" cy="3017520"/>
        </p:xfrm>
        <a:graphic>
          <a:graphicData uri="http://schemas.openxmlformats.org/drawingml/2006/table">
            <a:tbl>
              <a:tblPr/>
              <a:tblGrid>
                <a:gridCol w="1920240"/>
                <a:gridCol w="5943600"/>
                <a:gridCol w="3200400"/>
              </a:tblGrid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data is organized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subject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Self-contained, nested, JSON-like structure per record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MongoDB BSON documents (Lecture 27)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Key-value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 opaque value retrieved only by its exact key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Redis, DynamoDB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Column-family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Rows keyed by ID; columns grouped into families that vary row to row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Apache Cassandra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Graph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modeled explicitly as nodes and edges; traversal is the primitive operation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Neo4j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526280"/>
            <a:ext cx="11064240" cy="19202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9050">
            <a:solidFill>
              <a:srgbClr val="2FE6C4"/>
            </a:solidFill>
            <a:prstDash val="solid"/>
          </a:ln>
          <a:effectLst>
            <a:outerShdw sx="100000" sy="100000" kx="0" ky="0" algn="bl" rotWithShape="0" blurRad="50800" dist="12700" dir="5400000">
              <a:srgbClr val="1F2429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31520" y="4690872"/>
            <a:ext cx="274320" cy="82296"/>
          </a:xfrm>
          <a:prstGeom prst="rect">
            <a:avLst/>
          </a:prstGeom>
          <a:solidFill>
            <a:srgbClr val="2FE6C4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31520" y="4818888"/>
            <a:ext cx="10698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IDEA, DIFFERENT SHAPE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5074920"/>
            <a:ext cx="1069848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model pairs its product with a distinct way of organizing data — the document model (self-contained, nested, JSON-like) is the one this course goes hands-on with, starting next lecture.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 and Limitations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9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188720"/>
            <a:ext cx="5349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536192"/>
            <a:ext cx="5349240" cy="1444752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 w="22225">
            <a:solidFill>
              <a:srgbClr val="2FE6C4"/>
            </a:solidFill>
            <a:prstDash val="solid"/>
          </a:ln>
          <a:effectLst>
            <a:outerShdw sx="100000" sy="100000" kx="0" ky="0" algn="bl" rotWithShape="0" blurRad="76200" dist="25400" dir="5400000">
              <a:srgbClr val="1F2429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94944" y="2057400"/>
            <a:ext cx="91440" cy="310896"/>
          </a:xfrm>
          <a:prstGeom prst="rect">
            <a:avLst/>
          </a:prstGeom>
          <a:solidFill>
            <a:srgbClr val="2FE6C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14400" y="1609344"/>
            <a:ext cx="4800600" cy="65013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horizontally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2142988"/>
            <a:ext cx="4800600" cy="7946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commodity servers instead of a bigger one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23260" y="2980944"/>
            <a:ext cx="0" cy="256032"/>
          </a:xfrm>
          <a:prstGeom prst="line">
            <a:avLst/>
          </a:prstGeom>
          <a:noFill/>
          <a:ln w="25400">
            <a:solidFill>
              <a:srgbClr val="8A939B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48640" y="3236976"/>
            <a:ext cx="5349240" cy="1444752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 w="22225">
            <a:solidFill>
              <a:srgbClr val="8B7FD9"/>
            </a:solidFill>
            <a:prstDash val="solid"/>
          </a:ln>
          <a:effectLst>
            <a:outerShdw sx="100000" sy="100000" kx="0" ky="0" algn="bl" rotWithShape="0" blurRad="76200" dist="25400" dir="5400000">
              <a:srgbClr val="1F2429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94944" y="3758184"/>
            <a:ext cx="91440" cy="310896"/>
          </a:xfrm>
          <a:prstGeom prst="rect">
            <a:avLst/>
          </a:prstGeom>
          <a:solidFill>
            <a:srgbClr val="8B7FD9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14400" y="3310128"/>
            <a:ext cx="4800600" cy="65013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schema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3843772"/>
            <a:ext cx="4800600" cy="7946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 on the data model without migrations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23260" y="4681728"/>
            <a:ext cx="0" cy="256032"/>
          </a:xfrm>
          <a:prstGeom prst="line">
            <a:avLst/>
          </a:prstGeom>
          <a:noFill/>
          <a:ln w="25400">
            <a:solidFill>
              <a:srgbClr val="8A939B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48640" y="4937760"/>
            <a:ext cx="5349240" cy="1444752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 w="22225">
            <a:solidFill>
              <a:srgbClr val="E8A33D"/>
            </a:solidFill>
            <a:prstDash val="solid"/>
          </a:ln>
          <a:effectLst>
            <a:outerShdw sx="100000" sy="100000" kx="0" ky="0" algn="bl" rotWithShape="0" blurRad="76200" dist="25400" dir="5400000">
              <a:srgbClr val="1F2429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94944" y="5458968"/>
            <a:ext cx="91440" cy="310896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14400" y="5010912"/>
            <a:ext cx="4800600" cy="65013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for its access pattern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914400" y="5544556"/>
            <a:ext cx="4800600" cy="7946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Purpose-built for the operations it targets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6263640" y="1188720"/>
            <a:ext cx="5349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263640" y="1536192"/>
            <a:ext cx="5349240" cy="1444752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 w="22225">
            <a:solidFill>
              <a:srgbClr val="2FE6C4"/>
            </a:solidFill>
            <a:prstDash val="solid"/>
          </a:ln>
          <a:effectLst>
            <a:outerShdw sx="100000" sy="100000" kx="0" ky="0" algn="bl" rotWithShape="0" blurRad="76200" dist="25400" dir="5400000">
              <a:srgbClr val="1F2429">
                <a:alpha val="1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09944" y="2057400"/>
            <a:ext cx="91440" cy="310896"/>
          </a:xfrm>
          <a:prstGeom prst="rect">
            <a:avLst/>
          </a:prstGeom>
          <a:solidFill>
            <a:srgbClr val="2FE6C4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629400" y="1609344"/>
            <a:ext cx="4800600" cy="65013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Weaker consistency guarantees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629400" y="2142988"/>
            <a:ext cx="4800600" cy="7946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Eventual consistency can surprise developers used to ACID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938260" y="2980944"/>
            <a:ext cx="0" cy="256032"/>
          </a:xfrm>
          <a:prstGeom prst="line">
            <a:avLst/>
          </a:prstGeom>
          <a:noFill/>
          <a:ln w="25400">
            <a:solidFill>
              <a:srgbClr val="8A939B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6263640" y="3236976"/>
            <a:ext cx="5349240" cy="1444752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 w="22225">
            <a:solidFill>
              <a:srgbClr val="8B7FD9"/>
            </a:solidFill>
            <a:prstDash val="solid"/>
          </a:ln>
          <a:effectLst>
            <a:outerShdw sx="100000" sy="100000" kx="0" ky="0" algn="bl" rotWithShape="0" blurRad="76200" dist="25400" dir="5400000">
              <a:srgbClr val="1F2429">
                <a:alpha val="16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409944" y="3758184"/>
            <a:ext cx="91440" cy="310896"/>
          </a:xfrm>
          <a:prstGeom prst="rect">
            <a:avLst/>
          </a:prstGeom>
          <a:solidFill>
            <a:srgbClr val="8B7FD9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629400" y="3310128"/>
            <a:ext cx="4800600" cy="65013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standard query language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6629400" y="3843772"/>
            <a:ext cx="4800600" cy="7946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and tooling don't transfer between products like SQL does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938260" y="4681728"/>
            <a:ext cx="0" cy="256032"/>
          </a:xfrm>
          <a:prstGeom prst="line">
            <a:avLst/>
          </a:prstGeom>
          <a:noFill/>
          <a:ln w="25400">
            <a:solidFill>
              <a:srgbClr val="8A939B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263640" y="4937760"/>
            <a:ext cx="5349240" cy="1444752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 w="22225">
            <a:solidFill>
              <a:srgbClr val="E8A33D"/>
            </a:solidFill>
            <a:prstDash val="solid"/>
          </a:ln>
          <a:effectLst>
            <a:outerShdw sx="100000" sy="100000" kx="0" ky="0" algn="bl" rotWithShape="0" blurRad="76200" dist="25400" dir="5400000">
              <a:srgbClr val="1F2429">
                <a:alpha val="16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409944" y="5458968"/>
            <a:ext cx="91440" cy="310896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629400" y="5010912"/>
            <a:ext cx="4800600" cy="65013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Weaker or absent joins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6629400" y="5544556"/>
            <a:ext cx="4800600" cy="7946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Multi-collection/table relationships are harder to query in one step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FITS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NoSQL Use Cases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347472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22225">
            <a:solidFill>
              <a:srgbClr val="2FE6C4"/>
            </a:solidFill>
            <a:prstDash val="solid"/>
          </a:ln>
          <a:effectLst>
            <a:outerShdw sx="100000" sy="100000" kx="0" ky="0" algn="bl" rotWithShape="0" blurRad="63500" dist="25400" dir="5400000">
              <a:srgbClr val="1F2429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13232" y="1426464"/>
            <a:ext cx="201168" cy="201168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05840" y="137160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management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1783080"/>
            <a:ext cx="3072384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Articles, product pages, profiles that naturally vary in shape (document stores).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43400" y="1280160"/>
            <a:ext cx="347472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22225">
            <a:solidFill>
              <a:srgbClr val="8B7FD9"/>
            </a:solidFill>
            <a:prstDash val="solid"/>
          </a:ln>
          <a:effectLst>
            <a:outerShdw sx="100000" sy="100000" kx="0" ky="0" algn="bl" rotWithShape="0" blurRad="63500" dist="25400" dir="5400000">
              <a:srgbClr val="1F2429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07992" y="1426464"/>
            <a:ext cx="201168" cy="201168"/>
          </a:xfrm>
          <a:prstGeom prst="ellipse">
            <a:avLst/>
          </a:prstGeom>
          <a:solidFill>
            <a:srgbClr val="8B7FD9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800600" y="137160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analytics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4544568" y="1783080"/>
            <a:ext cx="3072384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High-velocity event and metrics data written far more often than updated (column-family).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138160" y="1280160"/>
            <a:ext cx="347472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22225">
            <a:solidFill>
              <a:srgbClr val="E8A33D"/>
            </a:solidFill>
            <a:prstDash val="solid"/>
          </a:ln>
          <a:effectLst>
            <a:outerShdw sx="100000" sy="100000" kx="0" ky="0" algn="bl" rotWithShape="0" blurRad="63500" dist="25400" dir="5400000">
              <a:srgbClr val="1F2429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302752" y="1426464"/>
            <a:ext cx="201168" cy="20116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595360" y="137160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catalogs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8339328" y="1783080"/>
            <a:ext cx="3072384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 with wildly different attribute sets — a book vs. a laptop — forcing sparse relational tables otherwise.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3840480"/>
            <a:ext cx="347472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22225">
            <a:solidFill>
              <a:srgbClr val="2FE6C4"/>
            </a:solidFill>
            <a:prstDash val="solid"/>
          </a:ln>
          <a:effectLst>
            <a:outerShdw sx="100000" sy="100000" kx="0" ky="0" algn="bl" rotWithShape="0" blurRad="63500" dist="25400" dir="5400000">
              <a:srgbClr val="1F2429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13232" y="3986784"/>
            <a:ext cx="201168" cy="201168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005840" y="393192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graphs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749808" y="4343400"/>
            <a:ext cx="3072384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Friend networks, recommendations, fraud detection built around “who's connected to whom” (graph).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343400" y="3840480"/>
            <a:ext cx="347472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22225">
            <a:solidFill>
              <a:srgbClr val="8B7FD9"/>
            </a:solidFill>
            <a:prstDash val="solid"/>
          </a:ln>
          <a:effectLst>
            <a:outerShdw sx="100000" sy="100000" kx="0" ky="0" algn="bl" rotWithShape="0" blurRad="63500" dist="25400" dir="5400000">
              <a:srgbClr val="1F2429">
                <a:alpha val="1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07992" y="3986784"/>
            <a:ext cx="201168" cy="201168"/>
          </a:xfrm>
          <a:prstGeom prst="ellipse">
            <a:avLst/>
          </a:prstGeom>
          <a:solidFill>
            <a:srgbClr val="8B7FD9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800600" y="393192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stores and caches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4544568" y="4343400"/>
            <a:ext cx="3072384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extremely fast get/set operations against a key (key-value).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HARD LIMIT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Theorem Overview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11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18872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a database is distributed — data spread across more than one machine — it can only fully guarantee two of these three properties at once, whenever a network partition occurs: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341376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22225">
            <a:solidFill>
              <a:srgbClr val="2FE6C4"/>
            </a:solidFill>
            <a:prstDash val="solid"/>
          </a:ln>
          <a:effectLst>
            <a:outerShdw sx="100000" sy="100000" kx="0" ky="0" algn="bl" rotWithShape="0" blurRad="76200" dist="25400" dir="5400000">
              <a:srgbClr val="1F2429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94944" y="2093976"/>
            <a:ext cx="310896" cy="91440"/>
          </a:xfrm>
          <a:prstGeom prst="rect">
            <a:avLst/>
          </a:prstGeom>
          <a:solidFill>
            <a:srgbClr val="2FE6C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94944" y="2240280"/>
            <a:ext cx="3121152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— Consistency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694944" y="2900477"/>
            <a:ext cx="3121152" cy="69311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read sees the most recent write, everywhere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962400" y="2834640"/>
            <a:ext cx="411480" cy="0"/>
          </a:xfrm>
          <a:prstGeom prst="line">
            <a:avLst/>
          </a:prstGeom>
          <a:noFill/>
          <a:ln w="25400">
            <a:solidFill>
              <a:srgbClr val="8A939B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373880" y="1965960"/>
            <a:ext cx="341376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22225">
            <a:solidFill>
              <a:srgbClr val="8B7FD9"/>
            </a:solidFill>
            <a:prstDash val="solid"/>
          </a:ln>
          <a:effectLst>
            <a:outerShdw sx="100000" sy="100000" kx="0" ky="0" algn="bl" rotWithShape="0" blurRad="76200" dist="25400" dir="5400000">
              <a:srgbClr val="1F2429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20184" y="2093976"/>
            <a:ext cx="310896" cy="91440"/>
          </a:xfrm>
          <a:prstGeom prst="rect">
            <a:avLst/>
          </a:prstGeom>
          <a:solidFill>
            <a:srgbClr val="8B7FD9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520184" y="2240280"/>
            <a:ext cx="3121152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— Availability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4520184" y="2900477"/>
            <a:ext cx="3121152" cy="69311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request gets a response, even if not the latest data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787640" y="2834640"/>
            <a:ext cx="411480" cy="0"/>
          </a:xfrm>
          <a:prstGeom prst="line">
            <a:avLst/>
          </a:prstGeom>
          <a:noFill/>
          <a:ln w="25400">
            <a:solidFill>
              <a:srgbClr val="8A939B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8199120" y="1965960"/>
            <a:ext cx="341376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22225">
            <a:solidFill>
              <a:srgbClr val="E8A33D"/>
            </a:solidFill>
            <a:prstDash val="solid"/>
          </a:ln>
          <a:effectLst>
            <a:outerShdw sx="100000" sy="100000" kx="0" ky="0" algn="bl" rotWithShape="0" blurRad="76200" dist="25400" dir="5400000">
              <a:srgbClr val="1F2429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345424" y="2093976"/>
            <a:ext cx="310896" cy="9144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345424" y="2240280"/>
            <a:ext cx="3121152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— Partition tolerance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8345424" y="2900477"/>
            <a:ext cx="3121152" cy="69311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keeps working even if servers can't talk to each other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3977640"/>
            <a:ext cx="11064240" cy="1737360"/>
          </a:xfrm>
          <a:prstGeom prst="roundRect">
            <a:avLst>
              <a:gd name="adj" fmla="val 3684"/>
            </a:avLst>
          </a:prstGeom>
          <a:solidFill>
            <a:srgbClr val="FFFFFF"/>
          </a:solidFill>
          <a:ln w="19050">
            <a:solidFill>
              <a:srgbClr val="2FE6C4"/>
            </a:solidFill>
            <a:prstDash val="solid"/>
          </a:ln>
          <a:effectLst>
            <a:outerShdw sx="100000" sy="100000" kx="0" ky="0" algn="bl" rotWithShape="0" blurRad="50800" dist="12700" dir="5400000">
              <a:srgbClr val="1F2429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31520" y="4142232"/>
            <a:ext cx="274320" cy="82296"/>
          </a:xfrm>
          <a:prstGeom prst="rect">
            <a:avLst/>
          </a:prstGeom>
          <a:solidFill>
            <a:srgbClr val="2FE6C4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31520" y="4270248"/>
            <a:ext cx="10698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ALL-THE-TIME — ONLY DURING A PARTITION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731520" y="4526280"/>
            <a:ext cx="106984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Outside an actual network partition, a well-built distributed system can offer strong consistency and high availability simultaneously. Most real products (MongoDB included) let you tune how they behave during a partition, rather than being locked into pure CP or pure AP.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CONCRETE SCENARIO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in Practice: The Lahore/Karachi Link Fails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170432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Servers span two data centers, replicating every write to each other. The link between them fails — partition tolerance isn't optional, since the failure already happened. For every write arriving while the link is down: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874520"/>
            <a:ext cx="5349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CONSISTENCY (GIVE UP AVAILABILITY)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2194560"/>
            <a:ext cx="5349240" cy="969264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22225">
            <a:solidFill>
              <a:srgbClr val="2FE6C4"/>
            </a:solidFill>
            <a:prstDash val="solid"/>
          </a:ln>
          <a:effectLst>
            <a:outerShdw sx="100000" sy="100000" kx="0" ky="0" algn="bl" rotWithShape="0" blurRad="76200" dist="25400" dir="5400000">
              <a:srgbClr val="1F2429">
                <a:alpha val="1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94944" y="2478024"/>
            <a:ext cx="91440" cy="310896"/>
          </a:xfrm>
          <a:prstGeom prst="rect">
            <a:avLst/>
          </a:prstGeom>
          <a:solidFill>
            <a:srgbClr val="2FE6C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14400" y="2267712"/>
            <a:ext cx="4800600" cy="43616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 the write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2601651"/>
            <a:ext cx="4800600" cy="5330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Karachi refuses new writes until it can confirm with Lahore again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23260" y="3163824"/>
            <a:ext cx="0" cy="256032"/>
          </a:xfrm>
          <a:prstGeom prst="line">
            <a:avLst/>
          </a:prstGeom>
          <a:noFill/>
          <a:ln w="25400">
            <a:solidFill>
              <a:srgbClr val="8A939B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48640" y="3419856"/>
            <a:ext cx="5349240" cy="969264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22225">
            <a:solidFill>
              <a:srgbClr val="8B7FD9"/>
            </a:solidFill>
            <a:prstDash val="solid"/>
          </a:ln>
          <a:effectLst>
            <a:outerShdw sx="100000" sy="100000" kx="0" ky="0" algn="bl" rotWithShape="0" blurRad="76200" dist="25400" dir="5400000">
              <a:srgbClr val="1F2429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94944" y="3703320"/>
            <a:ext cx="91440" cy="310896"/>
          </a:xfrm>
          <a:prstGeom prst="rect">
            <a:avLst/>
          </a:prstGeom>
          <a:solidFill>
            <a:srgbClr val="8B7FD9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14400" y="3493008"/>
            <a:ext cx="4800600" cy="43616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CP system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3826947"/>
            <a:ext cx="4800600" cy="5330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returns stale data, but some requests fail during the partition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263640" y="1874520"/>
            <a:ext cx="5349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AVAILABILITY (GIVE UP CONSISTENCY)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263640" y="2194560"/>
            <a:ext cx="5349240" cy="969264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22225">
            <a:solidFill>
              <a:srgbClr val="2FE6C4"/>
            </a:solidFill>
            <a:prstDash val="solid"/>
          </a:ln>
          <a:effectLst>
            <a:outerShdw sx="100000" sy="100000" kx="0" ky="0" algn="bl" rotWithShape="0" blurRad="76200" dist="25400" dir="5400000">
              <a:srgbClr val="1F2429">
                <a:alpha val="1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9944" y="2478024"/>
            <a:ext cx="91440" cy="310896"/>
          </a:xfrm>
          <a:prstGeom prst="rect">
            <a:avLst/>
          </a:prstGeom>
          <a:solidFill>
            <a:srgbClr val="2FE6C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629400" y="2267712"/>
            <a:ext cx="4800600" cy="43616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the write locally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629400" y="2601651"/>
            <a:ext cx="4800600" cy="5330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Karachi keeps serving requests using only its own local data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938260" y="3163824"/>
            <a:ext cx="0" cy="256032"/>
          </a:xfrm>
          <a:prstGeom prst="line">
            <a:avLst/>
          </a:prstGeom>
          <a:noFill/>
          <a:ln w="25400">
            <a:solidFill>
              <a:srgbClr val="8A939B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263640" y="3419856"/>
            <a:ext cx="5349240" cy="969264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22225">
            <a:solidFill>
              <a:srgbClr val="8B7FD9"/>
            </a:solidFill>
            <a:prstDash val="solid"/>
          </a:ln>
          <a:effectLst>
            <a:outerShdw sx="100000" sy="100000" kx="0" ky="0" algn="bl" rotWithShape="0" blurRad="76200" dist="25400" dir="5400000">
              <a:srgbClr val="1F2429">
                <a:alpha val="1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409944" y="3703320"/>
            <a:ext cx="91440" cy="310896"/>
          </a:xfrm>
          <a:prstGeom prst="rect">
            <a:avLst/>
          </a:prstGeom>
          <a:solidFill>
            <a:srgbClr val="8B7FD9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629400" y="3493008"/>
            <a:ext cx="4800600" cy="43616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AP system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6629400" y="3826947"/>
            <a:ext cx="4800600" cy="5330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responds, but Lahore and Karachi may briefly disagree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4572000"/>
            <a:ext cx="11064240" cy="118872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19050">
            <a:solidFill>
              <a:srgbClr val="8B7FD9"/>
            </a:solidFill>
            <a:prstDash val="solid"/>
          </a:ln>
          <a:effectLst>
            <a:outerShdw sx="100000" sy="100000" kx="0" ky="0" algn="bl" rotWithShape="0" blurRad="50800" dist="12700" dir="5400000">
              <a:srgbClr val="1F2429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31520" y="4736592"/>
            <a:ext cx="274320" cy="82296"/>
          </a:xfrm>
          <a:prstGeom prst="rect">
            <a:avLst/>
          </a:prstGeom>
          <a:solidFill>
            <a:srgbClr val="8B7FD9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731520" y="4864608"/>
            <a:ext cx="10698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EVENTUAL CONSISTENCY, AND THE CA OUTLIER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731520" y="512064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the link returns, an AP system reconciles the divergent writes — exactly what “eventual consistency” means. A single-server relational database is usually called CA — it was never partition-tolerant, because there was only ever one server to ask.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5615" y="3931920"/>
            <a:ext cx="3840480" cy="3840480"/>
          </a:xfrm>
          <a:prstGeom prst="ellipse">
            <a:avLst/>
          </a:prstGeom>
          <a:solidFill>
            <a:srgbClr val="2FE6C4">
              <a:alpha val="10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54864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2025396"/>
            <a:ext cx="109728" cy="109728"/>
          </a:xfrm>
          <a:prstGeom prst="rect">
            <a:avLst/>
          </a:prstGeom>
          <a:solidFill>
            <a:srgbClr val="2FE6C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43000" y="1600200"/>
            <a:ext cx="9875520" cy="941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databases hit real limits at web scale: vertical scaling's ceiling, expensive joins, rigid schemas.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822960" y="2967228"/>
            <a:ext cx="109728" cy="109728"/>
          </a:xfrm>
          <a:prstGeom prst="rect">
            <a:avLst/>
          </a:prstGeom>
          <a:solidFill>
            <a:srgbClr val="8B7FD9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143000" y="2542032"/>
            <a:ext cx="9875520" cy="941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NoSQL trades strict schema and strong consistency for horizontal scalability and schema flexibility — a deliberate trade-off, not a strict upgrade.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822960" y="3909060"/>
            <a:ext cx="109728" cy="10972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143000" y="3483864"/>
            <a:ext cx="9875520" cy="941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major families: document (MongoDB), key-value (DynamoDB, Redis), column-family (Cassandra), graph (Neo4j).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822960" y="4850892"/>
            <a:ext cx="109728" cy="109728"/>
          </a:xfrm>
          <a:prstGeom prst="rect">
            <a:avLst/>
          </a:prstGeom>
          <a:solidFill>
            <a:srgbClr val="2FE6C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143000" y="4425696"/>
            <a:ext cx="9875520" cy="941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theorem: a distributed system guarantees only two of Consistency, Availability, Partition tolerance during an actual partition.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822960" y="5792724"/>
            <a:ext cx="109728" cy="109728"/>
          </a:xfrm>
          <a:prstGeom prst="rect">
            <a:avLst/>
          </a:prstGeom>
          <a:solidFill>
            <a:srgbClr val="8B7FD9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143000" y="5367528"/>
            <a:ext cx="9875520" cy="941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NoSQL fits content management, analytics, flexible catalogs, and social graphs — the right tool for specific workloads, not a universal replacement.</a:t>
            </a:r>
            <a:endParaRPr lang="en-US" sz="1550" dirty="0"/>
          </a:p>
        </p:txBody>
      </p:sp>
      <p:sp>
        <p:nvSpPr>
          <p:cNvPr id="14" name="Text 12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2026-09-29T15:22:26Z</dcterms:created>
  <dcterms:modified xsi:type="dcterms:W3CDTF">2026-09-29T15:22:26Z</dcterms:modified>
</cp:coreProperties>
</file>
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206240" cy="4206240"/>
          </a:xfrm>
          <a:prstGeom prst="ellipse">
            <a:avLst/>
          </a:prstGeom>
          <a:solidFill>
            <a:srgbClr val="2FE6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3291840"/>
            <a:ext cx="2926080" cy="2926080"/>
          </a:xfrm>
          <a:prstGeom prst="ellipse">
            <a:avLst/>
          </a:prstGeom>
          <a:solidFill>
            <a:srgbClr val="8B7FD9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663440"/>
            <a:ext cx="3108960" cy="310896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 · LECTURE 27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Document Databases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and the Document Model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 — COMSATS University Islamabad, Lahore Campus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63624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49047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architecture: mongod, databases, collections, documents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3317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model vs. the relational row/table model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17296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 — why binary JSON, not plain text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87368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014216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types: ObjectId, dates, arrays, embedded documents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09360" y="1563624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39712" y="1490472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relationships by embedding vs. referencing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309360" y="240487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2331720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CRUD syntax: insert, find, update, delete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09360" y="324612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246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3172968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operators ($gt, $in, $and) and projections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09360" y="4087368"/>
            <a:ext cx="384048" cy="38404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4014216"/>
            <a:ext cx="46634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use cases for a document database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DATABASE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MongoDB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is an open-source, document-oriented NoSQL database, first released in 2009. Instead of rows in tables, it stores data as documents — flexible, nested, JSON-like structures — grouped into collections.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2603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450592"/>
            <a:ext cx="2251710" cy="5760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40380"/>
            <a:ext cx="225171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4710" y="2286000"/>
            <a:ext cx="252603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31870" y="2450592"/>
            <a:ext cx="2251710" cy="5760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31870" y="3040380"/>
            <a:ext cx="225171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flexible, nested, JSON-like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40780" y="2286000"/>
            <a:ext cx="252603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77940" y="2450592"/>
            <a:ext cx="2251710" cy="5760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query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77940" y="3040380"/>
            <a:ext cx="225171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+ indexing, not just get/set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86850" y="2286000"/>
            <a:ext cx="252603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24010" y="2450592"/>
            <a:ext cx="2251710" cy="5760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(v4.0+)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9224010" y="3040380"/>
            <a:ext cx="225171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Multi-document transactions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10642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18795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31596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LECTURE 26'S PRIORITIES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572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was built from the ground up around horizontal scaling and schema flexibility — while still offering a rich query language, indexing (the same core idea as Lecture 25, adapted to documents), and multi-document ACID transactions since version 4.0.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Architecture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— the mongosh shell, or a driver — connect to mongod (directly, or via a router in a cluster; Lecture 28) and issue commands against a four-level hierarchy: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37360" y="1783080"/>
            <a:ext cx="8686800" cy="1010412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2123694"/>
            <a:ext cx="100584" cy="32918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76272" y="1856232"/>
            <a:ext cx="8046720" cy="484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 server process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2176272" y="2247870"/>
            <a:ext cx="804672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MongoDB instance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2939796"/>
            <a:ext cx="8686800" cy="1010412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3280410"/>
            <a:ext cx="100584" cy="329184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76272" y="3012948"/>
            <a:ext cx="8046720" cy="484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176272" y="3404586"/>
            <a:ext cx="804672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university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4096512"/>
            <a:ext cx="8686800" cy="1010412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4437126"/>
            <a:ext cx="100584" cy="32918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176272" y="4169664"/>
            <a:ext cx="8046720" cy="484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2176272" y="4561302"/>
            <a:ext cx="804672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students, courses — analogous to a relational table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5253228"/>
            <a:ext cx="8686800" cy="1010412"/>
          </a:xfrm>
          <a:prstGeom prst="roundRect">
            <a:avLst>
              <a:gd name="adj" fmla="val 6335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20240" y="5593842"/>
            <a:ext cx="100584" cy="329184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176272" y="5326380"/>
            <a:ext cx="8046720" cy="484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2176272" y="5718018"/>
            <a:ext cx="804672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one student's record — analogous to a relational row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Collections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492240" cy="3246120"/>
          </a:xfrm>
          <a:prstGeom prst="roundRect">
            <a:avLst>
              <a:gd name="adj" fmla="val 2254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3502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33502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33502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1609344"/>
            <a:ext cx="5943600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single document in the "students" collection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_id: ObjectId("66f1a2b3c4d5e6f7a8b9c0d1"),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regNo: "FA21-BCS-045",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"Ayesha Khan",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gpa: 3.72,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department: "Computer Science",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isActive: true,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enrollmentDate: ISODate("2021-09-01")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18872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1481328"/>
            <a:ext cx="4343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34072" y="1627632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26680" y="157276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470648" y="1984248"/>
            <a:ext cx="39410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columns, every row has the same shape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265176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2944368"/>
            <a:ext cx="4343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34072" y="3090672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26680" y="303580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470648" y="3447288"/>
            <a:ext cx="39410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columns, documents can vary in shape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78231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91032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→ COLLECTION, ROW → DOCUMENT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16636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is MongoDB's rough analog of a table — but enforces no fixed schema: two documents can have entirely different fields. A document is the analog of a row — but its values can be arrays or nested documents, not just flat scalars.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 Data Format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does not store documents as plain-text JSON. It stores them as BSON (“Binary JSON”) — designed for two things text JSON can't do well: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721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92938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187452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data types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86000"/>
            <a:ext cx="49697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JSON only has strings, numbers, booleans, null, arrays, objects. BSON adds dates, binary data, and a dedicated 12-byte ObjectId type.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0780" y="1783080"/>
            <a:ext cx="53721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5372" y="192938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97980" y="1874520"/>
            <a:ext cx="47320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traversal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2286000"/>
            <a:ext cx="49697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BSON field is stored with a length prefix, so the database skips directly past fields it doesn't need instead of parsing character by character.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95935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08736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WRITE BSON BY HAND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343400"/>
            <a:ext cx="10698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ordinary-looking JSON-like syntax in mongosh or a driver, and MongoDB encodes it to BSON internally, decoding it back to a readable representation whenever you view 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 Types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50292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4937760"/>
              </a:tblGrid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ObjectId("66f1a2b3...")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12-byte unique identifier, auto-generated as 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"Ayesha Khan"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UTF-8 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Int32 / Int64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42, 9223372036854775807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numbers, like a relational INT/BIGINT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type for a decimal literal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true, false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ISODate("2021-09-01")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internally as ms since the Unix epoch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["CSC270", "CSC211"]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ordered list — values need not share a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Document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street: "...", city: "..." 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document nested as the value of a 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RELATIONSHIPS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Related Data: One-to-Few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mental shift from the relational model: instead of splitting related data into separate tables, a document can embed related data directly inside the parent — trading normalization for reading everything about one entity in a single read.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with at most a handful of addresses — small, bounded, almost always read together with its parent: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64240" cy="3794760"/>
          </a:xfrm>
          <a:prstGeom prst="roundRect">
            <a:avLst>
              <a:gd name="adj" fmla="val 1928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243230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43230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Shape 8"/>
          <p:cNvSpPr/>
          <p:nvPr/>
        </p:nvSpPr>
        <p:spPr>
          <a:xfrm>
            <a:off x="1024128" y="243230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706624"/>
            <a:ext cx="10515600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db.students.insertOne({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regNo: "FA21-BCS-045",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"Ayesha Khan",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addresses: [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type: "home", city: "Islamabad", street: "6 Lawrence St" },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type: "hostel", city: "Islamabad", street: "COMSATS Hostel Block C" }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RELATIONSHIPS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Related Data: One-to-Many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943600" cy="3337560"/>
          </a:xfrm>
          <a:prstGeom prst="roundRect">
            <a:avLst>
              <a:gd name="adj" fmla="val 2192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3502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33502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33502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1609344"/>
            <a:ext cx="5394960" cy="2770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db.students.insertOne({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regNo: "FA21-BCS-045",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"Ayesha Khan",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gpa: 3.72,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enrolledCourses: [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courseCode: "CSC270", title: "Database Systems",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creditHours: 3, semester: "Fall 2025" },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courseCode: "CSC211", title: "Algorithms and Data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Structures", creditHours: 3, semester: "Fall 2025" 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1188720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(LECTURE 16)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1463040"/>
            <a:ext cx="4892040" cy="591312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67144" y="1557528"/>
            <a:ext cx="91440" cy="3108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086600" y="1536192"/>
            <a:ext cx="4343400" cy="266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table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1711391"/>
            <a:ext cx="4343400" cy="3252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regNo, name, gpa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66860" y="2054352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20840" y="2310384"/>
            <a:ext cx="4892040" cy="591312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67144" y="2404872"/>
            <a:ext cx="91440" cy="3108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86600" y="2383536"/>
            <a:ext cx="4343400" cy="266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table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558735"/>
            <a:ext cx="4343400" cy="3252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regNo (FK), courseCode (FK)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66860" y="2901696"/>
            <a:ext cx="0" cy="256032"/>
          </a:xfrm>
          <a:prstGeom prst="line">
            <a:avLst/>
          </a:prstGeom>
          <a:noFill/>
          <a:ln w="25400">
            <a:solidFill>
              <a:srgbClr val="8A939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20840" y="3157728"/>
            <a:ext cx="4892040" cy="591312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1F2429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67144" y="3252216"/>
            <a:ext cx="9144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86600" y="3230880"/>
            <a:ext cx="4343400" cy="266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table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406079"/>
            <a:ext cx="4343400" cy="3252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courseCode, title, creditHours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3886200"/>
            <a:ext cx="489204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4050792"/>
            <a:ext cx="274320" cy="82296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4178808"/>
            <a:ext cx="4526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APPROACH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434840"/>
            <a:ext cx="4526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document with enrolledCourses embedded directly as an array — reading a student's courses needs a two-table join relationally, but no join at all here.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OPTION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Referencing Instead of Embedding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isn't always right. When related data is large, unbounded, or queried independently of its “parent” — many students sharing the same course — documents can instead reference each other by ObjectId, much closer to a relational foreign key: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5798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15798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215798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41832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432304"/>
            <a:ext cx="10515600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Referencing instead of embedding -- closer to a relational foreign key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db.students.insertOne({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regNo: "FA21-BCS-045",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"Ayesha Khan",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enrolledCourseIds: [ ObjectId("66f2b1c0..."), ObjectId("66f2b1c1...") ]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4325112"/>
            <a:ext cx="274320" cy="82296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45312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FOR TOGETHER, REFERENCE FOR INDEPENDENT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70916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relational model normalizes first and joins at query time; MongoDB asks you to design around your actual read pattern first — embed what you almost always read together, reference what you need to query, update, or share independently.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— CREATE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Documents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4572000"/>
          </a:xfrm>
          <a:prstGeom prst="roundRect">
            <a:avLst>
              <a:gd name="adj" fmla="val 1600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2646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42646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42646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1832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1700784"/>
            <a:ext cx="10515600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db.students.insertOne({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regNo: "FA21-BCS-046",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"Bilal Ahmed",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gpa: 3.15,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department: "Computer Science",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isActive: true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db.students.insertMany([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regNo: "FA21-BCS-047", name: "Sara Malik", gpa: 3.90,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department: "Software Engineering", isActive: true },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regNo: "FA21-BCS-048", name: "Hamza Tariq", gpa: 2.85,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department: "Computer Science", isActive: false }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— READ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Documents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2646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42646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42646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1832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1700784"/>
            <a:ext cx="1051560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document in the collection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Documents matching an exact value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department: "Computer Science" });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Just the first match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db.students.findOne({ regNo: "FA21-BCS-045" });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maps to SQL's SELECT * ... WHERE; findOne() returns a single document instead of a cursor.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— UPDATE &amp; DELETE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and Deleting Documents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3502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33502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33502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1832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1609344"/>
            <a:ext cx="1051560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db.students.updateOne(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regNo: "FA21-BCS-045" },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$set: { gpa: 3.80 } }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db.students.deleteOne({ regNo: "FA21-BCS-048" });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db.students.deleteMany({ isActive: false });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0642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50800" dist="12700" dir="5400000">
              <a:srgbClr val="1F242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4279392"/>
            <a:ext cx="274320" cy="822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407408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UPDATEONE/DELETEONE WITHOUT A UNIQUE FILTER IS A SILENT TRAP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6634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act on the first document MongoDB happens to match — if your filter isn't actually unique, you may not modify the document you meant to. Filter on a genuinely unique field (regNo, or _id) whenever you intend to touch exactly one document, the same discipline a relational WHERE on a primary key gives you.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EXACT MATCH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Operators and Projections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943600" cy="3337560"/>
          </a:xfrm>
          <a:prstGeom prst="roundRect">
            <a:avLst>
              <a:gd name="adj" fmla="val 2192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3502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33502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33502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1609344"/>
            <a:ext cx="5394960" cy="2770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$gt: greater than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gpa: { $gt: 3.5 } });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$in: value is one of a given set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department: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$in: ["Computer Science", "Software Engineering"] } });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$and: every condition must hold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$and: [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gpa: { $gte: 3.0 } }, { isActive: true } ] });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188720"/>
          <a:ext cx="4892040" cy="3337560"/>
        </p:xfrm>
        <a:graphic>
          <a:graphicData uri="http://schemas.openxmlformats.org/drawingml/2006/table">
            <a:tbl>
              <a:tblPr/>
              <a:tblGrid>
                <a:gridCol w="1463040"/>
                <a:gridCol w="1965960"/>
                <a:gridCol w="1463040"/>
              </a:tblGrid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equivalent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$eq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$gt / $gte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/ or equal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/ &gt;=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$lt / $lte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/ or equal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/ &lt;=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is in a given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(...)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$and / $or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conditions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/ 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F2429"/>
          </a:solidFill>
          <a:ln w="19050">
            <a:solidFill>
              <a:srgbClr val="2FE6C4"/>
            </a:solidFill>
            <a:prstDash val="solid"/>
          </a:ln>
          <a:effectLst>
            <a:outerShdw sx="100000" sy="100000" kx="0" ky="0" algn="bl" rotWithShape="0" blurRad="76200" dist="25400" dir="5400000">
              <a:srgbClr val="14181C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3232" y="485546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4855464"/>
            <a:ext cx="100584" cy="100584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128" y="4855464"/>
            <a:ext cx="100584" cy="100584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941832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mongosh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" y="5129784"/>
            <a:ext cx="1051560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7C879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Projection: return only name and gpa (suppress _id)</a:t>
            </a:r>
            <a:endParaRPr lang="en-US" sz="13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E8ED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gpa: { $gt: 3.5 } }, { name: 1, gpa: 1, _id: 0 });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Use Cases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42646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Content-management systems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78308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and pages that naturally vary in structure.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2801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42646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178308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Wildly different attributes per category.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E8A33D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02752" y="142646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0" y="1371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178308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evolving fields per user.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986784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SPA backends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34340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shape matches the app's own objects.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384048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22225">
            <a:solidFill>
              <a:srgbClr val="8B7FD9"/>
            </a:solidFill>
            <a:prstDash val="solid"/>
          </a:ln>
          <a:effectLst>
            <a:outerShdw sx="100000" sy="100000" kx="0" ky="0" algn="bl" rotWithShape="0" blurRad="63500" dist="25400" dir="5400000">
              <a:srgbClr val="1F2429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07992" y="3986784"/>
            <a:ext cx="201168" cy="201168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3931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Fast-evolving schemas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44568" y="4343400"/>
            <a:ext cx="307238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product development without migrations.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3931920"/>
            <a:ext cx="3840480" cy="3840480"/>
          </a:xfrm>
          <a:prstGeom prst="ellipse">
            <a:avLst/>
          </a:prstGeom>
          <a:solidFill>
            <a:srgbClr val="2FE6C4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025396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documents grouped into collections, served by mongod — roughly collection ≈ table, document ≈ row, but neither enforces a fixed shape.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967228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542032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data as BSON, not plain text JSON — for richer types (ObjectId, Date) and faster binary traversal.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3909060"/>
            <a:ext cx="109728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483864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relationships by embedding (data almost always read together) or referencing an ObjectId (closer to a foreign key, better for independent queries).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4850892"/>
            <a:ext cx="109728" cy="10972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425696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verbs — insertOne/insertMany, find/findOne, updateOne/updateMany, deleteOne/deleteMany — map directly onto SQL's INSERT, SELECT, UPDATE, DELETE.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5792724"/>
            <a:ext cx="109728" cy="109728"/>
          </a:xfrm>
          <a:prstGeom prst="rect">
            <a:avLst/>
          </a:prstGeom>
          <a:solidFill>
            <a:srgbClr val="8B7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5367528"/>
            <a:ext cx="987552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operators ($gt, $in, $and) and projections give MongoDB most of SQL's WHERE/SELECT expressive power, in document form.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2026-09-29T15:23:26Z</dcterms:created>
  <dcterms:modified xsi:type="dcterms:W3CDTF">2026-09-29T15:23:26Z</dcterms:modified>
</cp:coreProperties>
</file>
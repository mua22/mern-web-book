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1" r:id="rId22"/>
    <p:sldId id="258" r:id="rId4"/>
    <p:sldId id="259" r:id="rId5"/>
    <p:sldId id="260" r:id="rId6"/>
    <p:sldId id="261" r:id="rId7"/>
    <p:sldId id="272" r:id="rId23"/>
    <p:sldId id="262" r:id="rId8"/>
    <p:sldId id="263" r:id="rId9"/>
    <p:sldId id="264" r:id="rId10"/>
    <p:sldId id="265" r:id="rId11"/>
    <p:sldId id="273" r:id="rId24"/>
    <p:sldId id="266" r:id="rId12"/>
    <p:sldId id="267" r:id="rId13"/>
    <p:sldId id="274" r:id="rId25"/>
    <p:sldId id="268" r:id="rId14"/>
    <p:sldId id="275" r:id="rId26"/>
    <p:sldId id="269" r:id="rId15"/>
    <p:sldId id="270" r:id="rId16"/>
    <p:sldId id="276" r:id="rId27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  <Relationship Id="rId22" Type="http://schemas.openxmlformats.org/officeDocument/2006/relationships/slide" Target="slides/slide16.xml"/>
  <Relationship Id="rId23" Type="http://schemas.openxmlformats.org/officeDocument/2006/relationships/slide" Target="slides/slide17.xml"/>
  <Relationship Id="rId24" Type="http://schemas.openxmlformats.org/officeDocument/2006/relationships/slide" Target="slides/slide18.xml"/>
  <Relationship Id="rId25" Type="http://schemas.openxmlformats.org/officeDocument/2006/relationships/slide" Target="slides/slide19.xml"/>
  <Relationship Id="rId26" Type="http://schemas.openxmlformats.org/officeDocument/2006/relationships/slide" Target="slides/slide20.xml"/>
  <Relationship Id="rId27" Type="http://schemas.openxmlformats.org/officeDocument/2006/relationships/slide" Target="slides/slide21.xml"/>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1463040"/>
            <a:ext cx="4206240" cy="4206240"/>
          </a:xfrm>
          <a:prstGeom prst="ellipse">
            <a:avLst/>
          </a:prstGeom>
          <a:solidFill>
            <a:srgbClr val="2FE6C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62895" y="3291840"/>
            <a:ext cx="2926080" cy="2926080"/>
          </a:xfrm>
          <a:prstGeom prst="ellipse">
            <a:avLst/>
          </a:prstGeom>
          <a:solidFill>
            <a:srgbClr val="8B7FD9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663440"/>
            <a:ext cx="3108960" cy="3108960"/>
          </a:xfrm>
          <a:prstGeom prst="ellipse">
            <a:avLst/>
          </a:prstGeom>
          <a:solidFill>
            <a:srgbClr val="E8A33D">
              <a:alpha val="1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 · LECTURE 28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Beyond One Server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Sharding and Replication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 — COMSATS University Islamabad, Lahore Campus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63624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1490472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replication exists: availability and read scaling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404872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2331720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sets — primary and secondary roles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3172968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failover and elections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4087368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4014216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reads and writes are routed across a replica set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1563624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839712" y="1490472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sharding exists: write and storage scaling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309360" y="240487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39712" y="2331720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Sharded cluster architecture: shards, config servers, mongos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309360" y="324612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839712" y="3172968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good shard key, and the hotspots a bad one causes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309360" y="4087368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09360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839712" y="4014216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balancer, and why production clusters use both together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REPLICATION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Replication Exists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mongod, however well it handles documents, is still just one server — one point of failure, and one machine's worth of disk and CPU. Replication keeps multiple synced copies of the same data to solve two problems: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721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20370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214884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560320"/>
            <a:ext cx="496976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one server holding your data crashes, the application goes down with it. Multiple copies mean it can keep running on a surviving copy.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0780" y="2057400"/>
            <a:ext cx="53721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5372" y="2203704"/>
            <a:ext cx="201168" cy="20116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97980" y="214884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scaling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41948" y="2560320"/>
            <a:ext cx="496976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server has a ceiling on reads per second it can serve; spreading reads across several copies raises that ceiling.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TOPOLOGY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Sets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replica set is a group of mongod instances that all hold the same data. It almost always has an odd number of members (three is typical) — which matters for elections below.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413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2231136"/>
            <a:ext cx="310896" cy="914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" y="2377440"/>
            <a:ext cx="312115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3107131"/>
            <a:ext cx="3121152" cy="8065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all writes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62400" y="3063240"/>
            <a:ext cx="411480" cy="0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73880" y="2103120"/>
            <a:ext cx="3413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0184" y="2231136"/>
            <a:ext cx="310896" cy="91440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20184" y="2377440"/>
            <a:ext cx="312115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20184" y="3107131"/>
            <a:ext cx="3121152" cy="8065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Replicates the oplog from the primary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87640" y="3063240"/>
            <a:ext cx="411480" cy="0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99120" y="2103120"/>
            <a:ext cx="3413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45424" y="2231136"/>
            <a:ext cx="310896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45424" y="2377440"/>
            <a:ext cx="312115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45424" y="3107131"/>
            <a:ext cx="3121152" cy="8065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Replicates the oplog from the primary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1106424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507992"/>
            <a:ext cx="274320" cy="822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63600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THREE-MEMBER REPLICA SET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8920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member is primary at any moment — the only node that accepts writes. Every other member is a secondary, continuously replicating the primary's changes by tailing its oplog (operations log) and re-applying the same operations locally.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and Secondary Nodes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413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1453896"/>
            <a:ext cx="310896" cy="914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94944" y="1600200"/>
            <a:ext cx="31211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writes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2295144"/>
            <a:ext cx="312115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sends a write operation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62400" y="2240280"/>
            <a:ext cx="411480" cy="0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73880" y="1325880"/>
            <a:ext cx="3413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0184" y="1453896"/>
            <a:ext cx="310896" cy="91440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0184" y="1600200"/>
            <a:ext cx="31211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applies it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20184" y="2295144"/>
            <a:ext cx="312115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the operation in its oplog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87640" y="2240280"/>
            <a:ext cx="411480" cy="0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99120" y="1325880"/>
            <a:ext cx="3413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45424" y="1453896"/>
            <a:ext cx="310896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45424" y="1600200"/>
            <a:ext cx="31211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Secondaries tail the oplog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45424" y="2295144"/>
            <a:ext cx="312115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Re-apply the same operations locally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547872"/>
            <a:ext cx="274320" cy="822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67588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SECONDARIES ARE ALWAYS SLIGHTLY BEHIND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93192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by milliseconds, but under heavy load or a slow network link that lag can grow — which matters for the read-routing choice ahead.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5102352"/>
            <a:ext cx="274320" cy="822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523036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PRIMARY REJOINS AS A SECONDARY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failed primary comes back online, it does not reclaim its role automatically — it rejoins as a secondary, catches up from the oplog, and needs a fresh election to become primary again.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Failover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primary becomes unreachable — a crash, a network partition, planned maintenance — the remaining members detect this through heartbeats and trigger an election.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413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2093976"/>
            <a:ext cx="310896" cy="914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" y="2240280"/>
            <a:ext cx="31211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fails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2935224"/>
            <a:ext cx="312115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Heartbeats to it start timing out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62400" y="2880360"/>
            <a:ext cx="411480" cy="0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73880" y="1965960"/>
            <a:ext cx="3413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0184" y="2093976"/>
            <a:ext cx="310896" cy="91440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20184" y="2240280"/>
            <a:ext cx="31211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20184" y="2935224"/>
            <a:ext cx="312115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Surviving secondaries vote among themselves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87640" y="2880360"/>
            <a:ext cx="411480" cy="0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99120" y="1965960"/>
            <a:ext cx="3413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45424" y="2093976"/>
            <a:ext cx="310896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45424" y="2240280"/>
            <a:ext cx="31211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primary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45424" y="2935224"/>
            <a:ext cx="312115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former secondary now accepts writes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110642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187952"/>
            <a:ext cx="274320" cy="822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31596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ODD MEMBER COUNT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572000"/>
            <a:ext cx="10698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majority (quorum) of the replica set's members must be reachable and agree for an election to succeed. With three members, losing any one still leaves a clear majority of two able to elect a primary; with an even count, a split can leave neither side with a majority.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Operations in Replication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always go to the primary — the only member allowed to accept them. Reads can be directed to secondaries too, controlled by the application's read preference: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2880360"/>
        </p:xfrm>
        <a:graphic>
          <a:graphicData uri="http://schemas.openxmlformats.org/drawingml/2006/table">
            <a:tbl>
              <a:tblPr/>
              <a:tblGrid>
                <a:gridCol w="3017520"/>
                <a:gridCol w="8046720"/>
              </a:tblGrid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preference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(default)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reads go to the primary — always the most up-to-date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primaryPreferred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 the primary, fall back to a secondary if unreachable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reads go to a secondary — spreads out load, may return stale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secondaryPreferred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 a secondary, fall back to the primary if none available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to whichever member has the lowest network latency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9204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5056632"/>
            <a:ext cx="274320" cy="822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518464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TRADE-OFF, NOT A FREE WIN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4406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reads to secondaries raises read capacity, but oplog replication delay means an app reading a secondary can see slightly stale data — fine for a dashboard, usually unacceptable for a “did my write succeed” confirmation.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SHARDING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Sharding Exists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solves availability and read capacity — but every member of a replica set still holds the entire dataset, so it does nothing for a dataset too large, or a write volume too high, for any single server to hold or handle at all.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642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450592"/>
            <a:ext cx="274320" cy="822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57860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PARTITIONS, REPLICATION COPIES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10698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solves a different problem: it partitions a collection's data across multiple servers, so each one holds only a slice of the total — both storage and write capacity grow as you add more shards.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1106424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4507992"/>
            <a:ext cx="274320" cy="822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63600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NEVER TALKS TO SHARDS DIRECTLY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89204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sharded MongoDB deployment adds a routing layer and a metadata layer on top of the shards themselves — covered on the following slides.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TOPOLOGY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Sharded Cluster Architecture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832104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1449324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307592"/>
            <a:ext cx="10515600" cy="3744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583924"/>
            <a:ext cx="10515600" cy="4576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every query exactly as it would to a single mongod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2066544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322576"/>
            <a:ext cx="11064240" cy="832104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4944" y="2537460"/>
            <a:ext cx="91440" cy="3108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2395728"/>
            <a:ext cx="10515600" cy="3744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mongos (query router)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672060"/>
            <a:ext cx="10515600" cy="4576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out which shard(s) hold the relevant data, consulting config server metadata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52958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3474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1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3886200"/>
            <a:ext cx="30723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one slice of the data — e.g. regNo A–H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43400" y="338328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07992" y="3529584"/>
            <a:ext cx="201168" cy="20116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00600" y="3474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2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544568" y="3886200"/>
            <a:ext cx="30723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another slice — e.g. regNo I–P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0" y="338328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02752" y="352958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95360" y="3474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3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339328" y="3886200"/>
            <a:ext cx="307238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another slice — e.g. regNo Q–Z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983480"/>
            <a:ext cx="11064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5148072"/>
            <a:ext cx="274320" cy="822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527608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SERVERS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55321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cluster's metadata — which chunks (ranges of shard-key values) currently live on which shard — and are themselves run as a replica set for availability. Each shard, in production, is not a single server but its own replica set.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DECISION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Keys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sharded collection needs a shard key — the field MongoDB uses to decide which chunk, and shard, a document belongs to: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83794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1783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cardinality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194560"/>
            <a:ext cx="30723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distinct values, so data can split into many chunks. Five-value fields never produce more than five useful chunks.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07992" y="1837944"/>
            <a:ext cx="201168" cy="20116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1783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distribution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194560"/>
            <a:ext cx="30723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spread roughly evenly across the range, so no one chunk (or shard) ends up disproportionately large or busy.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183794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95360" y="1783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hotspots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39328" y="2194560"/>
            <a:ext cx="30723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monotonically increasing key sends every new write to the shard owning the highest-value chunk — a bottleneck.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110642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005072"/>
            <a:ext cx="274320" cy="822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13308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TIMESTAMP OR AUTO-INCREMENT ID IS A CLASSIC BAD SHARD KEY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389120"/>
            <a:ext cx="10698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high-cardinality, but every new document has a larger value than the last, so all new writes land on the single shard holding the topmost chunk — exactly the hotspot sharding was supposed to prevent. A compound shard key with a higher-entropy field is a better choice.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MONGOS IN 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Routing and mongos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QUERY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81912"/>
            <a:ext cx="5349240" cy="1106424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" y="1933956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655064"/>
            <a:ext cx="4800600" cy="4978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includes the shard key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046610"/>
            <a:ext cx="4800600" cy="6085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mongos computes exactly which shard(s) hold the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3260" y="2688336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944368"/>
            <a:ext cx="5349240" cy="1106424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" y="3296412"/>
            <a:ext cx="91440" cy="3108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017520"/>
            <a:ext cx="4800600" cy="4978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only there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409066"/>
            <a:ext cx="4800600" cy="6085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— touches only the relevant shard(s)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23444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SCATTER-GATHER QUERY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581912"/>
            <a:ext cx="5349240" cy="1106424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9944" y="1933956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29400" y="1655064"/>
            <a:ext cx="4800600" cy="4978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omits the shard key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2046610"/>
            <a:ext cx="4800600" cy="6085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mongos can't tell which shard has the answer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38260" y="2688336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63640" y="2944368"/>
            <a:ext cx="5349240" cy="1106424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9944" y="3296412"/>
            <a:ext cx="91440" cy="3108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29400" y="3017520"/>
            <a:ext cx="4800600" cy="4978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to every shard, merges results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3409066"/>
            <a:ext cx="4800600" cy="6085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more expensive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251960"/>
            <a:ext cx="1106424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4416552"/>
            <a:ext cx="274320" cy="822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454456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WORKLOAD FIRST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80060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Shard-key choice should be driven by the application's most common queries — the same “know your workload” principle behind Lecture 25's index selection. A poorly chosen key turns routine queries into expensive scatter-gathers.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THINGS EVEN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and Data Distribution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413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1591056"/>
            <a:ext cx="310896" cy="914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94944" y="1737360"/>
            <a:ext cx="312115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grow unevenly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2467051"/>
            <a:ext cx="3121152" cy="8065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Inserts, updates, deletes skew one range of the shard key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62400" y="2423160"/>
            <a:ext cx="411480" cy="0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73880" y="1463040"/>
            <a:ext cx="3413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0184" y="1591056"/>
            <a:ext cx="310896" cy="91440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0184" y="1737360"/>
            <a:ext cx="312115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Balancer detects imbalance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20184" y="2467051"/>
            <a:ext cx="3121152" cy="8065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background process watches chunk distribution across shards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87640" y="2423160"/>
            <a:ext cx="411480" cy="0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99120" y="1463040"/>
            <a:ext cx="3413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45424" y="1591056"/>
            <a:ext cx="310896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45424" y="1737360"/>
            <a:ext cx="312115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Migrates / splits chunks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45424" y="2467051"/>
            <a:ext cx="3121152" cy="8065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chunks between shards, splitting oversized ones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1106424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822192"/>
            <a:ext cx="274320" cy="822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95020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LARGELY INVISIBLE TO THE APPLICATION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20624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runs automatically, aside from a brief moment of extra load while a chunk migration is in progress — the application keeps sending queries through mongos exactly as before.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PROBLEMS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vs. Replication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17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374904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297680"/>
              </a:tblGrid>
              <a:tr h="624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solved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availability, read scaling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write and storage scaling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each node holds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complete dataset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different slice of the dataset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it protects against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Losing a single server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 out of capacity on a single server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components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Primary, secondaries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Shards, config servers, mongos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unit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replica 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sharded cluster (built from multiple replica sets)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6636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5330952"/>
            <a:ext cx="274320" cy="822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545896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COMPETING TECHNIQUES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7150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answer different questions, and a serious production deployment uses both simultaneously — shown on the next slide.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Production Topology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80160" y="1234440"/>
            <a:ext cx="9601200" cy="105613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1597914"/>
            <a:ext cx="100584" cy="329184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719072" y="1307592"/>
            <a:ext cx="8961120" cy="5069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mongos query router(s)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719072" y="1720261"/>
            <a:ext cx="8961120" cy="5280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application actually connects 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80160" y="2436876"/>
            <a:ext cx="9601200" cy="105613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63040" y="2800350"/>
            <a:ext cx="100584" cy="329184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719072" y="2510028"/>
            <a:ext cx="8961120" cy="5069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server replica set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719072" y="2922697"/>
            <a:ext cx="8961120" cy="5280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metadata, itself replicated for availability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80160" y="3639312"/>
            <a:ext cx="9601200" cy="105613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463040" y="4002786"/>
            <a:ext cx="100584" cy="32918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719072" y="3712464"/>
            <a:ext cx="8961120" cy="5069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1 = its own replica set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719072" y="4125133"/>
            <a:ext cx="8961120" cy="5280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+ secondaries, holding one slice of the 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80160" y="4841748"/>
            <a:ext cx="9601200" cy="105613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463040" y="5205222"/>
            <a:ext cx="100584" cy="329184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719072" y="4914900"/>
            <a:ext cx="8961120" cy="5069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2 = its own replica set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719072" y="5327569"/>
            <a:ext cx="8961120" cy="5280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+ secondaries, holding another slice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3931920"/>
            <a:ext cx="3840480" cy="3840480"/>
          </a:xfrm>
          <a:prstGeom prst="ellipse">
            <a:avLst/>
          </a:prstGeom>
          <a:solidFill>
            <a:srgbClr val="2FE6C4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46910"/>
            <a:ext cx="109728" cy="109728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60020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copies the same data across a replica set — solving availability and read scaling. Writes go to the primary; reads can route to secondaries via a read preference.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731770"/>
            <a:ext cx="109728" cy="109728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38506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failover elects a new primary from surviving secondaries, requiring a majority (quorum) to agree.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516630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16992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splits different slices of a collection across shards — solving horizontal write and storage capacity, a different problem from replication.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4301490"/>
            <a:ext cx="109728" cy="109728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95478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sharded cluster routes every query through mongos, using config-server metadata to send a targeted query or an expensive scatter-gather.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5086350"/>
            <a:ext cx="109728" cy="109728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473964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key choice — high cardinality, even distribution, no monotonic hotspot — is the single most consequential sharding decision, echoing Lecture 25's index selection.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5871210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552450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production, both techniques combine: a sharded cluster's individual shards are themselves replica sets.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3931920"/>
            <a:ext cx="3840480" cy="3840480"/>
          </a:xfrm>
          <a:prstGeom prst="ellipse">
            <a:avLst/>
          </a:prstGeom>
          <a:solidFill>
            <a:srgbClr val="2FE6C4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One Server Is Not Enough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46910"/>
            <a:ext cx="109728" cy="109728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60020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copies the same data to a replica set — solving availability and read scaling.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731770"/>
            <a:ext cx="109728" cy="109728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38506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always go to the primary; reads can go to secondaries, at the cost of possible staleness.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516630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16992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Sharding splits different slices of a collection across shards — solving write and storage capacity.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4301490"/>
            <a:ext cx="109728" cy="109728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95478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enters through mongos, which uses config-server metadata to route it.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5086350"/>
            <a:ext cx="109728" cy="109728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473964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shard key decides whether capacity really scales.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5871210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552450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clusters use both techniques together.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Failover, Step by Step: Three-Member Replica Set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P (primary), S1 and S2 (secondaries). At 10:00, P crashes. Here is what happens next.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721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20370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214884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Heartbeats time out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560320"/>
            <a:ext cx="496976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and S2 stop hearing from P and mark it unreachable within seconds.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0780" y="2057400"/>
            <a:ext cx="53721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5372" y="2203704"/>
            <a:ext cx="201168" cy="20116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97980" y="214884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Election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41948" y="2560320"/>
            <a:ext cx="496976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and S2 vote. Two of three votes is a majority, so the election succeeds.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Shard Key: studentId vs. Enrollment Year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students collection, three shards. Compare two candidate shard keys on the three criteria.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83794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1783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cardinality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194560"/>
            <a:ext cx="30723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 has ~100,000 values, so many chunks. Enrollment year has 4 values, so few chunks.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07992" y="1837944"/>
            <a:ext cx="201168" cy="20116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1783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distribution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194560"/>
            <a:ext cx="30723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 spreads evenly across the range. Enrollment year puts whole cohorts on one shard.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183794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95360" y="1783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hotspots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39328" y="2194560"/>
            <a:ext cx="30723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sequential numeric ID hot-spots the top chunk; a hashed studentId spreads new inserts.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110642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005072"/>
            <a:ext cx="274320" cy="822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13308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389120"/>
            <a:ext cx="10698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studentId is the better key. Enrollment year has too few values and clusters new writes.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ROUTING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vs. Scatter-Gather Queries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413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1591056"/>
            <a:ext cx="310896" cy="91440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94944" y="1737360"/>
            <a:ext cx="312115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query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2467051"/>
            <a:ext cx="3121152" cy="8065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find({ studentId: 1234 }) goes only to the shard that owns that chunk.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62400" y="2423160"/>
            <a:ext cx="411480" cy="0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73880" y="1463040"/>
            <a:ext cx="3413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0184" y="1591056"/>
            <a:ext cx="310896" cy="91440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0184" y="1737360"/>
            <a:ext cx="312115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Scatter-gather query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20184" y="2467051"/>
            <a:ext cx="3121152" cy="8065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find({ gpa: { $gt: 3.5 } }) makes mongos ask every shard, then merge the results.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87640" y="2423160"/>
            <a:ext cx="411480" cy="0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99120" y="1463040"/>
            <a:ext cx="3413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45424" y="1591056"/>
            <a:ext cx="310896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45424" y="1737360"/>
            <a:ext cx="312115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difference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45424" y="2467051"/>
            <a:ext cx="3121152" cy="8065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reads touch one shard; scatter-gather cost grows with the number of shards.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1106424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822192"/>
            <a:ext cx="274320" cy="822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95020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20624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on the shard key whenever you can. Otherwise every shard does work for one answer.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a Cluster: When One Replica Set Is Not Enough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18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numbers: 2 TB of data today, 4 TB disks per server, and a peak of 15,000 writes/s against a single primary's 10,000 writes/s limit.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642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450592"/>
            <a:ext cx="274320" cy="822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57860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STORAGE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10698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 fits on one server today, but 10 TB of growth needs at least three shards of data.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1106424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4507992"/>
            <a:ext cx="274320" cy="822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63600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WRITES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89204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writes/s exceed one primary, so split the writes across two or more shards.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3931920"/>
            <a:ext cx="3840480" cy="3840480"/>
          </a:xfrm>
          <a:prstGeom prst="ellipse">
            <a:avLst/>
          </a:prstGeom>
          <a:solidFill>
            <a:srgbClr val="2FE6C4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Close: The Recurring Trade-Offs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46910"/>
            <a:ext cx="109728" cy="109728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60020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versus availability: CAP forces a choice during a partition.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731770"/>
            <a:ext cx="109728" cy="109728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38506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versus embedding: model for the read pattern, not only the shape of the data.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516630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16992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server versus many: vertical scaling has a ceiling; horizontal scaling adds coordination cost.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4301490"/>
            <a:ext cx="109728" cy="109728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95478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read speed versus write cost: every index slows writes.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5086350"/>
            <a:ext cx="109728" cy="109728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473964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key choice decides whether capacity actually scales.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5871210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5524500"/>
            <a:ext cx="9875520" cy="784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is a trade-off — name what you gave up.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2026-09-29T15:24:21Z</dcterms:created>
  <dcterms:modified xsi:type="dcterms:W3CDTF">2026-09-29T15:24:21Z</dcterms:modified>
</cp:coreProperties>
</file>
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82735" y="-1463040"/>
            <a:ext cx="4206240" cy="4206240"/>
          </a:xfrm>
          <a:prstGeom prst="ellipse">
            <a:avLst/>
          </a:prstGeom>
          <a:solidFill>
            <a:srgbClr val="2FE6C4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362895" y="3291840"/>
            <a:ext cx="2926080" cy="2926080"/>
          </a:xfrm>
          <a:prstGeom prst="ellipse">
            <a:avLst/>
          </a:prstGeom>
          <a:solidFill>
            <a:srgbClr val="8B7FD9">
              <a:alpha val="14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280160" y="4663440"/>
            <a:ext cx="3108960" cy="3108960"/>
          </a:xfrm>
          <a:prstGeom prst="ellipse">
            <a:avLst/>
          </a:prstGeom>
          <a:solidFill>
            <a:srgbClr val="E8A33D">
              <a:alpha val="10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55448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CSC270 · DATABASE SYSTEMS · LECTURE 29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92024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8 · Transaction Management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77440"/>
            <a:ext cx="100584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Transactions and ACID Properties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160520"/>
            <a:ext cx="9326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transaction is, the states it moves through, and the four guarantees every DBMS makes about it.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563624"/>
            <a:ext cx="384048" cy="38404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6362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1490472"/>
            <a:ext cx="4663440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database transaction?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2404872"/>
            <a:ext cx="384048" cy="384048"/>
          </a:xfrm>
          <a:prstGeom prst="ellipse">
            <a:avLst/>
          </a:prstGeom>
          <a:solidFill>
            <a:srgbClr val="8B7FD9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40487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170432" y="2331720"/>
            <a:ext cx="4663440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processing: commit vs. abort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40080" y="324612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32461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170432" y="3172968"/>
            <a:ext cx="4663440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states — the full state diagram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309360" y="1563624"/>
            <a:ext cx="384048" cy="38404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09360" y="156362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839712" y="1490472"/>
            <a:ext cx="4663440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ACID properties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6309360" y="2404872"/>
            <a:ext cx="384048" cy="384048"/>
          </a:xfrm>
          <a:prstGeom prst="ellipse">
            <a:avLst/>
          </a:prstGeom>
          <a:solidFill>
            <a:srgbClr val="8B7FD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309360" y="240487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839712" y="2331720"/>
            <a:ext cx="4663440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transfer, traced: with and without atomicity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6309360" y="324612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309360" y="32461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839712" y="3172968"/>
            <a:ext cx="4663440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management in the DBMS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Database Transaction?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3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71600"/>
            <a:ext cx="57607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a logical unit of work — one or more read/write operations that must be treated as a single, indivisible action. Either every operation completes and is recorded permanently, or none of them are.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46120"/>
            <a:ext cx="5760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valid outcome where the database ends up “half-updated.”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83680" y="1371600"/>
            <a:ext cx="5029200" cy="3657600"/>
          </a:xfrm>
          <a:prstGeom prst="roundRect">
            <a:avLst>
              <a:gd name="adj" fmla="val 2000"/>
            </a:avLst>
          </a:prstGeom>
          <a:solidFill>
            <a:srgbClr val="14181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0" y="157276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PKR 10,000 TRANSFER: A101 → A205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858000" y="1965960"/>
            <a:ext cx="448056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 TRANSACTION;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UPDATE Account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SET balance = balance - 10000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WHERE accountNo = 'A101';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UPDATE Account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SET balance = balance + 10000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WHERE accountNo = 'A205';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COMMIT;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DBMS HANDLES IT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Processing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4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processing guarantees that each transaction's effect on the database is exactly as if it had run alone — even with hundreds of others executing at the same instant, and even if hardware fails mid-transaction.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48640" y="2331720"/>
            <a:ext cx="528066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13232" y="2478024"/>
            <a:ext cx="201168" cy="20116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05840" y="2423160"/>
            <a:ext cx="46405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834640"/>
            <a:ext cx="4878324" cy="2514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operation succeeded. The DBMS makes all of the transaction's changes permanent.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149340" y="2331720"/>
            <a:ext cx="528066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22225">
            <a:solidFill>
              <a:srgbClr val="E8A33D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313932" y="2478024"/>
            <a:ext cx="201168" cy="20116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06540" y="2423160"/>
            <a:ext cx="46405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Abort (Rollback)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6350508" y="2834640"/>
            <a:ext cx="4878324" cy="2514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prevented completion. The DBMS undoes any partial changes, returning the database to its pre-transaction state.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DIAGRAM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States — The Successful Path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34137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94944" y="1682496"/>
            <a:ext cx="310896" cy="91440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94944" y="1828800"/>
            <a:ext cx="312115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694944" y="2488997"/>
            <a:ext cx="3121152" cy="69311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Executing its read/write operations.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962400" y="2423160"/>
            <a:ext cx="411480" cy="0"/>
          </a:xfrm>
          <a:prstGeom prst="line">
            <a:avLst/>
          </a:prstGeom>
          <a:noFill/>
          <a:ln w="25400">
            <a:solidFill>
              <a:srgbClr val="8A939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373880" y="1554480"/>
            <a:ext cx="34137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22225">
            <a:solidFill>
              <a:srgbClr val="8B7FD9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20184" y="1682496"/>
            <a:ext cx="310896" cy="91440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20184" y="1828800"/>
            <a:ext cx="312115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Partially Committed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4520184" y="2488997"/>
            <a:ext cx="3121152" cy="69311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operation executed; not yet made durable.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787640" y="2423160"/>
            <a:ext cx="411480" cy="0"/>
          </a:xfrm>
          <a:prstGeom prst="line">
            <a:avLst/>
          </a:prstGeom>
          <a:noFill/>
          <a:ln w="25400">
            <a:solidFill>
              <a:srgbClr val="8A939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199120" y="1554480"/>
            <a:ext cx="34137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22225">
            <a:solidFill>
              <a:srgbClr val="E8A33D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45424" y="1682496"/>
            <a:ext cx="310896" cy="914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345424" y="1828800"/>
            <a:ext cx="312115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Committed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8345424" y="2488997"/>
            <a:ext cx="3121152" cy="69311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Effects permanently recorded — durable, visible to others.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657600"/>
            <a:ext cx="110642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Committed and Aborted are always final. 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a transaction commits, nothing — not even a later crash — is allowed to undo it. That guarantee is Durability.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DIAGRAM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States — The Failure Path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34137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94944" y="1682496"/>
            <a:ext cx="310896" cy="91440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94944" y="1828800"/>
            <a:ext cx="312115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694944" y="2488997"/>
            <a:ext cx="3121152" cy="69311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Executing its read/write operations.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962400" y="2423160"/>
            <a:ext cx="411480" cy="0"/>
          </a:xfrm>
          <a:prstGeom prst="line">
            <a:avLst/>
          </a:prstGeom>
          <a:noFill/>
          <a:ln w="25400">
            <a:solidFill>
              <a:srgbClr val="8A939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373880" y="1554480"/>
            <a:ext cx="34137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22225">
            <a:solidFill>
              <a:srgbClr val="8B7FD9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20184" y="1682496"/>
            <a:ext cx="310896" cy="91440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20184" y="1828800"/>
            <a:ext cx="312115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4520184" y="2488997"/>
            <a:ext cx="3121152" cy="69311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execution can no longer proceed — constraint violation, deadlock, or crash.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787640" y="2423160"/>
            <a:ext cx="411480" cy="0"/>
          </a:xfrm>
          <a:prstGeom prst="line">
            <a:avLst/>
          </a:prstGeom>
          <a:noFill/>
          <a:ln w="25400">
            <a:solidFill>
              <a:srgbClr val="8A939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199120" y="1554480"/>
            <a:ext cx="34137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22225">
            <a:solidFill>
              <a:srgbClr val="E8A33D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45424" y="1682496"/>
            <a:ext cx="310896" cy="914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345424" y="1828800"/>
            <a:ext cx="312115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Aborted (Terminated)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8345424" y="2488997"/>
            <a:ext cx="3121152" cy="69311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DBMS has rolled back every effect; database restored to its pre-transaction state.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657600"/>
            <a:ext cx="110642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</a:t>
            </a:r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Partially Committed can also transition to Failed — if the DBMS discovers, while finalizing, that it cannot guarantee durability, it moves to Failed and then Aborted instead.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GUARANTEES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ACID Properties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53721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609344"/>
            <a:ext cx="201168" cy="20116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05840" y="1554480"/>
            <a:ext cx="47320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Atomicity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1965960"/>
            <a:ext cx="4969764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of a transaction's operations happen, or none do — no partial effect is ever left behind.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240780" y="1463040"/>
            <a:ext cx="53721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22225">
            <a:solidFill>
              <a:srgbClr val="8B7FD9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5372" y="1609344"/>
            <a:ext cx="201168" cy="201168"/>
          </a:xfrm>
          <a:prstGeom prst="ellipse">
            <a:avLst/>
          </a:prstGeom>
          <a:solidFill>
            <a:srgbClr val="8B7F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97980" y="1554480"/>
            <a:ext cx="47320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Consistency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6441948" y="1965960"/>
            <a:ext cx="4969764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transaction takes the database from one valid state to another, never violating an integrity constraint.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3840480"/>
            <a:ext cx="53721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22225">
            <a:solidFill>
              <a:srgbClr val="E8A33D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13232" y="3986784"/>
            <a:ext cx="201168" cy="20116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05840" y="3931920"/>
            <a:ext cx="47320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749808" y="4343400"/>
            <a:ext cx="4969764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 transactions don't see each other's incomplete, in-progress effects.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240780" y="3840480"/>
            <a:ext cx="53721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5372" y="3986784"/>
            <a:ext cx="201168" cy="20116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97980" y="3931920"/>
            <a:ext cx="47320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Durability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6441948" y="4343400"/>
            <a:ext cx="4969764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committed, a transaction's effects survive any later crash.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ACID, PART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Atomicity and Consistency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8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17320"/>
            <a:ext cx="5349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Atomicity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5349240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9050">
            <a:solidFill>
              <a:srgbClr val="2FE6C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965960"/>
            <a:ext cx="48920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“all-or-nothing” property: a transaction's operations are treated as a single, indivisible unit. If any operation cannot complete, the DBMS undoes every operation that did already run — as if the transaction never started.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417320"/>
            <a:ext cx="5349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Consistency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63640" y="1783080"/>
            <a:ext cx="5349240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9050">
            <a:solidFill>
              <a:srgbClr val="8B7FD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92240" y="1965960"/>
            <a:ext cx="48920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transaction, run to completion, takes the database from one valid state to another — never violating a domain, entity, referential, or general constraint. A DBMS enforces the constraints it knows about; encoding the business rule itself (e.g. “a transfer must debit exactly what it credits”) is the application's job.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ACID, PART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and Durability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9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17320"/>
            <a:ext cx="5349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5349240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965960"/>
            <a:ext cx="48920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Concurrently executing transactions do not interfere with one another — each behaves as though it were the only one running. Without isolation, one transaction could read another's half-finished work. This is a large enough topic to get its own full lecture next.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417320"/>
            <a:ext cx="5349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Durability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63640" y="1783080"/>
            <a:ext cx="5349240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9050">
            <a:solidFill>
              <a:srgbClr val="2FE6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92240" y="1965960"/>
            <a:ext cx="48920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a transaction commits, its effects are permanent — they survive any subsequent failure. Delivered by writing a log of every change to stable storage before confirming the commit, so even a total loss of memory can be recovered from. The mechanics are Lecture 31's subject in full.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Bank Transfer, Traced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10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71600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1 — both statements succeed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5394960" cy="3291840"/>
        </p:xfrm>
        <a:graphic>
          <a:graphicData uri="http://schemas.openxmlformats.org/drawingml/2006/table">
            <a:tbl>
              <a:tblPr/>
              <a:tblGrid>
                <a:gridCol w="731520"/>
                <a:gridCol w="3017520"/>
                <a:gridCol w="164592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9E8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9E8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9E8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BEGIN TRANSACTION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Debit A101 by 10,000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Credit A205 by 10,000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operation done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Partially Committed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flushed to disk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Committed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263640" y="1371600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2 — crash after debit, before credit</a:t>
            </a:r>
            <a:endParaRPr lang="en-US" sz="125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691640"/>
          <a:ext cx="5394960" cy="3291840"/>
        </p:xfrm>
        <a:graphic>
          <a:graphicData uri="http://schemas.openxmlformats.org/drawingml/2006/table">
            <a:tbl>
              <a:tblPr/>
              <a:tblGrid>
                <a:gridCol w="731520"/>
                <a:gridCol w="3108960"/>
                <a:gridCol w="155448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76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76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761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BEGIN TRANSACTION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Debit A101 by 10,000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(system crash)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Recovery manager undoes step 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Aborted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A101 restored to original balance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(over)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Atomicity Prevents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53721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22225">
            <a:solidFill>
              <a:srgbClr val="E8A33D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609344"/>
            <a:ext cx="201168" cy="20116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05840" y="1554480"/>
            <a:ext cx="47320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Atomicity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1965960"/>
            <a:ext cx="4969764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2 would leave A101 debited and A205 never credited — PKR 10,000 simply gone, with no record of where it went.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240780" y="1463040"/>
            <a:ext cx="53721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63500" dist="25400" dir="5400000">
              <a:srgbClr val="1F2429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5372" y="1609344"/>
            <a:ext cx="201168" cy="20116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97980" y="1554480"/>
            <a:ext cx="47320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Atomicity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6441948" y="1965960"/>
            <a:ext cx="4969764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recovery manager detects the incomplete transaction on restart, reverses the debit using the log — the books are exactly as if the transfer never happened.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397764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FFF7EA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41148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without atomicity would still be broken: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perfect isolation between transactions says nothing about whether this transfer itself gets fully applied or fully reversed. All four ACID properties are independently necessary; none can substitute for another.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PUTTING IT TOGETHER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Management in the DBMS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12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DBMS subsystem that tracks every transaction's state, enforces atomicity and consistency on commit or abort, and coordinates with two supporting subsystems.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286000"/>
            <a:ext cx="34137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2225">
            <a:solidFill>
              <a:srgbClr val="2FE6C4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94944" y="2414016"/>
            <a:ext cx="310896" cy="91440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94944" y="2560320"/>
            <a:ext cx="312115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Manager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694944" y="3255264"/>
            <a:ext cx="3121152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transaction state; enforces commit/abort semantics.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962400" y="3200400"/>
            <a:ext cx="411480" cy="0"/>
          </a:xfrm>
          <a:prstGeom prst="line">
            <a:avLst/>
          </a:prstGeom>
          <a:noFill/>
          <a:ln w="25400">
            <a:solidFill>
              <a:srgbClr val="8A939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373880" y="2286000"/>
            <a:ext cx="34137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2225">
            <a:solidFill>
              <a:srgbClr val="8B7FD9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20184" y="2414016"/>
            <a:ext cx="310896" cy="91440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20184" y="2560320"/>
            <a:ext cx="312115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Concurrency Control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4520184" y="3255264"/>
            <a:ext cx="3121152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Delivers Isolation — Lecture 30.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787640" y="3200400"/>
            <a:ext cx="411480" cy="0"/>
          </a:xfrm>
          <a:prstGeom prst="line">
            <a:avLst/>
          </a:prstGeom>
          <a:noFill/>
          <a:ln w="25400">
            <a:solidFill>
              <a:srgbClr val="8A939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8199120" y="2286000"/>
            <a:ext cx="34137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2225">
            <a:solidFill>
              <a:srgbClr val="E8A33D"/>
            </a:solidFill>
            <a:prstDash val="solid"/>
          </a:ln>
          <a:effectLst>
            <a:outerShdw sx="100000" sy="100000" kx="0" ky="0" algn="bl" rotWithShape="0" blurRad="76200" dist="25400" dir="5400000">
              <a:srgbClr val="1F2429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45424" y="2414016"/>
            <a:ext cx="310896" cy="914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345424" y="2560320"/>
            <a:ext cx="312115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Manager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8345424" y="3255264"/>
            <a:ext cx="3121152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Delivers Durability — Lecture 31.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3931920"/>
            <a:ext cx="3840480" cy="3840480"/>
          </a:xfrm>
          <a:prstGeom prst="ellipse">
            <a:avLst/>
          </a:prstGeom>
          <a:solidFill>
            <a:srgbClr val="2FE6C4">
              <a:alpha val="1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4864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025396"/>
            <a:ext cx="109728" cy="109728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3000" y="1600200"/>
            <a:ext cx="9875520" cy="941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transaction is a logical unit of work — one or more read/write operations that must succeed or fail as a whole.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822960" y="2967228"/>
            <a:ext cx="109728" cy="109728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143000" y="2542032"/>
            <a:ext cx="9875520" cy="941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transaction moves through well-defined states: Active, Partially Committed, and either Committed or (via Failed) Aborted.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822960" y="3909060"/>
            <a:ext cx="109728" cy="1097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43000" y="3483864"/>
            <a:ext cx="9875520" cy="941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ACID — Atomicity, Consistency, Isolation, Durability — is the precise definition of a correctly executed transaction.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822960" y="4850892"/>
            <a:ext cx="109728" cy="109728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143000" y="4425696"/>
            <a:ext cx="9875520" cy="941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bank-transfer trace showed what atomicity prevents: without it, a crash mid-transfer silently destroys money.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822960" y="5792724"/>
            <a:ext cx="109728" cy="109728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143000" y="5367528"/>
            <a:ext cx="9875520" cy="941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management coordinates concurrency control and the recovery manager to deliver the full ACID guarantee.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2026-09-29T15:19:08Z</dcterms:created>
  <dcterms:modified xsi:type="dcterms:W3CDTF">2026-09-29T15:19:08Z</dcterms:modified>
</cp:coreProperties>
</file>
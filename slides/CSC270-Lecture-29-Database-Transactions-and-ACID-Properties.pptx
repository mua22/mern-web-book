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20"/>
    <p:sldId id="270" r:id="rId21"/>
    <p:sldId id="271" r:id="rId22"/>
    <p:sldId id="272" r:id="rId23"/>
    <p:sldId id="273" r:id="rId24"/>
    <p:sldId id="265" r:id="rId11"/>
    <p:sldId id="266" r:id="rId12"/>
    <p:sldId id="267" r:id="rId13"/>
    <p:sldId id="274" r:id="rId25"/>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9082735" y="-1463040"/>
            <a:ext cx="4206240" cy="4206240"/>
          </a:xfrm>
          <a:prstGeom prst="ellipse">
            <a:avLst/>
          </a:prstGeom>
          <a:solidFill>
            <a:srgbClr val="2FE6C4">
              <a:alpha val="12000"/>
            </a:srgbClr>
          </a:solidFill>
          <a:ln/>
        </p:spPr>
      </p:sp>
      <p:sp>
        <p:nvSpPr>
          <p:cNvPr id="3" name="Shape 1"/>
          <p:cNvSpPr/>
          <p:nvPr/>
        </p:nvSpPr>
        <p:spPr>
          <a:xfrm>
            <a:off x="10362895" y="3291840"/>
            <a:ext cx="2926080" cy="2926080"/>
          </a:xfrm>
          <a:prstGeom prst="ellipse">
            <a:avLst/>
          </a:prstGeom>
          <a:solidFill>
            <a:srgbClr val="8B7FD9">
              <a:alpha val="14000"/>
            </a:srgbClr>
          </a:solidFill>
          <a:ln/>
        </p:spPr>
      </p:sp>
      <p:sp>
        <p:nvSpPr>
          <p:cNvPr id="4" name="Shape 2"/>
          <p:cNvSpPr/>
          <p:nvPr/>
        </p:nvSpPr>
        <p:spPr>
          <a:xfrm>
            <a:off x="-1280160" y="4663440"/>
            <a:ext cx="3108960" cy="3108960"/>
          </a:xfrm>
          <a:prstGeom prst="ellipse">
            <a:avLst/>
          </a:prstGeom>
          <a:solidFill>
            <a:srgbClr val="E8A33D">
              <a:alpha val="10000"/>
            </a:srgbClr>
          </a:solidFill>
          <a:ln/>
        </p:spPr>
      </p:sp>
      <p:sp>
        <p:nvSpPr>
          <p:cNvPr id="5" name="Text 3"/>
          <p:cNvSpPr txBox="1"/>
          <p:nvPr/>
        </p:nvSpPr>
        <p:spPr>
          <a:xfrm>
            <a:off x="822960" y="1554480"/>
            <a:ext cx="9601200" cy="365760"/>
          </a:xfrm>
          <a:prstGeom prst="rect">
            <a:avLst/>
          </a:prstGeom>
          <a:noFill/>
          <a:ln/>
        </p:spPr>
        <p:txBody>
          <a:bodyPr wrap="square" rtlCol="0" anchor="ctr"/>
          <a:lstStyle/>
          <a:p>
            <a:pPr indent="0" marL="0">
              <a:buNone/>
            </a:pPr>
            <a:r>
              <a:rPr lang="en-US" sz="2000" b="1" spc="200" kern="0" dirty="0">
                <a:solidFill>
                  <a:srgbClr val="2FE6C4"/>
                </a:solidFill>
                <a:latin typeface="Calibri" pitchFamily="34" charset="0"/>
                <a:ea typeface="Calibri" pitchFamily="34" charset="-122"/>
                <a:cs typeface="Calibri" pitchFamily="34" charset="-120"/>
              </a:rPr>
              <a:t>CSC270 · DATABASE SYSTEMS · LECTURE 29</a:t>
            </a:r>
            <a:endParaRPr lang="en-US" sz="2000" dirty="0"/>
          </a:p>
        </p:txBody>
      </p:sp>
      <p:sp>
        <p:nvSpPr>
          <p:cNvPr id="6" name="Text 4"/>
          <p:cNvSpPr txBox="1"/>
          <p:nvPr/>
        </p:nvSpPr>
        <p:spPr>
          <a:xfrm>
            <a:off x="822960" y="1920240"/>
            <a:ext cx="9875520" cy="3657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Unit 8 · Transaction Management</a:t>
            </a:r>
            <a:endParaRPr lang="en-US" sz="1800" dirty="0"/>
          </a:p>
        </p:txBody>
      </p:sp>
      <p:sp>
        <p:nvSpPr>
          <p:cNvPr id="7" name="Text 5"/>
          <p:cNvSpPr txBox="1"/>
          <p:nvPr/>
        </p:nvSpPr>
        <p:spPr>
          <a:xfrm>
            <a:off x="822960" y="2377440"/>
            <a:ext cx="10058400" cy="1828800"/>
          </a:xfrm>
          <a:prstGeom prst="rect">
            <a:avLst/>
          </a:prstGeom>
          <a:noFill/>
          <a:ln/>
        </p:spPr>
        <p:txBody>
          <a:bodyPr wrap="square"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Database Transactions and ACID Properties</a:t>
            </a:r>
            <a:endParaRPr lang="en-US" sz="4000" dirty="0"/>
          </a:p>
        </p:txBody>
      </p:sp>
      <p:sp>
        <p:nvSpPr>
          <p:cNvPr id="8" name="Text 6"/>
          <p:cNvSpPr txBox="1"/>
          <p:nvPr/>
        </p:nvSpPr>
        <p:spPr>
          <a:xfrm>
            <a:off x="822960" y="4160520"/>
            <a:ext cx="9326880" cy="8229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What a transaction is, the states it moves through, and the four guarantees every DBMS makes about it.</a:t>
            </a:r>
            <a:endParaRPr lang="en-US" sz="1800" dirty="0"/>
          </a:p>
        </p:txBody>
      </p:sp>
      <p:sp>
        <p:nvSpPr>
          <p:cNvPr id="9" name="Text 7"/>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731520"/>
          </a:xfrm>
          <a:prstGeom prst="rect">
            <a:avLst/>
          </a:prstGeom>
          <a:noFill/>
          <a:ln/>
        </p:spPr>
        <p:txBody>
          <a:bodyPr wrap="square" rtlCol="0" anchor="ctr"/>
          <a:lstStyle/>
          <a:p>
            <a:pPr indent="0" marL="0">
              <a:buNone/>
            </a:pPr>
            <a:r>
              <a:rPr lang="en-US" sz="3200" b="1" dirty="0">
                <a:solidFill>
                  <a:srgbClr val="1F2429"/>
                </a:solidFill>
                <a:latin typeface="Calibri" pitchFamily="34" charset="0"/>
                <a:ea typeface="Calibri" pitchFamily="34" charset="-122"/>
                <a:cs typeface="Calibri" pitchFamily="34" charset="-120"/>
              </a:rPr>
              <a:t>Agenda</a:t>
            </a:r>
            <a:endParaRPr lang="en-US" sz="3200" dirty="0"/>
          </a:p>
        </p:txBody>
      </p:sp>
      <p:sp>
        <p:nvSpPr>
          <p:cNvPr id="3" name="Shape 1"/>
          <p:cNvSpPr/>
          <p:nvPr/>
        </p:nvSpPr>
        <p:spPr>
          <a:xfrm>
            <a:off x="640080" y="1563624"/>
            <a:ext cx="384048" cy="384048"/>
          </a:xfrm>
          <a:prstGeom prst="ellipse">
            <a:avLst/>
          </a:prstGeom>
          <a:solidFill>
            <a:srgbClr val="2FE6C4"/>
          </a:solidFill>
          <a:ln/>
        </p:spPr>
      </p:sp>
      <p:sp>
        <p:nvSpPr>
          <p:cNvPr id="4" name="Text 2"/>
          <p:cNvSpPr txBox="1"/>
          <p:nvPr/>
        </p:nvSpPr>
        <p:spPr>
          <a:xfrm>
            <a:off x="640080" y="1563624"/>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170432" y="1490472"/>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What is a database transaction?</a:t>
            </a:r>
            <a:endParaRPr lang="en-US" sz="1800" dirty="0"/>
          </a:p>
        </p:txBody>
      </p:sp>
      <p:sp>
        <p:nvSpPr>
          <p:cNvPr id="6" name="Shape 4"/>
          <p:cNvSpPr/>
          <p:nvPr/>
        </p:nvSpPr>
        <p:spPr>
          <a:xfrm>
            <a:off x="640080" y="2404872"/>
            <a:ext cx="384048" cy="384048"/>
          </a:xfrm>
          <a:prstGeom prst="ellipse">
            <a:avLst/>
          </a:prstGeom>
          <a:solidFill>
            <a:srgbClr val="8B7FD9"/>
          </a:solidFill>
          <a:ln/>
        </p:spPr>
      </p:sp>
      <p:sp>
        <p:nvSpPr>
          <p:cNvPr id="7" name="Text 5"/>
          <p:cNvSpPr txBox="1"/>
          <p:nvPr/>
        </p:nvSpPr>
        <p:spPr>
          <a:xfrm>
            <a:off x="640080" y="2404872"/>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170432" y="2331720"/>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Transaction processing: commit vs. abort</a:t>
            </a:r>
            <a:endParaRPr lang="en-US" sz="1800" dirty="0"/>
          </a:p>
        </p:txBody>
      </p:sp>
      <p:sp>
        <p:nvSpPr>
          <p:cNvPr id="9" name="Shape 7"/>
          <p:cNvSpPr/>
          <p:nvPr/>
        </p:nvSpPr>
        <p:spPr>
          <a:xfrm>
            <a:off x="640080" y="3246120"/>
            <a:ext cx="384048" cy="384048"/>
          </a:xfrm>
          <a:prstGeom prst="ellipse">
            <a:avLst/>
          </a:prstGeom>
          <a:solidFill>
            <a:srgbClr val="E8A33D"/>
          </a:solidFill>
          <a:ln/>
        </p:spPr>
      </p:sp>
      <p:sp>
        <p:nvSpPr>
          <p:cNvPr id="10" name="Text 8"/>
          <p:cNvSpPr txBox="1"/>
          <p:nvPr/>
        </p:nvSpPr>
        <p:spPr>
          <a:xfrm>
            <a:off x="640080" y="3246120"/>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170432" y="3172968"/>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Transaction states — the full state diagram</a:t>
            </a:r>
            <a:endParaRPr lang="en-US" sz="1800" dirty="0"/>
          </a:p>
        </p:txBody>
      </p:sp>
      <p:sp>
        <p:nvSpPr>
          <p:cNvPr id="12" name="Shape 10"/>
          <p:cNvSpPr/>
          <p:nvPr/>
        </p:nvSpPr>
        <p:spPr>
          <a:xfrm>
            <a:off x="6309360" y="1563624"/>
            <a:ext cx="384048" cy="384048"/>
          </a:xfrm>
          <a:prstGeom prst="ellipse">
            <a:avLst/>
          </a:prstGeom>
          <a:solidFill>
            <a:srgbClr val="2FE6C4"/>
          </a:solidFill>
          <a:ln/>
        </p:spPr>
      </p:sp>
      <p:sp>
        <p:nvSpPr>
          <p:cNvPr id="13" name="Text 11"/>
          <p:cNvSpPr txBox="1"/>
          <p:nvPr/>
        </p:nvSpPr>
        <p:spPr>
          <a:xfrm>
            <a:off x="6309360" y="1563624"/>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4</a:t>
            </a:r>
            <a:endParaRPr lang="en-US" sz="2000" dirty="0"/>
          </a:p>
        </p:txBody>
      </p:sp>
      <p:sp>
        <p:nvSpPr>
          <p:cNvPr id="14" name="Text 12"/>
          <p:cNvSpPr txBox="1"/>
          <p:nvPr/>
        </p:nvSpPr>
        <p:spPr>
          <a:xfrm>
            <a:off x="6839712" y="1490472"/>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The four ACID properties</a:t>
            </a:r>
            <a:endParaRPr lang="en-US" sz="1800" dirty="0"/>
          </a:p>
        </p:txBody>
      </p:sp>
      <p:sp>
        <p:nvSpPr>
          <p:cNvPr id="15" name="Shape 13"/>
          <p:cNvSpPr/>
          <p:nvPr/>
        </p:nvSpPr>
        <p:spPr>
          <a:xfrm>
            <a:off x="6309360" y="2404872"/>
            <a:ext cx="384048" cy="384048"/>
          </a:xfrm>
          <a:prstGeom prst="ellipse">
            <a:avLst/>
          </a:prstGeom>
          <a:solidFill>
            <a:srgbClr val="8B7FD9"/>
          </a:solidFill>
          <a:ln/>
        </p:spPr>
      </p:sp>
      <p:sp>
        <p:nvSpPr>
          <p:cNvPr id="16" name="Text 14"/>
          <p:cNvSpPr txBox="1"/>
          <p:nvPr/>
        </p:nvSpPr>
        <p:spPr>
          <a:xfrm>
            <a:off x="6309360" y="2404872"/>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5</a:t>
            </a:r>
            <a:endParaRPr lang="en-US" sz="2000" dirty="0"/>
          </a:p>
        </p:txBody>
      </p:sp>
      <p:sp>
        <p:nvSpPr>
          <p:cNvPr id="17" name="Text 15"/>
          <p:cNvSpPr txBox="1"/>
          <p:nvPr/>
        </p:nvSpPr>
        <p:spPr>
          <a:xfrm>
            <a:off x="6839712" y="2331720"/>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Four worked ACID violations: what breaks without each property</a:t>
            </a:r>
            <a:endParaRPr lang="en-US" sz="1800" dirty="0"/>
          </a:p>
        </p:txBody>
      </p:sp>
      <p:sp>
        <p:nvSpPr>
          <p:cNvPr id="18" name="Shape 16"/>
          <p:cNvSpPr/>
          <p:nvPr/>
        </p:nvSpPr>
        <p:spPr>
          <a:xfrm>
            <a:off x="6309360" y="3246120"/>
            <a:ext cx="384048" cy="384048"/>
          </a:xfrm>
          <a:prstGeom prst="ellipse">
            <a:avLst/>
          </a:prstGeom>
          <a:solidFill>
            <a:srgbClr val="E8A33D"/>
          </a:solidFill>
          <a:ln/>
        </p:spPr>
      </p:sp>
      <p:sp>
        <p:nvSpPr>
          <p:cNvPr id="19" name="Text 17"/>
          <p:cNvSpPr txBox="1"/>
          <p:nvPr/>
        </p:nvSpPr>
        <p:spPr>
          <a:xfrm>
            <a:off x="6309360" y="3246120"/>
            <a:ext cx="384048" cy="384048"/>
          </a:xfrm>
          <a:prstGeom prst="rect">
            <a:avLst/>
          </a:prstGeom>
          <a:noFill/>
          <a:ln/>
        </p:spPr>
        <p:txBody>
          <a:bodyPr wrap="square" rtlCol="0" anchor="ctr"/>
          <a:lstStyle/>
          <a:p>
            <a:pPr algn="ctr" indent="0" marL="0">
              <a:buNone/>
            </a:pPr>
            <a:r>
              <a:rPr lang="en-US" sz="2000" b="1" dirty="0">
                <a:solidFill>
                  <a:srgbClr val="14181C"/>
                </a:solidFill>
                <a:latin typeface="Calibri" pitchFamily="34" charset="0"/>
                <a:ea typeface="Calibri" pitchFamily="34" charset="-122"/>
                <a:cs typeface="Calibri" pitchFamily="34" charset="-120"/>
              </a:rPr>
              <a:t>6</a:t>
            </a:r>
            <a:endParaRPr lang="en-US" sz="2000" dirty="0"/>
          </a:p>
        </p:txBody>
      </p:sp>
      <p:sp>
        <p:nvSpPr>
          <p:cNvPr id="20" name="Text 18"/>
          <p:cNvSpPr txBox="1"/>
          <p:nvPr/>
        </p:nvSpPr>
        <p:spPr>
          <a:xfrm>
            <a:off x="6839712" y="3172968"/>
            <a:ext cx="4663440" cy="795528"/>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Transaction management in the DBMS</a:t>
            </a:r>
            <a:endParaRPr lang="en-US" sz="1800" dirty="0"/>
          </a:p>
        </p:txBody>
      </p:sp>
      <p:sp>
        <p:nvSpPr>
          <p:cNvPr id="21" name="Text 19"/>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DEFINITION</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What Is a Database Transaction?</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3</a:t>
            </a:r>
            <a:endParaRPr lang="en-US" sz="1200" dirty="0"/>
          </a:p>
        </p:txBody>
      </p:sp>
      <p:sp>
        <p:nvSpPr>
          <p:cNvPr id="5" name="Text 3"/>
          <p:cNvSpPr txBox="1"/>
          <p:nvPr/>
        </p:nvSpPr>
        <p:spPr>
          <a:xfrm>
            <a:off x="548640" y="1371600"/>
            <a:ext cx="5760720" cy="182880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A </a:t>
            </a:r>
            <a:pPr indent="0" marL="0">
              <a:lnSpc>
                <a:spcPct val="125000"/>
              </a:lnSpc>
              <a:buNone/>
            </a:pPr>
            <a:r>
              <a:rPr lang="en-US" sz="1800" b="1" dirty="0">
                <a:solidFill>
                  <a:srgbClr val="8B7FD9"/>
                </a:solidFill>
                <a:latin typeface="Calibri" pitchFamily="34" charset="0"/>
                <a:ea typeface="Calibri" pitchFamily="34" charset="-122"/>
                <a:cs typeface="Calibri" pitchFamily="34" charset="-120"/>
              </a:rPr>
              <a:t>transaction</a:t>
            </a:r>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 is a logical unit of work — one or more read/write operations that must be treated as a single, indivisible action. Either every operation completes and is recorded permanently, or none of them are.</a:t>
            </a:r>
            <a:endParaRPr lang="en-US" sz="1800" dirty="0"/>
          </a:p>
        </p:txBody>
      </p:sp>
      <p:sp>
        <p:nvSpPr>
          <p:cNvPr id="6" name="Text 4"/>
          <p:cNvSpPr txBox="1"/>
          <p:nvPr/>
        </p:nvSpPr>
        <p:spPr>
          <a:xfrm>
            <a:off x="548640" y="3246120"/>
            <a:ext cx="5760720" cy="822960"/>
          </a:xfrm>
          <a:prstGeom prst="rect">
            <a:avLst/>
          </a:prstGeom>
          <a:noFill/>
          <a:ln/>
        </p:spPr>
        <p:txBody>
          <a:bodyPr wrap="square" rtlCol="0" anchor="t"/>
          <a:lstStyle/>
          <a:p>
            <a:pPr indent="0" marL="0">
              <a:buNone/>
            </a:pPr>
            <a:r>
              <a:rPr lang="en-US" sz="1800" i="1" dirty="0">
                <a:solidFill>
                  <a:srgbClr val="6B7480"/>
                </a:solidFill>
                <a:latin typeface="Calibri" pitchFamily="34" charset="0"/>
                <a:ea typeface="Calibri" pitchFamily="34" charset="-122"/>
                <a:cs typeface="Calibri" pitchFamily="34" charset="-120"/>
              </a:rPr>
              <a:t>There is no valid outcome where the database ends up “half-updated.”</a:t>
            </a:r>
            <a:endParaRPr lang="en-US" sz="1800" dirty="0"/>
          </a:p>
        </p:txBody>
      </p:sp>
      <p:sp>
        <p:nvSpPr>
          <p:cNvPr id="7" name="Shape 5"/>
          <p:cNvSpPr/>
          <p:nvPr/>
        </p:nvSpPr>
        <p:spPr>
          <a:xfrm>
            <a:off x="6583680" y="1371600"/>
            <a:ext cx="5029200" cy="4480560"/>
          </a:xfrm>
          <a:prstGeom prst="roundRect">
            <a:avLst>
              <a:gd name="adj" fmla="val 2000"/>
            </a:avLst>
          </a:prstGeom>
          <a:solidFill>
            <a:srgbClr val="14181C"/>
          </a:solidFill>
          <a:ln/>
        </p:spPr>
      </p:sp>
      <p:sp>
        <p:nvSpPr>
          <p:cNvPr id="8" name="Text 6"/>
          <p:cNvSpPr txBox="1"/>
          <p:nvPr/>
        </p:nvSpPr>
        <p:spPr>
          <a:xfrm>
            <a:off x="6858000" y="1572768"/>
            <a:ext cx="4480560" cy="274320"/>
          </a:xfrm>
          <a:prstGeom prst="rect">
            <a:avLst/>
          </a:prstGeom>
          <a:noFill/>
          <a:ln/>
        </p:spPr>
        <p:txBody>
          <a:bodyPr wrap="square" rtlCol="0" anchor="ctr"/>
          <a:lstStyle/>
          <a:p>
            <a:pPr indent="0" marL="0">
              <a:buNone/>
            </a:pPr>
            <a:r>
              <a:rPr lang="en-US" sz="2000" b="1" spc="100" kern="0" dirty="0">
                <a:solidFill>
                  <a:srgbClr val="2FE6C4"/>
                </a:solidFill>
                <a:latin typeface="Calibri" pitchFamily="34" charset="0"/>
                <a:ea typeface="Calibri" pitchFamily="34" charset="-122"/>
                <a:cs typeface="Calibri" pitchFamily="34" charset="-120"/>
              </a:rPr>
              <a:t>PKR 10,000 TRANSFER: A101 → A205</a:t>
            </a:r>
            <a:endParaRPr lang="en-US" sz="2000" dirty="0"/>
          </a:p>
        </p:txBody>
      </p:sp>
      <p:sp>
        <p:nvSpPr>
          <p:cNvPr id="9" name="Text 7"/>
          <p:cNvSpPr txBox="1"/>
          <p:nvPr/>
        </p:nvSpPr>
        <p:spPr>
          <a:xfrm>
            <a:off x="6858000" y="1965960"/>
            <a:ext cx="4480560" cy="3840000"/>
          </a:xfrm>
          <a:prstGeom prst="rect">
            <a:avLst/>
          </a:prstGeom>
          <a:noFill/>
          <a:ln/>
        </p:spPr>
        <p:txBody>
          <a:bodyPr wrap="square" rtlCol="0" anchor="t"/>
          <a:lstStyle/>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BEGIN TRANSACTION;</a:t>
            </a:r>
            <a:endParaRPr lang="en-US" sz="1800" dirty="0"/>
          </a:p>
          <a:p>
            <a:pPr indent="0" marL="0">
              <a:lnSpc>
                <a:spcPct val="115000"/>
              </a:lnSpc>
              <a:buNone/>
            </a:pP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UPDATE Account</a:t>
            </a: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SET balance = balance - 10000</a:t>
            </a: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WHERE accountNo = 'A101';</a:t>
            </a:r>
            <a:endParaRPr lang="en-US" sz="1800" dirty="0"/>
          </a:p>
          <a:p>
            <a:pPr indent="0" marL="0">
              <a:lnSpc>
                <a:spcPct val="115000"/>
              </a:lnSpc>
              <a:buNone/>
            </a:pP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UPDATE Account</a:t>
            </a: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SET balance = balance + 10000</a:t>
            </a: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WHERE accountNo = 'A205';</a:t>
            </a:r>
            <a:endParaRPr lang="en-US" sz="1800" dirty="0"/>
          </a:p>
          <a:p>
            <a:pPr indent="0" marL="0">
              <a:lnSpc>
                <a:spcPct val="115000"/>
              </a:lnSpc>
              <a:buNone/>
            </a:pPr>
            <a:endParaRPr lang="en-US" sz="1800" dirty="0"/>
          </a:p>
          <a:p>
            <a:pPr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COMMIT;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HOW THE DBMS HANDLES IT</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Transaction Processing</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4</a:t>
            </a:r>
            <a:endParaRPr lang="en-US" sz="1200" dirty="0"/>
          </a:p>
        </p:txBody>
      </p:sp>
      <p:sp>
        <p:nvSpPr>
          <p:cNvPr id="5" name="Text 3"/>
          <p:cNvSpPr txBox="1"/>
          <p:nvPr/>
        </p:nvSpPr>
        <p:spPr>
          <a:xfrm>
            <a:off x="548640" y="1325880"/>
            <a:ext cx="10881360" cy="822960"/>
          </a:xfrm>
          <a:prstGeom prst="rect">
            <a:avLst/>
          </a:prstGeom>
          <a:noFill/>
          <a:ln/>
        </p:spPr>
        <p:txBody>
          <a:bodyPr wrap="square" rtlCol="0" anchor="t"/>
          <a:lstStyle/>
          <a:p>
            <a:pPr indent="0" marL="0">
              <a:lnSpc>
                <a:spcPct val="120000"/>
              </a:lnSpc>
              <a:buNone/>
            </a:pPr>
            <a:r>
              <a:rPr lang="en-US" sz="1800" dirty="0">
                <a:solidFill>
                  <a:srgbClr val="1F2429"/>
                </a:solidFill>
                <a:latin typeface="Calibri" pitchFamily="34" charset="0"/>
                <a:ea typeface="Calibri" pitchFamily="34" charset="-122"/>
                <a:cs typeface="Calibri" pitchFamily="34" charset="-120"/>
              </a:rPr>
              <a:t>Transaction processing guarantees that each transaction's effect on the database is exactly as if it had run alone — even with hundreds of others executing at the same instant, and even if hardware fails mid-transaction.</a:t>
            </a:r>
            <a:endParaRPr lang="en-US" sz="1800" dirty="0"/>
          </a:p>
        </p:txBody>
      </p:sp>
      <p:sp>
        <p:nvSpPr>
          <p:cNvPr id="6" name="Shape 4"/>
          <p:cNvSpPr/>
          <p:nvPr/>
        </p:nvSpPr>
        <p:spPr>
          <a:xfrm>
            <a:off x="548640" y="2331720"/>
            <a:ext cx="5280660" cy="3108960"/>
          </a:xfrm>
          <a:prstGeom prst="roundRect">
            <a:avLst>
              <a:gd name="adj" fmla="val 2353"/>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7" name="Shape 5"/>
          <p:cNvSpPr/>
          <p:nvPr/>
        </p:nvSpPr>
        <p:spPr>
          <a:xfrm>
            <a:off x="713232" y="2478024"/>
            <a:ext cx="201168" cy="201168"/>
          </a:xfrm>
          <a:prstGeom prst="ellipse">
            <a:avLst/>
          </a:prstGeom>
          <a:solidFill>
            <a:srgbClr val="2FE6C4"/>
          </a:solidFill>
          <a:ln/>
        </p:spPr>
      </p:sp>
      <p:sp>
        <p:nvSpPr>
          <p:cNvPr id="8" name="Text 6"/>
          <p:cNvSpPr txBox="1"/>
          <p:nvPr/>
        </p:nvSpPr>
        <p:spPr>
          <a:xfrm>
            <a:off x="1005840" y="2423160"/>
            <a:ext cx="464058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Commit</a:t>
            </a:r>
            <a:endParaRPr lang="en-US" sz="2000" dirty="0"/>
          </a:p>
        </p:txBody>
      </p:sp>
      <p:sp>
        <p:nvSpPr>
          <p:cNvPr id="9" name="Text 7"/>
          <p:cNvSpPr txBox="1"/>
          <p:nvPr/>
        </p:nvSpPr>
        <p:spPr>
          <a:xfrm>
            <a:off x="749808" y="2834640"/>
            <a:ext cx="4878324" cy="25146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Every operation succeeded. The DBMS makes all of the transaction's changes permanent.</a:t>
            </a:r>
            <a:endParaRPr lang="en-US" sz="1800" dirty="0"/>
          </a:p>
        </p:txBody>
      </p:sp>
      <p:sp>
        <p:nvSpPr>
          <p:cNvPr id="10" name="Shape 8"/>
          <p:cNvSpPr/>
          <p:nvPr/>
        </p:nvSpPr>
        <p:spPr>
          <a:xfrm>
            <a:off x="6149340" y="2331720"/>
            <a:ext cx="5280660" cy="3108960"/>
          </a:xfrm>
          <a:prstGeom prst="roundRect">
            <a:avLst>
              <a:gd name="adj" fmla="val 2353"/>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1" name="Shape 9"/>
          <p:cNvSpPr/>
          <p:nvPr/>
        </p:nvSpPr>
        <p:spPr>
          <a:xfrm>
            <a:off x="6313932" y="2478024"/>
            <a:ext cx="201168" cy="201168"/>
          </a:xfrm>
          <a:prstGeom prst="ellipse">
            <a:avLst/>
          </a:prstGeom>
          <a:solidFill>
            <a:srgbClr val="E8A33D"/>
          </a:solidFill>
          <a:ln/>
        </p:spPr>
      </p:sp>
      <p:sp>
        <p:nvSpPr>
          <p:cNvPr id="12" name="Text 10"/>
          <p:cNvSpPr txBox="1"/>
          <p:nvPr/>
        </p:nvSpPr>
        <p:spPr>
          <a:xfrm>
            <a:off x="6606540" y="2423160"/>
            <a:ext cx="464058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Abort (Rollback)</a:t>
            </a:r>
            <a:endParaRPr lang="en-US" sz="2000" dirty="0"/>
          </a:p>
        </p:txBody>
      </p:sp>
      <p:sp>
        <p:nvSpPr>
          <p:cNvPr id="13" name="Text 11"/>
          <p:cNvSpPr txBox="1"/>
          <p:nvPr/>
        </p:nvSpPr>
        <p:spPr>
          <a:xfrm>
            <a:off x="6350508" y="2834640"/>
            <a:ext cx="4878324" cy="25146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Something prevented completion. The DBMS undoes any partial changes, returning the database to its pre-transaction state.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STATE DIAGRAM</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Transaction States — The Successful Path</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5</a:t>
            </a:r>
            <a:endParaRPr lang="en-US" sz="1200" dirty="0"/>
          </a:p>
        </p:txBody>
      </p:sp>
      <p:sp>
        <p:nvSpPr>
          <p:cNvPr id="5" name="Shape 3"/>
          <p:cNvSpPr/>
          <p:nvPr/>
        </p:nvSpPr>
        <p:spPr>
          <a:xfrm>
            <a:off x="548640" y="1554480"/>
            <a:ext cx="3413760" cy="1737360"/>
          </a:xfrm>
          <a:prstGeom prst="roundRect">
            <a:avLst>
              <a:gd name="adj" fmla="val 4211"/>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6" name="Shape 4"/>
          <p:cNvSpPr/>
          <p:nvPr/>
        </p:nvSpPr>
        <p:spPr>
          <a:xfrm>
            <a:off x="694944" y="1682496"/>
            <a:ext cx="310896" cy="91440"/>
          </a:xfrm>
          <a:prstGeom prst="rect">
            <a:avLst/>
          </a:prstGeom>
          <a:solidFill>
            <a:srgbClr val="2FE6C4"/>
          </a:solidFill>
          <a:ln/>
        </p:spPr>
      </p:sp>
      <p:sp>
        <p:nvSpPr>
          <p:cNvPr id="7" name="Text 5"/>
          <p:cNvSpPr txBox="1"/>
          <p:nvPr/>
        </p:nvSpPr>
        <p:spPr>
          <a:xfrm>
            <a:off x="694944" y="182880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Active</a:t>
            </a:r>
            <a:endParaRPr lang="en-US" sz="2000" dirty="0"/>
          </a:p>
        </p:txBody>
      </p:sp>
      <p:sp>
        <p:nvSpPr>
          <p:cNvPr id="8" name="Text 6"/>
          <p:cNvSpPr txBox="1"/>
          <p:nvPr/>
        </p:nvSpPr>
        <p:spPr>
          <a:xfrm>
            <a:off x="694944" y="248899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Executing its read/write operations.</a:t>
            </a:r>
            <a:endParaRPr lang="en-US" sz="1800" dirty="0"/>
          </a:p>
        </p:txBody>
      </p:sp>
      <p:sp>
        <p:nvSpPr>
          <p:cNvPr id="9" name="Shape 7"/>
          <p:cNvSpPr/>
          <p:nvPr/>
        </p:nvSpPr>
        <p:spPr>
          <a:xfrm>
            <a:off x="3962400" y="2423160"/>
            <a:ext cx="411480" cy="0"/>
          </a:xfrm>
          <a:prstGeom prst="line">
            <a:avLst/>
          </a:prstGeom>
          <a:noFill/>
          <a:ln w="25400">
            <a:solidFill>
              <a:srgbClr val="8A939B"/>
            </a:solidFill>
            <a:prstDash val="solid"/>
            <a:tailEnd type="triangle"/>
          </a:ln>
        </p:spPr>
      </p:sp>
      <p:sp>
        <p:nvSpPr>
          <p:cNvPr id="10" name="Shape 8"/>
          <p:cNvSpPr/>
          <p:nvPr/>
        </p:nvSpPr>
        <p:spPr>
          <a:xfrm>
            <a:off x="4373880" y="1554480"/>
            <a:ext cx="3413760" cy="1737360"/>
          </a:xfrm>
          <a:prstGeom prst="roundRect">
            <a:avLst>
              <a:gd name="adj" fmla="val 4211"/>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1" name="Shape 9"/>
          <p:cNvSpPr/>
          <p:nvPr/>
        </p:nvSpPr>
        <p:spPr>
          <a:xfrm>
            <a:off x="4520184" y="1682496"/>
            <a:ext cx="310896" cy="91440"/>
          </a:xfrm>
          <a:prstGeom prst="rect">
            <a:avLst/>
          </a:prstGeom>
          <a:solidFill>
            <a:srgbClr val="8B7FD9"/>
          </a:solidFill>
          <a:ln/>
        </p:spPr>
      </p:sp>
      <p:sp>
        <p:nvSpPr>
          <p:cNvPr id="12" name="Text 10"/>
          <p:cNvSpPr txBox="1"/>
          <p:nvPr/>
        </p:nvSpPr>
        <p:spPr>
          <a:xfrm>
            <a:off x="4520184" y="182880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Partially Committed</a:t>
            </a:r>
            <a:endParaRPr lang="en-US" sz="2000" dirty="0"/>
          </a:p>
        </p:txBody>
      </p:sp>
      <p:sp>
        <p:nvSpPr>
          <p:cNvPr id="13" name="Text 11"/>
          <p:cNvSpPr txBox="1"/>
          <p:nvPr/>
        </p:nvSpPr>
        <p:spPr>
          <a:xfrm>
            <a:off x="4520184" y="248899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Final operation executed; not yet made durable.</a:t>
            </a:r>
            <a:endParaRPr lang="en-US" sz="1800" dirty="0"/>
          </a:p>
        </p:txBody>
      </p:sp>
      <p:sp>
        <p:nvSpPr>
          <p:cNvPr id="14" name="Shape 12"/>
          <p:cNvSpPr/>
          <p:nvPr/>
        </p:nvSpPr>
        <p:spPr>
          <a:xfrm>
            <a:off x="7787640" y="2423160"/>
            <a:ext cx="411480" cy="0"/>
          </a:xfrm>
          <a:prstGeom prst="line">
            <a:avLst/>
          </a:prstGeom>
          <a:noFill/>
          <a:ln w="25400">
            <a:solidFill>
              <a:srgbClr val="8A939B"/>
            </a:solidFill>
            <a:prstDash val="solid"/>
            <a:tailEnd type="triangle"/>
          </a:ln>
        </p:spPr>
      </p:sp>
      <p:sp>
        <p:nvSpPr>
          <p:cNvPr id="15" name="Shape 13"/>
          <p:cNvSpPr/>
          <p:nvPr/>
        </p:nvSpPr>
        <p:spPr>
          <a:xfrm>
            <a:off x="8199120" y="1554480"/>
            <a:ext cx="3413760" cy="1737360"/>
          </a:xfrm>
          <a:prstGeom prst="roundRect">
            <a:avLst>
              <a:gd name="adj" fmla="val 4211"/>
            </a:avLst>
          </a:prstGeom>
          <a:solidFill>
            <a:srgbClr val="FFFFFF"/>
          </a:solidFill>
          <a:ln w="22225">
            <a:solidFill>
              <a:srgbClr val="E8A33D"/>
            </a:solidFill>
            <a:prstDash val="solid"/>
          </a:ln>
          <a:effectLst>
            <a:outerShdw sx="100000" sy="100000" kx="0" ky="0" algn="bl" rotWithShape="0" blurRad="76200" dist="25400" dir="5400000">
              <a:srgbClr val="1F2429">
                <a:alpha val="18000"/>
              </a:srgbClr>
            </a:outerShdw>
          </a:effectLst>
        </p:spPr>
      </p:sp>
      <p:sp>
        <p:nvSpPr>
          <p:cNvPr id="16" name="Shape 14"/>
          <p:cNvSpPr/>
          <p:nvPr/>
        </p:nvSpPr>
        <p:spPr>
          <a:xfrm>
            <a:off x="8345424" y="1682496"/>
            <a:ext cx="310896" cy="91440"/>
          </a:xfrm>
          <a:prstGeom prst="rect">
            <a:avLst/>
          </a:prstGeom>
          <a:solidFill>
            <a:srgbClr val="E8A33D"/>
          </a:solidFill>
          <a:ln/>
        </p:spPr>
      </p:sp>
      <p:sp>
        <p:nvSpPr>
          <p:cNvPr id="17" name="Text 15"/>
          <p:cNvSpPr txBox="1"/>
          <p:nvPr/>
        </p:nvSpPr>
        <p:spPr>
          <a:xfrm>
            <a:off x="8345424" y="182880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Committed</a:t>
            </a:r>
            <a:endParaRPr lang="en-US" sz="2000" dirty="0"/>
          </a:p>
        </p:txBody>
      </p:sp>
      <p:sp>
        <p:nvSpPr>
          <p:cNvPr id="18" name="Text 16"/>
          <p:cNvSpPr txBox="1"/>
          <p:nvPr/>
        </p:nvSpPr>
        <p:spPr>
          <a:xfrm>
            <a:off x="8345424" y="248899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Effects permanently recorded — durable, visible to others.</a:t>
            </a:r>
            <a:endParaRPr lang="en-US" sz="1800" dirty="0"/>
          </a:p>
        </p:txBody>
      </p:sp>
      <p:sp>
        <p:nvSpPr>
          <p:cNvPr id="19" name="Text 17"/>
          <p:cNvSpPr txBox="1"/>
          <p:nvPr/>
        </p:nvSpPr>
        <p:spPr>
          <a:xfrm>
            <a:off x="548640" y="3657600"/>
            <a:ext cx="11064240" cy="1280160"/>
          </a:xfrm>
          <a:prstGeom prst="rect">
            <a:avLst/>
          </a:prstGeom>
          <a:noFill/>
          <a:ln/>
        </p:spPr>
        <p:txBody>
          <a:bodyPr wrap="square" rtlCol="0" anchor="t"/>
          <a:lstStyle/>
          <a:p>
            <a:pPr indent="0" marL="0">
              <a:lnSpc>
                <a:spcPct val="125000"/>
              </a:lnSpc>
              <a:buNone/>
            </a:pPr>
            <a:r>
              <a:rPr lang="en-US" sz="1800" b="1" dirty="0">
                <a:solidFill>
                  <a:srgbClr val="1F2429"/>
                </a:solidFill>
                <a:latin typeface="Calibri" pitchFamily="34" charset="0"/>
                <a:ea typeface="Calibri" pitchFamily="34" charset="-122"/>
                <a:cs typeface="Calibri" pitchFamily="34" charset="-120"/>
              </a:rPr>
              <a:t>Committed and Aborted are always final. </a:t>
            </a:r>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Once a transaction commits, nothing — not even a later crash — is allowed to undo it. That guarantee is Durability.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STATE DIAGRAM</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Transaction States — The Failure Path</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6</a:t>
            </a:r>
            <a:endParaRPr lang="en-US" sz="1200" dirty="0"/>
          </a:p>
        </p:txBody>
      </p:sp>
      <p:sp>
        <p:nvSpPr>
          <p:cNvPr id="5" name="Shape 3"/>
          <p:cNvSpPr/>
          <p:nvPr/>
        </p:nvSpPr>
        <p:spPr>
          <a:xfrm>
            <a:off x="548640" y="1371600"/>
            <a:ext cx="3413760" cy="2103120"/>
          </a:xfrm>
          <a:prstGeom prst="roundRect">
            <a:avLst>
              <a:gd name="adj" fmla="val 4211"/>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6" name="Shape 4"/>
          <p:cNvSpPr/>
          <p:nvPr/>
        </p:nvSpPr>
        <p:spPr>
          <a:xfrm>
            <a:off x="694944" y="1499616"/>
            <a:ext cx="310896" cy="91440"/>
          </a:xfrm>
          <a:prstGeom prst="rect">
            <a:avLst/>
          </a:prstGeom>
          <a:solidFill>
            <a:srgbClr val="2FE6C4"/>
          </a:solidFill>
          <a:ln/>
        </p:spPr>
      </p:sp>
      <p:sp>
        <p:nvSpPr>
          <p:cNvPr id="7" name="Text 5"/>
          <p:cNvSpPr txBox="1"/>
          <p:nvPr/>
        </p:nvSpPr>
        <p:spPr>
          <a:xfrm>
            <a:off x="694944" y="164592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Active</a:t>
            </a:r>
            <a:endParaRPr lang="en-US" sz="2000" dirty="0"/>
          </a:p>
        </p:txBody>
      </p:sp>
      <p:sp>
        <p:nvSpPr>
          <p:cNvPr id="8" name="Text 6"/>
          <p:cNvSpPr txBox="1"/>
          <p:nvPr/>
        </p:nvSpPr>
        <p:spPr>
          <a:xfrm>
            <a:off x="694944" y="230611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Executing its read/write operations.</a:t>
            </a:r>
            <a:endParaRPr lang="en-US" sz="1800" dirty="0"/>
          </a:p>
        </p:txBody>
      </p:sp>
      <p:sp>
        <p:nvSpPr>
          <p:cNvPr id="9" name="Shape 7"/>
          <p:cNvSpPr/>
          <p:nvPr/>
        </p:nvSpPr>
        <p:spPr>
          <a:xfrm>
            <a:off x="3962400" y="2423160"/>
            <a:ext cx="411480" cy="0"/>
          </a:xfrm>
          <a:prstGeom prst="line">
            <a:avLst/>
          </a:prstGeom>
          <a:noFill/>
          <a:ln w="25400">
            <a:solidFill>
              <a:srgbClr val="8A939B"/>
            </a:solidFill>
            <a:prstDash val="solid"/>
            <a:tailEnd type="triangle"/>
          </a:ln>
        </p:spPr>
      </p:sp>
      <p:sp>
        <p:nvSpPr>
          <p:cNvPr id="10" name="Shape 8"/>
          <p:cNvSpPr/>
          <p:nvPr/>
        </p:nvSpPr>
        <p:spPr>
          <a:xfrm>
            <a:off x="4373880" y="1371600"/>
            <a:ext cx="3413760" cy="2103120"/>
          </a:xfrm>
          <a:prstGeom prst="roundRect">
            <a:avLst>
              <a:gd name="adj" fmla="val 4211"/>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1" name="Shape 9"/>
          <p:cNvSpPr/>
          <p:nvPr/>
        </p:nvSpPr>
        <p:spPr>
          <a:xfrm>
            <a:off x="4520184" y="1499616"/>
            <a:ext cx="310896" cy="91440"/>
          </a:xfrm>
          <a:prstGeom prst="rect">
            <a:avLst/>
          </a:prstGeom>
          <a:solidFill>
            <a:srgbClr val="8B7FD9"/>
          </a:solidFill>
          <a:ln/>
        </p:spPr>
      </p:sp>
      <p:sp>
        <p:nvSpPr>
          <p:cNvPr id="12" name="Text 10"/>
          <p:cNvSpPr txBox="1"/>
          <p:nvPr/>
        </p:nvSpPr>
        <p:spPr>
          <a:xfrm>
            <a:off x="4520184" y="164592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Failed</a:t>
            </a:r>
            <a:endParaRPr lang="en-US" sz="2000" dirty="0"/>
          </a:p>
        </p:txBody>
      </p:sp>
      <p:sp>
        <p:nvSpPr>
          <p:cNvPr id="13" name="Text 11"/>
          <p:cNvSpPr txBox="1"/>
          <p:nvPr/>
        </p:nvSpPr>
        <p:spPr>
          <a:xfrm>
            <a:off x="4520184" y="230611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Normal execution can no longer proceed — constraint violation, deadlock, or crash.</a:t>
            </a:r>
            <a:endParaRPr lang="en-US" sz="1800" dirty="0"/>
          </a:p>
        </p:txBody>
      </p:sp>
      <p:sp>
        <p:nvSpPr>
          <p:cNvPr id="14" name="Shape 12"/>
          <p:cNvSpPr/>
          <p:nvPr/>
        </p:nvSpPr>
        <p:spPr>
          <a:xfrm>
            <a:off x="7787640" y="2423160"/>
            <a:ext cx="411480" cy="0"/>
          </a:xfrm>
          <a:prstGeom prst="line">
            <a:avLst/>
          </a:prstGeom>
          <a:noFill/>
          <a:ln w="25400">
            <a:solidFill>
              <a:srgbClr val="8A939B"/>
            </a:solidFill>
            <a:prstDash val="solid"/>
            <a:tailEnd type="triangle"/>
          </a:ln>
        </p:spPr>
      </p:sp>
      <p:sp>
        <p:nvSpPr>
          <p:cNvPr id="15" name="Shape 13"/>
          <p:cNvSpPr/>
          <p:nvPr/>
        </p:nvSpPr>
        <p:spPr>
          <a:xfrm>
            <a:off x="8199120" y="1371600"/>
            <a:ext cx="3413760" cy="2103120"/>
          </a:xfrm>
          <a:prstGeom prst="roundRect">
            <a:avLst>
              <a:gd name="adj" fmla="val 4211"/>
            </a:avLst>
          </a:prstGeom>
          <a:solidFill>
            <a:srgbClr val="FFFFFF"/>
          </a:solidFill>
          <a:ln w="22225">
            <a:solidFill>
              <a:srgbClr val="E8A33D"/>
            </a:solidFill>
            <a:prstDash val="solid"/>
          </a:ln>
          <a:effectLst>
            <a:outerShdw sx="100000" sy="100000" kx="0" ky="0" algn="bl" rotWithShape="0" blurRad="76200" dist="25400" dir="5400000">
              <a:srgbClr val="1F2429">
                <a:alpha val="18000"/>
              </a:srgbClr>
            </a:outerShdw>
          </a:effectLst>
        </p:spPr>
      </p:sp>
      <p:sp>
        <p:nvSpPr>
          <p:cNvPr id="16" name="Shape 14"/>
          <p:cNvSpPr/>
          <p:nvPr/>
        </p:nvSpPr>
        <p:spPr>
          <a:xfrm>
            <a:off x="8345424" y="1499616"/>
            <a:ext cx="310896" cy="91440"/>
          </a:xfrm>
          <a:prstGeom prst="rect">
            <a:avLst/>
          </a:prstGeom>
          <a:solidFill>
            <a:srgbClr val="E8A33D"/>
          </a:solidFill>
          <a:ln/>
        </p:spPr>
      </p:sp>
      <p:sp>
        <p:nvSpPr>
          <p:cNvPr id="17" name="Text 15"/>
          <p:cNvSpPr txBox="1"/>
          <p:nvPr/>
        </p:nvSpPr>
        <p:spPr>
          <a:xfrm>
            <a:off x="8345424" y="1645920"/>
            <a:ext cx="3121152" cy="694944"/>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Aborted (Terminated)</a:t>
            </a:r>
            <a:endParaRPr lang="en-US" sz="2000" dirty="0"/>
          </a:p>
        </p:txBody>
      </p:sp>
      <p:sp>
        <p:nvSpPr>
          <p:cNvPr id="18" name="Text 16"/>
          <p:cNvSpPr txBox="1"/>
          <p:nvPr/>
        </p:nvSpPr>
        <p:spPr>
          <a:xfrm>
            <a:off x="8345424" y="2306117"/>
            <a:ext cx="3121152" cy="693115"/>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DBMS has rolled back every effect; database restored to its pre-transaction state.</a:t>
            </a:r>
            <a:endParaRPr lang="en-US" sz="1800" dirty="0"/>
          </a:p>
        </p:txBody>
      </p:sp>
      <p:sp>
        <p:nvSpPr>
          <p:cNvPr id="19" name="Text 17"/>
          <p:cNvSpPr txBox="1"/>
          <p:nvPr/>
        </p:nvSpPr>
        <p:spPr>
          <a:xfrm>
            <a:off x="548640" y="3657600"/>
            <a:ext cx="11064240" cy="1188720"/>
          </a:xfrm>
          <a:prstGeom prst="rect">
            <a:avLst/>
          </a:prstGeom>
          <a:noFill/>
          <a:ln/>
        </p:spPr>
        <p:txBody>
          <a:bodyPr wrap="square" rtlCol="0" anchor="t"/>
          <a:lstStyle/>
          <a:p>
            <a:pPr indent="0" marL="0">
              <a:lnSpc>
                <a:spcPct val="125000"/>
              </a:lnSpc>
              <a:buNone/>
            </a:pPr>
            <a:r>
              <a:rPr lang="en-US" sz="1800" b="1" dirty="0">
                <a:solidFill>
                  <a:srgbClr val="8B7FD9"/>
                </a:solidFill>
                <a:latin typeface="Calibri" pitchFamily="34" charset="0"/>
                <a:ea typeface="Calibri" pitchFamily="34" charset="-122"/>
                <a:cs typeface="Calibri" pitchFamily="34" charset="-120"/>
              </a:rPr>
              <a:t>Note: </a:t>
            </a:r>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Partially Committed can also transition to Failed — if the DBMS discovers, while finalizing, that it cannot guarantee durability, it moves to Failed and then Aborted instead.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THE FOUR GUARANTEES</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ACID Properties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7</a:t>
            </a:r>
            <a:endParaRPr lang="en-US" sz="1200" dirty="0"/>
          </a:p>
        </p:txBody>
      </p:sp>
      <p:sp>
        <p:nvSpPr>
          <p:cNvPr id="5" name="Shape 3"/>
          <p:cNvSpPr/>
          <p:nvPr/>
        </p:nvSpPr>
        <p:spPr>
          <a:xfrm>
            <a:off x="548640" y="1463040"/>
            <a:ext cx="5372100" cy="2103120"/>
          </a:xfrm>
          <a:prstGeom prst="roundRect">
            <a:avLst>
              <a:gd name="adj" fmla="val 3478"/>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6" name="Shape 4"/>
          <p:cNvSpPr/>
          <p:nvPr/>
        </p:nvSpPr>
        <p:spPr>
          <a:xfrm>
            <a:off x="713232" y="1609344"/>
            <a:ext cx="201168" cy="201168"/>
          </a:xfrm>
          <a:prstGeom prst="ellipse">
            <a:avLst/>
          </a:prstGeom>
          <a:solidFill>
            <a:srgbClr val="2FE6C4"/>
          </a:solidFill>
          <a:ln/>
        </p:spPr>
      </p:sp>
      <p:sp>
        <p:nvSpPr>
          <p:cNvPr id="7" name="Text 5"/>
          <p:cNvSpPr txBox="1"/>
          <p:nvPr/>
        </p:nvSpPr>
        <p:spPr>
          <a:xfrm>
            <a:off x="100584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Atomicity</a:t>
            </a:r>
            <a:endParaRPr lang="en-US" sz="2000" dirty="0"/>
          </a:p>
        </p:txBody>
      </p:sp>
      <p:sp>
        <p:nvSpPr>
          <p:cNvPr id="8" name="Text 6"/>
          <p:cNvSpPr txBox="1"/>
          <p:nvPr/>
        </p:nvSpPr>
        <p:spPr>
          <a:xfrm>
            <a:off x="749808" y="196596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All of a transaction's operations happen, or none do — no partial effect is ever left behind.</a:t>
            </a:r>
            <a:endParaRPr lang="en-US" sz="1800" dirty="0"/>
          </a:p>
        </p:txBody>
      </p:sp>
      <p:sp>
        <p:nvSpPr>
          <p:cNvPr id="9" name="Shape 7"/>
          <p:cNvSpPr/>
          <p:nvPr/>
        </p:nvSpPr>
        <p:spPr>
          <a:xfrm>
            <a:off x="6240780" y="1463040"/>
            <a:ext cx="5372100" cy="2103120"/>
          </a:xfrm>
          <a:prstGeom prst="roundRect">
            <a:avLst>
              <a:gd name="adj" fmla="val 3478"/>
            </a:avLst>
          </a:prstGeom>
          <a:solidFill>
            <a:srgbClr val="FFFFFF"/>
          </a:solidFill>
          <a:ln w="22225">
            <a:solidFill>
              <a:srgbClr val="8B7FD9"/>
            </a:solidFill>
            <a:prstDash val="solid"/>
          </a:ln>
          <a:effectLst>
            <a:outerShdw sx="100000" sy="100000" kx="0" ky="0" algn="bl" rotWithShape="0" blurRad="63500" dist="25400" dir="5400000">
              <a:srgbClr val="1F2429">
                <a:alpha val="15000"/>
              </a:srgbClr>
            </a:outerShdw>
          </a:effectLst>
        </p:spPr>
      </p:sp>
      <p:sp>
        <p:nvSpPr>
          <p:cNvPr id="10" name="Shape 8"/>
          <p:cNvSpPr/>
          <p:nvPr/>
        </p:nvSpPr>
        <p:spPr>
          <a:xfrm>
            <a:off x="6405372" y="1609344"/>
            <a:ext cx="201168" cy="201168"/>
          </a:xfrm>
          <a:prstGeom prst="ellipse">
            <a:avLst/>
          </a:prstGeom>
          <a:solidFill>
            <a:srgbClr val="8B7FD9"/>
          </a:solidFill>
          <a:ln/>
        </p:spPr>
      </p:sp>
      <p:sp>
        <p:nvSpPr>
          <p:cNvPr id="11" name="Text 9"/>
          <p:cNvSpPr txBox="1"/>
          <p:nvPr/>
        </p:nvSpPr>
        <p:spPr>
          <a:xfrm>
            <a:off x="669798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Consistency</a:t>
            </a:r>
            <a:endParaRPr lang="en-US" sz="2000" dirty="0"/>
          </a:p>
        </p:txBody>
      </p:sp>
      <p:sp>
        <p:nvSpPr>
          <p:cNvPr id="12" name="Text 10"/>
          <p:cNvSpPr txBox="1"/>
          <p:nvPr/>
        </p:nvSpPr>
        <p:spPr>
          <a:xfrm>
            <a:off x="6441948" y="196596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A transaction takes the database from one valid state to another, never violating an integrity constraint.</a:t>
            </a:r>
            <a:endParaRPr lang="en-US" sz="1800" dirty="0"/>
          </a:p>
        </p:txBody>
      </p:sp>
      <p:sp>
        <p:nvSpPr>
          <p:cNvPr id="13" name="Shape 11"/>
          <p:cNvSpPr/>
          <p:nvPr/>
        </p:nvSpPr>
        <p:spPr>
          <a:xfrm>
            <a:off x="548640" y="3840480"/>
            <a:ext cx="5372100" cy="2103120"/>
          </a:xfrm>
          <a:prstGeom prst="roundRect">
            <a:avLst>
              <a:gd name="adj" fmla="val 3478"/>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4" name="Shape 12"/>
          <p:cNvSpPr/>
          <p:nvPr/>
        </p:nvSpPr>
        <p:spPr>
          <a:xfrm>
            <a:off x="713232" y="3986784"/>
            <a:ext cx="201168" cy="201168"/>
          </a:xfrm>
          <a:prstGeom prst="ellipse">
            <a:avLst/>
          </a:prstGeom>
          <a:solidFill>
            <a:srgbClr val="E8A33D"/>
          </a:solidFill>
          <a:ln/>
        </p:spPr>
      </p:sp>
      <p:sp>
        <p:nvSpPr>
          <p:cNvPr id="15" name="Text 13"/>
          <p:cNvSpPr txBox="1"/>
          <p:nvPr/>
        </p:nvSpPr>
        <p:spPr>
          <a:xfrm>
            <a:off x="1005840" y="393192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Isolation</a:t>
            </a:r>
            <a:endParaRPr lang="en-US" sz="2000" dirty="0"/>
          </a:p>
        </p:txBody>
      </p:sp>
      <p:sp>
        <p:nvSpPr>
          <p:cNvPr id="16" name="Text 14"/>
          <p:cNvSpPr txBox="1"/>
          <p:nvPr/>
        </p:nvSpPr>
        <p:spPr>
          <a:xfrm>
            <a:off x="749808" y="434340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Concurrent transactions don't see each other's incomplete, in-progress effects.</a:t>
            </a:r>
            <a:endParaRPr lang="en-US" sz="1800" dirty="0"/>
          </a:p>
        </p:txBody>
      </p:sp>
      <p:sp>
        <p:nvSpPr>
          <p:cNvPr id="17" name="Shape 15"/>
          <p:cNvSpPr/>
          <p:nvPr/>
        </p:nvSpPr>
        <p:spPr>
          <a:xfrm>
            <a:off x="6240780" y="3840480"/>
            <a:ext cx="5372100" cy="2103120"/>
          </a:xfrm>
          <a:prstGeom prst="roundRect">
            <a:avLst>
              <a:gd name="adj" fmla="val 3478"/>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8" name="Shape 16"/>
          <p:cNvSpPr/>
          <p:nvPr/>
        </p:nvSpPr>
        <p:spPr>
          <a:xfrm>
            <a:off x="6405372" y="3986784"/>
            <a:ext cx="201168" cy="201168"/>
          </a:xfrm>
          <a:prstGeom prst="ellipse">
            <a:avLst/>
          </a:prstGeom>
          <a:solidFill>
            <a:srgbClr val="2FE6C4"/>
          </a:solidFill>
          <a:ln/>
        </p:spPr>
      </p:sp>
      <p:sp>
        <p:nvSpPr>
          <p:cNvPr id="19" name="Text 17"/>
          <p:cNvSpPr txBox="1"/>
          <p:nvPr/>
        </p:nvSpPr>
        <p:spPr>
          <a:xfrm>
            <a:off x="6697980" y="393192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Durability</a:t>
            </a:r>
            <a:endParaRPr lang="en-US" sz="2000" dirty="0"/>
          </a:p>
        </p:txBody>
      </p:sp>
      <p:sp>
        <p:nvSpPr>
          <p:cNvPr id="20" name="Text 18"/>
          <p:cNvSpPr txBox="1"/>
          <p:nvPr/>
        </p:nvSpPr>
        <p:spPr>
          <a:xfrm>
            <a:off x="6441948" y="434340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Once committed, a transaction's effects survive any later crash.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ACID, PART 1</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Atomicity and Consistency</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8</a:t>
            </a:r>
            <a:endParaRPr lang="en-US" sz="1200" dirty="0"/>
          </a:p>
        </p:txBody>
      </p:sp>
      <p:sp>
        <p:nvSpPr>
          <p:cNvPr id="5" name="Text 3"/>
          <p:cNvSpPr txBox="1"/>
          <p:nvPr/>
        </p:nvSpPr>
        <p:spPr>
          <a:xfrm>
            <a:off x="548640" y="1417320"/>
            <a:ext cx="5349240" cy="292608"/>
          </a:xfrm>
          <a:prstGeom prst="rect">
            <a:avLst/>
          </a:prstGeom>
          <a:noFill/>
          <a:ln/>
        </p:spPr>
        <p:txBody>
          <a:bodyPr wrap="square" rtlCol="0" anchor="ctr"/>
          <a:lstStyle/>
          <a:p>
            <a:pPr indent="0" marL="0">
              <a:buNone/>
            </a:pPr>
            <a:r>
              <a:rPr lang="en-US" sz="2000" b="1" dirty="0">
                <a:solidFill>
                  <a:srgbClr val="2FE6C4"/>
                </a:solidFill>
                <a:latin typeface="Calibri" pitchFamily="34" charset="0"/>
                <a:ea typeface="Calibri" pitchFamily="34" charset="-122"/>
                <a:cs typeface="Calibri" pitchFamily="34" charset="-120"/>
              </a:rPr>
              <a:t>Atomicity</a:t>
            </a:r>
            <a:endParaRPr lang="en-US" sz="2000" dirty="0"/>
          </a:p>
        </p:txBody>
      </p:sp>
      <p:sp>
        <p:nvSpPr>
          <p:cNvPr id="6" name="Shape 4"/>
          <p:cNvSpPr/>
          <p:nvPr/>
        </p:nvSpPr>
        <p:spPr>
          <a:xfrm>
            <a:off x="548640" y="1783080"/>
            <a:ext cx="5349240" cy="3566160"/>
          </a:xfrm>
          <a:prstGeom prst="roundRect">
            <a:avLst>
              <a:gd name="adj" fmla="val 2051"/>
            </a:avLst>
          </a:prstGeom>
          <a:solidFill>
            <a:srgbClr val="FFFFFF"/>
          </a:solidFill>
          <a:ln w="19050">
            <a:solidFill>
              <a:srgbClr val="2FE6C4"/>
            </a:solidFill>
            <a:prstDash val="solid"/>
          </a:ln>
        </p:spPr>
      </p:sp>
      <p:sp>
        <p:nvSpPr>
          <p:cNvPr id="7" name="Text 5"/>
          <p:cNvSpPr txBox="1"/>
          <p:nvPr/>
        </p:nvSpPr>
        <p:spPr>
          <a:xfrm>
            <a:off x="777240" y="1965960"/>
            <a:ext cx="4892040" cy="320040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The “all-or-nothing” property: a transaction's operations are treated as a single, indivisible unit. If any operation cannot complete, the DBMS undoes every operation that did already run — as if the transaction never started.</a:t>
            </a:r>
            <a:endParaRPr lang="en-US" sz="1800" dirty="0"/>
          </a:p>
        </p:txBody>
      </p:sp>
      <p:sp>
        <p:nvSpPr>
          <p:cNvPr id="8" name="Text 6"/>
          <p:cNvSpPr txBox="1"/>
          <p:nvPr/>
        </p:nvSpPr>
        <p:spPr>
          <a:xfrm>
            <a:off x="6263640" y="1417320"/>
            <a:ext cx="5349240" cy="292608"/>
          </a:xfrm>
          <a:prstGeom prst="rect">
            <a:avLst/>
          </a:prstGeom>
          <a:noFill/>
          <a:ln/>
        </p:spPr>
        <p:txBody>
          <a:bodyPr wrap="square" rtlCol="0" anchor="ctr"/>
          <a:lstStyle/>
          <a:p>
            <a:pPr indent="0" marL="0">
              <a:buNone/>
            </a:pPr>
            <a:r>
              <a:rPr lang="en-US" sz="2000" b="1" dirty="0">
                <a:solidFill>
                  <a:srgbClr val="8B7FD9"/>
                </a:solidFill>
                <a:latin typeface="Calibri" pitchFamily="34" charset="0"/>
                <a:ea typeface="Calibri" pitchFamily="34" charset="-122"/>
                <a:cs typeface="Calibri" pitchFamily="34" charset="-120"/>
              </a:rPr>
              <a:t>Consistency</a:t>
            </a:r>
            <a:endParaRPr lang="en-US" sz="2000" dirty="0"/>
          </a:p>
        </p:txBody>
      </p:sp>
      <p:sp>
        <p:nvSpPr>
          <p:cNvPr id="9" name="Shape 7"/>
          <p:cNvSpPr/>
          <p:nvPr/>
        </p:nvSpPr>
        <p:spPr>
          <a:xfrm>
            <a:off x="6263640" y="1783080"/>
            <a:ext cx="5349240" cy="3566160"/>
          </a:xfrm>
          <a:prstGeom prst="roundRect">
            <a:avLst>
              <a:gd name="adj" fmla="val 2051"/>
            </a:avLst>
          </a:prstGeom>
          <a:solidFill>
            <a:srgbClr val="FFFFFF"/>
          </a:solidFill>
          <a:ln w="19050">
            <a:solidFill>
              <a:srgbClr val="8B7FD9"/>
            </a:solidFill>
            <a:prstDash val="solid"/>
          </a:ln>
        </p:spPr>
      </p:sp>
      <p:sp>
        <p:nvSpPr>
          <p:cNvPr id="10" name="Text 8"/>
          <p:cNvSpPr txBox="1"/>
          <p:nvPr/>
        </p:nvSpPr>
        <p:spPr>
          <a:xfrm>
            <a:off x="6492240" y="1965960"/>
            <a:ext cx="4892040" cy="3200400"/>
          </a:xfrm>
          <a:prstGeom prst="rect">
            <a:avLst/>
          </a:prstGeom>
          <a:noFill/>
          <a:ln/>
        </p:spPr>
        <p:txBody>
          <a:bodyPr wrap="square" rtlCol="0" anchor="t"/>
          <a:lstStyle/>
          <a:p>
            <a:pPr indent="0" marL="0">
              <a:lnSpc>
                <a:spcPct val="122000"/>
              </a:lnSpc>
              <a:buNone/>
            </a:pPr>
            <a:r>
              <a:rPr lang="en-US" sz="1800" dirty="0">
                <a:solidFill>
                  <a:srgbClr val="1F2429"/>
                </a:solidFill>
                <a:latin typeface="Calibri" pitchFamily="34" charset="0"/>
                <a:ea typeface="Calibri" pitchFamily="34" charset="-122"/>
                <a:cs typeface="Calibri" pitchFamily="34" charset="-120"/>
              </a:rPr>
              <a:t>A transaction, run to completion, takes the database from one valid state to another — never violating a domain, entity, referential, or general constraint. A DBMS enforces the constraints it knows about; encoding the business rule itself (e.g. “a transfer must debit exactly what it credits”) is the application's job.</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ACID, PART 2</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Isolation and Durability</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9</a:t>
            </a:r>
            <a:endParaRPr lang="en-US" sz="1200" dirty="0"/>
          </a:p>
        </p:txBody>
      </p:sp>
      <p:sp>
        <p:nvSpPr>
          <p:cNvPr id="5" name="Text 3"/>
          <p:cNvSpPr txBox="1"/>
          <p:nvPr/>
        </p:nvSpPr>
        <p:spPr>
          <a:xfrm>
            <a:off x="548640" y="1417320"/>
            <a:ext cx="5349240" cy="292608"/>
          </a:xfrm>
          <a:prstGeom prst="rect">
            <a:avLst/>
          </a:prstGeom>
          <a:noFill/>
          <a:ln/>
        </p:spPr>
        <p:txBody>
          <a:bodyPr wrap="square"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Isolation</a:t>
            </a:r>
            <a:endParaRPr lang="en-US" sz="2000" dirty="0"/>
          </a:p>
        </p:txBody>
      </p:sp>
      <p:sp>
        <p:nvSpPr>
          <p:cNvPr id="6" name="Shape 4"/>
          <p:cNvSpPr/>
          <p:nvPr/>
        </p:nvSpPr>
        <p:spPr>
          <a:xfrm>
            <a:off x="548640" y="1783080"/>
            <a:ext cx="5349240" cy="3566160"/>
          </a:xfrm>
          <a:prstGeom prst="roundRect">
            <a:avLst>
              <a:gd name="adj" fmla="val 2051"/>
            </a:avLst>
          </a:prstGeom>
          <a:solidFill>
            <a:srgbClr val="FFFFFF"/>
          </a:solidFill>
          <a:ln w="19050">
            <a:solidFill>
              <a:srgbClr val="E8A33D"/>
            </a:solidFill>
            <a:prstDash val="solid"/>
          </a:ln>
        </p:spPr>
      </p:sp>
      <p:sp>
        <p:nvSpPr>
          <p:cNvPr id="7" name="Text 5"/>
          <p:cNvSpPr txBox="1"/>
          <p:nvPr/>
        </p:nvSpPr>
        <p:spPr>
          <a:xfrm>
            <a:off x="777240" y="1965960"/>
            <a:ext cx="4892040" cy="320040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Concurrently executing transactions do not interfere with one another — each behaves as though it were the only one running. Without isolation, one transaction could read another's half-finished work. This is a large enough topic to get its own full lecture next.</a:t>
            </a:r>
            <a:endParaRPr lang="en-US" sz="1800" dirty="0"/>
          </a:p>
        </p:txBody>
      </p:sp>
      <p:sp>
        <p:nvSpPr>
          <p:cNvPr id="8" name="Text 6"/>
          <p:cNvSpPr txBox="1"/>
          <p:nvPr/>
        </p:nvSpPr>
        <p:spPr>
          <a:xfrm>
            <a:off x="6263640" y="1417320"/>
            <a:ext cx="5349240" cy="292608"/>
          </a:xfrm>
          <a:prstGeom prst="rect">
            <a:avLst/>
          </a:prstGeom>
          <a:noFill/>
          <a:ln/>
        </p:spPr>
        <p:txBody>
          <a:bodyPr wrap="square" rtlCol="0" anchor="ctr"/>
          <a:lstStyle/>
          <a:p>
            <a:pPr indent="0" marL="0">
              <a:buNone/>
            </a:pPr>
            <a:r>
              <a:rPr lang="en-US" sz="2000" b="1" dirty="0">
                <a:solidFill>
                  <a:srgbClr val="2FE6C4"/>
                </a:solidFill>
                <a:latin typeface="Calibri" pitchFamily="34" charset="0"/>
                <a:ea typeface="Calibri" pitchFamily="34" charset="-122"/>
                <a:cs typeface="Calibri" pitchFamily="34" charset="-120"/>
              </a:rPr>
              <a:t>Durability</a:t>
            </a:r>
            <a:endParaRPr lang="en-US" sz="2000" dirty="0"/>
          </a:p>
        </p:txBody>
      </p:sp>
      <p:sp>
        <p:nvSpPr>
          <p:cNvPr id="9" name="Shape 7"/>
          <p:cNvSpPr/>
          <p:nvPr/>
        </p:nvSpPr>
        <p:spPr>
          <a:xfrm>
            <a:off x="6263640" y="1783080"/>
            <a:ext cx="5349240" cy="3566160"/>
          </a:xfrm>
          <a:prstGeom prst="roundRect">
            <a:avLst>
              <a:gd name="adj" fmla="val 2051"/>
            </a:avLst>
          </a:prstGeom>
          <a:solidFill>
            <a:srgbClr val="FFFFFF"/>
          </a:solidFill>
          <a:ln w="19050">
            <a:solidFill>
              <a:srgbClr val="2FE6C4"/>
            </a:solidFill>
            <a:prstDash val="solid"/>
          </a:ln>
        </p:spPr>
      </p:sp>
      <p:sp>
        <p:nvSpPr>
          <p:cNvPr id="10" name="Text 8"/>
          <p:cNvSpPr txBox="1"/>
          <p:nvPr/>
        </p:nvSpPr>
        <p:spPr>
          <a:xfrm>
            <a:off x="6492240" y="1965960"/>
            <a:ext cx="4892040" cy="3200400"/>
          </a:xfrm>
          <a:prstGeom prst="rect">
            <a:avLst/>
          </a:prstGeom>
          <a:noFill/>
          <a:ln/>
        </p:spPr>
        <p:txBody>
          <a:bodyPr wrap="square" rtlCol="0" anchor="t"/>
          <a:lstStyle/>
          <a:p>
            <a:pPr indent="0" marL="0">
              <a:lnSpc>
                <a:spcPct val="122000"/>
              </a:lnSpc>
              <a:buNone/>
            </a:pPr>
            <a:r>
              <a:rPr lang="en-US" sz="1800" dirty="0">
                <a:solidFill>
                  <a:srgbClr val="1F2429"/>
                </a:solidFill>
                <a:latin typeface="Calibri" pitchFamily="34" charset="0"/>
                <a:ea typeface="Calibri" pitchFamily="34" charset="-122"/>
                <a:cs typeface="Calibri" pitchFamily="34" charset="-120"/>
              </a:rPr>
              <a:t>Once a transaction commits, its effects are permanent — they survive any subsequent failure. Delivered by writing a log of every change to stable storage before confirming the commit, so even a total loss of memory can be recovered from. The mechanics are Lecture 31's subject in full.</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Bank Transfer, Traced</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15</a:t>
            </a:r>
            <a:endParaRPr lang="en-US" sz="1200" dirty="0"/>
          </a:p>
        </p:txBody>
      </p:sp>
      <p:sp>
        <p:nvSpPr>
          <p:cNvPr id="5" name="Text 3"/>
          <p:cNvSpPr txBox="1"/>
          <p:nvPr/>
        </p:nvSpPr>
        <p:spPr>
          <a:xfrm>
            <a:off x="548640" y="1371600"/>
            <a:ext cx="5394960" cy="292608"/>
          </a:xfrm>
          <a:prstGeom prst="rect">
            <a:avLst/>
          </a:prstGeom>
          <a:noFill/>
          <a:ln/>
        </p:spPr>
        <p:txBody>
          <a:bodyPr wrap="square" rtlCol="0" anchor="ctr"/>
          <a:lstStyle/>
          <a:p>
            <a:pPr indent="0" marL="0">
              <a:buNone/>
            </a:pPr>
            <a:r>
              <a:rPr lang="en-US" sz="2000" b="1" dirty="0">
                <a:solidFill>
                  <a:srgbClr val="2FE6C4"/>
                </a:solidFill>
                <a:latin typeface="Calibri" pitchFamily="34" charset="0"/>
                <a:ea typeface="Calibri" pitchFamily="34" charset="-122"/>
                <a:cs typeface="Calibri" pitchFamily="34" charset="-120"/>
              </a:rPr>
              <a:t>Outcome 1 — both statements succeed</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394960" cy="3291840"/>
        </p:xfrm>
        <a:graphic>
          <a:graphicData uri="http://schemas.openxmlformats.org/drawingml/2006/table">
            <a:tbl>
              <a:tblPr/>
              <a:tblGrid>
                <a:gridCol w="731520"/>
                <a:gridCol w="3017520"/>
                <a:gridCol w="1645920"/>
              </a:tblGrid>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BEGIN TRANSACTION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Active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Debit A101 by 10,000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Active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Credit A205 by 10,000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Active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Final operation done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Partially Committed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Log flushed to disk</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Committed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263640" y="1371600"/>
            <a:ext cx="5394960" cy="292608"/>
          </a:xfrm>
          <a:prstGeom prst="rect">
            <a:avLst/>
          </a:prstGeom>
          <a:noFill/>
          <a:ln/>
        </p:spPr>
        <p:txBody>
          <a:bodyPr wrap="square"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Outcome 2 — crash after debit, before credit</a:t>
            </a:r>
            <a:endParaRPr lang="en-US" sz="18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63640" y="1691640"/>
          <a:ext cx="5394960" cy="3291840"/>
        </p:xfrm>
        <a:graphic>
          <a:graphicData uri="http://schemas.openxmlformats.org/drawingml/2006/table">
            <a:tbl>
              <a:tblPr/>
              <a:tblGrid>
                <a:gridCol w="731520"/>
                <a:gridCol w="3108960"/>
                <a:gridCol w="1554480"/>
              </a:tblGrid>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BEGIN TRANSACTION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Active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Debit A101 by 10,000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Active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(system crash)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Failed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Recovery manager undoes step 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Aborted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54864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A101 restored to original balance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(over)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WHY THIS MATTERS</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What Atomicity Prevents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16</a:t>
            </a:r>
            <a:endParaRPr lang="en-US" sz="1200" dirty="0"/>
          </a:p>
        </p:txBody>
      </p:sp>
      <p:sp>
        <p:nvSpPr>
          <p:cNvPr id="5" name="Shape 3"/>
          <p:cNvSpPr/>
          <p:nvPr/>
        </p:nvSpPr>
        <p:spPr>
          <a:xfrm>
            <a:off x="548640" y="1463040"/>
            <a:ext cx="5372100" cy="2286000"/>
          </a:xfrm>
          <a:prstGeom prst="roundRect">
            <a:avLst>
              <a:gd name="adj" fmla="val 3200"/>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6" name="Shape 4"/>
          <p:cNvSpPr/>
          <p:nvPr/>
        </p:nvSpPr>
        <p:spPr>
          <a:xfrm>
            <a:off x="713232" y="1609344"/>
            <a:ext cx="201168" cy="201168"/>
          </a:xfrm>
          <a:prstGeom prst="ellipse">
            <a:avLst/>
          </a:prstGeom>
          <a:solidFill>
            <a:srgbClr val="E8A33D"/>
          </a:solidFill>
          <a:ln/>
        </p:spPr>
      </p:sp>
      <p:sp>
        <p:nvSpPr>
          <p:cNvPr id="7" name="Text 5"/>
          <p:cNvSpPr txBox="1"/>
          <p:nvPr/>
        </p:nvSpPr>
        <p:spPr>
          <a:xfrm>
            <a:off x="100584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Without Atomicity</a:t>
            </a:r>
            <a:endParaRPr lang="en-US" sz="2000" dirty="0"/>
          </a:p>
        </p:txBody>
      </p:sp>
      <p:sp>
        <p:nvSpPr>
          <p:cNvPr id="8" name="Text 6"/>
          <p:cNvSpPr txBox="1"/>
          <p:nvPr/>
        </p:nvSpPr>
        <p:spPr>
          <a:xfrm>
            <a:off x="749808" y="1965960"/>
            <a:ext cx="4969764" cy="169164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Outcome 2 would leave A101 debited and A205 never credited — PKR 10,000 simply gone, with no record of where it went.</a:t>
            </a:r>
            <a:endParaRPr lang="en-US" sz="1800" dirty="0"/>
          </a:p>
        </p:txBody>
      </p:sp>
      <p:sp>
        <p:nvSpPr>
          <p:cNvPr id="9" name="Shape 7"/>
          <p:cNvSpPr/>
          <p:nvPr/>
        </p:nvSpPr>
        <p:spPr>
          <a:xfrm>
            <a:off x="6240780" y="1463040"/>
            <a:ext cx="5372100" cy="2286000"/>
          </a:xfrm>
          <a:prstGeom prst="roundRect">
            <a:avLst>
              <a:gd name="adj" fmla="val 3200"/>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0" name="Shape 8"/>
          <p:cNvSpPr/>
          <p:nvPr/>
        </p:nvSpPr>
        <p:spPr>
          <a:xfrm>
            <a:off x="6405372" y="1609344"/>
            <a:ext cx="201168" cy="201168"/>
          </a:xfrm>
          <a:prstGeom prst="ellipse">
            <a:avLst/>
          </a:prstGeom>
          <a:solidFill>
            <a:srgbClr val="2FE6C4"/>
          </a:solidFill>
          <a:ln/>
        </p:spPr>
      </p:sp>
      <p:sp>
        <p:nvSpPr>
          <p:cNvPr id="11" name="Text 9"/>
          <p:cNvSpPr txBox="1"/>
          <p:nvPr/>
        </p:nvSpPr>
        <p:spPr>
          <a:xfrm>
            <a:off x="669798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With Atomicity</a:t>
            </a:r>
            <a:endParaRPr lang="en-US" sz="2000" dirty="0"/>
          </a:p>
        </p:txBody>
      </p:sp>
      <p:sp>
        <p:nvSpPr>
          <p:cNvPr id="12" name="Text 10"/>
          <p:cNvSpPr txBox="1"/>
          <p:nvPr/>
        </p:nvSpPr>
        <p:spPr>
          <a:xfrm>
            <a:off x="6441948" y="1965960"/>
            <a:ext cx="4969764" cy="169164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The recovery manager detects the incomplete transaction on restart, reverses the debit using the log — the books are exactly as if the transfer never happened.</a:t>
            </a:r>
            <a:endParaRPr lang="en-US" sz="1800" dirty="0"/>
          </a:p>
        </p:txBody>
      </p:sp>
      <p:sp>
        <p:nvSpPr>
          <p:cNvPr id="13" name="Shape 11"/>
          <p:cNvSpPr/>
          <p:nvPr/>
        </p:nvSpPr>
        <p:spPr>
          <a:xfrm>
            <a:off x="548640" y="3977640"/>
            <a:ext cx="11064240" cy="1371600"/>
          </a:xfrm>
          <a:prstGeom prst="roundRect">
            <a:avLst>
              <a:gd name="adj" fmla="val 5333"/>
            </a:avLst>
          </a:prstGeom>
          <a:solidFill>
            <a:srgbClr val="FFF7EA"/>
          </a:solidFill>
          <a:ln w="12700">
            <a:solidFill>
              <a:srgbClr val="E8A33D"/>
            </a:solidFill>
            <a:prstDash val="solid"/>
          </a:ln>
        </p:spPr>
      </p:sp>
      <p:sp>
        <p:nvSpPr>
          <p:cNvPr id="14" name="Text 12"/>
          <p:cNvSpPr txBox="1"/>
          <p:nvPr/>
        </p:nvSpPr>
        <p:spPr>
          <a:xfrm>
            <a:off x="822960" y="4114800"/>
            <a:ext cx="10515600" cy="1097280"/>
          </a:xfrm>
          <a:prstGeom prst="rect">
            <a:avLst/>
          </a:prstGeom>
          <a:noFill/>
          <a:ln/>
        </p:spPr>
        <p:txBody>
          <a:bodyPr wrap="square" rtlCol="0" anchor="t"/>
          <a:lstStyle/>
          <a:p>
            <a:pPr indent="0" marL="0">
              <a:lnSpc>
                <a:spcPct val="120000"/>
              </a:lnSpc>
              <a:buNone/>
            </a:pPr>
            <a:r>
              <a:rPr lang="en-US" sz="1800" b="1" dirty="0">
                <a:solidFill>
                  <a:srgbClr val="1F2429"/>
                </a:solidFill>
                <a:latin typeface="Calibri" pitchFamily="34" charset="0"/>
                <a:ea typeface="Calibri" pitchFamily="34" charset="-122"/>
                <a:cs typeface="Calibri" pitchFamily="34" charset="-120"/>
              </a:rPr>
              <a:t>Isolation without atomicity would still be broken: </a:t>
            </a:r>
            <a:pPr indent="0" marL="0">
              <a:lnSpc>
                <a:spcPct val="120000"/>
              </a:lnSpc>
              <a:buNone/>
            </a:pPr>
            <a:r>
              <a:rPr lang="en-US" sz="1800" dirty="0">
                <a:solidFill>
                  <a:srgbClr val="1F2429"/>
                </a:solidFill>
                <a:latin typeface="Calibri" pitchFamily="34" charset="0"/>
                <a:ea typeface="Calibri" pitchFamily="34" charset="-122"/>
                <a:cs typeface="Calibri" pitchFamily="34" charset="-120"/>
              </a:rPr>
              <a:t>even perfect isolation between transactions says nothing about whether this transfer itself gets fully applied or fully reversed. All four ACID properties are independently necessary; none can substitute for another.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PUTTING IT TOGETHER</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Transaction Management in the DBMS</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17</a:t>
            </a:r>
            <a:endParaRPr lang="en-US" sz="1200" dirty="0"/>
          </a:p>
        </p:txBody>
      </p:sp>
      <p:sp>
        <p:nvSpPr>
          <p:cNvPr id="5" name="Text 3"/>
          <p:cNvSpPr txBox="1"/>
          <p:nvPr/>
        </p:nvSpPr>
        <p:spPr>
          <a:xfrm>
            <a:off x="548640" y="1371600"/>
            <a:ext cx="11064240" cy="640080"/>
          </a:xfrm>
          <a:prstGeom prst="rect">
            <a:avLst/>
          </a:prstGeom>
          <a:noFill/>
          <a:ln/>
        </p:spPr>
        <p:txBody>
          <a:bodyPr wrap="square" rtlCol="0" anchor="t"/>
          <a:lstStyle/>
          <a:p>
            <a:pPr indent="0" marL="0">
              <a:lnSpc>
                <a:spcPct val="120000"/>
              </a:lnSpc>
              <a:buNone/>
            </a:pPr>
            <a:r>
              <a:rPr lang="en-US" sz="1800" dirty="0">
                <a:solidFill>
                  <a:srgbClr val="1F2429"/>
                </a:solidFill>
                <a:latin typeface="Calibri" pitchFamily="34" charset="0"/>
                <a:ea typeface="Calibri" pitchFamily="34" charset="-122"/>
                <a:cs typeface="Calibri" pitchFamily="34" charset="-120"/>
              </a:rPr>
              <a:t>The DBMS subsystem that tracks every transaction's state, enforces atomicity and consistency on commit or abort, and coordinates with two supporting subsystems.</a:t>
            </a:r>
            <a:endParaRPr lang="en-US" sz="1800" dirty="0"/>
          </a:p>
        </p:txBody>
      </p:sp>
      <p:sp>
        <p:nvSpPr>
          <p:cNvPr id="6" name="Shape 4"/>
          <p:cNvSpPr/>
          <p:nvPr/>
        </p:nvSpPr>
        <p:spPr>
          <a:xfrm>
            <a:off x="548640" y="2286120"/>
            <a:ext cx="3413760" cy="2194560"/>
          </a:xfrm>
          <a:prstGeom prst="roundRect">
            <a:avLst>
              <a:gd name="adj" fmla="val 4000"/>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7" name="Shape 5"/>
          <p:cNvSpPr/>
          <p:nvPr/>
        </p:nvSpPr>
        <p:spPr>
          <a:xfrm>
            <a:off x="694944" y="2414136"/>
            <a:ext cx="310896" cy="91440"/>
          </a:xfrm>
          <a:prstGeom prst="rect">
            <a:avLst/>
          </a:prstGeom>
          <a:solidFill>
            <a:srgbClr val="2FE6C4"/>
          </a:solidFill>
          <a:ln/>
        </p:spPr>
      </p:sp>
      <p:sp>
        <p:nvSpPr>
          <p:cNvPr id="8" name="Text 6"/>
          <p:cNvSpPr txBox="1"/>
          <p:nvPr/>
        </p:nvSpPr>
        <p:spPr>
          <a:xfrm>
            <a:off x="694944" y="2560440"/>
            <a:ext cx="3121152" cy="73152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Transaction Manager</a:t>
            </a:r>
            <a:endParaRPr lang="en-US" sz="2000" dirty="0"/>
          </a:p>
        </p:txBody>
      </p:sp>
      <p:sp>
        <p:nvSpPr>
          <p:cNvPr id="9" name="Text 7"/>
          <p:cNvSpPr txBox="1"/>
          <p:nvPr/>
        </p:nvSpPr>
        <p:spPr>
          <a:xfrm>
            <a:off x="694944" y="3255384"/>
            <a:ext cx="3121152" cy="749808"/>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Tracks transaction state; enforces commit/abort semantics.</a:t>
            </a:r>
            <a:endParaRPr lang="en-US" sz="1800" dirty="0"/>
          </a:p>
        </p:txBody>
      </p:sp>
      <p:sp>
        <p:nvSpPr>
          <p:cNvPr id="10" name="Shape 8"/>
          <p:cNvSpPr/>
          <p:nvPr/>
        </p:nvSpPr>
        <p:spPr>
          <a:xfrm>
            <a:off x="3962400" y="3383400"/>
            <a:ext cx="411480" cy="0"/>
          </a:xfrm>
          <a:prstGeom prst="line">
            <a:avLst/>
          </a:prstGeom>
          <a:noFill/>
          <a:ln w="25400">
            <a:solidFill>
              <a:srgbClr val="8A939B"/>
            </a:solidFill>
            <a:prstDash val="solid"/>
            <a:tailEnd type="triangle"/>
          </a:ln>
        </p:spPr>
      </p:sp>
      <p:sp>
        <p:nvSpPr>
          <p:cNvPr id="11" name="Shape 9"/>
          <p:cNvSpPr/>
          <p:nvPr/>
        </p:nvSpPr>
        <p:spPr>
          <a:xfrm>
            <a:off x="4373880" y="2286120"/>
            <a:ext cx="3413760" cy="2194560"/>
          </a:xfrm>
          <a:prstGeom prst="roundRect">
            <a:avLst>
              <a:gd name="adj" fmla="val 4000"/>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2" name="Shape 10"/>
          <p:cNvSpPr/>
          <p:nvPr/>
        </p:nvSpPr>
        <p:spPr>
          <a:xfrm>
            <a:off x="4520184" y="2414136"/>
            <a:ext cx="310896" cy="91440"/>
          </a:xfrm>
          <a:prstGeom prst="rect">
            <a:avLst/>
          </a:prstGeom>
          <a:solidFill>
            <a:srgbClr val="8B7FD9"/>
          </a:solidFill>
          <a:ln/>
        </p:spPr>
      </p:sp>
      <p:sp>
        <p:nvSpPr>
          <p:cNvPr id="13" name="Text 11"/>
          <p:cNvSpPr txBox="1"/>
          <p:nvPr/>
        </p:nvSpPr>
        <p:spPr>
          <a:xfrm>
            <a:off x="4520184" y="2560440"/>
            <a:ext cx="3121152" cy="73152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Concurrency Control</a:t>
            </a:r>
            <a:endParaRPr lang="en-US" sz="2000" dirty="0"/>
          </a:p>
        </p:txBody>
      </p:sp>
      <p:sp>
        <p:nvSpPr>
          <p:cNvPr id="14" name="Text 12"/>
          <p:cNvSpPr txBox="1"/>
          <p:nvPr/>
        </p:nvSpPr>
        <p:spPr>
          <a:xfrm>
            <a:off x="4520184" y="3255384"/>
            <a:ext cx="3121152" cy="749808"/>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Delivers Isolation — Lecture 30.</a:t>
            </a:r>
            <a:endParaRPr lang="en-US" sz="1800" dirty="0"/>
          </a:p>
        </p:txBody>
      </p:sp>
      <p:sp>
        <p:nvSpPr>
          <p:cNvPr id="15" name="Shape 13"/>
          <p:cNvSpPr/>
          <p:nvPr/>
        </p:nvSpPr>
        <p:spPr>
          <a:xfrm>
            <a:off x="7787640" y="3383400"/>
            <a:ext cx="411480" cy="0"/>
          </a:xfrm>
          <a:prstGeom prst="line">
            <a:avLst/>
          </a:prstGeom>
          <a:noFill/>
          <a:ln w="25400">
            <a:solidFill>
              <a:srgbClr val="8A939B"/>
            </a:solidFill>
            <a:prstDash val="solid"/>
            <a:tailEnd type="triangle"/>
          </a:ln>
        </p:spPr>
      </p:sp>
      <p:sp>
        <p:nvSpPr>
          <p:cNvPr id="16" name="Shape 14"/>
          <p:cNvSpPr/>
          <p:nvPr/>
        </p:nvSpPr>
        <p:spPr>
          <a:xfrm>
            <a:off x="8199120" y="2286120"/>
            <a:ext cx="3413760" cy="2194560"/>
          </a:xfrm>
          <a:prstGeom prst="roundRect">
            <a:avLst>
              <a:gd name="adj" fmla="val 4000"/>
            </a:avLst>
          </a:prstGeom>
          <a:solidFill>
            <a:srgbClr val="FFFFFF"/>
          </a:solidFill>
          <a:ln w="22225">
            <a:solidFill>
              <a:srgbClr val="E8A33D"/>
            </a:solidFill>
            <a:prstDash val="solid"/>
          </a:ln>
          <a:effectLst>
            <a:outerShdw sx="100000" sy="100000" kx="0" ky="0" algn="bl" rotWithShape="0" blurRad="76200" dist="25400" dir="5400000">
              <a:srgbClr val="1F2429">
                <a:alpha val="18000"/>
              </a:srgbClr>
            </a:outerShdw>
          </a:effectLst>
        </p:spPr>
      </p:sp>
      <p:sp>
        <p:nvSpPr>
          <p:cNvPr id="17" name="Shape 15"/>
          <p:cNvSpPr/>
          <p:nvPr/>
        </p:nvSpPr>
        <p:spPr>
          <a:xfrm>
            <a:off x="8345424" y="2414136"/>
            <a:ext cx="310896" cy="91440"/>
          </a:xfrm>
          <a:prstGeom prst="rect">
            <a:avLst/>
          </a:prstGeom>
          <a:solidFill>
            <a:srgbClr val="E8A33D"/>
          </a:solidFill>
          <a:ln/>
        </p:spPr>
      </p:sp>
      <p:sp>
        <p:nvSpPr>
          <p:cNvPr id="18" name="Text 16"/>
          <p:cNvSpPr txBox="1"/>
          <p:nvPr/>
        </p:nvSpPr>
        <p:spPr>
          <a:xfrm>
            <a:off x="8345424" y="2560440"/>
            <a:ext cx="3121152" cy="73152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Recovery Manager</a:t>
            </a:r>
            <a:endParaRPr lang="en-US" sz="2000" dirty="0"/>
          </a:p>
        </p:txBody>
      </p:sp>
      <p:sp>
        <p:nvSpPr>
          <p:cNvPr id="19" name="Text 17"/>
          <p:cNvSpPr txBox="1"/>
          <p:nvPr/>
        </p:nvSpPr>
        <p:spPr>
          <a:xfrm>
            <a:off x="8345424" y="3255384"/>
            <a:ext cx="3121152" cy="749808"/>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Delivers Durability — Lecture 31.</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9265615" y="3931920"/>
            <a:ext cx="3840480" cy="3840480"/>
          </a:xfrm>
          <a:prstGeom prst="ellipse">
            <a:avLst/>
          </a:prstGeom>
          <a:solidFill>
            <a:srgbClr val="2FE6C4">
              <a:alpha val="10000"/>
            </a:srgbClr>
          </a:solidFill>
          <a:ln/>
        </p:spPr>
      </p:sp>
      <p:sp>
        <p:nvSpPr>
          <p:cNvPr id="3" name="Text 1"/>
          <p:cNvSpPr txBox="1"/>
          <p:nvPr/>
        </p:nvSpPr>
        <p:spPr>
          <a:xfrm>
            <a:off x="822960" y="548640"/>
            <a:ext cx="10058400" cy="7315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4" name="Shape"/>
          <p:cNvSpPr/>
          <p:nvPr/>
        </p:nvSpPr>
        <p:spPr>
          <a:xfrm>
            <a:off x="822960" y="1832863"/>
            <a:ext cx="109728" cy="109728"/>
          </a:xfrm>
          <a:prstGeom prst="rect">
            <a:avLst/>
          </a:prstGeom>
          <a:solidFill>
            <a:srgbClr val="2FE6C4"/>
          </a:solidFill>
          <a:ln/>
        </p:spPr>
      </p:sp>
      <p:sp>
        <p:nvSpPr>
          <p:cNvPr id="5" name="Text"/>
          <p:cNvSpPr txBox="1"/>
          <p:nvPr/>
        </p:nvSpPr>
        <p:spPr>
          <a:xfrm>
            <a:off x="1143000" y="1480000"/>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transaction is a logical unit of work — one or more read/write operations that must succeed or fail as a whole.</a:t>
            </a:r>
            <a:endParaRPr lang="en-US" sz="1800" dirty="0"/>
          </a:p>
        </p:txBody>
      </p:sp>
      <p:sp>
        <p:nvSpPr>
          <p:cNvPr id="6" name="Shape"/>
          <p:cNvSpPr/>
          <p:nvPr/>
        </p:nvSpPr>
        <p:spPr>
          <a:xfrm>
            <a:off x="822960" y="2614530"/>
            <a:ext cx="109728" cy="109728"/>
          </a:xfrm>
          <a:prstGeom prst="rect">
            <a:avLst/>
          </a:prstGeom>
          <a:solidFill>
            <a:srgbClr val="8B7FD9"/>
          </a:solidFill>
          <a:ln/>
        </p:spPr>
      </p:sp>
      <p:sp>
        <p:nvSpPr>
          <p:cNvPr id="7" name="Text"/>
          <p:cNvSpPr txBox="1"/>
          <p:nvPr/>
        </p:nvSpPr>
        <p:spPr>
          <a:xfrm>
            <a:off x="1143000" y="2261667"/>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transaction moves through well-defined states: Active, Partially Committed, and either Committed or (via Failed) Aborted.</a:t>
            </a:r>
            <a:endParaRPr lang="en-US" sz="1800" dirty="0"/>
          </a:p>
        </p:txBody>
      </p:sp>
      <p:sp>
        <p:nvSpPr>
          <p:cNvPr id="8" name="Shape"/>
          <p:cNvSpPr/>
          <p:nvPr/>
        </p:nvSpPr>
        <p:spPr>
          <a:xfrm>
            <a:off x="822960" y="3396197"/>
            <a:ext cx="109728" cy="109728"/>
          </a:xfrm>
          <a:prstGeom prst="rect">
            <a:avLst/>
          </a:prstGeom>
          <a:solidFill>
            <a:srgbClr val="E8A33D"/>
          </a:solidFill>
          <a:ln/>
        </p:spPr>
      </p:sp>
      <p:sp>
        <p:nvSpPr>
          <p:cNvPr id="9" name="Text"/>
          <p:cNvSpPr txBox="1"/>
          <p:nvPr/>
        </p:nvSpPr>
        <p:spPr>
          <a:xfrm>
            <a:off x="1143000" y="3043334"/>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ACID — Atomicity, Consistency, Isolation, Durability — is the precise definition of a correctly executed transaction.</a:t>
            </a:r>
            <a:endParaRPr lang="en-US" sz="1800" dirty="0"/>
          </a:p>
        </p:txBody>
      </p:sp>
      <p:sp>
        <p:nvSpPr>
          <p:cNvPr id="10" name="Shape"/>
          <p:cNvSpPr/>
          <p:nvPr/>
        </p:nvSpPr>
        <p:spPr>
          <a:xfrm>
            <a:off x="822960" y="4177864"/>
            <a:ext cx="109728" cy="109728"/>
          </a:xfrm>
          <a:prstGeom prst="rect">
            <a:avLst/>
          </a:prstGeom>
          <a:solidFill>
            <a:srgbClr val="2FE6C4"/>
          </a:solidFill>
          <a:ln/>
        </p:spPr>
      </p:sp>
      <p:sp>
        <p:nvSpPr>
          <p:cNvPr id="11" name="Text"/>
          <p:cNvSpPr txBox="1"/>
          <p:nvPr/>
        </p:nvSpPr>
        <p:spPr>
          <a:xfrm>
            <a:off x="1143000" y="3825001"/>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bank-transfer trace showed what atomicity prevents: without it, a crash mid-transfer silently destroys money.</a:t>
            </a:r>
            <a:endParaRPr lang="en-US" sz="1800" dirty="0"/>
          </a:p>
        </p:txBody>
      </p:sp>
      <p:sp>
        <p:nvSpPr>
          <p:cNvPr id="12" name="Shape"/>
          <p:cNvSpPr/>
          <p:nvPr/>
        </p:nvSpPr>
        <p:spPr>
          <a:xfrm>
            <a:off x="822960" y="4959531"/>
            <a:ext cx="109728" cy="109728"/>
          </a:xfrm>
          <a:prstGeom prst="rect">
            <a:avLst/>
          </a:prstGeom>
          <a:solidFill>
            <a:srgbClr val="8B7FD9"/>
          </a:solidFill>
          <a:ln/>
        </p:spPr>
      </p:sp>
      <p:sp>
        <p:nvSpPr>
          <p:cNvPr id="13" name="Text"/>
          <p:cNvSpPr txBox="1"/>
          <p:nvPr/>
        </p:nvSpPr>
        <p:spPr>
          <a:xfrm>
            <a:off x="1143000" y="4606668"/>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Transaction management coordinates concurrency control and the recovery manager to deliver the full ACID guarantee.</a:t>
            </a:r>
            <a:endParaRPr lang="en-US" sz="1800" dirty="0"/>
          </a:p>
        </p:txBody>
      </p:sp>
      <p:sp>
        <p:nvSpPr>
          <p:cNvPr id="14" name="Shape"/>
          <p:cNvSpPr/>
          <p:nvPr/>
        </p:nvSpPr>
        <p:spPr>
          <a:xfrm>
            <a:off x="822960" y="5741198"/>
            <a:ext cx="109728" cy="109728"/>
          </a:xfrm>
          <a:prstGeom prst="rect">
            <a:avLst/>
          </a:prstGeom>
          <a:solidFill>
            <a:srgbClr val="E8A33D"/>
          </a:solidFill>
          <a:ln/>
        </p:spPr>
      </p:sp>
      <p:sp>
        <p:nvSpPr>
          <p:cNvPr id="15" name="Text"/>
          <p:cNvSpPr txBox="1"/>
          <p:nvPr/>
        </p:nvSpPr>
        <p:spPr>
          <a:xfrm>
            <a:off x="1143000" y="5388335"/>
            <a:ext cx="9875520" cy="781667"/>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All four ACID properties were demonstrated with concrete violation scenarios, not just defined.</a:t>
            </a:r>
            <a:endParaRPr lang="en-US" sz="1800" dirty="0"/>
          </a:p>
        </p:txBody>
      </p:sp>
      <p:sp>
        <p:nvSpPr>
          <p:cNvPr id="14" name="Text 1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ISOLATION, VIOLATED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Isolation Violation: A Lost Update</a:t>
            </a:r>
            <a:endParaRPr lang="en-US" sz="20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10</a:t>
            </a:r>
            <a:endParaRPr lang="en-US" sz="1200" dirty="0"/>
          </a:p>
        </p:txBody>
      </p:sp>
      <p:sp>
        <p:nvSpPr>
          <p:cNvPr id="5" name="Text"/>
          <p:cNvSpPr txBox="1"/>
          <p:nvPr/>
        </p:nvSpPr>
        <p:spPr>
          <a:xfrm>
            <a:off x="548640" y="1240000"/>
            <a:ext cx="11064240" cy="380000"/>
          </a:xfrm>
          <a:prstGeom prst="rect">
            <a:avLst/>
          </a:prstGeom>
          <a:noFill/>
          <a:ln/>
        </p:spPr>
        <p:txBody>
          <a:bodyPr wrap="square" rtlCol="0" anchor="t"/>
          <a:lstStyle/>
          <a:p>
            <a:pPr algn="l" indent="0" marL="0">
              <a:lnSpc>
                <a:spcPct val="120000"/>
              </a:lnSpc>
              <a:buNone/>
            </a:pPr>
            <a:r>
              <a:rPr lang="en-US" sz="1800" dirty="0">
                <a:solidFill>
                  <a:srgbClr val="1F2429"/>
                </a:solidFill>
                <a:latin typeface="Calibri" pitchFamily="34" charset="0"/>
                <a:ea typeface="Calibri" pitchFamily="34" charset="-122"/>
                <a:cs typeface="Calibri" pitchFamily="34" charset="-120"/>
              </a:rPr>
              <a:t>A101 starts at 1000. T1 deposits 100; T2 deposits 50. Run serially, the correct final balance is 1150.</a:t>
            </a:r>
            <a:endParaRPr lang="en-US" sz="1800" dirty="0"/>
          </a:p>
        </p:txBody>
      </p:sp>
      <p:graphicFrame>
        <p:nvGraphicFramePr>
          <p:cNvPr id="6" name="Table"/>
          <p:cNvGraphicFramePr>
            <a:graphicFrameLocks noGrp="1"/>
          </p:cNvGraphicFramePr>
          <p:nvPr/>
        </p:nvGraphicFramePr>
        <p:xfrm>
          <a:off x="548640" y="1680000"/>
          <a:ext cx="11064240" cy="3605000"/>
        </p:xfrm>
        <a:graphic>
          <a:graphicData uri="http://schemas.openxmlformats.org/drawingml/2006/table">
            <a:tbl>
              <a:tblPr/>
              <a:tblGrid>
                <a:gridCol w="850000"/>
                <a:gridCol w="4300000"/>
                <a:gridCol w="4300000"/>
                <a:gridCol w="1614240"/>
              </a:tblGrid>
              <a:tr h="5150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Time</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T1</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T2</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balance</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B5761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READ balance → 1000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READ balance → 1000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t3</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WRITE balance = 1000+50 = 1050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1050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t4</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COMMIT</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1050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t5</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WRITE balance = 1000+100 = 1100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1100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515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t6</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COMMIT</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1100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7" name="Shape"/>
          <p:cNvSpPr/>
          <p:nvPr/>
        </p:nvSpPr>
        <p:spPr>
          <a:xfrm>
            <a:off x="548640" y="5435000"/>
            <a:ext cx="11064240" cy="900000"/>
          </a:xfrm>
          <a:prstGeom prst="roundRect">
            <a:avLst>
              <a:gd name="adj" fmla="val 5333"/>
            </a:avLst>
          </a:prstGeom>
          <a:solidFill>
            <a:srgbClr val="FFF7EA"/>
          </a:solidFill>
          <a:ln w="12700">
            <a:solidFill>
              <a:srgbClr val="E8A33D"/>
            </a:solidFill>
            <a:prstDash val="solid"/>
          </a:ln>
        </p:spPr>
      </p:sp>
      <p:sp>
        <p:nvSpPr>
          <p:cNvPr id="8" name="Text"/>
          <p:cNvSpPr txBox="1"/>
          <p:nvPr/>
        </p:nvSpPr>
        <p:spPr>
          <a:xfrm>
            <a:off x="822960" y="5572160"/>
            <a:ext cx="10515600" cy="625680"/>
          </a:xfrm>
          <a:prstGeom prst="rect">
            <a:avLst/>
          </a:prstGeom>
          <a:noFill/>
          <a:ln/>
        </p:spPr>
        <p:txBody>
          <a:bodyPr wrap="square" rtlCol="0" anchor="t"/>
          <a:lstStyle/>
          <a:p>
            <a:pPr algn="l" indent="0" marL="0">
              <a:lnSpc>
                <a:spcPct val="120000"/>
              </a:lnSpc>
              <a:buNone/>
            </a:pPr>
            <a:r>
              <a:rPr lang="en-US" sz="1800" b="1" dirty="0">
                <a:solidFill>
                  <a:srgbClr val="1F2429"/>
                </a:solidFill>
                <a:latin typeface="Calibri" pitchFamily="34" charset="0"/>
                <a:ea typeface="Calibri" pitchFamily="34" charset="-122"/>
                <a:cs typeface="Calibri" pitchFamily="34" charset="-120"/>
              </a:rPr>
              <a:t>Final balance is 1100, not 1150 — </a:t>
            </a:r>
            <a:r>
              <a:rPr lang="en-US" sz="1800" dirty="0">
                <a:solidFill>
                  <a:srgbClr val="1F2429"/>
                </a:solidFill>
                <a:latin typeface="Calibri" pitchFamily="34" charset="0"/>
                <a:ea typeface="Calibri" pitchFamily="34" charset="-122"/>
                <a:cs typeface="Calibri" pitchFamily="34" charset="-120"/>
              </a:rPr>
              <a:t>T2's committed +50 deposit is silently lost. Full treatment, including how locking prevents this, is next lecture.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ATOMICITY, VIOLATED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Atomicity Violation: The Balances, Snapshotted</a:t>
            </a:r>
            <a:endParaRPr lang="en-US" sz="18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11</a:t>
            </a:r>
            <a:endParaRPr lang="en-US" sz="1200" dirty="0"/>
          </a:p>
        </p:txBody>
      </p:sp>
      <p:sp>
        <p:nvSpPr>
          <p:cNvPr id="5" name="Text"/>
          <p:cNvSpPr txBox="1"/>
          <p:nvPr/>
        </p:nvSpPr>
        <p:spPr>
          <a:xfrm>
            <a:off x="548640" y="1240000"/>
            <a:ext cx="11064240" cy="460000"/>
          </a:xfrm>
          <a:prstGeom prst="rect">
            <a:avLst/>
          </a:prstGeom>
          <a:noFill/>
          <a:ln/>
        </p:spPr>
        <p:txBody>
          <a:bodyPr wrap="square" rtlCol="0" anchor="t"/>
          <a:lstStyle/>
          <a:p>
            <a:pPr algn="l" indent="0" marL="0">
              <a:lnSpc>
                <a:spcPct val="120000"/>
              </a:lnSpc>
              <a:buNone/>
            </a:pPr>
            <a:r>
              <a:rPr lang="en-US" sz="1800" dirty="0">
                <a:solidFill>
                  <a:srgbClr val="1F2429"/>
                </a:solidFill>
                <a:latin typeface="Calibri" pitchFamily="34" charset="0"/>
                <a:ea typeface="Calibri" pitchFamily="34" charset="-122"/>
                <a:cs typeface="Calibri" pitchFamily="34" charset="-120"/>
              </a:rPr>
              <a:t>PKR 10,000 transfer from A101 to A205, traced across a crash:</a:t>
            </a:r>
            <a:endParaRPr lang="en-US" sz="1800" dirty="0"/>
          </a:p>
        </p:txBody>
      </p:sp>
      <p:graphicFrame>
        <p:nvGraphicFramePr>
          <p:cNvPr id="6" name="Table"/>
          <p:cNvGraphicFramePr>
            <a:graphicFrameLocks noGrp="1"/>
          </p:cNvGraphicFramePr>
          <p:nvPr/>
        </p:nvGraphicFramePr>
        <p:xfrm>
          <a:off x="548640" y="1780000"/>
          <a:ext cx="11064240" cy="2480000"/>
        </p:xfrm>
        <a:graphic>
          <a:graphicData uri="http://schemas.openxmlformats.org/drawingml/2006/table">
            <a:tbl>
              <a:tblPr/>
              <a:tblGrid>
                <a:gridCol w="4200000"/>
                <a:gridCol w="2300000"/>
                <a:gridCol w="2300000"/>
                <a:gridCol w="2264240"/>
              </a:tblGrid>
              <a:tr h="6200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A101</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A205</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0E9E85"/>
                    </a:solidFill>
                  </a:tcPr>
                </a:tc>
              </a:tr>
              <a:tr h="6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Before</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50,000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20,000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70,000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620000">
                <a:tc>
                  <a:txBody>
                    <a:bodyPr/>
                    <a:lstStyle/>
                    <a:p>
                      <a:pPr algn="l" indent="0" marL="0">
                        <a:buNone/>
                      </a:pPr>
                      <a:r>
                        <a:rPr lang="en-US" sz="1400" b="1" dirty="0">
                          <a:solidFill>
                            <a:srgbClr val="B23B3B"/>
                          </a:solidFill>
                          <a:latin typeface="Calibri" pitchFamily="34" charset="0"/>
                          <a:ea typeface="Calibri" pitchFamily="34" charset="-122"/>
                          <a:cs typeface="Calibri" pitchFamily="34" charset="-120"/>
                        </a:rPr>
                        <a:t>During crash — no atomicity</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BE1E1"/>
                    </a:solidFill>
                  </a:tcPr>
                </a:tc>
                <a:tc>
                  <a:txBody>
                    <a:bodyPr/>
                    <a:lstStyle/>
                    <a:p>
                      <a:pPr algn="l" indent="0" marL="0">
                        <a:buNone/>
                      </a:pPr>
                      <a:r>
                        <a:rPr lang="en-US" sz="1400" b="1" dirty="0">
                          <a:solidFill>
                            <a:srgbClr val="B23B3B"/>
                          </a:solidFill>
                          <a:latin typeface="Calibri" pitchFamily="34" charset="0"/>
                          <a:ea typeface="Calibri" pitchFamily="34" charset="-122"/>
                          <a:cs typeface="Calibri" pitchFamily="34" charset="-120"/>
                        </a:rPr>
                        <a:t>40,000 (debited)</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BE1E1"/>
                    </a:solidFill>
                  </a:tcPr>
                </a:tc>
                <a:tc>
                  <a:txBody>
                    <a:bodyPr/>
                    <a:lstStyle/>
                    <a:p>
                      <a:pPr algn="l" indent="0" marL="0">
                        <a:buNone/>
                      </a:pPr>
                      <a:r>
                        <a:rPr lang="en-US" sz="1400" b="1" dirty="0">
                          <a:solidFill>
                            <a:srgbClr val="B23B3B"/>
                          </a:solidFill>
                          <a:latin typeface="Calibri" pitchFamily="34" charset="0"/>
                          <a:ea typeface="Calibri" pitchFamily="34" charset="-122"/>
                          <a:cs typeface="Calibri" pitchFamily="34" charset="-120"/>
                        </a:rPr>
                        <a:t>20,000 (credit never applied)</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BE1E1"/>
                    </a:solidFill>
                  </a:tcPr>
                </a:tc>
                <a:tc>
                  <a:txBody>
                    <a:bodyPr/>
                    <a:lstStyle/>
                    <a:p>
                      <a:pPr algn="l" indent="0" marL="0">
                        <a:buNone/>
                      </a:pPr>
                      <a:r>
                        <a:rPr lang="en-US" sz="1400" b="1" dirty="0">
                          <a:solidFill>
                            <a:srgbClr val="B23B3B"/>
                          </a:solidFill>
                          <a:latin typeface="Calibri" pitchFamily="34" charset="0"/>
                          <a:ea typeface="Calibri" pitchFamily="34" charset="-122"/>
                          <a:cs typeface="Calibri" pitchFamily="34" charset="-120"/>
                        </a:rPr>
                        <a:t>60,000 — PKR 10,000 missing</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BE1E1"/>
                    </a:solidFill>
                  </a:tcPr>
                </a:tc>
              </a:tr>
              <a:tr h="6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After recovery — with atomicity</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50,000 (debit undone)</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20,000 (unchanged)</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70,000</a:t>
                      </a:r>
                      <a:endParaRPr lang="en-US" sz="1400" dirty="0">
                        <a:latin typeface="Calibri" pitchFamily="34" charset="0"/>
                        <a:ea typeface="Calibri" pitchFamily="34" charset="-122"/>
                        <a:cs typeface="Calibri" pitchFamily="34" charset="-12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7" name="Shape"/>
          <p:cNvSpPr/>
          <p:nvPr/>
        </p:nvSpPr>
        <p:spPr>
          <a:xfrm>
            <a:off x="548640" y="4410000"/>
            <a:ext cx="11064240" cy="1200000"/>
          </a:xfrm>
          <a:prstGeom prst="roundRect">
            <a:avLst>
              <a:gd name="adj" fmla="val 5333"/>
            </a:avLst>
          </a:prstGeom>
          <a:solidFill>
            <a:srgbClr val="FFF7EA"/>
          </a:solidFill>
          <a:ln w="12700">
            <a:solidFill>
              <a:srgbClr val="E8A33D"/>
            </a:solidFill>
            <a:prstDash val="solid"/>
          </a:ln>
        </p:spPr>
      </p:sp>
      <p:sp>
        <p:nvSpPr>
          <p:cNvPr id="8" name="Text"/>
          <p:cNvSpPr txBox="1"/>
          <p:nvPr/>
        </p:nvSpPr>
        <p:spPr>
          <a:xfrm>
            <a:off x="822960" y="4547160"/>
            <a:ext cx="10515600" cy="925680"/>
          </a:xfrm>
          <a:prstGeom prst="rect">
            <a:avLst/>
          </a:prstGeom>
          <a:noFill/>
          <a:ln/>
        </p:spPr>
        <p:txBody>
          <a:bodyPr wrap="square" rtlCol="0" anchor="t"/>
          <a:lstStyle/>
          <a:p>
            <a:pPr algn="l" indent="0" marL="0">
              <a:lnSpc>
                <a:spcPct val="120000"/>
              </a:lnSpc>
              <a:buNone/>
            </a:pPr>
            <a:r>
              <a:rPr lang="en-US" sz="1800" b="1" dirty="0">
                <a:solidFill>
                  <a:srgbClr val="1F2429"/>
                </a:solidFill>
                <a:latin typeface="Calibri" pitchFamily="34" charset="0"/>
                <a:ea typeface="Calibri" pitchFamily="34" charset="-122"/>
                <a:cs typeface="Calibri" pitchFamily="34" charset="-120"/>
              </a:rPr>
              <a:t>Without atomicity, PKR 10,000 simply vanishes from the books. </a:t>
            </a:r>
            <a:r>
              <a:rPr lang="en-US" sz="1800" dirty="0">
                <a:solidFill>
                  <a:srgbClr val="1F2429"/>
                </a:solidFill>
                <a:latin typeface="Calibri" pitchFamily="34" charset="0"/>
                <a:ea typeface="Calibri" pitchFamily="34" charset="-122"/>
                <a:cs typeface="Calibri" pitchFamily="34" charset="-120"/>
              </a:rPr>
              <a:t>With it, the recovery manager undoes the incomplete debit on restart — the ledger is exactly as if the transfer never happened, and the customer can safely retry.</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CONSISTENCY, VIOLATED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Consistency Violation: An Overdraft Rejected</a:t>
            </a:r>
            <a:endParaRPr lang="en-US" sz="18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12</a:t>
            </a:r>
            <a:endParaRPr lang="en-US" sz="1200" dirty="0"/>
          </a:p>
        </p:txBody>
      </p:sp>
      <p:sp>
        <p:nvSpPr>
          <p:cNvPr id="5" name="Text"/>
          <p:cNvSpPr txBox="1"/>
          <p:nvPr/>
        </p:nvSpPr>
        <p:spPr>
          <a:xfrm>
            <a:off x="548640" y="1240000"/>
            <a:ext cx="11064240" cy="1000000"/>
          </a:xfrm>
          <a:prstGeom prst="rect">
            <a:avLst/>
          </a:prstGeom>
          <a:noFill/>
          <a:ln/>
        </p:spPr>
        <p:txBody>
          <a:bodyPr wrap="square" rtlCol="0" anchor="t"/>
          <a:lstStyle/>
          <a:p>
            <a:pPr algn="l" indent="0" marL="0">
              <a:lnSpc>
                <a:spcPct val="125000"/>
              </a:lnSpc>
              <a:buNone/>
            </a:pPr>
            <a:r>
              <a:rPr lang="en-US" sz="1800" dirty="0">
                <a:solidFill>
                  <a:srgbClr val="1F2429"/>
                </a:solidFill>
                <a:latin typeface="Calibri" pitchFamily="34" charset="0"/>
                <a:ea typeface="Calibri" pitchFamily="34" charset="-122"/>
                <a:cs typeface="Calibri" pitchFamily="34" charset="-120"/>
              </a:rPr>
              <a:t>Account A101 has balance 5,000, with a </a:t>
            </a:r>
            <a:r>
              <a:rPr lang="en-US" sz="1800" b="1" dirty="0">
                <a:solidFill>
                  <a:srgbClr val="8B7FD9"/>
                </a:solidFill>
                <a:latin typeface="Courier New" pitchFamily="34" charset="0"/>
                <a:ea typeface="Courier New" pitchFamily="34" charset="-122"/>
                <a:cs typeface="Courier New" pitchFamily="34" charset="-120"/>
              </a:rPr>
              <a:t>CHECK (balance &gt;= 0)</a:t>
            </a:r>
            <a:r>
              <a:rPr lang="en-US" sz="1800" dirty="0">
                <a:solidFill>
                  <a:srgbClr val="1F2429"/>
                </a:solidFill>
                <a:latin typeface="Calibri" pitchFamily="34" charset="0"/>
                <a:ea typeface="Calibri" pitchFamily="34" charset="-122"/>
                <a:cs typeface="Calibri" pitchFamily="34" charset="-120"/>
              </a:rPr>
              <a:t> constraint declared on the column. A withdrawal runs </a:t>
            </a:r>
            <a:r>
              <a:rPr lang="en-US" sz="1800" b="1" dirty="0">
                <a:solidFill>
                  <a:srgbClr val="1F2429"/>
                </a:solidFill>
                <a:latin typeface="Courier New" pitchFamily="34" charset="0"/>
                <a:ea typeface="Courier New" pitchFamily="34" charset="-122"/>
                <a:cs typeface="Courier New" pitchFamily="34" charset="-120"/>
              </a:rPr>
              <a:t>UPDATE Account SET balance = balance - 8000 WHERE accountNo = 'A101'</a:t>
            </a:r>
            <a:r>
              <a:rPr lang="en-US" sz="1800" dirty="0">
                <a:solidFill>
                  <a:srgbClr val="1F2429"/>
                </a:solidFill>
                <a:latin typeface="Calibri" pitchFamily="34" charset="0"/>
                <a:ea typeface="Calibri" pitchFamily="34" charset="-122"/>
                <a:cs typeface="Calibri" pitchFamily="34" charset="-120"/>
              </a:rPr>
              <a:t> inside BEGIN...COMMIT — which would set balance to −3,000.</a:t>
            </a:r>
            <a:endParaRPr lang="en-US" sz="1800" dirty="0"/>
          </a:p>
        </p:txBody>
      </p:sp>
      <p:sp>
        <p:nvSpPr>
          <p:cNvPr id="6" name="Shape"/>
          <p:cNvSpPr/>
          <p:nvPr/>
        </p:nvSpPr>
        <p:spPr>
          <a:xfrm>
            <a:off x="548640" y="2400000"/>
            <a:ext cx="5372100" cy="2700000"/>
          </a:xfrm>
          <a:prstGeom prst="roundRect">
            <a:avLst>
              <a:gd name="adj" fmla="val 3200"/>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7" name="Shape"/>
          <p:cNvSpPr/>
          <p:nvPr/>
        </p:nvSpPr>
        <p:spPr>
          <a:xfrm>
            <a:off x="713232" y="2546304"/>
            <a:ext cx="201168" cy="201168"/>
          </a:xfrm>
          <a:prstGeom prst="ellipse">
            <a:avLst/>
          </a:prstGeom>
          <a:solidFill>
            <a:srgbClr val="E8A33D"/>
          </a:solidFill>
          <a:ln/>
        </p:spPr>
      </p:sp>
      <p:sp>
        <p:nvSpPr>
          <p:cNvPr id="8" name="Text"/>
          <p:cNvSpPr txBox="1"/>
          <p:nvPr/>
        </p:nvSpPr>
        <p:spPr>
          <a:xfrm>
            <a:off x="1005840" y="249144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Without Consistency Enforcement</a:t>
            </a:r>
            <a:endParaRPr lang="en-US" sz="2000" dirty="0"/>
          </a:p>
        </p:txBody>
      </p:sp>
      <p:sp>
        <p:nvSpPr>
          <p:cNvPr id="9" name="Text"/>
          <p:cNvSpPr txBox="1"/>
          <p:nvPr/>
        </p:nvSpPr>
        <p:spPr>
          <a:xfrm>
            <a:off x="749808" y="2902920"/>
            <a:ext cx="4969764" cy="210564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The UPDATE silently sets balance to −3,000 — a value with no valid real-world meaning for an account. Every later calculation and report built on that balance is now corrupted.</a:t>
            </a:r>
            <a:endParaRPr lang="en-US" sz="1800" dirty="0"/>
          </a:p>
        </p:txBody>
      </p:sp>
      <p:sp>
        <p:nvSpPr>
          <p:cNvPr id="10" name="Shape"/>
          <p:cNvSpPr/>
          <p:nvPr/>
        </p:nvSpPr>
        <p:spPr>
          <a:xfrm>
            <a:off x="6240780" y="2400000"/>
            <a:ext cx="5372100" cy="2700000"/>
          </a:xfrm>
          <a:prstGeom prst="roundRect">
            <a:avLst>
              <a:gd name="adj" fmla="val 3200"/>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1" name="Shape"/>
          <p:cNvSpPr/>
          <p:nvPr/>
        </p:nvSpPr>
        <p:spPr>
          <a:xfrm>
            <a:off x="6405372" y="2546304"/>
            <a:ext cx="201168" cy="201168"/>
          </a:xfrm>
          <a:prstGeom prst="ellipse">
            <a:avLst/>
          </a:prstGeom>
          <a:solidFill>
            <a:srgbClr val="2FE6C4"/>
          </a:solidFill>
          <a:ln/>
        </p:spPr>
      </p:sp>
      <p:sp>
        <p:nvSpPr>
          <p:cNvPr id="12" name="Text"/>
          <p:cNvSpPr txBox="1"/>
          <p:nvPr/>
        </p:nvSpPr>
        <p:spPr>
          <a:xfrm>
            <a:off x="6697980" y="249144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With Consistency Enforcement</a:t>
            </a:r>
            <a:endParaRPr lang="en-US" sz="2000" dirty="0"/>
          </a:p>
        </p:txBody>
      </p:sp>
      <p:sp>
        <p:nvSpPr>
          <p:cNvPr id="13" name="Text"/>
          <p:cNvSpPr txBox="1"/>
          <p:nvPr/>
        </p:nvSpPr>
        <p:spPr>
          <a:xfrm>
            <a:off x="6441948" y="2902920"/>
            <a:ext cx="4969764" cy="210564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The DBMS evaluates the CHECK constraint before the change stands. The constraint fails, the statement is rejected, and the transaction aborts — A101's balance remains 5,000. The application must handle ‘insufficient funds’ explicitly.</a:t>
            </a:r>
            <a:endParaRPr lang="en-US" sz="1800" dirty="0"/>
          </a:p>
        </p:txBody>
      </p:sp>
      <p:sp>
        <p:nvSpPr>
          <p:cNvPr id="14" name="Shape"/>
          <p:cNvSpPr/>
          <p:nvPr/>
        </p:nvSpPr>
        <p:spPr>
          <a:xfrm>
            <a:off x="548640" y="5250000"/>
            <a:ext cx="11064240" cy="1000000"/>
          </a:xfrm>
          <a:prstGeom prst="roundRect">
            <a:avLst>
              <a:gd name="adj" fmla="val 5333"/>
            </a:avLst>
          </a:prstGeom>
          <a:solidFill>
            <a:srgbClr val="FFF7EA"/>
          </a:solidFill>
          <a:ln w="12700">
            <a:solidFill>
              <a:srgbClr val="E8A33D"/>
            </a:solidFill>
            <a:prstDash val="solid"/>
          </a:ln>
        </p:spPr>
      </p:sp>
      <p:sp>
        <p:nvSpPr>
          <p:cNvPr id="15" name="Text"/>
          <p:cNvSpPr txBox="1"/>
          <p:nvPr/>
        </p:nvSpPr>
        <p:spPr>
          <a:xfrm>
            <a:off x="822960" y="5387160"/>
            <a:ext cx="10515600" cy="725680"/>
          </a:xfrm>
          <a:prstGeom prst="rect">
            <a:avLst/>
          </a:prstGeom>
          <a:noFill/>
          <a:ln/>
        </p:spPr>
        <p:txBody>
          <a:bodyPr wrap="square" rtlCol="0" anchor="t"/>
          <a:lstStyle/>
          <a:p>
            <a:pPr algn="l" indent="0" marL="0">
              <a:lnSpc>
                <a:spcPct val="120000"/>
              </a:lnSpc>
              <a:buNone/>
            </a:pPr>
            <a:r>
              <a:rPr lang="en-US" sz="1800" b="1" dirty="0">
                <a:solidFill>
                  <a:srgbClr val="1F2429"/>
                </a:solidFill>
                <a:latin typeface="Calibri" pitchFamily="34" charset="0"/>
                <a:ea typeface="Calibri" pitchFamily="34" charset="-122"/>
                <a:cs typeface="Calibri" pitchFamily="34" charset="-120"/>
              </a:rPr>
              <a:t>5,000 − 8,000 = −3,000. </a:t>
            </a:r>
            <a:r>
              <a:rPr lang="en-US" sz="1800" dirty="0">
                <a:solidFill>
                  <a:srgbClr val="1F2429"/>
                </a:solidFill>
                <a:latin typeface="Calibri" pitchFamily="34" charset="0"/>
                <a:ea typeface="Calibri" pitchFamily="34" charset="-122"/>
                <a:cs typeface="Calibri" pitchFamily="34" charset="-120"/>
              </a:rPr>
              <a:t>The CHECK (balance &gt;= 0) constraint catches this before COMMIT — the UPDATE is rejected and A101 stays at 5,000.</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CONSISTENCY, CONTINUED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Consistency Is a Joint Responsibility</a:t>
            </a:r>
            <a:endParaRPr lang="en-US" sz="20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13</a:t>
            </a:r>
            <a:endParaRPr lang="en-US" sz="1200" dirty="0"/>
          </a:p>
        </p:txBody>
      </p:sp>
      <p:sp>
        <p:nvSpPr>
          <p:cNvPr id="5" name="Text"/>
          <p:cNvSpPr txBox="1"/>
          <p:nvPr/>
        </p:nvSpPr>
        <p:spPr>
          <a:xfrm>
            <a:off x="548640" y="1371600"/>
            <a:ext cx="5760720" cy="1828800"/>
          </a:xfrm>
          <a:prstGeom prst="rect">
            <a:avLst/>
          </a:prstGeom>
          <a:noFill/>
          <a:ln/>
        </p:spPr>
        <p:txBody>
          <a:bodyPr wrap="square" rtlCol="0" anchor="t"/>
          <a:lstStyle/>
          <a:p>
            <a:pPr algn="l" indent="0" marL="0">
              <a:lnSpc>
                <a:spcPct val="125000"/>
              </a:lnSpc>
              <a:buNone/>
            </a:pPr>
            <a:r>
              <a:rPr lang="en-US" sz="1800" dirty="0">
                <a:solidFill>
                  <a:srgbClr val="1F2429"/>
                </a:solidFill>
                <a:latin typeface="Calibri" pitchFamily="34" charset="0"/>
                <a:ea typeface="Calibri" pitchFamily="34" charset="-122"/>
                <a:cs typeface="Calibri" pitchFamily="34" charset="-120"/>
              </a:rPr>
              <a:t>Suppose a bug debits A101 by 10,000 but credits A205 by only 9,000. </a:t>
            </a:r>
            <a:r>
              <a:rPr lang="en-US" sz="1800" b="1" dirty="0">
                <a:solidFill>
                  <a:srgbClr val="8B7FD9"/>
                </a:solidFill>
                <a:latin typeface="Calibri" pitchFamily="34" charset="0"/>
                <a:ea typeface="Calibri" pitchFamily="34" charset="-122"/>
                <a:cs typeface="Calibri" pitchFamily="34" charset="-120"/>
              </a:rPr>
              <a:t>Neither UPDATE violates any schema constraint</a:t>
            </a:r>
            <a:r>
              <a:rPr lang="en-US" sz="1800" dirty="0">
                <a:solidFill>
                  <a:srgbClr val="1F2429"/>
                </a:solidFill>
                <a:latin typeface="Calibri" pitchFamily="34" charset="0"/>
                <a:ea typeface="Calibri" pitchFamily="34" charset="-122"/>
                <a:cs typeface="Calibri" pitchFamily="34" charset="-120"/>
              </a:rPr>
              <a:t> — both balances stay non-negative, no foreign key breaks. The DBMS has no way to know a debit must equal a credit, because that rule was never declared to it.</a:t>
            </a:r>
            <a:endParaRPr lang="en-US" sz="1800" dirty="0"/>
          </a:p>
        </p:txBody>
      </p:sp>
      <p:sp>
        <p:nvSpPr>
          <p:cNvPr id="6" name="Text"/>
          <p:cNvSpPr txBox="1"/>
          <p:nvPr/>
        </p:nvSpPr>
        <p:spPr>
          <a:xfrm>
            <a:off x="548640" y="3246120"/>
            <a:ext cx="5760720" cy="822960"/>
          </a:xfrm>
          <a:prstGeom prst="rect">
            <a:avLst/>
          </a:prstGeom>
          <a:noFill/>
          <a:ln/>
        </p:spPr>
        <p:txBody>
          <a:bodyPr wrap="square" rtlCol="0" anchor="t"/>
          <a:lstStyle/>
          <a:p>
            <a:pPr algn="l" indent="0" marL="0">
              <a:buNone/>
            </a:pPr>
            <a:r>
              <a:rPr lang="en-US" sz="1800" i="1" dirty="0">
                <a:solidFill>
                  <a:srgbClr val="1F2429"/>
                </a:solidFill>
                <a:latin typeface="Calibri" pitchFamily="34" charset="0"/>
                <a:ea typeface="Calibri" pitchFamily="34" charset="-122"/>
                <a:cs typeface="Calibri" pitchFamily="34" charset="-120"/>
              </a:rPr>
              <a:t>Consistency as the DBMS enforces it is necessary but not sufficient — </a:t>
            </a:r>
            <a:r>
              <a:rPr lang="en-US" sz="1800" i="1" dirty="0">
                <a:solidFill>
                  <a:srgbClr val="1F2429"/>
                </a:solidFill>
                <a:latin typeface="Calibri" pitchFamily="34" charset="0"/>
                <a:ea typeface="Calibri" pitchFamily="34" charset="-122"/>
                <a:cs typeface="Calibri" pitchFamily="34" charset="-120"/>
              </a:rPr>
              <a:t>this is not a bug Atomicity, Isolation, or Durability would ever catch.</a:t>
            </a:r>
            <a:endParaRPr lang="en-US" sz="1800" dirty="0"/>
          </a:p>
        </p:txBody>
      </p:sp>
      <p:sp>
        <p:nvSpPr>
          <p:cNvPr id="7" name="Shape"/>
          <p:cNvSpPr/>
          <p:nvPr/>
        </p:nvSpPr>
        <p:spPr>
          <a:xfrm>
            <a:off x="6583680" y="1371600"/>
            <a:ext cx="5029200" cy="4480560"/>
          </a:xfrm>
          <a:prstGeom prst="roundRect">
            <a:avLst>
              <a:gd name="adj" fmla="val 2000"/>
            </a:avLst>
          </a:prstGeom>
          <a:solidFill>
            <a:srgbClr val="14181C"/>
          </a:solidFill>
          <a:ln/>
        </p:spPr>
      </p:sp>
      <p:sp>
        <p:nvSpPr>
          <p:cNvPr id="8" name="Text"/>
          <p:cNvSpPr txBox="1"/>
          <p:nvPr/>
        </p:nvSpPr>
        <p:spPr>
          <a:xfrm>
            <a:off x="6858000" y="1572768"/>
            <a:ext cx="4480560" cy="274320"/>
          </a:xfrm>
          <a:prstGeom prst="rect">
            <a:avLst/>
          </a:prstGeom>
          <a:noFill/>
          <a:ln/>
        </p:spPr>
        <p:txBody>
          <a:bodyPr wrap="square" rtlCol="0" anchor="ctr"/>
          <a:lstStyle/>
          <a:p>
            <a:pPr algn="l" indent="0" marL="0">
              <a:buNone/>
            </a:pPr>
            <a:r>
              <a:rPr lang="en-US" sz="2000" b="1" dirty="0" spc="100" kern="0">
                <a:solidFill>
                  <a:srgbClr val="E8A33D"/>
                </a:solidFill>
                <a:latin typeface="Calibri" pitchFamily="34" charset="0"/>
                <a:ea typeface="Calibri" pitchFamily="34" charset="-122"/>
                <a:cs typeface="Calibri" pitchFamily="34" charset="-120"/>
              </a:rPr>
              <a:t>A101 → A205 BUGGY TRANSFER</a:t>
            </a:r>
            <a:endParaRPr lang="en-US" sz="2000" dirty="0"/>
          </a:p>
        </p:txBody>
      </p:sp>
      <p:sp>
        <p:nvSpPr>
          <p:cNvPr id="9" name="Text"/>
          <p:cNvSpPr txBox="1"/>
          <p:nvPr/>
        </p:nvSpPr>
        <p:spPr>
          <a:xfrm>
            <a:off x="6858000" y="1965960"/>
            <a:ext cx="4480560" cy="3840000"/>
          </a:xfrm>
          <a:prstGeom prst="rect">
            <a:avLst/>
          </a:prstGeom>
          <a:noFill/>
          <a:ln/>
        </p:spPr>
        <p:txBody>
          <a:bodyPr wrap="square" rtlCol="0" anchor="t"/>
          <a:lstStyle/>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BEGIN TRANSACTION;</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UPDATE Account</a:t>
            </a: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SET balance = balance - 10000</a:t>
            </a: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WHERE accountNo = 'A101';</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UPDATE Account</a:t>
            </a: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SET balance = balance + </a:t>
            </a:r>
            <a:r>
              <a:rPr lang="en-US" sz="1800" dirty="0">
                <a:solidFill>
                  <a:srgbClr val="E8A33D"/>
                </a:solidFill>
                <a:latin typeface="Courier New" pitchFamily="34" charset="0"/>
                <a:ea typeface="Courier New" pitchFamily="34" charset="-122"/>
                <a:cs typeface="Courier New" pitchFamily="34" charset="-120"/>
              </a:rPr>
              <a:t>9000</a:t>
            </a: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  WHERE accountNo = 'A205';</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FFFFFF"/>
                </a:solidFill>
                <a:latin typeface="Courier New" pitchFamily="34" charset="0"/>
                <a:ea typeface="Courier New" pitchFamily="34" charset="-122"/>
                <a:cs typeface="Courier New" pitchFamily="34" charset="-120"/>
              </a:rPr>
              <a:t>COMMIT;  </a:t>
            </a:r>
            <a:r>
              <a:rPr lang="en-US" sz="1800" dirty="0">
                <a:solidFill>
                  <a:srgbClr val="E8A33D"/>
                </a:solidFill>
                <a:latin typeface="Courier New" pitchFamily="34" charset="0"/>
                <a:ea typeface="Courier New" pitchFamily="34" charset="-122"/>
                <a:cs typeface="Courier New" pitchFamily="34" charset="-120"/>
              </a:rPr>
              <a:t>-- PKR 1,000 lost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DURABILITY, VIOLATED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Durability Violation: A Crash One Millisecond After Commit</a:t>
            </a:r>
            <a:endParaRPr lang="en-US" sz="18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14</a:t>
            </a:r>
            <a:endParaRPr lang="en-US" sz="1200" dirty="0"/>
          </a:p>
        </p:txBody>
      </p:sp>
      <p:sp>
        <p:nvSpPr>
          <p:cNvPr id="5" name="Text"/>
          <p:cNvSpPr txBox="1"/>
          <p:nvPr/>
        </p:nvSpPr>
        <p:spPr>
          <a:xfrm>
            <a:off x="548640" y="1240000"/>
            <a:ext cx="11064240" cy="1000000"/>
          </a:xfrm>
          <a:prstGeom prst="rect">
            <a:avLst/>
          </a:prstGeom>
          <a:noFill/>
          <a:ln/>
        </p:spPr>
        <p:txBody>
          <a:bodyPr wrap="square" rtlCol="0" anchor="t"/>
          <a:lstStyle/>
          <a:p>
            <a:pPr algn="l" indent="0" marL="0">
              <a:lnSpc>
                <a:spcPct val="125000"/>
              </a:lnSpc>
              <a:buNone/>
            </a:pPr>
            <a:r>
              <a:rPr lang="en-US" sz="1800" dirty="0">
                <a:solidFill>
                  <a:srgbClr val="1F2429"/>
                </a:solidFill>
                <a:latin typeface="Calibri" pitchFamily="34" charset="0"/>
                <a:ea typeface="Calibri" pitchFamily="34" charset="-122"/>
                <a:cs typeface="Calibri" pitchFamily="34" charset="-120"/>
              </a:rPr>
              <a:t>T1 (the 50,000 / 20,000 → 10,000 transfer) reaches COMMIT; the log record for both writes is flushed to stable storage and the DBMS acknowledges the commit. One millisecond later, the system crashes — before the in-memory data pages themselves are fully flushed to disk.</a:t>
            </a:r>
            <a:endParaRPr lang="en-US" sz="1800" dirty="0"/>
          </a:p>
        </p:txBody>
      </p:sp>
      <p:sp>
        <p:nvSpPr>
          <p:cNvPr id="6" name="Shape"/>
          <p:cNvSpPr/>
          <p:nvPr/>
        </p:nvSpPr>
        <p:spPr>
          <a:xfrm>
            <a:off x="548640" y="2400000"/>
            <a:ext cx="5372100" cy="2700000"/>
          </a:xfrm>
          <a:prstGeom prst="roundRect">
            <a:avLst>
              <a:gd name="adj" fmla="val 3200"/>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7" name="Shape"/>
          <p:cNvSpPr/>
          <p:nvPr/>
        </p:nvSpPr>
        <p:spPr>
          <a:xfrm>
            <a:off x="713232" y="2546304"/>
            <a:ext cx="201168" cy="201168"/>
          </a:xfrm>
          <a:prstGeom prst="ellipse">
            <a:avLst/>
          </a:prstGeom>
          <a:solidFill>
            <a:srgbClr val="E8A33D"/>
          </a:solidFill>
          <a:ln/>
        </p:spPr>
      </p:sp>
      <p:sp>
        <p:nvSpPr>
          <p:cNvPr id="8" name="Text"/>
          <p:cNvSpPr txBox="1"/>
          <p:nvPr/>
        </p:nvSpPr>
        <p:spPr>
          <a:xfrm>
            <a:off x="1005840" y="249144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Without Durability</a:t>
            </a:r>
            <a:endParaRPr lang="en-US" sz="2000" dirty="0"/>
          </a:p>
        </p:txBody>
      </p:sp>
      <p:sp>
        <p:nvSpPr>
          <p:cNvPr id="9" name="Text"/>
          <p:cNvSpPr txBox="1"/>
          <p:nvPr/>
        </p:nvSpPr>
        <p:spPr>
          <a:xfrm>
            <a:off x="749808" y="2902920"/>
            <a:ext cx="4969764" cy="210564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On restart, the data files still show the pre-transfer balances — the 40,000 debit may or may not have reached disk, and the 20,000 → 30,000 credit never did. The committed transfer the customer was told succeeded has silently reverted.</a:t>
            </a:r>
            <a:endParaRPr lang="en-US" sz="1800" dirty="0"/>
          </a:p>
        </p:txBody>
      </p:sp>
      <p:sp>
        <p:nvSpPr>
          <p:cNvPr id="10" name="Shape"/>
          <p:cNvSpPr/>
          <p:nvPr/>
        </p:nvSpPr>
        <p:spPr>
          <a:xfrm>
            <a:off x="6240780" y="2400000"/>
            <a:ext cx="5372100" cy="2700000"/>
          </a:xfrm>
          <a:prstGeom prst="roundRect">
            <a:avLst>
              <a:gd name="adj" fmla="val 3200"/>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1" name="Shape"/>
          <p:cNvSpPr/>
          <p:nvPr/>
        </p:nvSpPr>
        <p:spPr>
          <a:xfrm>
            <a:off x="6405372" y="2546304"/>
            <a:ext cx="201168" cy="201168"/>
          </a:xfrm>
          <a:prstGeom prst="ellipse">
            <a:avLst/>
          </a:prstGeom>
          <a:solidFill>
            <a:srgbClr val="2FE6C4"/>
          </a:solidFill>
          <a:ln/>
        </p:spPr>
      </p:sp>
      <p:sp>
        <p:nvSpPr>
          <p:cNvPr id="12" name="Text"/>
          <p:cNvSpPr txBox="1"/>
          <p:nvPr/>
        </p:nvSpPr>
        <p:spPr>
          <a:xfrm>
            <a:off x="6697980" y="249144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With Durability (WAL + Redo)</a:t>
            </a:r>
            <a:endParaRPr lang="en-US" sz="2000" dirty="0"/>
          </a:p>
        </p:txBody>
      </p:sp>
      <p:sp>
        <p:nvSpPr>
          <p:cNvPr id="13" name="Text"/>
          <p:cNvSpPr txBox="1"/>
          <p:nvPr/>
        </p:nvSpPr>
        <p:spPr>
          <a:xfrm>
            <a:off x="6441948" y="2902920"/>
            <a:ext cx="4969764" cy="210564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Because the log record reached stable storage before the commit was acknowledged, recovery replays it on restart and reapplies both writes. The committed transfer is guaranteed present no matter when the crash happened. Full mechanics: Lecture 31.</a:t>
            </a:r>
            <a:endParaRPr lang="en-US" sz="1800" dirty="0"/>
          </a:p>
        </p:txBody>
      </p:sp>
      <p:sp>
        <p:nvSpPr>
          <p:cNvPr id="14" name="Shape"/>
          <p:cNvSpPr/>
          <p:nvPr/>
        </p:nvSpPr>
        <p:spPr>
          <a:xfrm>
            <a:off x="548640" y="5250000"/>
            <a:ext cx="11064240" cy="1000000"/>
          </a:xfrm>
          <a:prstGeom prst="roundRect">
            <a:avLst>
              <a:gd name="adj" fmla="val 5333"/>
            </a:avLst>
          </a:prstGeom>
          <a:solidFill>
            <a:srgbClr val="FFF7EA"/>
          </a:solidFill>
          <a:ln w="12700">
            <a:solidFill>
              <a:srgbClr val="E8A33D"/>
            </a:solidFill>
            <a:prstDash val="solid"/>
          </a:ln>
        </p:spPr>
      </p:sp>
      <p:sp>
        <p:nvSpPr>
          <p:cNvPr id="15" name="Text"/>
          <p:cNvSpPr txBox="1"/>
          <p:nvPr/>
        </p:nvSpPr>
        <p:spPr>
          <a:xfrm>
            <a:off x="822960" y="5387160"/>
            <a:ext cx="10515600" cy="725680"/>
          </a:xfrm>
          <a:prstGeom prst="rect">
            <a:avLst/>
          </a:prstGeom>
          <a:noFill/>
          <a:ln/>
        </p:spPr>
        <p:txBody>
          <a:bodyPr wrap="square" rtlCol="0" anchor="t"/>
          <a:lstStyle/>
          <a:p>
            <a:pPr algn="l" indent="0" marL="0">
              <a:lnSpc>
                <a:spcPct val="120000"/>
              </a:lnSpc>
              <a:buNone/>
            </a:pPr>
            <a:r>
              <a:rPr lang="en-US" sz="1800" b="1" dirty="0">
                <a:solidFill>
                  <a:srgbClr val="1F2429"/>
                </a:solidFill>
                <a:latin typeface="Calibri" pitchFamily="34" charset="0"/>
                <a:ea typeface="Calibri" pitchFamily="34" charset="-122"/>
                <a:cs typeface="Calibri" pitchFamily="34" charset="-120"/>
              </a:rPr>
              <a:t>Durability is about WHEN data becomes safe, not just THAT it's saved: </a:t>
            </a:r>
            <a:r>
              <a:rPr lang="en-US" sz="1800" dirty="0">
                <a:solidFill>
                  <a:srgbClr val="1F2429"/>
                </a:solidFill>
                <a:latin typeface="Calibri" pitchFamily="34" charset="0"/>
                <a:ea typeface="Calibri" pitchFamily="34" charset="-122"/>
                <a:cs typeface="Calibri" pitchFamily="34" charset="-120"/>
              </a:rPr>
              <a:t>once the DBMS says ‘committed,’ the log — not yet the data pages — already holds everything recovery needs to redo it.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algn="l" indent="0" marL="0">
              <a:buNone/>
            </a:pPr>
            <a:r>
              <a:rPr lang="en-US" sz="1200" b="1" dirty="0" spc="150" kern="0">
                <a:solidFill>
                  <a:srgbClr val="8B7FD9"/>
                </a:solidFill>
                <a:latin typeface="Calibri" pitchFamily="34" charset="0"/>
                <a:ea typeface="Calibri" pitchFamily="34" charset="-122"/>
                <a:cs typeface="Calibri" pitchFamily="34" charset="-120"/>
              </a:rPr>
              <a:t>ALL FOUR, TOGETHER</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All Four Properties, Side by Side</a:t>
            </a:r>
            <a:endParaRPr lang="en-US" sz="20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18</a:t>
            </a:r>
            <a:endParaRPr lang="en-US" sz="1200" dirty="0"/>
          </a:p>
        </p:txBody>
      </p:sp>
      <p:sp>
        <p:nvSpPr>
          <p:cNvPr id="5" name="Shape"/>
          <p:cNvSpPr/>
          <p:nvPr/>
        </p:nvSpPr>
        <p:spPr>
          <a:xfrm>
            <a:off x="548640" y="1463040"/>
            <a:ext cx="5372100" cy="2103120"/>
          </a:xfrm>
          <a:prstGeom prst="roundRect">
            <a:avLst>
              <a:gd name="adj" fmla="val 3200"/>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6" name="Shape"/>
          <p:cNvSpPr/>
          <p:nvPr/>
        </p:nvSpPr>
        <p:spPr>
          <a:xfrm>
            <a:off x="713232" y="1609344"/>
            <a:ext cx="201168" cy="201168"/>
          </a:xfrm>
          <a:prstGeom prst="ellipse">
            <a:avLst/>
          </a:prstGeom>
          <a:solidFill>
            <a:srgbClr val="2FE6C4"/>
          </a:solidFill>
          <a:ln/>
        </p:spPr>
      </p:sp>
      <p:sp>
        <p:nvSpPr>
          <p:cNvPr id="7" name="Text"/>
          <p:cNvSpPr txBox="1"/>
          <p:nvPr/>
        </p:nvSpPr>
        <p:spPr>
          <a:xfrm>
            <a:off x="1005840" y="155448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Atomicity</a:t>
            </a:r>
            <a:endParaRPr lang="en-US" sz="2000" dirty="0"/>
          </a:p>
        </p:txBody>
      </p:sp>
      <p:sp>
        <p:nvSpPr>
          <p:cNvPr id="8" name="Text"/>
          <p:cNvSpPr txBox="1"/>
          <p:nvPr/>
        </p:nvSpPr>
        <p:spPr>
          <a:xfrm>
            <a:off x="749808" y="1965960"/>
            <a:ext cx="4969764" cy="150876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Without it: PKR 10,000 vanishes between the debit and the credit — gone, with no record.</a:t>
            </a:r>
            <a:endParaRPr lang="en-US" sz="1800" dirty="0"/>
          </a:p>
        </p:txBody>
      </p:sp>
      <p:sp>
        <p:nvSpPr>
          <p:cNvPr id="9" name="Shape"/>
          <p:cNvSpPr/>
          <p:nvPr/>
        </p:nvSpPr>
        <p:spPr>
          <a:xfrm>
            <a:off x="6240780" y="1463040"/>
            <a:ext cx="5372100" cy="2103120"/>
          </a:xfrm>
          <a:prstGeom prst="roundRect">
            <a:avLst>
              <a:gd name="adj" fmla="val 3200"/>
            </a:avLst>
          </a:prstGeom>
          <a:solidFill>
            <a:srgbClr val="FFFFFF"/>
          </a:solidFill>
          <a:ln w="22225">
            <a:solidFill>
              <a:srgbClr val="8B7FD9"/>
            </a:solidFill>
            <a:prstDash val="solid"/>
          </a:ln>
          <a:effectLst>
            <a:outerShdw sx="100000" sy="100000" kx="0" ky="0" algn="bl" rotWithShape="0" blurRad="63500" dist="25400" dir="5400000">
              <a:srgbClr val="1F2429">
                <a:alpha val="15000"/>
              </a:srgbClr>
            </a:outerShdw>
          </a:effectLst>
        </p:spPr>
      </p:sp>
      <p:sp>
        <p:nvSpPr>
          <p:cNvPr id="10" name="Shape"/>
          <p:cNvSpPr/>
          <p:nvPr/>
        </p:nvSpPr>
        <p:spPr>
          <a:xfrm>
            <a:off x="6405372" y="1609344"/>
            <a:ext cx="201168" cy="201168"/>
          </a:xfrm>
          <a:prstGeom prst="ellipse">
            <a:avLst/>
          </a:prstGeom>
          <a:solidFill>
            <a:srgbClr val="8B7FD9"/>
          </a:solidFill>
          <a:ln/>
        </p:spPr>
      </p:sp>
      <p:sp>
        <p:nvSpPr>
          <p:cNvPr id="11" name="Text"/>
          <p:cNvSpPr txBox="1"/>
          <p:nvPr/>
        </p:nvSpPr>
        <p:spPr>
          <a:xfrm>
            <a:off x="6697980" y="155448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Consistency</a:t>
            </a:r>
            <a:endParaRPr lang="en-US" sz="2000" dirty="0"/>
          </a:p>
        </p:txBody>
      </p:sp>
      <p:sp>
        <p:nvSpPr>
          <p:cNvPr id="12" name="Text"/>
          <p:cNvSpPr txBox="1"/>
          <p:nvPr/>
        </p:nvSpPr>
        <p:spPr>
          <a:xfrm>
            <a:off x="6441948" y="1965960"/>
            <a:ext cx="4969764" cy="150876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Without it: a balance goes to −3,000, or a debit/credit mismatch slips through with no error anywhere.</a:t>
            </a:r>
            <a:endParaRPr lang="en-US" sz="1800" dirty="0"/>
          </a:p>
        </p:txBody>
      </p:sp>
      <p:sp>
        <p:nvSpPr>
          <p:cNvPr id="13" name="Shape"/>
          <p:cNvSpPr/>
          <p:nvPr/>
        </p:nvSpPr>
        <p:spPr>
          <a:xfrm>
            <a:off x="548640" y="3840480"/>
            <a:ext cx="5372100" cy="2103120"/>
          </a:xfrm>
          <a:prstGeom prst="roundRect">
            <a:avLst>
              <a:gd name="adj" fmla="val 3200"/>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4" name="Shape"/>
          <p:cNvSpPr/>
          <p:nvPr/>
        </p:nvSpPr>
        <p:spPr>
          <a:xfrm>
            <a:off x="713232" y="3986784"/>
            <a:ext cx="201168" cy="201168"/>
          </a:xfrm>
          <a:prstGeom prst="ellipse">
            <a:avLst/>
          </a:prstGeom>
          <a:solidFill>
            <a:srgbClr val="E8A33D"/>
          </a:solidFill>
          <a:ln/>
        </p:spPr>
      </p:sp>
      <p:sp>
        <p:nvSpPr>
          <p:cNvPr id="15" name="Text"/>
          <p:cNvSpPr txBox="1"/>
          <p:nvPr/>
        </p:nvSpPr>
        <p:spPr>
          <a:xfrm>
            <a:off x="1005840" y="393192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Isolation</a:t>
            </a:r>
            <a:endParaRPr lang="en-US" sz="2000" dirty="0"/>
          </a:p>
        </p:txBody>
      </p:sp>
      <p:sp>
        <p:nvSpPr>
          <p:cNvPr id="16" name="Text"/>
          <p:cNvSpPr txBox="1"/>
          <p:nvPr/>
        </p:nvSpPr>
        <p:spPr>
          <a:xfrm>
            <a:off x="749808" y="4343400"/>
            <a:ext cx="4969764" cy="150876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Without it: T2's committed +50 deposit is silently lost — the balance lands on 1100, not 1150.</a:t>
            </a:r>
            <a:endParaRPr lang="en-US" sz="1800" dirty="0"/>
          </a:p>
        </p:txBody>
      </p:sp>
      <p:sp>
        <p:nvSpPr>
          <p:cNvPr id="17" name="Shape"/>
          <p:cNvSpPr/>
          <p:nvPr/>
        </p:nvSpPr>
        <p:spPr>
          <a:xfrm>
            <a:off x="6240780" y="3840480"/>
            <a:ext cx="5372100" cy="2103120"/>
          </a:xfrm>
          <a:prstGeom prst="roundRect">
            <a:avLst>
              <a:gd name="adj" fmla="val 3200"/>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8" name="Shape"/>
          <p:cNvSpPr/>
          <p:nvPr/>
        </p:nvSpPr>
        <p:spPr>
          <a:xfrm>
            <a:off x="6405372" y="3986784"/>
            <a:ext cx="201168" cy="201168"/>
          </a:xfrm>
          <a:prstGeom prst="ellipse">
            <a:avLst/>
          </a:prstGeom>
          <a:solidFill>
            <a:srgbClr val="2FE6C4"/>
          </a:solidFill>
          <a:ln/>
        </p:spPr>
      </p:sp>
      <p:sp>
        <p:nvSpPr>
          <p:cNvPr id="19" name="Text"/>
          <p:cNvSpPr txBox="1"/>
          <p:nvPr/>
        </p:nvSpPr>
        <p:spPr>
          <a:xfrm>
            <a:off x="6697980" y="3931920"/>
            <a:ext cx="4732020" cy="365760"/>
          </a:xfrm>
          <a:prstGeom prst="rect">
            <a:avLst/>
          </a:prstGeom>
          <a:noFill/>
          <a:ln/>
        </p:spPr>
        <p:txBody>
          <a:bodyPr wrap="square" rtlCol="0" anchor="t"/>
          <a:lstStyle/>
          <a:p>
            <a:pPr algn="l" indent="0" marL="0">
              <a:buNone/>
            </a:pPr>
            <a:r>
              <a:rPr lang="en-US" sz="2000" b="1" dirty="0">
                <a:solidFill>
                  <a:srgbClr val="1F2429"/>
                </a:solidFill>
                <a:latin typeface="Calibri" pitchFamily="34" charset="0"/>
                <a:ea typeface="Calibri" pitchFamily="34" charset="-122"/>
                <a:cs typeface="Calibri" pitchFamily="34" charset="-120"/>
              </a:rPr>
              <a:t>Durability</a:t>
            </a:r>
            <a:endParaRPr lang="en-US" sz="2000" dirty="0"/>
          </a:p>
        </p:txBody>
      </p:sp>
      <p:sp>
        <p:nvSpPr>
          <p:cNvPr id="20" name="Text"/>
          <p:cNvSpPr txBox="1"/>
          <p:nvPr/>
        </p:nvSpPr>
        <p:spPr>
          <a:xfrm>
            <a:off x="6441948" y="4343400"/>
            <a:ext cx="4969764" cy="1508760"/>
          </a:xfrm>
          <a:prstGeom prst="rect">
            <a:avLst/>
          </a:prstGeom>
          <a:noFill/>
          <a:ln/>
        </p:spPr>
        <p:txBody>
          <a:bodyPr wrap="square" rtlCol="0" anchor="t"/>
          <a:lstStyle/>
          <a:p>
            <a:pPr algn="l" indent="0" marL="0">
              <a:lnSpc>
                <a:spcPct val="112000"/>
              </a:lnSpc>
              <a:buNone/>
            </a:pPr>
            <a:r>
              <a:rPr lang="en-US" sz="1800" dirty="0">
                <a:solidFill>
                  <a:srgbClr val="6B7480"/>
                </a:solidFill>
                <a:latin typeface="Calibri" pitchFamily="34" charset="0"/>
                <a:ea typeface="Calibri" pitchFamily="34" charset="-122"/>
                <a:cs typeface="Calibri" pitchFamily="34" charset="-120"/>
              </a:rPr>
              <a:t>Without it: a committed transfer reverts after a crash — even though the customer was told it succeeded.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2026-09-29T15:19:08Z</dcterms:created>
  <dcterms:modified xsi:type="dcterms:W3CDTF">2026-09-29T15:19:08Z</dcterms:modified>
</cp:coreProperties>
</file>
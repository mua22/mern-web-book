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24"/>
    <p:sldId id="274" r:id="rId25"/>
    <p:sldId id="275" r:id="rId26"/>
    <p:sldId id="276" r:id="rId27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
  <Relationship Id="rId25" Type="http://schemas.openxmlformats.org/officeDocument/2006/relationships/slide" Target="slides/slide19.xml"/>
  <Relationship Id="rId26" Type="http://schemas.openxmlformats.org/officeDocument/2006/relationships/slide" Target="slides/slide20.xml"/>
  <Relationship Id="rId27" Type="http://schemas.openxmlformats.org/officeDocument/2006/relationships/slide" Target="slides/slide21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-1463040"/>
            <a:ext cx="4206240" cy="4206240"/>
          </a:xfrm>
          <a:prstGeom prst="ellipse">
            <a:avLst/>
          </a:prstGeom>
          <a:solidFill>
            <a:srgbClr val="2FE6C4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62895" y="3291840"/>
            <a:ext cx="2926080" cy="2926080"/>
          </a:xfrm>
          <a:prstGeom prst="ellipse">
            <a:avLst/>
          </a:prstGeom>
          <a:solidFill>
            <a:srgbClr val="8B7FD9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4663440"/>
            <a:ext cx="3108960" cy="3108960"/>
          </a:xfrm>
          <a:prstGeom prst="ellipse">
            <a:avLst/>
          </a:prstGeom>
          <a:solidFill>
            <a:srgbClr val="E8A33D">
              <a:alpha val="1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 · LECTURE 30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2024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8 · Transaction Management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Management: Concurrency Control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605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DBMS runs hundreds of transactions at once while still guaranteeing the result each one would have gotten running alone.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63624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636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1490472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concurrent execution needs control: four anomalies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404872"/>
            <a:ext cx="384048" cy="38404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404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331720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vs. concurrent schedules, and a precedence-graph example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3172968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Lock-based concurrency control: shared &amp; exclusive locks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09360" y="1563624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15636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839712" y="1490472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Two-Phase Locking (2PL): growing &amp; shrinking phases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309360" y="2404872"/>
            <a:ext cx="384048" cy="38404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2404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839712" y="2331720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Deadlocks: a concrete example, detection &amp; prevention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309360" y="32461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0936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839712" y="3172968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SQL standard's four isolation levels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INTERLEAVING IS RISKY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 for Concurrency Control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transactions one at a time would trivially guarantee correctness — but every user would wait in a single queue. So a DBMS interleaves operations from multiple transactions for throughput. Left unchecked, this opens the door to four well-known anomalies.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3721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275234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69748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Update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108960"/>
            <a:ext cx="496976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transactions overwrite each other's work.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40780" y="2606040"/>
            <a:ext cx="53721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5372" y="275234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97980" y="269748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Read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41948" y="3108960"/>
            <a:ext cx="496976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 of an uncommitted, later-rolled-back value.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4434840"/>
            <a:ext cx="53721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458114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452628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Non-Repeatable Read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937760"/>
            <a:ext cx="496976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row, two different values, one transaction.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40780" y="4434840"/>
            <a:ext cx="53721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5372" y="458114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97980" y="452628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Read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441948" y="4937760"/>
            <a:ext cx="496976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a different set of rows.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INTERLEAVED SCHEDULE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1: Lost Update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A101, balance 1000. T1 deposits 100; T2 deposits 50. Run serially, the final balance must be 1150.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2834640"/>
        </p:xfrm>
        <a:graphic>
          <a:graphicData uri="http://schemas.openxmlformats.org/drawingml/2006/table">
            <a:tbl>
              <a:tblPr/>
              <a:tblGrid>
                <a:gridCol w="914400"/>
                <a:gridCol w="4480560"/>
                <a:gridCol w="4480560"/>
                <a:gridCol w="1188720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balance → 1000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balance → 1000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balance = 1000+50 = 1050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balance = 1000+100 = 1100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8920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DEDEC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9834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1100, not 1150. </a:t>
            </a:r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read the original 1000 before T2's deposit happened; its write at t5 overwrites T2's committed +50 entirely.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INTERLEAVED SCHEDULE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2: Dirty Read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58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2000"/>
            <a:ext cx="11064240" cy="5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transaction reads a value written by another transaction that has not yet committed — and that transaction later rolls back.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04520"/>
          <a:ext cx="11064240" cy="2194560"/>
        </p:xfrm>
        <a:graphic>
          <a:graphicData uri="http://schemas.openxmlformats.org/drawingml/2006/table">
            <a:tbl>
              <a:tblPr/>
              <a:tblGrid>
                <a:gridCol w="914400"/>
                <a:gridCol w="4663440"/>
                <a:gridCol w="4297680"/>
                <a:gridCol w="11887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balance = 1000+100 = 1100 (uncommitted)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balance → 1100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(uses 1100 in further calculation)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ROLLBACK (deposit reversed)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4276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DEDEC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56484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B2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T2 acted on data that never existed. </a:t>
            </a:r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read and acted on 1100 — a value that, once T1 rolled back, never became a real, committed fact about this account. Anything T2 computed from that read is based on data that formally never existed.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INTERLEAVED SCHEDULE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3: Non-Repeatable Read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58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2000"/>
            <a:ext cx="11064240" cy="5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transaction reads the same row twice and gets two different values, because another transaction committed a change in between.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04520"/>
          <a:ext cx="11064240" cy="2194560"/>
        </p:xfrm>
        <a:graphic>
          <a:graphicData uri="http://schemas.openxmlformats.org/drawingml/2006/table">
            <a:tbl>
              <a:tblPr/>
              <a:tblGrid>
                <a:gridCol w="914400"/>
                <a:gridCol w="5029200"/>
                <a:gridCol w="3931920"/>
                <a:gridCol w="11887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balance → 1000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balance = 1000+100 = 1100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balance → 1100 (same txn, different value!)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4276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DEDEC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56484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B2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T1's own view of the data changed mid-transaction. </a:t>
            </a:r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a dirty read, the value T2 wrote is legitimately committed — the problem is only that T1 read the same row twice and got two different, both-valid, answers.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INTERLEAVED SCHEDULE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4: Phantom Read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58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2000"/>
            <a:ext cx="11064240" cy="5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transaction re-runs the same query and finds a different set of rows, because another transaction inserted or deleted matching rows in between.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04520"/>
          <a:ext cx="11064240" cy="219456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* FROM Account WHERE balance &gt; 5000 → 3 rows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INTO Account VALUES ('A999', 9000)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(same query re-run) → 4 rows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4276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DEDEC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56484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B2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new row appears inside T1's query range. </a:t>
            </a:r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row T1 already saw was changed — the anomaly is an entirely new row appearing, which a simple row-level lock cannot prevent, because there was no existing row to lock at t1.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CORRECTNESS BAR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and Serializability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is the actual sequence in which operations of one or more transactions execute. A concurrent schedule is serializable if its effect is equivalent to some serial schedule of the same transactions — all four anomalies above are exactly the signature of a schedule that is NOT serializable.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3721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279806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74320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Schedule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154680"/>
            <a:ext cx="49697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fully completes, then T2 fully completes (or vice versa) — always correct, no overlap.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40780" y="2651760"/>
            <a:ext cx="53721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5372" y="279806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97980" y="274320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Serializable Concurrent Schedule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41948" y="3154680"/>
            <a:ext cx="49697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interleaved for speed, but the result matches some serial ordering — the goal.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84632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serializability: </a:t>
            </a:r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operations “conflict” if they access the same data item and at least one is a write; a schedule is conflict-serializable if its conflicting operations can be reordered, without changing their relative order, into a valid serial schedule.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AND EXCLUSIVE LOCKS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Lock-Based Concurrency Control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3721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56362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50876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Lock (S-lock)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920240"/>
            <a:ext cx="4969764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Acquired to read a data item. Multiple transactions may hold a shared lock on the same item simultaneously — concurrent reads don't conflict.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40780" y="1417320"/>
            <a:ext cx="53721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5372" y="156362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97980" y="150876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Exclusive Lock (X-lock)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41948" y="1920240"/>
            <a:ext cx="4969764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Acquired to write a data item. Only one transaction may hold it at a time, and no other transaction may hold any lock while it's held.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3375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compatibility matrix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11064240" cy="13716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Requested \ Held by another txn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(S)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Exclusive (X)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(S)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Compatible — both proceed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wait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Exclusive (X)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wait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wait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48640" y="5257800"/>
            <a:ext cx="365760" cy="320040"/>
          </a:xfrm>
          <a:prstGeom prst="rect">
            <a:avLst/>
          </a:prstGeom>
          <a:solidFill>
            <a:srgbClr val="2FE6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5257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    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331720" y="5257800"/>
            <a:ext cx="365760" cy="320040"/>
          </a:xfrm>
          <a:prstGeom prst="rect">
            <a:avLst/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743200" y="52578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exclusive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GUARANTEEING SERIALIZABILITY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Two-Phase Locking (2PL)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Requiring locks alone isn't enough — a transaction that releases a lock early and re-acquires another later can still produce a non-serializable schedule. 2PL adds one rule: once a transaction starts releasing locks, it may never acquire another.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172200" y="1325880"/>
            <a:ext cx="5486400" cy="1490472"/>
          </a:xfrm>
          <a:prstGeom prst="roundRect">
            <a:avLst>
              <a:gd name="adj" fmla="val 4908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318504" y="1869948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1399032"/>
            <a:ext cx="4937760" cy="670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Phase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951878"/>
            <a:ext cx="4937760" cy="819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acquire new locks. May NOT release any lock yet.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915400" y="2816352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172200" y="3072384"/>
            <a:ext cx="5486400" cy="1490472"/>
          </a:xfrm>
          <a:prstGeom prst="roundRect">
            <a:avLst>
              <a:gd name="adj" fmla="val 4908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18504" y="3616452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3145536"/>
            <a:ext cx="4937760" cy="670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Point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698382"/>
            <a:ext cx="4937760" cy="819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of maximum locks held — the boundary between the two phases.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915400" y="4562856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4818888"/>
            <a:ext cx="5486400" cy="1490472"/>
          </a:xfrm>
          <a:prstGeom prst="roundRect">
            <a:avLst>
              <a:gd name="adj" fmla="val 4908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18504" y="5362956"/>
            <a:ext cx="91440" cy="3108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37960" y="4892040"/>
            <a:ext cx="4937760" cy="670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Shrinking Phase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5444886"/>
            <a:ext cx="4937760" cy="819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release locks. May NOT acquire any new lock from here on.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EXAMPLE, CORRECTED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2PL Preventing the Lost Update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3840480"/>
        </p:xfrm>
        <a:graphic>
          <a:graphicData uri="http://schemas.openxmlformats.org/drawingml/2006/table">
            <a:tbl>
              <a:tblPr/>
              <a:tblGrid>
                <a:gridCol w="822960"/>
                <a:gridCol w="4023360"/>
                <a:gridCol w="5029200"/>
                <a:gridCol w="1188720"/>
              </a:tblGrid>
              <a:tr h="426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 X-lock(balance)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balance → 1000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 — requests X-lock, must wait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balance = 1100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COMMIT, release X-lock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 X-lock(balance)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balance → 1100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balance = 1100+50 = 1150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COMMIT, release X-lock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4068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E9FBF6"/>
          </a:solidFill>
          <a:ln w="12700">
            <a:solidFill>
              <a:srgbClr val="2FE6C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513832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9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1150, matching a genuine serial execution </a:t>
            </a:r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T2 waits from t2 to t5, the cost of a guaranteed-correct result.</a:t>
            </a:r>
            <a:endParaRPr lang="en-US" sz="1800" dirty="0"/>
          </a:p>
        </p:txBody>
      </p:sp>
      <p:sp>
        <p:nvSpPr>
          <p:cNvPr id="13" name="Text 2"/>
          <p:cNvSpPr txBox="1"/>
          <p:nvPr/>
        </p:nvSpPr>
        <p:spPr>
          <a:xfrm>
            <a:off x="777240" y="6080000"/>
            <a:ext cx="10607040" cy="3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800" kern="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Locks also stop the cross-transfer cycle from forming: see the worked precedence-graph example.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2PL ISN'T ENOUGH ON ITS OWN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deadlock occurs when two (or more) transactions each hold a lock the other needs, and each is waiting for the other to release it — neither can ever proceed. 2PL guarantees serializability, not deadlock-freedom.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53721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238658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33172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743200"/>
            <a:ext cx="496976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X-lock(A101). Now requests X-lock(A205) — held by T2. T1 waits.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40780" y="2240280"/>
            <a:ext cx="53721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5372" y="238658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97980" y="233172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41948" y="2743200"/>
            <a:ext cx="496976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X-lock(A205). Now requests X-lock(A101) — held by T1. T2 waits.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14181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T1: X-lock(A101)                T2: X-lock(A205)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T1: ... requests X-lock(A205)   T2: ... requests X-lock(A101)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-&gt; BLOCKED, waits on T2           -&gt; BLOCKED, waits on T1</a:t>
            </a:r>
            <a:endParaRPr lang="en-US" sz="1800" dirty="0"/>
          </a:p>
        </p:txBody>
      </p:sp>
      <p:sp>
        <p:nvSpPr>
          <p:cNvPr id="16" name="Text 3"/>
          <p:cNvSpPr txBox="1"/>
          <p:nvPr/>
        </p:nvSpPr>
        <p:spPr>
          <a:xfrm>
            <a:off x="548640" y="5600000"/>
            <a:ext cx="11064240" cy="64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800" kern="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this same T1/T2 cross-transfer, run with no locking, yields a non-serializable schedule — see the precedence-graph slides earlier in this lecture.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VS. PREVENTION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Resolving Deadlocks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721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60934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55448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965960"/>
            <a:ext cx="4969764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DBMS periodically builds a wait-for graph (a node per transaction, an edge Ti→Tj when Ti waits on a lock Tj holds) and checks it for cycles. A cycle IS a deadlock; the DBMS aborts a victim transaction to break it.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40780" y="1463040"/>
            <a:ext cx="53721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5372" y="160934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97980" y="155448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41948" y="1965960"/>
            <a:ext cx="4969764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the possibility entirely: order lock requests globally so a cycle can never form, or use timeouts — a transaction waiting too long is assumed deadlocked and aborted.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7EA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480560"/>
            <a:ext cx="10515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always costs a rollback; prevention costs concurrency. </a:t>
            </a:r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production DBMSs use detection with a short timeout, since real deadlocks are rare relative to the overhead of strict prevention.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CONCURRENCY FOR SAFETY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Levels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5212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SQL standard defines four isolation levels, each permitting more concurrency (and more anomalies) than the one below it — applications choose the weakest level still safe for their needs.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172200" y="1234440"/>
            <a:ext cx="5486400" cy="1170000"/>
          </a:xfrm>
          <a:prstGeom prst="roundRect">
            <a:avLst>
              <a:gd name="adj" fmla="val 6794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318504" y="1571625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1307592"/>
            <a:ext cx="4937760" cy="4845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Uncommitted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686657"/>
            <a:ext cx="4937760" cy="592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Weakest — may read another transaction's uncommitted writes.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915400" y="2404440"/>
            <a:ext cx="0" cy="13000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172200" y="2534440"/>
            <a:ext cx="5486400" cy="1170000"/>
          </a:xfrm>
          <a:prstGeom prst="roundRect">
            <a:avLst>
              <a:gd name="adj" fmla="val 6794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18504" y="2871625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607592"/>
            <a:ext cx="4937760" cy="4845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Committed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986657"/>
            <a:ext cx="4937760" cy="592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ever reads committed data — but a re-read can still change.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915400" y="3704440"/>
            <a:ext cx="0" cy="13000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3834440"/>
            <a:ext cx="5486400" cy="1170000"/>
          </a:xfrm>
          <a:prstGeom prst="roundRect">
            <a:avLst>
              <a:gd name="adj" fmla="val 6794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18504" y="4171625"/>
            <a:ext cx="91440" cy="3108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37960" y="3907592"/>
            <a:ext cx="4937760" cy="4845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Read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4286657"/>
            <a:ext cx="4937760" cy="592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Re-reading the same row always returns the same value.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915400" y="5004440"/>
            <a:ext cx="0" cy="13000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72200" y="5134440"/>
            <a:ext cx="5486400" cy="1170000"/>
          </a:xfrm>
          <a:prstGeom prst="roundRect">
            <a:avLst>
              <a:gd name="adj" fmla="val 6794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18504" y="5471625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37960" y="5207592"/>
            <a:ext cx="4937760" cy="4845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Serializable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537960" y="5586657"/>
            <a:ext cx="4937760" cy="592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— behaves exactly as if every transaction ran alone.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TABLE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Levels vs. Anomalies Prevented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19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2000000"/>
        </p:xfrm>
        <a:graphic>
          <a:graphicData uri="http://schemas.openxmlformats.org/drawingml/2006/table">
            <a:tbl>
              <a:tblPr/>
              <a:tblGrid>
                <a:gridCol w="3291840"/>
                <a:gridCol w="2587752"/>
                <a:gridCol w="2587752"/>
                <a:gridCol w="2596896"/>
              </a:tblGrid>
              <a:tr h="40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Isolation Level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Dirty Read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Non-Repeatable Read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Read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Uncommitted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Committed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Repeatable Read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Serializable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700000"/>
            <a:ext cx="11064240" cy="2600000"/>
          </a:xfrm>
          <a:prstGeom prst="roundRect">
            <a:avLst>
              <a:gd name="adj" fmla="val 3721"/>
            </a:avLst>
          </a:prstGeom>
          <a:solidFill>
            <a:srgbClr val="F1F2F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3850000"/>
            <a:ext cx="10515600" cy="23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table by column tells the real story: dirty reads are cheap to rule out and every level above the weakest does so; non-repeatable reads need locks held on rows already read for the whole transaction, which is why only Repeatable Read and above prevent them; phantom reads need locks on an entire range of potential rows, which only true Serializable isolation guarantees.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update isn't in this table by design — it's prevented as a side effect of the locking each level uses; under 2PL, Repeatable Read and Serializable both hold write locks long enough to rule it out entirely.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CONFLATE THEM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and Consistency Are Different Questions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721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60934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55448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(Lecture 29)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965960"/>
            <a:ext cx="4969764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whether a single transaction's final state obeys every integrity constraint.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40780" y="1463040"/>
            <a:ext cx="53721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5372" y="160934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97980" y="155448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(this lecture)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41948" y="1965960"/>
            <a:ext cx="4969764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whether concurrently running transactions interfere with each other's intermediate, in-progress work.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566160"/>
            <a:ext cx="110642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schema can be perfectly consistent and still suffer a lost update if isolation is too weak — the balance in the lost-update example never violated any CHECK constraint at any point; the row was simply wrong because two transactions stepped on each other. Choosing an isolation level is an explicit trade-off between correctness guarantees and concurrent throughput.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81C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9265615" y="3931920"/>
            <a:ext cx="3840480" cy="3840480"/>
          </a:xfrm>
          <a:prstGeom prst="ellipse">
            <a:avLst/>
          </a:prstGeom>
          <a:solidFill>
            <a:srgbClr val="2FE6C4">
              <a:alpha val="1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5" name="Text 1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21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550000"/>
            <a:ext cx="9875520" cy="7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Uncontrolled interleaving produces four anomalies: lost update, dirty read, non-repeatable read, and phantom read.</a:t>
            </a:r>
            <a:endParaRPr lang="en-US" sz="1800" dirty="0"/>
          </a:p>
        </p:txBody>
      </p:sp>
      <p:sp>
        <p:nvSpPr>
          <p:cNvPr id="7" name="Shape 2"/>
          <p:cNvSpPr/>
          <p:nvPr/>
        </p:nvSpPr>
        <p:spPr>
          <a:xfrm>
            <a:off x="822960" y="1875136"/>
            <a:ext cx="109728" cy="109728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43000" y="2340000"/>
            <a:ext cx="9875520" cy="7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is serializable if its result matches some serial execution of the same transactions.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822960" y="2665136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0" name="Text NEW"/>
          <p:cNvSpPr txBox="1"/>
          <p:nvPr/>
        </p:nvSpPr>
        <p:spPr>
          <a:xfrm>
            <a:off x="1143000" y="3130000"/>
            <a:ext cx="9875520" cy="7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precedence graph from a schedule: one edge Ti → Tj per conflict. A cycle means the schedule is NOT conflict-serializable.</a:t>
            </a:r>
            <a:endParaRPr lang="en-US" sz="1800" dirty="0"/>
          </a:p>
        </p:txBody>
      </p:sp>
      <p:sp>
        <p:nvSpPr>
          <p:cNvPr id="11" name="Shape NEW"/>
          <p:cNvSpPr/>
          <p:nvPr/>
        </p:nvSpPr>
        <p:spPr>
          <a:xfrm>
            <a:off x="822960" y="3455136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1143000" y="3920000"/>
            <a:ext cx="9875520" cy="7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Two-Phase Locking (2PL) — a growing phase, then a shrinking phase — guarantees serializability; it fixed the lost-update schedule directly.</a:t>
            </a:r>
            <a:endParaRPr lang="en-US" sz="1800" dirty="0"/>
          </a:p>
        </p:txBody>
      </p:sp>
      <p:sp>
        <p:nvSpPr>
          <p:cNvPr id="13" name="Shape 6"/>
          <p:cNvSpPr/>
          <p:nvPr/>
        </p:nvSpPr>
        <p:spPr>
          <a:xfrm>
            <a:off x="822960" y="4245136"/>
            <a:ext cx="109728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1143000" y="4710000"/>
            <a:ext cx="9875520" cy="7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 occurs when transactions wait on each other in a cycle; resolved by detection (wait-for graph) or prevention (ordering, timeouts).</a:t>
            </a:r>
            <a:endParaRPr lang="en-US" sz="1800" dirty="0"/>
          </a:p>
        </p:txBody>
      </p:sp>
      <p:sp>
        <p:nvSpPr>
          <p:cNvPr id="15" name="Shape 8"/>
          <p:cNvSpPr/>
          <p:nvPr/>
        </p:nvSpPr>
        <p:spPr>
          <a:xfrm>
            <a:off x="822960" y="5035136"/>
            <a:ext cx="109728" cy="109728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1143000" y="5500000"/>
            <a:ext cx="9875520" cy="7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SQL standard's four isolation levels trade off concurrency against which anomalies they prevent.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822960" y="5825136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kern="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A Concrete Schedule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250000"/>
            <a:ext cx="11064240" cy="9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800" kern="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= Transfer A101 → A205 (read, write A101; then read, write A205). T2 = Transfer A205 → A101 (read, write A205; then read, write A101) — running concurrently, each touching the other transaction's account in reverse order.</a:t>
            </a:r>
            <a:endParaRPr lang="en-US" sz="1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T1/T2 cross-transfer as the deadlock example later in this lecture — here, with no locking at all.</a:t>
            </a:r>
            <a:endParaRPr lang="en-US" sz="1800" dirty="0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48640" y="2330000"/>
          <a:ext cx="11064240" cy="3060000"/>
        </p:xfrm>
        <a:graphic>
          <a:graphicData uri="http://schemas.openxmlformats.org/drawingml/2006/table">
            <a:tbl>
              <a:tblPr/>
              <a:tblGrid>
                <a:gridCol w="1200000"/>
                <a:gridCol w="4932120"/>
                <a:gridCol w="4932120"/>
              </a:tblGrid>
              <a:tr h="34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R1(A101)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W1(A101)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R2(A205)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W2(A205)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R1(A205)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W1(A205)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R2(A101)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W2(A101)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8"/>
          <p:cNvSpPr/>
          <p:nvPr/>
        </p:nvSpPr>
        <p:spPr>
          <a:xfrm>
            <a:off x="548640" y="5480000"/>
            <a:ext cx="11064240" cy="880000"/>
          </a:xfrm>
          <a:prstGeom prst="roundRect">
            <a:avLst>
              <a:gd name="adj" fmla="val 8000"/>
            </a:avLst>
          </a:prstGeom>
          <a:solidFill>
            <a:srgbClr val="F3F1FB"/>
          </a:solidFill>
          <a:ln w="12700">
            <a:solidFill>
              <a:srgbClr val="8B7FD9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777240" y="5571440"/>
            <a:ext cx="10607040" cy="697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kern="0" dirty="0">
                <a:solidFill>
                  <a:srgbClr val="5B4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</a:t>
            </a:r>
            <a:r>
              <a:rPr lang="en-US" sz="1800" kern="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operations conflict only if they touch the same data item and at least one is a write. Next: trace every conflict on A101, then on A205.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SERIALIZABILITY, STEP BY STEP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kern="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Deriving Conflict Edges — From A101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280000"/>
            <a:ext cx="11064240" cy="9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800" kern="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operations touch A101: t1 R1(A101), t2 W1(A101), t7 R2(A101), t8 W2(A101). Of the 6 possible pairings among them, the 2 same-transaction pairs (t1,t2 and t7,t8) can't create a precedence edge — only cross-transaction pairs can. That leaves 4 pairs to check:</a:t>
            </a:r>
            <a:endParaRPr lang="en-US" sz="1800" dirty="0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48640" y="2340000"/>
          <a:ext cx="11064240" cy="2250000"/>
        </p:xfrm>
        <a:graphic>
          <a:graphicData uri="http://schemas.openxmlformats.org/drawingml/2006/table">
            <a:tbl>
              <a:tblPr/>
              <a:tblGrid>
                <a:gridCol w="1400000"/>
                <a:gridCol w="5200000"/>
                <a:gridCol w="2600000"/>
                <a:gridCol w="1864240"/>
              </a:tblGrid>
              <a:tr h="45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on A101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(t1, t7)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R1(A101), R2(A101) — both reads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conflict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(t1, t8)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R1(A101) before W2(A101)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Conflicts (read-write)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→ 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(t2, t7)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W1(A101) before R2(A101)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Conflicts (write-read)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→ 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(t2, t8)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W1(A101) before W2(A101)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Conflicts (write-write)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→ 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8"/>
          <p:cNvSpPr/>
          <p:nvPr/>
        </p:nvSpPr>
        <p:spPr>
          <a:xfrm>
            <a:off x="548640" y="4700000"/>
            <a:ext cx="11064240" cy="740000"/>
          </a:xfrm>
          <a:prstGeom prst="roundRect">
            <a:avLst>
              <a:gd name="adj" fmla="val 8000"/>
            </a:avLst>
          </a:prstGeom>
          <a:solidFill>
            <a:srgbClr val="EAFBF7"/>
          </a:solidFill>
          <a:ln w="12700">
            <a:solidFill>
              <a:srgbClr val="2FE6C4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777240" y="4791440"/>
            <a:ext cx="10607040" cy="557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kern="0" dirty="0">
                <a:solidFill>
                  <a:srgbClr val="1B8F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r>
              <a:rPr lang="en-US" sz="1800" kern="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conflicting pair on A101 agrees — edge T1 → T2.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SERIALIZABILITY, STEP BY STEP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kern="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Deriving Conflict Edges — From A205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280000"/>
            <a:ext cx="11064240" cy="9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800" kern="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operations touch A205: t3 R2(A205), t4 W2(A205), t5 R1(A205), t6 W1(A205). Again, only the 4 cross-transaction pairings can create an edge — the pairs (t3,t4) and (t5,t6) are each within a single transaction and don't count:</a:t>
            </a:r>
            <a:endParaRPr lang="en-US" sz="1800" dirty="0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48640" y="2340000"/>
          <a:ext cx="11064240" cy="2250000"/>
        </p:xfrm>
        <a:graphic>
          <a:graphicData uri="http://schemas.openxmlformats.org/drawingml/2006/table">
            <a:tbl>
              <a:tblPr/>
              <a:tblGrid>
                <a:gridCol w="1400000"/>
                <a:gridCol w="5200000"/>
                <a:gridCol w="2600000"/>
                <a:gridCol w="1864240"/>
              </a:tblGrid>
              <a:tr h="45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on A205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(t3, t5)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R2(A205), R1(A205) — both reads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conflict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(t3, t6)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R2(A205) before W1(A205)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Conflicts (read-write)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→ 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(t4, t5)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W2(A205) before R1(A205)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Conflicts (write-read)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→ 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(t4, t6)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W2(A205) before W1(A205)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Conflicts (write-write)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→ 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8"/>
          <p:cNvSpPr/>
          <p:nvPr/>
        </p:nvSpPr>
        <p:spPr>
          <a:xfrm>
            <a:off x="548640" y="4700000"/>
            <a:ext cx="11064240" cy="740000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777240" y="4791440"/>
            <a:ext cx="10607040" cy="557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kern="0" dirty="0">
                <a:solidFill>
                  <a:srgbClr val="A66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r>
              <a:rPr lang="en-US" sz="1800" kern="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conflicting pair on A205 agrees — edge T2 → T1.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SERIALIZABILITY, STEP BY STEP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kern="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Precedence Graph: A Cycle Means Not Serializable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260000"/>
            <a:ext cx="11064240" cy="34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kern="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both items' edges into one precedence graph — a node per transaction, an edge per conflict: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680000"/>
            <a:ext cx="4200000" cy="15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8" name="Text 8"/>
          <p:cNvSpPr txBox="1"/>
          <p:nvPr/>
        </p:nvSpPr>
        <p:spPr>
          <a:xfrm>
            <a:off x="548640" y="1680000"/>
            <a:ext cx="4200000" cy="15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kern="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2800" dirty="0"/>
          </a:p>
        </p:txBody>
      </p:sp>
      <p:sp>
        <p:nvSpPr>
          <p:cNvPr id="9" name="Shape 9"/>
          <p:cNvSpPr/>
          <p:nvPr/>
        </p:nvSpPr>
        <p:spPr>
          <a:xfrm>
            <a:off x="7412880" y="1680000"/>
            <a:ext cx="4200000" cy="15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Text 10"/>
          <p:cNvSpPr txBox="1"/>
          <p:nvPr/>
        </p:nvSpPr>
        <p:spPr>
          <a:xfrm>
            <a:off x="7412880" y="1680000"/>
            <a:ext cx="4200000" cy="15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kern="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2800" dirty="0"/>
          </a:p>
        </p:txBody>
      </p:sp>
      <p:sp>
        <p:nvSpPr>
          <p:cNvPr id="11" name="Text 11"/>
          <p:cNvSpPr txBox="1"/>
          <p:nvPr/>
        </p:nvSpPr>
        <p:spPr>
          <a:xfrm>
            <a:off x="4748640" y="1870000"/>
            <a:ext cx="2664240" cy="2300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1B8F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FROM A101</a:t>
            </a:r>
            <a:endParaRPr lang="en-US" sz="1200" dirty="0"/>
          </a:p>
        </p:txBody>
      </p:sp>
      <p:sp>
        <p:nvSpPr>
          <p:cNvPr id="12" name="Shape 12"/>
          <p:cNvSpPr/>
          <p:nvPr/>
        </p:nvSpPr>
        <p:spPr>
          <a:xfrm>
            <a:off x="4748640" y="2130000"/>
            <a:ext cx="2664240" cy="0"/>
          </a:xfrm>
          <a:prstGeom prst="line">
            <a:avLst/>
          </a:prstGeom>
          <a:noFill/>
          <a:ln w="28575">
            <a:solidFill>
              <a:srgbClr val="2FE6C4"/>
            </a:solidFill>
            <a:prstDash val="solid"/>
            <a:tailEnd type="triangle" w="med" len="med"/>
          </a:ln>
        </p:spPr>
      </p:sp>
      <p:sp>
        <p:nvSpPr>
          <p:cNvPr id="13" name="Shape 13"/>
          <p:cNvSpPr/>
          <p:nvPr/>
        </p:nvSpPr>
        <p:spPr>
          <a:xfrm>
            <a:off x="4748640" y="2730000"/>
            <a:ext cx="2664240" cy="0"/>
          </a:xfrm>
          <a:prstGeom prst="line">
            <a:avLst/>
          </a:prstGeom>
          <a:noFill/>
          <a:ln w="28575">
            <a:solidFill>
              <a:srgbClr val="E8A33D"/>
            </a:solidFill>
            <a:prstDash val="solid"/>
            <a:headEnd type="triangle" w="med" len="med"/>
          </a:ln>
        </p:spPr>
      </p:sp>
      <p:sp>
        <p:nvSpPr>
          <p:cNvPr id="14" name="Text 14"/>
          <p:cNvSpPr txBox="1"/>
          <p:nvPr/>
        </p:nvSpPr>
        <p:spPr>
          <a:xfrm>
            <a:off x="4748640" y="2760000"/>
            <a:ext cx="2664240" cy="2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A66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FROM A205</a:t>
            </a:r>
            <a:endParaRPr lang="en-US" sz="1200" dirty="0"/>
          </a:p>
        </p:txBody>
      </p:sp>
      <p:sp>
        <p:nvSpPr>
          <p:cNvPr id="15" name="Shape 15"/>
          <p:cNvSpPr/>
          <p:nvPr/>
        </p:nvSpPr>
        <p:spPr>
          <a:xfrm>
            <a:off x="548640" y="3450000"/>
            <a:ext cx="11064240" cy="2000000"/>
          </a:xfrm>
          <a:prstGeom prst="roundRect">
            <a:avLst>
              <a:gd name="adj" fmla="val 8000"/>
            </a:avLst>
          </a:prstGeom>
          <a:solidFill>
            <a:srgbClr val="FDEDEC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6" name="Text 16"/>
          <p:cNvSpPr txBox="1"/>
          <p:nvPr/>
        </p:nvSpPr>
        <p:spPr>
          <a:xfrm>
            <a:off x="777240" y="3541440"/>
            <a:ext cx="10607040" cy="1817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kern="0" dirty="0">
                <a:solidFill>
                  <a:srgbClr val="B2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conflict-serializable: </a:t>
            </a:r>
            <a:r>
              <a:rPr lang="en-US" sz="1800" kern="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both items' edges gives T1 → T2 (from A101) and T2 → T1 (from A205) — a cycle. A conflict-serializable schedule's precedence graph must be acyclic; this one is not. No serial ordering of T1 and T2 could have produced this result — exactly what concurrency control exists to rule out.</a:t>
            </a:r>
            <a:endParaRPr lang="en-US" sz="1800" dirty="0"/>
          </a:p>
        </p:txBody>
      </p:sp>
      <p:sp>
        <p:nvSpPr>
          <p:cNvPr id="17" name="Text 17"/>
          <p:cNvSpPr txBox="1"/>
          <p:nvPr/>
        </p:nvSpPr>
        <p:spPr>
          <a:xfrm>
            <a:off x="777240" y="4650000"/>
            <a:ext cx="10607040" cy="64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the Lock-Based Concurrency Control section shows exactly how locking would have stopped this interleaving from happening in the first place.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2026-09-29T15:20:24Z</dcterms:created>
  <dcterms:modified xsi:type="dcterms:W3CDTF">2026-09-29T15:20:24Z</dcterms:modified>
</cp:coreProperties>
</file>
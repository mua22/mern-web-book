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C"/>
        </a:solidFill>
      </p:bgPr>
    </p:bg>
    <p:spTree>
      <p:nvGrpSpPr>
        <p:cNvPr id="1" name=""/>
        <p:cNvGrpSpPr/>
        <p:nvPr/>
      </p:nvGrpSpPr>
      <p:grpSpPr>
        <a:xfrm>
          <a:off x="0" y="0"/>
          <a:ext cx="0" cy="0"/>
          <a:chOff x="0" y="0"/>
          <a:chExt cx="0" cy="0"/>
        </a:xfrm>
      </p:grpSpPr>
      <p:sp>
        <p:nvSpPr>
          <p:cNvPr id="2" name="Shape 0"/>
          <p:cNvSpPr/>
          <p:nvPr/>
        </p:nvSpPr>
        <p:spPr>
          <a:xfrm>
            <a:off x="9082735" y="-1463040"/>
            <a:ext cx="4206240" cy="4206240"/>
          </a:xfrm>
          <a:prstGeom prst="ellipse">
            <a:avLst/>
          </a:prstGeom>
          <a:solidFill>
            <a:srgbClr val="2FE6C4">
              <a:alpha val="12000"/>
            </a:srgbClr>
          </a:solidFill>
          <a:ln/>
        </p:spPr>
      </p:sp>
      <p:sp>
        <p:nvSpPr>
          <p:cNvPr id="3" name="Shape 1"/>
          <p:cNvSpPr/>
          <p:nvPr/>
        </p:nvSpPr>
        <p:spPr>
          <a:xfrm>
            <a:off x="10362895" y="3291840"/>
            <a:ext cx="2926080" cy="2926080"/>
          </a:xfrm>
          <a:prstGeom prst="ellipse">
            <a:avLst/>
          </a:prstGeom>
          <a:solidFill>
            <a:srgbClr val="8B7FD9">
              <a:alpha val="14000"/>
            </a:srgbClr>
          </a:solidFill>
          <a:ln/>
        </p:spPr>
      </p:sp>
      <p:sp>
        <p:nvSpPr>
          <p:cNvPr id="4" name="Shape 2"/>
          <p:cNvSpPr/>
          <p:nvPr/>
        </p:nvSpPr>
        <p:spPr>
          <a:xfrm>
            <a:off x="-1280160" y="4663440"/>
            <a:ext cx="3108960" cy="3108960"/>
          </a:xfrm>
          <a:prstGeom prst="ellipse">
            <a:avLst/>
          </a:prstGeom>
          <a:solidFill>
            <a:srgbClr val="E8A33D">
              <a:alpha val="10000"/>
            </a:srgbClr>
          </a:solidFill>
          <a:ln/>
        </p:spPr>
      </p:sp>
      <p:sp>
        <p:nvSpPr>
          <p:cNvPr id="5" name="Text 3"/>
          <p:cNvSpPr txBox="1"/>
          <p:nvPr/>
        </p:nvSpPr>
        <p:spPr>
          <a:xfrm>
            <a:off x="822960" y="1554480"/>
            <a:ext cx="9601200" cy="365760"/>
          </a:xfrm>
          <a:prstGeom prst="rect">
            <a:avLst/>
          </a:prstGeom>
          <a:noFill/>
          <a:ln/>
        </p:spPr>
        <p:txBody>
          <a:bodyPr wrap="square" rtlCol="0" anchor="ctr"/>
          <a:lstStyle/>
          <a:p>
            <a:pPr indent="0" marL="0">
              <a:buNone/>
            </a:pPr>
            <a:r>
              <a:rPr lang="en-US" sz="1400" b="1" spc="200" kern="0" dirty="0">
                <a:solidFill>
                  <a:srgbClr val="2FE6C4"/>
                </a:solidFill>
                <a:latin typeface="Calibri" pitchFamily="34" charset="0"/>
                <a:ea typeface="Calibri" pitchFamily="34" charset="-122"/>
                <a:cs typeface="Calibri" pitchFamily="34" charset="-120"/>
              </a:rPr>
              <a:t>CSC270 · DATABASE SYSTEMS · LECTURE 31</a:t>
            </a:r>
            <a:endParaRPr lang="en-US" sz="1400" dirty="0"/>
          </a:p>
        </p:txBody>
      </p:sp>
      <p:sp>
        <p:nvSpPr>
          <p:cNvPr id="6" name="Text 4"/>
          <p:cNvSpPr txBox="1"/>
          <p:nvPr/>
        </p:nvSpPr>
        <p:spPr>
          <a:xfrm>
            <a:off x="822960" y="1920240"/>
            <a:ext cx="9875520" cy="365760"/>
          </a:xfrm>
          <a:prstGeom prst="rect">
            <a:avLst/>
          </a:prstGeom>
          <a:noFill/>
          <a:ln/>
        </p:spPr>
        <p:txBody>
          <a:bodyPr wrap="square" rtlCol="0" anchor="ctr"/>
          <a:lstStyle/>
          <a:p>
            <a:pPr indent="0" marL="0">
              <a:buNone/>
            </a:pPr>
            <a:r>
              <a:rPr lang="en-US" sz="1400" dirty="0">
                <a:solidFill>
                  <a:srgbClr val="8A939B"/>
                </a:solidFill>
                <a:latin typeface="Calibri" pitchFamily="34" charset="0"/>
                <a:ea typeface="Calibri" pitchFamily="34" charset="-122"/>
                <a:cs typeface="Calibri" pitchFamily="34" charset="-120"/>
              </a:rPr>
              <a:t>Unit 8 · Transaction Management</a:t>
            </a:r>
            <a:endParaRPr lang="en-US" sz="1400" dirty="0"/>
          </a:p>
        </p:txBody>
      </p:sp>
      <p:sp>
        <p:nvSpPr>
          <p:cNvPr id="7" name="Text 5"/>
          <p:cNvSpPr txBox="1"/>
          <p:nvPr/>
        </p:nvSpPr>
        <p:spPr>
          <a:xfrm>
            <a:off x="822960" y="2377440"/>
            <a:ext cx="10058400" cy="1828800"/>
          </a:xfrm>
          <a:prstGeom prst="rect">
            <a:avLst/>
          </a:prstGeom>
          <a:noFill/>
          <a:ln/>
        </p:spPr>
        <p:txBody>
          <a:bodyPr wrap="square"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Failure and Recovery in Transaction Management</a:t>
            </a:r>
            <a:endParaRPr lang="en-US" sz="4000" dirty="0"/>
          </a:p>
        </p:txBody>
      </p:sp>
      <p:sp>
        <p:nvSpPr>
          <p:cNvPr id="8" name="Text 6"/>
          <p:cNvSpPr txBox="1"/>
          <p:nvPr/>
        </p:nvSpPr>
        <p:spPr>
          <a:xfrm>
            <a:off x="822960" y="4160520"/>
            <a:ext cx="9326880" cy="822960"/>
          </a:xfrm>
          <a:prstGeom prst="rect">
            <a:avLst/>
          </a:prstGeom>
          <a:noFill/>
          <a:ln/>
        </p:spPr>
        <p:txBody>
          <a:bodyPr wrap="square" rtlCol="0" anchor="ctr"/>
          <a:lstStyle/>
          <a:p>
            <a:pPr indent="0" marL="0">
              <a:buNone/>
            </a:pPr>
            <a:r>
              <a:rPr lang="en-US" sz="1600" dirty="0">
                <a:solidFill>
                  <a:srgbClr val="8A939B"/>
                </a:solidFill>
                <a:latin typeface="Calibri" pitchFamily="34" charset="0"/>
                <a:ea typeface="Calibri" pitchFamily="34" charset="-122"/>
                <a:cs typeface="Calibri" pitchFamily="34" charset="-120"/>
              </a:rPr>
              <a:t>What happens when the power fails mid-transaction, and how the recovery manager restores a correct database using nothing but a log.</a:t>
            </a:r>
            <a:endParaRPr lang="en-US" sz="1600" dirty="0"/>
          </a:p>
        </p:txBody>
      </p:sp>
      <p:sp>
        <p:nvSpPr>
          <p:cNvPr id="9" name="Text 7"/>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457200"/>
            <a:ext cx="10515600" cy="731520"/>
          </a:xfrm>
          <a:prstGeom prst="rect">
            <a:avLst/>
          </a:prstGeom>
          <a:noFill/>
          <a:ln/>
        </p:spPr>
        <p:txBody>
          <a:bodyPr wrap="square" rtlCol="0" anchor="ctr"/>
          <a:lstStyle/>
          <a:p>
            <a:pPr indent="0" marL="0">
              <a:buNone/>
            </a:pPr>
            <a:r>
              <a:rPr lang="en-US" sz="3200" b="1" dirty="0">
                <a:solidFill>
                  <a:srgbClr val="1F2429"/>
                </a:solidFill>
                <a:latin typeface="Calibri" pitchFamily="34" charset="0"/>
                <a:ea typeface="Calibri" pitchFamily="34" charset="-122"/>
                <a:cs typeface="Calibri" pitchFamily="34" charset="-120"/>
              </a:rPr>
              <a:t>Agenda</a:t>
            </a:r>
            <a:endParaRPr lang="en-US" sz="3200" dirty="0"/>
          </a:p>
        </p:txBody>
      </p:sp>
      <p:sp>
        <p:nvSpPr>
          <p:cNvPr id="3" name="Shape 1"/>
          <p:cNvSpPr/>
          <p:nvPr/>
        </p:nvSpPr>
        <p:spPr>
          <a:xfrm>
            <a:off x="640080" y="1563624"/>
            <a:ext cx="384048" cy="384048"/>
          </a:xfrm>
          <a:prstGeom prst="ellipse">
            <a:avLst/>
          </a:prstGeom>
          <a:solidFill>
            <a:srgbClr val="2FE6C4"/>
          </a:solidFill>
          <a:ln/>
        </p:spPr>
      </p:sp>
      <p:sp>
        <p:nvSpPr>
          <p:cNvPr id="4" name="Text 2"/>
          <p:cNvSpPr txBox="1"/>
          <p:nvPr/>
        </p:nvSpPr>
        <p:spPr>
          <a:xfrm>
            <a:off x="640080" y="1563624"/>
            <a:ext cx="384048" cy="384048"/>
          </a:xfrm>
          <a:prstGeom prst="rect">
            <a:avLst/>
          </a:prstGeom>
          <a:noFill/>
          <a:ln/>
        </p:spPr>
        <p:txBody>
          <a:bodyPr wrap="square" rtlCol="0" anchor="ctr"/>
          <a:lstStyle/>
          <a:p>
            <a:pPr algn="ctr" indent="0" marL="0">
              <a:buNone/>
            </a:pPr>
            <a:r>
              <a:rPr lang="en-US" sz="1500" b="1" dirty="0">
                <a:solidFill>
                  <a:srgbClr val="14181C"/>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170432" y="1490472"/>
            <a:ext cx="4663440" cy="795528"/>
          </a:xfrm>
          <a:prstGeom prst="rect">
            <a:avLst/>
          </a:prstGeom>
          <a:noFill/>
          <a:ln/>
        </p:spPr>
        <p:txBody>
          <a:bodyPr wrap="square" rtlCol="0" anchor="ctr"/>
          <a:lstStyle/>
          <a:p>
            <a:pPr indent="0" marL="0">
              <a:buNone/>
            </a:pPr>
            <a:r>
              <a:rPr lang="en-US" sz="1450" dirty="0">
                <a:solidFill>
                  <a:srgbClr val="1F2429"/>
                </a:solidFill>
                <a:latin typeface="Calibri" pitchFamily="34" charset="0"/>
                <a:ea typeface="Calibri" pitchFamily="34" charset="-122"/>
                <a:cs typeface="Calibri" pitchFamily="34" charset="-120"/>
              </a:rPr>
              <a:t>Types of transaction failure</a:t>
            </a:r>
            <a:endParaRPr lang="en-US" sz="1450" dirty="0"/>
          </a:p>
        </p:txBody>
      </p:sp>
      <p:sp>
        <p:nvSpPr>
          <p:cNvPr id="6" name="Shape 4"/>
          <p:cNvSpPr/>
          <p:nvPr/>
        </p:nvSpPr>
        <p:spPr>
          <a:xfrm>
            <a:off x="640080" y="2404872"/>
            <a:ext cx="384048" cy="384048"/>
          </a:xfrm>
          <a:prstGeom prst="ellipse">
            <a:avLst/>
          </a:prstGeom>
          <a:solidFill>
            <a:srgbClr val="8B7FD9"/>
          </a:solidFill>
          <a:ln/>
        </p:spPr>
      </p:sp>
      <p:sp>
        <p:nvSpPr>
          <p:cNvPr id="7" name="Text 5"/>
          <p:cNvSpPr txBox="1"/>
          <p:nvPr/>
        </p:nvSpPr>
        <p:spPr>
          <a:xfrm>
            <a:off x="640080" y="2404872"/>
            <a:ext cx="384048" cy="384048"/>
          </a:xfrm>
          <a:prstGeom prst="rect">
            <a:avLst/>
          </a:prstGeom>
          <a:noFill/>
          <a:ln/>
        </p:spPr>
        <p:txBody>
          <a:bodyPr wrap="square" rtlCol="0" anchor="ctr"/>
          <a:lstStyle/>
          <a:p>
            <a:pPr algn="ctr" indent="0" marL="0">
              <a:buNone/>
            </a:pPr>
            <a:r>
              <a:rPr lang="en-US" sz="1500" b="1" dirty="0">
                <a:solidFill>
                  <a:srgbClr val="14181C"/>
                </a:solidFill>
                <a:latin typeface="Calibri" pitchFamily="34" charset="0"/>
                <a:ea typeface="Calibri" pitchFamily="34" charset="-122"/>
                <a:cs typeface="Calibri" pitchFamily="34" charset="-120"/>
              </a:rPr>
              <a:t>2</a:t>
            </a:r>
            <a:endParaRPr lang="en-US" sz="1500" dirty="0"/>
          </a:p>
        </p:txBody>
      </p:sp>
      <p:sp>
        <p:nvSpPr>
          <p:cNvPr id="8" name="Text 6"/>
          <p:cNvSpPr txBox="1"/>
          <p:nvPr/>
        </p:nvSpPr>
        <p:spPr>
          <a:xfrm>
            <a:off x="1170432" y="2331720"/>
            <a:ext cx="4663440" cy="795528"/>
          </a:xfrm>
          <a:prstGeom prst="rect">
            <a:avLst/>
          </a:prstGeom>
          <a:noFill/>
          <a:ln/>
        </p:spPr>
        <p:txBody>
          <a:bodyPr wrap="square" rtlCol="0" anchor="ctr"/>
          <a:lstStyle/>
          <a:p>
            <a:pPr indent="0" marL="0">
              <a:buNone/>
            </a:pPr>
            <a:r>
              <a:rPr lang="en-US" sz="1450" dirty="0">
                <a:solidFill>
                  <a:srgbClr val="1F2429"/>
                </a:solidFill>
                <a:latin typeface="Calibri" pitchFamily="34" charset="0"/>
                <a:ea typeface="Calibri" pitchFamily="34" charset="-122"/>
                <a:cs typeface="Calibri" pitchFamily="34" charset="-120"/>
              </a:rPr>
              <a:t>System failure vs. media failure</a:t>
            </a:r>
            <a:endParaRPr lang="en-US" sz="1450" dirty="0"/>
          </a:p>
        </p:txBody>
      </p:sp>
      <p:sp>
        <p:nvSpPr>
          <p:cNvPr id="9" name="Shape 7"/>
          <p:cNvSpPr/>
          <p:nvPr/>
        </p:nvSpPr>
        <p:spPr>
          <a:xfrm>
            <a:off x="640080" y="3246120"/>
            <a:ext cx="384048" cy="384048"/>
          </a:xfrm>
          <a:prstGeom prst="ellipse">
            <a:avLst/>
          </a:prstGeom>
          <a:solidFill>
            <a:srgbClr val="E8A33D"/>
          </a:solidFill>
          <a:ln/>
        </p:spPr>
      </p:sp>
      <p:sp>
        <p:nvSpPr>
          <p:cNvPr id="10" name="Text 8"/>
          <p:cNvSpPr txBox="1"/>
          <p:nvPr/>
        </p:nvSpPr>
        <p:spPr>
          <a:xfrm>
            <a:off x="640080" y="3246120"/>
            <a:ext cx="384048" cy="384048"/>
          </a:xfrm>
          <a:prstGeom prst="rect">
            <a:avLst/>
          </a:prstGeom>
          <a:noFill/>
          <a:ln/>
        </p:spPr>
        <p:txBody>
          <a:bodyPr wrap="square" rtlCol="0" anchor="ctr"/>
          <a:lstStyle/>
          <a:p>
            <a:pPr algn="ctr" indent="0" marL="0">
              <a:buNone/>
            </a:pPr>
            <a:r>
              <a:rPr lang="en-US" sz="1500" b="1" dirty="0">
                <a:solidFill>
                  <a:srgbClr val="14181C"/>
                </a:solidFill>
                <a:latin typeface="Calibri" pitchFamily="34" charset="0"/>
                <a:ea typeface="Calibri" pitchFamily="34" charset="-122"/>
                <a:cs typeface="Calibri" pitchFamily="34" charset="-120"/>
              </a:rPr>
              <a:t>3</a:t>
            </a:r>
            <a:endParaRPr lang="en-US" sz="1500" dirty="0"/>
          </a:p>
        </p:txBody>
      </p:sp>
      <p:sp>
        <p:nvSpPr>
          <p:cNvPr id="11" name="Text 9"/>
          <p:cNvSpPr txBox="1"/>
          <p:nvPr/>
        </p:nvSpPr>
        <p:spPr>
          <a:xfrm>
            <a:off x="1170432" y="3172968"/>
            <a:ext cx="4663440" cy="795528"/>
          </a:xfrm>
          <a:prstGeom prst="rect">
            <a:avLst/>
          </a:prstGeom>
          <a:noFill/>
          <a:ln/>
        </p:spPr>
        <p:txBody>
          <a:bodyPr wrap="square" rtlCol="0" anchor="ctr"/>
          <a:lstStyle/>
          <a:p>
            <a:pPr indent="0" marL="0">
              <a:buNone/>
            </a:pPr>
            <a:r>
              <a:rPr lang="en-US" sz="1450" dirty="0">
                <a:solidFill>
                  <a:srgbClr val="1F2429"/>
                </a:solidFill>
                <a:latin typeface="Calibri" pitchFamily="34" charset="0"/>
                <a:ea typeface="Calibri" pitchFamily="34" charset="-122"/>
                <a:cs typeface="Calibri" pitchFamily="34" charset="-120"/>
              </a:rPr>
              <a:t>The recovery manager's job</a:t>
            </a:r>
            <a:endParaRPr lang="en-US" sz="1450" dirty="0"/>
          </a:p>
        </p:txBody>
      </p:sp>
      <p:sp>
        <p:nvSpPr>
          <p:cNvPr id="12" name="Shape 10"/>
          <p:cNvSpPr/>
          <p:nvPr/>
        </p:nvSpPr>
        <p:spPr>
          <a:xfrm>
            <a:off x="640080" y="4087368"/>
            <a:ext cx="384048" cy="384048"/>
          </a:xfrm>
          <a:prstGeom prst="ellipse">
            <a:avLst/>
          </a:prstGeom>
          <a:solidFill>
            <a:srgbClr val="2FE6C4"/>
          </a:solidFill>
          <a:ln/>
        </p:spPr>
      </p:sp>
      <p:sp>
        <p:nvSpPr>
          <p:cNvPr id="13" name="Text 11"/>
          <p:cNvSpPr txBox="1"/>
          <p:nvPr/>
        </p:nvSpPr>
        <p:spPr>
          <a:xfrm>
            <a:off x="640080" y="4087368"/>
            <a:ext cx="384048" cy="384048"/>
          </a:xfrm>
          <a:prstGeom prst="rect">
            <a:avLst/>
          </a:prstGeom>
          <a:noFill/>
          <a:ln/>
        </p:spPr>
        <p:txBody>
          <a:bodyPr wrap="square" rtlCol="0" anchor="ctr"/>
          <a:lstStyle/>
          <a:p>
            <a:pPr algn="ctr" indent="0" marL="0">
              <a:buNone/>
            </a:pPr>
            <a:r>
              <a:rPr lang="en-US" sz="1500" b="1" dirty="0">
                <a:solidFill>
                  <a:srgbClr val="14181C"/>
                </a:solidFill>
                <a:latin typeface="Calibri" pitchFamily="34" charset="0"/>
                <a:ea typeface="Calibri" pitchFamily="34" charset="-122"/>
                <a:cs typeface="Calibri" pitchFamily="34" charset="-120"/>
              </a:rPr>
              <a:t>4</a:t>
            </a:r>
            <a:endParaRPr lang="en-US" sz="1500" dirty="0"/>
          </a:p>
        </p:txBody>
      </p:sp>
      <p:sp>
        <p:nvSpPr>
          <p:cNvPr id="14" name="Text 12"/>
          <p:cNvSpPr txBox="1"/>
          <p:nvPr/>
        </p:nvSpPr>
        <p:spPr>
          <a:xfrm>
            <a:off x="1170432" y="4014216"/>
            <a:ext cx="4663440" cy="795528"/>
          </a:xfrm>
          <a:prstGeom prst="rect">
            <a:avLst/>
          </a:prstGeom>
          <a:noFill/>
          <a:ln/>
        </p:spPr>
        <p:txBody>
          <a:bodyPr wrap="square" rtlCol="0" anchor="ctr"/>
          <a:lstStyle/>
          <a:p>
            <a:pPr indent="0" marL="0">
              <a:buNone/>
            </a:pPr>
            <a:r>
              <a:rPr lang="en-US" sz="1450" dirty="0">
                <a:solidFill>
                  <a:srgbClr val="1F2429"/>
                </a:solidFill>
                <a:latin typeface="Calibri" pitchFamily="34" charset="0"/>
                <a:ea typeface="Calibri" pitchFamily="34" charset="-122"/>
                <a:cs typeface="Calibri" pitchFamily="34" charset="-120"/>
              </a:rPr>
              <a:t>Log-based recovery &amp; write-ahead logging (WAL)</a:t>
            </a:r>
            <a:endParaRPr lang="en-US" sz="1450" dirty="0"/>
          </a:p>
        </p:txBody>
      </p:sp>
      <p:sp>
        <p:nvSpPr>
          <p:cNvPr id="15" name="Shape 13"/>
          <p:cNvSpPr/>
          <p:nvPr/>
        </p:nvSpPr>
        <p:spPr>
          <a:xfrm>
            <a:off x="6309360" y="1563624"/>
            <a:ext cx="384048" cy="384048"/>
          </a:xfrm>
          <a:prstGeom prst="ellipse">
            <a:avLst/>
          </a:prstGeom>
          <a:solidFill>
            <a:srgbClr val="8B7FD9"/>
          </a:solidFill>
          <a:ln/>
        </p:spPr>
      </p:sp>
      <p:sp>
        <p:nvSpPr>
          <p:cNvPr id="16" name="Text 14"/>
          <p:cNvSpPr txBox="1"/>
          <p:nvPr/>
        </p:nvSpPr>
        <p:spPr>
          <a:xfrm>
            <a:off x="6309360" y="1563624"/>
            <a:ext cx="384048" cy="384048"/>
          </a:xfrm>
          <a:prstGeom prst="rect">
            <a:avLst/>
          </a:prstGeom>
          <a:noFill/>
          <a:ln/>
        </p:spPr>
        <p:txBody>
          <a:bodyPr wrap="square" rtlCol="0" anchor="ctr"/>
          <a:lstStyle/>
          <a:p>
            <a:pPr algn="ctr" indent="0" marL="0">
              <a:buNone/>
            </a:pPr>
            <a:r>
              <a:rPr lang="en-US" sz="1500" b="1" dirty="0">
                <a:solidFill>
                  <a:srgbClr val="14181C"/>
                </a:solidFill>
                <a:latin typeface="Calibri" pitchFamily="34" charset="0"/>
                <a:ea typeface="Calibri" pitchFamily="34" charset="-122"/>
                <a:cs typeface="Calibri" pitchFamily="34" charset="-120"/>
              </a:rPr>
              <a:t>5</a:t>
            </a:r>
            <a:endParaRPr lang="en-US" sz="1500" dirty="0"/>
          </a:p>
        </p:txBody>
      </p:sp>
      <p:sp>
        <p:nvSpPr>
          <p:cNvPr id="17" name="Text 15"/>
          <p:cNvSpPr txBox="1"/>
          <p:nvPr/>
        </p:nvSpPr>
        <p:spPr>
          <a:xfrm>
            <a:off x="6839712" y="1490472"/>
            <a:ext cx="4663440" cy="795528"/>
          </a:xfrm>
          <a:prstGeom prst="rect">
            <a:avLst/>
          </a:prstGeom>
          <a:noFill/>
          <a:ln/>
        </p:spPr>
        <p:txBody>
          <a:bodyPr wrap="square" rtlCol="0" anchor="ctr"/>
          <a:lstStyle/>
          <a:p>
            <a:pPr indent="0" marL="0">
              <a:buNone/>
            </a:pPr>
            <a:r>
              <a:rPr lang="en-US" sz="1450" dirty="0">
                <a:solidFill>
                  <a:srgbClr val="1F2429"/>
                </a:solidFill>
                <a:latin typeface="Calibri" pitchFamily="34" charset="0"/>
                <a:ea typeface="Calibri" pitchFamily="34" charset="-122"/>
                <a:cs typeface="Calibri" pitchFamily="34" charset="-120"/>
              </a:rPr>
              <a:t>Undo and redo: what each reverses, and why both matter</a:t>
            </a:r>
            <a:endParaRPr lang="en-US" sz="1450" dirty="0"/>
          </a:p>
        </p:txBody>
      </p:sp>
      <p:sp>
        <p:nvSpPr>
          <p:cNvPr id="18" name="Shape 16"/>
          <p:cNvSpPr/>
          <p:nvPr/>
        </p:nvSpPr>
        <p:spPr>
          <a:xfrm>
            <a:off x="6309360" y="2404872"/>
            <a:ext cx="384048" cy="384048"/>
          </a:xfrm>
          <a:prstGeom prst="ellipse">
            <a:avLst/>
          </a:prstGeom>
          <a:solidFill>
            <a:srgbClr val="E8A33D"/>
          </a:solidFill>
          <a:ln/>
        </p:spPr>
      </p:sp>
      <p:sp>
        <p:nvSpPr>
          <p:cNvPr id="19" name="Text 17"/>
          <p:cNvSpPr txBox="1"/>
          <p:nvPr/>
        </p:nvSpPr>
        <p:spPr>
          <a:xfrm>
            <a:off x="6309360" y="2404872"/>
            <a:ext cx="384048" cy="384048"/>
          </a:xfrm>
          <a:prstGeom prst="rect">
            <a:avLst/>
          </a:prstGeom>
          <a:noFill/>
          <a:ln/>
        </p:spPr>
        <p:txBody>
          <a:bodyPr wrap="square" rtlCol="0" anchor="ctr"/>
          <a:lstStyle/>
          <a:p>
            <a:pPr algn="ctr" indent="0" marL="0">
              <a:buNone/>
            </a:pPr>
            <a:r>
              <a:rPr lang="en-US" sz="1500" b="1" dirty="0">
                <a:solidFill>
                  <a:srgbClr val="14181C"/>
                </a:solidFill>
                <a:latin typeface="Calibri" pitchFamily="34" charset="0"/>
                <a:ea typeface="Calibri" pitchFamily="34" charset="-122"/>
                <a:cs typeface="Calibri" pitchFamily="34" charset="-120"/>
              </a:rPr>
              <a:t>6</a:t>
            </a:r>
            <a:endParaRPr lang="en-US" sz="1500" dirty="0"/>
          </a:p>
        </p:txBody>
      </p:sp>
      <p:sp>
        <p:nvSpPr>
          <p:cNvPr id="20" name="Text 18"/>
          <p:cNvSpPr txBox="1"/>
          <p:nvPr/>
        </p:nvSpPr>
        <p:spPr>
          <a:xfrm>
            <a:off x="6839712" y="2331720"/>
            <a:ext cx="4663440" cy="795528"/>
          </a:xfrm>
          <a:prstGeom prst="rect">
            <a:avLst/>
          </a:prstGeom>
          <a:noFill/>
          <a:ln/>
        </p:spPr>
        <p:txBody>
          <a:bodyPr wrap="square" rtlCol="0" anchor="ctr"/>
          <a:lstStyle/>
          <a:p>
            <a:pPr indent="0" marL="0">
              <a:buNone/>
            </a:pPr>
            <a:r>
              <a:rPr lang="en-US" sz="1450" dirty="0">
                <a:solidFill>
                  <a:srgbClr val="1F2429"/>
                </a:solidFill>
                <a:latin typeface="Calibri" pitchFamily="34" charset="0"/>
                <a:ea typeface="Calibri" pitchFamily="34" charset="-122"/>
                <a:cs typeface="Calibri" pitchFamily="34" charset="-120"/>
              </a:rPr>
              <a:t>Checkpointing, rollback, and rollforward</a:t>
            </a:r>
            <a:endParaRPr lang="en-US" sz="1450" dirty="0"/>
          </a:p>
        </p:txBody>
      </p:sp>
      <p:sp>
        <p:nvSpPr>
          <p:cNvPr id="21" name="Shape 19"/>
          <p:cNvSpPr/>
          <p:nvPr/>
        </p:nvSpPr>
        <p:spPr>
          <a:xfrm>
            <a:off x="6309360" y="3246120"/>
            <a:ext cx="384048" cy="384048"/>
          </a:xfrm>
          <a:prstGeom prst="ellipse">
            <a:avLst/>
          </a:prstGeom>
          <a:solidFill>
            <a:srgbClr val="2FE6C4"/>
          </a:solidFill>
          <a:ln/>
        </p:spPr>
      </p:sp>
      <p:sp>
        <p:nvSpPr>
          <p:cNvPr id="22" name="Text 20"/>
          <p:cNvSpPr txBox="1"/>
          <p:nvPr/>
        </p:nvSpPr>
        <p:spPr>
          <a:xfrm>
            <a:off x="6309360" y="3246120"/>
            <a:ext cx="384048" cy="384048"/>
          </a:xfrm>
          <a:prstGeom prst="rect">
            <a:avLst/>
          </a:prstGeom>
          <a:noFill/>
          <a:ln/>
        </p:spPr>
        <p:txBody>
          <a:bodyPr wrap="square" rtlCol="0" anchor="ctr"/>
          <a:lstStyle/>
          <a:p>
            <a:pPr algn="ctr" indent="0" marL="0">
              <a:buNone/>
            </a:pPr>
            <a:r>
              <a:rPr lang="en-US" sz="1500" b="1" dirty="0">
                <a:solidFill>
                  <a:srgbClr val="14181C"/>
                </a:solidFill>
                <a:latin typeface="Calibri" pitchFamily="34" charset="0"/>
                <a:ea typeface="Calibri" pitchFamily="34" charset="-122"/>
                <a:cs typeface="Calibri" pitchFamily="34" charset="-120"/>
              </a:rPr>
              <a:t>7</a:t>
            </a:r>
            <a:endParaRPr lang="en-US" sz="1500" dirty="0"/>
          </a:p>
        </p:txBody>
      </p:sp>
      <p:sp>
        <p:nvSpPr>
          <p:cNvPr id="23" name="Text 21"/>
          <p:cNvSpPr txBox="1"/>
          <p:nvPr/>
        </p:nvSpPr>
        <p:spPr>
          <a:xfrm>
            <a:off x="6839712" y="3172968"/>
            <a:ext cx="4663440" cy="795528"/>
          </a:xfrm>
          <a:prstGeom prst="rect">
            <a:avLst/>
          </a:prstGeom>
          <a:noFill/>
          <a:ln/>
        </p:spPr>
        <p:txBody>
          <a:bodyPr wrap="square" rtlCol="0" anchor="ctr"/>
          <a:lstStyle/>
          <a:p>
            <a:pPr indent="0" marL="0">
              <a:buNone/>
            </a:pPr>
            <a:r>
              <a:rPr lang="en-US" sz="1450" dirty="0">
                <a:solidFill>
                  <a:srgbClr val="1F2429"/>
                </a:solidFill>
                <a:latin typeface="Calibri" pitchFamily="34" charset="0"/>
                <a:ea typeface="Calibri" pitchFamily="34" charset="-122"/>
                <a:cs typeface="Calibri" pitchFamily="34" charset="-120"/>
              </a:rPr>
              <a:t>A full worked crash-recovery walkthrough</a:t>
            </a:r>
            <a:endParaRPr lang="en-US" sz="1450" dirty="0"/>
          </a:p>
        </p:txBody>
      </p:sp>
      <p:sp>
        <p:nvSpPr>
          <p:cNvPr id="24" name="Text 2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NOT EVERY FAILURE IS THE SAME</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Types of Transaction Failure</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3</a:t>
            </a:r>
            <a:endParaRPr lang="en-US" sz="1000" dirty="0"/>
          </a:p>
        </p:txBody>
      </p:sp>
      <p:sp>
        <p:nvSpPr>
          <p:cNvPr id="5" name="Shape 3"/>
          <p:cNvSpPr/>
          <p:nvPr/>
        </p:nvSpPr>
        <p:spPr>
          <a:xfrm>
            <a:off x="548640" y="1463040"/>
            <a:ext cx="3474720" cy="4480560"/>
          </a:xfrm>
          <a:prstGeom prst="roundRect">
            <a:avLst>
              <a:gd name="adj" fmla="val 2105"/>
            </a:avLst>
          </a:prstGeom>
          <a:solidFill>
            <a:srgbClr val="FFFFFF"/>
          </a:solidFill>
          <a:ln w="22225">
            <a:solidFill>
              <a:srgbClr val="2FE6C4"/>
            </a:solidFill>
            <a:prstDash val="solid"/>
          </a:ln>
          <a:effectLst>
            <a:outerShdw sx="100000" sy="100000" kx="0" ky="0" algn="bl" rotWithShape="0" blurRad="63500" dist="25400" dir="5400000">
              <a:srgbClr val="1F2429">
                <a:alpha val="15000"/>
              </a:srgbClr>
            </a:outerShdw>
          </a:effectLst>
        </p:spPr>
      </p:sp>
      <p:sp>
        <p:nvSpPr>
          <p:cNvPr id="6" name="Shape 4"/>
          <p:cNvSpPr/>
          <p:nvPr/>
        </p:nvSpPr>
        <p:spPr>
          <a:xfrm>
            <a:off x="713232" y="1609344"/>
            <a:ext cx="201168" cy="201168"/>
          </a:xfrm>
          <a:prstGeom prst="ellipse">
            <a:avLst/>
          </a:prstGeom>
          <a:solidFill>
            <a:srgbClr val="2FE6C4"/>
          </a:solidFill>
          <a:ln/>
        </p:spPr>
      </p:sp>
      <p:sp>
        <p:nvSpPr>
          <p:cNvPr id="7" name="Text 5"/>
          <p:cNvSpPr txBox="1"/>
          <p:nvPr/>
        </p:nvSpPr>
        <p:spPr>
          <a:xfrm>
            <a:off x="1005840" y="1554480"/>
            <a:ext cx="2834640" cy="365760"/>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Transaction Failure (Logical Error)</a:t>
            </a:r>
            <a:endParaRPr lang="en-US" sz="1350" dirty="0"/>
          </a:p>
        </p:txBody>
      </p:sp>
      <p:sp>
        <p:nvSpPr>
          <p:cNvPr id="8" name="Text 6"/>
          <p:cNvSpPr txBox="1"/>
          <p:nvPr/>
        </p:nvSpPr>
        <p:spPr>
          <a:xfrm>
            <a:off x="749808" y="1965960"/>
            <a:ext cx="3072384" cy="3886200"/>
          </a:xfrm>
          <a:prstGeom prst="rect">
            <a:avLst/>
          </a:prstGeom>
          <a:noFill/>
          <a:ln/>
        </p:spPr>
        <p:txBody>
          <a:bodyPr wrap="square" rtlCol="0" anchor="t"/>
          <a:lstStyle/>
          <a:p>
            <a:pPr indent="0" marL="0">
              <a:lnSpc>
                <a:spcPct val="112000"/>
              </a:lnSpc>
              <a:buNone/>
            </a:pPr>
            <a:r>
              <a:rPr lang="en-US" sz="1050" dirty="0">
                <a:solidFill>
                  <a:srgbClr val="6B7480"/>
                </a:solidFill>
                <a:latin typeface="Calibri" pitchFamily="34" charset="0"/>
                <a:ea typeface="Calibri" pitchFamily="34" charset="-122"/>
                <a:cs typeface="Calibri" pitchFamily="34" charset="-120"/>
              </a:rPr>
              <a:t>A constraint violation, a deadlock victim selection, a division by zero, or an explicit ROLLBACK. The DBMS and hardware are fine — only this one transaction needs undoing.</a:t>
            </a:r>
            <a:endParaRPr lang="en-US" sz="1050" dirty="0"/>
          </a:p>
        </p:txBody>
      </p:sp>
      <p:sp>
        <p:nvSpPr>
          <p:cNvPr id="9" name="Shape 7"/>
          <p:cNvSpPr/>
          <p:nvPr/>
        </p:nvSpPr>
        <p:spPr>
          <a:xfrm>
            <a:off x="4343400" y="1463040"/>
            <a:ext cx="3474720" cy="4480560"/>
          </a:xfrm>
          <a:prstGeom prst="roundRect">
            <a:avLst>
              <a:gd name="adj" fmla="val 2105"/>
            </a:avLst>
          </a:prstGeom>
          <a:solidFill>
            <a:srgbClr val="FFFFFF"/>
          </a:solidFill>
          <a:ln w="22225">
            <a:solidFill>
              <a:srgbClr val="8B7FD9"/>
            </a:solidFill>
            <a:prstDash val="solid"/>
          </a:ln>
          <a:effectLst>
            <a:outerShdw sx="100000" sy="100000" kx="0" ky="0" algn="bl" rotWithShape="0" blurRad="63500" dist="25400" dir="5400000">
              <a:srgbClr val="1F2429">
                <a:alpha val="15000"/>
              </a:srgbClr>
            </a:outerShdw>
          </a:effectLst>
        </p:spPr>
      </p:sp>
      <p:sp>
        <p:nvSpPr>
          <p:cNvPr id="10" name="Shape 8"/>
          <p:cNvSpPr/>
          <p:nvPr/>
        </p:nvSpPr>
        <p:spPr>
          <a:xfrm>
            <a:off x="4507992" y="1609344"/>
            <a:ext cx="201168" cy="201168"/>
          </a:xfrm>
          <a:prstGeom prst="ellipse">
            <a:avLst/>
          </a:prstGeom>
          <a:solidFill>
            <a:srgbClr val="8B7FD9"/>
          </a:solidFill>
          <a:ln/>
        </p:spPr>
      </p:sp>
      <p:sp>
        <p:nvSpPr>
          <p:cNvPr id="11" name="Text 9"/>
          <p:cNvSpPr txBox="1"/>
          <p:nvPr/>
        </p:nvSpPr>
        <p:spPr>
          <a:xfrm>
            <a:off x="4800600" y="1554480"/>
            <a:ext cx="2834640" cy="365760"/>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System Crash</a:t>
            </a:r>
            <a:endParaRPr lang="en-US" sz="1350" dirty="0"/>
          </a:p>
        </p:txBody>
      </p:sp>
      <p:sp>
        <p:nvSpPr>
          <p:cNvPr id="12" name="Text 10"/>
          <p:cNvSpPr txBox="1"/>
          <p:nvPr/>
        </p:nvSpPr>
        <p:spPr>
          <a:xfrm>
            <a:off x="4544568" y="1965960"/>
            <a:ext cx="3072384" cy="3886200"/>
          </a:xfrm>
          <a:prstGeom prst="rect">
            <a:avLst/>
          </a:prstGeom>
          <a:noFill/>
          <a:ln/>
        </p:spPr>
        <p:txBody>
          <a:bodyPr wrap="square" rtlCol="0" anchor="t"/>
          <a:lstStyle/>
          <a:p>
            <a:pPr indent="0" marL="0">
              <a:lnSpc>
                <a:spcPct val="112000"/>
              </a:lnSpc>
              <a:buNone/>
            </a:pPr>
            <a:r>
              <a:rPr lang="en-US" sz="1050" dirty="0">
                <a:solidFill>
                  <a:srgbClr val="6B7480"/>
                </a:solidFill>
                <a:latin typeface="Calibri" pitchFamily="34" charset="0"/>
                <a:ea typeface="Calibri" pitchFamily="34" charset="-122"/>
                <a:cs typeface="Calibri" pitchFamily="34" charset="-120"/>
              </a:rPr>
              <a:t>The DBMS, OS, or machine stops unexpectedly — but the disk remains intact. Everything in volatile memory at the moment of the crash is lost.</a:t>
            </a:r>
            <a:endParaRPr lang="en-US" sz="1050" dirty="0"/>
          </a:p>
        </p:txBody>
      </p:sp>
      <p:sp>
        <p:nvSpPr>
          <p:cNvPr id="13" name="Shape 11"/>
          <p:cNvSpPr/>
          <p:nvPr/>
        </p:nvSpPr>
        <p:spPr>
          <a:xfrm>
            <a:off x="8138160" y="1463040"/>
            <a:ext cx="3474720" cy="4480560"/>
          </a:xfrm>
          <a:prstGeom prst="roundRect">
            <a:avLst>
              <a:gd name="adj" fmla="val 2105"/>
            </a:avLst>
          </a:prstGeom>
          <a:solidFill>
            <a:srgbClr val="FFFFFF"/>
          </a:solidFill>
          <a:ln w="22225">
            <a:solidFill>
              <a:srgbClr val="E8A33D"/>
            </a:solidFill>
            <a:prstDash val="solid"/>
          </a:ln>
          <a:effectLst>
            <a:outerShdw sx="100000" sy="100000" kx="0" ky="0" algn="bl" rotWithShape="0" blurRad="63500" dist="25400" dir="5400000">
              <a:srgbClr val="1F2429">
                <a:alpha val="15000"/>
              </a:srgbClr>
            </a:outerShdw>
          </a:effectLst>
        </p:spPr>
      </p:sp>
      <p:sp>
        <p:nvSpPr>
          <p:cNvPr id="14" name="Shape 12"/>
          <p:cNvSpPr/>
          <p:nvPr/>
        </p:nvSpPr>
        <p:spPr>
          <a:xfrm>
            <a:off x="8302752" y="1609344"/>
            <a:ext cx="201168" cy="201168"/>
          </a:xfrm>
          <a:prstGeom prst="ellipse">
            <a:avLst/>
          </a:prstGeom>
          <a:solidFill>
            <a:srgbClr val="E8A33D"/>
          </a:solidFill>
          <a:ln/>
        </p:spPr>
      </p:sp>
      <p:sp>
        <p:nvSpPr>
          <p:cNvPr id="15" name="Text 13"/>
          <p:cNvSpPr txBox="1"/>
          <p:nvPr/>
        </p:nvSpPr>
        <p:spPr>
          <a:xfrm>
            <a:off x="8595360" y="1554480"/>
            <a:ext cx="2834640" cy="365760"/>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Media (Disk) Failure</a:t>
            </a:r>
            <a:endParaRPr lang="en-US" sz="1350" dirty="0"/>
          </a:p>
        </p:txBody>
      </p:sp>
      <p:sp>
        <p:nvSpPr>
          <p:cNvPr id="16" name="Text 14"/>
          <p:cNvSpPr txBox="1"/>
          <p:nvPr/>
        </p:nvSpPr>
        <p:spPr>
          <a:xfrm>
            <a:off x="8339328" y="1965960"/>
            <a:ext cx="3072384" cy="3886200"/>
          </a:xfrm>
          <a:prstGeom prst="rect">
            <a:avLst/>
          </a:prstGeom>
          <a:noFill/>
          <a:ln/>
        </p:spPr>
        <p:txBody>
          <a:bodyPr wrap="square" rtlCol="0" anchor="t"/>
          <a:lstStyle/>
          <a:p>
            <a:pPr indent="0" marL="0">
              <a:lnSpc>
                <a:spcPct val="112000"/>
              </a:lnSpc>
              <a:buNone/>
            </a:pPr>
            <a:r>
              <a:rPr lang="en-US" sz="1050" dirty="0">
                <a:solidFill>
                  <a:srgbClr val="6B7480"/>
                </a:solidFill>
                <a:latin typeface="Calibri" pitchFamily="34" charset="0"/>
                <a:ea typeface="Calibri" pitchFamily="34" charset="-122"/>
                <a:cs typeface="Calibri" pitchFamily="34" charset="-120"/>
              </a:rPr>
              <a:t>The storage device itself is damaged or destroyed. Unlike a system crash, the data ON DISK is no longer trustworthy or accessible at all.</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DIFFERENT LOSSES, DIFFERENT RECOVERY</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System Failure vs. Media Failure</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4</a:t>
            </a:r>
            <a:endParaRPr lang="en-US" sz="1000" dirty="0"/>
          </a:p>
        </p:txBody>
      </p:sp>
      <p:sp>
        <p:nvSpPr>
          <p:cNvPr id="5" name="Shape 3"/>
          <p:cNvSpPr/>
          <p:nvPr/>
        </p:nvSpPr>
        <p:spPr>
          <a:xfrm>
            <a:off x="548640" y="1463040"/>
            <a:ext cx="5372100" cy="2103120"/>
          </a:xfrm>
          <a:prstGeom prst="roundRect">
            <a:avLst>
              <a:gd name="adj" fmla="val 3478"/>
            </a:avLst>
          </a:prstGeom>
          <a:solidFill>
            <a:srgbClr val="FFFFFF"/>
          </a:solidFill>
          <a:ln w="22225">
            <a:solidFill>
              <a:srgbClr val="2FE6C4"/>
            </a:solidFill>
            <a:prstDash val="solid"/>
          </a:ln>
          <a:effectLst>
            <a:outerShdw sx="100000" sy="100000" kx="0" ky="0" algn="bl" rotWithShape="0" blurRad="63500" dist="25400" dir="5400000">
              <a:srgbClr val="1F2429">
                <a:alpha val="15000"/>
              </a:srgbClr>
            </a:outerShdw>
          </a:effectLst>
        </p:spPr>
      </p:sp>
      <p:sp>
        <p:nvSpPr>
          <p:cNvPr id="6" name="Shape 4"/>
          <p:cNvSpPr/>
          <p:nvPr/>
        </p:nvSpPr>
        <p:spPr>
          <a:xfrm>
            <a:off x="713232" y="1609344"/>
            <a:ext cx="201168" cy="201168"/>
          </a:xfrm>
          <a:prstGeom prst="ellipse">
            <a:avLst/>
          </a:prstGeom>
          <a:solidFill>
            <a:srgbClr val="2FE6C4"/>
          </a:solidFill>
          <a:ln/>
        </p:spPr>
      </p:sp>
      <p:sp>
        <p:nvSpPr>
          <p:cNvPr id="7" name="Text 5"/>
          <p:cNvSpPr txBox="1"/>
          <p:nvPr/>
        </p:nvSpPr>
        <p:spPr>
          <a:xfrm>
            <a:off x="1005840" y="1554480"/>
            <a:ext cx="4732020" cy="365760"/>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System Failure</a:t>
            </a:r>
            <a:endParaRPr lang="en-US" sz="1350" dirty="0"/>
          </a:p>
        </p:txBody>
      </p:sp>
      <p:sp>
        <p:nvSpPr>
          <p:cNvPr id="8" name="Text 6"/>
          <p:cNvSpPr txBox="1"/>
          <p:nvPr/>
        </p:nvSpPr>
        <p:spPr>
          <a:xfrm>
            <a:off x="749808" y="1965960"/>
            <a:ext cx="4969764" cy="1508760"/>
          </a:xfrm>
          <a:prstGeom prst="rect">
            <a:avLst/>
          </a:prstGeom>
          <a:noFill/>
          <a:ln/>
        </p:spPr>
        <p:txBody>
          <a:bodyPr wrap="square" rtlCol="0" anchor="t"/>
          <a:lstStyle/>
          <a:p>
            <a:pPr indent="0" marL="0">
              <a:lnSpc>
                <a:spcPct val="112000"/>
              </a:lnSpc>
              <a:buNone/>
            </a:pPr>
            <a:r>
              <a:rPr lang="en-US" sz="1050" dirty="0">
                <a:solidFill>
                  <a:srgbClr val="6B7480"/>
                </a:solidFill>
                <a:latin typeface="Calibri" pitchFamily="34" charset="0"/>
                <a:ea typeface="Calibri" pitchFamily="34" charset="-122"/>
                <a:cs typeface="Calibri" pitchFamily="34" charset="-120"/>
              </a:rPr>
              <a:t>Volatile memory (RAM) is lost. Disk is intact. Recovery replays the log against the existing disk data — no backup needed.</a:t>
            </a:r>
            <a:endParaRPr lang="en-US" sz="1050" dirty="0"/>
          </a:p>
        </p:txBody>
      </p:sp>
      <p:sp>
        <p:nvSpPr>
          <p:cNvPr id="9" name="Shape 7"/>
          <p:cNvSpPr/>
          <p:nvPr/>
        </p:nvSpPr>
        <p:spPr>
          <a:xfrm>
            <a:off x="6240780" y="1463040"/>
            <a:ext cx="5372100" cy="2103120"/>
          </a:xfrm>
          <a:prstGeom prst="roundRect">
            <a:avLst>
              <a:gd name="adj" fmla="val 3478"/>
            </a:avLst>
          </a:prstGeom>
          <a:solidFill>
            <a:srgbClr val="FFFFFF"/>
          </a:solidFill>
          <a:ln w="22225">
            <a:solidFill>
              <a:srgbClr val="E8A33D"/>
            </a:solidFill>
            <a:prstDash val="solid"/>
          </a:ln>
          <a:effectLst>
            <a:outerShdw sx="100000" sy="100000" kx="0" ky="0" algn="bl" rotWithShape="0" blurRad="63500" dist="25400" dir="5400000">
              <a:srgbClr val="1F2429">
                <a:alpha val="15000"/>
              </a:srgbClr>
            </a:outerShdw>
          </a:effectLst>
        </p:spPr>
      </p:sp>
      <p:sp>
        <p:nvSpPr>
          <p:cNvPr id="10" name="Shape 8"/>
          <p:cNvSpPr/>
          <p:nvPr/>
        </p:nvSpPr>
        <p:spPr>
          <a:xfrm>
            <a:off x="6405372" y="1609344"/>
            <a:ext cx="201168" cy="201168"/>
          </a:xfrm>
          <a:prstGeom prst="ellipse">
            <a:avLst/>
          </a:prstGeom>
          <a:solidFill>
            <a:srgbClr val="E8A33D"/>
          </a:solidFill>
          <a:ln/>
        </p:spPr>
      </p:sp>
      <p:sp>
        <p:nvSpPr>
          <p:cNvPr id="11" name="Text 9"/>
          <p:cNvSpPr txBox="1"/>
          <p:nvPr/>
        </p:nvSpPr>
        <p:spPr>
          <a:xfrm>
            <a:off x="6697980" y="1554480"/>
            <a:ext cx="4732020" cy="365760"/>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Media Failure</a:t>
            </a:r>
            <a:endParaRPr lang="en-US" sz="1350" dirty="0"/>
          </a:p>
        </p:txBody>
      </p:sp>
      <p:sp>
        <p:nvSpPr>
          <p:cNvPr id="12" name="Text 10"/>
          <p:cNvSpPr txBox="1"/>
          <p:nvPr/>
        </p:nvSpPr>
        <p:spPr>
          <a:xfrm>
            <a:off x="6441948" y="1965960"/>
            <a:ext cx="4969764" cy="1508760"/>
          </a:xfrm>
          <a:prstGeom prst="rect">
            <a:avLst/>
          </a:prstGeom>
          <a:noFill/>
          <a:ln/>
        </p:spPr>
        <p:txBody>
          <a:bodyPr wrap="square" rtlCol="0" anchor="t"/>
          <a:lstStyle/>
          <a:p>
            <a:pPr indent="0" marL="0">
              <a:lnSpc>
                <a:spcPct val="112000"/>
              </a:lnSpc>
              <a:buNone/>
            </a:pPr>
            <a:r>
              <a:rPr lang="en-US" sz="1050" dirty="0">
                <a:solidFill>
                  <a:srgbClr val="6B7480"/>
                </a:solidFill>
                <a:latin typeface="Calibri" pitchFamily="34" charset="0"/>
                <a:ea typeface="Calibri" pitchFamily="34" charset="-122"/>
                <a:cs typeface="Calibri" pitchFamily="34" charset="-120"/>
              </a:rPr>
              <a:t>The disk itself is lost or corrupted. Recovery must restore from the most recent backup, then apply the log to bring it forward to the point of failure.</a:t>
            </a:r>
            <a:endParaRPr lang="en-US" sz="1050" dirty="0"/>
          </a:p>
        </p:txBody>
      </p:sp>
      <p:sp>
        <p:nvSpPr>
          <p:cNvPr id="13" name="Shape 11"/>
          <p:cNvSpPr/>
          <p:nvPr/>
        </p:nvSpPr>
        <p:spPr>
          <a:xfrm>
            <a:off x="548640" y="3794760"/>
            <a:ext cx="11064240" cy="2057400"/>
          </a:xfrm>
          <a:prstGeom prst="roundRect">
            <a:avLst>
              <a:gd name="adj" fmla="val 3556"/>
            </a:avLst>
          </a:prstGeom>
          <a:solidFill>
            <a:srgbClr val="FFF7EA"/>
          </a:solidFill>
          <a:ln w="12700">
            <a:solidFill>
              <a:srgbClr val="E8A33D"/>
            </a:solidFill>
            <a:prstDash val="solid"/>
          </a:ln>
        </p:spPr>
      </p:sp>
      <p:sp>
        <p:nvSpPr>
          <p:cNvPr id="14" name="Text 12"/>
          <p:cNvSpPr txBox="1"/>
          <p:nvPr/>
        </p:nvSpPr>
        <p:spPr>
          <a:xfrm>
            <a:off x="822960" y="3950208"/>
            <a:ext cx="10515600" cy="1783080"/>
          </a:xfrm>
          <a:prstGeom prst="rect">
            <a:avLst/>
          </a:prstGeom>
          <a:noFill/>
          <a:ln/>
        </p:spPr>
        <p:txBody>
          <a:bodyPr wrap="square" rtlCol="0" anchor="t"/>
          <a:lstStyle/>
          <a:p>
            <a:pPr indent="0" marL="0">
              <a:lnSpc>
                <a:spcPct val="125000"/>
              </a:lnSpc>
              <a:buNone/>
            </a:pPr>
            <a:r>
              <a:rPr lang="en-US" sz="1300" b="1" dirty="0">
                <a:solidFill>
                  <a:srgbClr val="1F2429"/>
                </a:solidFill>
                <a:latin typeface="Calibri" pitchFamily="34" charset="0"/>
                <a:ea typeface="Calibri" pitchFamily="34" charset="-122"/>
                <a:cs typeface="Calibri" pitchFamily="34" charset="-120"/>
              </a:rPr>
              <a:t>A backup you have never restored is not a backup. </a:t>
            </a:r>
            <a:pPr indent="0" marL="0">
              <a:lnSpc>
                <a:spcPct val="125000"/>
              </a:lnSpc>
              <a:buNone/>
            </a:pPr>
            <a:r>
              <a:rPr lang="en-US" sz="1300" dirty="0">
                <a:solidFill>
                  <a:srgbClr val="1F2429"/>
                </a:solidFill>
                <a:latin typeface="Calibri" pitchFamily="34" charset="0"/>
                <a:ea typeface="Calibri" pitchFamily="34" charset="-122"/>
                <a:cs typeface="Calibri" pitchFamily="34" charset="-120"/>
              </a:rPr>
              <a:t>Teams routinely discover, only during an actual media failure, that their backup files were silently incomplete or never being written. The only way to trust a backup is to periodically actually restore it — on a test system — and confirm the result is complete and consistent.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PRECISELY STATED</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The Recovery Manager's Job</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5</a:t>
            </a:r>
            <a:endParaRPr lang="en-US" sz="1000" dirty="0"/>
          </a:p>
        </p:txBody>
      </p:sp>
      <p:sp>
        <p:nvSpPr>
          <p:cNvPr id="5" name="Text 3"/>
          <p:cNvSpPr txBox="1"/>
          <p:nvPr/>
        </p:nvSpPr>
        <p:spPr>
          <a:xfrm>
            <a:off x="548640" y="1371600"/>
            <a:ext cx="11064240" cy="822960"/>
          </a:xfrm>
          <a:prstGeom prst="rect">
            <a:avLst/>
          </a:prstGeom>
          <a:noFill/>
          <a:ln/>
        </p:spPr>
        <p:txBody>
          <a:bodyPr wrap="square" rtlCol="0" anchor="t"/>
          <a:lstStyle/>
          <a:p>
            <a:pPr indent="0" marL="0">
              <a:lnSpc>
                <a:spcPct val="125000"/>
              </a:lnSpc>
              <a:buNone/>
            </a:pPr>
            <a:r>
              <a:rPr lang="en-US" sz="1500" dirty="0">
                <a:solidFill>
                  <a:srgbClr val="1F2429"/>
                </a:solidFill>
                <a:latin typeface="Calibri" pitchFamily="34" charset="0"/>
                <a:ea typeface="Calibri" pitchFamily="34" charset="-122"/>
                <a:cs typeface="Calibri" pitchFamily="34" charset="-120"/>
              </a:rPr>
              <a:t>The recovery manager restores the database to a correct, consistent state after any failure — concretely, it must guarantee that Atomicity and Durability both hold despite the failure.</a:t>
            </a:r>
            <a:endParaRPr lang="en-US" sz="1500" dirty="0"/>
          </a:p>
        </p:txBody>
      </p:sp>
      <p:sp>
        <p:nvSpPr>
          <p:cNvPr id="6" name="Shape 4"/>
          <p:cNvSpPr/>
          <p:nvPr/>
        </p:nvSpPr>
        <p:spPr>
          <a:xfrm>
            <a:off x="548640" y="2423160"/>
            <a:ext cx="5372100" cy="1737360"/>
          </a:xfrm>
          <a:prstGeom prst="roundRect">
            <a:avLst>
              <a:gd name="adj" fmla="val 4211"/>
            </a:avLst>
          </a:prstGeom>
          <a:solidFill>
            <a:srgbClr val="FFFFFF"/>
          </a:solidFill>
          <a:ln w="22225">
            <a:solidFill>
              <a:srgbClr val="8B7FD9"/>
            </a:solidFill>
            <a:prstDash val="solid"/>
          </a:ln>
          <a:effectLst>
            <a:outerShdw sx="100000" sy="100000" kx="0" ky="0" algn="bl" rotWithShape="0" blurRad="63500" dist="25400" dir="5400000">
              <a:srgbClr val="1F2429">
                <a:alpha val="15000"/>
              </a:srgbClr>
            </a:outerShdw>
          </a:effectLst>
        </p:spPr>
      </p:sp>
      <p:sp>
        <p:nvSpPr>
          <p:cNvPr id="7" name="Shape 5"/>
          <p:cNvSpPr/>
          <p:nvPr/>
        </p:nvSpPr>
        <p:spPr>
          <a:xfrm>
            <a:off x="713232" y="2569464"/>
            <a:ext cx="201168" cy="201168"/>
          </a:xfrm>
          <a:prstGeom prst="ellipse">
            <a:avLst/>
          </a:prstGeom>
          <a:solidFill>
            <a:srgbClr val="8B7FD9"/>
          </a:solidFill>
          <a:ln/>
        </p:spPr>
      </p:sp>
      <p:sp>
        <p:nvSpPr>
          <p:cNvPr id="8" name="Text 6"/>
          <p:cNvSpPr txBox="1"/>
          <p:nvPr/>
        </p:nvSpPr>
        <p:spPr>
          <a:xfrm>
            <a:off x="1005840" y="2514600"/>
            <a:ext cx="4732020" cy="365760"/>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Atomicity, guaranteed</a:t>
            </a:r>
            <a:endParaRPr lang="en-US" sz="1350" dirty="0"/>
          </a:p>
        </p:txBody>
      </p:sp>
      <p:sp>
        <p:nvSpPr>
          <p:cNvPr id="9" name="Text 7"/>
          <p:cNvSpPr txBox="1"/>
          <p:nvPr/>
        </p:nvSpPr>
        <p:spPr>
          <a:xfrm>
            <a:off x="749808" y="2926080"/>
            <a:ext cx="4969764" cy="1143000"/>
          </a:xfrm>
          <a:prstGeom prst="rect">
            <a:avLst/>
          </a:prstGeom>
          <a:noFill/>
          <a:ln/>
        </p:spPr>
        <p:txBody>
          <a:bodyPr wrap="square" rtlCol="0" anchor="t"/>
          <a:lstStyle/>
          <a:p>
            <a:pPr indent="0" marL="0">
              <a:lnSpc>
                <a:spcPct val="112000"/>
              </a:lnSpc>
              <a:buNone/>
            </a:pPr>
            <a:r>
              <a:rPr lang="en-US" sz="1050" dirty="0">
                <a:solidFill>
                  <a:srgbClr val="6B7480"/>
                </a:solidFill>
                <a:latin typeface="Calibri" pitchFamily="34" charset="0"/>
                <a:ea typeface="Calibri" pitchFamily="34" charset="-122"/>
                <a:cs typeface="Calibri" pitchFamily="34" charset="-120"/>
              </a:rPr>
              <a:t>Every transaction that had NOT committed must show none of its effects at all, exactly as if it had never run.</a:t>
            </a:r>
            <a:endParaRPr lang="en-US" sz="1050" dirty="0"/>
          </a:p>
        </p:txBody>
      </p:sp>
      <p:sp>
        <p:nvSpPr>
          <p:cNvPr id="10" name="Shape 8"/>
          <p:cNvSpPr/>
          <p:nvPr/>
        </p:nvSpPr>
        <p:spPr>
          <a:xfrm>
            <a:off x="6240780" y="2423160"/>
            <a:ext cx="5372100" cy="1737360"/>
          </a:xfrm>
          <a:prstGeom prst="roundRect">
            <a:avLst>
              <a:gd name="adj" fmla="val 4211"/>
            </a:avLst>
          </a:prstGeom>
          <a:solidFill>
            <a:srgbClr val="FFFFFF"/>
          </a:solidFill>
          <a:ln w="22225">
            <a:solidFill>
              <a:srgbClr val="2FE6C4"/>
            </a:solidFill>
            <a:prstDash val="solid"/>
          </a:ln>
          <a:effectLst>
            <a:outerShdw sx="100000" sy="100000" kx="0" ky="0" algn="bl" rotWithShape="0" blurRad="63500" dist="25400" dir="5400000">
              <a:srgbClr val="1F2429">
                <a:alpha val="15000"/>
              </a:srgbClr>
            </a:outerShdw>
          </a:effectLst>
        </p:spPr>
      </p:sp>
      <p:sp>
        <p:nvSpPr>
          <p:cNvPr id="11" name="Shape 9"/>
          <p:cNvSpPr/>
          <p:nvPr/>
        </p:nvSpPr>
        <p:spPr>
          <a:xfrm>
            <a:off x="6405372" y="2569464"/>
            <a:ext cx="201168" cy="201168"/>
          </a:xfrm>
          <a:prstGeom prst="ellipse">
            <a:avLst/>
          </a:prstGeom>
          <a:solidFill>
            <a:srgbClr val="2FE6C4"/>
          </a:solidFill>
          <a:ln/>
        </p:spPr>
      </p:sp>
      <p:sp>
        <p:nvSpPr>
          <p:cNvPr id="12" name="Text 10"/>
          <p:cNvSpPr txBox="1"/>
          <p:nvPr/>
        </p:nvSpPr>
        <p:spPr>
          <a:xfrm>
            <a:off x="6697980" y="2514600"/>
            <a:ext cx="4732020" cy="365760"/>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Durability, guaranteed</a:t>
            </a:r>
            <a:endParaRPr lang="en-US" sz="1350" dirty="0"/>
          </a:p>
        </p:txBody>
      </p:sp>
      <p:sp>
        <p:nvSpPr>
          <p:cNvPr id="13" name="Text 11"/>
          <p:cNvSpPr txBox="1"/>
          <p:nvPr/>
        </p:nvSpPr>
        <p:spPr>
          <a:xfrm>
            <a:off x="6441948" y="2926080"/>
            <a:ext cx="4969764" cy="1143000"/>
          </a:xfrm>
          <a:prstGeom prst="rect">
            <a:avLst/>
          </a:prstGeom>
          <a:noFill/>
          <a:ln/>
        </p:spPr>
        <p:txBody>
          <a:bodyPr wrap="square" rtlCol="0" anchor="t"/>
          <a:lstStyle/>
          <a:p>
            <a:pPr indent="0" marL="0">
              <a:lnSpc>
                <a:spcPct val="112000"/>
              </a:lnSpc>
              <a:buNone/>
            </a:pPr>
            <a:r>
              <a:rPr lang="en-US" sz="1050" dirty="0">
                <a:solidFill>
                  <a:srgbClr val="6B7480"/>
                </a:solidFill>
                <a:latin typeface="Calibri" pitchFamily="34" charset="0"/>
                <a:ea typeface="Calibri" pitchFamily="34" charset="-122"/>
                <a:cs typeface="Calibri" pitchFamily="34" charset="-120"/>
              </a:rPr>
              <a:t>Every transaction that HAD committed before the failure must still show its effects afterward.</a:t>
            </a:r>
            <a:endParaRPr lang="en-US" sz="1050" dirty="0"/>
          </a:p>
        </p:txBody>
      </p:sp>
      <p:sp>
        <p:nvSpPr>
          <p:cNvPr id="14" name="Text 12"/>
          <p:cNvSpPr txBox="1"/>
          <p:nvPr/>
        </p:nvSpPr>
        <p:spPr>
          <a:xfrm>
            <a:off x="548640" y="4434840"/>
            <a:ext cx="11064240" cy="1188720"/>
          </a:xfrm>
          <a:prstGeom prst="rect">
            <a:avLst/>
          </a:prstGeom>
          <a:noFill/>
          <a:ln/>
        </p:spPr>
        <p:txBody>
          <a:bodyPr wrap="square" rtlCol="0" anchor="t"/>
          <a:lstStyle/>
          <a:p>
            <a:pPr indent="0" marL="0">
              <a:lnSpc>
                <a:spcPct val="125000"/>
              </a:lnSpc>
              <a:buNone/>
            </a:pPr>
            <a:r>
              <a:rPr lang="en-US" sz="1350" i="1" dirty="0">
                <a:solidFill>
                  <a:srgbClr val="6B7480"/>
                </a:solidFill>
                <a:latin typeface="Calibri" pitchFamily="34" charset="0"/>
                <a:ea typeface="Calibri" pitchFamily="34" charset="-122"/>
                <a:cs typeface="Calibri" pitchFamily="34" charset="-120"/>
              </a:rPr>
              <a:t>To do this without trusting anything held only in volatile memory at the moment of a crash, the recovery manager relies on a log — a sequential, append-only record of every change, written to stable storage independently of the data files themselves.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THE ONE RULE THAT MAKES THIS RELIABLE</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Log-Based Recovery &amp; Write-Ahead Logging</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6</a:t>
            </a:r>
            <a:endParaRPr lang="en-US" sz="1000" dirty="0"/>
          </a:p>
        </p:txBody>
      </p:sp>
      <p:sp>
        <p:nvSpPr>
          <p:cNvPr id="5" name="Text 3"/>
          <p:cNvSpPr txBox="1"/>
          <p:nvPr/>
        </p:nvSpPr>
        <p:spPr>
          <a:xfrm>
            <a:off x="548640" y="1325880"/>
            <a:ext cx="11064240" cy="822960"/>
          </a:xfrm>
          <a:prstGeom prst="rect">
            <a:avLst/>
          </a:prstGeom>
          <a:noFill/>
          <a:ln/>
        </p:spPr>
        <p:txBody>
          <a:bodyPr wrap="square" rtlCol="0" anchor="t"/>
          <a:lstStyle/>
          <a:p>
            <a:pPr indent="0" marL="0">
              <a:lnSpc>
                <a:spcPct val="125000"/>
              </a:lnSpc>
              <a:buNone/>
            </a:pPr>
            <a:r>
              <a:rPr lang="en-US" sz="1400" dirty="0">
                <a:solidFill>
                  <a:srgbClr val="1F2429"/>
                </a:solidFill>
                <a:latin typeface="Calibri" pitchFamily="34" charset="0"/>
                <a:ea typeface="Calibri" pitchFamily="34" charset="-122"/>
                <a:cs typeface="Calibri" pitchFamily="34" charset="-120"/>
              </a:rPr>
              <a:t>Each log record captures: the transaction ID, the data item changed, its old value (for undo), and its new value (for redo). The write-ahead logging (WAL) protocol states the rule that makes this reliable:</a:t>
            </a:r>
            <a:endParaRPr lang="en-US" sz="1400" dirty="0"/>
          </a:p>
        </p:txBody>
      </p:sp>
      <p:sp>
        <p:nvSpPr>
          <p:cNvPr id="6" name="Shape 4"/>
          <p:cNvSpPr/>
          <p:nvPr/>
        </p:nvSpPr>
        <p:spPr>
          <a:xfrm>
            <a:off x="548640" y="2194560"/>
            <a:ext cx="11064240" cy="731520"/>
          </a:xfrm>
          <a:prstGeom prst="roundRect">
            <a:avLst>
              <a:gd name="adj" fmla="val 10000"/>
            </a:avLst>
          </a:prstGeom>
          <a:solidFill>
            <a:srgbClr val="14181C"/>
          </a:solidFill>
          <a:ln/>
        </p:spPr>
      </p:sp>
      <p:sp>
        <p:nvSpPr>
          <p:cNvPr id="7" name="Text 5"/>
          <p:cNvSpPr txBox="1"/>
          <p:nvPr/>
        </p:nvSpPr>
        <p:spPr>
          <a:xfrm>
            <a:off x="822960" y="2194560"/>
            <a:ext cx="10515600" cy="731520"/>
          </a:xfrm>
          <a:prstGeom prst="rect">
            <a:avLst/>
          </a:prstGeom>
          <a:noFill/>
          <a:ln/>
        </p:spPr>
        <p:txBody>
          <a:bodyPr wrap="square" rtlCol="0" anchor="ctr"/>
          <a:lstStyle/>
          <a:p>
            <a:pPr indent="0" marL="0">
              <a:buNone/>
            </a:pPr>
            <a:r>
              <a:rPr lang="en-US" sz="1350" b="1" dirty="0">
                <a:solidFill>
                  <a:srgbClr val="2FE6C4"/>
                </a:solidFill>
                <a:latin typeface="Calibri" pitchFamily="34" charset="0"/>
                <a:ea typeface="Calibri" pitchFamily="34" charset="-122"/>
                <a:cs typeface="Calibri" pitchFamily="34" charset="-120"/>
              </a:rPr>
              <a:t>A log record describing a change must be written to stable storage BEFORE the data page it describes is written to disk.</a:t>
            </a:r>
            <a:endParaRPr lang="en-US" sz="1350" dirty="0"/>
          </a:p>
        </p:txBody>
      </p:sp>
      <p:sp>
        <p:nvSpPr>
          <p:cNvPr id="8" name="Shape 6"/>
          <p:cNvSpPr/>
          <p:nvPr/>
        </p:nvSpPr>
        <p:spPr>
          <a:xfrm>
            <a:off x="548640" y="3246120"/>
            <a:ext cx="5326380" cy="1463040"/>
          </a:xfrm>
          <a:prstGeom prst="roundRect">
            <a:avLst>
              <a:gd name="adj" fmla="val 5000"/>
            </a:avLst>
          </a:prstGeom>
          <a:solidFill>
            <a:srgbClr val="FFFFFF"/>
          </a:solidFill>
          <a:ln w="22225">
            <a:solidFill>
              <a:srgbClr val="2FE6C4"/>
            </a:solidFill>
            <a:prstDash val="solid"/>
          </a:ln>
          <a:effectLst>
            <a:outerShdw sx="100000" sy="100000" kx="0" ky="0" algn="bl" rotWithShape="0" blurRad="76200" dist="25400" dir="5400000">
              <a:srgbClr val="1F2429">
                <a:alpha val="18000"/>
              </a:srgbClr>
            </a:outerShdw>
          </a:effectLst>
        </p:spPr>
      </p:sp>
      <p:sp>
        <p:nvSpPr>
          <p:cNvPr id="9" name="Shape 7"/>
          <p:cNvSpPr/>
          <p:nvPr/>
        </p:nvSpPr>
        <p:spPr>
          <a:xfrm>
            <a:off x="694944" y="3374136"/>
            <a:ext cx="310896" cy="91440"/>
          </a:xfrm>
          <a:prstGeom prst="rect">
            <a:avLst/>
          </a:prstGeom>
          <a:solidFill>
            <a:srgbClr val="2FE6C4"/>
          </a:solidFill>
          <a:ln/>
        </p:spPr>
      </p:sp>
      <p:sp>
        <p:nvSpPr>
          <p:cNvPr id="10" name="Text 8"/>
          <p:cNvSpPr txBox="1"/>
          <p:nvPr/>
        </p:nvSpPr>
        <p:spPr>
          <a:xfrm>
            <a:off x="694944" y="3520440"/>
            <a:ext cx="5033772" cy="585216"/>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1. Log record written</a:t>
            </a:r>
            <a:endParaRPr lang="en-US" sz="1350" dirty="0"/>
          </a:p>
        </p:txBody>
      </p:sp>
      <p:sp>
        <p:nvSpPr>
          <p:cNvPr id="11" name="Text 9"/>
          <p:cNvSpPr txBox="1"/>
          <p:nvPr/>
        </p:nvSpPr>
        <p:spPr>
          <a:xfrm>
            <a:off x="694944" y="4076395"/>
            <a:ext cx="5033772" cy="523037"/>
          </a:xfrm>
          <a:prstGeom prst="rect">
            <a:avLst/>
          </a:prstGeom>
          <a:noFill/>
          <a:ln/>
        </p:spPr>
        <p:txBody>
          <a:bodyPr wrap="square" rtlCol="0" anchor="t"/>
          <a:lstStyle/>
          <a:p>
            <a:pPr indent="0" marL="0">
              <a:lnSpc>
                <a:spcPct val="108000"/>
              </a:lnSpc>
              <a:buNone/>
            </a:pPr>
            <a:r>
              <a:rPr lang="en-US" sz="1050" dirty="0">
                <a:solidFill>
                  <a:srgbClr val="6B7480"/>
                </a:solidFill>
                <a:latin typeface="Calibri" pitchFamily="34" charset="0"/>
                <a:ea typeface="Calibri" pitchFamily="34" charset="-122"/>
                <a:cs typeface="Calibri" pitchFamily="34" charset="-120"/>
              </a:rPr>
              <a:t>Old value, new value, transaction ID — flushed to stable storage.</a:t>
            </a:r>
            <a:endParaRPr lang="en-US" sz="1050" dirty="0"/>
          </a:p>
        </p:txBody>
      </p:sp>
      <p:sp>
        <p:nvSpPr>
          <p:cNvPr id="12" name="Shape 10"/>
          <p:cNvSpPr/>
          <p:nvPr/>
        </p:nvSpPr>
        <p:spPr>
          <a:xfrm>
            <a:off x="5875020" y="3977640"/>
            <a:ext cx="411480" cy="0"/>
          </a:xfrm>
          <a:prstGeom prst="line">
            <a:avLst/>
          </a:prstGeom>
          <a:noFill/>
          <a:ln w="25400">
            <a:solidFill>
              <a:srgbClr val="8A939B"/>
            </a:solidFill>
            <a:prstDash val="solid"/>
            <a:tailEnd type="triangle"/>
          </a:ln>
        </p:spPr>
      </p:sp>
      <p:sp>
        <p:nvSpPr>
          <p:cNvPr id="13" name="Shape 11"/>
          <p:cNvSpPr/>
          <p:nvPr/>
        </p:nvSpPr>
        <p:spPr>
          <a:xfrm>
            <a:off x="6286500" y="3246120"/>
            <a:ext cx="5326380" cy="1463040"/>
          </a:xfrm>
          <a:prstGeom prst="roundRect">
            <a:avLst>
              <a:gd name="adj" fmla="val 5000"/>
            </a:avLst>
          </a:prstGeom>
          <a:solidFill>
            <a:srgbClr val="FFFFFF"/>
          </a:solidFill>
          <a:ln w="22225">
            <a:solidFill>
              <a:srgbClr val="8B7FD9"/>
            </a:solidFill>
            <a:prstDash val="solid"/>
          </a:ln>
          <a:effectLst>
            <a:outerShdw sx="100000" sy="100000" kx="0" ky="0" algn="bl" rotWithShape="0" blurRad="76200" dist="25400" dir="5400000">
              <a:srgbClr val="1F2429">
                <a:alpha val="18000"/>
              </a:srgbClr>
            </a:outerShdw>
          </a:effectLst>
        </p:spPr>
      </p:sp>
      <p:sp>
        <p:nvSpPr>
          <p:cNvPr id="14" name="Shape 12"/>
          <p:cNvSpPr/>
          <p:nvPr/>
        </p:nvSpPr>
        <p:spPr>
          <a:xfrm>
            <a:off x="6432804" y="3374136"/>
            <a:ext cx="310896" cy="91440"/>
          </a:xfrm>
          <a:prstGeom prst="rect">
            <a:avLst/>
          </a:prstGeom>
          <a:solidFill>
            <a:srgbClr val="8B7FD9"/>
          </a:solidFill>
          <a:ln/>
        </p:spPr>
      </p:sp>
      <p:sp>
        <p:nvSpPr>
          <p:cNvPr id="15" name="Text 13"/>
          <p:cNvSpPr txBox="1"/>
          <p:nvPr/>
        </p:nvSpPr>
        <p:spPr>
          <a:xfrm>
            <a:off x="6432804" y="3520440"/>
            <a:ext cx="5033772" cy="585216"/>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2. Data page written</a:t>
            </a:r>
            <a:endParaRPr lang="en-US" sz="1350" dirty="0"/>
          </a:p>
        </p:txBody>
      </p:sp>
      <p:sp>
        <p:nvSpPr>
          <p:cNvPr id="16" name="Text 14"/>
          <p:cNvSpPr txBox="1"/>
          <p:nvPr/>
        </p:nvSpPr>
        <p:spPr>
          <a:xfrm>
            <a:off x="6432804" y="4076395"/>
            <a:ext cx="5033772" cy="523037"/>
          </a:xfrm>
          <a:prstGeom prst="rect">
            <a:avLst/>
          </a:prstGeom>
          <a:noFill/>
          <a:ln/>
        </p:spPr>
        <p:txBody>
          <a:bodyPr wrap="square" rtlCol="0" anchor="t"/>
          <a:lstStyle/>
          <a:p>
            <a:pPr indent="0" marL="0">
              <a:lnSpc>
                <a:spcPct val="108000"/>
              </a:lnSpc>
              <a:buNone/>
            </a:pPr>
            <a:r>
              <a:rPr lang="en-US" sz="1050" dirty="0">
                <a:solidFill>
                  <a:srgbClr val="6B7480"/>
                </a:solidFill>
                <a:latin typeface="Calibri" pitchFamily="34" charset="0"/>
                <a:ea typeface="Calibri" pitchFamily="34" charset="-122"/>
                <a:cs typeface="Calibri" pitchFamily="34" charset="-120"/>
              </a:rPr>
              <a:t>The actual table/index page is updated on disk — only after step 1.</a:t>
            </a:r>
            <a:endParaRPr lang="en-US" sz="1050" dirty="0"/>
          </a:p>
        </p:txBody>
      </p:sp>
      <p:sp>
        <p:nvSpPr>
          <p:cNvPr id="17" name="Text 15"/>
          <p:cNvSpPr txBox="1"/>
          <p:nvPr/>
        </p:nvSpPr>
        <p:spPr>
          <a:xfrm>
            <a:off x="548640" y="4983480"/>
            <a:ext cx="11064240" cy="1097280"/>
          </a:xfrm>
          <a:prstGeom prst="rect">
            <a:avLst/>
          </a:prstGeom>
          <a:noFill/>
          <a:ln/>
        </p:spPr>
        <p:txBody>
          <a:bodyPr wrap="square" rtlCol="0" anchor="t"/>
          <a:lstStyle/>
          <a:p>
            <a:pPr indent="0" marL="0">
              <a:lnSpc>
                <a:spcPct val="122000"/>
              </a:lnSpc>
              <a:buNone/>
            </a:pPr>
            <a:r>
              <a:rPr lang="en-US" sz="1250" dirty="0">
                <a:solidFill>
                  <a:srgbClr val="1F2429"/>
                </a:solidFill>
                <a:latin typeface="Calibri" pitchFamily="34" charset="0"/>
                <a:ea typeface="Calibri" pitchFamily="34" charset="-122"/>
                <a:cs typeface="Calibri" pitchFamily="34" charset="-120"/>
              </a:rPr>
              <a:t>If the data page were written first and the crash happened before the log record, there would be no record of what changed or how to undo it. Writing the log first guarantees the only possible failure mode is a change the redo step can fix.</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TWO COMPLEMENTARY OPERATIONS</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Undo and Redo</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7</a:t>
            </a:r>
            <a:endParaRPr lang="en-US" sz="1000" dirty="0"/>
          </a:p>
        </p:txBody>
      </p:sp>
      <p:sp>
        <p:nvSpPr>
          <p:cNvPr id="5" name="Text 3"/>
          <p:cNvSpPr txBox="1"/>
          <p:nvPr/>
        </p:nvSpPr>
        <p:spPr>
          <a:xfrm>
            <a:off x="548640" y="1417320"/>
            <a:ext cx="5349240" cy="292608"/>
          </a:xfrm>
          <a:prstGeom prst="rect">
            <a:avLst/>
          </a:prstGeom>
          <a:noFill/>
          <a:ln/>
        </p:spPr>
        <p:txBody>
          <a:bodyPr wrap="square" rtlCol="0" anchor="ctr"/>
          <a:lstStyle/>
          <a:p>
            <a:pPr indent="0" marL="0">
              <a:buNone/>
            </a:pPr>
            <a:r>
              <a:rPr lang="en-US" sz="1250" b="1" dirty="0">
                <a:solidFill>
                  <a:srgbClr val="E8A33D"/>
                </a:solidFill>
                <a:latin typeface="Calibri" pitchFamily="34" charset="0"/>
                <a:ea typeface="Calibri" pitchFamily="34" charset="-122"/>
                <a:cs typeface="Calibri" pitchFamily="34" charset="-120"/>
              </a:rPr>
              <a:t>Undo</a:t>
            </a:r>
            <a:endParaRPr lang="en-US" sz="1250" dirty="0"/>
          </a:p>
        </p:txBody>
      </p:sp>
      <p:sp>
        <p:nvSpPr>
          <p:cNvPr id="6" name="Shape 4"/>
          <p:cNvSpPr/>
          <p:nvPr/>
        </p:nvSpPr>
        <p:spPr>
          <a:xfrm>
            <a:off x="548640" y="1783080"/>
            <a:ext cx="5349240" cy="3794760"/>
          </a:xfrm>
          <a:prstGeom prst="roundRect">
            <a:avLst>
              <a:gd name="adj" fmla="val 1928"/>
            </a:avLst>
          </a:prstGeom>
          <a:solidFill>
            <a:srgbClr val="FFFFFF"/>
          </a:solidFill>
          <a:ln w="19050">
            <a:solidFill>
              <a:srgbClr val="E8A33D"/>
            </a:solidFill>
            <a:prstDash val="solid"/>
          </a:ln>
        </p:spPr>
      </p:sp>
      <p:sp>
        <p:nvSpPr>
          <p:cNvPr id="7" name="Text 5"/>
          <p:cNvSpPr txBox="1"/>
          <p:nvPr/>
        </p:nvSpPr>
        <p:spPr>
          <a:xfrm>
            <a:off x="777240" y="1965960"/>
            <a:ext cx="4892040" cy="3520440"/>
          </a:xfrm>
          <a:prstGeom prst="rect">
            <a:avLst/>
          </a:prstGeom>
          <a:noFill/>
          <a:ln/>
        </p:spPr>
        <p:txBody>
          <a:bodyPr wrap="square" rtlCol="0" anchor="t"/>
          <a:lstStyle/>
          <a:p>
            <a:pPr indent="0" marL="0">
              <a:lnSpc>
                <a:spcPct val="125000"/>
              </a:lnSpc>
              <a:buNone/>
            </a:pPr>
            <a:r>
              <a:rPr lang="en-US" sz="1300" dirty="0">
                <a:solidFill>
                  <a:srgbClr val="1F2429"/>
                </a:solidFill>
                <a:latin typeface="Calibri" pitchFamily="34" charset="0"/>
                <a:ea typeface="Calibri" pitchFamily="34" charset="-122"/>
                <a:cs typeface="Calibri" pitchFamily="34" charset="-120"/>
              </a:rPr>
              <a:t>Reverses the effect of a transaction that had NOT committed at the time of the crash, using each log record's old value to restore the data item. Every uncommitted transaction active at the moment of the crash must be fully undone — Atomicity demands it leaves no partial trace.</a:t>
            </a:r>
            <a:endParaRPr lang="en-US" sz="1300" dirty="0"/>
          </a:p>
        </p:txBody>
      </p:sp>
      <p:sp>
        <p:nvSpPr>
          <p:cNvPr id="8" name="Text 6"/>
          <p:cNvSpPr txBox="1"/>
          <p:nvPr/>
        </p:nvSpPr>
        <p:spPr>
          <a:xfrm>
            <a:off x="6263640" y="1417320"/>
            <a:ext cx="5349240" cy="292608"/>
          </a:xfrm>
          <a:prstGeom prst="rect">
            <a:avLst/>
          </a:prstGeom>
          <a:noFill/>
          <a:ln/>
        </p:spPr>
        <p:txBody>
          <a:bodyPr wrap="square" rtlCol="0" anchor="ctr"/>
          <a:lstStyle/>
          <a:p>
            <a:pPr indent="0" marL="0">
              <a:buNone/>
            </a:pPr>
            <a:r>
              <a:rPr lang="en-US" sz="1250" b="1" dirty="0">
                <a:solidFill>
                  <a:srgbClr val="2FE6C4"/>
                </a:solidFill>
                <a:latin typeface="Calibri" pitchFamily="34" charset="0"/>
                <a:ea typeface="Calibri" pitchFamily="34" charset="-122"/>
                <a:cs typeface="Calibri" pitchFamily="34" charset="-120"/>
              </a:rPr>
              <a:t>Redo</a:t>
            </a:r>
            <a:endParaRPr lang="en-US" sz="1250" dirty="0"/>
          </a:p>
        </p:txBody>
      </p:sp>
      <p:sp>
        <p:nvSpPr>
          <p:cNvPr id="9" name="Shape 7"/>
          <p:cNvSpPr/>
          <p:nvPr/>
        </p:nvSpPr>
        <p:spPr>
          <a:xfrm>
            <a:off x="6263640" y="1783080"/>
            <a:ext cx="5349240" cy="3794760"/>
          </a:xfrm>
          <a:prstGeom prst="roundRect">
            <a:avLst>
              <a:gd name="adj" fmla="val 1928"/>
            </a:avLst>
          </a:prstGeom>
          <a:solidFill>
            <a:srgbClr val="FFFFFF"/>
          </a:solidFill>
          <a:ln w="19050">
            <a:solidFill>
              <a:srgbClr val="2FE6C4"/>
            </a:solidFill>
            <a:prstDash val="solid"/>
          </a:ln>
        </p:spPr>
      </p:sp>
      <p:sp>
        <p:nvSpPr>
          <p:cNvPr id="10" name="Text 8"/>
          <p:cNvSpPr txBox="1"/>
          <p:nvPr/>
        </p:nvSpPr>
        <p:spPr>
          <a:xfrm>
            <a:off x="6492240" y="1965960"/>
            <a:ext cx="4892040" cy="2194560"/>
          </a:xfrm>
          <a:prstGeom prst="rect">
            <a:avLst/>
          </a:prstGeom>
          <a:noFill/>
          <a:ln/>
        </p:spPr>
        <p:txBody>
          <a:bodyPr wrap="square" rtlCol="0" anchor="t"/>
          <a:lstStyle/>
          <a:p>
            <a:pPr indent="0" marL="0">
              <a:lnSpc>
                <a:spcPct val="125000"/>
              </a:lnSpc>
              <a:buNone/>
            </a:pPr>
            <a:r>
              <a:rPr lang="en-US" sz="1300" dirty="0">
                <a:solidFill>
                  <a:srgbClr val="1F2429"/>
                </a:solidFill>
                <a:latin typeface="Calibri" pitchFamily="34" charset="0"/>
                <a:ea typeface="Calibri" pitchFamily="34" charset="-122"/>
                <a:cs typeface="Calibri" pitchFamily="34" charset="-120"/>
              </a:rPr>
              <a:t>Reapplies the effect of a transaction that HAD committed, using each log record's new value, to guarantee its change is actually present on disk — WAL only guarantees the log record was written before the crash, not that the data page write had completed.</a:t>
            </a:r>
            <a:endParaRPr lang="en-US" sz="1300" dirty="0"/>
          </a:p>
        </p:txBody>
      </p:sp>
      <p:sp>
        <p:nvSpPr>
          <p:cNvPr id="11" name="Shape 9"/>
          <p:cNvSpPr/>
          <p:nvPr/>
        </p:nvSpPr>
        <p:spPr>
          <a:xfrm>
            <a:off x="6492240" y="4251960"/>
            <a:ext cx="4892040" cy="1188720"/>
          </a:xfrm>
          <a:prstGeom prst="roundRect">
            <a:avLst>
              <a:gd name="adj" fmla="val 4615"/>
            </a:avLst>
          </a:prstGeom>
          <a:solidFill>
            <a:srgbClr val="E9FBF6"/>
          </a:solidFill>
          <a:ln/>
        </p:spPr>
      </p:sp>
      <p:sp>
        <p:nvSpPr>
          <p:cNvPr id="12" name="Text 10"/>
          <p:cNvSpPr txBox="1"/>
          <p:nvPr/>
        </p:nvSpPr>
        <p:spPr>
          <a:xfrm>
            <a:off x="6675120" y="4343400"/>
            <a:ext cx="4526280" cy="1005840"/>
          </a:xfrm>
          <a:prstGeom prst="rect">
            <a:avLst/>
          </a:prstGeom>
          <a:noFill/>
          <a:ln/>
        </p:spPr>
        <p:txBody>
          <a:bodyPr wrap="square" rtlCol="0" anchor="t"/>
          <a:lstStyle/>
          <a:p>
            <a:pPr indent="0" marL="0">
              <a:lnSpc>
                <a:spcPct val="120000"/>
              </a:lnSpc>
              <a:buNone/>
            </a:pPr>
            <a:r>
              <a:rPr lang="en-US" sz="1150" b="1" dirty="0">
                <a:solidFill>
                  <a:srgbClr val="0E9E85"/>
                </a:solidFill>
                <a:latin typeface="Calibri" pitchFamily="34" charset="0"/>
                <a:ea typeface="Calibri" pitchFamily="34" charset="-122"/>
                <a:cs typeface="Calibri" pitchFamily="34" charset="-120"/>
              </a:rPr>
              <a:t>Redo is idempotent on purpose: </a:t>
            </a:r>
            <a:pPr indent="0" marL="0">
              <a:lnSpc>
                <a:spcPct val="120000"/>
              </a:lnSpc>
              <a:buNone/>
            </a:pPr>
            <a:r>
              <a:rPr lang="en-US" sz="1150" dirty="0">
                <a:solidFill>
                  <a:srgbClr val="1F2429"/>
                </a:solidFill>
                <a:latin typeface="Calibri" pitchFamily="34" charset="0"/>
                <a:ea typeface="Calibri" pitchFamily="34" charset="-122"/>
                <a:cs typeface="Calibri" pitchFamily="34" charset="-120"/>
              </a:rPr>
              <a:t>reapplying an already-durable write causes no harm — it just writes the same new value again.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BOUNDING HOW MUCH LOG MUST BE REPLAYED</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Checkpointing</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8</a:t>
            </a:r>
            <a:endParaRPr lang="en-US" sz="1000" dirty="0"/>
          </a:p>
        </p:txBody>
      </p:sp>
      <p:sp>
        <p:nvSpPr>
          <p:cNvPr id="5" name="Text 3"/>
          <p:cNvSpPr txBox="1"/>
          <p:nvPr/>
        </p:nvSpPr>
        <p:spPr>
          <a:xfrm>
            <a:off x="548640" y="1325880"/>
            <a:ext cx="5212080" cy="1463040"/>
          </a:xfrm>
          <a:prstGeom prst="rect">
            <a:avLst/>
          </a:prstGeom>
          <a:noFill/>
          <a:ln/>
        </p:spPr>
        <p:txBody>
          <a:bodyPr wrap="square" rtlCol="0" anchor="t"/>
          <a:lstStyle/>
          <a:p>
            <a:pPr indent="0" marL="0">
              <a:lnSpc>
                <a:spcPct val="125000"/>
              </a:lnSpc>
              <a:buNone/>
            </a:pPr>
            <a:r>
              <a:rPr lang="en-US" sz="1400" dirty="0">
                <a:solidFill>
                  <a:srgbClr val="1F2429"/>
                </a:solidFill>
                <a:latin typeface="Calibri" pitchFamily="34" charset="0"/>
                <a:ea typeface="Calibri" pitchFamily="34" charset="-122"/>
                <a:cs typeface="Calibri" pitchFamily="34" charset="-120"/>
              </a:rPr>
              <a:t>Naively, recovery would mean replaying the ENTIRE log from the first transaction the database ever ran — growing more expensive without bound. Checkpointing solves this.</a:t>
            </a:r>
            <a:endParaRPr lang="en-US" sz="1400" dirty="0"/>
          </a:p>
        </p:txBody>
      </p:sp>
      <p:sp>
        <p:nvSpPr>
          <p:cNvPr id="6" name="Shape 4"/>
          <p:cNvSpPr/>
          <p:nvPr/>
        </p:nvSpPr>
        <p:spPr>
          <a:xfrm>
            <a:off x="6172200" y="1234440"/>
            <a:ext cx="5486400" cy="1520952"/>
          </a:xfrm>
          <a:prstGeom prst="roundRect">
            <a:avLst>
              <a:gd name="adj" fmla="val 4810"/>
            </a:avLst>
          </a:prstGeom>
          <a:solidFill>
            <a:srgbClr val="FFFFFF"/>
          </a:solidFill>
          <a:ln w="22225">
            <a:solidFill>
              <a:srgbClr val="2FE6C4"/>
            </a:solidFill>
            <a:prstDash val="solid"/>
          </a:ln>
          <a:effectLst>
            <a:outerShdw sx="100000" sy="100000" kx="0" ky="0" algn="bl" rotWithShape="0" blurRad="76200" dist="25400" dir="5400000">
              <a:srgbClr val="1F2429">
                <a:alpha val="16000"/>
              </a:srgbClr>
            </a:outerShdw>
          </a:effectLst>
        </p:spPr>
      </p:sp>
      <p:sp>
        <p:nvSpPr>
          <p:cNvPr id="7" name="Shape 5"/>
          <p:cNvSpPr/>
          <p:nvPr/>
        </p:nvSpPr>
        <p:spPr>
          <a:xfrm>
            <a:off x="6318504" y="1793748"/>
            <a:ext cx="91440" cy="310896"/>
          </a:xfrm>
          <a:prstGeom prst="rect">
            <a:avLst/>
          </a:prstGeom>
          <a:solidFill>
            <a:srgbClr val="2FE6C4"/>
          </a:solidFill>
          <a:ln/>
        </p:spPr>
      </p:sp>
      <p:sp>
        <p:nvSpPr>
          <p:cNvPr id="8" name="Text 6"/>
          <p:cNvSpPr txBox="1"/>
          <p:nvPr/>
        </p:nvSpPr>
        <p:spPr>
          <a:xfrm>
            <a:off x="6537960" y="1307592"/>
            <a:ext cx="4937760" cy="684428"/>
          </a:xfrm>
          <a:prstGeom prst="rect">
            <a:avLst/>
          </a:prstGeom>
          <a:noFill/>
          <a:ln/>
        </p:spPr>
        <p:txBody>
          <a:bodyPr wrap="square" rtlCol="0" anchor="t"/>
          <a:lstStyle/>
          <a:p>
            <a:pPr indent="0" marL="0">
              <a:buNone/>
            </a:pPr>
            <a:r>
              <a:rPr lang="en-US" sz="1400" b="1" dirty="0">
                <a:solidFill>
                  <a:srgbClr val="1F2429"/>
                </a:solidFill>
                <a:latin typeface="Calibri" pitchFamily="34" charset="0"/>
                <a:ea typeface="Calibri" pitchFamily="34" charset="-122"/>
                <a:cs typeface="Calibri" pitchFamily="34" charset="-120"/>
              </a:rPr>
              <a:t>Flush all dirty pages to disk</a:t>
            </a:r>
            <a:endParaRPr lang="en-US" sz="1400" dirty="0"/>
          </a:p>
        </p:txBody>
      </p:sp>
      <p:sp>
        <p:nvSpPr>
          <p:cNvPr id="9" name="Text 7"/>
          <p:cNvSpPr txBox="1"/>
          <p:nvPr/>
        </p:nvSpPr>
        <p:spPr>
          <a:xfrm>
            <a:off x="6537960" y="1873240"/>
            <a:ext cx="4937760" cy="836524"/>
          </a:xfrm>
          <a:prstGeom prst="rect">
            <a:avLst/>
          </a:prstGeom>
          <a:noFill/>
          <a:ln/>
        </p:spPr>
        <p:txBody>
          <a:bodyPr wrap="square" rtlCol="0" anchor="t"/>
          <a:lstStyle/>
          <a:p>
            <a:pPr indent="0" marL="0">
              <a:lnSpc>
                <a:spcPct val="110000"/>
              </a:lnSpc>
              <a:buNone/>
            </a:pPr>
            <a:r>
              <a:rPr lang="en-US" sz="1100" dirty="0">
                <a:solidFill>
                  <a:srgbClr val="6B7480"/>
                </a:solidFill>
                <a:latin typeface="Calibri" pitchFamily="34" charset="0"/>
                <a:ea typeface="Calibri" pitchFamily="34" charset="-122"/>
                <a:cs typeface="Calibri" pitchFamily="34" charset="-120"/>
              </a:rPr>
              <a:t>Every change committed before this instant is now durably on disk.</a:t>
            </a:r>
            <a:endParaRPr lang="en-US" sz="1100" dirty="0"/>
          </a:p>
        </p:txBody>
      </p:sp>
      <p:sp>
        <p:nvSpPr>
          <p:cNvPr id="10" name="Shape 8"/>
          <p:cNvSpPr/>
          <p:nvPr/>
        </p:nvSpPr>
        <p:spPr>
          <a:xfrm>
            <a:off x="8915400" y="2755392"/>
            <a:ext cx="0" cy="256032"/>
          </a:xfrm>
          <a:prstGeom prst="line">
            <a:avLst/>
          </a:prstGeom>
          <a:noFill/>
          <a:ln w="25400">
            <a:solidFill>
              <a:srgbClr val="8A939B"/>
            </a:solidFill>
            <a:prstDash val="solid"/>
            <a:tailEnd type="triangle"/>
          </a:ln>
        </p:spPr>
      </p:sp>
      <p:sp>
        <p:nvSpPr>
          <p:cNvPr id="11" name="Shape 9"/>
          <p:cNvSpPr/>
          <p:nvPr/>
        </p:nvSpPr>
        <p:spPr>
          <a:xfrm>
            <a:off x="6172200" y="3011424"/>
            <a:ext cx="5486400" cy="1520952"/>
          </a:xfrm>
          <a:prstGeom prst="roundRect">
            <a:avLst>
              <a:gd name="adj" fmla="val 4810"/>
            </a:avLst>
          </a:prstGeom>
          <a:solidFill>
            <a:srgbClr val="FFFFFF"/>
          </a:solidFill>
          <a:ln w="22225">
            <a:solidFill>
              <a:srgbClr val="8B7FD9"/>
            </a:solidFill>
            <a:prstDash val="solid"/>
          </a:ln>
          <a:effectLst>
            <a:outerShdw sx="100000" sy="100000" kx="0" ky="0" algn="bl" rotWithShape="0" blurRad="76200" dist="25400" dir="5400000">
              <a:srgbClr val="1F2429">
                <a:alpha val="16000"/>
              </a:srgbClr>
            </a:outerShdw>
          </a:effectLst>
        </p:spPr>
      </p:sp>
      <p:sp>
        <p:nvSpPr>
          <p:cNvPr id="12" name="Shape 10"/>
          <p:cNvSpPr/>
          <p:nvPr/>
        </p:nvSpPr>
        <p:spPr>
          <a:xfrm>
            <a:off x="6318504" y="3570732"/>
            <a:ext cx="91440" cy="310896"/>
          </a:xfrm>
          <a:prstGeom prst="rect">
            <a:avLst/>
          </a:prstGeom>
          <a:solidFill>
            <a:srgbClr val="8B7FD9"/>
          </a:solidFill>
          <a:ln/>
        </p:spPr>
      </p:sp>
      <p:sp>
        <p:nvSpPr>
          <p:cNvPr id="13" name="Text 11"/>
          <p:cNvSpPr txBox="1"/>
          <p:nvPr/>
        </p:nvSpPr>
        <p:spPr>
          <a:xfrm>
            <a:off x="6537960" y="3084576"/>
            <a:ext cx="4937760" cy="684428"/>
          </a:xfrm>
          <a:prstGeom prst="rect">
            <a:avLst/>
          </a:prstGeom>
          <a:noFill/>
          <a:ln/>
        </p:spPr>
        <p:txBody>
          <a:bodyPr wrap="square" rtlCol="0" anchor="t"/>
          <a:lstStyle/>
          <a:p>
            <a:pPr indent="0" marL="0">
              <a:buNone/>
            </a:pPr>
            <a:r>
              <a:rPr lang="en-US" sz="1400" b="1" dirty="0">
                <a:solidFill>
                  <a:srgbClr val="1F2429"/>
                </a:solidFill>
                <a:latin typeface="Calibri" pitchFamily="34" charset="0"/>
                <a:ea typeface="Calibri" pitchFamily="34" charset="-122"/>
                <a:cs typeface="Calibri" pitchFamily="34" charset="-120"/>
              </a:rPr>
              <a:t>Write CHECKPOINT record to the log</a:t>
            </a:r>
            <a:endParaRPr lang="en-US" sz="1400" dirty="0"/>
          </a:p>
        </p:txBody>
      </p:sp>
      <p:sp>
        <p:nvSpPr>
          <p:cNvPr id="14" name="Text 12"/>
          <p:cNvSpPr txBox="1"/>
          <p:nvPr/>
        </p:nvSpPr>
        <p:spPr>
          <a:xfrm>
            <a:off x="6537960" y="3650224"/>
            <a:ext cx="4937760" cy="836524"/>
          </a:xfrm>
          <a:prstGeom prst="rect">
            <a:avLst/>
          </a:prstGeom>
          <a:noFill/>
          <a:ln/>
        </p:spPr>
        <p:txBody>
          <a:bodyPr wrap="square" rtlCol="0" anchor="t"/>
          <a:lstStyle/>
          <a:p>
            <a:pPr indent="0" marL="0">
              <a:lnSpc>
                <a:spcPct val="110000"/>
              </a:lnSpc>
              <a:buNone/>
            </a:pPr>
            <a:r>
              <a:rPr lang="en-US" sz="1100" dirty="0">
                <a:solidFill>
                  <a:srgbClr val="6B7480"/>
                </a:solidFill>
                <a:latin typeface="Calibri" pitchFamily="34" charset="0"/>
                <a:ea typeface="Calibri" pitchFamily="34" charset="-122"/>
                <a:cs typeface="Calibri" pitchFamily="34" charset="-120"/>
              </a:rPr>
              <a:t>Marks the boundary: nothing before this point needs to be replayed.</a:t>
            </a:r>
            <a:endParaRPr lang="en-US" sz="1100" dirty="0"/>
          </a:p>
        </p:txBody>
      </p:sp>
      <p:sp>
        <p:nvSpPr>
          <p:cNvPr id="15" name="Shape 13"/>
          <p:cNvSpPr/>
          <p:nvPr/>
        </p:nvSpPr>
        <p:spPr>
          <a:xfrm>
            <a:off x="8915400" y="4532376"/>
            <a:ext cx="0" cy="256032"/>
          </a:xfrm>
          <a:prstGeom prst="line">
            <a:avLst/>
          </a:prstGeom>
          <a:noFill/>
          <a:ln w="25400">
            <a:solidFill>
              <a:srgbClr val="8A939B"/>
            </a:solidFill>
            <a:prstDash val="solid"/>
            <a:tailEnd type="triangle"/>
          </a:ln>
        </p:spPr>
      </p:sp>
      <p:sp>
        <p:nvSpPr>
          <p:cNvPr id="16" name="Shape 14"/>
          <p:cNvSpPr/>
          <p:nvPr/>
        </p:nvSpPr>
        <p:spPr>
          <a:xfrm>
            <a:off x="6172200" y="4788408"/>
            <a:ext cx="5486400" cy="1520952"/>
          </a:xfrm>
          <a:prstGeom prst="roundRect">
            <a:avLst>
              <a:gd name="adj" fmla="val 4810"/>
            </a:avLst>
          </a:prstGeom>
          <a:solidFill>
            <a:srgbClr val="FFFFFF"/>
          </a:solidFill>
          <a:ln w="22225">
            <a:solidFill>
              <a:srgbClr val="E8A33D"/>
            </a:solidFill>
            <a:prstDash val="solid"/>
          </a:ln>
          <a:effectLst>
            <a:outerShdw sx="100000" sy="100000" kx="0" ky="0" algn="bl" rotWithShape="0" blurRad="76200" dist="25400" dir="5400000">
              <a:srgbClr val="1F2429">
                <a:alpha val="16000"/>
              </a:srgbClr>
            </a:outerShdw>
          </a:effectLst>
        </p:spPr>
      </p:sp>
      <p:sp>
        <p:nvSpPr>
          <p:cNvPr id="17" name="Shape 15"/>
          <p:cNvSpPr/>
          <p:nvPr/>
        </p:nvSpPr>
        <p:spPr>
          <a:xfrm>
            <a:off x="6318504" y="5347716"/>
            <a:ext cx="91440" cy="310896"/>
          </a:xfrm>
          <a:prstGeom prst="rect">
            <a:avLst/>
          </a:prstGeom>
          <a:solidFill>
            <a:srgbClr val="E8A33D"/>
          </a:solidFill>
          <a:ln/>
        </p:spPr>
      </p:sp>
      <p:sp>
        <p:nvSpPr>
          <p:cNvPr id="18" name="Text 16"/>
          <p:cNvSpPr txBox="1"/>
          <p:nvPr/>
        </p:nvSpPr>
        <p:spPr>
          <a:xfrm>
            <a:off x="6537960" y="4861560"/>
            <a:ext cx="4937760" cy="684428"/>
          </a:xfrm>
          <a:prstGeom prst="rect">
            <a:avLst/>
          </a:prstGeom>
          <a:noFill/>
          <a:ln/>
        </p:spPr>
        <p:txBody>
          <a:bodyPr wrap="square" rtlCol="0" anchor="t"/>
          <a:lstStyle/>
          <a:p>
            <a:pPr indent="0" marL="0">
              <a:buNone/>
            </a:pPr>
            <a:r>
              <a:rPr lang="en-US" sz="1400" b="1" dirty="0">
                <a:solidFill>
                  <a:srgbClr val="1F2429"/>
                </a:solidFill>
                <a:latin typeface="Calibri" pitchFamily="34" charset="0"/>
                <a:ea typeface="Calibri" pitchFamily="34" charset="-122"/>
                <a:cs typeface="Calibri" pitchFamily="34" charset="-120"/>
              </a:rPr>
              <a:t>On a later crash, recovery starts HERE</a:t>
            </a:r>
            <a:endParaRPr lang="en-US" sz="1400" dirty="0"/>
          </a:p>
        </p:txBody>
      </p:sp>
      <p:sp>
        <p:nvSpPr>
          <p:cNvPr id="19" name="Text 17"/>
          <p:cNvSpPr txBox="1"/>
          <p:nvPr/>
        </p:nvSpPr>
        <p:spPr>
          <a:xfrm>
            <a:off x="6537960" y="5427208"/>
            <a:ext cx="4937760" cy="836524"/>
          </a:xfrm>
          <a:prstGeom prst="rect">
            <a:avLst/>
          </a:prstGeom>
          <a:noFill/>
          <a:ln/>
        </p:spPr>
        <p:txBody>
          <a:bodyPr wrap="square" rtlCol="0" anchor="t"/>
          <a:lstStyle/>
          <a:p>
            <a:pPr indent="0" marL="0">
              <a:lnSpc>
                <a:spcPct val="110000"/>
              </a:lnSpc>
              <a:buNone/>
            </a:pPr>
            <a:r>
              <a:rPr lang="en-US" sz="1100" dirty="0">
                <a:solidFill>
                  <a:srgbClr val="6B7480"/>
                </a:solidFill>
                <a:latin typeface="Calibri" pitchFamily="34" charset="0"/>
                <a:ea typeface="Calibri" pitchFamily="34" charset="-122"/>
                <a:cs typeface="Calibri" pitchFamily="34" charset="-120"/>
              </a:rPr>
              <a:t>Not from the beginning of the log — only from the last checkpoint forward.</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SAME MECHANICS, DIFFERENT ANGLE</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Rollback and Rollforward</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9</a:t>
            </a:r>
            <a:endParaRPr lang="en-US" sz="1000" dirty="0"/>
          </a:p>
        </p:txBody>
      </p:sp>
      <p:sp>
        <p:nvSpPr>
          <p:cNvPr id="5" name="Shape 3"/>
          <p:cNvSpPr/>
          <p:nvPr/>
        </p:nvSpPr>
        <p:spPr>
          <a:xfrm>
            <a:off x="548640" y="1463040"/>
            <a:ext cx="5372100" cy="4480560"/>
          </a:xfrm>
          <a:prstGeom prst="roundRect">
            <a:avLst>
              <a:gd name="adj" fmla="val 1633"/>
            </a:avLst>
          </a:prstGeom>
          <a:solidFill>
            <a:srgbClr val="FFFFFF"/>
          </a:solidFill>
          <a:ln w="22225">
            <a:solidFill>
              <a:srgbClr val="E8A33D"/>
            </a:solidFill>
            <a:prstDash val="solid"/>
          </a:ln>
          <a:effectLst>
            <a:outerShdw sx="100000" sy="100000" kx="0" ky="0" algn="bl" rotWithShape="0" blurRad="63500" dist="25400" dir="5400000">
              <a:srgbClr val="1F2429">
                <a:alpha val="15000"/>
              </a:srgbClr>
            </a:outerShdw>
          </a:effectLst>
        </p:spPr>
      </p:sp>
      <p:sp>
        <p:nvSpPr>
          <p:cNvPr id="6" name="Shape 4"/>
          <p:cNvSpPr/>
          <p:nvPr/>
        </p:nvSpPr>
        <p:spPr>
          <a:xfrm>
            <a:off x="713232" y="1609344"/>
            <a:ext cx="201168" cy="201168"/>
          </a:xfrm>
          <a:prstGeom prst="ellipse">
            <a:avLst/>
          </a:prstGeom>
          <a:solidFill>
            <a:srgbClr val="E8A33D"/>
          </a:solidFill>
          <a:ln/>
        </p:spPr>
      </p:sp>
      <p:sp>
        <p:nvSpPr>
          <p:cNvPr id="7" name="Text 5"/>
          <p:cNvSpPr txBox="1"/>
          <p:nvPr/>
        </p:nvSpPr>
        <p:spPr>
          <a:xfrm>
            <a:off x="1005840" y="1554480"/>
            <a:ext cx="4732020" cy="365760"/>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Rollback</a:t>
            </a:r>
            <a:endParaRPr lang="en-US" sz="1350" dirty="0"/>
          </a:p>
        </p:txBody>
      </p:sp>
      <p:sp>
        <p:nvSpPr>
          <p:cNvPr id="8" name="Text 6"/>
          <p:cNvSpPr txBox="1"/>
          <p:nvPr/>
        </p:nvSpPr>
        <p:spPr>
          <a:xfrm>
            <a:off x="749808" y="1965960"/>
            <a:ext cx="4969764" cy="3886200"/>
          </a:xfrm>
          <a:prstGeom prst="rect">
            <a:avLst/>
          </a:prstGeom>
          <a:noFill/>
          <a:ln/>
        </p:spPr>
        <p:txBody>
          <a:bodyPr wrap="square" rtlCol="0" anchor="t"/>
          <a:lstStyle/>
          <a:p>
            <a:pPr indent="0" marL="0">
              <a:lnSpc>
                <a:spcPct val="112000"/>
              </a:lnSpc>
              <a:buNone/>
            </a:pPr>
            <a:r>
              <a:rPr lang="en-US" sz="1050" dirty="0">
                <a:solidFill>
                  <a:srgbClr val="6B7480"/>
                </a:solidFill>
                <a:latin typeface="Calibri" pitchFamily="34" charset="0"/>
                <a:ea typeface="Calibri" pitchFamily="34" charset="-122"/>
                <a:cs typeface="Calibri" pitchFamily="34" charset="-120"/>
              </a:rPr>
              <a:t>Undoing a transaction's changes — either because it aborted during normal operation, or because recovery determined it was still uncommitted at crash time. Mechanically identical to “undo.”</a:t>
            </a:r>
            <a:endParaRPr lang="en-US" sz="1050" dirty="0"/>
          </a:p>
        </p:txBody>
      </p:sp>
      <p:sp>
        <p:nvSpPr>
          <p:cNvPr id="9" name="Shape 7"/>
          <p:cNvSpPr/>
          <p:nvPr/>
        </p:nvSpPr>
        <p:spPr>
          <a:xfrm>
            <a:off x="6240780" y="1463040"/>
            <a:ext cx="5372100" cy="4480560"/>
          </a:xfrm>
          <a:prstGeom prst="roundRect">
            <a:avLst>
              <a:gd name="adj" fmla="val 1633"/>
            </a:avLst>
          </a:prstGeom>
          <a:solidFill>
            <a:srgbClr val="FFFFFF"/>
          </a:solidFill>
          <a:ln w="22225">
            <a:solidFill>
              <a:srgbClr val="2FE6C4"/>
            </a:solidFill>
            <a:prstDash val="solid"/>
          </a:ln>
          <a:effectLst>
            <a:outerShdw sx="100000" sy="100000" kx="0" ky="0" algn="bl" rotWithShape="0" blurRad="63500" dist="25400" dir="5400000">
              <a:srgbClr val="1F2429">
                <a:alpha val="15000"/>
              </a:srgbClr>
            </a:outerShdw>
          </a:effectLst>
        </p:spPr>
      </p:sp>
      <p:sp>
        <p:nvSpPr>
          <p:cNvPr id="10" name="Shape 8"/>
          <p:cNvSpPr/>
          <p:nvPr/>
        </p:nvSpPr>
        <p:spPr>
          <a:xfrm>
            <a:off x="6405372" y="1609344"/>
            <a:ext cx="201168" cy="201168"/>
          </a:xfrm>
          <a:prstGeom prst="ellipse">
            <a:avLst/>
          </a:prstGeom>
          <a:solidFill>
            <a:srgbClr val="2FE6C4"/>
          </a:solidFill>
          <a:ln/>
        </p:spPr>
      </p:sp>
      <p:sp>
        <p:nvSpPr>
          <p:cNvPr id="11" name="Text 9"/>
          <p:cNvSpPr txBox="1"/>
          <p:nvPr/>
        </p:nvSpPr>
        <p:spPr>
          <a:xfrm>
            <a:off x="6697980" y="1554480"/>
            <a:ext cx="4732020" cy="365760"/>
          </a:xfrm>
          <a:prstGeom prst="rect">
            <a:avLst/>
          </a:prstGeom>
          <a:noFill/>
          <a:ln/>
        </p:spPr>
        <p:txBody>
          <a:bodyPr wrap="square" rtlCol="0" anchor="t"/>
          <a:lstStyle/>
          <a:p>
            <a:pPr indent="0" marL="0">
              <a:buNone/>
            </a:pPr>
            <a:r>
              <a:rPr lang="en-US" sz="1350" b="1" dirty="0">
                <a:solidFill>
                  <a:srgbClr val="1F2429"/>
                </a:solidFill>
                <a:latin typeface="Calibri" pitchFamily="34" charset="0"/>
                <a:ea typeface="Calibri" pitchFamily="34" charset="-122"/>
                <a:cs typeface="Calibri" pitchFamily="34" charset="-120"/>
              </a:rPr>
              <a:t>Rollforward</a:t>
            </a:r>
            <a:endParaRPr lang="en-US" sz="1350" dirty="0"/>
          </a:p>
        </p:txBody>
      </p:sp>
      <p:sp>
        <p:nvSpPr>
          <p:cNvPr id="12" name="Text 10"/>
          <p:cNvSpPr txBox="1"/>
          <p:nvPr/>
        </p:nvSpPr>
        <p:spPr>
          <a:xfrm>
            <a:off x="6441948" y="1965960"/>
            <a:ext cx="4969764" cy="3886200"/>
          </a:xfrm>
          <a:prstGeom prst="rect">
            <a:avLst/>
          </a:prstGeom>
          <a:noFill/>
          <a:ln/>
        </p:spPr>
        <p:txBody>
          <a:bodyPr wrap="square" rtlCol="0" anchor="t"/>
          <a:lstStyle/>
          <a:p>
            <a:pPr indent="0" marL="0">
              <a:lnSpc>
                <a:spcPct val="112000"/>
              </a:lnSpc>
              <a:buNone/>
            </a:pPr>
            <a:r>
              <a:rPr lang="en-US" sz="1050" dirty="0">
                <a:solidFill>
                  <a:srgbClr val="6B7480"/>
                </a:solidFill>
                <a:latin typeface="Calibri" pitchFamily="34" charset="0"/>
                <a:ea typeface="Calibri" pitchFamily="34" charset="-122"/>
                <a:cs typeface="Calibri" pitchFamily="34" charset="-120"/>
              </a:rPr>
              <a:t>Reapplying committed changes from a log to bring a database forward to a target point in time. Mechanically identical to “redo” — the term used after a media failure: restore the last backup, then rollforward through the log.</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RECOVERY, TRACED</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Worked Walkthrough: The Log Up to the Crash</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10</a:t>
            </a:r>
            <a:endParaRPr lang="en-US" sz="1000" dirty="0"/>
          </a:p>
        </p:txBody>
      </p:sp>
      <p:sp>
        <p:nvSpPr>
          <p:cNvPr id="5" name="Text 3"/>
          <p:cNvSpPr txBox="1"/>
          <p:nvPr/>
        </p:nvSpPr>
        <p:spPr>
          <a:xfrm>
            <a:off x="548640" y="1280160"/>
            <a:ext cx="11064240" cy="457200"/>
          </a:xfrm>
          <a:prstGeom prst="rect">
            <a:avLst/>
          </a:prstGeom>
          <a:noFill/>
          <a:ln/>
        </p:spPr>
        <p:txBody>
          <a:bodyPr wrap="square" rtlCol="0" anchor="ctr"/>
          <a:lstStyle/>
          <a:p>
            <a:pPr indent="0" marL="0">
              <a:buNone/>
            </a:pPr>
            <a:r>
              <a:rPr lang="en-US" sz="1250" dirty="0">
                <a:solidFill>
                  <a:srgbClr val="1F2429"/>
                </a:solidFill>
                <a:latin typeface="Calibri" pitchFamily="34" charset="0"/>
                <a:ea typeface="Calibri" pitchFamily="34" charset="-122"/>
                <a:cs typeface="Calibri" pitchFamily="34" charset="-120"/>
              </a:rPr>
              <a:t>Four transactions run against Accounts (A–E). A checkpoint occurs partway through, and the system crashes partway through the transactions that follow it.</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4709160"/>
        </p:xfrm>
        <a:graphic>
          <a:graphicData uri="http://schemas.openxmlformats.org/drawingml/2006/table">
            <a:tbl>
              <a:tblPr/>
              <a:tblGrid>
                <a:gridCol w="548640"/>
                <a:gridCol w="4663440"/>
                <a:gridCol w="5852160"/>
              </a:tblGrid>
              <a:tr h="313944">
                <a:tc>
                  <a:txBody>
                    <a:bodyPr/>
                    <a:lstStyle/>
                    <a:p>
                      <a:pPr algn="l" indent="0" marL="0">
                        <a:buNone/>
                      </a:pPr>
                      <a:r>
                        <a:rPr lang="en-US" sz="960" b="1" dirty="0">
                          <a:solidFill>
                            <a:srgbClr val="FFFFFF"/>
                          </a:solidFill>
                          <a:latin typeface="Calibri" pitchFamily="34" charset="0"/>
                          <a:ea typeface="Calibri" pitchFamily="34" charset="-122"/>
                          <a:cs typeface="Calibri" pitchFamily="34" charset="-120"/>
                        </a:rPr>
                        <a:t>#</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4181C"/>
                    </a:solidFill>
                  </a:tcPr>
                </a:tc>
                <a:tc>
                  <a:txBody>
                    <a:bodyPr/>
                    <a:lstStyle/>
                    <a:p>
                      <a:pPr algn="l" indent="0" marL="0">
                        <a:buNone/>
                      </a:pPr>
                      <a:r>
                        <a:rPr lang="en-US" sz="960" b="1" dirty="0">
                          <a:solidFill>
                            <a:srgbClr val="FFFFFF"/>
                          </a:solidFill>
                          <a:latin typeface="Calibri" pitchFamily="34" charset="0"/>
                          <a:ea typeface="Calibri" pitchFamily="34" charset="-122"/>
                          <a:cs typeface="Calibri" pitchFamily="34" charset="-120"/>
                        </a:rPr>
                        <a:t>Log record</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4181C"/>
                    </a:solidFill>
                  </a:tcPr>
                </a:tc>
                <a:tc>
                  <a:txBody>
                    <a:bodyPr/>
                    <a:lstStyle/>
                    <a:p>
                      <a:pPr algn="l" indent="0" marL="0">
                        <a:buNone/>
                      </a:pPr>
                      <a:r>
                        <a:rPr lang="en-US" sz="960" b="1" dirty="0">
                          <a:solidFill>
                            <a:srgbClr val="FFFFFF"/>
                          </a:solidFill>
                          <a:latin typeface="Calibri" pitchFamily="34" charset="0"/>
                          <a:ea typeface="Calibri" pitchFamily="34" charset="-122"/>
                          <a:cs typeface="Calibri" pitchFamily="34" charset="-120"/>
                        </a:rPr>
                        <a:t>Note</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4181C"/>
                    </a:solidFill>
                  </a:tcPr>
                </a:tc>
              </a:tr>
              <a:tr h="313944">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1</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[T1 START]</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r>
              <a:tr h="313944">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2</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[T1, write A, old=100, new=200]</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r>
              <a:tr h="313944">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3</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[T1, write B, old=50, new=150]</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r>
              <a:tr h="313944">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4</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[T1 COMMIT]</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T1 fully committed</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r>
              <a:tr h="313944">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5</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[CHECKPOINT]</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Dirty pages flushed; disk matches log through #4</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r>
              <a:tr h="313944">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6</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[T2 START]</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r>
              <a:tr h="313944">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7</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[T2, write C, old=10, new=20]</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r>
              <a:tr h="313944">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8</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[T2 COMMIT]</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T2 fully committed, after the checkpoint</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r>
              <a:tr h="313944">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9</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[T3 START]</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r>
              <a:tr h="313944">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10</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[T3, write D, old=5, new=99]</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r>
              <a:tr h="313944">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11</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[T4 START]</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r>
              <a:tr h="313944">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12</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[T4, write E, old=1, new=2]</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r>
              <a:tr h="313944">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13</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[T4 COMMIT]</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T4 fully committed, after the checkpoint</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r>
              <a:tr h="313944">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CRASH</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960" dirty="0">
                          <a:solidFill>
                            <a:srgbClr val="1F2429"/>
                          </a:solidFill>
                          <a:latin typeface="Calibri" pitchFamily="34" charset="0"/>
                          <a:ea typeface="Calibri" pitchFamily="34" charset="-122"/>
                          <a:cs typeface="Calibri" pitchFamily="34" charset="-120"/>
                        </a:rPr>
                        <a:t>System failure — RAM lost, disk intact. T3 never committed.</a:t>
                      </a:r>
                      <a:endParaRPr lang="en-US" sz="96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WORKED WALKTHROUGH</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Step 1–2: Where Recovery Starts, and Classification</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11</a:t>
            </a:r>
            <a:endParaRPr lang="en-US" sz="1000" dirty="0"/>
          </a:p>
        </p:txBody>
      </p:sp>
      <p:sp>
        <p:nvSpPr>
          <p:cNvPr id="5" name="Text 3"/>
          <p:cNvSpPr txBox="1"/>
          <p:nvPr/>
        </p:nvSpPr>
        <p:spPr>
          <a:xfrm>
            <a:off x="548640" y="1325880"/>
            <a:ext cx="11064240" cy="1005840"/>
          </a:xfrm>
          <a:prstGeom prst="rect">
            <a:avLst/>
          </a:prstGeom>
          <a:noFill/>
          <a:ln/>
        </p:spPr>
        <p:txBody>
          <a:bodyPr wrap="square" rtlCol="0" anchor="t"/>
          <a:lstStyle/>
          <a:p>
            <a:pPr indent="0" marL="0">
              <a:lnSpc>
                <a:spcPct val="125000"/>
              </a:lnSpc>
              <a:buNone/>
            </a:pPr>
            <a:r>
              <a:rPr lang="en-US" sz="1350" dirty="0">
                <a:solidFill>
                  <a:srgbClr val="1F2429"/>
                </a:solidFill>
                <a:latin typeface="Calibri" pitchFamily="34" charset="0"/>
                <a:ea typeface="Calibri" pitchFamily="34" charset="-122"/>
                <a:cs typeface="Calibri" pitchFamily="34" charset="-120"/>
              </a:rPr>
              <a:t>Because of the checkpoint at record 5, recovery does NOT need to look at records 1–4 at all — T1 committed before the checkpoint, so its changes are already guaranteed safe on disk. Recovery begins its analysis at record 5 and reads forward, classifying every transaction active at or after the checkpoint.</a:t>
            </a:r>
            <a:endParaRPr lang="en-US" sz="13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514600"/>
          <a:ext cx="11064240" cy="2468880"/>
        </p:xfrm>
        <a:graphic>
          <a:graphicData uri="http://schemas.openxmlformats.org/drawingml/2006/table">
            <a:tbl>
              <a:tblPr/>
              <a:tblGrid>
                <a:gridCol w="2286000"/>
                <a:gridCol w="5120640"/>
                <a:gridCol w="3657600"/>
              </a:tblGrid>
              <a:tr h="493776">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Transaction</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4181C"/>
                    </a:solidFill>
                  </a:tcPr>
                </a:tc>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Outcome by crash time</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4181C"/>
                    </a:solidFill>
                  </a:tcPr>
                </a:tc>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Action</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4181C"/>
                    </a:solidFill>
                  </a:tcPr>
                </a:tc>
              </a:tr>
              <a:tr h="493776">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T1</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Committed before checkpoint</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None needed — already durable</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r>
              <a:tr h="493776">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T2</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Committed after checkpoint</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Redo</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r>
              <a:tr h="493776">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T3</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Never committed</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Undo</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r>
              <a:tr h="493776">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T4</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Committed after checkpoint</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Redo</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r>
            </a:tbl>
          </a:graphicData>
        </a:graphic>
      </p:graphicFrame>
      <p:sp>
        <p:nvSpPr>
          <p:cNvPr id="7" name="Text 4"/>
          <p:cNvSpPr txBox="1"/>
          <p:nvPr/>
        </p:nvSpPr>
        <p:spPr>
          <a:xfrm>
            <a:off x="548640" y="5166360"/>
            <a:ext cx="11064240" cy="548640"/>
          </a:xfrm>
          <a:prstGeom prst="rect">
            <a:avLst/>
          </a:prstGeom>
          <a:noFill/>
          <a:ln/>
        </p:spPr>
        <p:txBody>
          <a:bodyPr wrap="square" rtlCol="0" anchor="ctr"/>
          <a:lstStyle/>
          <a:p>
            <a:pPr indent="0" marL="0">
              <a:buNone/>
            </a:pPr>
            <a:r>
              <a:rPr lang="en-US" sz="1200" i="1" dirty="0">
                <a:solidFill>
                  <a:srgbClr val="6B7480"/>
                </a:solidFill>
                <a:latin typeface="Calibri" pitchFamily="34" charset="0"/>
                <a:ea typeface="Calibri" pitchFamily="34" charset="-122"/>
                <a:cs typeface="Calibri" pitchFamily="34" charset="-120"/>
              </a:rPr>
              <a:t>Redo → T2, T4 (committed after checkpoint).      Undo → T3 (never committed).      No action → T1 (committed before checkpoint).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WORKED WALKTHROUGH</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Step 3–4: Redo Committed, Undo Uncommitted</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12</a:t>
            </a:r>
            <a:endParaRPr lang="en-US" sz="1000" dirty="0"/>
          </a:p>
        </p:txBody>
      </p:sp>
      <p:sp>
        <p:nvSpPr>
          <p:cNvPr id="5" name="Text 3"/>
          <p:cNvSpPr txBox="1"/>
          <p:nvPr/>
        </p:nvSpPr>
        <p:spPr>
          <a:xfrm>
            <a:off x="548640" y="1417320"/>
            <a:ext cx="5349240" cy="292608"/>
          </a:xfrm>
          <a:prstGeom prst="rect">
            <a:avLst/>
          </a:prstGeom>
          <a:noFill/>
          <a:ln/>
        </p:spPr>
        <p:txBody>
          <a:bodyPr wrap="square" rtlCol="0" anchor="ctr"/>
          <a:lstStyle/>
          <a:p>
            <a:pPr indent="0" marL="0">
              <a:buNone/>
            </a:pPr>
            <a:r>
              <a:rPr lang="en-US" sz="1250" b="1" dirty="0">
                <a:solidFill>
                  <a:srgbClr val="2FE6C4"/>
                </a:solidFill>
                <a:latin typeface="Calibri" pitchFamily="34" charset="0"/>
                <a:ea typeface="Calibri" pitchFamily="34" charset="-122"/>
                <a:cs typeface="Calibri" pitchFamily="34" charset="-120"/>
              </a:rPr>
              <a:t>Step 3 — Redo every committed transaction after the checkpoint</a:t>
            </a:r>
            <a:endParaRPr lang="en-US" sz="1250" dirty="0"/>
          </a:p>
        </p:txBody>
      </p:sp>
      <p:sp>
        <p:nvSpPr>
          <p:cNvPr id="6" name="Shape 4"/>
          <p:cNvSpPr/>
          <p:nvPr/>
        </p:nvSpPr>
        <p:spPr>
          <a:xfrm>
            <a:off x="548640" y="1828800"/>
            <a:ext cx="5349240" cy="1828800"/>
          </a:xfrm>
          <a:prstGeom prst="roundRect">
            <a:avLst>
              <a:gd name="adj" fmla="val 4000"/>
            </a:avLst>
          </a:prstGeom>
          <a:solidFill>
            <a:srgbClr val="14181C"/>
          </a:solidFill>
          <a:ln/>
        </p:spPr>
      </p:sp>
      <p:sp>
        <p:nvSpPr>
          <p:cNvPr id="7" name="Text 5"/>
          <p:cNvSpPr txBox="1"/>
          <p:nvPr/>
        </p:nvSpPr>
        <p:spPr>
          <a:xfrm>
            <a:off x="777240" y="2011680"/>
            <a:ext cx="4892040" cy="1463040"/>
          </a:xfrm>
          <a:prstGeom prst="rect">
            <a:avLst/>
          </a:prstGeom>
          <a:noFill/>
          <a:ln/>
        </p:spPr>
        <p:txBody>
          <a:bodyPr wrap="square" rtlCol="0" anchor="t"/>
          <a:lstStyle/>
          <a:p>
            <a:pPr indent="0" marL="0">
              <a:lnSpc>
                <a:spcPct val="140000"/>
              </a:lnSpc>
              <a:buNone/>
            </a:pPr>
            <a:r>
              <a:rPr lang="en-US" sz="1400" dirty="0">
                <a:solidFill>
                  <a:srgbClr val="2FE6C4"/>
                </a:solidFill>
                <a:latin typeface="Courier New" pitchFamily="34" charset="0"/>
                <a:ea typeface="Courier New" pitchFamily="34" charset="-122"/>
                <a:cs typeface="Courier New" pitchFamily="34" charset="-120"/>
              </a:rPr>
              <a:t>REDO: C = 20   (from record 7, T2)</a:t>
            </a:r>
            <a:endParaRPr lang="en-US" sz="1400" dirty="0"/>
          </a:p>
          <a:p>
            <a:pPr indent="0" marL="0">
              <a:lnSpc>
                <a:spcPct val="140000"/>
              </a:lnSpc>
              <a:buNone/>
            </a:pPr>
            <a:r>
              <a:rPr lang="en-US" sz="1400" dirty="0">
                <a:solidFill>
                  <a:srgbClr val="2FE6C4"/>
                </a:solidFill>
                <a:latin typeface="Courier New" pitchFamily="34" charset="0"/>
                <a:ea typeface="Courier New" pitchFamily="34" charset="-122"/>
                <a:cs typeface="Courier New" pitchFamily="34" charset="-120"/>
              </a:rPr>
              <a:t>REDO: E = 2    (from record 12, T4)</a:t>
            </a:r>
            <a:endParaRPr lang="en-US" sz="1400" dirty="0"/>
          </a:p>
        </p:txBody>
      </p:sp>
      <p:sp>
        <p:nvSpPr>
          <p:cNvPr id="8" name="Text 6"/>
          <p:cNvSpPr txBox="1"/>
          <p:nvPr/>
        </p:nvSpPr>
        <p:spPr>
          <a:xfrm>
            <a:off x="6263640" y="1417320"/>
            <a:ext cx="5349240" cy="292608"/>
          </a:xfrm>
          <a:prstGeom prst="rect">
            <a:avLst/>
          </a:prstGeom>
          <a:noFill/>
          <a:ln/>
        </p:spPr>
        <p:txBody>
          <a:bodyPr wrap="square" rtlCol="0" anchor="ctr"/>
          <a:lstStyle/>
          <a:p>
            <a:pPr indent="0" marL="0">
              <a:buNone/>
            </a:pPr>
            <a:r>
              <a:rPr lang="en-US" sz="1250" b="1" dirty="0">
                <a:solidFill>
                  <a:srgbClr val="E8A33D"/>
                </a:solidFill>
                <a:latin typeface="Calibri" pitchFamily="34" charset="0"/>
                <a:ea typeface="Calibri" pitchFamily="34" charset="-122"/>
                <a:cs typeface="Calibri" pitchFamily="34" charset="-120"/>
              </a:rPr>
              <a:t>Step 4 — Undo every transaction that never committed</a:t>
            </a:r>
            <a:endParaRPr lang="en-US" sz="1250" dirty="0"/>
          </a:p>
        </p:txBody>
      </p:sp>
      <p:sp>
        <p:nvSpPr>
          <p:cNvPr id="9" name="Shape 7"/>
          <p:cNvSpPr/>
          <p:nvPr/>
        </p:nvSpPr>
        <p:spPr>
          <a:xfrm>
            <a:off x="6263640" y="1828800"/>
            <a:ext cx="5349240" cy="1828800"/>
          </a:xfrm>
          <a:prstGeom prst="roundRect">
            <a:avLst>
              <a:gd name="adj" fmla="val 4000"/>
            </a:avLst>
          </a:prstGeom>
          <a:solidFill>
            <a:srgbClr val="14181C"/>
          </a:solidFill>
          <a:ln/>
        </p:spPr>
      </p:sp>
      <p:sp>
        <p:nvSpPr>
          <p:cNvPr id="10" name="Text 8"/>
          <p:cNvSpPr txBox="1"/>
          <p:nvPr/>
        </p:nvSpPr>
        <p:spPr>
          <a:xfrm>
            <a:off x="6492240" y="2011680"/>
            <a:ext cx="4892040" cy="1463040"/>
          </a:xfrm>
          <a:prstGeom prst="rect">
            <a:avLst/>
          </a:prstGeom>
          <a:noFill/>
          <a:ln/>
        </p:spPr>
        <p:txBody>
          <a:bodyPr wrap="square" rtlCol="0" anchor="t"/>
          <a:lstStyle/>
          <a:p>
            <a:pPr indent="0" marL="0">
              <a:lnSpc>
                <a:spcPct val="140000"/>
              </a:lnSpc>
              <a:buNone/>
            </a:pPr>
            <a:r>
              <a:rPr lang="en-US" sz="1400" dirty="0">
                <a:solidFill>
                  <a:srgbClr val="E8A33D"/>
                </a:solidFill>
                <a:latin typeface="Courier New" pitchFamily="34" charset="0"/>
                <a:ea typeface="Courier New" pitchFamily="34" charset="-122"/>
                <a:cs typeface="Courier New" pitchFamily="34" charset="-120"/>
              </a:rPr>
              <a:t>UNDO: D = 5    (from record 10, T3 —</a:t>
            </a:r>
            <a:endParaRPr lang="en-US" sz="1400" dirty="0"/>
          </a:p>
          <a:p>
            <a:pPr indent="0" marL="0">
              <a:lnSpc>
                <a:spcPct val="140000"/>
              </a:lnSpc>
              <a:buNone/>
            </a:pPr>
            <a:r>
              <a:rPr lang="en-US" sz="1400" dirty="0">
                <a:solidFill>
                  <a:srgbClr val="E8A33D"/>
                </a:solidFill>
                <a:latin typeface="Courier New" pitchFamily="34" charset="0"/>
                <a:ea typeface="Courier New" pitchFamily="34" charset="-122"/>
                <a:cs typeface="Courier New" pitchFamily="34" charset="-120"/>
              </a:rPr>
              <a:t>restores D to its value before</a:t>
            </a:r>
            <a:endParaRPr lang="en-US" sz="1400" dirty="0"/>
          </a:p>
          <a:p>
            <a:pPr indent="0" marL="0">
              <a:lnSpc>
                <a:spcPct val="140000"/>
              </a:lnSpc>
              <a:buNone/>
            </a:pPr>
            <a:r>
              <a:rPr lang="en-US" sz="1400" dirty="0">
                <a:solidFill>
                  <a:srgbClr val="E8A33D"/>
                </a:solidFill>
                <a:latin typeface="Courier New" pitchFamily="34" charset="0"/>
                <a:ea typeface="Courier New" pitchFamily="34" charset="-122"/>
                <a:cs typeface="Courier New" pitchFamily="34" charset="-120"/>
              </a:rPr>
              <a:t>T3 touched it)</a:t>
            </a:r>
            <a:endParaRPr lang="en-US" sz="1400" dirty="0"/>
          </a:p>
        </p:txBody>
      </p:sp>
      <p:sp>
        <p:nvSpPr>
          <p:cNvPr id="11" name="Shape 9"/>
          <p:cNvSpPr/>
          <p:nvPr/>
        </p:nvSpPr>
        <p:spPr>
          <a:xfrm>
            <a:off x="548640" y="3931920"/>
            <a:ext cx="11064240" cy="1920240"/>
          </a:xfrm>
          <a:prstGeom prst="roundRect">
            <a:avLst>
              <a:gd name="adj" fmla="val 3810"/>
            </a:avLst>
          </a:prstGeom>
          <a:solidFill>
            <a:srgbClr val="F1F2F6"/>
          </a:solidFill>
          <a:ln/>
        </p:spPr>
      </p:sp>
      <p:sp>
        <p:nvSpPr>
          <p:cNvPr id="12" name="Text 10"/>
          <p:cNvSpPr txBox="1"/>
          <p:nvPr/>
        </p:nvSpPr>
        <p:spPr>
          <a:xfrm>
            <a:off x="822960" y="4096512"/>
            <a:ext cx="10515600" cy="1645920"/>
          </a:xfrm>
          <a:prstGeom prst="rect">
            <a:avLst/>
          </a:prstGeom>
          <a:noFill/>
          <a:ln/>
        </p:spPr>
        <p:txBody>
          <a:bodyPr wrap="square" rtlCol="0" anchor="t"/>
          <a:lstStyle/>
          <a:p>
            <a:pPr indent="0" marL="0">
              <a:lnSpc>
                <a:spcPct val="125000"/>
              </a:lnSpc>
              <a:buNone/>
            </a:pPr>
            <a:r>
              <a:rPr lang="en-US" sz="1250" b="1" dirty="0">
                <a:solidFill>
                  <a:srgbClr val="8B7FD9"/>
                </a:solidFill>
                <a:latin typeface="Calibri" pitchFamily="34" charset="0"/>
                <a:ea typeface="Calibri" pitchFamily="34" charset="-122"/>
                <a:cs typeface="Calibri" pitchFamily="34" charset="-120"/>
              </a:rPr>
              <a:t>Why T3 is undone even though it wrote to the log: </a:t>
            </a:r>
            <a:pPr indent="0" marL="0">
              <a:lnSpc>
                <a:spcPct val="125000"/>
              </a:lnSpc>
              <a:buNone/>
            </a:pPr>
            <a:r>
              <a:rPr lang="en-US" sz="1250" dirty="0">
                <a:solidFill>
                  <a:srgbClr val="1F2429"/>
                </a:solidFill>
                <a:latin typeface="Calibri" pitchFamily="34" charset="0"/>
                <a:ea typeface="Calibri" pitchFamily="34" charset="-122"/>
                <a:cs typeface="Calibri" pitchFamily="34" charset="-120"/>
              </a:rPr>
              <a:t>having a log record for T3's write to D does not mean that write is entitled to survive — it only means the recovery manager has enough information to know what to undo. A log record's old-value field exists specifically so an uncommitted transaction's writes can be reversed with certainty.</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92608"/>
          </a:xfrm>
          <a:prstGeom prst="rect">
            <a:avLst/>
          </a:prstGeom>
          <a:noFill/>
          <a:ln/>
        </p:spPr>
        <p:txBody>
          <a:bodyPr wrap="square" rtlCol="0" anchor="ctr"/>
          <a:lstStyle/>
          <a:p>
            <a:pPr indent="0" marL="0">
              <a:buNone/>
            </a:pPr>
            <a:r>
              <a:rPr lang="en-US" sz="1200" b="1" spc="150" kern="0" dirty="0">
                <a:solidFill>
                  <a:srgbClr val="8B7FD9"/>
                </a:solidFill>
                <a:latin typeface="Calibri" pitchFamily="34" charset="0"/>
                <a:ea typeface="Calibri" pitchFamily="34" charset="-122"/>
                <a:cs typeface="Calibri" pitchFamily="34" charset="-120"/>
              </a:rPr>
              <a:t>WORKED WALKTHROUGH, CONCLUDED</a:t>
            </a:r>
            <a:endParaRPr lang="en-US" sz="1200" dirty="0"/>
          </a:p>
        </p:txBody>
      </p:sp>
      <p:sp>
        <p:nvSpPr>
          <p:cNvPr id="3" name="Text 1"/>
          <p:cNvSpPr txBox="1"/>
          <p:nvPr/>
        </p:nvSpPr>
        <p:spPr>
          <a:xfrm>
            <a:off x="548640" y="566928"/>
            <a:ext cx="11064240" cy="640080"/>
          </a:xfrm>
          <a:prstGeom prst="rect">
            <a:avLst/>
          </a:prstGeom>
          <a:noFill/>
          <a:ln/>
        </p:spPr>
        <p:txBody>
          <a:bodyPr wrap="square" rtlCol="0" anchor="ctr"/>
          <a:lstStyle/>
          <a:p>
            <a:pPr indent="0" marL="0">
              <a:buNone/>
            </a:pPr>
            <a:r>
              <a:rPr lang="en-US" sz="2500" b="1" dirty="0">
                <a:solidFill>
                  <a:srgbClr val="1F2429"/>
                </a:solidFill>
                <a:latin typeface="Calibri" pitchFamily="34" charset="0"/>
                <a:ea typeface="Calibri" pitchFamily="34" charset="-122"/>
                <a:cs typeface="Calibri" pitchFamily="34" charset="-120"/>
              </a:rPr>
              <a:t>The Result</a:t>
            </a:r>
            <a:endParaRPr lang="en-US" sz="2500" dirty="0"/>
          </a:p>
        </p:txBody>
      </p:sp>
      <p:sp>
        <p:nvSpPr>
          <p:cNvPr id="4" name="Text 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2926080"/>
        </p:xfrm>
        <a:graphic>
          <a:graphicData uri="http://schemas.openxmlformats.org/drawingml/2006/table">
            <a:tbl>
              <a:tblPr/>
              <a:tblGrid>
                <a:gridCol w="1280160"/>
                <a:gridCol w="2103120"/>
                <a:gridCol w="7680960"/>
              </a:tblGrid>
              <a:tr h="487680">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Item</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4181C"/>
                    </a:solidFill>
                  </a:tcPr>
                </a:tc>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Final value</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4181C"/>
                    </a:solidFill>
                  </a:tcPr>
                </a:tc>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Why</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4181C"/>
                    </a:solidFill>
                  </a:tcPr>
                </a:tc>
              </a:tr>
              <a:tr h="487680">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A</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200</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From T1 — committed before the checkpoint, untouched</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r>
              <a:tr h="487680">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B</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150</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From T1 — committed before the checkpoint, untouched</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r>
              <a:tr h="487680">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C</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20</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From T2 — redone</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r>
              <a:tr h="487680">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D</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5</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From T3 — undone back to its original value</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EEF1F3"/>
                    </a:solidFill>
                  </a:tcPr>
                </a:tc>
              </a:tr>
              <a:tr h="487680">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E</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2</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F2429"/>
                          </a:solidFill>
                          <a:latin typeface="Calibri" pitchFamily="34" charset="0"/>
                          <a:ea typeface="Calibri" pitchFamily="34" charset="-122"/>
                          <a:cs typeface="Calibri" pitchFamily="34" charset="-120"/>
                        </a:rPr>
                        <a:t>From T4 — redone</a:t>
                      </a:r>
                      <a:endParaRPr lang="en-US" sz="135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FFFFFF"/>
                    </a:solidFill>
                  </a:tcPr>
                </a:tc>
              </a:tr>
            </a:tbl>
          </a:graphicData>
        </a:graphic>
      </p:graphicFrame>
      <p:sp>
        <p:nvSpPr>
          <p:cNvPr id="6" name="Shape 3"/>
          <p:cNvSpPr/>
          <p:nvPr/>
        </p:nvSpPr>
        <p:spPr>
          <a:xfrm>
            <a:off x="548640" y="4526280"/>
            <a:ext cx="11064240" cy="1508760"/>
          </a:xfrm>
          <a:prstGeom prst="roundRect">
            <a:avLst>
              <a:gd name="adj" fmla="val 4848"/>
            </a:avLst>
          </a:prstGeom>
          <a:solidFill>
            <a:srgbClr val="E9FBF6"/>
          </a:solidFill>
          <a:ln w="12700">
            <a:solidFill>
              <a:srgbClr val="2FE6C4"/>
            </a:solidFill>
            <a:prstDash val="solid"/>
          </a:ln>
        </p:spPr>
      </p:sp>
      <p:sp>
        <p:nvSpPr>
          <p:cNvPr id="7" name="Text 4"/>
          <p:cNvSpPr txBox="1"/>
          <p:nvPr/>
        </p:nvSpPr>
        <p:spPr>
          <a:xfrm>
            <a:off x="822960" y="4709160"/>
            <a:ext cx="10515600" cy="1188720"/>
          </a:xfrm>
          <a:prstGeom prst="rect">
            <a:avLst/>
          </a:prstGeom>
          <a:noFill/>
          <a:ln/>
        </p:spPr>
        <p:txBody>
          <a:bodyPr wrap="square" rtlCol="0" anchor="t"/>
          <a:lstStyle/>
          <a:p>
            <a:pPr indent="0" marL="0">
              <a:lnSpc>
                <a:spcPct val="125000"/>
              </a:lnSpc>
              <a:buNone/>
            </a:pPr>
            <a:r>
              <a:rPr lang="en-US" sz="1350" b="1" dirty="0">
                <a:solidFill>
                  <a:srgbClr val="0E9E85"/>
                </a:solidFill>
                <a:latin typeface="Calibri" pitchFamily="34" charset="0"/>
                <a:ea typeface="Calibri" pitchFamily="34" charset="-122"/>
                <a:cs typeface="Calibri" pitchFamily="34" charset="-120"/>
              </a:rPr>
              <a:t>This is exactly the state the database would be in </a:t>
            </a:r>
            <a:pPr indent="0" marL="0">
              <a:lnSpc>
                <a:spcPct val="125000"/>
              </a:lnSpc>
              <a:buNone/>
            </a:pPr>
            <a:r>
              <a:rPr lang="en-US" sz="1350" dirty="0">
                <a:solidFill>
                  <a:srgbClr val="1F2429"/>
                </a:solidFill>
                <a:latin typeface="Calibri" pitchFamily="34" charset="0"/>
                <a:ea typeface="Calibri" pitchFamily="34" charset="-122"/>
                <a:cs typeface="Calibri" pitchFamily="34" charset="-120"/>
              </a:rPr>
              <a:t>if T1, T2, and T4 had each run to completion and T3 had never run at all — precisely what Atomicity and Durability together require.</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1C"/>
        </a:solidFill>
      </p:bgPr>
    </p:bg>
    <p:spTree>
      <p:nvGrpSpPr>
        <p:cNvPr id="1" name=""/>
        <p:cNvGrpSpPr/>
        <p:nvPr/>
      </p:nvGrpSpPr>
      <p:grpSpPr>
        <a:xfrm>
          <a:off x="0" y="0"/>
          <a:ext cx="0" cy="0"/>
          <a:chOff x="0" y="0"/>
          <a:chExt cx="0" cy="0"/>
        </a:xfrm>
      </p:grpSpPr>
      <p:sp>
        <p:nvSpPr>
          <p:cNvPr id="2" name="Shape 0"/>
          <p:cNvSpPr/>
          <p:nvPr/>
        </p:nvSpPr>
        <p:spPr>
          <a:xfrm>
            <a:off x="9265615" y="3931920"/>
            <a:ext cx="3840480" cy="3840480"/>
          </a:xfrm>
          <a:prstGeom prst="ellipse">
            <a:avLst/>
          </a:prstGeom>
          <a:solidFill>
            <a:srgbClr val="2FE6C4">
              <a:alpha val="10000"/>
            </a:srgbClr>
          </a:solidFill>
          <a:ln/>
        </p:spPr>
      </p:sp>
      <p:sp>
        <p:nvSpPr>
          <p:cNvPr id="3" name="Text 1"/>
          <p:cNvSpPr txBox="1"/>
          <p:nvPr/>
        </p:nvSpPr>
        <p:spPr>
          <a:xfrm>
            <a:off x="822960" y="548640"/>
            <a:ext cx="10058400" cy="73152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Key Takeaways</a:t>
            </a:r>
            <a:endParaRPr lang="en-US" sz="3200" dirty="0"/>
          </a:p>
        </p:txBody>
      </p:sp>
      <p:sp>
        <p:nvSpPr>
          <p:cNvPr id="4" name="Shape 2"/>
          <p:cNvSpPr/>
          <p:nvPr/>
        </p:nvSpPr>
        <p:spPr>
          <a:xfrm>
            <a:off x="822960" y="2025396"/>
            <a:ext cx="109728" cy="109728"/>
          </a:xfrm>
          <a:prstGeom prst="rect">
            <a:avLst/>
          </a:prstGeom>
          <a:solidFill>
            <a:srgbClr val="2FE6C4"/>
          </a:solidFill>
          <a:ln/>
        </p:spPr>
      </p:sp>
      <p:sp>
        <p:nvSpPr>
          <p:cNvPr id="5" name="Text 3"/>
          <p:cNvSpPr txBox="1"/>
          <p:nvPr/>
        </p:nvSpPr>
        <p:spPr>
          <a:xfrm>
            <a:off x="1143000" y="1600200"/>
            <a:ext cx="9875520" cy="941832"/>
          </a:xfrm>
          <a:prstGeom prst="rect">
            <a:avLst/>
          </a:prstGeom>
          <a:noFill/>
          <a:ln/>
        </p:spPr>
        <p:txBody>
          <a:bodyPr wrap="square" rtlCol="0" anchor="ctr"/>
          <a:lstStyle/>
          <a:p>
            <a:pPr indent="0" marL="0">
              <a:buNone/>
            </a:pPr>
            <a:r>
              <a:rPr lang="en-US" sz="1550" dirty="0">
                <a:solidFill>
                  <a:srgbClr val="FFFFFF"/>
                </a:solidFill>
                <a:latin typeface="Calibri" pitchFamily="34" charset="0"/>
                <a:ea typeface="Calibri" pitchFamily="34" charset="-122"/>
                <a:cs typeface="Calibri" pitchFamily="34" charset="-120"/>
              </a:rPr>
              <a:t>Failures split into transaction failure, system crash (RAM lost, disk intact), and media failure (disk itself gone) — each needs a different response.</a:t>
            </a:r>
            <a:endParaRPr lang="en-US" sz="1550" dirty="0"/>
          </a:p>
        </p:txBody>
      </p:sp>
      <p:sp>
        <p:nvSpPr>
          <p:cNvPr id="6" name="Shape 4"/>
          <p:cNvSpPr/>
          <p:nvPr/>
        </p:nvSpPr>
        <p:spPr>
          <a:xfrm>
            <a:off x="822960" y="2967228"/>
            <a:ext cx="109728" cy="109728"/>
          </a:xfrm>
          <a:prstGeom prst="rect">
            <a:avLst/>
          </a:prstGeom>
          <a:solidFill>
            <a:srgbClr val="8B7FD9"/>
          </a:solidFill>
          <a:ln/>
        </p:spPr>
      </p:sp>
      <p:sp>
        <p:nvSpPr>
          <p:cNvPr id="7" name="Text 5"/>
          <p:cNvSpPr txBox="1"/>
          <p:nvPr/>
        </p:nvSpPr>
        <p:spPr>
          <a:xfrm>
            <a:off x="1143000" y="2542032"/>
            <a:ext cx="9875520" cy="941832"/>
          </a:xfrm>
          <a:prstGeom prst="rect">
            <a:avLst/>
          </a:prstGeom>
          <a:noFill/>
          <a:ln/>
        </p:spPr>
        <p:txBody>
          <a:bodyPr wrap="square" rtlCol="0" anchor="ctr"/>
          <a:lstStyle/>
          <a:p>
            <a:pPr indent="0" marL="0">
              <a:buNone/>
            </a:pPr>
            <a:r>
              <a:rPr lang="en-US" sz="1550" dirty="0">
                <a:solidFill>
                  <a:srgbClr val="FFFFFF"/>
                </a:solidFill>
                <a:latin typeface="Calibri" pitchFamily="34" charset="0"/>
                <a:ea typeface="Calibri" pitchFamily="34" charset="-122"/>
                <a:cs typeface="Calibri" pitchFamily="34" charset="-120"/>
              </a:rPr>
              <a:t>The recovery manager guarantees Atomicity and Durability survive any failure, using a log written independently of the data files.</a:t>
            </a:r>
            <a:endParaRPr lang="en-US" sz="1550" dirty="0"/>
          </a:p>
        </p:txBody>
      </p:sp>
      <p:sp>
        <p:nvSpPr>
          <p:cNvPr id="8" name="Shape 6"/>
          <p:cNvSpPr/>
          <p:nvPr/>
        </p:nvSpPr>
        <p:spPr>
          <a:xfrm>
            <a:off x="822960" y="3909060"/>
            <a:ext cx="109728" cy="109728"/>
          </a:xfrm>
          <a:prstGeom prst="rect">
            <a:avLst/>
          </a:prstGeom>
          <a:solidFill>
            <a:srgbClr val="E8A33D"/>
          </a:solidFill>
          <a:ln/>
        </p:spPr>
      </p:sp>
      <p:sp>
        <p:nvSpPr>
          <p:cNvPr id="9" name="Text 7"/>
          <p:cNvSpPr txBox="1"/>
          <p:nvPr/>
        </p:nvSpPr>
        <p:spPr>
          <a:xfrm>
            <a:off x="1143000" y="3483864"/>
            <a:ext cx="9875520" cy="941832"/>
          </a:xfrm>
          <a:prstGeom prst="rect">
            <a:avLst/>
          </a:prstGeom>
          <a:noFill/>
          <a:ln/>
        </p:spPr>
        <p:txBody>
          <a:bodyPr wrap="square" rtlCol="0" anchor="ctr"/>
          <a:lstStyle/>
          <a:p>
            <a:pPr indent="0" marL="0">
              <a:buNone/>
            </a:pPr>
            <a:r>
              <a:rPr lang="en-US" sz="1550" dirty="0">
                <a:solidFill>
                  <a:srgbClr val="FFFFFF"/>
                </a:solidFill>
                <a:latin typeface="Calibri" pitchFamily="34" charset="0"/>
                <a:ea typeface="Calibri" pitchFamily="34" charset="-122"/>
                <a:cs typeface="Calibri" pitchFamily="34" charset="-120"/>
              </a:rPr>
              <a:t>Write-ahead logging (WAL) requires the log record to reach stable storage before the data page itself does.</a:t>
            </a:r>
            <a:endParaRPr lang="en-US" sz="1550" dirty="0"/>
          </a:p>
        </p:txBody>
      </p:sp>
      <p:sp>
        <p:nvSpPr>
          <p:cNvPr id="10" name="Shape 8"/>
          <p:cNvSpPr/>
          <p:nvPr/>
        </p:nvSpPr>
        <p:spPr>
          <a:xfrm>
            <a:off x="822960" y="4850892"/>
            <a:ext cx="109728" cy="109728"/>
          </a:xfrm>
          <a:prstGeom prst="rect">
            <a:avLst/>
          </a:prstGeom>
          <a:solidFill>
            <a:srgbClr val="2FE6C4"/>
          </a:solidFill>
          <a:ln/>
        </p:spPr>
      </p:sp>
      <p:sp>
        <p:nvSpPr>
          <p:cNvPr id="11" name="Text 9"/>
          <p:cNvSpPr txBox="1"/>
          <p:nvPr/>
        </p:nvSpPr>
        <p:spPr>
          <a:xfrm>
            <a:off x="1143000" y="4425696"/>
            <a:ext cx="9875520" cy="941832"/>
          </a:xfrm>
          <a:prstGeom prst="rect">
            <a:avLst/>
          </a:prstGeom>
          <a:noFill/>
          <a:ln/>
        </p:spPr>
        <p:txBody>
          <a:bodyPr wrap="square" rtlCol="0" anchor="ctr"/>
          <a:lstStyle/>
          <a:p>
            <a:pPr indent="0" marL="0">
              <a:buNone/>
            </a:pPr>
            <a:r>
              <a:rPr lang="en-US" sz="1550" dirty="0">
                <a:solidFill>
                  <a:srgbClr val="FFFFFF"/>
                </a:solidFill>
                <a:latin typeface="Calibri" pitchFamily="34" charset="0"/>
                <a:ea typeface="Calibri" pitchFamily="34" charset="-122"/>
                <a:cs typeface="Calibri" pitchFamily="34" charset="-120"/>
              </a:rPr>
              <a:t>Undo reverses uncommitted transactions using old values; redo reapplies committed transactions' new values — redo is safely idempotent.</a:t>
            </a:r>
            <a:endParaRPr lang="en-US" sz="1550" dirty="0"/>
          </a:p>
        </p:txBody>
      </p:sp>
      <p:sp>
        <p:nvSpPr>
          <p:cNvPr id="12" name="Shape 10"/>
          <p:cNvSpPr/>
          <p:nvPr/>
        </p:nvSpPr>
        <p:spPr>
          <a:xfrm>
            <a:off x="822960" y="5792724"/>
            <a:ext cx="109728" cy="109728"/>
          </a:xfrm>
          <a:prstGeom prst="rect">
            <a:avLst/>
          </a:prstGeom>
          <a:solidFill>
            <a:srgbClr val="8B7FD9"/>
          </a:solidFill>
          <a:ln/>
        </p:spPr>
      </p:sp>
      <p:sp>
        <p:nvSpPr>
          <p:cNvPr id="13" name="Text 11"/>
          <p:cNvSpPr txBox="1"/>
          <p:nvPr/>
        </p:nvSpPr>
        <p:spPr>
          <a:xfrm>
            <a:off x="1143000" y="5367528"/>
            <a:ext cx="9875520" cy="941832"/>
          </a:xfrm>
          <a:prstGeom prst="rect">
            <a:avLst/>
          </a:prstGeom>
          <a:noFill/>
          <a:ln/>
        </p:spPr>
        <p:txBody>
          <a:bodyPr wrap="square" rtlCol="0" anchor="ctr"/>
          <a:lstStyle/>
          <a:p>
            <a:pPr indent="0" marL="0">
              <a:buNone/>
            </a:pPr>
            <a:r>
              <a:rPr lang="en-US" sz="1550" dirty="0">
                <a:solidFill>
                  <a:srgbClr val="FFFFFF"/>
                </a:solidFill>
                <a:latin typeface="Calibri" pitchFamily="34" charset="0"/>
                <a:ea typeface="Calibri" pitchFamily="34" charset="-122"/>
                <a:cs typeface="Calibri" pitchFamily="34" charset="-120"/>
              </a:rPr>
              <a:t>Checkpointing bounds recovery to replay only from the last checkpoint forward — the worked trace redid T2 and T4, undid T3, left T1 untouched.</a:t>
            </a:r>
            <a:endParaRPr lang="en-US" sz="1550" dirty="0"/>
          </a:p>
        </p:txBody>
      </p:sp>
      <p:sp>
        <p:nvSpPr>
          <p:cNvPr id="14" name="Text 12"/>
          <p:cNvSpPr txBox="1"/>
          <p:nvPr/>
        </p:nvSpPr>
        <p:spPr>
          <a:xfrm>
            <a:off x="9951415" y="6455664"/>
            <a:ext cx="2011680" cy="292608"/>
          </a:xfrm>
          <a:prstGeom prst="rect">
            <a:avLst/>
          </a:prstGeom>
          <a:noFill/>
          <a:ln/>
        </p:spPr>
        <p:txBody>
          <a:bodyPr wrap="square"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2026-09-29T15:21:26Z</dcterms:created>
  <dcterms:modified xsi:type="dcterms:W3CDTF">2026-09-29T15:21:26Z</dcterms:modified>
</cp:coreProperties>
</file>
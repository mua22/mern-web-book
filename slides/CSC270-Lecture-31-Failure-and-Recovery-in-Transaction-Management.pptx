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70" r:id="rId21"/>
    <p:sldId id="271" r:id="rId22"/>
    <p:sldId id="262" r:id="rId8"/>
    <p:sldId id="263" r:id="rId9"/>
    <p:sldId id="272" r:id="rId23"/>
    <p:sldId id="264" r:id="rId10"/>
    <p:sldId id="265" r:id="rId11"/>
    <p:sldId id="266" r:id="rId12"/>
    <p:sldId id="273" r:id="rId24"/>
    <p:sldId id="267" r:id="rId13"/>
    <p:sldId id="274" r:id="rId25"/>
    <p:sldId id="268" r:id="rId14"/>
    <p:sldId id="275" r:id="rId26"/>
    <p:sldId id="276" r:id="rId27"/>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  <Relationship Id="rId21" Type="http://schemas.openxmlformats.org/officeDocument/2006/relationships/slide" Target="slides/slide15.xml"/>
  <Relationship Id="rId22" Type="http://schemas.openxmlformats.org/officeDocument/2006/relationships/slide" Target="slides/slide16.xml"/>
  <Relationship Id="rId23" Type="http://schemas.openxmlformats.org/officeDocument/2006/relationships/slide" Target="slides/slide17.xml"/>
  <Relationship Id="rId24" Type="http://schemas.openxmlformats.org/officeDocument/2006/relationships/slide" Target="slides/slide18.xml"/>
  <Relationship Id="rId25" Type="http://schemas.openxmlformats.org/officeDocument/2006/relationships/slide" Target="slides/slide19.xml"/>
  <Relationship Id="rId26" Type="http://schemas.openxmlformats.org/officeDocument/2006/relationships/slide" Target="slides/slide20.xml"/>
  <Relationship Id="rId27" Type="http://schemas.openxmlformats.org/officeDocument/2006/relationships/slide" Target="slides/slide2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Shape 0"/>
          <p:cNvSpPr/>
          <p:nvPr/>
        </p:nvSpPr>
        <p:spPr>
          <a:xfrm>
            <a:off x="9082735" y="-1463040"/>
            <a:ext cx="4206240" cy="4206240"/>
          </a:xfrm>
          <a:prstGeom prst="ellipse">
            <a:avLst/>
          </a:prstGeom>
          <a:solidFill>
            <a:srgbClr val="2FE6C4">
              <a:alpha val="12000"/>
            </a:srgbClr>
          </a:solidFill>
          <a:ln/>
        </p:spPr>
      </p:sp>
      <p:sp>
        <p:nvSpPr>
          <p:cNvPr id="3" name="Shape 1"/>
          <p:cNvSpPr/>
          <p:nvPr/>
        </p:nvSpPr>
        <p:spPr>
          <a:xfrm>
            <a:off x="10362895" y="3291840"/>
            <a:ext cx="2926080" cy="2926080"/>
          </a:xfrm>
          <a:prstGeom prst="ellipse">
            <a:avLst/>
          </a:prstGeom>
          <a:solidFill>
            <a:srgbClr val="8B7FD9">
              <a:alpha val="14000"/>
            </a:srgbClr>
          </a:solidFill>
          <a:ln/>
        </p:spPr>
      </p:sp>
      <p:sp>
        <p:nvSpPr>
          <p:cNvPr id="4" name="Shape 2"/>
          <p:cNvSpPr/>
          <p:nvPr/>
        </p:nvSpPr>
        <p:spPr>
          <a:xfrm>
            <a:off x="-1280160" y="4663440"/>
            <a:ext cx="3108960" cy="3108960"/>
          </a:xfrm>
          <a:prstGeom prst="ellipse">
            <a:avLst/>
          </a:prstGeom>
          <a:solidFill>
            <a:srgbClr val="E8A33D">
              <a:alpha val="10000"/>
            </a:srgbClr>
          </a:solidFill>
          <a:ln/>
        </p:spPr>
      </p:sp>
      <p:sp>
        <p:nvSpPr>
          <p:cNvPr id="5" name="Text 3"/>
          <p:cNvSpPr txBox="1"/>
          <p:nvPr/>
        </p:nvSpPr>
        <p:spPr>
          <a:xfrm>
            <a:off x="822960" y="1554480"/>
            <a:ext cx="9601200" cy="365760"/>
          </a:xfrm>
          <a:prstGeom prst="rect">
            <a:avLst/>
          </a:prstGeom>
          <a:noFill/>
          <a:ln/>
        </p:spPr>
        <p:txBody>
          <a:bodyPr wrap="square" rtlCol="0" anchor="ctr"/>
          <a:lstStyle/>
          <a:p>
            <a:pPr indent="0" marL="0">
              <a:buNone/>
            </a:pPr>
            <a:r>
              <a:rPr lang="en-US" sz="2000" b="1" spc="200" kern="0" dirty="0">
                <a:solidFill>
                  <a:srgbClr val="2FE6C4"/>
                </a:solidFill>
                <a:latin typeface="Calibri" pitchFamily="34" charset="0"/>
                <a:ea typeface="Calibri" pitchFamily="34" charset="-122"/>
                <a:cs typeface="Calibri" pitchFamily="34" charset="-120"/>
              </a:rPr>
              <a:t>CSC270 · DATABASE SYSTEMS · LECTURE 31</a:t>
            </a:r>
            <a:endParaRPr lang="en-US" sz="2000" dirty="0"/>
          </a:p>
        </p:txBody>
      </p:sp>
      <p:sp>
        <p:nvSpPr>
          <p:cNvPr id="6" name="Text 4"/>
          <p:cNvSpPr txBox="1"/>
          <p:nvPr/>
        </p:nvSpPr>
        <p:spPr>
          <a:xfrm>
            <a:off x="822960" y="1920240"/>
            <a:ext cx="9875520" cy="365760"/>
          </a:xfrm>
          <a:prstGeom prst="rect">
            <a:avLst/>
          </a:prstGeom>
          <a:noFill/>
          <a:ln/>
        </p:spPr>
        <p:txBody>
          <a:bodyPr wrap="square" rtlCol="0" anchor="ctr"/>
          <a:lstStyle/>
          <a:p>
            <a:pPr indent="0" marL="0">
              <a:buNone/>
            </a:pPr>
            <a:r>
              <a:rPr lang="en-US" sz="1800" dirty="0">
                <a:solidFill>
                  <a:srgbClr val="8A939B"/>
                </a:solidFill>
                <a:latin typeface="Calibri" pitchFamily="34" charset="0"/>
                <a:ea typeface="Calibri" pitchFamily="34" charset="-122"/>
                <a:cs typeface="Calibri" pitchFamily="34" charset="-120"/>
              </a:rPr>
              <a:t>Unit 8 · Transaction Management</a:t>
            </a:r>
            <a:endParaRPr lang="en-US" sz="1800" dirty="0"/>
          </a:p>
        </p:txBody>
      </p:sp>
      <p:sp>
        <p:nvSpPr>
          <p:cNvPr id="7" name="Text 5"/>
          <p:cNvSpPr txBox="1"/>
          <p:nvPr/>
        </p:nvSpPr>
        <p:spPr>
          <a:xfrm>
            <a:off x="822960" y="2377440"/>
            <a:ext cx="10058400" cy="1828800"/>
          </a:xfrm>
          <a:prstGeom prst="rect">
            <a:avLst/>
          </a:prstGeom>
          <a:noFill/>
          <a:ln/>
        </p:spPr>
        <p:txBody>
          <a:bodyPr wrap="square"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Failure and Recovery in Transaction Management</a:t>
            </a:r>
            <a:endParaRPr lang="en-US" sz="4000" dirty="0"/>
          </a:p>
        </p:txBody>
      </p:sp>
      <p:sp>
        <p:nvSpPr>
          <p:cNvPr id="8" name="Text 6"/>
          <p:cNvSpPr txBox="1"/>
          <p:nvPr/>
        </p:nvSpPr>
        <p:spPr>
          <a:xfrm>
            <a:off x="822960" y="4160520"/>
            <a:ext cx="9326880" cy="822960"/>
          </a:xfrm>
          <a:prstGeom prst="rect">
            <a:avLst/>
          </a:prstGeom>
          <a:noFill/>
          <a:ln/>
        </p:spPr>
        <p:txBody>
          <a:bodyPr wrap="square" rtlCol="0" anchor="ctr"/>
          <a:lstStyle/>
          <a:p>
            <a:pPr indent="0" marL="0">
              <a:buNone/>
            </a:pPr>
            <a:r>
              <a:rPr lang="en-US" sz="1800" dirty="0">
                <a:solidFill>
                  <a:srgbClr val="8A939B"/>
                </a:solidFill>
                <a:latin typeface="Calibri" pitchFamily="34" charset="0"/>
                <a:ea typeface="Calibri" pitchFamily="34" charset="-122"/>
                <a:cs typeface="Calibri" pitchFamily="34" charset="-120"/>
              </a:rPr>
              <a:t>What happens when the power fails mid-transaction, and how the recovery manager restores a correct database using nothing but a log.</a:t>
            </a:r>
            <a:endParaRPr lang="en-US" sz="1800" dirty="0"/>
          </a:p>
        </p:txBody>
      </p:sp>
      <p:sp>
        <p:nvSpPr>
          <p:cNvPr id="9" name="Text 7"/>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Agenda">
    <p:bg>
      <p:bgPr>
        <a:solidFill>
          <a:srgbClr val="F7F8F9"/>
        </a:solidFill>
        <a:effectLst/>
      </p:bgPr>
    </p:bg>
    <p:spTree>
      <p:nvGrpSpPr>
        <p:cNvPr id="1" name=""/>
        <p:cNvGrpSpPr/>
        <p:nvPr/>
      </p:nvGrpSpPr>
      <p:grpSpPr>
        <a:xfrm>
          <a:off x="0" y="0"/>
          <a:ext cx="0" cy="0"/>
          <a:chOff x="0" y="0"/>
          <a:chExt cx="0" cy="0"/>
        </a:xfrm>
      </p:grpSpPr>
      <p:sp>
        <p:nvSpPr>
          <p:cNvPr id="2" name="Eyebrow 2"/>
          <p:cNvSpPr txBox="1"/>
          <p:nvPr/>
        </p:nvSpPr>
        <p:spPr>
          <a:xfrm>
            <a:off x="548640" y="320040"/>
            <a:ext cx="9144000" cy="292608"/>
          </a:xfrm>
          <a:prstGeom prst="rect">
            <a:avLst/>
          </a:prstGeom>
          <a:noFill/>
          <a:ln>
            <a:noFill/>
          </a:ln>
        </p:spPr>
        <p:txBody>
          <a:bodyPr wrap="square" rtlCol="0" anchor="ctr"/>
          <a:lstStyle/>
          <a:p>
            <a:pPr algn="l" indent="0" marL="0">
              <a:buNone/>
            </a:pPr>
            <a:r>
              <a:rPr lang="en-US" sz="1200" b="1" spc="150" kern="0" dirty="0">
                <a:solidFill>
                  <a:srgbClr val="8B7FD9"/>
                </a:solidFill>
                <a:latin typeface="Calibri" pitchFamily="34" charset="0"/>
                <a:ea typeface="Calibri" pitchFamily="34" charset="-122"/>
                <a:cs typeface="Calibri" pitchFamily="34" charset="-120"/>
              </a:rPr>
              <a:t>IN THIS LECTURE</a:t>
            </a:r>
            <a:endParaRPr lang="en-US" sz="1200" dirty="0"/>
          </a:p>
        </p:txBody>
      </p:sp>
      <p:sp>
        <p:nvSpPr>
          <p:cNvPr id="3" name="Title 3"/>
          <p:cNvSpPr txBox="1"/>
          <p:nvPr/>
        </p:nvSpPr>
        <p:spPr>
          <a:xfrm>
            <a:off x="548640" y="566928"/>
            <a:ext cx="11064240" cy="640080"/>
          </a:xfrm>
          <a:prstGeom prst="rect">
            <a:avLst/>
          </a:prstGeom>
          <a:noFill/>
          <a:ln>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Agenda</a:t>
            </a:r>
            <a:endParaRPr lang="en-US" sz="2500" dirty="0"/>
          </a:p>
        </p:txBody>
      </p:sp>
      <p:sp>
        <p:nvSpPr>
          <p:cNvPr id="4" name="Row 4"/>
          <p:cNvSpPr/>
          <p:nvPr/>
        </p:nvSpPr>
        <p:spPr>
          <a:xfrm>
            <a:off x="548640" y="1371600"/>
            <a:ext cx="11064240" cy="594360"/>
          </a:xfrm>
          <a:prstGeom prst="roundRect">
            <a:avLst>
              <a:gd name="adj" fmla="val 12000"/>
            </a:avLst>
          </a:prstGeom>
          <a:solidFill>
            <a:srgbClr val="FFFFFF"/>
          </a:solidFill>
          <a:ln w="22225">
            <a:solidFill>
              <a:srgbClr val="2FE6C4"/>
            </a:solidFill>
          </a:ln>
          <a:effectLst>
            <a:outerShdw blurRad="63500" dist="25400" dir="5400000" algn="bl" rotWithShape="0">
              <a:srgbClr val="1F2429">
                <a:alpha val="15000"/>
              </a:srgbClr>
            </a:outerShdw>
          </a:effectLst>
        </p:spPr>
      </p:sp>
      <p:sp>
        <p:nvSpPr>
          <p:cNvPr id="5" name="Num 5"/>
          <p:cNvSpPr/>
          <p:nvPr/>
        </p:nvSpPr>
        <p:spPr>
          <a:xfrm>
            <a:off x="777240" y="1508760"/>
            <a:ext cx="320040" cy="320040"/>
          </a:xfrm>
          <a:prstGeom prst="ellipse">
            <a:avLst/>
          </a:prstGeom>
          <a:solidFill>
            <a:srgbClr val="2FE6C4"/>
          </a:solidFill>
          <a:ln>
            <a:noFill/>
          </a:ln>
        </p:spPr>
      </p:sp>
      <p:sp>
        <p:nvSpPr>
          <p:cNvPr id="6" name="Num text 6"/>
          <p:cNvSpPr txBox="1"/>
          <p:nvPr/>
        </p:nvSpPr>
        <p:spPr>
          <a:xfrm>
            <a:off x="777240" y="1508760"/>
            <a:ext cx="320040" cy="320040"/>
          </a:xfrm>
          <a:prstGeom prst="rect">
            <a:avLst/>
          </a:prstGeom>
          <a:noFill/>
          <a:ln>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7" name="Row text 7"/>
          <p:cNvSpPr txBox="1"/>
          <p:nvPr/>
        </p:nvSpPr>
        <p:spPr>
          <a:xfrm>
            <a:off x="1348740" y="1371600"/>
            <a:ext cx="10064240" cy="594360"/>
          </a:xfrm>
          <a:prstGeom prst="rect">
            <a:avLst/>
          </a:prstGeom>
          <a:noFill/>
          <a:ln>
            <a:noFill/>
          </a:ln>
        </p:spPr>
        <p:txBody>
          <a:bodyPr wrap="square" rtlCol="0" anchor="ctr"/>
          <a:lstStyle/>
          <a:p>
            <a:pPr algn="l" indent="0" marL="0">
              <a:buNone/>
            </a:pPr>
            <a:r>
              <a:rPr lang="en-US" sz="2000" dirty="0">
                <a:solidFill>
                  <a:srgbClr val="1F2429"/>
                </a:solidFill>
                <a:latin typeface="Calibri" pitchFamily="34" charset="0"/>
                <a:ea typeface="Calibri" pitchFamily="34" charset="-122"/>
                <a:cs typeface="Calibri" pitchFamily="34" charset="-120"/>
              </a:rPr>
              <a:t>Types of transaction failure</a:t>
            </a:r>
            <a:endParaRPr lang="en-US" sz="2000" dirty="0"/>
          </a:p>
        </p:txBody>
      </p:sp>
      <p:sp>
        <p:nvSpPr>
          <p:cNvPr id="8" name="Row 8"/>
          <p:cNvSpPr/>
          <p:nvPr/>
        </p:nvSpPr>
        <p:spPr>
          <a:xfrm>
            <a:off x="548640" y="2066544"/>
            <a:ext cx="11064240" cy="594360"/>
          </a:xfrm>
          <a:prstGeom prst="roundRect">
            <a:avLst>
              <a:gd name="adj" fmla="val 12000"/>
            </a:avLst>
          </a:prstGeom>
          <a:solidFill>
            <a:srgbClr val="FFFFFF"/>
          </a:solidFill>
          <a:ln w="22225">
            <a:solidFill>
              <a:srgbClr val="8B7FD9"/>
            </a:solidFill>
          </a:ln>
          <a:effectLst>
            <a:outerShdw blurRad="63500" dist="25400" dir="5400000" algn="bl" rotWithShape="0">
              <a:srgbClr val="1F2429">
                <a:alpha val="15000"/>
              </a:srgbClr>
            </a:outerShdw>
          </a:effectLst>
        </p:spPr>
      </p:sp>
      <p:sp>
        <p:nvSpPr>
          <p:cNvPr id="9" name="Num 9"/>
          <p:cNvSpPr/>
          <p:nvPr/>
        </p:nvSpPr>
        <p:spPr>
          <a:xfrm>
            <a:off x="777240" y="2203704"/>
            <a:ext cx="320040" cy="320040"/>
          </a:xfrm>
          <a:prstGeom prst="ellipse">
            <a:avLst/>
          </a:prstGeom>
          <a:solidFill>
            <a:srgbClr val="8B7FD9"/>
          </a:solidFill>
          <a:ln>
            <a:noFill/>
          </a:ln>
        </p:spPr>
      </p:sp>
      <p:sp>
        <p:nvSpPr>
          <p:cNvPr id="10" name="Num text 10"/>
          <p:cNvSpPr txBox="1"/>
          <p:nvPr/>
        </p:nvSpPr>
        <p:spPr>
          <a:xfrm>
            <a:off x="777240" y="2203704"/>
            <a:ext cx="320040" cy="320040"/>
          </a:xfrm>
          <a:prstGeom prst="rect">
            <a:avLst/>
          </a:prstGeom>
          <a:noFill/>
          <a:ln>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1" name="Row text 11"/>
          <p:cNvSpPr txBox="1"/>
          <p:nvPr/>
        </p:nvSpPr>
        <p:spPr>
          <a:xfrm>
            <a:off x="1348740" y="2066544"/>
            <a:ext cx="10064240" cy="594360"/>
          </a:xfrm>
          <a:prstGeom prst="rect">
            <a:avLst/>
          </a:prstGeom>
          <a:noFill/>
          <a:ln>
            <a:noFill/>
          </a:ln>
        </p:spPr>
        <p:txBody>
          <a:bodyPr wrap="square" rtlCol="0" anchor="ctr"/>
          <a:lstStyle/>
          <a:p>
            <a:pPr algn="l" indent="0" marL="0">
              <a:buNone/>
            </a:pPr>
            <a:r>
              <a:rPr lang="en-US" sz="2000" dirty="0">
                <a:solidFill>
                  <a:srgbClr val="1F2429"/>
                </a:solidFill>
                <a:latin typeface="Calibri" pitchFamily="34" charset="0"/>
                <a:ea typeface="Calibri" pitchFamily="34" charset="-122"/>
                <a:cs typeface="Calibri" pitchFamily="34" charset="-120"/>
              </a:rPr>
              <a:t>System failure vs. media failure</a:t>
            </a:r>
            <a:endParaRPr lang="en-US" sz="2000" dirty="0"/>
          </a:p>
        </p:txBody>
      </p:sp>
      <p:sp>
        <p:nvSpPr>
          <p:cNvPr id="12" name="Row 12"/>
          <p:cNvSpPr/>
          <p:nvPr/>
        </p:nvSpPr>
        <p:spPr>
          <a:xfrm>
            <a:off x="548640" y="2761488"/>
            <a:ext cx="11064240" cy="594360"/>
          </a:xfrm>
          <a:prstGeom prst="roundRect">
            <a:avLst>
              <a:gd name="adj" fmla="val 12000"/>
            </a:avLst>
          </a:prstGeom>
          <a:solidFill>
            <a:srgbClr val="FFFFFF"/>
          </a:solidFill>
          <a:ln w="22225">
            <a:solidFill>
              <a:srgbClr val="E8A33D"/>
            </a:solidFill>
          </a:ln>
          <a:effectLst>
            <a:outerShdw blurRad="63500" dist="25400" dir="5400000" algn="bl" rotWithShape="0">
              <a:srgbClr val="1F2429">
                <a:alpha val="15000"/>
              </a:srgbClr>
            </a:outerShdw>
          </a:effectLst>
        </p:spPr>
      </p:sp>
      <p:sp>
        <p:nvSpPr>
          <p:cNvPr id="13" name="Num 13"/>
          <p:cNvSpPr/>
          <p:nvPr/>
        </p:nvSpPr>
        <p:spPr>
          <a:xfrm>
            <a:off x="777240" y="2898648"/>
            <a:ext cx="320040" cy="320040"/>
          </a:xfrm>
          <a:prstGeom prst="ellipse">
            <a:avLst/>
          </a:prstGeom>
          <a:solidFill>
            <a:srgbClr val="E8A33D"/>
          </a:solidFill>
          <a:ln>
            <a:noFill/>
          </a:ln>
        </p:spPr>
      </p:sp>
      <p:sp>
        <p:nvSpPr>
          <p:cNvPr id="14" name="Num text 14"/>
          <p:cNvSpPr txBox="1"/>
          <p:nvPr/>
        </p:nvSpPr>
        <p:spPr>
          <a:xfrm>
            <a:off x="777240" y="2898648"/>
            <a:ext cx="320040" cy="320040"/>
          </a:xfrm>
          <a:prstGeom prst="rect">
            <a:avLst/>
          </a:prstGeom>
          <a:noFill/>
          <a:ln>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5" name="Row text 15"/>
          <p:cNvSpPr txBox="1"/>
          <p:nvPr/>
        </p:nvSpPr>
        <p:spPr>
          <a:xfrm>
            <a:off x="1348740" y="2761488"/>
            <a:ext cx="10064240" cy="594360"/>
          </a:xfrm>
          <a:prstGeom prst="rect">
            <a:avLst/>
          </a:prstGeom>
          <a:noFill/>
          <a:ln>
            <a:noFill/>
          </a:ln>
        </p:spPr>
        <p:txBody>
          <a:bodyPr wrap="square" rtlCol="0" anchor="ctr"/>
          <a:lstStyle/>
          <a:p>
            <a:pPr algn="l" indent="0" marL="0">
              <a:buNone/>
            </a:pPr>
            <a:r>
              <a:rPr lang="en-US" sz="2000" dirty="0">
                <a:solidFill>
                  <a:srgbClr val="1F2429"/>
                </a:solidFill>
                <a:latin typeface="Calibri" pitchFamily="34" charset="0"/>
                <a:ea typeface="Calibri" pitchFamily="34" charset="-122"/>
                <a:cs typeface="Calibri" pitchFamily="34" charset="-120"/>
              </a:rPr>
              <a:t>The recovery manager's job</a:t>
            </a:r>
            <a:endParaRPr lang="en-US" sz="2000" dirty="0"/>
          </a:p>
        </p:txBody>
      </p:sp>
      <p:sp>
        <p:nvSpPr>
          <p:cNvPr id="16" name="Row 16"/>
          <p:cNvSpPr/>
          <p:nvPr/>
        </p:nvSpPr>
        <p:spPr>
          <a:xfrm>
            <a:off x="548640" y="3456432"/>
            <a:ext cx="11064240" cy="594360"/>
          </a:xfrm>
          <a:prstGeom prst="roundRect">
            <a:avLst>
              <a:gd name="adj" fmla="val 12000"/>
            </a:avLst>
          </a:prstGeom>
          <a:solidFill>
            <a:srgbClr val="FFFFFF"/>
          </a:solidFill>
          <a:ln w="22225">
            <a:solidFill>
              <a:srgbClr val="2FE6C4"/>
            </a:solidFill>
          </a:ln>
          <a:effectLst>
            <a:outerShdw blurRad="63500" dist="25400" dir="5400000" algn="bl" rotWithShape="0">
              <a:srgbClr val="1F2429">
                <a:alpha val="15000"/>
              </a:srgbClr>
            </a:outerShdw>
          </a:effectLst>
        </p:spPr>
      </p:sp>
      <p:sp>
        <p:nvSpPr>
          <p:cNvPr id="17" name="Num 17"/>
          <p:cNvSpPr/>
          <p:nvPr/>
        </p:nvSpPr>
        <p:spPr>
          <a:xfrm>
            <a:off x="777240" y="3593592"/>
            <a:ext cx="320040" cy="320040"/>
          </a:xfrm>
          <a:prstGeom prst="ellipse">
            <a:avLst/>
          </a:prstGeom>
          <a:solidFill>
            <a:srgbClr val="2FE6C4"/>
          </a:solidFill>
          <a:ln>
            <a:noFill/>
          </a:ln>
        </p:spPr>
      </p:sp>
      <p:sp>
        <p:nvSpPr>
          <p:cNvPr id="18" name="Num text 18"/>
          <p:cNvSpPr txBox="1"/>
          <p:nvPr/>
        </p:nvSpPr>
        <p:spPr>
          <a:xfrm>
            <a:off x="777240" y="3593592"/>
            <a:ext cx="320040" cy="320040"/>
          </a:xfrm>
          <a:prstGeom prst="rect">
            <a:avLst/>
          </a:prstGeom>
          <a:noFill/>
          <a:ln>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9" name="Row text 19"/>
          <p:cNvSpPr txBox="1"/>
          <p:nvPr/>
        </p:nvSpPr>
        <p:spPr>
          <a:xfrm>
            <a:off x="1348740" y="3456432"/>
            <a:ext cx="10064240" cy="594360"/>
          </a:xfrm>
          <a:prstGeom prst="rect">
            <a:avLst/>
          </a:prstGeom>
          <a:noFill/>
          <a:ln>
            <a:noFill/>
          </a:ln>
        </p:spPr>
        <p:txBody>
          <a:bodyPr wrap="square" rtlCol="0" anchor="ctr"/>
          <a:lstStyle/>
          <a:p>
            <a:pPr algn="l" indent="0" marL="0">
              <a:buNone/>
            </a:pPr>
            <a:r>
              <a:rPr lang="en-US" sz="2000" dirty="0">
                <a:solidFill>
                  <a:srgbClr val="1F2429"/>
                </a:solidFill>
                <a:latin typeface="Calibri" pitchFamily="34" charset="0"/>
                <a:ea typeface="Calibri" pitchFamily="34" charset="-122"/>
                <a:cs typeface="Calibri" pitchFamily="34" charset="-120"/>
              </a:rPr>
              <a:t>Log-based recovery, WAL, and a concrete violation to trace</a:t>
            </a:r>
            <a:endParaRPr lang="en-US" sz="2000" dirty="0"/>
          </a:p>
        </p:txBody>
      </p:sp>
      <p:sp>
        <p:nvSpPr>
          <p:cNvPr id="20" name="Row 20"/>
          <p:cNvSpPr/>
          <p:nvPr/>
        </p:nvSpPr>
        <p:spPr>
          <a:xfrm>
            <a:off x="548640" y="4151376"/>
            <a:ext cx="11064240" cy="594360"/>
          </a:xfrm>
          <a:prstGeom prst="roundRect">
            <a:avLst>
              <a:gd name="adj" fmla="val 12000"/>
            </a:avLst>
          </a:prstGeom>
          <a:solidFill>
            <a:srgbClr val="FFFFFF"/>
          </a:solidFill>
          <a:ln w="22225">
            <a:solidFill>
              <a:srgbClr val="8B7FD9"/>
            </a:solidFill>
          </a:ln>
          <a:effectLst>
            <a:outerShdw blurRad="63500" dist="25400" dir="5400000" algn="bl" rotWithShape="0">
              <a:srgbClr val="1F2429">
                <a:alpha val="15000"/>
              </a:srgbClr>
            </a:outerShdw>
          </a:effectLst>
        </p:spPr>
      </p:sp>
      <p:sp>
        <p:nvSpPr>
          <p:cNvPr id="21" name="Num 21"/>
          <p:cNvSpPr/>
          <p:nvPr/>
        </p:nvSpPr>
        <p:spPr>
          <a:xfrm>
            <a:off x="777240" y="4288536"/>
            <a:ext cx="320040" cy="320040"/>
          </a:xfrm>
          <a:prstGeom prst="ellipse">
            <a:avLst/>
          </a:prstGeom>
          <a:solidFill>
            <a:srgbClr val="8B7FD9"/>
          </a:solidFill>
          <a:ln>
            <a:noFill/>
          </a:ln>
        </p:spPr>
      </p:sp>
      <p:sp>
        <p:nvSpPr>
          <p:cNvPr id="22" name="Num text 22"/>
          <p:cNvSpPr txBox="1"/>
          <p:nvPr/>
        </p:nvSpPr>
        <p:spPr>
          <a:xfrm>
            <a:off x="777240" y="4288536"/>
            <a:ext cx="320040" cy="320040"/>
          </a:xfrm>
          <a:prstGeom prst="rect">
            <a:avLst/>
          </a:prstGeom>
          <a:noFill/>
          <a:ln>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3" name="Row text 23"/>
          <p:cNvSpPr txBox="1"/>
          <p:nvPr/>
        </p:nvSpPr>
        <p:spPr>
          <a:xfrm>
            <a:off x="1348740" y="4151376"/>
            <a:ext cx="10064240" cy="594360"/>
          </a:xfrm>
          <a:prstGeom prst="rect">
            <a:avLst/>
          </a:prstGeom>
          <a:noFill/>
          <a:ln>
            <a:noFill/>
          </a:ln>
        </p:spPr>
        <p:txBody>
          <a:bodyPr wrap="square" rtlCol="0" anchor="ctr"/>
          <a:lstStyle/>
          <a:p>
            <a:pPr algn="l" indent="0" marL="0">
              <a:buNone/>
            </a:pPr>
            <a:r>
              <a:rPr lang="en-US" sz="2000" dirty="0">
                <a:solidFill>
                  <a:srgbClr val="1F2429"/>
                </a:solidFill>
                <a:latin typeface="Calibri" pitchFamily="34" charset="0"/>
                <a:ea typeface="Calibri" pitchFamily="34" charset="-122"/>
                <a:cs typeface="Calibri" pitchFamily="34" charset="-120"/>
              </a:rPr>
              <a:t>Undo and redo, checkpointing, rollback and rollforward</a:t>
            </a:r>
            <a:endParaRPr lang="en-US" sz="2000" dirty="0"/>
          </a:p>
        </p:txBody>
      </p:sp>
      <p:sp>
        <p:nvSpPr>
          <p:cNvPr id="24" name="Row 24"/>
          <p:cNvSpPr/>
          <p:nvPr/>
        </p:nvSpPr>
        <p:spPr>
          <a:xfrm>
            <a:off x="548640" y="4846320"/>
            <a:ext cx="11064240" cy="594360"/>
          </a:xfrm>
          <a:prstGeom prst="roundRect">
            <a:avLst>
              <a:gd name="adj" fmla="val 12000"/>
            </a:avLst>
          </a:prstGeom>
          <a:solidFill>
            <a:srgbClr val="FFFFFF"/>
          </a:solidFill>
          <a:ln w="22225">
            <a:solidFill>
              <a:srgbClr val="E8A33D"/>
            </a:solidFill>
          </a:ln>
          <a:effectLst>
            <a:outerShdw blurRad="63500" dist="25400" dir="5400000" algn="bl" rotWithShape="0">
              <a:srgbClr val="1F2429">
                <a:alpha val="15000"/>
              </a:srgbClr>
            </a:outerShdw>
          </a:effectLst>
        </p:spPr>
      </p:sp>
      <p:sp>
        <p:nvSpPr>
          <p:cNvPr id="25" name="Num 25"/>
          <p:cNvSpPr/>
          <p:nvPr/>
        </p:nvSpPr>
        <p:spPr>
          <a:xfrm>
            <a:off x="777240" y="4983480"/>
            <a:ext cx="320040" cy="320040"/>
          </a:xfrm>
          <a:prstGeom prst="ellipse">
            <a:avLst/>
          </a:prstGeom>
          <a:solidFill>
            <a:srgbClr val="E8A33D"/>
          </a:solidFill>
          <a:ln>
            <a:noFill/>
          </a:ln>
        </p:spPr>
      </p:sp>
      <p:sp>
        <p:nvSpPr>
          <p:cNvPr id="26" name="Num text 26"/>
          <p:cNvSpPr txBox="1"/>
          <p:nvPr/>
        </p:nvSpPr>
        <p:spPr>
          <a:xfrm>
            <a:off x="777240" y="4983480"/>
            <a:ext cx="320040" cy="320040"/>
          </a:xfrm>
          <a:prstGeom prst="rect">
            <a:avLst/>
          </a:prstGeom>
          <a:noFill/>
          <a:ln>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6</a:t>
            </a:r>
            <a:endParaRPr lang="en-US" sz="2000" dirty="0"/>
          </a:p>
        </p:txBody>
      </p:sp>
      <p:sp>
        <p:nvSpPr>
          <p:cNvPr id="27" name="Row text 27"/>
          <p:cNvSpPr txBox="1"/>
          <p:nvPr/>
        </p:nvSpPr>
        <p:spPr>
          <a:xfrm>
            <a:off x="1348740" y="4846320"/>
            <a:ext cx="10064240" cy="594360"/>
          </a:xfrm>
          <a:prstGeom prst="rect">
            <a:avLst/>
          </a:prstGeom>
          <a:noFill/>
          <a:ln>
            <a:noFill/>
          </a:ln>
        </p:spPr>
        <p:txBody>
          <a:bodyPr wrap="square" rtlCol="0" anchor="ctr"/>
          <a:lstStyle/>
          <a:p>
            <a:pPr algn="l" indent="0" marL="0">
              <a:buNone/>
            </a:pPr>
            <a:r>
              <a:rPr lang="en-US" sz="2000" dirty="0">
                <a:solidFill>
                  <a:srgbClr val="1F2429"/>
                </a:solidFill>
                <a:latin typeface="Calibri" pitchFamily="34" charset="0"/>
                <a:ea typeface="Calibri" pitchFamily="34" charset="-122"/>
                <a:cs typeface="Calibri" pitchFamily="34" charset="-120"/>
              </a:rPr>
              <a:t>A step-by-step crash-recovery trace: classify, redo, undo</a:t>
            </a:r>
            <a:endParaRPr lang="en-US" sz="2000" dirty="0"/>
          </a:p>
        </p:txBody>
      </p:sp>
      <p:sp>
        <p:nvSpPr>
          <p:cNvPr id="28" name="Row 28"/>
          <p:cNvSpPr/>
          <p:nvPr/>
        </p:nvSpPr>
        <p:spPr>
          <a:xfrm>
            <a:off x="548640" y="5541264"/>
            <a:ext cx="11064240" cy="594360"/>
          </a:xfrm>
          <a:prstGeom prst="roundRect">
            <a:avLst>
              <a:gd name="adj" fmla="val 12000"/>
            </a:avLst>
          </a:prstGeom>
          <a:solidFill>
            <a:srgbClr val="FFFFFF"/>
          </a:solidFill>
          <a:ln w="22225">
            <a:solidFill>
              <a:srgbClr val="2FE6C4"/>
            </a:solidFill>
          </a:ln>
          <a:effectLst>
            <a:outerShdw blurRad="63500" dist="25400" dir="5400000" algn="bl" rotWithShape="0">
              <a:srgbClr val="1F2429">
                <a:alpha val="15000"/>
              </a:srgbClr>
            </a:outerShdw>
          </a:effectLst>
        </p:spPr>
      </p:sp>
      <p:sp>
        <p:nvSpPr>
          <p:cNvPr id="29" name="Num 29"/>
          <p:cNvSpPr/>
          <p:nvPr/>
        </p:nvSpPr>
        <p:spPr>
          <a:xfrm>
            <a:off x="777240" y="5678424"/>
            <a:ext cx="320040" cy="320040"/>
          </a:xfrm>
          <a:prstGeom prst="ellipse">
            <a:avLst/>
          </a:prstGeom>
          <a:solidFill>
            <a:srgbClr val="2FE6C4"/>
          </a:solidFill>
          <a:ln>
            <a:noFill/>
          </a:ln>
        </p:spPr>
      </p:sp>
      <p:sp>
        <p:nvSpPr>
          <p:cNvPr id="30" name="Num text 30"/>
          <p:cNvSpPr txBox="1"/>
          <p:nvPr/>
        </p:nvSpPr>
        <p:spPr>
          <a:xfrm>
            <a:off x="777240" y="5678424"/>
            <a:ext cx="320040" cy="320040"/>
          </a:xfrm>
          <a:prstGeom prst="rect">
            <a:avLst/>
          </a:prstGeom>
          <a:noFill/>
          <a:ln>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7</a:t>
            </a:r>
            <a:endParaRPr lang="en-US" sz="2000" dirty="0"/>
          </a:p>
        </p:txBody>
      </p:sp>
      <p:sp>
        <p:nvSpPr>
          <p:cNvPr id="31" name="Row text 31"/>
          <p:cNvSpPr txBox="1"/>
          <p:nvPr/>
        </p:nvSpPr>
        <p:spPr>
          <a:xfrm>
            <a:off x="1348740" y="5541264"/>
            <a:ext cx="10064240" cy="594360"/>
          </a:xfrm>
          <a:prstGeom prst="rect">
            <a:avLst/>
          </a:prstGeom>
          <a:noFill/>
          <a:ln>
            <a:noFill/>
          </a:ln>
        </p:spPr>
        <p:txBody>
          <a:bodyPr wrap="square" rtlCol="0" anchor="ctr"/>
          <a:lstStyle/>
          <a:p>
            <a:pPr algn="l" indent="0" marL="0">
              <a:buNone/>
            </a:pPr>
            <a:r>
              <a:rPr lang="en-US" sz="2000" dirty="0">
                <a:solidFill>
                  <a:srgbClr val="1F2429"/>
                </a:solidFill>
                <a:latin typeface="Calibri" pitchFamily="34" charset="0"/>
                <a:ea typeface="Calibri" pitchFamily="34" charset="-122"/>
                <a:cs typeface="Calibri" pitchFamily="34" charset="-120"/>
              </a:rPr>
              <a:t>Media-failure contrast, and key takeaways</a:t>
            </a:r>
            <a:endParaRPr lang="en-US" sz="2000" dirty="0"/>
          </a:p>
        </p:txBody>
      </p:sp>
      <p:sp>
        <p:nvSpPr>
          <p:cNvPr id="32" name="Footer 32"/>
          <p:cNvSpPr txBox="1"/>
          <p:nvPr/>
        </p:nvSpPr>
        <p:spPr>
          <a:xfrm>
            <a:off x="9951415" y="6455664"/>
            <a:ext cx="2011680" cy="292608"/>
          </a:xfrm>
          <a:prstGeom prst="rect">
            <a:avLst/>
          </a:prstGeom>
          <a:noFill/>
          <a:ln>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rPr>
              <a:t>cuinotes.com</a:t>
            </a:r>
            <a:r>
              <a:rPr lang="en-US" sz="1200" dirty="0">
                <a:solidFill>
                  <a:srgbClr val="8A939B"/>
                </a:solidFill>
                <a:latin typeface="Calibri" pitchFamily="34" charset="0"/>
                <a:ea typeface="Calibri" pitchFamily="34" charset="-122"/>
                <a:cs typeface="Calibri" pitchFamily="34" charset="-120"/>
              </a:rPr>
              <a:t>  ·  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NOT EVERY FAILURE IS THE SAME</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Types of Transaction Failure</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3</a:t>
            </a:r>
            <a:endParaRPr lang="en-US" sz="1200" dirty="0"/>
          </a:p>
        </p:txBody>
      </p:sp>
      <p:sp>
        <p:nvSpPr>
          <p:cNvPr id="5" name="Shape 3"/>
          <p:cNvSpPr/>
          <p:nvPr/>
        </p:nvSpPr>
        <p:spPr>
          <a:xfrm>
            <a:off x="548640" y="1463040"/>
            <a:ext cx="3474720" cy="4480560"/>
          </a:xfrm>
          <a:prstGeom prst="roundRect">
            <a:avLst>
              <a:gd name="adj" fmla="val 2105"/>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6" name="Shape 4"/>
          <p:cNvSpPr/>
          <p:nvPr/>
        </p:nvSpPr>
        <p:spPr>
          <a:xfrm>
            <a:off x="713232" y="1609344"/>
            <a:ext cx="201168" cy="201168"/>
          </a:xfrm>
          <a:prstGeom prst="ellipse">
            <a:avLst/>
          </a:prstGeom>
          <a:solidFill>
            <a:srgbClr val="2FE6C4"/>
          </a:solidFill>
          <a:ln/>
        </p:spPr>
      </p:sp>
      <p:sp>
        <p:nvSpPr>
          <p:cNvPr id="7" name="Text 5"/>
          <p:cNvSpPr txBox="1"/>
          <p:nvPr/>
        </p:nvSpPr>
        <p:spPr>
          <a:xfrm>
            <a:off x="1005840" y="1554480"/>
            <a:ext cx="283464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Transaction Failure</a:t>
            </a:r>
            <a:endParaRPr lang="en-US" sz="2000" dirty="0"/>
          </a:p>
        </p:txBody>
      </p:sp>
      <p:sp>
        <p:nvSpPr>
          <p:cNvPr id="8" name="Text 6"/>
          <p:cNvSpPr txBox="1"/>
          <p:nvPr/>
        </p:nvSpPr>
        <p:spPr>
          <a:xfrm>
            <a:off x="749808" y="1965960"/>
            <a:ext cx="3072384" cy="388620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Logical error: a constraint violation, a deadlock victim selection, a division by zero, or an explicit ROLLBACK. The DBMS and hardware are fine — only this one transaction needs undoing.</a:t>
            </a:r>
            <a:endParaRPr lang="en-US" sz="1800" dirty="0"/>
          </a:p>
        </p:txBody>
      </p:sp>
      <p:sp>
        <p:nvSpPr>
          <p:cNvPr id="9" name="Shape 7"/>
          <p:cNvSpPr/>
          <p:nvPr/>
        </p:nvSpPr>
        <p:spPr>
          <a:xfrm>
            <a:off x="4343400" y="1463040"/>
            <a:ext cx="3474720" cy="4480560"/>
          </a:xfrm>
          <a:prstGeom prst="roundRect">
            <a:avLst>
              <a:gd name="adj" fmla="val 2105"/>
            </a:avLst>
          </a:prstGeom>
          <a:solidFill>
            <a:srgbClr val="FFFFFF"/>
          </a:solidFill>
          <a:ln w="22225">
            <a:solidFill>
              <a:srgbClr val="8B7FD9"/>
            </a:solidFill>
            <a:prstDash val="solid"/>
          </a:ln>
          <a:effectLst>
            <a:outerShdw sx="100000" sy="100000" kx="0" ky="0" algn="bl" rotWithShape="0" blurRad="63500" dist="25400" dir="5400000">
              <a:srgbClr val="1F2429">
                <a:alpha val="15000"/>
              </a:srgbClr>
            </a:outerShdw>
          </a:effectLst>
        </p:spPr>
      </p:sp>
      <p:sp>
        <p:nvSpPr>
          <p:cNvPr id="10" name="Shape 8"/>
          <p:cNvSpPr/>
          <p:nvPr/>
        </p:nvSpPr>
        <p:spPr>
          <a:xfrm>
            <a:off x="4507992" y="1609344"/>
            <a:ext cx="201168" cy="201168"/>
          </a:xfrm>
          <a:prstGeom prst="ellipse">
            <a:avLst/>
          </a:prstGeom>
          <a:solidFill>
            <a:srgbClr val="8B7FD9"/>
          </a:solidFill>
          <a:ln/>
        </p:spPr>
      </p:sp>
      <p:sp>
        <p:nvSpPr>
          <p:cNvPr id="11" name="Text 9"/>
          <p:cNvSpPr txBox="1"/>
          <p:nvPr/>
        </p:nvSpPr>
        <p:spPr>
          <a:xfrm>
            <a:off x="4800600" y="1554480"/>
            <a:ext cx="283464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System Crash</a:t>
            </a:r>
            <a:endParaRPr lang="en-US" sz="2000" dirty="0"/>
          </a:p>
        </p:txBody>
      </p:sp>
      <p:sp>
        <p:nvSpPr>
          <p:cNvPr id="12" name="Text 10"/>
          <p:cNvSpPr txBox="1"/>
          <p:nvPr/>
        </p:nvSpPr>
        <p:spPr>
          <a:xfrm>
            <a:off x="4544568" y="1965960"/>
            <a:ext cx="3072384" cy="388620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The DBMS, OS, or machine stops unexpectedly — but the disk remains intact. Everything in volatile memory at the moment of the crash is lost.</a:t>
            </a:r>
            <a:endParaRPr lang="en-US" sz="1800" dirty="0"/>
          </a:p>
        </p:txBody>
      </p:sp>
      <p:sp>
        <p:nvSpPr>
          <p:cNvPr id="13" name="Shape 11"/>
          <p:cNvSpPr/>
          <p:nvPr/>
        </p:nvSpPr>
        <p:spPr>
          <a:xfrm>
            <a:off x="8138160" y="1463040"/>
            <a:ext cx="3474720" cy="4480560"/>
          </a:xfrm>
          <a:prstGeom prst="roundRect">
            <a:avLst>
              <a:gd name="adj" fmla="val 2105"/>
            </a:avLst>
          </a:prstGeom>
          <a:solidFill>
            <a:srgbClr val="FFFFFF"/>
          </a:solidFill>
          <a:ln w="22225">
            <a:solidFill>
              <a:srgbClr val="E8A33D"/>
            </a:solidFill>
            <a:prstDash val="solid"/>
          </a:ln>
          <a:effectLst>
            <a:outerShdw sx="100000" sy="100000" kx="0" ky="0" algn="bl" rotWithShape="0" blurRad="63500" dist="25400" dir="5400000">
              <a:srgbClr val="1F2429">
                <a:alpha val="15000"/>
              </a:srgbClr>
            </a:outerShdw>
          </a:effectLst>
        </p:spPr>
      </p:sp>
      <p:sp>
        <p:nvSpPr>
          <p:cNvPr id="14" name="Shape 12"/>
          <p:cNvSpPr/>
          <p:nvPr/>
        </p:nvSpPr>
        <p:spPr>
          <a:xfrm>
            <a:off x="8302752" y="1609344"/>
            <a:ext cx="201168" cy="201168"/>
          </a:xfrm>
          <a:prstGeom prst="ellipse">
            <a:avLst/>
          </a:prstGeom>
          <a:solidFill>
            <a:srgbClr val="E8A33D"/>
          </a:solidFill>
          <a:ln/>
        </p:spPr>
      </p:sp>
      <p:sp>
        <p:nvSpPr>
          <p:cNvPr id="15" name="Text 13"/>
          <p:cNvSpPr txBox="1"/>
          <p:nvPr/>
        </p:nvSpPr>
        <p:spPr>
          <a:xfrm>
            <a:off x="8595360" y="1554480"/>
            <a:ext cx="283464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Media (Disk) Failure</a:t>
            </a:r>
            <a:endParaRPr lang="en-US" sz="2000" dirty="0"/>
          </a:p>
        </p:txBody>
      </p:sp>
      <p:sp>
        <p:nvSpPr>
          <p:cNvPr id="16" name="Text 14"/>
          <p:cNvSpPr txBox="1"/>
          <p:nvPr/>
        </p:nvSpPr>
        <p:spPr>
          <a:xfrm>
            <a:off x="8339328" y="1965960"/>
            <a:ext cx="3072384" cy="388620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The storage device itself is damaged or destroyed. Unlike a system crash, the data ON DISK is no longer trustworthy or accessible at all.</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DIFFERENT LOSSES, DIFFERENT RECOVERY</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System Failure vs. Media Failure</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4</a:t>
            </a:r>
            <a:endParaRPr lang="en-US" sz="1200" dirty="0"/>
          </a:p>
        </p:txBody>
      </p:sp>
      <p:sp>
        <p:nvSpPr>
          <p:cNvPr id="5" name="Shape 3"/>
          <p:cNvSpPr/>
          <p:nvPr/>
        </p:nvSpPr>
        <p:spPr>
          <a:xfrm>
            <a:off x="548640" y="1463040"/>
            <a:ext cx="5372100" cy="2103120"/>
          </a:xfrm>
          <a:prstGeom prst="roundRect">
            <a:avLst>
              <a:gd name="adj" fmla="val 3478"/>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6" name="Shape 4"/>
          <p:cNvSpPr/>
          <p:nvPr/>
        </p:nvSpPr>
        <p:spPr>
          <a:xfrm>
            <a:off x="713232" y="1609344"/>
            <a:ext cx="201168" cy="201168"/>
          </a:xfrm>
          <a:prstGeom prst="ellipse">
            <a:avLst/>
          </a:prstGeom>
          <a:solidFill>
            <a:srgbClr val="2FE6C4"/>
          </a:solidFill>
          <a:ln/>
        </p:spPr>
      </p:sp>
      <p:sp>
        <p:nvSpPr>
          <p:cNvPr id="7" name="Text 5"/>
          <p:cNvSpPr txBox="1"/>
          <p:nvPr/>
        </p:nvSpPr>
        <p:spPr>
          <a:xfrm>
            <a:off x="1005840" y="1554480"/>
            <a:ext cx="473202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System Failure</a:t>
            </a:r>
            <a:endParaRPr lang="en-US" sz="2000" dirty="0"/>
          </a:p>
        </p:txBody>
      </p:sp>
      <p:sp>
        <p:nvSpPr>
          <p:cNvPr id="8" name="Text 6"/>
          <p:cNvSpPr txBox="1"/>
          <p:nvPr/>
        </p:nvSpPr>
        <p:spPr>
          <a:xfrm>
            <a:off x="749808" y="1965960"/>
            <a:ext cx="4969764" cy="150876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Volatile memory (RAM) is lost. Disk is intact. Recovery replays the log against the existing disk data — no backup needed.</a:t>
            </a:r>
            <a:endParaRPr lang="en-US" sz="1800" dirty="0"/>
          </a:p>
        </p:txBody>
      </p:sp>
      <p:sp>
        <p:nvSpPr>
          <p:cNvPr id="9" name="Shape 7"/>
          <p:cNvSpPr/>
          <p:nvPr/>
        </p:nvSpPr>
        <p:spPr>
          <a:xfrm>
            <a:off x="6240780" y="1463040"/>
            <a:ext cx="5372100" cy="2103120"/>
          </a:xfrm>
          <a:prstGeom prst="roundRect">
            <a:avLst>
              <a:gd name="adj" fmla="val 3478"/>
            </a:avLst>
          </a:prstGeom>
          <a:solidFill>
            <a:srgbClr val="FFFFFF"/>
          </a:solidFill>
          <a:ln w="22225">
            <a:solidFill>
              <a:srgbClr val="E8A33D"/>
            </a:solidFill>
            <a:prstDash val="solid"/>
          </a:ln>
          <a:effectLst>
            <a:outerShdw sx="100000" sy="100000" kx="0" ky="0" algn="bl" rotWithShape="0" blurRad="63500" dist="25400" dir="5400000">
              <a:srgbClr val="1F2429">
                <a:alpha val="15000"/>
              </a:srgbClr>
            </a:outerShdw>
          </a:effectLst>
        </p:spPr>
      </p:sp>
      <p:sp>
        <p:nvSpPr>
          <p:cNvPr id="10" name="Shape 8"/>
          <p:cNvSpPr/>
          <p:nvPr/>
        </p:nvSpPr>
        <p:spPr>
          <a:xfrm>
            <a:off x="6405372" y="1609344"/>
            <a:ext cx="201168" cy="201168"/>
          </a:xfrm>
          <a:prstGeom prst="ellipse">
            <a:avLst/>
          </a:prstGeom>
          <a:solidFill>
            <a:srgbClr val="E8A33D"/>
          </a:solidFill>
          <a:ln/>
        </p:spPr>
      </p:sp>
      <p:sp>
        <p:nvSpPr>
          <p:cNvPr id="11" name="Text 9"/>
          <p:cNvSpPr txBox="1"/>
          <p:nvPr/>
        </p:nvSpPr>
        <p:spPr>
          <a:xfrm>
            <a:off x="6697980" y="1554480"/>
            <a:ext cx="473202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Media Failure</a:t>
            </a:r>
            <a:endParaRPr lang="en-US" sz="2000" dirty="0"/>
          </a:p>
        </p:txBody>
      </p:sp>
      <p:sp>
        <p:nvSpPr>
          <p:cNvPr id="12" name="Text 10"/>
          <p:cNvSpPr txBox="1"/>
          <p:nvPr/>
        </p:nvSpPr>
        <p:spPr>
          <a:xfrm>
            <a:off x="6441948" y="1965960"/>
            <a:ext cx="4969764" cy="150876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The disk itself is lost or corrupted. Recovery must restore from the most recent backup, then apply the log to bring it forward to the point of failure.</a:t>
            </a:r>
            <a:endParaRPr lang="en-US" sz="1800" dirty="0"/>
          </a:p>
        </p:txBody>
      </p:sp>
      <p:sp>
        <p:nvSpPr>
          <p:cNvPr id="13" name="Shape 11"/>
          <p:cNvSpPr/>
          <p:nvPr/>
        </p:nvSpPr>
        <p:spPr>
          <a:xfrm>
            <a:off x="548640" y="3794760"/>
            <a:ext cx="11064240" cy="2057400"/>
          </a:xfrm>
          <a:prstGeom prst="roundRect">
            <a:avLst>
              <a:gd name="adj" fmla="val 3556"/>
            </a:avLst>
          </a:prstGeom>
          <a:solidFill>
            <a:srgbClr val="FFF7EA"/>
          </a:solidFill>
          <a:ln w="12700">
            <a:solidFill>
              <a:srgbClr val="E8A33D"/>
            </a:solidFill>
            <a:prstDash val="solid"/>
          </a:ln>
        </p:spPr>
      </p:sp>
      <p:sp>
        <p:nvSpPr>
          <p:cNvPr id="14" name="Text 12"/>
          <p:cNvSpPr txBox="1"/>
          <p:nvPr/>
        </p:nvSpPr>
        <p:spPr>
          <a:xfrm>
            <a:off x="822960" y="3950208"/>
            <a:ext cx="10515600" cy="1783080"/>
          </a:xfrm>
          <a:prstGeom prst="rect">
            <a:avLst/>
          </a:prstGeom>
          <a:noFill/>
          <a:ln/>
        </p:spPr>
        <p:txBody>
          <a:bodyPr wrap="square" rtlCol="0" anchor="t"/>
          <a:lstStyle/>
          <a:p>
            <a:pPr indent="0" marL="0">
              <a:lnSpc>
                <a:spcPct val="125000"/>
              </a:lnSpc>
              <a:buNone/>
            </a:pPr>
            <a:r>
              <a:rPr lang="en-US" sz="1800" b="1" dirty="0">
                <a:solidFill>
                  <a:srgbClr val="1F2429"/>
                </a:solidFill>
                <a:latin typeface="Calibri" pitchFamily="34" charset="0"/>
                <a:ea typeface="Calibri" pitchFamily="34" charset="-122"/>
                <a:cs typeface="Calibri" pitchFamily="34" charset="-120"/>
              </a:rPr>
              <a:t>A backup you have never restored is not a backup. </a:t>
            </a:r>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Teams routinely discover, only during an actual media failure, that their backup files were silently incomplete or never being written. The only way to trust a backup is to periodically actually restore it — on a test system — and confirm the result is complete and consistent.</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PRECISELY STATED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The Recovery Manager's Job</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5</a:t>
            </a:r>
            <a:endParaRPr lang="en-US" sz="1200" dirty="0"/>
          </a:p>
        </p:txBody>
      </p:sp>
      <p:sp>
        <p:nvSpPr>
          <p:cNvPr id="5" name="Text 3"/>
          <p:cNvSpPr txBox="1"/>
          <p:nvPr/>
        </p:nvSpPr>
        <p:spPr>
          <a:xfrm>
            <a:off x="548640" y="1371600"/>
            <a:ext cx="11064240" cy="822960"/>
          </a:xfrm>
          <a:prstGeom prst="rect">
            <a:avLst/>
          </a:prstGeom>
          <a:noFill/>
          <a:ln/>
        </p:spPr>
        <p:txBody>
          <a:bodyPr wrap="square" rtlCol="0" anchor="t"/>
          <a:lstStyle/>
          <a:p>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The recovery manager restores the database to a correct, consistent state after any failure — concretely, it must guarantee that Atomicity and Durability both hold despite the failure.</a:t>
            </a:r>
            <a:endParaRPr lang="en-US" sz="1800" dirty="0"/>
          </a:p>
        </p:txBody>
      </p:sp>
      <p:sp>
        <p:nvSpPr>
          <p:cNvPr id="6" name="Shape 4"/>
          <p:cNvSpPr/>
          <p:nvPr/>
        </p:nvSpPr>
        <p:spPr>
          <a:xfrm>
            <a:off x="548640" y="2423160"/>
            <a:ext cx="5372100" cy="1737360"/>
          </a:xfrm>
          <a:prstGeom prst="roundRect">
            <a:avLst>
              <a:gd name="adj" fmla="val 4211"/>
            </a:avLst>
          </a:prstGeom>
          <a:solidFill>
            <a:srgbClr val="FFFFFF"/>
          </a:solidFill>
          <a:ln w="22225">
            <a:solidFill>
              <a:srgbClr val="8B7FD9"/>
            </a:solidFill>
            <a:prstDash val="solid"/>
          </a:ln>
          <a:effectLst>
            <a:outerShdw sx="100000" sy="100000" kx="0" ky="0" algn="bl" rotWithShape="0" blurRad="63500" dist="25400" dir="5400000">
              <a:srgbClr val="1F2429">
                <a:alpha val="15000"/>
              </a:srgbClr>
            </a:outerShdw>
          </a:effectLst>
        </p:spPr>
      </p:sp>
      <p:sp>
        <p:nvSpPr>
          <p:cNvPr id="7" name="Shape 5"/>
          <p:cNvSpPr/>
          <p:nvPr/>
        </p:nvSpPr>
        <p:spPr>
          <a:xfrm>
            <a:off x="713232" y="2569464"/>
            <a:ext cx="201168" cy="201168"/>
          </a:xfrm>
          <a:prstGeom prst="ellipse">
            <a:avLst/>
          </a:prstGeom>
          <a:solidFill>
            <a:srgbClr val="8B7FD9"/>
          </a:solidFill>
          <a:ln/>
        </p:spPr>
      </p:sp>
      <p:sp>
        <p:nvSpPr>
          <p:cNvPr id="8" name="Text 6"/>
          <p:cNvSpPr txBox="1"/>
          <p:nvPr/>
        </p:nvSpPr>
        <p:spPr>
          <a:xfrm>
            <a:off x="1005840" y="2514600"/>
            <a:ext cx="473202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Atomicity, guaranteed</a:t>
            </a:r>
            <a:endParaRPr lang="en-US" sz="2000" dirty="0"/>
          </a:p>
        </p:txBody>
      </p:sp>
      <p:sp>
        <p:nvSpPr>
          <p:cNvPr id="9" name="Text 7"/>
          <p:cNvSpPr txBox="1"/>
          <p:nvPr/>
        </p:nvSpPr>
        <p:spPr>
          <a:xfrm>
            <a:off x="749808" y="2926080"/>
            <a:ext cx="4969764" cy="114300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Every transaction that had NOT committed must show none of its effects at all, exactly as if it had never run.</a:t>
            </a:r>
            <a:endParaRPr lang="en-US" sz="1800" dirty="0"/>
          </a:p>
        </p:txBody>
      </p:sp>
      <p:sp>
        <p:nvSpPr>
          <p:cNvPr id="10" name="Shape 8"/>
          <p:cNvSpPr/>
          <p:nvPr/>
        </p:nvSpPr>
        <p:spPr>
          <a:xfrm>
            <a:off x="6240780" y="2423160"/>
            <a:ext cx="5372100" cy="1737360"/>
          </a:xfrm>
          <a:prstGeom prst="roundRect">
            <a:avLst>
              <a:gd name="adj" fmla="val 4211"/>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11" name="Shape 9"/>
          <p:cNvSpPr/>
          <p:nvPr/>
        </p:nvSpPr>
        <p:spPr>
          <a:xfrm>
            <a:off x="6405372" y="2569464"/>
            <a:ext cx="201168" cy="201168"/>
          </a:xfrm>
          <a:prstGeom prst="ellipse">
            <a:avLst/>
          </a:prstGeom>
          <a:solidFill>
            <a:srgbClr val="2FE6C4"/>
          </a:solidFill>
          <a:ln/>
        </p:spPr>
      </p:sp>
      <p:sp>
        <p:nvSpPr>
          <p:cNvPr id="12" name="Text 10"/>
          <p:cNvSpPr txBox="1"/>
          <p:nvPr/>
        </p:nvSpPr>
        <p:spPr>
          <a:xfrm>
            <a:off x="6697980" y="2514600"/>
            <a:ext cx="473202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Durability, guaranteed</a:t>
            </a:r>
            <a:endParaRPr lang="en-US" sz="2000" dirty="0"/>
          </a:p>
        </p:txBody>
      </p:sp>
      <p:sp>
        <p:nvSpPr>
          <p:cNvPr id="13" name="Text 11"/>
          <p:cNvSpPr txBox="1"/>
          <p:nvPr/>
        </p:nvSpPr>
        <p:spPr>
          <a:xfrm>
            <a:off x="6441948" y="2926080"/>
            <a:ext cx="4969764" cy="114300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Every transaction that HAD committed before the failure must still show its effects afterward.</a:t>
            </a:r>
            <a:endParaRPr lang="en-US" sz="1800" dirty="0"/>
          </a:p>
        </p:txBody>
      </p:sp>
      <p:sp>
        <p:nvSpPr>
          <p:cNvPr id="14" name="Text 12"/>
          <p:cNvSpPr txBox="1"/>
          <p:nvPr/>
        </p:nvSpPr>
        <p:spPr>
          <a:xfrm>
            <a:off x="548640" y="4434840"/>
            <a:ext cx="11064240" cy="1188720"/>
          </a:xfrm>
          <a:prstGeom prst="rect">
            <a:avLst/>
          </a:prstGeom>
          <a:noFill/>
          <a:ln/>
        </p:spPr>
        <p:txBody>
          <a:bodyPr wrap="square" rtlCol="0" anchor="t"/>
          <a:lstStyle/>
          <a:p>
            <a:pPr indent="0" marL="0">
              <a:lnSpc>
                <a:spcPct val="125000"/>
              </a:lnSpc>
              <a:buNone/>
            </a:pPr>
            <a:r>
              <a:rPr lang="en-US" sz="1800" i="1" dirty="0">
                <a:solidFill>
                  <a:srgbClr val="6B7480"/>
                </a:solidFill>
                <a:latin typeface="Calibri" pitchFamily="34" charset="0"/>
                <a:ea typeface="Calibri" pitchFamily="34" charset="-122"/>
                <a:cs typeface="Calibri" pitchFamily="34" charset="-120"/>
              </a:rPr>
              <a:t>To do this without trusting anything held only in volatile memory at the moment of a crash, the recovery manager relies on a log — a sequential, append-only record of every change, written to stable storage independently of the data files themselves.</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THE ONE RULE THAT MAKES THIS RELIABLE</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Log-Based Recovery &amp; Write-Ahead Logging</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6</a:t>
            </a:r>
            <a:endParaRPr lang="en-US" sz="1200" dirty="0"/>
          </a:p>
        </p:txBody>
      </p:sp>
      <p:sp>
        <p:nvSpPr>
          <p:cNvPr id="5" name="Text 3"/>
          <p:cNvSpPr txBox="1"/>
          <p:nvPr/>
        </p:nvSpPr>
        <p:spPr>
          <a:xfrm>
            <a:off x="548640" y="1325880"/>
            <a:ext cx="11064240" cy="822960"/>
          </a:xfrm>
          <a:prstGeom prst="rect">
            <a:avLst/>
          </a:prstGeom>
          <a:noFill/>
          <a:ln/>
        </p:spPr>
        <p:txBody>
          <a:bodyPr wrap="square" rtlCol="0" anchor="t"/>
          <a:lstStyle/>
          <a:p>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Each log record captures: the transaction ID, the data item changed, its old value (for undo), and its new value (for redo). The write-ahead logging (WAL) protocol states the rule that makes this reliable:</a:t>
            </a:r>
            <a:endParaRPr lang="en-US" sz="1800" dirty="0"/>
          </a:p>
        </p:txBody>
      </p:sp>
      <p:sp>
        <p:nvSpPr>
          <p:cNvPr id="6" name="Shape 4"/>
          <p:cNvSpPr/>
          <p:nvPr/>
        </p:nvSpPr>
        <p:spPr>
          <a:xfrm>
            <a:off x="548640" y="2194560"/>
            <a:ext cx="11064240" cy="731520"/>
          </a:xfrm>
          <a:prstGeom prst="roundRect">
            <a:avLst>
              <a:gd name="adj" fmla="val 10000"/>
            </a:avLst>
          </a:prstGeom>
          <a:solidFill>
            <a:srgbClr val="14181C"/>
          </a:solidFill>
          <a:ln/>
        </p:spPr>
      </p:sp>
      <p:sp>
        <p:nvSpPr>
          <p:cNvPr id="7" name="Text 5"/>
          <p:cNvSpPr txBox="1"/>
          <p:nvPr/>
        </p:nvSpPr>
        <p:spPr>
          <a:xfrm>
            <a:off x="822960" y="2194560"/>
            <a:ext cx="10515600" cy="731520"/>
          </a:xfrm>
          <a:prstGeom prst="rect">
            <a:avLst/>
          </a:prstGeom>
          <a:noFill/>
          <a:ln/>
        </p:spPr>
        <p:txBody>
          <a:bodyPr wrap="square" rtlCol="0" anchor="ctr"/>
          <a:lstStyle/>
          <a:p>
            <a:pPr indent="0" marL="0">
              <a:buNone/>
            </a:pPr>
            <a:r>
              <a:rPr lang="en-US" sz="1800" b="1" dirty="0">
                <a:solidFill>
                  <a:srgbClr val="2FE6C4"/>
                </a:solidFill>
                <a:latin typeface="Calibri" pitchFamily="34" charset="0"/>
                <a:ea typeface="Calibri" pitchFamily="34" charset="-122"/>
                <a:cs typeface="Calibri" pitchFamily="34" charset="-120"/>
              </a:rPr>
              <a:t>A log record describing a change must be written to stable storage BEFORE the data page it describes is written to disk.</a:t>
            </a:r>
            <a:endParaRPr lang="en-US" sz="1800" dirty="0"/>
          </a:p>
        </p:txBody>
      </p:sp>
      <p:sp>
        <p:nvSpPr>
          <p:cNvPr id="8" name="Shape 6"/>
          <p:cNvSpPr/>
          <p:nvPr/>
        </p:nvSpPr>
        <p:spPr>
          <a:xfrm>
            <a:off x="548640" y="3246120"/>
            <a:ext cx="5326380" cy="1463040"/>
          </a:xfrm>
          <a:prstGeom prst="roundRect">
            <a:avLst>
              <a:gd name="adj" fmla="val 5000"/>
            </a:avLst>
          </a:prstGeom>
          <a:solidFill>
            <a:srgbClr val="FFFFFF"/>
          </a:solidFill>
          <a:ln w="22225">
            <a:solidFill>
              <a:srgbClr val="2FE6C4"/>
            </a:solidFill>
            <a:prstDash val="solid"/>
          </a:ln>
          <a:effectLst>
            <a:outerShdw sx="100000" sy="100000" kx="0" ky="0" algn="bl" rotWithShape="0" blurRad="76200" dist="25400" dir="5400000">
              <a:srgbClr val="1F2429">
                <a:alpha val="18000"/>
              </a:srgbClr>
            </a:outerShdw>
          </a:effectLst>
        </p:spPr>
      </p:sp>
      <p:sp>
        <p:nvSpPr>
          <p:cNvPr id="9" name="Shape 7"/>
          <p:cNvSpPr/>
          <p:nvPr/>
        </p:nvSpPr>
        <p:spPr>
          <a:xfrm>
            <a:off x="694944" y="3374136"/>
            <a:ext cx="310896" cy="91440"/>
          </a:xfrm>
          <a:prstGeom prst="rect">
            <a:avLst/>
          </a:prstGeom>
          <a:solidFill>
            <a:srgbClr val="2FE6C4"/>
          </a:solidFill>
          <a:ln/>
        </p:spPr>
      </p:sp>
      <p:sp>
        <p:nvSpPr>
          <p:cNvPr id="10" name="Text 8"/>
          <p:cNvSpPr txBox="1"/>
          <p:nvPr/>
        </p:nvSpPr>
        <p:spPr>
          <a:xfrm>
            <a:off x="694944" y="3520440"/>
            <a:ext cx="5033772" cy="585216"/>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1. Log record written</a:t>
            </a:r>
            <a:endParaRPr lang="en-US" sz="2000" dirty="0"/>
          </a:p>
        </p:txBody>
      </p:sp>
      <p:sp>
        <p:nvSpPr>
          <p:cNvPr id="11" name="Text 9"/>
          <p:cNvSpPr txBox="1"/>
          <p:nvPr/>
        </p:nvSpPr>
        <p:spPr>
          <a:xfrm>
            <a:off x="694944" y="4076395"/>
            <a:ext cx="5033772" cy="523037"/>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Old value, new value, transaction ID — flushed to stable storage.</a:t>
            </a:r>
            <a:endParaRPr lang="en-US" sz="1800" dirty="0"/>
          </a:p>
        </p:txBody>
      </p:sp>
      <p:sp>
        <p:nvSpPr>
          <p:cNvPr id="12" name="Shape 10"/>
          <p:cNvSpPr/>
          <p:nvPr/>
        </p:nvSpPr>
        <p:spPr>
          <a:xfrm>
            <a:off x="5875020" y="3977640"/>
            <a:ext cx="411480" cy="0"/>
          </a:xfrm>
          <a:prstGeom prst="line">
            <a:avLst/>
          </a:prstGeom>
          <a:noFill/>
          <a:ln w="25400">
            <a:solidFill>
              <a:srgbClr val="8A939B"/>
            </a:solidFill>
            <a:prstDash val="solid"/>
            <a:tailEnd type="triangle"/>
          </a:ln>
        </p:spPr>
      </p:sp>
      <p:sp>
        <p:nvSpPr>
          <p:cNvPr id="13" name="Shape 11"/>
          <p:cNvSpPr/>
          <p:nvPr/>
        </p:nvSpPr>
        <p:spPr>
          <a:xfrm>
            <a:off x="6286500" y="3246120"/>
            <a:ext cx="5326380" cy="1463040"/>
          </a:xfrm>
          <a:prstGeom prst="roundRect">
            <a:avLst>
              <a:gd name="adj" fmla="val 5000"/>
            </a:avLst>
          </a:prstGeom>
          <a:solidFill>
            <a:srgbClr val="FFFFFF"/>
          </a:solidFill>
          <a:ln w="22225">
            <a:solidFill>
              <a:srgbClr val="8B7FD9"/>
            </a:solidFill>
            <a:prstDash val="solid"/>
          </a:ln>
          <a:effectLst>
            <a:outerShdw sx="100000" sy="100000" kx="0" ky="0" algn="bl" rotWithShape="0" blurRad="76200" dist="25400" dir="5400000">
              <a:srgbClr val="1F2429">
                <a:alpha val="18000"/>
              </a:srgbClr>
            </a:outerShdw>
          </a:effectLst>
        </p:spPr>
      </p:sp>
      <p:sp>
        <p:nvSpPr>
          <p:cNvPr id="14" name="Shape 12"/>
          <p:cNvSpPr/>
          <p:nvPr/>
        </p:nvSpPr>
        <p:spPr>
          <a:xfrm>
            <a:off x="6432804" y="3374136"/>
            <a:ext cx="310896" cy="91440"/>
          </a:xfrm>
          <a:prstGeom prst="rect">
            <a:avLst/>
          </a:prstGeom>
          <a:solidFill>
            <a:srgbClr val="8B7FD9"/>
          </a:solidFill>
          <a:ln/>
        </p:spPr>
      </p:sp>
      <p:sp>
        <p:nvSpPr>
          <p:cNvPr id="15" name="Text 13"/>
          <p:cNvSpPr txBox="1"/>
          <p:nvPr/>
        </p:nvSpPr>
        <p:spPr>
          <a:xfrm>
            <a:off x="6432804" y="3520440"/>
            <a:ext cx="5033772" cy="585216"/>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2. Data page written</a:t>
            </a:r>
            <a:endParaRPr lang="en-US" sz="2000" dirty="0"/>
          </a:p>
        </p:txBody>
      </p:sp>
      <p:sp>
        <p:nvSpPr>
          <p:cNvPr id="16" name="Text 14"/>
          <p:cNvSpPr txBox="1"/>
          <p:nvPr/>
        </p:nvSpPr>
        <p:spPr>
          <a:xfrm>
            <a:off x="6432804" y="4076395"/>
            <a:ext cx="5033772" cy="523037"/>
          </a:xfrm>
          <a:prstGeom prst="rect">
            <a:avLst/>
          </a:prstGeom>
          <a:noFill/>
          <a:ln/>
        </p:spPr>
        <p:txBody>
          <a:bodyPr wrap="square" rtlCol="0" anchor="t"/>
          <a:lstStyle/>
          <a:p>
            <a:pPr indent="0" marL="0">
              <a:lnSpc>
                <a:spcPct val="108000"/>
              </a:lnSpc>
              <a:buNone/>
            </a:pPr>
            <a:r>
              <a:rPr lang="en-US" sz="1800" dirty="0">
                <a:solidFill>
                  <a:srgbClr val="6B7480"/>
                </a:solidFill>
                <a:latin typeface="Calibri" pitchFamily="34" charset="0"/>
                <a:ea typeface="Calibri" pitchFamily="34" charset="-122"/>
                <a:cs typeface="Calibri" pitchFamily="34" charset="-120"/>
              </a:rPr>
              <a:t>The actual table/index page is updated on disk — only after step 1.</a:t>
            </a:r>
            <a:endParaRPr lang="en-US" sz="1800" dirty="0"/>
          </a:p>
        </p:txBody>
      </p:sp>
      <p:sp>
        <p:nvSpPr>
          <p:cNvPr id="17" name="Text 15"/>
          <p:cNvSpPr txBox="1"/>
          <p:nvPr/>
        </p:nvSpPr>
        <p:spPr>
          <a:xfrm>
            <a:off x="548640" y="4983480"/>
            <a:ext cx="11064240" cy="1097280"/>
          </a:xfrm>
          <a:prstGeom prst="rect">
            <a:avLst/>
          </a:prstGeom>
          <a:noFill/>
          <a:ln/>
        </p:spPr>
        <p:txBody>
          <a:bodyPr wrap="square" rtlCol="0" anchor="t"/>
          <a:lstStyle/>
          <a:p>
            <a:pPr indent="0" marL="0">
              <a:lnSpc>
                <a:spcPct val="122000"/>
              </a:lnSpc>
              <a:buNone/>
            </a:pPr>
            <a:r>
              <a:rPr lang="en-US" sz="1800" dirty="0">
                <a:solidFill>
                  <a:srgbClr val="1F2429"/>
                </a:solidFill>
                <a:latin typeface="Calibri" pitchFamily="34" charset="0"/>
                <a:ea typeface="Calibri" pitchFamily="34" charset="-122"/>
                <a:cs typeface="Calibri" pitchFamily="34" charset="-120"/>
              </a:rPr>
              <a:t>If the data page were written first and the crash happened before the log record, there would be no record of what changed or how to undo it. Writing the log first guarantees the only possible failure mode is a change the redo step can fix.</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TWO COMPLEMENTARY OPERATIONS</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Undo and Redo</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9</a:t>
            </a:r>
            <a:endParaRPr lang="en-US" sz="1200" dirty="0"/>
          </a:p>
        </p:txBody>
      </p:sp>
      <p:sp>
        <p:nvSpPr>
          <p:cNvPr id="5" name="Text 3"/>
          <p:cNvSpPr txBox="1"/>
          <p:nvPr/>
        </p:nvSpPr>
        <p:spPr>
          <a:xfrm>
            <a:off x="548640" y="1417320"/>
            <a:ext cx="5349240" cy="292608"/>
          </a:xfrm>
          <a:prstGeom prst="rect">
            <a:avLst/>
          </a:prstGeom>
          <a:noFill/>
          <a:ln/>
        </p:spPr>
        <p:txBody>
          <a:bodyPr wrap="square" rtlCol="0" anchor="ctr"/>
          <a:lstStyle/>
          <a:p>
            <a:pPr indent="0" marL="0">
              <a:buNone/>
            </a:pPr>
            <a:r>
              <a:rPr lang="en-US" sz="2000" b="1" dirty="0">
                <a:solidFill>
                  <a:srgbClr val="E8A33D"/>
                </a:solidFill>
                <a:latin typeface="Calibri" pitchFamily="34" charset="0"/>
                <a:ea typeface="Calibri" pitchFamily="34" charset="-122"/>
                <a:cs typeface="Calibri" pitchFamily="34" charset="-120"/>
              </a:rPr>
              <a:t>Undo</a:t>
            </a:r>
            <a:endParaRPr lang="en-US" sz="2000" dirty="0"/>
          </a:p>
        </p:txBody>
      </p:sp>
      <p:sp>
        <p:nvSpPr>
          <p:cNvPr id="6" name="Shape 4"/>
          <p:cNvSpPr/>
          <p:nvPr/>
        </p:nvSpPr>
        <p:spPr>
          <a:xfrm>
            <a:off x="548640" y="1783080"/>
            <a:ext cx="5349240" cy="3794760"/>
          </a:xfrm>
          <a:prstGeom prst="roundRect">
            <a:avLst>
              <a:gd name="adj" fmla="val 1928"/>
            </a:avLst>
          </a:prstGeom>
          <a:solidFill>
            <a:srgbClr val="FFFFFF"/>
          </a:solidFill>
          <a:ln w="19050">
            <a:solidFill>
              <a:srgbClr val="E8A33D"/>
            </a:solidFill>
            <a:prstDash val="solid"/>
          </a:ln>
        </p:spPr>
      </p:sp>
      <p:sp>
        <p:nvSpPr>
          <p:cNvPr id="7" name="Text 5"/>
          <p:cNvSpPr txBox="1"/>
          <p:nvPr/>
        </p:nvSpPr>
        <p:spPr>
          <a:xfrm>
            <a:off x="777240" y="1965960"/>
            <a:ext cx="4892040" cy="3520440"/>
          </a:xfrm>
          <a:prstGeom prst="rect">
            <a:avLst/>
          </a:prstGeom>
          <a:noFill/>
          <a:ln/>
        </p:spPr>
        <p:txBody>
          <a:bodyPr wrap="square" rtlCol="0" anchor="t"/>
          <a:lstStyle/>
          <a:p>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Reverses the effect of a transaction that had NOT committed at the time of the crash, using each log record's old value to restore the data item. Every uncommitted transaction active at the moment of the crash must be fully undone — Atomicity demands it leaves no partial trace.</a:t>
            </a:r>
            <a:endParaRPr lang="en-US" sz="1800" dirty="0"/>
          </a:p>
        </p:txBody>
      </p:sp>
      <p:sp>
        <p:nvSpPr>
          <p:cNvPr id="8" name="Text 6"/>
          <p:cNvSpPr txBox="1"/>
          <p:nvPr/>
        </p:nvSpPr>
        <p:spPr>
          <a:xfrm>
            <a:off x="6263640" y="1417320"/>
            <a:ext cx="5349240" cy="292608"/>
          </a:xfrm>
          <a:prstGeom prst="rect">
            <a:avLst/>
          </a:prstGeom>
          <a:noFill/>
          <a:ln/>
        </p:spPr>
        <p:txBody>
          <a:bodyPr wrap="square" rtlCol="0" anchor="ctr"/>
          <a:lstStyle/>
          <a:p>
            <a:pPr indent="0" marL="0">
              <a:buNone/>
            </a:pPr>
            <a:r>
              <a:rPr lang="en-US" sz="2000" b="1" dirty="0">
                <a:solidFill>
                  <a:srgbClr val="2FE6C4"/>
                </a:solidFill>
                <a:latin typeface="Calibri" pitchFamily="34" charset="0"/>
                <a:ea typeface="Calibri" pitchFamily="34" charset="-122"/>
                <a:cs typeface="Calibri" pitchFamily="34" charset="-120"/>
              </a:rPr>
              <a:t>Redo</a:t>
            </a:r>
            <a:endParaRPr lang="en-US" sz="2000" dirty="0"/>
          </a:p>
        </p:txBody>
      </p:sp>
      <p:sp>
        <p:nvSpPr>
          <p:cNvPr id="9" name="Shape 7"/>
          <p:cNvSpPr/>
          <p:nvPr/>
        </p:nvSpPr>
        <p:spPr>
          <a:xfrm>
            <a:off x="6263640" y="1783080"/>
            <a:ext cx="5349240" cy="3794760"/>
          </a:xfrm>
          <a:prstGeom prst="roundRect">
            <a:avLst>
              <a:gd name="adj" fmla="val 1928"/>
            </a:avLst>
          </a:prstGeom>
          <a:solidFill>
            <a:srgbClr val="FFFFFF"/>
          </a:solidFill>
          <a:ln w="19050">
            <a:solidFill>
              <a:srgbClr val="2FE6C4"/>
            </a:solidFill>
            <a:prstDash val="solid"/>
          </a:ln>
        </p:spPr>
      </p:sp>
      <p:sp>
        <p:nvSpPr>
          <p:cNvPr id="10" name="Text 8"/>
          <p:cNvSpPr txBox="1"/>
          <p:nvPr/>
        </p:nvSpPr>
        <p:spPr>
          <a:xfrm>
            <a:off x="6492240" y="1965960"/>
            <a:ext cx="4892040" cy="2194560"/>
          </a:xfrm>
          <a:prstGeom prst="rect">
            <a:avLst/>
          </a:prstGeom>
          <a:noFill/>
          <a:ln/>
        </p:spPr>
        <p:txBody>
          <a:bodyPr wrap="square" rtlCol="0" anchor="t"/>
          <a:lstStyle/>
          <a:p>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Reapplies the effect of a transaction that HAD committed, using each log record's new value, to guarantee its change is actually present on disk — WAL only guarantees the log record was written before the crash, not that the data page write had completed.</a:t>
            </a:r>
            <a:endParaRPr lang="en-US" sz="1800" dirty="0"/>
          </a:p>
        </p:txBody>
      </p:sp>
      <p:sp>
        <p:nvSpPr>
          <p:cNvPr id="11" name="Shape 9"/>
          <p:cNvSpPr/>
          <p:nvPr/>
        </p:nvSpPr>
        <p:spPr>
          <a:xfrm>
            <a:off x="6492240" y="4251960"/>
            <a:ext cx="4892040" cy="1188720"/>
          </a:xfrm>
          <a:prstGeom prst="roundRect">
            <a:avLst>
              <a:gd name="adj" fmla="val 4615"/>
            </a:avLst>
          </a:prstGeom>
          <a:solidFill>
            <a:srgbClr val="E9FBF6"/>
          </a:solidFill>
          <a:ln/>
        </p:spPr>
      </p:sp>
      <p:sp>
        <p:nvSpPr>
          <p:cNvPr id="12" name="Text 10"/>
          <p:cNvSpPr txBox="1"/>
          <p:nvPr/>
        </p:nvSpPr>
        <p:spPr>
          <a:xfrm>
            <a:off x="6675120" y="4343400"/>
            <a:ext cx="4526280" cy="1005840"/>
          </a:xfrm>
          <a:prstGeom prst="rect">
            <a:avLst/>
          </a:prstGeom>
          <a:noFill/>
          <a:ln/>
        </p:spPr>
        <p:txBody>
          <a:bodyPr wrap="square" rtlCol="0" anchor="t"/>
          <a:lstStyle/>
          <a:p>
            <a:pPr indent="0" marL="0">
              <a:lnSpc>
                <a:spcPct val="120000"/>
              </a:lnSpc>
              <a:buNone/>
            </a:pPr>
            <a:r>
              <a:rPr lang="en-US" sz="1800" b="1" dirty="0">
                <a:solidFill>
                  <a:srgbClr val="0E9E85"/>
                </a:solidFill>
                <a:latin typeface="Calibri" pitchFamily="34" charset="0"/>
                <a:ea typeface="Calibri" pitchFamily="34" charset="-122"/>
                <a:cs typeface="Calibri" pitchFamily="34" charset="-120"/>
              </a:rPr>
              <a:t>Redo is idempotent on purpose: </a:t>
            </a:r>
            <a:pPr indent="0" marL="0">
              <a:lnSpc>
                <a:spcPct val="120000"/>
              </a:lnSpc>
              <a:buNone/>
            </a:pPr>
            <a:r>
              <a:rPr lang="en-US" sz="1800" dirty="0">
                <a:solidFill>
                  <a:srgbClr val="1F2429"/>
                </a:solidFill>
                <a:latin typeface="Calibri" pitchFamily="34" charset="0"/>
                <a:ea typeface="Calibri" pitchFamily="34" charset="-122"/>
                <a:cs typeface="Calibri" pitchFamily="34" charset="-120"/>
              </a:rPr>
              <a:t>reapplying an already-durable write causes no harm — it just writes the same new value again.</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BOUNDING HOW MUCH LOG MUST BE REPLAYED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Checkpointing</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10</a:t>
            </a:r>
            <a:endParaRPr lang="en-US" sz="1200" dirty="0"/>
          </a:p>
        </p:txBody>
      </p:sp>
      <p:sp>
        <p:nvSpPr>
          <p:cNvPr id="5" name="Text 3"/>
          <p:cNvSpPr txBox="1"/>
          <p:nvPr/>
        </p:nvSpPr>
        <p:spPr>
          <a:xfrm>
            <a:off x="548640" y="1325880"/>
            <a:ext cx="5212080" cy="1463040"/>
          </a:xfrm>
          <a:prstGeom prst="rect">
            <a:avLst/>
          </a:prstGeom>
          <a:noFill/>
          <a:ln/>
        </p:spPr>
        <p:txBody>
          <a:bodyPr wrap="square" rtlCol="0" anchor="t"/>
          <a:lstStyle/>
          <a:p>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Naively, recovery would mean replaying the ENTIRE log from the first transaction the database ever ran — growing more expensive without bound. Checkpointing solves this.</a:t>
            </a:r>
            <a:endParaRPr lang="en-US" sz="1800" dirty="0"/>
          </a:p>
        </p:txBody>
      </p:sp>
      <p:sp>
        <p:nvSpPr>
          <p:cNvPr id="6" name="Shape 4"/>
          <p:cNvSpPr/>
          <p:nvPr/>
        </p:nvSpPr>
        <p:spPr>
          <a:xfrm>
            <a:off x="6172200" y="1234440"/>
            <a:ext cx="5486400" cy="1520952"/>
          </a:xfrm>
          <a:prstGeom prst="roundRect">
            <a:avLst>
              <a:gd name="adj" fmla="val 4810"/>
            </a:avLst>
          </a:prstGeom>
          <a:solidFill>
            <a:srgbClr val="FFFFFF"/>
          </a:solidFill>
          <a:ln w="22225">
            <a:solidFill>
              <a:srgbClr val="2FE6C4"/>
            </a:solidFill>
            <a:prstDash val="solid"/>
          </a:ln>
          <a:effectLst>
            <a:outerShdw sx="100000" sy="100000" kx="0" ky="0" algn="bl" rotWithShape="0" blurRad="76200" dist="25400" dir="5400000">
              <a:srgbClr val="1F2429">
                <a:alpha val="16000"/>
              </a:srgbClr>
            </a:outerShdw>
          </a:effectLst>
        </p:spPr>
      </p:sp>
      <p:sp>
        <p:nvSpPr>
          <p:cNvPr id="7" name="Shape 5"/>
          <p:cNvSpPr/>
          <p:nvPr/>
        </p:nvSpPr>
        <p:spPr>
          <a:xfrm>
            <a:off x="6318504" y="1793748"/>
            <a:ext cx="91440" cy="310896"/>
          </a:xfrm>
          <a:prstGeom prst="rect">
            <a:avLst/>
          </a:prstGeom>
          <a:solidFill>
            <a:srgbClr val="2FE6C4"/>
          </a:solidFill>
          <a:ln/>
        </p:spPr>
      </p:sp>
      <p:sp>
        <p:nvSpPr>
          <p:cNvPr id="8" name="Text 6"/>
          <p:cNvSpPr txBox="1"/>
          <p:nvPr/>
        </p:nvSpPr>
        <p:spPr>
          <a:xfrm>
            <a:off x="6537960" y="1307592"/>
            <a:ext cx="4937760" cy="684428"/>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Flush all dirty pages to disk</a:t>
            </a:r>
            <a:endParaRPr lang="en-US" sz="2000" dirty="0"/>
          </a:p>
        </p:txBody>
      </p:sp>
      <p:sp>
        <p:nvSpPr>
          <p:cNvPr id="9" name="Text 7"/>
          <p:cNvSpPr txBox="1"/>
          <p:nvPr/>
        </p:nvSpPr>
        <p:spPr>
          <a:xfrm>
            <a:off x="6537960" y="1873240"/>
            <a:ext cx="4937760" cy="836524"/>
          </a:xfrm>
          <a:prstGeom prst="rect">
            <a:avLst/>
          </a:prstGeom>
          <a:noFill/>
          <a:ln/>
        </p:spPr>
        <p:txBody>
          <a:bodyPr wrap="square" rtlCol="0" anchor="t"/>
          <a:lstStyle/>
          <a:p>
            <a:pPr indent="0" marL="0">
              <a:lnSpc>
                <a:spcPct val="110000"/>
              </a:lnSpc>
              <a:buNone/>
            </a:pPr>
            <a:r>
              <a:rPr lang="en-US" sz="1800" dirty="0">
                <a:solidFill>
                  <a:srgbClr val="6B7480"/>
                </a:solidFill>
                <a:latin typeface="Calibri" pitchFamily="34" charset="0"/>
                <a:ea typeface="Calibri" pitchFamily="34" charset="-122"/>
                <a:cs typeface="Calibri" pitchFamily="34" charset="-120"/>
              </a:rPr>
              <a:t>Every change committed before this instant is now durably on disk.</a:t>
            </a:r>
            <a:endParaRPr lang="en-US" sz="1800" dirty="0"/>
          </a:p>
        </p:txBody>
      </p:sp>
      <p:sp>
        <p:nvSpPr>
          <p:cNvPr id="10" name="Shape 8"/>
          <p:cNvSpPr/>
          <p:nvPr/>
        </p:nvSpPr>
        <p:spPr>
          <a:xfrm>
            <a:off x="8915400" y="2755392"/>
            <a:ext cx="0" cy="256032"/>
          </a:xfrm>
          <a:prstGeom prst="line">
            <a:avLst/>
          </a:prstGeom>
          <a:noFill/>
          <a:ln w="25400">
            <a:solidFill>
              <a:srgbClr val="8A939B"/>
            </a:solidFill>
            <a:prstDash val="solid"/>
            <a:tailEnd type="triangle"/>
          </a:ln>
        </p:spPr>
      </p:sp>
      <p:sp>
        <p:nvSpPr>
          <p:cNvPr id="11" name="Shape 9"/>
          <p:cNvSpPr/>
          <p:nvPr/>
        </p:nvSpPr>
        <p:spPr>
          <a:xfrm>
            <a:off x="6172200" y="3011424"/>
            <a:ext cx="5486400" cy="1520952"/>
          </a:xfrm>
          <a:prstGeom prst="roundRect">
            <a:avLst>
              <a:gd name="adj" fmla="val 4810"/>
            </a:avLst>
          </a:prstGeom>
          <a:solidFill>
            <a:srgbClr val="FFFFFF"/>
          </a:solidFill>
          <a:ln w="22225">
            <a:solidFill>
              <a:srgbClr val="8B7FD9"/>
            </a:solidFill>
            <a:prstDash val="solid"/>
          </a:ln>
          <a:effectLst>
            <a:outerShdw sx="100000" sy="100000" kx="0" ky="0" algn="bl" rotWithShape="0" blurRad="76200" dist="25400" dir="5400000">
              <a:srgbClr val="1F2429">
                <a:alpha val="16000"/>
              </a:srgbClr>
            </a:outerShdw>
          </a:effectLst>
        </p:spPr>
      </p:sp>
      <p:sp>
        <p:nvSpPr>
          <p:cNvPr id="12" name="Shape 10"/>
          <p:cNvSpPr/>
          <p:nvPr/>
        </p:nvSpPr>
        <p:spPr>
          <a:xfrm>
            <a:off x="6318504" y="3570732"/>
            <a:ext cx="91440" cy="310896"/>
          </a:xfrm>
          <a:prstGeom prst="rect">
            <a:avLst/>
          </a:prstGeom>
          <a:solidFill>
            <a:srgbClr val="8B7FD9"/>
          </a:solidFill>
          <a:ln/>
        </p:spPr>
      </p:sp>
      <p:sp>
        <p:nvSpPr>
          <p:cNvPr id="13" name="Text 11"/>
          <p:cNvSpPr txBox="1"/>
          <p:nvPr/>
        </p:nvSpPr>
        <p:spPr>
          <a:xfrm>
            <a:off x="6537960" y="3084576"/>
            <a:ext cx="4937760" cy="684428"/>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Write CHECKPOINT record to the log</a:t>
            </a:r>
            <a:endParaRPr lang="en-US" sz="2000" dirty="0"/>
          </a:p>
        </p:txBody>
      </p:sp>
      <p:sp>
        <p:nvSpPr>
          <p:cNvPr id="14" name="Text 12"/>
          <p:cNvSpPr txBox="1"/>
          <p:nvPr/>
        </p:nvSpPr>
        <p:spPr>
          <a:xfrm>
            <a:off x="6537960" y="3650224"/>
            <a:ext cx="4937760" cy="836524"/>
          </a:xfrm>
          <a:prstGeom prst="rect">
            <a:avLst/>
          </a:prstGeom>
          <a:noFill/>
          <a:ln/>
        </p:spPr>
        <p:txBody>
          <a:bodyPr wrap="square" rtlCol="0" anchor="t"/>
          <a:lstStyle/>
          <a:p>
            <a:pPr indent="0" marL="0">
              <a:lnSpc>
                <a:spcPct val="110000"/>
              </a:lnSpc>
              <a:buNone/>
            </a:pPr>
            <a:r>
              <a:rPr lang="en-US" sz="1800" dirty="0">
                <a:solidFill>
                  <a:srgbClr val="6B7480"/>
                </a:solidFill>
                <a:latin typeface="Calibri" pitchFamily="34" charset="0"/>
                <a:ea typeface="Calibri" pitchFamily="34" charset="-122"/>
                <a:cs typeface="Calibri" pitchFamily="34" charset="-120"/>
              </a:rPr>
              <a:t>Marks the boundary: nothing before this point needs to be replayed.</a:t>
            </a:r>
            <a:endParaRPr lang="en-US" sz="1800" dirty="0"/>
          </a:p>
        </p:txBody>
      </p:sp>
      <p:sp>
        <p:nvSpPr>
          <p:cNvPr id="15" name="Shape 13"/>
          <p:cNvSpPr/>
          <p:nvPr/>
        </p:nvSpPr>
        <p:spPr>
          <a:xfrm>
            <a:off x="8915400" y="4532376"/>
            <a:ext cx="0" cy="256032"/>
          </a:xfrm>
          <a:prstGeom prst="line">
            <a:avLst/>
          </a:prstGeom>
          <a:noFill/>
          <a:ln w="25400">
            <a:solidFill>
              <a:srgbClr val="8A939B"/>
            </a:solidFill>
            <a:prstDash val="solid"/>
            <a:tailEnd type="triangle"/>
          </a:ln>
        </p:spPr>
      </p:sp>
      <p:sp>
        <p:nvSpPr>
          <p:cNvPr id="16" name="Shape 14"/>
          <p:cNvSpPr/>
          <p:nvPr/>
        </p:nvSpPr>
        <p:spPr>
          <a:xfrm>
            <a:off x="6172200" y="4788408"/>
            <a:ext cx="5486400" cy="1520952"/>
          </a:xfrm>
          <a:prstGeom prst="roundRect">
            <a:avLst>
              <a:gd name="adj" fmla="val 4810"/>
            </a:avLst>
          </a:prstGeom>
          <a:solidFill>
            <a:srgbClr val="FFFFFF"/>
          </a:solidFill>
          <a:ln w="22225">
            <a:solidFill>
              <a:srgbClr val="E8A33D"/>
            </a:solidFill>
            <a:prstDash val="solid"/>
          </a:ln>
          <a:effectLst>
            <a:outerShdw sx="100000" sy="100000" kx="0" ky="0" algn="bl" rotWithShape="0" blurRad="76200" dist="25400" dir="5400000">
              <a:srgbClr val="1F2429">
                <a:alpha val="16000"/>
              </a:srgbClr>
            </a:outerShdw>
          </a:effectLst>
        </p:spPr>
      </p:sp>
      <p:sp>
        <p:nvSpPr>
          <p:cNvPr id="17" name="Shape 15"/>
          <p:cNvSpPr/>
          <p:nvPr/>
        </p:nvSpPr>
        <p:spPr>
          <a:xfrm>
            <a:off x="6318504" y="5347716"/>
            <a:ext cx="91440" cy="310896"/>
          </a:xfrm>
          <a:prstGeom prst="rect">
            <a:avLst/>
          </a:prstGeom>
          <a:solidFill>
            <a:srgbClr val="E8A33D"/>
          </a:solidFill>
          <a:ln/>
        </p:spPr>
      </p:sp>
      <p:sp>
        <p:nvSpPr>
          <p:cNvPr id="18" name="Text 16"/>
          <p:cNvSpPr txBox="1"/>
          <p:nvPr/>
        </p:nvSpPr>
        <p:spPr>
          <a:xfrm>
            <a:off x="6537960" y="4861560"/>
            <a:ext cx="4937760" cy="684428"/>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On a later crash, recovery starts HERE</a:t>
            </a:r>
            <a:endParaRPr lang="en-US" sz="2000" dirty="0"/>
          </a:p>
        </p:txBody>
      </p:sp>
      <p:sp>
        <p:nvSpPr>
          <p:cNvPr id="19" name="Text 17"/>
          <p:cNvSpPr txBox="1"/>
          <p:nvPr/>
        </p:nvSpPr>
        <p:spPr>
          <a:xfrm>
            <a:off x="6537960" y="5427208"/>
            <a:ext cx="4937760" cy="836524"/>
          </a:xfrm>
          <a:prstGeom prst="rect">
            <a:avLst/>
          </a:prstGeom>
          <a:noFill/>
          <a:ln/>
        </p:spPr>
        <p:txBody>
          <a:bodyPr wrap="square" rtlCol="0" anchor="t"/>
          <a:lstStyle/>
          <a:p>
            <a:pPr indent="0" marL="0">
              <a:lnSpc>
                <a:spcPct val="110000"/>
              </a:lnSpc>
              <a:buNone/>
            </a:pPr>
            <a:r>
              <a:rPr lang="en-US" sz="1800" dirty="0">
                <a:solidFill>
                  <a:srgbClr val="6B7480"/>
                </a:solidFill>
                <a:latin typeface="Calibri" pitchFamily="34" charset="0"/>
                <a:ea typeface="Calibri" pitchFamily="34" charset="-122"/>
                <a:cs typeface="Calibri" pitchFamily="34" charset="-120"/>
              </a:rPr>
              <a:t>Not from the beginning of the log — only from the last checkpoint forward.</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SAME MECHANICS, DIFFERENT ANGLE</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Rollback and Rollforward</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12</a:t>
            </a:r>
            <a:endParaRPr lang="en-US" sz="1200" dirty="0"/>
          </a:p>
        </p:txBody>
      </p:sp>
      <p:sp>
        <p:nvSpPr>
          <p:cNvPr id="5" name="Shape 3"/>
          <p:cNvSpPr/>
          <p:nvPr/>
        </p:nvSpPr>
        <p:spPr>
          <a:xfrm>
            <a:off x="548640" y="1463040"/>
            <a:ext cx="5372100" cy="4480560"/>
          </a:xfrm>
          <a:prstGeom prst="roundRect">
            <a:avLst>
              <a:gd name="adj" fmla="val 1633"/>
            </a:avLst>
          </a:prstGeom>
          <a:solidFill>
            <a:srgbClr val="FFFFFF"/>
          </a:solidFill>
          <a:ln w="22225">
            <a:solidFill>
              <a:srgbClr val="E8A33D"/>
            </a:solidFill>
            <a:prstDash val="solid"/>
          </a:ln>
          <a:effectLst>
            <a:outerShdw sx="100000" sy="100000" kx="0" ky="0" algn="bl" rotWithShape="0" blurRad="63500" dist="25400" dir="5400000">
              <a:srgbClr val="1F2429">
                <a:alpha val="15000"/>
              </a:srgbClr>
            </a:outerShdw>
          </a:effectLst>
        </p:spPr>
      </p:sp>
      <p:sp>
        <p:nvSpPr>
          <p:cNvPr id="6" name="Shape 4"/>
          <p:cNvSpPr/>
          <p:nvPr/>
        </p:nvSpPr>
        <p:spPr>
          <a:xfrm>
            <a:off x="713232" y="1609344"/>
            <a:ext cx="201168" cy="201168"/>
          </a:xfrm>
          <a:prstGeom prst="ellipse">
            <a:avLst/>
          </a:prstGeom>
          <a:solidFill>
            <a:srgbClr val="E8A33D"/>
          </a:solidFill>
          <a:ln/>
        </p:spPr>
      </p:sp>
      <p:sp>
        <p:nvSpPr>
          <p:cNvPr id="7" name="Text 5"/>
          <p:cNvSpPr txBox="1"/>
          <p:nvPr/>
        </p:nvSpPr>
        <p:spPr>
          <a:xfrm>
            <a:off x="1005840" y="1554480"/>
            <a:ext cx="473202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Rollback</a:t>
            </a:r>
            <a:endParaRPr lang="en-US" sz="2000" dirty="0"/>
          </a:p>
        </p:txBody>
      </p:sp>
      <p:sp>
        <p:nvSpPr>
          <p:cNvPr id="8" name="Text 6"/>
          <p:cNvSpPr txBox="1"/>
          <p:nvPr/>
        </p:nvSpPr>
        <p:spPr>
          <a:xfrm>
            <a:off x="749808" y="1965960"/>
            <a:ext cx="4969764" cy="388620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Undoing a transaction's changes — either because it aborted during normal operation, or because recovery determined it was still uncommitted at crash time. Mechanically identical to “undo.”</a:t>
            </a:r>
            <a:endParaRPr lang="en-US" sz="1800" dirty="0"/>
          </a:p>
        </p:txBody>
      </p:sp>
      <p:sp>
        <p:nvSpPr>
          <p:cNvPr id="9" name="Shape 7"/>
          <p:cNvSpPr/>
          <p:nvPr/>
        </p:nvSpPr>
        <p:spPr>
          <a:xfrm>
            <a:off x="6240780" y="1463040"/>
            <a:ext cx="5372100" cy="4480560"/>
          </a:xfrm>
          <a:prstGeom prst="roundRect">
            <a:avLst>
              <a:gd name="adj" fmla="val 1633"/>
            </a:avLst>
          </a:prstGeom>
          <a:solidFill>
            <a:srgbClr val="FFFFFF"/>
          </a:solidFill>
          <a:ln w="22225">
            <a:solidFill>
              <a:srgbClr val="2FE6C4"/>
            </a:solidFill>
            <a:prstDash val="solid"/>
          </a:ln>
          <a:effectLst>
            <a:outerShdw sx="100000" sy="100000" kx="0" ky="0" algn="bl" rotWithShape="0" blurRad="63500" dist="25400" dir="5400000">
              <a:srgbClr val="1F2429">
                <a:alpha val="15000"/>
              </a:srgbClr>
            </a:outerShdw>
          </a:effectLst>
        </p:spPr>
      </p:sp>
      <p:sp>
        <p:nvSpPr>
          <p:cNvPr id="10" name="Shape 8"/>
          <p:cNvSpPr/>
          <p:nvPr/>
        </p:nvSpPr>
        <p:spPr>
          <a:xfrm>
            <a:off x="6405372" y="1609344"/>
            <a:ext cx="201168" cy="201168"/>
          </a:xfrm>
          <a:prstGeom prst="ellipse">
            <a:avLst/>
          </a:prstGeom>
          <a:solidFill>
            <a:srgbClr val="2FE6C4"/>
          </a:solidFill>
          <a:ln/>
        </p:spPr>
      </p:sp>
      <p:sp>
        <p:nvSpPr>
          <p:cNvPr id="11" name="Text 9"/>
          <p:cNvSpPr txBox="1"/>
          <p:nvPr/>
        </p:nvSpPr>
        <p:spPr>
          <a:xfrm>
            <a:off x="6697980" y="1554480"/>
            <a:ext cx="4732020" cy="365760"/>
          </a:xfrm>
          <a:prstGeom prst="rect">
            <a:avLst/>
          </a:prstGeom>
          <a:noFill/>
          <a:ln/>
        </p:spPr>
        <p:txBody>
          <a:bodyPr wrap="square" rtlCol="0" anchor="t"/>
          <a:lstStyle/>
          <a:p>
            <a:pPr indent="0" marL="0">
              <a:buNone/>
            </a:pPr>
            <a:r>
              <a:rPr lang="en-US" sz="2000" b="1" dirty="0">
                <a:solidFill>
                  <a:srgbClr val="1F2429"/>
                </a:solidFill>
                <a:latin typeface="Calibri" pitchFamily="34" charset="0"/>
                <a:ea typeface="Calibri" pitchFamily="34" charset="-122"/>
                <a:cs typeface="Calibri" pitchFamily="34" charset="-120"/>
              </a:rPr>
              <a:t>Rollforward</a:t>
            </a:r>
            <a:endParaRPr lang="en-US" sz="2000" dirty="0"/>
          </a:p>
        </p:txBody>
      </p:sp>
      <p:sp>
        <p:nvSpPr>
          <p:cNvPr id="12" name="Text 10"/>
          <p:cNvSpPr txBox="1"/>
          <p:nvPr/>
        </p:nvSpPr>
        <p:spPr>
          <a:xfrm>
            <a:off x="6441948" y="1965960"/>
            <a:ext cx="4969764" cy="3886200"/>
          </a:xfrm>
          <a:prstGeom prst="rect">
            <a:avLst/>
          </a:prstGeom>
          <a:noFill/>
          <a:ln/>
        </p:spPr>
        <p:txBody>
          <a:bodyPr wrap="square" rtlCol="0" anchor="t"/>
          <a:lstStyle/>
          <a:p>
            <a:pPr indent="0" marL="0">
              <a:lnSpc>
                <a:spcPct val="112000"/>
              </a:lnSpc>
              <a:buNone/>
            </a:pPr>
            <a:r>
              <a:rPr lang="en-US" sz="1800" dirty="0">
                <a:solidFill>
                  <a:srgbClr val="6B7480"/>
                </a:solidFill>
                <a:latin typeface="Calibri" pitchFamily="34" charset="0"/>
                <a:ea typeface="Calibri" pitchFamily="34" charset="-122"/>
                <a:cs typeface="Calibri" pitchFamily="34" charset="-120"/>
              </a:rPr>
              <a:t>Reapplying committed changes from a log to bring a database forward to a target point in time. Mechanically identical to “redo” — the term used after a media failure: restore the last backup, then rollforward through the log.</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RECOVERY, TRACED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Worked Walkthrough: The Log Up to the Crash</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13</a:t>
            </a:r>
            <a:endParaRPr lang="en-US" sz="1200" dirty="0"/>
          </a:p>
        </p:txBody>
      </p:sp>
      <p:sp>
        <p:nvSpPr>
          <p:cNvPr id="5" name="Text 3"/>
          <p:cNvSpPr txBox="1"/>
          <p:nvPr/>
        </p:nvSpPr>
        <p:spPr>
          <a:xfrm>
            <a:off x="548640" y="1280160"/>
            <a:ext cx="11064240" cy="457200"/>
          </a:xfrm>
          <a:prstGeom prst="rect">
            <a:avLst/>
          </a:prstGeom>
          <a:noFill/>
          <a:ln/>
        </p:spPr>
        <p:txBody>
          <a:bodyPr wrap="square" rtlCol="0" anchor="ctr"/>
          <a:lstStyle/>
          <a:p>
            <a:pPr indent="0" marL="0">
              <a:buNone/>
            </a:pPr>
            <a:r>
              <a:rPr lang="en-US" sz="1800" dirty="0">
                <a:solidFill>
                  <a:srgbClr val="1F2429"/>
                </a:solidFill>
                <a:latin typeface="Calibri" pitchFamily="34" charset="0"/>
                <a:ea typeface="Calibri" pitchFamily="34" charset="-122"/>
                <a:cs typeface="Calibri" pitchFamily="34" charset="-120"/>
              </a:rPr>
              <a:t>Four transactions run against Accounts (A–E). A checkpoint falls partway through; the crash comes last.</a:t>
            </a:r>
            <a:endParaRPr lang="en-US" sz="1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4709160"/>
        </p:xfrm>
        <a:graphic>
          <a:graphicData uri="http://schemas.openxmlformats.org/drawingml/2006/table">
            <a:tbl>
              <a:tblPr/>
              <a:tblGrid>
                <a:gridCol w="548640"/>
                <a:gridCol w="4663440"/>
                <a:gridCol w="5852160"/>
              </a:tblGrid>
              <a:tr h="313944">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Log record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Note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[T1 START]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[T1, write A, old=100, new=200]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3</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[T1, write B, old=50, new=150]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4</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[T1 COMMIT]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T1 fully committed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[CHECKPOINT]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Dirty pages flushed; disk matches log through #4</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6</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[T2 START]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7</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[T2, write C, old=10, new=20]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8</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[T2 COMMIT]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T2 fully committed, after the checkpoint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9</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[T3 START]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[T3, write D, old=5, new=99]</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11</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[T4 START]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12</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[T4, write E, old=1, new=2]</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13</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[T4 COMMIT]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T4 fully committed, after the checkpoint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313944">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CRASH</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System failure — RAM lost, disk intact. T3 never committed.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tep 1 where recovery starts">
    <p:bg>
      <p:bgPr>
        <a:solidFill>
          <a:srgbClr val="F7F8F9"/>
        </a:solidFill>
        <a:effectLst/>
      </p:bgPr>
    </p:bg>
    <p:spTree>
      <p:nvGrpSpPr>
        <p:cNvPr id="1" name=""/>
        <p:cNvGrpSpPr/>
        <p:nvPr/>
      </p:nvGrpSpPr>
      <p:grpSpPr>
        <a:xfrm>
          <a:off x="0" y="0"/>
          <a:ext cx="0" cy="0"/>
          <a:chOff x="0" y="0"/>
          <a:chExt cx="0" cy="0"/>
        </a:xfrm>
      </p:grpSpPr>
      <p:sp>
        <p:nvSpPr>
          <p:cNvPr id="2" name="Eyebrow 2"/>
          <p:cNvSpPr txBox="1"/>
          <p:nvPr/>
        </p:nvSpPr>
        <p:spPr>
          <a:xfrm>
            <a:off x="548640" y="320040"/>
            <a:ext cx="9144000" cy="292608"/>
          </a:xfrm>
          <a:prstGeom prst="rect">
            <a:avLst/>
          </a:prstGeom>
          <a:noFill/>
          <a:ln>
            <a:noFill/>
          </a:ln>
        </p:spPr>
        <p:txBody>
          <a:bodyPr wrap="square" rtlCol="0" anchor="ctr"/>
          <a:lstStyle/>
          <a:p>
            <a:pPr algn="l" indent="0" marL="0">
              <a:buNone/>
            </a:pPr>
            <a:r>
              <a:rPr lang="en-US" sz="1200" b="1" spc="150" kern="0" dirty="0">
                <a:solidFill>
                  <a:srgbClr val="8B7FD9"/>
                </a:solidFill>
                <a:latin typeface="Calibri" pitchFamily="34" charset="0"/>
                <a:ea typeface="Calibri" pitchFamily="34" charset="-122"/>
                <a:cs typeface="Calibri" pitchFamily="34" charset="-120"/>
              </a:rPr>
              <a:t>WORKED WALKTHROUGH  ·  STEP 1</a:t>
            </a:r>
            <a:endParaRPr lang="en-US" sz="1200" dirty="0"/>
          </a:p>
        </p:txBody>
      </p:sp>
      <p:sp>
        <p:nvSpPr>
          <p:cNvPr id="3" name="Title 3"/>
          <p:cNvSpPr txBox="1"/>
          <p:nvPr/>
        </p:nvSpPr>
        <p:spPr>
          <a:xfrm>
            <a:off x="548640" y="566928"/>
            <a:ext cx="11064240" cy="640080"/>
          </a:xfrm>
          <a:prstGeom prst="rect">
            <a:avLst/>
          </a:prstGeom>
          <a:noFill/>
          <a:ln>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Step 1: Where Recovery Starts</a:t>
            </a:r>
            <a:endParaRPr lang="en-US" sz="2500" dirty="0"/>
          </a:p>
        </p:txBody>
      </p:sp>
      <p:sp>
        <p:nvSpPr>
          <p:cNvPr id="4" name="Intro 4"/>
          <p:cNvSpPr txBox="1"/>
          <p:nvPr/>
        </p:nvSpPr>
        <p:spPr>
          <a:xfrm>
            <a:off x="548640" y="1325880"/>
            <a:ext cx="11064240" cy="100584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The checkpoint at record 5 tells recovery where to begin. Records 1-4 need no attention at all: T1 committed before the checkpoint, so its changes to A and B are already guaranteed safe on disk.</a:t>
            </a:r>
            <a:endParaRPr lang="en-US" sz="1800" dirty="0"/>
          </a:p>
        </p:txBody>
      </p:sp>
      <p:sp>
        <p:nvSpPr>
          <p:cNvPr id="5" name="Card 5"/>
          <p:cNvSpPr/>
          <p:nvPr/>
        </p:nvSpPr>
        <p:spPr>
          <a:xfrm>
            <a:off x="548640" y="2651760"/>
            <a:ext cx="5372100" cy="2011680"/>
          </a:xfrm>
          <a:prstGeom prst="roundRect">
            <a:avLst>
              <a:gd name="adj" fmla="val 3478"/>
            </a:avLst>
          </a:prstGeom>
          <a:solidFill>
            <a:srgbClr val="FFFFFF"/>
          </a:solidFill>
          <a:ln w="22225">
            <a:solidFill>
              <a:srgbClr val="2FE6C4"/>
            </a:solidFill>
          </a:ln>
          <a:effectLst>
            <a:outerShdw blurRad="63500" dist="25400" dir="5400000" algn="bl" rotWithShape="0">
              <a:srgbClr val="1F2429">
                <a:alpha val="15000"/>
              </a:srgbClr>
            </a:outerShdw>
          </a:effectLst>
        </p:spPr>
      </p:sp>
      <p:sp>
        <p:nvSpPr>
          <p:cNvPr id="6" name="Card title 6"/>
          <p:cNvSpPr txBox="1"/>
          <p:nvPr/>
        </p:nvSpPr>
        <p:spPr>
          <a:xfrm>
            <a:off x="868680" y="2770632"/>
            <a:ext cx="4914900" cy="457200"/>
          </a:xfrm>
          <a:prstGeom prst="rect">
            <a:avLst/>
          </a:prstGeom>
          <a:noFill/>
          <a:ln>
            <a:noFill/>
          </a:ln>
        </p:spPr>
        <p:txBody>
          <a:bodyPr wrap="square" rtlCol="0" anchor="ctr"/>
          <a:lstStyle/>
          <a:p>
            <a:pPr algn="l" indent="0" marL="0">
              <a:buNone/>
            </a:pPr>
            <a:r>
              <a:rPr lang="en-US" sz="2000" b="1" dirty="0">
                <a:solidFill>
                  <a:srgbClr val="1F2429"/>
                </a:solidFill>
                <a:latin typeface="Calibri" pitchFamily="34" charset="0"/>
                <a:ea typeface="Calibri" pitchFamily="34" charset="-122"/>
                <a:cs typeface="Calibri" pitchFamily="34" charset="-120"/>
              </a:rPr>
              <a:t>Records 1-4: skip</a:t>
            </a:r>
            <a:endParaRPr lang="en-US" sz="2000" dirty="0"/>
          </a:p>
        </p:txBody>
      </p:sp>
      <p:sp>
        <p:nvSpPr>
          <p:cNvPr id="7" name="Card body 7"/>
          <p:cNvSpPr txBox="1"/>
          <p:nvPr/>
        </p:nvSpPr>
        <p:spPr>
          <a:xfrm>
            <a:off x="868680" y="3291840"/>
            <a:ext cx="4914900" cy="1280160"/>
          </a:xfrm>
          <a:prstGeom prst="rect">
            <a:avLst/>
          </a:prstGeom>
          <a:noFill/>
          <a:ln>
            <a:noFill/>
          </a:ln>
        </p:spPr>
        <p:txBody>
          <a:bodyPr wrap="square" rtlCol="0" anchor="t"/>
          <a:lstStyle/>
          <a:p>
            <a:pPr algn="l" indent="0" marL="0">
              <a:lnSpc>
                <a:spcPct val="115000"/>
              </a:lnSpc>
              <a:buNone/>
            </a:pPr>
            <a:r>
              <a:rPr lang="en-US" sz="1800" dirty="0">
                <a:solidFill>
                  <a:srgbClr val="6B7480"/>
                </a:solidFill>
                <a:latin typeface="Calibri" pitchFamily="34" charset="0"/>
                <a:ea typeface="Calibri" pitchFamily="34" charset="-122"/>
                <a:cs typeface="Calibri" pitchFamily="34" charset="-120"/>
              </a:rPr>
              <a:t>T1 START, its writes to A and B, and T1 COMMIT. All committed before the checkpoint, so there is nothing to redo or undo.</a:t>
            </a:r>
            <a:endParaRPr lang="en-US" sz="1800" dirty="0"/>
          </a:p>
        </p:txBody>
      </p:sp>
      <p:sp>
        <p:nvSpPr>
          <p:cNvPr id="8" name="Arrow 8"/>
          <p:cNvSpPr/>
          <p:nvPr/>
        </p:nvSpPr>
        <p:spPr>
          <a:xfrm>
            <a:off x="5920740" y="3657600"/>
            <a:ext cx="411480" cy="0"/>
          </a:xfrm>
          <a:prstGeom prst="line">
            <a:avLst/>
          </a:prstGeom>
          <a:noFill/>
          <a:ln w="25400">
            <a:solidFill>
              <a:srgbClr val="8A939B"/>
            </a:solidFill>
            <a:prstDash val="solid"/>
            <a:tailEnd type="triangle"/>
          </a:ln>
        </p:spPr>
      </p:sp>
      <p:sp>
        <p:nvSpPr>
          <p:cNvPr id="9" name="Card 9"/>
          <p:cNvSpPr/>
          <p:nvPr/>
        </p:nvSpPr>
        <p:spPr>
          <a:xfrm>
            <a:off x="6240780" y="2651760"/>
            <a:ext cx="5372100" cy="2011680"/>
          </a:xfrm>
          <a:prstGeom prst="roundRect">
            <a:avLst>
              <a:gd name="adj" fmla="val 3478"/>
            </a:avLst>
          </a:prstGeom>
          <a:solidFill>
            <a:srgbClr val="FFFFFF"/>
          </a:solidFill>
          <a:ln w="22225">
            <a:solidFill>
              <a:srgbClr val="8B7FD9"/>
            </a:solidFill>
          </a:ln>
          <a:effectLst>
            <a:outerShdw blurRad="63500" dist="25400" dir="5400000" algn="bl" rotWithShape="0">
              <a:srgbClr val="1F2429">
                <a:alpha val="15000"/>
              </a:srgbClr>
            </a:outerShdw>
          </a:effectLst>
        </p:spPr>
      </p:sp>
      <p:sp>
        <p:nvSpPr>
          <p:cNvPr id="10" name="Card title 10"/>
          <p:cNvSpPr txBox="1"/>
          <p:nvPr/>
        </p:nvSpPr>
        <p:spPr>
          <a:xfrm>
            <a:off x="6560820" y="2770632"/>
            <a:ext cx="4914900" cy="457200"/>
          </a:xfrm>
          <a:prstGeom prst="rect">
            <a:avLst/>
          </a:prstGeom>
          <a:noFill/>
          <a:ln>
            <a:noFill/>
          </a:ln>
        </p:spPr>
        <p:txBody>
          <a:bodyPr wrap="square" rtlCol="0" anchor="ctr"/>
          <a:lstStyle/>
          <a:p>
            <a:pPr algn="l" indent="0" marL="0">
              <a:buNone/>
            </a:pPr>
            <a:r>
              <a:rPr lang="en-US" sz="2000" b="1" dirty="0">
                <a:solidFill>
                  <a:srgbClr val="1F2429"/>
                </a:solidFill>
                <a:latin typeface="Calibri" pitchFamily="34" charset="0"/>
                <a:ea typeface="Calibri" pitchFamily="34" charset="-122"/>
                <a:cs typeface="Calibri" pitchFamily="34" charset="-120"/>
              </a:rPr>
              <a:t>Record 5: CHECKPOINT</a:t>
            </a:r>
            <a:endParaRPr lang="en-US" sz="2000" dirty="0"/>
          </a:p>
        </p:txBody>
      </p:sp>
      <p:sp>
        <p:nvSpPr>
          <p:cNvPr id="11" name="Card body 11"/>
          <p:cNvSpPr txBox="1"/>
          <p:nvPr/>
        </p:nvSpPr>
        <p:spPr>
          <a:xfrm>
            <a:off x="6560820" y="3291840"/>
            <a:ext cx="4914900" cy="1280160"/>
          </a:xfrm>
          <a:prstGeom prst="rect">
            <a:avLst/>
          </a:prstGeom>
          <a:noFill/>
          <a:ln>
            <a:noFill/>
          </a:ln>
        </p:spPr>
        <p:txBody>
          <a:bodyPr wrap="square" rtlCol="0" anchor="t"/>
          <a:lstStyle/>
          <a:p>
            <a:pPr algn="l" indent="0" marL="0">
              <a:lnSpc>
                <a:spcPct val="115000"/>
              </a:lnSpc>
              <a:buNone/>
            </a:pPr>
            <a:r>
              <a:rPr lang="en-US" sz="1800" dirty="0">
                <a:solidFill>
                  <a:srgbClr val="6B7480"/>
                </a:solidFill>
                <a:latin typeface="Calibri" pitchFamily="34" charset="0"/>
                <a:ea typeface="Calibri" pitchFamily="34" charset="-122"/>
                <a:cs typeface="Calibri" pitchFamily="34" charset="-120"/>
              </a:rPr>
              <a:t>Disk matches the log through record 4. Analysis starts here and reads forward through record 13.</a:t>
            </a:r>
            <a:endParaRPr lang="en-US" sz="1800" dirty="0"/>
          </a:p>
        </p:txBody>
      </p:sp>
      <p:sp>
        <p:nvSpPr>
          <p:cNvPr id="12" name="Closing 12"/>
          <p:cNvSpPr txBox="1"/>
          <p:nvPr/>
        </p:nvSpPr>
        <p:spPr>
          <a:xfrm>
            <a:off x="548640" y="4983480"/>
            <a:ext cx="11064240" cy="100584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Every later step looks only at records 6 onward, plus the commit-or-not evidence for each transaction. Step 2 classifies them.</a:t>
            </a:r>
            <a:endParaRPr lang="en-US" sz="1800" dirty="0"/>
          </a:p>
        </p:txBody>
      </p:sp>
      <p:sp>
        <p:nvSpPr>
          <p:cNvPr id="13" name="Footer 13"/>
          <p:cNvSpPr txBox="1"/>
          <p:nvPr/>
        </p:nvSpPr>
        <p:spPr>
          <a:xfrm>
            <a:off x="9951415" y="6455664"/>
            <a:ext cx="2011680" cy="292608"/>
          </a:xfrm>
          <a:prstGeom prst="rect">
            <a:avLst/>
          </a:prstGeom>
          <a:noFill/>
          <a:ln>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rPr>
              <a:t>cuinotes.com</a:t>
            </a:r>
            <a:r>
              <a:rPr lang="en-US" sz="1200" dirty="0">
                <a:solidFill>
                  <a:srgbClr val="8A939B"/>
                </a:solidFill>
                <a:latin typeface="Calibri" pitchFamily="34" charset="0"/>
                <a:ea typeface="Calibri" pitchFamily="34" charset="-122"/>
                <a:cs typeface="Calibri" pitchFamily="34" charset="-120"/>
              </a:rPr>
              <a:t>  ·  14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tep 3 redoing">
    <p:bg>
      <p:bgPr>
        <a:solidFill>
          <a:srgbClr val="F7F8F9"/>
        </a:solidFill>
        <a:effectLst/>
      </p:bgPr>
    </p:bg>
    <p:spTree>
      <p:nvGrpSpPr>
        <p:cNvPr id="1" name=""/>
        <p:cNvGrpSpPr/>
        <p:nvPr/>
      </p:nvGrpSpPr>
      <p:grpSpPr>
        <a:xfrm>
          <a:off x="0" y="0"/>
          <a:ext cx="0" cy="0"/>
          <a:chOff x="0" y="0"/>
          <a:chExt cx="0" cy="0"/>
        </a:xfrm>
      </p:grpSpPr>
      <p:sp>
        <p:nvSpPr>
          <p:cNvPr id="2" name="Eyebrow 2"/>
          <p:cNvSpPr txBox="1"/>
          <p:nvPr/>
        </p:nvSpPr>
        <p:spPr>
          <a:xfrm>
            <a:off x="548640" y="320040"/>
            <a:ext cx="9144000" cy="292608"/>
          </a:xfrm>
          <a:prstGeom prst="rect">
            <a:avLst/>
          </a:prstGeom>
          <a:noFill/>
          <a:ln>
            <a:noFill/>
          </a:ln>
        </p:spPr>
        <p:txBody>
          <a:bodyPr wrap="square" rtlCol="0" anchor="ctr"/>
          <a:lstStyle/>
          <a:p>
            <a:pPr algn="l" indent="0" marL="0">
              <a:buNone/>
            </a:pPr>
            <a:r>
              <a:rPr lang="en-US" sz="1200" b="1" spc="150" kern="0" dirty="0">
                <a:solidFill>
                  <a:srgbClr val="2FE6C4"/>
                </a:solidFill>
                <a:latin typeface="Calibri" pitchFamily="34" charset="0"/>
                <a:ea typeface="Calibri" pitchFamily="34" charset="-122"/>
                <a:cs typeface="Calibri" pitchFamily="34" charset="-120"/>
              </a:rPr>
              <a:t>WORKED WALKTHROUGH  ·  STEP 3</a:t>
            </a:r>
            <a:endParaRPr lang="en-US" sz="1200" dirty="0"/>
          </a:p>
        </p:txBody>
      </p:sp>
      <p:sp>
        <p:nvSpPr>
          <p:cNvPr id="3" name="Title 3"/>
          <p:cNvSpPr txBox="1"/>
          <p:nvPr/>
        </p:nvSpPr>
        <p:spPr>
          <a:xfrm>
            <a:off x="548640" y="566928"/>
            <a:ext cx="11064240" cy="640080"/>
          </a:xfrm>
          <a:prstGeom prst="rect">
            <a:avLst/>
          </a:prstGeom>
          <a:noFill/>
          <a:ln>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Step 3: Redoing the Committed Work</a:t>
            </a:r>
            <a:endParaRPr lang="en-US" sz="2500" dirty="0"/>
          </a:p>
        </p:txBody>
      </p:sp>
      <p:sp>
        <p:nvSpPr>
          <p:cNvPr id="4" name="Intro 4"/>
          <p:cNvSpPr txBox="1"/>
          <p:nvPr/>
        </p:nvSpPr>
        <p:spPr>
          <a:xfrm>
            <a:off x="548640" y="1325880"/>
            <a:ext cx="11064240" cy="82296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Every committed transaction found after the checkpoint is redone, using each record's new value.</a:t>
            </a:r>
            <a:endParaRPr lang="en-US" sz="1800" dirty="0"/>
          </a:p>
        </p:txBody>
      </p:sp>
      <p:sp>
        <p:nvSpPr>
          <p:cNvPr id="5" name="Card 5"/>
          <p:cNvSpPr/>
          <p:nvPr/>
        </p:nvSpPr>
        <p:spPr>
          <a:xfrm>
            <a:off x="548640" y="2286000"/>
            <a:ext cx="5372100" cy="2286000"/>
          </a:xfrm>
          <a:prstGeom prst="roundRect">
            <a:avLst>
              <a:gd name="adj" fmla="val 3478"/>
            </a:avLst>
          </a:prstGeom>
          <a:solidFill>
            <a:srgbClr val="FFFFFF"/>
          </a:solidFill>
          <a:ln w="22225">
            <a:solidFill>
              <a:srgbClr val="2FE6C4"/>
            </a:solidFill>
          </a:ln>
          <a:effectLst>
            <a:outerShdw blurRad="63500" dist="25400" dir="5400000" algn="bl" rotWithShape="0">
              <a:srgbClr val="1F2429">
                <a:alpha val="15000"/>
              </a:srgbClr>
            </a:outerShdw>
          </a:effectLst>
        </p:spPr>
      </p:sp>
      <p:sp>
        <p:nvSpPr>
          <p:cNvPr id="6" name="Dot 6"/>
          <p:cNvSpPr/>
          <p:nvPr/>
        </p:nvSpPr>
        <p:spPr>
          <a:xfrm>
            <a:off x="713232" y="2468880"/>
            <a:ext cx="201168" cy="201168"/>
          </a:xfrm>
          <a:prstGeom prst="ellipse">
            <a:avLst/>
          </a:prstGeom>
          <a:solidFill>
            <a:srgbClr val="2FE6C4"/>
          </a:solidFill>
          <a:ln>
            <a:noFill/>
          </a:ln>
        </p:spPr>
      </p:sp>
      <p:sp>
        <p:nvSpPr>
          <p:cNvPr id="7" name="Card title 7"/>
          <p:cNvSpPr txBox="1"/>
          <p:nvPr/>
        </p:nvSpPr>
        <p:spPr>
          <a:xfrm>
            <a:off x="1005840" y="2404872"/>
            <a:ext cx="4777740" cy="457200"/>
          </a:xfrm>
          <a:prstGeom prst="rect">
            <a:avLst/>
          </a:prstGeom>
          <a:noFill/>
          <a:ln>
            <a:noFill/>
          </a:ln>
        </p:spPr>
        <p:txBody>
          <a:bodyPr wrap="square" rtlCol="0" anchor="ctr"/>
          <a:lstStyle/>
          <a:p>
            <a:pPr algn="l" indent="0" marL="0">
              <a:buNone/>
            </a:pPr>
            <a:r>
              <a:rPr lang="en-US" sz="2200" b="1" dirty="0">
                <a:solidFill>
                  <a:srgbClr val="1F2429"/>
                </a:solidFill>
                <a:latin typeface="Calibri" pitchFamily="34" charset="0"/>
                <a:ea typeface="Calibri" pitchFamily="34" charset="-122"/>
                <a:cs typeface="Calibri" pitchFamily="34" charset="-120"/>
              </a:rPr>
              <a:t>REDO  C = 20</a:t>
            </a:r>
            <a:endParaRPr lang="en-US" sz="2200" dirty="0"/>
          </a:p>
        </p:txBody>
      </p:sp>
      <p:sp>
        <p:nvSpPr>
          <p:cNvPr id="8" name="Card body 8"/>
          <p:cNvSpPr txBox="1"/>
          <p:nvPr/>
        </p:nvSpPr>
        <p:spPr>
          <a:xfrm>
            <a:off x="1005840" y="2926080"/>
            <a:ext cx="4777740" cy="1554480"/>
          </a:xfrm>
          <a:prstGeom prst="rect">
            <a:avLst/>
          </a:prstGeom>
          <a:noFill/>
          <a:ln>
            <a:noFill/>
          </a:ln>
        </p:spPr>
        <p:txBody>
          <a:bodyPr wrap="square" rtlCol="0" anchor="t"/>
          <a:lstStyle/>
          <a:p>
            <a:pPr algn="l" indent="0" marL="0">
              <a:lnSpc>
                <a:spcPct val="115000"/>
              </a:lnSpc>
              <a:buNone/>
            </a:pPr>
            <a:r>
              <a:rPr lang="en-US" sz="1800" dirty="0">
                <a:solidFill>
                  <a:srgbClr val="6B7480"/>
                </a:solidFill>
                <a:latin typeface="Calibri" pitchFamily="34" charset="0"/>
                <a:ea typeface="Calibri" pitchFamily="34" charset="-122"/>
                <a:cs typeface="Calibri" pitchFamily="34" charset="-120"/>
              </a:rPr>
              <a:t>From record 7: [T2, write C, old=10, new=20]</a:t>
            </a:r>
            <a:endParaRPr lang="en-US" sz="1800" dirty="0"/>
          </a:p>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T2 committed at record 8, after the checkpoint. Set C to its new value, 20.</a:t>
            </a:r>
            <a:endParaRPr lang="en-US" sz="1800" dirty="0"/>
          </a:p>
        </p:txBody>
      </p:sp>
      <p:sp>
        <p:nvSpPr>
          <p:cNvPr id="9" name="Card 9"/>
          <p:cNvSpPr/>
          <p:nvPr/>
        </p:nvSpPr>
        <p:spPr>
          <a:xfrm>
            <a:off x="6240780" y="2286000"/>
            <a:ext cx="5372100" cy="2286000"/>
          </a:xfrm>
          <a:prstGeom prst="roundRect">
            <a:avLst>
              <a:gd name="adj" fmla="val 3478"/>
            </a:avLst>
          </a:prstGeom>
          <a:solidFill>
            <a:srgbClr val="FFFFFF"/>
          </a:solidFill>
          <a:ln w="22225">
            <a:solidFill>
              <a:srgbClr val="2FE6C4"/>
            </a:solidFill>
          </a:ln>
          <a:effectLst>
            <a:outerShdw blurRad="63500" dist="25400" dir="5400000" algn="bl" rotWithShape="0">
              <a:srgbClr val="1F2429">
                <a:alpha val="15000"/>
              </a:srgbClr>
            </a:outerShdw>
          </a:effectLst>
        </p:spPr>
      </p:sp>
      <p:sp>
        <p:nvSpPr>
          <p:cNvPr id="10" name="Dot 10"/>
          <p:cNvSpPr/>
          <p:nvPr/>
        </p:nvSpPr>
        <p:spPr>
          <a:xfrm>
            <a:off x="6405372" y="2468880"/>
            <a:ext cx="201168" cy="201168"/>
          </a:xfrm>
          <a:prstGeom prst="ellipse">
            <a:avLst/>
          </a:prstGeom>
          <a:solidFill>
            <a:srgbClr val="2FE6C4"/>
          </a:solidFill>
          <a:ln>
            <a:noFill/>
          </a:ln>
        </p:spPr>
      </p:sp>
      <p:sp>
        <p:nvSpPr>
          <p:cNvPr id="11" name="Card title 11"/>
          <p:cNvSpPr txBox="1"/>
          <p:nvPr/>
        </p:nvSpPr>
        <p:spPr>
          <a:xfrm>
            <a:off x="6697980" y="2404872"/>
            <a:ext cx="4777740" cy="457200"/>
          </a:xfrm>
          <a:prstGeom prst="rect">
            <a:avLst/>
          </a:prstGeom>
          <a:noFill/>
          <a:ln>
            <a:noFill/>
          </a:ln>
        </p:spPr>
        <p:txBody>
          <a:bodyPr wrap="square" rtlCol="0" anchor="ctr"/>
          <a:lstStyle/>
          <a:p>
            <a:pPr algn="l" indent="0" marL="0">
              <a:buNone/>
            </a:pPr>
            <a:r>
              <a:rPr lang="en-US" sz="2200" b="1" dirty="0">
                <a:solidFill>
                  <a:srgbClr val="1F2429"/>
                </a:solidFill>
                <a:latin typeface="Calibri" pitchFamily="34" charset="0"/>
                <a:ea typeface="Calibri" pitchFamily="34" charset="-122"/>
                <a:cs typeface="Calibri" pitchFamily="34" charset="-120"/>
              </a:rPr>
              <a:t>REDO  E = 2</a:t>
            </a:r>
            <a:endParaRPr lang="en-US" sz="2200" dirty="0"/>
          </a:p>
        </p:txBody>
      </p:sp>
      <p:sp>
        <p:nvSpPr>
          <p:cNvPr id="12" name="Card body 12"/>
          <p:cNvSpPr txBox="1"/>
          <p:nvPr/>
        </p:nvSpPr>
        <p:spPr>
          <a:xfrm>
            <a:off x="6697980" y="2926080"/>
            <a:ext cx="4777740" cy="1554480"/>
          </a:xfrm>
          <a:prstGeom prst="rect">
            <a:avLst/>
          </a:prstGeom>
          <a:noFill/>
          <a:ln>
            <a:noFill/>
          </a:ln>
        </p:spPr>
        <p:txBody>
          <a:bodyPr wrap="square" rtlCol="0" anchor="t"/>
          <a:lstStyle/>
          <a:p>
            <a:pPr algn="l" indent="0" marL="0">
              <a:lnSpc>
                <a:spcPct val="115000"/>
              </a:lnSpc>
              <a:buNone/>
            </a:pPr>
            <a:r>
              <a:rPr lang="en-US" sz="1800" dirty="0">
                <a:solidFill>
                  <a:srgbClr val="6B7480"/>
                </a:solidFill>
                <a:latin typeface="Calibri" pitchFamily="34" charset="0"/>
                <a:ea typeface="Calibri" pitchFamily="34" charset="-122"/>
                <a:cs typeface="Calibri" pitchFamily="34" charset="-120"/>
              </a:rPr>
              <a:t>From record 12: [T4, write E, old=1, new=2]</a:t>
            </a:r>
            <a:endParaRPr lang="en-US" sz="1800" dirty="0"/>
          </a:p>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T4 committed at record 13, after the checkpoint. Set E to its new value, 2.</a:t>
            </a:r>
            <a:endParaRPr lang="en-US" sz="1800" dirty="0"/>
          </a:p>
        </p:txBody>
      </p:sp>
      <p:sp>
        <p:nvSpPr>
          <p:cNvPr id="13" name="Note 13"/>
          <p:cNvSpPr/>
          <p:nvPr/>
        </p:nvSpPr>
        <p:spPr>
          <a:xfrm>
            <a:off x="548640" y="4754880"/>
            <a:ext cx="11064240" cy="1417320"/>
          </a:xfrm>
          <a:prstGeom prst="roundRect">
            <a:avLst>
              <a:gd name="adj" fmla="val 3556"/>
            </a:avLst>
          </a:prstGeom>
          <a:solidFill>
            <a:srgbClr val="F3F1FC"/>
          </a:solidFill>
          <a:ln w="12700">
            <a:solidFill>
              <a:srgbClr val="8B7FD9"/>
            </a:solidFill>
          </a:ln>
        </p:spPr>
      </p:sp>
      <p:sp>
        <p:nvSpPr>
          <p:cNvPr id="14" name="Note text 14"/>
          <p:cNvSpPr txBox="1"/>
          <p:nvPr/>
        </p:nvSpPr>
        <p:spPr>
          <a:xfrm>
            <a:off x="822960" y="4892040"/>
            <a:ext cx="10515600" cy="1143000"/>
          </a:xfrm>
          <a:prstGeom prst="rect">
            <a:avLst/>
          </a:prstGeom>
          <a:noFill/>
          <a:ln>
            <a:noFill/>
          </a:ln>
        </p:spPr>
        <p:txBody>
          <a:bodyPr wrap="square" rtlCol="0" anchor="ctr"/>
          <a:lstStyle/>
          <a:p>
            <a:pPr algn="l" indent="0" marL="0">
              <a:lnSpc>
                <a:spcPct val="110000"/>
              </a:lnSpc>
              <a:buNone/>
            </a:pPr>
            <a:r>
              <a:rPr lang="en-US" sz="1800" b="1" dirty="0">
                <a:solidFill>
                  <a:srgbClr val="1F2429"/>
                </a:solidFill>
                <a:latin typeface="Calibri" pitchFamily="34" charset="0"/>
                <a:ea typeface="Calibri" pitchFamily="34" charset="-122"/>
                <a:cs typeface="Calibri" pitchFamily="34" charset="-120"/>
              </a:rPr>
              <a:t>Why redo is safe to repeat: </a:t>
            </a:r>
            <a:r>
              <a:rPr lang="en-US" sz="1800" dirty="0">
                <a:solidFill>
                  <a:srgbClr val="1F2429"/>
                </a:solidFill>
                <a:latin typeface="Calibri" pitchFamily="34" charset="0"/>
                <a:ea typeface="Calibri" pitchFamily="34" charset="-122"/>
                <a:cs typeface="Calibri" pitchFamily="34" charset="-120"/>
              </a:rPr>
              <a:t>setting C to 20 twice leaves C at 20. If the page write already reached disk, redo changes nothing; if it never did, redo supplies the missing change. Either way the result is the same. That is what idempotent means here.</a:t>
            </a:r>
            <a:endParaRPr lang="en-US" sz="1800" dirty="0"/>
          </a:p>
        </p:txBody>
      </p:sp>
      <p:sp>
        <p:nvSpPr>
          <p:cNvPr id="15" name="Footer 15"/>
          <p:cNvSpPr txBox="1"/>
          <p:nvPr/>
        </p:nvSpPr>
        <p:spPr>
          <a:xfrm>
            <a:off x="9951415" y="6455664"/>
            <a:ext cx="2011680" cy="292608"/>
          </a:xfrm>
          <a:prstGeom prst="rect">
            <a:avLst/>
          </a:prstGeom>
          <a:noFill/>
          <a:ln>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rPr>
              <a:t>cuinotes.com</a:t>
            </a:r>
            <a:r>
              <a:rPr lang="en-US" sz="1200" dirty="0">
                <a:solidFill>
                  <a:srgbClr val="8A939B"/>
                </a:solidFill>
                <a:latin typeface="Calibri" pitchFamily="34" charset="0"/>
                <a:ea typeface="Calibri" pitchFamily="34" charset="-122"/>
                <a:cs typeface="Calibri" pitchFamily="34" charset="-120"/>
              </a:rPr>
              <a:t>  ·  16</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20040"/>
            <a:ext cx="9144000" cy="292608"/>
          </a:xfrm>
          <a:prstGeom prst="rect">
            <a:avLst/>
          </a:prstGeom>
          <a:noFill/>
          <a:ln/>
        </p:spPr>
        <p:txBody>
          <a:bodyPr wrap="square" rtlCol="0" anchor="ctr"/>
          <a:lstStyle/>
          <a:p>
            <a:pPr indent="0" marL="0">
              <a:buNone/>
            </a:pPr>
            <a:r>
              <a:rPr lang="en-US" sz="1200" b="1" spc="150" kern="0" dirty="0">
                <a:solidFill>
                  <a:srgbClr val="8B7FD9"/>
                </a:solidFill>
                <a:latin typeface="Calibri" pitchFamily="34" charset="0"/>
                <a:ea typeface="Calibri" pitchFamily="34" charset="-122"/>
                <a:cs typeface="Calibri" pitchFamily="34" charset="-120"/>
              </a:rPr>
              <a:t>WORKED WALKTHROUGH, CONCLUDED</a:t>
            </a:r>
            <a:endParaRPr lang="en-US" sz="1200" dirty="0"/>
          </a:p>
        </p:txBody>
      </p:sp>
      <p:sp>
        <p:nvSpPr>
          <p:cNvPr id="3" name="Text 1"/>
          <p:cNvSpPr txBox="1"/>
          <p:nvPr/>
        </p:nvSpPr>
        <p:spPr>
          <a:xfrm>
            <a:off x="548640" y="566928"/>
            <a:ext cx="11064240" cy="640080"/>
          </a:xfrm>
          <a:prstGeom prst="rect">
            <a:avLst/>
          </a:prstGeom>
          <a:noFill/>
          <a:ln/>
        </p:spPr>
        <p:txBody>
          <a:bodyPr wrap="square" rtlCol="0" anchor="ctr"/>
          <a:lstStyle/>
          <a:p>
            <a:pPr indent="0" marL="0">
              <a:buNone/>
            </a:pPr>
            <a:r>
              <a:rPr lang="en-US" sz="2500" b="1" dirty="0">
                <a:solidFill>
                  <a:srgbClr val="1F2429"/>
                </a:solidFill>
                <a:latin typeface="Calibri" pitchFamily="34" charset="0"/>
                <a:ea typeface="Calibri" pitchFamily="34" charset="-122"/>
                <a:cs typeface="Calibri" pitchFamily="34" charset="-120"/>
              </a:rPr>
              <a:t>The Result</a:t>
            </a:r>
            <a:endParaRPr lang="en-US" sz="2500" dirty="0"/>
          </a:p>
        </p:txBody>
      </p:sp>
      <p:sp>
        <p:nvSpPr>
          <p:cNvPr id="4" name="Text 2"/>
          <p:cNvSpPr txBox="1"/>
          <p:nvPr/>
        </p:nvSpPr>
        <p:spPr>
          <a:xfrm>
            <a:off x="9951415" y="6455664"/>
            <a:ext cx="2011680" cy="292608"/>
          </a:xfrm>
          <a:prstGeom prst="rect">
            <a:avLst/>
          </a:prstGeom>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200" dirty="0">
                <a:solidFill>
                  <a:srgbClr val="8A939B"/>
                </a:solidFill>
                <a:latin typeface="Calibri" pitchFamily="34" charset="0"/>
                <a:ea typeface="Calibri" pitchFamily="34" charset="-122"/>
                <a:cs typeface="Calibri" pitchFamily="34" charset="-120"/>
              </a:rPr>
              <a:t>  ·  18</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2926080"/>
        </p:xfrm>
        <a:graphic>
          <a:graphicData uri="http://schemas.openxmlformats.org/drawingml/2006/table">
            <a:tbl>
              <a:tblPr/>
              <a:tblGrid>
                <a:gridCol w="1280160"/>
                <a:gridCol w="2103120"/>
                <a:gridCol w="7680960"/>
              </a:tblGrid>
              <a:tr h="48768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Item</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Final value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r>
              <a:tr h="48768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A</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200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From T1 — committed before the checkpoint, untouched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48768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B</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150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From T1 — committed before the checkpoint, untouched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r h="48768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C</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From T2 — redone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48768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D</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5</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From T3 — undone back to its original value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EF1F3"/>
                    </a:solidFill>
                  </a:tcPr>
                </a:tc>
              </a:tr>
              <a:tr h="487680">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2</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429"/>
                          </a:solidFill>
                          <a:latin typeface="Calibri" pitchFamily="34" charset="0"/>
                          <a:ea typeface="Calibri" pitchFamily="34" charset="-122"/>
                          <a:cs typeface="Calibri" pitchFamily="34" charset="-120"/>
                        </a:rPr>
                        <a:t>From T4 — redone</a:t>
                      </a:r>
                      <a:endParaRPr lang="en-US" sz="1400" dirty="0">
                        <a:latin typeface="Calibri" charset="0"/>
                        <a:ea typeface="Calibri" charset="0"/>
                        <a:cs typeface="Calibri" charset="0"/>
                      </a:endParaRP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526280"/>
            <a:ext cx="11064240" cy="1508760"/>
          </a:xfrm>
          <a:prstGeom prst="roundRect">
            <a:avLst>
              <a:gd name="adj" fmla="val 4848"/>
            </a:avLst>
          </a:prstGeom>
          <a:solidFill>
            <a:srgbClr val="E9FBF6"/>
          </a:solidFill>
          <a:ln w="12700">
            <a:solidFill>
              <a:srgbClr val="2FE6C4"/>
            </a:solidFill>
            <a:prstDash val="solid"/>
          </a:ln>
        </p:spPr>
      </p:sp>
      <p:sp>
        <p:nvSpPr>
          <p:cNvPr id="7" name="Text 4"/>
          <p:cNvSpPr txBox="1"/>
          <p:nvPr/>
        </p:nvSpPr>
        <p:spPr>
          <a:xfrm>
            <a:off x="822960" y="4709160"/>
            <a:ext cx="10515600" cy="1188720"/>
          </a:xfrm>
          <a:prstGeom prst="rect">
            <a:avLst/>
          </a:prstGeom>
          <a:noFill/>
          <a:ln/>
        </p:spPr>
        <p:txBody>
          <a:bodyPr wrap="square" rtlCol="0" anchor="t"/>
          <a:lstStyle/>
          <a:p>
            <a:pPr indent="0" marL="0">
              <a:lnSpc>
                <a:spcPct val="125000"/>
              </a:lnSpc>
              <a:buNone/>
            </a:pPr>
            <a:r>
              <a:rPr lang="en-US" sz="1800" b="1" dirty="0">
                <a:solidFill>
                  <a:srgbClr val="0E9E85"/>
                </a:solidFill>
                <a:latin typeface="Calibri" pitchFamily="34" charset="0"/>
                <a:ea typeface="Calibri" pitchFamily="34" charset="-122"/>
                <a:cs typeface="Calibri" pitchFamily="34" charset="-120"/>
              </a:rPr>
              <a:t>This is exactly the state the database would be in </a:t>
            </a:r>
            <a:pPr indent="0" marL="0">
              <a:lnSpc>
                <a:spcPct val="125000"/>
              </a:lnSpc>
              <a:buNone/>
            </a:pPr>
            <a:r>
              <a:rPr lang="en-US" sz="1800" dirty="0">
                <a:solidFill>
                  <a:srgbClr val="1F2429"/>
                </a:solidFill>
                <a:latin typeface="Calibri" pitchFamily="34" charset="0"/>
                <a:ea typeface="Calibri" pitchFamily="34" charset="-122"/>
                <a:cs typeface="Calibri" pitchFamily="34" charset="-120"/>
              </a:rPr>
              <a:t>if T1, T2, and T4 had each run to completion and T3 had never run at all — precisely what Atomicity and Durability together require.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Key takeaways">
    <p:bg>
      <p:bgPr>
        <a:solidFill>
          <a:srgbClr val="F7F8F9"/>
        </a:solidFill>
        <a:effectLst/>
      </p:bgPr>
    </p:bg>
    <p:spTree>
      <p:nvGrpSpPr>
        <p:cNvPr id="1" name=""/>
        <p:cNvGrpSpPr/>
        <p:nvPr/>
      </p:nvGrpSpPr>
      <p:grpSpPr>
        <a:xfrm>
          <a:off x="0" y="0"/>
          <a:ext cx="0" cy="0"/>
          <a:chOff x="0" y="0"/>
          <a:chExt cx="0" cy="0"/>
        </a:xfrm>
      </p:grpSpPr>
      <p:sp>
        <p:nvSpPr>
          <p:cNvPr id="2" name="Eyebrow 2"/>
          <p:cNvSpPr txBox="1"/>
          <p:nvPr/>
        </p:nvSpPr>
        <p:spPr>
          <a:xfrm>
            <a:off x="548640" y="320040"/>
            <a:ext cx="9144000" cy="292608"/>
          </a:xfrm>
          <a:prstGeom prst="rect">
            <a:avLst/>
          </a:prstGeom>
          <a:noFill/>
          <a:ln>
            <a:noFill/>
          </a:ln>
        </p:spPr>
        <p:txBody>
          <a:bodyPr wrap="square" rtlCol="0" anchor="ctr"/>
          <a:lstStyle/>
          <a:p>
            <a:pPr algn="l" indent="0" marL="0">
              <a:buNone/>
            </a:pPr>
            <a:r>
              <a:rPr lang="en-US" sz="1200" b="1" spc="150" kern="0" dirty="0">
                <a:solidFill>
                  <a:srgbClr val="8B7FD9"/>
                </a:solidFill>
                <a:latin typeface="Calibri" pitchFamily="34" charset="0"/>
                <a:ea typeface="Calibri" pitchFamily="34" charset="-122"/>
                <a:cs typeface="Calibri" pitchFamily="34" charset="-120"/>
              </a:rPr>
              <a:t>WRAP-UP</a:t>
            </a:r>
            <a:endParaRPr lang="en-US" sz="1200" dirty="0"/>
          </a:p>
        </p:txBody>
      </p:sp>
      <p:sp>
        <p:nvSpPr>
          <p:cNvPr id="3" name="Title 3"/>
          <p:cNvSpPr txBox="1"/>
          <p:nvPr/>
        </p:nvSpPr>
        <p:spPr>
          <a:xfrm>
            <a:off x="548640" y="566928"/>
            <a:ext cx="11064240" cy="640080"/>
          </a:xfrm>
          <a:prstGeom prst="rect">
            <a:avLst/>
          </a:prstGeom>
          <a:noFill/>
          <a:ln>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Key Takeaways</a:t>
            </a:r>
            <a:endParaRPr lang="en-US" sz="2500" dirty="0"/>
          </a:p>
        </p:txBody>
      </p:sp>
      <p:sp>
        <p:nvSpPr>
          <p:cNvPr id="4" name="Bullet 4"/>
          <p:cNvSpPr/>
          <p:nvPr/>
        </p:nvSpPr>
        <p:spPr>
          <a:xfrm>
            <a:off x="548640" y="1417320"/>
            <a:ext cx="228600" cy="228600"/>
          </a:xfrm>
          <a:prstGeom prst="ellipse">
            <a:avLst/>
          </a:prstGeom>
          <a:solidFill>
            <a:srgbClr val="2FE6C4"/>
          </a:solidFill>
          <a:ln>
            <a:noFill/>
          </a:ln>
        </p:spPr>
      </p:sp>
      <p:sp>
        <p:nvSpPr>
          <p:cNvPr id="5" name="Takeaway 5"/>
          <p:cNvSpPr txBox="1"/>
          <p:nvPr/>
        </p:nvSpPr>
        <p:spPr>
          <a:xfrm>
            <a:off x="960120" y="1325880"/>
            <a:ext cx="10652760" cy="740000"/>
          </a:xfrm>
          <a:prstGeom prst="rect">
            <a:avLst/>
          </a:prstGeom>
          <a:noFill/>
          <a:ln>
            <a:noFill/>
          </a:ln>
        </p:spPr>
        <p:txBody>
          <a:bodyPr wrap="square" rtlCol="0" anchor="t"/>
          <a:lstStyle/>
          <a:p>
            <a:pPr algn="l" indent="0" marL="0">
              <a:lnSpc>
                <a:spcPct val="105000"/>
              </a:lnSpc>
              <a:buNone/>
            </a:pPr>
            <a:r>
              <a:rPr lang="en-US" sz="1800" b="1" dirty="0">
                <a:solidFill>
                  <a:srgbClr val="1F2429"/>
                </a:solidFill>
                <a:latin typeface="Calibri" pitchFamily="34" charset="0"/>
                <a:ea typeface="Calibri" pitchFamily="34" charset="-122"/>
                <a:cs typeface="Calibri" pitchFamily="34" charset="-120"/>
              </a:rPr>
              <a:t>Failures split three ways: </a:t>
            </a:r>
            <a:r>
              <a:rPr lang="en-US" sz="1800" dirty="0">
                <a:solidFill>
                  <a:srgbClr val="1F2429"/>
                </a:solidFill>
                <a:latin typeface="Calibri" pitchFamily="34" charset="0"/>
                <a:ea typeface="Calibri" pitchFamily="34" charset="-122"/>
                <a:cs typeface="Calibri" pitchFamily="34" charset="-120"/>
              </a:rPr>
              <a:t>transaction failure, system crash (RAM lost, disk intact), and media failure (disk gone). Each needs its own response.</a:t>
            </a:r>
            <a:endParaRPr lang="en-US" sz="1800" dirty="0"/>
          </a:p>
        </p:txBody>
      </p:sp>
      <p:sp>
        <p:nvSpPr>
          <p:cNvPr id="6" name="Bullet 6"/>
          <p:cNvSpPr/>
          <p:nvPr/>
        </p:nvSpPr>
        <p:spPr>
          <a:xfrm>
            <a:off x="548640" y="2217320"/>
            <a:ext cx="228600" cy="228600"/>
          </a:xfrm>
          <a:prstGeom prst="ellipse">
            <a:avLst/>
          </a:prstGeom>
          <a:solidFill>
            <a:srgbClr val="8B7FD9"/>
          </a:solidFill>
          <a:ln>
            <a:noFill/>
          </a:ln>
        </p:spPr>
      </p:sp>
      <p:sp>
        <p:nvSpPr>
          <p:cNvPr id="7" name="Takeaway 7"/>
          <p:cNvSpPr txBox="1"/>
          <p:nvPr/>
        </p:nvSpPr>
        <p:spPr>
          <a:xfrm>
            <a:off x="960120" y="2125880"/>
            <a:ext cx="10652760" cy="740000"/>
          </a:xfrm>
          <a:prstGeom prst="rect">
            <a:avLst/>
          </a:prstGeom>
          <a:noFill/>
          <a:ln>
            <a:noFill/>
          </a:ln>
        </p:spPr>
        <p:txBody>
          <a:bodyPr wrap="square" rtlCol="0" anchor="t"/>
          <a:lstStyle/>
          <a:p>
            <a:pPr algn="l" indent="0" marL="0">
              <a:lnSpc>
                <a:spcPct val="105000"/>
              </a:lnSpc>
              <a:buNone/>
            </a:pPr>
            <a:r>
              <a:rPr lang="en-US" sz="1800" b="1" dirty="0">
                <a:solidFill>
                  <a:srgbClr val="1F2429"/>
                </a:solidFill>
                <a:latin typeface="Calibri" pitchFamily="34" charset="0"/>
                <a:ea typeface="Calibri" pitchFamily="34" charset="-122"/>
                <a:cs typeface="Calibri" pitchFamily="34" charset="-120"/>
              </a:rPr>
              <a:t>The recovery manager </a:t>
            </a:r>
            <a:r>
              <a:rPr lang="en-US" sz="1800" dirty="0">
                <a:solidFill>
                  <a:srgbClr val="1F2429"/>
                </a:solidFill>
                <a:latin typeface="Calibri" pitchFamily="34" charset="0"/>
                <a:ea typeface="Calibri" pitchFamily="34" charset="-122"/>
                <a:cs typeface="Calibri" pitchFamily="34" charset="-120"/>
              </a:rPr>
              <a:t>guarantees Atomicity and Durability using a log written independently of the data files.</a:t>
            </a:r>
            <a:endParaRPr lang="en-US" sz="1800" dirty="0"/>
          </a:p>
        </p:txBody>
      </p:sp>
      <p:sp>
        <p:nvSpPr>
          <p:cNvPr id="8" name="Bullet 8"/>
          <p:cNvSpPr/>
          <p:nvPr/>
        </p:nvSpPr>
        <p:spPr>
          <a:xfrm>
            <a:off x="548640" y="3017320"/>
            <a:ext cx="228600" cy="228600"/>
          </a:xfrm>
          <a:prstGeom prst="ellipse">
            <a:avLst/>
          </a:prstGeom>
          <a:solidFill>
            <a:srgbClr val="E8A33D"/>
          </a:solidFill>
          <a:ln>
            <a:noFill/>
          </a:ln>
        </p:spPr>
      </p:sp>
      <p:sp>
        <p:nvSpPr>
          <p:cNvPr id="9" name="Takeaway 9"/>
          <p:cNvSpPr txBox="1"/>
          <p:nvPr/>
        </p:nvSpPr>
        <p:spPr>
          <a:xfrm>
            <a:off x="960120" y="2925880"/>
            <a:ext cx="10652760" cy="740000"/>
          </a:xfrm>
          <a:prstGeom prst="rect">
            <a:avLst/>
          </a:prstGeom>
          <a:noFill/>
          <a:ln>
            <a:noFill/>
          </a:ln>
        </p:spPr>
        <p:txBody>
          <a:bodyPr wrap="square" rtlCol="0" anchor="t"/>
          <a:lstStyle/>
          <a:p>
            <a:pPr algn="l" indent="0" marL="0">
              <a:lnSpc>
                <a:spcPct val="105000"/>
              </a:lnSpc>
              <a:buNone/>
            </a:pPr>
            <a:r>
              <a:rPr lang="en-US" sz="1800" b="1" dirty="0">
                <a:solidFill>
                  <a:srgbClr val="1F2429"/>
                </a:solidFill>
                <a:latin typeface="Calibri" pitchFamily="34" charset="0"/>
                <a:ea typeface="Calibri" pitchFamily="34" charset="-122"/>
                <a:cs typeface="Calibri" pitchFamily="34" charset="-120"/>
              </a:rPr>
              <a:t>WAL requires the log record first. </a:t>
            </a:r>
            <a:r>
              <a:rPr lang="en-US" sz="1800" dirty="0">
                <a:solidFill>
                  <a:srgbClr val="1F2429"/>
                </a:solidFill>
                <a:latin typeface="Calibri" pitchFamily="34" charset="0"/>
                <a:ea typeface="Calibri" pitchFamily="34" charset="-122"/>
                <a:cs typeface="Calibri" pitchFamily="34" charset="-120"/>
              </a:rPr>
              <a:t>Breaking that ordering (slides 7-8) leaves uncommitted writes on disk with no way to undo them.</a:t>
            </a:r>
            <a:endParaRPr lang="en-US" sz="1800" dirty="0"/>
          </a:p>
        </p:txBody>
      </p:sp>
      <p:sp>
        <p:nvSpPr>
          <p:cNvPr id="10" name="Bullet 10"/>
          <p:cNvSpPr/>
          <p:nvPr/>
        </p:nvSpPr>
        <p:spPr>
          <a:xfrm>
            <a:off x="548640" y="3817320"/>
            <a:ext cx="228600" cy="228600"/>
          </a:xfrm>
          <a:prstGeom prst="ellipse">
            <a:avLst/>
          </a:prstGeom>
          <a:solidFill>
            <a:srgbClr val="2FE6C4"/>
          </a:solidFill>
          <a:ln>
            <a:noFill/>
          </a:ln>
        </p:spPr>
      </p:sp>
      <p:sp>
        <p:nvSpPr>
          <p:cNvPr id="11" name="Takeaway 11"/>
          <p:cNvSpPr txBox="1"/>
          <p:nvPr/>
        </p:nvSpPr>
        <p:spPr>
          <a:xfrm>
            <a:off x="960120" y="3725880"/>
            <a:ext cx="10652760" cy="740000"/>
          </a:xfrm>
          <a:prstGeom prst="rect">
            <a:avLst/>
          </a:prstGeom>
          <a:noFill/>
          <a:ln>
            <a:noFill/>
          </a:ln>
        </p:spPr>
        <p:txBody>
          <a:bodyPr wrap="square" rtlCol="0" anchor="t"/>
          <a:lstStyle/>
          <a:p>
            <a:pPr algn="l" indent="0" marL="0">
              <a:lnSpc>
                <a:spcPct val="105000"/>
              </a:lnSpc>
              <a:buNone/>
            </a:pPr>
            <a:r>
              <a:rPr lang="en-US" sz="1800" b="1" dirty="0">
                <a:solidFill>
                  <a:srgbClr val="1F2429"/>
                </a:solidFill>
                <a:latin typeface="Calibri" pitchFamily="34" charset="0"/>
                <a:ea typeface="Calibri" pitchFamily="34" charset="-122"/>
                <a:cs typeface="Calibri" pitchFamily="34" charset="-120"/>
              </a:rPr>
              <a:t>Undo and redo answer opposite questions: </a:t>
            </a:r>
            <a:r>
              <a:rPr lang="en-US" sz="1800" dirty="0">
                <a:solidFill>
                  <a:srgbClr val="1F2429"/>
                </a:solidFill>
                <a:latin typeface="Calibri" pitchFamily="34" charset="0"/>
                <a:ea typeface="Calibri" pitchFamily="34" charset="-122"/>
                <a:cs typeface="Calibri" pitchFamily="34" charset="-120"/>
              </a:rPr>
              <a:t>undo reverses uncommitted work with old values; redo reapplies committed work with new values, and is safe to repeat.</a:t>
            </a:r>
            <a:endParaRPr lang="en-US" sz="1800" dirty="0"/>
          </a:p>
        </p:txBody>
      </p:sp>
      <p:sp>
        <p:nvSpPr>
          <p:cNvPr id="12" name="Bullet 12"/>
          <p:cNvSpPr/>
          <p:nvPr/>
        </p:nvSpPr>
        <p:spPr>
          <a:xfrm>
            <a:off x="548640" y="4617320"/>
            <a:ext cx="228600" cy="228600"/>
          </a:xfrm>
          <a:prstGeom prst="ellipse">
            <a:avLst/>
          </a:prstGeom>
          <a:solidFill>
            <a:srgbClr val="8B7FD9"/>
          </a:solidFill>
          <a:ln>
            <a:noFill/>
          </a:ln>
        </p:spPr>
      </p:sp>
      <p:sp>
        <p:nvSpPr>
          <p:cNvPr id="13" name="Takeaway 13"/>
          <p:cNvSpPr txBox="1"/>
          <p:nvPr/>
        </p:nvSpPr>
        <p:spPr>
          <a:xfrm>
            <a:off x="960120" y="4525880"/>
            <a:ext cx="10652760" cy="740000"/>
          </a:xfrm>
          <a:prstGeom prst="rect">
            <a:avLst/>
          </a:prstGeom>
          <a:noFill/>
          <a:ln>
            <a:noFill/>
          </a:ln>
        </p:spPr>
        <p:txBody>
          <a:bodyPr wrap="square" rtlCol="0" anchor="t"/>
          <a:lstStyle/>
          <a:p>
            <a:pPr algn="l" indent="0" marL="0">
              <a:lnSpc>
                <a:spcPct val="105000"/>
              </a:lnSpc>
              <a:buNone/>
            </a:pPr>
            <a:r>
              <a:rPr lang="en-US" sz="1800" b="1" dirty="0">
                <a:solidFill>
                  <a:srgbClr val="1F2429"/>
                </a:solidFill>
                <a:latin typeface="Calibri" pitchFamily="34" charset="0"/>
                <a:ea typeface="Calibri" pitchFamily="34" charset="-122"/>
                <a:cs typeface="Calibri" pitchFamily="34" charset="-120"/>
              </a:rPr>
              <a:t>The checkpoint bounds recovery </a:t>
            </a:r>
            <a:r>
              <a:rPr lang="en-US" sz="1800" dirty="0">
                <a:solidFill>
                  <a:srgbClr val="1F2429"/>
                </a:solidFill>
                <a:latin typeface="Calibri" pitchFamily="34" charset="0"/>
                <a:ea typeface="Calibri" pitchFamily="34" charset="-122"/>
                <a:cs typeface="Calibri" pitchFamily="34" charset="-120"/>
              </a:rPr>
              <a:t>to the log since the last checkpoint, not the whole history.</a:t>
            </a:r>
            <a:endParaRPr lang="en-US" sz="1800" dirty="0"/>
          </a:p>
        </p:txBody>
      </p:sp>
      <p:sp>
        <p:nvSpPr>
          <p:cNvPr id="14" name="Bullet 14"/>
          <p:cNvSpPr/>
          <p:nvPr/>
        </p:nvSpPr>
        <p:spPr>
          <a:xfrm>
            <a:off x="548640" y="5417320"/>
            <a:ext cx="228600" cy="228600"/>
          </a:xfrm>
          <a:prstGeom prst="ellipse">
            <a:avLst/>
          </a:prstGeom>
          <a:solidFill>
            <a:srgbClr val="E8A33D"/>
          </a:solidFill>
          <a:ln>
            <a:noFill/>
          </a:ln>
        </p:spPr>
      </p:sp>
      <p:sp>
        <p:nvSpPr>
          <p:cNvPr id="15" name="Takeaway 15"/>
          <p:cNvSpPr txBox="1"/>
          <p:nvPr/>
        </p:nvSpPr>
        <p:spPr>
          <a:xfrm>
            <a:off x="960120" y="5325880"/>
            <a:ext cx="10652760" cy="740000"/>
          </a:xfrm>
          <a:prstGeom prst="rect">
            <a:avLst/>
          </a:prstGeom>
          <a:noFill/>
          <a:ln>
            <a:noFill/>
          </a:ln>
        </p:spPr>
        <p:txBody>
          <a:bodyPr wrap="square" rtlCol="0" anchor="t"/>
          <a:lstStyle/>
          <a:p>
            <a:pPr algn="l" indent="0" marL="0">
              <a:lnSpc>
                <a:spcPct val="105000"/>
              </a:lnSpc>
              <a:buNone/>
            </a:pPr>
            <a:r>
              <a:rPr lang="en-US" sz="1800" b="1" dirty="0">
                <a:solidFill>
                  <a:srgbClr val="1F2429"/>
                </a:solidFill>
                <a:latin typeface="Calibri" pitchFamily="34" charset="0"/>
                <a:ea typeface="Calibri" pitchFamily="34" charset="-122"/>
                <a:cs typeface="Calibri" pitchFamily="34" charset="-120"/>
              </a:rPr>
              <a:t>The traced crash: </a:t>
            </a:r>
            <a:r>
              <a:rPr lang="en-US" sz="1800" dirty="0">
                <a:solidFill>
                  <a:srgbClr val="1F2429"/>
                </a:solidFill>
                <a:latin typeface="Calibri" pitchFamily="34" charset="0"/>
                <a:ea typeface="Calibri" pitchFamily="34" charset="-122"/>
                <a:cs typeface="Calibri" pitchFamily="34" charset="-120"/>
              </a:rPr>
              <a:t>T1 needed no action; T2 (commit #8) and T4 (commit #13) were redone; T3, with no commit before the crash, was undone. Result: A=200, B=150, C=20, D=5, E=2.</a:t>
            </a:r>
            <a:endParaRPr lang="en-US" sz="1800" dirty="0"/>
          </a:p>
        </p:txBody>
      </p:sp>
      <p:sp>
        <p:nvSpPr>
          <p:cNvPr id="16" name="Footer 16"/>
          <p:cNvSpPr txBox="1"/>
          <p:nvPr/>
        </p:nvSpPr>
        <p:spPr>
          <a:xfrm>
            <a:off x="9951415" y="6455664"/>
            <a:ext cx="2011680" cy="292608"/>
          </a:xfrm>
          <a:prstGeom prst="rect">
            <a:avLst/>
          </a:prstGeom>
          <a:noFill/>
          <a:ln>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rPr>
              <a:t>cuinotes.com</a:t>
            </a:r>
            <a:r>
              <a:rPr lang="en-US" sz="1200" dirty="0">
                <a:solidFill>
                  <a:srgbClr val="8A939B"/>
                </a:solidFill>
                <a:latin typeface="Calibri" pitchFamily="34" charset="0"/>
                <a:ea typeface="Calibri" pitchFamily="34" charset="-122"/>
                <a:cs typeface="Calibri" pitchFamily="34" charset="-120"/>
              </a:rPr>
              <a:t>  ·  21</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WAL violation setup">
    <p:bg>
      <p:bgPr>
        <a:solidFill>
          <a:srgbClr val="F7F8F9"/>
        </a:solidFill>
        <a:effectLst/>
      </p:bgPr>
    </p:bg>
    <p:spTree>
      <p:nvGrpSpPr>
        <p:cNvPr id="1" name=""/>
        <p:cNvGrpSpPr/>
        <p:nvPr/>
      </p:nvGrpSpPr>
      <p:grpSpPr>
        <a:xfrm>
          <a:off x="0" y="0"/>
          <a:ext cx="0" cy="0"/>
          <a:chOff x="0" y="0"/>
          <a:chExt cx="0" cy="0"/>
        </a:xfrm>
      </p:grpSpPr>
      <p:sp>
        <p:nvSpPr>
          <p:cNvPr id="2" name="Eyebrow 2"/>
          <p:cNvSpPr txBox="1"/>
          <p:nvPr/>
        </p:nvSpPr>
        <p:spPr>
          <a:xfrm>
            <a:off x="548640" y="320040"/>
            <a:ext cx="9144000" cy="292608"/>
          </a:xfrm>
          <a:prstGeom prst="rect">
            <a:avLst/>
          </a:prstGeom>
          <a:noFill/>
          <a:ln>
            <a:noFill/>
          </a:ln>
        </p:spPr>
        <p:txBody>
          <a:bodyPr wrap="square" rtlCol="0" anchor="ctr"/>
          <a:lstStyle/>
          <a:p>
            <a:pPr algn="l" indent="0" marL="0">
              <a:buNone/>
            </a:pPr>
            <a:r>
              <a:rPr lang="en-US" sz="1200" b="1" spc="150" kern="0" dirty="0">
                <a:solidFill>
                  <a:srgbClr val="8B7FD9"/>
                </a:solidFill>
                <a:latin typeface="Calibri" pitchFamily="34" charset="0"/>
                <a:ea typeface="Calibri" pitchFamily="34" charset="-122"/>
                <a:cs typeface="Calibri" pitchFamily="34" charset="-120"/>
              </a:rPr>
              <a:t>WHAT WAL PREVENTS</a:t>
            </a:r>
            <a:endParaRPr lang="en-US" sz="1200" dirty="0"/>
          </a:p>
        </p:txBody>
      </p:sp>
      <p:sp>
        <p:nvSpPr>
          <p:cNvPr id="3" name="Title 3"/>
          <p:cNvSpPr txBox="1"/>
          <p:nvPr/>
        </p:nvSpPr>
        <p:spPr>
          <a:xfrm>
            <a:off x="548640" y="566928"/>
            <a:ext cx="11064240" cy="640080"/>
          </a:xfrm>
          <a:prstGeom prst="rect">
            <a:avLst/>
          </a:prstGeom>
          <a:noFill/>
          <a:ln>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What WAL Prevents: A Concrete Violation</a:t>
            </a:r>
            <a:endParaRPr lang="en-US" sz="2500" dirty="0"/>
          </a:p>
        </p:txBody>
      </p:sp>
      <p:sp>
        <p:nvSpPr>
          <p:cNvPr id="4" name="Intro 4"/>
          <p:cNvSpPr txBox="1"/>
          <p:nvPr/>
        </p:nvSpPr>
        <p:spPr>
          <a:xfrm>
            <a:off x="548640" y="1325880"/>
            <a:ext cx="11064240" cy="100584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Suppose transaction T5 writes item F (old value 500, new value 800). Now break the WAL rule on purpose: the DBMS flushes F's updated data page to disk first, and only afterward would write [T5, write F, old=500, new=800] to the log. The system crashes between those two steps.</a:t>
            </a:r>
            <a:endParaRPr lang="en-US" sz="1800" dirty="0"/>
          </a:p>
        </p:txBody>
      </p:sp>
      <p:sp>
        <p:nvSpPr>
          <p:cNvPr id="5" name="Dark box 5"/>
          <p:cNvSpPr/>
          <p:nvPr/>
        </p:nvSpPr>
        <p:spPr>
          <a:xfrm>
            <a:off x="548640" y="2468880"/>
            <a:ext cx="11064240" cy="640080"/>
          </a:xfrm>
          <a:prstGeom prst="roundRect">
            <a:avLst>
              <a:gd name="adj" fmla="val 10000"/>
            </a:avLst>
          </a:prstGeom>
          <a:solidFill>
            <a:srgbClr val="14181C"/>
          </a:solidFill>
          <a:ln>
            <a:noFill/>
          </a:ln>
        </p:spPr>
      </p:sp>
      <p:sp>
        <p:nvSpPr>
          <p:cNvPr id="6" name="Dark box text 6"/>
          <p:cNvSpPr txBox="1"/>
          <p:nvPr/>
        </p:nvSpPr>
        <p:spPr>
          <a:xfrm>
            <a:off x="822960" y="2468880"/>
            <a:ext cx="10515600" cy="640080"/>
          </a:xfrm>
          <a:prstGeom prst="rect">
            <a:avLst/>
          </a:prstGeom>
          <a:noFill/>
          <a:ln>
            <a:noFill/>
          </a:ln>
        </p:spPr>
        <p:txBody>
          <a:bodyPr wrap="square" rtlCol="0" anchor="ctr"/>
          <a:lstStyle/>
          <a:p>
            <a:pPr algn="l" indent="0" marL="0">
              <a:lnSpc>
                <a:spcPct val="115000"/>
              </a:lnSpc>
              <a:buNone/>
            </a:pPr>
            <a:r>
              <a:rPr lang="en-US" sz="1800" b="1" dirty="0">
                <a:solidFill>
                  <a:srgbClr val="2FE6C4"/>
                </a:solidFill>
                <a:latin typeface="Calibri" pitchFamily="34" charset="0"/>
                <a:ea typeface="Calibri" pitchFamily="34" charset="-122"/>
                <a:cs typeface="Calibri" pitchFamily="34" charset="-120"/>
              </a:rPr>
              <a:t>On disk right now: F = 800. In the log: no record of this write exists at all.</a:t>
            </a:r>
            <a:endParaRPr lang="en-US" sz="1800" dirty="0"/>
          </a:p>
        </p:txBody>
      </p:sp>
      <p:sp>
        <p:nvSpPr>
          <p:cNvPr id="7" name="Card 7"/>
          <p:cNvSpPr/>
          <p:nvPr/>
        </p:nvSpPr>
        <p:spPr>
          <a:xfrm>
            <a:off x="548640" y="3291840"/>
            <a:ext cx="5372100" cy="1645920"/>
          </a:xfrm>
          <a:prstGeom prst="roundRect">
            <a:avLst>
              <a:gd name="adj" fmla="val 3478"/>
            </a:avLst>
          </a:prstGeom>
          <a:solidFill>
            <a:srgbClr val="FFFFFF"/>
          </a:solidFill>
          <a:ln w="22225">
            <a:solidFill>
              <a:srgbClr val="E8A33D"/>
            </a:solidFill>
          </a:ln>
          <a:effectLst>
            <a:outerShdw blurRad="63500" dist="25400" dir="5400000" algn="bl" rotWithShape="0">
              <a:srgbClr val="1F2429">
                <a:alpha val="15000"/>
              </a:srgbClr>
            </a:outerShdw>
          </a:effectLst>
        </p:spPr>
      </p:sp>
      <p:sp>
        <p:nvSpPr>
          <p:cNvPr id="8" name="Card title 8"/>
          <p:cNvSpPr txBox="1"/>
          <p:nvPr/>
        </p:nvSpPr>
        <p:spPr>
          <a:xfrm>
            <a:off x="868680" y="3410712"/>
            <a:ext cx="4914900" cy="457200"/>
          </a:xfrm>
          <a:prstGeom prst="rect">
            <a:avLst/>
          </a:prstGeom>
          <a:noFill/>
          <a:ln>
            <a:noFill/>
          </a:ln>
        </p:spPr>
        <p:txBody>
          <a:bodyPr wrap="square" rtlCol="0" anchor="ctr"/>
          <a:lstStyle/>
          <a:p>
            <a:pPr algn="l" indent="0" marL="0">
              <a:buNone/>
            </a:pPr>
            <a:r>
              <a:rPr lang="en-US" sz="2000" b="1" dirty="0">
                <a:solidFill>
                  <a:srgbClr val="1F2429"/>
                </a:solidFill>
                <a:latin typeface="Calibri" pitchFamily="34" charset="0"/>
                <a:ea typeface="Calibri" pitchFamily="34" charset="-122"/>
                <a:cs typeface="Calibri" pitchFamily="34" charset="-120"/>
              </a:rPr>
              <a:t>1. Data page written first</a:t>
            </a:r>
            <a:endParaRPr lang="en-US" sz="2000" dirty="0"/>
          </a:p>
        </p:txBody>
      </p:sp>
      <p:sp>
        <p:nvSpPr>
          <p:cNvPr id="9" name="Card body 9"/>
          <p:cNvSpPr txBox="1"/>
          <p:nvPr/>
        </p:nvSpPr>
        <p:spPr>
          <a:xfrm>
            <a:off x="868680" y="3931920"/>
            <a:ext cx="4914900" cy="914400"/>
          </a:xfrm>
          <a:prstGeom prst="rect">
            <a:avLst/>
          </a:prstGeom>
          <a:noFill/>
          <a:ln>
            <a:noFill/>
          </a:ln>
        </p:spPr>
        <p:txBody>
          <a:bodyPr wrap="square" rtlCol="0" anchor="t"/>
          <a:lstStyle/>
          <a:p>
            <a:pPr algn="l" indent="0" marL="0">
              <a:lnSpc>
                <a:spcPct val="115000"/>
              </a:lnSpc>
              <a:buNone/>
            </a:pPr>
            <a:r>
              <a:rPr lang="en-US" sz="1800" dirty="0">
                <a:solidFill>
                  <a:srgbClr val="6B7480"/>
                </a:solidFill>
                <a:latin typeface="Calibri" pitchFamily="34" charset="0"/>
                <a:ea typeface="Calibri" pitchFamily="34" charset="-122"/>
                <a:cs typeface="Calibri" pitchFamily="34" charset="-120"/>
              </a:rPr>
              <a:t>F's page now reads 800 on disk, before any log record exists.</a:t>
            </a:r>
            <a:endParaRPr lang="en-US" sz="1800" dirty="0"/>
          </a:p>
        </p:txBody>
      </p:sp>
      <p:sp>
        <p:nvSpPr>
          <p:cNvPr id="10" name="Arrow 10"/>
          <p:cNvSpPr/>
          <p:nvPr/>
        </p:nvSpPr>
        <p:spPr>
          <a:xfrm>
            <a:off x="5920740" y="4114800"/>
            <a:ext cx="411480" cy="0"/>
          </a:xfrm>
          <a:prstGeom prst="line">
            <a:avLst/>
          </a:prstGeom>
          <a:noFill/>
          <a:ln w="25400">
            <a:solidFill>
              <a:srgbClr val="8A939B"/>
            </a:solidFill>
            <a:prstDash val="solid"/>
            <a:tailEnd type="triangle"/>
          </a:ln>
        </p:spPr>
      </p:sp>
      <p:sp>
        <p:nvSpPr>
          <p:cNvPr id="11" name="Card 11"/>
          <p:cNvSpPr/>
          <p:nvPr/>
        </p:nvSpPr>
        <p:spPr>
          <a:xfrm>
            <a:off x="6240780" y="3291840"/>
            <a:ext cx="5372100" cy="1645920"/>
          </a:xfrm>
          <a:prstGeom prst="roundRect">
            <a:avLst>
              <a:gd name="adj" fmla="val 3478"/>
            </a:avLst>
          </a:prstGeom>
          <a:solidFill>
            <a:srgbClr val="FFFFFF"/>
          </a:solidFill>
          <a:ln w="22225">
            <a:solidFill>
              <a:srgbClr val="E8A33D"/>
            </a:solidFill>
          </a:ln>
          <a:effectLst>
            <a:outerShdw blurRad="63500" dist="25400" dir="5400000" algn="bl" rotWithShape="0">
              <a:srgbClr val="1F2429">
                <a:alpha val="15000"/>
              </a:srgbClr>
            </a:outerShdw>
          </a:effectLst>
        </p:spPr>
      </p:sp>
      <p:sp>
        <p:nvSpPr>
          <p:cNvPr id="12" name="Card title 12"/>
          <p:cNvSpPr txBox="1"/>
          <p:nvPr/>
        </p:nvSpPr>
        <p:spPr>
          <a:xfrm>
            <a:off x="6560820" y="3410712"/>
            <a:ext cx="4914900" cy="457200"/>
          </a:xfrm>
          <a:prstGeom prst="rect">
            <a:avLst/>
          </a:prstGeom>
          <a:noFill/>
          <a:ln>
            <a:noFill/>
          </a:ln>
        </p:spPr>
        <p:txBody>
          <a:bodyPr wrap="square" rtlCol="0" anchor="ctr"/>
          <a:lstStyle/>
          <a:p>
            <a:pPr algn="l" indent="0" marL="0">
              <a:buNone/>
            </a:pPr>
            <a:r>
              <a:rPr lang="en-US" sz="2000" b="1" dirty="0">
                <a:solidFill>
                  <a:srgbClr val="1F2429"/>
                </a:solidFill>
                <a:latin typeface="Calibri" pitchFamily="34" charset="0"/>
                <a:ea typeface="Calibri" pitchFamily="34" charset="-122"/>
                <a:cs typeface="Calibri" pitchFamily="34" charset="-120"/>
              </a:rPr>
              <a:t>2. Crash before the log record</a:t>
            </a:r>
            <a:endParaRPr lang="en-US" sz="2000" dirty="0"/>
          </a:p>
        </p:txBody>
      </p:sp>
      <p:sp>
        <p:nvSpPr>
          <p:cNvPr id="13" name="Card body 13"/>
          <p:cNvSpPr txBox="1"/>
          <p:nvPr/>
        </p:nvSpPr>
        <p:spPr>
          <a:xfrm>
            <a:off x="6560820" y="3931920"/>
            <a:ext cx="4914900" cy="914400"/>
          </a:xfrm>
          <a:prstGeom prst="rect">
            <a:avLst/>
          </a:prstGeom>
          <a:noFill/>
          <a:ln>
            <a:noFill/>
          </a:ln>
        </p:spPr>
        <p:txBody>
          <a:bodyPr wrap="square" rtlCol="0" anchor="t"/>
          <a:lstStyle/>
          <a:p>
            <a:pPr algn="l" indent="0" marL="0">
              <a:lnSpc>
                <a:spcPct val="115000"/>
              </a:lnSpc>
              <a:buNone/>
            </a:pPr>
            <a:r>
              <a:rPr lang="en-US" sz="1800" dirty="0">
                <a:solidFill>
                  <a:srgbClr val="6B7480"/>
                </a:solidFill>
                <a:latin typeface="Calibri" pitchFamily="34" charset="0"/>
                <a:ea typeface="Calibri" pitchFamily="34" charset="-122"/>
                <a:cs typeface="Calibri" pitchFamily="34" charset="-120"/>
              </a:rPr>
              <a:t>[T5, write F, old=500, new=800] never reaches disk. Nothing records the change.</a:t>
            </a:r>
            <a:endParaRPr lang="en-US" sz="1800" dirty="0"/>
          </a:p>
        </p:txBody>
      </p:sp>
      <p:sp>
        <p:nvSpPr>
          <p:cNvPr id="14" name="Closing 14"/>
          <p:cNvSpPr txBox="1"/>
          <p:nvPr/>
        </p:nvSpPr>
        <p:spPr>
          <a:xfrm>
            <a:off x="548640" y="5120640"/>
            <a:ext cx="11064240" cy="105156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The result is the worst case: a change reached disk with no record of its old value, so recovery cannot undo it or even know it happened. WAL's ordering rule (log first) rules this state out.</a:t>
            </a:r>
            <a:endParaRPr lang="en-US" sz="1800" dirty="0"/>
          </a:p>
        </p:txBody>
      </p:sp>
      <p:sp>
        <p:nvSpPr>
          <p:cNvPr id="15" name="Footer 15"/>
          <p:cNvSpPr txBox="1"/>
          <p:nvPr/>
        </p:nvSpPr>
        <p:spPr>
          <a:xfrm>
            <a:off x="9951415" y="6455664"/>
            <a:ext cx="2011680" cy="292608"/>
          </a:xfrm>
          <a:prstGeom prst="rect">
            <a:avLst/>
          </a:prstGeom>
          <a:noFill/>
          <a:ln>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rPr>
              <a:t>cuinotes.com</a:t>
            </a:r>
            <a:r>
              <a:rPr lang="en-US" sz="1200" dirty="0">
                <a:solidFill>
                  <a:srgbClr val="8A939B"/>
                </a:solidFill>
                <a:latin typeface="Calibri" pitchFamily="34" charset="0"/>
                <a:ea typeface="Calibri" pitchFamily="34" charset="-122"/>
                <a:cs typeface="Calibri" pitchFamily="34" charset="-120"/>
              </a:rPr>
              <a:t>  ·  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WAL violation outcomes">
    <p:bg>
      <p:bgPr>
        <a:solidFill>
          <a:srgbClr val="F7F8F9"/>
        </a:solidFill>
        <a:effectLst/>
      </p:bgPr>
    </p:bg>
    <p:spTree>
      <p:nvGrpSpPr>
        <p:cNvPr id="1" name=""/>
        <p:cNvGrpSpPr/>
        <p:nvPr/>
      </p:nvGrpSpPr>
      <p:grpSpPr>
        <a:xfrm>
          <a:off x="0" y="0"/>
          <a:ext cx="0" cy="0"/>
          <a:chOff x="0" y="0"/>
          <a:chExt cx="0" cy="0"/>
        </a:xfrm>
      </p:grpSpPr>
      <p:sp>
        <p:nvSpPr>
          <p:cNvPr id="2" name="Eyebrow 2"/>
          <p:cNvSpPr txBox="1"/>
          <p:nvPr/>
        </p:nvSpPr>
        <p:spPr>
          <a:xfrm>
            <a:off x="548640" y="320040"/>
            <a:ext cx="9144000" cy="292608"/>
          </a:xfrm>
          <a:prstGeom prst="rect">
            <a:avLst/>
          </a:prstGeom>
          <a:noFill/>
          <a:ln>
            <a:noFill/>
          </a:ln>
        </p:spPr>
        <p:txBody>
          <a:bodyPr wrap="square" rtlCol="0" anchor="ctr"/>
          <a:lstStyle/>
          <a:p>
            <a:pPr algn="l" indent="0" marL="0">
              <a:buNone/>
            </a:pPr>
            <a:r>
              <a:rPr lang="en-US" sz="1200" b="1" spc="150" kern="0" dirty="0">
                <a:solidFill>
                  <a:srgbClr val="8B7FD9"/>
                </a:solidFill>
                <a:latin typeface="Calibri" pitchFamily="34" charset="0"/>
                <a:ea typeface="Calibri" pitchFamily="34" charset="-122"/>
                <a:cs typeface="Calibri" pitchFamily="34" charset="-120"/>
              </a:rPr>
              <a:t>TRACING THE VIOLATION</a:t>
            </a:r>
            <a:endParaRPr lang="en-US" sz="1200" dirty="0"/>
          </a:p>
        </p:txBody>
      </p:sp>
      <p:sp>
        <p:nvSpPr>
          <p:cNvPr id="3" name="Title 3"/>
          <p:cNvSpPr txBox="1"/>
          <p:nvPr/>
        </p:nvSpPr>
        <p:spPr>
          <a:xfrm>
            <a:off x="548640" y="566928"/>
            <a:ext cx="11064240" cy="640080"/>
          </a:xfrm>
          <a:prstGeom prst="rect">
            <a:avLst/>
          </a:prstGeom>
          <a:noFill/>
          <a:ln>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Tracing the Violation Through Two Outcomes</a:t>
            </a:r>
            <a:endParaRPr lang="en-US" sz="2500" dirty="0"/>
          </a:p>
        </p:txBody>
      </p:sp>
      <p:sp>
        <p:nvSpPr>
          <p:cNvPr id="4" name="Card 4"/>
          <p:cNvSpPr/>
          <p:nvPr/>
        </p:nvSpPr>
        <p:spPr>
          <a:xfrm>
            <a:off x="548640" y="1463040"/>
            <a:ext cx="5372100" cy="3291840"/>
          </a:xfrm>
          <a:prstGeom prst="roundRect">
            <a:avLst>
              <a:gd name="adj" fmla="val 3478"/>
            </a:avLst>
          </a:prstGeom>
          <a:solidFill>
            <a:srgbClr val="FFFFFF"/>
          </a:solidFill>
          <a:ln w="22225">
            <a:solidFill>
              <a:srgbClr val="E8A33D"/>
            </a:solidFill>
          </a:ln>
          <a:effectLst>
            <a:outerShdw blurRad="63500" dist="25400" dir="5400000" algn="bl" rotWithShape="0">
              <a:srgbClr val="1F2429">
                <a:alpha val="15000"/>
              </a:srgbClr>
            </a:outerShdw>
          </a:effectLst>
        </p:spPr>
      </p:sp>
      <p:sp>
        <p:nvSpPr>
          <p:cNvPr id="5" name="Dot 5"/>
          <p:cNvSpPr/>
          <p:nvPr/>
        </p:nvSpPr>
        <p:spPr>
          <a:xfrm>
            <a:off x="713232" y="1645920"/>
            <a:ext cx="201168" cy="201168"/>
          </a:xfrm>
          <a:prstGeom prst="ellipse">
            <a:avLst/>
          </a:prstGeom>
          <a:solidFill>
            <a:srgbClr val="E8A33D"/>
          </a:solidFill>
          <a:ln>
            <a:noFill/>
          </a:ln>
        </p:spPr>
      </p:sp>
      <p:sp>
        <p:nvSpPr>
          <p:cNvPr id="6" name="Card title 6"/>
          <p:cNvSpPr txBox="1"/>
          <p:nvPr/>
        </p:nvSpPr>
        <p:spPr>
          <a:xfrm>
            <a:off x="1005840" y="1581912"/>
            <a:ext cx="4777740" cy="457200"/>
          </a:xfrm>
          <a:prstGeom prst="rect">
            <a:avLst/>
          </a:prstGeom>
          <a:noFill/>
          <a:ln>
            <a:noFill/>
          </a:ln>
        </p:spPr>
        <p:txBody>
          <a:bodyPr wrap="square" rtlCol="0" anchor="ctr"/>
          <a:lstStyle/>
          <a:p>
            <a:pPr algn="l" indent="0" marL="0">
              <a:buNone/>
            </a:pPr>
            <a:r>
              <a:rPr lang="en-US" sz="2000" b="1" dirty="0">
                <a:solidFill>
                  <a:srgbClr val="1F2429"/>
                </a:solidFill>
                <a:latin typeface="Calibri" pitchFamily="34" charset="0"/>
                <a:ea typeface="Calibri" pitchFamily="34" charset="-122"/>
                <a:cs typeface="Calibri" pitchFamily="34" charset="-120"/>
              </a:rPr>
              <a:t>Case A: T5 had not yet committed</a:t>
            </a:r>
            <a:endParaRPr lang="en-US" sz="2000" dirty="0"/>
          </a:p>
        </p:txBody>
      </p:sp>
      <p:sp>
        <p:nvSpPr>
          <p:cNvPr id="7" name="Card body 7"/>
          <p:cNvSpPr txBox="1"/>
          <p:nvPr/>
        </p:nvSpPr>
        <p:spPr>
          <a:xfrm>
            <a:off x="1005840" y="2103120"/>
            <a:ext cx="4777740" cy="256032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F = 800 is on disk, but no log record exists to undo it with. T5 never committed, so Atomicity requires F to return to 500. Recovery cannot restore it, and cannot even detect that the write happened.</a:t>
            </a:r>
            <a:endParaRPr lang="en-US" sz="1800" dirty="0"/>
          </a:p>
        </p:txBody>
      </p:sp>
      <p:sp>
        <p:nvSpPr>
          <p:cNvPr id="8" name="Card 8"/>
          <p:cNvSpPr/>
          <p:nvPr/>
        </p:nvSpPr>
        <p:spPr>
          <a:xfrm>
            <a:off x="6240780" y="1463040"/>
            <a:ext cx="5372100" cy="3291840"/>
          </a:xfrm>
          <a:prstGeom prst="roundRect">
            <a:avLst>
              <a:gd name="adj" fmla="val 3478"/>
            </a:avLst>
          </a:prstGeom>
          <a:solidFill>
            <a:srgbClr val="FFFFFF"/>
          </a:solidFill>
          <a:ln w="22225">
            <a:solidFill>
              <a:srgbClr val="8B7FD9"/>
            </a:solidFill>
          </a:ln>
          <a:effectLst>
            <a:outerShdw blurRad="63500" dist="25400" dir="5400000" algn="bl" rotWithShape="0">
              <a:srgbClr val="1F2429">
                <a:alpha val="15000"/>
              </a:srgbClr>
            </a:outerShdw>
          </a:effectLst>
        </p:spPr>
      </p:sp>
      <p:sp>
        <p:nvSpPr>
          <p:cNvPr id="9" name="Dot 9"/>
          <p:cNvSpPr/>
          <p:nvPr/>
        </p:nvSpPr>
        <p:spPr>
          <a:xfrm>
            <a:off x="6405372" y="1645920"/>
            <a:ext cx="201168" cy="201168"/>
          </a:xfrm>
          <a:prstGeom prst="ellipse">
            <a:avLst/>
          </a:prstGeom>
          <a:solidFill>
            <a:srgbClr val="8B7FD9"/>
          </a:solidFill>
          <a:ln>
            <a:noFill/>
          </a:ln>
        </p:spPr>
      </p:sp>
      <p:sp>
        <p:nvSpPr>
          <p:cNvPr id="10" name="Card title 10"/>
          <p:cNvSpPr txBox="1"/>
          <p:nvPr/>
        </p:nvSpPr>
        <p:spPr>
          <a:xfrm>
            <a:off x="6697980" y="1581912"/>
            <a:ext cx="4777740" cy="457200"/>
          </a:xfrm>
          <a:prstGeom prst="rect">
            <a:avLst/>
          </a:prstGeom>
          <a:noFill/>
          <a:ln>
            <a:noFill/>
          </a:ln>
        </p:spPr>
        <p:txBody>
          <a:bodyPr wrap="square" rtlCol="0" anchor="ctr"/>
          <a:lstStyle/>
          <a:p>
            <a:pPr algn="l" indent="0" marL="0">
              <a:buNone/>
            </a:pPr>
            <a:r>
              <a:rPr lang="en-US" sz="2000" b="1" dirty="0">
                <a:solidFill>
                  <a:srgbClr val="1F2429"/>
                </a:solidFill>
                <a:latin typeface="Calibri" pitchFamily="34" charset="0"/>
                <a:ea typeface="Calibri" pitchFamily="34" charset="-122"/>
                <a:cs typeface="Calibri" pitchFamily="34" charset="-120"/>
              </a:rPr>
              <a:t>Case B: T5 did commit</a:t>
            </a:r>
            <a:endParaRPr lang="en-US" sz="2000" dirty="0"/>
          </a:p>
        </p:txBody>
      </p:sp>
      <p:sp>
        <p:nvSpPr>
          <p:cNvPr id="11" name="Card body 11"/>
          <p:cNvSpPr txBox="1"/>
          <p:nvPr/>
        </p:nvSpPr>
        <p:spPr>
          <a:xfrm>
            <a:off x="6697980" y="2103120"/>
            <a:ext cx="4777740" cy="256032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The commit is safe only by accident. Had the crash landed a moment earlier, the same disk state (F = 800, no log record) would exist for a transaction that never committed. The log alone cannot tell the two cases apart.</a:t>
            </a:r>
            <a:endParaRPr lang="en-US" sz="1800" dirty="0"/>
          </a:p>
        </p:txBody>
      </p:sp>
      <p:sp>
        <p:nvSpPr>
          <p:cNvPr id="12" name="Note 12"/>
          <p:cNvSpPr/>
          <p:nvPr/>
        </p:nvSpPr>
        <p:spPr>
          <a:xfrm>
            <a:off x="548640" y="4983480"/>
            <a:ext cx="11064240" cy="1234440"/>
          </a:xfrm>
          <a:prstGeom prst="roundRect">
            <a:avLst>
              <a:gd name="adj" fmla="val 3556"/>
            </a:avLst>
          </a:prstGeom>
          <a:solidFill>
            <a:srgbClr val="FFF7EA"/>
          </a:solidFill>
          <a:ln w="12700">
            <a:solidFill>
              <a:srgbClr val="E8A33D"/>
            </a:solidFill>
          </a:ln>
        </p:spPr>
      </p:sp>
      <p:sp>
        <p:nvSpPr>
          <p:cNvPr id="13" name="Note text 13"/>
          <p:cNvSpPr txBox="1"/>
          <p:nvPr/>
        </p:nvSpPr>
        <p:spPr>
          <a:xfrm>
            <a:off x="822960" y="5120640"/>
            <a:ext cx="10515600" cy="960120"/>
          </a:xfrm>
          <a:prstGeom prst="rect">
            <a:avLst/>
          </a:prstGeom>
          <a:noFill/>
          <a:ln>
            <a:noFill/>
          </a:ln>
        </p:spPr>
        <p:txBody>
          <a:bodyPr wrap="square" rtlCol="0" anchor="ctr"/>
          <a:lstStyle/>
          <a:p>
            <a:pPr algn="l" indent="0" marL="0">
              <a:lnSpc>
                <a:spcPct val="110000"/>
              </a:lnSpc>
              <a:buNone/>
            </a:pPr>
            <a:r>
              <a:rPr lang="en-US" sz="1800" b="1" dirty="0">
                <a:solidFill>
                  <a:srgbClr val="1F2429"/>
                </a:solidFill>
                <a:latin typeface="Calibri" pitchFamily="34" charset="0"/>
                <a:ea typeface="Calibri" pitchFamily="34" charset="-122"/>
                <a:cs typeface="Calibri" pitchFamily="34" charset="-120"/>
              </a:rPr>
              <a:t>The lesson: </a:t>
            </a:r>
            <a:r>
              <a:rPr lang="en-US" sz="1800" dirty="0">
                <a:solidFill>
                  <a:srgbClr val="1F2429"/>
                </a:solidFill>
                <a:latin typeface="Calibri" pitchFamily="34" charset="0"/>
                <a:ea typeface="Calibri" pitchFamily="34" charset="-122"/>
                <a:cs typeface="Calibri" pitchFamily="34" charset="-120"/>
              </a:rPr>
              <a:t>WAL keeps the log a complete, trustworthy record, because each log record reaches stable storage before its data page. Skip that ordering and recovery loses the ability to tell committed writes from uncommitted ones.</a:t>
            </a:r>
            <a:endParaRPr lang="en-US" sz="1800" dirty="0"/>
          </a:p>
        </p:txBody>
      </p:sp>
      <p:sp>
        <p:nvSpPr>
          <p:cNvPr id="14" name="Footer 14"/>
          <p:cNvSpPr txBox="1"/>
          <p:nvPr/>
        </p:nvSpPr>
        <p:spPr>
          <a:xfrm>
            <a:off x="9951415" y="6455664"/>
            <a:ext cx="2011680" cy="292608"/>
          </a:xfrm>
          <a:prstGeom prst="rect">
            <a:avLst/>
          </a:prstGeom>
          <a:noFill/>
          <a:ln>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rPr>
              <a:t>cuinotes.com</a:t>
            </a:r>
            <a:r>
              <a:rPr lang="en-US" sz="1200" dirty="0">
                <a:solidFill>
                  <a:srgbClr val="8A939B"/>
                </a:solidFill>
                <a:latin typeface="Calibri" pitchFamily="34" charset="0"/>
                <a:ea typeface="Calibri" pitchFamily="34" charset="-122"/>
                <a:cs typeface="Calibri" pitchFamily="34" charset="-120"/>
              </a:rPr>
              <a:t>  ·  8</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Why start at the checkpoint">
    <p:bg>
      <p:bgPr>
        <a:solidFill>
          <a:srgbClr val="F7F8F9"/>
        </a:solidFill>
        <a:effectLst/>
      </p:bgPr>
    </p:bg>
    <p:spTree>
      <p:nvGrpSpPr>
        <p:cNvPr id="1" name=""/>
        <p:cNvGrpSpPr/>
        <p:nvPr/>
      </p:nvGrpSpPr>
      <p:grpSpPr>
        <a:xfrm>
          <a:off x="0" y="0"/>
          <a:ext cx="0" cy="0"/>
          <a:chOff x="0" y="0"/>
          <a:chExt cx="0" cy="0"/>
        </a:xfrm>
      </p:grpSpPr>
      <p:sp>
        <p:nvSpPr>
          <p:cNvPr id="2" name="Eyebrow 2"/>
          <p:cNvSpPr txBox="1"/>
          <p:nvPr/>
        </p:nvSpPr>
        <p:spPr>
          <a:xfrm>
            <a:off x="548640" y="320040"/>
            <a:ext cx="9144000" cy="292608"/>
          </a:xfrm>
          <a:prstGeom prst="rect">
            <a:avLst/>
          </a:prstGeom>
          <a:noFill/>
          <a:ln>
            <a:noFill/>
          </a:ln>
        </p:spPr>
        <p:txBody>
          <a:bodyPr wrap="square" rtlCol="0" anchor="ctr"/>
          <a:lstStyle/>
          <a:p>
            <a:pPr algn="l" indent="0" marL="0">
              <a:buNone/>
            </a:pPr>
            <a:r>
              <a:rPr lang="en-US" sz="1200" b="1" spc="150" kern="0" dirty="0">
                <a:solidFill>
                  <a:srgbClr val="E8A33D"/>
                </a:solidFill>
                <a:latin typeface="Calibri" pitchFamily="34" charset="0"/>
                <a:ea typeface="Calibri" pitchFamily="34" charset="-122"/>
                <a:cs typeface="Calibri" pitchFamily="34" charset="-120"/>
              </a:rPr>
              <a:t>WHY THE CHECKPOINT MATTERS</a:t>
            </a:r>
            <a:endParaRPr lang="en-US" sz="1200" dirty="0"/>
          </a:p>
        </p:txBody>
      </p:sp>
      <p:sp>
        <p:nvSpPr>
          <p:cNvPr id="3" name="Title 3"/>
          <p:cNvSpPr txBox="1"/>
          <p:nvPr/>
        </p:nvSpPr>
        <p:spPr>
          <a:xfrm>
            <a:off x="548640" y="566928"/>
            <a:ext cx="11064240" cy="640080"/>
          </a:xfrm>
          <a:prstGeom prst="rect">
            <a:avLst/>
          </a:prstGeom>
          <a:noFill/>
          <a:ln>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Why Start at the Checkpoint, Not the Beginning</a:t>
            </a:r>
            <a:endParaRPr lang="en-US" sz="2500" dirty="0"/>
          </a:p>
        </p:txBody>
      </p:sp>
      <p:sp>
        <p:nvSpPr>
          <p:cNvPr id="4" name="Card 4"/>
          <p:cNvSpPr/>
          <p:nvPr/>
        </p:nvSpPr>
        <p:spPr>
          <a:xfrm>
            <a:off x="548640" y="1463040"/>
            <a:ext cx="5372100" cy="3291840"/>
          </a:xfrm>
          <a:prstGeom prst="roundRect">
            <a:avLst>
              <a:gd name="adj" fmla="val 3478"/>
            </a:avLst>
          </a:prstGeom>
          <a:solidFill>
            <a:srgbClr val="FFFFFF"/>
          </a:solidFill>
          <a:ln w="22225">
            <a:solidFill>
              <a:srgbClr val="E8A33D"/>
            </a:solidFill>
          </a:ln>
          <a:effectLst>
            <a:outerShdw blurRad="63500" dist="25400" dir="5400000" algn="bl" rotWithShape="0">
              <a:srgbClr val="1F2429">
                <a:alpha val="15000"/>
              </a:srgbClr>
            </a:outerShdw>
          </a:effectLst>
        </p:spPr>
      </p:sp>
      <p:sp>
        <p:nvSpPr>
          <p:cNvPr id="5" name="Dot 5"/>
          <p:cNvSpPr/>
          <p:nvPr/>
        </p:nvSpPr>
        <p:spPr>
          <a:xfrm>
            <a:off x="713232" y="1645920"/>
            <a:ext cx="201168" cy="201168"/>
          </a:xfrm>
          <a:prstGeom prst="ellipse">
            <a:avLst/>
          </a:prstGeom>
          <a:solidFill>
            <a:srgbClr val="E8A33D"/>
          </a:solidFill>
          <a:ln>
            <a:noFill/>
          </a:ln>
        </p:spPr>
      </p:sp>
      <p:sp>
        <p:nvSpPr>
          <p:cNvPr id="6" name="Card title 6"/>
          <p:cNvSpPr txBox="1"/>
          <p:nvPr/>
        </p:nvSpPr>
        <p:spPr>
          <a:xfrm>
            <a:off x="1005840" y="1581912"/>
            <a:ext cx="4777740" cy="457200"/>
          </a:xfrm>
          <a:prstGeom prst="rect">
            <a:avLst/>
          </a:prstGeom>
          <a:noFill/>
          <a:ln>
            <a:noFill/>
          </a:ln>
        </p:spPr>
        <p:txBody>
          <a:bodyPr wrap="square" rtlCol="0" anchor="ctr"/>
          <a:lstStyle/>
          <a:p>
            <a:pPr algn="l" indent="0" marL="0">
              <a:buNone/>
            </a:pPr>
            <a:r>
              <a:rPr lang="en-US" sz="2000" b="1" dirty="0">
                <a:solidFill>
                  <a:srgbClr val="1F2429"/>
                </a:solidFill>
                <a:latin typeface="Calibri" pitchFamily="34" charset="0"/>
                <a:ea typeface="Calibri" pitchFamily="34" charset="-122"/>
                <a:cs typeface="Calibri" pitchFamily="34" charset="-120"/>
              </a:rPr>
              <a:t>Without a checkpoint</a:t>
            </a:r>
            <a:endParaRPr lang="en-US" sz="2000" dirty="0"/>
          </a:p>
        </p:txBody>
      </p:sp>
      <p:sp>
        <p:nvSpPr>
          <p:cNvPr id="7" name="Card body 7"/>
          <p:cNvSpPr txBox="1"/>
          <p:nvPr/>
        </p:nvSpPr>
        <p:spPr>
          <a:xfrm>
            <a:off x="1005840" y="2103120"/>
            <a:ext cx="4777740" cy="256032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Naive recovery replays every record, 1 through 13. That includes T1's START, its writes to A and B, and its COMMIT, even though T1 finished long ago and its changes are already on disk. Redoing finished work is wasted effort, and over months of history that waste is unbounded.</a:t>
            </a:r>
            <a:endParaRPr lang="en-US" sz="1800" dirty="0"/>
          </a:p>
        </p:txBody>
      </p:sp>
      <p:sp>
        <p:nvSpPr>
          <p:cNvPr id="8" name="Card 8"/>
          <p:cNvSpPr/>
          <p:nvPr/>
        </p:nvSpPr>
        <p:spPr>
          <a:xfrm>
            <a:off x="6240780" y="1463040"/>
            <a:ext cx="5372100" cy="3291840"/>
          </a:xfrm>
          <a:prstGeom prst="roundRect">
            <a:avLst>
              <a:gd name="adj" fmla="val 3478"/>
            </a:avLst>
          </a:prstGeom>
          <a:solidFill>
            <a:srgbClr val="FFFFFF"/>
          </a:solidFill>
          <a:ln w="22225">
            <a:solidFill>
              <a:srgbClr val="2FE6C4"/>
            </a:solidFill>
          </a:ln>
          <a:effectLst>
            <a:outerShdw blurRad="63500" dist="25400" dir="5400000" algn="bl" rotWithShape="0">
              <a:srgbClr val="1F2429">
                <a:alpha val="15000"/>
              </a:srgbClr>
            </a:outerShdw>
          </a:effectLst>
        </p:spPr>
      </p:sp>
      <p:sp>
        <p:nvSpPr>
          <p:cNvPr id="9" name="Dot 9"/>
          <p:cNvSpPr/>
          <p:nvPr/>
        </p:nvSpPr>
        <p:spPr>
          <a:xfrm>
            <a:off x="6405372" y="1645920"/>
            <a:ext cx="201168" cy="201168"/>
          </a:xfrm>
          <a:prstGeom prst="ellipse">
            <a:avLst/>
          </a:prstGeom>
          <a:solidFill>
            <a:srgbClr val="2FE6C4"/>
          </a:solidFill>
          <a:ln>
            <a:noFill/>
          </a:ln>
        </p:spPr>
      </p:sp>
      <p:sp>
        <p:nvSpPr>
          <p:cNvPr id="10" name="Card title 10"/>
          <p:cNvSpPr txBox="1"/>
          <p:nvPr/>
        </p:nvSpPr>
        <p:spPr>
          <a:xfrm>
            <a:off x="6697980" y="1581912"/>
            <a:ext cx="4777740" cy="457200"/>
          </a:xfrm>
          <a:prstGeom prst="rect">
            <a:avLst/>
          </a:prstGeom>
          <a:noFill/>
          <a:ln>
            <a:noFill/>
          </a:ln>
        </p:spPr>
        <p:txBody>
          <a:bodyPr wrap="square" rtlCol="0" anchor="ctr"/>
          <a:lstStyle/>
          <a:p>
            <a:pPr algn="l" indent="0" marL="0">
              <a:buNone/>
            </a:pPr>
            <a:r>
              <a:rPr lang="en-US" sz="2000" b="1" dirty="0">
                <a:solidFill>
                  <a:srgbClr val="1F2429"/>
                </a:solidFill>
                <a:latin typeface="Calibri" pitchFamily="34" charset="0"/>
                <a:ea typeface="Calibri" pitchFamily="34" charset="-122"/>
                <a:cs typeface="Calibri" pitchFamily="34" charset="-120"/>
              </a:rPr>
              <a:t>With the checkpoint at record 5</a:t>
            </a:r>
            <a:endParaRPr lang="en-US" sz="2000" dirty="0"/>
          </a:p>
        </p:txBody>
      </p:sp>
      <p:sp>
        <p:nvSpPr>
          <p:cNvPr id="11" name="Card body 11"/>
          <p:cNvSpPr txBox="1"/>
          <p:nvPr/>
        </p:nvSpPr>
        <p:spPr>
          <a:xfrm>
            <a:off x="6697980" y="2103120"/>
            <a:ext cx="4777740" cy="256032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Recovery provably needs only records 6 through 13: T2 (6-8), T3 (9-10), and T4 (11-13). Records 1 through 4 are skipped. The work is bounded by what happened since the last checkpoint, however long the database has been running.</a:t>
            </a:r>
            <a:endParaRPr lang="en-US" sz="1800" dirty="0"/>
          </a:p>
        </p:txBody>
      </p:sp>
      <p:sp>
        <p:nvSpPr>
          <p:cNvPr id="12" name="Note 12"/>
          <p:cNvSpPr/>
          <p:nvPr/>
        </p:nvSpPr>
        <p:spPr>
          <a:xfrm>
            <a:off x="548640" y="4983480"/>
            <a:ext cx="11064240" cy="1234440"/>
          </a:xfrm>
          <a:prstGeom prst="roundRect">
            <a:avLst>
              <a:gd name="adj" fmla="val 3556"/>
            </a:avLst>
          </a:prstGeom>
          <a:solidFill>
            <a:srgbClr val="F3F1FC"/>
          </a:solidFill>
          <a:ln w="12700">
            <a:solidFill>
              <a:srgbClr val="8B7FD9"/>
            </a:solidFill>
          </a:ln>
        </p:spPr>
      </p:sp>
      <p:sp>
        <p:nvSpPr>
          <p:cNvPr id="13" name="Note text 13"/>
          <p:cNvSpPr txBox="1"/>
          <p:nvPr/>
        </p:nvSpPr>
        <p:spPr>
          <a:xfrm>
            <a:off x="822960" y="5120640"/>
            <a:ext cx="10515600" cy="960120"/>
          </a:xfrm>
          <a:prstGeom prst="rect">
            <a:avLst/>
          </a:prstGeom>
          <a:noFill/>
          <a:ln>
            <a:noFill/>
          </a:ln>
        </p:spPr>
        <p:txBody>
          <a:bodyPr wrap="square" rtlCol="0" anchor="ctr"/>
          <a:lstStyle/>
          <a:p>
            <a:pPr algn="l" indent="0" marL="0">
              <a:lnSpc>
                <a:spcPct val="110000"/>
              </a:lnSpc>
              <a:buNone/>
            </a:pPr>
            <a:r>
              <a:rPr lang="en-US" sz="1800" b="1" dirty="0">
                <a:solidFill>
                  <a:srgbClr val="1F2429"/>
                </a:solidFill>
                <a:latin typeface="Calibri" pitchFamily="34" charset="0"/>
                <a:ea typeface="Calibri" pitchFamily="34" charset="-122"/>
                <a:cs typeface="Calibri" pitchFamily="34" charset="-120"/>
              </a:rPr>
              <a:t>The takeaway: </a:t>
            </a:r>
            <a:r>
              <a:rPr lang="en-US" sz="1800" dirty="0">
                <a:solidFill>
                  <a:srgbClr val="1F2429"/>
                </a:solidFill>
                <a:latin typeface="Calibri" pitchFamily="34" charset="0"/>
                <a:ea typeface="Calibri" pitchFamily="34" charset="-122"/>
                <a:cs typeface="Calibri" pitchFamily="34" charset="-120"/>
              </a:rPr>
              <a:t>recovery time is bounded by the time since the last checkpoint, not by the database's entire lifetime.</a:t>
            </a:r>
            <a:endParaRPr lang="en-US" sz="1800" dirty="0"/>
          </a:p>
        </p:txBody>
      </p:sp>
      <p:sp>
        <p:nvSpPr>
          <p:cNvPr id="14" name="Footer 14"/>
          <p:cNvSpPr txBox="1"/>
          <p:nvPr/>
        </p:nvSpPr>
        <p:spPr>
          <a:xfrm>
            <a:off x="9951415" y="6455664"/>
            <a:ext cx="2011680" cy="292608"/>
          </a:xfrm>
          <a:prstGeom prst="rect">
            <a:avLst/>
          </a:prstGeom>
          <a:noFill/>
          <a:ln>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rPr>
              <a:t>cuinotes.com</a:t>
            </a:r>
            <a:r>
              <a:rPr lang="en-US" sz="1200" dirty="0">
                <a:solidFill>
                  <a:srgbClr val="8A939B"/>
                </a:solidFill>
                <a:latin typeface="Calibri" pitchFamily="34" charset="0"/>
                <a:ea typeface="Calibri" pitchFamily="34" charset="-122"/>
                <a:cs typeface="Calibri" pitchFamily="34" charset="-120"/>
              </a:rPr>
              <a:t>  ·  11</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tep 2 classifying">
    <p:bg>
      <p:bgPr>
        <a:solidFill>
          <a:srgbClr val="F7F8F9"/>
        </a:solidFill>
        <a:effectLst/>
      </p:bgPr>
    </p:bg>
    <p:spTree>
      <p:nvGrpSpPr>
        <p:cNvPr id="1" name=""/>
        <p:cNvGrpSpPr/>
        <p:nvPr/>
      </p:nvGrpSpPr>
      <p:grpSpPr>
        <a:xfrm>
          <a:off x="0" y="0"/>
          <a:ext cx="0" cy="0"/>
          <a:chOff x="0" y="0"/>
          <a:chExt cx="0" cy="0"/>
        </a:xfrm>
      </p:grpSpPr>
      <p:sp>
        <p:nvSpPr>
          <p:cNvPr id="2" name="Eyebrow 2"/>
          <p:cNvSpPr txBox="1"/>
          <p:nvPr/>
        </p:nvSpPr>
        <p:spPr>
          <a:xfrm>
            <a:off x="548640" y="320040"/>
            <a:ext cx="9144000" cy="292608"/>
          </a:xfrm>
          <a:prstGeom prst="rect">
            <a:avLst/>
          </a:prstGeom>
          <a:noFill/>
          <a:ln>
            <a:noFill/>
          </a:ln>
        </p:spPr>
        <p:txBody>
          <a:bodyPr wrap="square" rtlCol="0" anchor="ctr"/>
          <a:lstStyle/>
          <a:p>
            <a:pPr algn="l" indent="0" marL="0">
              <a:buNone/>
            </a:pPr>
            <a:r>
              <a:rPr lang="en-US" sz="1200" b="1" spc="150" kern="0" dirty="0">
                <a:solidFill>
                  <a:srgbClr val="8B7FD9"/>
                </a:solidFill>
                <a:latin typeface="Calibri" pitchFamily="34" charset="0"/>
                <a:ea typeface="Calibri" pitchFamily="34" charset="-122"/>
                <a:cs typeface="Calibri" pitchFamily="34" charset="-120"/>
              </a:rPr>
              <a:t>WORKED WALKTHROUGH  ·  STEP 2</a:t>
            </a:r>
            <a:endParaRPr lang="en-US" sz="1200" dirty="0"/>
          </a:p>
        </p:txBody>
      </p:sp>
      <p:sp>
        <p:nvSpPr>
          <p:cNvPr id="3" name="Title 3"/>
          <p:cNvSpPr txBox="1"/>
          <p:nvPr/>
        </p:nvSpPr>
        <p:spPr>
          <a:xfrm>
            <a:off x="548640" y="566928"/>
            <a:ext cx="11064240" cy="640080"/>
          </a:xfrm>
          <a:prstGeom prst="rect">
            <a:avLst/>
          </a:prstGeom>
          <a:noFill/>
          <a:ln>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Step 2: Classifying Every Transaction</a:t>
            </a:r>
            <a:endParaRPr lang="en-US" sz="2500" dirty="0"/>
          </a:p>
        </p:txBody>
      </p:sp>
      <p:sp>
        <p:nvSpPr>
          <p:cNvPr id="4" name="Intro 4"/>
          <p:cNvSpPr txBox="1"/>
          <p:nvPr/>
        </p:nvSpPr>
        <p:spPr>
          <a:xfrm>
            <a:off x="548640" y="1325880"/>
            <a:ext cx="11064240" cy="73152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Each transaction active at or after the checkpoint is classified by where its COMMIT record falls relative to the crash point.</a:t>
            </a:r>
            <a:endParaRPr lang="en-US" sz="1800" dirty="0"/>
          </a:p>
        </p:txBody>
      </p:sp>
      <p:graphicFrame>
        <p:nvGraphicFramePr>
          <p:cNvPr id="5" name="Table 5"/>
          <p:cNvGraphicFramePr>
            <a:graphicFrameLocks noGrp="1"/>
          </p:cNvGraphicFramePr>
          <p:nvPr/>
        </p:nvGraphicFramePr>
        <p:xfrm>
          <a:off x="548640" y="2194560"/>
          <a:ext cx="11064240" cy="3200400"/>
        </p:xfrm>
        <a:graphic>
          <a:graphicData uri="http://schemas.openxmlformats.org/drawingml/2006/table">
            <a:tbl>
              <a:tblPr/>
              <a:tblGrid>
                <a:gridCol w="1645920"/>
                <a:gridCol w="3017520"/>
                <a:gridCol w="1737360"/>
                <a:gridCol w="4663440"/>
              </a:tblGrid>
              <a:tr h="64008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Transaction</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Outcome by crash time</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Action</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Evidence in the log</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14181C"/>
                    </a:solidFill>
                  </a:tcPr>
                </a:tc>
              </a:tr>
              <a:tr h="640080">
                <a:tc>
                  <a:txBody>
                    <a:bodyPr/>
                    <a:lstStyle/>
                    <a:p>
                      <a:pPr algn="l" indent="0" marL="0">
                        <a:buNone/>
                      </a:pPr>
                      <a:r>
                        <a:rPr lang="en-US" sz="1800" dirty="0">
                          <a:solidFill>
                            <a:srgbClr val="1F2429"/>
                          </a:solidFill>
                          <a:latin typeface="Calibri" pitchFamily="34" charset="0"/>
                          <a:ea typeface="Calibri" pitchFamily="34" charset="-122"/>
                          <a:cs typeface="Calibri" pitchFamily="34" charset="-120"/>
                        </a:rPr>
                        <a:t>T1</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429"/>
                          </a:solidFill>
                          <a:latin typeface="Calibri" pitchFamily="34" charset="0"/>
                          <a:ea typeface="Calibri" pitchFamily="34" charset="-122"/>
                          <a:cs typeface="Calibri" pitchFamily="34" charset="-120"/>
                        </a:rPr>
                        <a:t>Committed before checkpoint</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1F2429"/>
                          </a:solidFill>
                          <a:latin typeface="Calibri" pitchFamily="34" charset="0"/>
                          <a:ea typeface="Calibri" pitchFamily="34" charset="-122"/>
                          <a:cs typeface="Calibri" pitchFamily="34" charset="-120"/>
                        </a:rPr>
                        <a:t>None needed</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429"/>
                          </a:solidFill>
                          <a:latin typeface="Calibri" pitchFamily="34" charset="0"/>
                          <a:ea typeface="Calibri" pitchFamily="34" charset="-122"/>
                          <a:cs typeface="Calibri" pitchFamily="34" charset="-120"/>
                        </a:rPr>
                        <a:t>COMMIT at #4, before checkpoint #5: already durable</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640080">
                <a:tc>
                  <a:txBody>
                    <a:bodyPr/>
                    <a:lstStyle/>
                    <a:p>
                      <a:pPr algn="l" indent="0" marL="0">
                        <a:buNone/>
                      </a:pPr>
                      <a:r>
                        <a:rPr lang="en-US" sz="1800" dirty="0">
                          <a:solidFill>
                            <a:srgbClr val="1F2429"/>
                          </a:solidFill>
                          <a:latin typeface="Calibri" pitchFamily="34" charset="0"/>
                          <a:ea typeface="Calibri" pitchFamily="34" charset="-122"/>
                          <a:cs typeface="Calibri" pitchFamily="34" charset="-120"/>
                        </a:rPr>
                        <a:t>T2</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429"/>
                          </a:solidFill>
                          <a:latin typeface="Calibri" pitchFamily="34" charset="0"/>
                          <a:ea typeface="Calibri" pitchFamily="34" charset="-122"/>
                          <a:cs typeface="Calibri" pitchFamily="34" charset="-120"/>
                        </a:rPr>
                        <a:t>Committed after checkpoint</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1F2429"/>
                          </a:solidFill>
                          <a:latin typeface="Calibri" pitchFamily="34" charset="0"/>
                          <a:ea typeface="Calibri" pitchFamily="34" charset="-122"/>
                          <a:cs typeface="Calibri" pitchFamily="34" charset="-120"/>
                        </a:rPr>
                        <a:t>REDO</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6FBF6"/>
                    </a:solidFill>
                  </a:tcPr>
                </a:tc>
                <a:tc>
                  <a:txBody>
                    <a:bodyPr/>
                    <a:lstStyle/>
                    <a:p>
                      <a:pPr algn="l" indent="0" marL="0">
                        <a:buNone/>
                      </a:pPr>
                      <a:r>
                        <a:rPr lang="en-US" sz="1800" dirty="0">
                          <a:solidFill>
                            <a:srgbClr val="1F2429"/>
                          </a:solidFill>
                          <a:latin typeface="Calibri" pitchFamily="34" charset="0"/>
                          <a:ea typeface="Calibri" pitchFamily="34" charset="-122"/>
                          <a:cs typeface="Calibri" pitchFamily="34" charset="-120"/>
                        </a:rPr>
                        <a:t>[T2 COMMIT] #8 appears before the crash, so REDO</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640080">
                <a:tc>
                  <a:txBody>
                    <a:bodyPr/>
                    <a:lstStyle/>
                    <a:p>
                      <a:pPr algn="l" indent="0" marL="0">
                        <a:buNone/>
                      </a:pPr>
                      <a:r>
                        <a:rPr lang="en-US" sz="1800" dirty="0">
                          <a:solidFill>
                            <a:srgbClr val="1F2429"/>
                          </a:solidFill>
                          <a:latin typeface="Calibri" pitchFamily="34" charset="0"/>
                          <a:ea typeface="Calibri" pitchFamily="34" charset="-122"/>
                          <a:cs typeface="Calibri" pitchFamily="34" charset="-120"/>
                        </a:rPr>
                        <a:t>T3</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429"/>
                          </a:solidFill>
                          <a:latin typeface="Calibri" pitchFamily="34" charset="0"/>
                          <a:ea typeface="Calibri" pitchFamily="34" charset="-122"/>
                          <a:cs typeface="Calibri" pitchFamily="34" charset="-120"/>
                        </a:rPr>
                        <a:t>Never committed</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1F2429"/>
                          </a:solidFill>
                          <a:latin typeface="Calibri" pitchFamily="34" charset="0"/>
                          <a:ea typeface="Calibri" pitchFamily="34" charset="-122"/>
                          <a:cs typeface="Calibri" pitchFamily="34" charset="-120"/>
                        </a:rPr>
                        <a:t>UNDO</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7EA"/>
                    </a:solidFill>
                  </a:tcPr>
                </a:tc>
                <a:tc>
                  <a:txBody>
                    <a:bodyPr/>
                    <a:lstStyle/>
                    <a:p>
                      <a:pPr algn="l" indent="0" marL="0">
                        <a:buNone/>
                      </a:pPr>
                      <a:r>
                        <a:rPr lang="en-US" sz="1800" dirty="0">
                          <a:solidFill>
                            <a:srgbClr val="1F2429"/>
                          </a:solidFill>
                          <a:latin typeface="Calibri" pitchFamily="34" charset="0"/>
                          <a:ea typeface="Calibri" pitchFamily="34" charset="-122"/>
                          <a:cs typeface="Calibri" pitchFamily="34" charset="-120"/>
                        </a:rPr>
                        <a:t>No [T3 COMMIT] anywhere in the log before the crash, so UNDO</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r h="640080">
                <a:tc>
                  <a:txBody>
                    <a:bodyPr/>
                    <a:lstStyle/>
                    <a:p>
                      <a:pPr algn="l" indent="0" marL="0">
                        <a:buNone/>
                      </a:pPr>
                      <a:r>
                        <a:rPr lang="en-US" sz="1800" dirty="0">
                          <a:solidFill>
                            <a:srgbClr val="1F2429"/>
                          </a:solidFill>
                          <a:latin typeface="Calibri" pitchFamily="34" charset="0"/>
                          <a:ea typeface="Calibri" pitchFamily="34" charset="-122"/>
                          <a:cs typeface="Calibri" pitchFamily="34" charset="-120"/>
                        </a:rPr>
                        <a:t>T4</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429"/>
                          </a:solidFill>
                          <a:latin typeface="Calibri" pitchFamily="34" charset="0"/>
                          <a:ea typeface="Calibri" pitchFamily="34" charset="-122"/>
                          <a:cs typeface="Calibri" pitchFamily="34" charset="-120"/>
                        </a:rPr>
                        <a:t>Committed after checkpoint</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c>
                  <a:txBody>
                    <a:bodyPr/>
                    <a:lstStyle/>
                    <a:p>
                      <a:pPr algn="l" indent="0" marL="0">
                        <a:buNone/>
                      </a:pPr>
                      <a:r>
                        <a:rPr lang="en-US" sz="1800" b="1" dirty="0">
                          <a:solidFill>
                            <a:srgbClr val="1F2429"/>
                          </a:solidFill>
                          <a:latin typeface="Calibri" pitchFamily="34" charset="0"/>
                          <a:ea typeface="Calibri" pitchFamily="34" charset="-122"/>
                          <a:cs typeface="Calibri" pitchFamily="34" charset="-120"/>
                        </a:rPr>
                        <a:t>REDO</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E6FBF6"/>
                    </a:solidFill>
                  </a:tcPr>
                </a:tc>
                <a:tc>
                  <a:txBody>
                    <a:bodyPr/>
                    <a:lstStyle/>
                    <a:p>
                      <a:pPr algn="l" indent="0" marL="0">
                        <a:buNone/>
                      </a:pPr>
                      <a:r>
                        <a:rPr lang="en-US" sz="1800" dirty="0">
                          <a:solidFill>
                            <a:srgbClr val="1F2429"/>
                          </a:solidFill>
                          <a:latin typeface="Calibri" pitchFamily="34" charset="0"/>
                          <a:ea typeface="Calibri" pitchFamily="34" charset="-122"/>
                          <a:cs typeface="Calibri" pitchFamily="34" charset="-120"/>
                        </a:rPr>
                        <a:t>[T4 COMMIT] #13 appears before the crash, so REDO</a:t>
                      </a:r>
                    </a:p>
                  </a:txBody>
                  <a:tcPr marL="91440" marR="91440" marT="45720" marB="45720" anchor="ctr">
                    <a:lnL w="9525" cap="flat" cmpd="sng" algn="ctr">
                      <a:solidFill>
                        <a:srgbClr val="E1E4E8"/>
                      </a:solidFill>
                      <a:prstDash val="solid"/>
                      <a:round/>
                      <a:headEnd type="none" w="med" len="med"/>
                      <a:tailEnd type="none" w="med" len="med"/>
                    </a:lnL>
                    <a:lnR w="9525" cap="flat" cmpd="sng" algn="ctr">
                      <a:solidFill>
                        <a:srgbClr val="E1E4E8"/>
                      </a:solidFill>
                      <a:prstDash val="solid"/>
                      <a:round/>
                      <a:headEnd type="none" w="med" len="med"/>
                      <a:tailEnd type="none" w="med" len="med"/>
                    </a:lnR>
                    <a:lnT w="9525" cap="flat" cmpd="sng" algn="ctr">
                      <a:solidFill>
                        <a:srgbClr val="E1E4E8"/>
                      </a:solidFill>
                      <a:prstDash val="solid"/>
                      <a:round/>
                      <a:headEnd type="none" w="med" len="med"/>
                      <a:tailEnd type="none" w="med" len="med"/>
                    </a:lnT>
                    <a:lnB w="9525" cap="flat" cmpd="sng" algn="ctr">
                      <a:solidFill>
                        <a:srgbClr val="E1E4E8"/>
                      </a:solidFill>
                      <a:prstDash val="solid"/>
                      <a:round/>
                      <a:headEnd type="none" w="med" len="med"/>
                      <a:tailEnd type="none" w="med" len="med"/>
                    </a:lnB>
                    <a:solidFill>
                      <a:srgbClr val="FFFFFF"/>
                    </a:solidFill>
                  </a:tcPr>
                </a:tc>
              </a:tr>
            </a:tbl>
          </a:graphicData>
        </a:graphic>
      </p:graphicFrame>
      <p:sp>
        <p:nvSpPr>
          <p:cNvPr id="6" name="Closing 6"/>
          <p:cNvSpPr txBox="1"/>
          <p:nvPr/>
        </p:nvSpPr>
        <p:spPr>
          <a:xfrm>
            <a:off x="548640" y="5715000"/>
            <a:ext cx="11064240" cy="64008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Redo: T2 and T4.   Undo: T3.   No action: T1.   This classification is the entire input to the next two steps.</a:t>
            </a:r>
            <a:endParaRPr lang="en-US" sz="1800" dirty="0"/>
          </a:p>
        </p:txBody>
      </p:sp>
      <p:sp>
        <p:nvSpPr>
          <p:cNvPr id="7" name="Footer 7"/>
          <p:cNvSpPr txBox="1"/>
          <p:nvPr/>
        </p:nvSpPr>
        <p:spPr>
          <a:xfrm>
            <a:off x="9951415" y="6455664"/>
            <a:ext cx="2011680" cy="292608"/>
          </a:xfrm>
          <a:prstGeom prst="rect">
            <a:avLst/>
          </a:prstGeom>
          <a:noFill/>
          <a:ln>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rPr>
              <a:t>cuinotes.com</a:t>
            </a:r>
            <a:r>
              <a:rPr lang="en-US" sz="1200" dirty="0">
                <a:solidFill>
                  <a:srgbClr val="8A939B"/>
                </a:solidFill>
                <a:latin typeface="Calibri" pitchFamily="34" charset="0"/>
                <a:ea typeface="Calibri" pitchFamily="34" charset="-122"/>
                <a:cs typeface="Calibri" pitchFamily="34" charset="-120"/>
              </a:rPr>
              <a:t>  ·  15</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tep 4 undoing">
    <p:bg>
      <p:bgPr>
        <a:solidFill>
          <a:srgbClr val="F7F8F9"/>
        </a:solidFill>
        <a:effectLst/>
      </p:bgPr>
    </p:bg>
    <p:spTree>
      <p:nvGrpSpPr>
        <p:cNvPr id="1" name=""/>
        <p:cNvGrpSpPr/>
        <p:nvPr/>
      </p:nvGrpSpPr>
      <p:grpSpPr>
        <a:xfrm>
          <a:off x="0" y="0"/>
          <a:ext cx="0" cy="0"/>
          <a:chOff x="0" y="0"/>
          <a:chExt cx="0" cy="0"/>
        </a:xfrm>
      </p:grpSpPr>
      <p:sp>
        <p:nvSpPr>
          <p:cNvPr id="2" name="Eyebrow 2"/>
          <p:cNvSpPr txBox="1"/>
          <p:nvPr/>
        </p:nvSpPr>
        <p:spPr>
          <a:xfrm>
            <a:off x="548640" y="320040"/>
            <a:ext cx="9144000" cy="292608"/>
          </a:xfrm>
          <a:prstGeom prst="rect">
            <a:avLst/>
          </a:prstGeom>
          <a:noFill/>
          <a:ln>
            <a:noFill/>
          </a:ln>
        </p:spPr>
        <p:txBody>
          <a:bodyPr wrap="square" rtlCol="0" anchor="ctr"/>
          <a:lstStyle/>
          <a:p>
            <a:pPr algn="l" indent="0" marL="0">
              <a:buNone/>
            </a:pPr>
            <a:r>
              <a:rPr lang="en-US" sz="1200" b="1" spc="150" kern="0" dirty="0">
                <a:solidFill>
                  <a:srgbClr val="E8A33D"/>
                </a:solidFill>
                <a:latin typeface="Calibri" pitchFamily="34" charset="0"/>
                <a:ea typeface="Calibri" pitchFamily="34" charset="-122"/>
                <a:cs typeface="Calibri" pitchFamily="34" charset="-120"/>
              </a:rPr>
              <a:t>WORKED WALKTHROUGH  ·  STEP 4</a:t>
            </a:r>
            <a:endParaRPr lang="en-US" sz="1200" dirty="0"/>
          </a:p>
        </p:txBody>
      </p:sp>
      <p:sp>
        <p:nvSpPr>
          <p:cNvPr id="3" name="Title 3"/>
          <p:cNvSpPr txBox="1"/>
          <p:nvPr/>
        </p:nvSpPr>
        <p:spPr>
          <a:xfrm>
            <a:off x="548640" y="566928"/>
            <a:ext cx="11064240" cy="640080"/>
          </a:xfrm>
          <a:prstGeom prst="rect">
            <a:avLst/>
          </a:prstGeom>
          <a:noFill/>
          <a:ln>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Step 4: Undoing the Uncommitted Work</a:t>
            </a:r>
            <a:endParaRPr lang="en-US" sz="2500" dirty="0"/>
          </a:p>
        </p:txBody>
      </p:sp>
      <p:sp>
        <p:nvSpPr>
          <p:cNvPr id="4" name="Intro 4"/>
          <p:cNvSpPr txBox="1"/>
          <p:nvPr/>
        </p:nvSpPr>
        <p:spPr>
          <a:xfrm>
            <a:off x="548640" y="1325880"/>
            <a:ext cx="11064240" cy="82296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T3 never issued COMMIT, so none of its writes may survive. Undo walks backward through T3's own records and restores each old value.</a:t>
            </a:r>
            <a:endParaRPr lang="en-US" sz="1800" dirty="0"/>
          </a:p>
        </p:txBody>
      </p:sp>
      <p:sp>
        <p:nvSpPr>
          <p:cNvPr id="5" name="Card 5"/>
          <p:cNvSpPr/>
          <p:nvPr/>
        </p:nvSpPr>
        <p:spPr>
          <a:xfrm>
            <a:off x="548640" y="2286000"/>
            <a:ext cx="5372100" cy="2286000"/>
          </a:xfrm>
          <a:prstGeom prst="roundRect">
            <a:avLst>
              <a:gd name="adj" fmla="val 3478"/>
            </a:avLst>
          </a:prstGeom>
          <a:solidFill>
            <a:srgbClr val="FFFFFF"/>
          </a:solidFill>
          <a:ln w="22225">
            <a:solidFill>
              <a:srgbClr val="E8A33D"/>
            </a:solidFill>
          </a:ln>
          <a:effectLst>
            <a:outerShdw blurRad="63500" dist="25400" dir="5400000" algn="bl" rotWithShape="0">
              <a:srgbClr val="1F2429">
                <a:alpha val="15000"/>
              </a:srgbClr>
            </a:outerShdw>
          </a:effectLst>
        </p:spPr>
      </p:sp>
      <p:sp>
        <p:nvSpPr>
          <p:cNvPr id="6" name="Dot 6"/>
          <p:cNvSpPr/>
          <p:nvPr/>
        </p:nvSpPr>
        <p:spPr>
          <a:xfrm>
            <a:off x="713232" y="2468880"/>
            <a:ext cx="201168" cy="201168"/>
          </a:xfrm>
          <a:prstGeom prst="ellipse">
            <a:avLst/>
          </a:prstGeom>
          <a:solidFill>
            <a:srgbClr val="E8A33D"/>
          </a:solidFill>
          <a:ln>
            <a:noFill/>
          </a:ln>
        </p:spPr>
      </p:sp>
      <p:sp>
        <p:nvSpPr>
          <p:cNvPr id="7" name="Card title 7"/>
          <p:cNvSpPr txBox="1"/>
          <p:nvPr/>
        </p:nvSpPr>
        <p:spPr>
          <a:xfrm>
            <a:off x="1005840" y="2404872"/>
            <a:ext cx="4777740" cy="457200"/>
          </a:xfrm>
          <a:prstGeom prst="rect">
            <a:avLst/>
          </a:prstGeom>
          <a:noFill/>
          <a:ln>
            <a:noFill/>
          </a:ln>
        </p:spPr>
        <p:txBody>
          <a:bodyPr wrap="square" rtlCol="0" anchor="ctr"/>
          <a:lstStyle/>
          <a:p>
            <a:pPr algn="l" indent="0" marL="0">
              <a:buNone/>
            </a:pPr>
            <a:r>
              <a:rPr lang="en-US" sz="2200" b="1" dirty="0">
                <a:solidFill>
                  <a:srgbClr val="1F2429"/>
                </a:solidFill>
                <a:latin typeface="Calibri" pitchFamily="34" charset="0"/>
                <a:ea typeface="Calibri" pitchFamily="34" charset="-122"/>
                <a:cs typeface="Calibri" pitchFamily="34" charset="-120"/>
              </a:rPr>
              <a:t>UNDO  D = 5</a:t>
            </a:r>
            <a:endParaRPr lang="en-US" sz="2200" dirty="0"/>
          </a:p>
        </p:txBody>
      </p:sp>
      <p:sp>
        <p:nvSpPr>
          <p:cNvPr id="8" name="Card body 8"/>
          <p:cNvSpPr txBox="1"/>
          <p:nvPr/>
        </p:nvSpPr>
        <p:spPr>
          <a:xfrm>
            <a:off x="1005840" y="2926080"/>
            <a:ext cx="4777740" cy="1554480"/>
          </a:xfrm>
          <a:prstGeom prst="rect">
            <a:avLst/>
          </a:prstGeom>
          <a:noFill/>
          <a:ln>
            <a:noFill/>
          </a:ln>
        </p:spPr>
        <p:txBody>
          <a:bodyPr wrap="square" rtlCol="0" anchor="t"/>
          <a:lstStyle/>
          <a:p>
            <a:pPr algn="l" indent="0" marL="0">
              <a:lnSpc>
                <a:spcPct val="115000"/>
              </a:lnSpc>
              <a:buNone/>
            </a:pPr>
            <a:r>
              <a:rPr lang="en-US" sz="1800" dirty="0">
                <a:solidFill>
                  <a:srgbClr val="6B7480"/>
                </a:solidFill>
                <a:latin typeface="Calibri" pitchFamily="34" charset="0"/>
                <a:ea typeface="Calibri" pitchFamily="34" charset="-122"/>
                <a:cs typeface="Calibri" pitchFamily="34" charset="-120"/>
              </a:rPr>
              <a:t>From record 10: [T3, write D, old=5, new=99]</a:t>
            </a:r>
            <a:endParaRPr lang="en-US" sz="1800" dirty="0"/>
          </a:p>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Restore D to its old value, 5: the value before T3 touched it. The new value 99 is discarded.</a:t>
            </a:r>
            <a:endParaRPr lang="en-US" sz="1800" dirty="0"/>
          </a:p>
        </p:txBody>
      </p:sp>
      <p:sp>
        <p:nvSpPr>
          <p:cNvPr id="9" name="Card 9"/>
          <p:cNvSpPr/>
          <p:nvPr/>
        </p:nvSpPr>
        <p:spPr>
          <a:xfrm>
            <a:off x="6240780" y="2286000"/>
            <a:ext cx="5372100" cy="2286000"/>
          </a:xfrm>
          <a:prstGeom prst="roundRect">
            <a:avLst>
              <a:gd name="adj" fmla="val 3478"/>
            </a:avLst>
          </a:prstGeom>
          <a:solidFill>
            <a:srgbClr val="FFFFFF"/>
          </a:solidFill>
          <a:ln w="22225">
            <a:solidFill>
              <a:srgbClr val="E8A33D"/>
            </a:solidFill>
          </a:ln>
          <a:effectLst>
            <a:outerShdw blurRad="63500" dist="25400" dir="5400000" algn="bl" rotWithShape="0">
              <a:srgbClr val="1F2429">
                <a:alpha val="15000"/>
              </a:srgbClr>
            </a:outerShdw>
          </a:effectLst>
        </p:spPr>
      </p:sp>
      <p:sp>
        <p:nvSpPr>
          <p:cNvPr id="10" name="Dot 10"/>
          <p:cNvSpPr/>
          <p:nvPr/>
        </p:nvSpPr>
        <p:spPr>
          <a:xfrm>
            <a:off x="6405372" y="2468880"/>
            <a:ext cx="201168" cy="201168"/>
          </a:xfrm>
          <a:prstGeom prst="ellipse">
            <a:avLst/>
          </a:prstGeom>
          <a:solidFill>
            <a:srgbClr val="E8A33D"/>
          </a:solidFill>
          <a:ln>
            <a:noFill/>
          </a:ln>
        </p:spPr>
      </p:sp>
      <p:sp>
        <p:nvSpPr>
          <p:cNvPr id="11" name="Card title 11"/>
          <p:cNvSpPr txBox="1"/>
          <p:nvPr/>
        </p:nvSpPr>
        <p:spPr>
          <a:xfrm>
            <a:off x="6697980" y="2404872"/>
            <a:ext cx="4777740" cy="457200"/>
          </a:xfrm>
          <a:prstGeom prst="rect">
            <a:avLst/>
          </a:prstGeom>
          <a:noFill/>
          <a:ln>
            <a:noFill/>
          </a:ln>
        </p:spPr>
        <p:txBody>
          <a:bodyPr wrap="square" rtlCol="0" anchor="ctr"/>
          <a:lstStyle/>
          <a:p>
            <a:pPr algn="l" indent="0" marL="0">
              <a:buNone/>
            </a:pPr>
            <a:r>
              <a:rPr lang="en-US" sz="2200" b="1" dirty="0">
                <a:solidFill>
                  <a:srgbClr val="1F2429"/>
                </a:solidFill>
                <a:latin typeface="Calibri" pitchFamily="34" charset="0"/>
                <a:ea typeface="Calibri" pitchFamily="34" charset="-122"/>
                <a:cs typeface="Calibri" pitchFamily="34" charset="-120"/>
              </a:rPr>
              <a:t>Why undo, not redo</a:t>
            </a:r>
            <a:endParaRPr lang="en-US" sz="2200" dirty="0"/>
          </a:p>
        </p:txBody>
      </p:sp>
      <p:sp>
        <p:nvSpPr>
          <p:cNvPr id="12" name="Card body 12"/>
          <p:cNvSpPr txBox="1"/>
          <p:nvPr/>
        </p:nvSpPr>
        <p:spPr>
          <a:xfrm>
            <a:off x="6697980" y="2926080"/>
            <a:ext cx="4777740" cy="155448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Having a log record for T3's write does not entitle it to survive. The record exists so the write can be reversed with certainty, not guessed at.</a:t>
            </a:r>
            <a:endParaRPr lang="en-US" sz="1800" dirty="0"/>
          </a:p>
        </p:txBody>
      </p:sp>
      <p:sp>
        <p:nvSpPr>
          <p:cNvPr id="13" name="Note 13"/>
          <p:cNvSpPr/>
          <p:nvPr/>
        </p:nvSpPr>
        <p:spPr>
          <a:xfrm>
            <a:off x="548640" y="4754880"/>
            <a:ext cx="11064240" cy="1417320"/>
          </a:xfrm>
          <a:prstGeom prst="roundRect">
            <a:avLst>
              <a:gd name="adj" fmla="val 3556"/>
            </a:avLst>
          </a:prstGeom>
          <a:solidFill>
            <a:srgbClr val="FFF7EA"/>
          </a:solidFill>
          <a:ln w="12700">
            <a:solidFill>
              <a:srgbClr val="E8A33D"/>
            </a:solidFill>
          </a:ln>
        </p:spPr>
      </p:sp>
      <p:sp>
        <p:nvSpPr>
          <p:cNvPr id="14" name="Note text 14"/>
          <p:cNvSpPr txBox="1"/>
          <p:nvPr/>
        </p:nvSpPr>
        <p:spPr>
          <a:xfrm>
            <a:off x="822960" y="4892040"/>
            <a:ext cx="10515600" cy="1143000"/>
          </a:xfrm>
          <a:prstGeom prst="rect">
            <a:avLst/>
          </a:prstGeom>
          <a:noFill/>
          <a:ln>
            <a:noFill/>
          </a:ln>
        </p:spPr>
        <p:txBody>
          <a:bodyPr wrap="square" rtlCol="0" anchor="ctr"/>
          <a:lstStyle/>
          <a:p>
            <a:pPr algn="l" indent="0" marL="0">
              <a:lnSpc>
                <a:spcPct val="110000"/>
              </a:lnSpc>
              <a:buNone/>
            </a:pPr>
            <a:r>
              <a:rPr lang="en-US" sz="1800" b="1" dirty="0">
                <a:solidFill>
                  <a:srgbClr val="1F2429"/>
                </a:solidFill>
                <a:latin typeface="Calibri" pitchFamily="34" charset="0"/>
                <a:ea typeface="Calibri" pitchFamily="34" charset="-122"/>
                <a:cs typeface="Calibri" pitchFamily="34" charset="-120"/>
              </a:rPr>
              <a:t>Undo and redo answer opposite questions: </a:t>
            </a:r>
            <a:r>
              <a:rPr lang="en-US" sz="1800" dirty="0">
                <a:solidFill>
                  <a:srgbClr val="1F2429"/>
                </a:solidFill>
                <a:latin typeface="Calibri" pitchFamily="34" charset="0"/>
                <a:ea typeface="Calibri" pitchFamily="34" charset="-122"/>
                <a:cs typeface="Calibri" pitchFamily="34" charset="-120"/>
              </a:rPr>
              <a:t>redo uses the new value to decide what must survive; undo uses the old value to decide what must vanish. Both are needed for Atomicity and Durability together.</a:t>
            </a:r>
            <a:endParaRPr lang="en-US" sz="1800" dirty="0"/>
          </a:p>
        </p:txBody>
      </p:sp>
      <p:sp>
        <p:nvSpPr>
          <p:cNvPr id="15" name="Footer 15"/>
          <p:cNvSpPr txBox="1"/>
          <p:nvPr/>
        </p:nvSpPr>
        <p:spPr>
          <a:xfrm>
            <a:off x="9951415" y="6455664"/>
            <a:ext cx="2011680" cy="292608"/>
          </a:xfrm>
          <a:prstGeom prst="rect">
            <a:avLst/>
          </a:prstGeom>
          <a:noFill/>
          <a:ln>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rPr>
              <a:t>cuinotes.com</a:t>
            </a:r>
            <a:r>
              <a:rPr lang="en-US" sz="1200" dirty="0">
                <a:solidFill>
                  <a:srgbClr val="8A939B"/>
                </a:solidFill>
                <a:latin typeface="Calibri" pitchFamily="34" charset="0"/>
                <a:ea typeface="Calibri" pitchFamily="34" charset="-122"/>
                <a:cs typeface="Calibri" pitchFamily="34" charset="-120"/>
              </a:rPr>
              <a:t>  ·  17</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Rollback applied">
    <p:bg>
      <p:bgPr>
        <a:solidFill>
          <a:srgbClr val="F7F8F9"/>
        </a:solidFill>
        <a:effectLst/>
      </p:bgPr>
    </p:bg>
    <p:spTree>
      <p:nvGrpSpPr>
        <p:cNvPr id="1" name=""/>
        <p:cNvGrpSpPr/>
        <p:nvPr/>
      </p:nvGrpSpPr>
      <p:grpSpPr>
        <a:xfrm>
          <a:off x="0" y="0"/>
          <a:ext cx="0" cy="0"/>
          <a:chOff x="0" y="0"/>
          <a:chExt cx="0" cy="0"/>
        </a:xfrm>
      </p:grpSpPr>
      <p:sp>
        <p:nvSpPr>
          <p:cNvPr id="2" name="Eyebrow 2"/>
          <p:cNvSpPr txBox="1"/>
          <p:nvPr/>
        </p:nvSpPr>
        <p:spPr>
          <a:xfrm>
            <a:off x="548640" y="320040"/>
            <a:ext cx="9144000" cy="292608"/>
          </a:xfrm>
          <a:prstGeom prst="rect">
            <a:avLst/>
          </a:prstGeom>
          <a:noFill/>
          <a:ln>
            <a:noFill/>
          </a:ln>
        </p:spPr>
        <p:txBody>
          <a:bodyPr wrap="square" rtlCol="0" anchor="ctr"/>
          <a:lstStyle/>
          <a:p>
            <a:pPr algn="l" indent="0" marL="0">
              <a:buNone/>
            </a:pPr>
            <a:r>
              <a:rPr lang="en-US" sz="1200" b="1" spc="150" kern="0" dirty="0">
                <a:solidFill>
                  <a:srgbClr val="8B7FD9"/>
                </a:solidFill>
                <a:latin typeface="Calibri" pitchFamily="34" charset="0"/>
                <a:ea typeface="Calibri" pitchFamily="34" charset="-122"/>
                <a:cs typeface="Calibri" pitchFamily="34" charset="-120"/>
              </a:rPr>
              <a:t>CONNECTING TO THE TRACE</a:t>
            </a:r>
            <a:endParaRPr lang="en-US" sz="1200" dirty="0"/>
          </a:p>
        </p:txBody>
      </p:sp>
      <p:sp>
        <p:nvSpPr>
          <p:cNvPr id="3" name="Title 3"/>
          <p:cNvSpPr txBox="1"/>
          <p:nvPr/>
        </p:nvSpPr>
        <p:spPr>
          <a:xfrm>
            <a:off x="548640" y="566928"/>
            <a:ext cx="11064240" cy="640080"/>
          </a:xfrm>
          <a:prstGeom prst="rect">
            <a:avLst/>
          </a:prstGeom>
          <a:noFill/>
          <a:ln>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Rollback and Rollforward, Applied to This Example</a:t>
            </a:r>
            <a:endParaRPr lang="en-US" sz="2500" dirty="0"/>
          </a:p>
        </p:txBody>
      </p:sp>
      <p:sp>
        <p:nvSpPr>
          <p:cNvPr id="4" name="Card 4"/>
          <p:cNvSpPr/>
          <p:nvPr/>
        </p:nvSpPr>
        <p:spPr>
          <a:xfrm>
            <a:off x="548640" y="1463040"/>
            <a:ext cx="5372100" cy="3108960"/>
          </a:xfrm>
          <a:prstGeom prst="roundRect">
            <a:avLst>
              <a:gd name="adj" fmla="val 3478"/>
            </a:avLst>
          </a:prstGeom>
          <a:solidFill>
            <a:srgbClr val="FFFFFF"/>
          </a:solidFill>
          <a:ln w="22225">
            <a:solidFill>
              <a:srgbClr val="E8A33D"/>
            </a:solidFill>
          </a:ln>
          <a:effectLst>
            <a:outerShdw blurRad="63500" dist="25400" dir="5400000" algn="bl" rotWithShape="0">
              <a:srgbClr val="1F2429">
                <a:alpha val="15000"/>
              </a:srgbClr>
            </a:outerShdw>
          </a:effectLst>
        </p:spPr>
      </p:sp>
      <p:sp>
        <p:nvSpPr>
          <p:cNvPr id="5" name="Dot 5"/>
          <p:cNvSpPr/>
          <p:nvPr/>
        </p:nvSpPr>
        <p:spPr>
          <a:xfrm>
            <a:off x="713232" y="1645920"/>
            <a:ext cx="201168" cy="201168"/>
          </a:xfrm>
          <a:prstGeom prst="ellipse">
            <a:avLst/>
          </a:prstGeom>
          <a:solidFill>
            <a:srgbClr val="E8A33D"/>
          </a:solidFill>
          <a:ln>
            <a:noFill/>
          </a:ln>
        </p:spPr>
      </p:sp>
      <p:sp>
        <p:nvSpPr>
          <p:cNvPr id="6" name="Card title 6"/>
          <p:cNvSpPr txBox="1"/>
          <p:nvPr/>
        </p:nvSpPr>
        <p:spPr>
          <a:xfrm>
            <a:off x="1005840" y="1581912"/>
            <a:ext cx="4777740" cy="457200"/>
          </a:xfrm>
          <a:prstGeom prst="rect">
            <a:avLst/>
          </a:prstGeom>
          <a:noFill/>
          <a:ln>
            <a:noFill/>
          </a:ln>
        </p:spPr>
        <p:txBody>
          <a:bodyPr wrap="square" rtlCol="0" anchor="ctr"/>
          <a:lstStyle/>
          <a:p>
            <a:pPr algn="l" indent="0" marL="0">
              <a:buNone/>
            </a:pPr>
            <a:r>
              <a:rPr lang="en-US" sz="2000" b="1" dirty="0">
                <a:solidFill>
                  <a:srgbClr val="1F2429"/>
                </a:solidFill>
                <a:latin typeface="Calibri" pitchFamily="34" charset="0"/>
                <a:ea typeface="Calibri" pitchFamily="34" charset="-122"/>
                <a:cs typeface="Calibri" pitchFamily="34" charset="-120"/>
              </a:rPr>
              <a:t>Rollback: T3</a:t>
            </a:r>
            <a:endParaRPr lang="en-US" sz="2000" dirty="0"/>
          </a:p>
        </p:txBody>
      </p:sp>
      <p:sp>
        <p:nvSpPr>
          <p:cNvPr id="7" name="Card body 7"/>
          <p:cNvSpPr txBox="1"/>
          <p:nvPr/>
        </p:nvSpPr>
        <p:spPr>
          <a:xfrm>
            <a:off x="1005840" y="2103120"/>
            <a:ext cx="4777740" cy="237744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T3's undo is a rollback. Recovery determined that T3 was still uncommitted at crash time, so D goes from 99 back to its old value, 5.</a:t>
            </a:r>
            <a:endParaRPr lang="en-US" sz="1800" dirty="0"/>
          </a:p>
        </p:txBody>
      </p:sp>
      <p:sp>
        <p:nvSpPr>
          <p:cNvPr id="8" name="Card 8"/>
          <p:cNvSpPr/>
          <p:nvPr/>
        </p:nvSpPr>
        <p:spPr>
          <a:xfrm>
            <a:off x="6240780" y="1463040"/>
            <a:ext cx="5372100" cy="3108960"/>
          </a:xfrm>
          <a:prstGeom prst="roundRect">
            <a:avLst>
              <a:gd name="adj" fmla="val 3478"/>
            </a:avLst>
          </a:prstGeom>
          <a:solidFill>
            <a:srgbClr val="FFFFFF"/>
          </a:solidFill>
          <a:ln w="22225">
            <a:solidFill>
              <a:srgbClr val="2FE6C4"/>
            </a:solidFill>
          </a:ln>
          <a:effectLst>
            <a:outerShdw blurRad="63500" dist="25400" dir="5400000" algn="bl" rotWithShape="0">
              <a:srgbClr val="1F2429">
                <a:alpha val="15000"/>
              </a:srgbClr>
            </a:outerShdw>
          </a:effectLst>
        </p:spPr>
      </p:sp>
      <p:sp>
        <p:nvSpPr>
          <p:cNvPr id="9" name="Dot 9"/>
          <p:cNvSpPr/>
          <p:nvPr/>
        </p:nvSpPr>
        <p:spPr>
          <a:xfrm>
            <a:off x="6405372" y="1645920"/>
            <a:ext cx="201168" cy="201168"/>
          </a:xfrm>
          <a:prstGeom prst="ellipse">
            <a:avLst/>
          </a:prstGeom>
          <a:solidFill>
            <a:srgbClr val="2FE6C4"/>
          </a:solidFill>
          <a:ln>
            <a:noFill/>
          </a:ln>
        </p:spPr>
      </p:sp>
      <p:sp>
        <p:nvSpPr>
          <p:cNvPr id="10" name="Card title 10"/>
          <p:cNvSpPr txBox="1"/>
          <p:nvPr/>
        </p:nvSpPr>
        <p:spPr>
          <a:xfrm>
            <a:off x="6697980" y="1581912"/>
            <a:ext cx="4777740" cy="457200"/>
          </a:xfrm>
          <a:prstGeom prst="rect">
            <a:avLst/>
          </a:prstGeom>
          <a:noFill/>
          <a:ln>
            <a:noFill/>
          </a:ln>
        </p:spPr>
        <p:txBody>
          <a:bodyPr wrap="square" rtlCol="0" anchor="ctr"/>
          <a:lstStyle/>
          <a:p>
            <a:pPr algn="l" indent="0" marL="0">
              <a:buNone/>
            </a:pPr>
            <a:r>
              <a:rPr lang="en-US" sz="2000" b="1" dirty="0">
                <a:solidFill>
                  <a:srgbClr val="1F2429"/>
                </a:solidFill>
                <a:latin typeface="Calibri" pitchFamily="34" charset="0"/>
                <a:ea typeface="Calibri" pitchFamily="34" charset="-122"/>
                <a:cs typeface="Calibri" pitchFamily="34" charset="-120"/>
              </a:rPr>
              <a:t>Rollforward: T2 and T4</a:t>
            </a:r>
            <a:endParaRPr lang="en-US" sz="2000" dirty="0"/>
          </a:p>
        </p:txBody>
      </p:sp>
      <p:sp>
        <p:nvSpPr>
          <p:cNvPr id="11" name="Card body 11"/>
          <p:cNvSpPr txBox="1"/>
          <p:nvPr/>
        </p:nvSpPr>
        <p:spPr>
          <a:xfrm>
            <a:off x="6697980" y="2103120"/>
            <a:ext cx="4777740" cy="237744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T2's and T4's redo is a rollforward. Their committed changes are reapplied, setting C to 20 and E to 2, bringing the database forward to the moment of failure.</a:t>
            </a:r>
            <a:endParaRPr lang="en-US" sz="1800" dirty="0"/>
          </a:p>
        </p:txBody>
      </p:sp>
      <p:sp>
        <p:nvSpPr>
          <p:cNvPr id="12" name="Note 12"/>
          <p:cNvSpPr/>
          <p:nvPr/>
        </p:nvSpPr>
        <p:spPr>
          <a:xfrm>
            <a:off x="548640" y="4754880"/>
            <a:ext cx="11064240" cy="1417320"/>
          </a:xfrm>
          <a:prstGeom prst="roundRect">
            <a:avLst>
              <a:gd name="adj" fmla="val 3556"/>
            </a:avLst>
          </a:prstGeom>
          <a:solidFill>
            <a:srgbClr val="F3F1FC"/>
          </a:solidFill>
          <a:ln w="12700">
            <a:solidFill>
              <a:srgbClr val="8B7FD9"/>
            </a:solidFill>
          </a:ln>
        </p:spPr>
      </p:sp>
      <p:sp>
        <p:nvSpPr>
          <p:cNvPr id="13" name="Note text 13"/>
          <p:cNvSpPr txBox="1"/>
          <p:nvPr/>
        </p:nvSpPr>
        <p:spPr>
          <a:xfrm>
            <a:off x="822960" y="4892040"/>
            <a:ext cx="10515600" cy="1143000"/>
          </a:xfrm>
          <a:prstGeom prst="rect">
            <a:avLst/>
          </a:prstGeom>
          <a:noFill/>
          <a:ln>
            <a:noFill/>
          </a:ln>
        </p:spPr>
        <p:txBody>
          <a:bodyPr wrap="square" rtlCol="0" anchor="ctr"/>
          <a:lstStyle/>
          <a:p>
            <a:pPr algn="l" indent="0" marL="0">
              <a:lnSpc>
                <a:spcPct val="110000"/>
              </a:lnSpc>
              <a:buNone/>
            </a:pPr>
            <a:r>
              <a:rPr lang="en-US" sz="1800" b="1" dirty="0">
                <a:solidFill>
                  <a:srgbClr val="1F2429"/>
                </a:solidFill>
                <a:latin typeface="Calibri" pitchFamily="34" charset="0"/>
                <a:ea typeface="Calibri" pitchFamily="34" charset="-122"/>
                <a:cs typeface="Calibri" pitchFamily="34" charset="-120"/>
              </a:rPr>
              <a:t>Same mechanics, same goal: </a:t>
            </a:r>
            <a:r>
              <a:rPr lang="en-US" sz="1800" dirty="0">
                <a:solidFill>
                  <a:srgbClr val="1F2429"/>
                </a:solidFill>
                <a:latin typeface="Calibri" pitchFamily="34" charset="0"/>
                <a:ea typeface="Calibri" pitchFamily="34" charset="-122"/>
                <a:cs typeface="Calibri" pitchFamily="34" charset="-120"/>
              </a:rPr>
              <a:t>A=200, B=150, C=20, D=5, E=2 is exactly the state a correct serial run would produce, with T3 never having run.</a:t>
            </a:r>
            <a:endParaRPr lang="en-US" sz="1800" dirty="0"/>
          </a:p>
        </p:txBody>
      </p:sp>
      <p:sp>
        <p:nvSpPr>
          <p:cNvPr id="14" name="Footer 14"/>
          <p:cNvSpPr txBox="1"/>
          <p:nvPr/>
        </p:nvSpPr>
        <p:spPr>
          <a:xfrm>
            <a:off x="9951415" y="6455664"/>
            <a:ext cx="2011680" cy="292608"/>
          </a:xfrm>
          <a:prstGeom prst="rect">
            <a:avLst/>
          </a:prstGeom>
          <a:noFill/>
          <a:ln>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rPr>
              <a:t>cuinotes.com</a:t>
            </a:r>
            <a:r>
              <a:rPr lang="en-US" sz="1200" dirty="0">
                <a:solidFill>
                  <a:srgbClr val="8A939B"/>
                </a:solidFill>
                <a:latin typeface="Calibri" pitchFamily="34" charset="0"/>
                <a:ea typeface="Calibri" pitchFamily="34" charset="-122"/>
                <a:cs typeface="Calibri" pitchFamily="34" charset="-120"/>
              </a:rPr>
              <a:t>  ·  19</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Media failure contrast">
    <p:bg>
      <p:bgPr>
        <a:solidFill>
          <a:srgbClr val="F7F8F9"/>
        </a:solidFill>
        <a:effectLst/>
      </p:bgPr>
    </p:bg>
    <p:spTree>
      <p:nvGrpSpPr>
        <p:cNvPr id="1" name=""/>
        <p:cNvGrpSpPr/>
        <p:nvPr/>
      </p:nvGrpSpPr>
      <p:grpSpPr>
        <a:xfrm>
          <a:off x="0" y="0"/>
          <a:ext cx="0" cy="0"/>
          <a:chOff x="0" y="0"/>
          <a:chExt cx="0" cy="0"/>
        </a:xfrm>
      </p:grpSpPr>
      <p:sp>
        <p:nvSpPr>
          <p:cNvPr id="2" name="Eyebrow 2"/>
          <p:cNvSpPr txBox="1"/>
          <p:nvPr/>
        </p:nvSpPr>
        <p:spPr>
          <a:xfrm>
            <a:off x="548640" y="320040"/>
            <a:ext cx="9144000" cy="292608"/>
          </a:xfrm>
          <a:prstGeom prst="rect">
            <a:avLst/>
          </a:prstGeom>
          <a:noFill/>
          <a:ln>
            <a:noFill/>
          </a:ln>
        </p:spPr>
        <p:txBody>
          <a:bodyPr wrap="square" rtlCol="0" anchor="ctr"/>
          <a:lstStyle/>
          <a:p>
            <a:pPr algn="l" indent="0" marL="0">
              <a:buNone/>
            </a:pPr>
            <a:r>
              <a:rPr lang="en-US" sz="1200" b="1" spc="150" kern="0" dirty="0">
                <a:solidFill>
                  <a:srgbClr val="E8A33D"/>
                </a:solidFill>
                <a:latin typeface="Calibri" pitchFamily="34" charset="0"/>
                <a:ea typeface="Calibri" pitchFamily="34" charset="-122"/>
                <a:cs typeface="Calibri" pitchFamily="34" charset="-120"/>
              </a:rPr>
              <a:t>SAME CRASH POINT, DIFFERENT FAILURE</a:t>
            </a:r>
            <a:endParaRPr lang="en-US" sz="1200" dirty="0"/>
          </a:p>
        </p:txBody>
      </p:sp>
      <p:sp>
        <p:nvSpPr>
          <p:cNvPr id="3" name="Title 3"/>
          <p:cNvSpPr txBox="1"/>
          <p:nvPr/>
        </p:nvSpPr>
        <p:spPr>
          <a:xfrm>
            <a:off x="548640" y="566928"/>
            <a:ext cx="11064240" cy="640080"/>
          </a:xfrm>
          <a:prstGeom prst="rect">
            <a:avLst/>
          </a:prstGeom>
          <a:noFill/>
          <a:ln>
            <a:noFill/>
          </a:ln>
        </p:spPr>
        <p:txBody>
          <a:bodyPr wrap="square" rtlCol="0" anchor="ctr"/>
          <a:lstStyle/>
          <a:p>
            <a:pPr algn="l" indent="0" marL="0">
              <a:buNone/>
            </a:pPr>
            <a:r>
              <a:rPr lang="en-US" sz="2500" b="1" dirty="0">
                <a:solidFill>
                  <a:srgbClr val="1F2429"/>
                </a:solidFill>
                <a:latin typeface="Calibri" pitchFamily="34" charset="0"/>
                <a:ea typeface="Calibri" pitchFamily="34" charset="-122"/>
                <a:cs typeface="Calibri" pitchFamily="34" charset="-120"/>
              </a:rPr>
              <a:t>If This Had Been a Media Failure Instead</a:t>
            </a:r>
            <a:endParaRPr lang="en-US" sz="2500" dirty="0"/>
          </a:p>
        </p:txBody>
      </p:sp>
      <p:sp>
        <p:nvSpPr>
          <p:cNvPr id="4" name="Card 4"/>
          <p:cNvSpPr/>
          <p:nvPr/>
        </p:nvSpPr>
        <p:spPr>
          <a:xfrm>
            <a:off x="548640" y="1463040"/>
            <a:ext cx="5372100" cy="3108960"/>
          </a:xfrm>
          <a:prstGeom prst="roundRect">
            <a:avLst>
              <a:gd name="adj" fmla="val 3478"/>
            </a:avLst>
          </a:prstGeom>
          <a:solidFill>
            <a:srgbClr val="FFFFFF"/>
          </a:solidFill>
          <a:ln w="22225">
            <a:solidFill>
              <a:srgbClr val="2FE6C4"/>
            </a:solidFill>
          </a:ln>
          <a:effectLst>
            <a:outerShdw blurRad="63500" dist="25400" dir="5400000" algn="bl" rotWithShape="0">
              <a:srgbClr val="1F2429">
                <a:alpha val="15000"/>
              </a:srgbClr>
            </a:outerShdw>
          </a:effectLst>
        </p:spPr>
      </p:sp>
      <p:sp>
        <p:nvSpPr>
          <p:cNvPr id="5" name="Dot 5"/>
          <p:cNvSpPr/>
          <p:nvPr/>
        </p:nvSpPr>
        <p:spPr>
          <a:xfrm>
            <a:off x="713232" y="1645920"/>
            <a:ext cx="201168" cy="201168"/>
          </a:xfrm>
          <a:prstGeom prst="ellipse">
            <a:avLst/>
          </a:prstGeom>
          <a:solidFill>
            <a:srgbClr val="2FE6C4"/>
          </a:solidFill>
          <a:ln>
            <a:noFill/>
          </a:ln>
        </p:spPr>
      </p:sp>
      <p:sp>
        <p:nvSpPr>
          <p:cNvPr id="6" name="Card title 6"/>
          <p:cNvSpPr txBox="1"/>
          <p:nvPr/>
        </p:nvSpPr>
        <p:spPr>
          <a:xfrm>
            <a:off x="1005840" y="1581912"/>
            <a:ext cx="4777740" cy="457200"/>
          </a:xfrm>
          <a:prstGeom prst="rect">
            <a:avLst/>
          </a:prstGeom>
          <a:noFill/>
          <a:ln>
            <a:noFill/>
          </a:ln>
        </p:spPr>
        <p:txBody>
          <a:bodyPr wrap="square" rtlCol="0" anchor="ctr"/>
          <a:lstStyle/>
          <a:p>
            <a:pPr algn="l" indent="0" marL="0">
              <a:buNone/>
            </a:pPr>
            <a:r>
              <a:rPr lang="en-US" sz="2000" b="1" dirty="0">
                <a:solidFill>
                  <a:srgbClr val="1F2429"/>
                </a:solidFill>
                <a:latin typeface="Calibri" pitchFamily="34" charset="0"/>
                <a:ea typeface="Calibri" pitchFamily="34" charset="-122"/>
                <a:cs typeface="Calibri" pitchFamily="34" charset="-120"/>
              </a:rPr>
              <a:t>What happened: system crash</a:t>
            </a:r>
            <a:endParaRPr lang="en-US" sz="2000" dirty="0"/>
          </a:p>
        </p:txBody>
      </p:sp>
      <p:sp>
        <p:nvSpPr>
          <p:cNvPr id="7" name="Card body 7"/>
          <p:cNvSpPr txBox="1"/>
          <p:nvPr/>
        </p:nvSpPr>
        <p:spPr>
          <a:xfrm>
            <a:off x="1005840" y="2103120"/>
            <a:ext cx="4777740" cy="237744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RAM was lost, but the disk survived. The log is intact, so UNDO and REDO replay it against the existing data files. No backup is needed.</a:t>
            </a:r>
            <a:endParaRPr lang="en-US" sz="1800" dirty="0"/>
          </a:p>
        </p:txBody>
      </p:sp>
      <p:sp>
        <p:nvSpPr>
          <p:cNvPr id="8" name="Card 8"/>
          <p:cNvSpPr/>
          <p:nvPr/>
        </p:nvSpPr>
        <p:spPr>
          <a:xfrm>
            <a:off x="6240780" y="1463040"/>
            <a:ext cx="5372100" cy="3108960"/>
          </a:xfrm>
          <a:prstGeom prst="roundRect">
            <a:avLst>
              <a:gd name="adj" fmla="val 3478"/>
            </a:avLst>
          </a:prstGeom>
          <a:solidFill>
            <a:srgbClr val="FFFFFF"/>
          </a:solidFill>
          <a:ln w="22225">
            <a:solidFill>
              <a:srgbClr val="E8A33D"/>
            </a:solidFill>
          </a:ln>
          <a:effectLst>
            <a:outerShdw blurRad="63500" dist="25400" dir="5400000" algn="bl" rotWithShape="0">
              <a:srgbClr val="1F2429">
                <a:alpha val="15000"/>
              </a:srgbClr>
            </a:outerShdw>
          </a:effectLst>
        </p:spPr>
      </p:sp>
      <p:sp>
        <p:nvSpPr>
          <p:cNvPr id="9" name="Dot 9"/>
          <p:cNvSpPr/>
          <p:nvPr/>
        </p:nvSpPr>
        <p:spPr>
          <a:xfrm>
            <a:off x="6405372" y="1645920"/>
            <a:ext cx="201168" cy="201168"/>
          </a:xfrm>
          <a:prstGeom prst="ellipse">
            <a:avLst/>
          </a:prstGeom>
          <a:solidFill>
            <a:srgbClr val="E8A33D"/>
          </a:solidFill>
          <a:ln>
            <a:noFill/>
          </a:ln>
        </p:spPr>
      </p:sp>
      <p:sp>
        <p:nvSpPr>
          <p:cNvPr id="10" name="Card title 10"/>
          <p:cNvSpPr txBox="1"/>
          <p:nvPr/>
        </p:nvSpPr>
        <p:spPr>
          <a:xfrm>
            <a:off x="6697980" y="1581912"/>
            <a:ext cx="4777740" cy="457200"/>
          </a:xfrm>
          <a:prstGeom prst="rect">
            <a:avLst/>
          </a:prstGeom>
          <a:noFill/>
          <a:ln>
            <a:noFill/>
          </a:ln>
        </p:spPr>
        <p:txBody>
          <a:bodyPr wrap="square" rtlCol="0" anchor="ctr"/>
          <a:lstStyle/>
          <a:p>
            <a:pPr algn="l" indent="0" marL="0">
              <a:buNone/>
            </a:pPr>
            <a:r>
              <a:rPr lang="en-US" sz="2000" b="1" dirty="0">
                <a:solidFill>
                  <a:srgbClr val="1F2429"/>
                </a:solidFill>
                <a:latin typeface="Calibri" pitchFamily="34" charset="0"/>
                <a:ea typeface="Calibri" pitchFamily="34" charset="-122"/>
                <a:cs typeface="Calibri" pitchFamily="34" charset="-120"/>
              </a:rPr>
              <a:t>Had the disk itself been lost</a:t>
            </a:r>
            <a:endParaRPr lang="en-US" sz="2000" dirty="0"/>
          </a:p>
        </p:txBody>
      </p:sp>
      <p:sp>
        <p:nvSpPr>
          <p:cNvPr id="11" name="Card body 11"/>
          <p:cNvSpPr txBox="1"/>
          <p:nvPr/>
        </p:nvSpPr>
        <p:spPr>
          <a:xfrm>
            <a:off x="6697980" y="2103120"/>
            <a:ext cx="4777740" cy="2377440"/>
          </a:xfrm>
          <a:prstGeom prst="rect">
            <a:avLst/>
          </a:prstGeom>
          <a:noFill/>
          <a:ln>
            <a:noFill/>
          </a:ln>
        </p:spPr>
        <p:txBody>
          <a:bodyPr wrap="square" rtlCol="0" anchor="t"/>
          <a:lstStyle/>
          <a:p>
            <a:pPr algn="l" indent="0" marL="0">
              <a:lnSpc>
                <a:spcPct val="115000"/>
              </a:lnSpc>
              <a:buNone/>
            </a:pPr>
            <a:r>
              <a:rPr lang="en-US" sz="1800" dirty="0">
                <a:solidFill>
                  <a:srgbClr val="1F2429"/>
                </a:solidFill>
                <a:latin typeface="Calibri" pitchFamily="34" charset="0"/>
                <a:ea typeface="Calibri" pitchFamily="34" charset="-122"/>
                <a:cs typeface="Calibri" pitchFamily="34" charset="-120"/>
              </a:rPr>
              <a:t>The data files and the log both lived on the destroyed disk, so no UNDO or REDO is possible. Restore the latest full backup, then rollforward through archived log records to reach the same end state.</a:t>
            </a:r>
            <a:endParaRPr lang="en-US" sz="1800" dirty="0"/>
          </a:p>
        </p:txBody>
      </p:sp>
      <p:sp>
        <p:nvSpPr>
          <p:cNvPr id="12" name="Note 12"/>
          <p:cNvSpPr/>
          <p:nvPr/>
        </p:nvSpPr>
        <p:spPr>
          <a:xfrm>
            <a:off x="548640" y="4754880"/>
            <a:ext cx="11064240" cy="1417320"/>
          </a:xfrm>
          <a:prstGeom prst="roundRect">
            <a:avLst>
              <a:gd name="adj" fmla="val 3556"/>
            </a:avLst>
          </a:prstGeom>
          <a:solidFill>
            <a:srgbClr val="FFF7EA"/>
          </a:solidFill>
          <a:ln w="12700">
            <a:solidFill>
              <a:srgbClr val="E8A33D"/>
            </a:solidFill>
          </a:ln>
        </p:spPr>
      </p:sp>
      <p:sp>
        <p:nvSpPr>
          <p:cNvPr id="13" name="Note text 13"/>
          <p:cNvSpPr txBox="1"/>
          <p:nvPr/>
        </p:nvSpPr>
        <p:spPr>
          <a:xfrm>
            <a:off x="822960" y="4892040"/>
            <a:ext cx="10515600" cy="1143000"/>
          </a:xfrm>
          <a:prstGeom prst="rect">
            <a:avLst/>
          </a:prstGeom>
          <a:noFill/>
          <a:ln>
            <a:noFill/>
          </a:ln>
        </p:spPr>
        <p:txBody>
          <a:bodyPr wrap="square" rtlCol="0" anchor="ctr"/>
          <a:lstStyle/>
          <a:p>
            <a:pPr algn="l" indent="0" marL="0">
              <a:lnSpc>
                <a:spcPct val="110000"/>
              </a:lnSpc>
              <a:buNone/>
            </a:pPr>
            <a:r>
              <a:rPr lang="en-US" sz="1800" b="1" dirty="0">
                <a:solidFill>
                  <a:srgbClr val="1F2429"/>
                </a:solidFill>
                <a:latin typeface="Calibri" pitchFamily="34" charset="0"/>
                <a:ea typeface="Calibri" pitchFamily="34" charset="-122"/>
                <a:cs typeface="Calibri" pitchFamily="34" charset="-120"/>
              </a:rPr>
              <a:t>Same numbers, different route: </a:t>
            </a:r>
            <a:r>
              <a:rPr lang="en-US" sz="1800" dirty="0">
                <a:solidFill>
                  <a:srgbClr val="1F2429"/>
                </a:solidFill>
                <a:latin typeface="Calibri" pitchFamily="34" charset="0"/>
                <a:ea typeface="Calibri" pitchFamily="34" charset="-122"/>
                <a:cs typeface="Calibri" pitchFamily="34" charset="-120"/>
              </a:rPr>
              <a:t>A=200, B=150, C=20, D=5, E=2 again, but only if the backup and archived log are intact. That is why an untested backup is the real risk on slide 4.</a:t>
            </a:r>
            <a:endParaRPr lang="en-US" sz="1800" dirty="0"/>
          </a:p>
        </p:txBody>
      </p:sp>
      <p:sp>
        <p:nvSpPr>
          <p:cNvPr id="14" name="Footer 14"/>
          <p:cNvSpPr txBox="1"/>
          <p:nvPr/>
        </p:nvSpPr>
        <p:spPr>
          <a:xfrm>
            <a:off x="9951415" y="6455664"/>
            <a:ext cx="2011680" cy="292608"/>
          </a:xfrm>
          <a:prstGeom prst="rect">
            <a:avLst/>
          </a:prstGeom>
          <a:noFill/>
          <a:ln>
            <a:noFill/>
          </a:ln>
        </p:spPr>
        <p:txBody>
          <a:bodyPr wrap="square" rtlCol="0" anchor="ctr"/>
          <a:lstStyle/>
          <a:p>
            <a:pPr algn="r" indent="0" marL="0">
              <a:buNone/>
            </a:pPr>
            <a:r>
              <a:rPr lang="en-US" sz="12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rPr>
              <a:t>cuinotes.com</a:t>
            </a:r>
            <a:r>
              <a:rPr lang="en-US" sz="1200" dirty="0">
                <a:solidFill>
                  <a:srgbClr val="8A939B"/>
                </a:solidFill>
                <a:latin typeface="Calibri" pitchFamily="34" charset="0"/>
                <a:ea typeface="Calibri" pitchFamily="34" charset="-122"/>
                <a:cs typeface="Calibri" pitchFamily="34" charset="-120"/>
              </a:rPr>
              <a:t>  ·  20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2026-09-29T15:21:26Z</dcterms:created>
  <dcterms:modified xsi:type="dcterms:W3CDTF">2026-09-29T15:21:26Z</dcterms:modified>
</cp:coreProperties>
</file>
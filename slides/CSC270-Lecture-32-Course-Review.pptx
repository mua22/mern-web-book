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0" r:id="rId21"/>
    <p:sldId id="264" r:id="rId10"/>
    <p:sldId id="271" r:id="rId22"/>
    <p:sldId id="265" r:id="rId11"/>
    <p:sldId id="266" r:id="rId12"/>
    <p:sldId id="267" r:id="rId13"/>
    <p:sldId id="272" r:id="rId23"/>
    <p:sldId id="268" r:id="rId14"/>
    <p:sldId id="273" r:id="rId24"/>
    <p:sldId id="274" r:id="rId25"/>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9082735" y="-1463040"/>
            <a:ext cx="4206240" cy="4206240"/>
          </a:xfrm>
          <a:prstGeom prst="ellipse">
            <a:avLst/>
          </a:prstGeom>
          <a:solidFill>
            <a:srgbClr val="2FE6C4">
              <a:alpha val="12000"/>
            </a:srgbClr>
          </a:solidFill>
          <a:ln/>
        </p:spPr>
      </p:sp>
      <p:sp>
        <p:nvSpPr>
          <p:cNvPr id="3" name="Shape 1"/>
          <p:cNvSpPr/>
          <p:nvPr/>
        </p:nvSpPr>
        <p:spPr>
          <a:xfrm>
            <a:off x="10362895" y="3291840"/>
            <a:ext cx="2926080" cy="2926080"/>
          </a:xfrm>
          <a:prstGeom prst="ellipse">
            <a:avLst/>
          </a:prstGeom>
          <a:solidFill>
            <a:srgbClr val="8B7FD9">
              <a:alpha val="14000"/>
            </a:srgbClr>
          </a:solidFill>
          <a:ln/>
        </p:spPr>
      </p:sp>
      <p:sp>
        <p:nvSpPr>
          <p:cNvPr id="4" name="Shape 2"/>
          <p:cNvSpPr/>
          <p:nvPr/>
        </p:nvSpPr>
        <p:spPr>
          <a:xfrm>
            <a:off x="-1280160" y="4663440"/>
            <a:ext cx="3108960" cy="3108960"/>
          </a:xfrm>
          <a:prstGeom prst="ellipse">
            <a:avLst/>
          </a:prstGeom>
          <a:solidFill>
            <a:srgbClr val="E8A33D">
              <a:alpha val="10000"/>
            </a:srgbClr>
          </a:solidFill>
          <a:ln/>
        </p:spPr>
      </p:sp>
      <p:sp>
        <p:nvSpPr>
          <p:cNvPr id="5" name="Text 3"/>
          <p:cNvSpPr txBox="1"/>
          <p:nvPr/>
        </p:nvSpPr>
        <p:spPr>
          <a:xfrm>
            <a:off x="822960" y="1554480"/>
            <a:ext cx="9601200" cy="365760"/>
          </a:xfrm>
          <a:prstGeom prst="rect">
            <a:avLst/>
          </a:prstGeom>
          <a:noFill/>
          <a:ln/>
        </p:spPr>
        <p:txBody>
          <a:bodyPr wrap="square" rtlCol="0" anchor="ctr"/>
          <a:lstStyle/>
          <a:p>
            <a:pPr indent="0" marL="0">
              <a:buNone/>
            </a:pPr>
            <a:r>
              <a:rPr lang="en-US" sz="2000" b="1" spc="200" kern="0" dirty="0">
                <a:solidFill>
                  <a:srgbClr val="2FE6C4"/>
                </a:solidFill>
                <a:latin typeface="Calibri" pitchFamily="34" charset="0"/>
                <a:ea typeface="Calibri" pitchFamily="34" charset="-122"/>
                <a:cs typeface="Calibri" pitchFamily="34" charset="-120"/>
              </a:rPr>
              <a:t>CSC270 · DATABASE SYSTEMS · LECTURE 32</a:t>
            </a:r>
            <a:endParaRPr lang="en-US" sz="2000" dirty="0"/>
          </a:p>
        </p:txBody>
      </p:sp>
      <p:sp>
        <p:nvSpPr>
          <p:cNvPr id="6" name="Text 4"/>
          <p:cNvSpPr txBox="1"/>
          <p:nvPr/>
        </p:nvSpPr>
        <p:spPr>
          <a:xfrm>
            <a:off x="822960" y="1920240"/>
            <a:ext cx="9875520" cy="3657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Course Review · Capstone</a:t>
            </a:r>
            <a:endParaRPr lang="en-US" sz="1800" dirty="0"/>
          </a:p>
        </p:txBody>
      </p:sp>
      <p:sp>
        <p:nvSpPr>
          <p:cNvPr id="7" name="Text 5"/>
          <p:cNvSpPr txBox="1"/>
          <p:nvPr/>
        </p:nvSpPr>
        <p:spPr>
          <a:xfrm>
            <a:off x="822960" y="2377440"/>
            <a:ext cx="10058400" cy="1828800"/>
          </a:xfrm>
          <a:prstGeom prst="rect">
            <a:avLst/>
          </a:prstGeom>
          <a:noFill/>
          <a:ln/>
        </p:spPr>
        <p:txBody>
          <a:bodyPr wrap="square"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Course Review</a:t>
            </a:r>
            <a:endParaRPr lang="en-US" sz="4000" dirty="0"/>
          </a:p>
        </p:txBody>
      </p:sp>
      <p:sp>
        <p:nvSpPr>
          <p:cNvPr id="8" name="Text 6"/>
          <p:cNvSpPr txBox="1"/>
          <p:nvPr/>
        </p:nvSpPr>
        <p:spPr>
          <a:xfrm>
            <a:off x="822960" y="4160520"/>
            <a:ext cx="9326880" cy="8229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A tour of all 8 units, following one running example — a university's Student/Course enrollment data — through every stage a real system takes it.</a:t>
            </a:r>
            <a:endParaRPr lang="en-US" sz="1800" dirty="0"/>
          </a:p>
        </p:txBody>
      </p:sp>
      <p:sp>
        <p:nvSpPr>
          <p:cNvPr id="9" name="Text 7"/>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rtlCol="0" anchor="ctr"/>
          <a:lstStyle/>
          <a:p>
            <a:pPr indent="0" marL="0">
              <a:buNone/>
            </a:pPr>
            <a:r>
              <a:rPr lang="en-US" sz="3200" b="1" dirty="0">
                <a:solidFill>
                  <a:srgbClr val="1F2429"/>
                </a:solidFill>
                <a:latin typeface="Calibri" pitchFamily="34" charset="0"/>
                <a:ea typeface="Calibri" pitchFamily="34" charset="-122"/>
                <a:cs typeface="Calibri" pitchFamily="34" charset="-120"/>
              </a:rPr>
              <a:t>Agenda: A Tour of All 8 Units</a:t>
            </a:r>
            <a:endParaRPr lang="en-US" sz="3200" dirty="0"/>
          </a:p>
        </p:txBody>
      </p:sp>
      <p:sp>
        <p:nvSpPr>
          <p:cNvPr id="3" name="Shape 1"/>
          <p:cNvSpPr/>
          <p:nvPr/>
        </p:nvSpPr>
        <p:spPr>
          <a:xfrm>
            <a:off x="640080" y="1563624"/>
            <a:ext cx="384048" cy="384048"/>
          </a:xfrm>
          <a:prstGeom prst="ellipse">
            <a:avLst/>
          </a:prstGeom>
          <a:solidFill>
            <a:srgbClr val="2FE6C4"/>
          </a:solidFill>
          <a:ln/>
        </p:spPr>
      </p:sp>
      <p:sp>
        <p:nvSpPr>
          <p:cNvPr id="4" name="Text 2"/>
          <p:cNvSpPr txBox="1"/>
          <p:nvPr/>
        </p:nvSpPr>
        <p:spPr>
          <a:xfrm>
            <a:off x="640080" y="1563624"/>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170432" y="1490472"/>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One running example, threaded through all 8 units</a:t>
            </a:r>
            <a:endParaRPr lang="en-US" sz="1800" dirty="0"/>
          </a:p>
        </p:txBody>
      </p:sp>
      <p:sp>
        <p:nvSpPr>
          <p:cNvPr id="6" name="Shape 4"/>
          <p:cNvSpPr/>
          <p:nvPr/>
        </p:nvSpPr>
        <p:spPr>
          <a:xfrm>
            <a:off x="640080" y="2404872"/>
            <a:ext cx="384048" cy="384048"/>
          </a:xfrm>
          <a:prstGeom prst="ellipse">
            <a:avLst/>
          </a:prstGeom>
          <a:solidFill>
            <a:srgbClr val="8B7FD9"/>
          </a:solidFill>
          <a:ln/>
        </p:spPr>
      </p:sp>
      <p:sp>
        <p:nvSpPr>
          <p:cNvPr id="7" name="Text 5"/>
          <p:cNvSpPr txBox="1"/>
          <p:nvPr/>
        </p:nvSpPr>
        <p:spPr>
          <a:xfrm>
            <a:off x="640080" y="2404872"/>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170432" y="2331720"/>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Units 1–3: Foundations, the Relational Model, Algebra &amp; Calculus</a:t>
            </a:r>
            <a:endParaRPr lang="en-US" sz="1800" dirty="0"/>
          </a:p>
        </p:txBody>
      </p:sp>
      <p:sp>
        <p:nvSpPr>
          <p:cNvPr id="9" name="Shape 7"/>
          <p:cNvSpPr/>
          <p:nvPr/>
        </p:nvSpPr>
        <p:spPr>
          <a:xfrm>
            <a:off x="640080" y="3246120"/>
            <a:ext cx="384048" cy="384048"/>
          </a:xfrm>
          <a:prstGeom prst="ellipse">
            <a:avLst/>
          </a:prstGeom>
          <a:solidFill>
            <a:srgbClr val="E8A33D"/>
          </a:solidFill>
          <a:ln/>
        </p:spPr>
      </p:sp>
      <p:sp>
        <p:nvSpPr>
          <p:cNvPr id="10" name="Text 8"/>
          <p:cNvSpPr txBox="1"/>
          <p:nvPr/>
        </p:nvSpPr>
        <p:spPr>
          <a:xfrm>
            <a:off x="640080" y="3246120"/>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170432" y="3172968"/>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Units 4–5: ER/EER Modeling and Normalization</a:t>
            </a:r>
            <a:endParaRPr lang="en-US" sz="1800" dirty="0"/>
          </a:p>
        </p:txBody>
      </p:sp>
      <p:sp>
        <p:nvSpPr>
          <p:cNvPr id="12" name="Shape 10"/>
          <p:cNvSpPr/>
          <p:nvPr/>
        </p:nvSpPr>
        <p:spPr>
          <a:xfrm>
            <a:off x="640080" y="4087368"/>
            <a:ext cx="384048" cy="384048"/>
          </a:xfrm>
          <a:prstGeom prst="ellipse">
            <a:avLst/>
          </a:prstGeom>
          <a:solidFill>
            <a:srgbClr val="2FE6C4"/>
          </a:solidFill>
          <a:ln/>
        </p:spPr>
      </p:sp>
      <p:sp>
        <p:nvSpPr>
          <p:cNvPr id="13" name="Text 11"/>
          <p:cNvSpPr txBox="1"/>
          <p:nvPr/>
        </p:nvSpPr>
        <p:spPr>
          <a:xfrm>
            <a:off x="640080" y="4087368"/>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4</a:t>
            </a:r>
            <a:endParaRPr lang="en-US" sz="2000" dirty="0"/>
          </a:p>
        </p:txBody>
      </p:sp>
      <p:sp>
        <p:nvSpPr>
          <p:cNvPr id="14" name="Text 12"/>
          <p:cNvSpPr txBox="1"/>
          <p:nvPr/>
        </p:nvSpPr>
        <p:spPr>
          <a:xfrm>
            <a:off x="1170432" y="4014216"/>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Unit 6: Views, Security, and Indexing</a:t>
            </a:r>
            <a:endParaRPr lang="en-US" sz="1800" dirty="0"/>
          </a:p>
        </p:txBody>
      </p:sp>
      <p:sp>
        <p:nvSpPr>
          <p:cNvPr id="15" name="Shape 13"/>
          <p:cNvSpPr/>
          <p:nvPr/>
        </p:nvSpPr>
        <p:spPr>
          <a:xfrm>
            <a:off x="6309360" y="1563624"/>
            <a:ext cx="384048" cy="384048"/>
          </a:xfrm>
          <a:prstGeom prst="ellipse">
            <a:avLst/>
          </a:prstGeom>
          <a:solidFill>
            <a:srgbClr val="8B7FD9"/>
          </a:solidFill>
          <a:ln/>
        </p:spPr>
      </p:sp>
      <p:sp>
        <p:nvSpPr>
          <p:cNvPr id="16" name="Text 14"/>
          <p:cNvSpPr txBox="1"/>
          <p:nvPr/>
        </p:nvSpPr>
        <p:spPr>
          <a:xfrm>
            <a:off x="6309360" y="1563624"/>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5</a:t>
            </a:r>
            <a:endParaRPr lang="en-US" sz="2000" dirty="0"/>
          </a:p>
        </p:txBody>
      </p:sp>
      <p:sp>
        <p:nvSpPr>
          <p:cNvPr id="17" name="Text 15"/>
          <p:cNvSpPr txBox="1"/>
          <p:nvPr/>
        </p:nvSpPr>
        <p:spPr>
          <a:xfrm>
            <a:off x="6839712" y="1490472"/>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Unit 7: NoSQL and MongoDB</a:t>
            </a:r>
            <a:endParaRPr lang="en-US" sz="1800" dirty="0"/>
          </a:p>
        </p:txBody>
      </p:sp>
      <p:sp>
        <p:nvSpPr>
          <p:cNvPr id="18" name="Shape 16"/>
          <p:cNvSpPr/>
          <p:nvPr/>
        </p:nvSpPr>
        <p:spPr>
          <a:xfrm>
            <a:off x="6309360" y="2404872"/>
            <a:ext cx="384048" cy="384048"/>
          </a:xfrm>
          <a:prstGeom prst="ellipse">
            <a:avLst/>
          </a:prstGeom>
          <a:solidFill>
            <a:srgbClr val="E8A33D"/>
          </a:solidFill>
          <a:ln/>
        </p:spPr>
      </p:sp>
      <p:sp>
        <p:nvSpPr>
          <p:cNvPr id="19" name="Text 17"/>
          <p:cNvSpPr txBox="1"/>
          <p:nvPr/>
        </p:nvSpPr>
        <p:spPr>
          <a:xfrm>
            <a:off x="6309360" y="2404872"/>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6</a:t>
            </a:r>
            <a:endParaRPr lang="en-US" sz="2000" dirty="0"/>
          </a:p>
        </p:txBody>
      </p:sp>
      <p:sp>
        <p:nvSpPr>
          <p:cNvPr id="20" name="Text 18"/>
          <p:cNvSpPr txBox="1"/>
          <p:nvPr/>
        </p:nvSpPr>
        <p:spPr>
          <a:xfrm>
            <a:off x="6839712" y="2331720"/>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Unit 8: Transaction Management</a:t>
            </a:r>
            <a:endParaRPr lang="en-US" sz="1800" dirty="0"/>
          </a:p>
        </p:txBody>
      </p:sp>
      <p:sp>
        <p:nvSpPr>
          <p:cNvPr id="21" name="Shape 19"/>
          <p:cNvSpPr/>
          <p:nvPr/>
        </p:nvSpPr>
        <p:spPr>
          <a:xfrm>
            <a:off x="6309360" y="3246120"/>
            <a:ext cx="384048" cy="384048"/>
          </a:xfrm>
          <a:prstGeom prst="ellipse">
            <a:avLst/>
          </a:prstGeom>
          <a:solidFill>
            <a:srgbClr val="2FE6C4"/>
          </a:solidFill>
          <a:ln/>
        </p:spPr>
      </p:sp>
      <p:sp>
        <p:nvSpPr>
          <p:cNvPr id="22" name="Text 20"/>
          <p:cNvSpPr txBox="1"/>
          <p:nvPr/>
        </p:nvSpPr>
        <p:spPr>
          <a:xfrm>
            <a:off x="6309360" y="3246120"/>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7</a:t>
            </a:r>
            <a:endParaRPr lang="en-US" sz="2000" dirty="0"/>
          </a:p>
        </p:txBody>
      </p:sp>
      <p:sp>
        <p:nvSpPr>
          <p:cNvPr id="23" name="Text 21"/>
          <p:cNvSpPr txBox="1"/>
          <p:nvPr/>
        </p:nvSpPr>
        <p:spPr>
          <a:xfrm>
            <a:off x="6839712" y="3172968"/>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The whole course as one thread, and where it leads next</a:t>
            </a:r>
            <a:endParaRPr lang="en-US" sz="1800" dirty="0"/>
          </a:p>
        </p:txBody>
      </p:sp>
      <p:sp>
        <p:nvSpPr>
          <p:cNvPr id="24" name="Text 2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ONE THREAD THROUGH THE WHOLE COURSE</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Running Example</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3</a:t>
            </a:r>
            <a:endParaRPr lang="en-US" sz="1200" dirty="0"/>
          </a:p>
        </p:txBody>
      </p:sp>
      <p:sp>
        <p:nvSpPr>
          <p:cNvPr id="5" name="Text 3"/>
          <p:cNvSpPr txBox="1"/>
          <p:nvPr/>
        </p:nvSpPr>
        <p:spPr>
          <a:xfrm>
            <a:off x="548640" y="1463040"/>
            <a:ext cx="5669280" cy="1828800"/>
          </a:xfrm>
          <a:prstGeom prst="rect">
            <a:avLst/>
          </a:prstGeom>
          <a:noFill/>
          <a:ln/>
        </p:spPr>
        <p:txBody>
          <a:bodyPr wrap="square" rtlCol="0" anchor="t"/>
          <a:lstStyle/>
          <a:p>
            <a:pPr indent="0" marL="0">
              <a:lnSpc>
                <a:spcPct val="130000"/>
              </a:lnSpc>
              <a:buNone/>
            </a:pPr>
            <a:r>
              <a:rPr lang="en-US" sz="1800" dirty="0">
                <a:solidFill>
                  <a:srgbClr val="1F2429"/>
                </a:solidFill>
                <a:latin typeface="Calibri" pitchFamily="34" charset="0"/>
                <a:ea typeface="Calibri" pitchFamily="34" charset="-122"/>
                <a:cs typeface="Calibri" pitchFamily="34" charset="-120"/>
              </a:rPr>
              <a:t>A university needs to record which students are enrolled in which courses. It's small enough to hold in your head in full, and rich enough that every unit of this course had something genuine to say about it.</a:t>
            </a:r>
            <a:endParaRPr lang="en-US" sz="1800" dirty="0"/>
          </a:p>
        </p:txBody>
      </p:sp>
      <p:sp>
        <p:nvSpPr>
          <p:cNvPr id="6" name="Text 4"/>
          <p:cNvSpPr txBox="1"/>
          <p:nvPr/>
        </p:nvSpPr>
        <p:spPr>
          <a:xfrm>
            <a:off x="548640" y="3474720"/>
            <a:ext cx="5669280" cy="1645920"/>
          </a:xfrm>
          <a:prstGeom prst="rect">
            <a:avLst/>
          </a:prstGeom>
          <a:noFill/>
          <a:ln/>
        </p:spPr>
        <p:txBody>
          <a:bodyPr wrap="square" rtlCol="0" anchor="t"/>
          <a:lstStyle/>
          <a:p>
            <a:pPr indent="0" marL="0">
              <a:lnSpc>
                <a:spcPct val="125000"/>
              </a:lnSpc>
              <a:buNone/>
            </a:pPr>
            <a:r>
              <a:rPr lang="en-US" sz="1800" i="1" dirty="0">
                <a:solidFill>
                  <a:srgbClr val="6B7480"/>
                </a:solidFill>
                <a:latin typeface="Calibri" pitchFamily="34" charset="0"/>
                <a:ea typeface="Calibri" pitchFamily="34" charset="-122"/>
                <a:cs typeface="Calibri" pitchFamily="34" charset="-120"/>
              </a:rPr>
              <a:t>Thirty-one lectures ago, this course opened with a simple question: what actually is a database, and why isn't “just a bunch of files” good enough? This lecture walks back across all eight units to answer it in full.</a:t>
            </a:r>
            <a:endParaRPr lang="en-US" sz="1800" dirty="0"/>
          </a:p>
        </p:txBody>
      </p:sp>
      <p:sp>
        <p:nvSpPr>
          <p:cNvPr id="7" name="Shape 5"/>
          <p:cNvSpPr/>
          <p:nvPr/>
        </p:nvSpPr>
        <p:spPr>
          <a:xfrm>
            <a:off x="6583680" y="1463040"/>
            <a:ext cx="5029200" cy="3749040"/>
          </a:xfrm>
          <a:prstGeom prst="roundRect">
            <a:avLst>
              <a:gd name="adj" fmla="val 1951"/>
            </a:avLst>
          </a:prstGeom>
          <a:solidFill>
            <a:srgbClr val="14181C"/>
          </a:solidFill>
          <a:ln/>
        </p:spPr>
      </p:sp>
      <p:sp>
        <p:nvSpPr>
          <p:cNvPr id="8" name="Text 6"/>
          <p:cNvSpPr txBox="1"/>
          <p:nvPr/>
        </p:nvSpPr>
        <p:spPr>
          <a:xfrm>
            <a:off x="6858000" y="1691640"/>
            <a:ext cx="4480560" cy="274320"/>
          </a:xfrm>
          <a:prstGeom prst="rect">
            <a:avLst/>
          </a:prstGeom>
          <a:noFill/>
          <a:ln/>
        </p:spPr>
        <p:txBody>
          <a:bodyPr wrap="square" rtlCol="0" anchor="ctr"/>
          <a:lstStyle/>
          <a:p>
            <a:pPr indent="0" marL="0">
              <a:buNone/>
            </a:pPr>
            <a:r>
              <a:rPr lang="en-US" sz="2000" b="1" spc="100" kern="0" dirty="0">
                <a:solidFill>
                  <a:srgbClr val="2FE6C4"/>
                </a:solidFill>
                <a:latin typeface="Calibri" pitchFamily="34" charset="0"/>
                <a:ea typeface="Calibri" pitchFamily="34" charset="-122"/>
                <a:cs typeface="Calibri" pitchFamily="34" charset="-120"/>
              </a:rPr>
              <a:t>STUDENT — ENROLLS (M:N) — COURSE</a:t>
            </a:r>
            <a:endParaRPr lang="en-US" sz="2000" dirty="0"/>
          </a:p>
        </p:txBody>
      </p:sp>
      <p:sp>
        <p:nvSpPr>
          <p:cNvPr id="9" name="Text 7"/>
          <p:cNvSpPr txBox="1"/>
          <p:nvPr/>
        </p:nvSpPr>
        <p:spPr>
          <a:xfrm>
            <a:off x="6858000" y="2148840"/>
            <a:ext cx="4480560" cy="2834640"/>
          </a:xfrm>
          <a:prstGeom prst="rect">
            <a:avLst/>
          </a:prstGeom>
          <a:noFill/>
          <a:ln/>
        </p:spPr>
        <p:txBody>
          <a:bodyPr wrap="square" rtlCol="0" anchor="t"/>
          <a:lstStyle/>
          <a:p>
            <a:pPr indent="0" marL="0">
              <a:lnSpc>
                <a:spcPct val="135000"/>
              </a:lnSpc>
              <a:buNone/>
            </a:pPr>
            <a:r>
              <a:rPr lang="en-US" sz="1800" dirty="0">
                <a:solidFill>
                  <a:srgbClr val="FFFFFF"/>
                </a:solidFill>
                <a:latin typeface="Courier New" pitchFamily="34" charset="0"/>
                <a:ea typeface="Courier New" pitchFamily="34" charset="-122"/>
                <a:cs typeface="Courier New" pitchFamily="34" charset="-120"/>
              </a:rPr>
              <a:t>•  studentId, name, major</a:t>
            </a:r>
            <a:endParaRPr lang="en-US" sz="1800" dirty="0"/>
          </a:p>
          <a:p>
            <a:pPr indent="0" marL="0">
              <a:lnSpc>
                <a:spcPct val="135000"/>
              </a:lnSpc>
              <a:buNone/>
            </a:pPr>
            <a:r>
              <a:rPr lang="en-US" sz="1800" dirty="0">
                <a:solidFill>
                  <a:srgbClr val="FFFFFF"/>
                </a:solidFill>
                <a:latin typeface="Courier New" pitchFamily="34" charset="0"/>
                <a:ea typeface="Courier New" pitchFamily="34" charset="-122"/>
                <a:cs typeface="Courier New" pitchFamily="34" charset="-120"/>
              </a:rPr>
              <a:t>•  courseId, title, seatsAvailable</a:t>
            </a:r>
            <a:endParaRPr lang="en-US" sz="1800" dirty="0"/>
          </a:p>
          <a:p>
            <a:pPr indent="0" marL="0">
              <a:lnSpc>
                <a:spcPct val="135000"/>
              </a:lnSpc>
              <a:buNone/>
            </a:pPr>
            <a:r>
              <a:rPr lang="en-US" sz="1800" dirty="0">
                <a:solidFill>
                  <a:srgbClr val="FFFFFF"/>
                </a:solidFill>
                <a:latin typeface="Courier New" pitchFamily="34" charset="0"/>
                <a:ea typeface="Courier New" pitchFamily="34" charset="-122"/>
                <a:cs typeface="Courier New" pitchFamily="34" charset="-120"/>
              </a:rPr>
              <a:t>•  Enrollment(studentId, courseId, grade)</a:t>
            </a:r>
            <a:endParaRPr lang="en-US" sz="1800" dirty="0"/>
          </a:p>
          <a:p>
            <a:pPr indent="0" marL="0">
              <a:lnSpc>
                <a:spcPct val="135000"/>
              </a:lnSpc>
              <a:buNone/>
            </a:pPr>
            <a:endParaRPr lang="en-US" sz="1800" dirty="0"/>
          </a:p>
          <a:p>
            <a:pPr indent="0" marL="0">
              <a:lnSpc>
                <a:spcPct val="135000"/>
              </a:lnSpc>
              <a:buNone/>
            </a:pPr>
            <a:r>
              <a:rPr lang="en-US" sz="1800" dirty="0">
                <a:solidFill>
                  <a:srgbClr val="FFFFFF"/>
                </a:solidFill>
                <a:latin typeface="Courier New" pitchFamily="34" charset="0"/>
                <a:ea typeface="Courier New" pitchFamily="34" charset="-122"/>
                <a:cs typeface="Courier New" pitchFamily="34" charset="-120"/>
              </a:rPr>
              <a:t>“Which CS students are enrolled</a:t>
            </a:r>
            <a:endParaRPr lang="en-US" sz="1800" dirty="0"/>
          </a:p>
          <a:p>
            <a:pPr indent="0" marL="0">
              <a:lnSpc>
                <a:spcPct val="135000"/>
              </a:lnSpc>
              <a:buNone/>
            </a:pPr>
            <a:r>
              <a:rPr lang="en-US" sz="1800" dirty="0">
                <a:solidFill>
                  <a:srgbClr val="FFFFFF"/>
                </a:solidFill>
                <a:latin typeface="Courier New" pitchFamily="34" charset="0"/>
                <a:ea typeface="Courier New" pitchFamily="34" charset="-122"/>
                <a:cs typeface="Courier New" pitchFamily="34" charset="-120"/>
              </a:rPr>
              <a:t>in a Database Systems course?”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1</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1 — Foundations of Database Systems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4</a:t>
            </a:r>
            <a:endParaRPr lang="en-US" sz="1200" dirty="0"/>
          </a:p>
        </p:txBody>
      </p:sp>
      <p:sp>
        <p:nvSpPr>
          <p:cNvPr id="5" name="Text 3"/>
          <p:cNvSpPr txBox="1"/>
          <p:nvPr/>
        </p:nvSpPr>
        <p:spPr>
          <a:xfrm>
            <a:off x="548640" y="1371600"/>
            <a:ext cx="11064240" cy="1188720"/>
          </a:xfrm>
          <a:prstGeom prst="rect">
            <a:avLst/>
          </a:prstGeom>
          <a:noFill/>
          <a:ln/>
        </p:spPr>
        <p:txBody>
          <a:bodyPr wrap="square" rtlCol="0" anchor="t"/>
          <a:lstStyle/>
          <a:p>
            <a:pPr indent="0" marL="0">
              <a:lnSpc>
                <a:spcPct val="128000"/>
              </a:lnSpc>
              <a:buNone/>
            </a:pPr>
            <a:r>
              <a:rPr lang="en-US" sz="1800" dirty="0">
                <a:solidFill>
                  <a:srgbClr val="1F2429"/>
                </a:solidFill>
                <a:latin typeface="Calibri" pitchFamily="34" charset="0"/>
                <a:ea typeface="Calibri" pitchFamily="34" charset="-122"/>
                <a:cs typeface="Calibri" pitchFamily="34" charset="-120"/>
              </a:rPr>
              <a:t>A file-based approach (a plain spreadsheet of student records, another of course records, no coordination) suffers from redundancy, inconsistency, and poor access control. The database approach fixes this with one layer of software between every application and the raw data.</a:t>
            </a:r>
            <a:endParaRPr lang="en-US" sz="1800" dirty="0"/>
          </a:p>
        </p:txBody>
      </p:sp>
      <p:sp>
        <p:nvSpPr>
          <p:cNvPr id="6" name="Shape 4"/>
          <p:cNvSpPr/>
          <p:nvPr/>
        </p:nvSpPr>
        <p:spPr>
          <a:xfrm>
            <a:off x="1645920" y="2834640"/>
            <a:ext cx="4137660" cy="2011680"/>
          </a:xfrm>
          <a:prstGeom prst="roundRect">
            <a:avLst>
              <a:gd name="adj" fmla="val 3636"/>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7" name="Shape 5"/>
          <p:cNvSpPr/>
          <p:nvPr/>
        </p:nvSpPr>
        <p:spPr>
          <a:xfrm>
            <a:off x="1792224" y="2962656"/>
            <a:ext cx="310896" cy="91440"/>
          </a:xfrm>
          <a:prstGeom prst="rect">
            <a:avLst/>
          </a:prstGeom>
          <a:solidFill>
            <a:srgbClr val="2FE6C4"/>
          </a:solidFill>
          <a:ln/>
        </p:spPr>
      </p:sp>
      <p:sp>
        <p:nvSpPr>
          <p:cNvPr id="8" name="Text 6"/>
          <p:cNvSpPr txBox="1"/>
          <p:nvPr/>
        </p:nvSpPr>
        <p:spPr>
          <a:xfrm>
            <a:off x="1792224" y="3108960"/>
            <a:ext cx="3845052" cy="804672"/>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File-Based Approach</a:t>
            </a:r>
            <a:endParaRPr lang="en-US" sz="2000" dirty="0"/>
          </a:p>
        </p:txBody>
      </p:sp>
      <p:sp>
        <p:nvSpPr>
          <p:cNvPr id="9" name="Text 7"/>
          <p:cNvSpPr txBox="1"/>
          <p:nvPr/>
        </p:nvSpPr>
        <p:spPr>
          <a:xfrm>
            <a:off x="1792224" y="3873398"/>
            <a:ext cx="3845052" cy="863194"/>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Each application owns its own files — redundancy, inconsistency, no shared control.</a:t>
            </a:r>
            <a:endParaRPr lang="en-US" sz="1800" dirty="0"/>
          </a:p>
        </p:txBody>
      </p:sp>
      <p:sp>
        <p:nvSpPr>
          <p:cNvPr id="10" name="Shape 8"/>
          <p:cNvSpPr/>
          <p:nvPr/>
        </p:nvSpPr>
        <p:spPr>
          <a:xfrm>
            <a:off x="5783580" y="3840480"/>
            <a:ext cx="411480" cy="0"/>
          </a:xfrm>
          <a:prstGeom prst="line">
            <a:avLst/>
          </a:prstGeom>
          <a:noFill/>
          <a:ln w="25400">
            <a:solidFill>
              <a:srgbClr val="8A939B"/>
            </a:solidFill>
            <a:prstDash val="solid"/>
            <a:tailEnd type="triangle"/>
          </a:ln>
        </p:spPr>
      </p:sp>
      <p:sp>
        <p:nvSpPr>
          <p:cNvPr id="11" name="Shape 9"/>
          <p:cNvSpPr/>
          <p:nvPr/>
        </p:nvSpPr>
        <p:spPr>
          <a:xfrm>
            <a:off x="6195060" y="2834640"/>
            <a:ext cx="4137660" cy="2011680"/>
          </a:xfrm>
          <a:prstGeom prst="roundRect">
            <a:avLst>
              <a:gd name="adj" fmla="val 3636"/>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2" name="Shape 10"/>
          <p:cNvSpPr/>
          <p:nvPr/>
        </p:nvSpPr>
        <p:spPr>
          <a:xfrm>
            <a:off x="6341364" y="2962656"/>
            <a:ext cx="310896" cy="91440"/>
          </a:xfrm>
          <a:prstGeom prst="rect">
            <a:avLst/>
          </a:prstGeom>
          <a:solidFill>
            <a:srgbClr val="8B7FD9"/>
          </a:solidFill>
          <a:ln/>
        </p:spPr>
      </p:sp>
      <p:sp>
        <p:nvSpPr>
          <p:cNvPr id="13" name="Text 11"/>
          <p:cNvSpPr txBox="1"/>
          <p:nvPr/>
        </p:nvSpPr>
        <p:spPr>
          <a:xfrm>
            <a:off x="6341364" y="3108960"/>
            <a:ext cx="3845052" cy="804672"/>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Database Approach</a:t>
            </a:r>
            <a:endParaRPr lang="en-US" sz="2000" dirty="0"/>
          </a:p>
        </p:txBody>
      </p:sp>
      <p:sp>
        <p:nvSpPr>
          <p:cNvPr id="14" name="Text 12"/>
          <p:cNvSpPr txBox="1"/>
          <p:nvPr/>
        </p:nvSpPr>
        <p:spPr>
          <a:xfrm>
            <a:off x="6341364" y="3873398"/>
            <a:ext cx="3845052" cy="863194"/>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One shared repository, managed by a DBMS, used by many applications at once.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LECTURES 5–6</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2 — The Relational Model</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5</a:t>
            </a:r>
            <a:endParaRPr lang="en-US" sz="1200" dirty="0"/>
          </a:p>
        </p:txBody>
      </p:sp>
      <p:sp>
        <p:nvSpPr>
          <p:cNvPr id="5" name="Text 3"/>
          <p:cNvSpPr txBox="1"/>
          <p:nvPr/>
        </p:nvSpPr>
        <p:spPr>
          <a:xfrm>
            <a:off x="548640" y="1371600"/>
            <a:ext cx="11064240" cy="1005840"/>
          </a:xfrm>
          <a:prstGeom prst="rect">
            <a:avLst/>
          </a:prstGeom>
          <a:noFill/>
          <a:ln/>
        </p:spPr>
        <p:txBody>
          <a:bodyPr wrap="square" rtlCol="0" anchor="t"/>
          <a:lstStyle/>
          <a:p>
            <a:pPr indent="0" marL="0">
              <a:lnSpc>
                <a:spcPct val="128000"/>
              </a:lnSpc>
              <a:buNone/>
            </a:pPr>
            <a:r>
              <a:rPr lang="en-US" sz="1800" dirty="0">
                <a:solidFill>
                  <a:srgbClr val="1F2429"/>
                </a:solidFill>
                <a:latin typeface="Calibri" pitchFamily="34" charset="0"/>
                <a:ea typeface="Calibri" pitchFamily="34" charset="-122"/>
                <a:cs typeface="Calibri" pitchFamily="34" charset="-120"/>
              </a:rPr>
              <a:t>Data lives in relations (tables) — sets of tuples (rows) over a fixed set of attributes (columns). Integrity constraints keep a relation trustworthy: domain constraints, entity integrity (no NULL primary key), and referential integrity.</a:t>
            </a:r>
            <a:endParaRPr lang="en-US" sz="1800" dirty="0"/>
          </a:p>
        </p:txBody>
      </p:sp>
      <p:sp>
        <p:nvSpPr>
          <p:cNvPr id="6" name="Text 4"/>
          <p:cNvSpPr txBox="1"/>
          <p:nvPr/>
        </p:nvSpPr>
        <p:spPr>
          <a:xfrm>
            <a:off x="548640" y="2606040"/>
            <a:ext cx="7315200" cy="292608"/>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Student (studentId, name, major)</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7315200" cy="1645920"/>
        </p:xfrm>
        <a:graphic>
          <a:graphicData uri="http://schemas.openxmlformats.org/drawingml/2006/table">
            <a:tbl>
              <a:tblPr/>
              <a:tblGrid>
                <a:gridCol w="2194560"/>
                <a:gridCol w="2743200"/>
                <a:gridCol w="2377440"/>
              </a:tblGrid>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studentId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major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Amina Raza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Computer Science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Bilal Hussain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Computer Science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bl>
          </a:graphicData>
        </a:graphic>
      </p:graphicFrame>
      <p:sp>
        <p:nvSpPr>
          <p:cNvPr id="8" name="Shape 5"/>
          <p:cNvSpPr/>
          <p:nvPr/>
        </p:nvSpPr>
        <p:spPr>
          <a:xfrm>
            <a:off x="8229600" y="2971800"/>
            <a:ext cx="3383280" cy="2743200"/>
          </a:xfrm>
          <a:prstGeom prst="roundRect">
            <a:avLst>
              <a:gd name="adj" fmla="val 2667"/>
            </a:avLst>
          </a:prstGeom>
          <a:solidFill>
            <a:srgbClr val="F1F2F6"/>
          </a:solidFill>
          <a:ln/>
        </p:spPr>
      </p:sp>
      <p:sp>
        <p:nvSpPr>
          <p:cNvPr id="9" name="Text 6"/>
          <p:cNvSpPr txBox="1"/>
          <p:nvPr/>
        </p:nvSpPr>
        <p:spPr>
          <a:xfrm>
            <a:off x="8458200" y="3154680"/>
            <a:ext cx="2926080" cy="2377440"/>
          </a:xfrm>
          <a:prstGeom prst="rect">
            <a:avLst/>
          </a:prstGeom>
          <a:noFill/>
          <a:ln/>
        </p:spPr>
        <p:txBody>
          <a:bodyPr wrap="square" rtlCol="0" anchor="t"/>
          <a:lstStyle/>
          <a:p>
            <a:pPr indent="0" marL="0">
              <a:lnSpc>
                <a:spcPct val="125000"/>
              </a:lnSpc>
              <a:buNone/>
            </a:pPr>
            <a:r>
              <a:rPr lang="en-US" sz="1800" i="1" dirty="0">
                <a:solidFill>
                  <a:srgbClr val="6B7480"/>
                </a:solidFill>
                <a:latin typeface="Calibri" pitchFamily="34" charset="0"/>
                <a:ea typeface="Calibri" pitchFamily="34" charset="-122"/>
                <a:cs typeface="Calibri" pitchFamily="34" charset="-120"/>
              </a:rPr>
              <a:t>Underlined = primary key</a:t>
            </a:r>
            <a:endParaRPr lang="en-US" sz="1800" dirty="0"/>
          </a:p>
          <a:p>
            <a:pPr indent="0" marL="0">
              <a:lnSpc>
                <a:spcPct val="125000"/>
              </a:lnSpc>
              <a:buNone/>
            </a:pPr>
            <a:endParaRPr lang="en-US" sz="1800" dirty="0"/>
          </a:p>
          <a:p>
            <a:pPr indent="0" marL="0">
              <a:lnSpc>
                <a:spcPct val="125000"/>
              </a:lnSpc>
              <a:buNone/>
            </a:pPr>
            <a:r>
              <a:rPr lang="en-US" sz="1800" i="1" dirty="0">
                <a:solidFill>
                  <a:srgbClr val="6B7480"/>
                </a:solidFill>
                <a:latin typeface="Calibri" pitchFamily="34" charset="0"/>
                <a:ea typeface="Calibri" pitchFamily="34" charset="-122"/>
                <a:cs typeface="Calibri" pitchFamily="34" charset="-120"/>
              </a:rPr>
              <a:t>Domain, entity, and referential integrity all apply to this one relation.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7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3 — Relational Algebra and Calculus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6</a:t>
            </a:r>
            <a:endParaRPr lang="en-US" sz="1200" dirty="0"/>
          </a:p>
        </p:txBody>
      </p:sp>
      <p:sp>
        <p:nvSpPr>
          <p:cNvPr id="5" name="Text 3"/>
          <p:cNvSpPr txBox="1"/>
          <p:nvPr/>
        </p:nvSpPr>
        <p:spPr>
          <a:xfrm>
            <a:off x="548640" y="1371600"/>
            <a:ext cx="11064240" cy="1005840"/>
          </a:xfrm>
          <a:prstGeom prst="rect">
            <a:avLst/>
          </a:prstGeom>
          <a:noFill/>
          <a:ln/>
        </p:spPr>
        <p:txBody>
          <a:bodyPr wrap="square" rtlCol="0" anchor="t"/>
          <a:lstStyle/>
          <a:p>
            <a:pPr indent="0" marL="0">
              <a:lnSpc>
                <a:spcPct val="128000"/>
              </a:lnSpc>
              <a:buNone/>
            </a:pPr>
            <a:r>
              <a:rPr lang="en-US" sz="1800" dirty="0">
                <a:solidFill>
                  <a:srgbClr val="1F2429"/>
                </a:solidFill>
                <a:latin typeface="Calibri" pitchFamily="34" charset="0"/>
                <a:ea typeface="Calibri" pitchFamily="34" charset="-122"/>
                <a:cs typeface="Calibri" pitchFamily="34" charset="-120"/>
              </a:rPr>
              <a:t>A formal query language built from a small set of operators — selection, projection, join, union, division — each taking whole relations as input and producing a relation as output. That's exactly what lets these operators compose.</a:t>
            </a:r>
            <a:endParaRPr lang="en-US" sz="1800" dirty="0"/>
          </a:p>
        </p:txBody>
      </p:sp>
      <p:sp>
        <p:nvSpPr>
          <p:cNvPr id="6" name="Text 4"/>
          <p:cNvSpPr txBox="1"/>
          <p:nvPr/>
        </p:nvSpPr>
        <p:spPr>
          <a:xfrm>
            <a:off x="548640" y="2468880"/>
            <a:ext cx="11064240" cy="411480"/>
          </a:xfrm>
          <a:prstGeom prst="rect">
            <a:avLst/>
          </a:prstGeom>
          <a:noFill/>
          <a:ln/>
        </p:spPr>
        <p:txBody>
          <a:bodyPr wrap="square" rtlCol="0" anchor="ctr"/>
          <a:lstStyle/>
          <a:p>
            <a:pPr indent="0" marL="0">
              <a:buNone/>
            </a:pPr>
            <a:r>
              <a:rPr lang="en-US" sz="1800" b="1" i="1" dirty="0">
                <a:solidFill>
                  <a:srgbClr val="8B7FD9"/>
                </a:solidFill>
                <a:latin typeface="Calibri" pitchFamily="34" charset="0"/>
                <a:ea typeface="Calibri" pitchFamily="34" charset="-122"/>
                <a:cs typeface="Calibri" pitchFamily="34" charset="-120"/>
              </a:rPr>
              <a:t>“Which Computer Science students are enrolled in a Database Systems course?”</a:t>
            </a:r>
            <a:endParaRPr lang="en-US" sz="1800" dirty="0"/>
          </a:p>
        </p:txBody>
      </p:sp>
      <p:sp>
        <p:nvSpPr>
          <p:cNvPr id="7" name="Shape 5"/>
          <p:cNvSpPr/>
          <p:nvPr/>
        </p:nvSpPr>
        <p:spPr>
          <a:xfrm>
            <a:off x="548640" y="3063240"/>
            <a:ext cx="3413760" cy="1920240"/>
          </a:xfrm>
          <a:prstGeom prst="roundRect">
            <a:avLst>
              <a:gd name="adj" fmla="val 3810"/>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8" name="Shape 6"/>
          <p:cNvSpPr/>
          <p:nvPr/>
        </p:nvSpPr>
        <p:spPr>
          <a:xfrm>
            <a:off x="694944" y="3191256"/>
            <a:ext cx="310896" cy="91440"/>
          </a:xfrm>
          <a:prstGeom prst="rect">
            <a:avLst/>
          </a:prstGeom>
          <a:solidFill>
            <a:srgbClr val="2FE6C4"/>
          </a:solidFill>
          <a:ln/>
        </p:spPr>
      </p:sp>
      <p:sp>
        <p:nvSpPr>
          <p:cNvPr id="9" name="Text 7"/>
          <p:cNvSpPr txBox="1"/>
          <p:nvPr/>
        </p:nvSpPr>
        <p:spPr>
          <a:xfrm>
            <a:off x="694944" y="333756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σ (Selection)</a:t>
            </a:r>
            <a:endParaRPr lang="en-US" sz="2000" dirty="0"/>
          </a:p>
        </p:txBody>
      </p:sp>
      <p:sp>
        <p:nvSpPr>
          <p:cNvPr id="10" name="Text 8"/>
          <p:cNvSpPr txBox="1"/>
          <p:nvPr/>
        </p:nvSpPr>
        <p:spPr>
          <a:xfrm>
            <a:off x="694944" y="4067251"/>
            <a:ext cx="3121152" cy="806501"/>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major = 'Computer Science'</a:t>
            </a:r>
            <a:endParaRPr lang="en-US" sz="1800" dirty="0"/>
          </a:p>
        </p:txBody>
      </p:sp>
      <p:sp>
        <p:nvSpPr>
          <p:cNvPr id="11" name="Shape 9"/>
          <p:cNvSpPr/>
          <p:nvPr/>
        </p:nvSpPr>
        <p:spPr>
          <a:xfrm>
            <a:off x="3962400" y="4023360"/>
            <a:ext cx="411480" cy="0"/>
          </a:xfrm>
          <a:prstGeom prst="line">
            <a:avLst/>
          </a:prstGeom>
          <a:noFill/>
          <a:ln w="25400">
            <a:solidFill>
              <a:srgbClr val="8A939B"/>
            </a:solidFill>
            <a:prstDash val="solid"/>
            <a:tailEnd type="triangle"/>
          </a:ln>
        </p:spPr>
      </p:sp>
      <p:sp>
        <p:nvSpPr>
          <p:cNvPr id="12" name="Shape 10"/>
          <p:cNvSpPr/>
          <p:nvPr/>
        </p:nvSpPr>
        <p:spPr>
          <a:xfrm>
            <a:off x="4373880" y="3063240"/>
            <a:ext cx="3413760" cy="1920240"/>
          </a:xfrm>
          <a:prstGeom prst="roundRect">
            <a:avLst>
              <a:gd name="adj" fmla="val 3810"/>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3" name="Shape 11"/>
          <p:cNvSpPr/>
          <p:nvPr/>
        </p:nvSpPr>
        <p:spPr>
          <a:xfrm>
            <a:off x="4520184" y="3191256"/>
            <a:ext cx="310896" cy="91440"/>
          </a:xfrm>
          <a:prstGeom prst="rect">
            <a:avLst/>
          </a:prstGeom>
          <a:solidFill>
            <a:srgbClr val="8B7FD9"/>
          </a:solidFill>
          <a:ln/>
        </p:spPr>
      </p:sp>
      <p:sp>
        <p:nvSpPr>
          <p:cNvPr id="14" name="Text 12"/>
          <p:cNvSpPr txBox="1"/>
          <p:nvPr/>
        </p:nvSpPr>
        <p:spPr>
          <a:xfrm>
            <a:off x="4520184" y="333756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 (Join)</a:t>
            </a:r>
            <a:endParaRPr lang="en-US" sz="2000" dirty="0"/>
          </a:p>
        </p:txBody>
      </p:sp>
      <p:sp>
        <p:nvSpPr>
          <p:cNvPr id="15" name="Text 13"/>
          <p:cNvSpPr txBox="1"/>
          <p:nvPr/>
        </p:nvSpPr>
        <p:spPr>
          <a:xfrm>
            <a:off x="4520184" y="4067251"/>
            <a:ext cx="3121152" cy="806501"/>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Student ⋈ Enrollment ⋈ Course</a:t>
            </a:r>
            <a:endParaRPr lang="en-US" sz="1800" dirty="0"/>
          </a:p>
        </p:txBody>
      </p:sp>
      <p:sp>
        <p:nvSpPr>
          <p:cNvPr id="16" name="Shape 14"/>
          <p:cNvSpPr/>
          <p:nvPr/>
        </p:nvSpPr>
        <p:spPr>
          <a:xfrm>
            <a:off x="7787640" y="4023360"/>
            <a:ext cx="411480" cy="0"/>
          </a:xfrm>
          <a:prstGeom prst="line">
            <a:avLst/>
          </a:prstGeom>
          <a:noFill/>
          <a:ln w="25400">
            <a:solidFill>
              <a:srgbClr val="8A939B"/>
            </a:solidFill>
            <a:prstDash val="solid"/>
            <a:tailEnd type="triangle"/>
          </a:ln>
        </p:spPr>
      </p:sp>
      <p:sp>
        <p:nvSpPr>
          <p:cNvPr id="17" name="Shape 15"/>
          <p:cNvSpPr/>
          <p:nvPr/>
        </p:nvSpPr>
        <p:spPr>
          <a:xfrm>
            <a:off x="8199120" y="3063240"/>
            <a:ext cx="3413760" cy="1920240"/>
          </a:xfrm>
          <a:prstGeom prst="roundRect">
            <a:avLst>
              <a:gd name="adj" fmla="val 3810"/>
            </a:avLst>
          </a:prstGeom>
          <a:solidFill>
            <a:srgbClr val="FFFFFF"/>
          </a:solidFill>
          <a:ln w="22225">
            <a:solidFill>
              <a:srgbClr val="E8A33D"/>
            </a:solidFill>
            <a:prstDash val="solid"/>
          </a:ln>
          <a:effectLst>
            <a:outerShdw sx="100000" sy="100000" kx="0" ky="0" algn="bl" rotWithShape="0" blurRad="76200" dist="25400" dir="5400000">
              <a:srgbClr val="1F2429">
                <a:alpha val="18000"/>
              </a:srgbClr>
            </a:outerShdw>
          </a:effectLst>
        </p:spPr>
      </p:sp>
      <p:sp>
        <p:nvSpPr>
          <p:cNvPr id="18" name="Shape 16"/>
          <p:cNvSpPr/>
          <p:nvPr/>
        </p:nvSpPr>
        <p:spPr>
          <a:xfrm>
            <a:off x="8345424" y="3191256"/>
            <a:ext cx="310896" cy="91440"/>
          </a:xfrm>
          <a:prstGeom prst="rect">
            <a:avLst/>
          </a:prstGeom>
          <a:solidFill>
            <a:srgbClr val="E8A33D"/>
          </a:solidFill>
          <a:ln/>
        </p:spPr>
      </p:sp>
      <p:sp>
        <p:nvSpPr>
          <p:cNvPr id="19" name="Text 17"/>
          <p:cNvSpPr txBox="1"/>
          <p:nvPr/>
        </p:nvSpPr>
        <p:spPr>
          <a:xfrm>
            <a:off x="8345424" y="333756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π (Projection)</a:t>
            </a:r>
            <a:endParaRPr lang="en-US" sz="2000" dirty="0"/>
          </a:p>
        </p:txBody>
      </p:sp>
      <p:sp>
        <p:nvSpPr>
          <p:cNvPr id="20" name="Text 18"/>
          <p:cNvSpPr txBox="1"/>
          <p:nvPr/>
        </p:nvSpPr>
        <p:spPr>
          <a:xfrm>
            <a:off x="8345424" y="4067251"/>
            <a:ext cx="3121152" cy="806501"/>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name, courseTitle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11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4 — Data Modeling: ER and EER</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7</a:t>
            </a:r>
            <a:endParaRPr lang="en-US" sz="1200" dirty="0"/>
          </a:p>
        </p:txBody>
      </p:sp>
      <p:sp>
        <p:nvSpPr>
          <p:cNvPr id="5" name="Text 3"/>
          <p:cNvSpPr txBox="1"/>
          <p:nvPr/>
        </p:nvSpPr>
        <p:spPr>
          <a:xfrm>
            <a:off x="548640" y="1371600"/>
            <a:ext cx="11064240" cy="914400"/>
          </a:xfrm>
          <a:prstGeom prst="rect">
            <a:avLst/>
          </a:prstGeom>
          <a:noFill/>
          <a:ln/>
        </p:spPr>
        <p:txBody>
          <a:bodyPr wrap="square" rtlCol="0" anchor="t"/>
          <a:lstStyle/>
          <a:p>
            <a:pPr indent="0" marL="0">
              <a:lnSpc>
                <a:spcPct val="128000"/>
              </a:lnSpc>
              <a:buNone/>
            </a:pPr>
            <a:r>
              <a:rPr lang="en-US" sz="1800" dirty="0">
                <a:solidFill>
                  <a:srgbClr val="1F2429"/>
                </a:solidFill>
                <a:latin typeface="Calibri" pitchFamily="34" charset="0"/>
                <a:ea typeface="Calibri" pitchFamily="34" charset="-122"/>
                <a:cs typeface="Calibri" pitchFamily="34" charset="-120"/>
              </a:rPr>
              <a:t>The running example first takes shape here, at the conceptual level: Student and Course as entities, connected by an Enrolls relationship with M:N cardinality — refined further with EER tools like specialization where needed.</a:t>
            </a:r>
            <a:endParaRPr lang="en-US" sz="1800" dirty="0"/>
          </a:p>
        </p:txBody>
      </p:sp>
      <p:sp>
        <p:nvSpPr>
          <p:cNvPr id="6" name="Shape 4"/>
          <p:cNvSpPr/>
          <p:nvPr/>
        </p:nvSpPr>
        <p:spPr>
          <a:xfrm>
            <a:off x="914400" y="2651760"/>
            <a:ext cx="3291840" cy="2468880"/>
          </a:xfrm>
          <a:prstGeom prst="roundRect">
            <a:avLst>
              <a:gd name="adj" fmla="val 2963"/>
            </a:avLst>
          </a:prstGeom>
          <a:solidFill>
            <a:srgbClr val="FFFFFF"/>
          </a:solidFill>
          <a:ln w="25400">
            <a:solidFill>
              <a:srgbClr val="2FE6C4"/>
            </a:solidFill>
            <a:prstDash val="solid"/>
          </a:ln>
        </p:spPr>
      </p:sp>
      <p:sp>
        <p:nvSpPr>
          <p:cNvPr id="7" name="Text 5"/>
          <p:cNvSpPr txBox="1"/>
          <p:nvPr/>
        </p:nvSpPr>
        <p:spPr>
          <a:xfrm>
            <a:off x="1097280" y="2788920"/>
            <a:ext cx="2926080" cy="3657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Student</a:t>
            </a:r>
            <a:endParaRPr lang="en-US" sz="2000" dirty="0"/>
          </a:p>
        </p:txBody>
      </p:sp>
      <p:sp>
        <p:nvSpPr>
          <p:cNvPr id="8" name="Text 6"/>
          <p:cNvSpPr txBox="1"/>
          <p:nvPr/>
        </p:nvSpPr>
        <p:spPr>
          <a:xfrm>
            <a:off x="1097280" y="3246120"/>
            <a:ext cx="2926080" cy="1737360"/>
          </a:xfrm>
          <a:prstGeom prst="rect">
            <a:avLst/>
          </a:prstGeom>
          <a:noFill/>
          <a:ln/>
        </p:spPr>
        <p:txBody>
          <a:bodyPr wrap="square" rtlCol="0" anchor="t"/>
          <a:lstStyle/>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studentId (PK)</a:t>
            </a:r>
            <a:endParaRPr lang="en-US" sz="1800" dirty="0"/>
          </a:p>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name</a:t>
            </a:r>
            <a:endParaRPr lang="en-US" sz="1800" dirty="0"/>
          </a:p>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major</a:t>
            </a:r>
            <a:endParaRPr lang="en-US" sz="1800" dirty="0"/>
          </a:p>
        </p:txBody>
      </p:sp>
      <p:sp>
        <p:nvSpPr>
          <p:cNvPr id="9" name="Shape 7"/>
          <p:cNvSpPr/>
          <p:nvPr/>
        </p:nvSpPr>
        <p:spPr>
          <a:xfrm>
            <a:off x="7955280" y="2651760"/>
            <a:ext cx="3291840" cy="2468880"/>
          </a:xfrm>
          <a:prstGeom prst="roundRect">
            <a:avLst>
              <a:gd name="adj" fmla="val 2963"/>
            </a:avLst>
          </a:prstGeom>
          <a:solidFill>
            <a:srgbClr val="FFFFFF"/>
          </a:solidFill>
          <a:ln w="25400">
            <a:solidFill>
              <a:srgbClr val="E8A33D"/>
            </a:solidFill>
            <a:prstDash val="solid"/>
          </a:ln>
        </p:spPr>
      </p:sp>
      <p:sp>
        <p:nvSpPr>
          <p:cNvPr id="10" name="Text 8"/>
          <p:cNvSpPr txBox="1"/>
          <p:nvPr/>
        </p:nvSpPr>
        <p:spPr>
          <a:xfrm>
            <a:off x="8138160" y="2788920"/>
            <a:ext cx="2926080" cy="3657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Course</a:t>
            </a:r>
            <a:endParaRPr lang="en-US" sz="2000" dirty="0"/>
          </a:p>
        </p:txBody>
      </p:sp>
      <p:sp>
        <p:nvSpPr>
          <p:cNvPr id="11" name="Text 9"/>
          <p:cNvSpPr txBox="1"/>
          <p:nvPr/>
        </p:nvSpPr>
        <p:spPr>
          <a:xfrm>
            <a:off x="8138160" y="3246120"/>
            <a:ext cx="2926080" cy="1737360"/>
          </a:xfrm>
          <a:prstGeom prst="rect">
            <a:avLst/>
          </a:prstGeom>
          <a:noFill/>
          <a:ln/>
        </p:spPr>
        <p:txBody>
          <a:bodyPr wrap="square" rtlCol="0" anchor="t"/>
          <a:lstStyle/>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courseId (PK)</a:t>
            </a:r>
            <a:endParaRPr lang="en-US" sz="1800" dirty="0"/>
          </a:p>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title</a:t>
            </a:r>
            <a:endParaRPr lang="en-US" sz="1800" dirty="0"/>
          </a:p>
          <a:p>
            <a:pPr indent="0" marL="0">
              <a:lnSpc>
                <a:spcPct val="150000"/>
              </a:lnSpc>
              <a:buNone/>
            </a:pPr>
            <a:r>
              <a:rPr lang="en-US" sz="1800" dirty="0">
                <a:solidFill>
                  <a:srgbClr val="6B7480"/>
                </a:solidFill>
                <a:latin typeface="Calibri" pitchFamily="34" charset="0"/>
                <a:ea typeface="Calibri" pitchFamily="34" charset="-122"/>
                <a:cs typeface="Calibri" pitchFamily="34" charset="-120"/>
              </a:rPr>
              <a:t>seatsAvailable</a:t>
            </a:r>
            <a:endParaRPr lang="en-US" sz="1800" dirty="0"/>
          </a:p>
        </p:txBody>
      </p:sp>
      <p:sp>
        <p:nvSpPr>
          <p:cNvPr id="12" name="Shape 10"/>
          <p:cNvSpPr/>
          <p:nvPr/>
        </p:nvSpPr>
        <p:spPr>
          <a:xfrm>
            <a:off x="4206240" y="3886200"/>
            <a:ext cx="3749040" cy="0"/>
          </a:xfrm>
          <a:prstGeom prst="line">
            <a:avLst/>
          </a:prstGeom>
          <a:noFill/>
          <a:ln w="31750">
            <a:solidFill>
              <a:srgbClr val="8B7FD9"/>
            </a:solidFill>
            <a:prstDash val="solid"/>
          </a:ln>
        </p:spPr>
      </p:sp>
      <p:sp>
        <p:nvSpPr>
          <p:cNvPr id="13" name="Shape 11"/>
          <p:cNvSpPr/>
          <p:nvPr/>
        </p:nvSpPr>
        <p:spPr>
          <a:xfrm>
            <a:off x="4892040" y="3566160"/>
            <a:ext cx="2377440" cy="640080"/>
          </a:xfrm>
          <a:prstGeom prst="roundRect">
            <a:avLst>
              <a:gd name="adj" fmla="val 14286"/>
            </a:avLst>
          </a:prstGeom>
          <a:solidFill>
            <a:srgbClr val="8B7FD9"/>
          </a:solidFill>
          <a:ln/>
        </p:spPr>
      </p:sp>
      <p:sp>
        <p:nvSpPr>
          <p:cNvPr id="14" name="Text 12"/>
          <p:cNvSpPr txBox="1"/>
          <p:nvPr/>
        </p:nvSpPr>
        <p:spPr>
          <a:xfrm>
            <a:off x="4892040" y="3566160"/>
            <a:ext cx="237744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Enrolls</a:t>
            </a:r>
            <a:endParaRPr lang="en-US" sz="2000" dirty="0"/>
          </a:p>
        </p:txBody>
      </p:sp>
      <p:sp>
        <p:nvSpPr>
          <p:cNvPr id="15" name="Shape 13"/>
          <p:cNvSpPr/>
          <p:nvPr/>
        </p:nvSpPr>
        <p:spPr>
          <a:xfrm>
            <a:off x="4297680" y="3383280"/>
            <a:ext cx="365760" cy="365760"/>
          </a:xfrm>
          <a:prstGeom prst="ellipse">
            <a:avLst/>
          </a:prstGeom>
          <a:solidFill>
            <a:srgbClr val="2FE6C4"/>
          </a:solidFill>
          <a:ln/>
        </p:spPr>
      </p:sp>
      <p:sp>
        <p:nvSpPr>
          <p:cNvPr id="16" name="Text 14"/>
          <p:cNvSpPr txBox="1"/>
          <p:nvPr/>
        </p:nvSpPr>
        <p:spPr>
          <a:xfrm>
            <a:off x="4297680" y="3383280"/>
            <a:ext cx="365760" cy="365760"/>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M</a:t>
            </a:r>
            <a:endParaRPr lang="en-US" sz="2000" dirty="0"/>
          </a:p>
        </p:txBody>
      </p:sp>
      <p:sp>
        <p:nvSpPr>
          <p:cNvPr id="17" name="Shape 15"/>
          <p:cNvSpPr/>
          <p:nvPr/>
        </p:nvSpPr>
        <p:spPr>
          <a:xfrm>
            <a:off x="7498080" y="3383280"/>
            <a:ext cx="365760" cy="365760"/>
          </a:xfrm>
          <a:prstGeom prst="ellipse">
            <a:avLst/>
          </a:prstGeom>
          <a:solidFill>
            <a:srgbClr val="E8A33D"/>
          </a:solidFill>
          <a:ln/>
        </p:spPr>
      </p:sp>
      <p:sp>
        <p:nvSpPr>
          <p:cNvPr id="18" name="Text 16"/>
          <p:cNvSpPr txBox="1"/>
          <p:nvPr/>
        </p:nvSpPr>
        <p:spPr>
          <a:xfrm>
            <a:off x="7498080" y="3383280"/>
            <a:ext cx="365760" cy="365760"/>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18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5 — Normalization, Part 1: The Problem</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8</a:t>
            </a:r>
            <a:endParaRPr lang="en-US" sz="1200" dirty="0"/>
          </a:p>
        </p:txBody>
      </p:sp>
      <p:sp>
        <p:nvSpPr>
          <p:cNvPr id="5" name="Text 3"/>
          <p:cNvSpPr txBox="1"/>
          <p:nvPr/>
        </p:nvSpPr>
        <p:spPr>
          <a:xfrm>
            <a:off x="548640" y="1325880"/>
            <a:ext cx="11064240" cy="120000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A naive single table repeats the student's name and course's title on every row — the update-anomaly risk normalization exists to eliminate. Decomposing it into 1NF → 2NF → 3NF form removes the redundancy entirely.</a:t>
            </a:r>
            <a:endParaRPr lang="en-US" sz="1800" dirty="0"/>
          </a:p>
        </p:txBody>
      </p:sp>
      <p:sp>
        <p:nvSpPr>
          <p:cNvPr id="6" name="Text 4"/>
          <p:cNvSpPr txBox="1"/>
          <p:nvPr/>
        </p:nvSpPr>
        <p:spPr>
          <a:xfrm>
            <a:off x="548640" y="2721960"/>
            <a:ext cx="11064240" cy="338328"/>
          </a:xfrm>
          <a:prstGeom prst="rect">
            <a:avLst/>
          </a:prstGeom>
          <a:noFill/>
          <a:ln/>
        </p:spPr>
        <p:txBody>
          <a:bodyPr wrap="square"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Unnormalized — repeats name and title</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203064"/>
          <a:ext cx="11064240" cy="2800000"/>
        </p:xfrm>
        <a:graphic>
          <a:graphicData uri="http://schemas.openxmlformats.org/drawingml/2006/table">
            <a:tbl>
              <a:tblPr/>
              <a:tblGrid>
                <a:gridCol w="1969060"/>
                <a:gridCol w="2625413"/>
                <a:gridCol w="1781530"/>
                <a:gridCol w="3188001"/>
                <a:gridCol w="1500236"/>
              </a:tblGrid>
              <a:tr h="933333">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studentId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courseId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title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grade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r>
              <a:tr h="933333">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Amina Raza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CS270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Database Systems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933333">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Amina Raza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CS211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Algorithms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23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6 — Views &amp; Security (Part 1 of 2)</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10</a:t>
            </a:r>
            <a:endParaRPr lang="en-US" sz="1200" dirty="0"/>
          </a:p>
        </p:txBody>
      </p:sp>
      <p:sp>
        <p:nvSpPr>
          <p:cNvPr id="5" name="Text 3"/>
          <p:cNvSpPr txBox="1"/>
          <p:nvPr/>
        </p:nvSpPr>
        <p:spPr>
          <a:xfrm>
            <a:off x="548640" y="1325880"/>
            <a:ext cx="5212080" cy="45720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Operationalizing the normalized schema for real applications.</a:t>
            </a:r>
            <a:endParaRPr lang="en-US" sz="1800" dirty="0"/>
          </a:p>
        </p:txBody>
      </p:sp>
      <p:sp>
        <p:nvSpPr>
          <p:cNvPr id="6" name="Text 4"/>
          <p:cNvSpPr txBox="1"/>
          <p:nvPr/>
        </p:nvSpPr>
        <p:spPr>
          <a:xfrm>
            <a:off x="548640" y="1828800"/>
            <a:ext cx="5212080" cy="2560320"/>
          </a:xfrm>
          <a:prstGeom prst="rect">
            <a:avLst/>
          </a:prstGeom>
          <a:noFill/>
          <a:ln/>
        </p:spPr>
        <p:txBody>
          <a:bodyPr wrap="square" rtlCol="0" anchor="t"/>
          <a:lstStyle/>
          <a:p>
            <a:pPr indent="0" marL="0">
              <a:lnSpc>
                <a:spcPct val="130000"/>
              </a:lnSpc>
              <a:buNone/>
            </a:pPr>
            <a:r>
              <a:rPr lang="en-US" sz="1800" dirty="0">
                <a:solidFill>
                  <a:srgbClr val="1F2429"/>
                </a:solidFill>
                <a:latin typeface="Calibri" pitchFamily="34" charset="0"/>
                <a:ea typeface="Calibri" pitchFamily="34" charset="-122"/>
                <a:cs typeface="Calibri" pitchFamily="34" charset="-120"/>
              </a:rPr>
              <a:t>A view exposes a student's transcript (Student ⋈ Enrollment ⋈ Course — the same join from Unit 3) as one queryable object; a GRANT limits who can read it.</a:t>
            </a:r>
            <a:endParaRPr lang="en-US" sz="1800" dirty="0"/>
          </a:p>
        </p:txBody>
      </p:sp>
      <p:sp>
        <p:nvSpPr>
          <p:cNvPr id="7" name="Shape 5"/>
          <p:cNvSpPr/>
          <p:nvPr/>
        </p:nvSpPr>
        <p:spPr>
          <a:xfrm>
            <a:off x="6172200" y="1325880"/>
            <a:ext cx="5486400" cy="1520952"/>
          </a:xfrm>
          <a:prstGeom prst="roundRect">
            <a:avLst>
              <a:gd name="adj" fmla="val 4810"/>
            </a:avLst>
          </a:prstGeom>
          <a:solidFill>
            <a:srgbClr val="FFFFFF"/>
          </a:solidFill>
          <a:ln w="22225">
            <a:solidFill>
              <a:srgbClr val="2FE6C4"/>
            </a:solidFill>
            <a:prstDash val="solid"/>
          </a:ln>
          <a:effectLst>
            <a:outerShdw sx="100000" sy="100000" kx="0" ky="0" algn="bl" rotWithShape="0" blurRad="76200" dist="25400" dir="5400000">
              <a:srgbClr val="1F2429">
                <a:alpha val="16000"/>
              </a:srgbClr>
            </a:outerShdw>
          </a:effectLst>
        </p:spPr>
      </p:sp>
      <p:sp>
        <p:nvSpPr>
          <p:cNvPr id="8" name="Shape 6"/>
          <p:cNvSpPr/>
          <p:nvPr/>
        </p:nvSpPr>
        <p:spPr>
          <a:xfrm>
            <a:off x="6318504" y="1885188"/>
            <a:ext cx="91440" cy="310896"/>
          </a:xfrm>
          <a:prstGeom prst="rect">
            <a:avLst/>
          </a:prstGeom>
          <a:solidFill>
            <a:srgbClr val="2FE6C4"/>
          </a:solidFill>
          <a:ln/>
        </p:spPr>
      </p:sp>
      <p:sp>
        <p:nvSpPr>
          <p:cNvPr id="9" name="Text 7"/>
          <p:cNvSpPr txBox="1"/>
          <p:nvPr/>
        </p:nvSpPr>
        <p:spPr>
          <a:xfrm>
            <a:off x="6537960" y="1399032"/>
            <a:ext cx="493776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VIEW StudentTranscript</a:t>
            </a:r>
            <a:endParaRPr lang="en-US" sz="2000" dirty="0"/>
          </a:p>
        </p:txBody>
      </p:sp>
      <p:sp>
        <p:nvSpPr>
          <p:cNvPr id="10" name="Text 8"/>
          <p:cNvSpPr txBox="1"/>
          <p:nvPr/>
        </p:nvSpPr>
        <p:spPr>
          <a:xfrm>
            <a:off x="6537960" y="1964680"/>
            <a:ext cx="493776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Student ⋈ Enrollment ⋈ Course, exposed as one queryable object.</a:t>
            </a:r>
            <a:endParaRPr lang="en-US" sz="1800" dirty="0"/>
          </a:p>
        </p:txBody>
      </p:sp>
      <p:sp>
        <p:nvSpPr>
          <p:cNvPr id="11" name="Shape 9"/>
          <p:cNvSpPr/>
          <p:nvPr/>
        </p:nvSpPr>
        <p:spPr>
          <a:xfrm>
            <a:off x="8915400" y="2846832"/>
            <a:ext cx="0" cy="256032"/>
          </a:xfrm>
          <a:prstGeom prst="line">
            <a:avLst/>
          </a:prstGeom>
          <a:noFill/>
          <a:ln w="25400">
            <a:solidFill>
              <a:srgbClr val="8A939B"/>
            </a:solidFill>
            <a:prstDash val="solid"/>
            <a:tailEnd type="triangle"/>
          </a:ln>
        </p:spPr>
      </p:sp>
      <p:sp>
        <p:nvSpPr>
          <p:cNvPr id="12" name="Shape 10"/>
          <p:cNvSpPr/>
          <p:nvPr/>
        </p:nvSpPr>
        <p:spPr>
          <a:xfrm>
            <a:off x="6172200" y="3102864"/>
            <a:ext cx="5486400" cy="1520952"/>
          </a:xfrm>
          <a:prstGeom prst="roundRect">
            <a:avLst>
              <a:gd name="adj" fmla="val 4810"/>
            </a:avLst>
          </a:prstGeom>
          <a:solidFill>
            <a:srgbClr val="FFFFFF"/>
          </a:solidFill>
          <a:ln w="22225">
            <a:solidFill>
              <a:srgbClr val="8B7FD9"/>
            </a:solidFill>
            <a:prstDash val="solid"/>
          </a:ln>
          <a:effectLst>
            <a:outerShdw sx="100000" sy="100000" kx="0" ky="0" algn="bl" rotWithShape="0" blurRad="76200" dist="25400" dir="5400000">
              <a:srgbClr val="1F2429">
                <a:alpha val="16000"/>
              </a:srgbClr>
            </a:outerShdw>
          </a:effectLst>
        </p:spPr>
      </p:sp>
      <p:sp>
        <p:nvSpPr>
          <p:cNvPr id="13" name="Shape 11"/>
          <p:cNvSpPr/>
          <p:nvPr/>
        </p:nvSpPr>
        <p:spPr>
          <a:xfrm>
            <a:off x="6318504" y="3662172"/>
            <a:ext cx="91440" cy="310896"/>
          </a:xfrm>
          <a:prstGeom prst="rect">
            <a:avLst/>
          </a:prstGeom>
          <a:solidFill>
            <a:srgbClr val="8B7FD9"/>
          </a:solidFill>
          <a:ln/>
        </p:spPr>
      </p:sp>
      <p:sp>
        <p:nvSpPr>
          <p:cNvPr id="14" name="Text 12"/>
          <p:cNvSpPr txBox="1"/>
          <p:nvPr/>
        </p:nvSpPr>
        <p:spPr>
          <a:xfrm>
            <a:off x="6537960" y="3176016"/>
            <a:ext cx="493776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GRANT SELECT ... TO registrar_staff</a:t>
            </a:r>
            <a:endParaRPr lang="en-US" sz="2000" dirty="0"/>
          </a:p>
        </p:txBody>
      </p:sp>
      <p:sp>
        <p:nvSpPr>
          <p:cNvPr id="15" name="Text 13"/>
          <p:cNvSpPr txBox="1"/>
          <p:nvPr/>
        </p:nvSpPr>
        <p:spPr>
          <a:xfrm>
            <a:off x="6537960" y="3741664"/>
            <a:ext cx="493776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Restricts who can read the view.</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26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7 — NoSQL and MongoDB</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12</a:t>
            </a:r>
            <a:endParaRPr lang="en-US" sz="1200" dirty="0"/>
          </a:p>
        </p:txBody>
      </p:sp>
      <p:sp>
        <p:nvSpPr>
          <p:cNvPr id="5" name="Text 3"/>
          <p:cNvSpPr txBox="1"/>
          <p:nvPr/>
        </p:nvSpPr>
        <p:spPr>
          <a:xfrm>
            <a:off x="548640" y="1371600"/>
            <a:ext cx="4480560" cy="2834640"/>
          </a:xfrm>
          <a:prstGeom prst="rect">
            <a:avLst/>
          </a:prstGeom>
          <a:noFill/>
          <a:ln/>
        </p:spPr>
        <p:txBody>
          <a:bodyPr wrap="square" rtlCol="0" anchor="t"/>
          <a:lstStyle/>
          <a:p>
            <a:pPr indent="0" marL="0">
              <a:lnSpc>
                <a:spcPct val="130000"/>
              </a:lnSpc>
              <a:buNone/>
            </a:pPr>
            <a:r>
              <a:rPr lang="en-US" sz="1800" dirty="0">
                <a:solidFill>
                  <a:srgbClr val="1F2429"/>
                </a:solidFill>
                <a:latin typeface="Calibri" pitchFamily="34" charset="0"/>
                <a:ea typeface="Calibri" pitchFamily="34" charset="-122"/>
                <a:cs typeface="Calibri" pitchFamily="34" charset="-120"/>
              </a:rPr>
              <a:t>Stepping outside the relational model. A document database like MongoDB would happily store a student's enrollments denormalized, embedded directly inside the student's own document — the opposite instinct from Unit 5 — because MongoDB's strength is reading one student's entire profile in a single lookup, without a join.</a:t>
            </a:r>
            <a:endParaRPr lang="en-US" sz="1800" dirty="0"/>
          </a:p>
        </p:txBody>
      </p:sp>
      <p:sp>
        <p:nvSpPr>
          <p:cNvPr id="6" name="Shape 4"/>
          <p:cNvSpPr/>
          <p:nvPr/>
        </p:nvSpPr>
        <p:spPr>
          <a:xfrm>
            <a:off x="548640" y="4480560"/>
            <a:ext cx="4480560" cy="1463040"/>
          </a:xfrm>
          <a:prstGeom prst="roundRect">
            <a:avLst>
              <a:gd name="adj" fmla="val 5000"/>
            </a:avLst>
          </a:prstGeom>
          <a:solidFill>
            <a:srgbClr val="F1F2F6"/>
          </a:solidFill>
          <a:ln/>
        </p:spPr>
      </p:sp>
      <p:sp>
        <p:nvSpPr>
          <p:cNvPr id="7" name="Text 5"/>
          <p:cNvSpPr txBox="1"/>
          <p:nvPr/>
        </p:nvSpPr>
        <p:spPr>
          <a:xfrm>
            <a:off x="731520" y="4617720"/>
            <a:ext cx="4114800" cy="1188720"/>
          </a:xfrm>
          <a:prstGeom prst="rect">
            <a:avLst/>
          </a:prstGeom>
          <a:noFill/>
          <a:ln/>
        </p:spPr>
        <p:txBody>
          <a:bodyPr wrap="square" rtlCol="0" anchor="t"/>
          <a:lstStyle/>
          <a:p>
            <a:pPr indent="0" marL="0">
              <a:lnSpc>
                <a:spcPct val="125000"/>
              </a:lnSpc>
              <a:buNone/>
            </a:pPr>
            <a:r>
              <a:rPr lang="en-US" sz="1800" i="1" dirty="0">
                <a:solidFill>
                  <a:srgbClr val="1F2429"/>
                </a:solidFill>
                <a:latin typeface="Calibri" pitchFamily="34" charset="0"/>
                <a:ea typeface="Calibri" pitchFamily="34" charset="-122"/>
                <a:cs typeface="Calibri" pitchFamily="34" charset="-120"/>
              </a:rPr>
              <a:t>Neither choice is universally “correct” — each is the right tool for a different access pattern.</a:t>
            </a:r>
            <a:endParaRPr lang="en-US" sz="1800" dirty="0"/>
          </a:p>
        </p:txBody>
      </p:sp>
      <p:sp>
        <p:nvSpPr>
          <p:cNvPr id="8" name="Shape 6"/>
          <p:cNvSpPr/>
          <p:nvPr/>
        </p:nvSpPr>
        <p:spPr>
          <a:xfrm>
            <a:off x="5303520" y="1280160"/>
            <a:ext cx="6309360" cy="5029200"/>
          </a:xfrm>
          <a:prstGeom prst="roundRect">
            <a:avLst>
              <a:gd name="adj" fmla="val 1739"/>
            </a:avLst>
          </a:prstGeom>
          <a:solidFill>
            <a:srgbClr val="14181C"/>
          </a:solidFill>
          <a:ln/>
        </p:spPr>
      </p:sp>
      <p:sp>
        <p:nvSpPr>
          <p:cNvPr id="9" name="Text 7"/>
          <p:cNvSpPr txBox="1"/>
          <p:nvPr/>
        </p:nvSpPr>
        <p:spPr>
          <a:xfrm>
            <a:off x="5577840" y="1417320"/>
            <a:ext cx="5760720" cy="274320"/>
          </a:xfrm>
          <a:prstGeom prst="rect">
            <a:avLst/>
          </a:prstGeom>
          <a:noFill/>
          <a:ln/>
        </p:spPr>
        <p:txBody>
          <a:bodyPr wrap="square" rtlCol="0" anchor="ctr"/>
          <a:lstStyle/>
          <a:p>
            <a:pPr indent="0" marL="0">
              <a:buNone/>
            </a:pPr>
            <a:r>
              <a:rPr lang="en-US" sz="1800" b="1" spc="100" kern="0" dirty="0">
                <a:solidFill>
                  <a:srgbClr val="2FE6C4"/>
                </a:solidFill>
                <a:latin typeface="Calibri" pitchFamily="34" charset="0"/>
                <a:ea typeface="Calibri" pitchFamily="34" charset="-122"/>
                <a:cs typeface="Calibri" pitchFamily="34" charset="-120"/>
              </a:rPr>
              <a:t>students COLLECTION — ONE EMBEDDED DOCUMENT</a:t>
            </a:r>
            <a:endParaRPr lang="en-US" sz="1800" dirty="0"/>
          </a:p>
        </p:txBody>
      </p:sp>
      <p:sp>
        <p:nvSpPr>
          <p:cNvPr id="10" name="Text 8"/>
          <p:cNvSpPr txBox="1"/>
          <p:nvPr/>
        </p:nvSpPr>
        <p:spPr>
          <a:xfrm>
            <a:off x="5577840" y="1920240"/>
            <a:ext cx="5760720" cy="4343400"/>
          </a:xfrm>
          <a:prstGeom prst="rect">
            <a:avLst/>
          </a:prstGeom>
          <a:noFill/>
          <a:ln/>
        </p:spPr>
        <p:txBody>
          <a:bodyPr wrap="square" rtlCol="0" anchor="t"/>
          <a:lstStyle/>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"_id": "S001",</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"name": "Amina Raza",</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"major": "Computer Science",</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"enrollments": [</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 "courseId": "CS270",</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"title": "Database Systems",</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"grade": "A" },</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 "courseId": "CS211",</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"title": "Algorithms",</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"grade": "B+" }</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LECTURES 29–31</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8 — Transaction Management</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13</a:t>
            </a:r>
            <a:endParaRPr lang="en-US" sz="1200" dirty="0"/>
          </a:p>
        </p:txBody>
      </p:sp>
      <p:sp>
        <p:nvSpPr>
          <p:cNvPr id="5" name="Text 3"/>
          <p:cNvSpPr txBox="1"/>
          <p:nvPr/>
        </p:nvSpPr>
        <p:spPr>
          <a:xfrm>
            <a:off x="548640" y="1371600"/>
            <a:ext cx="11064240" cy="914400"/>
          </a:xfrm>
          <a:prstGeom prst="rect">
            <a:avLst/>
          </a:prstGeom>
          <a:noFill/>
          <a:ln/>
        </p:spPr>
        <p:txBody>
          <a:bodyPr wrap="square" rtlCol="0" anchor="t"/>
          <a:lstStyle/>
          <a:p>
            <a:pPr indent="0" marL="0">
              <a:lnSpc>
                <a:spcPct val="128000"/>
              </a:lnSpc>
              <a:buNone/>
            </a:pPr>
            <a:r>
              <a:rPr lang="en-US" sz="1800" dirty="0">
                <a:solidFill>
                  <a:srgbClr val="1F2429"/>
                </a:solidFill>
                <a:latin typeface="Calibri" pitchFamily="34" charset="0"/>
                <a:ea typeface="Calibri" pitchFamily="34" charset="-122"/>
                <a:cs typeface="Calibri" pitchFamily="34" charset="-120"/>
              </a:rPr>
              <a:t>Wrapping the whole thing in safety guarantees. Enrolling a student is, underneath, at least two writes — insert the Enrollment row and decrement Course.seatsAvailable — and both must succeed or neither should.</a:t>
            </a:r>
            <a:endParaRPr lang="en-US" sz="1800" dirty="0"/>
          </a:p>
        </p:txBody>
      </p:sp>
      <p:sp>
        <p:nvSpPr>
          <p:cNvPr id="6" name="Shape 4"/>
          <p:cNvSpPr/>
          <p:nvPr/>
        </p:nvSpPr>
        <p:spPr>
          <a:xfrm>
            <a:off x="548640" y="2514600"/>
            <a:ext cx="3413760" cy="2331720"/>
          </a:xfrm>
          <a:prstGeom prst="roundRect">
            <a:avLst>
              <a:gd name="adj" fmla="val 3810"/>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7" name="Shape 5"/>
          <p:cNvSpPr/>
          <p:nvPr/>
        </p:nvSpPr>
        <p:spPr>
          <a:xfrm>
            <a:off x="694944" y="2642616"/>
            <a:ext cx="310896" cy="91440"/>
          </a:xfrm>
          <a:prstGeom prst="rect">
            <a:avLst/>
          </a:prstGeom>
          <a:solidFill>
            <a:srgbClr val="2FE6C4"/>
          </a:solidFill>
          <a:ln/>
        </p:spPr>
      </p:sp>
      <p:sp>
        <p:nvSpPr>
          <p:cNvPr id="8" name="Text 6"/>
          <p:cNvSpPr txBox="1"/>
          <p:nvPr/>
        </p:nvSpPr>
        <p:spPr>
          <a:xfrm>
            <a:off x="694944" y="278892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BEGIN TRANSACTION</a:t>
            </a:r>
            <a:endParaRPr lang="en-US" sz="2000" dirty="0"/>
          </a:p>
        </p:txBody>
      </p:sp>
      <p:sp>
        <p:nvSpPr>
          <p:cNvPr id="9" name="Shape 7"/>
          <p:cNvSpPr/>
          <p:nvPr/>
        </p:nvSpPr>
        <p:spPr>
          <a:xfrm>
            <a:off x="3962400" y="3680460"/>
            <a:ext cx="411480" cy="0"/>
          </a:xfrm>
          <a:prstGeom prst="line">
            <a:avLst/>
          </a:prstGeom>
          <a:noFill/>
          <a:ln w="25400">
            <a:solidFill>
              <a:srgbClr val="8A939B"/>
            </a:solidFill>
            <a:prstDash val="solid"/>
            <a:tailEnd type="triangle"/>
          </a:ln>
        </p:spPr>
      </p:sp>
      <p:sp>
        <p:nvSpPr>
          <p:cNvPr id="10" name="Shape 8"/>
          <p:cNvSpPr/>
          <p:nvPr/>
        </p:nvSpPr>
        <p:spPr>
          <a:xfrm>
            <a:off x="4373880" y="2514600"/>
            <a:ext cx="3413760" cy="2331720"/>
          </a:xfrm>
          <a:prstGeom prst="roundRect">
            <a:avLst>
              <a:gd name="adj" fmla="val 3810"/>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1" name="Shape 9"/>
          <p:cNvSpPr/>
          <p:nvPr/>
        </p:nvSpPr>
        <p:spPr>
          <a:xfrm>
            <a:off x="4520184" y="2642616"/>
            <a:ext cx="310896" cy="91440"/>
          </a:xfrm>
          <a:prstGeom prst="rect">
            <a:avLst/>
          </a:prstGeom>
          <a:solidFill>
            <a:srgbClr val="8B7FD9"/>
          </a:solidFill>
          <a:ln/>
        </p:spPr>
      </p:sp>
      <p:sp>
        <p:nvSpPr>
          <p:cNvPr id="12" name="Text 10"/>
          <p:cNvSpPr txBox="1"/>
          <p:nvPr/>
        </p:nvSpPr>
        <p:spPr>
          <a:xfrm>
            <a:off x="4520184" y="278892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INSERT Enrollment; UPDATE seatsAvailable</a:t>
            </a:r>
            <a:endParaRPr lang="en-US" sz="2000" dirty="0"/>
          </a:p>
        </p:txBody>
      </p:sp>
      <p:sp>
        <p:nvSpPr>
          <p:cNvPr id="13" name="Text 11"/>
          <p:cNvSpPr txBox="1"/>
          <p:nvPr/>
        </p:nvSpPr>
        <p:spPr>
          <a:xfrm>
            <a:off x="4520184" y="3518611"/>
            <a:ext cx="3121152" cy="1100000"/>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Isolation (L30) stops two students racing for the last seat.</a:t>
            </a:r>
            <a:endParaRPr lang="en-US" sz="1800" dirty="0"/>
          </a:p>
        </p:txBody>
      </p:sp>
      <p:sp>
        <p:nvSpPr>
          <p:cNvPr id="14" name="Shape 12"/>
          <p:cNvSpPr/>
          <p:nvPr/>
        </p:nvSpPr>
        <p:spPr>
          <a:xfrm>
            <a:off x="7787640" y="3680460"/>
            <a:ext cx="411480" cy="0"/>
          </a:xfrm>
          <a:prstGeom prst="line">
            <a:avLst/>
          </a:prstGeom>
          <a:noFill/>
          <a:ln w="25400">
            <a:solidFill>
              <a:srgbClr val="8A939B"/>
            </a:solidFill>
            <a:prstDash val="solid"/>
            <a:tailEnd type="triangle"/>
          </a:ln>
        </p:spPr>
      </p:sp>
      <p:sp>
        <p:nvSpPr>
          <p:cNvPr id="15" name="Shape 13"/>
          <p:cNvSpPr/>
          <p:nvPr/>
        </p:nvSpPr>
        <p:spPr>
          <a:xfrm>
            <a:off x="8199120" y="2514600"/>
            <a:ext cx="3413760" cy="2331720"/>
          </a:xfrm>
          <a:prstGeom prst="roundRect">
            <a:avLst>
              <a:gd name="adj" fmla="val 3810"/>
            </a:avLst>
          </a:prstGeom>
          <a:solidFill>
            <a:srgbClr val="FFFFFF"/>
          </a:solidFill>
          <a:ln w="22225">
            <a:solidFill>
              <a:srgbClr val="E8A33D"/>
            </a:solidFill>
            <a:prstDash val="solid"/>
          </a:ln>
          <a:effectLst>
            <a:outerShdw sx="100000" sy="100000" kx="0" ky="0" algn="bl" rotWithShape="0" blurRad="76200" dist="25400" dir="5400000">
              <a:srgbClr val="1F2429">
                <a:alpha val="18000"/>
              </a:srgbClr>
            </a:outerShdw>
          </a:effectLst>
        </p:spPr>
      </p:sp>
      <p:sp>
        <p:nvSpPr>
          <p:cNvPr id="16" name="Shape 14"/>
          <p:cNvSpPr/>
          <p:nvPr/>
        </p:nvSpPr>
        <p:spPr>
          <a:xfrm>
            <a:off x="8345424" y="2642616"/>
            <a:ext cx="310896" cy="91440"/>
          </a:xfrm>
          <a:prstGeom prst="rect">
            <a:avLst/>
          </a:prstGeom>
          <a:solidFill>
            <a:srgbClr val="E8A33D"/>
          </a:solidFill>
          <a:ln/>
        </p:spPr>
      </p:sp>
      <p:sp>
        <p:nvSpPr>
          <p:cNvPr id="17" name="Text 15"/>
          <p:cNvSpPr txBox="1"/>
          <p:nvPr/>
        </p:nvSpPr>
        <p:spPr>
          <a:xfrm>
            <a:off x="8345424" y="2788920"/>
            <a:ext cx="3121152" cy="76809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COMMIT</a:t>
            </a:r>
            <a:endParaRPr lang="en-US" sz="2000" dirty="0"/>
          </a:p>
        </p:txBody>
      </p:sp>
      <p:sp>
        <p:nvSpPr>
          <p:cNvPr id="18" name="Text 16"/>
          <p:cNvSpPr txBox="1"/>
          <p:nvPr/>
        </p:nvSpPr>
        <p:spPr>
          <a:xfrm>
            <a:off x="8345424" y="3518611"/>
            <a:ext cx="3121152" cy="1100000"/>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Durability (L31) guarantees this survives any later crash.</a:t>
            </a:r>
            <a:endParaRPr lang="en-US" sz="1800" dirty="0"/>
          </a:p>
        </p:txBody>
      </p:sp>
      <p:sp>
        <p:nvSpPr>
          <p:cNvPr id="19" name="Text 17"/>
          <p:cNvSpPr txBox="1"/>
          <p:nvPr/>
        </p:nvSpPr>
        <p:spPr>
          <a:xfrm>
            <a:off x="548640" y="5074920"/>
            <a:ext cx="11064240" cy="914400"/>
          </a:xfrm>
          <a:prstGeom prst="rect">
            <a:avLst/>
          </a:prstGeom>
          <a:noFill/>
          <a:ln/>
        </p:spPr>
        <p:txBody>
          <a:bodyPr wrap="square" rtlCol="0" anchor="t"/>
          <a:lstStyle/>
          <a:p>
            <a:pPr indent="0" marL="0">
              <a:lnSpc>
                <a:spcPct val="125000"/>
              </a:lnSpc>
              <a:buNone/>
            </a:pPr>
            <a:r>
              <a:rPr lang="en-US" sz="1800" i="1" dirty="0">
                <a:solidFill>
                  <a:srgbClr val="6B7480"/>
                </a:solidFill>
                <a:latin typeface="Calibri" pitchFamily="34" charset="0"/>
                <a:ea typeface="Calibri" pitchFamily="34" charset="-122"/>
                <a:cs typeface="Calibri" pitchFamily="34" charset="-120"/>
              </a:rPr>
              <a:t>This is exactly Lecture 29's bank-transfer pattern, Lecture 30's concurrency control preventing a lost-seat race, and Lecture 31's recovery manager guaranteeing durability — applied to a single enrollment.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CONCEPT MAP</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Whole Course, as One Thread (Part 1 of 2)</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14</a:t>
            </a:r>
            <a:endParaRPr lang="en-US" sz="1200" dirty="0"/>
          </a:p>
        </p:txBody>
      </p:sp>
      <p:sp>
        <p:nvSpPr>
          <p:cNvPr id="5" name="Shape 3"/>
          <p:cNvSpPr/>
          <p:nvPr/>
        </p:nvSpPr>
        <p:spPr>
          <a:xfrm>
            <a:off x="731520" y="1325880"/>
            <a:ext cx="10698480" cy="1300000"/>
          </a:xfrm>
          <a:prstGeom prst="roundRect">
            <a:avLst>
              <a:gd name="adj" fmla="val 9023"/>
            </a:avLst>
          </a:prstGeom>
          <a:solidFill>
            <a:srgbClr val="FFFFFF"/>
          </a:solidFill>
          <a:ln w="19050">
            <a:solidFill>
              <a:srgbClr val="2FE6C4"/>
            </a:solidFill>
            <a:prstDash val="solid"/>
          </a:ln>
        </p:spPr>
      </p:sp>
      <p:sp>
        <p:nvSpPr>
          <p:cNvPr id="6" name="Shape 4"/>
          <p:cNvSpPr/>
          <p:nvPr/>
        </p:nvSpPr>
        <p:spPr>
          <a:xfrm>
            <a:off x="731520" y="1325880"/>
            <a:ext cx="91440" cy="1300000"/>
          </a:xfrm>
          <a:prstGeom prst="rect">
            <a:avLst/>
          </a:prstGeom>
          <a:solidFill>
            <a:srgbClr val="2FE6C4"/>
          </a:solidFill>
          <a:ln/>
        </p:spPr>
      </p:sp>
      <p:sp>
        <p:nvSpPr>
          <p:cNvPr id="7" name="Text 5"/>
          <p:cNvSpPr txBox="1"/>
          <p:nvPr/>
        </p:nvSpPr>
        <p:spPr>
          <a:xfrm>
            <a:off x="1051560" y="1371600"/>
            <a:ext cx="4114800" cy="12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1 — Foundations</a:t>
            </a:r>
            <a:endParaRPr lang="en-US" sz="2000" dirty="0"/>
          </a:p>
        </p:txBody>
      </p:sp>
      <p:sp>
        <p:nvSpPr>
          <p:cNvPr id="8" name="Text 6"/>
          <p:cNvSpPr txBox="1"/>
          <p:nvPr/>
        </p:nvSpPr>
        <p:spPr>
          <a:xfrm>
            <a:off x="5257800" y="1371600"/>
            <a:ext cx="6035040" cy="12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A DBMS, not loose files, manages Student and Course data</a:t>
            </a:r>
            <a:endParaRPr lang="en-US" sz="1800" dirty="0"/>
          </a:p>
        </p:txBody>
      </p:sp>
      <p:sp>
        <p:nvSpPr>
          <p:cNvPr id="9" name="Shape 7"/>
          <p:cNvSpPr/>
          <p:nvPr/>
        </p:nvSpPr>
        <p:spPr>
          <a:xfrm>
            <a:off x="731520" y="2808760"/>
            <a:ext cx="10698480" cy="1300000"/>
          </a:xfrm>
          <a:prstGeom prst="roundRect">
            <a:avLst>
              <a:gd name="adj" fmla="val 9023"/>
            </a:avLst>
          </a:prstGeom>
          <a:solidFill>
            <a:srgbClr val="FFFFFF"/>
          </a:solidFill>
          <a:ln w="19050">
            <a:solidFill>
              <a:srgbClr val="8B7FD9"/>
            </a:solidFill>
            <a:prstDash val="solid"/>
          </a:ln>
        </p:spPr>
      </p:sp>
      <p:sp>
        <p:nvSpPr>
          <p:cNvPr id="10" name="Shape 8"/>
          <p:cNvSpPr/>
          <p:nvPr/>
        </p:nvSpPr>
        <p:spPr>
          <a:xfrm>
            <a:off x="731520" y="2808760"/>
            <a:ext cx="91440" cy="1300000"/>
          </a:xfrm>
          <a:prstGeom prst="rect">
            <a:avLst/>
          </a:prstGeom>
          <a:solidFill>
            <a:srgbClr val="8B7FD9"/>
          </a:solidFill>
          <a:ln/>
        </p:spPr>
      </p:sp>
      <p:sp>
        <p:nvSpPr>
          <p:cNvPr id="11" name="Text 9"/>
          <p:cNvSpPr txBox="1"/>
          <p:nvPr/>
        </p:nvSpPr>
        <p:spPr>
          <a:xfrm>
            <a:off x="1051560" y="2854480"/>
            <a:ext cx="4114800" cy="120856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Units 2–3 — Relational Model, Algebra &amp; Calculus</a:t>
            </a:r>
            <a:endParaRPr lang="en-US" sz="1800" dirty="0"/>
          </a:p>
        </p:txBody>
      </p:sp>
      <p:sp>
        <p:nvSpPr>
          <p:cNvPr id="12" name="Text 10"/>
          <p:cNvSpPr txBox="1"/>
          <p:nvPr/>
        </p:nvSpPr>
        <p:spPr>
          <a:xfrm>
            <a:off x="5257800" y="2854480"/>
            <a:ext cx="6035040" cy="12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Data lives in constrained relations; queries are composed operators over them</a:t>
            </a:r>
            <a:endParaRPr lang="en-US" sz="1800" dirty="0"/>
          </a:p>
        </p:txBody>
      </p:sp>
      <p:sp>
        <p:nvSpPr>
          <p:cNvPr id="13" name="Shape 11"/>
          <p:cNvSpPr/>
          <p:nvPr/>
        </p:nvSpPr>
        <p:spPr>
          <a:xfrm>
            <a:off x="731520" y="4291640"/>
            <a:ext cx="10698480" cy="1300000"/>
          </a:xfrm>
          <a:prstGeom prst="roundRect">
            <a:avLst>
              <a:gd name="adj" fmla="val 9023"/>
            </a:avLst>
          </a:prstGeom>
          <a:solidFill>
            <a:srgbClr val="FFFFFF"/>
          </a:solidFill>
          <a:ln w="19050">
            <a:solidFill>
              <a:srgbClr val="E8A33D"/>
            </a:solidFill>
            <a:prstDash val="solid"/>
          </a:ln>
        </p:spPr>
      </p:sp>
      <p:sp>
        <p:nvSpPr>
          <p:cNvPr id="14" name="Shape 12"/>
          <p:cNvSpPr/>
          <p:nvPr/>
        </p:nvSpPr>
        <p:spPr>
          <a:xfrm>
            <a:off x="731520" y="4291640"/>
            <a:ext cx="91440" cy="1300000"/>
          </a:xfrm>
          <a:prstGeom prst="rect">
            <a:avLst/>
          </a:prstGeom>
          <a:solidFill>
            <a:srgbClr val="E8A33D"/>
          </a:solidFill>
          <a:ln/>
        </p:spPr>
      </p:sp>
      <p:sp>
        <p:nvSpPr>
          <p:cNvPr id="15" name="Text 13"/>
          <p:cNvSpPr txBox="1"/>
          <p:nvPr/>
        </p:nvSpPr>
        <p:spPr>
          <a:xfrm>
            <a:off x="1051560" y="4337360"/>
            <a:ext cx="4114800" cy="12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4 — ER/EER Modeling</a:t>
            </a:r>
            <a:endParaRPr lang="en-US" sz="2000" dirty="0"/>
          </a:p>
        </p:txBody>
      </p:sp>
      <p:sp>
        <p:nvSpPr>
          <p:cNvPr id="16" name="Text 14"/>
          <p:cNvSpPr txBox="1"/>
          <p:nvPr/>
        </p:nvSpPr>
        <p:spPr>
          <a:xfrm>
            <a:off x="5257800" y="4337360"/>
            <a:ext cx="6035040" cy="12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Student —Enrolls(M:N)— Course, modeled conceptually first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NATURAL DIRECTION 1 OF 3</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Where This Leads Next: Distributed Databases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16</a:t>
            </a:r>
            <a:endParaRPr lang="en-US" sz="1200" dirty="0"/>
          </a:p>
        </p:txBody>
      </p:sp>
      <p:sp>
        <p:nvSpPr>
          <p:cNvPr id="5" name="Text 3"/>
          <p:cNvSpPr txBox="1"/>
          <p:nvPr/>
        </p:nvSpPr>
        <p:spPr>
          <a:xfrm>
            <a:off x="548640" y="1325880"/>
            <a:ext cx="11064240" cy="54864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This course deliberately stopped at a single DBMS instance, serving requests one transaction at a time (however concurrently).</a:t>
            </a:r>
            <a:endParaRPr lang="en-US" sz="1800" dirty="0"/>
          </a:p>
        </p:txBody>
      </p:sp>
      <p:sp>
        <p:nvSpPr>
          <p:cNvPr id="6" name="Shape 4"/>
          <p:cNvSpPr/>
          <p:nvPr/>
        </p:nvSpPr>
        <p:spPr>
          <a:xfrm>
            <a:off x="548640" y="2194560"/>
            <a:ext cx="11064240" cy="3749040"/>
          </a:xfrm>
          <a:prstGeom prst="roundRect">
            <a:avLst>
              <a:gd name="adj" fmla="val 2105"/>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7" name="Shape 5"/>
          <p:cNvSpPr/>
          <p:nvPr/>
        </p:nvSpPr>
        <p:spPr>
          <a:xfrm>
            <a:off x="713232" y="2340864"/>
            <a:ext cx="201168" cy="201168"/>
          </a:xfrm>
          <a:prstGeom prst="ellipse">
            <a:avLst/>
          </a:prstGeom>
          <a:solidFill>
            <a:srgbClr val="2FE6C4"/>
          </a:solidFill>
          <a:ln/>
        </p:spPr>
      </p:sp>
      <p:sp>
        <p:nvSpPr>
          <p:cNvPr id="8" name="Text 6"/>
          <p:cNvSpPr txBox="1"/>
          <p:nvPr/>
        </p:nvSpPr>
        <p:spPr>
          <a:xfrm>
            <a:off x="1005840" y="2286000"/>
            <a:ext cx="101498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Distributed Databases</a:t>
            </a:r>
            <a:endParaRPr lang="en-US" sz="2000" dirty="0"/>
          </a:p>
        </p:txBody>
      </p:sp>
      <p:sp>
        <p:nvSpPr>
          <p:cNvPr id="9" name="Text 7"/>
          <p:cNvSpPr txBox="1"/>
          <p:nvPr/>
        </p:nvSpPr>
        <p:spPr>
          <a:xfrm>
            <a:off x="749808" y="2697480"/>
            <a:ext cx="10661904" cy="32000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What happens when data is spread across multiple machines, and a transaction might update rows on two at once — needing its own version of Atomicity and Isolation, across a network that can partially fail.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3718408" y="-2011680"/>
            <a:ext cx="4754880" cy="4754880"/>
          </a:xfrm>
          <a:prstGeom prst="ellipse">
            <a:avLst/>
          </a:prstGeom>
          <a:solidFill>
            <a:srgbClr val="2FE6C4">
              <a:alpha val="12000"/>
            </a:srgbClr>
          </a:solidFill>
          <a:ln/>
        </p:spPr>
      </p:sp>
      <p:sp>
        <p:nvSpPr>
          <p:cNvPr id="3" name="Shape 1"/>
          <p:cNvSpPr/>
          <p:nvPr/>
        </p:nvSpPr>
        <p:spPr>
          <a:xfrm>
            <a:off x="-1645920" y="5029200"/>
            <a:ext cx="3291840" cy="3291840"/>
          </a:xfrm>
          <a:prstGeom prst="ellipse">
            <a:avLst/>
          </a:prstGeom>
          <a:solidFill>
            <a:srgbClr val="8B7FD9">
              <a:alpha val="12000"/>
            </a:srgbClr>
          </a:solidFill>
          <a:ln/>
        </p:spPr>
      </p:sp>
      <p:sp>
        <p:nvSpPr>
          <p:cNvPr id="4" name="Shape 2"/>
          <p:cNvSpPr/>
          <p:nvPr/>
        </p:nvSpPr>
        <p:spPr>
          <a:xfrm>
            <a:off x="10180015" y="4480560"/>
            <a:ext cx="3291840" cy="3291840"/>
          </a:xfrm>
          <a:prstGeom prst="ellipse">
            <a:avLst/>
          </a:prstGeom>
          <a:solidFill>
            <a:srgbClr val="E8A33D">
              <a:alpha val="12000"/>
            </a:srgbClr>
          </a:solidFill>
          <a:ln/>
        </p:spPr>
      </p:sp>
      <p:sp>
        <p:nvSpPr>
          <p:cNvPr id="5" name="Text 3"/>
          <p:cNvSpPr txBox="1"/>
          <p:nvPr/>
        </p:nvSpPr>
        <p:spPr>
          <a:xfrm>
            <a:off x="822960" y="1371600"/>
            <a:ext cx="10424160" cy="365760"/>
          </a:xfrm>
          <a:prstGeom prst="rect">
            <a:avLst/>
          </a:prstGeom>
          <a:noFill/>
          <a:ln/>
        </p:spPr>
        <p:txBody>
          <a:bodyPr wrap="square" rtlCol="0" anchor="ctr"/>
          <a:lstStyle/>
          <a:p>
            <a:pPr algn="ctr" indent="0" marL="0">
              <a:buNone/>
            </a:pPr>
            <a:r>
              <a:rPr lang="en-US" sz="2000" b="1" spc="200" kern="0" dirty="0">
                <a:solidFill>
                  <a:srgbClr val="2FE6C4"/>
                </a:solidFill>
                <a:latin typeface="Calibri" pitchFamily="34" charset="0"/>
                <a:ea typeface="Calibri" pitchFamily="34" charset="-122"/>
                <a:cs typeface="Calibri" pitchFamily="34" charset="-120"/>
              </a:rPr>
              <a:t>DATABASE SYSTEMS · CSC270</a:t>
            </a:r>
            <a:endParaRPr lang="en-US" sz="2000" dirty="0"/>
          </a:p>
        </p:txBody>
      </p:sp>
      <p:sp>
        <p:nvSpPr>
          <p:cNvPr id="6" name="Text 4"/>
          <p:cNvSpPr txBox="1"/>
          <p:nvPr/>
        </p:nvSpPr>
        <p:spPr>
          <a:xfrm>
            <a:off x="822960" y="1874520"/>
            <a:ext cx="10515600" cy="1463040"/>
          </a:xfrm>
          <a:prstGeom prst="rect">
            <a:avLst/>
          </a:prstGeom>
          <a:noFill/>
          <a:ln/>
        </p:spPr>
        <p:txBody>
          <a:bodyPr wrap="square" rtlCol="0" anchor="t"/>
          <a:lstStyle/>
          <a:p>
            <a:pPr algn="ctr" indent="0" marL="0">
              <a:buNone/>
            </a:pPr>
            <a:r>
              <a:rPr lang="en-US" sz="3800" b="1" dirty="0">
                <a:solidFill>
                  <a:srgbClr val="FFFFFF"/>
                </a:solidFill>
                <a:latin typeface="Calibri" pitchFamily="34" charset="0"/>
                <a:ea typeface="Calibri" pitchFamily="34" charset="-122"/>
                <a:cs typeface="Calibri" pitchFamily="34" charset="-120"/>
              </a:rPr>
              <a:t>Course Complete</a:t>
            </a:r>
            <a:endParaRPr lang="en-US" sz="3800" dirty="0"/>
          </a:p>
        </p:txBody>
      </p:sp>
      <p:sp>
        <p:nvSpPr>
          <p:cNvPr id="7" name="Text 5"/>
          <p:cNvSpPr txBox="1"/>
          <p:nvPr/>
        </p:nvSpPr>
        <p:spPr>
          <a:xfrm>
            <a:off x="1645920" y="3520440"/>
            <a:ext cx="8869680" cy="2011680"/>
          </a:xfrm>
          <a:prstGeom prst="rect">
            <a:avLst/>
          </a:prstGeom>
          <a:noFill/>
          <a:ln/>
        </p:spPr>
        <p:txBody>
          <a:bodyPr wrap="square" rtlCol="0" anchor="t"/>
          <a:lstStyle/>
          <a:p>
            <a:pPr algn="ctr" indent="0" marL="0">
              <a:lnSpc>
                <a:spcPct val="125000"/>
              </a:lnSpc>
              <a:buNone/>
            </a:pPr>
            <a:r>
              <a:rPr lang="en-US" sz="1800" dirty="0">
                <a:solidFill>
                  <a:srgbClr val="8A939B"/>
                </a:solidFill>
                <a:latin typeface="Calibri" pitchFamily="34" charset="0"/>
                <a:ea typeface="Calibri" pitchFamily="34" charset="-122"/>
                <a:cs typeface="Calibri" pitchFamily="34" charset="-120"/>
              </a:rPr>
              <a:t>You started this semester with a question about files and spreadsheets, and built, unit by unit, a complete and rigorous answer: how to model data correctly, prove it's free of redundancy, query it with a composable algebra, secure and speed up access to it, consider a document-based alternative when it fits, and guarantee every change to it is safe — even against concurrent access and outright hardware failure.</a:t>
            </a:r>
            <a:endParaRPr lang="en-US" sz="1800" dirty="0"/>
          </a:p>
          <a:p>
            <a:pPr algn="ctr" indent="0" marL="0">
              <a:lnSpc>
                <a:spcPct val="125000"/>
              </a:lnSpc>
              <a:buNone/>
            </a:pPr>
            <a:endParaRPr lang="en-US" sz="1800" dirty="0"/>
          </a:p>
          <a:p>
            <a:pPr algn="ctr" indent="0" marL="0">
              <a:lnSpc>
                <a:spcPct val="125000"/>
              </a:lnSpc>
              <a:buNone/>
            </a:pPr>
            <a:r>
              <a:rPr lang="en-US" sz="1800" dirty="0">
                <a:solidFill>
                  <a:srgbClr val="8A939B"/>
                </a:solidFill>
                <a:latin typeface="Calibri" pitchFamily="34" charset="0"/>
                <a:ea typeface="Calibri" pitchFamily="34" charset="-122"/>
                <a:cs typeface="Calibri" pitchFamily="34" charset="-120"/>
              </a:rPr>
              <a:t>That habit of mind — is this schema modeled correctly, normalized enough, indexed and secured, and every write actually safe — is what this course was built to give you. Congratulations on completing Database Systems.</a:t>
            </a:r>
            <a:endParaRPr lang="en-US" sz="1800" dirty="0"/>
          </a:p>
        </p:txBody>
      </p:sp>
      <p:sp>
        <p:nvSpPr>
          <p:cNvPr id="8" name="Text 6"/>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18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5 — Normalization, Part 2: The Fix</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9</a:t>
            </a:r>
            <a:endParaRPr lang="en-US" sz="1200" dirty="0"/>
          </a:p>
        </p:txBody>
      </p:sp>
      <p:sp>
        <p:nvSpPr>
          <p:cNvPr id="8" name="Text 5"/>
          <p:cNvSpPr txBox="1"/>
          <p:nvPr/>
        </p:nvSpPr>
        <p:spPr>
          <a:xfrm>
            <a:off x="548640" y="1325880"/>
            <a:ext cx="11064240" cy="338328"/>
          </a:xfrm>
          <a:prstGeom prst="rect">
            <a:avLst/>
          </a:prstGeom>
          <a:noFill/>
          <a:ln/>
        </p:spPr>
        <p:txBody>
          <a:bodyPr wrap="square" rtlCol="0" anchor="ctr"/>
          <a:lstStyle/>
          <a:p>
            <a:pPr indent="0" marL="0">
              <a:buNone/>
            </a:pPr>
            <a:r>
              <a:rPr lang="en-US" sz="1800" b="1" dirty="0">
                <a:solidFill>
                  <a:srgbClr val="2FE6C4"/>
                </a:solidFill>
                <a:latin typeface="Calibri" pitchFamily="34" charset="0"/>
                <a:ea typeface="Calibri" pitchFamily="34" charset="-122"/>
                <a:cs typeface="Calibri" pitchFamily="34" charset="-120"/>
              </a:rPr>
              <a:t>3NF — Enrollment references, doesn't repeat</a:t>
            </a:r>
            <a:endParaRPr lang="en-US" sz="18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48640" y="1807368"/>
          <a:ext cx="11064240" cy="2800000"/>
        </p:xfrm>
        <a:graphic>
          <a:graphicData uri="http://schemas.openxmlformats.org/drawingml/2006/table">
            <a:tbl>
              <a:tblPr/>
              <a:tblGrid>
                <a:gridCol w="4125649"/>
                <a:gridCol w="4125649"/>
                <a:gridCol w="2812942"/>
              </a:tblGrid>
              <a:tr h="933333">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studentId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courseId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grade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r>
              <a:tr h="933333">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CS270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933333">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S001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CS211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bl>
          </a:graphicData>
        </a:graphic>
      </p:graphicFrame>
      <p:sp>
        <p:nvSpPr>
          <p:cNvPr id="10" name="Shape 6"/>
          <p:cNvSpPr/>
          <p:nvPr/>
        </p:nvSpPr>
        <p:spPr>
          <a:xfrm>
            <a:off x="548640" y="4790528"/>
            <a:ext cx="11064240" cy="1417320"/>
          </a:xfrm>
          <a:prstGeom prst="roundRect">
            <a:avLst>
              <a:gd name="adj" fmla="val 5161"/>
            </a:avLst>
          </a:prstGeom>
          <a:solidFill>
            <a:srgbClr val="F1F2F6"/>
          </a:solidFill>
          <a:ln/>
        </p:spPr>
      </p:sp>
      <p:sp>
        <p:nvSpPr>
          <p:cNvPr id="11" name="Text 7"/>
          <p:cNvSpPr txBox="1"/>
          <p:nvPr/>
        </p:nvSpPr>
        <p:spPr>
          <a:xfrm>
            <a:off x="822960" y="4945976"/>
            <a:ext cx="10515600" cy="1143000"/>
          </a:xfrm>
          <a:prstGeom prst="rect">
            <a:avLst/>
          </a:prstGeom>
          <a:noFill/>
          <a:ln/>
        </p:spPr>
        <p:txBody>
          <a:bodyPr wrap="square" rtlCol="0" anchor="t"/>
          <a:lstStyle/>
          <a:p>
            <a:pPr indent="0" marL="0">
              <a:lnSpc>
                <a:spcPct val="122000"/>
              </a:lnSpc>
              <a:buNone/>
            </a:pPr>
            <a:r>
              <a:rPr lang="en-US" sz="1800" dirty="0">
                <a:solidFill>
                  <a:srgbClr val="1F2429"/>
                </a:solidFill>
                <a:latin typeface="Calibri" pitchFamily="34" charset="0"/>
                <a:ea typeface="Calibri" pitchFamily="34" charset="-122"/>
                <a:cs typeface="Calibri" pitchFamily="34" charset="-120"/>
              </a:rPr>
              <a:t>A fresh Enrollment table — holding only the foreign keys and any enrollment-specific attribute, like the grade — matches the ER diagram's M:N relationship as its own relation, exactly as Unit 4's modeling anticipated.</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LECTURE 23 ONWARD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Unit 6 — Indexing (Part 2 of 2)</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11</a:t>
            </a:r>
            <a:endParaRPr lang="en-US" sz="1200" dirty="0"/>
          </a:p>
        </p:txBody>
      </p:sp>
      <p:sp>
        <p:nvSpPr>
          <p:cNvPr id="5" name="Text 3"/>
          <p:cNvSpPr txBox="1"/>
          <p:nvPr/>
        </p:nvSpPr>
        <p:spPr>
          <a:xfrm>
            <a:off x="548640" y="1325880"/>
            <a:ext cx="5212080" cy="45720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Operationalizing the normalized schema for real applications.</a:t>
            </a:r>
            <a:endParaRPr lang="en-US" sz="1800" dirty="0"/>
          </a:p>
        </p:txBody>
      </p:sp>
      <p:sp>
        <p:nvSpPr>
          <p:cNvPr id="6" name="Text 4"/>
          <p:cNvSpPr txBox="1"/>
          <p:nvPr/>
        </p:nvSpPr>
        <p:spPr>
          <a:xfrm>
            <a:off x="548640" y="1828800"/>
            <a:ext cx="11064240" cy="1000000"/>
          </a:xfrm>
          <a:prstGeom prst="rect">
            <a:avLst/>
          </a:prstGeom>
          <a:noFill/>
          <a:ln/>
        </p:spPr>
        <p:txBody>
          <a:bodyPr wrap="square" rtlCol="0" anchor="t"/>
          <a:lstStyle/>
          <a:p>
            <a:pPr indent="0" marL="0">
              <a:lnSpc>
                <a:spcPct val="130000"/>
              </a:lnSpc>
              <a:buNone/>
            </a:pPr>
            <a:r>
              <a:rPr lang="en-US" sz="1800" dirty="0">
                <a:solidFill>
                  <a:srgbClr val="1F2429"/>
                </a:solidFill>
                <a:latin typeface="Calibri" pitchFamily="34" charset="0"/>
                <a:ea typeface="Calibri" pitchFamily="34" charset="-122"/>
                <a:cs typeface="Calibri" pitchFamily="34" charset="-120"/>
              </a:rPr>
              <a:t>An index on Enrollment.studentId turns “find this student's enrollments” from a full scan into a direct lookup.</a:t>
            </a:r>
            <a:endParaRPr lang="en-US" sz="1800" dirty="0"/>
          </a:p>
        </p:txBody>
      </p:sp>
      <p:sp>
        <p:nvSpPr>
          <p:cNvPr id="17" name="Shape 15"/>
          <p:cNvSpPr/>
          <p:nvPr/>
        </p:nvSpPr>
        <p:spPr>
          <a:xfrm>
            <a:off x="548640" y="3017520"/>
            <a:ext cx="11064240" cy="2286000"/>
          </a:xfrm>
          <a:prstGeom prst="roundRect">
            <a:avLst>
              <a:gd name="adj" fmla="val 4810"/>
            </a:avLst>
          </a:prstGeom>
          <a:solidFill>
            <a:srgbClr val="FFFFFF"/>
          </a:solidFill>
          <a:ln w="22225">
            <a:solidFill>
              <a:srgbClr val="E8A33D"/>
            </a:solidFill>
            <a:prstDash val="solid"/>
          </a:ln>
          <a:effectLst>
            <a:outerShdw sx="100000" sy="100000" kx="0" ky="0" algn="bl" rotWithShape="0" blurRad="76200" dist="25400" dir="5400000">
              <a:srgbClr val="1F2429">
                <a:alpha val="16000"/>
              </a:srgbClr>
            </a:outerShdw>
          </a:effectLst>
        </p:spPr>
      </p:sp>
      <p:sp>
        <p:nvSpPr>
          <p:cNvPr id="18" name="Shape 16"/>
          <p:cNvSpPr/>
          <p:nvPr/>
        </p:nvSpPr>
        <p:spPr>
          <a:xfrm>
            <a:off x="694944" y="3246120"/>
            <a:ext cx="91440" cy="310896"/>
          </a:xfrm>
          <a:prstGeom prst="rect">
            <a:avLst/>
          </a:prstGeom>
          <a:solidFill>
            <a:srgbClr val="E8A33D"/>
          </a:solidFill>
          <a:ln/>
        </p:spPr>
      </p:sp>
      <p:sp>
        <p:nvSpPr>
          <p:cNvPr id="19" name="Text 17"/>
          <p:cNvSpPr txBox="1"/>
          <p:nvPr/>
        </p:nvSpPr>
        <p:spPr>
          <a:xfrm>
            <a:off x="914400" y="3154680"/>
            <a:ext cx="1033272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INDEX ON Enrollment(studentId)</a:t>
            </a:r>
            <a:endParaRPr lang="en-US" sz="2000" dirty="0"/>
          </a:p>
        </p:txBody>
      </p:sp>
      <p:sp>
        <p:nvSpPr>
          <p:cNvPr id="20" name="Text 18"/>
          <p:cNvSpPr txBox="1"/>
          <p:nvPr/>
        </p:nvSpPr>
        <p:spPr>
          <a:xfrm>
            <a:off x="914400" y="3886200"/>
            <a:ext cx="1033272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Makes “find this student's enrollments” fast.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CONCEPT MAP</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Whole Course, as One Thread (Part 2 of 2)</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15</a:t>
            </a:r>
            <a:endParaRPr lang="en-US" sz="1200" dirty="0"/>
          </a:p>
        </p:txBody>
      </p:sp>
      <p:sp>
        <p:nvSpPr>
          <p:cNvPr id="17" name="Shape 15"/>
          <p:cNvSpPr/>
          <p:nvPr/>
        </p:nvSpPr>
        <p:spPr>
          <a:xfrm>
            <a:off x="731520" y="1325880"/>
            <a:ext cx="10698480" cy="1000000"/>
          </a:xfrm>
          <a:prstGeom prst="roundRect">
            <a:avLst>
              <a:gd name="adj" fmla="val 9023"/>
            </a:avLst>
          </a:prstGeom>
          <a:solidFill>
            <a:srgbClr val="FFFFFF"/>
          </a:solidFill>
          <a:ln w="19050">
            <a:solidFill>
              <a:srgbClr val="2FE6C4"/>
            </a:solidFill>
            <a:prstDash val="solid"/>
          </a:ln>
        </p:spPr>
      </p:sp>
      <p:sp>
        <p:nvSpPr>
          <p:cNvPr id="18" name="Shape 16"/>
          <p:cNvSpPr/>
          <p:nvPr/>
        </p:nvSpPr>
        <p:spPr>
          <a:xfrm>
            <a:off x="731520" y="1325880"/>
            <a:ext cx="91440" cy="1000000"/>
          </a:xfrm>
          <a:prstGeom prst="rect">
            <a:avLst/>
          </a:prstGeom>
          <a:solidFill>
            <a:srgbClr val="2FE6C4"/>
          </a:solidFill>
          <a:ln/>
        </p:spPr>
      </p:sp>
      <p:sp>
        <p:nvSpPr>
          <p:cNvPr id="19" name="Text 17"/>
          <p:cNvSpPr txBox="1"/>
          <p:nvPr/>
        </p:nvSpPr>
        <p:spPr>
          <a:xfrm>
            <a:off x="1051560" y="1371600"/>
            <a:ext cx="4114800" cy="9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5 — Normalization</a:t>
            </a:r>
            <a:endParaRPr lang="en-US" sz="2000" dirty="0"/>
          </a:p>
        </p:txBody>
      </p:sp>
      <p:sp>
        <p:nvSpPr>
          <p:cNvPr id="20" name="Text 18"/>
          <p:cNvSpPr txBox="1"/>
          <p:nvPr/>
        </p:nvSpPr>
        <p:spPr>
          <a:xfrm>
            <a:off x="5257800" y="1371600"/>
            <a:ext cx="6035040" cy="9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The M:N relationship becomes its own redundancy-free Enrollment table</a:t>
            </a:r>
            <a:endParaRPr lang="en-US" sz="1800" dirty="0"/>
          </a:p>
        </p:txBody>
      </p:sp>
      <p:sp>
        <p:nvSpPr>
          <p:cNvPr id="21" name="Shape 19"/>
          <p:cNvSpPr/>
          <p:nvPr/>
        </p:nvSpPr>
        <p:spPr>
          <a:xfrm>
            <a:off x="731520" y="2508760"/>
            <a:ext cx="10698480" cy="1000000"/>
          </a:xfrm>
          <a:prstGeom prst="roundRect">
            <a:avLst>
              <a:gd name="adj" fmla="val 9023"/>
            </a:avLst>
          </a:prstGeom>
          <a:solidFill>
            <a:srgbClr val="FFFFFF"/>
          </a:solidFill>
          <a:ln w="19050">
            <a:solidFill>
              <a:srgbClr val="8B7FD9"/>
            </a:solidFill>
            <a:prstDash val="solid"/>
          </a:ln>
        </p:spPr>
      </p:sp>
      <p:sp>
        <p:nvSpPr>
          <p:cNvPr id="22" name="Shape 20"/>
          <p:cNvSpPr/>
          <p:nvPr/>
        </p:nvSpPr>
        <p:spPr>
          <a:xfrm>
            <a:off x="731520" y="2508760"/>
            <a:ext cx="91440" cy="1000000"/>
          </a:xfrm>
          <a:prstGeom prst="rect">
            <a:avLst/>
          </a:prstGeom>
          <a:solidFill>
            <a:srgbClr val="8B7FD9"/>
          </a:solidFill>
          <a:ln/>
        </p:spPr>
      </p:sp>
      <p:sp>
        <p:nvSpPr>
          <p:cNvPr id="23" name="Text 21"/>
          <p:cNvSpPr txBox="1"/>
          <p:nvPr/>
        </p:nvSpPr>
        <p:spPr>
          <a:xfrm>
            <a:off x="1051560" y="2554480"/>
            <a:ext cx="4114800" cy="9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6 — Views, Security, Indexing</a:t>
            </a:r>
            <a:endParaRPr lang="en-US" sz="2000" dirty="0"/>
          </a:p>
        </p:txBody>
      </p:sp>
      <p:sp>
        <p:nvSpPr>
          <p:cNvPr id="24" name="Text 22"/>
          <p:cNvSpPr txBox="1"/>
          <p:nvPr/>
        </p:nvSpPr>
        <p:spPr>
          <a:xfrm>
            <a:off x="5257800" y="2554480"/>
            <a:ext cx="6035040" cy="9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A transcript view, access control, and a fast lookup path</a:t>
            </a:r>
            <a:endParaRPr lang="en-US" sz="1800" dirty="0"/>
          </a:p>
        </p:txBody>
      </p:sp>
      <p:sp>
        <p:nvSpPr>
          <p:cNvPr id="25" name="Shape 23"/>
          <p:cNvSpPr/>
          <p:nvPr/>
        </p:nvSpPr>
        <p:spPr>
          <a:xfrm>
            <a:off x="731520" y="3691640"/>
            <a:ext cx="10698480" cy="1000000"/>
          </a:xfrm>
          <a:prstGeom prst="roundRect">
            <a:avLst>
              <a:gd name="adj" fmla="val 9023"/>
            </a:avLst>
          </a:prstGeom>
          <a:solidFill>
            <a:srgbClr val="FFFFFF"/>
          </a:solidFill>
          <a:ln w="19050">
            <a:solidFill>
              <a:srgbClr val="E8A33D"/>
            </a:solidFill>
            <a:prstDash val="solid"/>
          </a:ln>
        </p:spPr>
      </p:sp>
      <p:sp>
        <p:nvSpPr>
          <p:cNvPr id="26" name="Shape 24"/>
          <p:cNvSpPr/>
          <p:nvPr/>
        </p:nvSpPr>
        <p:spPr>
          <a:xfrm>
            <a:off x="731520" y="3691640"/>
            <a:ext cx="91440" cy="1000000"/>
          </a:xfrm>
          <a:prstGeom prst="rect">
            <a:avLst/>
          </a:prstGeom>
          <a:solidFill>
            <a:srgbClr val="E8A33D"/>
          </a:solidFill>
          <a:ln/>
        </p:spPr>
      </p:sp>
      <p:sp>
        <p:nvSpPr>
          <p:cNvPr id="27" name="Text 25"/>
          <p:cNvSpPr txBox="1"/>
          <p:nvPr/>
        </p:nvSpPr>
        <p:spPr>
          <a:xfrm>
            <a:off x="1051560" y="3737360"/>
            <a:ext cx="4114800" cy="9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7 — NoSQL Contrast</a:t>
            </a:r>
            <a:endParaRPr lang="en-US" sz="2000" dirty="0"/>
          </a:p>
        </p:txBody>
      </p:sp>
      <p:sp>
        <p:nvSpPr>
          <p:cNvPr id="28" name="Text 26"/>
          <p:cNvSpPr txBox="1"/>
          <p:nvPr/>
        </p:nvSpPr>
        <p:spPr>
          <a:xfrm>
            <a:off x="5257800" y="3737360"/>
            <a:ext cx="6035040" cy="9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The same data, deliberately denormalized, for a different access pattern</a:t>
            </a:r>
            <a:endParaRPr lang="en-US" sz="1800" dirty="0"/>
          </a:p>
        </p:txBody>
      </p:sp>
      <p:sp>
        <p:nvSpPr>
          <p:cNvPr id="29" name="Shape 27"/>
          <p:cNvSpPr/>
          <p:nvPr/>
        </p:nvSpPr>
        <p:spPr>
          <a:xfrm>
            <a:off x="731520" y="4874520"/>
            <a:ext cx="10698480" cy="1000000"/>
          </a:xfrm>
          <a:prstGeom prst="roundRect">
            <a:avLst>
              <a:gd name="adj" fmla="val 9023"/>
            </a:avLst>
          </a:prstGeom>
          <a:solidFill>
            <a:srgbClr val="FFFFFF"/>
          </a:solidFill>
          <a:ln w="19050">
            <a:solidFill>
              <a:srgbClr val="2FE6C4"/>
            </a:solidFill>
            <a:prstDash val="solid"/>
          </a:ln>
        </p:spPr>
      </p:sp>
      <p:sp>
        <p:nvSpPr>
          <p:cNvPr id="30" name="Shape 28"/>
          <p:cNvSpPr/>
          <p:nvPr/>
        </p:nvSpPr>
        <p:spPr>
          <a:xfrm>
            <a:off x="731520" y="4874520"/>
            <a:ext cx="91440" cy="1000000"/>
          </a:xfrm>
          <a:prstGeom prst="rect">
            <a:avLst/>
          </a:prstGeom>
          <a:solidFill>
            <a:srgbClr val="2FE6C4"/>
          </a:solidFill>
          <a:ln/>
        </p:spPr>
      </p:sp>
      <p:sp>
        <p:nvSpPr>
          <p:cNvPr id="31" name="Text 29"/>
          <p:cNvSpPr txBox="1"/>
          <p:nvPr/>
        </p:nvSpPr>
        <p:spPr>
          <a:xfrm>
            <a:off x="1051560" y="4920240"/>
            <a:ext cx="4114800" cy="908560"/>
          </a:xfrm>
          <a:prstGeom prst="rect">
            <a:avLst/>
          </a:prstGeom>
          <a:noFill/>
          <a:ln/>
        </p:spPr>
        <p:txBody>
          <a:bodyPr wrap="square" rtlCol="0" anchor="ctr"/>
          <a:lstStyle/>
          <a:p>
            <a:pPr indent="0" marL="0">
              <a:buNone/>
            </a:pPr>
            <a:r>
              <a:rPr lang="en-US" sz="2000" b="1" dirty="0">
                <a:solidFill>
                  <a:srgbClr val="1F2429"/>
                </a:solidFill>
                <a:latin typeface="Calibri" pitchFamily="34" charset="0"/>
                <a:ea typeface="Calibri" pitchFamily="34" charset="-122"/>
                <a:cs typeface="Calibri" pitchFamily="34" charset="-120"/>
              </a:rPr>
              <a:t>Unit 8 — Transactions</a:t>
            </a:r>
            <a:endParaRPr lang="en-US" sz="2000" dirty="0"/>
          </a:p>
        </p:txBody>
      </p:sp>
      <p:sp>
        <p:nvSpPr>
          <p:cNvPr id="32" name="Text 30"/>
          <p:cNvSpPr txBox="1"/>
          <p:nvPr/>
        </p:nvSpPr>
        <p:spPr>
          <a:xfrm>
            <a:off x="5257800" y="4920240"/>
            <a:ext cx="6035040" cy="908560"/>
          </a:xfrm>
          <a:prstGeom prst="rect">
            <a:avLst/>
          </a:prstGeom>
          <a:noFill/>
          <a:ln/>
        </p:spPr>
        <p:txBody>
          <a:bodyPr wrap="square" rtlCol="0" anchor="ctr"/>
          <a:lstStyle/>
          <a:p>
            <a:pPr indent="0" marL="0">
              <a:buNone/>
            </a:pPr>
            <a:r>
              <a:rPr lang="en-US" sz="1800" dirty="0">
                <a:solidFill>
                  <a:srgbClr val="6B7480"/>
                </a:solidFill>
                <a:latin typeface="Calibri" pitchFamily="34" charset="0"/>
                <a:ea typeface="Calibri" pitchFamily="34" charset="-122"/>
                <a:cs typeface="Calibri" pitchFamily="34" charset="-120"/>
              </a:rPr>
              <a:t>Every write to this data, wrapped in ACID guarantees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NATURAL DIRECTION 2 OF 3</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Where This Leads Next: Data Warehousing &amp; OLAP</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17</a:t>
            </a:r>
            <a:endParaRPr lang="en-US" sz="1200" dirty="0"/>
          </a:p>
        </p:txBody>
      </p:sp>
      <p:sp>
        <p:nvSpPr>
          <p:cNvPr id="5" name="Text 3"/>
          <p:cNvSpPr txBox="1"/>
          <p:nvPr/>
        </p:nvSpPr>
        <p:spPr>
          <a:xfrm>
            <a:off x="548640" y="1325880"/>
            <a:ext cx="11064240" cy="54864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This course deliberately stopped at a single DBMS instance, serving requests one transaction at a time (however concurrently).</a:t>
            </a:r>
            <a:endParaRPr lang="en-US" sz="1800" dirty="0"/>
          </a:p>
        </p:txBody>
      </p:sp>
      <p:sp>
        <p:nvSpPr>
          <p:cNvPr id="10" name="Shape 8"/>
          <p:cNvSpPr/>
          <p:nvPr/>
        </p:nvSpPr>
        <p:spPr>
          <a:xfrm>
            <a:off x="548640" y="2194560"/>
            <a:ext cx="11064240" cy="3749040"/>
          </a:xfrm>
          <a:prstGeom prst="roundRect">
            <a:avLst>
              <a:gd name="adj" fmla="val 2105"/>
            </a:avLst>
          </a:prstGeom>
          <a:solidFill>
            <a:srgbClr val="FFFFFF"/>
          </a:solidFill>
          <a:ln w="22225">
            <a:solidFill>
              <a:srgbClr val="8B7FD9"/>
            </a:solidFill>
            <a:prstDash val="solid"/>
          </a:ln>
          <a:effectLst>
            <a:outerShdw sx="100000" sy="100000" kx="0" ky="0" algn="bl" rotWithShape="0" blurRad="63500" dist="25400" dir="5400000">
              <a:srgbClr val="1F2429">
                <a:alpha val="15000"/>
              </a:srgbClr>
            </a:outerShdw>
          </a:effectLst>
        </p:spPr>
      </p:sp>
      <p:sp>
        <p:nvSpPr>
          <p:cNvPr id="11" name="Shape 9"/>
          <p:cNvSpPr/>
          <p:nvPr/>
        </p:nvSpPr>
        <p:spPr>
          <a:xfrm>
            <a:off x="713232" y="2340864"/>
            <a:ext cx="201168" cy="201168"/>
          </a:xfrm>
          <a:prstGeom prst="ellipse">
            <a:avLst/>
          </a:prstGeom>
          <a:solidFill>
            <a:srgbClr val="8B7FD9"/>
          </a:solidFill>
          <a:ln/>
        </p:spPr>
      </p:sp>
      <p:sp>
        <p:nvSpPr>
          <p:cNvPr id="12" name="Text 10"/>
          <p:cNvSpPr txBox="1"/>
          <p:nvPr/>
        </p:nvSpPr>
        <p:spPr>
          <a:xfrm>
            <a:off x="1005840" y="2286000"/>
            <a:ext cx="101498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Data Warehousing &amp; OLAP</a:t>
            </a:r>
            <a:endParaRPr lang="en-US" sz="2000" dirty="0"/>
          </a:p>
        </p:txBody>
      </p:sp>
      <p:sp>
        <p:nvSpPr>
          <p:cNvPr id="13" name="Text 11"/>
          <p:cNvSpPr txBox="1"/>
          <p:nvPr/>
        </p:nvSpPr>
        <p:spPr>
          <a:xfrm>
            <a:off x="749808" y="2697480"/>
            <a:ext cx="10661904" cy="32000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This course's relational model optimized for many small, fast transactions (OLTP); a data warehouse instead optimizes for huge, read-heavy analytical queries across a company's entire history.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NATURAL DIRECTION 3 OF 3</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Where This Leads Next: Query Optimization</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18</a:t>
            </a:r>
            <a:endParaRPr lang="en-US" sz="1200" dirty="0"/>
          </a:p>
        </p:txBody>
      </p:sp>
      <p:sp>
        <p:nvSpPr>
          <p:cNvPr id="5" name="Text 3"/>
          <p:cNvSpPr txBox="1"/>
          <p:nvPr/>
        </p:nvSpPr>
        <p:spPr>
          <a:xfrm>
            <a:off x="548640" y="1325880"/>
            <a:ext cx="11064240" cy="54864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This course deliberately stopped at a single DBMS instance, serving requests one transaction at a time (however concurrently).</a:t>
            </a:r>
            <a:endParaRPr lang="en-US" sz="1800" dirty="0"/>
          </a:p>
        </p:txBody>
      </p:sp>
      <p:sp>
        <p:nvSpPr>
          <p:cNvPr id="14" name="Shape 12"/>
          <p:cNvSpPr/>
          <p:nvPr/>
        </p:nvSpPr>
        <p:spPr>
          <a:xfrm>
            <a:off x="548640" y="2194560"/>
            <a:ext cx="11064240" cy="3749040"/>
          </a:xfrm>
          <a:prstGeom prst="roundRect">
            <a:avLst>
              <a:gd name="adj" fmla="val 2105"/>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5" name="Shape 13"/>
          <p:cNvSpPr/>
          <p:nvPr/>
        </p:nvSpPr>
        <p:spPr>
          <a:xfrm>
            <a:off x="713232" y="2340864"/>
            <a:ext cx="201168" cy="201168"/>
          </a:xfrm>
          <a:prstGeom prst="ellipse">
            <a:avLst/>
          </a:prstGeom>
          <a:solidFill>
            <a:srgbClr val="E8A33D"/>
          </a:solidFill>
          <a:ln/>
        </p:spPr>
      </p:sp>
      <p:sp>
        <p:nvSpPr>
          <p:cNvPr id="16" name="Text 14"/>
          <p:cNvSpPr txBox="1"/>
          <p:nvPr/>
        </p:nvSpPr>
        <p:spPr>
          <a:xfrm>
            <a:off x="1005840" y="2286000"/>
            <a:ext cx="101498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Query Optimization</a:t>
            </a:r>
            <a:endParaRPr lang="en-US" sz="2000" dirty="0"/>
          </a:p>
        </p:txBody>
      </p:sp>
      <p:sp>
        <p:nvSpPr>
          <p:cNvPr id="17" name="Text 15"/>
          <p:cNvSpPr txBox="1"/>
          <p:nvPr/>
        </p:nvSpPr>
        <p:spPr>
          <a:xfrm>
            <a:off x="749808" y="2697480"/>
            <a:ext cx="10661904" cy="32000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Every SQL query this course wrote was silently run through a query optimizer choosing how to execute the relational algebra behind it — which index, which join order.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2026-09-29T15:28:11Z</dcterms:created>
  <dcterms:modified xsi:type="dcterms:W3CDTF">2026-09-29T15:28:11Z</dcterms:modified>
</cp:coreProperties>
</file>
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1C"/>
        </a:solidFill>
      </p:bgPr>
    </p:bg>
    <p:spTree>
      <p:nvGrpSpPr>
        <p:cNvPr id="1" name=""/>
        <p:cNvGrpSpPr/>
        <p:nvPr/>
      </p:nvGrpSpPr>
      <p:grpSpPr>
        <a:xfrm>
          <a:off x="0" y="0"/>
          <a:ext cx="0" cy="0"/>
          <a:chOff x="0" y="0"/>
          <a:chExt cx="0" cy="0"/>
        </a:xfrm>
      </p:grpSpPr>
      <p:sp>
        <p:nvSpPr>
          <p:cNvPr id="2" name="Text 0"/>
          <p:cNvSpPr txBox="1"/>
          <p:nvPr/>
        </p:nvSpPr>
        <p:spPr>
          <a:xfrm>
            <a:off x="822960" y="2148840"/>
            <a:ext cx="10515600" cy="457200"/>
          </a:xfrm>
          <a:prstGeom prst="rect">
            <a:avLst/>
          </a:prstGeom>
          <a:noFill/>
          <a:ln/>
        </p:spPr>
        <p:txBody>
          <a:bodyPr wrap="square" lIns="0" tIns="0" rIns="0" bIns="0" rtlCol="0" anchor="ctr"/>
          <a:lstStyle/>
          <a:p>
            <a:pPr indent="0" marL="0">
              <a:buNone/>
            </a:pPr>
            <a:r>
              <a:rPr lang="en-US" sz="1600" b="1" spc="300" kern="0" dirty="0">
                <a:solidFill>
                  <a:srgbClr val="2FE6C4"/>
                </a:solidFill>
                <a:latin typeface="Calibri" pitchFamily="34" charset="0"/>
                <a:ea typeface="Calibri" pitchFamily="34" charset="-122"/>
                <a:cs typeface="Calibri" pitchFamily="34" charset="-120"/>
              </a:rPr>
              <a:t>LECTURE 1</a:t>
            </a:r>
            <a:endParaRPr lang="en-US" sz="1600" dirty="0"/>
          </a:p>
        </p:txBody>
      </p:sp>
      <p:sp>
        <p:nvSpPr>
          <p:cNvPr id="3" name="Text 1"/>
          <p:cNvSpPr txBox="1"/>
          <p:nvPr/>
        </p:nvSpPr>
        <p:spPr>
          <a:xfrm>
            <a:off x="822960" y="2606040"/>
            <a:ext cx="10515600" cy="173736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Introduction to Operating Systems</a:t>
            </a:r>
            <a:endParaRPr lang="en-US" sz="4000" dirty="0"/>
          </a:p>
        </p:txBody>
      </p:sp>
      <p:sp>
        <p:nvSpPr>
          <p:cNvPr id="4" name="Text 2"/>
          <p:cNvSpPr txBox="1"/>
          <p:nvPr/>
        </p:nvSpPr>
        <p:spPr>
          <a:xfrm>
            <a:off x="822960" y="4343400"/>
            <a:ext cx="10515600" cy="457200"/>
          </a:xfrm>
          <a:prstGeom prst="rect">
            <a:avLst/>
          </a:prstGeom>
          <a:noFill/>
          <a:ln/>
        </p:spPr>
        <p:txBody>
          <a:bodyPr wrap="square" lIns="0" tIns="0" rIns="0" bIns="0" rtlCol="0" anchor="ctr"/>
          <a:lstStyle/>
          <a:p>
            <a:pPr indent="0" marL="0">
              <a:buNone/>
            </a:pPr>
            <a:r>
              <a:rPr lang="en-US" sz="1800" dirty="0">
                <a:solidFill>
                  <a:srgbClr val="2FE6C4"/>
                </a:solidFill>
                <a:latin typeface="Calibri" pitchFamily="34" charset="0"/>
                <a:ea typeface="Calibri" pitchFamily="34" charset="-122"/>
                <a:cs typeface="Calibri" pitchFamily="34" charset="-120"/>
              </a:rPr>
              <a:t>CSC323 · Operating Systems</a:t>
            </a:r>
            <a:endParaRPr lang="en-US" sz="1800" dirty="0"/>
          </a:p>
        </p:txBody>
      </p:sp>
      <p:sp>
        <p:nvSpPr>
          <p:cNvPr id="5" name="Text 3"/>
          <p:cNvSpPr txBox="1"/>
          <p:nvPr/>
        </p:nvSpPr>
        <p:spPr>
          <a:xfrm>
            <a:off x="822960" y="4754880"/>
            <a:ext cx="10515600" cy="365760"/>
          </a:xfrm>
          <a:prstGeom prst="rect">
            <a:avLst/>
          </a:prstGeom>
          <a:noFill/>
          <a:ln/>
        </p:spPr>
        <p:txBody>
          <a:bodyPr wrap="square" lIns="0" tIns="0" rIns="0" bIns="0" rtlCol="0" anchor="ctr"/>
          <a:lstStyle/>
          <a:p>
            <a:pPr indent="0" marL="0">
              <a:buNone/>
            </a:pPr>
            <a:r>
              <a:rPr lang="en-US" sz="1300" dirty="0">
                <a:solidFill>
                  <a:srgbClr val="8A939B"/>
                </a:solidFill>
                <a:latin typeface="Calibri" pitchFamily="34" charset="0"/>
                <a:ea typeface="Calibri" pitchFamily="34" charset="-122"/>
                <a:cs typeface="Calibri" pitchFamily="34" charset="-120"/>
              </a:rPr>
              <a:t>COMSATS University Islamabad, Lahore Campus</a:t>
            </a:r>
            <a:endParaRPr lang="en-US" sz="1300" dirty="0"/>
          </a:p>
        </p:txBody>
      </p:sp>
      <p:sp>
        <p:nvSpPr>
          <p:cNvPr id="6" name="Text 4"/>
          <p:cNvSpPr txBox="1"/>
          <p:nvPr/>
        </p:nvSpPr>
        <p:spPr>
          <a:xfrm>
            <a:off x="9954158" y="6457493"/>
            <a:ext cx="2010766"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cuinotes.com"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In This Lecture</a:t>
            </a:r>
            <a:endParaRPr lang="en-US" sz="2800" dirty="0"/>
          </a:p>
        </p:txBody>
      </p:sp>
      <p:sp>
        <p:nvSpPr>
          <p:cNvPr id="3" name="Text 1"/>
          <p:cNvSpPr txBox="1"/>
          <p:nvPr/>
        </p:nvSpPr>
        <p:spPr>
          <a:xfrm>
            <a:off x="640080" y="1371600"/>
            <a:ext cx="10881360" cy="484632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rgbClr val="1F2429"/>
                </a:solidFill>
                <a:latin typeface="Calibri" pitchFamily="34" charset="0"/>
                <a:ea typeface="Calibri" pitchFamily="34" charset="-122"/>
                <a:cs typeface="Calibri" pitchFamily="34" charset="-120"/>
              </a:rPr>
              <a:t>What an operating system is — from the user's seat, and from the system's</a:t>
            </a:r>
            <a:endParaRPr lang="en-US" sz="1600" dirty="0"/>
          </a:p>
          <a:p>
            <a:pPr marL="342900" indent="-342900">
              <a:spcAft>
                <a:spcPts val="1400"/>
              </a:spcAft>
              <a:buSzPct val="100000"/>
              <a:buChar char="●"/>
            </a:pPr>
            <a:r>
              <a:rPr lang="en-US" sz="1600" dirty="0">
                <a:solidFill>
                  <a:srgbClr val="1F2429"/>
                </a:solidFill>
                <a:latin typeface="Calibri" pitchFamily="34" charset="0"/>
                <a:ea typeface="Calibri" pitchFamily="34" charset="-122"/>
                <a:cs typeface="Calibri" pitchFamily="34" charset="-120"/>
              </a:rPr>
              <a:t>How a computer system is organized around interrupts, replacing constant polling</a:t>
            </a:r>
            <a:endParaRPr lang="en-US" sz="1600" dirty="0"/>
          </a:p>
          <a:p>
            <a:pPr marL="342900" indent="-342900">
              <a:spcAft>
                <a:spcPts val="1400"/>
              </a:spcAft>
              <a:buSzPct val="100000"/>
              <a:buChar char="●"/>
            </a:pPr>
            <a:r>
              <a:rPr lang="en-US" sz="1600" dirty="0">
                <a:solidFill>
                  <a:srgbClr val="1F2429"/>
                </a:solidFill>
                <a:latin typeface="Calibri" pitchFamily="34" charset="0"/>
                <a:ea typeface="Calibri" pitchFamily="34" charset="-122"/>
                <a:cs typeface="Calibri" pitchFamily="34" charset="-120"/>
              </a:rPr>
              <a:t>The building blocks of I/O: device controllers and direct memory access (DMA)</a:t>
            </a:r>
            <a:endParaRPr lang="en-US" sz="1600" dirty="0"/>
          </a:p>
          <a:p>
            <a:pPr marL="342900" indent="-342900">
              <a:spcAft>
                <a:spcPts val="1400"/>
              </a:spcAft>
              <a:buSzPct val="100000"/>
              <a:buChar char="●"/>
            </a:pPr>
            <a:r>
              <a:rPr lang="en-US" sz="1600" dirty="0">
                <a:solidFill>
                  <a:srgbClr val="1F2429"/>
                </a:solidFill>
                <a:latin typeface="Calibri" pitchFamily="34" charset="0"/>
                <a:ea typeface="Calibri" pitchFamily="34" charset="-122"/>
                <a:cs typeface="Calibri" pitchFamily="34" charset="-120"/>
              </a:rPr>
              <a:t>Computer system architectures — single-processor, multiprocessor, and clustered</a:t>
            </a:r>
            <a:endParaRPr lang="en-US" sz="1600" dirty="0"/>
          </a:p>
          <a:p>
            <a:pPr marL="342900" indent="-342900">
              <a:spcAft>
                <a:spcPts val="1400"/>
              </a:spcAft>
              <a:buSzPct val="100000"/>
              <a:buChar char="●"/>
            </a:pPr>
            <a:r>
              <a:rPr lang="en-US" sz="1600" dirty="0">
                <a:solidFill>
                  <a:srgbClr val="1F2429"/>
                </a:solidFill>
                <a:latin typeface="Calibri" pitchFamily="34" charset="0"/>
                <a:ea typeface="Calibri" pitchFamily="34" charset="-122"/>
                <a:cs typeface="Calibri" pitchFamily="34" charset="-120"/>
              </a:rPr>
              <a:t>Multiprogramming, multitasking, and the dual-mode (and multimode) execution model</a:t>
            </a:r>
            <a:endParaRPr lang="en-US" sz="1600" dirty="0"/>
          </a:p>
        </p:txBody>
      </p:sp>
      <p:sp>
        <p:nvSpPr>
          <p:cNvPr id="4" name="Text 2"/>
          <p:cNvSpPr txBox="1"/>
          <p:nvPr/>
        </p:nvSpPr>
        <p:spPr>
          <a:xfrm>
            <a:off x="9954158" y="6457493"/>
            <a:ext cx="2010766"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cuinotes.com"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What Is an Operating System?</a:t>
            </a:r>
            <a:endParaRPr lang="en-US" sz="2800" dirty="0"/>
          </a:p>
        </p:txBody>
      </p:sp>
      <p:sp>
        <p:nvSpPr>
          <p:cNvPr id="3" name="Text 1"/>
          <p:cNvSpPr txBox="1"/>
          <p:nvPr/>
        </p:nvSpPr>
        <p:spPr>
          <a:xfrm>
            <a:off x="640080" y="1188720"/>
            <a:ext cx="10881360" cy="640080"/>
          </a:xfrm>
          <a:prstGeom prst="rect">
            <a:avLst/>
          </a:prstGeom>
          <a:noFill/>
          <a:ln/>
        </p:spPr>
        <p:txBody>
          <a:bodyPr wrap="square" lIns="0" tIns="0" rIns="0" bIns="0" rtlCol="0" anchor="t"/>
          <a:lstStyle/>
          <a:p>
            <a:pPr indent="0" marL="0">
              <a:buNone/>
            </a:pPr>
            <a:r>
              <a:rPr lang="en-US" sz="1500" dirty="0">
                <a:solidFill>
                  <a:srgbClr val="1F2429"/>
                </a:solidFill>
                <a:latin typeface="Calibri" pitchFamily="34" charset="0"/>
                <a:ea typeface="Calibri" pitchFamily="34" charset="-122"/>
                <a:cs typeface="Calibri" pitchFamily="34" charset="-120"/>
              </a:rPr>
              <a:t>The one program that runs at all times, sitting between every user program and the hardware, controlling and coordinating its use. Two very different, equally valid answers exist for “what does it do?”</a:t>
            </a:r>
            <a:endParaRPr lang="en-US" sz="1500" dirty="0"/>
          </a:p>
        </p:txBody>
      </p:sp>
      <p:sp>
        <p:nvSpPr>
          <p:cNvPr id="4" name="Shape 2"/>
          <p:cNvSpPr/>
          <p:nvPr/>
        </p:nvSpPr>
        <p:spPr>
          <a:xfrm>
            <a:off x="838048" y="2194560"/>
            <a:ext cx="5029200" cy="1920240"/>
          </a:xfrm>
          <a:prstGeom prst="roundRect">
            <a:avLst>
              <a:gd name="adj" fmla="val 5714"/>
            </a:avLst>
          </a:prstGeom>
          <a:solidFill>
            <a:srgbClr val="2FE6C4"/>
          </a:solidFill>
          <a:ln/>
        </p:spPr>
      </p:sp>
      <p:sp>
        <p:nvSpPr>
          <p:cNvPr id="5" name="Text 3"/>
          <p:cNvSpPr txBox="1"/>
          <p:nvPr/>
        </p:nvSpPr>
        <p:spPr>
          <a:xfrm>
            <a:off x="1039216" y="2377440"/>
            <a:ext cx="4626864" cy="45720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User view</a:t>
            </a:r>
            <a:endParaRPr lang="en-US" sz="1500" dirty="0"/>
          </a:p>
        </p:txBody>
      </p:sp>
      <p:sp>
        <p:nvSpPr>
          <p:cNvPr id="6" name="Text 4"/>
          <p:cNvSpPr txBox="1"/>
          <p:nvPr/>
        </p:nvSpPr>
        <p:spPr>
          <a:xfrm>
            <a:off x="1039216" y="2852928"/>
            <a:ext cx="4626864" cy="109728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Make the computer convenient and pleasant to use — maximize ease of use, not necessarily efficiency</a:t>
            </a:r>
            <a:endParaRPr lang="en-US" sz="1100" dirty="0"/>
          </a:p>
        </p:txBody>
      </p:sp>
      <p:sp>
        <p:nvSpPr>
          <p:cNvPr id="7" name="Shape 5"/>
          <p:cNvSpPr/>
          <p:nvPr/>
        </p:nvSpPr>
        <p:spPr>
          <a:xfrm>
            <a:off x="6324448" y="2194560"/>
            <a:ext cx="5029200" cy="1920240"/>
          </a:xfrm>
          <a:prstGeom prst="roundRect">
            <a:avLst>
              <a:gd name="adj" fmla="val 5714"/>
            </a:avLst>
          </a:prstGeom>
          <a:solidFill>
            <a:srgbClr val="8B7FD9"/>
          </a:solidFill>
          <a:ln/>
        </p:spPr>
      </p:sp>
      <p:sp>
        <p:nvSpPr>
          <p:cNvPr id="8" name="Text 6"/>
          <p:cNvSpPr txBox="1"/>
          <p:nvPr/>
        </p:nvSpPr>
        <p:spPr>
          <a:xfrm>
            <a:off x="6525616" y="2377440"/>
            <a:ext cx="4626864" cy="45720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System view</a:t>
            </a:r>
            <a:endParaRPr lang="en-US" sz="1500" dirty="0"/>
          </a:p>
        </p:txBody>
      </p:sp>
      <p:sp>
        <p:nvSpPr>
          <p:cNvPr id="9" name="Text 7"/>
          <p:cNvSpPr txBox="1"/>
          <p:nvPr/>
        </p:nvSpPr>
        <p:spPr>
          <a:xfrm>
            <a:off x="6525616" y="2852928"/>
            <a:ext cx="4626864" cy="109728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Allocate scarce hardware resources fairly and safely among every competing program</a:t>
            </a:r>
            <a:endParaRPr lang="en-US" sz="1100" dirty="0"/>
          </a:p>
        </p:txBody>
      </p:sp>
      <p:sp>
        <p:nvSpPr>
          <p:cNvPr id="10" name="Text 8"/>
          <p:cNvSpPr txBox="1"/>
          <p:nvPr/>
        </p:nvSpPr>
        <p:spPr>
          <a:xfrm>
            <a:off x="640080" y="4480560"/>
            <a:ext cx="10881360" cy="640080"/>
          </a:xfrm>
          <a:prstGeom prst="rect">
            <a:avLst/>
          </a:prstGeom>
          <a:noFill/>
          <a:ln/>
        </p:spPr>
        <p:txBody>
          <a:bodyPr wrap="square" lIns="0" tIns="0" rIns="0" bIns="0" rtlCol="0" anchor="t"/>
          <a:lstStyle/>
          <a:p>
            <a:pPr indent="0" marL="0">
              <a:buNone/>
            </a:pPr>
            <a:r>
              <a:rPr lang="en-US" sz="1300" dirty="0">
                <a:solidFill>
                  <a:srgbClr val="8A939B"/>
                </a:solidFill>
                <a:latin typeface="Calibri" pitchFamily="34" charset="0"/>
                <a:ea typeface="Calibri" pitchFamily="34" charset="-122"/>
                <a:cs typeface="Calibri" pitchFamily="34" charset="-120"/>
              </a:rPr>
              <a:t>An embedded OS inside a microwave, engine controller, or ATM has effectively no human “user” — it just runs, with no interface to judge convenience by.</a:t>
            </a:r>
            <a:endParaRPr lang="en-US" sz="1300" dirty="0"/>
          </a:p>
        </p:txBody>
      </p:sp>
      <p:sp>
        <p:nvSpPr>
          <p:cNvPr id="11" name="Text 9"/>
          <p:cNvSpPr txBox="1"/>
          <p:nvPr/>
        </p:nvSpPr>
        <p:spPr>
          <a:xfrm>
            <a:off x="9954158" y="6457493"/>
            <a:ext cx="2010766"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cuinotes.com"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The System View: Resource Allocator &amp; Control Program</a:t>
            </a:r>
            <a:endParaRPr lang="en-US" sz="2800" dirty="0"/>
          </a:p>
        </p:txBody>
      </p:sp>
      <p:sp>
        <p:nvSpPr>
          <p:cNvPr id="3" name="Text 1"/>
          <p:cNvSpPr txBox="1"/>
          <p:nvPr/>
        </p:nvSpPr>
        <p:spPr>
          <a:xfrm>
            <a:off x="640080" y="1188720"/>
            <a:ext cx="10881360" cy="5212080"/>
          </a:xfrm>
          <a:prstGeom prst="rect">
            <a:avLst/>
          </a:prstGeom>
          <a:noFill/>
          <a:ln/>
        </p:spPr>
        <p:txBody>
          <a:bodyPr wrap="square" lIns="0" tIns="0" rIns="0" bIns="0" rtlCol="0" anchor="t"/>
          <a:lstStyle/>
          <a:p>
            <a:pPr marL="342900" indent="-342900">
              <a:buSzPct val="100000"/>
              <a:buChar char="●"/>
            </a:pPr>
            <a:r>
              <a:rPr lang="en-US" sz="1500" b="1" dirty="0">
                <a:solidFill>
                  <a:srgbClr val="8B7FD9"/>
                </a:solidFill>
                <a:latin typeface="Calibri" pitchFamily="34" charset="0"/>
                <a:ea typeface="Calibri" pitchFamily="34" charset="-122"/>
                <a:cs typeface="Calibri" pitchFamily="34" charset="-120"/>
              </a:rPr>
              <a:t>Resource allocator — </a:t>
            </a:r>
            <a:pPr indent="0" marL="0">
              <a:spcAft>
                <a:spcPts val="1200"/>
              </a:spcAft>
              <a:buNone/>
            </a:pPr>
            <a:r>
              <a:rPr lang="en-US" sz="1500" dirty="0">
                <a:solidFill>
                  <a:srgbClr val="1F2429"/>
                </a:solidFill>
                <a:latin typeface="Calibri" pitchFamily="34" charset="0"/>
                <a:ea typeface="Calibri" pitchFamily="34" charset="-122"/>
                <a:cs typeface="Calibri" pitchFamily="34" charset="-120"/>
              </a:rPr>
              <a:t>a computer has many resources (CPU time, memory, storage, I/O devices) multiple programs may need at once; the OS decides who gets what, when, and for how long</a:t>
            </a:r>
            <a:endParaRPr lang="en-US" sz="1500" dirty="0"/>
          </a:p>
          <a:p>
            <a:pPr marL="342900" indent="-342900">
              <a:buSzPct val="100000"/>
              <a:buChar char="●"/>
            </a:pPr>
            <a:r>
              <a:rPr lang="en-US" sz="1500" b="1" dirty="0">
                <a:solidFill>
                  <a:srgbClr val="8B7FD9"/>
                </a:solidFill>
                <a:latin typeface="Calibri" pitchFamily="34" charset="0"/>
                <a:ea typeface="Calibri" pitchFamily="34" charset="-122"/>
                <a:cs typeface="Calibri" pitchFamily="34" charset="-120"/>
              </a:rPr>
              <a:t>Control program — </a:t>
            </a:r>
            <a:pPr indent="0" marL="0">
              <a:spcAft>
                <a:spcPts val="1200"/>
              </a:spcAft>
              <a:buNone/>
            </a:pPr>
            <a:r>
              <a:rPr lang="en-US" sz="1500" dirty="0">
                <a:solidFill>
                  <a:srgbClr val="1F2429"/>
                </a:solidFill>
                <a:latin typeface="Calibri" pitchFamily="34" charset="0"/>
                <a:ea typeface="Calibri" pitchFamily="34" charset="-122"/>
                <a:cs typeface="Calibri" pitchFamily="34" charset="-120"/>
              </a:rPr>
              <a:t>manages execution of every user program specifically to prevent errors and improper use of the computer</a:t>
            </a:r>
            <a:endParaRPr lang="en-US" sz="1500" dirty="0"/>
          </a:p>
          <a:p>
            <a:pPr marL="342900" indent="-342900">
              <a:buSzPct val="100000"/>
              <a:buChar char="●"/>
            </a:pPr>
            <a:r>
              <a:rPr lang="en-US" sz="1500" b="1" dirty="0">
                <a:solidFill>
                  <a:srgbClr val="8B7FD9"/>
                </a:solidFill>
                <a:latin typeface="Calibri" pitchFamily="34" charset="0"/>
                <a:ea typeface="Calibri" pitchFamily="34" charset="-122"/>
                <a:cs typeface="Calibri" pitchFamily="34" charset="-120"/>
              </a:rPr>
              <a:t>Protects the system — </a:t>
            </a:r>
            <a:pPr indent="0" marL="0">
              <a:spcAft>
                <a:spcPts val="1200"/>
              </a:spcAft>
              <a:buNone/>
            </a:pPr>
            <a:r>
              <a:rPr lang="en-US" sz="1500" dirty="0">
                <a:solidFill>
                  <a:srgbClr val="1F2429"/>
                </a:solidFill>
                <a:latin typeface="Calibri" pitchFamily="34" charset="0"/>
                <a:ea typeface="Calibri" pitchFamily="34" charset="-122"/>
                <a:cs typeface="Calibri" pitchFamily="34" charset="-120"/>
              </a:rPr>
              <a:t>one misbehaving program must never corrupt another's memory, monopolize the CPU, or crash the machine for everyone else</a:t>
            </a:r>
            <a:endParaRPr lang="en-US" sz="1500" dirty="0"/>
          </a:p>
          <a:p>
            <a:pPr marL="342900" indent="-342900">
              <a:buSzPct val="100000"/>
              <a:buChar char="●"/>
            </a:pPr>
            <a:r>
              <a:rPr lang="en-US" sz="1500" b="1" dirty="0">
                <a:solidFill>
                  <a:srgbClr val="8B7FD9"/>
                </a:solidFill>
                <a:latin typeface="Calibri" pitchFamily="34" charset="0"/>
                <a:ea typeface="Calibri" pitchFamily="34" charset="-122"/>
                <a:cs typeface="Calibri" pitchFamily="34" charset="-120"/>
              </a:rPr>
              <a:t>No single definition fits every OS — </a:t>
            </a:r>
            <a:pPr indent="0" marL="0">
              <a:spcAft>
                <a:spcPts val="1200"/>
              </a:spcAft>
              <a:buNone/>
            </a:pPr>
            <a:r>
              <a:rPr lang="en-US" sz="1500" dirty="0">
                <a:solidFill>
                  <a:srgbClr val="1F2429"/>
                </a:solidFill>
                <a:latin typeface="Calibri" pitchFamily="34" charset="0"/>
                <a:ea typeface="Calibri" pitchFamily="34" charset="-122"/>
                <a:cs typeface="Calibri" pitchFamily="34" charset="-120"/>
              </a:rPr>
              <a:t>“general-purpose OS” isn't even precisely defined; what matters is the services it provides and the protection it enforces</a:t>
            </a:r>
            <a:endParaRPr lang="en-US" sz="1500" dirty="0"/>
          </a:p>
        </p:txBody>
      </p:sp>
      <p:sp>
        <p:nvSpPr>
          <p:cNvPr id="4" name="Text 2"/>
          <p:cNvSpPr txBox="1"/>
          <p:nvPr/>
        </p:nvSpPr>
        <p:spPr>
          <a:xfrm>
            <a:off x="9954158" y="6457493"/>
            <a:ext cx="2010766"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cuinotes.com"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Computer System Organization</a:t>
            </a:r>
            <a:endParaRPr lang="en-US" sz="2800" dirty="0"/>
          </a:p>
        </p:txBody>
      </p:sp>
      <p:sp>
        <p:nvSpPr>
          <p:cNvPr id="3" name="Text 1"/>
          <p:cNvSpPr txBox="1"/>
          <p:nvPr/>
        </p:nvSpPr>
        <p:spPr>
          <a:xfrm>
            <a:off x="640080" y="1188720"/>
            <a:ext cx="10881360" cy="914400"/>
          </a:xfrm>
          <a:prstGeom prst="rect">
            <a:avLst/>
          </a:prstGeom>
          <a:noFill/>
          <a:ln/>
        </p:spPr>
        <p:txBody>
          <a:bodyPr wrap="square" lIns="0" tIns="0" rIns="0" bIns="0" rtlCol="0" anchor="t"/>
          <a:lstStyle/>
          <a:p>
            <a:pPr indent="0" marL="0">
              <a:buNone/>
            </a:pPr>
            <a:r>
              <a:rPr lang="en-US" sz="1500" dirty="0">
                <a:solidFill>
                  <a:srgbClr val="1F2429"/>
                </a:solidFill>
                <a:latin typeface="Calibri" pitchFamily="34" charset="0"/>
                <a:ea typeface="Calibri" pitchFamily="34" charset="-122"/>
                <a:cs typeface="Calibri" pitchFamily="34" charset="-120"/>
              </a:rPr>
              <a:t>Strip away the OS and applications, and a modern computer is one or more CPUs plus device controllers, connected through a shared bus to memory — all competing for memory cycles. Something has to keep the CPU and devices synchronized without wasting CPU time watching them.</a:t>
            </a:r>
            <a:endParaRPr lang="en-US" sz="1500" dirty="0"/>
          </a:p>
        </p:txBody>
      </p:sp>
      <p:sp>
        <p:nvSpPr>
          <p:cNvPr id="4" name="Shape 2"/>
          <p:cNvSpPr/>
          <p:nvPr/>
        </p:nvSpPr>
        <p:spPr>
          <a:xfrm>
            <a:off x="838048" y="2743200"/>
            <a:ext cx="3291840" cy="1463040"/>
          </a:xfrm>
          <a:prstGeom prst="roundRect">
            <a:avLst>
              <a:gd name="adj" fmla="val 7500"/>
            </a:avLst>
          </a:prstGeom>
          <a:solidFill>
            <a:srgbClr val="8B7FD9"/>
          </a:solidFill>
          <a:ln/>
        </p:spPr>
      </p:sp>
      <p:sp>
        <p:nvSpPr>
          <p:cNvPr id="5" name="Text 3"/>
          <p:cNvSpPr txBox="1"/>
          <p:nvPr/>
        </p:nvSpPr>
        <p:spPr>
          <a:xfrm>
            <a:off x="1002640" y="2889504"/>
            <a:ext cx="2962656" cy="45720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CPU</a:t>
            </a:r>
            <a:endParaRPr lang="en-US" sz="1300" dirty="0"/>
          </a:p>
        </p:txBody>
      </p:sp>
      <p:sp>
        <p:nvSpPr>
          <p:cNvPr id="6" name="Text 4"/>
          <p:cNvSpPr txBox="1"/>
          <p:nvPr/>
        </p:nvSpPr>
        <p:spPr>
          <a:xfrm>
            <a:off x="1002640" y="3310128"/>
            <a:ext cx="2962656" cy="749808"/>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Executes the instruction stream</a:t>
            </a:r>
            <a:endParaRPr lang="en-US" sz="1000" dirty="0"/>
          </a:p>
        </p:txBody>
      </p:sp>
      <p:sp>
        <p:nvSpPr>
          <p:cNvPr id="7" name="Shape 5"/>
          <p:cNvSpPr/>
          <p:nvPr/>
        </p:nvSpPr>
        <p:spPr>
          <a:xfrm>
            <a:off x="4125316" y="3383280"/>
            <a:ext cx="649224" cy="182880"/>
          </a:xfrm>
          <a:prstGeom prst="rightArrow">
            <a:avLst/>
          </a:prstGeom>
          <a:solidFill>
            <a:srgbClr val="8A939B"/>
          </a:solidFill>
          <a:ln/>
        </p:spPr>
      </p:sp>
      <p:sp>
        <p:nvSpPr>
          <p:cNvPr id="8" name="Shape 6"/>
          <p:cNvSpPr/>
          <p:nvPr/>
        </p:nvSpPr>
        <p:spPr>
          <a:xfrm>
            <a:off x="4449928" y="2743200"/>
            <a:ext cx="3291840" cy="1463040"/>
          </a:xfrm>
          <a:prstGeom prst="roundRect">
            <a:avLst>
              <a:gd name="adj" fmla="val 7500"/>
            </a:avLst>
          </a:prstGeom>
          <a:solidFill>
            <a:srgbClr val="8A939B"/>
          </a:solidFill>
          <a:ln/>
        </p:spPr>
      </p:sp>
      <p:sp>
        <p:nvSpPr>
          <p:cNvPr id="9" name="Text 7"/>
          <p:cNvSpPr txBox="1"/>
          <p:nvPr/>
        </p:nvSpPr>
        <p:spPr>
          <a:xfrm>
            <a:off x="4614520" y="2889504"/>
            <a:ext cx="2962656" cy="45720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Shared bus + memory</a:t>
            </a:r>
            <a:endParaRPr lang="en-US" sz="1300" dirty="0"/>
          </a:p>
        </p:txBody>
      </p:sp>
      <p:sp>
        <p:nvSpPr>
          <p:cNvPr id="10" name="Text 8"/>
          <p:cNvSpPr txBox="1"/>
          <p:nvPr/>
        </p:nvSpPr>
        <p:spPr>
          <a:xfrm>
            <a:off x="4614520" y="3310128"/>
            <a:ext cx="2962656" cy="749808"/>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Common path every component contends for</a:t>
            </a:r>
            <a:endParaRPr lang="en-US" sz="1000" dirty="0"/>
          </a:p>
        </p:txBody>
      </p:sp>
      <p:sp>
        <p:nvSpPr>
          <p:cNvPr id="11" name="Shape 9"/>
          <p:cNvSpPr/>
          <p:nvPr/>
        </p:nvSpPr>
        <p:spPr>
          <a:xfrm>
            <a:off x="7737196" y="3383280"/>
            <a:ext cx="649224" cy="182880"/>
          </a:xfrm>
          <a:prstGeom prst="rightArrow">
            <a:avLst/>
          </a:prstGeom>
          <a:solidFill>
            <a:srgbClr val="8A939B"/>
          </a:solidFill>
          <a:ln/>
        </p:spPr>
      </p:sp>
      <p:sp>
        <p:nvSpPr>
          <p:cNvPr id="12" name="Shape 10"/>
          <p:cNvSpPr/>
          <p:nvPr/>
        </p:nvSpPr>
        <p:spPr>
          <a:xfrm>
            <a:off x="8061808" y="2743200"/>
            <a:ext cx="3291840" cy="1463040"/>
          </a:xfrm>
          <a:prstGeom prst="roundRect">
            <a:avLst>
              <a:gd name="adj" fmla="val 7500"/>
            </a:avLst>
          </a:prstGeom>
          <a:solidFill>
            <a:srgbClr val="2FE6C4"/>
          </a:solidFill>
          <a:ln/>
        </p:spPr>
      </p:sp>
      <p:sp>
        <p:nvSpPr>
          <p:cNvPr id="13" name="Text 11"/>
          <p:cNvSpPr txBox="1"/>
          <p:nvPr/>
        </p:nvSpPr>
        <p:spPr>
          <a:xfrm>
            <a:off x="8226400" y="2889504"/>
            <a:ext cx="2962656" cy="45720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Device controllers</a:t>
            </a:r>
            <a:endParaRPr lang="en-US" sz="1300" dirty="0"/>
          </a:p>
        </p:txBody>
      </p:sp>
      <p:sp>
        <p:nvSpPr>
          <p:cNvPr id="14" name="Text 12"/>
          <p:cNvSpPr txBox="1"/>
          <p:nvPr/>
        </p:nvSpPr>
        <p:spPr>
          <a:xfrm>
            <a:off x="8226400" y="3310128"/>
            <a:ext cx="2962656" cy="749808"/>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Disk, network, keyboard — each with its own buffer</a:t>
            </a:r>
            <a:endParaRPr lang="en-US" sz="1000" dirty="0"/>
          </a:p>
        </p:txBody>
      </p:sp>
      <p:sp>
        <p:nvSpPr>
          <p:cNvPr id="15" name="Text 13"/>
          <p:cNvSpPr txBox="1"/>
          <p:nvPr/>
        </p:nvSpPr>
        <p:spPr>
          <a:xfrm>
            <a:off x="640080" y="4663440"/>
            <a:ext cx="10881360" cy="640080"/>
          </a:xfrm>
          <a:prstGeom prst="rect">
            <a:avLst/>
          </a:prstGeom>
          <a:noFill/>
          <a:ln/>
        </p:spPr>
        <p:txBody>
          <a:bodyPr wrap="square" lIns="0" tIns="0" rIns="0" bIns="0" rtlCol="0" anchor="t"/>
          <a:lstStyle/>
          <a:p>
            <a:pPr indent="0" marL="0">
              <a:buNone/>
            </a:pPr>
            <a:r>
              <a:rPr lang="en-US" sz="1500" dirty="0">
                <a:solidFill>
                  <a:srgbClr val="1F2429"/>
                </a:solidFill>
                <a:latin typeface="Calibri" pitchFamily="34" charset="0"/>
                <a:ea typeface="Calibri" pitchFamily="34" charset="-122"/>
                <a:cs typeface="Calibri" pitchFamily="34" charset="-120"/>
              </a:rPr>
              <a:t>That synchronizing mechanism is the interrupt.</a:t>
            </a:r>
            <a:endParaRPr lang="en-US" sz="1500" dirty="0"/>
          </a:p>
        </p:txBody>
      </p:sp>
      <p:sp>
        <p:nvSpPr>
          <p:cNvPr id="16" name="Text 14"/>
          <p:cNvSpPr txBox="1"/>
          <p:nvPr/>
        </p:nvSpPr>
        <p:spPr>
          <a:xfrm>
            <a:off x="9954158" y="6457493"/>
            <a:ext cx="2010766"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cuinotes.com"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Interrupt-Driven I/O</a:t>
            </a:r>
            <a:endParaRPr lang="en-US" sz="2800" dirty="0"/>
          </a:p>
        </p:txBody>
      </p:sp>
      <p:sp>
        <p:nvSpPr>
          <p:cNvPr id="3" name="Text 1"/>
          <p:cNvSpPr txBox="1"/>
          <p:nvPr/>
        </p:nvSpPr>
        <p:spPr>
          <a:xfrm>
            <a:off x="640080" y="1188720"/>
            <a:ext cx="10881360" cy="822960"/>
          </a:xfrm>
          <a:prstGeom prst="rect">
            <a:avLst/>
          </a:prstGeom>
          <a:noFill/>
          <a:ln/>
        </p:spPr>
        <p:txBody>
          <a:bodyPr wrap="square" lIns="0" tIns="0" rIns="0" bIns="0" rtlCol="0" anchor="t"/>
          <a:lstStyle/>
          <a:p>
            <a:pPr indent="0" marL="0">
              <a:buNone/>
            </a:pPr>
            <a:r>
              <a:rPr lang="en-US" sz="1500" dirty="0">
                <a:solidFill>
                  <a:srgbClr val="1F2429"/>
                </a:solidFill>
                <a:latin typeface="Calibri" pitchFamily="34" charset="0"/>
                <a:ea typeface="Calibri" pitchFamily="34" charset="-122"/>
                <a:cs typeface="Calibri" pitchFamily="34" charset="-120"/>
              </a:rPr>
              <a:t>The alternative is polling: a loop that repeatedly checks a device's status register until it's ready, burning CPU cycles doing nothing. Interrupt-driven I/O flips this — a device tells the CPU “I'm done” instead of being asked.</a:t>
            </a:r>
            <a:endParaRPr lang="en-US" sz="1500" dirty="0"/>
          </a:p>
        </p:txBody>
      </p:sp>
      <p:sp>
        <p:nvSpPr>
          <p:cNvPr id="4" name="Shape 2"/>
          <p:cNvSpPr/>
          <p:nvPr/>
        </p:nvSpPr>
        <p:spPr>
          <a:xfrm>
            <a:off x="952348" y="2743200"/>
            <a:ext cx="2331720" cy="1554480"/>
          </a:xfrm>
          <a:prstGeom prst="roundRect">
            <a:avLst>
              <a:gd name="adj" fmla="val 7059"/>
            </a:avLst>
          </a:prstGeom>
          <a:solidFill>
            <a:srgbClr val="2FE6C4"/>
          </a:solidFill>
          <a:ln/>
        </p:spPr>
      </p:sp>
      <p:sp>
        <p:nvSpPr>
          <p:cNvPr id="5" name="Text 3"/>
          <p:cNvSpPr txBox="1"/>
          <p:nvPr/>
        </p:nvSpPr>
        <p:spPr>
          <a:xfrm>
            <a:off x="1116940" y="2889504"/>
            <a:ext cx="2002536" cy="45720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Device finishes</a:t>
            </a:r>
            <a:endParaRPr lang="en-US" sz="1300" dirty="0"/>
          </a:p>
        </p:txBody>
      </p:sp>
      <p:sp>
        <p:nvSpPr>
          <p:cNvPr id="6" name="Text 4"/>
          <p:cNvSpPr txBox="1"/>
          <p:nvPr/>
        </p:nvSpPr>
        <p:spPr>
          <a:xfrm>
            <a:off x="1116940" y="3310128"/>
            <a:ext cx="2002536" cy="841248"/>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e.g. a disk read completes</a:t>
            </a:r>
            <a:endParaRPr lang="en-US" sz="1000" dirty="0"/>
          </a:p>
        </p:txBody>
      </p:sp>
      <p:sp>
        <p:nvSpPr>
          <p:cNvPr id="7" name="Shape 5"/>
          <p:cNvSpPr/>
          <p:nvPr/>
        </p:nvSpPr>
        <p:spPr>
          <a:xfrm>
            <a:off x="3279496" y="3429000"/>
            <a:ext cx="649224" cy="182880"/>
          </a:xfrm>
          <a:prstGeom prst="rightArrow">
            <a:avLst/>
          </a:prstGeom>
          <a:solidFill>
            <a:srgbClr val="8A939B"/>
          </a:solidFill>
          <a:ln/>
        </p:spPr>
      </p:sp>
      <p:sp>
        <p:nvSpPr>
          <p:cNvPr id="8" name="Shape 6"/>
          <p:cNvSpPr/>
          <p:nvPr/>
        </p:nvSpPr>
        <p:spPr>
          <a:xfrm>
            <a:off x="3604108" y="2743200"/>
            <a:ext cx="2331720" cy="1554480"/>
          </a:xfrm>
          <a:prstGeom prst="roundRect">
            <a:avLst>
              <a:gd name="adj" fmla="val 7059"/>
            </a:avLst>
          </a:prstGeom>
          <a:solidFill>
            <a:srgbClr val="8B7FD9"/>
          </a:solidFill>
          <a:ln/>
        </p:spPr>
      </p:sp>
      <p:sp>
        <p:nvSpPr>
          <p:cNvPr id="9" name="Text 7"/>
          <p:cNvSpPr txBox="1"/>
          <p:nvPr/>
        </p:nvSpPr>
        <p:spPr>
          <a:xfrm>
            <a:off x="3768700" y="2889504"/>
            <a:ext cx="2002536" cy="45720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Interrupt signal raised</a:t>
            </a:r>
            <a:endParaRPr lang="en-US" sz="1300" dirty="0"/>
          </a:p>
        </p:txBody>
      </p:sp>
      <p:sp>
        <p:nvSpPr>
          <p:cNvPr id="10" name="Text 8"/>
          <p:cNvSpPr txBox="1"/>
          <p:nvPr/>
        </p:nvSpPr>
        <p:spPr>
          <a:xfrm>
            <a:off x="3768700" y="3310128"/>
            <a:ext cx="2002536" cy="841248"/>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Controller asserts the interrupt-request line</a:t>
            </a:r>
            <a:endParaRPr lang="en-US" sz="1000" dirty="0"/>
          </a:p>
        </p:txBody>
      </p:sp>
      <p:sp>
        <p:nvSpPr>
          <p:cNvPr id="11" name="Shape 9"/>
          <p:cNvSpPr/>
          <p:nvPr/>
        </p:nvSpPr>
        <p:spPr>
          <a:xfrm>
            <a:off x="5931256" y="3429000"/>
            <a:ext cx="649224" cy="182880"/>
          </a:xfrm>
          <a:prstGeom prst="rightArrow">
            <a:avLst/>
          </a:prstGeom>
          <a:solidFill>
            <a:srgbClr val="8A939B"/>
          </a:solidFill>
          <a:ln/>
        </p:spPr>
      </p:sp>
      <p:sp>
        <p:nvSpPr>
          <p:cNvPr id="12" name="Shape 10"/>
          <p:cNvSpPr/>
          <p:nvPr/>
        </p:nvSpPr>
        <p:spPr>
          <a:xfrm>
            <a:off x="6255868" y="2743200"/>
            <a:ext cx="2331720" cy="1554480"/>
          </a:xfrm>
          <a:prstGeom prst="roundRect">
            <a:avLst>
              <a:gd name="adj" fmla="val 7059"/>
            </a:avLst>
          </a:prstGeom>
          <a:solidFill>
            <a:srgbClr val="E8A33D"/>
          </a:solidFill>
          <a:ln/>
        </p:spPr>
      </p:sp>
      <p:sp>
        <p:nvSpPr>
          <p:cNvPr id="13" name="Text 11"/>
          <p:cNvSpPr txBox="1"/>
          <p:nvPr/>
        </p:nvSpPr>
        <p:spPr>
          <a:xfrm>
            <a:off x="6420460" y="2889504"/>
            <a:ext cx="2002536" cy="45720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CPU consults interrupt vector</a:t>
            </a:r>
            <a:endParaRPr lang="en-US" sz="1300" dirty="0"/>
          </a:p>
        </p:txBody>
      </p:sp>
      <p:sp>
        <p:nvSpPr>
          <p:cNvPr id="14" name="Text 12"/>
          <p:cNvSpPr txBox="1"/>
          <p:nvPr/>
        </p:nvSpPr>
        <p:spPr>
          <a:xfrm>
            <a:off x="6420460" y="3310128"/>
            <a:ext cx="2002536" cy="841248"/>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Looks up the fixed address of the matching handler</a:t>
            </a:r>
            <a:endParaRPr lang="en-US" sz="1000" dirty="0"/>
          </a:p>
        </p:txBody>
      </p:sp>
      <p:sp>
        <p:nvSpPr>
          <p:cNvPr id="15" name="Shape 13"/>
          <p:cNvSpPr/>
          <p:nvPr/>
        </p:nvSpPr>
        <p:spPr>
          <a:xfrm>
            <a:off x="8583016" y="3429000"/>
            <a:ext cx="649224" cy="182880"/>
          </a:xfrm>
          <a:prstGeom prst="rightArrow">
            <a:avLst/>
          </a:prstGeom>
          <a:solidFill>
            <a:srgbClr val="8A939B"/>
          </a:solidFill>
          <a:ln/>
        </p:spPr>
      </p:sp>
      <p:sp>
        <p:nvSpPr>
          <p:cNvPr id="16" name="Shape 14"/>
          <p:cNvSpPr/>
          <p:nvPr/>
        </p:nvSpPr>
        <p:spPr>
          <a:xfrm>
            <a:off x="8907628" y="2743200"/>
            <a:ext cx="2331720" cy="1554480"/>
          </a:xfrm>
          <a:prstGeom prst="roundRect">
            <a:avLst>
              <a:gd name="adj" fmla="val 7059"/>
            </a:avLst>
          </a:prstGeom>
          <a:solidFill>
            <a:srgbClr val="2FE6C4"/>
          </a:solidFill>
          <a:ln/>
        </p:spPr>
      </p:sp>
      <p:sp>
        <p:nvSpPr>
          <p:cNvPr id="17" name="Text 15"/>
          <p:cNvSpPr txBox="1"/>
          <p:nvPr/>
        </p:nvSpPr>
        <p:spPr>
          <a:xfrm>
            <a:off x="9072220" y="2889504"/>
            <a:ext cx="2002536" cy="45720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Handler runs, then returns</a:t>
            </a:r>
            <a:endParaRPr lang="en-US" sz="1300" dirty="0"/>
          </a:p>
        </p:txBody>
      </p:sp>
      <p:sp>
        <p:nvSpPr>
          <p:cNvPr id="18" name="Text 16"/>
          <p:cNvSpPr txBox="1"/>
          <p:nvPr/>
        </p:nvSpPr>
        <p:spPr>
          <a:xfrm>
            <a:off x="9072220" y="3310128"/>
            <a:ext cx="2002536" cy="841248"/>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Interrupted program resumes exactly where it left off</a:t>
            </a:r>
            <a:endParaRPr lang="en-US" sz="1000" dirty="0"/>
          </a:p>
        </p:txBody>
      </p:sp>
      <p:sp>
        <p:nvSpPr>
          <p:cNvPr id="19" name="Text 17"/>
          <p:cNvSpPr txBox="1"/>
          <p:nvPr/>
        </p:nvSpPr>
        <p:spPr>
          <a:xfrm>
            <a:off x="9954158" y="6457493"/>
            <a:ext cx="2010766"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cuinotes.com"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I/O Structure: Device Controllers &amp; DMA</a:t>
            </a:r>
            <a:endParaRPr lang="en-US" sz="2800" dirty="0"/>
          </a:p>
        </p:txBody>
      </p:sp>
      <p:sp>
        <p:nvSpPr>
          <p:cNvPr id="3" name="Text 1"/>
          <p:cNvSpPr txBox="1"/>
          <p:nvPr/>
        </p:nvSpPr>
        <p:spPr>
          <a:xfrm>
            <a:off x="640080" y="1188720"/>
            <a:ext cx="10881360" cy="5212080"/>
          </a:xfrm>
          <a:prstGeom prst="rect">
            <a:avLst/>
          </a:prstGeom>
          <a:noFill/>
          <a:ln/>
        </p:spPr>
        <p:txBody>
          <a:bodyPr wrap="square" lIns="0" tIns="0" rIns="0" bIns="0" rtlCol="0" anchor="t"/>
          <a:lstStyle/>
          <a:p>
            <a:pPr marL="342900" indent="-342900">
              <a:buSzPct val="100000"/>
              <a:buChar char="●"/>
            </a:pPr>
            <a:r>
              <a:rPr lang="en-US" sz="1500" b="1" dirty="0">
                <a:solidFill>
                  <a:srgbClr val="8B7FD9"/>
                </a:solidFill>
                <a:latin typeface="Calibri" pitchFamily="34" charset="0"/>
                <a:ea typeface="Calibri" pitchFamily="34" charset="-122"/>
                <a:cs typeface="Calibri" pitchFamily="34" charset="-120"/>
              </a:rPr>
              <a:t>Device controller — </a:t>
            </a:r>
            <a:pPr indent="0" marL="0">
              <a:spcAft>
                <a:spcPts val="1200"/>
              </a:spcAft>
              <a:buNone/>
            </a:pPr>
            <a:r>
              <a:rPr lang="en-US" sz="1500" dirty="0">
                <a:solidFill>
                  <a:srgbClr val="1F2429"/>
                </a:solidFill>
                <a:latin typeface="Calibri" pitchFamily="34" charset="0"/>
                <a:ea typeface="Calibri" pitchFamily="34" charset="-122"/>
                <a:cs typeface="Calibri" pitchFamily="34" charset="-120"/>
              </a:rPr>
              <a:t>hardware in charge of one device class, with its own local buffer and registers; it moves data between the device and that buffer, not the CPU directly</a:t>
            </a:r>
            <a:endParaRPr lang="en-US" sz="1500" dirty="0"/>
          </a:p>
          <a:p>
            <a:pPr marL="342900" indent="-342900">
              <a:buSzPct val="100000"/>
              <a:buChar char="●"/>
            </a:pPr>
            <a:r>
              <a:rPr lang="en-US" sz="1500" b="1" dirty="0">
                <a:solidFill>
                  <a:srgbClr val="8B7FD9"/>
                </a:solidFill>
                <a:latin typeface="Calibri" pitchFamily="34" charset="0"/>
                <a:ea typeface="Calibri" pitchFamily="34" charset="-122"/>
                <a:cs typeface="Calibri" pitchFamily="34" charset="-120"/>
              </a:rPr>
              <a:t>Fine for slow devices — </a:t>
            </a:r>
            <a:pPr indent="0" marL="0">
              <a:spcAft>
                <a:spcPts val="1200"/>
              </a:spcAft>
              <a:buNone/>
            </a:pPr>
            <a:r>
              <a:rPr lang="en-US" sz="1500" dirty="0">
                <a:solidFill>
                  <a:srgbClr val="1F2429"/>
                </a:solidFill>
                <a:latin typeface="Calibri" pitchFamily="34" charset="0"/>
                <a:ea typeface="Calibri" pitchFamily="34" charset="-122"/>
                <a:cs typeface="Calibri" pitchFamily="34" charset="-120"/>
              </a:rPr>
              <a:t>having the CPU handle every byte from a keyboard is no real burden</a:t>
            </a:r>
            <a:endParaRPr lang="en-US" sz="1500" dirty="0"/>
          </a:p>
          <a:p>
            <a:pPr marL="342900" indent="-342900">
              <a:buSzPct val="100000"/>
              <a:buChar char="●"/>
            </a:pPr>
            <a:r>
              <a:rPr lang="en-US" sz="1500" b="1" dirty="0">
                <a:solidFill>
                  <a:srgbClr val="8B7FD9"/>
                </a:solidFill>
                <a:latin typeface="Calibri" pitchFamily="34" charset="0"/>
                <a:ea typeface="Calibri" pitchFamily="34" charset="-122"/>
                <a:cs typeface="Calibri" pitchFamily="34" charset="-120"/>
              </a:rPr>
              <a:t>Ruinous for fast devices — </a:t>
            </a:r>
            <a:pPr indent="0" marL="0">
              <a:spcAft>
                <a:spcPts val="1200"/>
              </a:spcAft>
              <a:buNone/>
            </a:pPr>
            <a:r>
              <a:rPr lang="en-US" sz="1500" dirty="0">
                <a:solidFill>
                  <a:srgbClr val="1F2429"/>
                </a:solidFill>
                <a:latin typeface="Calibri" pitchFamily="34" charset="0"/>
                <a:ea typeface="Calibri" pitchFamily="34" charset="-122"/>
                <a:cs typeface="Calibri" pitchFamily="34" charset="-120"/>
              </a:rPr>
              <a:t>a disk or NIC would tie the CPU up babysitting the transfer instead of computing</a:t>
            </a:r>
            <a:endParaRPr lang="en-US" sz="1500" dirty="0"/>
          </a:p>
          <a:p>
            <a:pPr marL="342900" indent="-342900">
              <a:buSzPct val="100000"/>
              <a:buChar char="●"/>
            </a:pPr>
            <a:r>
              <a:rPr lang="en-US" sz="1500" b="1" dirty="0">
                <a:solidFill>
                  <a:srgbClr val="8B7FD9"/>
                </a:solidFill>
                <a:latin typeface="Calibri" pitchFamily="34" charset="0"/>
                <a:ea typeface="Calibri" pitchFamily="34" charset="-122"/>
                <a:cs typeface="Calibri" pitchFamily="34" charset="-120"/>
              </a:rPr>
              <a:t>Direct memory access (DMA) — </a:t>
            </a:r>
            <a:pPr indent="0" marL="0">
              <a:spcAft>
                <a:spcPts val="1200"/>
              </a:spcAft>
              <a:buNone/>
            </a:pPr>
            <a:r>
              <a:rPr lang="en-US" sz="1500" dirty="0">
                <a:solidFill>
                  <a:srgbClr val="1F2429"/>
                </a:solidFill>
                <a:latin typeface="Calibri" pitchFamily="34" charset="0"/>
                <a:ea typeface="Calibri" pitchFamily="34" charset="-122"/>
                <a:cs typeface="Calibri" pitchFamily="34" charset="-120"/>
              </a:rPr>
              <a:t>a dedicated controller moves an entire block directly to/from memory; the CPU is interrupted once per block, not once per byte</a:t>
            </a:r>
            <a:endParaRPr lang="en-US" sz="1500" dirty="0"/>
          </a:p>
        </p:txBody>
      </p:sp>
      <p:sp>
        <p:nvSpPr>
          <p:cNvPr id="4" name="Text 2"/>
          <p:cNvSpPr txBox="1"/>
          <p:nvPr/>
        </p:nvSpPr>
        <p:spPr>
          <a:xfrm>
            <a:off x="9954158" y="6457493"/>
            <a:ext cx="2010766"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cuinotes.com"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Computer System Architecture: Single-Processor</a:t>
            </a:r>
            <a:endParaRPr lang="en-US" sz="2800" dirty="0"/>
          </a:p>
        </p:txBody>
      </p:sp>
      <p:sp>
        <p:nvSpPr>
          <p:cNvPr id="3" name="Text 1"/>
          <p:cNvSpPr txBox="1"/>
          <p:nvPr/>
        </p:nvSpPr>
        <p:spPr>
          <a:xfrm>
            <a:off x="640080" y="1188720"/>
            <a:ext cx="10881360" cy="521208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rgbClr val="1F2429"/>
                </a:solidFill>
                <a:latin typeface="Calibri" pitchFamily="34" charset="0"/>
                <a:ea typeface="Calibri" pitchFamily="34" charset="-122"/>
                <a:cs typeface="Calibri" pitchFamily="34" charset="-120"/>
              </a:rPr>
              <a:t>The simplest, historically most common case: one general-purpose CPU running the system's main instruction stream</a:t>
            </a:r>
            <a:endParaRPr lang="en-US" sz="1500" dirty="0"/>
          </a:p>
          <a:p>
            <a:pPr marL="342900" indent="-342900">
              <a:spcAft>
                <a:spcPts val="1200"/>
              </a:spcAft>
              <a:buSzPct val="100000"/>
              <a:buChar char="●"/>
            </a:pPr>
            <a:r>
              <a:rPr lang="en-US" sz="1500" dirty="0">
                <a:solidFill>
                  <a:srgbClr val="1F2429"/>
                </a:solidFill>
                <a:latin typeface="Calibri" pitchFamily="34" charset="0"/>
                <a:ea typeface="Calibri" pitchFamily="34" charset="-122"/>
                <a:cs typeface="Calibri" pitchFamily="34" charset="-120"/>
              </a:rPr>
              <a:t>Many single-processor systems also contain special-purpose processors — a disk controller's own chip, a graphics processor</a:t>
            </a:r>
            <a:endParaRPr lang="en-US" sz="1500" dirty="0"/>
          </a:p>
          <a:p>
            <a:pPr marL="342900" indent="-342900">
              <a:spcAft>
                <a:spcPts val="1200"/>
              </a:spcAft>
              <a:buSzPct val="100000"/>
              <a:buChar char="●"/>
            </a:pPr>
            <a:r>
              <a:rPr lang="en-US" sz="1500" dirty="0">
                <a:solidFill>
                  <a:srgbClr val="1F2429"/>
                </a:solidFill>
                <a:latin typeface="Calibri" pitchFamily="34" charset="0"/>
                <a:ea typeface="Calibri" pitchFamily="34" charset="-122"/>
                <a:cs typeface="Calibri" pitchFamily="34" charset="-120"/>
              </a:rPr>
              <a:t>Special-purpose processors run a very limited instruction set, never run user programs, and don't count as “the” processor for scheduling</a:t>
            </a:r>
            <a:endParaRPr lang="en-US" sz="1500" dirty="0"/>
          </a:p>
        </p:txBody>
      </p:sp>
      <p:sp>
        <p:nvSpPr>
          <p:cNvPr id="4" name="Text 2"/>
          <p:cNvSpPr txBox="1"/>
          <p:nvPr/>
        </p:nvSpPr>
        <p:spPr>
          <a:xfrm>
            <a:off x="9954158" y="6457493"/>
            <a:ext cx="2010766"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cuinotes.com"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Multiprocessor Systems</a:t>
            </a:r>
            <a:endParaRPr lang="en-US" sz="2800" dirty="0"/>
          </a:p>
        </p:txBody>
      </p:sp>
      <p:sp>
        <p:nvSpPr>
          <p:cNvPr id="3" name="Text 1"/>
          <p:cNvSpPr txBox="1"/>
          <p:nvPr/>
        </p:nvSpPr>
        <p:spPr>
          <a:xfrm>
            <a:off x="640080" y="1188720"/>
            <a:ext cx="10881360" cy="640080"/>
          </a:xfrm>
          <a:prstGeom prst="rect">
            <a:avLst/>
          </a:prstGeom>
          <a:noFill/>
          <a:ln/>
        </p:spPr>
        <p:txBody>
          <a:bodyPr wrap="square" lIns="0" tIns="0" rIns="0" bIns="0" rtlCol="0" anchor="t"/>
          <a:lstStyle/>
          <a:p>
            <a:pPr indent="0" marL="0">
              <a:buNone/>
            </a:pPr>
            <a:r>
              <a:rPr lang="en-US" sz="1500" dirty="0">
                <a:solidFill>
                  <a:srgbClr val="1F2429"/>
                </a:solidFill>
                <a:latin typeface="Calibri" pitchFamily="34" charset="0"/>
                <a:ea typeface="Calibri" pitchFamily="34" charset="-122"/>
                <a:cs typeface="Calibri" pitchFamily="34" charset="-120"/>
              </a:rPr>
              <a:t>Two or more CPUs in close communication, typically sharing one bus, clock, memory, and peripherals (“tightly coupled”). Three reasons organizations invest in them:</a:t>
            </a:r>
            <a:endParaRPr lang="en-US" sz="1500" dirty="0"/>
          </a:p>
        </p:txBody>
      </p:sp>
      <p:sp>
        <p:nvSpPr>
          <p:cNvPr id="4" name="Text 2"/>
          <p:cNvSpPr txBox="1"/>
          <p:nvPr/>
        </p:nvSpPr>
        <p:spPr>
          <a:xfrm>
            <a:off x="640080" y="1874520"/>
            <a:ext cx="10881360" cy="4526280"/>
          </a:xfrm>
          <a:prstGeom prst="rect">
            <a:avLst/>
          </a:prstGeom>
          <a:noFill/>
          <a:ln/>
        </p:spPr>
        <p:txBody>
          <a:bodyPr wrap="square" lIns="0" tIns="0" rIns="0" bIns="0" rtlCol="0" anchor="t"/>
          <a:lstStyle/>
          <a:p>
            <a:pPr marL="342900" indent="-342900">
              <a:buSzPct val="100000"/>
              <a:buChar char="●"/>
            </a:pPr>
            <a:r>
              <a:rPr lang="en-US" sz="1500" b="1" dirty="0">
                <a:solidFill>
                  <a:srgbClr val="8B7FD9"/>
                </a:solidFill>
                <a:latin typeface="Calibri" pitchFamily="34" charset="0"/>
                <a:ea typeface="Calibri" pitchFamily="34" charset="-122"/>
                <a:cs typeface="Calibri" pitchFamily="34" charset="-120"/>
              </a:rPr>
              <a:t>Increased throughput — </a:t>
            </a:r>
            <a:pPr indent="0" marL="0">
              <a:spcAft>
                <a:spcPts val="1200"/>
              </a:spcAft>
              <a:buNone/>
            </a:pPr>
            <a:r>
              <a:rPr lang="en-US" sz="1500" dirty="0">
                <a:solidFill>
                  <a:srgbClr val="1F2429"/>
                </a:solidFill>
                <a:latin typeface="Calibri" pitchFamily="34" charset="0"/>
                <a:ea typeface="Calibri" pitchFamily="34" charset="-122"/>
                <a:cs typeface="Calibri" pitchFamily="34" charset="-120"/>
              </a:rPr>
              <a:t>more processors complete more work in the same time, though speedup is never perfectly linear</a:t>
            </a:r>
            <a:endParaRPr lang="en-US" sz="1500" dirty="0"/>
          </a:p>
          <a:p>
            <a:pPr marL="342900" indent="-342900">
              <a:buSzPct val="100000"/>
              <a:buChar char="●"/>
            </a:pPr>
            <a:r>
              <a:rPr lang="en-US" sz="1500" b="1" dirty="0">
                <a:solidFill>
                  <a:srgbClr val="8B7FD9"/>
                </a:solidFill>
                <a:latin typeface="Calibri" pitchFamily="34" charset="0"/>
                <a:ea typeface="Calibri" pitchFamily="34" charset="-122"/>
                <a:cs typeface="Calibri" pitchFamily="34" charset="-120"/>
              </a:rPr>
              <a:t>Economy of scale — </a:t>
            </a:r>
            <a:pPr indent="0" marL="0">
              <a:spcAft>
                <a:spcPts val="1200"/>
              </a:spcAft>
              <a:buNone/>
            </a:pPr>
            <a:r>
              <a:rPr lang="en-US" sz="1500" dirty="0">
                <a:solidFill>
                  <a:srgbClr val="1F2429"/>
                </a:solidFill>
                <a:latin typeface="Calibri" pitchFamily="34" charset="0"/>
                <a:ea typeface="Calibri" pitchFamily="34" charset="-122"/>
                <a:cs typeface="Calibri" pitchFamily="34" charset="-120"/>
              </a:rPr>
              <a:t>one multiprocessor machine sharing peripherals and power costs less than N separate machines</a:t>
            </a:r>
            <a:endParaRPr lang="en-US" sz="1500" dirty="0"/>
          </a:p>
          <a:p>
            <a:pPr marL="342900" indent="-342900">
              <a:buSzPct val="100000"/>
              <a:buChar char="●"/>
            </a:pPr>
            <a:r>
              <a:rPr lang="en-US" sz="1500" b="1" dirty="0">
                <a:solidFill>
                  <a:srgbClr val="8B7FD9"/>
                </a:solidFill>
                <a:latin typeface="Calibri" pitchFamily="34" charset="0"/>
                <a:ea typeface="Calibri" pitchFamily="34" charset="-122"/>
                <a:cs typeface="Calibri" pitchFamily="34" charset="-120"/>
              </a:rPr>
              <a:t>Increased reliability — </a:t>
            </a:r>
            <a:pPr indent="0" marL="0">
              <a:spcAft>
                <a:spcPts val="1200"/>
              </a:spcAft>
              <a:buNone/>
            </a:pPr>
            <a:r>
              <a:rPr lang="en-US" sz="1500" dirty="0">
                <a:solidFill>
                  <a:srgbClr val="1F2429"/>
                </a:solidFill>
                <a:latin typeface="Calibri" pitchFamily="34" charset="0"/>
                <a:ea typeface="Calibri" pitchFamily="34" charset="-122"/>
                <a:cs typeface="Calibri" pitchFamily="34" charset="-120"/>
              </a:rPr>
              <a:t>failure of one processor doesn't halt the system — graceful degradation / fault tolerance</a:t>
            </a:r>
            <a:endParaRPr lang="en-US" sz="1500" dirty="0"/>
          </a:p>
          <a:p>
            <a:pPr marL="342900" indent="-342900">
              <a:buSzPct val="100000"/>
              <a:buChar char="●"/>
            </a:pPr>
            <a:r>
              <a:rPr lang="en-US" sz="1500" b="1" dirty="0">
                <a:solidFill>
                  <a:srgbClr val="8B7FD9"/>
                </a:solidFill>
                <a:latin typeface="Calibri" pitchFamily="34" charset="0"/>
                <a:ea typeface="Calibri" pitchFamily="34" charset="-122"/>
                <a:cs typeface="Calibri" pitchFamily="34" charset="-120"/>
              </a:rPr>
              <a:t>Asymmetric vs. symmetric (SMP) — </a:t>
            </a:r>
            <a:pPr indent="0" marL="0">
              <a:spcAft>
                <a:spcPts val="1200"/>
              </a:spcAft>
              <a:buNone/>
            </a:pPr>
            <a:r>
              <a:rPr lang="en-US" sz="1500" dirty="0">
                <a:solidFill>
                  <a:srgbClr val="1F2429"/>
                </a:solidFill>
                <a:latin typeface="Calibri" pitchFamily="34" charset="0"/>
                <a:ea typeface="Calibri" pitchFamily="34" charset="-122"/>
                <a:cs typeface="Calibri" pitchFamily="34" charset="-120"/>
              </a:rPr>
              <a:t>fixed master/slave roles, or every processor a peer; SMP dominates today, including ordinary laptop and phone multicore chips</a:t>
            </a:r>
            <a:endParaRPr lang="en-US" sz="1500" dirty="0"/>
          </a:p>
        </p:txBody>
      </p:sp>
      <p:sp>
        <p:nvSpPr>
          <p:cNvPr id="5" name="Text 3"/>
          <p:cNvSpPr txBox="1"/>
          <p:nvPr/>
        </p:nvSpPr>
        <p:spPr>
          <a:xfrm>
            <a:off x="9954158" y="6457493"/>
            <a:ext cx="2010766"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cuinotes.com"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Clustered Systems</a:t>
            </a:r>
            <a:endParaRPr lang="en-US" sz="2800" dirty="0"/>
          </a:p>
        </p:txBody>
      </p:sp>
      <p:sp>
        <p:nvSpPr>
          <p:cNvPr id="3" name="Text 1"/>
          <p:cNvSpPr txBox="1"/>
          <p:nvPr/>
        </p:nvSpPr>
        <p:spPr>
          <a:xfrm>
            <a:off x="640080" y="1188720"/>
            <a:ext cx="10881360" cy="5212080"/>
          </a:xfrm>
          <a:prstGeom prst="rect">
            <a:avLst/>
          </a:prstGeom>
          <a:noFill/>
          <a:ln/>
        </p:spPr>
        <p:txBody>
          <a:bodyPr wrap="square" lIns="0" tIns="0" rIns="0" bIns="0" rtlCol="0" anchor="t"/>
          <a:lstStyle/>
          <a:p>
            <a:pPr marL="342900" indent="-342900">
              <a:buSzPct val="100000"/>
              <a:buChar char="●"/>
            </a:pPr>
            <a:r>
              <a:rPr lang="en-US" sz="1500" b="1" dirty="0">
                <a:solidFill>
                  <a:srgbClr val="8B7FD9"/>
                </a:solidFill>
                <a:latin typeface="Calibri" pitchFamily="34" charset="0"/>
                <a:ea typeface="Calibri" pitchFamily="34" charset="-122"/>
                <a:cs typeface="Calibri" pitchFamily="34" charset="-120"/>
              </a:rPr>
              <a:t>Loose coupling — </a:t>
            </a:r>
            <a:pPr indent="0" marL="0">
              <a:spcAft>
                <a:spcPts val="1200"/>
              </a:spcAft>
              <a:buNone/>
            </a:pPr>
            <a:r>
              <a:rPr lang="en-US" sz="1500" dirty="0">
                <a:solidFill>
                  <a:srgbClr val="1F2429"/>
                </a:solidFill>
                <a:latin typeface="Calibri" pitchFamily="34" charset="0"/>
                <a:ea typeface="Calibri" pitchFamily="34" charset="-122"/>
                <a:cs typeface="Calibri" pitchFamily="34" charset="-120"/>
              </a:rPr>
              <a:t>two or more complete computer systems, each with its own CPU(s), memory, and OS, coupled over a LAN or fast interconnect</a:t>
            </a:r>
            <a:endParaRPr lang="en-US" sz="1500" dirty="0"/>
          </a:p>
          <a:p>
            <a:pPr marL="342900" indent="-342900">
              <a:buSzPct val="100000"/>
              <a:buChar char="●"/>
            </a:pPr>
            <a:r>
              <a:rPr lang="en-US" sz="1500" b="1" dirty="0">
                <a:solidFill>
                  <a:srgbClr val="8B7FD9"/>
                </a:solidFill>
                <a:latin typeface="Calibri" pitchFamily="34" charset="0"/>
                <a:ea typeface="Calibri" pitchFamily="34" charset="-122"/>
                <a:cs typeface="Calibri" pitchFamily="34" charset="-120"/>
              </a:rPr>
              <a:t>Shared storage via a SAN — </a:t>
            </a:r>
            <a:pPr indent="0" marL="0">
              <a:spcAft>
                <a:spcPts val="1200"/>
              </a:spcAft>
              <a:buNone/>
            </a:pPr>
            <a:r>
              <a:rPr lang="en-US" sz="1500" dirty="0">
                <a:solidFill>
                  <a:srgbClr val="1F2429"/>
                </a:solidFill>
                <a:latin typeface="Calibri" pitchFamily="34" charset="0"/>
                <a:ea typeface="Calibri" pitchFamily="34" charset="-122"/>
                <a:cs typeface="Calibri" pitchFamily="34" charset="-120"/>
              </a:rPr>
              <a:t>a storage-area network lets any node reach any disk, enabling high availability if one node fails</a:t>
            </a:r>
            <a:endParaRPr lang="en-US" sz="1500" dirty="0"/>
          </a:p>
          <a:p>
            <a:pPr marL="342900" indent="-342900">
              <a:buSzPct val="100000"/>
              <a:buChar char="●"/>
            </a:pPr>
            <a:r>
              <a:rPr lang="en-US" sz="1500" b="1" dirty="0">
                <a:solidFill>
                  <a:srgbClr val="8B7FD9"/>
                </a:solidFill>
                <a:latin typeface="Calibri" pitchFamily="34" charset="0"/>
                <a:ea typeface="Calibri" pitchFamily="34" charset="-122"/>
                <a:cs typeface="Calibri" pitchFamily="34" charset="-120"/>
              </a:rPr>
              <a:t>Asymmetric or symmetric — </a:t>
            </a:r>
            <a:pPr indent="0" marL="0">
              <a:spcAft>
                <a:spcPts val="1200"/>
              </a:spcAft>
              <a:buNone/>
            </a:pPr>
            <a:r>
              <a:rPr lang="en-US" sz="1500" dirty="0">
                <a:solidFill>
                  <a:srgbClr val="1F2429"/>
                </a:solidFill>
                <a:latin typeface="Calibri" pitchFamily="34" charset="0"/>
                <a:ea typeface="Calibri" pitchFamily="34" charset="-122"/>
                <a:cs typeface="Calibri" pitchFamily="34" charset="-120"/>
              </a:rPr>
              <a:t>one node in hot standby, or several nodes all running applications while monitoring each other</a:t>
            </a:r>
            <a:endParaRPr lang="en-US" sz="1500" dirty="0"/>
          </a:p>
          <a:p>
            <a:pPr marL="342900" indent="-342900">
              <a:buSzPct val="100000"/>
              <a:buChar char="●"/>
            </a:pPr>
            <a:r>
              <a:rPr lang="en-US" sz="1500" b="1" dirty="0">
                <a:solidFill>
                  <a:srgbClr val="8B7FD9"/>
                </a:solidFill>
                <a:latin typeface="Calibri" pitchFamily="34" charset="0"/>
                <a:ea typeface="Calibri" pitchFamily="34" charset="-122"/>
                <a:cs typeface="Calibri" pitchFamily="34" charset="-120"/>
              </a:rPr>
              <a:t>Load balancing — </a:t>
            </a:r>
            <a:pPr indent="0" marL="0">
              <a:spcAft>
                <a:spcPts val="1200"/>
              </a:spcAft>
              <a:buNone/>
            </a:pPr>
            <a:r>
              <a:rPr lang="en-US" sz="1500" dirty="0">
                <a:solidFill>
                  <a:srgbClr val="1F2429"/>
                </a:solidFill>
                <a:latin typeface="Calibri" pitchFamily="34" charset="0"/>
                <a:ea typeface="Calibri" pitchFamily="34" charset="-122"/>
                <a:cs typeface="Calibri" pitchFamily="34" charset="-120"/>
              </a:rPr>
              <a:t>distributing work across nodes also provides a performance benefit</a:t>
            </a:r>
            <a:endParaRPr lang="en-US" sz="1500" dirty="0"/>
          </a:p>
        </p:txBody>
      </p:sp>
      <p:sp>
        <p:nvSpPr>
          <p:cNvPr id="4" name="Text 2"/>
          <p:cNvSpPr txBox="1"/>
          <p:nvPr/>
        </p:nvSpPr>
        <p:spPr>
          <a:xfrm>
            <a:off x="9954158" y="6457493"/>
            <a:ext cx="2010766"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cuinotes.com"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Single-Processor vs. Multiprocessor vs. Clustered</a:t>
            </a:r>
            <a:endParaRPr lang="en-US" sz="2800" dirty="0"/>
          </a:p>
        </p:txBody>
      </p:sp>
      <p:sp>
        <p:nvSpPr>
          <p:cNvPr id="3" name="Shape 1"/>
          <p:cNvSpPr/>
          <p:nvPr/>
        </p:nvSpPr>
        <p:spPr>
          <a:xfrm>
            <a:off x="518008" y="2103120"/>
            <a:ext cx="3474720" cy="2194560"/>
          </a:xfrm>
          <a:prstGeom prst="roundRect">
            <a:avLst>
              <a:gd name="adj" fmla="val 5000"/>
            </a:avLst>
          </a:prstGeom>
          <a:solidFill>
            <a:srgbClr val="2FE6C4"/>
          </a:solidFill>
          <a:ln/>
        </p:spPr>
      </p:sp>
      <p:sp>
        <p:nvSpPr>
          <p:cNvPr id="4" name="Text 2"/>
          <p:cNvSpPr txBox="1"/>
          <p:nvPr/>
        </p:nvSpPr>
        <p:spPr>
          <a:xfrm>
            <a:off x="719176" y="2286000"/>
            <a:ext cx="3072384" cy="45720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Single-processor</a:t>
            </a:r>
            <a:endParaRPr lang="en-US" sz="1500" dirty="0"/>
          </a:p>
        </p:txBody>
      </p:sp>
      <p:sp>
        <p:nvSpPr>
          <p:cNvPr id="5" name="Text 3"/>
          <p:cNvSpPr txBox="1"/>
          <p:nvPr/>
        </p:nvSpPr>
        <p:spPr>
          <a:xfrm>
            <a:off x="719176" y="2761488"/>
            <a:ext cx="3072384" cy="137160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One general-purpose CPU, plus special-purpose controllers that never run user programs</a:t>
            </a:r>
            <a:endParaRPr lang="en-US" sz="1100" dirty="0"/>
          </a:p>
        </p:txBody>
      </p:sp>
      <p:sp>
        <p:nvSpPr>
          <p:cNvPr id="6" name="Shape 4"/>
          <p:cNvSpPr/>
          <p:nvPr/>
        </p:nvSpPr>
        <p:spPr>
          <a:xfrm>
            <a:off x="4358488" y="2103120"/>
            <a:ext cx="3474720" cy="2194560"/>
          </a:xfrm>
          <a:prstGeom prst="roundRect">
            <a:avLst>
              <a:gd name="adj" fmla="val 5000"/>
            </a:avLst>
          </a:prstGeom>
          <a:solidFill>
            <a:srgbClr val="8B7FD9"/>
          </a:solidFill>
          <a:ln/>
        </p:spPr>
      </p:sp>
      <p:sp>
        <p:nvSpPr>
          <p:cNvPr id="7" name="Text 5"/>
          <p:cNvSpPr txBox="1"/>
          <p:nvPr/>
        </p:nvSpPr>
        <p:spPr>
          <a:xfrm>
            <a:off x="4559656" y="2286000"/>
            <a:ext cx="3072384" cy="45720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Multiprocessor</a:t>
            </a:r>
            <a:endParaRPr lang="en-US" sz="1500" dirty="0"/>
          </a:p>
        </p:txBody>
      </p:sp>
      <p:sp>
        <p:nvSpPr>
          <p:cNvPr id="8" name="Text 6"/>
          <p:cNvSpPr txBox="1"/>
          <p:nvPr/>
        </p:nvSpPr>
        <p:spPr>
          <a:xfrm>
            <a:off x="4559656" y="2761488"/>
            <a:ext cx="3072384" cy="137160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Tightly coupled — several CPUs share one bus, clock, memory, and peripherals</a:t>
            </a:r>
            <a:endParaRPr lang="en-US" sz="1100" dirty="0"/>
          </a:p>
        </p:txBody>
      </p:sp>
      <p:sp>
        <p:nvSpPr>
          <p:cNvPr id="9" name="Shape 7"/>
          <p:cNvSpPr/>
          <p:nvPr/>
        </p:nvSpPr>
        <p:spPr>
          <a:xfrm>
            <a:off x="8198968" y="2103120"/>
            <a:ext cx="3474720" cy="2194560"/>
          </a:xfrm>
          <a:prstGeom prst="roundRect">
            <a:avLst>
              <a:gd name="adj" fmla="val 5000"/>
            </a:avLst>
          </a:prstGeom>
          <a:solidFill>
            <a:srgbClr val="E8A33D"/>
          </a:solidFill>
          <a:ln/>
        </p:spPr>
      </p:sp>
      <p:sp>
        <p:nvSpPr>
          <p:cNvPr id="10" name="Text 8"/>
          <p:cNvSpPr txBox="1"/>
          <p:nvPr/>
        </p:nvSpPr>
        <p:spPr>
          <a:xfrm>
            <a:off x="8400136" y="2286000"/>
            <a:ext cx="3072384" cy="45720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Clustered</a:t>
            </a:r>
            <a:endParaRPr lang="en-US" sz="1500" dirty="0"/>
          </a:p>
        </p:txBody>
      </p:sp>
      <p:sp>
        <p:nvSpPr>
          <p:cNvPr id="11" name="Text 9"/>
          <p:cNvSpPr txBox="1"/>
          <p:nvPr/>
        </p:nvSpPr>
        <p:spPr>
          <a:xfrm>
            <a:off x="8400136" y="2761488"/>
            <a:ext cx="3072384" cy="137160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Loosely coupled — independent computers, each with its own OS, sharing storage over a SAN</a:t>
            </a:r>
            <a:endParaRPr lang="en-US" sz="1100" dirty="0"/>
          </a:p>
        </p:txBody>
      </p:sp>
      <p:sp>
        <p:nvSpPr>
          <p:cNvPr id="12" name="Shape 10"/>
          <p:cNvSpPr/>
          <p:nvPr/>
        </p:nvSpPr>
        <p:spPr>
          <a:xfrm>
            <a:off x="1280160" y="4663440"/>
            <a:ext cx="9601200" cy="1188720"/>
          </a:xfrm>
          <a:prstGeom prst="roundRect">
            <a:avLst>
              <a:gd name="adj" fmla="val 6154"/>
            </a:avLst>
          </a:prstGeom>
          <a:solidFill>
            <a:srgbClr val="FFFFFF"/>
          </a:solidFill>
          <a:ln w="19050">
            <a:solidFill>
              <a:srgbClr val="E8A33D"/>
            </a:solidFill>
            <a:prstDash val="solid"/>
          </a:ln>
        </p:spPr>
      </p:sp>
      <p:sp>
        <p:nvSpPr>
          <p:cNvPr id="13" name="Text 11"/>
          <p:cNvSpPr txBox="1"/>
          <p:nvPr/>
        </p:nvSpPr>
        <p:spPr>
          <a:xfrm>
            <a:off x="1554480" y="4846320"/>
            <a:ext cx="9052560" cy="320040"/>
          </a:xfrm>
          <a:prstGeom prst="rect">
            <a:avLst/>
          </a:prstGeom>
          <a:noFill/>
          <a:ln/>
        </p:spPr>
        <p:txBody>
          <a:bodyPr wrap="square" lIns="0" tIns="0" rIns="0" bIns="0" rtlCol="0" anchor="ctr"/>
          <a:lstStyle/>
          <a:p>
            <a:pPr indent="0" marL="0">
              <a:buNone/>
            </a:pPr>
            <a:r>
              <a:rPr lang="en-US" sz="1300" b="1" dirty="0">
                <a:solidFill>
                  <a:srgbClr val="E8A33D"/>
                </a:solidFill>
                <a:latin typeface="Calibri" pitchFamily="34" charset="0"/>
                <a:ea typeface="Calibri" pitchFamily="34" charset="-122"/>
                <a:cs typeface="Calibri" pitchFamily="34" charset="-120"/>
              </a:rPr>
              <a:t>Not the same thing</a:t>
            </a:r>
            <a:endParaRPr lang="en-US" sz="1300" dirty="0"/>
          </a:p>
        </p:txBody>
      </p:sp>
      <p:sp>
        <p:nvSpPr>
          <p:cNvPr id="14" name="Text 12"/>
          <p:cNvSpPr txBox="1"/>
          <p:nvPr/>
        </p:nvSpPr>
        <p:spPr>
          <a:xfrm>
            <a:off x="1554480" y="5212080"/>
            <a:ext cx="9052560" cy="502920"/>
          </a:xfrm>
          <a:prstGeom prst="rect">
            <a:avLst/>
          </a:prstGeom>
          <a:noFill/>
          <a:ln/>
        </p:spPr>
        <p:txBody>
          <a:bodyPr wrap="square" lIns="0" tIns="0" rIns="0" bIns="0" rtlCol="0" anchor="t"/>
          <a:lstStyle/>
          <a:p>
            <a:pPr indent="0" marL="0">
              <a:buNone/>
            </a:pPr>
            <a:r>
              <a:rPr lang="en-US" sz="1300" dirty="0">
                <a:solidFill>
                  <a:srgbClr val="1F2429"/>
                </a:solidFill>
                <a:latin typeface="Calibri" pitchFamily="34" charset="0"/>
                <a:ea typeface="Calibri" pitchFamily="34" charset="-122"/>
                <a:cs typeface="Calibri" pitchFamily="34" charset="-120"/>
              </a:rPr>
              <a:t>A multiprocessor system's CPUs share one memory and one OS instance over a shared bus; a cluster's nodes each run their own OS and communicate over a network, sharing only storage.</a:t>
            </a:r>
            <a:endParaRPr lang="en-US" sz="1300" dirty="0"/>
          </a:p>
        </p:txBody>
      </p:sp>
      <p:sp>
        <p:nvSpPr>
          <p:cNvPr id="15" name="Text 13"/>
          <p:cNvSpPr txBox="1"/>
          <p:nvPr/>
        </p:nvSpPr>
        <p:spPr>
          <a:xfrm>
            <a:off x="9954158" y="6457493"/>
            <a:ext cx="2010766"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cuinotes.com"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Multiprogramming and Multitasking</a:t>
            </a:r>
            <a:endParaRPr lang="en-US" sz="2800" dirty="0"/>
          </a:p>
        </p:txBody>
      </p:sp>
      <p:sp>
        <p:nvSpPr>
          <p:cNvPr id="3" name="Text 1"/>
          <p:cNvSpPr txBox="1"/>
          <p:nvPr/>
        </p:nvSpPr>
        <p:spPr>
          <a:xfrm>
            <a:off x="640080" y="1188720"/>
            <a:ext cx="10881360" cy="457200"/>
          </a:xfrm>
          <a:prstGeom prst="rect">
            <a:avLst/>
          </a:prstGeom>
          <a:noFill/>
          <a:ln/>
        </p:spPr>
        <p:txBody>
          <a:bodyPr wrap="square" lIns="0" tIns="0" rIns="0" bIns="0" rtlCol="0" anchor="t"/>
          <a:lstStyle/>
          <a:p>
            <a:pPr indent="0" marL="0">
              <a:buNone/>
            </a:pPr>
            <a:r>
              <a:rPr lang="en-US" sz="1500" dirty="0">
                <a:solidFill>
                  <a:srgbClr val="1F2429"/>
                </a:solidFill>
                <a:latin typeface="Calibri" pitchFamily="34" charset="0"/>
                <a:ea typeface="Calibri" pitchFamily="34" charset="-122"/>
                <a:cs typeface="Calibri" pitchFamily="34" charset="-120"/>
              </a:rPr>
              <a:t>The earliest systems ran one job at a time; the CPU sat idle whenever that job waited for I/O.</a:t>
            </a:r>
            <a:endParaRPr lang="en-US" sz="1500" dirty="0"/>
          </a:p>
        </p:txBody>
      </p:sp>
      <p:sp>
        <p:nvSpPr>
          <p:cNvPr id="4" name="Shape 2"/>
          <p:cNvSpPr/>
          <p:nvPr/>
        </p:nvSpPr>
        <p:spPr>
          <a:xfrm>
            <a:off x="838048" y="1828800"/>
            <a:ext cx="5029200" cy="2103120"/>
          </a:xfrm>
          <a:prstGeom prst="roundRect">
            <a:avLst>
              <a:gd name="adj" fmla="val 5217"/>
            </a:avLst>
          </a:prstGeom>
          <a:solidFill>
            <a:srgbClr val="2FE6C4"/>
          </a:solidFill>
          <a:ln/>
        </p:spPr>
      </p:sp>
      <p:sp>
        <p:nvSpPr>
          <p:cNvPr id="5" name="Text 3"/>
          <p:cNvSpPr txBox="1"/>
          <p:nvPr/>
        </p:nvSpPr>
        <p:spPr>
          <a:xfrm>
            <a:off x="1039216" y="2011680"/>
            <a:ext cx="4626864" cy="45720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Multiprogramming</a:t>
            </a:r>
            <a:endParaRPr lang="en-US" sz="1500" dirty="0"/>
          </a:p>
        </p:txBody>
      </p:sp>
      <p:sp>
        <p:nvSpPr>
          <p:cNvPr id="6" name="Text 4"/>
          <p:cNvSpPr txBox="1"/>
          <p:nvPr/>
        </p:nvSpPr>
        <p:spPr>
          <a:xfrm>
            <a:off x="1039216" y="2487168"/>
            <a:ext cx="4626864" cy="128016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Keeps several jobs in memory as a job pool; the instant one waits on I/O, the OS switches to another — goal: CPU utilization</a:t>
            </a:r>
            <a:endParaRPr lang="en-US" sz="1100" dirty="0"/>
          </a:p>
        </p:txBody>
      </p:sp>
      <p:sp>
        <p:nvSpPr>
          <p:cNvPr id="7" name="Shape 5"/>
          <p:cNvSpPr/>
          <p:nvPr/>
        </p:nvSpPr>
        <p:spPr>
          <a:xfrm>
            <a:off x="6324448" y="1828800"/>
            <a:ext cx="5029200" cy="2103120"/>
          </a:xfrm>
          <a:prstGeom prst="roundRect">
            <a:avLst>
              <a:gd name="adj" fmla="val 5217"/>
            </a:avLst>
          </a:prstGeom>
          <a:solidFill>
            <a:srgbClr val="8B7FD9"/>
          </a:solidFill>
          <a:ln/>
        </p:spPr>
      </p:sp>
      <p:sp>
        <p:nvSpPr>
          <p:cNvPr id="8" name="Text 6"/>
          <p:cNvSpPr txBox="1"/>
          <p:nvPr/>
        </p:nvSpPr>
        <p:spPr>
          <a:xfrm>
            <a:off x="6525616" y="2011680"/>
            <a:ext cx="4626864" cy="45720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Multitasking / timesharing</a:t>
            </a:r>
            <a:endParaRPr lang="en-US" sz="1500" dirty="0"/>
          </a:p>
        </p:txBody>
      </p:sp>
      <p:sp>
        <p:nvSpPr>
          <p:cNvPr id="9" name="Text 7"/>
          <p:cNvSpPr txBox="1"/>
          <p:nvPr/>
        </p:nvSpPr>
        <p:spPr>
          <a:xfrm>
            <a:off x="6525616" y="2487168"/>
            <a:ext cx="4626864" cy="128016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Switches between jobs so fast that users can interact with each one — goal: responsiveness, typically well under a second</a:t>
            </a:r>
            <a:endParaRPr lang="en-US" sz="1100" dirty="0"/>
          </a:p>
        </p:txBody>
      </p:sp>
      <p:sp>
        <p:nvSpPr>
          <p:cNvPr id="10" name="Text 8"/>
          <p:cNvSpPr txBox="1"/>
          <p:nvPr/>
        </p:nvSpPr>
        <p:spPr>
          <a:xfrm>
            <a:off x="640080" y="4206240"/>
            <a:ext cx="10881360" cy="731520"/>
          </a:xfrm>
          <a:prstGeom prst="rect">
            <a:avLst/>
          </a:prstGeom>
          <a:noFill/>
          <a:ln/>
        </p:spPr>
        <p:txBody>
          <a:bodyPr wrap="square" lIns="0" tIns="0" rIns="0" bIns="0" rtlCol="0" anchor="t"/>
          <a:lstStyle/>
          <a:p>
            <a:pPr indent="0" marL="0">
              <a:buNone/>
            </a:pPr>
            <a:r>
              <a:rPr lang="en-US" sz="1300" dirty="0">
                <a:solidFill>
                  <a:srgbClr val="8A939B"/>
                </a:solidFill>
                <a:latin typeface="Calibri" pitchFamily="34" charset="0"/>
                <a:ea typeface="Calibri" pitchFamily="34" charset="-122"/>
                <a:cs typeface="Calibri" pitchFamily="34" charset="-120"/>
              </a:rPr>
              <a:t>A program loaded into memory and executing is called a process. Multitasking is built on top of multiprogramming's job-switching idea, but the two solve different problems.</a:t>
            </a:r>
            <a:endParaRPr lang="en-US" sz="1300" dirty="0"/>
          </a:p>
        </p:txBody>
      </p:sp>
      <p:sp>
        <p:nvSpPr>
          <p:cNvPr id="11" name="Text 9"/>
          <p:cNvSpPr txBox="1"/>
          <p:nvPr/>
        </p:nvSpPr>
        <p:spPr>
          <a:xfrm>
            <a:off x="9954158" y="6457493"/>
            <a:ext cx="2010766"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cuinotes.com"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Dual-Mode Execution</a:t>
            </a:r>
            <a:endParaRPr lang="en-US" sz="2800" dirty="0"/>
          </a:p>
        </p:txBody>
      </p:sp>
      <p:sp>
        <p:nvSpPr>
          <p:cNvPr id="3" name="Text 1"/>
          <p:cNvSpPr txBox="1"/>
          <p:nvPr/>
        </p:nvSpPr>
        <p:spPr>
          <a:xfrm>
            <a:off x="640080" y="1188720"/>
            <a:ext cx="10881360" cy="640080"/>
          </a:xfrm>
          <a:prstGeom prst="rect">
            <a:avLst/>
          </a:prstGeom>
          <a:noFill/>
          <a:ln/>
        </p:spPr>
        <p:txBody>
          <a:bodyPr wrap="square" lIns="0" tIns="0" rIns="0" bIns="0" rtlCol="0" anchor="t"/>
          <a:lstStyle/>
          <a:p>
            <a:pPr indent="0" marL="0">
              <a:buNone/>
            </a:pPr>
            <a:r>
              <a:rPr lang="en-US" sz="1500" dirty="0">
                <a:solidFill>
                  <a:srgbClr val="1F2429"/>
                </a:solidFill>
                <a:latin typeface="Calibri" pitchFamily="34" charset="0"/>
                <a:ea typeface="Calibri" pitchFamily="34" charset="-122"/>
                <a:cs typeface="Calibri" pitchFamily="34" charset="-120"/>
              </a:rPr>
              <a:t>Sharing one CPU among independent programs is dangerous unless hardware enforces limits — a software policy alone cannot guarantee protection.</a:t>
            </a:r>
            <a:endParaRPr lang="en-US" sz="1500" dirty="0"/>
          </a:p>
        </p:txBody>
      </p:sp>
      <p:sp>
        <p:nvSpPr>
          <p:cNvPr id="4" name="Text 2"/>
          <p:cNvSpPr txBox="1"/>
          <p:nvPr/>
        </p:nvSpPr>
        <p:spPr>
          <a:xfrm>
            <a:off x="640080" y="1874520"/>
            <a:ext cx="10881360" cy="4526280"/>
          </a:xfrm>
          <a:prstGeom prst="rect">
            <a:avLst/>
          </a:prstGeom>
          <a:noFill/>
          <a:ln/>
        </p:spPr>
        <p:txBody>
          <a:bodyPr wrap="square" lIns="0" tIns="0" rIns="0" bIns="0" rtlCol="0" anchor="t"/>
          <a:lstStyle/>
          <a:p>
            <a:pPr marL="342900" indent="-342900">
              <a:buSzPct val="100000"/>
              <a:buChar char="●"/>
            </a:pPr>
            <a:r>
              <a:rPr lang="en-US" sz="1500" b="1" dirty="0">
                <a:solidFill>
                  <a:srgbClr val="8B7FD9"/>
                </a:solidFill>
                <a:latin typeface="Calibri" pitchFamily="34" charset="0"/>
                <a:ea typeface="Calibri" pitchFamily="34" charset="-122"/>
                <a:cs typeface="Calibri" pitchFamily="34" charset="-120"/>
              </a:rPr>
              <a:t>Two hardware modes — </a:t>
            </a:r>
            <a:pPr indent="0" marL="0">
              <a:spcAft>
                <a:spcPts val="1200"/>
              </a:spcAft>
              <a:buNone/>
            </a:pPr>
            <a:r>
              <a:rPr lang="en-US" sz="1500" dirty="0">
                <a:solidFill>
                  <a:srgbClr val="1F2429"/>
                </a:solidFill>
                <a:latin typeface="Calibri" pitchFamily="34" charset="0"/>
                <a:ea typeface="Calibri" pitchFamily="34" charset="-122"/>
                <a:cs typeface="Calibri" pitchFamily="34" charset="-120"/>
              </a:rPr>
              <a:t>user mode and kernel mode (also: supervisor / system / privileged), tracked by a single mode bit — 0 for kernel, 1 for user</a:t>
            </a:r>
            <a:endParaRPr lang="en-US" sz="1500" dirty="0"/>
          </a:p>
          <a:p>
            <a:pPr marL="342900" indent="-342900">
              <a:buSzPct val="100000"/>
              <a:buChar char="●"/>
            </a:pPr>
            <a:r>
              <a:rPr lang="en-US" sz="1500" b="1" dirty="0">
                <a:solidFill>
                  <a:srgbClr val="8B7FD9"/>
                </a:solidFill>
                <a:latin typeface="Calibri" pitchFamily="34" charset="0"/>
                <a:ea typeface="Calibri" pitchFamily="34" charset="-122"/>
                <a:cs typeface="Calibri" pitchFamily="34" charset="-120"/>
              </a:rPr>
              <a:t>At boot — </a:t>
            </a:r>
            <a:pPr indent="0" marL="0">
              <a:spcAft>
                <a:spcPts val="1200"/>
              </a:spcAft>
              <a:buNone/>
            </a:pPr>
            <a:r>
              <a:rPr lang="en-US" sz="1500" dirty="0">
                <a:solidFill>
                  <a:srgbClr val="1F2429"/>
                </a:solidFill>
                <a:latin typeface="Calibri" pitchFamily="34" charset="0"/>
                <a:ea typeface="Calibri" pitchFamily="34" charset="-122"/>
                <a:cs typeface="Calibri" pitchFamily="34" charset="-120"/>
              </a:rPr>
              <a:t>hardware starts in kernel mode; the OS loads while still in kernel mode; the bit flips to user mode once user processes begin</a:t>
            </a:r>
            <a:endParaRPr lang="en-US" sz="1500" dirty="0"/>
          </a:p>
          <a:p>
            <a:pPr marL="342900" indent="-342900">
              <a:buSzPct val="100000"/>
              <a:buChar char="●"/>
            </a:pPr>
            <a:r>
              <a:rPr lang="en-US" sz="1500" b="1" dirty="0">
                <a:solidFill>
                  <a:srgbClr val="8B7FD9"/>
                </a:solidFill>
                <a:latin typeface="Calibri" pitchFamily="34" charset="0"/>
                <a:ea typeface="Calibri" pitchFamily="34" charset="-122"/>
                <a:cs typeface="Calibri" pitchFamily="34" charset="-120"/>
              </a:rPr>
              <a:t>Privileged instructions — </a:t>
            </a:r>
            <a:pPr indent="0" marL="0">
              <a:spcAft>
                <a:spcPts val="1200"/>
              </a:spcAft>
              <a:buNone/>
            </a:pPr>
            <a:r>
              <a:rPr lang="en-US" sz="1500" dirty="0">
                <a:solidFill>
                  <a:srgbClr val="1F2429"/>
                </a:solidFill>
                <a:latin typeface="Calibri" pitchFamily="34" charset="0"/>
                <a:ea typeface="Calibri" pitchFamily="34" charset="-122"/>
                <a:cs typeface="Calibri" pitchFamily="34" charset="-120"/>
              </a:rPr>
              <a:t>controlling I/O, the timer, interrupts, memory protection — only executable when the mode bit says kernel mode</a:t>
            </a:r>
            <a:endParaRPr lang="en-US" sz="1500" dirty="0"/>
          </a:p>
          <a:p>
            <a:pPr marL="342900" indent="-342900">
              <a:buSzPct val="100000"/>
              <a:buChar char="●"/>
            </a:pPr>
            <a:r>
              <a:rPr lang="en-US" sz="1500" b="1" dirty="0">
                <a:solidFill>
                  <a:srgbClr val="8B7FD9"/>
                </a:solidFill>
                <a:latin typeface="Calibri" pitchFamily="34" charset="0"/>
                <a:ea typeface="Calibri" pitchFamily="34" charset="-122"/>
                <a:cs typeface="Calibri" pitchFamily="34" charset="-120"/>
              </a:rPr>
              <a:t>The only sanctioned doorway — </a:t>
            </a:r>
            <a:pPr indent="0" marL="0">
              <a:spcAft>
                <a:spcPts val="1200"/>
              </a:spcAft>
              <a:buNone/>
            </a:pPr>
            <a:r>
              <a:rPr lang="en-US" sz="1500" dirty="0">
                <a:solidFill>
                  <a:srgbClr val="1F2429"/>
                </a:solidFill>
                <a:latin typeface="Calibri" pitchFamily="34" charset="0"/>
                <a:ea typeface="Calibri" pitchFamily="34" charset="-122"/>
                <a:cs typeface="Calibri" pitchFamily="34" charset="-120"/>
              </a:rPr>
              <a:t>a user program asks the OS to act on its behalf only through a system call (Lecture 3)</a:t>
            </a:r>
            <a:endParaRPr lang="en-US" sz="1500" dirty="0"/>
          </a:p>
        </p:txBody>
      </p:sp>
      <p:sp>
        <p:nvSpPr>
          <p:cNvPr id="5" name="Text 3"/>
          <p:cNvSpPr txBox="1"/>
          <p:nvPr/>
        </p:nvSpPr>
        <p:spPr>
          <a:xfrm>
            <a:off x="9954158" y="6457493"/>
            <a:ext cx="2010766"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cuinotes.com"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The Dual-Mode Execution Cycle</a:t>
            </a:r>
            <a:endParaRPr lang="en-US" sz="2800" dirty="0"/>
          </a:p>
        </p:txBody>
      </p:sp>
      <p:sp>
        <p:nvSpPr>
          <p:cNvPr id="3" name="Shape 1"/>
          <p:cNvSpPr/>
          <p:nvPr/>
        </p:nvSpPr>
        <p:spPr>
          <a:xfrm>
            <a:off x="952348" y="2468880"/>
            <a:ext cx="2331720" cy="1645920"/>
          </a:xfrm>
          <a:prstGeom prst="roundRect">
            <a:avLst>
              <a:gd name="adj" fmla="val 6667"/>
            </a:avLst>
          </a:prstGeom>
          <a:solidFill>
            <a:srgbClr val="2FE6C4"/>
          </a:solidFill>
          <a:ln/>
        </p:spPr>
      </p:sp>
      <p:sp>
        <p:nvSpPr>
          <p:cNvPr id="4" name="Text 2"/>
          <p:cNvSpPr txBox="1"/>
          <p:nvPr/>
        </p:nvSpPr>
        <p:spPr>
          <a:xfrm>
            <a:off x="1116940" y="2615184"/>
            <a:ext cx="2002536" cy="45720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User mode (bit = 1)</a:t>
            </a:r>
            <a:endParaRPr lang="en-US" sz="1300" dirty="0"/>
          </a:p>
        </p:txBody>
      </p:sp>
      <p:sp>
        <p:nvSpPr>
          <p:cNvPr id="5" name="Text 3"/>
          <p:cNvSpPr txBox="1"/>
          <p:nvPr/>
        </p:nvSpPr>
        <p:spPr>
          <a:xfrm>
            <a:off x="1116940" y="3035808"/>
            <a:ext cx="2002536" cy="932688"/>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Ordinary program; privileged instructions are forbidden</a:t>
            </a:r>
            <a:endParaRPr lang="en-US" sz="1000" dirty="0"/>
          </a:p>
        </p:txBody>
      </p:sp>
      <p:sp>
        <p:nvSpPr>
          <p:cNvPr id="6" name="Shape 4"/>
          <p:cNvSpPr/>
          <p:nvPr/>
        </p:nvSpPr>
        <p:spPr>
          <a:xfrm>
            <a:off x="3279496" y="3200400"/>
            <a:ext cx="649224" cy="182880"/>
          </a:xfrm>
          <a:prstGeom prst="rightArrow">
            <a:avLst/>
          </a:prstGeom>
          <a:solidFill>
            <a:srgbClr val="8A939B"/>
          </a:solidFill>
          <a:ln/>
        </p:spPr>
      </p:sp>
      <p:sp>
        <p:nvSpPr>
          <p:cNvPr id="7" name="Shape 5"/>
          <p:cNvSpPr/>
          <p:nvPr/>
        </p:nvSpPr>
        <p:spPr>
          <a:xfrm>
            <a:off x="3604108" y="2468880"/>
            <a:ext cx="2331720" cy="1645920"/>
          </a:xfrm>
          <a:prstGeom prst="roundRect">
            <a:avLst>
              <a:gd name="adj" fmla="val 6667"/>
            </a:avLst>
          </a:prstGeom>
          <a:solidFill>
            <a:srgbClr val="E8A33D"/>
          </a:solidFill>
          <a:ln/>
        </p:spPr>
      </p:sp>
      <p:sp>
        <p:nvSpPr>
          <p:cNvPr id="8" name="Text 6"/>
          <p:cNvSpPr txBox="1"/>
          <p:nvPr/>
        </p:nvSpPr>
        <p:spPr>
          <a:xfrm>
            <a:off x="3768700" y="2615184"/>
            <a:ext cx="2002536" cy="45720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Trap (bit → 0)</a:t>
            </a:r>
            <a:endParaRPr lang="en-US" sz="1300" dirty="0"/>
          </a:p>
        </p:txBody>
      </p:sp>
      <p:sp>
        <p:nvSpPr>
          <p:cNvPr id="9" name="Text 7"/>
          <p:cNvSpPr txBox="1"/>
          <p:nvPr/>
        </p:nvSpPr>
        <p:spPr>
          <a:xfrm>
            <a:off x="3768700" y="3035808"/>
            <a:ext cx="2002536" cy="932688"/>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A system call, or an illegal instruction, forces a switch</a:t>
            </a:r>
            <a:endParaRPr lang="en-US" sz="1000" dirty="0"/>
          </a:p>
        </p:txBody>
      </p:sp>
      <p:sp>
        <p:nvSpPr>
          <p:cNvPr id="10" name="Shape 8"/>
          <p:cNvSpPr/>
          <p:nvPr/>
        </p:nvSpPr>
        <p:spPr>
          <a:xfrm>
            <a:off x="5931256" y="3200400"/>
            <a:ext cx="649224" cy="182880"/>
          </a:xfrm>
          <a:prstGeom prst="rightArrow">
            <a:avLst/>
          </a:prstGeom>
          <a:solidFill>
            <a:srgbClr val="8A939B"/>
          </a:solidFill>
          <a:ln/>
        </p:spPr>
      </p:sp>
      <p:sp>
        <p:nvSpPr>
          <p:cNvPr id="11" name="Shape 9"/>
          <p:cNvSpPr/>
          <p:nvPr/>
        </p:nvSpPr>
        <p:spPr>
          <a:xfrm>
            <a:off x="6255868" y="2468880"/>
            <a:ext cx="2331720" cy="1645920"/>
          </a:xfrm>
          <a:prstGeom prst="roundRect">
            <a:avLst>
              <a:gd name="adj" fmla="val 6667"/>
            </a:avLst>
          </a:prstGeom>
          <a:solidFill>
            <a:srgbClr val="8B7FD9"/>
          </a:solidFill>
          <a:ln/>
        </p:spPr>
      </p:sp>
      <p:sp>
        <p:nvSpPr>
          <p:cNvPr id="12" name="Text 10"/>
          <p:cNvSpPr txBox="1"/>
          <p:nvPr/>
        </p:nvSpPr>
        <p:spPr>
          <a:xfrm>
            <a:off x="6420460" y="2615184"/>
            <a:ext cx="2002536" cy="45720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Kernel mode (bit = 0)</a:t>
            </a:r>
            <a:endParaRPr lang="en-US" sz="1300" dirty="0"/>
          </a:p>
        </p:txBody>
      </p:sp>
      <p:sp>
        <p:nvSpPr>
          <p:cNvPr id="13" name="Text 11"/>
          <p:cNvSpPr txBox="1"/>
          <p:nvPr/>
        </p:nvSpPr>
        <p:spPr>
          <a:xfrm>
            <a:off x="6420460" y="3035808"/>
            <a:ext cx="2002536" cy="932688"/>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OS code runs; privileged instructions are now allowed</a:t>
            </a:r>
            <a:endParaRPr lang="en-US" sz="1000" dirty="0"/>
          </a:p>
        </p:txBody>
      </p:sp>
      <p:sp>
        <p:nvSpPr>
          <p:cNvPr id="14" name="Shape 12"/>
          <p:cNvSpPr/>
          <p:nvPr/>
        </p:nvSpPr>
        <p:spPr>
          <a:xfrm>
            <a:off x="8583016" y="3200400"/>
            <a:ext cx="649224" cy="182880"/>
          </a:xfrm>
          <a:prstGeom prst="rightArrow">
            <a:avLst/>
          </a:prstGeom>
          <a:solidFill>
            <a:srgbClr val="8A939B"/>
          </a:solidFill>
          <a:ln/>
        </p:spPr>
      </p:sp>
      <p:sp>
        <p:nvSpPr>
          <p:cNvPr id="15" name="Shape 13"/>
          <p:cNvSpPr/>
          <p:nvPr/>
        </p:nvSpPr>
        <p:spPr>
          <a:xfrm>
            <a:off x="8907628" y="2468880"/>
            <a:ext cx="2331720" cy="1645920"/>
          </a:xfrm>
          <a:prstGeom prst="roundRect">
            <a:avLst>
              <a:gd name="adj" fmla="val 6667"/>
            </a:avLst>
          </a:prstGeom>
          <a:solidFill>
            <a:srgbClr val="2FE6C4"/>
          </a:solidFill>
          <a:ln/>
        </p:spPr>
      </p:sp>
      <p:sp>
        <p:nvSpPr>
          <p:cNvPr id="16" name="Text 14"/>
          <p:cNvSpPr txBox="1"/>
          <p:nvPr/>
        </p:nvSpPr>
        <p:spPr>
          <a:xfrm>
            <a:off x="9072220" y="2615184"/>
            <a:ext cx="2002536" cy="45720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Return (bit → 1)</a:t>
            </a:r>
            <a:endParaRPr lang="en-US" sz="1300" dirty="0"/>
          </a:p>
        </p:txBody>
      </p:sp>
      <p:sp>
        <p:nvSpPr>
          <p:cNvPr id="17" name="Text 15"/>
          <p:cNvSpPr txBox="1"/>
          <p:nvPr/>
        </p:nvSpPr>
        <p:spPr>
          <a:xfrm>
            <a:off x="9072220" y="3035808"/>
            <a:ext cx="2002536" cy="932688"/>
          </a:xfrm>
          <a:prstGeom prst="rect">
            <a:avLst/>
          </a:prstGeom>
          <a:noFill/>
          <a:ln/>
        </p:spPr>
        <p:txBody>
          <a:bodyPr wrap="square" lIns="0" tIns="0" rIns="0" bIns="0" rtlCol="0" anchor="t"/>
          <a:lstStyle/>
          <a:p>
            <a:pPr indent="0" marL="0">
              <a:buNone/>
            </a:pPr>
            <a:r>
              <a:rPr lang="en-US" sz="1000" dirty="0">
                <a:solidFill>
                  <a:srgbClr val="FFFFFF"/>
                </a:solidFill>
                <a:latin typeface="Calibri" pitchFamily="34" charset="0"/>
                <a:ea typeface="Calibri" pitchFamily="34" charset="-122"/>
                <a:cs typeface="Calibri" pitchFamily="34" charset="-120"/>
              </a:rPr>
              <a:t>Control passes back to the user program, in user mode again</a:t>
            </a:r>
            <a:endParaRPr lang="en-US" sz="1000" dirty="0"/>
          </a:p>
        </p:txBody>
      </p:sp>
      <p:sp>
        <p:nvSpPr>
          <p:cNvPr id="18" name="Text 16"/>
          <p:cNvSpPr txBox="1"/>
          <p:nvPr/>
        </p:nvSpPr>
        <p:spPr>
          <a:xfrm>
            <a:off x="640080" y="4663440"/>
            <a:ext cx="10881360" cy="822960"/>
          </a:xfrm>
          <a:prstGeom prst="rect">
            <a:avLst/>
          </a:prstGeom>
          <a:noFill/>
          <a:ln/>
        </p:spPr>
        <p:txBody>
          <a:bodyPr wrap="square" lIns="0" tIns="0" rIns="0" bIns="0" rtlCol="0" anchor="t"/>
          <a:lstStyle/>
          <a:p>
            <a:pPr indent="0" marL="0">
              <a:buNone/>
            </a:pPr>
            <a:r>
              <a:rPr lang="en-US" sz="1300" dirty="0">
                <a:solidFill>
                  <a:srgbClr val="8A939B"/>
                </a:solidFill>
                <a:latin typeface="Calibri" pitchFamily="34" charset="0"/>
                <a:ea typeface="Calibri" pitchFamily="34" charset="-122"/>
                <a:cs typeface="Calibri" pitchFamily="34" charset="-120"/>
              </a:rPr>
              <a:t>If a user-mode program attempts a privileged instruction anyway, the hardware itself refuses and traps into the OS — this is the entire basis of OS protection.</a:t>
            </a:r>
            <a:endParaRPr lang="en-US" sz="1300" dirty="0"/>
          </a:p>
        </p:txBody>
      </p:sp>
      <p:sp>
        <p:nvSpPr>
          <p:cNvPr id="19" name="Text 17"/>
          <p:cNvSpPr txBox="1"/>
          <p:nvPr/>
        </p:nvSpPr>
        <p:spPr>
          <a:xfrm>
            <a:off x="9954158" y="6457493"/>
            <a:ext cx="2010766"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cuinotes.com"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Multimode Execution</a:t>
            </a:r>
            <a:endParaRPr lang="en-US" sz="2800" dirty="0"/>
          </a:p>
        </p:txBody>
      </p:sp>
      <p:sp>
        <p:nvSpPr>
          <p:cNvPr id="3" name="Text 1"/>
          <p:cNvSpPr txBox="1"/>
          <p:nvPr/>
        </p:nvSpPr>
        <p:spPr>
          <a:xfrm>
            <a:off x="640080" y="1188720"/>
            <a:ext cx="10881360" cy="640080"/>
          </a:xfrm>
          <a:prstGeom prst="rect">
            <a:avLst/>
          </a:prstGeom>
          <a:noFill/>
          <a:ln/>
        </p:spPr>
        <p:txBody>
          <a:bodyPr wrap="square" lIns="0" tIns="0" rIns="0" bIns="0" rtlCol="0" anchor="t"/>
          <a:lstStyle/>
          <a:p>
            <a:pPr indent="0" marL="0">
              <a:buNone/>
            </a:pPr>
            <a:r>
              <a:rPr lang="en-US" sz="1500" dirty="0">
                <a:solidFill>
                  <a:srgbClr val="1F2429"/>
                </a:solidFill>
                <a:latin typeface="Calibri" pitchFamily="34" charset="0"/>
                <a:ea typeface="Calibri" pitchFamily="34" charset="-122"/>
                <a:cs typeface="Calibri" pitchFamily="34" charset="-120"/>
              </a:rPr>
              <a:t>Dual mode was enough when “trusted OS” and “untrusted program” were the only two categories. Modern hardware, driven by virtualization, adds a third privilege level.</a:t>
            </a:r>
            <a:endParaRPr lang="en-US" sz="1500" dirty="0"/>
          </a:p>
        </p:txBody>
      </p:sp>
      <p:sp>
        <p:nvSpPr>
          <p:cNvPr id="4" name="Shape 2"/>
          <p:cNvSpPr/>
          <p:nvPr/>
        </p:nvSpPr>
        <p:spPr>
          <a:xfrm>
            <a:off x="1097280" y="2103120"/>
            <a:ext cx="9966960" cy="2194560"/>
          </a:xfrm>
          <a:prstGeom prst="roundRect">
            <a:avLst>
              <a:gd name="adj" fmla="val 3333"/>
            </a:avLst>
          </a:prstGeom>
          <a:solidFill>
            <a:srgbClr val="FFFFFF"/>
          </a:solidFill>
          <a:ln w="19050">
            <a:solidFill>
              <a:srgbClr val="8B7FD9"/>
            </a:solidFill>
            <a:prstDash val="solid"/>
          </a:ln>
        </p:spPr>
      </p:sp>
      <p:sp>
        <p:nvSpPr>
          <p:cNvPr id="5" name="Text 3"/>
          <p:cNvSpPr txBox="1"/>
          <p:nvPr/>
        </p:nvSpPr>
        <p:spPr>
          <a:xfrm>
            <a:off x="1371600" y="2286000"/>
            <a:ext cx="9418320" cy="320040"/>
          </a:xfrm>
          <a:prstGeom prst="rect">
            <a:avLst/>
          </a:prstGeom>
          <a:noFill/>
          <a:ln/>
        </p:spPr>
        <p:txBody>
          <a:bodyPr wrap="square" lIns="0" tIns="0" rIns="0" bIns="0" rtlCol="0" anchor="ctr"/>
          <a:lstStyle/>
          <a:p>
            <a:pPr indent="0" marL="0">
              <a:buNone/>
            </a:pPr>
            <a:r>
              <a:rPr lang="en-US" sz="1300" b="1" dirty="0">
                <a:solidFill>
                  <a:srgbClr val="8B7FD9"/>
                </a:solidFill>
                <a:latin typeface="Calibri" pitchFamily="34" charset="0"/>
                <a:ea typeface="Calibri" pitchFamily="34" charset="-122"/>
                <a:cs typeface="Calibri" pitchFamily="34" charset="-120"/>
              </a:rPr>
              <a:t>Think of it as more rings, not a different idea</a:t>
            </a:r>
            <a:endParaRPr lang="en-US" sz="1300" dirty="0"/>
          </a:p>
        </p:txBody>
      </p:sp>
      <p:sp>
        <p:nvSpPr>
          <p:cNvPr id="6" name="Text 4"/>
          <p:cNvSpPr txBox="1"/>
          <p:nvPr/>
        </p:nvSpPr>
        <p:spPr>
          <a:xfrm>
            <a:off x="1371600" y="2651760"/>
            <a:ext cx="9418320" cy="1508760"/>
          </a:xfrm>
          <a:prstGeom prst="rect">
            <a:avLst/>
          </a:prstGeom>
          <a:noFill/>
          <a:ln/>
        </p:spPr>
        <p:txBody>
          <a:bodyPr wrap="square" lIns="0" tIns="0" rIns="0" bIns="0" rtlCol="0" anchor="t"/>
          <a:lstStyle/>
          <a:p>
            <a:pPr indent="0" marL="0">
              <a:buNone/>
            </a:pPr>
            <a:r>
              <a:rPr lang="en-US" sz="1300" dirty="0">
                <a:solidFill>
                  <a:srgbClr val="1F2429"/>
                </a:solidFill>
                <a:latin typeface="Calibri" pitchFamily="34" charset="0"/>
                <a:ea typeface="Calibri" pitchFamily="34" charset="-122"/>
                <a:cs typeface="Calibri" pitchFamily="34" charset="-120"/>
              </a:rPr>
              <a:t>Picture privilege as concentric rings: user programs outermost, the OS kernel one ring in, and — on virtualized hardware — a hypervisor one ring further in. Hardware extensions like Intel VT-x or AMD-V let the hypervisor trap privileged instructions from a guest kernel without that kernel ever knowing it isn't running on bare metal.</a:t>
            </a:r>
            <a:endParaRPr lang="en-US" sz="1300" dirty="0"/>
          </a:p>
        </p:txBody>
      </p:sp>
      <p:sp>
        <p:nvSpPr>
          <p:cNvPr id="7" name="Text 5"/>
          <p:cNvSpPr txBox="1"/>
          <p:nvPr/>
        </p:nvSpPr>
        <p:spPr>
          <a:xfrm>
            <a:off x="640080" y="4572000"/>
            <a:ext cx="10881360" cy="822960"/>
          </a:xfrm>
          <a:prstGeom prst="rect">
            <a:avLst/>
          </a:prstGeom>
          <a:noFill/>
          <a:ln/>
        </p:spPr>
        <p:txBody>
          <a:bodyPr wrap="square" lIns="0" tIns="0" rIns="0" bIns="0" rtlCol="0" anchor="t"/>
          <a:lstStyle/>
          <a:p>
            <a:pPr indent="0" marL="0">
              <a:buNone/>
            </a:pPr>
            <a:r>
              <a:rPr lang="en-US" sz="1300" dirty="0">
                <a:solidFill>
                  <a:srgbClr val="8A939B"/>
                </a:solidFill>
                <a:latin typeface="Calibri" pitchFamily="34" charset="0"/>
                <a:ea typeface="Calibri" pitchFamily="34" charset="-122"/>
                <a:cs typeface="Calibri" pitchFamily="34" charset="-120"/>
              </a:rPr>
              <a:t>The hypervisor manages one or more guest operating systems running as virtual machines — the mechanism is identical to dual mode's bit; multimode just adds more levels.</a:t>
            </a:r>
            <a:endParaRPr lang="en-US" sz="1300" dirty="0"/>
          </a:p>
        </p:txBody>
      </p:sp>
      <p:sp>
        <p:nvSpPr>
          <p:cNvPr id="8" name="Text 6"/>
          <p:cNvSpPr txBox="1"/>
          <p:nvPr/>
        </p:nvSpPr>
        <p:spPr>
          <a:xfrm>
            <a:off x="9954158" y="6457493"/>
            <a:ext cx="2010766"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cuinotes.com"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81C"/>
        </a:solidFill>
      </p:bgPr>
    </p:bg>
    <p:spTree>
      <p:nvGrpSpPr>
        <p:cNvPr id="1" name=""/>
        <p:cNvGrpSpPr/>
        <p:nvPr/>
      </p:nvGrpSpPr>
      <p:grpSpPr>
        <a:xfrm>
          <a:off x="0" y="0"/>
          <a:ext cx="0" cy="0"/>
          <a:chOff x="0" y="0"/>
          <a:chExt cx="0" cy="0"/>
        </a:xfrm>
      </p:grpSpPr>
      <p:sp>
        <p:nvSpPr>
          <p:cNvPr id="2" name="Text 0"/>
          <p:cNvSpPr txBox="1"/>
          <p:nvPr/>
        </p:nvSpPr>
        <p:spPr>
          <a:xfrm>
            <a:off x="822960" y="640080"/>
            <a:ext cx="10515600" cy="73152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Key Takeaways</a:t>
            </a:r>
            <a:endParaRPr lang="en-US" sz="3400" dirty="0"/>
          </a:p>
        </p:txBody>
      </p:sp>
      <p:sp>
        <p:nvSpPr>
          <p:cNvPr id="3" name="Text 1"/>
          <p:cNvSpPr txBox="1"/>
          <p:nvPr/>
        </p:nvSpPr>
        <p:spPr>
          <a:xfrm>
            <a:off x="822960" y="1645920"/>
            <a:ext cx="10332720" cy="4572000"/>
          </a:xfrm>
          <a:prstGeom prst="rect">
            <a:avLst/>
          </a:prstGeom>
          <a:noFill/>
          <a:ln/>
        </p:spPr>
        <p:txBody>
          <a:bodyPr wrap="square" lIns="0" tIns="0" rIns="0" bIns="0" rtlCol="0" anchor="t"/>
          <a:lstStyle/>
          <a:p>
            <a:pPr marL="342900" indent="-3429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An OS has two faces: the user view (convenience) and the system view (resource allocator + control program)</a:t>
            </a:r>
            <a:endParaRPr lang="en-US" sz="1600" dirty="0"/>
          </a:p>
          <a:p>
            <a:pPr marL="342900" indent="-3429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Interrupts let the CPU react to devices instead of polling; the interrupt vector gives constant-time dispatch to the right handler</a:t>
            </a:r>
            <a:endParaRPr lang="en-US" sz="1600" dirty="0"/>
          </a:p>
          <a:p>
            <a:pPr marL="342900" indent="-3429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Device controllers move data to/from their own buffers; DMA lets large transfers happen without the CPU babysitting every byte</a:t>
            </a:r>
            <a:endParaRPr lang="en-US" sz="1600" dirty="0"/>
          </a:p>
          <a:p>
            <a:pPr marL="342900" indent="-3429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Single-processor, multiprocessor (tightly coupled), and clustered (loosely coupled, shared storage via SAN) systems trade off cost, throughput, and reliability differently</a:t>
            </a:r>
            <a:endParaRPr lang="en-US" sz="1600" dirty="0"/>
          </a:p>
          <a:p>
            <a:pPr marL="342900" indent="-3429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Multiprogramming keeps the CPU busy across a job pool; multitasking/timesharing switches fast enough to feel interactive</a:t>
            </a:r>
            <a:endParaRPr lang="en-US" sz="1600" dirty="0"/>
          </a:p>
          <a:p>
            <a:pPr marL="342900" indent="-3429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Dual-mode execution — a hardware mode bit — is what actually enforces OS protection; multimode extends the idea to support hypervisors</a:t>
            </a:r>
            <a:endParaRPr lang="en-US" sz="1600" dirty="0"/>
          </a:p>
        </p:txBody>
      </p:sp>
      <p:sp>
        <p:nvSpPr>
          <p:cNvPr id="4" name="Text 2"/>
          <p:cNvSpPr txBox="1"/>
          <p:nvPr/>
        </p:nvSpPr>
        <p:spPr>
          <a:xfrm>
            <a:off x="9954158" y="6457493"/>
            <a:ext cx="2010766"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cuinotes.com"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2026-10-01T21:52:43Z</dcterms:created>
  <dcterms:modified xsi:type="dcterms:W3CDTF">2026-10-01T21:52:43Z</dcterms:modified>
</cp:coreProperties>
</file>
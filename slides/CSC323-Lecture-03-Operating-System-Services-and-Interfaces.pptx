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2148840"/>
            <a:ext cx="10515600" cy="457200"/>
          </a:xfrm>
          <a:prstGeom prst="rect">
            <a:avLst/>
          </a:prstGeom>
          <a:noFill/>
          <a:ln/>
        </p:spPr>
        <p:txBody>
          <a:bodyPr wrap="square" lIns="0" tIns="0" rIns="0" bIns="0" rtlCol="0" anchor="ctr"/>
          <a:lstStyle/>
          <a:p>
            <a:pPr indent="0" marL="0">
              <a:buNone/>
            </a:pPr>
            <a:r>
              <a:rPr lang="en-US" sz="1600" b="1" spc="300" kern="0" dirty="0">
                <a:solidFill>
                  <a:srgbClr val="2FE6C4"/>
                </a:solidFill>
                <a:latin typeface="Calibri" pitchFamily="34" charset="0"/>
                <a:ea typeface="Calibri" pitchFamily="34" charset="-122"/>
                <a:cs typeface="Calibri" pitchFamily="34" charset="-120"/>
              </a:rPr>
              <a:t>LECTURE 3</a:t>
            </a:r>
            <a:endParaRPr lang="en-US" sz="1600" dirty="0"/>
          </a:p>
        </p:txBody>
      </p:sp>
      <p:sp>
        <p:nvSpPr>
          <p:cNvPr id="3" name="Text 1"/>
          <p:cNvSpPr txBox="1"/>
          <p:nvPr/>
        </p:nvSpPr>
        <p:spPr>
          <a:xfrm>
            <a:off x="822960" y="2606040"/>
            <a:ext cx="10515600" cy="17373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Operating System Services and Interfaces</a:t>
            </a:r>
            <a:endParaRPr lang="en-US" sz="4000" dirty="0"/>
          </a:p>
        </p:txBody>
      </p:sp>
      <p:sp>
        <p:nvSpPr>
          <p:cNvPr id="4" name="Text 2"/>
          <p:cNvSpPr txBox="1"/>
          <p:nvPr/>
        </p:nvSpPr>
        <p:spPr>
          <a:xfrm>
            <a:off x="822960" y="4343400"/>
            <a:ext cx="10515600" cy="457200"/>
          </a:xfrm>
          <a:prstGeom prst="rect">
            <a:avLst/>
          </a:prstGeom>
          <a:noFill/>
          <a:ln/>
        </p:spPr>
        <p:txBody>
          <a:bodyPr wrap="square" lIns="0" tIns="0" rIns="0" bIns="0" rtlCol="0" anchor="ctr"/>
          <a:lstStyle/>
          <a:p>
            <a:pPr indent="0" marL="0">
              <a:buNone/>
            </a:pPr>
            <a:r>
              <a:rPr lang="en-US" sz="1800" dirty="0">
                <a:solidFill>
                  <a:srgbClr val="2FE6C4"/>
                </a:solidFill>
                <a:latin typeface="Calibri" pitchFamily="34" charset="0"/>
                <a:ea typeface="Calibri" pitchFamily="34" charset="-122"/>
                <a:cs typeface="Calibri" pitchFamily="34" charset="-120"/>
              </a:rPr>
              <a:t>CSC323 · Operating Systems</a:t>
            </a:r>
            <a:endParaRPr lang="en-US" sz="1800" dirty="0"/>
          </a:p>
        </p:txBody>
      </p:sp>
      <p:sp>
        <p:nvSpPr>
          <p:cNvPr id="5" name="Text 3"/>
          <p:cNvSpPr txBox="1"/>
          <p:nvPr/>
        </p:nvSpPr>
        <p:spPr>
          <a:xfrm>
            <a:off x="822960" y="4754880"/>
            <a:ext cx="10515600" cy="365760"/>
          </a:xfrm>
          <a:prstGeom prst="rect">
            <a:avLst/>
          </a:prstGeom>
          <a:noFill/>
          <a:ln/>
        </p:spPr>
        <p:txBody>
          <a:bodyPr wrap="square" lIns="0" tIns="0" rIns="0" bIns="0" rtlCol="0" anchor="ctr"/>
          <a:lstStyle/>
          <a:p>
            <a:pPr indent="0" marL="0">
              <a:buNone/>
            </a:pPr>
            <a:r>
              <a:rPr lang="en-US" sz="1300" dirty="0">
                <a:solidFill>
                  <a:srgbClr val="8A939B"/>
                </a:solidFill>
                <a:latin typeface="Calibri" pitchFamily="34" charset="0"/>
                <a:ea typeface="Calibri" pitchFamily="34" charset="-122"/>
                <a:cs typeface="Calibri" pitchFamily="34" charset="-120"/>
              </a:rPr>
              <a:t>COMSATS University Islamabad, Lahore Campus</a:t>
            </a:r>
            <a:endParaRPr lang="en-US" sz="1300" dirty="0"/>
          </a:p>
        </p:txBody>
      </p:sp>
      <p:sp>
        <p:nvSpPr>
          <p:cNvPr id="6" name="Text 4"/>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In This Lecture</a:t>
            </a:r>
            <a:endParaRPr lang="en-US" sz="2800" dirty="0"/>
          </a:p>
        </p:txBody>
      </p:sp>
      <p:sp>
        <p:nvSpPr>
          <p:cNvPr id="3" name="Text 1"/>
          <p:cNvSpPr txBox="1"/>
          <p:nvPr/>
        </p:nvSpPr>
        <p:spPr>
          <a:xfrm>
            <a:off x="640080" y="1371600"/>
            <a:ext cx="10881360" cy="484632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1F2429"/>
                </a:solidFill>
                <a:latin typeface="Calibri" pitchFamily="34" charset="0"/>
                <a:ea typeface="Calibri" pitchFamily="34" charset="-122"/>
                <a:cs typeface="Calibri" pitchFamily="34" charset="-120"/>
              </a:rPr>
              <a:t>The services every OS provides, grouped by who benefits: the user, or the system itself</a:t>
            </a:r>
            <a:endParaRPr lang="en-US" sz="1600" dirty="0"/>
          </a:p>
          <a:p>
            <a:pPr marL="342900" indent="-342900">
              <a:spcAft>
                <a:spcPts val="1400"/>
              </a:spcAft>
              <a:buSzPct val="100000"/>
              <a:buChar char="●"/>
            </a:pPr>
            <a:r>
              <a:rPr lang="en-US" sz="1600" dirty="0">
                <a:solidFill>
                  <a:srgbClr val="1F2429"/>
                </a:solidFill>
                <a:latin typeface="Calibri" pitchFamily="34" charset="0"/>
                <a:ea typeface="Calibri" pitchFamily="34" charset="-122"/>
                <a:cs typeface="Calibri" pitchFamily="34" charset="-120"/>
              </a:rPr>
              <a:t>User interfaces — CLI, GUI, and mobile — and why experienced users still reach for the shell</a:t>
            </a:r>
            <a:endParaRPr lang="en-US" sz="1600" dirty="0"/>
          </a:p>
          <a:p>
            <a:pPr marL="342900" indent="-342900">
              <a:spcAft>
                <a:spcPts val="1400"/>
              </a:spcAft>
              <a:buSzPct val="100000"/>
              <a:buChar char="●"/>
            </a:pPr>
            <a:r>
              <a:rPr lang="en-US" sz="1600" dirty="0">
                <a:solidFill>
                  <a:srgbClr val="1F2429"/>
                </a:solidFill>
                <a:latin typeface="Calibri" pitchFamily="34" charset="0"/>
                <a:ea typeface="Calibri" pitchFamily="34" charset="-122"/>
                <a:cs typeface="Calibri" pitchFamily="34" charset="-120"/>
              </a:rPr>
              <a:t>What a system call is, and how control moves from a user program into the kernel and back</a:t>
            </a:r>
            <a:endParaRPr lang="en-US" sz="1600" dirty="0"/>
          </a:p>
          <a:p>
            <a:pPr marL="342900" indent="-342900">
              <a:spcAft>
                <a:spcPts val="1400"/>
              </a:spcAft>
              <a:buSzPct val="100000"/>
              <a:buChar char="●"/>
            </a:pPr>
            <a:r>
              <a:rPr lang="en-US" sz="1600" dirty="0">
                <a:solidFill>
                  <a:srgbClr val="1F2429"/>
                </a:solidFill>
                <a:latin typeface="Calibri" pitchFamily="34" charset="0"/>
                <a:ea typeface="Calibri" pitchFamily="34" charset="-122"/>
                <a:cs typeface="Calibri" pitchFamily="34" charset="-120"/>
              </a:rPr>
              <a:t>The three general methods an OS uses to pass parameters into a system call</a:t>
            </a:r>
            <a:endParaRPr lang="en-US" sz="1600" dirty="0"/>
          </a:p>
          <a:p>
            <a:pPr marL="342900" indent="-342900">
              <a:spcAft>
                <a:spcPts val="1400"/>
              </a:spcAft>
              <a:buSzPct val="100000"/>
              <a:buChar char="●"/>
            </a:pPr>
            <a:r>
              <a:rPr lang="en-US" sz="1600" dirty="0">
                <a:solidFill>
                  <a:srgbClr val="1F2429"/>
                </a:solidFill>
                <a:latin typeface="Calibri" pitchFamily="34" charset="0"/>
                <a:ea typeface="Calibri" pitchFamily="34" charset="-122"/>
                <a:cs typeface="Calibri" pitchFamily="34" charset="-120"/>
              </a:rPr>
              <a:t>The major categories of system calls, illustrated with fork(), exec(), open(), read()</a:t>
            </a:r>
            <a:endParaRPr lang="en-US" sz="1600" dirty="0"/>
          </a:p>
        </p:txBody>
      </p:sp>
      <p:sp>
        <p:nvSpPr>
          <p:cNvPr id="4" name="Text 2"/>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OS Services: Convenient for the User</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5120640"/>
        </p:xfrm>
        <a:graphic>
          <a:graphicData uri="http://schemas.openxmlformats.org/drawingml/2006/table">
            <a:tbl>
              <a:tblPr/>
              <a:tblGrid>
                <a:gridCol w="3017520"/>
                <a:gridCol w="8074152"/>
              </a:tblGrid>
              <a:tr h="8534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Service</a:t>
                      </a:r>
                      <a:endParaRPr lang="en-US" sz="1400" dirty="0">
                        <a:latin typeface="Calibri" charset="0"/>
                        <a:ea typeface="Calibri" charset="0"/>
                        <a:cs typeface="Calibri" charset="0"/>
                      </a:endParaRPr>
                    </a:p>
                  </a:txBody>
                  <a:tcPr marL="91440" marR="91440" marT="45720" marB="45720"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1F242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means</a:t>
                      </a:r>
                      <a:endParaRPr lang="en-US" sz="1400" dirty="0">
                        <a:latin typeface="Calibri" charset="0"/>
                        <a:ea typeface="Calibri" charset="0"/>
                        <a:cs typeface="Calibri" charset="0"/>
                      </a:endParaRPr>
                    </a:p>
                  </a:txBody>
                  <a:tcPr marL="91440" marR="91440" marT="45720" marB="45720"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1F2429"/>
                    </a:solidFill>
                  </a:tcPr>
                </a:tc>
              </a:tr>
              <a:tr h="853440">
                <a:tc>
                  <a:txBody>
                    <a:bodyPr/>
                    <a:lstStyle/>
                    <a:p>
                      <a:pPr indent="0" marL="0">
                        <a:buNone/>
                      </a:pPr>
                      <a:r>
                        <a:rPr lang="en-US" sz="1300" dirty="0">
                          <a:solidFill>
                            <a:srgbClr val="1F2429"/>
                          </a:solidFill>
                          <a:latin typeface="Calibri" pitchFamily="34" charset="0"/>
                          <a:ea typeface="Calibri" pitchFamily="34" charset="-122"/>
                          <a:cs typeface="Calibri" pitchFamily="34" charset="-120"/>
                        </a:rPr>
                        <a:t>Program execution</a:t>
                      </a:r>
                      <a:endParaRPr lang="en-US" sz="130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c>
                  <a:txBody>
                    <a:bodyPr/>
                    <a:lstStyle/>
                    <a:p>
                      <a:pPr indent="0" marL="0">
                        <a:buNone/>
                      </a:pPr>
                      <a:r>
                        <a:rPr lang="en-US" sz="1300" dirty="0">
                          <a:solidFill>
                            <a:srgbClr val="1F2429"/>
                          </a:solidFill>
                          <a:latin typeface="Calibri" pitchFamily="34" charset="0"/>
                          <a:ea typeface="Calibri" pitchFamily="34" charset="-122"/>
                          <a:cs typeface="Calibri" pitchFamily="34" charset="-120"/>
                        </a:rPr>
                        <a:t>Load a program into memory, run it, and end its execution — normally, or abnormally on error</a:t>
                      </a:r>
                      <a:endParaRPr lang="en-US" sz="130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r>
              <a:tr h="853440">
                <a:tc>
                  <a:txBody>
                    <a:bodyPr/>
                    <a:lstStyle/>
                    <a:p>
                      <a:pPr indent="0" marL="0">
                        <a:buNone/>
                      </a:pPr>
                      <a:r>
                        <a:rPr lang="en-US" sz="1300" dirty="0">
                          <a:solidFill>
                            <a:srgbClr val="1F2429"/>
                          </a:solidFill>
                          <a:latin typeface="Calibri" pitchFamily="34" charset="0"/>
                          <a:ea typeface="Calibri" pitchFamily="34" charset="-122"/>
                          <a:cs typeface="Calibri" pitchFamily="34" charset="-120"/>
                        </a:rPr>
                        <a:t>I/O operations</a:t>
                      </a:r>
                      <a:endParaRPr lang="en-US" sz="130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EDEFF1"/>
                    </a:solidFill>
                  </a:tcPr>
                </a:tc>
                <a:tc>
                  <a:txBody>
                    <a:bodyPr/>
                    <a:lstStyle/>
                    <a:p>
                      <a:pPr indent="0" marL="0">
                        <a:buNone/>
                      </a:pPr>
                      <a:r>
                        <a:rPr lang="en-US" sz="1300" dirty="0">
                          <a:solidFill>
                            <a:srgbClr val="1F2429"/>
                          </a:solidFill>
                          <a:latin typeface="Calibri" pitchFamily="34" charset="0"/>
                          <a:ea typeface="Calibri" pitchFamily="34" charset="-122"/>
                          <a:cs typeface="Calibri" pitchFamily="34" charset="-120"/>
                        </a:rPr>
                        <a:t>Users can't control I/O devices directly (efficiency and protection), so the OS performs I/O on their behalf</a:t>
                      </a:r>
                      <a:endParaRPr lang="en-US" sz="130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EDEFF1"/>
                    </a:solidFill>
                  </a:tcPr>
                </a:tc>
              </a:tr>
              <a:tr h="853440">
                <a:tc>
                  <a:txBody>
                    <a:bodyPr/>
                    <a:lstStyle/>
                    <a:p>
                      <a:pPr indent="0" marL="0">
                        <a:buNone/>
                      </a:pPr>
                      <a:r>
                        <a:rPr lang="en-US" sz="1300" dirty="0">
                          <a:solidFill>
                            <a:srgbClr val="1F2429"/>
                          </a:solidFill>
                          <a:latin typeface="Calibri" pitchFamily="34" charset="0"/>
                          <a:ea typeface="Calibri" pitchFamily="34" charset="-122"/>
                          <a:cs typeface="Calibri" pitchFamily="34" charset="-120"/>
                        </a:rPr>
                        <a:t>File-system manipulation</a:t>
                      </a:r>
                      <a:endParaRPr lang="en-US" sz="130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c>
                  <a:txBody>
                    <a:bodyPr/>
                    <a:lstStyle/>
                    <a:p>
                      <a:pPr indent="0" marL="0">
                        <a:buNone/>
                      </a:pPr>
                      <a:r>
                        <a:rPr lang="en-US" sz="1300" dirty="0">
                          <a:solidFill>
                            <a:srgbClr val="1F2429"/>
                          </a:solidFill>
                          <a:latin typeface="Calibri" pitchFamily="34" charset="0"/>
                          <a:ea typeface="Calibri" pitchFamily="34" charset="-122"/>
                          <a:cs typeface="Calibri" pitchFamily="34" charset="-120"/>
                        </a:rPr>
                        <a:t>Read, write, create, delete, search, and list files and directories, and manage permissions</a:t>
                      </a:r>
                      <a:endParaRPr lang="en-US" sz="130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r>
              <a:tr h="853440">
                <a:tc>
                  <a:txBody>
                    <a:bodyPr/>
                    <a:lstStyle/>
                    <a:p>
                      <a:pPr indent="0" marL="0">
                        <a:buNone/>
                      </a:pPr>
                      <a:r>
                        <a:rPr lang="en-US" sz="1300" dirty="0">
                          <a:solidFill>
                            <a:srgbClr val="1F2429"/>
                          </a:solidFill>
                          <a:latin typeface="Calibri" pitchFamily="34" charset="0"/>
                          <a:ea typeface="Calibri" pitchFamily="34" charset="-122"/>
                          <a:cs typeface="Calibri" pitchFamily="34" charset="-120"/>
                        </a:rPr>
                        <a:t>Communications</a:t>
                      </a:r>
                      <a:endParaRPr lang="en-US" sz="130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EDEFF1"/>
                    </a:solidFill>
                  </a:tcPr>
                </a:tc>
                <a:tc>
                  <a:txBody>
                    <a:bodyPr/>
                    <a:lstStyle/>
                    <a:p>
                      <a:pPr indent="0" marL="0">
                        <a:buNone/>
                      </a:pPr>
                      <a:r>
                        <a:rPr lang="en-US" sz="1300" dirty="0">
                          <a:solidFill>
                            <a:srgbClr val="1F2429"/>
                          </a:solidFill>
                          <a:latin typeface="Calibri" pitchFamily="34" charset="0"/>
                          <a:ea typeface="Calibri" pitchFamily="34" charset="-122"/>
                          <a:cs typeface="Calibri" pitchFamily="34" charset="-120"/>
                        </a:rPr>
                        <a:t>Exchange information between processes, locally or across a network, via shared memory or message passing</a:t>
                      </a:r>
                      <a:endParaRPr lang="en-US" sz="130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EDEFF1"/>
                    </a:solidFill>
                  </a:tcPr>
                </a:tc>
              </a:tr>
              <a:tr h="853440">
                <a:tc>
                  <a:txBody>
                    <a:bodyPr/>
                    <a:lstStyle/>
                    <a:p>
                      <a:pPr indent="0" marL="0">
                        <a:buNone/>
                      </a:pPr>
                      <a:r>
                        <a:rPr lang="en-US" sz="1300" dirty="0">
                          <a:solidFill>
                            <a:srgbClr val="1F2429"/>
                          </a:solidFill>
                          <a:latin typeface="Calibri" pitchFamily="34" charset="0"/>
                          <a:ea typeface="Calibri" pitchFamily="34" charset="-122"/>
                          <a:cs typeface="Calibri" pitchFamily="34" charset="-120"/>
                        </a:rPr>
                        <a:t>Error detection</a:t>
                      </a:r>
                      <a:endParaRPr lang="en-US" sz="130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c>
                  <a:txBody>
                    <a:bodyPr/>
                    <a:lstStyle/>
                    <a:p>
                      <a:pPr indent="0" marL="0">
                        <a:buNone/>
                      </a:pPr>
                      <a:r>
                        <a:rPr lang="en-US" sz="1300" dirty="0">
                          <a:solidFill>
                            <a:srgbClr val="1F2429"/>
                          </a:solidFill>
                          <a:latin typeface="Calibri" pitchFamily="34" charset="0"/>
                          <a:ea typeface="Calibri" pitchFamily="34" charset="-122"/>
                          <a:cs typeface="Calibri" pitchFamily="34" charset="-120"/>
                        </a:rPr>
                        <a:t>Watch for CPU/memory errors, I/O failures, and user-program errors, and take correct, consistent action</a:t>
                      </a:r>
                      <a:endParaRPr lang="en-US" sz="130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OS Services: Keeping the System Itself Efficient</a:t>
            </a:r>
            <a:endParaRPr lang="en-US" sz="2800" dirty="0"/>
          </a:p>
        </p:txBody>
      </p:sp>
      <p:sp>
        <p:nvSpPr>
          <p:cNvPr id="3" name="Text 1"/>
          <p:cNvSpPr txBox="1"/>
          <p:nvPr/>
        </p:nvSpPr>
        <p:spPr>
          <a:xfrm>
            <a:off x="640080" y="1188720"/>
            <a:ext cx="10881360" cy="457200"/>
          </a:xfrm>
          <a:prstGeom prst="rect">
            <a:avLst/>
          </a:prstGeom>
          <a:noFill/>
          <a:ln/>
        </p:spPr>
        <p:txBody>
          <a:bodyPr wrap="square" lIns="0" tIns="0" rIns="0" bIns="0" rtlCol="0" anchor="t"/>
          <a:lstStyle/>
          <a:p>
            <a:pPr indent="0" marL="0">
              <a:buNone/>
            </a:pPr>
            <a:r>
              <a:rPr lang="en-US" sz="1500" dirty="0">
                <a:solidFill>
                  <a:srgbClr val="1F2429"/>
                </a:solidFill>
                <a:latin typeface="Calibri" pitchFamily="34" charset="0"/>
                <a:ea typeface="Calibri" pitchFamily="34" charset="-122"/>
                <a:cs typeface="Calibri" pitchFamily="34" charset="-120"/>
              </a:rPr>
              <a:t>Rarely visible to the user directly, but essential when many users or programs share one machine:</a:t>
            </a:r>
            <a:endParaRPr lang="en-US" sz="1500" dirty="0"/>
          </a:p>
        </p:txBody>
      </p:sp>
      <p:sp>
        <p:nvSpPr>
          <p:cNvPr id="4" name="Shape 2"/>
          <p:cNvSpPr/>
          <p:nvPr/>
        </p:nvSpPr>
        <p:spPr>
          <a:xfrm>
            <a:off x="518008" y="1920240"/>
            <a:ext cx="3474720" cy="1920240"/>
          </a:xfrm>
          <a:prstGeom prst="roundRect">
            <a:avLst>
              <a:gd name="adj" fmla="val 5714"/>
            </a:avLst>
          </a:prstGeom>
          <a:solidFill>
            <a:srgbClr val="2FE6C4"/>
          </a:solidFill>
          <a:ln/>
        </p:spPr>
      </p:sp>
      <p:sp>
        <p:nvSpPr>
          <p:cNvPr id="5" name="Text 3"/>
          <p:cNvSpPr txBox="1"/>
          <p:nvPr/>
        </p:nvSpPr>
        <p:spPr>
          <a:xfrm>
            <a:off x="719176" y="2103120"/>
            <a:ext cx="3072384"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Resource allocation</a:t>
            </a:r>
            <a:endParaRPr lang="en-US" sz="1500" dirty="0"/>
          </a:p>
        </p:txBody>
      </p:sp>
      <p:sp>
        <p:nvSpPr>
          <p:cNvPr id="6" name="Text 4"/>
          <p:cNvSpPr txBox="1"/>
          <p:nvPr/>
        </p:nvSpPr>
        <p:spPr>
          <a:xfrm>
            <a:off x="719176" y="2578608"/>
            <a:ext cx="3072384" cy="10972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Allocate CPU cycles, memory, storage, and I/O devices among concurrently running jobs</a:t>
            </a:r>
            <a:endParaRPr lang="en-US" sz="1100" dirty="0"/>
          </a:p>
        </p:txBody>
      </p:sp>
      <p:sp>
        <p:nvSpPr>
          <p:cNvPr id="7" name="Shape 5"/>
          <p:cNvSpPr/>
          <p:nvPr/>
        </p:nvSpPr>
        <p:spPr>
          <a:xfrm>
            <a:off x="4358488" y="1920240"/>
            <a:ext cx="3474720" cy="1920240"/>
          </a:xfrm>
          <a:prstGeom prst="roundRect">
            <a:avLst>
              <a:gd name="adj" fmla="val 5714"/>
            </a:avLst>
          </a:prstGeom>
          <a:solidFill>
            <a:srgbClr val="8B7FD9"/>
          </a:solidFill>
          <a:ln/>
        </p:spPr>
      </p:sp>
      <p:sp>
        <p:nvSpPr>
          <p:cNvPr id="8" name="Text 6"/>
          <p:cNvSpPr txBox="1"/>
          <p:nvPr/>
        </p:nvSpPr>
        <p:spPr>
          <a:xfrm>
            <a:off x="4559656" y="2103120"/>
            <a:ext cx="3072384"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Accounting</a:t>
            </a:r>
            <a:endParaRPr lang="en-US" sz="1500" dirty="0"/>
          </a:p>
        </p:txBody>
      </p:sp>
      <p:sp>
        <p:nvSpPr>
          <p:cNvPr id="9" name="Text 7"/>
          <p:cNvSpPr txBox="1"/>
          <p:nvPr/>
        </p:nvSpPr>
        <p:spPr>
          <a:xfrm>
            <a:off x="4559656" y="2578608"/>
            <a:ext cx="3072384" cy="10972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Track which users and programs use which resources, and how much, for monitoring or billing</a:t>
            </a:r>
            <a:endParaRPr lang="en-US" sz="1100" dirty="0"/>
          </a:p>
        </p:txBody>
      </p:sp>
      <p:sp>
        <p:nvSpPr>
          <p:cNvPr id="10" name="Shape 8"/>
          <p:cNvSpPr/>
          <p:nvPr/>
        </p:nvSpPr>
        <p:spPr>
          <a:xfrm>
            <a:off x="8198968" y="1920240"/>
            <a:ext cx="3474720" cy="1920240"/>
          </a:xfrm>
          <a:prstGeom prst="roundRect">
            <a:avLst>
              <a:gd name="adj" fmla="val 5714"/>
            </a:avLst>
          </a:prstGeom>
          <a:solidFill>
            <a:srgbClr val="E8A33D"/>
          </a:solidFill>
          <a:ln/>
        </p:spPr>
      </p:sp>
      <p:sp>
        <p:nvSpPr>
          <p:cNvPr id="11" name="Text 9"/>
          <p:cNvSpPr txBox="1"/>
          <p:nvPr/>
        </p:nvSpPr>
        <p:spPr>
          <a:xfrm>
            <a:off x="8400136" y="2103120"/>
            <a:ext cx="3072384"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Protection &amp; security</a:t>
            </a:r>
            <a:endParaRPr lang="en-US" sz="1500" dirty="0"/>
          </a:p>
        </p:txBody>
      </p:sp>
      <p:sp>
        <p:nvSpPr>
          <p:cNvPr id="12" name="Text 10"/>
          <p:cNvSpPr txBox="1"/>
          <p:nvPr/>
        </p:nvSpPr>
        <p:spPr>
          <a:xfrm>
            <a:off x="8400136" y="2578608"/>
            <a:ext cx="3072384" cy="10972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Protection controls access within a trusted system; security defends against outsiders</a:t>
            </a:r>
            <a:endParaRPr lang="en-US" sz="1100" dirty="0"/>
          </a:p>
        </p:txBody>
      </p:sp>
      <p:sp>
        <p:nvSpPr>
          <p:cNvPr id="13" name="Shape 11"/>
          <p:cNvSpPr/>
          <p:nvPr/>
        </p:nvSpPr>
        <p:spPr>
          <a:xfrm>
            <a:off x="914400" y="4206240"/>
            <a:ext cx="10332720" cy="1828800"/>
          </a:xfrm>
          <a:prstGeom prst="roundRect">
            <a:avLst>
              <a:gd name="adj" fmla="val 4000"/>
            </a:avLst>
          </a:prstGeom>
          <a:solidFill>
            <a:srgbClr val="FFFFFF"/>
          </a:solidFill>
          <a:ln w="19050">
            <a:solidFill>
              <a:srgbClr val="E8A33D"/>
            </a:solidFill>
            <a:prstDash val="solid"/>
          </a:ln>
        </p:spPr>
      </p:sp>
      <p:sp>
        <p:nvSpPr>
          <p:cNvPr id="14" name="Text 12"/>
          <p:cNvSpPr txBox="1"/>
          <p:nvPr/>
        </p:nvSpPr>
        <p:spPr>
          <a:xfrm>
            <a:off x="1188720" y="4389120"/>
            <a:ext cx="9784080" cy="32004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Protection vs. security — a distinction worth keeping precise</a:t>
            </a:r>
            <a:endParaRPr lang="en-US" sz="1300" dirty="0"/>
          </a:p>
        </p:txBody>
      </p:sp>
      <p:sp>
        <p:nvSpPr>
          <p:cNvPr id="15" name="Text 13"/>
          <p:cNvSpPr txBox="1"/>
          <p:nvPr/>
        </p:nvSpPr>
        <p:spPr>
          <a:xfrm>
            <a:off x="1188720" y="4754880"/>
            <a:ext cx="9784080" cy="1143000"/>
          </a:xfrm>
          <a:prstGeom prst="rect">
            <a:avLst/>
          </a:prstGeom>
          <a:noFill/>
          <a:ln/>
        </p:spPr>
        <p:txBody>
          <a:bodyPr wrap="square" lIns="0" tIns="0" rIns="0" bIns="0" rtlCol="0" anchor="t"/>
          <a:lstStyle/>
          <a:p>
            <a:pPr indent="0" marL="0">
              <a:buNone/>
            </a:pPr>
            <a:r>
              <a:rPr lang="en-US" sz="1300" dirty="0">
                <a:solidFill>
                  <a:srgbClr val="1F2429"/>
                </a:solidFill>
                <a:latin typeface="Calibri" pitchFamily="34" charset="0"/>
                <a:ea typeface="Calibri" pitchFamily="34" charset="-122"/>
                <a:cs typeface="Calibri" pitchFamily="34" charset="-120"/>
              </a:rPr>
              <a:t>Protection is about controlling access within a trusted system — stopping one legitimate process from reading another's memory without permission. Security defends the system from the outside — authentication, defending against intrusion. A system can have excellent protection and still be breached through weak security, or vice versa.</a:t>
            </a:r>
            <a:endParaRPr lang="en-US" sz="1300" dirty="0"/>
          </a:p>
        </p:txBody>
      </p:sp>
      <p:sp>
        <p:nvSpPr>
          <p:cNvPr id="16" name="Text 14"/>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User Interfaces: The Command-Line Interface (CLI)</a:t>
            </a:r>
            <a:endParaRPr lang="en-US" sz="2800" dirty="0"/>
          </a:p>
        </p:txBody>
      </p:sp>
      <p:sp>
        <p:nvSpPr>
          <p:cNvPr id="3" name="Text 1"/>
          <p:cNvSpPr txBox="1"/>
          <p:nvPr/>
        </p:nvSpPr>
        <p:spPr>
          <a:xfrm>
            <a:off x="640080" y="1188720"/>
            <a:ext cx="10881360" cy="5212080"/>
          </a:xfrm>
          <a:prstGeom prst="rect">
            <a:avLst/>
          </a:prstGeom>
          <a:noFill/>
          <a:ln/>
        </p:spPr>
        <p:txBody>
          <a:bodyPr wrap="square" lIns="0" tIns="0" rIns="0" bIns="0" rtlCol="0" anchor="t"/>
          <a:lstStyle/>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A CLI, or shell,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lets a user type commands directly as text, which are then executed</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Two execution paths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code built directly into the shell itself, or (far more common on UNIX-family systems) a separate program that implements the command</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bash and zsh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almost every command they run (ls, grep, cat) is a genuinely separate executable, not shell-internal code</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The shell's real job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mostly parsing what you typed and launching the right program with the right arguments</a:t>
            </a:r>
            <a:endParaRPr lang="en-US" sz="1500" dirty="0"/>
          </a:p>
        </p:txBody>
      </p:sp>
      <p:sp>
        <p:nvSpPr>
          <p:cNvPr id="4" name="Text 2"/>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Graphical and Mobile Interfaces</a:t>
            </a:r>
            <a:endParaRPr lang="en-US" sz="2800" dirty="0"/>
          </a:p>
        </p:txBody>
      </p:sp>
      <p:sp>
        <p:nvSpPr>
          <p:cNvPr id="3" name="Text 1"/>
          <p:cNvSpPr txBox="1"/>
          <p:nvPr/>
        </p:nvSpPr>
        <p:spPr>
          <a:xfrm>
            <a:off x="640080" y="1188720"/>
            <a:ext cx="10881360" cy="5212080"/>
          </a:xfrm>
          <a:prstGeom prst="rect">
            <a:avLst/>
          </a:prstGeom>
          <a:noFill/>
          <a:ln/>
        </p:spPr>
        <p:txBody>
          <a:bodyPr wrap="square" lIns="0" tIns="0" rIns="0" bIns="0" rtlCol="0" anchor="t"/>
          <a:lstStyle/>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GUI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replaces typed commands with a mouse-and-window-driven system: icons, windows, and menus a user points at, clicks, and drags</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Popularized by the early Macintosh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building on research originally done at Xerox PARC; remains the default interface for most desktop/laptop OSes</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Mobile / touch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taps, swipes, and pinches on a screen that is also the entire display, with no separate pointing device</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Genuinely distinct, not just a small GUI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targets must be large enough to tap accurately, and screen space is far more limited</a:t>
            </a:r>
            <a:endParaRPr lang="en-US" sz="1500" dirty="0"/>
          </a:p>
        </p:txBody>
      </p:sp>
      <p:sp>
        <p:nvSpPr>
          <p:cNvPr id="4" name="Text 2"/>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Three Interface Styles</a:t>
            </a:r>
            <a:endParaRPr lang="en-US" sz="2800" dirty="0"/>
          </a:p>
        </p:txBody>
      </p:sp>
      <p:sp>
        <p:nvSpPr>
          <p:cNvPr id="3" name="Shape 1"/>
          <p:cNvSpPr/>
          <p:nvPr/>
        </p:nvSpPr>
        <p:spPr>
          <a:xfrm>
            <a:off x="518008" y="2103120"/>
            <a:ext cx="3474720" cy="2194560"/>
          </a:xfrm>
          <a:prstGeom prst="roundRect">
            <a:avLst>
              <a:gd name="adj" fmla="val 5000"/>
            </a:avLst>
          </a:prstGeom>
          <a:solidFill>
            <a:srgbClr val="2FE6C4"/>
          </a:solidFill>
          <a:ln/>
        </p:spPr>
      </p:sp>
      <p:sp>
        <p:nvSpPr>
          <p:cNvPr id="4" name="Text 2"/>
          <p:cNvSpPr txBox="1"/>
          <p:nvPr/>
        </p:nvSpPr>
        <p:spPr>
          <a:xfrm>
            <a:off x="719176" y="2286000"/>
            <a:ext cx="3072384"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CLI</a:t>
            </a:r>
            <a:endParaRPr lang="en-US" sz="1500" dirty="0"/>
          </a:p>
        </p:txBody>
      </p:sp>
      <p:sp>
        <p:nvSpPr>
          <p:cNvPr id="5" name="Text 3"/>
          <p:cNvSpPr txBox="1"/>
          <p:nvPr/>
        </p:nvSpPr>
        <p:spPr>
          <a:xfrm>
            <a:off x="719176" y="2761488"/>
            <a:ext cx="3072384" cy="13716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Typed commands; precise, scriptable, composable</a:t>
            </a:r>
            <a:endParaRPr lang="en-US" sz="1100" dirty="0"/>
          </a:p>
        </p:txBody>
      </p:sp>
      <p:sp>
        <p:nvSpPr>
          <p:cNvPr id="6" name="Shape 4"/>
          <p:cNvSpPr/>
          <p:nvPr/>
        </p:nvSpPr>
        <p:spPr>
          <a:xfrm>
            <a:off x="4358488" y="2103120"/>
            <a:ext cx="3474720" cy="2194560"/>
          </a:xfrm>
          <a:prstGeom prst="roundRect">
            <a:avLst>
              <a:gd name="adj" fmla="val 5000"/>
            </a:avLst>
          </a:prstGeom>
          <a:solidFill>
            <a:srgbClr val="8B7FD9"/>
          </a:solidFill>
          <a:ln/>
        </p:spPr>
      </p:sp>
      <p:sp>
        <p:nvSpPr>
          <p:cNvPr id="7" name="Text 5"/>
          <p:cNvSpPr txBox="1"/>
          <p:nvPr/>
        </p:nvSpPr>
        <p:spPr>
          <a:xfrm>
            <a:off x="4559656" y="2286000"/>
            <a:ext cx="3072384"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GUI</a:t>
            </a:r>
            <a:endParaRPr lang="en-US" sz="1500" dirty="0"/>
          </a:p>
        </p:txBody>
      </p:sp>
      <p:sp>
        <p:nvSpPr>
          <p:cNvPr id="8" name="Text 6"/>
          <p:cNvSpPr txBox="1"/>
          <p:nvPr/>
        </p:nvSpPr>
        <p:spPr>
          <a:xfrm>
            <a:off x="4559656" y="2761488"/>
            <a:ext cx="3072384" cy="13716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Mouse-driven windows, icons, and menus</a:t>
            </a:r>
            <a:endParaRPr lang="en-US" sz="1100" dirty="0"/>
          </a:p>
        </p:txBody>
      </p:sp>
      <p:sp>
        <p:nvSpPr>
          <p:cNvPr id="9" name="Shape 7"/>
          <p:cNvSpPr/>
          <p:nvPr/>
        </p:nvSpPr>
        <p:spPr>
          <a:xfrm>
            <a:off x="8198968" y="2103120"/>
            <a:ext cx="3474720" cy="2194560"/>
          </a:xfrm>
          <a:prstGeom prst="roundRect">
            <a:avLst>
              <a:gd name="adj" fmla="val 5000"/>
            </a:avLst>
          </a:prstGeom>
          <a:solidFill>
            <a:srgbClr val="E8A33D"/>
          </a:solidFill>
          <a:ln/>
        </p:spPr>
      </p:sp>
      <p:sp>
        <p:nvSpPr>
          <p:cNvPr id="10" name="Text 8"/>
          <p:cNvSpPr txBox="1"/>
          <p:nvPr/>
        </p:nvSpPr>
        <p:spPr>
          <a:xfrm>
            <a:off x="8400136" y="2286000"/>
            <a:ext cx="3072384"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Mobile / Touch</a:t>
            </a:r>
            <a:endParaRPr lang="en-US" sz="1500" dirty="0"/>
          </a:p>
        </p:txBody>
      </p:sp>
      <p:sp>
        <p:nvSpPr>
          <p:cNvPr id="11" name="Text 9"/>
          <p:cNvSpPr txBox="1"/>
          <p:nvPr/>
        </p:nvSpPr>
        <p:spPr>
          <a:xfrm>
            <a:off x="8400136" y="2761488"/>
            <a:ext cx="3072384" cy="13716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Taps and gestures on the display itself</a:t>
            </a:r>
            <a:endParaRPr lang="en-US" sz="1100" dirty="0"/>
          </a:p>
        </p:txBody>
      </p:sp>
      <p:sp>
        <p:nvSpPr>
          <p:cNvPr id="12" name="Text 10"/>
          <p:cNvSpPr txBox="1"/>
          <p:nvPr/>
        </p:nvSpPr>
        <p:spPr>
          <a:xfrm>
            <a:off x="640080" y="4663440"/>
            <a:ext cx="10881360" cy="640080"/>
          </a:xfrm>
          <a:prstGeom prst="rect">
            <a:avLst/>
          </a:prstGeom>
          <a:noFill/>
          <a:ln/>
        </p:spPr>
        <p:txBody>
          <a:bodyPr wrap="square" lIns="0" tIns="0" rIns="0" bIns="0" rtlCol="0" anchor="t"/>
          <a:lstStyle/>
          <a:p>
            <a:pPr indent="0" marL="0">
              <a:buNone/>
            </a:pPr>
            <a:r>
              <a:rPr lang="en-US" sz="1400" dirty="0">
                <a:solidFill>
                  <a:srgbClr val="1F2429"/>
                </a:solidFill>
                <a:latin typeface="Calibri" pitchFamily="34" charset="0"/>
                <a:ea typeface="Calibri" pitchFamily="34" charset="-122"/>
                <a:cs typeface="Calibri" pitchFamily="34" charset="-120"/>
              </a:rPr>
              <a:t>Most desktop systems provide both a shell and a GUI, precisely because neither suits every situation.</a:t>
            </a:r>
            <a:endParaRPr lang="en-US" sz="1400" dirty="0"/>
          </a:p>
        </p:txBody>
      </p:sp>
      <p:sp>
        <p:nvSpPr>
          <p:cNvPr id="13" name="Text 11"/>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Why Power Users Still Reach for the CLI</a:t>
            </a:r>
            <a:endParaRPr lang="en-US" sz="2800" dirty="0"/>
          </a:p>
        </p:txBody>
      </p:sp>
      <p:sp>
        <p:nvSpPr>
          <p:cNvPr id="3" name="Text 1"/>
          <p:cNvSpPr txBox="1"/>
          <p:nvPr/>
        </p:nvSpPr>
        <p:spPr>
          <a:xfrm>
            <a:off x="640080" y="1188720"/>
            <a:ext cx="10881360" cy="2286000"/>
          </a:xfrm>
          <a:prstGeom prst="rect">
            <a:avLst/>
          </a:prstGeom>
          <a:noFill/>
          <a:ln/>
        </p:spPr>
        <p:txBody>
          <a:bodyPr wrap="square" lIns="0" tIns="0" rIns="0" bIns="0" rtlCol="0" anchor="t"/>
          <a:lstStyle/>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Scriptability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a sequence of shell commands can be saved as a script, automated, or chained with pipes; mouse clicks generally cannot</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Precision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a command plus its exact flags leaves no ambiguity; navigating menus can vary across versions and is easy to get subtly wrong</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Remote accessibility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a shell works perfectly over a slow or low-bandwidth remote connection (SSH into a server with no display), where a GUI would be impractical</a:t>
            </a:r>
            <a:endParaRPr lang="en-US" sz="1500" dirty="0"/>
          </a:p>
        </p:txBody>
      </p:sp>
      <p:sp>
        <p:nvSpPr>
          <p:cNvPr id="4" name="Shape 2"/>
          <p:cNvSpPr/>
          <p:nvPr/>
        </p:nvSpPr>
        <p:spPr>
          <a:xfrm>
            <a:off x="914400" y="3749040"/>
            <a:ext cx="10332720" cy="1737360"/>
          </a:xfrm>
          <a:prstGeom prst="roundRect">
            <a:avLst>
              <a:gd name="adj" fmla="val 4211"/>
            </a:avLst>
          </a:prstGeom>
          <a:solidFill>
            <a:srgbClr val="FFFFFF"/>
          </a:solidFill>
          <a:ln w="19050">
            <a:solidFill>
              <a:srgbClr val="2FE6C4"/>
            </a:solidFill>
            <a:prstDash val="solid"/>
          </a:ln>
        </p:spPr>
      </p:sp>
      <p:sp>
        <p:nvSpPr>
          <p:cNvPr id="5" name="Text 3"/>
          <p:cNvSpPr txBox="1"/>
          <p:nvPr/>
        </p:nvSpPr>
        <p:spPr>
          <a:xfrm>
            <a:off x="1188720" y="3931920"/>
            <a:ext cx="9784080" cy="320040"/>
          </a:xfrm>
          <a:prstGeom prst="rect">
            <a:avLst/>
          </a:prstGeom>
          <a:noFill/>
          <a:ln/>
        </p:spPr>
        <p:txBody>
          <a:bodyPr wrap="square" lIns="0" tIns="0" rIns="0" bIns="0" rtlCol="0" anchor="ctr"/>
          <a:lstStyle/>
          <a:p>
            <a:pPr indent="0" marL="0">
              <a:buNone/>
            </a:pPr>
            <a:r>
              <a:rPr lang="en-US" sz="1300" b="1" dirty="0">
                <a:solidFill>
                  <a:srgbClr val="2FE6C4"/>
                </a:solidFill>
                <a:latin typeface="Calibri" pitchFamily="34" charset="0"/>
                <a:ea typeface="Calibri" pitchFamily="34" charset="-122"/>
                <a:cs typeface="Calibri" pitchFamily="34" charset="-120"/>
              </a:rPr>
              <a:t>The CLI's real advantage is repeatability, not speed</a:t>
            </a:r>
            <a:endParaRPr lang="en-US" sz="1300" dirty="0"/>
          </a:p>
        </p:txBody>
      </p:sp>
      <p:sp>
        <p:nvSpPr>
          <p:cNvPr id="6" name="Text 4"/>
          <p:cNvSpPr txBox="1"/>
          <p:nvPr/>
        </p:nvSpPr>
        <p:spPr>
          <a:xfrm>
            <a:off x="1188720" y="4297680"/>
            <a:ext cx="9784080" cy="1051560"/>
          </a:xfrm>
          <a:prstGeom prst="rect">
            <a:avLst/>
          </a:prstGeom>
          <a:noFill/>
          <a:ln/>
        </p:spPr>
        <p:txBody>
          <a:bodyPr wrap="square" lIns="0" tIns="0" rIns="0" bIns="0" rtlCol="0" anchor="t"/>
          <a:lstStyle/>
          <a:p>
            <a:pPr indent="0" marL="0">
              <a:buNone/>
            </a:pPr>
            <a:r>
              <a:rPr lang="en-US" sz="1300" dirty="0">
                <a:solidFill>
                  <a:srgbClr val="1F2429"/>
                </a:solidFill>
                <a:latin typeface="Calibri" pitchFamily="34" charset="0"/>
                <a:ea typeface="Calibri" pitchFamily="34" charset="-122"/>
                <a:cs typeface="Calibri" pitchFamily="34" charset="-120"/>
              </a:rPr>
              <a:t>A single command typed once is not obviously faster than a single click. The CLI wins decisively the moment a task needs to happen more than once, or needs to happen identically every time — which is most of what system administration and development actually involve.</a:t>
            </a:r>
            <a:endParaRPr lang="en-US" sz="1300" dirty="0"/>
          </a:p>
        </p:txBody>
      </p:sp>
      <p:sp>
        <p:nvSpPr>
          <p:cNvPr id="7" name="Text 5"/>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System Calls: The Only Legitimate Doorway</a:t>
            </a:r>
            <a:endParaRPr lang="en-US" sz="2800" dirty="0"/>
          </a:p>
        </p:txBody>
      </p:sp>
      <p:sp>
        <p:nvSpPr>
          <p:cNvPr id="3" name="Text 1"/>
          <p:cNvSpPr txBox="1"/>
          <p:nvPr/>
        </p:nvSpPr>
        <p:spPr>
          <a:xfrm>
            <a:off x="640080" y="1188720"/>
            <a:ext cx="10881360" cy="640080"/>
          </a:xfrm>
          <a:prstGeom prst="rect">
            <a:avLst/>
          </a:prstGeom>
          <a:noFill/>
          <a:ln/>
        </p:spPr>
        <p:txBody>
          <a:bodyPr wrap="square" lIns="0" tIns="0" rIns="0" bIns="0" rtlCol="0" anchor="t"/>
          <a:lstStyle/>
          <a:p>
            <a:pPr indent="0" marL="0">
              <a:buNone/>
            </a:pPr>
            <a:r>
              <a:rPr lang="en-US" sz="1500" dirty="0">
                <a:solidFill>
                  <a:srgbClr val="1F2429"/>
                </a:solidFill>
                <a:latin typeface="Calibri" pitchFamily="34" charset="0"/>
                <a:ea typeface="Calibri" pitchFamily="34" charset="-122"/>
                <a:cs typeface="Calibri" pitchFamily="34" charset="-120"/>
              </a:rPr>
              <a:t>A system call is the programming interface through which a user program requests a service from the OS.</a:t>
            </a:r>
            <a:endParaRPr lang="en-US" sz="1500" dirty="0"/>
          </a:p>
        </p:txBody>
      </p:sp>
      <p:sp>
        <p:nvSpPr>
          <p:cNvPr id="4" name="Text 2"/>
          <p:cNvSpPr txBox="1"/>
          <p:nvPr/>
        </p:nvSpPr>
        <p:spPr>
          <a:xfrm>
            <a:off x="640080" y="1874520"/>
            <a:ext cx="10881360" cy="4526280"/>
          </a:xfrm>
          <a:prstGeom prst="rect">
            <a:avLst/>
          </a:prstGeom>
          <a:noFill/>
          <a:ln/>
        </p:spPr>
        <p:txBody>
          <a:bodyPr wrap="square" lIns="0" tIns="0" rIns="0" bIns="0" rtlCol="0" anchor="t"/>
          <a:lstStyle/>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Not an ordinary function call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it has to cross the protection boundary between user mode and kernel mode</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Invoked through a wrapper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most often from C or C++ via a small library wrapper function, though some low-level tasks still need assembly to issue the call directly</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The literal “doorway”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the only sanctioned way a user program can ask the OS to perform a privileged action on its behalf</a:t>
            </a:r>
            <a:endParaRPr lang="en-US" sz="1500" dirty="0"/>
          </a:p>
        </p:txBody>
      </p:sp>
      <p:sp>
        <p:nvSpPr>
          <p:cNvPr id="5" name="Text 3"/>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How a System Call Transfers Control</a:t>
            </a:r>
            <a:endParaRPr lang="en-US" sz="2800" dirty="0"/>
          </a:p>
        </p:txBody>
      </p:sp>
      <p:sp>
        <p:nvSpPr>
          <p:cNvPr id="3" name="Shape 1"/>
          <p:cNvSpPr/>
          <p:nvPr/>
        </p:nvSpPr>
        <p:spPr>
          <a:xfrm>
            <a:off x="952348" y="2286000"/>
            <a:ext cx="2331720" cy="1600200"/>
          </a:xfrm>
          <a:prstGeom prst="roundRect">
            <a:avLst>
              <a:gd name="adj" fmla="val 6857"/>
            </a:avLst>
          </a:prstGeom>
          <a:solidFill>
            <a:srgbClr val="2FE6C4"/>
          </a:solidFill>
          <a:ln/>
        </p:spPr>
      </p:sp>
      <p:sp>
        <p:nvSpPr>
          <p:cNvPr id="4" name="Text 2"/>
          <p:cNvSpPr txBox="1"/>
          <p:nvPr/>
        </p:nvSpPr>
        <p:spPr>
          <a:xfrm>
            <a:off x="1116940" y="2432304"/>
            <a:ext cx="2002536" cy="4572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User process</a:t>
            </a:r>
            <a:endParaRPr lang="en-US" sz="1300" dirty="0"/>
          </a:p>
        </p:txBody>
      </p:sp>
      <p:sp>
        <p:nvSpPr>
          <p:cNvPr id="5" name="Text 3"/>
          <p:cNvSpPr txBox="1"/>
          <p:nvPr/>
        </p:nvSpPr>
        <p:spPr>
          <a:xfrm>
            <a:off x="1116940" y="2852928"/>
            <a:ext cx="2002536" cy="886968"/>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Calls read(); syscall number placed in a register</a:t>
            </a:r>
            <a:endParaRPr lang="en-US" sz="1000" dirty="0"/>
          </a:p>
        </p:txBody>
      </p:sp>
      <p:sp>
        <p:nvSpPr>
          <p:cNvPr id="6" name="Shape 4"/>
          <p:cNvSpPr/>
          <p:nvPr/>
        </p:nvSpPr>
        <p:spPr>
          <a:xfrm>
            <a:off x="3279496" y="2994660"/>
            <a:ext cx="649224" cy="182880"/>
          </a:xfrm>
          <a:prstGeom prst="rightArrow">
            <a:avLst/>
          </a:prstGeom>
          <a:solidFill>
            <a:srgbClr val="8A939B"/>
          </a:solidFill>
          <a:ln/>
        </p:spPr>
      </p:sp>
      <p:sp>
        <p:nvSpPr>
          <p:cNvPr id="7" name="Shape 5"/>
          <p:cNvSpPr/>
          <p:nvPr/>
        </p:nvSpPr>
        <p:spPr>
          <a:xfrm>
            <a:off x="3604108" y="2286000"/>
            <a:ext cx="2331720" cy="1600200"/>
          </a:xfrm>
          <a:prstGeom prst="roundRect">
            <a:avLst>
              <a:gd name="adj" fmla="val 6857"/>
            </a:avLst>
          </a:prstGeom>
          <a:solidFill>
            <a:srgbClr val="E8A33D"/>
          </a:solidFill>
          <a:ln/>
        </p:spPr>
      </p:sp>
      <p:sp>
        <p:nvSpPr>
          <p:cNvPr id="8" name="Text 6"/>
          <p:cNvSpPr txBox="1"/>
          <p:nvPr/>
        </p:nvSpPr>
        <p:spPr>
          <a:xfrm>
            <a:off x="3768700" y="2432304"/>
            <a:ext cx="2002536" cy="4572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Trap instruction</a:t>
            </a:r>
            <a:endParaRPr lang="en-US" sz="1300" dirty="0"/>
          </a:p>
        </p:txBody>
      </p:sp>
      <p:sp>
        <p:nvSpPr>
          <p:cNvPr id="9" name="Text 7"/>
          <p:cNvSpPr txBox="1"/>
          <p:nvPr/>
        </p:nvSpPr>
        <p:spPr>
          <a:xfrm>
            <a:off x="3768700" y="2852928"/>
            <a:ext cx="2002536" cy="886968"/>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Mode bit flips: user mode → kernel mode</a:t>
            </a:r>
            <a:endParaRPr lang="en-US" sz="1000" dirty="0"/>
          </a:p>
        </p:txBody>
      </p:sp>
      <p:sp>
        <p:nvSpPr>
          <p:cNvPr id="10" name="Shape 8"/>
          <p:cNvSpPr/>
          <p:nvPr/>
        </p:nvSpPr>
        <p:spPr>
          <a:xfrm>
            <a:off x="5931256" y="2994660"/>
            <a:ext cx="649224" cy="182880"/>
          </a:xfrm>
          <a:prstGeom prst="rightArrow">
            <a:avLst/>
          </a:prstGeom>
          <a:solidFill>
            <a:srgbClr val="8A939B"/>
          </a:solidFill>
          <a:ln/>
        </p:spPr>
      </p:sp>
      <p:sp>
        <p:nvSpPr>
          <p:cNvPr id="11" name="Shape 9"/>
          <p:cNvSpPr/>
          <p:nvPr/>
        </p:nvSpPr>
        <p:spPr>
          <a:xfrm>
            <a:off x="6255868" y="2286000"/>
            <a:ext cx="2331720" cy="1600200"/>
          </a:xfrm>
          <a:prstGeom prst="roundRect">
            <a:avLst>
              <a:gd name="adj" fmla="val 6857"/>
            </a:avLst>
          </a:prstGeom>
          <a:solidFill>
            <a:srgbClr val="8B7FD9"/>
          </a:solidFill>
          <a:ln/>
        </p:spPr>
      </p:sp>
      <p:sp>
        <p:nvSpPr>
          <p:cNvPr id="12" name="Text 10"/>
          <p:cNvSpPr txBox="1"/>
          <p:nvPr/>
        </p:nvSpPr>
        <p:spPr>
          <a:xfrm>
            <a:off x="6420460" y="2432304"/>
            <a:ext cx="2002536" cy="4572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Kernel dispatcher</a:t>
            </a:r>
            <a:endParaRPr lang="en-US" sz="1300" dirty="0"/>
          </a:p>
        </p:txBody>
      </p:sp>
      <p:sp>
        <p:nvSpPr>
          <p:cNvPr id="13" name="Text 11"/>
          <p:cNvSpPr txBox="1"/>
          <p:nvPr/>
        </p:nvSpPr>
        <p:spPr>
          <a:xfrm>
            <a:off x="6420460" y="2852928"/>
            <a:ext cx="2002536" cy="886968"/>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Looks up the syscall table; runs the matching routine</a:t>
            </a:r>
            <a:endParaRPr lang="en-US" sz="1000" dirty="0"/>
          </a:p>
        </p:txBody>
      </p:sp>
      <p:sp>
        <p:nvSpPr>
          <p:cNvPr id="14" name="Shape 12"/>
          <p:cNvSpPr/>
          <p:nvPr/>
        </p:nvSpPr>
        <p:spPr>
          <a:xfrm>
            <a:off x="8583016" y="2994660"/>
            <a:ext cx="649224" cy="182880"/>
          </a:xfrm>
          <a:prstGeom prst="rightArrow">
            <a:avLst/>
          </a:prstGeom>
          <a:solidFill>
            <a:srgbClr val="8A939B"/>
          </a:solidFill>
          <a:ln/>
        </p:spPr>
      </p:sp>
      <p:sp>
        <p:nvSpPr>
          <p:cNvPr id="15" name="Shape 13"/>
          <p:cNvSpPr/>
          <p:nvPr/>
        </p:nvSpPr>
        <p:spPr>
          <a:xfrm>
            <a:off x="8907628" y="2286000"/>
            <a:ext cx="2331720" cy="1600200"/>
          </a:xfrm>
          <a:prstGeom prst="roundRect">
            <a:avLst>
              <a:gd name="adj" fmla="val 6857"/>
            </a:avLst>
          </a:prstGeom>
          <a:solidFill>
            <a:srgbClr val="2FE6C4"/>
          </a:solidFill>
          <a:ln/>
        </p:spPr>
      </p:sp>
      <p:sp>
        <p:nvSpPr>
          <p:cNvPr id="16" name="Text 14"/>
          <p:cNvSpPr txBox="1"/>
          <p:nvPr/>
        </p:nvSpPr>
        <p:spPr>
          <a:xfrm>
            <a:off x="9072220" y="2432304"/>
            <a:ext cx="2002536" cy="4572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Return to user process</a:t>
            </a:r>
            <a:endParaRPr lang="en-US" sz="1300" dirty="0"/>
          </a:p>
        </p:txBody>
      </p:sp>
      <p:sp>
        <p:nvSpPr>
          <p:cNvPr id="17" name="Text 15"/>
          <p:cNvSpPr txBox="1"/>
          <p:nvPr/>
        </p:nvSpPr>
        <p:spPr>
          <a:xfrm>
            <a:off x="9072220" y="2852928"/>
            <a:ext cx="2002536" cy="886968"/>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Mode bit flips back; execution resumes after the trap</a:t>
            </a:r>
            <a:endParaRPr lang="en-US" sz="1000" dirty="0"/>
          </a:p>
        </p:txBody>
      </p:sp>
      <p:sp>
        <p:nvSpPr>
          <p:cNvPr id="18" name="Shape 16"/>
          <p:cNvSpPr/>
          <p:nvPr/>
        </p:nvSpPr>
        <p:spPr>
          <a:xfrm>
            <a:off x="914400" y="4206240"/>
            <a:ext cx="10332720" cy="1645920"/>
          </a:xfrm>
          <a:prstGeom prst="roundRect">
            <a:avLst>
              <a:gd name="adj" fmla="val 4444"/>
            </a:avLst>
          </a:prstGeom>
          <a:solidFill>
            <a:srgbClr val="FFFFFF"/>
          </a:solidFill>
          <a:ln w="19050">
            <a:solidFill>
              <a:srgbClr val="E8A33D"/>
            </a:solidFill>
            <a:prstDash val="solid"/>
          </a:ln>
        </p:spPr>
      </p:sp>
      <p:sp>
        <p:nvSpPr>
          <p:cNvPr id="19" name="Text 17"/>
          <p:cNvSpPr txBox="1"/>
          <p:nvPr/>
        </p:nvSpPr>
        <p:spPr>
          <a:xfrm>
            <a:off x="1188720" y="4389120"/>
            <a:ext cx="9784080" cy="32004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A system call is a round trip, not a free function call</a:t>
            </a:r>
            <a:endParaRPr lang="en-US" sz="1300" dirty="0"/>
          </a:p>
        </p:txBody>
      </p:sp>
      <p:sp>
        <p:nvSpPr>
          <p:cNvPr id="20" name="Text 18"/>
          <p:cNvSpPr txBox="1"/>
          <p:nvPr/>
        </p:nvSpPr>
        <p:spPr>
          <a:xfrm>
            <a:off x="1188720" y="4754880"/>
            <a:ext cx="9784080" cy="960120"/>
          </a:xfrm>
          <a:prstGeom prst="rect">
            <a:avLst/>
          </a:prstGeom>
          <a:noFill/>
          <a:ln/>
        </p:spPr>
        <p:txBody>
          <a:bodyPr wrap="square" lIns="0" tIns="0" rIns="0" bIns="0" rtlCol="0" anchor="t"/>
          <a:lstStyle/>
          <a:p>
            <a:pPr indent="0" marL="0">
              <a:buNone/>
            </a:pPr>
            <a:r>
              <a:rPr lang="en-US" sz="1300" dirty="0">
                <a:solidFill>
                  <a:srgbClr val="1F2429"/>
                </a:solidFill>
                <a:latin typeface="Calibri" pitchFamily="34" charset="0"/>
                <a:ea typeface="Calibri" pitchFamily="34" charset="-122"/>
                <a:cs typeface="Calibri" pitchFamily="34" charset="-120"/>
              </a:rPr>
              <a:t>Every system call pays for two mode switches and the kernel actually doing the work. This is why reading a file one byte at a time via repeated read() calls is slow, while reading large buffered chunks is fast — fewer round trips through this sequence.</a:t>
            </a:r>
            <a:endParaRPr lang="en-US" sz="1300" dirty="0"/>
          </a:p>
        </p:txBody>
      </p:sp>
      <p:sp>
        <p:nvSpPr>
          <p:cNvPr id="21" name="Text 19"/>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Passing Parameters to System Calls</a:t>
            </a:r>
            <a:endParaRPr lang="en-US" sz="2800" dirty="0"/>
          </a:p>
        </p:txBody>
      </p:sp>
      <p:sp>
        <p:nvSpPr>
          <p:cNvPr id="3" name="Text 1"/>
          <p:cNvSpPr txBox="1"/>
          <p:nvPr/>
        </p:nvSpPr>
        <p:spPr>
          <a:xfrm>
            <a:off x="640080" y="1188720"/>
            <a:ext cx="10881360" cy="640080"/>
          </a:xfrm>
          <a:prstGeom prst="rect">
            <a:avLst/>
          </a:prstGeom>
          <a:noFill/>
          <a:ln/>
        </p:spPr>
        <p:txBody>
          <a:bodyPr wrap="square" lIns="0" tIns="0" rIns="0" bIns="0" rtlCol="0" anchor="t"/>
          <a:lstStyle/>
          <a:p>
            <a:pPr indent="0" marL="0">
              <a:buNone/>
            </a:pPr>
            <a:r>
              <a:rPr lang="en-US" sz="1500" dirty="0">
                <a:solidFill>
                  <a:srgbClr val="1F2429"/>
                </a:solidFill>
                <a:latin typeface="Calibri" pitchFamily="34" charset="0"/>
                <a:ea typeface="Calibri" pitchFamily="34" charset="-122"/>
                <a:cs typeface="Calibri" pitchFamily="34" charset="-120"/>
              </a:rPr>
              <a:t>A system call almost always needs parameters — which file to open, what to write, how many bytes to read. Three general methods pass them:</a:t>
            </a:r>
            <a:endParaRPr lang="en-US" sz="1500" dirty="0"/>
          </a:p>
        </p:txBody>
      </p:sp>
      <p:sp>
        <p:nvSpPr>
          <p:cNvPr id="4" name="Text 2"/>
          <p:cNvSpPr txBox="1"/>
          <p:nvPr/>
        </p:nvSpPr>
        <p:spPr>
          <a:xfrm>
            <a:off x="640080" y="1874520"/>
            <a:ext cx="10881360" cy="4526280"/>
          </a:xfrm>
          <a:prstGeom prst="rect">
            <a:avLst/>
          </a:prstGeom>
          <a:noFill/>
          <a:ln/>
        </p:spPr>
        <p:txBody>
          <a:bodyPr wrap="square" lIns="0" tIns="0" rIns="0" bIns="0" rtlCol="0" anchor="t"/>
          <a:lstStyle/>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In registers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the simplest method; limited by how many registers exist and how large a value each can hold</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In a memory block, address passed in a register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removes the limit on number or size of parameters entirely; the approach Linux and Solaris use</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On the stack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the calling program pushes parameters; the OS pops them off, at the cost of extra stack bookkeeping</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Every method is still checked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none is by itself a security guarantee; the kernel validates whatever it receives before acting on it</a:t>
            </a:r>
            <a:endParaRPr lang="en-US" sz="1500" dirty="0"/>
          </a:p>
        </p:txBody>
      </p:sp>
      <p:sp>
        <p:nvSpPr>
          <p:cNvPr id="5" name="Text 3"/>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System Call Types and Examples</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5120640"/>
        </p:xfrm>
        <a:graphic>
          <a:graphicData uri="http://schemas.openxmlformats.org/drawingml/2006/table">
            <a:tbl>
              <a:tblPr/>
              <a:tblGrid>
                <a:gridCol w="2468880"/>
                <a:gridCol w="5486400"/>
                <a:gridCol w="3136392"/>
              </a:tblGrid>
              <a:tr h="73152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Category</a:t>
                      </a:r>
                      <a:endParaRPr lang="en-US" sz="1250" dirty="0">
                        <a:latin typeface="Calibri" charset="0"/>
                        <a:ea typeface="Calibri" charset="0"/>
                        <a:cs typeface="Calibri" charset="0"/>
                      </a:endParaRPr>
                    </a:p>
                  </a:txBody>
                  <a:tcPr marL="91440" marR="91440" marT="45720" marB="45720"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1F2429"/>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Purpose</a:t>
                      </a:r>
                      <a:endParaRPr lang="en-US" sz="1250" dirty="0">
                        <a:latin typeface="Calibri" charset="0"/>
                        <a:ea typeface="Calibri" charset="0"/>
                        <a:cs typeface="Calibri" charset="0"/>
                      </a:endParaRPr>
                    </a:p>
                  </a:txBody>
                  <a:tcPr marL="91440" marR="91440" marT="45720" marB="45720"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1F2429"/>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UNIX/Linux examples</a:t>
                      </a:r>
                      <a:endParaRPr lang="en-US" sz="1250" dirty="0">
                        <a:latin typeface="Calibri" charset="0"/>
                        <a:ea typeface="Calibri" charset="0"/>
                        <a:cs typeface="Calibri" charset="0"/>
                      </a:endParaRPr>
                    </a:p>
                  </a:txBody>
                  <a:tcPr marL="91440" marR="91440" marT="45720" marB="45720"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1F2429"/>
                    </a:solidFill>
                  </a:tcPr>
                </a:tc>
              </a:tr>
              <a:tr h="731520">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Process control</a:t>
                      </a:r>
                      <a:endParaRPr lang="en-US" sz="115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Create/terminate a process, load and execute a program, get/set attributes, wait, allocate memory</a:t>
                      </a:r>
                      <a:endParaRPr lang="en-US" sz="115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fork(), exec(), exit(), wait()</a:t>
                      </a:r>
                      <a:endParaRPr lang="en-US" sz="115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r>
              <a:tr h="731520">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File management</a:t>
                      </a:r>
                      <a:endParaRPr lang="en-US" sz="115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EDEFF1"/>
                    </a:solidFill>
                  </a:tcPr>
                </a:tc>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Create, delete, open, close, read, write, or reposition within a file; get/set attributes</a:t>
                      </a:r>
                      <a:endParaRPr lang="en-US" sz="115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EDEFF1"/>
                    </a:solidFill>
                  </a:tcPr>
                </a:tc>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open(), read(), write(), close()</a:t>
                      </a:r>
                      <a:endParaRPr lang="en-US" sz="115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EDEFF1"/>
                    </a:solidFill>
                  </a:tcPr>
                </a:tc>
              </a:tr>
              <a:tr h="731520">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Device management</a:t>
                      </a:r>
                      <a:endParaRPr lang="en-US" sz="115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Request or release a device, read/write to it, get/set attributes, attach/detach</a:t>
                      </a:r>
                      <a:endParaRPr lang="en-US" sz="115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ioctl()</a:t>
                      </a:r>
                      <a:endParaRPr lang="en-US" sz="115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r>
              <a:tr h="731520">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Information maintenance</a:t>
                      </a:r>
                      <a:endParaRPr lang="en-US" sz="115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EDEFF1"/>
                    </a:solidFill>
                  </a:tcPr>
                </a:tc>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Get/set system time or date; get/set process, file, or device attributes</a:t>
                      </a:r>
                      <a:endParaRPr lang="en-US" sz="115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EDEFF1"/>
                    </a:solidFill>
                  </a:tcPr>
                </a:tc>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getpid(), alarm()</a:t>
                      </a:r>
                      <a:endParaRPr lang="en-US" sz="115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EDEFF1"/>
                    </a:solidFill>
                  </a:tcPr>
                </a:tc>
              </a:tr>
              <a:tr h="731520">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Communications</a:t>
                      </a:r>
                      <a:endParaRPr lang="en-US" sz="115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Create/destroy a connection, send/receive messages, transfer status information</a:t>
                      </a:r>
                      <a:endParaRPr lang="en-US" sz="115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pipe(), shmget(), mmap()</a:t>
                      </a:r>
                      <a:endParaRPr lang="en-US" sz="115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r>
              <a:tr h="731520">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Protection</a:t>
                      </a:r>
                      <a:endParaRPr lang="en-US" sz="115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EDEFF1"/>
                    </a:solidFill>
                  </a:tcPr>
                </a:tc>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Control access to resources; get/set permissions on files or processes</a:t>
                      </a:r>
                      <a:endParaRPr lang="en-US" sz="115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EDEFF1"/>
                    </a:solidFill>
                  </a:tcPr>
                </a:tc>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chmod(), chown(), umask()</a:t>
                      </a:r>
                      <a:endParaRPr lang="en-US" sz="1150" dirty="0">
                        <a:latin typeface="Calibri" charset="0"/>
                        <a:ea typeface="Calibri" charset="0"/>
                        <a:cs typeface="Calibri" charset="0"/>
                      </a:endParaRPr>
                    </a:p>
                  </a:txBody>
                  <a:tcPr marL="91440" marR="91440" marT="45720" marB="45720" anchor="t">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EDEFF1"/>
                    </a:solidFill>
                  </a:tcPr>
                </a:tc>
              </a:tr>
            </a:tbl>
          </a:graphicData>
        </a:graphic>
      </p:graphicFrame>
      <p:sp>
        <p:nvSpPr>
          <p:cNvPr id="4" name="Text 1"/>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Worked Example: What a Shell Does When You Type “ls -l”</a:t>
            </a:r>
            <a:endParaRPr lang="en-US" sz="2800" dirty="0"/>
          </a:p>
        </p:txBody>
      </p:sp>
      <p:sp>
        <p:nvSpPr>
          <p:cNvPr id="3" name="Text 1"/>
          <p:cNvSpPr txBox="1"/>
          <p:nvPr/>
        </p:nvSpPr>
        <p:spPr>
          <a:xfrm>
            <a:off x="640080" y="1188720"/>
            <a:ext cx="10881360" cy="640080"/>
          </a:xfrm>
          <a:prstGeom prst="rect">
            <a:avLst/>
          </a:prstGeom>
          <a:noFill/>
          <a:ln/>
        </p:spPr>
        <p:txBody>
          <a:bodyPr wrap="square" lIns="0" tIns="0" rIns="0" bIns="0" rtlCol="0" anchor="t"/>
          <a:lstStyle/>
          <a:p>
            <a:pPr indent="0" marL="0">
              <a:buNone/>
            </a:pPr>
            <a:r>
              <a:rPr lang="en-US" sz="1500" dirty="0">
                <a:solidFill>
                  <a:srgbClr val="1F2429"/>
                </a:solidFill>
                <a:latin typeface="Calibri" pitchFamily="34" charset="0"/>
                <a:ea typeface="Calibri" pitchFamily="34" charset="-122"/>
                <a:cs typeface="Calibri" pitchFamily="34" charset="-120"/>
              </a:rPr>
              <a:t>Running a single command at a shell prompt triggers at least two process-control system calls, working together:</a:t>
            </a:r>
            <a:endParaRPr lang="en-US" sz="1500" dirty="0"/>
          </a:p>
        </p:txBody>
      </p:sp>
      <p:sp>
        <p:nvSpPr>
          <p:cNvPr id="4" name="Shape 2"/>
          <p:cNvSpPr/>
          <p:nvPr/>
        </p:nvSpPr>
        <p:spPr>
          <a:xfrm>
            <a:off x="640080" y="1783080"/>
            <a:ext cx="10881360" cy="2926080"/>
          </a:xfrm>
          <a:prstGeom prst="roundRect">
            <a:avLst>
              <a:gd name="adj" fmla="val 2500"/>
            </a:avLst>
          </a:prstGeom>
          <a:solidFill>
            <a:srgbClr val="14181C"/>
          </a:solidFill>
          <a:ln/>
        </p:spPr>
      </p:sp>
      <p:sp>
        <p:nvSpPr>
          <p:cNvPr id="5" name="Text 3"/>
          <p:cNvSpPr txBox="1"/>
          <p:nvPr/>
        </p:nvSpPr>
        <p:spPr>
          <a:xfrm>
            <a:off x="914400" y="2011680"/>
            <a:ext cx="10332720" cy="2468880"/>
          </a:xfrm>
          <a:prstGeom prst="rect">
            <a:avLst/>
          </a:prstGeom>
          <a:noFill/>
          <a:ln/>
        </p:spPr>
        <p:txBody>
          <a:bodyPr wrap="square" lIns="0" tIns="0" rIns="0" bIns="0" rtlCol="0" anchor="t"/>
          <a:lstStyle/>
          <a:p>
            <a:pPr indent="0" marL="0">
              <a:lnSpc>
                <a:spcPct val="125000"/>
              </a:lnSpc>
              <a:buNone/>
            </a:pPr>
            <a:r>
              <a:rPr lang="en-US" sz="1300" dirty="0">
                <a:solidFill>
                  <a:srgbClr val="D7F7EF"/>
                </a:solidFill>
                <a:latin typeface="Courier New" pitchFamily="34" charset="0"/>
                <a:ea typeface="Courier New" pitchFamily="34" charset="-122"/>
                <a:cs typeface="Courier New" pitchFamily="34" charset="-120"/>
              </a:rPr>
              <a:t>pid_t pid = fork();        /* create a near-duplicate child process */</a:t>
            </a:r>
            <a:endParaRPr lang="en-US" sz="1300" dirty="0"/>
          </a:p>
          <a:p>
            <a:pPr indent="0" marL="0">
              <a:lnSpc>
                <a:spcPct val="125000"/>
              </a:lnSpc>
              <a:buNone/>
            </a:pPr>
            <a:endParaRPr lang="en-US" sz="1300" dirty="0"/>
          </a:p>
          <a:p>
            <a:pPr indent="0" marL="0">
              <a:lnSpc>
                <a:spcPct val="125000"/>
              </a:lnSpc>
              <a:buNone/>
            </a:pPr>
            <a:r>
              <a:rPr lang="en-US" sz="1300" dirty="0">
                <a:solidFill>
                  <a:srgbClr val="D7F7EF"/>
                </a:solidFill>
                <a:latin typeface="Courier New" pitchFamily="34" charset="0"/>
                <a:ea typeface="Courier New" pitchFamily="34" charset="-122"/>
                <a:cs typeface="Courier New" pitchFamily="34" charset="-120"/>
              </a:rPr>
              <a:t>if (pid == 0) {</a:t>
            </a:r>
            <a:endParaRPr lang="en-US" sz="1300" dirty="0"/>
          </a:p>
          <a:p>
            <a:pPr indent="0" marL="0">
              <a:lnSpc>
                <a:spcPct val="125000"/>
              </a:lnSpc>
              <a:buNone/>
            </a:pPr>
            <a:r>
              <a:rPr lang="en-US" sz="1300" dirty="0">
                <a:solidFill>
                  <a:srgbClr val="D7F7EF"/>
                </a:solidFill>
                <a:latin typeface="Courier New" pitchFamily="34" charset="0"/>
                <a:ea typeface="Courier New" pitchFamily="34" charset="-122"/>
                <a:cs typeface="Courier New" pitchFamily="34" charset="-120"/>
              </a:rPr>
              <a:t>    /* child: replace this process's own memory image with /bin/ls */</a:t>
            </a:r>
            <a:endParaRPr lang="en-US" sz="1300" dirty="0"/>
          </a:p>
          <a:p>
            <a:pPr indent="0" marL="0">
              <a:lnSpc>
                <a:spcPct val="125000"/>
              </a:lnSpc>
              <a:buNone/>
            </a:pPr>
            <a:r>
              <a:rPr lang="en-US" sz="1300" dirty="0">
                <a:solidFill>
                  <a:srgbClr val="D7F7EF"/>
                </a:solidFill>
                <a:latin typeface="Courier New" pitchFamily="34" charset="0"/>
                <a:ea typeface="Courier New" pitchFamily="34" charset="-122"/>
                <a:cs typeface="Courier New" pitchFamily="34" charset="-120"/>
              </a:rPr>
              <a:t>    execlp("ls", "ls", "-l", NULL);</a:t>
            </a:r>
            <a:endParaRPr lang="en-US" sz="1300" dirty="0"/>
          </a:p>
          <a:p>
            <a:pPr indent="0" marL="0">
              <a:lnSpc>
                <a:spcPct val="125000"/>
              </a:lnSpc>
              <a:buNone/>
            </a:pPr>
            <a:r>
              <a:rPr lang="en-US" sz="1300" dirty="0">
                <a:solidFill>
                  <a:srgbClr val="D7F7EF"/>
                </a:solidFill>
                <a:latin typeface="Courier New" pitchFamily="34" charset="0"/>
                <a:ea typeface="Courier New" pitchFamily="34" charset="-122"/>
                <a:cs typeface="Courier New" pitchFamily="34" charset="-120"/>
              </a:rPr>
              <a:t>} else {</a:t>
            </a:r>
            <a:endParaRPr lang="en-US" sz="1300" dirty="0"/>
          </a:p>
          <a:p>
            <a:pPr indent="0" marL="0">
              <a:lnSpc>
                <a:spcPct val="125000"/>
              </a:lnSpc>
              <a:buNone/>
            </a:pPr>
            <a:r>
              <a:rPr lang="en-US" sz="1300" dirty="0">
                <a:solidFill>
                  <a:srgbClr val="D7F7EF"/>
                </a:solidFill>
                <a:latin typeface="Courier New" pitchFamily="34" charset="0"/>
                <a:ea typeface="Courier New" pitchFamily="34" charset="-122"/>
                <a:cs typeface="Courier New" pitchFamily="34" charset="-120"/>
              </a:rPr>
              <a:t>    /* parent (the shell): wait for the child to finish before showing a new prompt */</a:t>
            </a:r>
            <a:endParaRPr lang="en-US" sz="1300" dirty="0"/>
          </a:p>
          <a:p>
            <a:pPr indent="0" marL="0">
              <a:lnSpc>
                <a:spcPct val="125000"/>
              </a:lnSpc>
              <a:buNone/>
            </a:pPr>
            <a:r>
              <a:rPr lang="en-US" sz="1300" dirty="0">
                <a:solidFill>
                  <a:srgbClr val="D7F7EF"/>
                </a:solidFill>
                <a:latin typeface="Courier New" pitchFamily="34" charset="0"/>
                <a:ea typeface="Courier New" pitchFamily="34" charset="-122"/>
                <a:cs typeface="Courier New" pitchFamily="34" charset="-120"/>
              </a:rPr>
              <a:t>    wait(NULL);</a:t>
            </a:r>
            <a:endParaRPr lang="en-US" sz="1300" dirty="0"/>
          </a:p>
          <a:p>
            <a:pPr indent="0" marL="0">
              <a:lnSpc>
                <a:spcPct val="125000"/>
              </a:lnSpc>
              <a:buNone/>
            </a:pPr>
            <a:r>
              <a:rPr lang="en-US" sz="1300" dirty="0">
                <a:solidFill>
                  <a:srgbClr val="D7F7EF"/>
                </a:solidFill>
                <a:latin typeface="Courier New" pitchFamily="34" charset="0"/>
                <a:ea typeface="Courier New" pitchFamily="34" charset="-122"/>
                <a:cs typeface="Courier New" pitchFamily="34" charset="-120"/>
              </a:rPr>
              <a:t>}</a:t>
            </a:r>
            <a:endParaRPr lang="en-US" sz="1300" dirty="0"/>
          </a:p>
        </p:txBody>
      </p:sp>
      <p:sp>
        <p:nvSpPr>
          <p:cNvPr id="6" name="Text 4"/>
          <p:cNvSpPr txBox="1"/>
          <p:nvPr/>
        </p:nvSpPr>
        <p:spPr>
          <a:xfrm>
            <a:off x="640080" y="4892040"/>
            <a:ext cx="10881360" cy="1463040"/>
          </a:xfrm>
          <a:prstGeom prst="rect">
            <a:avLst/>
          </a:prstGeom>
          <a:noFill/>
          <a:ln/>
        </p:spPr>
        <p:txBody>
          <a:bodyPr wrap="square" lIns="0" tIns="0" rIns="0" bIns="0" rtlCol="0" anchor="t"/>
          <a:lstStyle/>
          <a:p>
            <a:pPr indent="0" marL="0">
              <a:buNone/>
            </a:pPr>
            <a:r>
              <a:rPr lang="en-US" sz="1300" dirty="0">
                <a:solidFill>
                  <a:srgbClr val="1F2429"/>
                </a:solidFill>
                <a:latin typeface="Calibri" pitchFamily="34" charset="0"/>
                <a:ea typeface="Calibri" pitchFamily="34" charset="-122"/>
                <a:cs typeface="Calibri" pitchFamily="34" charset="-120"/>
              </a:rPr>
              <a:t>fork() creates a new process that starts as a near-identical copy of the shell itself. execlp(), called only inside the child, discards that copy's memory image and replaces it with the ls program. The parent shell calls wait() so it pauses until the child finishes. Every command you've typed at a UNIX-family shell follows this fork() + exec() + wait() pattern.</a:t>
            </a:r>
            <a:endParaRPr lang="en-US" sz="1300" dirty="0"/>
          </a:p>
        </p:txBody>
      </p:sp>
      <p:sp>
        <p:nvSpPr>
          <p:cNvPr id="7" name="Text 5"/>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640080"/>
            <a:ext cx="1051560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3" name="Text 1"/>
          <p:cNvSpPr txBox="1"/>
          <p:nvPr/>
        </p:nvSpPr>
        <p:spPr>
          <a:xfrm>
            <a:off x="822960" y="1645920"/>
            <a:ext cx="10332720" cy="457200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OS services split into those convenient for the user (execution, I/O, file-system manipulation, communications, error detection) and those that keep the system itself efficient (resource allocation, accounting, protection and security)</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CLI, GUI, and mobile/touch interfaces each suit different tasks; power users favor the CLI for scriptability, precision, and remote accessibility</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A system call crosses the user-mode/kernel-mode boundary through a trap: a syscall number identifies the request, a dispatcher looks it up in a syscall table, and control returns only once the kernel routine finishes</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Parameters reach a system call in registers, in a memory block whose address is passed in a register, or on the stack — the kernel validates them regardless</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System calls group into process control, file management, device management, information maintenance, communications, and protection — a single typed command already exercises several, via fork(), exec(), and wait()</a:t>
            </a:r>
            <a:endParaRPr lang="en-US" sz="1600" dirty="0"/>
          </a:p>
        </p:txBody>
      </p:sp>
      <p:sp>
        <p:nvSpPr>
          <p:cNvPr id="4" name="Text 2"/>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2026-10-02T01:18:53Z</dcterms:created>
  <dcterms:modified xsi:type="dcterms:W3CDTF">2026-10-02T01:18:53Z</dcterms:modified>
</cp:coreProperties>
</file>
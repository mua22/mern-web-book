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057400"/>
            <a:ext cx="10515600" cy="41148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5</a:t>
            </a:r>
            <a:endParaRPr lang="en-US" sz="1600" dirty="0"/>
          </a:p>
        </p:txBody>
      </p:sp>
      <p:sp>
        <p:nvSpPr>
          <p:cNvPr id="3" name="Text 1"/>
          <p:cNvSpPr txBox="1"/>
          <p:nvPr/>
        </p:nvSpPr>
        <p:spPr>
          <a:xfrm>
            <a:off x="822960" y="2487168"/>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Security and Protection: An Introduction</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25880"/>
            <a:ext cx="10607040" cy="4937760"/>
          </a:xfrm>
          <a:prstGeom prst="rect">
            <a:avLst/>
          </a:prstGeom>
          <a:noFill/>
          <a:ln/>
        </p:spPr>
        <p:txBody>
          <a:bodyPr wrap="square" lIns="0" tIns="0" rIns="0" bIns="0" rtlCol="0" anchor="t"/>
          <a:lstStyle/>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distinction between protection and security — two related but genuinely different concerns</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principle of least privilege, and why it organizes almost every protection mechanism</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general idea of an access matrix: domains (subjects) against objects, with rights in between</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basics of authentication — something you know, have, or are</a:t>
            </a:r>
            <a:endParaRPr lang="en-US" sz="1600" dirty="0"/>
          </a:p>
          <a:p>
            <a:pPr marL="342900" indent="-342900">
              <a:lnSpc>
                <a:spcPct val="120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Why protection matters even on a machine with exactly one user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Before the Mechanisms, the Question</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Every mechanism this course covers later — every process, every open file, every shared segment of memory — is, from the OS's point of view, a resource that something or someone might misuse, on purpose or by accident.</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This lecture asks: who is allowed to do what to this system, and how does the OS enforce the answer?</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It is not a deep dive into cryptography or access-control implementations — that belongs to a dedicated security course</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It is the vocabulary and mental model needed before processes, files, and shared memory start needing protection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Protection vs. Security</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Text 2"/>
          <p:cNvSpPr txBox="1"/>
          <p:nvPr/>
        </p:nvSpPr>
        <p:spPr>
          <a:xfrm>
            <a:off x="640080" y="1188720"/>
            <a:ext cx="10881360" cy="73152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These two words get used almost interchangeably in casual conversation, but an operating systems course needs to keep them separate — they answer different questions.</a:t>
            </a:r>
            <a:endParaRPr lang="en-US" sz="1500" dirty="0"/>
          </a:p>
        </p:txBody>
      </p:sp>
      <p:sp>
        <p:nvSpPr>
          <p:cNvPr id="5" name="Shape 3"/>
          <p:cNvSpPr/>
          <p:nvPr/>
        </p:nvSpPr>
        <p:spPr>
          <a:xfrm>
            <a:off x="640080" y="2148840"/>
            <a:ext cx="5257800" cy="1920240"/>
          </a:xfrm>
          <a:prstGeom prst="roundRect">
            <a:avLst>
              <a:gd name="adj" fmla="val 4762"/>
            </a:avLst>
          </a:prstGeom>
          <a:solidFill>
            <a:srgbClr val="2FE6C4"/>
          </a:solidFill>
          <a:ln/>
        </p:spPr>
      </p:sp>
      <p:sp>
        <p:nvSpPr>
          <p:cNvPr id="6" name="Text 4"/>
          <p:cNvSpPr txBox="1"/>
          <p:nvPr/>
        </p:nvSpPr>
        <p:spPr>
          <a:xfrm>
            <a:off x="841248" y="229514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Protection</a:t>
            </a:r>
            <a:endParaRPr lang="en-US" sz="1400" dirty="0"/>
          </a:p>
        </p:txBody>
      </p:sp>
      <p:sp>
        <p:nvSpPr>
          <p:cNvPr id="7" name="Text 5"/>
          <p:cNvSpPr txBox="1"/>
          <p:nvPr/>
        </p:nvSpPr>
        <p:spPr>
          <a:xfrm>
            <a:off x="841248" y="2679192"/>
            <a:ext cx="48554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"These two trusted processes are both allowed on this machine — how do I stop one from corrupting the other’s files by mistake?"</a:t>
            </a:r>
            <a:endParaRPr lang="en-US" sz="1100" dirty="0"/>
          </a:p>
        </p:txBody>
      </p:sp>
      <p:sp>
        <p:nvSpPr>
          <p:cNvPr id="8" name="Shape 6"/>
          <p:cNvSpPr/>
          <p:nvPr/>
        </p:nvSpPr>
        <p:spPr>
          <a:xfrm>
            <a:off x="5897880" y="2148840"/>
            <a:ext cx="5257800" cy="1920240"/>
          </a:xfrm>
          <a:prstGeom prst="roundRect">
            <a:avLst>
              <a:gd name="adj" fmla="val 4762"/>
            </a:avLst>
          </a:prstGeom>
          <a:solidFill>
            <a:srgbClr val="8B7FD9"/>
          </a:solidFill>
          <a:ln/>
        </p:spPr>
      </p:sp>
      <p:sp>
        <p:nvSpPr>
          <p:cNvPr id="9" name="Text 7"/>
          <p:cNvSpPr txBox="1"/>
          <p:nvPr/>
        </p:nvSpPr>
        <p:spPr>
          <a:xfrm>
            <a:off x="6099048" y="2295144"/>
            <a:ext cx="485546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p>
        </p:txBody>
      </p:sp>
      <p:sp>
        <p:nvSpPr>
          <p:cNvPr id="10" name="Text 8"/>
          <p:cNvSpPr txBox="1"/>
          <p:nvPr/>
        </p:nvSpPr>
        <p:spPr>
          <a:xfrm>
            <a:off x="6099048" y="2679192"/>
            <a:ext cx="48554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"Someone outside this system is actively trying to get in, steal data, or run code they were never given permission to run — how do I stop them?"</a:t>
            </a:r>
            <a:endParaRPr lang="en-US" sz="1100" dirty="0"/>
          </a:p>
        </p:txBody>
      </p:sp>
      <p:sp>
        <p:nvSpPr>
          <p:cNvPr id="11" name="Shape 9"/>
          <p:cNvSpPr/>
          <p:nvPr/>
        </p:nvSpPr>
        <p:spPr>
          <a:xfrm>
            <a:off x="640080" y="4343400"/>
            <a:ext cx="10881360" cy="1371600"/>
          </a:xfrm>
          <a:prstGeom prst="roundRect">
            <a:avLst>
              <a:gd name="adj" fmla="val 6667"/>
            </a:avLst>
          </a:prstGeom>
          <a:solidFill>
            <a:srgbClr val="E6FBF6"/>
          </a:solidFill>
          <a:ln w="12700">
            <a:solidFill>
              <a:srgbClr val="2FE6C4"/>
            </a:solidFill>
            <a:prstDash val="solid"/>
          </a:ln>
        </p:spPr>
      </p:sp>
      <p:sp>
        <p:nvSpPr>
          <p:cNvPr id="12" name="Text 10"/>
          <p:cNvSpPr txBox="1"/>
          <p:nvPr/>
        </p:nvSpPr>
        <p:spPr>
          <a:xfrm>
            <a:off x="868680" y="4480560"/>
            <a:ext cx="10424160" cy="109728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Protection mechanisms are security’s building blocks.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A system with perfect protection is much harder to compromise — even a successfully-launched attack is stuck inside the narrow permissions the protection system grants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Protection or Security? A Quick Test</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Ask who the actors are.</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If every actor involved is already running legitimately on the machine, and the question is “should this process/user be allowed to touch that resource” — it's protection</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If the question involves someone or something that doesn't belong on the system trying to get in or do damage anyway — it's security</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Weak protection turns even a minor security breach into a total one — this course introduces protection first because it underlies security</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Protection Matters Even on a Single-User System</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It's tempting to think protection only matters on a shared, multi-user machine. But protection matters even on a laptop with one human user and one account, for a simple reason: a buggy program is a threat too.</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pointer bug that writes past a buffer, a misconfigured script that deletes the wrong directory, a runaway process that consumes all memory — all need containing</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OS can't tell “a hostile process overwriting memory” from “a buggy process doing the same thing by accident” — and it shouldn't need to</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Sound protection stops both with the same mechanism: never letting either one touch memory it wasn't assigned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Trust Is Not the Same as Correctness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Shape 2"/>
          <p:cNvSpPr/>
          <p:nvPr/>
        </p:nvSpPr>
        <p:spPr>
          <a:xfrm>
            <a:off x="822960" y="1828800"/>
            <a:ext cx="10515600" cy="2011680"/>
          </a:xfrm>
          <a:prstGeom prst="roundRect">
            <a:avLst>
              <a:gd name="adj" fmla="val 4545"/>
            </a:avLst>
          </a:prstGeom>
          <a:solidFill>
            <a:srgbClr val="FBEEDD"/>
          </a:solidFill>
          <a:ln w="12700">
            <a:solidFill>
              <a:srgbClr val="E8A33D"/>
            </a:solidFill>
            <a:prstDash val="solid"/>
          </a:ln>
        </p:spPr>
      </p:sp>
      <p:sp>
        <p:nvSpPr>
          <p:cNvPr id="5" name="Text 3"/>
          <p:cNvSpPr txBox="1"/>
          <p:nvPr/>
        </p:nvSpPr>
        <p:spPr>
          <a:xfrm>
            <a:off x="1051560" y="1965960"/>
            <a:ext cx="10058400" cy="173736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A program can be fully trusted and still not be correct.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Even code written in good faith by a competent programmer, running under your own account, is not correct by virtue of being trusted. Protection's job is to limit the damage a process can do if it misbehaves — whether that misbehavior comes from an attacker, a bug, or a careless typo. The resource being protected doesn't care which.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Principle of Least Privilege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Shape 2"/>
          <p:cNvSpPr/>
          <p:nvPr/>
        </p:nvSpPr>
        <p:spPr>
          <a:xfrm>
            <a:off x="1188720" y="1371600"/>
            <a:ext cx="9784080" cy="1371600"/>
          </a:xfrm>
          <a:prstGeom prst="roundRect">
            <a:avLst>
              <a:gd name="adj" fmla="val 6667"/>
            </a:avLst>
          </a:prstGeom>
          <a:solidFill>
            <a:srgbClr val="1F2429"/>
          </a:solidFill>
          <a:ln/>
        </p:spPr>
      </p:sp>
      <p:sp>
        <p:nvSpPr>
          <p:cNvPr id="5" name="Text 3"/>
          <p:cNvSpPr txBox="1"/>
          <p:nvPr/>
        </p:nvSpPr>
        <p:spPr>
          <a:xfrm>
            <a:off x="1554480" y="1554480"/>
            <a:ext cx="9052560" cy="1005840"/>
          </a:xfrm>
          <a:prstGeom prst="rect">
            <a:avLst/>
          </a:prstGeom>
          <a:noFill/>
          <a:ln/>
        </p:spPr>
        <p:txBody>
          <a:bodyPr wrap="square" lIns="0" tIns="0" rIns="0" bIns="0" rtlCol="0" anchor="ctr"/>
          <a:lstStyle/>
          <a:p>
            <a:pPr algn="ctr" indent="0" marL="0">
              <a:buNone/>
            </a:pPr>
            <a:r>
              <a:rPr lang="en-US" sz="1700" i="1" dirty="0">
                <a:solidFill>
                  <a:srgbClr val="FFFFFF"/>
                </a:solidFill>
                <a:latin typeface="Calibri" pitchFamily="34" charset="0"/>
                <a:ea typeface="Calibri" pitchFamily="34" charset="-122"/>
                <a:cs typeface="Calibri" pitchFamily="34" charset="-120"/>
              </a:rPr>
              <a:t>Every process, user, and program should operate with the smallest set of access rights necessary to accomplish its task, and no more.</a:t>
            </a:r>
            <a:endParaRPr lang="en-US" sz="1700" dirty="0"/>
          </a:p>
        </p:txBody>
      </p:sp>
      <p:sp>
        <p:nvSpPr>
          <p:cNvPr id="6" name="Text 4"/>
          <p:cNvSpPr txBox="1"/>
          <p:nvPr/>
        </p:nvSpPr>
        <p:spPr>
          <a:xfrm>
            <a:off x="640080" y="3017520"/>
            <a:ext cx="10881360" cy="3017520"/>
          </a:xfrm>
          <a:prstGeom prst="rect">
            <a:avLst/>
          </a:prstGeom>
          <a:noFill/>
          <a:ln/>
        </p:spPr>
        <p:txBody>
          <a:bodyPr wrap="square" lIns="0" tIns="0" rIns="0" bIns="0" rtlCol="0" anchor="t"/>
          <a:lstStyle/>
          <a:p>
            <a:pPr marL="342900" indent="-342900">
              <a:lnSpc>
                <a:spcPct val="120000"/>
              </a:lnSpc>
              <a:spcAft>
                <a:spcPts val="1300"/>
              </a:spcAft>
              <a:buSzPct val="100000"/>
              <a:buChar char="●"/>
            </a:pPr>
            <a:r>
              <a:rPr lang="en-US" sz="1450" dirty="0">
                <a:solidFill>
                  <a:srgbClr val="1F2429"/>
                </a:solidFill>
                <a:latin typeface="Calibri" pitchFamily="34" charset="0"/>
                <a:ea typeface="Calibri" pitchFamily="34" charset="-122"/>
                <a:cs typeface="Calibri" pitchFamily="34" charset="-120"/>
              </a:rPr>
              <a:t>A text editor needs to read/write the file you opened — not every other user's private files</a:t>
            </a:r>
            <a:endParaRPr lang="en-US" sz="1450" dirty="0"/>
          </a:p>
          <a:p>
            <a:pPr marL="342900" indent="-342900">
              <a:lnSpc>
                <a:spcPct val="120000"/>
              </a:lnSpc>
              <a:spcAft>
                <a:spcPts val="1300"/>
              </a:spcAft>
              <a:buSzPct val="100000"/>
              <a:buChar char="●"/>
            </a:pPr>
            <a:r>
              <a:rPr lang="en-US" sz="1450" dirty="0">
                <a:solidFill>
                  <a:srgbClr val="1F2429"/>
                </a:solidFill>
                <a:latin typeface="Calibri" pitchFamily="34" charset="0"/>
                <a:ea typeface="Calibri" pitchFamily="34" charset="-122"/>
                <a:cs typeface="Calibri" pitchFamily="34" charset="-120"/>
              </a:rPr>
              <a:t>A print spooler needs the printer queue — not your email</a:t>
            </a:r>
            <a:endParaRPr lang="en-US" sz="1450" dirty="0"/>
          </a:p>
          <a:p>
            <a:pPr marL="342900" indent="-342900">
              <a:lnSpc>
                <a:spcPct val="120000"/>
              </a:lnSpc>
              <a:spcAft>
                <a:spcPts val="1300"/>
              </a:spcAft>
              <a:buSzPct val="100000"/>
              <a:buChar char="●"/>
            </a:pPr>
            <a:r>
              <a:rPr lang="en-US" sz="1450" dirty="0">
                <a:solidFill>
                  <a:srgbClr val="1F2429"/>
                </a:solidFill>
                <a:latin typeface="Calibri" pitchFamily="34" charset="0"/>
                <a:ea typeface="Calibri" pitchFamily="34" charset="-122"/>
                <a:cs typeface="Calibri" pitchFamily="34" charset="-120"/>
              </a:rPr>
              <a:t>Least privilege isn't about distrust — it's a default posture: grant the minimum, widen only when a justified need appears</a:t>
            </a:r>
            <a:endParaRPr lang="en-US" sz="1450" dirty="0"/>
          </a:p>
          <a:p>
            <a:pPr marL="342900" indent="-342900">
              <a:lnSpc>
                <a:spcPct val="120000"/>
              </a:lnSpc>
              <a:spcAft>
                <a:spcPts val="1300"/>
              </a:spcAft>
              <a:buSzPct val="100000"/>
              <a:buChar char="●"/>
            </a:pPr>
            <a:r>
              <a:rPr lang="en-US" sz="1450" dirty="0">
                <a:solidFill>
                  <a:srgbClr val="1F2429"/>
                </a:solidFill>
                <a:latin typeface="Calibri" pitchFamily="34" charset="0"/>
                <a:ea typeface="Calibri" pitchFamily="34" charset="-122"/>
                <a:cs typeface="Calibri" pitchFamily="34" charset="-120"/>
              </a:rPr>
              <a:t>The benefit compounds exactly in the buggy-program scenario: damage is bounded by the narrow permission set actually held</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Least Privilege, Applied to a Simple Example</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
        <p:nvSpPr>
          <p:cNvPr id="4" name="Shape 2"/>
          <p:cNvSpPr/>
          <p:nvPr/>
        </p:nvSpPr>
        <p:spPr>
          <a:xfrm>
            <a:off x="2194560" y="1371600"/>
            <a:ext cx="7772400" cy="1371600"/>
          </a:xfrm>
          <a:prstGeom prst="roundRect">
            <a:avLst>
              <a:gd name="adj" fmla="val 6000"/>
            </a:avLst>
          </a:prstGeom>
          <a:solidFill>
            <a:srgbClr val="E8A33D"/>
          </a:solidFill>
          <a:ln/>
        </p:spPr>
      </p:sp>
      <p:sp>
        <p:nvSpPr>
          <p:cNvPr id="5" name="Text 3"/>
          <p:cNvSpPr txBox="1"/>
          <p:nvPr/>
        </p:nvSpPr>
        <p:spPr>
          <a:xfrm>
            <a:off x="2468880" y="1499616"/>
            <a:ext cx="72237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Without least privilege</a:t>
            </a:r>
            <a:endParaRPr lang="en-US" sz="1400" dirty="0"/>
          </a:p>
        </p:txBody>
      </p:sp>
      <p:sp>
        <p:nvSpPr>
          <p:cNvPr id="6" name="Text 4"/>
          <p:cNvSpPr txBox="1"/>
          <p:nvPr/>
        </p:nvSpPr>
        <p:spPr>
          <a:xfrm>
            <a:off x="2468880" y="1856232"/>
            <a:ext cx="7223760" cy="8229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spell-checker process is given read/write access to the whole filesystem “to be safe”</a:t>
            </a:r>
            <a:endParaRPr lang="en-US" sz="1150" dirty="0"/>
          </a:p>
        </p:txBody>
      </p:sp>
      <p:sp>
        <p:nvSpPr>
          <p:cNvPr id="7" name="Shape 5"/>
          <p:cNvSpPr/>
          <p:nvPr/>
        </p:nvSpPr>
        <p:spPr>
          <a:xfrm>
            <a:off x="5989320" y="2907792"/>
            <a:ext cx="182880" cy="219456"/>
          </a:xfrm>
          <a:prstGeom prst="downArrow">
            <a:avLst/>
          </a:prstGeom>
          <a:solidFill>
            <a:srgbClr val="8A939B"/>
          </a:solidFill>
          <a:ln/>
        </p:spPr>
      </p:sp>
      <p:sp>
        <p:nvSpPr>
          <p:cNvPr id="8" name="Shape 6"/>
          <p:cNvSpPr/>
          <p:nvPr/>
        </p:nvSpPr>
        <p:spPr>
          <a:xfrm>
            <a:off x="2194560" y="3291840"/>
            <a:ext cx="7772400" cy="1371600"/>
          </a:xfrm>
          <a:prstGeom prst="roundRect">
            <a:avLst>
              <a:gd name="adj" fmla="val 6000"/>
            </a:avLst>
          </a:prstGeom>
          <a:solidFill>
            <a:srgbClr val="2FE6C4"/>
          </a:solidFill>
          <a:ln/>
        </p:spPr>
      </p:sp>
      <p:sp>
        <p:nvSpPr>
          <p:cNvPr id="9" name="Text 7"/>
          <p:cNvSpPr txBox="1"/>
          <p:nvPr/>
        </p:nvSpPr>
        <p:spPr>
          <a:xfrm>
            <a:off x="2468880" y="3419856"/>
            <a:ext cx="72237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With least privilege</a:t>
            </a:r>
            <a:endParaRPr lang="en-US" sz="1400" dirty="0"/>
          </a:p>
        </p:txBody>
      </p:sp>
      <p:sp>
        <p:nvSpPr>
          <p:cNvPr id="10" name="Text 8"/>
          <p:cNvSpPr txBox="1"/>
          <p:nvPr/>
        </p:nvSpPr>
        <p:spPr>
          <a:xfrm>
            <a:off x="2468880" y="3776472"/>
            <a:ext cx="7223760" cy="82296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The same process can only read/write the one document it was asked to check — a bug in it can't touch anything else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Access Control: The Idea of an Access Matrix</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If least privilege says what should happen, the OS still needs a concrete way to represent who is allowed to do what. The classic conceptual model is the access matrix.</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Rows are domains (subjects) — a user, or more precisely a process running on that user's behalf</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Columns are objects — the resources worth protecting: files, devices, memory segments, even other processes</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Each cell lists the access rights that domain holds over that object — read, write, execute, delete, and so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An Access Matrix — Domains Against Objects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2377440"/>
        </p:xfrm>
        <a:graphic>
          <a:graphicData uri="http://schemas.openxmlformats.org/drawingml/2006/table">
            <a:tbl>
              <a:tblPr/>
              <a:tblGrid>
                <a:gridCol w="2468880"/>
                <a:gridCol w="2377440"/>
                <a:gridCol w="2743200"/>
                <a:gridCol w="1828800"/>
                <a:gridCol w="1856232"/>
              </a:tblGrid>
              <a:tr h="47548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Domain</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report.docx</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/etc/passwd-equivalent</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Printer</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payroll.db</a:t>
                      </a:r>
                      <a:endParaRPr lang="en-US" sz="125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47548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Student user</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read, write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7548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Instructor user</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read</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7548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System administrator</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read, write, delete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read, write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r h="475488">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Payroll process</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c>
                  <a:txBody>
                    <a:bodyPr/>
                    <a:lstStyle/>
                    <a:p>
                      <a:pPr indent="0" marL="0">
                        <a:buNone/>
                      </a:pPr>
                      <a:r>
                        <a:rPr lang="en-US" sz="1200" dirty="0">
                          <a:solidFill>
                            <a:srgbClr val="1F2429"/>
                          </a:solidFill>
                          <a:latin typeface="Calibri" pitchFamily="34" charset="0"/>
                          <a:ea typeface="Calibri" pitchFamily="34" charset="-122"/>
                          <a:cs typeface="Calibri" pitchFamily="34" charset="-120"/>
                        </a:rPr>
                        <a:t>read, write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7F8F9"/>
                    </a:solidFill>
                  </a:tcPr>
                </a:tc>
              </a:tr>
            </a:tbl>
          </a:graphicData>
        </a:graphic>
      </p:graphicFrame>
      <p:sp>
        <p:nvSpPr>
          <p:cNvPr id="5" name="Shape 2"/>
          <p:cNvSpPr/>
          <p:nvPr/>
        </p:nvSpPr>
        <p:spPr>
          <a:xfrm>
            <a:off x="457200" y="3931920"/>
            <a:ext cx="11274552" cy="1737360"/>
          </a:xfrm>
          <a:prstGeom prst="roundRect">
            <a:avLst>
              <a:gd name="adj" fmla="val 5263"/>
            </a:avLst>
          </a:prstGeom>
          <a:solidFill>
            <a:srgbClr val="E6FBF6"/>
          </a:solidFill>
          <a:ln w="12700">
            <a:solidFill>
              <a:srgbClr val="2FE6C4"/>
            </a:solidFill>
            <a:prstDash val="solid"/>
          </a:ln>
        </p:spPr>
      </p:sp>
      <p:sp>
        <p:nvSpPr>
          <p:cNvPr id="6" name="Text 3"/>
          <p:cNvSpPr txBox="1"/>
          <p:nvPr/>
        </p:nvSpPr>
        <p:spPr>
          <a:xfrm>
            <a:off x="685800" y="4069080"/>
            <a:ext cx="10817352" cy="14630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A right is specific to one (domain, object) pair.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The payroll process can read/write payroll.db while no ordinary user can touch it at all; the student can write report.docx but has no rights over the printer configuration or the system file. Every cell is its own independent decision.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Implementing the Access Matrix</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This is the idea, not a specific implementation — real systems rarely store a literal, giant, mostly-empty grid (the matrix is usually enormous and overwhelmingly sparse).</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Column-by-column: an access control list (ACL) attached to each object, naming which domains may do what to it</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Row-by-row: a capability list attached to each domain, naming which objects it may touch and how</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Either way, the OS's job is the same: look up some domain, requesting some operation, on some object — and allow or deny it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Authentication Basics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
        <p:nvSpPr>
          <p:cNvPr id="4" name="Text 2"/>
          <p:cNvSpPr txBox="1"/>
          <p:nvPr/>
        </p:nvSpPr>
        <p:spPr>
          <a:xfrm>
            <a:off x="640080" y="1188720"/>
            <a:ext cx="10881360" cy="82296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Access control only works if the system first knows, with reasonable confidence, which domain is making a request. That identification step is authentication, built from one or more of three categories of evidence:</a:t>
            </a:r>
            <a:endParaRPr lang="en-US" sz="1450" dirty="0"/>
          </a:p>
        </p:txBody>
      </p:sp>
      <p:sp>
        <p:nvSpPr>
          <p:cNvPr id="5" name="Shape 3"/>
          <p:cNvSpPr/>
          <p:nvPr/>
        </p:nvSpPr>
        <p:spPr>
          <a:xfrm>
            <a:off x="548640" y="2148840"/>
            <a:ext cx="3483864" cy="2377440"/>
          </a:xfrm>
          <a:prstGeom prst="roundRect">
            <a:avLst>
              <a:gd name="adj" fmla="val 3846"/>
            </a:avLst>
          </a:prstGeom>
          <a:solidFill>
            <a:srgbClr val="2FE6C4"/>
          </a:solidFill>
          <a:ln/>
        </p:spPr>
      </p:sp>
      <p:sp>
        <p:nvSpPr>
          <p:cNvPr id="6" name="Text 4"/>
          <p:cNvSpPr txBox="1"/>
          <p:nvPr/>
        </p:nvSpPr>
        <p:spPr>
          <a:xfrm>
            <a:off x="749808" y="229514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Something you know</a:t>
            </a:r>
            <a:endParaRPr lang="en-US" sz="1400" dirty="0"/>
          </a:p>
        </p:txBody>
      </p:sp>
      <p:sp>
        <p:nvSpPr>
          <p:cNvPr id="7" name="Text 5"/>
          <p:cNvSpPr txBox="1"/>
          <p:nvPr/>
        </p:nvSpPr>
        <p:spPr>
          <a:xfrm>
            <a:off x="749808" y="2679192"/>
            <a:ext cx="3081528" cy="17373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 password, a PIN, a security question. Cheap, but only as strong as the secret's unpredictability — can be guessed, stolen, or shared.</a:t>
            </a:r>
            <a:endParaRPr lang="en-US" sz="1100" dirty="0"/>
          </a:p>
        </p:txBody>
      </p:sp>
      <p:sp>
        <p:nvSpPr>
          <p:cNvPr id="8" name="Shape 6"/>
          <p:cNvSpPr/>
          <p:nvPr/>
        </p:nvSpPr>
        <p:spPr>
          <a:xfrm>
            <a:off x="4032504" y="2148840"/>
            <a:ext cx="3483864" cy="2377440"/>
          </a:xfrm>
          <a:prstGeom prst="roundRect">
            <a:avLst>
              <a:gd name="adj" fmla="val 3846"/>
            </a:avLst>
          </a:prstGeom>
          <a:solidFill>
            <a:srgbClr val="8B7FD9"/>
          </a:solidFill>
          <a:ln/>
        </p:spPr>
      </p:sp>
      <p:sp>
        <p:nvSpPr>
          <p:cNvPr id="9" name="Text 7"/>
          <p:cNvSpPr txBox="1"/>
          <p:nvPr/>
        </p:nvSpPr>
        <p:spPr>
          <a:xfrm>
            <a:off x="4233672" y="229514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Something you have</a:t>
            </a:r>
            <a:endParaRPr lang="en-US" sz="1400" dirty="0"/>
          </a:p>
        </p:txBody>
      </p:sp>
      <p:sp>
        <p:nvSpPr>
          <p:cNvPr id="10" name="Text 8"/>
          <p:cNvSpPr txBox="1"/>
          <p:nvPr/>
        </p:nvSpPr>
        <p:spPr>
          <a:xfrm>
            <a:off x="4233672" y="2679192"/>
            <a:ext cx="3081528" cy="17373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 physical token, a smart card, a one-time code to your phone. Harder to steal remotely, but can be physically lost or stolen.</a:t>
            </a:r>
            <a:endParaRPr lang="en-US" sz="1100" dirty="0"/>
          </a:p>
        </p:txBody>
      </p:sp>
      <p:sp>
        <p:nvSpPr>
          <p:cNvPr id="11" name="Shape 9"/>
          <p:cNvSpPr/>
          <p:nvPr/>
        </p:nvSpPr>
        <p:spPr>
          <a:xfrm>
            <a:off x="7516368" y="2148840"/>
            <a:ext cx="3483864" cy="2377440"/>
          </a:xfrm>
          <a:prstGeom prst="roundRect">
            <a:avLst>
              <a:gd name="adj" fmla="val 3846"/>
            </a:avLst>
          </a:prstGeom>
          <a:solidFill>
            <a:srgbClr val="E8A33D"/>
          </a:solidFill>
          <a:ln/>
        </p:spPr>
      </p:sp>
      <p:sp>
        <p:nvSpPr>
          <p:cNvPr id="12" name="Text 10"/>
          <p:cNvSpPr txBox="1"/>
          <p:nvPr/>
        </p:nvSpPr>
        <p:spPr>
          <a:xfrm>
            <a:off x="7717536" y="2295144"/>
            <a:ext cx="3081528"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Something you are</a:t>
            </a:r>
            <a:endParaRPr lang="en-US" sz="1400" dirty="0"/>
          </a:p>
        </p:txBody>
      </p:sp>
      <p:sp>
        <p:nvSpPr>
          <p:cNvPr id="13" name="Text 11"/>
          <p:cNvSpPr txBox="1"/>
          <p:nvPr/>
        </p:nvSpPr>
        <p:spPr>
          <a:xfrm>
            <a:off x="7717536" y="2679192"/>
            <a:ext cx="3081528" cy="17373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 biometric: fingerprint, face, retina. Hard to lose or forget, but can't be changed once compromised.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Multi-Factor Authentication Is Just Combining Categories</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
        <p:nvSpPr>
          <p:cNvPr id="4" name="Shape 2"/>
          <p:cNvSpPr/>
          <p:nvPr/>
        </p:nvSpPr>
        <p:spPr>
          <a:xfrm>
            <a:off x="822960" y="1828800"/>
            <a:ext cx="10515600" cy="2194560"/>
          </a:xfrm>
          <a:prstGeom prst="roundRect">
            <a:avLst>
              <a:gd name="adj" fmla="val 4167"/>
            </a:avLst>
          </a:prstGeom>
          <a:solidFill>
            <a:srgbClr val="E6FBF6"/>
          </a:solidFill>
          <a:ln w="12700">
            <a:solidFill>
              <a:srgbClr val="2FE6C4"/>
            </a:solidFill>
            <a:prstDash val="solid"/>
          </a:ln>
        </p:spPr>
      </p:sp>
      <p:sp>
        <p:nvSpPr>
          <p:cNvPr id="5" name="Text 3"/>
          <p:cNvSpPr txBox="1"/>
          <p:nvPr/>
        </p:nvSpPr>
        <p:spPr>
          <a:xfrm>
            <a:off x="1051560" y="1965960"/>
            <a:ext cx="10058400" cy="1920240"/>
          </a:xfrm>
          <a:prstGeom prst="rect">
            <a:avLst/>
          </a:prstGeom>
          <a:noFill/>
          <a:ln/>
        </p:spPr>
        <p:txBody>
          <a:bodyPr wrap="square" lIns="0" tIns="0" rIns="0" bIns="0" rtlCol="0" anchor="t"/>
          <a:lstStyle/>
          <a:p>
            <a:pPr indent="0" marL="0">
              <a:lnSpc>
                <a:spcPct val="115000"/>
              </a:lnSpc>
              <a:buNone/>
            </a:pPr>
            <a:r>
              <a:rPr lang="en-US" sz="1300" b="1" dirty="0">
                <a:solidFill>
                  <a:srgbClr val="1F2429"/>
                </a:solidFill>
                <a:latin typeface="Calibri" pitchFamily="34" charset="0"/>
                <a:ea typeface="Calibri" pitchFamily="34" charset="-122"/>
                <a:cs typeface="Calibri" pitchFamily="34" charset="-120"/>
              </a:rPr>
              <a:t>MFA sounds more complex than it is.  </a:t>
            </a:r>
            <a:pPr indent="0" marL="0">
              <a:lnSpc>
                <a:spcPct val="115000"/>
              </a:lnSpc>
              <a:buNone/>
            </a:pPr>
            <a:r>
              <a:rPr lang="en-US" sz="1300" dirty="0">
                <a:solidFill>
                  <a:srgbClr val="1F2429"/>
                </a:solidFill>
                <a:latin typeface="Calibri" pitchFamily="34" charset="0"/>
                <a:ea typeface="Calibri" pitchFamily="34" charset="-122"/>
                <a:cs typeface="Calibri" pitchFamily="34" charset="-120"/>
              </a:rPr>
              <a:t>It simply means requiring evidence from more than one of the three categories before granting access — a password (something you know) plus a code sent to your phone (something you have). Combining categories matters more than piling up evidence from the same category, because an attacker who defeats one category still has to separately defeat an entirely different one.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47472"/>
            <a:ext cx="11091672" cy="68580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Authentication and Access Control, Together</a:t>
            </a:r>
            <a:endParaRPr lang="en-US" sz="2800" dirty="0"/>
          </a:p>
        </p:txBody>
      </p:sp>
      <p:sp>
        <p:nvSpPr>
          <p:cNvPr id="3" name="Text 1"/>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
        <p:nvSpPr>
          <p:cNvPr id="4" name="Text 2"/>
          <p:cNvSpPr txBox="1"/>
          <p:nvPr/>
        </p:nvSpPr>
        <p:spPr>
          <a:xfrm>
            <a:off x="640080" y="1234440"/>
            <a:ext cx="10881360" cy="822960"/>
          </a:xfrm>
          <a:prstGeom prst="rect">
            <a:avLst/>
          </a:prstGeom>
          <a:noFill/>
          <a:ln/>
        </p:spPr>
        <p:txBody>
          <a:bodyPr wrap="square" lIns="0" tIns="0" rIns="0" bIns="0" rtlCol="0" anchor="t"/>
          <a:lstStyle/>
          <a:p>
            <a:pPr indent="0" marL="0">
              <a:buNone/>
            </a:pPr>
            <a:r>
              <a:rPr lang="en-US" sz="1600" dirty="0">
                <a:solidFill>
                  <a:srgbClr val="1F2429"/>
                </a:solidFill>
                <a:latin typeface="Calibri" pitchFamily="34" charset="0"/>
                <a:ea typeface="Calibri" pitchFamily="34" charset="-122"/>
                <a:cs typeface="Calibri" pitchFamily="34" charset="-120"/>
              </a:rPr>
              <a:t>Authentication answers “who are you?” Access control (the matrix) then answers “given who you are, what are you allowed to do?”</a:t>
            </a:r>
            <a:endParaRPr lang="en-US" sz="1600" dirty="0"/>
          </a:p>
        </p:txBody>
      </p:sp>
      <p:sp>
        <p:nvSpPr>
          <p:cNvPr id="5" name="Text 3"/>
          <p:cNvSpPr txBox="1"/>
          <p:nvPr/>
        </p:nvSpPr>
        <p:spPr>
          <a:xfrm>
            <a:off x="640080" y="2148840"/>
            <a:ext cx="10881360" cy="4251960"/>
          </a:xfrm>
          <a:prstGeom prst="rect">
            <a:avLst/>
          </a:prstGeom>
          <a:noFill/>
          <a:ln/>
        </p:spPr>
        <p:txBody>
          <a:bodyPr wrap="square" lIns="0" tIns="0" rIns="0" bIns="0" rtlCol="0" anchor="t"/>
          <a:lstStyle/>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two are sequential and both necessary</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perfect access matrix is worthless if the system can be tricked about whose row to look up</a:t>
            </a:r>
            <a:endParaRPr lang="en-US" sz="1500" dirty="0"/>
          </a:p>
          <a:p>
            <a:pPr marL="342900" indent="-342900">
              <a:lnSpc>
                <a:spcPct val="120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perfect authentication scheme is worthless if, once logged in, every domain is simply granted access to everything</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77724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3" name="Text 1"/>
          <p:cNvSpPr txBox="1"/>
          <p:nvPr/>
        </p:nvSpPr>
        <p:spPr>
          <a:xfrm>
            <a:off x="822960" y="1737360"/>
            <a:ext cx="10332720" cy="4389120"/>
          </a:xfrm>
          <a:prstGeom prst="rect">
            <a:avLst/>
          </a:prstGeom>
          <a:noFill/>
          <a:ln/>
        </p:spPr>
        <p:txBody>
          <a:bodyPr wrap="square" lIns="0" tIns="0" rIns="0" bIns="0" rtlCol="0" anchor="t"/>
          <a:lstStyle/>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Protection controls access among entities already trusted on the system; security defends against threats from outside that circle of trust</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Protection matters even on a single-user machine — a buggy, non-malicious program is just as capable of damaging a resource as a malicious one</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The principle of least privilege — grant the smallest set of rights needed, and nothing more — organizes almost every protection mechanism</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An access matrix (domains/subjects × objects, with rights in each cell) is the conceptual model behind access control; real systems use ACLs or capability lists</a:t>
            </a:r>
            <a:endParaRPr lang="en-US" sz="1400" dirty="0"/>
          </a:p>
          <a:p>
            <a:pPr marL="342900" indent="-3429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Authentication establishes who is making a request (something you know, have, or are); access control then decides what that identity is allowed to do</a:t>
            </a:r>
            <a:endParaRPr lang="en-US" sz="1400" dirty="0"/>
          </a:p>
        </p:txBody>
      </p:sp>
      <p:sp>
        <p:nvSpPr>
          <p:cNvPr id="4" name="Text 2"/>
          <p:cNvSpPr txBox="1"/>
          <p:nvPr/>
        </p:nvSpPr>
        <p:spPr>
          <a:xfrm>
            <a:off x="9930384" y="6446520"/>
            <a:ext cx="205740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2026-10-01T21:51:03Z</dcterms:created>
  <dcterms:modified xsi:type="dcterms:W3CDTF">2026-10-01T21:51:03Z</dcterms:modified>
</cp:coreProperties>
</file>
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03120"/>
            <a:ext cx="10515600"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10</a:t>
            </a:r>
            <a:endParaRPr lang="en-US" sz="1600" dirty="0"/>
          </a:p>
        </p:txBody>
      </p:sp>
      <p:sp>
        <p:nvSpPr>
          <p:cNvPr id="3" name="Text 1"/>
          <p:cNvSpPr txBox="1"/>
          <p:nvPr/>
        </p:nvSpPr>
        <p:spPr>
          <a:xfrm>
            <a:off x="822960" y="2578608"/>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CPU Scheduling: Concepts</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and FCFS</a:t>
            </a:r>
            <a:endParaRPr lang="en-US" sz="4000" dirty="0"/>
          </a:p>
        </p:txBody>
      </p:sp>
      <p:sp>
        <p:nvSpPr>
          <p:cNvPr id="4" name="Text 2"/>
          <p:cNvSpPr txBox="1"/>
          <p:nvPr/>
        </p:nvSpPr>
        <p:spPr>
          <a:xfrm>
            <a:off x="822960" y="4370832"/>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73168"/>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4" name="Text 2"/>
          <p:cNvSpPr txBox="1"/>
          <p:nvPr/>
        </p:nvSpPr>
        <p:spPr>
          <a:xfrm>
            <a:off x="640080" y="1280160"/>
            <a:ext cx="10911535" cy="4937760"/>
          </a:xfrm>
          <a:prstGeom prst="rect">
            <a:avLst/>
          </a:prstGeom>
          <a:noFill/>
          <a:ln/>
        </p:spPr>
        <p:txBody>
          <a:bodyPr wrap="square" lIns="0" tIns="0" rIns="0" bIns="0" rtlCol="0" anchor="t"/>
          <a:lstStyle/>
          <a:p>
            <a:pPr marL="342900" indent="-342900">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Why CPU scheduling exists: maximizing CPU utilization by always having something ready to run</a:t>
            </a:r>
            <a:endParaRPr lang="en-US" sz="1550" dirty="0"/>
          </a:p>
          <a:p>
            <a:pPr marL="342900" indent="-342900">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The CPU burst / I/O burst cycle, and how its typical shape drives scheduling theory</a:t>
            </a:r>
            <a:endParaRPr lang="en-US" sz="1550" dirty="0"/>
          </a:p>
          <a:p>
            <a:pPr marL="342900" indent="-342900">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The CPU scheduler vs. the dispatcher — selecting a process vs. actually switching to it</a:t>
            </a:r>
            <a:endParaRPr lang="en-US" sz="1550" dirty="0"/>
          </a:p>
          <a:p>
            <a:pPr marL="342900" indent="-342900">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Preemptive vs. non-preemptive scheduling</a:t>
            </a:r>
            <a:endParaRPr lang="en-US" sz="1550" dirty="0"/>
          </a:p>
          <a:p>
            <a:pPr marL="342900" indent="-342900">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The five standard scheduling criteria: utilization, throughput, turnaround time, waiting time, response time</a:t>
            </a:r>
            <a:endParaRPr lang="en-US" sz="1550" dirty="0"/>
          </a:p>
          <a:p>
            <a:pPr marL="342900" indent="-342900">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First-Come, First-Served (FCFS) scheduling, worked through a full numeric example — and the convoy effect it exposes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Why CPU Scheduling Exists</a:t>
            </a:r>
            <a:endParaRPr lang="en-US" sz="2800" dirty="0"/>
          </a:p>
        </p:txBody>
      </p:sp>
      <p:sp>
        <p:nvSpPr>
          <p:cNvPr id="4" name="Text 2"/>
          <p:cNvSpPr txBox="1"/>
          <p:nvPr/>
        </p:nvSpPr>
        <p:spPr>
          <a:xfrm>
            <a:off x="640080" y="1371600"/>
            <a:ext cx="10911535" cy="1645920"/>
          </a:xfrm>
          <a:prstGeom prst="rect">
            <a:avLst/>
          </a:prstGeom>
          <a:noFill/>
          <a:ln/>
        </p:spPr>
        <p:txBody>
          <a:bodyPr wrap="square" lIns="0" tIns="0" rIns="0" bIns="0" rtlCol="0" anchor="t"/>
          <a:lstStyle/>
          <a:p>
            <a:pPr indent="0" marL="0">
              <a:buNone/>
            </a:pPr>
            <a:r>
              <a:rPr lang="en-US" sz="1700" dirty="0">
                <a:solidFill>
                  <a:srgbClr val="1F2429"/>
                </a:solidFill>
                <a:latin typeface="Calibri" pitchFamily="34" charset="0"/>
                <a:ea typeface="Calibri" pitchFamily="34" charset="-122"/>
                <a:cs typeface="Calibri" pitchFamily="34" charset="-120"/>
              </a:rPr>
              <a:t>A single CPU can run exactly one process’s instructions at any given instant. Multiprogramming keeps several processes in memory simultaneously so that when the running process needs to wait — almost always for I/O — the OS can immediately switch the CPU to a different, ready process instead of leaving it idle.</a:t>
            </a:r>
            <a:endParaRPr lang="en-US" sz="1700" dirty="0"/>
          </a:p>
        </p:txBody>
      </p:sp>
      <p:sp>
        <p:nvSpPr>
          <p:cNvPr id="5" name="Text 3"/>
          <p:cNvSpPr txBox="1"/>
          <p:nvPr/>
        </p:nvSpPr>
        <p:spPr>
          <a:xfrm>
            <a:off x="640080" y="3200400"/>
            <a:ext cx="10911535" cy="914400"/>
          </a:xfrm>
          <a:prstGeom prst="rect">
            <a:avLst/>
          </a:prstGeom>
          <a:noFill/>
          <a:ln/>
        </p:spPr>
        <p:txBody>
          <a:bodyPr wrap="square" lIns="0" tIns="0" rIns="0" bIns="0" rtlCol="0" anchor="t"/>
          <a:lstStyle/>
          <a:p>
            <a:pPr indent="0" marL="0">
              <a:buNone/>
            </a:pPr>
            <a:r>
              <a:rPr lang="en-US" sz="1700" b="1" dirty="0">
                <a:solidFill>
                  <a:srgbClr val="1F2429"/>
                </a:solidFill>
                <a:latin typeface="Calibri" pitchFamily="34" charset="0"/>
                <a:ea typeface="Calibri" pitchFamily="34" charset="-122"/>
                <a:cs typeface="Calibri" pitchFamily="34" charset="-120"/>
              </a:rPr>
              <a:t>CPU scheduling is the policy layer that decides, among every process sitting in the ready queue, which one gets the CPU next.</a:t>
            </a:r>
            <a:endParaRPr lang="en-US" sz="1700" dirty="0"/>
          </a:p>
        </p:txBody>
      </p:sp>
      <p:sp>
        <p:nvSpPr>
          <p:cNvPr id="6" name="Shape 4"/>
          <p:cNvSpPr/>
          <p:nvPr/>
        </p:nvSpPr>
        <p:spPr>
          <a:xfrm>
            <a:off x="640080" y="4480560"/>
            <a:ext cx="10911535" cy="1280160"/>
          </a:xfrm>
          <a:prstGeom prst="roundRect">
            <a:avLst>
              <a:gd name="adj" fmla="val 4286"/>
            </a:avLst>
          </a:prstGeom>
          <a:solidFill>
            <a:srgbClr val="E3FBF5"/>
          </a:solidFill>
          <a:ln w="12700">
            <a:solidFill>
              <a:srgbClr val="2FE6C4"/>
            </a:solidFill>
            <a:prstDash val="solid"/>
          </a:ln>
        </p:spPr>
      </p:sp>
      <p:sp>
        <p:nvSpPr>
          <p:cNvPr id="7" name="Text 5"/>
          <p:cNvSpPr txBox="1"/>
          <p:nvPr/>
        </p:nvSpPr>
        <p:spPr>
          <a:xfrm>
            <a:off x="896112" y="4608576"/>
            <a:ext cx="10399471" cy="1024128"/>
          </a:xfrm>
          <a:prstGeom prst="rect">
            <a:avLst/>
          </a:prstGeom>
          <a:noFill/>
          <a:ln/>
        </p:spPr>
        <p:txBody>
          <a:bodyPr wrap="square" lIns="0" tIns="0" rIns="0" bIns="0" rtlCol="0" anchor="t"/>
          <a:lstStyle/>
          <a:p>
            <a:pPr indent="0" marL="0">
              <a:buNone/>
            </a:pPr>
            <a:r>
              <a:rPr lang="en-US" sz="1250" dirty="0">
                <a:solidFill>
                  <a:srgbClr val="1F2429"/>
                </a:solidFill>
                <a:latin typeface="Calibri" pitchFamily="34" charset="0"/>
                <a:ea typeface="Calibri" pitchFamily="34" charset="-122"/>
                <a:cs typeface="Calibri" pitchFamily="34" charset="-120"/>
              </a:rPr>
              <a:t>Done well, the CPU is almost never idle while there’s ready work sitting in the queue; done poorly, the CPU sits idle constantly even though the system is full of processes that would happily use it.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CPU Burst / I/O Burst Cycle</a:t>
            </a:r>
            <a:endParaRPr lang="en-US" sz="2800" dirty="0"/>
          </a:p>
        </p:txBody>
      </p:sp>
      <p:sp>
        <p:nvSpPr>
          <p:cNvPr id="4" name="Shape 2"/>
          <p:cNvSpPr/>
          <p:nvPr/>
        </p:nvSpPr>
        <p:spPr>
          <a:xfrm>
            <a:off x="640080" y="1371600"/>
            <a:ext cx="2487854" cy="1280160"/>
          </a:xfrm>
          <a:prstGeom prst="roundRect">
            <a:avLst>
              <a:gd name="adj" fmla="val 4286"/>
            </a:avLst>
          </a:prstGeom>
          <a:solidFill>
            <a:srgbClr val="2FE6C4"/>
          </a:solidFill>
          <a:ln/>
        </p:spPr>
      </p:sp>
      <p:sp>
        <p:nvSpPr>
          <p:cNvPr id="5" name="Text 3"/>
          <p:cNvSpPr txBox="1"/>
          <p:nvPr/>
        </p:nvSpPr>
        <p:spPr>
          <a:xfrm>
            <a:off x="777240" y="1536192"/>
            <a:ext cx="2213534"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CPU burst</a:t>
            </a:r>
            <a:endParaRPr lang="en-US" sz="1450" dirty="0"/>
          </a:p>
        </p:txBody>
      </p:sp>
      <p:sp>
        <p:nvSpPr>
          <p:cNvPr id="6" name="Text 4"/>
          <p:cNvSpPr txBox="1"/>
          <p:nvPr/>
        </p:nvSpPr>
        <p:spPr>
          <a:xfrm>
            <a:off x="777240" y="1965960"/>
            <a:ext cx="2213534" cy="5486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Executing instructions</a:t>
            </a:r>
            <a:endParaRPr lang="en-US" sz="1100" dirty="0"/>
          </a:p>
        </p:txBody>
      </p:sp>
      <p:sp>
        <p:nvSpPr>
          <p:cNvPr id="7" name="Shape 5"/>
          <p:cNvSpPr/>
          <p:nvPr/>
        </p:nvSpPr>
        <p:spPr>
          <a:xfrm>
            <a:off x="3127934" y="2011680"/>
            <a:ext cx="320040" cy="0"/>
          </a:xfrm>
          <a:prstGeom prst="line">
            <a:avLst/>
          </a:prstGeom>
          <a:noFill/>
          <a:ln w="25400">
            <a:solidFill>
              <a:srgbClr val="8A939B"/>
            </a:solidFill>
            <a:prstDash val="solid"/>
            <a:tailEnd type="triangle"/>
          </a:ln>
        </p:spPr>
      </p:sp>
      <p:sp>
        <p:nvSpPr>
          <p:cNvPr id="8" name="Shape 6"/>
          <p:cNvSpPr/>
          <p:nvPr/>
        </p:nvSpPr>
        <p:spPr>
          <a:xfrm>
            <a:off x="3447974" y="1371600"/>
            <a:ext cx="2487854" cy="1280160"/>
          </a:xfrm>
          <a:prstGeom prst="roundRect">
            <a:avLst>
              <a:gd name="adj" fmla="val 4286"/>
            </a:avLst>
          </a:prstGeom>
          <a:solidFill>
            <a:srgbClr val="8B7FD9"/>
          </a:solidFill>
          <a:ln/>
        </p:spPr>
      </p:sp>
      <p:sp>
        <p:nvSpPr>
          <p:cNvPr id="9" name="Text 7"/>
          <p:cNvSpPr txBox="1"/>
          <p:nvPr/>
        </p:nvSpPr>
        <p:spPr>
          <a:xfrm>
            <a:off x="3585134" y="1536192"/>
            <a:ext cx="2213534"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I/O burst</a:t>
            </a:r>
            <a:endParaRPr lang="en-US" sz="1450" dirty="0"/>
          </a:p>
        </p:txBody>
      </p:sp>
      <p:sp>
        <p:nvSpPr>
          <p:cNvPr id="10" name="Text 8"/>
          <p:cNvSpPr txBox="1"/>
          <p:nvPr/>
        </p:nvSpPr>
        <p:spPr>
          <a:xfrm>
            <a:off x="3585134" y="1965960"/>
            <a:ext cx="2213534" cy="5486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Waiting on disk / network</a:t>
            </a:r>
            <a:endParaRPr lang="en-US" sz="1100" dirty="0"/>
          </a:p>
        </p:txBody>
      </p:sp>
      <p:sp>
        <p:nvSpPr>
          <p:cNvPr id="11" name="Shape 9"/>
          <p:cNvSpPr/>
          <p:nvPr/>
        </p:nvSpPr>
        <p:spPr>
          <a:xfrm>
            <a:off x="5935828" y="2011680"/>
            <a:ext cx="320040" cy="0"/>
          </a:xfrm>
          <a:prstGeom prst="line">
            <a:avLst/>
          </a:prstGeom>
          <a:noFill/>
          <a:ln w="25400">
            <a:solidFill>
              <a:srgbClr val="8A939B"/>
            </a:solidFill>
            <a:prstDash val="solid"/>
            <a:tailEnd type="triangle"/>
          </a:ln>
        </p:spPr>
      </p:sp>
      <p:sp>
        <p:nvSpPr>
          <p:cNvPr id="12" name="Shape 10"/>
          <p:cNvSpPr/>
          <p:nvPr/>
        </p:nvSpPr>
        <p:spPr>
          <a:xfrm>
            <a:off x="6255868" y="1371600"/>
            <a:ext cx="2487854" cy="1280160"/>
          </a:xfrm>
          <a:prstGeom prst="roundRect">
            <a:avLst>
              <a:gd name="adj" fmla="val 4286"/>
            </a:avLst>
          </a:prstGeom>
          <a:solidFill>
            <a:srgbClr val="2FE6C4"/>
          </a:solidFill>
          <a:ln/>
        </p:spPr>
      </p:sp>
      <p:sp>
        <p:nvSpPr>
          <p:cNvPr id="13" name="Text 11"/>
          <p:cNvSpPr txBox="1"/>
          <p:nvPr/>
        </p:nvSpPr>
        <p:spPr>
          <a:xfrm>
            <a:off x="6393028" y="1536192"/>
            <a:ext cx="2213534"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CPU burst</a:t>
            </a:r>
            <a:endParaRPr lang="en-US" sz="1450" dirty="0"/>
          </a:p>
        </p:txBody>
      </p:sp>
      <p:sp>
        <p:nvSpPr>
          <p:cNvPr id="14" name="Text 12"/>
          <p:cNvSpPr txBox="1"/>
          <p:nvPr/>
        </p:nvSpPr>
        <p:spPr>
          <a:xfrm>
            <a:off x="6393028" y="1965960"/>
            <a:ext cx="2213534" cy="5486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Executing instructions</a:t>
            </a:r>
            <a:endParaRPr lang="en-US" sz="1100" dirty="0"/>
          </a:p>
        </p:txBody>
      </p:sp>
      <p:sp>
        <p:nvSpPr>
          <p:cNvPr id="15" name="Shape 13"/>
          <p:cNvSpPr/>
          <p:nvPr/>
        </p:nvSpPr>
        <p:spPr>
          <a:xfrm>
            <a:off x="8743721" y="2011680"/>
            <a:ext cx="320040" cy="0"/>
          </a:xfrm>
          <a:prstGeom prst="line">
            <a:avLst/>
          </a:prstGeom>
          <a:noFill/>
          <a:ln w="25400">
            <a:solidFill>
              <a:srgbClr val="8A939B"/>
            </a:solidFill>
            <a:prstDash val="solid"/>
            <a:tailEnd type="triangle"/>
          </a:ln>
        </p:spPr>
      </p:sp>
      <p:sp>
        <p:nvSpPr>
          <p:cNvPr id="16" name="Shape 14"/>
          <p:cNvSpPr/>
          <p:nvPr/>
        </p:nvSpPr>
        <p:spPr>
          <a:xfrm>
            <a:off x="9063761" y="1371600"/>
            <a:ext cx="2487854" cy="1280160"/>
          </a:xfrm>
          <a:prstGeom prst="roundRect">
            <a:avLst>
              <a:gd name="adj" fmla="val 4286"/>
            </a:avLst>
          </a:prstGeom>
          <a:solidFill>
            <a:srgbClr val="8B7FD9"/>
          </a:solidFill>
          <a:ln/>
        </p:spPr>
      </p:sp>
      <p:sp>
        <p:nvSpPr>
          <p:cNvPr id="17" name="Text 15"/>
          <p:cNvSpPr txBox="1"/>
          <p:nvPr/>
        </p:nvSpPr>
        <p:spPr>
          <a:xfrm>
            <a:off x="9200921" y="1536192"/>
            <a:ext cx="2213534"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I/O burst</a:t>
            </a:r>
            <a:endParaRPr lang="en-US" sz="1450" dirty="0"/>
          </a:p>
        </p:txBody>
      </p:sp>
      <p:sp>
        <p:nvSpPr>
          <p:cNvPr id="18" name="Text 16"/>
          <p:cNvSpPr txBox="1"/>
          <p:nvPr/>
        </p:nvSpPr>
        <p:spPr>
          <a:xfrm>
            <a:off x="9200921" y="1965960"/>
            <a:ext cx="2213534" cy="5486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Waiting on disk / network</a:t>
            </a:r>
            <a:endParaRPr lang="en-US" sz="1100" dirty="0"/>
          </a:p>
        </p:txBody>
      </p:sp>
      <p:sp>
        <p:nvSpPr>
          <p:cNvPr id="19" name="Text 17"/>
          <p:cNvSpPr txBox="1"/>
          <p:nvPr/>
        </p:nvSpPr>
        <p:spPr>
          <a:xfrm>
            <a:off x="640080" y="3017520"/>
            <a:ext cx="10911535" cy="1280160"/>
          </a:xfrm>
          <a:prstGeom prst="rect">
            <a:avLst/>
          </a:prstGeom>
          <a:noFill/>
          <a:ln/>
        </p:spPr>
        <p:txBody>
          <a:bodyPr wrap="square" lIns="0" tIns="0" rIns="0" bIns="0" rtlCol="0" anchor="t"/>
          <a:lstStyle/>
          <a:p>
            <a:pPr indent="0" marL="0">
              <a:buNone/>
            </a:pPr>
            <a:r>
              <a:rPr lang="en-US" sz="1550" dirty="0">
                <a:solidFill>
                  <a:srgbClr val="1F2429"/>
                </a:solidFill>
                <a:latin typeface="Calibri" pitchFamily="34" charset="0"/>
                <a:ea typeface="Calibri" pitchFamily="34" charset="-122"/>
                <a:cs typeface="Calibri" pitchFamily="34" charset="-120"/>
              </a:rPr>
              <a:t>A process alternates between these two kinds of bursts until it terminates. The distribution of CPU burst lengths is heavily skewed: a huge number of short bursts, and a small number of much longer ones — this skew is exactly why Lecture 11’s Shortest-Job-First scheduling pays off.</a:t>
            </a:r>
            <a:endParaRPr lang="en-US" sz="1550" dirty="0"/>
          </a:p>
        </p:txBody>
      </p:sp>
      <p:sp>
        <p:nvSpPr>
          <p:cNvPr id="20" name="Shape 18"/>
          <p:cNvSpPr/>
          <p:nvPr/>
        </p:nvSpPr>
        <p:spPr>
          <a:xfrm>
            <a:off x="640080" y="4480560"/>
            <a:ext cx="10911535" cy="1371600"/>
          </a:xfrm>
          <a:prstGeom prst="roundRect">
            <a:avLst>
              <a:gd name="adj" fmla="val 4000"/>
            </a:avLst>
          </a:prstGeom>
          <a:solidFill>
            <a:srgbClr val="FBEEDD"/>
          </a:solidFill>
          <a:ln w="12700">
            <a:solidFill>
              <a:srgbClr val="E8A33D"/>
            </a:solidFill>
            <a:prstDash val="solid"/>
          </a:ln>
        </p:spPr>
      </p:sp>
      <p:sp>
        <p:nvSpPr>
          <p:cNvPr id="21" name="Text 19"/>
          <p:cNvSpPr txBox="1"/>
          <p:nvPr/>
        </p:nvSpPr>
        <p:spPr>
          <a:xfrm>
            <a:off x="896112" y="4608576"/>
            <a:ext cx="10399471" cy="1115568"/>
          </a:xfrm>
          <a:prstGeom prst="rect">
            <a:avLst/>
          </a:prstGeom>
          <a:noFill/>
          <a:ln/>
        </p:spPr>
        <p:txBody>
          <a:bodyPr wrap="square" lIns="0" tIns="0" rIns="0" bIns="0" rtlCol="0" anchor="t"/>
          <a:lstStyle/>
          <a:p>
            <a:pPr indent="0" marL="0">
              <a:spcAft>
                <a:spcPts val="400"/>
              </a:spcAft>
              <a:buNone/>
            </a:pPr>
            <a:r>
              <a:rPr lang="en-US" sz="1300" b="1" dirty="0">
                <a:solidFill>
                  <a:srgbClr val="1F2429"/>
                </a:solidFill>
                <a:latin typeface="Calibri" pitchFamily="34" charset="0"/>
                <a:ea typeface="Calibri" pitchFamily="34" charset="-122"/>
                <a:cs typeface="Calibri" pitchFamily="34" charset="-120"/>
              </a:rPr>
              <a:t>I/O-bound vs. CPU-bound processes</a:t>
            </a:r>
            <a:endParaRPr lang="en-US" sz="1300" dirty="0"/>
          </a:p>
          <a:p>
            <a:pPr indent="0" marL="0">
              <a:buNone/>
            </a:pPr>
            <a:r>
              <a:rPr lang="en-US" sz="1250" dirty="0">
                <a:solidFill>
                  <a:srgbClr val="1F2429"/>
                </a:solidFill>
                <a:latin typeface="Calibri" pitchFamily="34" charset="0"/>
                <a:ea typeface="Calibri" pitchFamily="34" charset="-122"/>
                <a:cs typeface="Calibri" pitchFamily="34" charset="-120"/>
              </a:rPr>
              <a:t>A process dominated by many short CPU bursts separated by I/O waits is I/O-bound; a process dominated by long CPU bursts with only occasional I/O is CPU-bound. Favor CPU-bound processes and I/O-bound ones feel sluggish; favor I/O-bound processes and CPU-bound ones never finish.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CPU Scheduler and the Dispatcher</a:t>
            </a:r>
            <a:endParaRPr lang="en-US" sz="2800" dirty="0"/>
          </a:p>
        </p:txBody>
      </p:sp>
      <p:sp>
        <p:nvSpPr>
          <p:cNvPr id="4" name="Shape 2"/>
          <p:cNvSpPr/>
          <p:nvPr/>
        </p:nvSpPr>
        <p:spPr>
          <a:xfrm>
            <a:off x="640080" y="1417320"/>
            <a:ext cx="5318608" cy="2286000"/>
          </a:xfrm>
          <a:prstGeom prst="roundRect">
            <a:avLst>
              <a:gd name="adj" fmla="val 2400"/>
            </a:avLst>
          </a:prstGeom>
          <a:solidFill>
            <a:srgbClr val="2FE6C4"/>
          </a:solidFill>
          <a:ln/>
        </p:spPr>
      </p:sp>
      <p:sp>
        <p:nvSpPr>
          <p:cNvPr id="5" name="Text 3"/>
          <p:cNvSpPr txBox="1"/>
          <p:nvPr/>
        </p:nvSpPr>
        <p:spPr>
          <a:xfrm>
            <a:off x="868680" y="1618488"/>
            <a:ext cx="4861408"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CPU Scheduler</a:t>
            </a:r>
            <a:endParaRPr lang="en-US" sz="1600" dirty="0"/>
          </a:p>
        </p:txBody>
      </p:sp>
      <p:sp>
        <p:nvSpPr>
          <p:cNvPr id="6" name="Text 4"/>
          <p:cNvSpPr txBox="1"/>
          <p:nvPr/>
        </p:nvSpPr>
        <p:spPr>
          <a:xfrm>
            <a:off x="868680" y="2194560"/>
            <a:ext cx="4861408"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decision-maker (also the short-term scheduler). Looks at the ready queue and selects which process runs next, according to whatever scheduling algorithm is in effect.</a:t>
            </a:r>
            <a:endParaRPr lang="en-US" sz="1200" dirty="0"/>
          </a:p>
        </p:txBody>
      </p:sp>
      <p:sp>
        <p:nvSpPr>
          <p:cNvPr id="7" name="Shape 5"/>
          <p:cNvSpPr/>
          <p:nvPr/>
        </p:nvSpPr>
        <p:spPr>
          <a:xfrm>
            <a:off x="6233008" y="1417320"/>
            <a:ext cx="5318608" cy="2286000"/>
          </a:xfrm>
          <a:prstGeom prst="roundRect">
            <a:avLst>
              <a:gd name="adj" fmla="val 2400"/>
            </a:avLst>
          </a:prstGeom>
          <a:solidFill>
            <a:srgbClr val="8B7FD9"/>
          </a:solidFill>
          <a:ln/>
        </p:spPr>
      </p:sp>
      <p:sp>
        <p:nvSpPr>
          <p:cNvPr id="8" name="Text 6"/>
          <p:cNvSpPr txBox="1"/>
          <p:nvPr/>
        </p:nvSpPr>
        <p:spPr>
          <a:xfrm>
            <a:off x="6461608" y="1618488"/>
            <a:ext cx="4861408"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Dispatcher</a:t>
            </a:r>
            <a:endParaRPr lang="en-US" sz="1600" dirty="0"/>
          </a:p>
        </p:txBody>
      </p:sp>
      <p:sp>
        <p:nvSpPr>
          <p:cNvPr id="9" name="Text 7"/>
          <p:cNvSpPr txBox="1"/>
          <p:nvPr/>
        </p:nvSpPr>
        <p:spPr>
          <a:xfrm>
            <a:off x="6461608" y="2194560"/>
            <a:ext cx="4861408"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mechanism. Once the scheduler has decided, performs the context switch: saving the old process’s state, loading the new process’s state, switching the CPU to user mode at the new process’s next instruction.</a:t>
            </a:r>
            <a:endParaRPr lang="en-US" sz="1200" dirty="0"/>
          </a:p>
        </p:txBody>
      </p:sp>
      <p:sp>
        <p:nvSpPr>
          <p:cNvPr id="10" name="Shape 8"/>
          <p:cNvSpPr/>
          <p:nvPr/>
        </p:nvSpPr>
        <p:spPr>
          <a:xfrm>
            <a:off x="640080" y="4023360"/>
            <a:ext cx="10911535" cy="1554480"/>
          </a:xfrm>
          <a:prstGeom prst="roundRect">
            <a:avLst>
              <a:gd name="adj" fmla="val 3529"/>
            </a:avLst>
          </a:prstGeom>
          <a:solidFill>
            <a:srgbClr val="FBEEDD"/>
          </a:solidFill>
          <a:ln w="12700">
            <a:solidFill>
              <a:srgbClr val="E8A33D"/>
            </a:solidFill>
            <a:prstDash val="solid"/>
          </a:ln>
        </p:spPr>
      </p:sp>
      <p:sp>
        <p:nvSpPr>
          <p:cNvPr id="11" name="Text 9"/>
          <p:cNvSpPr txBox="1"/>
          <p:nvPr/>
        </p:nvSpPr>
        <p:spPr>
          <a:xfrm>
            <a:off x="896112" y="4151376"/>
            <a:ext cx="10399471" cy="1298448"/>
          </a:xfrm>
          <a:prstGeom prst="rect">
            <a:avLst/>
          </a:prstGeom>
          <a:noFill/>
          <a:ln/>
        </p:spPr>
        <p:txBody>
          <a:bodyPr wrap="square" lIns="0" tIns="0" rIns="0" bIns="0" rtlCol="0" anchor="t"/>
          <a:lstStyle/>
          <a:p>
            <a:pPr indent="0" marL="0">
              <a:spcAft>
                <a:spcPts val="400"/>
              </a:spcAft>
              <a:buNone/>
            </a:pPr>
            <a:r>
              <a:rPr lang="en-US" sz="1300" b="1" dirty="0">
                <a:solidFill>
                  <a:srgbClr val="1F2429"/>
                </a:solidFill>
                <a:latin typeface="Calibri" pitchFamily="34" charset="0"/>
                <a:ea typeface="Calibri" pitchFamily="34" charset="-122"/>
                <a:cs typeface="Calibri" pitchFamily="34" charset="-120"/>
              </a:rPr>
              <a:t>Dispatch latency</a:t>
            </a:r>
            <a:endParaRPr lang="en-US" sz="1300" dirty="0"/>
          </a:p>
          <a:p>
            <a:pPr indent="0" marL="0">
              <a:buNone/>
            </a:pPr>
            <a:r>
              <a:rPr lang="en-US" sz="1250" dirty="0">
                <a:solidFill>
                  <a:srgbClr val="1F2429"/>
                </a:solidFill>
                <a:latin typeface="Calibri" pitchFamily="34" charset="0"/>
                <a:ea typeface="Calibri" pitchFamily="34" charset="-122"/>
                <a:cs typeface="Calibri" pitchFamily="34" charset="-120"/>
              </a:rPr>
              <a:t>The time the dispatcher spends performing a context switch — pure bookkeeping overhead that does no useful work for either process. Every context switch pays this cost, which is why Round Robin’s quantum size (Lecture 11) treats too many context switches as a real performance problem.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Preemptive vs. Non-Preemptive Scheduling</a:t>
            </a:r>
            <a:endParaRPr lang="en-US" sz="2800" dirty="0"/>
          </a:p>
        </p:txBody>
      </p:sp>
      <p:sp>
        <p:nvSpPr>
          <p:cNvPr id="4" name="Shape 2"/>
          <p:cNvSpPr/>
          <p:nvPr/>
        </p:nvSpPr>
        <p:spPr>
          <a:xfrm>
            <a:off x="640080" y="1417320"/>
            <a:ext cx="5318608" cy="2286000"/>
          </a:xfrm>
          <a:prstGeom prst="roundRect">
            <a:avLst>
              <a:gd name="adj" fmla="val 2400"/>
            </a:avLst>
          </a:prstGeom>
          <a:solidFill>
            <a:srgbClr val="8B7FD9"/>
          </a:solidFill>
          <a:ln/>
        </p:spPr>
      </p:sp>
      <p:sp>
        <p:nvSpPr>
          <p:cNvPr id="5" name="Text 3"/>
          <p:cNvSpPr txBox="1"/>
          <p:nvPr/>
        </p:nvSpPr>
        <p:spPr>
          <a:xfrm>
            <a:off x="868680" y="1618488"/>
            <a:ext cx="4861408"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Non-Preemptive</a:t>
            </a:r>
            <a:endParaRPr lang="en-US" sz="1600" dirty="0"/>
          </a:p>
        </p:txBody>
      </p:sp>
      <p:sp>
        <p:nvSpPr>
          <p:cNvPr id="6" name="Text 4"/>
          <p:cNvSpPr txBox="1"/>
          <p:nvPr/>
        </p:nvSpPr>
        <p:spPr>
          <a:xfrm>
            <a:off x="868680" y="2194560"/>
            <a:ext cx="4861408"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Once a process is given the CPU, it keeps it until it voluntarily gives it up (blocks on I/O) or terminates. The scheduler can only make a new decision at those moments.</a:t>
            </a:r>
            <a:endParaRPr lang="en-US" sz="1200" dirty="0"/>
          </a:p>
        </p:txBody>
      </p:sp>
      <p:sp>
        <p:nvSpPr>
          <p:cNvPr id="7" name="Shape 5"/>
          <p:cNvSpPr/>
          <p:nvPr/>
        </p:nvSpPr>
        <p:spPr>
          <a:xfrm>
            <a:off x="6233008" y="1417320"/>
            <a:ext cx="5318608" cy="2286000"/>
          </a:xfrm>
          <a:prstGeom prst="roundRect">
            <a:avLst>
              <a:gd name="adj" fmla="val 2400"/>
            </a:avLst>
          </a:prstGeom>
          <a:solidFill>
            <a:srgbClr val="2FE6C4"/>
          </a:solidFill>
          <a:ln/>
        </p:spPr>
      </p:sp>
      <p:sp>
        <p:nvSpPr>
          <p:cNvPr id="8" name="Text 6"/>
          <p:cNvSpPr txBox="1"/>
          <p:nvPr/>
        </p:nvSpPr>
        <p:spPr>
          <a:xfrm>
            <a:off x="6461608" y="1618488"/>
            <a:ext cx="4861408"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Preemptive</a:t>
            </a:r>
            <a:endParaRPr lang="en-US" sz="1600" dirty="0"/>
          </a:p>
        </p:txBody>
      </p:sp>
      <p:sp>
        <p:nvSpPr>
          <p:cNvPr id="9" name="Text 7"/>
          <p:cNvSpPr txBox="1"/>
          <p:nvPr/>
        </p:nvSpPr>
        <p:spPr>
          <a:xfrm>
            <a:off x="6461608" y="2194560"/>
            <a:ext cx="4861408"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OS can forcibly take the CPU away from a running process before it finishes or blocks — e.g. a higher-priority process became ready, or a time slice expired.</a:t>
            </a:r>
            <a:endParaRPr lang="en-US" sz="1200" dirty="0"/>
          </a:p>
        </p:txBody>
      </p:sp>
      <p:sp>
        <p:nvSpPr>
          <p:cNvPr id="10" name="Shape 8"/>
          <p:cNvSpPr/>
          <p:nvPr/>
        </p:nvSpPr>
        <p:spPr>
          <a:xfrm>
            <a:off x="640080" y="4023360"/>
            <a:ext cx="10911535" cy="1554480"/>
          </a:xfrm>
          <a:prstGeom prst="roundRect">
            <a:avLst>
              <a:gd name="adj" fmla="val 3529"/>
            </a:avLst>
          </a:prstGeom>
          <a:solidFill>
            <a:srgbClr val="FBEEDD"/>
          </a:solidFill>
          <a:ln w="12700">
            <a:solidFill>
              <a:srgbClr val="E8A33D"/>
            </a:solidFill>
            <a:prstDash val="solid"/>
          </a:ln>
        </p:spPr>
      </p:sp>
      <p:sp>
        <p:nvSpPr>
          <p:cNvPr id="11" name="Text 9"/>
          <p:cNvSpPr txBox="1"/>
          <p:nvPr/>
        </p:nvSpPr>
        <p:spPr>
          <a:xfrm>
            <a:off x="896112" y="4151376"/>
            <a:ext cx="10399471" cy="1298448"/>
          </a:xfrm>
          <a:prstGeom prst="rect">
            <a:avLst/>
          </a:prstGeom>
          <a:noFill/>
          <a:ln/>
        </p:spPr>
        <p:txBody>
          <a:bodyPr wrap="square" lIns="0" tIns="0" rIns="0" bIns="0" rtlCol="0" anchor="t"/>
          <a:lstStyle/>
          <a:p>
            <a:pPr indent="0" marL="0">
              <a:spcAft>
                <a:spcPts val="400"/>
              </a:spcAft>
              <a:buNone/>
            </a:pPr>
            <a:r>
              <a:rPr lang="en-US" sz="1300" b="1" dirty="0">
                <a:solidFill>
                  <a:srgbClr val="1F2429"/>
                </a:solidFill>
                <a:latin typeface="Calibri" pitchFamily="34" charset="0"/>
                <a:ea typeface="Calibri" pitchFamily="34" charset="-122"/>
                <a:cs typeface="Calibri" pitchFamily="34" charset="-120"/>
              </a:rPr>
              <a:t>Preemption has a real cost</a:t>
            </a:r>
            <a:endParaRPr lang="en-US" sz="1300" dirty="0"/>
          </a:p>
          <a:p>
            <a:pPr indent="0" marL="0">
              <a:buNone/>
            </a:pPr>
            <a:r>
              <a:rPr lang="en-US" sz="1250" dirty="0">
                <a:solidFill>
                  <a:srgbClr val="1F2429"/>
                </a:solidFill>
                <a:latin typeface="Calibri" pitchFamily="34" charset="0"/>
                <a:ea typeface="Calibri" pitchFamily="34" charset="-122"/>
                <a:cs typeface="Calibri" pitchFamily="34" charset="-120"/>
              </a:rPr>
              <a:t>A process can be preempted mid-update of data shared with another process. If left half-updated, the next process to touch that data can corrupt it — extremely hard to reproduce. Preemptive scheduling is what makes synchronization (starting Lecture 13) necessary in the first place.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Scheduling Criteria</a:t>
            </a:r>
            <a:endParaRPr lang="en-US" sz="2800" dirty="0"/>
          </a:p>
        </p:txBody>
      </p:sp>
      <p:sp>
        <p:nvSpPr>
          <p:cNvPr id="4" name="Text 2"/>
          <p:cNvSpPr txBox="1"/>
          <p:nvPr/>
        </p:nvSpPr>
        <p:spPr>
          <a:xfrm>
            <a:off x="640080" y="1325880"/>
            <a:ext cx="10911535" cy="3749040"/>
          </a:xfrm>
          <a:prstGeom prst="rect">
            <a:avLst/>
          </a:prstGeom>
          <a:noFill/>
          <a:ln/>
        </p:spPr>
        <p:txBody>
          <a:bodyPr wrap="square" lIns="0" tIns="0" rIns="0" bIns="0" rtlCol="0" anchor="t"/>
          <a:lstStyle/>
          <a:p>
            <a:pPr marL="342900" indent="-342900">
              <a:buSzPct val="100000"/>
              <a:buChar char="•"/>
            </a:pPr>
            <a:r>
              <a:rPr lang="en-US" sz="1550" b="1" dirty="0">
                <a:solidFill>
                  <a:srgbClr val="1F2429"/>
                </a:solidFill>
                <a:latin typeface="Calibri" pitchFamily="34" charset="0"/>
                <a:ea typeface="Calibri" pitchFamily="34" charset="-122"/>
                <a:cs typeface="Calibri" pitchFamily="34" charset="-120"/>
              </a:rPr>
              <a:t>CPU utilization — </a:t>
            </a:r>
            <a:pPr indent="0" marL="0">
              <a:spcAft>
                <a:spcPts val="1500"/>
              </a:spcAft>
              <a:buNone/>
            </a:pPr>
            <a:r>
              <a:rPr lang="en-US" sz="1550" dirty="0">
                <a:solidFill>
                  <a:srgbClr val="1F2429"/>
                </a:solidFill>
                <a:latin typeface="Calibri" pitchFamily="34" charset="0"/>
                <a:ea typeface="Calibri" pitchFamily="34" charset="-122"/>
                <a:cs typeface="Calibri" pitchFamily="34" charset="-120"/>
              </a:rPr>
              <a:t>percentage of time the CPU is doing useful work rather than sitting idle. Higher is better.</a:t>
            </a:r>
            <a:endParaRPr lang="en-US" sz="1550" dirty="0"/>
          </a:p>
          <a:p>
            <a:pPr marL="342900" indent="-342900">
              <a:buSzPct val="100000"/>
              <a:buChar char="•"/>
            </a:pPr>
            <a:r>
              <a:rPr lang="en-US" sz="1550" b="1" dirty="0">
                <a:solidFill>
                  <a:srgbClr val="1F2429"/>
                </a:solidFill>
                <a:latin typeface="Calibri" pitchFamily="34" charset="0"/>
                <a:ea typeface="Calibri" pitchFamily="34" charset="-122"/>
                <a:cs typeface="Calibri" pitchFamily="34" charset="-120"/>
              </a:rPr>
              <a:t>Throughput — </a:t>
            </a:r>
            <a:pPr indent="0" marL="0">
              <a:spcAft>
                <a:spcPts val="1500"/>
              </a:spcAft>
              <a:buNone/>
            </a:pPr>
            <a:r>
              <a:rPr lang="en-US" sz="1550" dirty="0">
                <a:solidFill>
                  <a:srgbClr val="1F2429"/>
                </a:solidFill>
                <a:latin typeface="Calibri" pitchFamily="34" charset="0"/>
                <a:ea typeface="Calibri" pitchFamily="34" charset="-122"/>
                <a:cs typeface="Calibri" pitchFamily="34" charset="-120"/>
              </a:rPr>
              <a:t>the number of processes completed per unit of time. Higher is better.</a:t>
            </a:r>
            <a:endParaRPr lang="en-US" sz="1550" dirty="0"/>
          </a:p>
          <a:p>
            <a:pPr marL="342900" indent="-342900">
              <a:buSzPct val="100000"/>
              <a:buChar char="•"/>
            </a:pPr>
            <a:r>
              <a:rPr lang="en-US" sz="1550" b="1" dirty="0">
                <a:solidFill>
                  <a:srgbClr val="1F2429"/>
                </a:solidFill>
                <a:latin typeface="Calibri" pitchFamily="34" charset="0"/>
                <a:ea typeface="Calibri" pitchFamily="34" charset="-122"/>
                <a:cs typeface="Calibri" pitchFamily="34" charset="-120"/>
              </a:rPr>
              <a:t>Turnaround time (TAT) — </a:t>
            </a:r>
            <a:pPr indent="0" marL="0">
              <a:spcAft>
                <a:spcPts val="1500"/>
              </a:spcAft>
              <a:buNone/>
            </a:pPr>
            <a:r>
              <a:rPr lang="en-US" sz="1550" dirty="0">
                <a:solidFill>
                  <a:srgbClr val="1F2429"/>
                </a:solidFill>
                <a:latin typeface="Calibri" pitchFamily="34" charset="0"/>
                <a:ea typeface="Calibri" pitchFamily="34" charset="-122"/>
                <a:cs typeface="Calibri" pitchFamily="34" charset="-120"/>
              </a:rPr>
              <a:t>total time from arrival to completion. TAT = completion time − arrival time.</a:t>
            </a:r>
            <a:endParaRPr lang="en-US" sz="1550" dirty="0"/>
          </a:p>
          <a:p>
            <a:pPr marL="342900" indent="-342900">
              <a:buSzPct val="100000"/>
              <a:buChar char="•"/>
            </a:pPr>
            <a:r>
              <a:rPr lang="en-US" sz="1550" b="1" dirty="0">
                <a:solidFill>
                  <a:srgbClr val="1F2429"/>
                </a:solidFill>
                <a:latin typeface="Calibri" pitchFamily="34" charset="0"/>
                <a:ea typeface="Calibri" pitchFamily="34" charset="-122"/>
                <a:cs typeface="Calibri" pitchFamily="34" charset="-120"/>
              </a:rPr>
              <a:t>Waiting time — </a:t>
            </a:r>
            <a:pPr indent="0" marL="0">
              <a:spcAft>
                <a:spcPts val="1500"/>
              </a:spcAft>
              <a:buNone/>
            </a:pPr>
            <a:r>
              <a:rPr lang="en-US" sz="1550" dirty="0">
                <a:solidFill>
                  <a:srgbClr val="1F2429"/>
                </a:solidFill>
                <a:latin typeface="Calibri" pitchFamily="34" charset="0"/>
                <a:ea typeface="Calibri" pitchFamily="34" charset="-122"/>
                <a:cs typeface="Calibri" pitchFamily="34" charset="-120"/>
              </a:rPr>
              <a:t>total time spent in the ready queue, not running and not doing I/O. For single-burst examples: waiting time = turnaround time − burst time.</a:t>
            </a:r>
            <a:endParaRPr lang="en-US" sz="1550" dirty="0"/>
          </a:p>
          <a:p>
            <a:pPr marL="342900" indent="-342900">
              <a:buSzPct val="100000"/>
              <a:buChar char="•"/>
            </a:pPr>
            <a:r>
              <a:rPr lang="en-US" sz="1550" b="1" dirty="0">
                <a:solidFill>
                  <a:srgbClr val="1F2429"/>
                </a:solidFill>
                <a:latin typeface="Calibri" pitchFamily="34" charset="0"/>
                <a:ea typeface="Calibri" pitchFamily="34" charset="-122"/>
                <a:cs typeface="Calibri" pitchFamily="34" charset="-120"/>
              </a:rPr>
              <a:t>Response time — </a:t>
            </a:r>
            <a:pPr indent="0" marL="0">
              <a:spcAft>
                <a:spcPts val="1500"/>
              </a:spcAft>
              <a:buNone/>
            </a:pPr>
            <a:r>
              <a:rPr lang="en-US" sz="1550" dirty="0">
                <a:solidFill>
                  <a:srgbClr val="1F2429"/>
                </a:solidFill>
                <a:latin typeface="Calibri" pitchFamily="34" charset="0"/>
                <a:ea typeface="Calibri" pitchFamily="34" charset="-122"/>
                <a:cs typeface="Calibri" pitchFamily="34" charset="-120"/>
              </a:rPr>
              <a:t>time from arrival to the process’s first output — not when it finishes, just when it starts visibly responding.</a:t>
            </a:r>
            <a:endParaRPr lang="en-US" sz="1550" dirty="0"/>
          </a:p>
        </p:txBody>
      </p:sp>
      <p:sp>
        <p:nvSpPr>
          <p:cNvPr id="5" name="Shape 3"/>
          <p:cNvSpPr/>
          <p:nvPr/>
        </p:nvSpPr>
        <p:spPr>
          <a:xfrm>
            <a:off x="640080" y="5257800"/>
            <a:ext cx="10911535" cy="1097280"/>
          </a:xfrm>
          <a:prstGeom prst="roundRect">
            <a:avLst>
              <a:gd name="adj" fmla="val 5000"/>
            </a:avLst>
          </a:prstGeom>
          <a:solidFill>
            <a:srgbClr val="FBEEDD"/>
          </a:solidFill>
          <a:ln w="12700">
            <a:solidFill>
              <a:srgbClr val="E8A33D"/>
            </a:solidFill>
            <a:prstDash val="solid"/>
          </a:ln>
        </p:spPr>
      </p:sp>
      <p:sp>
        <p:nvSpPr>
          <p:cNvPr id="6" name="Text 4"/>
          <p:cNvSpPr txBox="1"/>
          <p:nvPr/>
        </p:nvSpPr>
        <p:spPr>
          <a:xfrm>
            <a:off x="896112" y="5385816"/>
            <a:ext cx="10399471" cy="841248"/>
          </a:xfrm>
          <a:prstGeom prst="rect">
            <a:avLst/>
          </a:prstGeom>
          <a:noFill/>
          <a:ln/>
        </p:spPr>
        <p:txBody>
          <a:bodyPr wrap="square" lIns="0" tIns="0" rIns="0" bIns="0" rtlCol="0" anchor="t"/>
          <a:lstStyle/>
          <a:p>
            <a:pPr indent="0" marL="0">
              <a:spcAft>
                <a:spcPts val="400"/>
              </a:spcAft>
              <a:buNone/>
            </a:pPr>
            <a:r>
              <a:rPr lang="en-US" sz="1300" b="1" dirty="0">
                <a:solidFill>
                  <a:srgbClr val="1F2429"/>
                </a:solidFill>
                <a:latin typeface="Calibri" pitchFamily="34" charset="0"/>
                <a:ea typeface="Calibri" pitchFamily="34" charset="-122"/>
                <a:cs typeface="Calibri" pitchFamily="34" charset="-120"/>
              </a:rPr>
              <a:t>Waiting time and turnaround time are not the same number</a:t>
            </a:r>
            <a:endParaRPr lang="en-US" sz="1300" dirty="0"/>
          </a:p>
          <a:p>
            <a:pPr indent="0" marL="0">
              <a:buNone/>
            </a:pPr>
            <a:r>
              <a:rPr lang="en-US" sz="1250" dirty="0">
                <a:solidFill>
                  <a:srgbClr val="1F2429"/>
                </a:solidFill>
                <a:latin typeface="Calibri" pitchFamily="34" charset="0"/>
                <a:ea typeface="Calibri" pitchFamily="34" charset="-122"/>
                <a:cs typeface="Calibri" pitchFamily="34" charset="-120"/>
              </a:rPr>
              <a:t>A process with a long CPU burst can have a short waiting time (if it starts immediately) and still a long turnaround time (because the burst itself takes a while).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First-Come, First-Served (FCFS)</a:t>
            </a:r>
            <a:endParaRPr lang="en-US" sz="2800" dirty="0"/>
          </a:p>
        </p:txBody>
      </p:sp>
      <p:sp>
        <p:nvSpPr>
          <p:cNvPr id="4" name="Text 2"/>
          <p:cNvSpPr txBox="1"/>
          <p:nvPr/>
        </p:nvSpPr>
        <p:spPr>
          <a:xfrm>
            <a:off x="640080" y="1280160"/>
            <a:ext cx="10911535" cy="914400"/>
          </a:xfrm>
          <a:prstGeom prst="rect">
            <a:avLst/>
          </a:prstGeom>
          <a:noFill/>
          <a:ln/>
        </p:spPr>
        <p:txBody>
          <a:bodyPr wrap="square" lIns="0" tIns="0" rIns="0" bIns="0" rtlCol="0" anchor="t"/>
          <a:lstStyle/>
          <a:p>
            <a:pPr indent="0" marL="0">
              <a:buNone/>
            </a:pPr>
            <a:r>
              <a:rPr lang="en-US" sz="1650" dirty="0">
                <a:solidFill>
                  <a:srgbClr val="1F2429"/>
                </a:solidFill>
                <a:latin typeface="Calibri" pitchFamily="34" charset="0"/>
                <a:ea typeface="Calibri" pitchFamily="34" charset="-122"/>
                <a:cs typeface="Calibri" pitchFamily="34" charset="-120"/>
              </a:rPr>
              <a:t>Whichever process arrives in the ready queue first gets the CPU first, and keeps it until it finishes (FCFS is non-preemptive). Implemented with nothing more than a plain FIFO queue.</a:t>
            </a:r>
            <a:endParaRPr lang="en-US" sz="1650" dirty="0"/>
          </a:p>
        </p:txBody>
      </p:sp>
      <p:sp>
        <p:nvSpPr>
          <p:cNvPr id="5" name="Text 3"/>
          <p:cNvSpPr txBox="1"/>
          <p:nvPr/>
        </p:nvSpPr>
        <p:spPr>
          <a:xfrm>
            <a:off x="640080" y="2331720"/>
            <a:ext cx="10911535" cy="457200"/>
          </a:xfrm>
          <a:prstGeom prst="rect">
            <a:avLst/>
          </a:prstGeom>
          <a:noFill/>
          <a:ln/>
        </p:spPr>
        <p:txBody>
          <a:bodyPr wrap="square" lIns="0" tIns="0" rIns="0" bIns="0" rtlCol="0" anchor="t"/>
          <a:lstStyle/>
          <a:p>
            <a:pPr indent="0" marL="0">
              <a:buNone/>
            </a:pPr>
            <a:r>
              <a:rPr lang="en-US" sz="1500" b="1" dirty="0">
                <a:solidFill>
                  <a:srgbClr val="1F2429"/>
                </a:solidFill>
                <a:latin typeface="Calibri" pitchFamily="34" charset="0"/>
                <a:ea typeface="Calibri" pitchFamily="34" charset="-122"/>
                <a:cs typeface="Calibri" pitchFamily="34" charset="-120"/>
              </a:rPr>
              <a:t>Worked Example: four processes arrive as follows.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651760" y="2926080"/>
          <a:ext cx="5577840" cy="914400"/>
        </p:xfrm>
        <a:graphic>
          <a:graphicData uri="http://schemas.openxmlformats.org/drawingml/2006/table">
            <a:tbl>
              <a:tblPr/>
              <a:tblGrid>
                <a:gridCol w="1828800"/>
                <a:gridCol w="1874520"/>
                <a:gridCol w="1874520"/>
              </a:tblGrid>
              <a:tr h="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Process</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Arrival Time</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Burst Time</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r>
              <a:tr h="0">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P1</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r>
              <a:tr h="0">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P2</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r h="0">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P3</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r>
              <a:tr h="0">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P4</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40080" y="5394960"/>
            <a:ext cx="10911535" cy="822960"/>
          </a:xfrm>
          <a:prstGeom prst="rect">
            <a:avLst/>
          </a:prstGeom>
          <a:noFill/>
          <a:ln/>
        </p:spPr>
        <p:txBody>
          <a:bodyPr wrap="square" lIns="0" tIns="0" rIns="0" bIns="0" rtlCol="0" anchor="t"/>
          <a:lstStyle/>
          <a:p>
            <a:pPr indent="0" marL="0">
              <a:buNone/>
            </a:pPr>
            <a:r>
              <a:rPr lang="en-US" sz="1450" i="1" dirty="0">
                <a:solidFill>
                  <a:srgbClr val="8A939B"/>
                </a:solidFill>
                <a:latin typeface="Calibri" pitchFamily="34" charset="0"/>
                <a:ea typeface="Calibri" pitchFamily="34" charset="-122"/>
                <a:cs typeface="Calibri" pitchFamily="34" charset="-120"/>
              </a:rPr>
              <a:t>All four processes are ready well before P1 finishes, so FCFS simply runs them in arrival order: P1, then P2, then P3, then P4.</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Gantt Chart: FCFS Schedule</a:t>
            </a:r>
            <a:endParaRPr lang="en-US" sz="2800" dirty="0"/>
          </a:p>
        </p:txBody>
      </p:sp>
      <p:sp>
        <p:nvSpPr>
          <p:cNvPr id="4" name="Text 2"/>
          <p:cNvSpPr txBox="1"/>
          <p:nvPr/>
        </p:nvSpPr>
        <p:spPr>
          <a:xfrm>
            <a:off x="640080" y="1874520"/>
            <a:ext cx="10911535" cy="365760"/>
          </a:xfrm>
          <a:prstGeom prst="rect">
            <a:avLst/>
          </a:prstGeom>
          <a:noFill/>
          <a:ln/>
        </p:spPr>
        <p:txBody>
          <a:bodyPr wrap="square" lIns="0" tIns="0" rIns="0" bIns="0" rtlCol="0" anchor="ctr"/>
          <a:lstStyle/>
          <a:p>
            <a:pPr indent="0" marL="0">
              <a:buNone/>
            </a:pPr>
            <a:r>
              <a:rPr lang="en-US" sz="1300" i="1" dirty="0">
                <a:solidFill>
                  <a:srgbClr val="8A939B"/>
                </a:solidFill>
                <a:latin typeface="Calibri" pitchFamily="34" charset="0"/>
                <a:ea typeface="Calibri" pitchFamily="34" charset="-122"/>
                <a:cs typeface="Calibri" pitchFamily="34" charset="-120"/>
              </a:rPr>
              <a:t>Arrival order P1, P2, P3, P4</a:t>
            </a:r>
            <a:endParaRPr lang="en-US" sz="1300" dirty="0"/>
          </a:p>
        </p:txBody>
      </p:sp>
      <p:sp>
        <p:nvSpPr>
          <p:cNvPr id="5" name="Shape 3"/>
          <p:cNvSpPr/>
          <p:nvPr/>
        </p:nvSpPr>
        <p:spPr>
          <a:xfrm>
            <a:off x="640080" y="2377440"/>
            <a:ext cx="8082619" cy="777240"/>
          </a:xfrm>
          <a:prstGeom prst="rect">
            <a:avLst/>
          </a:prstGeom>
          <a:solidFill>
            <a:srgbClr val="2FE6C4"/>
          </a:solidFill>
          <a:ln w="19050">
            <a:solidFill>
              <a:srgbClr val="FFFFFF"/>
            </a:solidFill>
            <a:prstDash val="solid"/>
          </a:ln>
        </p:spPr>
      </p:sp>
      <p:sp>
        <p:nvSpPr>
          <p:cNvPr id="6" name="Text 4"/>
          <p:cNvSpPr txBox="1"/>
          <p:nvPr/>
        </p:nvSpPr>
        <p:spPr>
          <a:xfrm>
            <a:off x="640080" y="2377440"/>
            <a:ext cx="8082619"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P1</a:t>
            </a:r>
            <a:endParaRPr lang="en-US" sz="1300" dirty="0"/>
          </a:p>
        </p:txBody>
      </p:sp>
      <p:sp>
        <p:nvSpPr>
          <p:cNvPr id="7" name="Shape 5"/>
          <p:cNvSpPr/>
          <p:nvPr/>
        </p:nvSpPr>
        <p:spPr>
          <a:xfrm>
            <a:off x="8722699" y="2377440"/>
            <a:ext cx="1616524" cy="777240"/>
          </a:xfrm>
          <a:prstGeom prst="rect">
            <a:avLst/>
          </a:prstGeom>
          <a:solidFill>
            <a:srgbClr val="8B7FD9"/>
          </a:solidFill>
          <a:ln w="19050">
            <a:solidFill>
              <a:srgbClr val="FFFFFF"/>
            </a:solidFill>
            <a:prstDash val="solid"/>
          </a:ln>
        </p:spPr>
      </p:sp>
      <p:sp>
        <p:nvSpPr>
          <p:cNvPr id="8" name="Text 6"/>
          <p:cNvSpPr txBox="1"/>
          <p:nvPr/>
        </p:nvSpPr>
        <p:spPr>
          <a:xfrm>
            <a:off x="8722699" y="2377440"/>
            <a:ext cx="1616524"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9" name="Shape 7"/>
          <p:cNvSpPr/>
          <p:nvPr/>
        </p:nvSpPr>
        <p:spPr>
          <a:xfrm>
            <a:off x="10339222" y="2377440"/>
            <a:ext cx="808262" cy="777240"/>
          </a:xfrm>
          <a:prstGeom prst="rect">
            <a:avLst/>
          </a:prstGeom>
          <a:solidFill>
            <a:srgbClr val="E8A33D"/>
          </a:solidFill>
          <a:ln w="19050">
            <a:solidFill>
              <a:srgbClr val="FFFFFF"/>
            </a:solidFill>
            <a:prstDash val="solid"/>
          </a:ln>
        </p:spPr>
      </p:sp>
      <p:sp>
        <p:nvSpPr>
          <p:cNvPr id="10" name="Text 8"/>
          <p:cNvSpPr txBox="1"/>
          <p:nvPr/>
        </p:nvSpPr>
        <p:spPr>
          <a:xfrm>
            <a:off x="10339222" y="2377440"/>
            <a:ext cx="808262"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P3</a:t>
            </a:r>
            <a:endParaRPr lang="en-US" sz="1050" dirty="0"/>
          </a:p>
        </p:txBody>
      </p:sp>
      <p:sp>
        <p:nvSpPr>
          <p:cNvPr id="11" name="Shape 9"/>
          <p:cNvSpPr/>
          <p:nvPr/>
        </p:nvSpPr>
        <p:spPr>
          <a:xfrm>
            <a:off x="11147484" y="2377440"/>
            <a:ext cx="404131" cy="777240"/>
          </a:xfrm>
          <a:prstGeom prst="rect">
            <a:avLst/>
          </a:prstGeom>
          <a:solidFill>
            <a:srgbClr val="2FE6C4"/>
          </a:solidFill>
          <a:ln w="19050">
            <a:solidFill>
              <a:srgbClr val="FFFFFF"/>
            </a:solidFill>
            <a:prstDash val="solid"/>
          </a:ln>
        </p:spPr>
      </p:sp>
      <p:sp>
        <p:nvSpPr>
          <p:cNvPr id="12" name="Text 10"/>
          <p:cNvSpPr txBox="1"/>
          <p:nvPr/>
        </p:nvSpPr>
        <p:spPr>
          <a:xfrm>
            <a:off x="11066086" y="2066544"/>
            <a:ext cx="566928" cy="274320"/>
          </a:xfrm>
          <a:prstGeom prst="rect">
            <a:avLst/>
          </a:prstGeom>
          <a:noFill/>
          <a:ln/>
        </p:spPr>
        <p:txBody>
          <a:bodyPr wrap="square" lIns="0" tIns="0" rIns="0" bIns="0" rtlCol="0" anchor="b"/>
          <a:lstStyle/>
          <a:p>
            <a:pPr algn="ctr" indent="0" marL="0">
              <a:buNone/>
            </a:pPr>
            <a:r>
              <a:rPr lang="en-US" sz="1000" b="1" dirty="0">
                <a:solidFill>
                  <a:srgbClr val="1F2429"/>
                </a:solidFill>
                <a:latin typeface="Calibri" pitchFamily="34" charset="0"/>
                <a:ea typeface="Calibri" pitchFamily="34" charset="-122"/>
                <a:cs typeface="Calibri" pitchFamily="34" charset="-120"/>
              </a:rPr>
              <a:t>P4</a:t>
            </a:r>
            <a:endParaRPr lang="en-US" sz="1000" dirty="0"/>
          </a:p>
        </p:txBody>
      </p:sp>
      <p:sp>
        <p:nvSpPr>
          <p:cNvPr id="13" name="Shape 11"/>
          <p:cNvSpPr/>
          <p:nvPr/>
        </p:nvSpPr>
        <p:spPr>
          <a:xfrm>
            <a:off x="11349550" y="2322576"/>
            <a:ext cx="0" cy="54864"/>
          </a:xfrm>
          <a:prstGeom prst="line">
            <a:avLst/>
          </a:prstGeom>
          <a:noFill/>
          <a:ln w="12700">
            <a:solidFill>
              <a:srgbClr val="1F2429"/>
            </a:solidFill>
            <a:prstDash val="solid"/>
          </a:ln>
        </p:spPr>
      </p:sp>
      <p:sp>
        <p:nvSpPr>
          <p:cNvPr id="14" name="Shape 12"/>
          <p:cNvSpPr/>
          <p:nvPr/>
        </p:nvSpPr>
        <p:spPr>
          <a:xfrm>
            <a:off x="640080" y="3154680"/>
            <a:ext cx="0" cy="91440"/>
          </a:xfrm>
          <a:prstGeom prst="line">
            <a:avLst/>
          </a:prstGeom>
          <a:noFill/>
          <a:ln w="12700">
            <a:solidFill>
              <a:srgbClr val="8A939B"/>
            </a:solidFill>
            <a:prstDash val="solid"/>
          </a:ln>
        </p:spPr>
      </p:sp>
      <p:sp>
        <p:nvSpPr>
          <p:cNvPr id="15" name="Text 13"/>
          <p:cNvSpPr txBox="1"/>
          <p:nvPr/>
        </p:nvSpPr>
        <p:spPr>
          <a:xfrm>
            <a:off x="320040" y="322783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0</a:t>
            </a:r>
            <a:endParaRPr lang="en-US" sz="1100" dirty="0"/>
          </a:p>
        </p:txBody>
      </p:sp>
      <p:sp>
        <p:nvSpPr>
          <p:cNvPr id="16" name="Shape 14"/>
          <p:cNvSpPr/>
          <p:nvPr/>
        </p:nvSpPr>
        <p:spPr>
          <a:xfrm>
            <a:off x="8722699" y="3154680"/>
            <a:ext cx="0" cy="91440"/>
          </a:xfrm>
          <a:prstGeom prst="line">
            <a:avLst/>
          </a:prstGeom>
          <a:noFill/>
          <a:ln w="12700">
            <a:solidFill>
              <a:srgbClr val="8A939B"/>
            </a:solidFill>
            <a:prstDash val="solid"/>
          </a:ln>
        </p:spPr>
      </p:sp>
      <p:sp>
        <p:nvSpPr>
          <p:cNvPr id="17" name="Text 15"/>
          <p:cNvSpPr txBox="1"/>
          <p:nvPr/>
        </p:nvSpPr>
        <p:spPr>
          <a:xfrm>
            <a:off x="8402659" y="322783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20</a:t>
            </a:r>
            <a:endParaRPr lang="en-US" sz="1100" dirty="0"/>
          </a:p>
        </p:txBody>
      </p:sp>
      <p:sp>
        <p:nvSpPr>
          <p:cNvPr id="18" name="Shape 16"/>
          <p:cNvSpPr/>
          <p:nvPr/>
        </p:nvSpPr>
        <p:spPr>
          <a:xfrm>
            <a:off x="10339222" y="3154680"/>
            <a:ext cx="0" cy="91440"/>
          </a:xfrm>
          <a:prstGeom prst="line">
            <a:avLst/>
          </a:prstGeom>
          <a:noFill/>
          <a:ln w="12700">
            <a:solidFill>
              <a:srgbClr val="8A939B"/>
            </a:solidFill>
            <a:prstDash val="solid"/>
          </a:ln>
        </p:spPr>
      </p:sp>
      <p:sp>
        <p:nvSpPr>
          <p:cNvPr id="19" name="Text 17"/>
          <p:cNvSpPr txBox="1"/>
          <p:nvPr/>
        </p:nvSpPr>
        <p:spPr>
          <a:xfrm>
            <a:off x="10019182" y="322783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24</a:t>
            </a:r>
            <a:endParaRPr lang="en-US" sz="1100" dirty="0"/>
          </a:p>
        </p:txBody>
      </p:sp>
      <p:sp>
        <p:nvSpPr>
          <p:cNvPr id="20" name="Shape 18"/>
          <p:cNvSpPr/>
          <p:nvPr/>
        </p:nvSpPr>
        <p:spPr>
          <a:xfrm>
            <a:off x="11147484" y="3154680"/>
            <a:ext cx="0" cy="91440"/>
          </a:xfrm>
          <a:prstGeom prst="line">
            <a:avLst/>
          </a:prstGeom>
          <a:noFill/>
          <a:ln w="12700">
            <a:solidFill>
              <a:srgbClr val="8A939B"/>
            </a:solidFill>
            <a:prstDash val="solid"/>
          </a:ln>
        </p:spPr>
      </p:sp>
      <p:sp>
        <p:nvSpPr>
          <p:cNvPr id="21" name="Text 19"/>
          <p:cNvSpPr txBox="1"/>
          <p:nvPr/>
        </p:nvSpPr>
        <p:spPr>
          <a:xfrm>
            <a:off x="10827444" y="322783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26</a:t>
            </a:r>
            <a:endParaRPr lang="en-US" sz="1100" dirty="0"/>
          </a:p>
        </p:txBody>
      </p:sp>
      <p:sp>
        <p:nvSpPr>
          <p:cNvPr id="22" name="Shape 20"/>
          <p:cNvSpPr/>
          <p:nvPr/>
        </p:nvSpPr>
        <p:spPr>
          <a:xfrm>
            <a:off x="11551615" y="3154680"/>
            <a:ext cx="0" cy="91440"/>
          </a:xfrm>
          <a:prstGeom prst="line">
            <a:avLst/>
          </a:prstGeom>
          <a:noFill/>
          <a:ln w="12700">
            <a:solidFill>
              <a:srgbClr val="8A939B"/>
            </a:solidFill>
            <a:prstDash val="solid"/>
          </a:ln>
        </p:spPr>
      </p:sp>
      <p:sp>
        <p:nvSpPr>
          <p:cNvPr id="23" name="Text 21"/>
          <p:cNvSpPr txBox="1"/>
          <p:nvPr/>
        </p:nvSpPr>
        <p:spPr>
          <a:xfrm>
            <a:off x="11231575" y="322783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27</a:t>
            </a:r>
            <a:endParaRPr lang="en-US" sz="1100" dirty="0"/>
          </a:p>
        </p:txBody>
      </p:sp>
      <p:sp>
        <p:nvSpPr>
          <p:cNvPr id="24" name="Text 22"/>
          <p:cNvSpPr txBox="1"/>
          <p:nvPr/>
        </p:nvSpPr>
        <p:spPr>
          <a:xfrm>
            <a:off x="640080" y="4023360"/>
            <a:ext cx="10911535" cy="2194560"/>
          </a:xfrm>
          <a:prstGeom prst="rect">
            <a:avLst/>
          </a:prstGeom>
          <a:noFill/>
          <a:ln/>
        </p:spPr>
        <p:txBody>
          <a:bodyPr wrap="square" lIns="0" tIns="0" rIns="0" bIns="0" rtlCol="0" anchor="t"/>
          <a:lstStyle/>
          <a:p>
            <a:pPr marL="342900" indent="-342900">
              <a:buSzPct val="100000"/>
              <a:buChar char="•"/>
            </a:pPr>
            <a:r>
              <a:rPr lang="en-US" sz="1400" b="1" dirty="0">
                <a:solidFill>
                  <a:srgbClr val="1F2429"/>
                </a:solidFill>
                <a:latin typeface="Calibri" pitchFamily="34" charset="0"/>
                <a:ea typeface="Calibri" pitchFamily="34" charset="-122"/>
                <a:cs typeface="Calibri" pitchFamily="34" charset="-120"/>
              </a:rPr>
              <a:t>P1 </a:t>
            </a:r>
            <a:pPr indent="0" marL="0">
              <a:spcAft>
                <a:spcPts val="1000"/>
              </a:spcAft>
              <a:buNone/>
            </a:pPr>
            <a:r>
              <a:rPr lang="en-US" sz="1400" dirty="0">
                <a:solidFill>
                  <a:srgbClr val="1F2429"/>
                </a:solidFill>
                <a:latin typeface="Calibri" pitchFamily="34" charset="0"/>
                <a:ea typeface="Calibri" pitchFamily="34" charset="-122"/>
                <a:cs typeface="Calibri" pitchFamily="34" charset="-120"/>
              </a:rPr>
              <a:t>starts the instant it arrives at t=0, runs its full burst of 20, finishing at t=20</a:t>
            </a:r>
            <a:endParaRPr lang="en-US" sz="1400" dirty="0"/>
          </a:p>
          <a:p>
            <a:pPr marL="342900" indent="-342900">
              <a:buSzPct val="100000"/>
              <a:buChar char="•"/>
            </a:pPr>
            <a:r>
              <a:rPr lang="en-US" sz="1400" b="1" dirty="0">
                <a:solidFill>
                  <a:srgbClr val="1F2429"/>
                </a:solidFill>
                <a:latin typeface="Calibri" pitchFamily="34" charset="0"/>
                <a:ea typeface="Calibri" pitchFamily="34" charset="-122"/>
                <a:cs typeface="Calibri" pitchFamily="34" charset="-120"/>
              </a:rPr>
              <a:t>P2 </a:t>
            </a:r>
            <a:pPr indent="0" marL="0">
              <a:spcAft>
                <a:spcPts val="1000"/>
              </a:spcAft>
              <a:buNone/>
            </a:pPr>
            <a:r>
              <a:rPr lang="en-US" sz="1400" dirty="0">
                <a:solidFill>
                  <a:srgbClr val="1F2429"/>
                </a:solidFill>
                <a:latin typeface="Calibri" pitchFamily="34" charset="0"/>
                <a:ea typeface="Calibri" pitchFamily="34" charset="-122"/>
                <a:cs typeface="Calibri" pitchFamily="34" charset="-120"/>
              </a:rPr>
              <a:t>arrived at t=1 but the CPU is busy until t=20; starts at t=20, runs 4, finishes at t=24</a:t>
            </a:r>
            <a:endParaRPr lang="en-US" sz="1400" dirty="0"/>
          </a:p>
          <a:p>
            <a:pPr marL="342900" indent="-342900">
              <a:buSzPct val="100000"/>
              <a:buChar char="•"/>
            </a:pPr>
            <a:r>
              <a:rPr lang="en-US" sz="1400" b="1" dirty="0">
                <a:solidFill>
                  <a:srgbClr val="1F2429"/>
                </a:solidFill>
                <a:latin typeface="Calibri" pitchFamily="34" charset="0"/>
                <a:ea typeface="Calibri" pitchFamily="34" charset="-122"/>
                <a:cs typeface="Calibri" pitchFamily="34" charset="-120"/>
              </a:rPr>
              <a:t>P3 </a:t>
            </a:r>
            <a:pPr indent="0" marL="0">
              <a:spcAft>
                <a:spcPts val="1000"/>
              </a:spcAft>
              <a:buNone/>
            </a:pPr>
            <a:r>
              <a:rPr lang="en-US" sz="1400" dirty="0">
                <a:solidFill>
                  <a:srgbClr val="1F2429"/>
                </a:solidFill>
                <a:latin typeface="Calibri" pitchFamily="34" charset="0"/>
                <a:ea typeface="Calibri" pitchFamily="34" charset="-122"/>
                <a:cs typeface="Calibri" pitchFamily="34" charset="-120"/>
              </a:rPr>
              <a:t>arrived at t=2, starts at t=24, runs 2, finishes at t=26</a:t>
            </a:r>
            <a:endParaRPr lang="en-US" sz="1400" dirty="0"/>
          </a:p>
          <a:p>
            <a:pPr marL="342900" indent="-342900">
              <a:buSzPct val="100000"/>
              <a:buChar char="•"/>
            </a:pPr>
            <a:r>
              <a:rPr lang="en-US" sz="1400" b="1" dirty="0">
                <a:solidFill>
                  <a:srgbClr val="1F2429"/>
                </a:solidFill>
                <a:latin typeface="Calibri" pitchFamily="34" charset="0"/>
                <a:ea typeface="Calibri" pitchFamily="34" charset="-122"/>
                <a:cs typeface="Calibri" pitchFamily="34" charset="-120"/>
              </a:rPr>
              <a:t>P4 </a:t>
            </a:r>
            <a:pPr indent="0" marL="0">
              <a:spcAft>
                <a:spcPts val="1000"/>
              </a:spcAft>
              <a:buNone/>
            </a:pPr>
            <a:r>
              <a:rPr lang="en-US" sz="1400" dirty="0">
                <a:solidFill>
                  <a:srgbClr val="1F2429"/>
                </a:solidFill>
                <a:latin typeface="Calibri" pitchFamily="34" charset="0"/>
                <a:ea typeface="Calibri" pitchFamily="34" charset="-122"/>
                <a:cs typeface="Calibri" pitchFamily="34" charset="-120"/>
              </a:rPr>
              <a:t>arrived at t=3, starts at t=26, runs 1, finishes at t=27</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FCFS: Waiting and Turnaround Times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11535" cy="914400"/>
        </p:xfrm>
        <a:graphic>
          <a:graphicData uri="http://schemas.openxmlformats.org/drawingml/2006/table">
            <a:tbl>
              <a:tblPr/>
              <a:tblGrid>
                <a:gridCol w="1558791"/>
                <a:gridCol w="1558791"/>
                <a:gridCol w="1558791"/>
                <a:gridCol w="1558791"/>
                <a:gridCol w="1558791"/>
                <a:gridCol w="1558791"/>
                <a:gridCol w="1558791"/>
              </a:tblGrid>
              <a:tr h="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Process</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Arrival</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Burst</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Start</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Completion</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Waiting</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Turnaround</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r>
              <a:tr h="0">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P1</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0−0=0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20−0=20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r>
              <a:tr h="0">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P2</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20−1=19</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24−1=23</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r h="0">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P3</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26</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24−2=22</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26−2=24</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r>
              <a:tr h="0">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P4</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26</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27</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26−3=23</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27−3=24</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3200400"/>
            <a:ext cx="10911535" cy="822960"/>
          </a:xfrm>
          <a:prstGeom prst="roundRect">
            <a:avLst>
              <a:gd name="adj" fmla="val 6667"/>
            </a:avLst>
          </a:prstGeom>
          <a:solidFill>
            <a:srgbClr val="EFEBFC"/>
          </a:solidFill>
          <a:ln w="12700">
            <a:solidFill>
              <a:srgbClr val="8B7FD9"/>
            </a:solidFill>
            <a:prstDash val="solid"/>
          </a:ln>
        </p:spPr>
      </p:sp>
      <p:sp>
        <p:nvSpPr>
          <p:cNvPr id="6" name="Text 3"/>
          <p:cNvSpPr txBox="1"/>
          <p:nvPr/>
        </p:nvSpPr>
        <p:spPr>
          <a:xfrm>
            <a:off x="896112" y="3328416"/>
            <a:ext cx="10399471" cy="566928"/>
          </a:xfrm>
          <a:prstGeom prst="rect">
            <a:avLst/>
          </a:prstGeom>
          <a:noFill/>
          <a:ln/>
        </p:spPr>
        <p:txBody>
          <a:bodyPr wrap="square" lIns="0" tIns="0" rIns="0" bIns="0" rtlCol="0" anchor="t"/>
          <a:lstStyle/>
          <a:p>
            <a:pPr indent="0" marL="0">
              <a:buNone/>
            </a:pPr>
            <a:r>
              <a:rPr lang="en-US" sz="1250" dirty="0">
                <a:solidFill>
                  <a:srgbClr val="1F2429"/>
                </a:solidFill>
                <a:latin typeface="Calibri" pitchFamily="34" charset="0"/>
                <a:ea typeface="Calibri" pitchFamily="34" charset="-122"/>
                <a:cs typeface="Calibri" pitchFamily="34" charset="-120"/>
              </a:rPr>
              <a:t>Average waiting time = (0 + 19 + 22 + 23) / 4 = 64 / 4 = 16          Average turnaround time = (20 + 23 + 24 + 24) / 4 = 91 / 4 = 22.75</a:t>
            </a:r>
            <a:endParaRPr lang="en-US" sz="1250" dirty="0"/>
          </a:p>
        </p:txBody>
      </p:sp>
      <p:sp>
        <p:nvSpPr>
          <p:cNvPr id="7" name="Text 4"/>
          <p:cNvSpPr txBox="1"/>
          <p:nvPr/>
        </p:nvSpPr>
        <p:spPr>
          <a:xfrm>
            <a:off x="640080" y="4297680"/>
            <a:ext cx="10911535" cy="210312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Notice how badly P2, P3, and P4 fare — each has a tiny burst, yet each waits roughly twenty units purely because they arrived just after a long process. This is the convoy effect: one long CPU-bound process holds the CPU, and a whole convoy of short processes piles up behind it — much like a slow truck on a single-lane road backing up every car behind it.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Convoy Effect, Made Concrete</a:t>
            </a:r>
            <a:endParaRPr lang="en-US" sz="2800" dirty="0"/>
          </a:p>
        </p:txBody>
      </p:sp>
      <p:sp>
        <p:nvSpPr>
          <p:cNvPr id="4" name="Text 2"/>
          <p:cNvSpPr txBox="1"/>
          <p:nvPr/>
        </p:nvSpPr>
        <p:spPr>
          <a:xfrm>
            <a:off x="640080" y="1280160"/>
            <a:ext cx="10911535" cy="91440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Run the exact same four burst lengths through FCFS again, but suppose they arrived in the opposite order: shortest burst first, longest last.</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651760" y="2377440"/>
          <a:ext cx="5577840" cy="914400"/>
        </p:xfrm>
        <a:graphic>
          <a:graphicData uri="http://schemas.openxmlformats.org/drawingml/2006/table">
            <a:tbl>
              <a:tblPr/>
              <a:tblGrid>
                <a:gridCol w="1828800"/>
                <a:gridCol w="1874520"/>
                <a:gridCol w="1874520"/>
              </a:tblGrid>
              <a:tr h="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Process</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Arrival Time</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Burst Time</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r>
              <a:tr h="0">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Q1</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r>
              <a:tr h="0">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Q2</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r h="0">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Q3</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r>
              <a:tr h="0">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Q4</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29"/>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40080" y="4846320"/>
            <a:ext cx="10911535" cy="1280160"/>
          </a:xfrm>
          <a:prstGeom prst="rect">
            <a:avLst/>
          </a:prstGeom>
          <a:noFill/>
          <a:ln/>
        </p:spPr>
        <p:txBody>
          <a:bodyPr wrap="square" lIns="0" tIns="0" rIns="0" bIns="0" rtlCol="0" anchor="t"/>
          <a:lstStyle/>
          <a:p>
            <a:pPr indent="0" marL="0">
              <a:buNone/>
            </a:pPr>
            <a:r>
              <a:rPr lang="en-US" sz="1450" i="1" dirty="0">
                <a:solidFill>
                  <a:srgbClr val="8A939B"/>
                </a:solidFill>
                <a:latin typeface="Calibri" pitchFamily="34" charset="0"/>
                <a:ea typeface="Calibri" pitchFamily="34" charset="-122"/>
                <a:cs typeface="Calibri" pitchFamily="34" charset="-120"/>
              </a:rPr>
              <a:t>Q1 starts at t=0, runs 1, finishes at t=1. Q2 starts at t=1, runs 2, finishes at t=3. Q3 starts at t=3, runs 4, finishes at t=7. Q4 starts at t=7, runs 20, finishes at t=27.</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Gantt Chart: Same Burst Lengths, Reversed Order</a:t>
            </a:r>
            <a:endParaRPr lang="en-US" sz="2800" dirty="0"/>
          </a:p>
        </p:txBody>
      </p:sp>
      <p:sp>
        <p:nvSpPr>
          <p:cNvPr id="4" name="Text 2"/>
          <p:cNvSpPr txBox="1"/>
          <p:nvPr/>
        </p:nvSpPr>
        <p:spPr>
          <a:xfrm>
            <a:off x="640080" y="1874520"/>
            <a:ext cx="10911535" cy="365760"/>
          </a:xfrm>
          <a:prstGeom prst="rect">
            <a:avLst/>
          </a:prstGeom>
          <a:noFill/>
          <a:ln/>
        </p:spPr>
        <p:txBody>
          <a:bodyPr wrap="square" lIns="0" tIns="0" rIns="0" bIns="0" rtlCol="0" anchor="ctr"/>
          <a:lstStyle/>
          <a:p>
            <a:pPr indent="0" marL="0">
              <a:buNone/>
            </a:pPr>
            <a:r>
              <a:rPr lang="en-US" sz="1300" i="1" dirty="0">
                <a:solidFill>
                  <a:srgbClr val="8A939B"/>
                </a:solidFill>
                <a:latin typeface="Calibri" pitchFamily="34" charset="0"/>
                <a:ea typeface="Calibri" pitchFamily="34" charset="-122"/>
                <a:cs typeface="Calibri" pitchFamily="34" charset="-120"/>
              </a:rPr>
              <a:t>Same four burst lengths, short-to-long arrival order</a:t>
            </a:r>
            <a:endParaRPr lang="en-US" sz="1300" dirty="0"/>
          </a:p>
        </p:txBody>
      </p:sp>
      <p:sp>
        <p:nvSpPr>
          <p:cNvPr id="5" name="Shape 3"/>
          <p:cNvSpPr/>
          <p:nvPr/>
        </p:nvSpPr>
        <p:spPr>
          <a:xfrm>
            <a:off x="640080" y="2377440"/>
            <a:ext cx="404131" cy="777240"/>
          </a:xfrm>
          <a:prstGeom prst="rect">
            <a:avLst/>
          </a:prstGeom>
          <a:solidFill>
            <a:srgbClr val="2FE6C4"/>
          </a:solidFill>
          <a:ln w="19050">
            <a:solidFill>
              <a:srgbClr val="FFFFFF"/>
            </a:solidFill>
            <a:prstDash val="solid"/>
          </a:ln>
        </p:spPr>
      </p:sp>
      <p:sp>
        <p:nvSpPr>
          <p:cNvPr id="6" name="Text 4"/>
          <p:cNvSpPr txBox="1"/>
          <p:nvPr/>
        </p:nvSpPr>
        <p:spPr>
          <a:xfrm>
            <a:off x="558681" y="2066544"/>
            <a:ext cx="566928" cy="274320"/>
          </a:xfrm>
          <a:prstGeom prst="rect">
            <a:avLst/>
          </a:prstGeom>
          <a:noFill/>
          <a:ln/>
        </p:spPr>
        <p:txBody>
          <a:bodyPr wrap="square" lIns="0" tIns="0" rIns="0" bIns="0" rtlCol="0" anchor="b"/>
          <a:lstStyle/>
          <a:p>
            <a:pPr algn="ctr" indent="0" marL="0">
              <a:buNone/>
            </a:pPr>
            <a:r>
              <a:rPr lang="en-US" sz="1000" b="1" dirty="0">
                <a:solidFill>
                  <a:srgbClr val="1F2429"/>
                </a:solidFill>
                <a:latin typeface="Calibri" pitchFamily="34" charset="0"/>
                <a:ea typeface="Calibri" pitchFamily="34" charset="-122"/>
                <a:cs typeface="Calibri" pitchFamily="34" charset="-120"/>
              </a:rPr>
              <a:t>Q1</a:t>
            </a:r>
            <a:endParaRPr lang="en-US" sz="1000" dirty="0"/>
          </a:p>
        </p:txBody>
      </p:sp>
      <p:sp>
        <p:nvSpPr>
          <p:cNvPr id="7" name="Shape 5"/>
          <p:cNvSpPr/>
          <p:nvPr/>
        </p:nvSpPr>
        <p:spPr>
          <a:xfrm>
            <a:off x="842145" y="2322576"/>
            <a:ext cx="0" cy="54864"/>
          </a:xfrm>
          <a:prstGeom prst="line">
            <a:avLst/>
          </a:prstGeom>
          <a:noFill/>
          <a:ln w="12700">
            <a:solidFill>
              <a:srgbClr val="1F2429"/>
            </a:solidFill>
            <a:prstDash val="solid"/>
          </a:ln>
        </p:spPr>
      </p:sp>
      <p:sp>
        <p:nvSpPr>
          <p:cNvPr id="8" name="Shape 6"/>
          <p:cNvSpPr/>
          <p:nvPr/>
        </p:nvSpPr>
        <p:spPr>
          <a:xfrm>
            <a:off x="1044211" y="2377440"/>
            <a:ext cx="808262" cy="777240"/>
          </a:xfrm>
          <a:prstGeom prst="rect">
            <a:avLst/>
          </a:prstGeom>
          <a:solidFill>
            <a:srgbClr val="8B7FD9"/>
          </a:solidFill>
          <a:ln w="19050">
            <a:solidFill>
              <a:srgbClr val="FFFFFF"/>
            </a:solidFill>
            <a:prstDash val="solid"/>
          </a:ln>
        </p:spPr>
      </p:sp>
      <p:sp>
        <p:nvSpPr>
          <p:cNvPr id="9" name="Text 7"/>
          <p:cNvSpPr txBox="1"/>
          <p:nvPr/>
        </p:nvSpPr>
        <p:spPr>
          <a:xfrm>
            <a:off x="1044211" y="2377440"/>
            <a:ext cx="808262"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p>
        </p:txBody>
      </p:sp>
      <p:sp>
        <p:nvSpPr>
          <p:cNvPr id="10" name="Shape 8"/>
          <p:cNvSpPr/>
          <p:nvPr/>
        </p:nvSpPr>
        <p:spPr>
          <a:xfrm>
            <a:off x="1852473" y="2377440"/>
            <a:ext cx="1616524" cy="777240"/>
          </a:xfrm>
          <a:prstGeom prst="rect">
            <a:avLst/>
          </a:prstGeom>
          <a:solidFill>
            <a:srgbClr val="E8A33D"/>
          </a:solidFill>
          <a:ln w="19050">
            <a:solidFill>
              <a:srgbClr val="FFFFFF"/>
            </a:solidFill>
            <a:prstDash val="solid"/>
          </a:ln>
        </p:spPr>
      </p:sp>
      <p:sp>
        <p:nvSpPr>
          <p:cNvPr id="11" name="Text 9"/>
          <p:cNvSpPr txBox="1"/>
          <p:nvPr/>
        </p:nvSpPr>
        <p:spPr>
          <a:xfrm>
            <a:off x="1852473" y="2377440"/>
            <a:ext cx="1616524"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2" name="Shape 10"/>
          <p:cNvSpPr/>
          <p:nvPr/>
        </p:nvSpPr>
        <p:spPr>
          <a:xfrm>
            <a:off x="3468997" y="2377440"/>
            <a:ext cx="8082619" cy="777240"/>
          </a:xfrm>
          <a:prstGeom prst="rect">
            <a:avLst/>
          </a:prstGeom>
          <a:solidFill>
            <a:srgbClr val="2FE6C4"/>
          </a:solidFill>
          <a:ln w="19050">
            <a:solidFill>
              <a:srgbClr val="FFFFFF"/>
            </a:solidFill>
            <a:prstDash val="solid"/>
          </a:ln>
        </p:spPr>
      </p:sp>
      <p:sp>
        <p:nvSpPr>
          <p:cNvPr id="13" name="Text 11"/>
          <p:cNvSpPr txBox="1"/>
          <p:nvPr/>
        </p:nvSpPr>
        <p:spPr>
          <a:xfrm>
            <a:off x="3468997" y="2377440"/>
            <a:ext cx="8082619"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Q4</a:t>
            </a:r>
            <a:endParaRPr lang="en-US" sz="1300" dirty="0"/>
          </a:p>
        </p:txBody>
      </p:sp>
      <p:sp>
        <p:nvSpPr>
          <p:cNvPr id="14" name="Shape 12"/>
          <p:cNvSpPr/>
          <p:nvPr/>
        </p:nvSpPr>
        <p:spPr>
          <a:xfrm>
            <a:off x="640080" y="3154680"/>
            <a:ext cx="0" cy="91440"/>
          </a:xfrm>
          <a:prstGeom prst="line">
            <a:avLst/>
          </a:prstGeom>
          <a:noFill/>
          <a:ln w="12700">
            <a:solidFill>
              <a:srgbClr val="8A939B"/>
            </a:solidFill>
            <a:prstDash val="solid"/>
          </a:ln>
        </p:spPr>
      </p:sp>
      <p:sp>
        <p:nvSpPr>
          <p:cNvPr id="15" name="Text 13"/>
          <p:cNvSpPr txBox="1"/>
          <p:nvPr/>
        </p:nvSpPr>
        <p:spPr>
          <a:xfrm>
            <a:off x="320040" y="322783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0</a:t>
            </a:r>
            <a:endParaRPr lang="en-US" sz="1100" dirty="0"/>
          </a:p>
        </p:txBody>
      </p:sp>
      <p:sp>
        <p:nvSpPr>
          <p:cNvPr id="16" name="Shape 14"/>
          <p:cNvSpPr/>
          <p:nvPr/>
        </p:nvSpPr>
        <p:spPr>
          <a:xfrm>
            <a:off x="1044211" y="3154680"/>
            <a:ext cx="0" cy="91440"/>
          </a:xfrm>
          <a:prstGeom prst="line">
            <a:avLst/>
          </a:prstGeom>
          <a:noFill/>
          <a:ln w="12700">
            <a:solidFill>
              <a:srgbClr val="8A939B"/>
            </a:solidFill>
            <a:prstDash val="solid"/>
          </a:ln>
        </p:spPr>
      </p:sp>
      <p:sp>
        <p:nvSpPr>
          <p:cNvPr id="17" name="Text 15"/>
          <p:cNvSpPr txBox="1"/>
          <p:nvPr/>
        </p:nvSpPr>
        <p:spPr>
          <a:xfrm>
            <a:off x="724171" y="322783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1</a:t>
            </a:r>
            <a:endParaRPr lang="en-US" sz="1100" dirty="0"/>
          </a:p>
        </p:txBody>
      </p:sp>
      <p:sp>
        <p:nvSpPr>
          <p:cNvPr id="18" name="Shape 16"/>
          <p:cNvSpPr/>
          <p:nvPr/>
        </p:nvSpPr>
        <p:spPr>
          <a:xfrm>
            <a:off x="1852473" y="3154680"/>
            <a:ext cx="0" cy="91440"/>
          </a:xfrm>
          <a:prstGeom prst="line">
            <a:avLst/>
          </a:prstGeom>
          <a:noFill/>
          <a:ln w="12700">
            <a:solidFill>
              <a:srgbClr val="8A939B"/>
            </a:solidFill>
            <a:prstDash val="solid"/>
          </a:ln>
        </p:spPr>
      </p:sp>
      <p:sp>
        <p:nvSpPr>
          <p:cNvPr id="19" name="Text 17"/>
          <p:cNvSpPr txBox="1"/>
          <p:nvPr/>
        </p:nvSpPr>
        <p:spPr>
          <a:xfrm>
            <a:off x="1532433" y="322783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3</a:t>
            </a:r>
            <a:endParaRPr lang="en-US" sz="1100" dirty="0"/>
          </a:p>
        </p:txBody>
      </p:sp>
      <p:sp>
        <p:nvSpPr>
          <p:cNvPr id="20" name="Shape 18"/>
          <p:cNvSpPr/>
          <p:nvPr/>
        </p:nvSpPr>
        <p:spPr>
          <a:xfrm>
            <a:off x="3468997" y="3154680"/>
            <a:ext cx="0" cy="91440"/>
          </a:xfrm>
          <a:prstGeom prst="line">
            <a:avLst/>
          </a:prstGeom>
          <a:noFill/>
          <a:ln w="12700">
            <a:solidFill>
              <a:srgbClr val="8A939B"/>
            </a:solidFill>
            <a:prstDash val="solid"/>
          </a:ln>
        </p:spPr>
      </p:sp>
      <p:sp>
        <p:nvSpPr>
          <p:cNvPr id="21" name="Text 19"/>
          <p:cNvSpPr txBox="1"/>
          <p:nvPr/>
        </p:nvSpPr>
        <p:spPr>
          <a:xfrm>
            <a:off x="3148957" y="322783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7</a:t>
            </a:r>
            <a:endParaRPr lang="en-US" sz="1100" dirty="0"/>
          </a:p>
        </p:txBody>
      </p:sp>
      <p:sp>
        <p:nvSpPr>
          <p:cNvPr id="22" name="Shape 20"/>
          <p:cNvSpPr/>
          <p:nvPr/>
        </p:nvSpPr>
        <p:spPr>
          <a:xfrm>
            <a:off x="11551615" y="3154680"/>
            <a:ext cx="0" cy="91440"/>
          </a:xfrm>
          <a:prstGeom prst="line">
            <a:avLst/>
          </a:prstGeom>
          <a:noFill/>
          <a:ln w="12700">
            <a:solidFill>
              <a:srgbClr val="8A939B"/>
            </a:solidFill>
            <a:prstDash val="solid"/>
          </a:ln>
        </p:spPr>
      </p:sp>
      <p:sp>
        <p:nvSpPr>
          <p:cNvPr id="23" name="Text 21"/>
          <p:cNvSpPr txBox="1"/>
          <p:nvPr/>
        </p:nvSpPr>
        <p:spPr>
          <a:xfrm>
            <a:off x="11231575" y="322783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27</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4114800"/>
          <a:ext cx="10911535" cy="914400"/>
        </p:xfrm>
        <a:graphic>
          <a:graphicData uri="http://schemas.openxmlformats.org/drawingml/2006/table">
            <a:tbl>
              <a:tblPr/>
              <a:tblGrid>
                <a:gridCol w="1558791"/>
                <a:gridCol w="1558791"/>
                <a:gridCol w="1558791"/>
                <a:gridCol w="1558791"/>
                <a:gridCol w="1558791"/>
                <a:gridCol w="1558791"/>
                <a:gridCol w="1558791"/>
              </a:tblGrid>
              <a:tr h="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Process</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Arrival</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Burst</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Start</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Completion</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Waiting</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Turnaround</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r>
              <a:tr h="0">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Q1</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r>
              <a:tr h="0">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Q2</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r h="0">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Q3</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r>
              <a:tr h="0">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Q4</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27</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429"/>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Same Work, Wildly Different Averages</a:t>
            </a:r>
            <a:endParaRPr lang="en-US" sz="2800" dirty="0"/>
          </a:p>
        </p:txBody>
      </p:sp>
      <p:sp>
        <p:nvSpPr>
          <p:cNvPr id="4" name="Shape 2"/>
          <p:cNvSpPr/>
          <p:nvPr/>
        </p:nvSpPr>
        <p:spPr>
          <a:xfrm>
            <a:off x="640080" y="1371600"/>
            <a:ext cx="10911535" cy="731520"/>
          </a:xfrm>
          <a:prstGeom prst="roundRect">
            <a:avLst>
              <a:gd name="adj" fmla="val 7500"/>
            </a:avLst>
          </a:prstGeom>
          <a:solidFill>
            <a:srgbClr val="E3FBF5"/>
          </a:solidFill>
          <a:ln w="12700">
            <a:solidFill>
              <a:srgbClr val="2FE6C4"/>
            </a:solidFill>
            <a:prstDash val="solid"/>
          </a:ln>
        </p:spPr>
      </p:sp>
      <p:sp>
        <p:nvSpPr>
          <p:cNvPr id="5" name="Text 3"/>
          <p:cNvSpPr txBox="1"/>
          <p:nvPr/>
        </p:nvSpPr>
        <p:spPr>
          <a:xfrm>
            <a:off x="896112" y="1499616"/>
            <a:ext cx="10399471" cy="475488"/>
          </a:xfrm>
          <a:prstGeom prst="rect">
            <a:avLst/>
          </a:prstGeom>
          <a:noFill/>
          <a:ln/>
        </p:spPr>
        <p:txBody>
          <a:bodyPr wrap="square" lIns="0" tIns="0" rIns="0" bIns="0" rtlCol="0" anchor="t"/>
          <a:lstStyle/>
          <a:p>
            <a:pPr indent="0" marL="0">
              <a:buNone/>
            </a:pPr>
            <a:r>
              <a:rPr lang="en-US" sz="1250" dirty="0">
                <a:solidFill>
                  <a:srgbClr val="1F2429"/>
                </a:solidFill>
                <a:latin typeface="Calibri" pitchFamily="34" charset="0"/>
                <a:ea typeface="Calibri" pitchFamily="34" charset="-122"/>
                <a:cs typeface="Calibri" pitchFamily="34" charset="-120"/>
              </a:rPr>
              <a:t>Average waiting time = (0 + 0 + 1 + 4) / 4 = 5 / 4 = 1.25</a:t>
            </a:r>
            <a:endParaRPr lang="en-US" sz="1250" dirty="0"/>
          </a:p>
        </p:txBody>
      </p:sp>
      <p:sp>
        <p:nvSpPr>
          <p:cNvPr id="6" name="Text 4"/>
          <p:cNvSpPr txBox="1"/>
          <p:nvPr/>
        </p:nvSpPr>
        <p:spPr>
          <a:xfrm>
            <a:off x="640080" y="2377440"/>
            <a:ext cx="10911535" cy="1280160"/>
          </a:xfrm>
          <a:prstGeom prst="rect">
            <a:avLst/>
          </a:prstGeom>
          <a:noFill/>
          <a:ln/>
        </p:spPr>
        <p:txBody>
          <a:bodyPr wrap="square" lIns="0" tIns="0" rIns="0" bIns="0" rtlCol="0" anchor="t"/>
          <a:lstStyle/>
          <a:p>
            <a:pPr indent="0" marL="0">
              <a:buNone/>
            </a:pPr>
            <a:r>
              <a:rPr lang="en-US" sz="1650" dirty="0">
                <a:solidFill>
                  <a:srgbClr val="1F2429"/>
                </a:solidFill>
                <a:latin typeface="Calibri" pitchFamily="34" charset="0"/>
                <a:ea typeface="Calibri" pitchFamily="34" charset="-122"/>
                <a:cs typeface="Calibri" pitchFamily="34" charset="-120"/>
              </a:rPr>
              <a:t>Same four burst lengths (1, 2, 4, 20 in both scenarios), same total work, same final completion time (t=27 either way) — and yet average waiting time fell from 16 to 1.25 purely by changing which process happened to arrive first.</a:t>
            </a:r>
            <a:endParaRPr lang="en-US" sz="1650" dirty="0"/>
          </a:p>
        </p:txBody>
      </p:sp>
      <p:sp>
        <p:nvSpPr>
          <p:cNvPr id="7" name="Text 5"/>
          <p:cNvSpPr txBox="1"/>
          <p:nvPr/>
        </p:nvSpPr>
        <p:spPr>
          <a:xfrm>
            <a:off x="640080" y="3749040"/>
            <a:ext cx="10911535" cy="12801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FCFS’s performance is entirely at the mercy of arrival order, and it has no mechanism to notice that a newly-arrived process is short and let it cut ahead of a long one already running — because FCFS is non-preemptive, nothing can interrupt the long process once it starts.</a:t>
            </a:r>
            <a:endParaRPr lang="en-US" sz="1600" dirty="0"/>
          </a:p>
        </p:txBody>
      </p:sp>
      <p:sp>
        <p:nvSpPr>
          <p:cNvPr id="8" name="Shape 6"/>
          <p:cNvSpPr/>
          <p:nvPr/>
        </p:nvSpPr>
        <p:spPr>
          <a:xfrm>
            <a:off x="640080" y="5120640"/>
            <a:ext cx="10911535" cy="1371600"/>
          </a:xfrm>
          <a:prstGeom prst="roundRect">
            <a:avLst>
              <a:gd name="adj" fmla="val 4000"/>
            </a:avLst>
          </a:prstGeom>
          <a:solidFill>
            <a:srgbClr val="FBEEDD"/>
          </a:solidFill>
          <a:ln w="12700">
            <a:solidFill>
              <a:srgbClr val="E8A33D"/>
            </a:solidFill>
            <a:prstDash val="solid"/>
          </a:ln>
        </p:spPr>
      </p:sp>
      <p:sp>
        <p:nvSpPr>
          <p:cNvPr id="9" name="Text 7"/>
          <p:cNvSpPr txBox="1"/>
          <p:nvPr/>
        </p:nvSpPr>
        <p:spPr>
          <a:xfrm>
            <a:off x="896112" y="5248656"/>
            <a:ext cx="10399471" cy="1115568"/>
          </a:xfrm>
          <a:prstGeom prst="rect">
            <a:avLst/>
          </a:prstGeom>
          <a:noFill/>
          <a:ln/>
        </p:spPr>
        <p:txBody>
          <a:bodyPr wrap="square" lIns="0" tIns="0" rIns="0" bIns="0" rtlCol="0" anchor="t"/>
          <a:lstStyle/>
          <a:p>
            <a:pPr indent="0" marL="0">
              <a:spcAft>
                <a:spcPts val="400"/>
              </a:spcAft>
              <a:buNone/>
            </a:pPr>
            <a:r>
              <a:rPr lang="en-US" sz="1300" b="1" dirty="0">
                <a:solidFill>
                  <a:srgbClr val="1F2429"/>
                </a:solidFill>
                <a:latin typeface="Calibri" pitchFamily="34" charset="0"/>
                <a:ea typeface="Calibri" pitchFamily="34" charset="-122"/>
                <a:cs typeface="Calibri" pitchFamily="34" charset="-120"/>
              </a:rPr>
              <a:t>FCFS’s one genuine advantage</a:t>
            </a:r>
            <a:endParaRPr lang="en-US" sz="1300" dirty="0"/>
          </a:p>
          <a:p>
            <a:pPr indent="0" marL="0">
              <a:buNone/>
            </a:pPr>
            <a:r>
              <a:rPr lang="en-US" sz="1250" dirty="0">
                <a:solidFill>
                  <a:srgbClr val="1F2429"/>
                </a:solidFill>
                <a:latin typeface="Calibri" pitchFamily="34" charset="0"/>
                <a:ea typeface="Calibri" pitchFamily="34" charset="-122"/>
                <a:cs typeface="Calibri" pitchFamily="34" charset="-120"/>
              </a:rPr>
              <a:t>Despite the convoy effect, FCFS is never unfair in a different sense: no process can be starved forever, because the queue only ever moves forward. Every later algorithm in this unit trades away some of that simplicity to fix the convoy effect.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CPU scheduling exists to maximize CPU utilization in a multiprogrammed system — always having something ready to run the instant the CPU frees up</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Processes alternate between CPU bursts and I/O bursts; burst lengths skew toward many short bursts and few long ones, which later motivates Shortest-Job-First</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The CPU scheduler decides which process runs next; the dispatcher performs the actual context switch, at a real cost called dispatch latency</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Non-preemptive scheduling never interrupts a running process; preemptive scheduling can — at the cost of needing synchronization</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FCFS is simple and starvation-free, but entirely at the mercy of arrival order, which produces the convoy effect — the worked example’s swing from average waiting time 16 down to 1.25, using the exact same burst lengths, demonstrates it</a:t>
            </a:r>
            <a:endParaRPr lang="en-US" sz="1600" dirty="0"/>
          </a:p>
        </p:txBody>
      </p:sp>
      <p:sp>
        <p:nvSpPr>
          <p:cNvPr id="4" name="Text 2"/>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2026-10-02T04:39:29Z</dcterms:created>
  <dcterms:modified xsi:type="dcterms:W3CDTF">2026-10-02T04:39:29Z</dcterms:modified>
</cp:coreProperties>
</file>
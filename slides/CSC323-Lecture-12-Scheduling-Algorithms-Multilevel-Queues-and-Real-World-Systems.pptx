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0312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12</a:t>
            </a:r>
            <a:endParaRPr lang="en-US" sz="1600" dirty="0"/>
          </a:p>
        </p:txBody>
      </p:sp>
      <p:sp>
        <p:nvSpPr>
          <p:cNvPr id="3" name="Text 1"/>
          <p:cNvSpPr txBox="1"/>
          <p:nvPr/>
        </p:nvSpPr>
        <p:spPr>
          <a:xfrm>
            <a:off x="822960" y="2578608"/>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Scheduling Algorithms: Multilevel</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Queues and Real-World Systems</a:t>
            </a:r>
            <a:endParaRPr lang="en-US" sz="4000" dirty="0"/>
          </a:p>
        </p:txBody>
      </p:sp>
      <p:sp>
        <p:nvSpPr>
          <p:cNvPr id="4" name="Text 2"/>
          <p:cNvSpPr txBox="1"/>
          <p:nvPr/>
        </p:nvSpPr>
        <p:spPr>
          <a:xfrm>
            <a:off x="822960" y="4370832"/>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73168"/>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4" name="Text 2"/>
          <p:cNvSpPr txBox="1"/>
          <p:nvPr/>
        </p:nvSpPr>
        <p:spPr>
          <a:xfrm>
            <a:off x="640080" y="1463040"/>
            <a:ext cx="10911535" cy="4114800"/>
          </a:xfrm>
          <a:prstGeom prst="rect">
            <a:avLst/>
          </a:prstGeom>
          <a:noFill/>
          <a:ln/>
        </p:spPr>
        <p:txBody>
          <a:bodyPr wrap="square" lIns="0" tIns="0" rIns="0" bIns="0" rtlCol="0" anchor="t"/>
          <a:lstStyle/>
          <a:p>
            <a:pPr marL="342900" indent="-342900">
              <a:spcAft>
                <a:spcPts val="1800"/>
              </a:spcAft>
              <a:buSzPct val="100000"/>
              <a:buChar char="•"/>
            </a:pPr>
            <a:r>
              <a:rPr lang="en-US" sz="1700" dirty="0">
                <a:solidFill>
                  <a:srgbClr val="1F2429"/>
                </a:solidFill>
                <a:latin typeface="Calibri" pitchFamily="34" charset="0"/>
                <a:ea typeface="Calibri" pitchFamily="34" charset="-122"/>
                <a:cs typeface="Calibri" pitchFamily="34" charset="-120"/>
              </a:rPr>
              <a:t>Multilevel queue scheduling: partitioning the ready queue by process type</a:t>
            </a:r>
            <a:endParaRPr lang="en-US" sz="1700" dirty="0"/>
          </a:p>
          <a:p>
            <a:pPr marL="342900" indent="-342900">
              <a:spcAft>
                <a:spcPts val="1800"/>
              </a:spcAft>
              <a:buSzPct val="100000"/>
              <a:buChar char="•"/>
            </a:pPr>
            <a:r>
              <a:rPr lang="en-US" sz="1700" dirty="0">
                <a:solidFill>
                  <a:srgbClr val="1F2429"/>
                </a:solidFill>
                <a:latin typeface="Calibri" pitchFamily="34" charset="0"/>
                <a:ea typeface="Calibri" pitchFamily="34" charset="-122"/>
                <a:cs typeface="Calibri" pitchFamily="34" charset="-120"/>
              </a:rPr>
              <a:t>Multilevel feedback queue scheduling: letting processes move between queues based on observed behavior, and why that approximates SJF without knowing burst lengths in advance</a:t>
            </a:r>
            <a:endParaRPr lang="en-US" sz="1700" dirty="0"/>
          </a:p>
          <a:p>
            <a:pPr marL="342900" indent="-342900">
              <a:spcAft>
                <a:spcPts val="1800"/>
              </a:spcAft>
              <a:buSzPct val="100000"/>
              <a:buChar char="•"/>
            </a:pPr>
            <a:r>
              <a:rPr lang="en-US" sz="1700" dirty="0">
                <a:solidFill>
                  <a:srgbClr val="1F2429"/>
                </a:solidFill>
                <a:latin typeface="Calibri" pitchFamily="34" charset="0"/>
                <a:ea typeface="Calibri" pitchFamily="34" charset="-122"/>
                <a:cs typeface="Calibri" pitchFamily="34" charset="-120"/>
              </a:rPr>
              <a:t>How thread scheduling connects back to Lecture 9’s multithreading models via contention scope</a:t>
            </a:r>
            <a:endParaRPr lang="en-US" sz="1700" dirty="0"/>
          </a:p>
          <a:p>
            <a:pPr marL="342900" indent="-342900">
              <a:spcAft>
                <a:spcPts val="1800"/>
              </a:spcAft>
              <a:buSzPct val="100000"/>
              <a:buChar char="•"/>
            </a:pPr>
            <a:r>
              <a:rPr lang="en-US" sz="1700" dirty="0">
                <a:solidFill>
                  <a:srgbClr val="1F2429"/>
                </a:solidFill>
                <a:latin typeface="Calibri" pitchFamily="34" charset="0"/>
                <a:ea typeface="Calibri" pitchFamily="34" charset="-122"/>
                <a:cs typeface="Calibri" pitchFamily="34" charset="-120"/>
              </a:rPr>
              <a:t>Linux’s Completely Fair Scheduler (CFS) and a brief look at Windows’ scheduler</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Multilevel Queue Scheduling</a:t>
            </a:r>
            <a:endParaRPr lang="en-US" sz="2800" dirty="0"/>
          </a:p>
        </p:txBody>
      </p:sp>
      <p:sp>
        <p:nvSpPr>
          <p:cNvPr id="4" name="Text 2"/>
          <p:cNvSpPr txBox="1"/>
          <p:nvPr/>
        </p:nvSpPr>
        <p:spPr>
          <a:xfrm>
            <a:off x="640080" y="1280160"/>
            <a:ext cx="10911535" cy="1371600"/>
          </a:xfrm>
          <a:prstGeom prst="rect">
            <a:avLst/>
          </a:prstGeom>
          <a:noFill/>
          <a:ln/>
        </p:spPr>
        <p:txBody>
          <a:bodyPr wrap="square" lIns="0" tIns="0" rIns="0" bIns="0" rtlCol="0" anchor="t"/>
          <a:lstStyle/>
          <a:p>
            <a:pPr indent="0" marL="0">
              <a:buNone/>
            </a:pPr>
            <a:r>
              <a:rPr lang="en-US" sz="1700" dirty="0">
                <a:solidFill>
                  <a:srgbClr val="1F2429"/>
                </a:solidFill>
                <a:latin typeface="Calibri" pitchFamily="34" charset="0"/>
                <a:ea typeface="Calibri" pitchFamily="34" charset="-122"/>
                <a:cs typeface="Calibri" pitchFamily="34" charset="-120"/>
              </a:rPr>
              <a:t>A multilevel queue scheduler splits the single ready queue into several separate queues, grouped by process type — commonly a queue for interactive, foreground processes and a different queue for CPU-bound background (batch) processes.</a:t>
            </a:r>
            <a:endParaRPr lang="en-US" sz="1700" dirty="0"/>
          </a:p>
        </p:txBody>
      </p:sp>
      <p:sp>
        <p:nvSpPr>
          <p:cNvPr id="5" name="Text 3"/>
          <p:cNvSpPr txBox="1"/>
          <p:nvPr/>
        </p:nvSpPr>
        <p:spPr>
          <a:xfrm>
            <a:off x="640080" y="2743200"/>
            <a:ext cx="10911535" cy="182880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Each queue can run its own scheduling algorithm internally (foreground might use Round Robin for responsiveness; background might use FCFS, since nobody is watching it in real time), and a separate policy decides how the CPU is shared between the queues — usually fixed priority (always service foreground first) or time slicing (e.g. 80% of CPU to foreground, 20% to background).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 Multilevel Queue: Foreground vs. Background</a:t>
            </a:r>
            <a:endParaRPr lang="en-US" sz="2800" dirty="0"/>
          </a:p>
        </p:txBody>
      </p:sp>
      <p:sp>
        <p:nvSpPr>
          <p:cNvPr id="4" name="Shape 2"/>
          <p:cNvSpPr/>
          <p:nvPr/>
        </p:nvSpPr>
        <p:spPr>
          <a:xfrm>
            <a:off x="640080" y="1554480"/>
            <a:ext cx="5318608" cy="2377440"/>
          </a:xfrm>
          <a:prstGeom prst="roundRect">
            <a:avLst>
              <a:gd name="adj" fmla="val 2308"/>
            </a:avLst>
          </a:prstGeom>
          <a:solidFill>
            <a:srgbClr val="2FE6C4"/>
          </a:solidFill>
          <a:ln/>
        </p:spPr>
      </p:sp>
      <p:sp>
        <p:nvSpPr>
          <p:cNvPr id="5" name="Text 3"/>
          <p:cNvSpPr txBox="1"/>
          <p:nvPr/>
        </p:nvSpPr>
        <p:spPr>
          <a:xfrm>
            <a:off x="868680" y="175564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Foreground Queue</a:t>
            </a:r>
            <a:endParaRPr lang="en-US" sz="1600" dirty="0"/>
          </a:p>
        </p:txBody>
      </p:sp>
      <p:sp>
        <p:nvSpPr>
          <p:cNvPr id="6" name="Text 4"/>
          <p:cNvSpPr txBox="1"/>
          <p:nvPr/>
        </p:nvSpPr>
        <p:spPr>
          <a:xfrm>
            <a:off x="868680" y="2331720"/>
            <a:ext cx="4861408" cy="1417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Interactive processes, scheduled with Round Robin. Serviced first — or given the larger time slice.</a:t>
            </a:r>
            <a:endParaRPr lang="en-US" sz="1200" dirty="0"/>
          </a:p>
        </p:txBody>
      </p:sp>
      <p:sp>
        <p:nvSpPr>
          <p:cNvPr id="7" name="Shape 5"/>
          <p:cNvSpPr/>
          <p:nvPr/>
        </p:nvSpPr>
        <p:spPr>
          <a:xfrm>
            <a:off x="6233008" y="1554480"/>
            <a:ext cx="5318608" cy="2377440"/>
          </a:xfrm>
          <a:prstGeom prst="roundRect">
            <a:avLst>
              <a:gd name="adj" fmla="val 2308"/>
            </a:avLst>
          </a:prstGeom>
          <a:solidFill>
            <a:srgbClr val="8B7FD9"/>
          </a:solidFill>
          <a:ln/>
        </p:spPr>
      </p:sp>
      <p:sp>
        <p:nvSpPr>
          <p:cNvPr id="8" name="Text 6"/>
          <p:cNvSpPr txBox="1"/>
          <p:nvPr/>
        </p:nvSpPr>
        <p:spPr>
          <a:xfrm>
            <a:off x="6461608" y="175564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Background Queue</a:t>
            </a:r>
            <a:endParaRPr lang="en-US" sz="1600" dirty="0"/>
          </a:p>
        </p:txBody>
      </p:sp>
      <p:sp>
        <p:nvSpPr>
          <p:cNvPr id="9" name="Text 7"/>
          <p:cNvSpPr txBox="1"/>
          <p:nvPr/>
        </p:nvSpPr>
        <p:spPr>
          <a:xfrm>
            <a:off x="6461608" y="2331720"/>
            <a:ext cx="4861408" cy="1417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CPU-bound batch processes, scheduled with FCFS. Runs only when foreground is empty — or given the smaller time slice.</a:t>
            </a:r>
            <a:endParaRPr lang="en-US" sz="1200" dirty="0"/>
          </a:p>
        </p:txBody>
      </p:sp>
      <p:sp>
        <p:nvSpPr>
          <p:cNvPr id="10" name="Shape 8"/>
          <p:cNvSpPr/>
          <p:nvPr/>
        </p:nvSpPr>
        <p:spPr>
          <a:xfrm>
            <a:off x="640080" y="4297680"/>
            <a:ext cx="10911535" cy="1645920"/>
          </a:xfrm>
          <a:prstGeom prst="roundRect">
            <a:avLst>
              <a:gd name="adj" fmla="val 3333"/>
            </a:avLst>
          </a:prstGeom>
          <a:solidFill>
            <a:srgbClr val="FBEEDD"/>
          </a:solidFill>
          <a:ln w="12700">
            <a:solidFill>
              <a:srgbClr val="E8A33D"/>
            </a:solidFill>
            <a:prstDash val="solid"/>
          </a:ln>
        </p:spPr>
      </p:sp>
      <p:sp>
        <p:nvSpPr>
          <p:cNvPr id="11" name="Text 9"/>
          <p:cNvSpPr txBox="1"/>
          <p:nvPr/>
        </p:nvSpPr>
        <p:spPr>
          <a:xfrm>
            <a:off x="896112" y="4425696"/>
            <a:ext cx="10399471" cy="138988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A structural weakness</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Multilevel queue scheduling is simple and lets each class of process be scheduled appropriately, but a process assigned to a queue stays in that queue for its entire lifetime — a process classified as "background" at creation time is stuck there even if its actual behavior turns out to look nothing like a batch job.</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Multilevel Feedback Queue (MLFQ)</a:t>
            </a:r>
            <a:endParaRPr lang="en-US" sz="2800" dirty="0"/>
          </a:p>
        </p:txBody>
      </p:sp>
      <p:sp>
        <p:nvSpPr>
          <p:cNvPr id="4" name="Text 2"/>
          <p:cNvSpPr txBox="1"/>
          <p:nvPr/>
        </p:nvSpPr>
        <p:spPr>
          <a:xfrm>
            <a:off x="640080" y="1280160"/>
            <a:ext cx="10911535" cy="1005840"/>
          </a:xfrm>
          <a:prstGeom prst="rect">
            <a:avLst/>
          </a:prstGeom>
          <a:noFill/>
          <a:ln/>
        </p:spPr>
        <p:txBody>
          <a:bodyPr wrap="square" lIns="0" tIns="0" rIns="0" bIns="0" rtlCol="0" anchor="t"/>
          <a:lstStyle/>
          <a:p>
            <a:pPr indent="0" marL="0">
              <a:buNone/>
            </a:pPr>
            <a:r>
              <a:rPr lang="en-US" sz="1700" dirty="0">
                <a:solidFill>
                  <a:srgbClr val="1F2429"/>
                </a:solidFill>
                <a:latin typeface="Calibri" pitchFamily="34" charset="0"/>
                <a:ea typeface="Calibri" pitchFamily="34" charset="-122"/>
                <a:cs typeface="Calibri" pitchFamily="34" charset="-120"/>
              </a:rPr>
              <a:t>A multilevel feedback queue fixes that weakness by letting processes move between queues based on how they actually behave, observed at run time rather than assumed at creation time.</a:t>
            </a:r>
            <a:endParaRPr lang="en-US" sz="1700" dirty="0"/>
          </a:p>
        </p:txBody>
      </p:sp>
      <p:sp>
        <p:nvSpPr>
          <p:cNvPr id="5" name="Text 3"/>
          <p:cNvSpPr txBox="1"/>
          <p:nvPr/>
        </p:nvSpPr>
        <p:spPr>
          <a:xfrm>
            <a:off x="640080" y="2468880"/>
            <a:ext cx="10911535" cy="2651760"/>
          </a:xfrm>
          <a:prstGeom prst="rect">
            <a:avLst/>
          </a:prstGeom>
          <a:noFill/>
          <a:ln/>
        </p:spPr>
        <p:txBody>
          <a:bodyPr wrap="square" lIns="0" tIns="0" rIns="0" bIns="0" rtlCol="0" anchor="t"/>
          <a:lstStyle/>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Uses its entire time quantum without blocking — </a:t>
            </a:r>
            <a:pPr indent="0" marL="0">
              <a:spcAft>
                <a:spcPts val="1600"/>
              </a:spcAft>
              <a:buNone/>
            </a:pPr>
            <a:r>
              <a:rPr lang="en-US" sz="1550" dirty="0">
                <a:solidFill>
                  <a:srgbClr val="1F2429"/>
                </a:solidFill>
                <a:latin typeface="Calibri" pitchFamily="34" charset="0"/>
                <a:ea typeface="Calibri" pitchFamily="34" charset="-122"/>
                <a:cs typeface="Calibri" pitchFamily="34" charset="-120"/>
              </a:rPr>
              <a:t>behaving like a CPU-bound process. It gets demoted to the next, lower-priority queue, which has a longer quantum (fewer context switches needed).</a:t>
            </a:r>
            <a:endParaRPr lang="en-US" sz="1550" dirty="0"/>
          </a:p>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Blocks on I/O before its quantum expires — </a:t>
            </a:r>
            <a:pPr indent="0" marL="0">
              <a:spcAft>
                <a:spcPts val="1600"/>
              </a:spcAft>
              <a:buNone/>
            </a:pPr>
            <a:r>
              <a:rPr lang="en-US" sz="1550" dirty="0">
                <a:solidFill>
                  <a:srgbClr val="1F2429"/>
                </a:solidFill>
                <a:latin typeface="Calibri" pitchFamily="34" charset="0"/>
                <a:ea typeface="Calibri" pitchFamily="34" charset="-122"/>
                <a:cs typeface="Calibri" pitchFamily="34" charset="-120"/>
              </a:rPr>
              <a:t>behaving like an I/O-bound, interactive process. It stays in its current queue (or moves back up), so next time it’s ready, it’s serviced quickly.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Three Levels: Demotion on a Full Quantum</a:t>
            </a:r>
            <a:endParaRPr lang="en-US" sz="2800" dirty="0"/>
          </a:p>
        </p:txBody>
      </p:sp>
      <p:sp>
        <p:nvSpPr>
          <p:cNvPr id="4" name="Shape 2"/>
          <p:cNvSpPr/>
          <p:nvPr/>
        </p:nvSpPr>
        <p:spPr>
          <a:xfrm>
            <a:off x="3108960" y="1371600"/>
            <a:ext cx="5943600" cy="914400"/>
          </a:xfrm>
          <a:prstGeom prst="roundRect">
            <a:avLst>
              <a:gd name="adj" fmla="val 8000"/>
            </a:avLst>
          </a:prstGeom>
          <a:solidFill>
            <a:srgbClr val="2FE6C4"/>
          </a:solidFill>
          <a:ln/>
        </p:spPr>
      </p:sp>
      <p:sp>
        <p:nvSpPr>
          <p:cNvPr id="5" name="Text 3"/>
          <p:cNvSpPr txBox="1"/>
          <p:nvPr/>
        </p:nvSpPr>
        <p:spPr>
          <a:xfrm>
            <a:off x="3291840" y="1463040"/>
            <a:ext cx="5577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Q0 — highest priority</a:t>
            </a:r>
            <a:endParaRPr lang="en-US" sz="1500" dirty="0"/>
          </a:p>
        </p:txBody>
      </p:sp>
      <p:sp>
        <p:nvSpPr>
          <p:cNvPr id="6" name="Text 4"/>
          <p:cNvSpPr txBox="1"/>
          <p:nvPr/>
        </p:nvSpPr>
        <p:spPr>
          <a:xfrm>
            <a:off x="3291840" y="1828800"/>
            <a:ext cx="5577840" cy="3657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Round Robin, quantum = 4</a:t>
            </a:r>
            <a:endParaRPr lang="en-US" sz="1150" dirty="0"/>
          </a:p>
        </p:txBody>
      </p:sp>
      <p:sp>
        <p:nvSpPr>
          <p:cNvPr id="7" name="Shape 5"/>
          <p:cNvSpPr/>
          <p:nvPr/>
        </p:nvSpPr>
        <p:spPr>
          <a:xfrm>
            <a:off x="6080760" y="2286000"/>
            <a:ext cx="0" cy="502920"/>
          </a:xfrm>
          <a:prstGeom prst="line">
            <a:avLst/>
          </a:prstGeom>
          <a:noFill/>
          <a:ln w="25400">
            <a:solidFill>
              <a:srgbClr val="8A939B"/>
            </a:solidFill>
            <a:prstDash val="solid"/>
            <a:tailEnd type="triangle"/>
          </a:ln>
        </p:spPr>
      </p:sp>
      <p:sp>
        <p:nvSpPr>
          <p:cNvPr id="8" name="Text 6"/>
          <p:cNvSpPr txBox="1"/>
          <p:nvPr/>
        </p:nvSpPr>
        <p:spPr>
          <a:xfrm>
            <a:off x="6217920" y="2372868"/>
            <a:ext cx="3474720" cy="329184"/>
          </a:xfrm>
          <a:prstGeom prst="rect">
            <a:avLst/>
          </a:prstGeom>
          <a:noFill/>
          <a:ln/>
        </p:spPr>
        <p:txBody>
          <a:bodyPr wrap="square" lIns="0" tIns="0" rIns="0" bIns="0" rtlCol="0" anchor="ctr"/>
          <a:lstStyle/>
          <a:p>
            <a:pPr indent="0" marL="0">
              <a:buNone/>
            </a:pPr>
            <a:r>
              <a:rPr lang="en-US" sz="1050" i="1" dirty="0">
                <a:solidFill>
                  <a:srgbClr val="8A939B"/>
                </a:solidFill>
                <a:latin typeface="Calibri" pitchFamily="34" charset="0"/>
                <a:ea typeface="Calibri" pitchFamily="34" charset="-122"/>
                <a:cs typeface="Calibri" pitchFamily="34" charset="-120"/>
              </a:rPr>
              <a:t>quantum fully used → demote</a:t>
            </a:r>
            <a:endParaRPr lang="en-US" sz="1050" dirty="0"/>
          </a:p>
        </p:txBody>
      </p:sp>
      <p:sp>
        <p:nvSpPr>
          <p:cNvPr id="9" name="Shape 7"/>
          <p:cNvSpPr/>
          <p:nvPr/>
        </p:nvSpPr>
        <p:spPr>
          <a:xfrm>
            <a:off x="3108960" y="2788920"/>
            <a:ext cx="5943600" cy="914400"/>
          </a:xfrm>
          <a:prstGeom prst="roundRect">
            <a:avLst>
              <a:gd name="adj" fmla="val 8000"/>
            </a:avLst>
          </a:prstGeom>
          <a:solidFill>
            <a:srgbClr val="8B7FD9"/>
          </a:solidFill>
          <a:ln/>
        </p:spPr>
      </p:sp>
      <p:sp>
        <p:nvSpPr>
          <p:cNvPr id="10" name="Text 8"/>
          <p:cNvSpPr txBox="1"/>
          <p:nvPr/>
        </p:nvSpPr>
        <p:spPr>
          <a:xfrm>
            <a:off x="3291840" y="2880360"/>
            <a:ext cx="5577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Q1 — medium priority</a:t>
            </a:r>
            <a:endParaRPr lang="en-US" sz="1500" dirty="0"/>
          </a:p>
        </p:txBody>
      </p:sp>
      <p:sp>
        <p:nvSpPr>
          <p:cNvPr id="11" name="Text 9"/>
          <p:cNvSpPr txBox="1"/>
          <p:nvPr/>
        </p:nvSpPr>
        <p:spPr>
          <a:xfrm>
            <a:off x="3291840" y="3246120"/>
            <a:ext cx="5577840" cy="3657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Round Robin, quantum = 8</a:t>
            </a:r>
            <a:endParaRPr lang="en-US" sz="1150" dirty="0"/>
          </a:p>
        </p:txBody>
      </p:sp>
      <p:sp>
        <p:nvSpPr>
          <p:cNvPr id="12" name="Shape 10"/>
          <p:cNvSpPr/>
          <p:nvPr/>
        </p:nvSpPr>
        <p:spPr>
          <a:xfrm>
            <a:off x="6080760" y="3703320"/>
            <a:ext cx="0" cy="502920"/>
          </a:xfrm>
          <a:prstGeom prst="line">
            <a:avLst/>
          </a:prstGeom>
          <a:noFill/>
          <a:ln w="25400">
            <a:solidFill>
              <a:srgbClr val="8A939B"/>
            </a:solidFill>
            <a:prstDash val="solid"/>
            <a:tailEnd type="triangle"/>
          </a:ln>
        </p:spPr>
      </p:sp>
      <p:sp>
        <p:nvSpPr>
          <p:cNvPr id="13" name="Text 11"/>
          <p:cNvSpPr txBox="1"/>
          <p:nvPr/>
        </p:nvSpPr>
        <p:spPr>
          <a:xfrm>
            <a:off x="6217920" y="3790188"/>
            <a:ext cx="3474720" cy="329184"/>
          </a:xfrm>
          <a:prstGeom prst="rect">
            <a:avLst/>
          </a:prstGeom>
          <a:noFill/>
          <a:ln/>
        </p:spPr>
        <p:txBody>
          <a:bodyPr wrap="square" lIns="0" tIns="0" rIns="0" bIns="0" rtlCol="0" anchor="ctr"/>
          <a:lstStyle/>
          <a:p>
            <a:pPr indent="0" marL="0">
              <a:buNone/>
            </a:pPr>
            <a:r>
              <a:rPr lang="en-US" sz="1050" i="1" dirty="0">
                <a:solidFill>
                  <a:srgbClr val="8A939B"/>
                </a:solidFill>
                <a:latin typeface="Calibri" pitchFamily="34" charset="0"/>
                <a:ea typeface="Calibri" pitchFamily="34" charset="-122"/>
                <a:cs typeface="Calibri" pitchFamily="34" charset="-120"/>
              </a:rPr>
              <a:t>quantum fully used → demote</a:t>
            </a:r>
            <a:endParaRPr lang="en-US" sz="1050" dirty="0"/>
          </a:p>
        </p:txBody>
      </p:sp>
      <p:sp>
        <p:nvSpPr>
          <p:cNvPr id="14" name="Shape 12"/>
          <p:cNvSpPr/>
          <p:nvPr/>
        </p:nvSpPr>
        <p:spPr>
          <a:xfrm>
            <a:off x="3108960" y="4206240"/>
            <a:ext cx="5943600" cy="914400"/>
          </a:xfrm>
          <a:prstGeom prst="roundRect">
            <a:avLst>
              <a:gd name="adj" fmla="val 8000"/>
            </a:avLst>
          </a:prstGeom>
          <a:solidFill>
            <a:srgbClr val="E8A33D"/>
          </a:solidFill>
          <a:ln/>
        </p:spPr>
      </p:sp>
      <p:sp>
        <p:nvSpPr>
          <p:cNvPr id="15" name="Text 13"/>
          <p:cNvSpPr txBox="1"/>
          <p:nvPr/>
        </p:nvSpPr>
        <p:spPr>
          <a:xfrm>
            <a:off x="3291840" y="4297680"/>
            <a:ext cx="5577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Q2 — lowest priority</a:t>
            </a:r>
            <a:endParaRPr lang="en-US" sz="1500" dirty="0"/>
          </a:p>
        </p:txBody>
      </p:sp>
      <p:sp>
        <p:nvSpPr>
          <p:cNvPr id="16" name="Text 14"/>
          <p:cNvSpPr txBox="1"/>
          <p:nvPr/>
        </p:nvSpPr>
        <p:spPr>
          <a:xfrm>
            <a:off x="3291840" y="4663440"/>
            <a:ext cx="5577840" cy="3657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FCFS, runs to completion or I/O block</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Worked Example: One Process Sinking Through the Queues</a:t>
            </a:r>
            <a:endParaRPr lang="en-US" sz="2800" dirty="0"/>
          </a:p>
        </p:txBody>
      </p:sp>
      <p:sp>
        <p:nvSpPr>
          <p:cNvPr id="4" name="Text 2"/>
          <p:cNvSpPr txBox="1"/>
          <p:nvPr/>
        </p:nvSpPr>
        <p:spPr>
          <a:xfrm>
            <a:off x="640080" y="1280160"/>
            <a:ext cx="10911535" cy="1005840"/>
          </a:xfrm>
          <a:prstGeom prst="rect">
            <a:avLst/>
          </a:prstGeom>
          <a:noFill/>
          <a:ln/>
        </p:spPr>
        <p:txBody>
          <a:bodyPr wrap="square" lIns="0" tIns="0" rIns="0" bIns="0" rtlCol="0" anchor="t"/>
          <a:lstStyle/>
          <a:p>
            <a:pPr indent="0" marL="0">
              <a:buNone/>
            </a:pPr>
            <a:r>
              <a:rPr lang="en-US" sz="1650" dirty="0">
                <a:solidFill>
                  <a:srgbClr val="1F2429"/>
                </a:solidFill>
                <a:latin typeface="Calibri" pitchFamily="34" charset="0"/>
                <a:ea typeface="Calibri" pitchFamily="34" charset="-122"/>
                <a:cs typeface="Calibri" pitchFamily="34" charset="-120"/>
              </a:rPr>
              <a:t>A three-level MLFQ (Q0 quantum 4, Q1 quantum 8, Q2 FCFS) receives one CPU-bound process P, burst 20, every queue otherwise empty. P enters at the top, Q0.</a:t>
            </a:r>
            <a:endParaRPr lang="en-US" sz="1650" dirty="0"/>
          </a:p>
        </p:txBody>
      </p:sp>
      <p:sp>
        <p:nvSpPr>
          <p:cNvPr id="5" name="Text 3"/>
          <p:cNvSpPr txBox="1"/>
          <p:nvPr/>
        </p:nvSpPr>
        <p:spPr>
          <a:xfrm>
            <a:off x="640080" y="2468880"/>
            <a:ext cx="10911535" cy="3017520"/>
          </a:xfrm>
          <a:prstGeom prst="rect">
            <a:avLst/>
          </a:prstGeom>
          <a:noFill/>
          <a:ln/>
        </p:spPr>
        <p:txBody>
          <a:bodyPr wrap="square" lIns="0" tIns="0" rIns="0" bIns="0" rtlCol="0" anchor="t"/>
          <a:lstStyle/>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In Q0, </a:t>
            </a:r>
            <a:pPr indent="0" marL="0">
              <a:spcAft>
                <a:spcPts val="1400"/>
              </a:spcAft>
              <a:buNone/>
            </a:pPr>
            <a:r>
              <a:rPr lang="en-US" sz="1550" dirty="0">
                <a:solidFill>
                  <a:srgbClr val="1F2429"/>
                </a:solidFill>
                <a:latin typeface="Calibri" pitchFamily="34" charset="0"/>
                <a:ea typeface="Calibri" pitchFamily="34" charset="-122"/>
                <a:cs typeface="Calibri" pitchFamily="34" charset="-120"/>
              </a:rPr>
              <a:t>P runs its full quantum, 4 units (t=0→4), without blocking — remaining 20−4=16. Quantum fully used → demoted to Q1.</a:t>
            </a:r>
            <a:endParaRPr lang="en-US" sz="1550" dirty="0"/>
          </a:p>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In Q1, </a:t>
            </a:r>
            <a:pPr indent="0" marL="0">
              <a:spcAft>
                <a:spcPts val="1400"/>
              </a:spcAft>
              <a:buNone/>
            </a:pPr>
            <a:r>
              <a:rPr lang="en-US" sz="1550" dirty="0">
                <a:solidFill>
                  <a:srgbClr val="1F2429"/>
                </a:solidFill>
                <a:latin typeface="Calibri" pitchFamily="34" charset="0"/>
                <a:ea typeface="Calibri" pitchFamily="34" charset="-122"/>
                <a:cs typeface="Calibri" pitchFamily="34" charset="-120"/>
              </a:rPr>
              <a:t>P runs its full quantum, 8 units (t=4→12) — remaining 16−8=8. Quantum fully used again → demoted to Q2.</a:t>
            </a:r>
            <a:endParaRPr lang="en-US" sz="1550" dirty="0"/>
          </a:p>
          <a:p>
            <a:pPr marL="342900" indent="-342900">
              <a:buSzPct val="100000"/>
              <a:buChar char="•"/>
            </a:pPr>
            <a:r>
              <a:rPr lang="en-US" sz="1550" b="1" dirty="0">
                <a:solidFill>
                  <a:srgbClr val="1F2429"/>
                </a:solidFill>
                <a:latin typeface="Calibri" pitchFamily="34" charset="0"/>
                <a:ea typeface="Calibri" pitchFamily="34" charset="-122"/>
                <a:cs typeface="Calibri" pitchFamily="34" charset="-120"/>
              </a:rPr>
              <a:t>In Q2 </a:t>
            </a:r>
            <a:pPr indent="0" marL="0">
              <a:spcAft>
                <a:spcPts val="1400"/>
              </a:spcAft>
              <a:buNone/>
            </a:pPr>
            <a:r>
              <a:rPr lang="en-US" sz="1550" dirty="0">
                <a:solidFill>
                  <a:srgbClr val="1F2429"/>
                </a:solidFill>
                <a:latin typeface="Calibri" pitchFamily="34" charset="0"/>
                <a:ea typeface="Calibri" pitchFamily="34" charset="-122"/>
                <a:cs typeface="Calibri" pitchFamily="34" charset="-120"/>
              </a:rPr>
              <a:t>(FCFS — no quantum to expire), P simply runs to completion: its remaining 8 units, t=12→20.</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Gantt Chart: One CPU-Bound Process, Sinking from Q0 to Q2</a:t>
            </a:r>
            <a:endParaRPr lang="en-US" sz="2800" dirty="0"/>
          </a:p>
        </p:txBody>
      </p:sp>
      <p:sp>
        <p:nvSpPr>
          <p:cNvPr id="4" name="Text 2"/>
          <p:cNvSpPr txBox="1"/>
          <p:nvPr/>
        </p:nvSpPr>
        <p:spPr>
          <a:xfrm>
            <a:off x="640080" y="2057400"/>
            <a:ext cx="10911535" cy="365760"/>
          </a:xfrm>
          <a:prstGeom prst="rect">
            <a:avLst/>
          </a:prstGeom>
          <a:noFill/>
          <a:ln/>
        </p:spPr>
        <p:txBody>
          <a:bodyPr wrap="square" lIns="0" tIns="0" rIns="0" bIns="0" rtlCol="0" anchor="ctr"/>
          <a:lstStyle/>
          <a:p>
            <a:pPr indent="0" marL="0">
              <a:buNone/>
            </a:pPr>
            <a:r>
              <a:rPr lang="en-US" sz="1300" i="1" dirty="0">
                <a:solidFill>
                  <a:srgbClr val="8A939B"/>
                </a:solidFill>
                <a:latin typeface="Calibri" pitchFamily="34" charset="0"/>
                <a:ea typeface="Calibri" pitchFamily="34" charset="-122"/>
                <a:cs typeface="Calibri" pitchFamily="34" charset="-120"/>
              </a:rPr>
              <a:t>P’s single 20-unit burst, demoted at each full quantum</a:t>
            </a:r>
            <a:endParaRPr lang="en-US" sz="1300" dirty="0"/>
          </a:p>
        </p:txBody>
      </p:sp>
      <p:sp>
        <p:nvSpPr>
          <p:cNvPr id="5" name="Shape 3"/>
          <p:cNvSpPr/>
          <p:nvPr/>
        </p:nvSpPr>
        <p:spPr>
          <a:xfrm>
            <a:off x="640080" y="2560320"/>
            <a:ext cx="2182307" cy="777240"/>
          </a:xfrm>
          <a:prstGeom prst="rect">
            <a:avLst/>
          </a:prstGeom>
          <a:solidFill>
            <a:srgbClr val="2FE6C4"/>
          </a:solidFill>
          <a:ln w="19050">
            <a:solidFill>
              <a:srgbClr val="FFFFFF"/>
            </a:solidFill>
            <a:prstDash val="solid"/>
          </a:ln>
        </p:spPr>
      </p:sp>
      <p:sp>
        <p:nvSpPr>
          <p:cNvPr id="6" name="Text 4"/>
          <p:cNvSpPr txBox="1"/>
          <p:nvPr/>
        </p:nvSpPr>
        <p:spPr>
          <a:xfrm>
            <a:off x="640080" y="2560320"/>
            <a:ext cx="2182307"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 (Q0)</a:t>
            </a:r>
            <a:endParaRPr lang="en-US" sz="1300" dirty="0"/>
          </a:p>
        </p:txBody>
      </p:sp>
      <p:sp>
        <p:nvSpPr>
          <p:cNvPr id="7" name="Shape 5"/>
          <p:cNvSpPr/>
          <p:nvPr/>
        </p:nvSpPr>
        <p:spPr>
          <a:xfrm>
            <a:off x="2822387" y="2560320"/>
            <a:ext cx="4364614" cy="777240"/>
          </a:xfrm>
          <a:prstGeom prst="rect">
            <a:avLst/>
          </a:prstGeom>
          <a:solidFill>
            <a:srgbClr val="8B7FD9"/>
          </a:solidFill>
          <a:ln w="19050">
            <a:solidFill>
              <a:srgbClr val="FFFFFF"/>
            </a:solidFill>
            <a:prstDash val="solid"/>
          </a:ln>
        </p:spPr>
      </p:sp>
      <p:sp>
        <p:nvSpPr>
          <p:cNvPr id="8" name="Text 6"/>
          <p:cNvSpPr txBox="1"/>
          <p:nvPr/>
        </p:nvSpPr>
        <p:spPr>
          <a:xfrm>
            <a:off x="2822387" y="2560320"/>
            <a:ext cx="4364614"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 (Q1)</a:t>
            </a:r>
            <a:endParaRPr lang="en-US" sz="1300" dirty="0"/>
          </a:p>
        </p:txBody>
      </p:sp>
      <p:sp>
        <p:nvSpPr>
          <p:cNvPr id="9" name="Shape 7"/>
          <p:cNvSpPr/>
          <p:nvPr/>
        </p:nvSpPr>
        <p:spPr>
          <a:xfrm>
            <a:off x="7187001" y="2560320"/>
            <a:ext cx="4364614" cy="777240"/>
          </a:xfrm>
          <a:prstGeom prst="rect">
            <a:avLst/>
          </a:prstGeom>
          <a:solidFill>
            <a:srgbClr val="E8A33D"/>
          </a:solidFill>
          <a:ln w="19050">
            <a:solidFill>
              <a:srgbClr val="FFFFFF"/>
            </a:solidFill>
            <a:prstDash val="solid"/>
          </a:ln>
        </p:spPr>
      </p:sp>
      <p:sp>
        <p:nvSpPr>
          <p:cNvPr id="10" name="Text 8"/>
          <p:cNvSpPr txBox="1"/>
          <p:nvPr/>
        </p:nvSpPr>
        <p:spPr>
          <a:xfrm>
            <a:off x="7187001" y="2560320"/>
            <a:ext cx="4364614"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 (Q2)</a:t>
            </a:r>
            <a:endParaRPr lang="en-US" sz="1300" dirty="0"/>
          </a:p>
        </p:txBody>
      </p:sp>
      <p:sp>
        <p:nvSpPr>
          <p:cNvPr id="11" name="Shape 9"/>
          <p:cNvSpPr/>
          <p:nvPr/>
        </p:nvSpPr>
        <p:spPr>
          <a:xfrm>
            <a:off x="640080" y="3337560"/>
            <a:ext cx="0" cy="91440"/>
          </a:xfrm>
          <a:prstGeom prst="line">
            <a:avLst/>
          </a:prstGeom>
          <a:noFill/>
          <a:ln w="12700">
            <a:solidFill>
              <a:srgbClr val="8A939B"/>
            </a:solidFill>
            <a:prstDash val="solid"/>
          </a:ln>
        </p:spPr>
      </p:sp>
      <p:sp>
        <p:nvSpPr>
          <p:cNvPr id="12" name="Text 10"/>
          <p:cNvSpPr txBox="1"/>
          <p:nvPr/>
        </p:nvSpPr>
        <p:spPr>
          <a:xfrm>
            <a:off x="320040" y="341071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0</a:t>
            </a:r>
            <a:endParaRPr lang="en-US" sz="1100" dirty="0"/>
          </a:p>
        </p:txBody>
      </p:sp>
      <p:sp>
        <p:nvSpPr>
          <p:cNvPr id="13" name="Shape 11"/>
          <p:cNvSpPr/>
          <p:nvPr/>
        </p:nvSpPr>
        <p:spPr>
          <a:xfrm>
            <a:off x="2822387" y="3337560"/>
            <a:ext cx="0" cy="91440"/>
          </a:xfrm>
          <a:prstGeom prst="line">
            <a:avLst/>
          </a:prstGeom>
          <a:noFill/>
          <a:ln w="12700">
            <a:solidFill>
              <a:srgbClr val="8A939B"/>
            </a:solidFill>
            <a:prstDash val="solid"/>
          </a:ln>
        </p:spPr>
      </p:sp>
      <p:sp>
        <p:nvSpPr>
          <p:cNvPr id="14" name="Text 12"/>
          <p:cNvSpPr txBox="1"/>
          <p:nvPr/>
        </p:nvSpPr>
        <p:spPr>
          <a:xfrm>
            <a:off x="2502347" y="341071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4</a:t>
            </a:r>
            <a:endParaRPr lang="en-US" sz="1100" dirty="0"/>
          </a:p>
        </p:txBody>
      </p:sp>
      <p:sp>
        <p:nvSpPr>
          <p:cNvPr id="15" name="Shape 13"/>
          <p:cNvSpPr/>
          <p:nvPr/>
        </p:nvSpPr>
        <p:spPr>
          <a:xfrm>
            <a:off x="7187001" y="3337560"/>
            <a:ext cx="0" cy="91440"/>
          </a:xfrm>
          <a:prstGeom prst="line">
            <a:avLst/>
          </a:prstGeom>
          <a:noFill/>
          <a:ln w="12700">
            <a:solidFill>
              <a:srgbClr val="8A939B"/>
            </a:solidFill>
            <a:prstDash val="solid"/>
          </a:ln>
        </p:spPr>
      </p:sp>
      <p:sp>
        <p:nvSpPr>
          <p:cNvPr id="16" name="Text 14"/>
          <p:cNvSpPr txBox="1"/>
          <p:nvPr/>
        </p:nvSpPr>
        <p:spPr>
          <a:xfrm>
            <a:off x="6866961" y="341071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12</a:t>
            </a:r>
            <a:endParaRPr lang="en-US" sz="1100" dirty="0"/>
          </a:p>
        </p:txBody>
      </p:sp>
      <p:sp>
        <p:nvSpPr>
          <p:cNvPr id="17" name="Shape 15"/>
          <p:cNvSpPr/>
          <p:nvPr/>
        </p:nvSpPr>
        <p:spPr>
          <a:xfrm>
            <a:off x="11551615" y="3337560"/>
            <a:ext cx="0" cy="91440"/>
          </a:xfrm>
          <a:prstGeom prst="line">
            <a:avLst/>
          </a:prstGeom>
          <a:noFill/>
          <a:ln w="12700">
            <a:solidFill>
              <a:srgbClr val="8A939B"/>
            </a:solidFill>
            <a:prstDash val="solid"/>
          </a:ln>
        </p:spPr>
      </p:sp>
      <p:sp>
        <p:nvSpPr>
          <p:cNvPr id="18" name="Text 16"/>
          <p:cNvSpPr txBox="1"/>
          <p:nvPr/>
        </p:nvSpPr>
        <p:spPr>
          <a:xfrm>
            <a:off x="11231575" y="3410712"/>
            <a:ext cx="640080" cy="274320"/>
          </a:xfrm>
          <a:prstGeom prst="rect">
            <a:avLst/>
          </a:prstGeom>
          <a:noFill/>
          <a:ln/>
        </p:spPr>
        <p:txBody>
          <a:bodyPr wrap="square" lIns="0" tIns="0" rIns="0" bIns="0" rtlCol="0" anchor="t"/>
          <a:lstStyle/>
          <a:p>
            <a:pPr algn="ctr" indent="0" marL="0">
              <a:buNone/>
            </a:pPr>
            <a:r>
              <a:rPr lang="en-US" sz="1100" dirty="0">
                <a:solidFill>
                  <a:srgbClr val="1F2429"/>
                </a:solidFill>
                <a:latin typeface="Calibri" pitchFamily="34" charset="0"/>
                <a:ea typeface="Calibri" pitchFamily="34" charset="-122"/>
                <a:cs typeface="Calibri" pitchFamily="34" charset="-120"/>
              </a:rPr>
              <a:t>20</a:t>
            </a:r>
            <a:endParaRPr lang="en-US" sz="1100" dirty="0"/>
          </a:p>
        </p:txBody>
      </p:sp>
      <p:sp>
        <p:nvSpPr>
          <p:cNvPr id="19" name="Text 17"/>
          <p:cNvSpPr txBox="1"/>
          <p:nvPr/>
        </p:nvSpPr>
        <p:spPr>
          <a:xfrm>
            <a:off x="640080" y="4206240"/>
            <a:ext cx="10911535" cy="128016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Had P instead been a short, interactive process with a burst of only 3, it would have finished entirely within its very first Q0 turn — never demoted at all, completing at t=3 without ever waiting behind P’s remaining 17 units of work.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MLFQ Approximates SJF — Without Knowing the Future</a:t>
            </a:r>
            <a:endParaRPr lang="en-US" sz="2800" dirty="0"/>
          </a:p>
        </p:txBody>
      </p:sp>
      <p:sp>
        <p:nvSpPr>
          <p:cNvPr id="4" name="Shape 2"/>
          <p:cNvSpPr/>
          <p:nvPr/>
        </p:nvSpPr>
        <p:spPr>
          <a:xfrm>
            <a:off x="640080" y="1371600"/>
            <a:ext cx="10911535" cy="1097280"/>
          </a:xfrm>
          <a:prstGeom prst="roundRect">
            <a:avLst>
              <a:gd name="adj" fmla="val 5000"/>
            </a:avLst>
          </a:prstGeom>
          <a:solidFill>
            <a:srgbClr val="E3FBF5"/>
          </a:solidFill>
          <a:ln w="12700">
            <a:solidFill>
              <a:srgbClr val="2FE6C4"/>
            </a:solidFill>
            <a:prstDash val="solid"/>
          </a:ln>
        </p:spPr>
      </p:sp>
      <p:sp>
        <p:nvSpPr>
          <p:cNvPr id="5" name="Text 3"/>
          <p:cNvSpPr txBox="1"/>
          <p:nvPr/>
        </p:nvSpPr>
        <p:spPr>
          <a:xfrm>
            <a:off x="896112" y="1499616"/>
            <a:ext cx="10399471" cy="841248"/>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MLFQ never needs to know a process’s burst length in advance the way SJF does — it simply watches whether a process keeps using its entire quantum, and demotes it when it does.</a:t>
            </a:r>
            <a:endParaRPr lang="en-US" sz="1250" dirty="0"/>
          </a:p>
        </p:txBody>
      </p:sp>
      <p:sp>
        <p:nvSpPr>
          <p:cNvPr id="6" name="Text 4"/>
          <p:cNvSpPr txBox="1"/>
          <p:nvPr/>
        </p:nvSpPr>
        <p:spPr>
          <a:xfrm>
            <a:off x="640080" y="2743200"/>
            <a:ext cx="10911535" cy="192024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 genuinely short process is, by definition, unlikely to ever use a full quantum before finishing or blocking, so it naturally stays near the top, getting serviced quickly — while a genuinely long, CPU-bound process naturally sinks toward the bottom, where longer quanta mean fewer wasted context switches. This is why MLFQ is considered the most general scheduling approach, and the one most real-world systems are built around in some form.</a:t>
            </a:r>
            <a:endParaRPr lang="en-US" sz="1600" dirty="0"/>
          </a:p>
        </p:txBody>
      </p:sp>
      <p:sp>
        <p:nvSpPr>
          <p:cNvPr id="7" name="Shape 5"/>
          <p:cNvSpPr/>
          <p:nvPr/>
        </p:nvSpPr>
        <p:spPr>
          <a:xfrm>
            <a:off x="640080" y="4846320"/>
            <a:ext cx="10911535" cy="1463040"/>
          </a:xfrm>
          <a:prstGeom prst="roundRect">
            <a:avLst>
              <a:gd name="adj" fmla="val 3750"/>
            </a:avLst>
          </a:prstGeom>
          <a:solidFill>
            <a:srgbClr val="FBEEDD"/>
          </a:solidFill>
          <a:ln w="12700">
            <a:solidFill>
              <a:srgbClr val="E8A33D"/>
            </a:solidFill>
            <a:prstDash val="solid"/>
          </a:ln>
        </p:spPr>
      </p:sp>
      <p:sp>
        <p:nvSpPr>
          <p:cNvPr id="8" name="Text 6"/>
          <p:cNvSpPr txBox="1"/>
          <p:nvPr/>
        </p:nvSpPr>
        <p:spPr>
          <a:xfrm>
            <a:off x="896112" y="4974336"/>
            <a:ext cx="10399471" cy="120700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MLFQ is defined by its rules, not by one fixed configuration</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The number of queues, each queue’s quantum, and the exact promotion/demotion rules are all parameters a specific OS chooses — there is no single canonical MLFQ. What makes an algorithm "an MLFQ" is the shape of the idea: multiple priority levels, movement driven by observed behavior rather than a fixed, permanent classification.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Thread Scheduling and Contention Scope</a:t>
            </a:r>
            <a:endParaRPr lang="en-US" sz="2800" dirty="0"/>
          </a:p>
        </p:txBody>
      </p:sp>
      <p:sp>
        <p:nvSpPr>
          <p:cNvPr id="4" name="Text 2"/>
          <p:cNvSpPr txBox="1"/>
          <p:nvPr/>
        </p:nvSpPr>
        <p:spPr>
          <a:xfrm>
            <a:off x="640080" y="1280160"/>
            <a:ext cx="10911535" cy="1188720"/>
          </a:xfrm>
          <a:prstGeom prst="rect">
            <a:avLst/>
          </a:prstGeom>
          <a:noFill/>
          <a:ln/>
        </p:spPr>
        <p:txBody>
          <a:bodyPr wrap="square" lIns="0" tIns="0" rIns="0" bIns="0" rtlCol="0" anchor="t"/>
          <a:lstStyle/>
          <a:p>
            <a:pPr indent="0" marL="0">
              <a:buNone/>
            </a:pPr>
            <a:r>
              <a:rPr lang="en-US" sz="1650" dirty="0">
                <a:solidFill>
                  <a:srgbClr val="1F2429"/>
                </a:solidFill>
                <a:latin typeface="Calibri" pitchFamily="34" charset="0"/>
                <a:ea typeface="Calibri" pitchFamily="34" charset="-122"/>
                <a:cs typeface="Calibri" pitchFamily="34" charset="-120"/>
              </a:rPr>
              <a:t>Lecture 9 distinguished user threads, managed by a thread library, from kernel threads, scheduled directly by the OS. That distinction decides which scheduler actually decides when a thread runs — its contention scope.</a:t>
            </a:r>
            <a:endParaRPr lang="en-US" sz="1650" dirty="0"/>
          </a:p>
        </p:txBody>
      </p:sp>
      <p:sp>
        <p:nvSpPr>
          <p:cNvPr id="5" name="Shape 3"/>
          <p:cNvSpPr/>
          <p:nvPr/>
        </p:nvSpPr>
        <p:spPr>
          <a:xfrm>
            <a:off x="640080" y="2743200"/>
            <a:ext cx="5318608" cy="2468880"/>
          </a:xfrm>
          <a:prstGeom prst="roundRect">
            <a:avLst>
              <a:gd name="adj" fmla="val 2222"/>
            </a:avLst>
          </a:prstGeom>
          <a:solidFill>
            <a:srgbClr val="8B7FD9"/>
          </a:solidFill>
          <a:ln/>
        </p:spPr>
      </p:sp>
      <p:sp>
        <p:nvSpPr>
          <p:cNvPr id="6" name="Text 4"/>
          <p:cNvSpPr txBox="1"/>
          <p:nvPr/>
        </p:nvSpPr>
        <p:spPr>
          <a:xfrm>
            <a:off x="868680" y="294436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Process-Contention Scope (PCS)</a:t>
            </a:r>
            <a:endParaRPr lang="en-US" sz="1600" dirty="0"/>
          </a:p>
        </p:txBody>
      </p:sp>
      <p:sp>
        <p:nvSpPr>
          <p:cNvPr id="7" name="Text 5"/>
          <p:cNvSpPr txBox="1"/>
          <p:nvPr/>
        </p:nvSpPr>
        <p:spPr>
          <a:xfrm>
            <a:off x="868680" y="3520440"/>
            <a:ext cx="4861408" cy="1508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Under many-to-one or many-to-many: the thread library decides which of a process’s own user threads runs next. Threads only compete against other threads in the same process.</a:t>
            </a:r>
            <a:endParaRPr lang="en-US" sz="1200" dirty="0"/>
          </a:p>
        </p:txBody>
      </p:sp>
      <p:sp>
        <p:nvSpPr>
          <p:cNvPr id="8" name="Shape 6"/>
          <p:cNvSpPr/>
          <p:nvPr/>
        </p:nvSpPr>
        <p:spPr>
          <a:xfrm>
            <a:off x="6233008" y="2743200"/>
            <a:ext cx="5318608" cy="2468880"/>
          </a:xfrm>
          <a:prstGeom prst="roundRect">
            <a:avLst>
              <a:gd name="adj" fmla="val 2222"/>
            </a:avLst>
          </a:prstGeom>
          <a:solidFill>
            <a:srgbClr val="2FE6C4"/>
          </a:solidFill>
          <a:ln/>
        </p:spPr>
      </p:sp>
      <p:sp>
        <p:nvSpPr>
          <p:cNvPr id="9" name="Text 7"/>
          <p:cNvSpPr txBox="1"/>
          <p:nvPr/>
        </p:nvSpPr>
        <p:spPr>
          <a:xfrm>
            <a:off x="6461608" y="2944368"/>
            <a:ext cx="4861408"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System-Contention Scope (SCS)</a:t>
            </a:r>
            <a:endParaRPr lang="en-US" sz="1600" dirty="0"/>
          </a:p>
        </p:txBody>
      </p:sp>
      <p:sp>
        <p:nvSpPr>
          <p:cNvPr id="10" name="Text 8"/>
          <p:cNvSpPr txBox="1"/>
          <p:nvPr/>
        </p:nvSpPr>
        <p:spPr>
          <a:xfrm>
            <a:off x="6461608" y="3520440"/>
            <a:ext cx="4861408" cy="1508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Under one-to-one: the kernel schedules every thread directly, so a thread competes against every other thread on the system, regardless of process.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Setting Contention Scope in Pthreads</a:t>
            </a:r>
            <a:endParaRPr lang="en-US" sz="2800" dirty="0"/>
          </a:p>
        </p:txBody>
      </p:sp>
      <p:sp>
        <p:nvSpPr>
          <p:cNvPr id="4" name="Text 2"/>
          <p:cNvSpPr txBox="1"/>
          <p:nvPr/>
        </p:nvSpPr>
        <p:spPr>
          <a:xfrm>
            <a:off x="640080" y="1371600"/>
            <a:ext cx="10911535" cy="1097280"/>
          </a:xfrm>
          <a:prstGeom prst="rect">
            <a:avLst/>
          </a:prstGeom>
          <a:noFill/>
          <a:ln/>
        </p:spPr>
        <p:txBody>
          <a:bodyPr wrap="square" lIns="0" tIns="0" rIns="0" bIns="0" rtlCol="0" anchor="t"/>
          <a:lstStyle/>
          <a:p>
            <a:pPr indent="0" marL="0">
              <a:buNone/>
            </a:pPr>
            <a:r>
              <a:rPr lang="en-US" sz="1800" dirty="0">
                <a:solidFill>
                  <a:srgbClr val="1F2429"/>
                </a:solidFill>
                <a:latin typeface="Calibri" pitchFamily="34" charset="0"/>
                <a:ea typeface="Calibri" pitchFamily="34" charset="-122"/>
                <a:cs typeface="Calibri" pitchFamily="34" charset="-120"/>
              </a:rPr>
              <a:t>The Pthreads API exposes this choice directly through pthread_attr_setscope(), which takes either PTHREAD_SCOPE_PROCESS (PCS) or PTHREAD_SCOPE_SYSTEM (SCS).</a:t>
            </a:r>
            <a:endParaRPr lang="en-US" sz="1800" dirty="0"/>
          </a:p>
        </p:txBody>
      </p:sp>
      <p:sp>
        <p:nvSpPr>
          <p:cNvPr id="5" name="Shape 3"/>
          <p:cNvSpPr/>
          <p:nvPr/>
        </p:nvSpPr>
        <p:spPr>
          <a:xfrm>
            <a:off x="640080" y="2834640"/>
            <a:ext cx="10911535" cy="1188720"/>
          </a:xfrm>
          <a:prstGeom prst="roundRect">
            <a:avLst>
              <a:gd name="adj" fmla="val 4615"/>
            </a:avLst>
          </a:prstGeom>
          <a:solidFill>
            <a:srgbClr val="EFEBFC"/>
          </a:solidFill>
          <a:ln w="12700">
            <a:solidFill>
              <a:srgbClr val="8B7FD9"/>
            </a:solidFill>
            <a:prstDash val="solid"/>
          </a:ln>
        </p:spPr>
      </p:sp>
      <p:sp>
        <p:nvSpPr>
          <p:cNvPr id="6" name="Text 4"/>
          <p:cNvSpPr txBox="1"/>
          <p:nvPr/>
        </p:nvSpPr>
        <p:spPr>
          <a:xfrm>
            <a:off x="896112" y="2962656"/>
            <a:ext cx="10399471" cy="932688"/>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Linux’s one-to-one model makes SCS the only scope that actually matches its underlying kernel threading — the PCS/SCS distinction matters far more on systems that genuinely support many-to-many scheduling.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Linux’s Completely Fair Scheduler (CFS)</a:t>
            </a:r>
            <a:endParaRPr lang="en-US" sz="2800" dirty="0"/>
          </a:p>
        </p:txBody>
      </p:sp>
      <p:sp>
        <p:nvSpPr>
          <p:cNvPr id="4" name="Text 2"/>
          <p:cNvSpPr txBox="1"/>
          <p:nvPr/>
        </p:nvSpPr>
        <p:spPr>
          <a:xfrm>
            <a:off x="640080" y="1280160"/>
            <a:ext cx="10911535" cy="1371600"/>
          </a:xfrm>
          <a:prstGeom prst="rect">
            <a:avLst/>
          </a:prstGeom>
          <a:noFill/>
          <a:ln/>
        </p:spPr>
        <p:txBody>
          <a:bodyPr wrap="square" lIns="0" tIns="0" rIns="0" bIns="0" rtlCol="0" anchor="t"/>
          <a:lstStyle/>
          <a:p>
            <a:pPr indent="0" marL="0">
              <a:buNone/>
            </a:pPr>
            <a:r>
              <a:rPr lang="en-US" sz="1650" dirty="0">
                <a:solidFill>
                  <a:srgbClr val="1F2429"/>
                </a:solidFill>
                <a:latin typeface="Calibri" pitchFamily="34" charset="0"/>
                <a:ea typeface="Calibri" pitchFamily="34" charset="-122"/>
                <a:cs typeface="Calibri" pitchFamily="34" charset="-120"/>
              </a:rPr>
              <a:t>Linux’s default scheduler since kernel 2.6.23 abandons fixed time quanta and priority numbers in favor of one running number per task: virtual runtime (vruntime), tracking how much CPU time a task has already received, weighted by its priority.</a:t>
            </a:r>
            <a:endParaRPr lang="en-US" sz="1650" dirty="0"/>
          </a:p>
        </p:txBody>
      </p:sp>
      <p:sp>
        <p:nvSpPr>
          <p:cNvPr id="5" name="Shape 3"/>
          <p:cNvSpPr/>
          <p:nvPr/>
        </p:nvSpPr>
        <p:spPr>
          <a:xfrm>
            <a:off x="640080" y="2834640"/>
            <a:ext cx="10911535" cy="1645920"/>
          </a:xfrm>
          <a:prstGeom prst="roundRect">
            <a:avLst>
              <a:gd name="adj" fmla="val 3333"/>
            </a:avLst>
          </a:prstGeom>
          <a:solidFill>
            <a:srgbClr val="E3FBF5"/>
          </a:solidFill>
          <a:ln w="12700">
            <a:solidFill>
              <a:srgbClr val="2FE6C4"/>
            </a:solidFill>
            <a:prstDash val="solid"/>
          </a:ln>
        </p:spPr>
      </p:sp>
      <p:sp>
        <p:nvSpPr>
          <p:cNvPr id="6" name="Text 4"/>
          <p:cNvSpPr txBox="1"/>
          <p:nvPr/>
        </p:nvSpPr>
        <p:spPr>
          <a:xfrm>
            <a:off x="896112" y="2962656"/>
            <a:ext cx="10399471" cy="1389888"/>
          </a:xfrm>
          <a:prstGeom prst="rect">
            <a:avLst/>
          </a:prstGeom>
          <a:noFill/>
          <a:ln/>
        </p:spPr>
        <p:txBody>
          <a:bodyPr wrap="square" lIns="0" tIns="0" rIns="0" bIns="0" rtlCol="0" anchor="t"/>
          <a:lstStyle/>
          <a:p>
            <a:pPr indent="0" marL="0">
              <a:spcAft>
                <a:spcPts val="400"/>
              </a:spcAft>
              <a:buNone/>
            </a:pPr>
            <a:r>
              <a:rPr lang="en-US" sz="1300" b="1" dirty="0">
                <a:solidFill>
                  <a:srgbClr val="1F2429"/>
                </a:solidFill>
                <a:latin typeface="Calibri" pitchFamily="34" charset="0"/>
                <a:ea typeface="Calibri" pitchFamily="34" charset="-122"/>
                <a:cs typeface="Calibri" pitchFamily="34" charset="-120"/>
              </a:rPr>
              <a:t>CFS’s entire scheduling rule</a:t>
            </a:r>
            <a:endParaRPr lang="en-US" sz="1300" dirty="0"/>
          </a:p>
          <a:p>
            <a:pPr indent="0" marL="0">
              <a:buNone/>
            </a:pPr>
            <a:r>
              <a:rPr lang="en-US" sz="1250" dirty="0">
                <a:solidFill>
                  <a:srgbClr val="1F2429"/>
                </a:solidFill>
                <a:latin typeface="Calibri" pitchFamily="34" charset="0"/>
                <a:ea typeface="Calibri" pitchFamily="34" charset="-122"/>
                <a:cs typeface="Calibri" pitchFamily="34" charset="-120"/>
              </a:rPr>
              <a:t>Always run the ready task with the smallest vruntime. A task that has run less than others is, by definition, "owed" more CPU time to stay fair, so it’s the one that runs next; the moment it runs, its vruntime climbs, and eventually some other task becomes the one with the smallest vruntime instead.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Tracing CFS: Three Equal-Priority Tasks</a:t>
            </a:r>
            <a:endParaRPr lang="en-US" sz="2800" dirty="0"/>
          </a:p>
        </p:txBody>
      </p:sp>
      <p:sp>
        <p:nvSpPr>
          <p:cNvPr id="4" name="Text 2"/>
          <p:cNvSpPr txBox="1"/>
          <p:nvPr/>
        </p:nvSpPr>
        <p:spPr>
          <a:xfrm>
            <a:off x="640080" y="1280160"/>
            <a:ext cx="10911535" cy="54864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Each task gets a slice of 2 time units whenever chosen; all vruntimes start at 0.</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2103120"/>
          <a:ext cx="10515600" cy="914400"/>
        </p:xfrm>
        <a:graphic>
          <a:graphicData uri="http://schemas.openxmlformats.org/drawingml/2006/table">
            <a:tbl>
              <a:tblPr/>
              <a:tblGrid>
                <a:gridCol w="1645920"/>
                <a:gridCol w="3474720"/>
                <a:gridCol w="2834640"/>
                <a:gridCol w="2560320"/>
              </a:tblGrid>
              <a:tr h="0">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Decision</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Vruntimes Before (A, B, C)</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Task Chosen</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Vruntimes After</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F2429"/>
                    </a:solidFill>
                  </a:tcPr>
                </a:tc>
              </a:tr>
              <a:tr h="0">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1</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0, 0, 0</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A (tie, chosen first)</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2, 0, 0</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2, 0, 0</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B</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2, 2, 0</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0">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3</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2, 2, 0</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C</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2, 2, 2</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0F2F4"/>
                    </a:solidFill>
                  </a:tcPr>
                </a:tc>
              </a:tr>
              <a:tr h="0">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4</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2, 2, 2</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A (tie again)</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F2429"/>
                          </a:solidFill>
                          <a:latin typeface="Calibri" pitchFamily="34" charset="0"/>
                          <a:ea typeface="Calibri" pitchFamily="34" charset="-122"/>
                          <a:cs typeface="Calibri" pitchFamily="34" charset="-120"/>
                        </a:rPr>
                        <a:t>4, 2, 2</a:t>
                      </a:r>
                      <a:endParaRPr lang="en-US" sz="145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0080" y="4389120"/>
            <a:ext cx="10911535" cy="1188720"/>
          </a:xfrm>
          <a:prstGeom prst="rect">
            <a:avLst/>
          </a:prstGeom>
          <a:noFill/>
          <a:ln/>
        </p:spPr>
        <p:txBody>
          <a:bodyPr wrap="square" lIns="0" tIns="0" rIns="0" bIns="0" rtlCol="0" anchor="t"/>
          <a:lstStyle/>
          <a:p>
            <a:pPr indent="0" marL="0">
              <a:buNone/>
            </a:pPr>
            <a:r>
              <a:rPr lang="en-US" sz="1550" dirty="0">
                <a:solidFill>
                  <a:srgbClr val="1F2429"/>
                </a:solidFill>
                <a:latin typeface="Calibri" pitchFamily="34" charset="0"/>
                <a:ea typeface="Calibri" pitchFamily="34" charset="-122"/>
                <a:cs typeface="Calibri" pitchFamily="34" charset="-120"/>
              </a:rPr>
              <a:t>With equal priority, CFS’s min-vruntime rule converges to exactly the same round-robin rotation Lecture 11 already covered — each task runs, falls behind no one, and gets picked again once everyone else catches up.</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CFS with Unequal Priorities</a:t>
            </a:r>
            <a:endParaRPr lang="en-US" sz="2800" dirty="0"/>
          </a:p>
        </p:txBody>
      </p:sp>
      <p:sp>
        <p:nvSpPr>
          <p:cNvPr id="4" name="Text 2"/>
          <p:cNvSpPr txBox="1"/>
          <p:nvPr/>
        </p:nvSpPr>
        <p:spPr>
          <a:xfrm>
            <a:off x="640080" y="1371600"/>
            <a:ext cx="10911535" cy="1645920"/>
          </a:xfrm>
          <a:prstGeom prst="rect">
            <a:avLst/>
          </a:prstGeom>
          <a:noFill/>
          <a:ln/>
        </p:spPr>
        <p:txBody>
          <a:bodyPr wrap="square" lIns="0" tIns="0" rIns="0" bIns="0" rtlCol="0" anchor="t"/>
          <a:lstStyle/>
          <a:p>
            <a:pPr indent="0" marL="0">
              <a:buNone/>
            </a:pPr>
            <a:r>
              <a:rPr lang="en-US" sz="1700" dirty="0">
                <a:solidFill>
                  <a:srgbClr val="1F2429"/>
                </a:solidFill>
                <a:latin typeface="Calibri" pitchFamily="34" charset="0"/>
                <a:ea typeface="Calibri" pitchFamily="34" charset="-122"/>
                <a:cs typeface="Calibri" pitchFamily="34" charset="-120"/>
              </a:rPr>
              <a:t>The real payoff shows up once priorities (Linux calls them nice values) differ: a higher-priority task’s vruntime is scaled to grow more slowly per unit of actual CPU time it receives, so it reaches the "smallest vruntime" threshold again sooner and gets scheduled more often.</a:t>
            </a:r>
            <a:endParaRPr lang="en-US" sz="1700" dirty="0"/>
          </a:p>
        </p:txBody>
      </p:sp>
      <p:sp>
        <p:nvSpPr>
          <p:cNvPr id="5" name="Shape 3"/>
          <p:cNvSpPr/>
          <p:nvPr/>
        </p:nvSpPr>
        <p:spPr>
          <a:xfrm>
            <a:off x="640080" y="3200400"/>
            <a:ext cx="10911535" cy="1463040"/>
          </a:xfrm>
          <a:prstGeom prst="roundRect">
            <a:avLst>
              <a:gd name="adj" fmla="val 3750"/>
            </a:avLst>
          </a:prstGeom>
          <a:solidFill>
            <a:srgbClr val="E3FBF5"/>
          </a:solidFill>
          <a:ln w="12700">
            <a:solidFill>
              <a:srgbClr val="2FE6C4"/>
            </a:solidFill>
            <a:prstDash val="solid"/>
          </a:ln>
        </p:spPr>
      </p:sp>
      <p:sp>
        <p:nvSpPr>
          <p:cNvPr id="6" name="Text 4"/>
          <p:cNvSpPr txBox="1"/>
          <p:nvPr/>
        </p:nvSpPr>
        <p:spPr>
          <a:xfrm>
            <a:off x="896112" y="3328416"/>
            <a:ext cx="10399471" cy="1207008"/>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All without CFS ever needing a separate queue per priority level, a fixed quantum, or any of MLFQ’s explicit demotion rules. This single running number is what lets CFS approximate an ideal, perfectly fair division of the CPU proportional to priority, across any number of tasks.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Real-World Scheduling: Windows</a:t>
            </a:r>
            <a:endParaRPr lang="en-US" sz="2800" dirty="0"/>
          </a:p>
        </p:txBody>
      </p:sp>
      <p:sp>
        <p:nvSpPr>
          <p:cNvPr id="4" name="Text 2"/>
          <p:cNvSpPr txBox="1"/>
          <p:nvPr/>
        </p:nvSpPr>
        <p:spPr>
          <a:xfrm>
            <a:off x="640080" y="1280160"/>
            <a:ext cx="10911535" cy="1463040"/>
          </a:xfrm>
          <a:prstGeom prst="rect">
            <a:avLst/>
          </a:prstGeom>
          <a:noFill/>
          <a:ln/>
        </p:spPr>
        <p:txBody>
          <a:bodyPr wrap="square" lIns="0" tIns="0" rIns="0" bIns="0" rtlCol="0" anchor="t"/>
          <a:lstStyle/>
          <a:p>
            <a:pPr indent="0" marL="0">
              <a:buNone/>
            </a:pPr>
            <a:r>
              <a:rPr lang="en-US" sz="1700" dirty="0">
                <a:solidFill>
                  <a:srgbClr val="1F2429"/>
                </a:solidFill>
                <a:latin typeface="Calibri" pitchFamily="34" charset="0"/>
                <a:ea typeface="Calibri" pitchFamily="34" charset="-122"/>
                <a:cs typeface="Calibri" pitchFamily="34" charset="-120"/>
              </a:rPr>
              <a:t>Windows uses a priority-based, preemptive scheduler with 32 priority levels, organized into priority classes a process belongs to and relative priorities within that class for each of its threads. Threads at higher priority levels preempt lower ones.</a:t>
            </a:r>
            <a:endParaRPr lang="en-US" sz="1700" dirty="0"/>
          </a:p>
        </p:txBody>
      </p:sp>
      <p:sp>
        <p:nvSpPr>
          <p:cNvPr id="5" name="Text 3"/>
          <p:cNvSpPr txBox="1"/>
          <p:nvPr/>
        </p:nvSpPr>
        <p:spPr>
          <a:xfrm>
            <a:off x="640080" y="2834640"/>
            <a:ext cx="10911535" cy="1371600"/>
          </a:xfrm>
          <a:prstGeom prst="rect">
            <a:avLst/>
          </a:prstGeom>
          <a:noFill/>
          <a:ln/>
        </p:spPr>
        <p:txBody>
          <a:bodyPr wrap="square" lIns="0" tIns="0" rIns="0" bIns="0" rtlCol="0" anchor="t"/>
          <a:lstStyle/>
          <a:p>
            <a:pPr indent="0" marL="0">
              <a:buNone/>
            </a:pPr>
            <a:r>
              <a:rPr lang="en-US" sz="1700" dirty="0">
                <a:solidFill>
                  <a:srgbClr val="1F2429"/>
                </a:solidFill>
                <a:latin typeface="Calibri" pitchFamily="34" charset="0"/>
                <a:ea typeface="Calibri" pitchFamily="34" charset="-122"/>
                <a:cs typeface="Calibri" pitchFamily="34" charset="-120"/>
              </a:rPr>
              <a:t>Windows dynamically boosts the priority of a thread that just finished waiting on I/O (rewarding interactive, I/O-bound behavior), while decaying that boost back down over time as the thread continues to run.</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16</a:t>
            </a:r>
            <a:endParaRPr lang="en-US" sz="1000" dirty="0"/>
          </a:p>
        </p:txBody>
      </p:sp>
      <p:sp>
        <p:nvSpPr>
          <p:cNvPr id="3" name="Text 1"/>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Same Idea, Implemented Differently</a:t>
            </a:r>
            <a:endParaRPr lang="en-US" sz="2800" dirty="0"/>
          </a:p>
        </p:txBody>
      </p:sp>
      <p:sp>
        <p:nvSpPr>
          <p:cNvPr id="4" name="Shape 2"/>
          <p:cNvSpPr/>
          <p:nvPr/>
        </p:nvSpPr>
        <p:spPr>
          <a:xfrm>
            <a:off x="640080" y="1463040"/>
            <a:ext cx="10911535" cy="1554480"/>
          </a:xfrm>
          <a:prstGeom prst="roundRect">
            <a:avLst>
              <a:gd name="adj" fmla="val 3529"/>
            </a:avLst>
          </a:prstGeom>
          <a:solidFill>
            <a:srgbClr val="FBEEDD"/>
          </a:solidFill>
          <a:ln w="12700">
            <a:solidFill>
              <a:srgbClr val="E8A33D"/>
            </a:solidFill>
            <a:prstDash val="solid"/>
          </a:ln>
        </p:spPr>
      </p:sp>
      <p:sp>
        <p:nvSpPr>
          <p:cNvPr id="5" name="Text 3"/>
          <p:cNvSpPr txBox="1"/>
          <p:nvPr/>
        </p:nvSpPr>
        <p:spPr>
          <a:xfrm>
            <a:off x="896112" y="1591056"/>
            <a:ext cx="10399471" cy="1298448"/>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Windows’ I/O boost-and-decay is exactly MLFQ’s "stay near the top if you block before your quantum expires" rule, and the decay mirrors MLFQ’s demotion rule — the same underlying idea, implemented through dynamic priority adjustment rather than literally moving a thread between separate queue data structures.</a:t>
            </a:r>
            <a:endParaRPr lang="en-US" sz="1250" dirty="0"/>
          </a:p>
        </p:txBody>
      </p:sp>
      <p:sp>
        <p:nvSpPr>
          <p:cNvPr id="6" name="Text 4"/>
          <p:cNvSpPr txBox="1"/>
          <p:nvPr/>
        </p:nvSpPr>
        <p:spPr>
          <a:xfrm>
            <a:off x="640080" y="3383280"/>
            <a:ext cx="10911535" cy="914400"/>
          </a:xfrm>
          <a:prstGeom prst="rect">
            <a:avLst/>
          </a:prstGeom>
          <a:noFill/>
          <a:ln/>
        </p:spPr>
        <p:txBody>
          <a:bodyPr wrap="square" lIns="0" tIns="0" rIns="0" bIns="0" rtlCol="0" anchor="t"/>
          <a:lstStyle/>
          <a:p>
            <a:pPr indent="0" marL="0">
              <a:buNone/>
            </a:pPr>
            <a:r>
              <a:rPr lang="en-US" sz="1700" dirty="0">
                <a:solidFill>
                  <a:srgbClr val="1F2429"/>
                </a:solidFill>
                <a:latin typeface="Calibri" pitchFamily="34" charset="0"/>
                <a:ea typeface="Calibri" pitchFamily="34" charset="-122"/>
                <a:cs typeface="Calibri" pitchFamily="34" charset="-120"/>
              </a:rPr>
              <a:t>Structurally, Windows behaves like a multilevel-feedback-queue system, even though it never explicitly names separate queues the way the MLFQ model does.</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Multilevel queue scheduling partitions the ready queue by process type, each with its own algorithm, but permanently fixes which queue a process belongs to</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Multilevel feedback queue scheduling lets processes move between queues based on observed behavior — a full quantum demotes toward longer-quantum, lower-priority queues; blocking early keeps a process near the top — approximating SJF without ever needing to know burst lengths in advance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Contention scope connects back to Lecture 9’s multithreading models: process-contention scope (PCS) under many-to-one/many-to-many, system-contention scope (SCS) under one-to-one, selectable in Pthreads via pthread_attr_setscope()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Linux’s CFS replaces quanta and priority queues with one number, vruntime, always running the ready task with the smallest value — approximating ideal fair sharing directly</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Windows runs a 32-level, priority-based preemptive scheduler that boosts a thread’s priority after I/O waits and decays it with continued CPU use — the same underlying idea as MLFQ’s demotion rule, applied through dynamic priority rather than separate queues</a:t>
            </a:r>
            <a:endParaRPr lang="en-US" sz="1600" dirty="0"/>
          </a:p>
        </p:txBody>
      </p:sp>
      <p:sp>
        <p:nvSpPr>
          <p:cNvPr id="4" name="Text 2"/>
          <p:cNvSpPr txBox="1"/>
          <p:nvPr/>
        </p:nvSpPr>
        <p:spPr>
          <a:xfrm>
            <a:off x="9494215"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2026-10-02T04:39:30Z</dcterms:created>
  <dcterms:modified xsi:type="dcterms:W3CDTF">2026-10-02T04:39:30Z</dcterms:modified>
</cp:coreProperties>
</file>
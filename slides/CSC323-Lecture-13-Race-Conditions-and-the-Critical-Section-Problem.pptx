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hyperlink" Target="https://cuinotes.com" TargetMode="External"/><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2147926"/>
            <a:ext cx="10506456" cy="457200"/>
          </a:xfrm>
          <a:prstGeom prst="rect">
            <a:avLst/>
          </a:prstGeom>
          <a:noFill/>
          <a:ln/>
        </p:spPr>
        <p:txBody>
          <a:bodyPr wrap="square" lIns="0" tIns="0" rIns="0" bIns="0" rtlCol="0" anchor="ctr"/>
          <a:lstStyle/>
          <a:p>
            <a:pPr indent="0" marL="0">
              <a:buNone/>
            </a:pPr>
            <a:r>
              <a:rPr lang="en-US" sz="1600" b="1" spc="300" kern="0" dirty="0">
                <a:solidFill>
                  <a:srgbClr val="2FE6C4"/>
                </a:solidFill>
                <a:latin typeface="Calibri" pitchFamily="34" charset="0"/>
                <a:ea typeface="Calibri" pitchFamily="34" charset="-122"/>
                <a:cs typeface="Calibri" pitchFamily="34" charset="-120"/>
              </a:rPr>
              <a:t>LECTURE 13</a:t>
            </a:r>
            <a:endParaRPr lang="en-US" sz="1600" dirty="0"/>
          </a:p>
        </p:txBody>
      </p:sp>
      <p:sp>
        <p:nvSpPr>
          <p:cNvPr id="3" name="Text 1"/>
          <p:cNvSpPr txBox="1"/>
          <p:nvPr/>
        </p:nvSpPr>
        <p:spPr>
          <a:xfrm>
            <a:off x="822960" y="2606040"/>
            <a:ext cx="10506456" cy="1737360"/>
          </a:xfrm>
          <a:prstGeom prst="rect">
            <a:avLst/>
          </a:prstGeom>
          <a:noFill/>
          <a:ln/>
        </p:spPr>
        <p:txBody>
          <a:bodyPr wrap="square" lIns="0" tIns="0" rIns="0" bIns="0" rtlCol="0" anchor="t"/>
          <a:lstStyle/>
          <a:p>
            <a:pPr indent="0" marL="0">
              <a:buNone/>
            </a:pPr>
            <a:r>
              <a:rPr lang="en-US" sz="4000" b="1" dirty="0">
                <a:solidFill>
                  <a:srgbClr val="FFFFFF"/>
                </a:solidFill>
                <a:latin typeface="Calibri" pitchFamily="34" charset="0"/>
                <a:ea typeface="Calibri" pitchFamily="34" charset="-122"/>
                <a:cs typeface="Calibri" pitchFamily="34" charset="-120"/>
              </a:rPr>
              <a:t>Race Conditions and the Critical Section Problem</a:t>
            </a:r>
            <a:endParaRPr lang="en-US" sz="4000" dirty="0"/>
          </a:p>
        </p:txBody>
      </p:sp>
      <p:sp>
        <p:nvSpPr>
          <p:cNvPr id="4" name="Text 2"/>
          <p:cNvSpPr txBox="1"/>
          <p:nvPr/>
        </p:nvSpPr>
        <p:spPr>
          <a:xfrm>
            <a:off x="822960" y="4343400"/>
            <a:ext cx="10506456" cy="457200"/>
          </a:xfrm>
          <a:prstGeom prst="rect">
            <a:avLst/>
          </a:prstGeom>
          <a:noFill/>
          <a:ln/>
        </p:spPr>
        <p:txBody>
          <a:bodyPr wrap="square" lIns="0" tIns="0" rIns="0" bIns="0" rtlCol="0" anchor="ctr"/>
          <a:lstStyle/>
          <a:p>
            <a:pPr indent="0" marL="0">
              <a:buNone/>
            </a:pPr>
            <a:r>
              <a:rPr lang="en-US" sz="1800" dirty="0">
                <a:solidFill>
                  <a:srgbClr val="2FE6C4"/>
                </a:solidFill>
                <a:latin typeface="Calibri" pitchFamily="34" charset="0"/>
                <a:ea typeface="Calibri" pitchFamily="34" charset="-122"/>
                <a:cs typeface="Calibri" pitchFamily="34" charset="-120"/>
              </a:rPr>
              <a:t>CSC323 – Operating Systems</a:t>
            </a:r>
            <a:endParaRPr lang="en-US" sz="1800" dirty="0"/>
          </a:p>
        </p:txBody>
      </p:sp>
      <p:sp>
        <p:nvSpPr>
          <p:cNvPr id="5" name="Text 3"/>
          <p:cNvSpPr txBox="1"/>
          <p:nvPr/>
        </p:nvSpPr>
        <p:spPr>
          <a:xfrm>
            <a:off x="822960" y="4754880"/>
            <a:ext cx="10506456" cy="365760"/>
          </a:xfrm>
          <a:prstGeom prst="rect">
            <a:avLst/>
          </a:prstGeom>
          <a:noFill/>
          <a:ln/>
        </p:spPr>
        <p:txBody>
          <a:bodyPr wrap="square" lIns="0" tIns="0" rIns="0" bIns="0" rtlCol="0" anchor="ctr"/>
          <a:lstStyle/>
          <a:p>
            <a:pPr indent="0" marL="0">
              <a:buNone/>
            </a:pPr>
            <a:r>
              <a:rPr lang="en-US" sz="1300" dirty="0">
                <a:solidFill>
                  <a:srgbClr val="8A939B"/>
                </a:solidFill>
                <a:latin typeface="Calibri" pitchFamily="34" charset="0"/>
                <a:ea typeface="Calibri" pitchFamily="34" charset="-122"/>
                <a:cs typeface="Calibri" pitchFamily="34" charset="-120"/>
              </a:rPr>
              <a:t>COMSATS University Islamabad, Lahore Campus</a:t>
            </a:r>
            <a:endParaRPr lang="en-US" sz="13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In This Lecture</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What a race condition is, precisely, and why “it usually works” is not the same claim as “it is correct”</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worked example at the assembly-instruction level, showing how two processes updating one shared variable can produce two different final answers depending only on timing</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formal statement of the critical section problem and the three requirements any correct solution must satisfy: mutual exclusion, progress, and bounded waiting</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Why simply disabling interrupts during a critical section is a crude, incomplete fix</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Peterson's solution — a software-only algorithm for two processes — walked through and checked against all three requirements</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subtle but critical caveat: why Peterson's solution can still fail on real modern hardware without an explicit memory barrier</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Race Conditions</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3</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race condition occurs when two or more processes access and manipulate the same shared data concurrently, and the final outcome depends on the particular order in which their instructions happen to be scheduled.</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If every possible interleaving produces the same final result, there is no race — the outcome is determined, regardless of timing.</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race condition exists precisely when at least two interleavings are possible and they disagree.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A WORKED EXAMPLE</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The Shared Counter</a:t>
            </a:r>
            <a:endParaRPr lang="en-US" sz="3200" dirty="0"/>
          </a:p>
        </p:txBody>
      </p:sp>
      <p:sp>
        <p:nvSpPr>
          <p:cNvPr id="4" name="Shape 2"/>
          <p:cNvSpPr/>
          <p:nvPr/>
        </p:nvSpPr>
        <p:spPr>
          <a:xfrm>
            <a:off x="640080" y="1965960"/>
            <a:ext cx="10908792" cy="2128520"/>
          </a:xfrm>
          <a:prstGeom prst="roundRect">
            <a:avLst>
              <a:gd name="adj" fmla="val 3437"/>
            </a:avLst>
          </a:prstGeom>
          <a:solidFill>
            <a:srgbClr val="1E1E4C"/>
          </a:solidFill>
          <a:ln/>
        </p:spPr>
      </p:sp>
      <p:sp>
        <p:nvSpPr>
          <p:cNvPr id="5" name="Text 3"/>
          <p:cNvSpPr txBox="1"/>
          <p:nvPr/>
        </p:nvSpPr>
        <p:spPr>
          <a:xfrm>
            <a:off x="960120" y="2194560"/>
            <a:ext cx="10268712" cy="1717040"/>
          </a:xfrm>
          <a:prstGeom prst="rect">
            <a:avLst/>
          </a:prstGeom>
          <a:noFill/>
          <a:ln/>
        </p:spPr>
        <p:txBody>
          <a:bodyPr wrap="square" lIns="0" tIns="0" rIns="0" bIns="0" rtlCol="0" anchor="t"/>
          <a:lstStyle/>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counter++;   /* producer, after inserting an item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counter--;   /* consumer, after removing an item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counter always holds the number of items</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currently sitting in the bounded buffer */</a:t>
            </a:r>
            <a:endParaRPr lang="en-US" sz="16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MACHINE INSTRUCTIONS</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Three Steps, Not One</a:t>
            </a:r>
            <a:endParaRPr lang="en-US" sz="3200" dirty="0"/>
          </a:p>
        </p:txBody>
      </p:sp>
      <p:sp>
        <p:nvSpPr>
          <p:cNvPr id="4" name="Shape 2"/>
          <p:cNvSpPr/>
          <p:nvPr/>
        </p:nvSpPr>
        <p:spPr>
          <a:xfrm>
            <a:off x="640080" y="1965960"/>
            <a:ext cx="10908792" cy="3246120"/>
          </a:xfrm>
          <a:prstGeom prst="roundRect">
            <a:avLst>
              <a:gd name="adj" fmla="val 2254"/>
            </a:avLst>
          </a:prstGeom>
          <a:solidFill>
            <a:srgbClr val="1E1E4C"/>
          </a:solidFill>
          <a:ln/>
        </p:spPr>
      </p:sp>
      <p:sp>
        <p:nvSpPr>
          <p:cNvPr id="5" name="Text 3"/>
          <p:cNvSpPr txBox="1"/>
          <p:nvPr/>
        </p:nvSpPr>
        <p:spPr>
          <a:xfrm>
            <a:off x="960120" y="2194560"/>
            <a:ext cx="10268712" cy="2834640"/>
          </a:xfrm>
          <a:prstGeom prst="rect">
            <a:avLst/>
          </a:prstGeom>
          <a:noFill/>
          <a:ln/>
        </p:spPr>
        <p:txBody>
          <a:bodyPr wrap="square" lIns="0" tIns="0" rIns="0" bIns="0" rtlCol="0" anchor="t"/>
          <a:lstStyle/>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producer executing counter++</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register1 = counter        ; load</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register1 = register1 + 1  ; increment</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counter   = register1      ; store</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 consumer executing counter--</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register2 = counter        ; load</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register2 = register2 - 1  ; decrement</a:t>
            </a:r>
            <a:endParaRPr lang="en-US" sz="1500" dirty="0"/>
          </a:p>
          <a:p>
            <a:pPr indent="0" marL="0">
              <a:lnSpc>
                <a:spcPct val="125000"/>
              </a:lnSpc>
              <a:buNone/>
            </a:pPr>
            <a:r>
              <a:rPr lang="en-US" sz="1500" dirty="0">
                <a:solidFill>
                  <a:srgbClr val="C9D3F5"/>
                </a:solidFill>
                <a:latin typeface="Courier New" pitchFamily="34" charset="0"/>
                <a:ea typeface="Courier New" pitchFamily="34" charset="-122"/>
                <a:cs typeface="Courier New" pitchFamily="34" charset="-120"/>
              </a:rPr>
              <a:t>counter   = register2      ; store</a:t>
            </a:r>
            <a:endParaRPr lang="en-US" sz="15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Two Interleavings, Two Different Answers</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6</a:t>
            </a:r>
            <a:endParaRPr lang="en-US" sz="1000" dirty="0"/>
          </a:p>
        </p:txBody>
      </p:sp>
      <p:sp>
        <p:nvSpPr>
          <p:cNvPr id="4" name="Shape 2"/>
          <p:cNvSpPr/>
          <p:nvPr/>
        </p:nvSpPr>
        <p:spPr>
          <a:xfrm>
            <a:off x="640080" y="1371600"/>
            <a:ext cx="5317236" cy="4480560"/>
          </a:xfrm>
          <a:prstGeom prst="roundRect">
            <a:avLst>
              <a:gd name="adj" fmla="val 2041"/>
            </a:avLst>
          </a:prstGeom>
          <a:solidFill>
            <a:srgbClr val="2FE6C4"/>
          </a:solidFill>
          <a:ln/>
        </p:spPr>
      </p:sp>
      <p:sp>
        <p:nvSpPr>
          <p:cNvPr id="5" name="Text 3"/>
          <p:cNvSpPr txBox="1"/>
          <p:nvPr/>
        </p:nvSpPr>
        <p:spPr>
          <a:xfrm>
            <a:off x="841248" y="1572768"/>
            <a:ext cx="49149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Interleaving A — No Overlap</a:t>
            </a:r>
            <a:endParaRPr lang="en-US" sz="1500" dirty="0"/>
          </a:p>
        </p:txBody>
      </p:sp>
      <p:sp>
        <p:nvSpPr>
          <p:cNvPr id="6" name="Text 4"/>
          <p:cNvSpPr txBox="1"/>
          <p:nvPr/>
        </p:nvSpPr>
        <p:spPr>
          <a:xfrm>
            <a:off x="841248" y="1956816"/>
            <a:ext cx="4914900" cy="3694176"/>
          </a:xfrm>
          <a:prstGeom prst="rect">
            <a:avLst/>
          </a:prstGeom>
          <a:noFill/>
          <a:ln/>
        </p:spPr>
        <p:txBody>
          <a:bodyPr wrap="square" lIns="0" tIns="0" rIns="0" bIns="0" rtlCol="0" anchor="t"/>
          <a:lstStyle/>
          <a:p>
            <a:pPr indent="0" marL="0">
              <a:spcAft>
                <a:spcPts val="600"/>
              </a:spcAft>
              <a:buNone/>
            </a:pPr>
            <a:r>
              <a:rPr lang="en-US" sz="1100" dirty="0">
                <a:solidFill>
                  <a:srgbClr val="FFFFFF"/>
                </a:solidFill>
                <a:latin typeface="Courier New" pitchFamily="34" charset="0"/>
                <a:ea typeface="Courier New" pitchFamily="34" charset="-122"/>
                <a:cs typeface="Courier New" pitchFamily="34" charset="-120"/>
              </a:rPr>
              <a:t>1. register1 = counter        → register1 = 5</a:t>
            </a:r>
            <a:endParaRPr lang="en-US" sz="1100" dirty="0"/>
          </a:p>
          <a:p>
            <a:pPr indent="0" marL="0">
              <a:spcAft>
                <a:spcPts val="600"/>
              </a:spcAft>
              <a:buNone/>
            </a:pPr>
            <a:r>
              <a:rPr lang="en-US" sz="1100" dirty="0">
                <a:solidFill>
                  <a:srgbClr val="FFFFFF"/>
                </a:solidFill>
                <a:latin typeface="Courier New" pitchFamily="34" charset="0"/>
                <a:ea typeface="Courier New" pitchFamily="34" charset="-122"/>
                <a:cs typeface="Courier New" pitchFamily="34" charset="-120"/>
              </a:rPr>
              <a:t>2. register1 = register1 + 1  → register1 = 6</a:t>
            </a:r>
            <a:endParaRPr lang="en-US" sz="1100" dirty="0"/>
          </a:p>
          <a:p>
            <a:pPr indent="0" marL="0">
              <a:spcAft>
                <a:spcPts val="600"/>
              </a:spcAft>
              <a:buNone/>
            </a:pPr>
            <a:r>
              <a:rPr lang="en-US" sz="1100" dirty="0">
                <a:solidFill>
                  <a:srgbClr val="FFFFFF"/>
                </a:solidFill>
                <a:latin typeface="Courier New" pitchFamily="34" charset="0"/>
                <a:ea typeface="Courier New" pitchFamily="34" charset="-122"/>
                <a:cs typeface="Courier New" pitchFamily="34" charset="-120"/>
              </a:rPr>
              <a:t>3. counter = register1        → counter = 6</a:t>
            </a:r>
            <a:endParaRPr lang="en-US" sz="1100" dirty="0"/>
          </a:p>
          <a:p>
            <a:pPr indent="0" marL="0">
              <a:spcAft>
                <a:spcPts val="600"/>
              </a:spcAft>
              <a:buNone/>
            </a:pPr>
            <a:r>
              <a:rPr lang="en-US" sz="1100" dirty="0">
                <a:solidFill>
                  <a:srgbClr val="FFFFFF"/>
                </a:solidFill>
                <a:latin typeface="Courier New" pitchFamily="34" charset="0"/>
                <a:ea typeface="Courier New" pitchFamily="34" charset="-122"/>
                <a:cs typeface="Courier New" pitchFamily="34" charset="-120"/>
              </a:rPr>
              <a:t>4. register2 = counter        → register2 = 6</a:t>
            </a:r>
            <a:endParaRPr lang="en-US" sz="1100" dirty="0"/>
          </a:p>
          <a:p>
            <a:pPr indent="0" marL="0">
              <a:spcAft>
                <a:spcPts val="600"/>
              </a:spcAft>
              <a:buNone/>
            </a:pPr>
            <a:r>
              <a:rPr lang="en-US" sz="1100" dirty="0">
                <a:solidFill>
                  <a:srgbClr val="FFFFFF"/>
                </a:solidFill>
                <a:latin typeface="Courier New" pitchFamily="34" charset="0"/>
                <a:ea typeface="Courier New" pitchFamily="34" charset="-122"/>
                <a:cs typeface="Courier New" pitchFamily="34" charset="-120"/>
              </a:rPr>
              <a:t>5. register2 = register2 - 1  → register2 = 5</a:t>
            </a:r>
            <a:endParaRPr lang="en-US" sz="1100" dirty="0"/>
          </a:p>
          <a:p>
            <a:pPr indent="0" marL="0">
              <a:spcAft>
                <a:spcPts val="600"/>
              </a:spcAft>
              <a:buNone/>
            </a:pPr>
            <a:r>
              <a:rPr lang="en-US" sz="1100" dirty="0">
                <a:solidFill>
                  <a:srgbClr val="FFFFFF"/>
                </a:solidFill>
                <a:latin typeface="Courier New" pitchFamily="34" charset="0"/>
                <a:ea typeface="Courier New" pitchFamily="34" charset="-122"/>
                <a:cs typeface="Courier New" pitchFamily="34" charset="-120"/>
              </a:rPr>
              <a:t>6. counter = register2        → counter = 5</a:t>
            </a:r>
            <a:endParaRPr lang="en-US" sz="1100" dirty="0"/>
          </a:p>
          <a:p>
            <a:pPr indent="0" marL="0">
              <a:spcAft>
                <a:spcPts val="600"/>
              </a:spcAft>
              <a:buNone/>
            </a:pPr>
            <a:endParaRPr lang="en-US" sz="1100" dirty="0"/>
          </a:p>
          <a:p>
            <a:pPr indent="0" marL="0">
              <a:spcAft>
                <a:spcPts val="600"/>
              </a:spcAft>
              <a:buNone/>
            </a:pPr>
            <a:r>
              <a:rPr lang="en-US" sz="1100" dirty="0">
                <a:solidFill>
                  <a:srgbClr val="FFFFFF"/>
                </a:solidFill>
                <a:latin typeface="Calibri" pitchFamily="34" charset="0"/>
                <a:ea typeface="Calibri" pitchFamily="34" charset="-122"/>
                <a:cs typeface="Calibri" pitchFamily="34" charset="-120"/>
              </a:rPr>
              <a:t>Final counter = 5 — correct</a:t>
            </a:r>
            <a:endParaRPr lang="en-US" sz="1100" dirty="0"/>
          </a:p>
        </p:txBody>
      </p:sp>
      <p:sp>
        <p:nvSpPr>
          <p:cNvPr id="7" name="Shape 5"/>
          <p:cNvSpPr/>
          <p:nvPr/>
        </p:nvSpPr>
        <p:spPr>
          <a:xfrm>
            <a:off x="6231636" y="1371600"/>
            <a:ext cx="5317236" cy="4480560"/>
          </a:xfrm>
          <a:prstGeom prst="roundRect">
            <a:avLst>
              <a:gd name="adj" fmla="val 2041"/>
            </a:avLst>
          </a:prstGeom>
          <a:solidFill>
            <a:srgbClr val="FF8A3D"/>
          </a:solidFill>
          <a:ln/>
        </p:spPr>
      </p:sp>
      <p:sp>
        <p:nvSpPr>
          <p:cNvPr id="8" name="Text 6"/>
          <p:cNvSpPr txBox="1"/>
          <p:nvPr/>
        </p:nvSpPr>
        <p:spPr>
          <a:xfrm>
            <a:off x="6432804" y="1572768"/>
            <a:ext cx="4914900" cy="320040"/>
          </a:xfrm>
          <a:prstGeom prst="rect">
            <a:avLst/>
          </a:prstGeom>
          <a:noFill/>
          <a:ln/>
        </p:spPr>
        <p:txBody>
          <a:bodyPr wrap="square" lIns="0" tIns="0" rIns="0" bIns="0" rtlCol="0" anchor="t"/>
          <a:lstStyle/>
          <a:p>
            <a:pPr indent="0" marL="0">
              <a:buNone/>
            </a:pPr>
            <a:r>
              <a:rPr lang="en-US" sz="1500" b="1" dirty="0">
                <a:solidFill>
                  <a:srgbClr val="FFFFFF"/>
                </a:solidFill>
                <a:latin typeface="Calibri" pitchFamily="34" charset="0"/>
                <a:ea typeface="Calibri" pitchFamily="34" charset="-122"/>
                <a:cs typeface="Calibri" pitchFamily="34" charset="-120"/>
              </a:rPr>
              <a:t>Interleaving B — Overlapped (Wrong)</a:t>
            </a:r>
            <a:endParaRPr lang="en-US" sz="1500" dirty="0"/>
          </a:p>
        </p:txBody>
      </p:sp>
      <p:sp>
        <p:nvSpPr>
          <p:cNvPr id="9" name="Text 7"/>
          <p:cNvSpPr txBox="1"/>
          <p:nvPr/>
        </p:nvSpPr>
        <p:spPr>
          <a:xfrm>
            <a:off x="6432804" y="1956816"/>
            <a:ext cx="4914900" cy="3694176"/>
          </a:xfrm>
          <a:prstGeom prst="rect">
            <a:avLst/>
          </a:prstGeom>
          <a:noFill/>
          <a:ln/>
        </p:spPr>
        <p:txBody>
          <a:bodyPr wrap="square" lIns="0" tIns="0" rIns="0" bIns="0" rtlCol="0" anchor="t"/>
          <a:lstStyle/>
          <a:p>
            <a:pPr indent="0" marL="0">
              <a:spcAft>
                <a:spcPts val="600"/>
              </a:spcAft>
              <a:buNone/>
            </a:pPr>
            <a:r>
              <a:rPr lang="en-US" sz="1100" dirty="0">
                <a:solidFill>
                  <a:srgbClr val="FFFFFF"/>
                </a:solidFill>
                <a:latin typeface="Courier New" pitchFamily="34" charset="0"/>
                <a:ea typeface="Courier New" pitchFamily="34" charset="-122"/>
                <a:cs typeface="Courier New" pitchFamily="34" charset="-120"/>
              </a:rPr>
              <a:t>1. register1 = counter        → register1 = 5</a:t>
            </a:r>
            <a:endParaRPr lang="en-US" sz="1100" dirty="0"/>
          </a:p>
          <a:p>
            <a:pPr indent="0" marL="0">
              <a:spcAft>
                <a:spcPts val="600"/>
              </a:spcAft>
              <a:buNone/>
            </a:pPr>
            <a:r>
              <a:rPr lang="en-US" sz="1100" dirty="0">
                <a:solidFill>
                  <a:srgbClr val="FFFFFF"/>
                </a:solidFill>
                <a:latin typeface="Courier New" pitchFamily="34" charset="0"/>
                <a:ea typeface="Courier New" pitchFamily="34" charset="-122"/>
                <a:cs typeface="Courier New" pitchFamily="34" charset="-120"/>
              </a:rPr>
              <a:t>2. register2 = counter        → register2 = 5</a:t>
            </a:r>
            <a:endParaRPr lang="en-US" sz="1100" dirty="0"/>
          </a:p>
          <a:p>
            <a:pPr indent="0" marL="0">
              <a:spcAft>
                <a:spcPts val="600"/>
              </a:spcAft>
              <a:buNone/>
            </a:pPr>
            <a:r>
              <a:rPr lang="en-US" sz="1100" dirty="0">
                <a:solidFill>
                  <a:srgbClr val="FFFFFF"/>
                </a:solidFill>
                <a:latin typeface="Courier New" pitchFamily="34" charset="0"/>
                <a:ea typeface="Courier New" pitchFamily="34" charset="-122"/>
                <a:cs typeface="Courier New" pitchFamily="34" charset="-120"/>
              </a:rPr>
              <a:t>3. register1 = register1 + 1  → register1 = 6</a:t>
            </a:r>
            <a:endParaRPr lang="en-US" sz="1100" dirty="0"/>
          </a:p>
          <a:p>
            <a:pPr indent="0" marL="0">
              <a:spcAft>
                <a:spcPts val="600"/>
              </a:spcAft>
              <a:buNone/>
            </a:pPr>
            <a:r>
              <a:rPr lang="en-US" sz="1100" dirty="0">
                <a:solidFill>
                  <a:srgbClr val="FFFFFF"/>
                </a:solidFill>
                <a:latin typeface="Courier New" pitchFamily="34" charset="0"/>
                <a:ea typeface="Courier New" pitchFamily="34" charset="-122"/>
                <a:cs typeface="Courier New" pitchFamily="34" charset="-120"/>
              </a:rPr>
              <a:t>4. register2 = register2 - 1  → register2 = 4</a:t>
            </a:r>
            <a:endParaRPr lang="en-US" sz="1100" dirty="0"/>
          </a:p>
          <a:p>
            <a:pPr indent="0" marL="0">
              <a:spcAft>
                <a:spcPts val="600"/>
              </a:spcAft>
              <a:buNone/>
            </a:pPr>
            <a:r>
              <a:rPr lang="en-US" sz="1100" dirty="0">
                <a:solidFill>
                  <a:srgbClr val="FFFFFF"/>
                </a:solidFill>
                <a:latin typeface="Courier New" pitchFamily="34" charset="0"/>
                <a:ea typeface="Courier New" pitchFamily="34" charset="-122"/>
                <a:cs typeface="Courier New" pitchFamily="34" charset="-120"/>
              </a:rPr>
              <a:t>5. counter = register1        → counter = 6</a:t>
            </a:r>
            <a:endParaRPr lang="en-US" sz="1100" dirty="0"/>
          </a:p>
          <a:p>
            <a:pPr indent="0" marL="0">
              <a:spcAft>
                <a:spcPts val="600"/>
              </a:spcAft>
              <a:buNone/>
            </a:pPr>
            <a:r>
              <a:rPr lang="en-US" sz="1100" dirty="0">
                <a:solidFill>
                  <a:srgbClr val="FFFFFF"/>
                </a:solidFill>
                <a:latin typeface="Courier New" pitchFamily="34" charset="0"/>
                <a:ea typeface="Courier New" pitchFamily="34" charset="-122"/>
                <a:cs typeface="Courier New" pitchFamily="34" charset="-120"/>
              </a:rPr>
              <a:t>6. counter = register2        → counter = 4</a:t>
            </a:r>
            <a:endParaRPr lang="en-US" sz="1100" dirty="0"/>
          </a:p>
          <a:p>
            <a:pPr indent="0" marL="0">
              <a:spcAft>
                <a:spcPts val="600"/>
              </a:spcAft>
              <a:buNone/>
            </a:pPr>
            <a:endParaRPr lang="en-US" sz="1100" dirty="0"/>
          </a:p>
          <a:p>
            <a:pPr indent="0" marL="0">
              <a:spcAft>
                <a:spcPts val="600"/>
              </a:spcAft>
              <a:buNone/>
            </a:pPr>
            <a:r>
              <a:rPr lang="en-US" sz="1100" dirty="0">
                <a:solidFill>
                  <a:srgbClr val="FFFFFF"/>
                </a:solidFill>
                <a:latin typeface="Calibri" pitchFamily="34" charset="0"/>
                <a:ea typeface="Calibri" pitchFamily="34" charset="-122"/>
                <a:cs typeface="Calibri" pitchFamily="34" charset="-120"/>
              </a:rPr>
              <a:t>Final counter = 4 — wrong; should be 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Why Race Conditions Are Hard to Catch</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7</a:t>
            </a:r>
            <a:endParaRPr lang="en-US" sz="1000" dirty="0"/>
          </a:p>
        </p:txBody>
      </p:sp>
      <p:sp>
        <p:nvSpPr>
          <p:cNvPr id="4" name="Shape 2"/>
          <p:cNvSpPr/>
          <p:nvPr/>
        </p:nvSpPr>
        <p:spPr>
          <a:xfrm>
            <a:off x="640080" y="1463040"/>
            <a:ext cx="10908792" cy="3291840"/>
          </a:xfrm>
          <a:prstGeom prst="roundRect">
            <a:avLst>
              <a:gd name="adj" fmla="val 2222"/>
            </a:avLst>
          </a:prstGeom>
          <a:solidFill>
            <a:srgbClr val="FBEFE0"/>
          </a:solidFill>
          <a:ln/>
        </p:spPr>
      </p:sp>
      <p:sp>
        <p:nvSpPr>
          <p:cNvPr id="5" name="Text 3"/>
          <p:cNvSpPr txBox="1"/>
          <p:nvPr/>
        </p:nvSpPr>
        <p:spPr>
          <a:xfrm>
            <a:off x="896112" y="1664208"/>
            <a:ext cx="10396728" cy="274320"/>
          </a:xfrm>
          <a:prstGeom prst="rect">
            <a:avLst/>
          </a:prstGeom>
          <a:noFill/>
          <a:ln/>
        </p:spPr>
        <p:txBody>
          <a:bodyPr wrap="square" lIns="0" tIns="0" rIns="0" bIns="0" rtlCol="0" anchor="t"/>
          <a:lstStyle/>
          <a:p>
            <a:pPr indent="0" marL="0">
              <a:buNone/>
            </a:pPr>
            <a:r>
              <a:rPr lang="en-US" sz="1200" b="1" spc="150" kern="0" dirty="0">
                <a:solidFill>
                  <a:srgbClr val="B9720E"/>
                </a:solidFill>
                <a:latin typeface="Calibri" pitchFamily="34" charset="0"/>
                <a:ea typeface="Calibri" pitchFamily="34" charset="-122"/>
                <a:cs typeface="Calibri" pitchFamily="34" charset="-120"/>
              </a:rPr>
              <a:t>A RACE CONDITION IS A TIMING BUG, NOT A LOGIC BUG</a:t>
            </a:r>
            <a:endParaRPr lang="en-US" sz="1200" dirty="0"/>
          </a:p>
        </p:txBody>
      </p:sp>
      <p:sp>
        <p:nvSpPr>
          <p:cNvPr id="6" name="Text 4"/>
          <p:cNvSpPr txBox="1"/>
          <p:nvPr/>
        </p:nvSpPr>
        <p:spPr>
          <a:xfrm>
            <a:off x="896112" y="1993392"/>
            <a:ext cx="10396728" cy="2505456"/>
          </a:xfrm>
          <a:prstGeom prst="rect">
            <a:avLst/>
          </a:prstGeom>
          <a:noFill/>
          <a:ln/>
        </p:spPr>
        <p:txBody>
          <a:bodyPr wrap="square" lIns="0" tIns="0" rIns="0" bIns="0" rtlCol="0" anchor="t"/>
          <a:lstStyle/>
          <a:p>
            <a:pPr indent="0" marL="0">
              <a:spcAft>
                <a:spcPts val="600"/>
              </a:spcAft>
              <a:buNone/>
            </a:pPr>
            <a:r>
              <a:rPr lang="en-US" sz="1400" dirty="0">
                <a:solidFill>
                  <a:srgbClr val="1F2429"/>
                </a:solidFill>
                <a:latin typeface="Calibri" pitchFamily="34" charset="0"/>
                <a:ea typeface="Calibri" pitchFamily="34" charset="-122"/>
                <a:cs typeface="Calibri" pitchFamily="34" charset="-120"/>
              </a:rPr>
              <a:t>Reading the producer's code and the consumer's code separately reveals nothing wrong — each is individually correct. The bug only exists in the combination, under specific interleavings.</a:t>
            </a:r>
            <a:endParaRPr lang="en-US" sz="1400" dirty="0"/>
          </a:p>
          <a:p>
            <a:pPr indent="0" marL="0">
              <a:spcAft>
                <a:spcPts val="600"/>
              </a:spcAft>
              <a:buNone/>
            </a:pPr>
            <a:r>
              <a:rPr lang="en-US" sz="1400" dirty="0">
                <a:solidFill>
                  <a:srgbClr val="1F2429"/>
                </a:solidFill>
                <a:latin typeface="Calibri" pitchFamily="34" charset="0"/>
                <a:ea typeface="Calibri" pitchFamily="34" charset="-122"/>
                <a:cs typeface="Calibri" pitchFamily="34" charset="-120"/>
              </a:rPr>
              <a:t>Those interleavings may be rare enough that a program runs correctly thousands of times in testing and then fails once in production under heavier load or on a different CPU.</a:t>
            </a:r>
            <a:endParaRPr lang="en-US" sz="1400" dirty="0"/>
          </a:p>
          <a:p>
            <a:pPr indent="0" marL="0">
              <a:spcAft>
                <a:spcPts val="600"/>
              </a:spcAft>
              <a:buNone/>
            </a:pPr>
            <a:r>
              <a:rPr lang="en-US" sz="1400" dirty="0">
                <a:solidFill>
                  <a:srgbClr val="1F2429"/>
                </a:solidFill>
                <a:latin typeface="Calibri" pitchFamily="34" charset="0"/>
                <a:ea typeface="Calibri" pitchFamily="34" charset="-122"/>
                <a:cs typeface="Calibri" pitchFamily="34" charset="-120"/>
              </a:rPr>
              <a:t>This is precisely why race conditions are notorious: easy to introduce, and extremely hard to catch by inspection or by ordinary testing alone.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Critical Section Problem</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8</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segment of code in which a process accesses data shared with at least one other process is called its critical section.</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critical section problem is the problem of designing a protocol that processes can use to cooperate safely when each has a critical section to execute.</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No process may be allowed to run its critical section concurrently with another process's critical section, if those sections touch the same shared data.</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EVERY PROCESS WITH A CRITICAL SECTION</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The General Shape</a:t>
            </a:r>
            <a:endParaRPr lang="en-US" sz="3200" dirty="0"/>
          </a:p>
        </p:txBody>
      </p:sp>
      <p:sp>
        <p:nvSpPr>
          <p:cNvPr id="4" name="Shape 2"/>
          <p:cNvSpPr/>
          <p:nvPr/>
        </p:nvSpPr>
        <p:spPr>
          <a:xfrm>
            <a:off x="640080" y="1965960"/>
            <a:ext cx="10908792" cy="2697480"/>
          </a:xfrm>
          <a:prstGeom prst="roundRect">
            <a:avLst>
              <a:gd name="adj" fmla="val 2712"/>
            </a:avLst>
          </a:prstGeom>
          <a:solidFill>
            <a:srgbClr val="1E1E4C"/>
          </a:solidFill>
          <a:ln/>
        </p:spPr>
      </p:sp>
      <p:sp>
        <p:nvSpPr>
          <p:cNvPr id="5" name="Text 3"/>
          <p:cNvSpPr txBox="1"/>
          <p:nvPr/>
        </p:nvSpPr>
        <p:spPr>
          <a:xfrm>
            <a:off x="960120" y="2194560"/>
            <a:ext cx="10268712" cy="2286000"/>
          </a:xfrm>
          <a:prstGeom prst="rect">
            <a:avLst/>
          </a:prstGeom>
          <a:noFill/>
          <a:ln/>
        </p:spPr>
        <p:txBody>
          <a:bodyPr wrap="square" lIns="0" tIns="0" rIns="0" bIns="0" rtlCol="0" anchor="t"/>
          <a:lstStyle/>
          <a:p>
            <a:pPr indent="0" marL="0">
              <a:lnSpc>
                <a:spcPct val="125000"/>
              </a:lnSpc>
              <a:buNone/>
            </a:pPr>
            <a:r>
              <a:rPr lang="en-US" sz="1800" dirty="0">
                <a:solidFill>
                  <a:srgbClr val="C9D3F5"/>
                </a:solidFill>
                <a:latin typeface="Courier New" pitchFamily="34" charset="0"/>
                <a:ea typeface="Courier New" pitchFamily="34" charset="-122"/>
                <a:cs typeface="Courier New" pitchFamily="34" charset="-120"/>
              </a:rPr>
              <a:t>do {</a:t>
            </a:r>
            <a:endParaRPr lang="en-US" sz="1800" dirty="0"/>
          </a:p>
          <a:p>
            <a:pPr indent="0" marL="0">
              <a:lnSpc>
                <a:spcPct val="125000"/>
              </a:lnSpc>
              <a:buNone/>
            </a:pPr>
            <a:r>
              <a:rPr lang="en-US" sz="1800" dirty="0">
                <a:solidFill>
                  <a:srgbClr val="C9D3F5"/>
                </a:solidFill>
                <a:latin typeface="Courier New" pitchFamily="34" charset="0"/>
                <a:ea typeface="Courier New" pitchFamily="34" charset="-122"/>
                <a:cs typeface="Courier New" pitchFamily="34" charset="-120"/>
              </a:rPr>
              <a:t>    entry section</a:t>
            </a:r>
            <a:endParaRPr lang="en-US" sz="1800" dirty="0"/>
          </a:p>
          <a:p>
            <a:pPr indent="0" marL="0">
              <a:lnSpc>
                <a:spcPct val="125000"/>
              </a:lnSpc>
              <a:buNone/>
            </a:pPr>
            <a:r>
              <a:rPr lang="en-US" sz="1800" dirty="0">
                <a:solidFill>
                  <a:srgbClr val="C9D3F5"/>
                </a:solidFill>
                <a:latin typeface="Courier New" pitchFamily="34" charset="0"/>
                <a:ea typeface="Courier New" pitchFamily="34" charset="-122"/>
                <a:cs typeface="Courier New" pitchFamily="34" charset="-120"/>
              </a:rPr>
              <a:t>        critical section</a:t>
            </a:r>
            <a:endParaRPr lang="en-US" sz="1800" dirty="0"/>
          </a:p>
          <a:p>
            <a:pPr indent="0" marL="0">
              <a:lnSpc>
                <a:spcPct val="125000"/>
              </a:lnSpc>
              <a:buNone/>
            </a:pPr>
            <a:r>
              <a:rPr lang="en-US" sz="1800" dirty="0">
                <a:solidFill>
                  <a:srgbClr val="C9D3F5"/>
                </a:solidFill>
                <a:latin typeface="Courier New" pitchFamily="34" charset="0"/>
                <a:ea typeface="Courier New" pitchFamily="34" charset="-122"/>
                <a:cs typeface="Courier New" pitchFamily="34" charset="-120"/>
              </a:rPr>
              <a:t>    exit section</a:t>
            </a:r>
            <a:endParaRPr lang="en-US" sz="1800" dirty="0"/>
          </a:p>
          <a:p>
            <a:pPr indent="0" marL="0">
              <a:lnSpc>
                <a:spcPct val="125000"/>
              </a:lnSpc>
              <a:buNone/>
            </a:pPr>
            <a:r>
              <a:rPr lang="en-US" sz="1800" dirty="0">
                <a:solidFill>
                  <a:srgbClr val="C9D3F5"/>
                </a:solidFill>
                <a:latin typeface="Courier New" pitchFamily="34" charset="0"/>
                <a:ea typeface="Courier New" pitchFamily="34" charset="-122"/>
                <a:cs typeface="Courier New" pitchFamily="34" charset="-120"/>
              </a:rPr>
              <a:t>        remainder section</a:t>
            </a:r>
            <a:endParaRPr lang="en-US" sz="1800" dirty="0"/>
          </a:p>
          <a:p>
            <a:pPr indent="0" marL="0">
              <a:lnSpc>
                <a:spcPct val="125000"/>
              </a:lnSpc>
              <a:buNone/>
            </a:pPr>
            <a:r>
              <a:rPr lang="en-US" sz="1800" dirty="0">
                <a:solidFill>
                  <a:srgbClr val="C9D3F5"/>
                </a:solidFill>
                <a:latin typeface="Courier New" pitchFamily="34" charset="0"/>
                <a:ea typeface="Courier New" pitchFamily="34" charset="-122"/>
                <a:cs typeface="Courier New" pitchFamily="34" charset="-120"/>
              </a:rPr>
              <a:t>} while (true);</a:t>
            </a:r>
            <a:endParaRPr lang="en-US" sz="18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Four Sections, Four Jobs</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10</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Entry section — code that requests permission to enter the critical section.</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Critical section — the actual access to shared data.</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Exit section — code that releases that permission.</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Remainder section — everything else the process does, where no sharing conflict exists.</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Three Requirements for a Correct Solution</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11</a:t>
            </a:r>
            <a:endParaRPr lang="en-US" sz="1000" dirty="0"/>
          </a:p>
        </p:txBody>
      </p:sp>
      <p:sp>
        <p:nvSpPr>
          <p:cNvPr id="4" name="Shape 2"/>
          <p:cNvSpPr/>
          <p:nvPr/>
        </p:nvSpPr>
        <p:spPr>
          <a:xfrm>
            <a:off x="640080" y="1463040"/>
            <a:ext cx="3453384" cy="4206240"/>
          </a:xfrm>
          <a:prstGeom prst="roundRect">
            <a:avLst>
              <a:gd name="adj" fmla="val 2648"/>
            </a:avLst>
          </a:prstGeom>
          <a:solidFill>
            <a:srgbClr val="2FE6C4"/>
          </a:solidFill>
          <a:ln/>
        </p:spPr>
      </p:sp>
      <p:sp>
        <p:nvSpPr>
          <p:cNvPr id="5" name="Text 3"/>
          <p:cNvSpPr txBox="1"/>
          <p:nvPr/>
        </p:nvSpPr>
        <p:spPr>
          <a:xfrm>
            <a:off x="841248" y="1664208"/>
            <a:ext cx="3051048"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Mutual Exclusion</a:t>
            </a:r>
            <a:endParaRPr lang="en-US" sz="1600" dirty="0"/>
          </a:p>
        </p:txBody>
      </p:sp>
      <p:sp>
        <p:nvSpPr>
          <p:cNvPr id="6" name="Text 4"/>
          <p:cNvSpPr txBox="1"/>
          <p:nvPr/>
        </p:nvSpPr>
        <p:spPr>
          <a:xfrm>
            <a:off x="841248" y="2048256"/>
            <a:ext cx="3051048" cy="3419856"/>
          </a:xfrm>
          <a:prstGeom prst="rect">
            <a:avLst/>
          </a:prstGeom>
          <a:noFill/>
          <a:ln/>
        </p:spPr>
        <p:txBody>
          <a:bodyPr wrap="square" lIns="0" tIns="0" rIns="0" bIns="0" rtlCol="0" anchor="t"/>
          <a:lstStyle/>
          <a:p>
            <a:pPr indent="0" marL="0">
              <a:spcAft>
                <a:spcPts val="600"/>
              </a:spcAft>
              <a:buNone/>
            </a:pPr>
            <a:r>
              <a:rPr lang="en-US" sz="1300" dirty="0">
                <a:solidFill>
                  <a:srgbClr val="FFFFFF"/>
                </a:solidFill>
                <a:latin typeface="Calibri" pitchFamily="34" charset="0"/>
                <a:ea typeface="Calibri" pitchFamily="34" charset="-122"/>
                <a:cs typeface="Calibri" pitchFamily="34" charset="-120"/>
              </a:rPr>
              <a:t>If a process is executing in its critical section, no other process may be executing in its own critical section for the same resource at the same time.</a:t>
            </a:r>
            <a:endParaRPr lang="en-US" sz="1300" dirty="0"/>
          </a:p>
        </p:txBody>
      </p:sp>
      <p:sp>
        <p:nvSpPr>
          <p:cNvPr id="7" name="Shape 5"/>
          <p:cNvSpPr/>
          <p:nvPr/>
        </p:nvSpPr>
        <p:spPr>
          <a:xfrm>
            <a:off x="4367784" y="1463040"/>
            <a:ext cx="3453384" cy="4206240"/>
          </a:xfrm>
          <a:prstGeom prst="roundRect">
            <a:avLst>
              <a:gd name="adj" fmla="val 2648"/>
            </a:avLst>
          </a:prstGeom>
          <a:solidFill>
            <a:srgbClr val="8B7FD9"/>
          </a:solidFill>
          <a:ln/>
        </p:spPr>
      </p:sp>
      <p:sp>
        <p:nvSpPr>
          <p:cNvPr id="8" name="Text 6"/>
          <p:cNvSpPr txBox="1"/>
          <p:nvPr/>
        </p:nvSpPr>
        <p:spPr>
          <a:xfrm>
            <a:off x="4568952" y="1664208"/>
            <a:ext cx="3051048"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Progress</a:t>
            </a:r>
            <a:endParaRPr lang="en-US" sz="1600" dirty="0"/>
          </a:p>
        </p:txBody>
      </p:sp>
      <p:sp>
        <p:nvSpPr>
          <p:cNvPr id="9" name="Text 7"/>
          <p:cNvSpPr txBox="1"/>
          <p:nvPr/>
        </p:nvSpPr>
        <p:spPr>
          <a:xfrm>
            <a:off x="4568952" y="2048256"/>
            <a:ext cx="3051048" cy="3419856"/>
          </a:xfrm>
          <a:prstGeom prst="rect">
            <a:avLst/>
          </a:prstGeom>
          <a:noFill/>
          <a:ln/>
        </p:spPr>
        <p:txBody>
          <a:bodyPr wrap="square" lIns="0" tIns="0" rIns="0" bIns="0" rtlCol="0" anchor="t"/>
          <a:lstStyle/>
          <a:p>
            <a:pPr indent="0" marL="0">
              <a:spcAft>
                <a:spcPts val="600"/>
              </a:spcAft>
              <a:buNone/>
            </a:pPr>
            <a:r>
              <a:rPr lang="en-US" sz="1300" dirty="0">
                <a:solidFill>
                  <a:srgbClr val="FFFFFF"/>
                </a:solidFill>
                <a:latin typeface="Calibri" pitchFamily="34" charset="0"/>
                <a:ea typeface="Calibri" pitchFamily="34" charset="-122"/>
                <a:cs typeface="Calibri" pitchFamily="34" charset="-120"/>
              </a:rPr>
              <a:t>If no process is in its critical section and some process wants to enter, the decision of who enters next cannot be postponed indefinitely.</a:t>
            </a:r>
            <a:endParaRPr lang="en-US" sz="1300" dirty="0"/>
          </a:p>
        </p:txBody>
      </p:sp>
      <p:sp>
        <p:nvSpPr>
          <p:cNvPr id="10" name="Shape 8"/>
          <p:cNvSpPr/>
          <p:nvPr/>
        </p:nvSpPr>
        <p:spPr>
          <a:xfrm>
            <a:off x="8095488" y="1463040"/>
            <a:ext cx="3453384" cy="4206240"/>
          </a:xfrm>
          <a:prstGeom prst="roundRect">
            <a:avLst>
              <a:gd name="adj" fmla="val 2648"/>
            </a:avLst>
          </a:prstGeom>
          <a:solidFill>
            <a:srgbClr val="FF8A3D"/>
          </a:solidFill>
          <a:ln/>
        </p:spPr>
      </p:sp>
      <p:sp>
        <p:nvSpPr>
          <p:cNvPr id="11" name="Text 9"/>
          <p:cNvSpPr txBox="1"/>
          <p:nvPr/>
        </p:nvSpPr>
        <p:spPr>
          <a:xfrm>
            <a:off x="8296656" y="1664208"/>
            <a:ext cx="3051048" cy="320040"/>
          </a:xfrm>
          <a:prstGeom prst="rect">
            <a:avLst/>
          </a:prstGeom>
          <a:noFill/>
          <a:ln/>
        </p:spPr>
        <p:txBody>
          <a:bodyPr wrap="square" lIns="0" tIns="0" rIns="0" bIns="0" rtlCol="0" anchor="t"/>
          <a:lstStyle/>
          <a:p>
            <a:pPr indent="0" marL="0">
              <a:buNone/>
            </a:pPr>
            <a:r>
              <a:rPr lang="en-US" sz="1600" b="1" dirty="0">
                <a:solidFill>
                  <a:srgbClr val="FFFFFF"/>
                </a:solidFill>
                <a:latin typeface="Calibri" pitchFamily="34" charset="0"/>
                <a:ea typeface="Calibri" pitchFamily="34" charset="-122"/>
                <a:cs typeface="Calibri" pitchFamily="34" charset="-120"/>
              </a:rPr>
              <a:t>Bounded Waiting</a:t>
            </a:r>
            <a:endParaRPr lang="en-US" sz="1600" dirty="0"/>
          </a:p>
        </p:txBody>
      </p:sp>
      <p:sp>
        <p:nvSpPr>
          <p:cNvPr id="12" name="Text 10"/>
          <p:cNvSpPr txBox="1"/>
          <p:nvPr/>
        </p:nvSpPr>
        <p:spPr>
          <a:xfrm>
            <a:off x="8296656" y="2048256"/>
            <a:ext cx="3051048" cy="3419856"/>
          </a:xfrm>
          <a:prstGeom prst="rect">
            <a:avLst/>
          </a:prstGeom>
          <a:noFill/>
          <a:ln/>
        </p:spPr>
        <p:txBody>
          <a:bodyPr wrap="square" lIns="0" tIns="0" rIns="0" bIns="0" rtlCol="0" anchor="t"/>
          <a:lstStyle/>
          <a:p>
            <a:pPr indent="0" marL="0">
              <a:spcAft>
                <a:spcPts val="600"/>
              </a:spcAft>
              <a:buNone/>
            </a:pPr>
            <a:r>
              <a:rPr lang="en-US" sz="1300" dirty="0">
                <a:solidFill>
                  <a:srgbClr val="FFFFFF"/>
                </a:solidFill>
                <a:latin typeface="Calibri" pitchFamily="34" charset="0"/>
                <a:ea typeface="Calibri" pitchFamily="34" charset="-122"/>
                <a:cs typeface="Calibri" pitchFamily="34" charset="-120"/>
              </a:rPr>
              <a:t>There is a limit on how many times other processes may enter before a waiting process's request is granted — this rules out starvation.</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Three Requirements, Three Failure Modes</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12</a:t>
            </a:r>
            <a:endParaRPr lang="en-US" sz="1000" dirty="0"/>
          </a:p>
        </p:txBody>
      </p:sp>
      <p:sp>
        <p:nvSpPr>
          <p:cNvPr id="4" name="Shape 2"/>
          <p:cNvSpPr/>
          <p:nvPr/>
        </p:nvSpPr>
        <p:spPr>
          <a:xfrm>
            <a:off x="640080" y="1463040"/>
            <a:ext cx="10908792" cy="3017520"/>
          </a:xfrm>
          <a:prstGeom prst="roundRect">
            <a:avLst>
              <a:gd name="adj" fmla="val 2424"/>
            </a:avLst>
          </a:prstGeom>
          <a:solidFill>
            <a:srgbClr val="E9E6FB"/>
          </a:solidFill>
          <a:ln/>
        </p:spPr>
      </p:sp>
      <p:sp>
        <p:nvSpPr>
          <p:cNvPr id="5" name="Text 3"/>
          <p:cNvSpPr txBox="1"/>
          <p:nvPr/>
        </p:nvSpPr>
        <p:spPr>
          <a:xfrm>
            <a:off x="896112" y="1664208"/>
            <a:ext cx="10396728" cy="274320"/>
          </a:xfrm>
          <a:prstGeom prst="rect">
            <a:avLst/>
          </a:prstGeom>
          <a:noFill/>
          <a:ln/>
        </p:spPr>
        <p:txBody>
          <a:bodyPr wrap="square" lIns="0" tIns="0" rIns="0" bIns="0" rtlCol="0" anchor="t"/>
          <a:lstStyle/>
          <a:p>
            <a:pPr indent="0" marL="0">
              <a:buNone/>
            </a:pPr>
            <a:r>
              <a:rPr lang="en-US" sz="1200" b="1" spc="150" kern="0" dirty="0">
                <a:solidFill>
                  <a:srgbClr val="6C4FF5"/>
                </a:solidFill>
                <a:latin typeface="Calibri" pitchFamily="34" charset="0"/>
                <a:ea typeface="Calibri" pitchFamily="34" charset="-122"/>
                <a:cs typeface="Calibri" pitchFamily="34" charset="-120"/>
              </a:rPr>
              <a:t>THREE INDEPENDENT REQUIREMENTS, THREE INDEPENDENT FAILURE MODES</a:t>
            </a:r>
            <a:endParaRPr lang="en-US" sz="1200" dirty="0"/>
          </a:p>
        </p:txBody>
      </p:sp>
      <p:sp>
        <p:nvSpPr>
          <p:cNvPr id="6" name="Text 4"/>
          <p:cNvSpPr txBox="1"/>
          <p:nvPr/>
        </p:nvSpPr>
        <p:spPr>
          <a:xfrm>
            <a:off x="896112" y="1993392"/>
            <a:ext cx="10396728" cy="2231136"/>
          </a:xfrm>
          <a:prstGeom prst="rect">
            <a:avLst/>
          </a:prstGeom>
          <a:noFill/>
          <a:ln/>
        </p:spPr>
        <p:txBody>
          <a:bodyPr wrap="square" lIns="0" tIns="0" rIns="0" bIns="0" rtlCol="0" anchor="t"/>
          <a:lstStyle/>
          <a:p>
            <a:pPr indent="0" marL="0">
              <a:spcAft>
                <a:spcPts val="600"/>
              </a:spcAft>
              <a:buNone/>
            </a:pPr>
            <a:r>
              <a:rPr lang="en-US" sz="1400" dirty="0">
                <a:solidFill>
                  <a:srgbClr val="1F2429"/>
                </a:solidFill>
                <a:latin typeface="Calibri" pitchFamily="34" charset="0"/>
                <a:ea typeface="Calibri" pitchFamily="34" charset="-122"/>
                <a:cs typeface="Calibri" pitchFamily="34" charset="-120"/>
              </a:rPr>
              <a:t>Violating mutual exclusion reproduces exactly the race condition traced earlier.</a:t>
            </a:r>
            <a:endParaRPr lang="en-US" sz="1400" dirty="0"/>
          </a:p>
          <a:p>
            <a:pPr indent="0" marL="0">
              <a:spcAft>
                <a:spcPts val="600"/>
              </a:spcAft>
              <a:buNone/>
            </a:pPr>
            <a:r>
              <a:rPr lang="en-US" sz="1400" dirty="0">
                <a:solidFill>
                  <a:srgbClr val="1F2429"/>
                </a:solidFill>
                <a:latin typeface="Calibri" pitchFamily="34" charset="0"/>
                <a:ea typeface="Calibri" pitchFamily="34" charset="-122"/>
                <a:cs typeface="Calibri" pitchFamily="34" charset="-120"/>
              </a:rPr>
              <a:t>Violating progress can leave every process stuck in a decision no one is empowered to make — a kind of deadlock.</a:t>
            </a:r>
            <a:endParaRPr lang="en-US" sz="1400" dirty="0"/>
          </a:p>
          <a:p>
            <a:pPr indent="0" marL="0">
              <a:spcAft>
                <a:spcPts val="600"/>
              </a:spcAft>
              <a:buNone/>
            </a:pPr>
            <a:r>
              <a:rPr lang="en-US" sz="1400" dirty="0">
                <a:solidFill>
                  <a:srgbClr val="1F2429"/>
                </a:solidFill>
                <a:latin typeface="Calibri" pitchFamily="34" charset="0"/>
                <a:ea typeface="Calibri" pitchFamily="34" charset="-122"/>
                <a:cs typeface="Calibri" pitchFamily="34" charset="-120"/>
              </a:rPr>
              <a:t>Violating bounded waiting allows one unlucky process to be passed over indefinitely even though the system keeps making progress — starvation.</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A CRUDE FIX</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Disabling Interrupts</a:t>
            </a:r>
            <a:endParaRPr lang="en-US" sz="3200" dirty="0"/>
          </a:p>
        </p:txBody>
      </p:sp>
      <p:sp>
        <p:nvSpPr>
          <p:cNvPr id="4" name="Shape 2"/>
          <p:cNvSpPr/>
          <p:nvPr/>
        </p:nvSpPr>
        <p:spPr>
          <a:xfrm>
            <a:off x="640080" y="1965960"/>
            <a:ext cx="10908792" cy="1722120"/>
          </a:xfrm>
          <a:prstGeom prst="roundRect">
            <a:avLst>
              <a:gd name="adj" fmla="val 4248"/>
            </a:avLst>
          </a:prstGeom>
          <a:solidFill>
            <a:srgbClr val="1E1E4C"/>
          </a:solidFill>
          <a:ln/>
        </p:spPr>
      </p:sp>
      <p:sp>
        <p:nvSpPr>
          <p:cNvPr id="5" name="Text 3"/>
          <p:cNvSpPr txBox="1"/>
          <p:nvPr/>
        </p:nvSpPr>
        <p:spPr>
          <a:xfrm>
            <a:off x="960120" y="2194560"/>
            <a:ext cx="10268712" cy="1310640"/>
          </a:xfrm>
          <a:prstGeom prst="rect">
            <a:avLst/>
          </a:prstGeom>
          <a:noFill/>
          <a:ln/>
        </p:spPr>
        <p:txBody>
          <a:bodyPr wrap="square" lIns="0" tIns="0" rIns="0" bIns="0" rtlCol="0" anchor="t"/>
          <a:lstStyle/>
          <a:p>
            <a:pPr indent="0" marL="0">
              <a:lnSpc>
                <a:spcPct val="125000"/>
              </a:lnSpc>
              <a:buNone/>
            </a:pPr>
            <a:r>
              <a:rPr lang="en-US" sz="2000" dirty="0">
                <a:solidFill>
                  <a:srgbClr val="C9D3F5"/>
                </a:solidFill>
                <a:latin typeface="Courier New" pitchFamily="34" charset="0"/>
                <a:ea typeface="Courier New" pitchFamily="34" charset="-122"/>
                <a:cs typeface="Courier New" pitchFamily="34" charset="-120"/>
              </a:rPr>
              <a:t>disable_interrupts();</a:t>
            </a:r>
            <a:endParaRPr lang="en-US" sz="2000" dirty="0"/>
          </a:p>
          <a:p>
            <a:pPr indent="0" marL="0">
              <a:lnSpc>
                <a:spcPct val="125000"/>
              </a:lnSpc>
              <a:buNone/>
            </a:pPr>
            <a:r>
              <a:rPr lang="en-US" sz="2000" dirty="0">
                <a:solidFill>
                  <a:srgbClr val="C9D3F5"/>
                </a:solidFill>
                <a:latin typeface="Courier New" pitchFamily="34" charset="0"/>
                <a:ea typeface="Courier New" pitchFamily="34" charset="-122"/>
                <a:cs typeface="Courier New" pitchFamily="34" charset="-120"/>
              </a:rPr>
              <a:t>    critical section</a:t>
            </a:r>
            <a:endParaRPr lang="en-US" sz="2000" dirty="0"/>
          </a:p>
          <a:p>
            <a:pPr indent="0" marL="0">
              <a:lnSpc>
                <a:spcPct val="125000"/>
              </a:lnSpc>
              <a:buNone/>
            </a:pPr>
            <a:r>
              <a:rPr lang="en-US" sz="2000" dirty="0">
                <a:solidFill>
                  <a:srgbClr val="C9D3F5"/>
                </a:solidFill>
                <a:latin typeface="Courier New" pitchFamily="34" charset="0"/>
                <a:ea typeface="Courier New" pitchFamily="34" charset="-122"/>
                <a:cs typeface="Courier New" pitchFamily="34" charset="-120"/>
              </a:rPr>
              <a:t>enable_interrupts();</a:t>
            </a:r>
            <a:endParaRPr lang="en-US" sz="20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Why Disabling Interrupts Isn't Enough</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14</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It does not work on a multiprocessor — disabling interrupts affects only the CPU core that executed the instruction. Any other core can schedule a different process straight into the same critical section.</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It hands every process a dangerous amount of power — a process that disables interrupts and then crashes, loops forever, or never re-enables them can freeze the entire machine, not just its own critical section.</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Even setting those aside, it is a blunt instrument: it blocks every interrupt, including timers and I/O completions unrelated to the resource being protected.</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PETERSON'S SOLUTION</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Two Shared Variables, One Loop</a:t>
            </a:r>
            <a:endParaRPr lang="en-US" sz="3200" dirty="0"/>
          </a:p>
        </p:txBody>
      </p:sp>
      <p:sp>
        <p:nvSpPr>
          <p:cNvPr id="4" name="Shape 2"/>
          <p:cNvSpPr/>
          <p:nvPr/>
        </p:nvSpPr>
        <p:spPr>
          <a:xfrm>
            <a:off x="640080" y="1965960"/>
            <a:ext cx="10908792" cy="3916680"/>
          </a:xfrm>
          <a:prstGeom prst="roundRect">
            <a:avLst>
              <a:gd name="adj" fmla="val 1868"/>
            </a:avLst>
          </a:prstGeom>
          <a:solidFill>
            <a:srgbClr val="1E1E4C"/>
          </a:solidFill>
          <a:ln/>
        </p:spPr>
      </p:sp>
      <p:sp>
        <p:nvSpPr>
          <p:cNvPr id="5" name="Text 3"/>
          <p:cNvSpPr txBox="1"/>
          <p:nvPr/>
        </p:nvSpPr>
        <p:spPr>
          <a:xfrm>
            <a:off x="960120" y="2194560"/>
            <a:ext cx="10268712" cy="3505200"/>
          </a:xfrm>
          <a:prstGeom prst="rect">
            <a:avLst/>
          </a:prstGeom>
          <a:noFill/>
          <a:ln/>
        </p:spPr>
        <p:txBody>
          <a:bodyPr wrap="square" lIns="0" tIns="0" rIns="0" bIns="0" rtlCol="0" anchor="t"/>
          <a:lstStyle/>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int turn;         /* whose turn, when both want in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boolean flag[2];  /* flag[i] == true means Pi wants in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code executed by process Pi (j is the other process)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flag[i] = true;</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turn = j;</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while (flag[j] &amp;&amp; turn == j)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 busy wait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critical section */</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flag[i] = false;</a:t>
            </a:r>
            <a:endParaRPr lang="en-US" sz="1400" dirty="0"/>
          </a:p>
          <a:p>
            <a:pPr indent="0" marL="0">
              <a:lnSpc>
                <a:spcPct val="125000"/>
              </a:lnSpc>
              <a:buNone/>
            </a:pPr>
            <a:r>
              <a:rPr lang="en-US" sz="1400" dirty="0">
                <a:solidFill>
                  <a:srgbClr val="C9D3F5"/>
                </a:solidFill>
                <a:latin typeface="Courier New" pitchFamily="34" charset="0"/>
                <a:ea typeface="Courier New" pitchFamily="34" charset="-122"/>
                <a:cs typeface="Courier New" pitchFamily="34" charset="-120"/>
              </a:rPr>
              <a:t>/* remainder section */</a:t>
            </a:r>
            <a:endParaRPr lang="en-US" sz="14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Reading Peterson's Solution</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16</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flag[i] = true says “I want to enter.”</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turn = j says “but I will politely let you go first, if you also want in right now.”</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The while condition says: keep waiting only while the other process also wants in AND it is genuinely the other process's turn.</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Proof: Mutual Exclusion</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17</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Suppose, for contradiction, that both Pi and Pj are inside their critical sections at the same time.</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For Pi to have passed its while loop, either flag[j] was false or turn was not j — but Pj is also in its critical section, so flag[j] must be true. That forces turn == i.</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By the symmetric argument, Pj getting through forces turn == j.</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turn is a single shared integer — it cannot equal both i and j at once. Contradiction. Mutual exclusion holds.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Proof: Progress</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18</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process sitting in its remainder section has flag set to false and therefore cannot block anyone — the other process's while condition sees flag[j] = false and proceeds.</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If only one process wants to enter, its own while condition is false immediately, so it proceeds without delay.</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If both want in, turn holds exactly one value, and whichever process that value favors proceeds — the decision is never postponed indefinitely.</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Proof: Bounded Waiting</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19</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Each time Pi attempts entry, it sets turn = j, explicitly deferring to the other process.</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If Pi exits, resets flag[i], and later re-enters while Pj is still waiting, Pi's new attempt again sets turn = j — exactly the condition that lets the already-waiting Pj proceed next.</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A process can therefore be overtaken by the other at most once before its own entry is granted. No process can be skipped an unbounded number of times.</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An Elegant Proof of Possibility</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20</a:t>
            </a:r>
            <a:endParaRPr lang="en-US" sz="1000" dirty="0"/>
          </a:p>
        </p:txBody>
      </p:sp>
      <p:sp>
        <p:nvSpPr>
          <p:cNvPr id="4" name="Shape 2"/>
          <p:cNvSpPr/>
          <p:nvPr/>
        </p:nvSpPr>
        <p:spPr>
          <a:xfrm>
            <a:off x="640080" y="1463040"/>
            <a:ext cx="10908792" cy="3017520"/>
          </a:xfrm>
          <a:prstGeom prst="roundRect">
            <a:avLst>
              <a:gd name="adj" fmla="val 2424"/>
            </a:avLst>
          </a:prstGeom>
          <a:solidFill>
            <a:srgbClr val="E3FBF6"/>
          </a:solidFill>
          <a:ln/>
        </p:spPr>
      </p:sp>
      <p:sp>
        <p:nvSpPr>
          <p:cNvPr id="5" name="Text 3"/>
          <p:cNvSpPr txBox="1"/>
          <p:nvPr/>
        </p:nvSpPr>
        <p:spPr>
          <a:xfrm>
            <a:off x="896112" y="1664208"/>
            <a:ext cx="10396728" cy="274320"/>
          </a:xfrm>
          <a:prstGeom prst="rect">
            <a:avLst/>
          </a:prstGeom>
          <a:noFill/>
          <a:ln/>
        </p:spPr>
        <p:txBody>
          <a:bodyPr wrap="square" lIns="0" tIns="0" rIns="0" bIns="0" rtlCol="0" anchor="t"/>
          <a:lstStyle/>
          <a:p>
            <a:pPr indent="0" marL="0">
              <a:buNone/>
            </a:pPr>
            <a:r>
              <a:rPr lang="en-US" sz="1200" b="1" spc="150" kern="0" dirty="0">
                <a:solidFill>
                  <a:srgbClr val="12B394"/>
                </a:solidFill>
                <a:latin typeface="Calibri" pitchFamily="34" charset="0"/>
                <a:ea typeface="Calibri" pitchFamily="34" charset="-122"/>
                <a:cs typeface="Calibri" pitchFamily="34" charset="-120"/>
              </a:rPr>
              <a:t>PETERSON'S SOLUTION NEEDS NO HARDWARE SUPPORT AT ALL</a:t>
            </a:r>
            <a:endParaRPr lang="en-US" sz="1200" dirty="0"/>
          </a:p>
        </p:txBody>
      </p:sp>
      <p:sp>
        <p:nvSpPr>
          <p:cNvPr id="6" name="Text 4"/>
          <p:cNvSpPr txBox="1"/>
          <p:nvPr/>
        </p:nvSpPr>
        <p:spPr>
          <a:xfrm>
            <a:off x="896112" y="1993392"/>
            <a:ext cx="10396728" cy="2231136"/>
          </a:xfrm>
          <a:prstGeom prst="rect">
            <a:avLst/>
          </a:prstGeom>
          <a:noFill/>
          <a:ln/>
        </p:spPr>
        <p:txBody>
          <a:bodyPr wrap="square" lIns="0" tIns="0" rIns="0" bIns="0" rtlCol="0" anchor="t"/>
          <a:lstStyle/>
          <a:p>
            <a:pPr indent="0" marL="0">
              <a:spcAft>
                <a:spcPts val="600"/>
              </a:spcAft>
              <a:buNone/>
            </a:pPr>
            <a:r>
              <a:rPr lang="en-US" sz="1400" dirty="0">
                <a:solidFill>
                  <a:srgbClr val="1F2429"/>
                </a:solidFill>
                <a:latin typeface="Calibri" pitchFamily="34" charset="0"/>
                <a:ea typeface="Calibri" pitchFamily="34" charset="-122"/>
                <a:cs typeface="Calibri" pitchFamily="34" charset="-120"/>
              </a:rPr>
              <a:t>Every operation above — reading a boolean, writing a boolean, reading and writing an integer — is something any CPU could do with ordinary load/store instructions decades before specialized atomic instructions existed.</a:t>
            </a:r>
            <a:endParaRPr lang="en-US" sz="1400" dirty="0"/>
          </a:p>
          <a:p>
            <a:pPr indent="0" marL="0">
              <a:spcAft>
                <a:spcPts val="600"/>
              </a:spcAft>
              <a:buNone/>
            </a:pPr>
            <a:r>
              <a:rPr lang="en-US" sz="1400" dirty="0">
                <a:solidFill>
                  <a:srgbClr val="1F2429"/>
                </a:solidFill>
                <a:latin typeface="Calibri" pitchFamily="34" charset="0"/>
                <a:ea typeface="Calibri" pitchFamily="34" charset="-122"/>
                <a:cs typeface="Calibri" pitchFamily="34" charset="-120"/>
              </a:rPr>
              <a:t>That is exactly what makes it an elegant proof of possibility: mutual exclusion does not strictly require special hardware.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The Catch: Reordering</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21</a:t>
            </a:r>
            <a:endParaRPr lang="en-US" sz="1000" dirty="0"/>
          </a:p>
        </p:txBody>
      </p:sp>
      <p:sp>
        <p:nvSpPr>
          <p:cNvPr id="4" name="Shape 2"/>
          <p:cNvSpPr/>
          <p:nvPr/>
        </p:nvSpPr>
        <p:spPr>
          <a:xfrm>
            <a:off x="640080" y="1325880"/>
            <a:ext cx="10908792" cy="2286000"/>
          </a:xfrm>
          <a:prstGeom prst="roundRect">
            <a:avLst>
              <a:gd name="adj" fmla="val 3200"/>
            </a:avLst>
          </a:prstGeom>
          <a:solidFill>
            <a:srgbClr val="FBEFE0"/>
          </a:solidFill>
          <a:ln/>
        </p:spPr>
      </p:sp>
      <p:sp>
        <p:nvSpPr>
          <p:cNvPr id="5" name="Text 3"/>
          <p:cNvSpPr txBox="1"/>
          <p:nvPr/>
        </p:nvSpPr>
        <p:spPr>
          <a:xfrm>
            <a:off x="896112" y="1527048"/>
            <a:ext cx="10396728" cy="274320"/>
          </a:xfrm>
          <a:prstGeom prst="rect">
            <a:avLst/>
          </a:prstGeom>
          <a:noFill/>
          <a:ln/>
        </p:spPr>
        <p:txBody>
          <a:bodyPr wrap="square" lIns="0" tIns="0" rIns="0" bIns="0" rtlCol="0" anchor="t"/>
          <a:lstStyle/>
          <a:p>
            <a:pPr indent="0" marL="0">
              <a:buNone/>
            </a:pPr>
            <a:r>
              <a:rPr lang="en-US" sz="1200" b="1" spc="150" kern="0" dirty="0">
                <a:solidFill>
                  <a:srgbClr val="B9720E"/>
                </a:solidFill>
                <a:latin typeface="Calibri" pitchFamily="34" charset="0"/>
                <a:ea typeface="Calibri" pitchFamily="34" charset="-122"/>
                <a:cs typeface="Calibri" pitchFamily="34" charset="-120"/>
              </a:rPr>
              <a:t>PETERSON'S SOLUTION CAN FAIL ON REAL MODERN HARDWARE</a:t>
            </a:r>
            <a:endParaRPr lang="en-US" sz="1200" dirty="0"/>
          </a:p>
        </p:txBody>
      </p:sp>
      <p:sp>
        <p:nvSpPr>
          <p:cNvPr id="6" name="Text 4"/>
          <p:cNvSpPr txBox="1"/>
          <p:nvPr/>
        </p:nvSpPr>
        <p:spPr>
          <a:xfrm>
            <a:off x="896112" y="1856232"/>
            <a:ext cx="10396728" cy="1499616"/>
          </a:xfrm>
          <a:prstGeom prst="rect">
            <a:avLst/>
          </a:prstGeom>
          <a:noFill/>
          <a:ln/>
        </p:spPr>
        <p:txBody>
          <a:bodyPr wrap="square" lIns="0" tIns="0" rIns="0" bIns="0" rtlCol="0" anchor="t"/>
          <a:lstStyle/>
          <a:p>
            <a:pPr indent="0" marL="0">
              <a:spcAft>
                <a:spcPts val="600"/>
              </a:spcAft>
              <a:buNone/>
            </a:pPr>
            <a:r>
              <a:rPr lang="en-US" sz="1300" dirty="0">
                <a:solidFill>
                  <a:srgbClr val="1F2429"/>
                </a:solidFill>
                <a:latin typeface="Calibri" pitchFamily="34" charset="0"/>
                <a:ea typeface="Calibri" pitchFamily="34" charset="-122"/>
                <a:cs typeface="Calibri" pitchFamily="34" charset="-120"/>
              </a:rPr>
              <a:t>The proof silently assumes that once Pi writes flag[i] = true and turn = j, those writes are immediately visible to Pj before Pj evaluates its own while condition.</a:t>
            </a:r>
            <a:endParaRPr lang="en-US" sz="1300" dirty="0"/>
          </a:p>
          <a:p>
            <a:pPr indent="0" marL="0">
              <a:spcAft>
                <a:spcPts val="600"/>
              </a:spcAft>
              <a:buNone/>
            </a:pPr>
            <a:r>
              <a:rPr lang="en-US" sz="1300" dirty="0">
                <a:solidFill>
                  <a:srgbClr val="1F2429"/>
                </a:solidFill>
                <a:latin typeface="Calibri" pitchFamily="34" charset="0"/>
                <a:ea typeface="Calibri" pitchFamily="34" charset="-122"/>
                <a:cs typeface="Calibri" pitchFamily="34" charset="-120"/>
              </a:rPr>
              <a:t>Modern compilers and CPUs do not guarantee that ordering by default — out-of-order execution and per-core store buffers can delay a write's visibility to other cores.</a:t>
            </a:r>
            <a:endParaRPr lang="en-US" sz="1300" dirty="0"/>
          </a:p>
        </p:txBody>
      </p:sp>
      <p:sp>
        <p:nvSpPr>
          <p:cNvPr id="7" name="Text 5"/>
          <p:cNvSpPr txBox="1"/>
          <p:nvPr/>
        </p:nvSpPr>
        <p:spPr>
          <a:xfrm>
            <a:off x="640080" y="3794760"/>
            <a:ext cx="10908792" cy="1280160"/>
          </a:xfrm>
          <a:prstGeom prst="rect">
            <a:avLst/>
          </a:prstGeom>
          <a:noFill/>
          <a:ln/>
        </p:spPr>
        <p:txBody>
          <a:bodyPr wrap="square" lIns="0" tIns="0" rIns="0" bIns="0" rtlCol="0" anchor="t"/>
          <a:lstStyle/>
          <a:p>
            <a:pPr marL="342900" indent="-342900">
              <a:spcAft>
                <a:spcPts val="1800"/>
              </a:spcAft>
              <a:buSzPct val="100000"/>
              <a:buChar char="•"/>
            </a:pPr>
            <a:r>
              <a:rPr lang="en-US" sz="1400" dirty="0">
                <a:solidFill>
                  <a:srgbClr val="1F2429"/>
                </a:solidFill>
                <a:latin typeface="Calibri" pitchFamily="34" charset="0"/>
                <a:ea typeface="Calibri" pitchFamily="34" charset="-122"/>
                <a:cs typeface="Calibri" pitchFamily="34" charset="-120"/>
              </a:rPr>
              <a:t>If the write to flag[i] (or turn) is reordered to happen after the read of flag[j], both processes can observe the other's flag as still false and both enter the critical section at once — exactly as if no synchronization existed.</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457200"/>
            <a:ext cx="10881360" cy="365760"/>
          </a:xfrm>
          <a:prstGeom prst="rect">
            <a:avLst/>
          </a:prstGeom>
          <a:noFill/>
          <a:ln/>
        </p:spPr>
        <p:txBody>
          <a:bodyPr wrap="square" lIns="0" tIns="0" rIns="0" bIns="0" rtlCol="0" anchor="ctr"/>
          <a:lstStyle/>
          <a:p>
            <a:pPr indent="0" marL="0">
              <a:buNone/>
            </a:pPr>
            <a:r>
              <a:rPr lang="en-US" sz="1300" b="1" spc="300" kern="0" dirty="0">
                <a:solidFill>
                  <a:srgbClr val="FF8A3D"/>
                </a:solidFill>
                <a:latin typeface="Calibri" pitchFamily="34" charset="0"/>
                <a:ea typeface="Calibri" pitchFamily="34" charset="-122"/>
                <a:cs typeface="Calibri" pitchFamily="34" charset="-120"/>
              </a:rPr>
              <a:t>THE FIX</a:t>
            </a:r>
            <a:endParaRPr lang="en-US" sz="1300" dirty="0"/>
          </a:p>
        </p:txBody>
      </p:sp>
      <p:sp>
        <p:nvSpPr>
          <p:cNvPr id="3" name="Text 1"/>
          <p:cNvSpPr txBox="1"/>
          <p:nvPr/>
        </p:nvSpPr>
        <p:spPr>
          <a:xfrm>
            <a:off x="640080" y="841248"/>
            <a:ext cx="10908792" cy="914400"/>
          </a:xfrm>
          <a:prstGeom prst="rect">
            <a:avLst/>
          </a:prstGeom>
          <a:noFill/>
          <a:ln/>
        </p:spPr>
        <p:txBody>
          <a:bodyPr wrap="square" lIns="0" tIns="0" rIns="0" bIns="0" rtlCol="0" anchor="t"/>
          <a:lstStyle/>
          <a:p>
            <a:pPr indent="0" marL="0">
              <a:buNone/>
            </a:pPr>
            <a:r>
              <a:rPr lang="en-US" sz="3200" b="1" dirty="0">
                <a:solidFill>
                  <a:srgbClr val="2B2B7A"/>
                </a:solidFill>
                <a:latin typeface="Cambria" pitchFamily="34" charset="0"/>
                <a:ea typeface="Cambria" pitchFamily="34" charset="-122"/>
                <a:cs typeface="Cambria" pitchFamily="34" charset="-120"/>
              </a:rPr>
              <a:t>An Explicit Memory Barrier</a:t>
            </a:r>
            <a:endParaRPr lang="en-US" sz="3200" dirty="0"/>
          </a:p>
        </p:txBody>
      </p:sp>
      <p:sp>
        <p:nvSpPr>
          <p:cNvPr id="4" name="Shape 2"/>
          <p:cNvSpPr/>
          <p:nvPr/>
        </p:nvSpPr>
        <p:spPr>
          <a:xfrm>
            <a:off x="640080" y="1965960"/>
            <a:ext cx="10908792" cy="2778760"/>
          </a:xfrm>
          <a:prstGeom prst="roundRect">
            <a:avLst>
              <a:gd name="adj" fmla="val 2633"/>
            </a:avLst>
          </a:prstGeom>
          <a:solidFill>
            <a:srgbClr val="1E1E4C"/>
          </a:solidFill>
          <a:ln/>
        </p:spPr>
      </p:sp>
      <p:sp>
        <p:nvSpPr>
          <p:cNvPr id="5" name="Text 3"/>
          <p:cNvSpPr txBox="1"/>
          <p:nvPr/>
        </p:nvSpPr>
        <p:spPr>
          <a:xfrm>
            <a:off x="960120" y="2194560"/>
            <a:ext cx="10268712" cy="2367280"/>
          </a:xfrm>
          <a:prstGeom prst="rect">
            <a:avLst/>
          </a:prstGeom>
          <a:noFill/>
          <a:ln/>
        </p:spPr>
        <p:txBody>
          <a:bodyPr wrap="square" lIns="0" tIns="0" rIns="0" bIns="0" rtlCol="0" anchor="t"/>
          <a:lstStyle/>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flag[i] = true;</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turn = j;</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memory_barrier();     /* force the writes above</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to be visible first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while (flag[j] &amp;&amp; turn == j)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    /* busy wait */</a:t>
            </a:r>
            <a:endParaRPr lang="en-US" sz="1600" dirty="0"/>
          </a:p>
          <a:p>
            <a:pPr indent="0" marL="0">
              <a:lnSpc>
                <a:spcPct val="125000"/>
              </a:lnSpc>
              <a:buNone/>
            </a:pPr>
            <a:r>
              <a:rPr lang="en-US" sz="1600" dirty="0">
                <a:solidFill>
                  <a:srgbClr val="C9D3F5"/>
                </a:solidFill>
                <a:latin typeface="Courier New" pitchFamily="34" charset="0"/>
                <a:ea typeface="Courier New" pitchFamily="34" charset="-122"/>
                <a:cs typeface="Courier New" pitchFamily="34" charset="-120"/>
              </a:rPr>
              <a:t>}</a:t>
            </a:r>
            <a:endParaRPr lang="en-US" sz="1600" dirty="0"/>
          </a:p>
        </p:txBody>
      </p:sp>
      <p:sp>
        <p:nvSpPr>
          <p:cNvPr id="6" name="Text 4"/>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8F9"/>
        </a:solidFill>
      </p:bgPr>
    </p:bg>
    <p:spTree>
      <p:nvGrpSpPr>
        <p:cNvPr id="1" name=""/>
        <p:cNvGrpSpPr/>
        <p:nvPr/>
      </p:nvGrpSpPr>
      <p:grpSpPr>
        <a:xfrm>
          <a:off x="0" y="0"/>
          <a:ext cx="0" cy="0"/>
          <a:chOff x="0" y="0"/>
          <a:chExt cx="0" cy="0"/>
        </a:xfrm>
      </p:grpSpPr>
      <p:sp>
        <p:nvSpPr>
          <p:cNvPr id="2" name="Text 0"/>
          <p:cNvSpPr txBox="1"/>
          <p:nvPr/>
        </p:nvSpPr>
        <p:spPr>
          <a:xfrm>
            <a:off x="548640" y="365760"/>
            <a:ext cx="11064240" cy="731520"/>
          </a:xfrm>
          <a:prstGeom prst="rect">
            <a:avLst/>
          </a:prstGeom>
          <a:noFill/>
          <a:ln/>
        </p:spPr>
        <p:txBody>
          <a:bodyPr wrap="square" lIns="0" tIns="0" rIns="0" bIns="0" rtlCol="0" anchor="ctr"/>
          <a:lstStyle/>
          <a:p>
            <a:pPr indent="0" marL="0">
              <a:buNone/>
            </a:pPr>
            <a:r>
              <a:rPr lang="en-US" sz="2800" b="1" dirty="0">
                <a:solidFill>
                  <a:srgbClr val="1F2429"/>
                </a:solidFill>
                <a:latin typeface="Calibri" pitchFamily="34" charset="0"/>
                <a:ea typeface="Calibri" pitchFamily="34" charset="-122"/>
                <a:cs typeface="Calibri" pitchFamily="34" charset="-120"/>
              </a:rPr>
              <a:t>A Proof of Concept, Not Production Code</a:t>
            </a:r>
            <a:endParaRPr lang="en-US" sz="2800" dirty="0"/>
          </a:p>
        </p:txBody>
      </p:sp>
      <p:sp>
        <p:nvSpPr>
          <p:cNvPr id="3" name="Text 1"/>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23</a:t>
            </a:r>
            <a:endParaRPr lang="en-US" sz="1000" dirty="0"/>
          </a:p>
        </p:txBody>
      </p:sp>
      <p:sp>
        <p:nvSpPr>
          <p:cNvPr id="4" name="Text 2"/>
          <p:cNvSpPr txBox="1"/>
          <p:nvPr/>
        </p:nvSpPr>
        <p:spPr>
          <a:xfrm>
            <a:off x="640080" y="1371600"/>
            <a:ext cx="10332720" cy="4846320"/>
          </a:xfrm>
          <a:prstGeom prst="rect">
            <a:avLst/>
          </a:prstGeom>
          <a:noFill/>
          <a:ln/>
        </p:spPr>
        <p:txBody>
          <a:bodyPr wrap="square" lIns="0" tIns="0" rIns="0" bIns="0" rtlCol="0" anchor="t"/>
          <a:lstStyle/>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This is the main reason textbook presentations of Peterson's solution are best understood as a pedagogical proof of concept, not as code you would actually ship.</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Real systems never implement mutual exclusion with a hand-written Peterson loop; they build on hardware instructions specifically designed to carry the correct ordering and atomicity guarantees built in.</a:t>
            </a:r>
            <a:endParaRPr lang="en-US" sz="1600" dirty="0"/>
          </a:p>
          <a:p>
            <a:pPr marL="342900" indent="-342900">
              <a:spcAft>
                <a:spcPts val="1800"/>
              </a:spcAft>
              <a:buSzPct val="100000"/>
              <a:buChar char="•"/>
            </a:pPr>
            <a:r>
              <a:rPr lang="en-US" sz="1600" dirty="0">
                <a:solidFill>
                  <a:srgbClr val="1F2429"/>
                </a:solidFill>
                <a:latin typeface="Calibri" pitchFamily="34" charset="0"/>
                <a:ea typeface="Calibri" pitchFamily="34" charset="-122"/>
                <a:cs typeface="Calibri" pitchFamily="34" charset="-120"/>
              </a:rPr>
              <a:t>That is exactly where Lecture 14 picks up: test_and_set(), compare_and_swap(), mutex locks, semaphores, and monitors.</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4181C"/>
        </a:solidFill>
      </p:bgPr>
    </p:bg>
    <p:spTree>
      <p:nvGrpSpPr>
        <p:cNvPr id="1" name=""/>
        <p:cNvGrpSpPr/>
        <p:nvPr/>
      </p:nvGrpSpPr>
      <p:grpSpPr>
        <a:xfrm>
          <a:off x="0" y="0"/>
          <a:ext cx="0" cy="0"/>
          <a:chOff x="0" y="0"/>
          <a:chExt cx="0" cy="0"/>
        </a:xfrm>
      </p:grpSpPr>
      <p:sp>
        <p:nvSpPr>
          <p:cNvPr id="2" name="Text 0"/>
          <p:cNvSpPr txBox="1"/>
          <p:nvPr/>
        </p:nvSpPr>
        <p:spPr>
          <a:xfrm>
            <a:off x="822960" y="640080"/>
            <a:ext cx="10506456" cy="73152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Text 1"/>
          <p:cNvSpPr txBox="1"/>
          <p:nvPr/>
        </p:nvSpPr>
        <p:spPr>
          <a:xfrm>
            <a:off x="822960" y="1645920"/>
            <a:ext cx="10332720" cy="457200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A race condition happens when the final result of concurrent access to shared data depends on the timing of instruction interleaving — the shared-counter example produced 5 under one interleaving and 4 under another.</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The critical section problem requires any solution to guarantee mutual exclusion, progress, and bounded waiting — three independent properties, each with its own failure mode.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Disabling interrupts gives trivial mutual exclusion on a single CPU but fails outright on multiprocessors and hands any process the power to freeze the entire machine.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Peterson's solution solves the two-process case with nothing but ordinary shared variables, and its three correctness properties can each be argued directly from the code.</a:t>
            </a:r>
            <a:endParaRPr lang="en-US" sz="1600" dirty="0"/>
          </a:p>
          <a:p>
            <a:pPr marL="342900" indent="-342900">
              <a:spcAft>
                <a:spcPts val="1600"/>
              </a:spcAft>
              <a:buSzPct val="100000"/>
              <a:buChar char="•"/>
            </a:pPr>
            <a:r>
              <a:rPr lang="en-US" sz="1600" dirty="0">
                <a:solidFill>
                  <a:srgbClr val="FFFFFF"/>
                </a:solidFill>
                <a:latin typeface="Calibri" pitchFamily="34" charset="0"/>
                <a:ea typeface="Calibri" pitchFamily="34" charset="-122"/>
                <a:cs typeface="Calibri" pitchFamily="34" charset="-120"/>
              </a:rPr>
              <a:t>On real hardware, Peterson's solution needs an explicit memory barrier to stop the compiler or CPU from reordering its writes past its reads — without one, the algorithm's guarantees can silently collapse.</a:t>
            </a:r>
            <a:endParaRPr lang="en-US" sz="1600" dirty="0"/>
          </a:p>
        </p:txBody>
      </p:sp>
      <p:sp>
        <p:nvSpPr>
          <p:cNvPr id="4" name="Text 2"/>
          <p:cNvSpPr txBox="1"/>
          <p:nvPr/>
        </p:nvSpPr>
        <p:spPr>
          <a:xfrm>
            <a:off x="9950501" y="6456578"/>
            <a:ext cx="2011680" cy="292608"/>
          </a:xfrm>
          <a:prstGeom prst="rect">
            <a:avLst/>
          </a:prstGeom>
          <a:noFill/>
          <a:ln/>
        </p:spPr>
        <p:txBody>
          <a:bodyPr wrap="square" lIns="0" tIns="0" rIns="0" bIns="0" rtlCol="0" anchor="ctr"/>
          <a:lstStyle/>
          <a:p>
            <a:pPr algn="r" indent="0" marL="0">
              <a:buNone/>
            </a:pPr>
            <a:r>
              <a:rPr lang="en-US" sz="1000" u="sng" dirty="0">
                <a:solidFill>
                  <a:srgbClr val="8A939B"/>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cuinotes.com</a:t>
            </a:r>
            <a:pPr algn="r" indent="0" marL="0">
              <a:buNone/>
            </a:pPr>
            <a:r>
              <a:rPr lang="en-US" sz="1000" dirty="0">
                <a:solidFill>
                  <a:srgbClr val="8A939B"/>
                </a:solidFill>
                <a:latin typeface="Calibri" pitchFamily="34" charset="0"/>
                <a:ea typeface="Calibri" pitchFamily="34" charset="-122"/>
                <a:cs typeface="Calibri" pitchFamily="34" charset="-120"/>
              </a:rPr>
              <a:t>  ·  24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2026-10-02T04:40:46Z</dcterms:created>
  <dcterms:modified xsi:type="dcterms:W3CDTF">2026-10-02T04:40:46Z</dcterms:modified>
</cp:coreProperties>
</file>
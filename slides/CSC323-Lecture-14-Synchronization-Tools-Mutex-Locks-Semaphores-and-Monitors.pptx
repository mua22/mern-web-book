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7926"/>
            <a:ext cx="10506456"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14</a:t>
            </a:r>
            <a:endParaRPr lang="en-US" sz="1600" dirty="0"/>
          </a:p>
        </p:txBody>
      </p:sp>
      <p:sp>
        <p:nvSpPr>
          <p:cNvPr id="3" name="Text 1"/>
          <p:cNvSpPr txBox="1"/>
          <p:nvPr/>
        </p:nvSpPr>
        <p:spPr>
          <a:xfrm>
            <a:off x="822960" y="2606040"/>
            <a:ext cx="10506456"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Synchronization Tools: Mutex Locks, Semaphores, and Monitors</a:t>
            </a:r>
            <a:endParaRPr lang="en-US" sz="4000" dirty="0"/>
          </a:p>
        </p:txBody>
      </p:sp>
      <p:sp>
        <p:nvSpPr>
          <p:cNvPr id="4" name="Text 2"/>
          <p:cNvSpPr txBox="1"/>
          <p:nvPr/>
        </p:nvSpPr>
        <p:spPr>
          <a:xfrm>
            <a:off x="822960" y="4343400"/>
            <a:ext cx="10506456"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06456"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Two hardware instructions, test_and_set() and compare_and_swap(), and the property that lets them succeed where Peterson's solution struggled: hardware-guaranteed atomicity</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Atomic variables, briefly, as a convenient layer built on top of those instructions</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Mutex locks: acquire()/release(), spinlocks, and when busy-waiting is genuinely the right engineering choice</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Semaphores: wait()/signal(), counting vs. binary semaphores, and enforcing a required order between two processes' events</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Why a correct semaphore implementation must avoid busy-waiting too, by blocking the caller</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Monitors: automatic mutual exclusion plus condition variables, and how a condition variable's wait()/signal() differs from a semaphore's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Hardware Support: Atomic Instructions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core problem with Peterson's solution is that nothing in it is atomic — every read and write is a separate, interruptible step, which is exactly why reordering can break it.</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Modern CPUs provide instructions that the hardware itself guarantees execute as a single, uninterruptible unit: no other core can observe, or interleave with, any intermediate state partway through.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HARDWARE ATOMICITY</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test_and_set()</a:t>
            </a:r>
            <a:endParaRPr lang="en-US" sz="3200" dirty="0"/>
          </a:p>
        </p:txBody>
      </p:sp>
      <p:sp>
        <p:nvSpPr>
          <p:cNvPr id="4" name="Shape 2"/>
          <p:cNvSpPr/>
          <p:nvPr/>
        </p:nvSpPr>
        <p:spPr>
          <a:xfrm>
            <a:off x="640080" y="1965960"/>
            <a:ext cx="10908792" cy="3103880"/>
          </a:xfrm>
          <a:prstGeom prst="roundRect">
            <a:avLst>
              <a:gd name="adj" fmla="val 2357"/>
            </a:avLst>
          </a:prstGeom>
          <a:solidFill>
            <a:srgbClr val="1E1E4C"/>
          </a:solidFill>
          <a:ln/>
        </p:spPr>
      </p:sp>
      <p:sp>
        <p:nvSpPr>
          <p:cNvPr id="5" name="Text 3"/>
          <p:cNvSpPr txBox="1"/>
          <p:nvPr/>
        </p:nvSpPr>
        <p:spPr>
          <a:xfrm>
            <a:off x="960120" y="2194560"/>
            <a:ext cx="10268712" cy="2692400"/>
          </a:xfrm>
          <a:prstGeom prst="rect">
            <a:avLst/>
          </a:prstGeom>
          <a:noFill/>
          <a:ln/>
        </p:spPr>
        <p:txBody>
          <a:bodyPr wrap="square" lIns="0" tIns="0" rIns="0" bIns="0" rtlCol="0" anchor="t"/>
          <a:lstStyle/>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boolean test_and_set(boolean *target)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boolean rv = *target;</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*target = true;</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return rv;</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reads, unconditionally sets to true, and returns</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the OLD value — all as one atomic hardware step */</a:t>
            </a:r>
            <a:endParaRPr lang="en-US" sz="16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HARDWARE ATOMICITY</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A Lock Built From test_and_set()</a:t>
            </a:r>
            <a:endParaRPr lang="en-US" sz="3200" dirty="0"/>
          </a:p>
        </p:txBody>
      </p:sp>
      <p:sp>
        <p:nvSpPr>
          <p:cNvPr id="4" name="Shape 2"/>
          <p:cNvSpPr/>
          <p:nvPr/>
        </p:nvSpPr>
        <p:spPr>
          <a:xfrm>
            <a:off x="640080" y="1965960"/>
            <a:ext cx="10908792" cy="3855720"/>
          </a:xfrm>
          <a:prstGeom prst="roundRect">
            <a:avLst>
              <a:gd name="adj" fmla="val 1897"/>
            </a:avLst>
          </a:prstGeom>
          <a:solidFill>
            <a:srgbClr val="1E1E4C"/>
          </a:solidFill>
          <a:ln/>
        </p:spPr>
      </p:sp>
      <p:sp>
        <p:nvSpPr>
          <p:cNvPr id="5" name="Text 3"/>
          <p:cNvSpPr txBox="1"/>
          <p:nvPr/>
        </p:nvSpPr>
        <p:spPr>
          <a:xfrm>
            <a:off x="960120" y="2194560"/>
            <a:ext cx="10268712" cy="3444240"/>
          </a:xfrm>
          <a:prstGeom prst="rect">
            <a:avLst/>
          </a:prstGeom>
          <a:noFill/>
          <a:ln/>
        </p:spPr>
        <p:txBody>
          <a:bodyPr wrap="square" lIns="0" tIns="0" rIns="0" bIns="0" rtlCol="0" anchor="t"/>
          <a:lstStyle/>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boolean lock = false;</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void acquire_lock()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while (test_and_set(&amp;lock))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 busy wait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void release_lock()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lock = false;</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a:t>
            </a:r>
            <a:endParaRPr lang="en-US" sz="15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HARDWARE ATOMICITY</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compare_and_swap()</a:t>
            </a:r>
            <a:endParaRPr lang="en-US" sz="3200" dirty="0"/>
          </a:p>
        </p:txBody>
      </p:sp>
      <p:sp>
        <p:nvSpPr>
          <p:cNvPr id="4" name="Shape 2"/>
          <p:cNvSpPr/>
          <p:nvPr/>
        </p:nvSpPr>
        <p:spPr>
          <a:xfrm>
            <a:off x="640080" y="1965960"/>
            <a:ext cx="10908792" cy="3937000"/>
          </a:xfrm>
          <a:prstGeom prst="roundRect">
            <a:avLst>
              <a:gd name="adj" fmla="val 1858"/>
            </a:avLst>
          </a:prstGeom>
          <a:solidFill>
            <a:srgbClr val="1E1E4C"/>
          </a:solidFill>
          <a:ln/>
        </p:spPr>
      </p:sp>
      <p:sp>
        <p:nvSpPr>
          <p:cNvPr id="5" name="Text 3"/>
          <p:cNvSpPr txBox="1"/>
          <p:nvPr/>
        </p:nvSpPr>
        <p:spPr>
          <a:xfrm>
            <a:off x="960120" y="2194560"/>
            <a:ext cx="10268712" cy="3525520"/>
          </a:xfrm>
          <a:prstGeom prst="rect">
            <a:avLst/>
          </a:prstGeom>
          <a:noFill/>
          <a:ln/>
        </p:spPr>
        <p:txBody>
          <a:bodyPr wrap="square" lIns="0" tIns="0" rIns="0" bIns="0" rtlCol="0" anchor="t"/>
          <a:lstStyle/>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int compare_and_swap(int *value, int expected, int new_value) {</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    int temp = *value;</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    if (temp == expected) {</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        *value = new_value;</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    return temp;</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int lock = 0; /* 0 = free, 1 = held */</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void acquire_lock() {</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    while (compare_and_swap(&amp;lock, 0, 1) != 0) { /* busy wait */ }</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a:t>
            </a:r>
            <a:endParaRPr lang="en-US" sz="1300" dirty="0"/>
          </a:p>
          <a:p>
            <a:pPr indent="0" marL="0">
              <a:lnSpc>
                <a:spcPct val="125000"/>
              </a:lnSpc>
              <a:buNone/>
            </a:pPr>
            <a:r>
              <a:rPr lang="en-US" sz="1300" dirty="0">
                <a:solidFill>
                  <a:srgbClr val="C9D3F5"/>
                </a:solidFill>
                <a:latin typeface="Courier New" pitchFamily="34" charset="0"/>
                <a:ea typeface="Courier New" pitchFamily="34" charset="-122"/>
                <a:cs typeface="Courier New" pitchFamily="34" charset="-120"/>
              </a:rPr>
              <a:t>void release_lock() { lock = 0; }</a:t>
            </a:r>
            <a:endParaRPr lang="en-US" sz="13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A CONVENIENT LAYER</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Atomic Variables</a:t>
            </a:r>
            <a:endParaRPr lang="en-US" sz="3200" dirty="0"/>
          </a:p>
        </p:txBody>
      </p:sp>
      <p:sp>
        <p:nvSpPr>
          <p:cNvPr id="4" name="Shape 2"/>
          <p:cNvSpPr/>
          <p:nvPr/>
        </p:nvSpPr>
        <p:spPr>
          <a:xfrm>
            <a:off x="640080" y="1965960"/>
            <a:ext cx="10908792" cy="3246120"/>
          </a:xfrm>
          <a:prstGeom prst="roundRect">
            <a:avLst>
              <a:gd name="adj" fmla="val 2254"/>
            </a:avLst>
          </a:prstGeom>
          <a:solidFill>
            <a:srgbClr val="1E1E4C"/>
          </a:solidFill>
          <a:ln/>
        </p:spPr>
      </p:sp>
      <p:sp>
        <p:nvSpPr>
          <p:cNvPr id="5" name="Text 3"/>
          <p:cNvSpPr txBox="1"/>
          <p:nvPr/>
        </p:nvSpPr>
        <p:spPr>
          <a:xfrm>
            <a:off x="960120" y="2194560"/>
            <a:ext cx="10268712" cy="2834640"/>
          </a:xfrm>
          <a:prstGeom prst="rect">
            <a:avLst/>
          </a:prstGeom>
          <a:noFill/>
          <a:ln/>
        </p:spPr>
        <p:txBody>
          <a:bodyPr wrap="square" lIns="0" tIns="0" rIns="0" bIns="0" rtlCol="0" anchor="t"/>
          <a:lstStyle/>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void atomic_inc(int *v)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int old;</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do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old = *v;</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 while (compare_and_swap(v, old, old + 1) != old);</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useful exactly when the only thing being protected</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is a single number — a reference count, a request counter */</a:t>
            </a:r>
            <a:endParaRPr lang="en-US" sz="15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Mutex Locks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mutex lock (mutual exclusion lock) is the simplest synchronization tool: a lock object with acquire() and release(), used to bracket a critical section.</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implementations shown are spinlocks — if acquire() cannot get in immediately, it busy-waits, repeatedly re-checking rather than yielding the CPU.</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When Busy-Waiting Is the Right Choice</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critical section is short, so the expected wait is brief.</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system is a multiprocessor, so some other core is actively running the lock holder and is likely to finish soon.</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cost of blocking and later waking the process (a full context switch) would exceed the cost of simply spinning for that brief wait.</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When any of these doesn't hold — long critical sections, or a single CPU — a lock that blocks instead of spinning is the better design: a correctly implemented semaphore.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SEMAPHORES</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wait() and signal()</a:t>
            </a:r>
            <a:endParaRPr lang="en-US" sz="3200" dirty="0"/>
          </a:p>
        </p:txBody>
      </p:sp>
      <p:sp>
        <p:nvSpPr>
          <p:cNvPr id="4" name="Shape 2"/>
          <p:cNvSpPr/>
          <p:nvPr/>
        </p:nvSpPr>
        <p:spPr>
          <a:xfrm>
            <a:off x="640080" y="1965960"/>
            <a:ext cx="10908792" cy="3754120"/>
          </a:xfrm>
          <a:prstGeom prst="roundRect">
            <a:avLst>
              <a:gd name="adj" fmla="val 1949"/>
            </a:avLst>
          </a:prstGeom>
          <a:solidFill>
            <a:srgbClr val="1E1E4C"/>
          </a:solidFill>
          <a:ln/>
        </p:spPr>
      </p:sp>
      <p:sp>
        <p:nvSpPr>
          <p:cNvPr id="5" name="Text 3"/>
          <p:cNvSpPr txBox="1"/>
          <p:nvPr/>
        </p:nvSpPr>
        <p:spPr>
          <a:xfrm>
            <a:off x="960120" y="2194560"/>
            <a:ext cx="10268712" cy="3342640"/>
          </a:xfrm>
          <a:prstGeom prst="rect">
            <a:avLst/>
          </a:prstGeom>
          <a:noFill/>
          <a:ln/>
        </p:spPr>
        <p:txBody>
          <a:bodyPr wrap="square" lIns="0" tIns="0" rIns="0" bIns="0" rtlCol="0" anchor="t"/>
          <a:lstStyle/>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wait(S)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while (S &lt;= 0)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 busy-wait, naive version shown for clarity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S--;</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signal(S)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S++;</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a:t>
            </a:r>
            <a:endParaRPr lang="en-US" sz="16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Counting vs. Binary Semaphores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Counting semaphore — can range over any integer value; used to track how many instances of a resource are currently available (file handles, buffer slots, and so on).</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Binary semaphore — restricted to the values 0 and 1; used purely for mutual exclusion, functionally equivalent to a mutex lock.</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BEYOND MUTUAL EXCLUSION</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Semaphores Enforce Event Ordering</a:t>
            </a:r>
            <a:endParaRPr lang="en-US" sz="3200" dirty="0"/>
          </a:p>
        </p:txBody>
      </p:sp>
      <p:sp>
        <p:nvSpPr>
          <p:cNvPr id="4" name="Shape 2"/>
          <p:cNvSpPr/>
          <p:nvPr/>
        </p:nvSpPr>
        <p:spPr>
          <a:xfrm>
            <a:off x="640080" y="1965960"/>
            <a:ext cx="10908792" cy="3063240"/>
          </a:xfrm>
          <a:prstGeom prst="roundRect">
            <a:avLst>
              <a:gd name="adj" fmla="val 2388"/>
            </a:avLst>
          </a:prstGeom>
          <a:solidFill>
            <a:srgbClr val="1E1E4C"/>
          </a:solidFill>
          <a:ln/>
        </p:spPr>
      </p:sp>
      <p:sp>
        <p:nvSpPr>
          <p:cNvPr id="5" name="Text 3"/>
          <p:cNvSpPr txBox="1"/>
          <p:nvPr/>
        </p:nvSpPr>
        <p:spPr>
          <a:xfrm>
            <a:off x="960120" y="2194560"/>
            <a:ext cx="10268712" cy="2651760"/>
          </a:xfrm>
          <a:prstGeom prst="rect">
            <a:avLst/>
          </a:prstGeom>
          <a:noFill/>
          <a:ln/>
        </p:spPr>
        <p:txBody>
          <a:bodyPr wrap="square" lIns="0" tIns="0" rIns="0" bIns="0" rtlCol="0" anchor="t"/>
          <a:lstStyle/>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semaphore sync = 0;</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Process A */              /* Process B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statement_a1;                wait(sync);</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signal(sync);                statement_b1;</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sync starts at 0, so wait(sync) in B cannot return</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until A executes signal(sync) — which only happens</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after statement_a1 has completed */</a:t>
            </a:r>
            <a:endParaRPr lang="en-US" sz="14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 Happens Before B”</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mutex only ever answers one question: is someone else in here right now?</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semaphore can answer a different, more general question: has a specific event already happened?</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No matter which process the scheduler happens to run first, statement_a1 is now guaranteed to finish before statement_b1 begins — a guarantee no plain mutex alone can give.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IMPLEMENTING SEMAPHORES CORRECTLY</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Blocking Instead of Spinning</a:t>
            </a:r>
            <a:endParaRPr lang="en-US" sz="3200" dirty="0"/>
          </a:p>
        </p:txBody>
      </p:sp>
      <p:sp>
        <p:nvSpPr>
          <p:cNvPr id="4" name="Shape 2"/>
          <p:cNvSpPr/>
          <p:nvPr/>
        </p:nvSpPr>
        <p:spPr>
          <a:xfrm>
            <a:off x="640080" y="1965960"/>
            <a:ext cx="10908792" cy="3916680"/>
          </a:xfrm>
          <a:prstGeom prst="roundRect">
            <a:avLst>
              <a:gd name="adj" fmla="val 1868"/>
            </a:avLst>
          </a:prstGeom>
          <a:solidFill>
            <a:srgbClr val="1E1E4C"/>
          </a:solidFill>
          <a:ln/>
        </p:spPr>
      </p:sp>
      <p:sp>
        <p:nvSpPr>
          <p:cNvPr id="5" name="Text 3"/>
          <p:cNvSpPr txBox="1"/>
          <p:nvPr/>
        </p:nvSpPr>
        <p:spPr>
          <a:xfrm>
            <a:off x="960120" y="2194560"/>
            <a:ext cx="10268712" cy="3505200"/>
          </a:xfrm>
          <a:prstGeom prst="rect">
            <a:avLst/>
          </a:prstGeom>
          <a:noFill/>
          <a:ln/>
        </p:spPr>
        <p:txBody>
          <a:bodyPr wrap="square" lIns="0" tIns="0" rIns="0" bIns="0" rtlCol="0" anchor="t"/>
          <a:lstStyle/>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typedef struct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int value;</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struct process *waiting_queue;</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semaphore;</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void wait(semaphore *S)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S-&gt;value--;</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if (S-&gt;value &lt; 0)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add_to_queue(S-&gt;waiting_queue, current_process);</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block(current_process);  /* off the CPU, not spinning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IMPLEMENTING SEMAPHORES CORRECTLY (CONTINUED)</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Blocking Instead of Spinning</a:t>
            </a:r>
            <a:endParaRPr lang="en-US" sz="3200" dirty="0"/>
          </a:p>
        </p:txBody>
      </p:sp>
      <p:sp>
        <p:nvSpPr>
          <p:cNvPr id="4" name="Shape 2"/>
          <p:cNvSpPr/>
          <p:nvPr/>
        </p:nvSpPr>
        <p:spPr>
          <a:xfrm>
            <a:off x="640080" y="1965960"/>
            <a:ext cx="10908792" cy="3347720"/>
          </a:xfrm>
          <a:prstGeom prst="roundRect">
            <a:avLst>
              <a:gd name="adj" fmla="val 2185"/>
            </a:avLst>
          </a:prstGeom>
          <a:solidFill>
            <a:srgbClr val="1E1E4C"/>
          </a:solidFill>
          <a:ln/>
        </p:spPr>
      </p:sp>
      <p:sp>
        <p:nvSpPr>
          <p:cNvPr id="5" name="Text 3"/>
          <p:cNvSpPr txBox="1"/>
          <p:nvPr/>
        </p:nvSpPr>
        <p:spPr>
          <a:xfrm>
            <a:off x="960120" y="2194560"/>
            <a:ext cx="10268712" cy="2936240"/>
          </a:xfrm>
          <a:prstGeom prst="rect">
            <a:avLst/>
          </a:prstGeom>
          <a:noFill/>
          <a:ln/>
        </p:spPr>
        <p:txBody>
          <a:bodyPr wrap="square" lIns="0" tIns="0" rIns="0" bIns="0" rtlCol="0" anchor="t"/>
          <a:lstStyle/>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void signal(semaphore *S)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S-&gt;value++;</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if (S-&gt;value &lt;= 0)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struct process *P = remove_from_queue(S-&gt;waiting_queue);</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wakeup(P);              /* P returns to the ready queue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S-&gt;value may go negative — its magnitude counts how many</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processes are currently blocked, waiting for a signal() */</a:t>
            </a:r>
            <a:endParaRPr lang="en-US" sz="14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wait()/signal() Bodies Must Still Be Atomic</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16</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These bodies must execute atomically — achieved with test_and_set()/compare_and_swap(), or by briefly disabling interrupts for just these few fixed instructions.</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This revisits Lecture 13's crude interrupt-disabling trick, but safely this time: the disabled window is a handful of instructions with a known, bounded length, not an arbitrary, unbounded user-level critical section.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Three Tools, Three Levels of Abstraction</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17</a:t>
            </a:r>
            <a:endParaRPr lang="en-US" sz="1000" dirty="0"/>
          </a:p>
        </p:txBody>
      </p:sp>
      <p:sp>
        <p:nvSpPr>
          <p:cNvPr id="4" name="Shape 2"/>
          <p:cNvSpPr/>
          <p:nvPr/>
        </p:nvSpPr>
        <p:spPr>
          <a:xfrm>
            <a:off x="640080" y="2011680"/>
            <a:ext cx="3453384" cy="2926080"/>
          </a:xfrm>
          <a:prstGeom prst="roundRect">
            <a:avLst>
              <a:gd name="adj" fmla="val 3125"/>
            </a:avLst>
          </a:prstGeom>
          <a:solidFill>
            <a:srgbClr val="2FE6C4"/>
          </a:solidFill>
          <a:ln/>
        </p:spPr>
      </p:sp>
      <p:sp>
        <p:nvSpPr>
          <p:cNvPr id="5" name="Text 3"/>
          <p:cNvSpPr txBox="1"/>
          <p:nvPr/>
        </p:nvSpPr>
        <p:spPr>
          <a:xfrm>
            <a:off x="841248" y="2212848"/>
            <a:ext cx="3051048"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Mutex Lock</a:t>
            </a:r>
            <a:endParaRPr lang="en-US" sz="1600" dirty="0"/>
          </a:p>
        </p:txBody>
      </p:sp>
      <p:sp>
        <p:nvSpPr>
          <p:cNvPr id="6" name="Text 4"/>
          <p:cNvSpPr txBox="1"/>
          <p:nvPr/>
        </p:nvSpPr>
        <p:spPr>
          <a:xfrm>
            <a:off x="841248" y="2596896"/>
            <a:ext cx="3051048" cy="2139696"/>
          </a:xfrm>
          <a:prstGeom prst="rect">
            <a:avLst/>
          </a:prstGeom>
          <a:noFill/>
          <a:ln/>
        </p:spPr>
        <p:txBody>
          <a:bodyPr wrap="square" lIns="0" tIns="0" rIns="0" bIns="0" rtlCol="0" anchor="t"/>
          <a:lstStyle/>
          <a:p>
            <a:pPr indent="0" marL="0">
              <a:spcAft>
                <a:spcPts val="600"/>
              </a:spcAft>
              <a:buNone/>
            </a:pPr>
            <a:r>
              <a:rPr lang="en-US" sz="1300" dirty="0">
                <a:solidFill>
                  <a:srgbClr val="FFFFFF"/>
                </a:solidFill>
                <a:latin typeface="Calibri" pitchFamily="34" charset="0"/>
                <a:ea typeface="Calibri" pitchFamily="34" charset="-122"/>
                <a:cs typeface="Calibri" pitchFamily="34" charset="-120"/>
              </a:rPr>
              <a:t>acquire()/release() — pure mutual exclusion, busy-waits by default.</a:t>
            </a:r>
            <a:endParaRPr lang="en-US" sz="1300" dirty="0"/>
          </a:p>
        </p:txBody>
      </p:sp>
      <p:sp>
        <p:nvSpPr>
          <p:cNvPr id="7" name="Shape 5"/>
          <p:cNvSpPr/>
          <p:nvPr/>
        </p:nvSpPr>
        <p:spPr>
          <a:xfrm>
            <a:off x="4367784" y="2011680"/>
            <a:ext cx="3453384" cy="2926080"/>
          </a:xfrm>
          <a:prstGeom prst="roundRect">
            <a:avLst>
              <a:gd name="adj" fmla="val 3125"/>
            </a:avLst>
          </a:prstGeom>
          <a:solidFill>
            <a:srgbClr val="8B7FD9"/>
          </a:solidFill>
          <a:ln/>
        </p:spPr>
      </p:sp>
      <p:sp>
        <p:nvSpPr>
          <p:cNvPr id="8" name="Text 6"/>
          <p:cNvSpPr txBox="1"/>
          <p:nvPr/>
        </p:nvSpPr>
        <p:spPr>
          <a:xfrm>
            <a:off x="4568952" y="2212848"/>
            <a:ext cx="3051048"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Semaphore</a:t>
            </a:r>
            <a:endParaRPr lang="en-US" sz="1600" dirty="0"/>
          </a:p>
        </p:txBody>
      </p:sp>
      <p:sp>
        <p:nvSpPr>
          <p:cNvPr id="9" name="Text 7"/>
          <p:cNvSpPr txBox="1"/>
          <p:nvPr/>
        </p:nvSpPr>
        <p:spPr>
          <a:xfrm>
            <a:off x="4568952" y="2596896"/>
            <a:ext cx="3051048" cy="2139696"/>
          </a:xfrm>
          <a:prstGeom prst="rect">
            <a:avLst/>
          </a:prstGeom>
          <a:noFill/>
          <a:ln/>
        </p:spPr>
        <p:txBody>
          <a:bodyPr wrap="square" lIns="0" tIns="0" rIns="0" bIns="0" rtlCol="0" anchor="t"/>
          <a:lstStyle/>
          <a:p>
            <a:pPr indent="0" marL="0">
              <a:spcAft>
                <a:spcPts val="600"/>
              </a:spcAft>
              <a:buNone/>
            </a:pPr>
            <a:r>
              <a:rPr lang="en-US" sz="1300" dirty="0">
                <a:solidFill>
                  <a:srgbClr val="FFFFFF"/>
                </a:solidFill>
                <a:latin typeface="Calibri" pitchFamily="34" charset="0"/>
                <a:ea typeface="Calibri" pitchFamily="34" charset="-122"/>
                <a:cs typeface="Calibri" pitchFamily="34" charset="-120"/>
              </a:rPr>
              <a:t>wait()/signal() on an integer — mutual exclusion AND event ordering; blocks instead of spinning.</a:t>
            </a:r>
            <a:endParaRPr lang="en-US" sz="1300" dirty="0"/>
          </a:p>
        </p:txBody>
      </p:sp>
      <p:sp>
        <p:nvSpPr>
          <p:cNvPr id="10" name="Shape 8"/>
          <p:cNvSpPr/>
          <p:nvPr/>
        </p:nvSpPr>
        <p:spPr>
          <a:xfrm>
            <a:off x="8095488" y="2011680"/>
            <a:ext cx="3453384" cy="2926080"/>
          </a:xfrm>
          <a:prstGeom prst="roundRect">
            <a:avLst>
              <a:gd name="adj" fmla="val 3125"/>
            </a:avLst>
          </a:prstGeom>
          <a:solidFill>
            <a:srgbClr val="FF8A3D"/>
          </a:solidFill>
          <a:ln/>
        </p:spPr>
      </p:sp>
      <p:sp>
        <p:nvSpPr>
          <p:cNvPr id="11" name="Text 9"/>
          <p:cNvSpPr txBox="1"/>
          <p:nvPr/>
        </p:nvSpPr>
        <p:spPr>
          <a:xfrm>
            <a:off x="8296656" y="2212848"/>
            <a:ext cx="3051048"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Monitor</a:t>
            </a:r>
            <a:endParaRPr lang="en-US" sz="1600" dirty="0"/>
          </a:p>
        </p:txBody>
      </p:sp>
      <p:sp>
        <p:nvSpPr>
          <p:cNvPr id="12" name="Text 10"/>
          <p:cNvSpPr txBox="1"/>
          <p:nvPr/>
        </p:nvSpPr>
        <p:spPr>
          <a:xfrm>
            <a:off x="8296656" y="2596896"/>
            <a:ext cx="3051048" cy="2139696"/>
          </a:xfrm>
          <a:prstGeom prst="rect">
            <a:avLst/>
          </a:prstGeom>
          <a:noFill/>
          <a:ln/>
        </p:spPr>
        <p:txBody>
          <a:bodyPr wrap="square" lIns="0" tIns="0" rIns="0" bIns="0" rtlCol="0" anchor="t"/>
          <a:lstStyle/>
          <a:p>
            <a:pPr indent="0" marL="0">
              <a:spcAft>
                <a:spcPts val="600"/>
              </a:spcAft>
              <a:buNone/>
            </a:pPr>
            <a:r>
              <a:rPr lang="en-US" sz="1300" dirty="0">
                <a:solidFill>
                  <a:srgbClr val="FFFFFF"/>
                </a:solidFill>
                <a:latin typeface="Calibri" pitchFamily="34" charset="0"/>
                <a:ea typeface="Calibri" pitchFamily="34" charset="-122"/>
                <a:cs typeface="Calibri" pitchFamily="34" charset="-120"/>
              </a:rPr>
              <a:t>Shared data + procedures bundled together — mutual exclusion is automatic.</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Monitors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18</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monitor is a higher-level, language-provided construct: it bundles a module's shared data together with the procedures that operate on it.</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compiler or runtime automatically guarantees that at most one process is ever actively executing inside the monitor at a time — the programmer never writes acquire()/release() at all.</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MONITORS</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A Monitor-Based Bounded Buffer</a:t>
            </a:r>
            <a:endParaRPr lang="en-US" sz="3200" dirty="0"/>
          </a:p>
        </p:txBody>
      </p:sp>
      <p:sp>
        <p:nvSpPr>
          <p:cNvPr id="4" name="Shape 2"/>
          <p:cNvSpPr/>
          <p:nvPr/>
        </p:nvSpPr>
        <p:spPr>
          <a:xfrm>
            <a:off x="640080" y="1965960"/>
            <a:ext cx="10908792" cy="3916680"/>
          </a:xfrm>
          <a:prstGeom prst="roundRect">
            <a:avLst>
              <a:gd name="adj" fmla="val 1868"/>
            </a:avLst>
          </a:prstGeom>
          <a:solidFill>
            <a:srgbClr val="1E1E4C"/>
          </a:solidFill>
          <a:ln/>
        </p:spPr>
      </p:sp>
      <p:sp>
        <p:nvSpPr>
          <p:cNvPr id="5" name="Text 3"/>
          <p:cNvSpPr txBox="1"/>
          <p:nvPr/>
        </p:nvSpPr>
        <p:spPr>
          <a:xfrm>
            <a:off x="960120" y="2194560"/>
            <a:ext cx="10268712" cy="3505200"/>
          </a:xfrm>
          <a:prstGeom prst="rect">
            <a:avLst/>
          </a:prstGeom>
          <a:noFill/>
          <a:ln/>
        </p:spPr>
        <p:txBody>
          <a:bodyPr wrap="square" lIns="0" tIns="0" rIns="0" bIns="0" rtlCol="0" anchor="t"/>
          <a:lstStyle/>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monitor BoundedBuffer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int buffer[N];</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int count;</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condition not_full;</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condition not_empty;</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void insert(int item)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if (count == N) { not_full.wait();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 place item into buffer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count++;</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not_empty.signal();</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MONITORS (CONTINUED)</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A Monitor-Based Bounded Buffer</a:t>
            </a:r>
            <a:endParaRPr lang="en-US" sz="3200" dirty="0"/>
          </a:p>
        </p:txBody>
      </p:sp>
      <p:sp>
        <p:nvSpPr>
          <p:cNvPr id="4" name="Shape 2"/>
          <p:cNvSpPr/>
          <p:nvPr/>
        </p:nvSpPr>
        <p:spPr>
          <a:xfrm>
            <a:off x="640080" y="1965960"/>
            <a:ext cx="10908792" cy="3632200"/>
          </a:xfrm>
          <a:prstGeom prst="roundRect">
            <a:avLst>
              <a:gd name="adj" fmla="val 2014"/>
            </a:avLst>
          </a:prstGeom>
          <a:solidFill>
            <a:srgbClr val="1E1E4C"/>
          </a:solidFill>
          <a:ln/>
        </p:spPr>
      </p:sp>
      <p:sp>
        <p:nvSpPr>
          <p:cNvPr id="5" name="Text 3"/>
          <p:cNvSpPr txBox="1"/>
          <p:nvPr/>
        </p:nvSpPr>
        <p:spPr>
          <a:xfrm>
            <a:off x="960120" y="2194560"/>
            <a:ext cx="10268712" cy="3220720"/>
          </a:xfrm>
          <a:prstGeom prst="rect">
            <a:avLst/>
          </a:prstGeom>
          <a:noFill/>
          <a:ln/>
        </p:spPr>
        <p:txBody>
          <a:bodyPr wrap="square" lIns="0" tIns="0" rIns="0" bIns="0" rtlCol="0" anchor="t"/>
          <a:lstStyle/>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int remove()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if (count == 0) { not_empty.wait();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 take an item out of buffer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count--;</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not_full.signal();</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return item;</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insert()/remove() callers are automatically the only</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one active inside BoundedBuffer — mutual exclusion is free */</a:t>
            </a:r>
            <a:endParaRPr lang="en-US" sz="14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Condition Variables vs. Semaphore Operations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21</a:t>
            </a:r>
            <a:endParaRPr lang="en-US" sz="1000" dirty="0"/>
          </a:p>
        </p:txBody>
      </p:sp>
      <p:sp>
        <p:nvSpPr>
          <p:cNvPr id="4" name="Shape 2"/>
          <p:cNvSpPr/>
          <p:nvPr/>
        </p:nvSpPr>
        <p:spPr>
          <a:xfrm>
            <a:off x="640080" y="1371600"/>
            <a:ext cx="10908792" cy="4389120"/>
          </a:xfrm>
          <a:prstGeom prst="roundRect">
            <a:avLst>
              <a:gd name="adj" fmla="val 1667"/>
            </a:avLst>
          </a:prstGeom>
          <a:solidFill>
            <a:srgbClr val="FBEFE0"/>
          </a:solidFill>
          <a:ln/>
        </p:spPr>
      </p:sp>
      <p:sp>
        <p:nvSpPr>
          <p:cNvPr id="5" name="Text 3"/>
          <p:cNvSpPr txBox="1"/>
          <p:nvPr/>
        </p:nvSpPr>
        <p:spPr>
          <a:xfrm>
            <a:off x="896112" y="1572768"/>
            <a:ext cx="10396728" cy="274320"/>
          </a:xfrm>
          <a:prstGeom prst="rect">
            <a:avLst/>
          </a:prstGeom>
          <a:noFill/>
          <a:ln/>
        </p:spPr>
        <p:txBody>
          <a:bodyPr wrap="square" lIns="0" tIns="0" rIns="0" bIns="0" rtlCol="0" anchor="t"/>
          <a:lstStyle/>
          <a:p>
            <a:pPr indent="0" marL="0">
              <a:buNone/>
            </a:pPr>
            <a:r>
              <a:rPr lang="en-US" sz="1200" b="1" spc="150" kern="0" dirty="0">
                <a:solidFill>
                  <a:srgbClr val="B9720E"/>
                </a:solidFill>
                <a:latin typeface="Calibri" pitchFamily="34" charset="0"/>
                <a:ea typeface="Calibri" pitchFamily="34" charset="-122"/>
                <a:cs typeface="Calibri" pitchFamily="34" charset="-120"/>
              </a:rPr>
              <a:t>A CONDITION VARIABLE HAS NO MEMORY; A SEMAPHORE DOES</a:t>
            </a:r>
            <a:endParaRPr lang="en-US" sz="1200" dirty="0"/>
          </a:p>
        </p:txBody>
      </p:sp>
      <p:sp>
        <p:nvSpPr>
          <p:cNvPr id="6" name="Text 4"/>
          <p:cNvSpPr txBox="1"/>
          <p:nvPr/>
        </p:nvSpPr>
        <p:spPr>
          <a:xfrm>
            <a:off x="896112" y="1901952"/>
            <a:ext cx="10396728" cy="3602736"/>
          </a:xfrm>
          <a:prstGeom prst="rect">
            <a:avLst/>
          </a:prstGeom>
          <a:noFill/>
          <a:ln/>
        </p:spPr>
        <p:txBody>
          <a:bodyPr wrap="square" lIns="0" tIns="0" rIns="0" bIns="0" rtlCol="0" anchor="t"/>
          <a:lstStyle/>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Semaphore signal() always increments the count, even if no process is waiting. A later wait() finds that incremented value and returns immediately — the semaphore “remembers” a signal happened.</a:t>
            </a:r>
            <a:endParaRPr lang="en-US" sz="1400" dirty="0"/>
          </a:p>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Condition variable signal() wakes one waiting process only if one happens to be waiting at that exact moment. If no process is waiting, the signal has no effect at all and is simply lost.</a:t>
            </a:r>
            <a:endParaRPr lang="en-US" sz="1400" dirty="0"/>
          </a:p>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A process calling a condition variable's wait() must release the monitor's mutual-exclusion lock while it sleeps — otherwise no other process could ever enter the monitor to signal it, and the system would deadlock on itself.</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06456"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test_and_set() and compare_and_swap() are hardware-guaranteed atomic instructions — a correct mutual-exclusion lock can be built from either in a few lines.</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 mutex lock is the simplest synchronization tool, busy-waiting (a spinlock) by default — reasonable for short critical sections on a multiprocessor, wasteful otherwise.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 semaphore's wait()/signal() does two distinct jobs: ordinary mutual exclusion and event ordering between processes — a capability a plain mutex does not have.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 correct semaphore implementation blocks the caller on a waiting queue instead of busy-waiting, which is why semaphores scale to long waits where spinlocks do not.</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 monitor bundles shared data with its operations and provides mutual exclusion automatically; its condition variables let a process wait for application-specific conditions, but signal() on a condition variable is lost if no one is waiting.</a:t>
            </a:r>
            <a:endParaRPr lang="en-US" sz="1600" dirty="0"/>
          </a:p>
        </p:txBody>
      </p:sp>
      <p:sp>
        <p:nvSpPr>
          <p:cNvPr id="4" name="Text 2"/>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2026-10-02T04:40:46Z</dcterms:created>
  <dcterms:modified xsi:type="dcterms:W3CDTF">2026-10-02T04:40:46Z</dcterms:modified>
</cp:coreProperties>
</file>
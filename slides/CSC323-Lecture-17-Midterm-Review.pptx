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1874520"/>
            <a:ext cx="9144000" cy="457200"/>
          </a:xfrm>
          <a:prstGeom prst="rect">
            <a:avLst/>
          </a:prstGeom>
          <a:noFill/>
          <a:ln/>
        </p:spPr>
        <p:txBody>
          <a:bodyPr wrap="square" lIns="0" tIns="0" rIns="0" bIns="0" rtlCol="0" anchor="ctr"/>
          <a:lstStyle/>
          <a:p>
            <a:pPr indent="0" marL="0">
              <a:buNone/>
            </a:pPr>
            <a:r>
              <a:rPr lang="en-US" sz="1500" b="1" spc="400" kern="0" dirty="0">
                <a:solidFill>
                  <a:srgbClr val="2FE6C4"/>
                </a:solidFill>
                <a:latin typeface="Calibri" pitchFamily="34" charset="0"/>
                <a:ea typeface="Calibri" pitchFamily="34" charset="-122"/>
                <a:cs typeface="Calibri" pitchFamily="34" charset="-120"/>
              </a:rPr>
              <a:t>LECTURE 17</a:t>
            </a:r>
            <a:endParaRPr lang="en-US" sz="1500" dirty="0"/>
          </a:p>
        </p:txBody>
      </p:sp>
      <p:sp>
        <p:nvSpPr>
          <p:cNvPr id="3" name="Text 1"/>
          <p:cNvSpPr txBox="1"/>
          <p:nvPr/>
        </p:nvSpPr>
        <p:spPr>
          <a:xfrm>
            <a:off x="777240" y="2331720"/>
            <a:ext cx="10515600" cy="173736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libri" pitchFamily="34" charset="0"/>
                <a:ea typeface="Calibri" pitchFamily="34" charset="-122"/>
                <a:cs typeface="Calibri" pitchFamily="34" charset="-120"/>
              </a:rPr>
              <a:t>Midterm Review</a:t>
            </a:r>
            <a:endParaRPr lang="en-US" sz="4000" dirty="0"/>
          </a:p>
        </p:txBody>
      </p:sp>
      <p:sp>
        <p:nvSpPr>
          <p:cNvPr id="4" name="Text 2"/>
          <p:cNvSpPr txBox="1"/>
          <p:nvPr/>
        </p:nvSpPr>
        <p:spPr>
          <a:xfrm>
            <a:off x="822960" y="4343400"/>
            <a:ext cx="9875520" cy="457200"/>
          </a:xfrm>
          <a:prstGeom prst="rect">
            <a:avLst/>
          </a:prstGeom>
          <a:noFill/>
          <a:ln/>
        </p:spPr>
        <p:txBody>
          <a:bodyPr wrap="square" lIns="0" tIns="0" rIns="0" bIns="0" rtlCol="0" anchor="ctr"/>
          <a:lstStyle/>
          <a:p>
            <a:pPr indent="0" marL="0">
              <a:buNone/>
            </a:pPr>
            <a:r>
              <a:rPr lang="en-US" sz="1600" dirty="0">
                <a:solidFill>
                  <a:srgbClr val="2FE6C4"/>
                </a:solidFill>
                <a:latin typeface="Calibri" pitchFamily="34" charset="0"/>
                <a:ea typeface="Calibri" pitchFamily="34" charset="-122"/>
                <a:cs typeface="Calibri" pitchFamily="34" charset="-120"/>
              </a:rPr>
              <a:t>A checkpoint across Lectures 1–16</a:t>
            </a:r>
            <a:endParaRPr lang="en-US" sz="1600" dirty="0"/>
          </a:p>
        </p:txBody>
      </p:sp>
      <p:sp>
        <p:nvSpPr>
          <p:cNvPr id="5" name="Text 3"/>
          <p:cNvSpPr txBox="1"/>
          <p:nvPr/>
        </p:nvSpPr>
        <p:spPr>
          <a:xfrm>
            <a:off x="822960" y="4800600"/>
            <a:ext cx="9875520" cy="365760"/>
          </a:xfrm>
          <a:prstGeom prst="rect">
            <a:avLst/>
          </a:prstGeom>
          <a:noFill/>
          <a:ln/>
        </p:spPr>
        <p:txBody>
          <a:bodyPr wrap="square" lIns="0" tIns="0" rIns="0" bIns="0" rtlCol="0" anchor="ctr"/>
          <a:lstStyle/>
          <a:p>
            <a:pPr indent="0" marL="0">
              <a:buNone/>
            </a:pPr>
            <a:r>
              <a:rPr lang="en-US" sz="1400" dirty="0">
                <a:solidFill>
                  <a:srgbClr val="B9BFC6"/>
                </a:solidFill>
                <a:latin typeface="Calibri" pitchFamily="34" charset="0"/>
                <a:ea typeface="Calibri" pitchFamily="34" charset="-122"/>
                <a:cs typeface="Calibri" pitchFamily="34" charset="-120"/>
              </a:rPr>
              <a:t>CSC323 · Operating Systems</a:t>
            </a:r>
            <a:endParaRPr lang="en-US" sz="1400" dirty="0"/>
          </a:p>
        </p:txBody>
      </p:sp>
      <p:sp>
        <p:nvSpPr>
          <p:cNvPr id="6" name="Text 4"/>
          <p:cNvSpPr txBox="1"/>
          <p:nvPr/>
        </p:nvSpPr>
        <p:spPr>
          <a:xfrm>
            <a:off x="822960" y="5166360"/>
            <a:ext cx="9875520" cy="365760"/>
          </a:xfrm>
          <a:prstGeom prst="rect">
            <a:avLst/>
          </a:prstGeom>
          <a:noFill/>
          <a:ln/>
        </p:spPr>
        <p:txBody>
          <a:bodyPr wrap="square" lIns="0" tIns="0" rIns="0" bIns="0" rtlCol="0" anchor="ctr"/>
          <a:lstStyle/>
          <a:p>
            <a:pPr indent="0" marL="0">
              <a:buNone/>
            </a:pPr>
            <a:r>
              <a:rPr lang="en-US" sz="1200" dirty="0">
                <a:solidFill>
                  <a:srgbClr val="757C84"/>
                </a:solidFill>
                <a:latin typeface="Calibri" pitchFamily="34" charset="0"/>
                <a:ea typeface="Calibri" pitchFamily="34" charset="-122"/>
                <a:cs typeface="Calibri" pitchFamily="34" charset="-120"/>
              </a:rPr>
              <a:t>COMSATS University Islamabad, Lahore Campus</a:t>
            </a:r>
            <a:endParaRPr lang="en-US" sz="1200" dirty="0"/>
          </a:p>
        </p:txBody>
      </p:sp>
      <p:sp>
        <p:nvSpPr>
          <p:cNvPr id="7" name="Text 5"/>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OVERVIEW</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In This Lecture</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Consolidate OS structure, the process concept, and the role of the kernel</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Compare every CPU scheduling algorithm covered so far, side by side</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Review the synchronization tools used to protect shared data, and when each applies</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Revisit the classical synchronization problems and what each tests</a:t>
            </a:r>
            <a:endParaRPr lang="en-US" sz="1500" dirty="0"/>
          </a:p>
          <a:p>
            <a:pPr marL="342900" indent="-342900">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Self-test your recall with a short, answer-free quiz before the exam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CONCEPT MAP</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Lectures 1–16, Four Units</a:t>
            </a:r>
            <a:endParaRPr lang="en-US" sz="2600" dirty="0"/>
          </a:p>
        </p:txBody>
      </p:sp>
      <p:sp>
        <p:nvSpPr>
          <p:cNvPr id="5" name="Text 3"/>
          <p:cNvSpPr txBox="1"/>
          <p:nvPr/>
        </p:nvSpPr>
        <p:spPr>
          <a:xfrm>
            <a:off x="548640" y="1536192"/>
            <a:ext cx="11094415" cy="365760"/>
          </a:xfrm>
          <a:prstGeom prst="rect">
            <a:avLst/>
          </a:prstGeom>
          <a:noFill/>
          <a:ln/>
        </p:spPr>
        <p:txBody>
          <a:bodyPr wrap="square" lIns="0" tIns="0" rIns="0" bIns="0" rtlCol="0" anchor="t"/>
          <a:lstStyle/>
          <a:p>
            <a:pPr indent="0" marL="0">
              <a:buNone/>
            </a:pPr>
            <a:r>
              <a:rPr lang="en-US" sz="1250" dirty="0">
                <a:solidFill>
                  <a:srgbClr val="1F2429"/>
                </a:solidFill>
                <a:latin typeface="Calibri" pitchFamily="34" charset="0"/>
                <a:ea typeface="Calibri" pitchFamily="34" charset="-122"/>
                <a:cs typeface="Calibri" pitchFamily="34" charset="-120"/>
              </a:rPr>
              <a:t>Each unit hands the next one a vocabulary it assumes fluency with — Unit 4 is exactly where deadlocks (Lecture 19 onward) pick up.</a:t>
            </a:r>
            <a:endParaRPr lang="en-US" sz="1250" dirty="0"/>
          </a:p>
        </p:txBody>
      </p:sp>
      <p:sp>
        <p:nvSpPr>
          <p:cNvPr id="6" name="Shape 4"/>
          <p:cNvSpPr/>
          <p:nvPr/>
        </p:nvSpPr>
        <p:spPr>
          <a:xfrm>
            <a:off x="548640" y="1947672"/>
            <a:ext cx="11094415" cy="868680"/>
          </a:xfrm>
          <a:prstGeom prst="roundRect">
            <a:avLst>
              <a:gd name="adj" fmla="val 8421"/>
            </a:avLst>
          </a:prstGeom>
          <a:solidFill>
            <a:srgbClr val="2FE6C4"/>
          </a:solidFill>
          <a:ln/>
        </p:spPr>
      </p:sp>
      <p:sp>
        <p:nvSpPr>
          <p:cNvPr id="7" name="Text 5"/>
          <p:cNvSpPr txBox="1"/>
          <p:nvPr/>
        </p:nvSpPr>
        <p:spPr>
          <a:xfrm>
            <a:off x="749808" y="2039112"/>
            <a:ext cx="10692079"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1: OS Structure &amp; Design</a:t>
            </a:r>
            <a:endParaRPr lang="en-US" sz="1400" dirty="0"/>
          </a:p>
        </p:txBody>
      </p:sp>
      <p:sp>
        <p:nvSpPr>
          <p:cNvPr id="8" name="Text 6"/>
          <p:cNvSpPr txBox="1"/>
          <p:nvPr/>
        </p:nvSpPr>
        <p:spPr>
          <a:xfrm>
            <a:off x="749808" y="2331720"/>
            <a:ext cx="10692079" cy="4114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What an OS does, kernel designs, system calls, user/kernel mode</a:t>
            </a:r>
            <a:endParaRPr lang="en-US" sz="1100" dirty="0"/>
          </a:p>
        </p:txBody>
      </p:sp>
      <p:sp>
        <p:nvSpPr>
          <p:cNvPr id="9" name="Shape 7"/>
          <p:cNvSpPr/>
          <p:nvPr/>
        </p:nvSpPr>
        <p:spPr>
          <a:xfrm>
            <a:off x="6013552" y="2807208"/>
            <a:ext cx="164592" cy="109728"/>
          </a:xfrm>
          <a:prstGeom prst="downArrow">
            <a:avLst/>
          </a:prstGeom>
          <a:solidFill>
            <a:srgbClr val="8A939B"/>
          </a:solidFill>
          <a:ln/>
        </p:spPr>
      </p:sp>
      <p:sp>
        <p:nvSpPr>
          <p:cNvPr id="10" name="Shape 8"/>
          <p:cNvSpPr/>
          <p:nvPr/>
        </p:nvSpPr>
        <p:spPr>
          <a:xfrm>
            <a:off x="548640" y="2907792"/>
            <a:ext cx="11094415" cy="868680"/>
          </a:xfrm>
          <a:prstGeom prst="roundRect">
            <a:avLst>
              <a:gd name="adj" fmla="val 8421"/>
            </a:avLst>
          </a:prstGeom>
          <a:solidFill>
            <a:srgbClr val="8B7FD9"/>
          </a:solidFill>
          <a:ln/>
        </p:spPr>
      </p:sp>
      <p:sp>
        <p:nvSpPr>
          <p:cNvPr id="11" name="Text 9"/>
          <p:cNvSpPr txBox="1"/>
          <p:nvPr/>
        </p:nvSpPr>
        <p:spPr>
          <a:xfrm>
            <a:off x="749808" y="2999232"/>
            <a:ext cx="10692079"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2: Processes, IPC &amp; Threads</a:t>
            </a:r>
            <a:endParaRPr lang="en-US" sz="1400" dirty="0"/>
          </a:p>
        </p:txBody>
      </p:sp>
      <p:sp>
        <p:nvSpPr>
          <p:cNvPr id="12" name="Text 10"/>
          <p:cNvSpPr txBox="1"/>
          <p:nvPr/>
        </p:nvSpPr>
        <p:spPr>
          <a:xfrm>
            <a:off x="749808" y="3291840"/>
            <a:ext cx="10692079" cy="4114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Process states, the PCB, context switches, shared memory vs. message passing, threading models</a:t>
            </a:r>
            <a:endParaRPr lang="en-US" sz="1100" dirty="0"/>
          </a:p>
        </p:txBody>
      </p:sp>
      <p:sp>
        <p:nvSpPr>
          <p:cNvPr id="13" name="Shape 11"/>
          <p:cNvSpPr/>
          <p:nvPr/>
        </p:nvSpPr>
        <p:spPr>
          <a:xfrm>
            <a:off x="6013552" y="3767328"/>
            <a:ext cx="164592" cy="109728"/>
          </a:xfrm>
          <a:prstGeom prst="downArrow">
            <a:avLst/>
          </a:prstGeom>
          <a:solidFill>
            <a:srgbClr val="8A939B"/>
          </a:solidFill>
          <a:ln/>
        </p:spPr>
      </p:sp>
      <p:sp>
        <p:nvSpPr>
          <p:cNvPr id="14" name="Shape 12"/>
          <p:cNvSpPr/>
          <p:nvPr/>
        </p:nvSpPr>
        <p:spPr>
          <a:xfrm>
            <a:off x="548640" y="3867912"/>
            <a:ext cx="11094415" cy="868680"/>
          </a:xfrm>
          <a:prstGeom prst="roundRect">
            <a:avLst>
              <a:gd name="adj" fmla="val 8421"/>
            </a:avLst>
          </a:prstGeom>
          <a:solidFill>
            <a:srgbClr val="E8A33D"/>
          </a:solidFill>
          <a:ln/>
        </p:spPr>
      </p:sp>
      <p:sp>
        <p:nvSpPr>
          <p:cNvPr id="15" name="Text 13"/>
          <p:cNvSpPr txBox="1"/>
          <p:nvPr/>
        </p:nvSpPr>
        <p:spPr>
          <a:xfrm>
            <a:off x="749808" y="3959352"/>
            <a:ext cx="10692079"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3: CPU Scheduling</a:t>
            </a:r>
            <a:endParaRPr lang="en-US" sz="1400" dirty="0"/>
          </a:p>
        </p:txBody>
      </p:sp>
      <p:sp>
        <p:nvSpPr>
          <p:cNvPr id="16" name="Text 14"/>
          <p:cNvSpPr txBox="1"/>
          <p:nvPr/>
        </p:nvSpPr>
        <p:spPr>
          <a:xfrm>
            <a:off x="749808" y="4251960"/>
            <a:ext cx="10692079" cy="4114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Scheduling criteria, FCFS, SJF, SRTF, Priority, Round Robin, multilevel queues</a:t>
            </a:r>
            <a:endParaRPr lang="en-US" sz="1100" dirty="0"/>
          </a:p>
        </p:txBody>
      </p:sp>
      <p:sp>
        <p:nvSpPr>
          <p:cNvPr id="17" name="Shape 15"/>
          <p:cNvSpPr/>
          <p:nvPr/>
        </p:nvSpPr>
        <p:spPr>
          <a:xfrm>
            <a:off x="6013552" y="4727448"/>
            <a:ext cx="164592" cy="109728"/>
          </a:xfrm>
          <a:prstGeom prst="downArrow">
            <a:avLst/>
          </a:prstGeom>
          <a:solidFill>
            <a:srgbClr val="8A939B"/>
          </a:solidFill>
          <a:ln/>
        </p:spPr>
      </p:sp>
      <p:sp>
        <p:nvSpPr>
          <p:cNvPr id="18" name="Shape 16"/>
          <p:cNvSpPr/>
          <p:nvPr/>
        </p:nvSpPr>
        <p:spPr>
          <a:xfrm>
            <a:off x="548640" y="4828032"/>
            <a:ext cx="11094415" cy="868680"/>
          </a:xfrm>
          <a:prstGeom prst="roundRect">
            <a:avLst>
              <a:gd name="adj" fmla="val 8421"/>
            </a:avLst>
          </a:prstGeom>
          <a:solidFill>
            <a:srgbClr val="2FE6C4"/>
          </a:solidFill>
          <a:ln/>
        </p:spPr>
      </p:sp>
      <p:sp>
        <p:nvSpPr>
          <p:cNvPr id="19" name="Text 17"/>
          <p:cNvSpPr txBox="1"/>
          <p:nvPr/>
        </p:nvSpPr>
        <p:spPr>
          <a:xfrm>
            <a:off x="749808" y="4919472"/>
            <a:ext cx="10692079"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Unit 4: Process Synchronization</a:t>
            </a:r>
            <a:endParaRPr lang="en-US" sz="1400" dirty="0"/>
          </a:p>
        </p:txBody>
      </p:sp>
      <p:sp>
        <p:nvSpPr>
          <p:cNvPr id="20" name="Text 18"/>
          <p:cNvSpPr txBox="1"/>
          <p:nvPr/>
        </p:nvSpPr>
        <p:spPr>
          <a:xfrm>
            <a:off x="749808" y="5212080"/>
            <a:ext cx="10692079" cy="4114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Critical sections, semaphores, monitors, Producer-Consumer, Readers-Writers, Dining Philosophers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UNIT 1</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OS Structure &amp; Design</a:t>
            </a:r>
            <a:endParaRPr lang="en-US" sz="2600" dirty="0"/>
          </a:p>
        </p:txBody>
      </p:sp>
      <p:sp>
        <p:nvSpPr>
          <p:cNvPr id="5" name="Text 3"/>
          <p:cNvSpPr txBox="1"/>
          <p:nvPr/>
        </p:nvSpPr>
        <p:spPr>
          <a:xfrm>
            <a:off x="548640" y="1536192"/>
            <a:ext cx="11094415" cy="457200"/>
          </a:xfrm>
          <a:prstGeom prst="rect">
            <a:avLst/>
          </a:prstGeom>
          <a:noFill/>
          <a:ln/>
        </p:spPr>
        <p:txBody>
          <a:bodyPr wrap="square" lIns="0" tIns="0" rIns="0" bIns="0" rtlCol="0" anchor="t"/>
          <a:lstStyle/>
          <a:p>
            <a:pPr indent="0" marL="0">
              <a:buNone/>
            </a:pPr>
            <a:r>
              <a:rPr lang="en-US" sz="1350" dirty="0">
                <a:solidFill>
                  <a:srgbClr val="1F2429"/>
                </a:solidFill>
                <a:latin typeface="Calibri" pitchFamily="34" charset="0"/>
                <a:ea typeface="Calibri" pitchFamily="34" charset="-122"/>
                <a:cs typeface="Calibri" pitchFamily="34" charset="-120"/>
              </a:rPr>
              <a:t>A process requests privileged operations only through system calls; the mode bit enforces the boundary between user mode and kernel mode.</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39112"/>
          <a:ext cx="11094415" cy="914400"/>
        </p:xfrm>
        <a:graphic>
          <a:graphicData uri="http://schemas.openxmlformats.org/drawingml/2006/table">
            <a:tbl>
              <a:tblPr/>
              <a:tblGrid>
                <a:gridCol w="1737360"/>
                <a:gridCol w="3657600"/>
                <a:gridCol w="5696712"/>
              </a:tblGrid>
              <a:tr h="4572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Kernel Design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Trade-off</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457200">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Monolithic</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Nearly everything runs in one kernel address space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Fast, but one bad driver can crash the whole system</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Layered</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Strict layers, each built only on the one below</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Easier to debug; still one address space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457200">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Microkernel</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Only IPC/scheduling/memory in kernel mode; rest in user-mode servers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Crash-resilient, but every service costs a message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Hybrid</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Small trusted core + selected subsystems in kernel mode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Where most real OSes (Windows, macOS, Linux) land</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bl>
          </a:graphicData>
        </a:graphic>
      </p:graphicFrame>
      <p:sp>
        <p:nvSpPr>
          <p:cNvPr id="7" name="Shape 4"/>
          <p:cNvSpPr/>
          <p:nvPr/>
        </p:nvSpPr>
        <p:spPr>
          <a:xfrm>
            <a:off x="548640" y="4782312"/>
            <a:ext cx="11094415" cy="685800"/>
          </a:xfrm>
          <a:prstGeom prst="roundRect">
            <a:avLst>
              <a:gd name="adj" fmla="val 10667"/>
            </a:avLst>
          </a:prstGeom>
          <a:solidFill>
            <a:srgbClr val="E9F9F3"/>
          </a:solidFill>
          <a:ln w="12700">
            <a:solidFill>
              <a:srgbClr val="1FAE8C"/>
            </a:solidFill>
            <a:prstDash val="solid"/>
          </a:ln>
        </p:spPr>
      </p:sp>
      <p:sp>
        <p:nvSpPr>
          <p:cNvPr id="8" name="Text 5"/>
          <p:cNvSpPr txBox="1"/>
          <p:nvPr/>
        </p:nvSpPr>
        <p:spPr>
          <a:xfrm>
            <a:off x="804672" y="4892040"/>
            <a:ext cx="10582351" cy="237744"/>
          </a:xfrm>
          <a:prstGeom prst="rect">
            <a:avLst/>
          </a:prstGeom>
          <a:noFill/>
          <a:ln/>
        </p:spPr>
        <p:txBody>
          <a:bodyPr wrap="square" lIns="0" tIns="0" rIns="0" bIns="0" rtlCol="0" anchor="ctr"/>
          <a:lstStyle/>
          <a:p>
            <a:pPr indent="0" marL="0">
              <a:buNone/>
            </a:pPr>
            <a:r>
              <a:rPr lang="en-US" sz="1100" b="1" spc="200" kern="0" dirty="0">
                <a:solidFill>
                  <a:srgbClr val="0E7A61"/>
                </a:solidFill>
                <a:latin typeface="Calibri" pitchFamily="34" charset="0"/>
                <a:ea typeface="Calibri" pitchFamily="34" charset="-122"/>
                <a:cs typeface="Calibri" pitchFamily="34" charset="-120"/>
              </a:rPr>
              <a:t>TIP</a:t>
            </a:r>
            <a:endParaRPr lang="en-US" sz="1100" dirty="0"/>
          </a:p>
        </p:txBody>
      </p:sp>
      <p:sp>
        <p:nvSpPr>
          <p:cNvPr id="9" name="Text 6"/>
          <p:cNvSpPr txBox="1"/>
          <p:nvPr/>
        </p:nvSpPr>
        <p:spPr>
          <a:xfrm>
            <a:off x="804672" y="5166360"/>
            <a:ext cx="10582351" cy="19202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If an exam question says "crashes the whole system," think monolithic — a microkernel’s servers are isolated processes; a crash is contained.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2</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Processes, PCB &amp; IPC</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A process is tracked via its PCB: state, program counter, CPU registers, memory limits, I/O status</a:t>
            </a:r>
            <a:endParaRPr lang="en-US" sz="1300" dirty="0"/>
          </a:p>
          <a:p>
            <a:pPr marL="342900" indent="-342900">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A process moves through 5 states (new, ready, running, waiting, terminated) — never changes state unilaterally</a:t>
            </a:r>
            <a:endParaRPr lang="en-US" sz="1300" dirty="0"/>
          </a:p>
          <a:p>
            <a:pPr marL="342900" indent="-342900">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A thread is the unit the CPU executes; threads of the same process share an address space, so switching between them is far cheaper than switching processes</a:t>
            </a:r>
            <a:endParaRPr lang="en-US" sz="1300" dirty="0"/>
          </a:p>
        </p:txBody>
      </p:sp>
      <p:sp>
        <p:nvSpPr>
          <p:cNvPr id="6" name="Shape 4"/>
          <p:cNvSpPr/>
          <p:nvPr/>
        </p:nvSpPr>
        <p:spPr>
          <a:xfrm>
            <a:off x="548640" y="3456432"/>
            <a:ext cx="5455768" cy="1188720"/>
          </a:xfrm>
          <a:prstGeom prst="roundRect">
            <a:avLst>
              <a:gd name="adj" fmla="val 6154"/>
            </a:avLst>
          </a:prstGeom>
          <a:solidFill>
            <a:srgbClr val="8B7FD9"/>
          </a:solidFill>
          <a:ln/>
        </p:spPr>
      </p:sp>
      <p:sp>
        <p:nvSpPr>
          <p:cNvPr id="7" name="Text 5"/>
          <p:cNvSpPr txBox="1"/>
          <p:nvPr/>
        </p:nvSpPr>
        <p:spPr>
          <a:xfrm>
            <a:off x="713232" y="3547872"/>
            <a:ext cx="512658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Shared Memory</a:t>
            </a:r>
            <a:endParaRPr lang="en-US" sz="1300" dirty="0"/>
          </a:p>
        </p:txBody>
      </p:sp>
      <p:sp>
        <p:nvSpPr>
          <p:cNvPr id="8" name="Text 6"/>
          <p:cNvSpPr txBox="1"/>
          <p:nvPr/>
        </p:nvSpPr>
        <p:spPr>
          <a:xfrm>
            <a:off x="713232" y="3840480"/>
            <a:ext cx="5126584"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Processes read/write a region both can see directly — fast, but every access must be synchronized by the programmer</a:t>
            </a:r>
            <a:endParaRPr lang="en-US" sz="1050" dirty="0"/>
          </a:p>
        </p:txBody>
      </p:sp>
      <p:sp>
        <p:nvSpPr>
          <p:cNvPr id="9" name="Shape 7"/>
          <p:cNvSpPr/>
          <p:nvPr/>
        </p:nvSpPr>
        <p:spPr>
          <a:xfrm>
            <a:off x="6187288" y="3456432"/>
            <a:ext cx="5455768" cy="1188720"/>
          </a:xfrm>
          <a:prstGeom prst="roundRect">
            <a:avLst>
              <a:gd name="adj" fmla="val 6154"/>
            </a:avLst>
          </a:prstGeom>
          <a:solidFill>
            <a:srgbClr val="2FE6C4"/>
          </a:solidFill>
          <a:ln/>
        </p:spPr>
      </p:sp>
      <p:sp>
        <p:nvSpPr>
          <p:cNvPr id="10" name="Text 8"/>
          <p:cNvSpPr txBox="1"/>
          <p:nvPr/>
        </p:nvSpPr>
        <p:spPr>
          <a:xfrm>
            <a:off x="6351880" y="3547872"/>
            <a:ext cx="512658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Message Passing</a:t>
            </a:r>
            <a:endParaRPr lang="en-US" sz="1300" dirty="0"/>
          </a:p>
        </p:txBody>
      </p:sp>
      <p:sp>
        <p:nvSpPr>
          <p:cNvPr id="11" name="Text 9"/>
          <p:cNvSpPr txBox="1"/>
          <p:nvPr/>
        </p:nvSpPr>
        <p:spPr>
          <a:xfrm>
            <a:off x="6351880" y="3840480"/>
            <a:ext cx="5126584"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Processes exchange send()/receive() through the kernel — slower, but synchronization comes nearly for free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UNIT 2</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Threading Models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2103120"/>
                <a:gridCol w="4480560"/>
                <a:gridCol w="4507992"/>
              </a:tblGrid>
              <a:tr h="5943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Mapping</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94360">
                <a:tc>
                  <a:txBody>
                    <a:bodyPr/>
                    <a:lstStyle/>
                    <a:p>
                      <a:pPr algn="l" indent="0" marL="0">
                        <a:buNone/>
                      </a:pPr>
                      <a:r>
                        <a:rPr lang="en-US" sz="1200" b="1" dirty="0">
                          <a:solidFill>
                            <a:srgbClr val="1F2429"/>
                          </a:solidFill>
                          <a:latin typeface="Calibri" pitchFamily="34" charset="0"/>
                          <a:ea typeface="Calibri" pitchFamily="34" charset="-122"/>
                          <a:cs typeface="Calibri" pitchFamily="34" charset="-120"/>
                        </a:rPr>
                        <a:t>Many-to-One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Many user threads → one kernel thread</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Cheap to create, but one blocking call freezes all; no parallelism possible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94360">
                <a:tc>
                  <a:txBody>
                    <a:bodyPr/>
                    <a:lstStyle/>
                    <a:p>
                      <a:pPr algn="l" indent="0" marL="0">
                        <a:buNone/>
                      </a:pPr>
                      <a:r>
                        <a:rPr lang="en-US" sz="1200" b="1" dirty="0">
                          <a:solidFill>
                            <a:srgbClr val="1F2429"/>
                          </a:solidFill>
                          <a:latin typeface="Calibri" pitchFamily="34" charset="0"/>
                          <a:ea typeface="Calibri" pitchFamily="34" charset="-122"/>
                          <a:cs typeface="Calibri" pitchFamily="34" charset="-120"/>
                        </a:rPr>
                        <a:t>One-to-One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Each user thread → its own kernel thread</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True parallelism, at the cost of a kernel context switch per thread</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94360">
                <a:tc>
                  <a:txBody>
                    <a:bodyPr/>
                    <a:lstStyle/>
                    <a:p>
                      <a:pPr algn="l" indent="0" marL="0">
                        <a:buNone/>
                      </a:pPr>
                      <a:r>
                        <a:rPr lang="en-US" sz="1200" b="1" dirty="0">
                          <a:solidFill>
                            <a:srgbClr val="1F2429"/>
                          </a:solidFill>
                          <a:latin typeface="Calibri" pitchFamily="34" charset="0"/>
                          <a:ea typeface="Calibri" pitchFamily="34" charset="-122"/>
                          <a:cs typeface="Calibri" pitchFamily="34" charset="-120"/>
                        </a:rPr>
                        <a:t>Many-to-Many</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Many user threads → a smaller/equal kernel pool</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429"/>
                          </a:solidFill>
                          <a:latin typeface="Calibri" pitchFamily="34" charset="0"/>
                          <a:ea typeface="Calibri" pitchFamily="34" charset="-122"/>
                          <a:cs typeface="Calibri" pitchFamily="34" charset="-120"/>
                        </a:rPr>
                        <a:t>Tries to capture cheapness and parallelism at once</a:t>
                      </a:r>
                      <a:endParaRPr lang="en-US" sz="12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3822192"/>
            <a:ext cx="11094415" cy="822960"/>
          </a:xfrm>
          <a:prstGeom prst="roundRect">
            <a:avLst>
              <a:gd name="adj" fmla="val 8889"/>
            </a:avLst>
          </a:prstGeom>
          <a:solidFill>
            <a:srgbClr val="F1EEFC"/>
          </a:solidFill>
          <a:ln w="12700">
            <a:solidFill>
              <a:srgbClr val="8B7FD9"/>
            </a:solidFill>
            <a:prstDash val="solid"/>
          </a:ln>
        </p:spPr>
      </p:sp>
      <p:sp>
        <p:nvSpPr>
          <p:cNvPr id="7" name="Text 4"/>
          <p:cNvSpPr txBox="1"/>
          <p:nvPr/>
        </p:nvSpPr>
        <p:spPr>
          <a:xfrm>
            <a:off x="804672" y="3931920"/>
            <a:ext cx="10582351" cy="237744"/>
          </a:xfrm>
          <a:prstGeom prst="rect">
            <a:avLst/>
          </a:prstGeom>
          <a:noFill/>
          <a:ln/>
        </p:spPr>
        <p:txBody>
          <a:bodyPr wrap="square" lIns="0" tIns="0" rIns="0" bIns="0" rtlCol="0" anchor="ctr"/>
          <a:lstStyle/>
          <a:p>
            <a:pPr indent="0" marL="0">
              <a:buNone/>
            </a:pPr>
            <a:r>
              <a:rPr lang="en-US" sz="1100" b="1" spc="200" kern="0" dirty="0">
                <a:solidFill>
                  <a:srgbClr val="5B3FC4"/>
                </a:solidFill>
                <a:latin typeface="Calibri" pitchFamily="34" charset="0"/>
                <a:ea typeface="Calibri" pitchFamily="34" charset="-122"/>
                <a:cs typeface="Calibri" pitchFamily="34" charset="-120"/>
              </a:rPr>
              <a:t>NOTE</a:t>
            </a:r>
            <a:endParaRPr lang="en-US" sz="1100" dirty="0"/>
          </a:p>
        </p:txBody>
      </p:sp>
      <p:sp>
        <p:nvSpPr>
          <p:cNvPr id="8" name="Text 5"/>
          <p:cNvSpPr txBox="1"/>
          <p:nvPr/>
        </p:nvSpPr>
        <p:spPr>
          <a:xfrm>
            <a:off x="804672" y="4206240"/>
            <a:ext cx="10582351" cy="329184"/>
          </a:xfrm>
          <a:prstGeom prst="rect">
            <a:avLst/>
          </a:prstGeom>
          <a:noFill/>
          <a:ln/>
        </p:spPr>
        <p:txBody>
          <a:bodyPr wrap="square" lIns="0" tIns="0" rIns="0" bIns="0" rtlCol="0" anchor="t"/>
          <a:lstStyle/>
          <a:p>
            <a:pPr indent="0" marL="0">
              <a:lnSpc>
                <a:spcPct val="112000"/>
              </a:lnSpc>
              <a:buNone/>
            </a:pPr>
            <a:r>
              <a:rPr lang="en-US" sz="1200" dirty="0">
                <a:solidFill>
                  <a:srgbClr val="1F2429"/>
                </a:solidFill>
                <a:latin typeface="Calibri" pitchFamily="34" charset="0"/>
                <a:ea typeface="Calibri" pitchFamily="34" charset="-122"/>
                <a:cs typeface="Calibri" pitchFamily="34" charset="-120"/>
              </a:rPr>
              <a:t>A single blocking system call from any many-to-one user thread freezes every other thread in that process — the kernel sees only one schedulable entity.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UNIT 3</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CPU Scheduling Algorithms (1 of 2)</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920240"/>
                <a:gridCol w="1463040"/>
                <a:gridCol w="3017520"/>
                <a:gridCol w="2286000"/>
                <a:gridCol w="2404872"/>
              </a:tblGrid>
              <a:tr h="56692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Algorithm</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Preempt?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Wait-Time Optimality</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Starvation Risk</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Real-World Use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66928">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FCFS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Poor — convoy effect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Simple batch queues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SJF (non-preempt.)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Optimal among non-preemptive</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Batch systems, known bursts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66928">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SRTF</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Optimal overall</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Theoretical lower bound</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F2429"/>
                          </a:solidFill>
                          <a:latin typeface="Calibri" pitchFamily="34" charset="0"/>
                          <a:ea typeface="Calibri" pitchFamily="34" charset="-122"/>
                          <a:cs typeface="Calibri" pitchFamily="34" charset="-120"/>
                        </a:rPr>
                        <a:t>Priority</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Either</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Depends on priority assignment</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High (use aging)</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050" dirty="0">
                          <a:solidFill>
                            <a:srgbClr val="1F2429"/>
                          </a:solidFill>
                          <a:latin typeface="Calibri" pitchFamily="34" charset="0"/>
                          <a:ea typeface="Calibri" pitchFamily="34" charset="-122"/>
                          <a:cs typeface="Calibri" pitchFamily="34" charset="-120"/>
                        </a:rPr>
                        <a:t>Underlies most schedulers</a:t>
                      </a:r>
                      <a:endParaRPr lang="en-US" sz="105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E8A33D"/>
                </a:solidFill>
                <a:latin typeface="Calibri" pitchFamily="34" charset="0"/>
                <a:ea typeface="Calibri" pitchFamily="34" charset="-122"/>
                <a:cs typeface="Calibri" pitchFamily="34" charset="-120"/>
              </a:rPr>
              <a:t>UNIT 3</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CPU Scheduling Algorithms (2 of 2)</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11094415" cy="914400"/>
        </p:xfrm>
        <a:graphic>
          <a:graphicData uri="http://schemas.openxmlformats.org/drawingml/2006/table">
            <a:tbl>
              <a:tblPr/>
              <a:tblGrid>
                <a:gridCol w="1920240"/>
                <a:gridCol w="1463040"/>
                <a:gridCol w="3017520"/>
                <a:gridCol w="2286000"/>
                <a:gridCol w="2404872"/>
              </a:tblGrid>
              <a:tr h="5669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Algorithm</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Preempt?</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Wait-Time Optimality</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Starvation Risk</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Real-World Use</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4181C"/>
                    </a:solidFill>
                  </a:tcPr>
                </a:tc>
              </a:tr>
              <a:tr h="566928">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Round Robin</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Moderate — depends on quantum</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Time-sharing, interactive systems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Multilevel Queue</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Usually</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Depends on fixed queue priority</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Possible (lower queues)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Separating batch vs. interactive</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0F2F4"/>
                    </a:solidFill>
                  </a:tcPr>
                </a:tc>
              </a:tr>
              <a:tr h="566928">
                <a:tc>
                  <a:txBody>
                    <a:bodyPr/>
                    <a:lstStyle/>
                    <a:p>
                      <a:pPr algn="l" indent="0" marL="0">
                        <a:buNone/>
                      </a:pPr>
                      <a:r>
                        <a:rPr lang="en-US" sz="1100" b="1" dirty="0">
                          <a:solidFill>
                            <a:srgbClr val="1F2429"/>
                          </a:solidFill>
                          <a:latin typeface="Calibri" pitchFamily="34" charset="0"/>
                          <a:ea typeface="Calibri" pitchFamily="34" charset="-122"/>
                          <a:cs typeface="Calibri" pitchFamily="34" charset="-120"/>
                        </a:rPr>
                        <a:t>Multilevel Feedback Queue</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Good — adapts to behavior</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429"/>
                          </a:solidFill>
                          <a:latin typeface="Calibri" pitchFamily="34" charset="0"/>
                          <a:ea typeface="Calibri" pitchFamily="34" charset="-122"/>
                          <a:cs typeface="Calibri" pitchFamily="34" charset="-120"/>
                        </a:rPr>
                        <a:t>Closest to real OS schedulers</a:t>
                      </a:r>
                      <a:endParaRPr lang="en-US" sz="1100" dirty="0">
                        <a:latin typeface="Calibri" charset="0"/>
                        <a:ea typeface="Calibri" charset="0"/>
                        <a:cs typeface="Calibri" charset="0"/>
                      </a:endParaRPr>
                    </a:p>
                  </a:txBody>
                  <a:tcPr marL="91440" marR="91440" marT="45720" marB="45720"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187952"/>
            <a:ext cx="11094415" cy="914400"/>
          </a:xfrm>
          <a:prstGeom prst="roundRect">
            <a:avLst>
              <a:gd name="adj" fmla="val 8000"/>
            </a:avLst>
          </a:prstGeom>
          <a:solidFill>
            <a:srgbClr val="F1EEFC"/>
          </a:solidFill>
          <a:ln w="12700">
            <a:solidFill>
              <a:srgbClr val="8B7FD9"/>
            </a:solidFill>
            <a:prstDash val="solid"/>
          </a:ln>
        </p:spPr>
      </p:sp>
      <p:sp>
        <p:nvSpPr>
          <p:cNvPr id="7" name="Text 4"/>
          <p:cNvSpPr txBox="1"/>
          <p:nvPr/>
        </p:nvSpPr>
        <p:spPr>
          <a:xfrm>
            <a:off x="804672" y="4297680"/>
            <a:ext cx="10582351" cy="237744"/>
          </a:xfrm>
          <a:prstGeom prst="rect">
            <a:avLst/>
          </a:prstGeom>
          <a:noFill/>
          <a:ln/>
        </p:spPr>
        <p:txBody>
          <a:bodyPr wrap="square" lIns="0" tIns="0" rIns="0" bIns="0" rtlCol="0" anchor="ctr"/>
          <a:lstStyle/>
          <a:p>
            <a:pPr indent="0" marL="0">
              <a:buNone/>
            </a:pPr>
            <a:r>
              <a:rPr lang="en-US" sz="1100" b="1" spc="200" kern="0" dirty="0">
                <a:solidFill>
                  <a:srgbClr val="5B3FC4"/>
                </a:solidFill>
                <a:latin typeface="Calibri" pitchFamily="34" charset="0"/>
                <a:ea typeface="Calibri" pitchFamily="34" charset="-122"/>
                <a:cs typeface="Calibri" pitchFamily="34" charset="-120"/>
              </a:rPr>
              <a:t>NOTE</a:t>
            </a:r>
            <a:endParaRPr lang="en-US" sz="1100" dirty="0"/>
          </a:p>
        </p:txBody>
      </p:sp>
      <p:sp>
        <p:nvSpPr>
          <p:cNvPr id="8" name="Text 5"/>
          <p:cNvSpPr txBox="1"/>
          <p:nvPr/>
        </p:nvSpPr>
        <p:spPr>
          <a:xfrm>
            <a:off x="804672" y="4572000"/>
            <a:ext cx="10582351" cy="42062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The time quantum is Round Robin’s entire personality: too large → degrades toward FCFS; too small → context-switch overhead dominates. Multilevel feedback queues let the system adapt the effective quantum instead of fixing one value.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UNIT 4</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The Critical-Section Problem</a:t>
            </a:r>
            <a:endParaRPr lang="en-US" sz="2600" dirty="0"/>
          </a:p>
        </p:txBody>
      </p:sp>
      <p:sp>
        <p:nvSpPr>
          <p:cNvPr id="5" name="Shape 3"/>
          <p:cNvSpPr/>
          <p:nvPr/>
        </p:nvSpPr>
        <p:spPr>
          <a:xfrm>
            <a:off x="548640" y="1536192"/>
            <a:ext cx="3576218" cy="1188720"/>
          </a:xfrm>
          <a:prstGeom prst="roundRect">
            <a:avLst>
              <a:gd name="adj" fmla="val 6154"/>
            </a:avLst>
          </a:prstGeom>
          <a:solidFill>
            <a:srgbClr val="2FE6C4"/>
          </a:solidFill>
          <a:ln/>
        </p:spPr>
      </p:sp>
      <p:sp>
        <p:nvSpPr>
          <p:cNvPr id="6" name="Text 4"/>
          <p:cNvSpPr txBox="1"/>
          <p:nvPr/>
        </p:nvSpPr>
        <p:spPr>
          <a:xfrm>
            <a:off x="713232"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Mutual Exclusion</a:t>
            </a:r>
            <a:endParaRPr lang="en-US" sz="1300" dirty="0"/>
          </a:p>
        </p:txBody>
      </p:sp>
      <p:sp>
        <p:nvSpPr>
          <p:cNvPr id="7" name="Text 5"/>
          <p:cNvSpPr txBox="1"/>
          <p:nvPr/>
        </p:nvSpPr>
        <p:spPr>
          <a:xfrm>
            <a:off x="713232" y="1920240"/>
            <a:ext cx="3247034"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Only one process in its critical section at a time</a:t>
            </a:r>
            <a:endParaRPr lang="en-US" sz="1050" dirty="0"/>
          </a:p>
        </p:txBody>
      </p:sp>
      <p:sp>
        <p:nvSpPr>
          <p:cNvPr id="8" name="Shape 6"/>
          <p:cNvSpPr/>
          <p:nvPr/>
        </p:nvSpPr>
        <p:spPr>
          <a:xfrm>
            <a:off x="4307738" y="1536192"/>
            <a:ext cx="3576218" cy="1188720"/>
          </a:xfrm>
          <a:prstGeom prst="roundRect">
            <a:avLst>
              <a:gd name="adj" fmla="val 6154"/>
            </a:avLst>
          </a:prstGeom>
          <a:solidFill>
            <a:srgbClr val="8B7FD9"/>
          </a:solidFill>
          <a:ln/>
        </p:spPr>
      </p:sp>
      <p:sp>
        <p:nvSpPr>
          <p:cNvPr id="9" name="Text 7"/>
          <p:cNvSpPr txBox="1"/>
          <p:nvPr/>
        </p:nvSpPr>
        <p:spPr>
          <a:xfrm>
            <a:off x="4472330"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Progress</a:t>
            </a:r>
            <a:endParaRPr lang="en-US" sz="1300" dirty="0"/>
          </a:p>
        </p:txBody>
      </p:sp>
      <p:sp>
        <p:nvSpPr>
          <p:cNvPr id="10" name="Text 8"/>
          <p:cNvSpPr txBox="1"/>
          <p:nvPr/>
        </p:nvSpPr>
        <p:spPr>
          <a:xfrm>
            <a:off x="4472330" y="1920240"/>
            <a:ext cx="3247034"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If no process is in its critical section, one of those waiting must eventually be allowed in</a:t>
            </a:r>
            <a:endParaRPr lang="en-US" sz="1050" dirty="0"/>
          </a:p>
        </p:txBody>
      </p:sp>
      <p:sp>
        <p:nvSpPr>
          <p:cNvPr id="11" name="Shape 9"/>
          <p:cNvSpPr/>
          <p:nvPr/>
        </p:nvSpPr>
        <p:spPr>
          <a:xfrm>
            <a:off x="8066837" y="1536192"/>
            <a:ext cx="3576218" cy="1188720"/>
          </a:xfrm>
          <a:prstGeom prst="roundRect">
            <a:avLst>
              <a:gd name="adj" fmla="val 6154"/>
            </a:avLst>
          </a:prstGeom>
          <a:solidFill>
            <a:srgbClr val="E8A33D"/>
          </a:solidFill>
          <a:ln/>
        </p:spPr>
      </p:sp>
      <p:sp>
        <p:nvSpPr>
          <p:cNvPr id="12" name="Text 10"/>
          <p:cNvSpPr txBox="1"/>
          <p:nvPr/>
        </p:nvSpPr>
        <p:spPr>
          <a:xfrm>
            <a:off x="8231429"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Bounded Waiting</a:t>
            </a:r>
            <a:endParaRPr lang="en-US" sz="1300" dirty="0"/>
          </a:p>
        </p:txBody>
      </p:sp>
      <p:sp>
        <p:nvSpPr>
          <p:cNvPr id="13" name="Text 11"/>
          <p:cNvSpPr txBox="1"/>
          <p:nvPr/>
        </p:nvSpPr>
        <p:spPr>
          <a:xfrm>
            <a:off x="8231429" y="1920240"/>
            <a:ext cx="3247034"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No process waits an unbounded number of turns while others repeatedly cut in line</a:t>
            </a:r>
            <a:endParaRPr lang="en-US" sz="1050" dirty="0"/>
          </a:p>
        </p:txBody>
      </p:sp>
      <p:sp>
        <p:nvSpPr>
          <p:cNvPr id="14" name="Text 12"/>
          <p:cNvSpPr txBox="1"/>
          <p:nvPr/>
        </p:nvSpPr>
        <p:spPr>
          <a:xfrm>
            <a:off x="621792" y="3044952"/>
            <a:ext cx="10948111"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Semaphores generalize the lock into an integer via wait() and signal(); a binary semaphore behaves like a mutex, a counting semaphore controls a pool of identical resources</a:t>
            </a:r>
            <a:endParaRPr lang="en-US" sz="1300" dirty="0"/>
          </a:p>
          <a:p>
            <a:pPr marL="342900" indent="-342900">
              <a:spcAft>
                <a:spcPts val="800"/>
              </a:spcAft>
              <a:buSzPct val="100000"/>
              <a:buChar char="•"/>
            </a:pPr>
            <a:r>
              <a:rPr lang="en-US" sz="1300" dirty="0">
                <a:solidFill>
                  <a:srgbClr val="1F2429"/>
                </a:solidFill>
                <a:latin typeface="Calibri" pitchFamily="34" charset="0"/>
                <a:ea typeface="Calibri" pitchFamily="34" charset="-122"/>
                <a:cs typeface="Calibri" pitchFamily="34" charset="-120"/>
              </a:rPr>
              <a:t>Monitors package a lock with the shared data and the only operations allowed to touch it — the compiler enforces correct use structurally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2FE6C4"/>
                </a:solidFill>
                <a:latin typeface="Calibri" pitchFamily="34" charset="0"/>
                <a:ea typeface="Calibri" pitchFamily="34" charset="-122"/>
                <a:cs typeface="Calibri" pitchFamily="34" charset="-120"/>
              </a:rPr>
              <a:t>UNIT 4</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Three Classical Synchronization Problems</a:t>
            </a:r>
            <a:endParaRPr lang="en-US" sz="2600" dirty="0"/>
          </a:p>
        </p:txBody>
      </p:sp>
      <p:sp>
        <p:nvSpPr>
          <p:cNvPr id="5" name="Shape 3"/>
          <p:cNvSpPr/>
          <p:nvPr/>
        </p:nvSpPr>
        <p:spPr>
          <a:xfrm>
            <a:off x="548640" y="1536192"/>
            <a:ext cx="3576218" cy="1280160"/>
          </a:xfrm>
          <a:prstGeom prst="roundRect">
            <a:avLst>
              <a:gd name="adj" fmla="val 5714"/>
            </a:avLst>
          </a:prstGeom>
          <a:solidFill>
            <a:srgbClr val="2FE6C4"/>
          </a:solidFill>
          <a:ln/>
        </p:spPr>
      </p:sp>
      <p:sp>
        <p:nvSpPr>
          <p:cNvPr id="6" name="Text 4"/>
          <p:cNvSpPr txBox="1"/>
          <p:nvPr/>
        </p:nvSpPr>
        <p:spPr>
          <a:xfrm>
            <a:off x="713232"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Producer–Consumer</a:t>
            </a:r>
            <a:endParaRPr lang="en-US" sz="1300" dirty="0"/>
          </a:p>
        </p:txBody>
      </p:sp>
      <p:sp>
        <p:nvSpPr>
          <p:cNvPr id="7" name="Text 5"/>
          <p:cNvSpPr txBox="1"/>
          <p:nvPr/>
        </p:nvSpPr>
        <p:spPr>
          <a:xfrm>
            <a:off x="713232" y="1920240"/>
            <a:ext cx="3247034" cy="8229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Bounded buffer; tests coordinating a count (empty/full slots) alongside mutual exclusion</a:t>
            </a:r>
            <a:endParaRPr lang="en-US" sz="1050" dirty="0"/>
          </a:p>
        </p:txBody>
      </p:sp>
      <p:sp>
        <p:nvSpPr>
          <p:cNvPr id="8" name="Shape 6"/>
          <p:cNvSpPr/>
          <p:nvPr/>
        </p:nvSpPr>
        <p:spPr>
          <a:xfrm>
            <a:off x="4307738" y="1536192"/>
            <a:ext cx="3576218" cy="1280160"/>
          </a:xfrm>
          <a:prstGeom prst="roundRect">
            <a:avLst>
              <a:gd name="adj" fmla="val 5714"/>
            </a:avLst>
          </a:prstGeom>
          <a:solidFill>
            <a:srgbClr val="8B7FD9"/>
          </a:solidFill>
          <a:ln/>
        </p:spPr>
      </p:sp>
      <p:sp>
        <p:nvSpPr>
          <p:cNvPr id="9" name="Text 7"/>
          <p:cNvSpPr txBox="1"/>
          <p:nvPr/>
        </p:nvSpPr>
        <p:spPr>
          <a:xfrm>
            <a:off x="4472330"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Readers–Writers</a:t>
            </a:r>
            <a:endParaRPr lang="en-US" sz="1300" dirty="0"/>
          </a:p>
        </p:txBody>
      </p:sp>
      <p:sp>
        <p:nvSpPr>
          <p:cNvPr id="10" name="Text 8"/>
          <p:cNvSpPr txBox="1"/>
          <p:nvPr/>
        </p:nvSpPr>
        <p:spPr>
          <a:xfrm>
            <a:off x="4472330" y="1920240"/>
            <a:ext cx="3247034" cy="8229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Many readers may overlap safely; a writer needs total exclusivity — tests asymmetric access</a:t>
            </a:r>
            <a:endParaRPr lang="en-US" sz="1050" dirty="0"/>
          </a:p>
        </p:txBody>
      </p:sp>
      <p:sp>
        <p:nvSpPr>
          <p:cNvPr id="11" name="Shape 9"/>
          <p:cNvSpPr/>
          <p:nvPr/>
        </p:nvSpPr>
        <p:spPr>
          <a:xfrm>
            <a:off x="8066837" y="1536192"/>
            <a:ext cx="3576218" cy="1280160"/>
          </a:xfrm>
          <a:prstGeom prst="roundRect">
            <a:avLst>
              <a:gd name="adj" fmla="val 5714"/>
            </a:avLst>
          </a:prstGeom>
          <a:solidFill>
            <a:srgbClr val="E8A33D"/>
          </a:solidFill>
          <a:ln/>
        </p:spPr>
      </p:sp>
      <p:sp>
        <p:nvSpPr>
          <p:cNvPr id="12" name="Text 10"/>
          <p:cNvSpPr txBox="1"/>
          <p:nvPr/>
        </p:nvSpPr>
        <p:spPr>
          <a:xfrm>
            <a:off x="8231429" y="1627632"/>
            <a:ext cx="324703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Dining Philosophers</a:t>
            </a:r>
            <a:endParaRPr lang="en-US" sz="1300" dirty="0"/>
          </a:p>
        </p:txBody>
      </p:sp>
      <p:sp>
        <p:nvSpPr>
          <p:cNvPr id="13" name="Text 11"/>
          <p:cNvSpPr txBox="1"/>
          <p:nvPr/>
        </p:nvSpPr>
        <p:spPr>
          <a:xfrm>
            <a:off x="8231429" y="1920240"/>
            <a:ext cx="3247034" cy="8229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Circular resource acquisition (forks); tests exactly the cyclic waiting that causes deadlock</a:t>
            </a:r>
            <a:endParaRPr lang="en-US" sz="1050" dirty="0"/>
          </a:p>
        </p:txBody>
      </p:sp>
      <p:sp>
        <p:nvSpPr>
          <p:cNvPr id="14" name="Shape 12"/>
          <p:cNvSpPr/>
          <p:nvPr/>
        </p:nvSpPr>
        <p:spPr>
          <a:xfrm>
            <a:off x="548640" y="3136392"/>
            <a:ext cx="11094415" cy="914400"/>
          </a:xfrm>
          <a:prstGeom prst="roundRect">
            <a:avLst>
              <a:gd name="adj" fmla="val 8000"/>
            </a:avLst>
          </a:prstGeom>
          <a:solidFill>
            <a:srgbClr val="F1EEFC"/>
          </a:solidFill>
          <a:ln w="12700">
            <a:solidFill>
              <a:srgbClr val="8B7FD9"/>
            </a:solidFill>
            <a:prstDash val="solid"/>
          </a:ln>
        </p:spPr>
      </p:sp>
      <p:sp>
        <p:nvSpPr>
          <p:cNvPr id="15" name="Text 13"/>
          <p:cNvSpPr txBox="1"/>
          <p:nvPr/>
        </p:nvSpPr>
        <p:spPr>
          <a:xfrm>
            <a:off x="804672" y="3246120"/>
            <a:ext cx="10582351" cy="237744"/>
          </a:xfrm>
          <a:prstGeom prst="rect">
            <a:avLst/>
          </a:prstGeom>
          <a:noFill/>
          <a:ln/>
        </p:spPr>
        <p:txBody>
          <a:bodyPr wrap="square" lIns="0" tIns="0" rIns="0" bIns="0" rtlCol="0" anchor="ctr"/>
          <a:lstStyle/>
          <a:p>
            <a:pPr indent="0" marL="0">
              <a:buNone/>
            </a:pPr>
            <a:r>
              <a:rPr lang="en-US" sz="1100" b="1" spc="200" kern="0" dirty="0">
                <a:solidFill>
                  <a:srgbClr val="5B3FC4"/>
                </a:solidFill>
                <a:latin typeface="Calibri" pitchFamily="34" charset="0"/>
                <a:ea typeface="Calibri" pitchFamily="34" charset="-122"/>
                <a:cs typeface="Calibri" pitchFamily="34" charset="-120"/>
              </a:rPr>
              <a:t>NOTE</a:t>
            </a:r>
            <a:endParaRPr lang="en-US" sz="1100" dirty="0"/>
          </a:p>
        </p:txBody>
      </p:sp>
      <p:sp>
        <p:nvSpPr>
          <p:cNvPr id="16" name="Text 14"/>
          <p:cNvSpPr txBox="1"/>
          <p:nvPr/>
        </p:nvSpPr>
        <p:spPr>
          <a:xfrm>
            <a:off x="804672" y="3520440"/>
            <a:ext cx="10582351" cy="420624"/>
          </a:xfrm>
          <a:prstGeom prst="rect">
            <a:avLst/>
          </a:prstGeom>
          <a:noFill/>
          <a:ln/>
        </p:spPr>
        <p:txBody>
          <a:bodyPr wrap="square" lIns="0" tIns="0" rIns="0" bIns="0" rtlCol="0" anchor="t"/>
          <a:lstStyle/>
          <a:p>
            <a:pPr indent="0" marL="0">
              <a:lnSpc>
                <a:spcPct val="112000"/>
              </a:lnSpc>
              <a:buNone/>
            </a:pPr>
            <a:r>
              <a:rPr lang="en-US" sz="1150" dirty="0">
                <a:solidFill>
                  <a:srgbClr val="1F2429"/>
                </a:solidFill>
                <a:latin typeface="Calibri" pitchFamily="34" charset="0"/>
                <a:ea typeface="Calibri" pitchFamily="34" charset="-122"/>
                <a:cs typeface="Calibri" pitchFamily="34" charset="-120"/>
              </a:rPr>
              <a:t>Dining Philosophers is a preview, not just a puzzle: every philosopher holds one fork while waiting for another — a direct physical model of hold-and-wait and circular wait, named formally in Lecture 19.</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SELF-TEST · 1 OF 2</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Check Yourself Before the Exam</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Q1.  Why does a microkernel improve fault isolation over a monolithic kernel, and what does it give up in exchange?</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Q2.  State the three requirements a correct critical-section solution must satisfy, and explain what would go wrong if one were violated.</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Q3.  Four processes have the arrival/burst times from Lecture 17’s table. Compute the Gantt chart and average waiting time under non-preemptive SJF.</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Q4.  Why can Round Robin’s performance degrade toward FCFS if the quantum is too large, and toward excessive overhead if too small?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3" name="Text 1"/>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250" b="1" spc="250" kern="0" dirty="0">
                <a:solidFill>
                  <a:srgbClr val="8B7FD9"/>
                </a:solidFill>
                <a:latin typeface="Calibri" pitchFamily="34" charset="0"/>
                <a:ea typeface="Calibri" pitchFamily="34" charset="-122"/>
                <a:cs typeface="Calibri" pitchFamily="34" charset="-120"/>
              </a:rPr>
              <a:t>SELF-TEST · 2 OF 2</a:t>
            </a:r>
            <a:endParaRPr lang="en-US" sz="1250" dirty="0"/>
          </a:p>
        </p:txBody>
      </p:sp>
      <p:sp>
        <p:nvSpPr>
          <p:cNvPr id="4" name="Text 2"/>
          <p:cNvSpPr txBox="1"/>
          <p:nvPr/>
        </p:nvSpPr>
        <p:spPr>
          <a:xfrm>
            <a:off x="548640" y="713232"/>
            <a:ext cx="11094415" cy="713232"/>
          </a:xfrm>
          <a:prstGeom prst="rect">
            <a:avLst/>
          </a:prstGeom>
          <a:noFill/>
          <a:ln/>
        </p:spPr>
        <p:txBody>
          <a:bodyPr wrap="square" lIns="0" tIns="0" rIns="0" bIns="0" rtlCol="0" anchor="ctr"/>
          <a:lstStyle/>
          <a:p>
            <a:pPr indent="0" marL="0">
              <a:buNone/>
            </a:pPr>
            <a:r>
              <a:rPr lang="en-US" sz="2600" b="1" dirty="0">
                <a:solidFill>
                  <a:srgbClr val="1F2429"/>
                </a:solidFill>
                <a:latin typeface="Calibri" pitchFamily="34" charset="0"/>
                <a:ea typeface="Calibri" pitchFamily="34" charset="-122"/>
                <a:cs typeface="Calibri" pitchFamily="34" charset="-120"/>
              </a:rPr>
              <a:t>Check Yourself Before the Exam</a:t>
            </a:r>
            <a:endParaRPr lang="en-US" sz="2600" dirty="0"/>
          </a:p>
        </p:txBody>
      </p:sp>
      <p:sp>
        <p:nvSpPr>
          <p:cNvPr id="5" name="Text 3"/>
          <p:cNvSpPr txBox="1"/>
          <p:nvPr/>
        </p:nvSpPr>
        <p:spPr>
          <a:xfrm>
            <a:off x="621792" y="1536192"/>
            <a:ext cx="10948111" cy="2286000"/>
          </a:xfrm>
          <a:prstGeom prst="rect">
            <a:avLst/>
          </a:prstGeom>
          <a:noFill/>
          <a:ln/>
        </p:spPr>
        <p:txBody>
          <a:bodyPr wrap="square" lIns="0" tIns="0" rIns="0" bIns="0" rtlCol="0" anchor="t"/>
          <a:lstStyle/>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Q5.  A binary semaphore mutex is initialized to 1. Three processes each execute wait(mutex) in quick succession, with no signal(mutex) in between. What is the state of each process, and the final value of mutex?</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Q6.  Explain, in your own words, how the Dining Philosophers problem models hold-and-wait and circular wait at the same time.</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Q7.  Distinguish a process from a thread in terms of what each owns, and explain why a context switch between two threads of the same process is cheaper.</a:t>
            </a:r>
            <a:endParaRPr lang="en-US" sz="1350" dirty="0"/>
          </a:p>
          <a:p>
            <a:pPr marL="342900" indent="-342900">
              <a:spcAft>
                <a:spcPts val="1600"/>
              </a:spcAft>
              <a:buSzPct val="100000"/>
              <a:buChar char="•"/>
            </a:pPr>
            <a:r>
              <a:rPr lang="en-US" sz="1350" dirty="0">
                <a:solidFill>
                  <a:srgbClr val="1F2429"/>
                </a:solidFill>
                <a:latin typeface="Calibri" pitchFamily="34" charset="0"/>
                <a:ea typeface="Calibri" pitchFamily="34" charset="-122"/>
                <a:cs typeface="Calibri" pitchFamily="34" charset="-120"/>
              </a:rPr>
              <a:t>Q8.  Why is non-preemptive SJF described as "optimal among non-preemptive algorithms" rather than simply "optimal"? What beats it, and at what cost?</a:t>
            </a:r>
            <a:endParaRPr lang="en-US" sz="1350" dirty="0"/>
          </a:p>
        </p:txBody>
      </p:sp>
      <p:sp>
        <p:nvSpPr>
          <p:cNvPr id="6" name="Shape 4"/>
          <p:cNvSpPr/>
          <p:nvPr/>
        </p:nvSpPr>
        <p:spPr>
          <a:xfrm>
            <a:off x="548640" y="5513832"/>
            <a:ext cx="11094415" cy="502920"/>
          </a:xfrm>
          <a:prstGeom prst="roundRect">
            <a:avLst>
              <a:gd name="adj" fmla="val 14545"/>
            </a:avLst>
          </a:prstGeom>
          <a:solidFill>
            <a:srgbClr val="E9F9F3"/>
          </a:solidFill>
          <a:ln w="12700">
            <a:solidFill>
              <a:srgbClr val="1FAE8C"/>
            </a:solidFill>
            <a:prstDash val="solid"/>
          </a:ln>
        </p:spPr>
      </p:sp>
      <p:sp>
        <p:nvSpPr>
          <p:cNvPr id="7" name="Text 5"/>
          <p:cNvSpPr txBox="1"/>
          <p:nvPr/>
        </p:nvSpPr>
        <p:spPr>
          <a:xfrm>
            <a:off x="804672" y="5623560"/>
            <a:ext cx="10582351" cy="283464"/>
          </a:xfrm>
          <a:prstGeom prst="rect">
            <a:avLst/>
          </a:prstGeom>
          <a:noFill/>
          <a:ln/>
        </p:spPr>
        <p:txBody>
          <a:bodyPr wrap="square" lIns="0" tIns="0" rIns="0" bIns="0" rtlCol="0" anchor="t"/>
          <a:lstStyle/>
          <a:p>
            <a:pPr indent="0" marL="0">
              <a:lnSpc>
                <a:spcPct val="112000"/>
              </a:lnSpc>
              <a:buNone/>
            </a:pPr>
            <a:r>
              <a:rPr lang="en-US" sz="1100" dirty="0">
                <a:solidFill>
                  <a:srgbClr val="1F2429"/>
                </a:solidFill>
                <a:latin typeface="Calibri" pitchFamily="34" charset="0"/>
                <a:ea typeface="Calibri" pitchFamily="34" charset="-122"/>
                <a:cs typeface="Calibri" pitchFamily="34" charset="-120"/>
              </a:rPr>
              <a:t>These questions have no printed answers on purpose — work through each on paper before the exam.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9951415" y="6454750"/>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3" name="Text 1"/>
          <p:cNvSpPr txBox="1"/>
          <p:nvPr/>
        </p:nvSpPr>
        <p:spPr>
          <a:xfrm>
            <a:off x="548640" y="502920"/>
            <a:ext cx="11094415" cy="320040"/>
          </a:xfrm>
          <a:prstGeom prst="rect">
            <a:avLst/>
          </a:prstGeom>
          <a:noFill/>
          <a:ln/>
        </p:spPr>
        <p:txBody>
          <a:bodyPr wrap="square" lIns="0" tIns="0" rIns="0" bIns="0" rtlCol="0" anchor="ctr"/>
          <a:lstStyle/>
          <a:p>
            <a:pPr indent="0" marL="0">
              <a:buNone/>
            </a:pPr>
            <a:r>
              <a:rPr lang="en-US" sz="1300" b="1" spc="300" kern="0" dirty="0">
                <a:solidFill>
                  <a:srgbClr val="2FE6C4"/>
                </a:solidFill>
                <a:latin typeface="Calibri" pitchFamily="34" charset="0"/>
                <a:ea typeface="Calibri" pitchFamily="34" charset="-122"/>
                <a:cs typeface="Calibri" pitchFamily="34" charset="-120"/>
              </a:rPr>
              <a:t>KEY TAKEAWAYS</a:t>
            </a:r>
            <a:endParaRPr lang="en-US" sz="1300" dirty="0"/>
          </a:p>
        </p:txBody>
      </p:sp>
      <p:sp>
        <p:nvSpPr>
          <p:cNvPr id="4" name="Text 2"/>
          <p:cNvSpPr txBox="1"/>
          <p:nvPr/>
        </p:nvSpPr>
        <p:spPr>
          <a:xfrm>
            <a:off x="548640" y="841248"/>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Ready for the Midterm</a:t>
            </a:r>
            <a:endParaRPr lang="en-US" sz="3000" dirty="0"/>
          </a:p>
        </p:txBody>
      </p:sp>
      <p:sp>
        <p:nvSpPr>
          <p:cNvPr id="5" name="Shape 3"/>
          <p:cNvSpPr/>
          <p:nvPr/>
        </p:nvSpPr>
        <p:spPr>
          <a:xfrm>
            <a:off x="548640" y="1783080"/>
            <a:ext cx="384048" cy="384048"/>
          </a:xfrm>
          <a:prstGeom prst="ellipse">
            <a:avLst/>
          </a:prstGeom>
          <a:solidFill>
            <a:srgbClr val="2FE6C4"/>
          </a:solidFill>
          <a:ln/>
        </p:spPr>
      </p:sp>
      <p:sp>
        <p:nvSpPr>
          <p:cNvPr id="6" name="Text 4"/>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15568" y="172821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four units build in one direction: structure and processes are what the scheduler chooses among, and scheduling is why synchronization is necessary at all</a:t>
            </a:r>
            <a:endParaRPr lang="en-US" sz="1350" dirty="0"/>
          </a:p>
        </p:txBody>
      </p:sp>
      <p:sp>
        <p:nvSpPr>
          <p:cNvPr id="8" name="Shape 6"/>
          <p:cNvSpPr/>
          <p:nvPr/>
        </p:nvSpPr>
        <p:spPr>
          <a:xfrm>
            <a:off x="548640" y="2484120"/>
            <a:ext cx="384048" cy="384048"/>
          </a:xfrm>
          <a:prstGeom prst="ellipse">
            <a:avLst/>
          </a:prstGeom>
          <a:solidFill>
            <a:srgbClr val="2FE6C4"/>
          </a:solidFill>
          <a:ln/>
        </p:spPr>
      </p:sp>
      <p:sp>
        <p:nvSpPr>
          <p:cNvPr id="9" name="Text 7"/>
          <p:cNvSpPr txBox="1"/>
          <p:nvPr/>
        </p:nvSpPr>
        <p:spPr>
          <a:xfrm>
            <a:off x="548640" y="248412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15568" y="242925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Kernel design trades speed (monolithic) against fault isolation (microkernel); most real systems are hybrids</a:t>
            </a:r>
            <a:endParaRPr lang="en-US" sz="1350" dirty="0"/>
          </a:p>
        </p:txBody>
      </p:sp>
      <p:sp>
        <p:nvSpPr>
          <p:cNvPr id="11" name="Shape 9"/>
          <p:cNvSpPr/>
          <p:nvPr/>
        </p:nvSpPr>
        <p:spPr>
          <a:xfrm>
            <a:off x="548640" y="3185160"/>
            <a:ext cx="384048" cy="384048"/>
          </a:xfrm>
          <a:prstGeom prst="ellipse">
            <a:avLst/>
          </a:prstGeom>
          <a:solidFill>
            <a:srgbClr val="2FE6C4"/>
          </a:solidFill>
          <a:ln/>
        </p:spPr>
      </p:sp>
      <p:sp>
        <p:nvSpPr>
          <p:cNvPr id="12" name="Text 10"/>
          <p:cNvSpPr txBox="1"/>
          <p:nvPr/>
        </p:nvSpPr>
        <p:spPr>
          <a:xfrm>
            <a:off x="548640" y="318516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15568" y="313029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Threads share an address space and are cheap to switch between; many-to-one threading cannot achieve parallelism no matter how many user threads exist</a:t>
            </a:r>
            <a:endParaRPr lang="en-US" sz="1350" dirty="0"/>
          </a:p>
        </p:txBody>
      </p:sp>
      <p:sp>
        <p:nvSpPr>
          <p:cNvPr id="14" name="Shape 12"/>
          <p:cNvSpPr/>
          <p:nvPr/>
        </p:nvSpPr>
        <p:spPr>
          <a:xfrm>
            <a:off x="548640" y="3886200"/>
            <a:ext cx="384048" cy="384048"/>
          </a:xfrm>
          <a:prstGeom prst="ellipse">
            <a:avLst/>
          </a:prstGeom>
          <a:solidFill>
            <a:srgbClr val="2FE6C4"/>
          </a:solidFill>
          <a:ln/>
        </p:spPr>
      </p:sp>
      <p:sp>
        <p:nvSpPr>
          <p:cNvPr id="15" name="Text 13"/>
          <p:cNvSpPr txBox="1"/>
          <p:nvPr/>
        </p:nvSpPr>
        <p:spPr>
          <a:xfrm>
            <a:off x="548640" y="388620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15568" y="383133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No scheduling algorithm wins on every criterion — know the preemption, optimality, and starvation trade-offs cold</a:t>
            </a:r>
            <a:endParaRPr lang="en-US" sz="1350" dirty="0"/>
          </a:p>
        </p:txBody>
      </p:sp>
      <p:sp>
        <p:nvSpPr>
          <p:cNvPr id="17" name="Shape 15"/>
          <p:cNvSpPr/>
          <p:nvPr/>
        </p:nvSpPr>
        <p:spPr>
          <a:xfrm>
            <a:off x="548640" y="4587240"/>
            <a:ext cx="384048" cy="384048"/>
          </a:xfrm>
          <a:prstGeom prst="ellipse">
            <a:avLst/>
          </a:prstGeom>
          <a:solidFill>
            <a:srgbClr val="2FE6C4"/>
          </a:solidFill>
          <a:ln/>
        </p:spPr>
      </p:sp>
      <p:sp>
        <p:nvSpPr>
          <p:cNvPr id="18" name="Text 16"/>
          <p:cNvSpPr txBox="1"/>
          <p:nvPr/>
        </p:nvSpPr>
        <p:spPr>
          <a:xfrm>
            <a:off x="548640" y="458724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115568" y="453237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The critical-section problem’s three requirements are the yardstick every synchronization tool is judged against</a:t>
            </a:r>
            <a:endParaRPr lang="en-US" sz="1350" dirty="0"/>
          </a:p>
        </p:txBody>
      </p:sp>
      <p:sp>
        <p:nvSpPr>
          <p:cNvPr id="20" name="Shape 18"/>
          <p:cNvSpPr/>
          <p:nvPr/>
        </p:nvSpPr>
        <p:spPr>
          <a:xfrm>
            <a:off x="548640" y="5288280"/>
            <a:ext cx="384048" cy="384048"/>
          </a:xfrm>
          <a:prstGeom prst="ellipse">
            <a:avLst/>
          </a:prstGeom>
          <a:solidFill>
            <a:srgbClr val="2FE6C4"/>
          </a:solidFill>
          <a:ln/>
        </p:spPr>
      </p:sp>
      <p:sp>
        <p:nvSpPr>
          <p:cNvPr id="21" name="Text 19"/>
          <p:cNvSpPr txBox="1"/>
          <p:nvPr/>
        </p:nvSpPr>
        <p:spPr>
          <a:xfrm>
            <a:off x="548640" y="5288280"/>
            <a:ext cx="384048" cy="384048"/>
          </a:xfrm>
          <a:prstGeom prst="rect">
            <a:avLst/>
          </a:prstGeom>
          <a:noFill/>
          <a:ln/>
        </p:spPr>
        <p:txBody>
          <a:bodyPr wrap="square" lIns="0" tIns="0" rIns="0" bIns="0" rtlCol="0" anchor="ctr"/>
          <a:lstStyle/>
          <a:p>
            <a:pPr algn="ctr" indent="0" marL="0">
              <a:buNone/>
            </a:pPr>
            <a:r>
              <a:rPr lang="en-US" sz="1400" b="1" dirty="0">
                <a:solidFill>
                  <a:srgbClr val="14181C"/>
                </a:solidFill>
                <a:latin typeface="Calibri" pitchFamily="34" charset="0"/>
                <a:ea typeface="Calibri" pitchFamily="34" charset="-122"/>
                <a:cs typeface="Calibri" pitchFamily="34" charset="-120"/>
              </a:rPr>
              <a:t>6</a:t>
            </a:r>
            <a:endParaRPr lang="en-US" sz="1400" dirty="0"/>
          </a:p>
        </p:txBody>
      </p:sp>
      <p:sp>
        <p:nvSpPr>
          <p:cNvPr id="22" name="Text 20"/>
          <p:cNvSpPr txBox="1"/>
          <p:nvPr/>
        </p:nvSpPr>
        <p:spPr>
          <a:xfrm>
            <a:off x="1115568" y="5233416"/>
            <a:ext cx="10527487" cy="701040"/>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Producer–Consumer, Readers–Writers, and Dining Philosophers each isolate a different failure mode — the last is exactly where deadlock, starting Lecture 19, picks up</a:t>
            </a:r>
            <a:endParaRPr lang="en-US" sz="1350" dirty="0"/>
          </a:p>
        </p:txBody>
      </p:sp>
      <p:sp>
        <p:nvSpPr>
          <p:cNvPr id="23" name="Text 21"/>
          <p:cNvSpPr txBox="1"/>
          <p:nvPr/>
        </p:nvSpPr>
        <p:spPr>
          <a:xfrm>
            <a:off x="548640" y="6172200"/>
            <a:ext cx="11094415" cy="274320"/>
          </a:xfrm>
          <a:prstGeom prst="rect">
            <a:avLst/>
          </a:prstGeom>
          <a:noFill/>
          <a:ln/>
        </p:spPr>
        <p:txBody>
          <a:bodyPr wrap="square" lIns="0" tIns="0" rIns="0" bIns="0" rtlCol="0" anchor="ctr"/>
          <a:lstStyle/>
          <a:p>
            <a:pPr indent="0" marL="0">
              <a:buNone/>
            </a:pPr>
            <a:r>
              <a:rPr lang="en-US" sz="1150" i="1" dirty="0">
                <a:solidFill>
                  <a:srgbClr val="B9BFC6"/>
                </a:solidFill>
                <a:latin typeface="Calibri" pitchFamily="34" charset="0"/>
                <a:ea typeface="Calibri" pitchFamily="34" charset="-122"/>
                <a:cs typeface="Calibri" pitchFamily="34" charset="-120"/>
              </a:rPr>
              <a:t>Lecture 18 turns this review into deliberate practice: four fully worked problems.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cuinotes.com</dc:creator>
  <cp:lastModifiedBy>cuinotes.com</cp:lastModifiedBy>
  <cp:revision>1</cp:revision>
  <dcterms:created xsi:type="dcterms:W3CDTF">2026-10-02T04:43:24Z</dcterms:created>
  <dcterms:modified xsi:type="dcterms:W3CDTF">2026-10-02T04:43:24Z</dcterms:modified>
</cp:coreProperties>
</file>
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1874520"/>
            <a:ext cx="9144000" cy="457200"/>
          </a:xfrm>
          <a:prstGeom prst="rect">
            <a:avLst/>
          </a:prstGeom>
          <a:noFill/>
          <a:ln/>
        </p:spPr>
        <p:txBody>
          <a:bodyPr wrap="square" lIns="0" tIns="0" rIns="0" bIns="0" rtlCol="0" anchor="ctr"/>
          <a:lstStyle/>
          <a:p>
            <a:pPr indent="0" marL="0">
              <a:buNone/>
            </a:pPr>
            <a:r>
              <a:rPr lang="en-US" sz="1500" b="1" spc="400" kern="0" dirty="0">
                <a:solidFill>
                  <a:srgbClr val="2FE6C4"/>
                </a:solidFill>
                <a:latin typeface="Calibri" pitchFamily="34" charset="0"/>
                <a:ea typeface="Calibri" pitchFamily="34" charset="-122"/>
                <a:cs typeface="Calibri" pitchFamily="34" charset="-120"/>
              </a:rPr>
              <a:t>LECTURE 19</a:t>
            </a:r>
            <a:endParaRPr lang="en-US" sz="1500" dirty="0"/>
          </a:p>
        </p:txBody>
      </p:sp>
      <p:sp>
        <p:nvSpPr>
          <p:cNvPr id="3" name="Text 1"/>
          <p:cNvSpPr txBox="1"/>
          <p:nvPr/>
        </p:nvSpPr>
        <p:spPr>
          <a:xfrm>
            <a:off x="777240" y="2331720"/>
            <a:ext cx="10515600" cy="173736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libri" pitchFamily="34" charset="0"/>
                <a:ea typeface="Calibri" pitchFamily="34" charset="-122"/>
                <a:cs typeface="Calibri" pitchFamily="34" charset="-120"/>
              </a:rPr>
              <a:t>Deadlocks: Characterization and the Resource-Allocation Graph</a:t>
            </a:r>
            <a:endParaRPr lang="en-US" sz="4000" dirty="0"/>
          </a:p>
        </p:txBody>
      </p:sp>
      <p:sp>
        <p:nvSpPr>
          <p:cNvPr id="4" name="Text 2"/>
          <p:cNvSpPr txBox="1"/>
          <p:nvPr/>
        </p:nvSpPr>
        <p:spPr>
          <a:xfrm>
            <a:off x="822960" y="4343400"/>
            <a:ext cx="9875520" cy="457200"/>
          </a:xfrm>
          <a:prstGeom prst="rect">
            <a:avLst/>
          </a:prstGeom>
          <a:noFill/>
          <a:ln/>
        </p:spPr>
        <p:txBody>
          <a:bodyPr wrap="square" lIns="0" tIns="0" rIns="0" bIns="0" rtlCol="0" anchor="ctr"/>
          <a:lstStyle/>
          <a:p>
            <a:pPr indent="0" marL="0">
              <a:buNone/>
            </a:pPr>
            <a:r>
              <a:rPr lang="en-US" sz="1600" dirty="0">
                <a:solidFill>
                  <a:srgbClr val="2FE6C4"/>
                </a:solidFill>
                <a:latin typeface="Calibri" pitchFamily="34" charset="0"/>
                <a:ea typeface="Calibri" pitchFamily="34" charset="-122"/>
                <a:cs typeface="Calibri" pitchFamily="34" charset="-120"/>
              </a:rPr>
              <a:t>Two cars on a bridge, neither willing to back up</a:t>
            </a:r>
            <a:endParaRPr lang="en-US" sz="1600" dirty="0"/>
          </a:p>
        </p:txBody>
      </p:sp>
      <p:sp>
        <p:nvSpPr>
          <p:cNvPr id="5" name="Text 3"/>
          <p:cNvSpPr txBox="1"/>
          <p:nvPr/>
        </p:nvSpPr>
        <p:spPr>
          <a:xfrm>
            <a:off x="822960" y="4800600"/>
            <a:ext cx="9875520" cy="365760"/>
          </a:xfrm>
          <a:prstGeom prst="rect">
            <a:avLst/>
          </a:prstGeom>
          <a:noFill/>
          <a:ln/>
        </p:spPr>
        <p:txBody>
          <a:bodyPr wrap="square" lIns="0" tIns="0" rIns="0" bIns="0" rtlCol="0" anchor="ctr"/>
          <a:lstStyle/>
          <a:p>
            <a:pPr indent="0" marL="0">
              <a:buNone/>
            </a:pPr>
            <a:r>
              <a:rPr lang="en-US" sz="1400" dirty="0">
                <a:solidFill>
                  <a:srgbClr val="B9BFC6"/>
                </a:solidFill>
                <a:latin typeface="Calibri" pitchFamily="34" charset="0"/>
                <a:ea typeface="Calibri" pitchFamily="34" charset="-122"/>
                <a:cs typeface="Calibri" pitchFamily="34" charset="-120"/>
              </a:rPr>
              <a:t>CSC323 · Operating Systems</a:t>
            </a:r>
            <a:endParaRPr lang="en-US" sz="1400" dirty="0"/>
          </a:p>
        </p:txBody>
      </p:sp>
      <p:sp>
        <p:nvSpPr>
          <p:cNvPr id="6" name="Text 4"/>
          <p:cNvSpPr txBox="1"/>
          <p:nvPr/>
        </p:nvSpPr>
        <p:spPr>
          <a:xfrm>
            <a:off x="822960" y="5166360"/>
            <a:ext cx="9875520" cy="365760"/>
          </a:xfrm>
          <a:prstGeom prst="rect">
            <a:avLst/>
          </a:prstGeom>
          <a:noFill/>
          <a:ln/>
        </p:spPr>
        <p:txBody>
          <a:bodyPr wrap="square" lIns="0" tIns="0" rIns="0" bIns="0" rtlCol="0" anchor="ctr"/>
          <a:lstStyle/>
          <a:p>
            <a:pPr indent="0" marL="0">
              <a:buNone/>
            </a:pPr>
            <a:r>
              <a:rPr lang="en-US" sz="1200" dirty="0">
                <a:solidFill>
                  <a:srgbClr val="757C84"/>
                </a:solidFill>
                <a:latin typeface="Calibri" pitchFamily="34" charset="0"/>
                <a:ea typeface="Calibri" pitchFamily="34" charset="-122"/>
                <a:cs typeface="Calibri" pitchFamily="34" charset="-120"/>
              </a:rPr>
              <a:t>COMSATS University Islamabad, Lahore Campus</a:t>
            </a:r>
            <a:endParaRPr lang="en-US" sz="1200" dirty="0"/>
          </a:p>
        </p:txBody>
      </p:sp>
      <p:sp>
        <p:nvSpPr>
          <p:cNvPr id="7" name="Text 5"/>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OVERVIEW</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In This Lecture</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Define deadlock precisely, with a real-world analogy and a concrete system example</a:t>
            </a:r>
            <a:endParaRPr lang="en-US" sz="1500" dirty="0"/>
          </a:p>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State the four necessary conditions for deadlock, and why all four must hold at once</a:t>
            </a:r>
            <a:endParaRPr lang="en-US" sz="1500" dirty="0"/>
          </a:p>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Read and draw a Resource-Allocation Graph (RAG): processes, resources, instances, edges</a:t>
            </a:r>
            <a:endParaRPr lang="en-US" sz="1500" dirty="0"/>
          </a:p>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Distinguish when a cycle in a RAG guarantees deadlock from when it is merely a warning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DEFINITION</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The Deadlock Problem</a:t>
            </a:r>
            <a:endParaRPr lang="en-US" sz="2600" dirty="0"/>
          </a:p>
        </p:txBody>
      </p:sp>
      <p:sp>
        <p:nvSpPr>
          <p:cNvPr id="5" name="Text 3"/>
          <p:cNvSpPr txBox="1"/>
          <p:nvPr/>
        </p:nvSpPr>
        <p:spPr>
          <a:xfrm>
            <a:off x="548640" y="1536192"/>
            <a:ext cx="11094415" cy="685800"/>
          </a:xfrm>
          <a:prstGeom prst="rect">
            <a:avLst/>
          </a:prstGeom>
          <a:noFill/>
          <a:ln/>
        </p:spPr>
        <p:txBody>
          <a:bodyPr wrap="square" lIns="0" tIns="0" rIns="0" bIns="0" rtlCol="0" anchor="t"/>
          <a:lstStyle/>
          <a:p>
            <a:pPr indent="0" marL="0">
              <a:lnSpc>
                <a:spcPct val="120000"/>
              </a:lnSpc>
              <a:buNone/>
            </a:pPr>
            <a:r>
              <a:rPr lang="en-US" sz="1450" dirty="0">
                <a:solidFill>
                  <a:srgbClr val="1F2429"/>
                </a:solidFill>
                <a:latin typeface="Calibri" pitchFamily="34" charset="0"/>
                <a:ea typeface="Calibri" pitchFamily="34" charset="-122"/>
                <a:cs typeface="Calibri" pitchFamily="34" charset="-120"/>
              </a:rPr>
              <a:t>A set of processes is deadlocked when every process in the set is waiting for an event — almost always, the release of a resource — that only another process in that same set can cause.</a:t>
            </a:r>
            <a:endParaRPr lang="en-US" sz="1450" dirty="0"/>
          </a:p>
        </p:txBody>
      </p:sp>
      <p:sp>
        <p:nvSpPr>
          <p:cNvPr id="6" name="Shape 4"/>
          <p:cNvSpPr/>
          <p:nvPr/>
        </p:nvSpPr>
        <p:spPr>
          <a:xfrm>
            <a:off x="548640" y="2359152"/>
            <a:ext cx="11094415" cy="1417320"/>
          </a:xfrm>
          <a:prstGeom prst="roundRect">
            <a:avLst>
              <a:gd name="adj" fmla="val 5161"/>
            </a:avLst>
          </a:prstGeom>
          <a:solidFill>
            <a:srgbClr val="14181C"/>
          </a:solidFill>
          <a:ln/>
        </p:spPr>
      </p:sp>
      <p:sp>
        <p:nvSpPr>
          <p:cNvPr id="7" name="Text 5"/>
          <p:cNvSpPr txBox="1"/>
          <p:nvPr/>
        </p:nvSpPr>
        <p:spPr>
          <a:xfrm>
            <a:off x="822960" y="2496312"/>
            <a:ext cx="10545775"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A Concrete System Example</a:t>
            </a:r>
            <a:endParaRPr lang="en-US" sz="1300" dirty="0"/>
          </a:p>
        </p:txBody>
      </p:sp>
      <p:sp>
        <p:nvSpPr>
          <p:cNvPr id="8" name="Text 6"/>
          <p:cNvSpPr txBox="1"/>
          <p:nvPr/>
        </p:nvSpPr>
        <p:spPr>
          <a:xfrm>
            <a:off x="822960" y="2770632"/>
            <a:ext cx="10545775" cy="91440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Process P1 holds resource R1 and is waiting to acquire R2, while process P2 holds R2 and is waiting to acquire R1. P1 cannot proceed until P2 releases R2, and P2 cannot proceed until P1 releases R1 — and neither process will ever release what it holds, because releasing only happens after a process finishes, and finishing is exactly what each process cannot do while blocked.</a:t>
            </a:r>
            <a:endParaRPr lang="en-US" sz="1200" dirty="0"/>
          </a:p>
        </p:txBody>
      </p:sp>
      <p:sp>
        <p:nvSpPr>
          <p:cNvPr id="9" name="Shape 7"/>
          <p:cNvSpPr/>
          <p:nvPr/>
        </p:nvSpPr>
        <p:spPr>
          <a:xfrm>
            <a:off x="548640" y="3959352"/>
            <a:ext cx="11094415" cy="777240"/>
          </a:xfrm>
          <a:prstGeom prst="roundRect">
            <a:avLst>
              <a:gd name="adj" fmla="val 9412"/>
            </a:avLst>
          </a:prstGeom>
          <a:solidFill>
            <a:srgbClr val="F1EEFC"/>
          </a:solidFill>
          <a:ln w="12700">
            <a:solidFill>
              <a:srgbClr val="8B7FD9"/>
            </a:solidFill>
            <a:prstDash val="solid"/>
          </a:ln>
        </p:spPr>
      </p:sp>
      <p:sp>
        <p:nvSpPr>
          <p:cNvPr id="10" name="Text 8"/>
          <p:cNvSpPr txBox="1"/>
          <p:nvPr/>
        </p:nvSpPr>
        <p:spPr>
          <a:xfrm>
            <a:off x="804672" y="4069080"/>
            <a:ext cx="10582351" cy="237744"/>
          </a:xfrm>
          <a:prstGeom prst="rect">
            <a:avLst/>
          </a:prstGeom>
          <a:noFill/>
          <a:ln/>
        </p:spPr>
        <p:txBody>
          <a:bodyPr wrap="square" lIns="0" tIns="0" rIns="0" bIns="0" rtlCol="0" anchor="ctr"/>
          <a:lstStyle/>
          <a:p>
            <a:pPr indent="0" marL="0">
              <a:buNone/>
            </a:pPr>
            <a:r>
              <a:rPr lang="en-US" sz="1100" b="1" spc="200" kern="0" dirty="0">
                <a:solidFill>
                  <a:srgbClr val="5B3FC4"/>
                </a:solidFill>
                <a:latin typeface="Calibri" pitchFamily="34" charset="0"/>
                <a:ea typeface="Calibri" pitchFamily="34" charset="-122"/>
                <a:cs typeface="Calibri" pitchFamily="34" charset="-120"/>
              </a:rPr>
              <a:t>NOTE</a:t>
            </a:r>
            <a:endParaRPr lang="en-US" sz="1100" dirty="0"/>
          </a:p>
        </p:txBody>
      </p:sp>
      <p:sp>
        <p:nvSpPr>
          <p:cNvPr id="11" name="Text 9"/>
          <p:cNvSpPr txBox="1"/>
          <p:nvPr/>
        </p:nvSpPr>
        <p:spPr>
          <a:xfrm>
            <a:off x="804672" y="4343400"/>
            <a:ext cx="10582351" cy="283464"/>
          </a:xfrm>
          <a:prstGeom prst="rect">
            <a:avLst/>
          </a:prstGeom>
          <a:noFill/>
          <a:ln/>
        </p:spPr>
        <p:txBody>
          <a:bodyPr wrap="square" lIns="0" tIns="0" rIns="0" bIns="0" rtlCol="0" anchor="t"/>
          <a:lstStyle/>
          <a:p>
            <a:pPr indent="0" marL="0">
              <a:lnSpc>
                <a:spcPct val="112000"/>
              </a:lnSpc>
              <a:buNone/>
            </a:pPr>
            <a:r>
              <a:rPr lang="en-US" sz="1100" dirty="0">
                <a:solidFill>
                  <a:srgbClr val="1F2429"/>
                </a:solidFill>
                <a:latin typeface="Calibri" pitchFamily="34" charset="0"/>
                <a:ea typeface="Calibri" pitchFamily="34" charset="-122"/>
                <a:cs typeface="Calibri" pitchFamily="34" charset="-120"/>
              </a:rPr>
              <a:t>Deadlock is not starvation. A starved process can still eventually be favored by the scheduler (aging). A deadlocked process has no such possibility — it requires outside intervention (Lecture 21) or must be avoided in advance (Lecture 20).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FOUR CONDITIONS</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All Four Must Hold Simultaneously</a:t>
            </a:r>
            <a:endParaRPr lang="en-US" sz="2600" dirty="0"/>
          </a:p>
        </p:txBody>
      </p:sp>
      <p:sp>
        <p:nvSpPr>
          <p:cNvPr id="5" name="Shape 3"/>
          <p:cNvSpPr/>
          <p:nvPr/>
        </p:nvSpPr>
        <p:spPr>
          <a:xfrm>
            <a:off x="548640" y="1536192"/>
            <a:ext cx="5478628" cy="914400"/>
          </a:xfrm>
          <a:prstGeom prst="roundRect">
            <a:avLst>
              <a:gd name="adj" fmla="val 8000"/>
            </a:avLst>
          </a:prstGeom>
          <a:solidFill>
            <a:srgbClr val="2FE6C4"/>
          </a:solidFill>
          <a:ln/>
        </p:spPr>
      </p:sp>
      <p:sp>
        <p:nvSpPr>
          <p:cNvPr id="6" name="Text 4"/>
          <p:cNvSpPr txBox="1"/>
          <p:nvPr/>
        </p:nvSpPr>
        <p:spPr>
          <a:xfrm>
            <a:off x="713232" y="1627632"/>
            <a:ext cx="514944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1. Mutual Exclusion</a:t>
            </a:r>
            <a:endParaRPr lang="en-US" sz="1300" dirty="0"/>
          </a:p>
        </p:txBody>
      </p:sp>
      <p:sp>
        <p:nvSpPr>
          <p:cNvPr id="7" name="Text 5"/>
          <p:cNvSpPr txBox="1"/>
          <p:nvPr/>
        </p:nvSpPr>
        <p:spPr>
          <a:xfrm>
            <a:off x="713232" y="1920240"/>
            <a:ext cx="5149444"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At least one resource is held in a non-shareable mode — only one process can use it at a time</a:t>
            </a:r>
            <a:endParaRPr lang="en-US" sz="1050" dirty="0"/>
          </a:p>
        </p:txBody>
      </p:sp>
      <p:sp>
        <p:nvSpPr>
          <p:cNvPr id="8" name="Shape 6"/>
          <p:cNvSpPr/>
          <p:nvPr/>
        </p:nvSpPr>
        <p:spPr>
          <a:xfrm>
            <a:off x="6164428" y="1536192"/>
            <a:ext cx="5478628" cy="914400"/>
          </a:xfrm>
          <a:prstGeom prst="roundRect">
            <a:avLst>
              <a:gd name="adj" fmla="val 8000"/>
            </a:avLst>
          </a:prstGeom>
          <a:solidFill>
            <a:srgbClr val="8B7FD9"/>
          </a:solidFill>
          <a:ln/>
        </p:spPr>
      </p:sp>
      <p:sp>
        <p:nvSpPr>
          <p:cNvPr id="9" name="Text 7"/>
          <p:cNvSpPr txBox="1"/>
          <p:nvPr/>
        </p:nvSpPr>
        <p:spPr>
          <a:xfrm>
            <a:off x="6329020" y="1627632"/>
            <a:ext cx="514944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2. Hold-and-Wait</a:t>
            </a:r>
            <a:endParaRPr lang="en-US" sz="1300" dirty="0"/>
          </a:p>
        </p:txBody>
      </p:sp>
      <p:sp>
        <p:nvSpPr>
          <p:cNvPr id="10" name="Text 8"/>
          <p:cNvSpPr txBox="1"/>
          <p:nvPr/>
        </p:nvSpPr>
        <p:spPr>
          <a:xfrm>
            <a:off x="6329020" y="1920240"/>
            <a:ext cx="5149444"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process holds at least one resource while waiting to acquire additional resources held by others</a:t>
            </a:r>
            <a:endParaRPr lang="en-US" sz="1050" dirty="0"/>
          </a:p>
        </p:txBody>
      </p:sp>
      <p:sp>
        <p:nvSpPr>
          <p:cNvPr id="11" name="Shape 9"/>
          <p:cNvSpPr/>
          <p:nvPr/>
        </p:nvSpPr>
        <p:spPr>
          <a:xfrm>
            <a:off x="548640" y="2587752"/>
            <a:ext cx="5478628" cy="914400"/>
          </a:xfrm>
          <a:prstGeom prst="roundRect">
            <a:avLst>
              <a:gd name="adj" fmla="val 8000"/>
            </a:avLst>
          </a:prstGeom>
          <a:solidFill>
            <a:srgbClr val="E8A33D"/>
          </a:solidFill>
          <a:ln/>
        </p:spPr>
      </p:sp>
      <p:sp>
        <p:nvSpPr>
          <p:cNvPr id="12" name="Text 10"/>
          <p:cNvSpPr txBox="1"/>
          <p:nvPr/>
        </p:nvSpPr>
        <p:spPr>
          <a:xfrm>
            <a:off x="713232" y="2679192"/>
            <a:ext cx="514944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3. No Preemption</a:t>
            </a:r>
            <a:endParaRPr lang="en-US" sz="1300" dirty="0"/>
          </a:p>
        </p:txBody>
      </p:sp>
      <p:sp>
        <p:nvSpPr>
          <p:cNvPr id="13" name="Text 11"/>
          <p:cNvSpPr txBox="1"/>
          <p:nvPr/>
        </p:nvSpPr>
        <p:spPr>
          <a:xfrm>
            <a:off x="713232" y="2971800"/>
            <a:ext cx="5149444"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Resources cannot be forcibly taken away; only released voluntarily once a process has finished</a:t>
            </a:r>
            <a:endParaRPr lang="en-US" sz="1050" dirty="0"/>
          </a:p>
        </p:txBody>
      </p:sp>
      <p:sp>
        <p:nvSpPr>
          <p:cNvPr id="14" name="Shape 12"/>
          <p:cNvSpPr/>
          <p:nvPr/>
        </p:nvSpPr>
        <p:spPr>
          <a:xfrm>
            <a:off x="6164428" y="2587752"/>
            <a:ext cx="5478628" cy="914400"/>
          </a:xfrm>
          <a:prstGeom prst="roundRect">
            <a:avLst>
              <a:gd name="adj" fmla="val 8000"/>
            </a:avLst>
          </a:prstGeom>
          <a:solidFill>
            <a:srgbClr val="2FE6C4"/>
          </a:solidFill>
          <a:ln/>
        </p:spPr>
      </p:sp>
      <p:sp>
        <p:nvSpPr>
          <p:cNvPr id="15" name="Text 13"/>
          <p:cNvSpPr txBox="1"/>
          <p:nvPr/>
        </p:nvSpPr>
        <p:spPr>
          <a:xfrm>
            <a:off x="6329020" y="2679192"/>
            <a:ext cx="514944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4. Circular Wait</a:t>
            </a:r>
            <a:endParaRPr lang="en-US" sz="1300" dirty="0"/>
          </a:p>
        </p:txBody>
      </p:sp>
      <p:sp>
        <p:nvSpPr>
          <p:cNvPr id="16" name="Text 14"/>
          <p:cNvSpPr txBox="1"/>
          <p:nvPr/>
        </p:nvSpPr>
        <p:spPr>
          <a:xfrm>
            <a:off x="6329020" y="2971800"/>
            <a:ext cx="5149444"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cycle of processes P1...Pn exists where each waits for a resource held by the next, closing the loop</a:t>
            </a:r>
            <a:endParaRPr lang="en-US" sz="1050" dirty="0"/>
          </a:p>
        </p:txBody>
      </p:sp>
      <p:sp>
        <p:nvSpPr>
          <p:cNvPr id="17" name="Shape 15"/>
          <p:cNvSpPr/>
          <p:nvPr/>
        </p:nvSpPr>
        <p:spPr>
          <a:xfrm>
            <a:off x="548640" y="3593592"/>
            <a:ext cx="11094415" cy="914400"/>
          </a:xfrm>
          <a:prstGeom prst="roundRect">
            <a:avLst>
              <a:gd name="adj" fmla="val 8000"/>
            </a:avLst>
          </a:prstGeom>
          <a:solidFill>
            <a:srgbClr val="FDF2E3"/>
          </a:solidFill>
          <a:ln w="12700">
            <a:solidFill>
              <a:srgbClr val="E8A33D"/>
            </a:solidFill>
            <a:prstDash val="solid"/>
          </a:ln>
        </p:spPr>
      </p:sp>
      <p:sp>
        <p:nvSpPr>
          <p:cNvPr id="18" name="Text 16"/>
          <p:cNvSpPr txBox="1"/>
          <p:nvPr/>
        </p:nvSpPr>
        <p:spPr>
          <a:xfrm>
            <a:off x="804672" y="3703320"/>
            <a:ext cx="10582351" cy="237744"/>
          </a:xfrm>
          <a:prstGeom prst="rect">
            <a:avLst/>
          </a:prstGeom>
          <a:noFill/>
          <a:ln/>
        </p:spPr>
        <p:txBody>
          <a:bodyPr wrap="square" lIns="0" tIns="0" rIns="0" bIns="0" rtlCol="0" anchor="ctr"/>
          <a:lstStyle/>
          <a:p>
            <a:pPr indent="0" marL="0">
              <a:buNone/>
            </a:pPr>
            <a:r>
              <a:rPr lang="en-US" sz="1100" b="1" spc="200" kern="0" dirty="0">
                <a:solidFill>
                  <a:srgbClr val="8A5A00"/>
                </a:solidFill>
                <a:latin typeface="Calibri" pitchFamily="34" charset="0"/>
                <a:ea typeface="Calibri" pitchFamily="34" charset="-122"/>
                <a:cs typeface="Calibri" pitchFamily="34" charset="-120"/>
              </a:rPr>
              <a:t>WARNING</a:t>
            </a:r>
            <a:endParaRPr lang="en-US" sz="1100" dirty="0"/>
          </a:p>
        </p:txBody>
      </p:sp>
      <p:sp>
        <p:nvSpPr>
          <p:cNvPr id="19" name="Text 17"/>
          <p:cNvSpPr txBox="1"/>
          <p:nvPr/>
        </p:nvSpPr>
        <p:spPr>
          <a:xfrm>
            <a:off x="804672" y="3977640"/>
            <a:ext cx="10582351" cy="420624"/>
          </a:xfrm>
          <a:prstGeom prst="rect">
            <a:avLst/>
          </a:prstGeom>
          <a:noFill/>
          <a:ln/>
        </p:spPr>
        <p:txBody>
          <a:bodyPr wrap="square" lIns="0" tIns="0" rIns="0" bIns="0" rtlCol="0" anchor="t"/>
          <a:lstStyle/>
          <a:p>
            <a:pPr indent="0" marL="0">
              <a:lnSpc>
                <a:spcPct val="112000"/>
              </a:lnSpc>
              <a:buNone/>
            </a:pPr>
            <a:r>
              <a:rPr lang="en-US" sz="1150" dirty="0">
                <a:solidFill>
                  <a:srgbClr val="1F2429"/>
                </a:solidFill>
                <a:latin typeface="Calibri" pitchFamily="34" charset="0"/>
                <a:ea typeface="Calibri" pitchFamily="34" charset="-122"/>
                <a:cs typeface="Calibri" pitchFamily="34" charset="-120"/>
              </a:rPr>
              <a:t>Satisfying three of the four conditions guarantees nothing — deadlock requires the fourth as well. A system with mutual exclusion, hold-and-wait, and no preemption but no circular wait is not deadlocked. This is exactly why the Resource-Allocation Graph is built to detect circular wait directly.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2FE6C4"/>
                </a:solidFill>
                <a:latin typeface="Calibri" pitchFamily="34" charset="0"/>
                <a:ea typeface="Calibri" pitchFamily="34" charset="-122"/>
                <a:cs typeface="Calibri" pitchFamily="34" charset="-120"/>
              </a:rPr>
              <a:t>NOTATION</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Reading a Resource-Allocation Graph</a:t>
            </a:r>
            <a:endParaRPr lang="en-US" sz="2600" dirty="0"/>
          </a:p>
        </p:txBody>
      </p:sp>
      <p:sp>
        <p:nvSpPr>
          <p:cNvPr id="5" name="Shape 3"/>
          <p:cNvSpPr/>
          <p:nvPr/>
        </p:nvSpPr>
        <p:spPr>
          <a:xfrm>
            <a:off x="1115568" y="1783080"/>
            <a:ext cx="694944" cy="694944"/>
          </a:xfrm>
          <a:prstGeom prst="ellipse">
            <a:avLst/>
          </a:prstGeom>
          <a:solidFill>
            <a:srgbClr val="F7F8F9"/>
          </a:solidFill>
          <a:ln w="25400">
            <a:solidFill>
              <a:srgbClr val="8B7FD9"/>
            </a:solidFill>
            <a:prstDash val="solid"/>
          </a:ln>
        </p:spPr>
      </p:sp>
      <p:sp>
        <p:nvSpPr>
          <p:cNvPr id="6" name="Text 4"/>
          <p:cNvSpPr txBox="1"/>
          <p:nvPr/>
        </p:nvSpPr>
        <p:spPr>
          <a:xfrm>
            <a:off x="1115568" y="1783080"/>
            <a:ext cx="694944" cy="694944"/>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P1</a:t>
            </a:r>
            <a:endParaRPr lang="en-US" sz="1500" dirty="0"/>
          </a:p>
        </p:txBody>
      </p:sp>
      <p:sp>
        <p:nvSpPr>
          <p:cNvPr id="7" name="Text 5"/>
          <p:cNvSpPr txBox="1"/>
          <p:nvPr/>
        </p:nvSpPr>
        <p:spPr>
          <a:xfrm>
            <a:off x="2103120" y="1901952"/>
            <a:ext cx="3931920" cy="457200"/>
          </a:xfrm>
          <a:prstGeom prst="rect">
            <a:avLst/>
          </a:prstGeom>
          <a:noFill/>
          <a:ln/>
        </p:spPr>
        <p:txBody>
          <a:bodyPr wrap="square" lIns="0" tIns="0" rIns="0" bIns="0" rtlCol="0" anchor="ctr"/>
          <a:lstStyle/>
          <a:p>
            <a:pPr indent="0" marL="0">
              <a:buNone/>
            </a:pPr>
            <a:r>
              <a:rPr lang="en-US" sz="1300" dirty="0">
                <a:solidFill>
                  <a:srgbClr val="1F2429"/>
                </a:solidFill>
                <a:latin typeface="Calibri" pitchFamily="34" charset="0"/>
                <a:ea typeface="Calibri" pitchFamily="34" charset="-122"/>
                <a:cs typeface="Calibri" pitchFamily="34" charset="-120"/>
              </a:rPr>
              <a:t>Process — drawn as a circle</a:t>
            </a:r>
            <a:endParaRPr lang="en-US" sz="1300" dirty="0"/>
          </a:p>
        </p:txBody>
      </p:sp>
      <p:sp>
        <p:nvSpPr>
          <p:cNvPr id="8" name="Shape 6"/>
          <p:cNvSpPr/>
          <p:nvPr/>
        </p:nvSpPr>
        <p:spPr>
          <a:xfrm>
            <a:off x="1051560" y="2907792"/>
            <a:ext cx="822960" cy="640080"/>
          </a:xfrm>
          <a:prstGeom prst="rect">
            <a:avLst/>
          </a:prstGeom>
          <a:solidFill>
            <a:srgbClr val="F7F8F9"/>
          </a:solidFill>
          <a:ln w="25400">
            <a:solidFill>
              <a:srgbClr val="E8A33D"/>
            </a:solidFill>
            <a:prstDash val="solid"/>
          </a:ln>
        </p:spPr>
      </p:sp>
      <p:sp>
        <p:nvSpPr>
          <p:cNvPr id="9" name="Text 7"/>
          <p:cNvSpPr txBox="1"/>
          <p:nvPr/>
        </p:nvSpPr>
        <p:spPr>
          <a:xfrm>
            <a:off x="1051560" y="2633472"/>
            <a:ext cx="822960" cy="237744"/>
          </a:xfrm>
          <a:prstGeom prst="rect">
            <a:avLst/>
          </a:prstGeom>
          <a:noFill/>
          <a:ln/>
        </p:spPr>
        <p:txBody>
          <a:bodyPr wrap="square" lIns="0" tIns="0" rIns="0" bIns="0" rtlCol="0" anchor="ctr"/>
          <a:lstStyle/>
          <a:p>
            <a:pPr algn="ctr" indent="0" marL="0">
              <a:buNone/>
            </a:pPr>
            <a:r>
              <a:rPr lang="en-US" sz="1300" b="1" dirty="0">
                <a:solidFill>
                  <a:srgbClr val="1F2429"/>
                </a:solidFill>
                <a:latin typeface="Calibri" pitchFamily="34" charset="0"/>
                <a:ea typeface="Calibri" pitchFamily="34" charset="-122"/>
                <a:cs typeface="Calibri" pitchFamily="34" charset="-120"/>
              </a:rPr>
              <a:t>R1</a:t>
            </a:r>
            <a:endParaRPr lang="en-US" sz="1300" dirty="0"/>
          </a:p>
        </p:txBody>
      </p:sp>
      <p:sp>
        <p:nvSpPr>
          <p:cNvPr id="10" name="Shape 8"/>
          <p:cNvSpPr/>
          <p:nvPr/>
        </p:nvSpPr>
        <p:spPr>
          <a:xfrm>
            <a:off x="1312164" y="3177540"/>
            <a:ext cx="100584" cy="100584"/>
          </a:xfrm>
          <a:prstGeom prst="ellipse">
            <a:avLst/>
          </a:prstGeom>
          <a:solidFill>
            <a:srgbClr val="E8A33D"/>
          </a:solidFill>
          <a:ln/>
        </p:spPr>
      </p:sp>
      <p:sp>
        <p:nvSpPr>
          <p:cNvPr id="11" name="Shape 9"/>
          <p:cNvSpPr/>
          <p:nvPr/>
        </p:nvSpPr>
        <p:spPr>
          <a:xfrm>
            <a:off x="1513332" y="3177540"/>
            <a:ext cx="100584" cy="100584"/>
          </a:xfrm>
          <a:prstGeom prst="ellipse">
            <a:avLst/>
          </a:prstGeom>
          <a:solidFill>
            <a:srgbClr val="E8A33D"/>
          </a:solidFill>
          <a:ln/>
        </p:spPr>
      </p:sp>
      <p:sp>
        <p:nvSpPr>
          <p:cNvPr id="12" name="Text 10"/>
          <p:cNvSpPr txBox="1"/>
          <p:nvPr/>
        </p:nvSpPr>
        <p:spPr>
          <a:xfrm>
            <a:off x="2103120" y="2999232"/>
            <a:ext cx="4572000" cy="457200"/>
          </a:xfrm>
          <a:prstGeom prst="rect">
            <a:avLst/>
          </a:prstGeom>
          <a:noFill/>
          <a:ln/>
        </p:spPr>
        <p:txBody>
          <a:bodyPr wrap="square" lIns="0" tIns="0" rIns="0" bIns="0" rtlCol="0" anchor="ctr"/>
          <a:lstStyle/>
          <a:p>
            <a:pPr indent="0" marL="0">
              <a:buNone/>
            </a:pPr>
            <a:r>
              <a:rPr lang="en-US" sz="1300" dirty="0">
                <a:solidFill>
                  <a:srgbClr val="1F2429"/>
                </a:solidFill>
                <a:latin typeface="Calibri" pitchFamily="34" charset="0"/>
                <a:ea typeface="Calibri" pitchFamily="34" charset="-122"/>
                <a:cs typeface="Calibri" pitchFamily="34" charset="-120"/>
              </a:rPr>
              <a:t>Resource type — a rectangle, with one dot per instance</a:t>
            </a:r>
            <a:endParaRPr lang="en-US" sz="1300" dirty="0"/>
          </a:p>
        </p:txBody>
      </p:sp>
      <p:sp>
        <p:nvSpPr>
          <p:cNvPr id="13" name="Shape 11"/>
          <p:cNvSpPr/>
          <p:nvPr/>
        </p:nvSpPr>
        <p:spPr>
          <a:xfrm>
            <a:off x="7360920" y="1810512"/>
            <a:ext cx="640080" cy="640080"/>
          </a:xfrm>
          <a:prstGeom prst="ellipse">
            <a:avLst/>
          </a:prstGeom>
          <a:solidFill>
            <a:srgbClr val="F7F8F9"/>
          </a:solidFill>
          <a:ln w="25400">
            <a:solidFill>
              <a:srgbClr val="8B7FD9"/>
            </a:solidFill>
            <a:prstDash val="solid"/>
          </a:ln>
        </p:spPr>
      </p:sp>
      <p:sp>
        <p:nvSpPr>
          <p:cNvPr id="14" name="Text 12"/>
          <p:cNvSpPr txBox="1"/>
          <p:nvPr/>
        </p:nvSpPr>
        <p:spPr>
          <a:xfrm>
            <a:off x="7360920" y="1810512"/>
            <a:ext cx="640080" cy="640080"/>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P</a:t>
            </a:r>
            <a:endParaRPr lang="en-US" sz="1500" dirty="0"/>
          </a:p>
        </p:txBody>
      </p:sp>
      <p:sp>
        <p:nvSpPr>
          <p:cNvPr id="15" name="Shape 13"/>
          <p:cNvSpPr/>
          <p:nvPr/>
        </p:nvSpPr>
        <p:spPr>
          <a:xfrm>
            <a:off x="9326880" y="1856232"/>
            <a:ext cx="731520" cy="548640"/>
          </a:xfrm>
          <a:prstGeom prst="rect">
            <a:avLst/>
          </a:prstGeom>
          <a:solidFill>
            <a:srgbClr val="F7F8F9"/>
          </a:solidFill>
          <a:ln w="25400">
            <a:solidFill>
              <a:srgbClr val="E8A33D"/>
            </a:solidFill>
            <a:prstDash val="solid"/>
          </a:ln>
        </p:spPr>
      </p:sp>
      <p:sp>
        <p:nvSpPr>
          <p:cNvPr id="16" name="Text 14"/>
          <p:cNvSpPr txBox="1"/>
          <p:nvPr/>
        </p:nvSpPr>
        <p:spPr>
          <a:xfrm>
            <a:off x="9326880" y="1581912"/>
            <a:ext cx="731520" cy="237744"/>
          </a:xfrm>
          <a:prstGeom prst="rect">
            <a:avLst/>
          </a:prstGeom>
          <a:noFill/>
          <a:ln/>
        </p:spPr>
        <p:txBody>
          <a:bodyPr wrap="square" lIns="0" tIns="0" rIns="0" bIns="0" rtlCol="0" anchor="ctr"/>
          <a:lstStyle/>
          <a:p>
            <a:pPr algn="ctr" indent="0" marL="0">
              <a:buNone/>
            </a:pPr>
            <a:r>
              <a:rPr lang="en-US" sz="1300" b="1" dirty="0">
                <a:solidFill>
                  <a:srgbClr val="1F2429"/>
                </a:solidFill>
                <a:latin typeface="Calibri" pitchFamily="34" charset="0"/>
                <a:ea typeface="Calibri" pitchFamily="34" charset="-122"/>
                <a:cs typeface="Calibri" pitchFamily="34" charset="-120"/>
              </a:rPr>
              <a:t>R</a:t>
            </a:r>
            <a:endParaRPr lang="en-US" sz="1300" dirty="0"/>
          </a:p>
        </p:txBody>
      </p:sp>
      <p:sp>
        <p:nvSpPr>
          <p:cNvPr id="17" name="Shape 15"/>
          <p:cNvSpPr/>
          <p:nvPr/>
        </p:nvSpPr>
        <p:spPr>
          <a:xfrm>
            <a:off x="9642348" y="2080260"/>
            <a:ext cx="100584" cy="100584"/>
          </a:xfrm>
          <a:prstGeom prst="ellipse">
            <a:avLst/>
          </a:prstGeom>
          <a:solidFill>
            <a:srgbClr val="E8A33D"/>
          </a:solidFill>
          <a:ln/>
        </p:spPr>
      </p:sp>
      <p:sp>
        <p:nvSpPr>
          <p:cNvPr id="18" name="Shape 16"/>
          <p:cNvSpPr/>
          <p:nvPr/>
        </p:nvSpPr>
        <p:spPr>
          <a:xfrm>
            <a:off x="8001000" y="2130552"/>
            <a:ext cx="1362456" cy="0"/>
          </a:xfrm>
          <a:prstGeom prst="line">
            <a:avLst/>
          </a:prstGeom>
          <a:noFill/>
          <a:ln w="19050">
            <a:solidFill>
              <a:srgbClr val="8A939B"/>
            </a:solidFill>
            <a:prstDash val="dash"/>
            <a:tailEnd type="triangle"/>
          </a:ln>
        </p:spPr>
      </p:sp>
      <p:sp>
        <p:nvSpPr>
          <p:cNvPr id="19" name="Text 17"/>
          <p:cNvSpPr txBox="1"/>
          <p:nvPr/>
        </p:nvSpPr>
        <p:spPr>
          <a:xfrm>
            <a:off x="6583680" y="2450592"/>
            <a:ext cx="4572000" cy="457200"/>
          </a:xfrm>
          <a:prstGeom prst="rect">
            <a:avLst/>
          </a:prstGeom>
          <a:noFill/>
          <a:ln/>
        </p:spPr>
        <p:txBody>
          <a:bodyPr wrap="square" lIns="0" tIns="0" rIns="0" bIns="0" rtlCol="0" anchor="t"/>
          <a:lstStyle/>
          <a:p>
            <a:pPr indent="0" marL="0">
              <a:buNone/>
            </a:pPr>
            <a:r>
              <a:rPr lang="en-US" sz="1200" dirty="0">
                <a:solidFill>
                  <a:srgbClr val="1F2429"/>
                </a:solidFill>
                <a:latin typeface="Calibri" pitchFamily="34" charset="0"/>
                <a:ea typeface="Calibri" pitchFamily="34" charset="-122"/>
                <a:cs typeface="Calibri" pitchFamily="34" charset="-120"/>
              </a:rPr>
              <a:t>Request edge (dashed): process is waiting to acquire the resource</a:t>
            </a:r>
            <a:endParaRPr lang="en-US" sz="1200" dirty="0"/>
          </a:p>
        </p:txBody>
      </p:sp>
      <p:sp>
        <p:nvSpPr>
          <p:cNvPr id="20" name="Shape 18"/>
          <p:cNvSpPr/>
          <p:nvPr/>
        </p:nvSpPr>
        <p:spPr>
          <a:xfrm>
            <a:off x="7315200" y="3182112"/>
            <a:ext cx="731520" cy="548640"/>
          </a:xfrm>
          <a:prstGeom prst="rect">
            <a:avLst/>
          </a:prstGeom>
          <a:solidFill>
            <a:srgbClr val="F7F8F9"/>
          </a:solidFill>
          <a:ln w="25400">
            <a:solidFill>
              <a:srgbClr val="E8A33D"/>
            </a:solidFill>
            <a:prstDash val="solid"/>
          </a:ln>
        </p:spPr>
      </p:sp>
      <p:sp>
        <p:nvSpPr>
          <p:cNvPr id="21" name="Text 19"/>
          <p:cNvSpPr txBox="1"/>
          <p:nvPr/>
        </p:nvSpPr>
        <p:spPr>
          <a:xfrm>
            <a:off x="7315200" y="2907792"/>
            <a:ext cx="731520" cy="237744"/>
          </a:xfrm>
          <a:prstGeom prst="rect">
            <a:avLst/>
          </a:prstGeom>
          <a:noFill/>
          <a:ln/>
        </p:spPr>
        <p:txBody>
          <a:bodyPr wrap="square" lIns="0" tIns="0" rIns="0" bIns="0" rtlCol="0" anchor="ctr"/>
          <a:lstStyle/>
          <a:p>
            <a:pPr algn="ctr" indent="0" marL="0">
              <a:buNone/>
            </a:pPr>
            <a:r>
              <a:rPr lang="en-US" sz="1300" b="1" dirty="0">
                <a:solidFill>
                  <a:srgbClr val="1F2429"/>
                </a:solidFill>
                <a:latin typeface="Calibri" pitchFamily="34" charset="0"/>
                <a:ea typeface="Calibri" pitchFamily="34" charset="-122"/>
                <a:cs typeface="Calibri" pitchFamily="34" charset="-120"/>
              </a:rPr>
              <a:t>R</a:t>
            </a:r>
            <a:endParaRPr lang="en-US" sz="1300" dirty="0"/>
          </a:p>
        </p:txBody>
      </p:sp>
      <p:sp>
        <p:nvSpPr>
          <p:cNvPr id="22" name="Shape 20"/>
          <p:cNvSpPr/>
          <p:nvPr/>
        </p:nvSpPr>
        <p:spPr>
          <a:xfrm>
            <a:off x="7630668" y="3406140"/>
            <a:ext cx="100584" cy="100584"/>
          </a:xfrm>
          <a:prstGeom prst="ellipse">
            <a:avLst/>
          </a:prstGeom>
          <a:solidFill>
            <a:srgbClr val="E8A33D"/>
          </a:solidFill>
          <a:ln/>
        </p:spPr>
      </p:sp>
      <p:sp>
        <p:nvSpPr>
          <p:cNvPr id="23" name="Shape 21"/>
          <p:cNvSpPr/>
          <p:nvPr/>
        </p:nvSpPr>
        <p:spPr>
          <a:xfrm>
            <a:off x="9372600" y="3136392"/>
            <a:ext cx="640080" cy="640080"/>
          </a:xfrm>
          <a:prstGeom prst="ellipse">
            <a:avLst/>
          </a:prstGeom>
          <a:solidFill>
            <a:srgbClr val="F7F8F9"/>
          </a:solidFill>
          <a:ln w="25400">
            <a:solidFill>
              <a:srgbClr val="8B7FD9"/>
            </a:solidFill>
            <a:prstDash val="solid"/>
          </a:ln>
        </p:spPr>
      </p:sp>
      <p:sp>
        <p:nvSpPr>
          <p:cNvPr id="24" name="Text 22"/>
          <p:cNvSpPr txBox="1"/>
          <p:nvPr/>
        </p:nvSpPr>
        <p:spPr>
          <a:xfrm>
            <a:off x="9372600" y="3136392"/>
            <a:ext cx="640080" cy="640080"/>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P</a:t>
            </a:r>
            <a:endParaRPr lang="en-US" sz="1500" dirty="0"/>
          </a:p>
        </p:txBody>
      </p:sp>
      <p:sp>
        <p:nvSpPr>
          <p:cNvPr id="25" name="Shape 23"/>
          <p:cNvSpPr/>
          <p:nvPr/>
        </p:nvSpPr>
        <p:spPr>
          <a:xfrm>
            <a:off x="8010144" y="3456432"/>
            <a:ext cx="1362456" cy="0"/>
          </a:xfrm>
          <a:prstGeom prst="line">
            <a:avLst/>
          </a:prstGeom>
          <a:noFill/>
          <a:ln w="25400">
            <a:solidFill>
              <a:srgbClr val="8A939B"/>
            </a:solidFill>
            <a:prstDash val="solid"/>
            <a:tailEnd type="triangle"/>
          </a:ln>
        </p:spPr>
      </p:sp>
      <p:sp>
        <p:nvSpPr>
          <p:cNvPr id="26" name="Text 24"/>
          <p:cNvSpPr txBox="1"/>
          <p:nvPr/>
        </p:nvSpPr>
        <p:spPr>
          <a:xfrm>
            <a:off x="6583680" y="3776472"/>
            <a:ext cx="4572000" cy="457200"/>
          </a:xfrm>
          <a:prstGeom prst="rect">
            <a:avLst/>
          </a:prstGeom>
          <a:noFill/>
          <a:ln/>
        </p:spPr>
        <p:txBody>
          <a:bodyPr wrap="square" lIns="0" tIns="0" rIns="0" bIns="0" rtlCol="0" anchor="t"/>
          <a:lstStyle/>
          <a:p>
            <a:pPr indent="0" marL="0">
              <a:buNone/>
            </a:pPr>
            <a:r>
              <a:rPr lang="en-US" sz="1200" dirty="0">
                <a:solidFill>
                  <a:srgbClr val="1F2429"/>
                </a:solidFill>
                <a:latin typeface="Calibri" pitchFamily="34" charset="0"/>
                <a:ea typeface="Calibri" pitchFamily="34" charset="-122"/>
                <a:cs typeface="Calibri" pitchFamily="34" charset="-120"/>
              </a:rPr>
              <a:t>Assignment edge (solid): one instance of the resource is allocated to the process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RAG · EXAMPLE 1</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Single-Instance Cycle — Deadlock Guaranteed</a:t>
            </a:r>
            <a:endParaRPr lang="en-US" sz="2600" dirty="0"/>
          </a:p>
        </p:txBody>
      </p:sp>
      <p:sp>
        <p:nvSpPr>
          <p:cNvPr id="5" name="Shape 3"/>
          <p:cNvSpPr/>
          <p:nvPr/>
        </p:nvSpPr>
        <p:spPr>
          <a:xfrm>
            <a:off x="2346808" y="2724912"/>
            <a:ext cx="914400" cy="914400"/>
          </a:xfrm>
          <a:prstGeom prst="ellipse">
            <a:avLst/>
          </a:prstGeom>
          <a:solidFill>
            <a:srgbClr val="F7F8F9"/>
          </a:solidFill>
          <a:ln w="25400">
            <a:solidFill>
              <a:srgbClr val="8B7FD9"/>
            </a:solidFill>
            <a:prstDash val="solid"/>
          </a:ln>
        </p:spPr>
      </p:sp>
      <p:sp>
        <p:nvSpPr>
          <p:cNvPr id="6" name="Text 4"/>
          <p:cNvSpPr txBox="1"/>
          <p:nvPr/>
        </p:nvSpPr>
        <p:spPr>
          <a:xfrm>
            <a:off x="2346808" y="2724912"/>
            <a:ext cx="914400" cy="914400"/>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P1</a:t>
            </a:r>
            <a:endParaRPr lang="en-US" sz="1500" dirty="0"/>
          </a:p>
        </p:txBody>
      </p:sp>
      <p:sp>
        <p:nvSpPr>
          <p:cNvPr id="7" name="Shape 5"/>
          <p:cNvSpPr/>
          <p:nvPr/>
        </p:nvSpPr>
        <p:spPr>
          <a:xfrm>
            <a:off x="8930488" y="2724912"/>
            <a:ext cx="914400" cy="914400"/>
          </a:xfrm>
          <a:prstGeom prst="ellipse">
            <a:avLst/>
          </a:prstGeom>
          <a:solidFill>
            <a:srgbClr val="F7F8F9"/>
          </a:solidFill>
          <a:ln w="25400">
            <a:solidFill>
              <a:srgbClr val="8B7FD9"/>
            </a:solidFill>
            <a:prstDash val="solid"/>
          </a:ln>
        </p:spPr>
      </p:sp>
      <p:sp>
        <p:nvSpPr>
          <p:cNvPr id="8" name="Text 6"/>
          <p:cNvSpPr txBox="1"/>
          <p:nvPr/>
        </p:nvSpPr>
        <p:spPr>
          <a:xfrm>
            <a:off x="8930488" y="2724912"/>
            <a:ext cx="914400" cy="914400"/>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P2</a:t>
            </a:r>
            <a:endParaRPr lang="en-US" sz="1500" dirty="0"/>
          </a:p>
        </p:txBody>
      </p:sp>
      <p:sp>
        <p:nvSpPr>
          <p:cNvPr id="9" name="Shape 7"/>
          <p:cNvSpPr/>
          <p:nvPr/>
        </p:nvSpPr>
        <p:spPr>
          <a:xfrm>
            <a:off x="5592928" y="1924812"/>
            <a:ext cx="1005840" cy="777240"/>
          </a:xfrm>
          <a:prstGeom prst="rect">
            <a:avLst/>
          </a:prstGeom>
          <a:solidFill>
            <a:srgbClr val="F7F8F9"/>
          </a:solidFill>
          <a:ln w="25400">
            <a:solidFill>
              <a:srgbClr val="E8A33D"/>
            </a:solidFill>
            <a:prstDash val="solid"/>
          </a:ln>
        </p:spPr>
      </p:sp>
      <p:sp>
        <p:nvSpPr>
          <p:cNvPr id="10" name="Text 8"/>
          <p:cNvSpPr txBox="1"/>
          <p:nvPr/>
        </p:nvSpPr>
        <p:spPr>
          <a:xfrm>
            <a:off x="5592928" y="1650492"/>
            <a:ext cx="1005840" cy="237744"/>
          </a:xfrm>
          <a:prstGeom prst="rect">
            <a:avLst/>
          </a:prstGeom>
          <a:noFill/>
          <a:ln/>
        </p:spPr>
        <p:txBody>
          <a:bodyPr wrap="square" lIns="0" tIns="0" rIns="0" bIns="0" rtlCol="0" anchor="ctr"/>
          <a:lstStyle/>
          <a:p>
            <a:pPr algn="ctr" indent="0" marL="0">
              <a:buNone/>
            </a:pPr>
            <a:r>
              <a:rPr lang="en-US" sz="1300" b="1" dirty="0">
                <a:solidFill>
                  <a:srgbClr val="1F2429"/>
                </a:solidFill>
                <a:latin typeface="Calibri" pitchFamily="34" charset="0"/>
                <a:ea typeface="Calibri" pitchFamily="34" charset="-122"/>
                <a:cs typeface="Calibri" pitchFamily="34" charset="-120"/>
              </a:rPr>
              <a:t>R1</a:t>
            </a:r>
            <a:endParaRPr lang="en-US" sz="1300" dirty="0"/>
          </a:p>
        </p:txBody>
      </p:sp>
      <p:sp>
        <p:nvSpPr>
          <p:cNvPr id="11" name="Shape 9"/>
          <p:cNvSpPr/>
          <p:nvPr/>
        </p:nvSpPr>
        <p:spPr>
          <a:xfrm>
            <a:off x="6045556" y="2263140"/>
            <a:ext cx="100584" cy="100584"/>
          </a:xfrm>
          <a:prstGeom prst="ellipse">
            <a:avLst/>
          </a:prstGeom>
          <a:solidFill>
            <a:srgbClr val="E8A33D"/>
          </a:solidFill>
          <a:ln/>
        </p:spPr>
      </p:sp>
      <p:sp>
        <p:nvSpPr>
          <p:cNvPr id="12" name="Shape 10"/>
          <p:cNvSpPr/>
          <p:nvPr/>
        </p:nvSpPr>
        <p:spPr>
          <a:xfrm>
            <a:off x="5592928" y="3662172"/>
            <a:ext cx="1005840" cy="777240"/>
          </a:xfrm>
          <a:prstGeom prst="rect">
            <a:avLst/>
          </a:prstGeom>
          <a:solidFill>
            <a:srgbClr val="F7F8F9"/>
          </a:solidFill>
          <a:ln w="25400">
            <a:solidFill>
              <a:srgbClr val="E8A33D"/>
            </a:solidFill>
            <a:prstDash val="solid"/>
          </a:ln>
        </p:spPr>
      </p:sp>
      <p:sp>
        <p:nvSpPr>
          <p:cNvPr id="13" name="Text 11"/>
          <p:cNvSpPr txBox="1"/>
          <p:nvPr/>
        </p:nvSpPr>
        <p:spPr>
          <a:xfrm>
            <a:off x="5592928" y="3387852"/>
            <a:ext cx="1005840" cy="237744"/>
          </a:xfrm>
          <a:prstGeom prst="rect">
            <a:avLst/>
          </a:prstGeom>
          <a:noFill/>
          <a:ln/>
        </p:spPr>
        <p:txBody>
          <a:bodyPr wrap="square" lIns="0" tIns="0" rIns="0" bIns="0" rtlCol="0" anchor="ctr"/>
          <a:lstStyle/>
          <a:p>
            <a:pPr algn="ctr" indent="0" marL="0">
              <a:buNone/>
            </a:pPr>
            <a:r>
              <a:rPr lang="en-US" sz="1300" b="1" dirty="0">
                <a:solidFill>
                  <a:srgbClr val="1F2429"/>
                </a:solidFill>
                <a:latin typeface="Calibri" pitchFamily="34" charset="0"/>
                <a:ea typeface="Calibri" pitchFamily="34" charset="-122"/>
                <a:cs typeface="Calibri" pitchFamily="34" charset="-120"/>
              </a:rPr>
              <a:t>R2</a:t>
            </a:r>
            <a:endParaRPr lang="en-US" sz="1300" dirty="0"/>
          </a:p>
        </p:txBody>
      </p:sp>
      <p:sp>
        <p:nvSpPr>
          <p:cNvPr id="14" name="Shape 12"/>
          <p:cNvSpPr/>
          <p:nvPr/>
        </p:nvSpPr>
        <p:spPr>
          <a:xfrm>
            <a:off x="6045556" y="4000500"/>
            <a:ext cx="100584" cy="100584"/>
          </a:xfrm>
          <a:prstGeom prst="ellipse">
            <a:avLst/>
          </a:prstGeom>
          <a:solidFill>
            <a:srgbClr val="E8A33D"/>
          </a:solidFill>
          <a:ln/>
        </p:spPr>
      </p:sp>
      <p:sp>
        <p:nvSpPr>
          <p:cNvPr id="15" name="Shape 13"/>
          <p:cNvSpPr/>
          <p:nvPr/>
        </p:nvSpPr>
        <p:spPr>
          <a:xfrm flipV="1">
            <a:off x="3246074" y="2430194"/>
            <a:ext cx="2407307" cy="635262"/>
          </a:xfrm>
          <a:prstGeom prst="line">
            <a:avLst/>
          </a:prstGeom>
          <a:noFill/>
          <a:ln w="19050">
            <a:solidFill>
              <a:srgbClr val="8A939B"/>
            </a:solidFill>
            <a:prstDash val="dash"/>
            <a:tailEnd type="triangle"/>
          </a:ln>
        </p:spPr>
      </p:sp>
      <p:sp>
        <p:nvSpPr>
          <p:cNvPr id="16" name="Shape 14"/>
          <p:cNvSpPr/>
          <p:nvPr/>
        </p:nvSpPr>
        <p:spPr>
          <a:xfrm>
            <a:off x="6538314" y="2430194"/>
            <a:ext cx="2407307" cy="635262"/>
          </a:xfrm>
          <a:prstGeom prst="line">
            <a:avLst/>
          </a:prstGeom>
          <a:noFill/>
          <a:ln w="25400">
            <a:solidFill>
              <a:srgbClr val="8A939B"/>
            </a:solidFill>
            <a:prstDash val="solid"/>
            <a:tailEnd type="triangle"/>
          </a:ln>
        </p:spPr>
      </p:sp>
      <p:sp>
        <p:nvSpPr>
          <p:cNvPr id="17" name="Shape 15"/>
          <p:cNvSpPr/>
          <p:nvPr/>
        </p:nvSpPr>
        <p:spPr>
          <a:xfrm flipH="1">
            <a:off x="6538314" y="3298769"/>
            <a:ext cx="2407307" cy="635262"/>
          </a:xfrm>
          <a:prstGeom prst="line">
            <a:avLst/>
          </a:prstGeom>
          <a:noFill/>
          <a:ln w="19050">
            <a:solidFill>
              <a:srgbClr val="8A939B"/>
            </a:solidFill>
            <a:prstDash val="dash"/>
            <a:tailEnd type="triangle"/>
          </a:ln>
        </p:spPr>
      </p:sp>
      <p:sp>
        <p:nvSpPr>
          <p:cNvPr id="18" name="Shape 16"/>
          <p:cNvSpPr/>
          <p:nvPr/>
        </p:nvSpPr>
        <p:spPr>
          <a:xfrm flipH="1" flipV="1">
            <a:off x="3246074" y="3298769"/>
            <a:ext cx="2407307" cy="635262"/>
          </a:xfrm>
          <a:prstGeom prst="line">
            <a:avLst/>
          </a:prstGeom>
          <a:noFill/>
          <a:ln w="25400">
            <a:solidFill>
              <a:srgbClr val="8A939B"/>
            </a:solidFill>
            <a:prstDash val="solid"/>
            <a:tailEnd type="triangle"/>
          </a:ln>
        </p:spPr>
      </p:sp>
      <p:sp>
        <p:nvSpPr>
          <p:cNvPr id="19" name="Text 17"/>
          <p:cNvSpPr txBox="1"/>
          <p:nvPr/>
        </p:nvSpPr>
        <p:spPr>
          <a:xfrm>
            <a:off x="548640" y="4873752"/>
            <a:ext cx="11094415" cy="274320"/>
          </a:xfrm>
          <a:prstGeom prst="rect">
            <a:avLst/>
          </a:prstGeom>
          <a:noFill/>
          <a:ln/>
        </p:spPr>
        <p:txBody>
          <a:bodyPr wrap="square" lIns="0" tIns="0" rIns="0" bIns="0" rtlCol="0" anchor="ctr"/>
          <a:lstStyle/>
          <a:p>
            <a:pPr algn="ctr" indent="0" marL="0">
              <a:buNone/>
            </a:pPr>
            <a:r>
              <a:rPr lang="en-US" sz="1100" dirty="0">
                <a:solidFill>
                  <a:srgbClr val="8A939B"/>
                </a:solidFill>
                <a:latin typeface="Calibri" pitchFamily="34" charset="0"/>
                <a:ea typeface="Calibri" pitchFamily="34" charset="-122"/>
                <a:cs typeface="Calibri" pitchFamily="34" charset="-120"/>
              </a:rPr>
              <a:t>Dashed = request edge · Solid = assignment edge</a:t>
            </a:r>
            <a:endParaRPr lang="en-US" sz="1100" dirty="0"/>
          </a:p>
        </p:txBody>
      </p:sp>
      <p:sp>
        <p:nvSpPr>
          <p:cNvPr id="20" name="Shape 18"/>
          <p:cNvSpPr/>
          <p:nvPr/>
        </p:nvSpPr>
        <p:spPr>
          <a:xfrm>
            <a:off x="548640" y="5193792"/>
            <a:ext cx="11094415" cy="685800"/>
          </a:xfrm>
          <a:prstGeom prst="roundRect">
            <a:avLst>
              <a:gd name="adj" fmla="val 10667"/>
            </a:avLst>
          </a:prstGeom>
          <a:solidFill>
            <a:srgbClr val="E9F9F3"/>
          </a:solidFill>
          <a:ln w="12700">
            <a:solidFill>
              <a:srgbClr val="1FAE8C"/>
            </a:solidFill>
            <a:prstDash val="solid"/>
          </a:ln>
        </p:spPr>
      </p:sp>
      <p:sp>
        <p:nvSpPr>
          <p:cNvPr id="21" name="Text 19"/>
          <p:cNvSpPr txBox="1"/>
          <p:nvPr/>
        </p:nvSpPr>
        <p:spPr>
          <a:xfrm>
            <a:off x="804672" y="5303520"/>
            <a:ext cx="10582351" cy="466344"/>
          </a:xfrm>
          <a:prstGeom prst="rect">
            <a:avLst/>
          </a:prstGeom>
          <a:noFill/>
          <a:ln/>
        </p:spPr>
        <p:txBody>
          <a:bodyPr wrap="square" lIns="0" tIns="0" rIns="0" bIns="0" rtlCol="0" anchor="t"/>
          <a:lstStyle/>
          <a:p>
            <a:pPr indent="0" marL="0">
              <a:lnSpc>
                <a:spcPct val="112000"/>
              </a:lnSpc>
              <a:buNone/>
            </a:pPr>
            <a:r>
              <a:rPr lang="en-US" sz="1200" dirty="0">
                <a:solidFill>
                  <a:srgbClr val="1F2429"/>
                </a:solidFill>
                <a:latin typeface="Calibri" pitchFamily="34" charset="0"/>
                <a:ea typeface="Calibri" pitchFamily="34" charset="-122"/>
                <a:cs typeface="Calibri" pitchFamily="34" charset="-120"/>
              </a:rPr>
              <a:t>Cycle: P1 → R1 → P2 → R2 → P1. Every resource type in the cycle has exactly one instance, so no third process can intervene — deadlock is certain.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RAG · EXAMPLE 2</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Multi-Instance Cycle — Not Necessarily Deadlock</a:t>
            </a:r>
            <a:endParaRPr lang="en-US" sz="2600" dirty="0"/>
          </a:p>
        </p:txBody>
      </p:sp>
      <p:sp>
        <p:nvSpPr>
          <p:cNvPr id="5" name="Shape 3"/>
          <p:cNvSpPr/>
          <p:nvPr/>
        </p:nvSpPr>
        <p:spPr>
          <a:xfrm>
            <a:off x="1536192" y="1929384"/>
            <a:ext cx="768096" cy="768096"/>
          </a:xfrm>
          <a:prstGeom prst="ellipse">
            <a:avLst/>
          </a:prstGeom>
          <a:solidFill>
            <a:srgbClr val="F7F8F9"/>
          </a:solidFill>
          <a:ln w="25400">
            <a:solidFill>
              <a:srgbClr val="8B7FD9"/>
            </a:solidFill>
            <a:prstDash val="solid"/>
          </a:ln>
        </p:spPr>
      </p:sp>
      <p:sp>
        <p:nvSpPr>
          <p:cNvPr id="6" name="Text 4"/>
          <p:cNvSpPr txBox="1"/>
          <p:nvPr/>
        </p:nvSpPr>
        <p:spPr>
          <a:xfrm>
            <a:off x="1536192" y="1929384"/>
            <a:ext cx="768096" cy="768096"/>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P1</a:t>
            </a:r>
            <a:endParaRPr lang="en-US" sz="1500" dirty="0"/>
          </a:p>
        </p:txBody>
      </p:sp>
      <p:sp>
        <p:nvSpPr>
          <p:cNvPr id="7" name="Shape 5"/>
          <p:cNvSpPr/>
          <p:nvPr/>
        </p:nvSpPr>
        <p:spPr>
          <a:xfrm>
            <a:off x="9491472" y="1929384"/>
            <a:ext cx="768096" cy="768096"/>
          </a:xfrm>
          <a:prstGeom prst="ellipse">
            <a:avLst/>
          </a:prstGeom>
          <a:solidFill>
            <a:srgbClr val="F7F8F9"/>
          </a:solidFill>
          <a:ln w="25400">
            <a:solidFill>
              <a:srgbClr val="8B7FD9"/>
            </a:solidFill>
            <a:prstDash val="solid"/>
          </a:ln>
        </p:spPr>
      </p:sp>
      <p:sp>
        <p:nvSpPr>
          <p:cNvPr id="8" name="Text 6"/>
          <p:cNvSpPr txBox="1"/>
          <p:nvPr/>
        </p:nvSpPr>
        <p:spPr>
          <a:xfrm>
            <a:off x="9491472" y="1929384"/>
            <a:ext cx="768096" cy="768096"/>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P2</a:t>
            </a:r>
            <a:endParaRPr lang="en-US" sz="1500" dirty="0"/>
          </a:p>
        </p:txBody>
      </p:sp>
      <p:sp>
        <p:nvSpPr>
          <p:cNvPr id="9" name="Shape 7"/>
          <p:cNvSpPr/>
          <p:nvPr/>
        </p:nvSpPr>
        <p:spPr>
          <a:xfrm>
            <a:off x="9491472" y="4032504"/>
            <a:ext cx="768096" cy="768096"/>
          </a:xfrm>
          <a:prstGeom prst="ellipse">
            <a:avLst/>
          </a:prstGeom>
          <a:solidFill>
            <a:srgbClr val="F7F8F9"/>
          </a:solidFill>
          <a:ln w="25400">
            <a:solidFill>
              <a:srgbClr val="8B7FD9"/>
            </a:solidFill>
            <a:prstDash val="solid"/>
          </a:ln>
        </p:spPr>
      </p:sp>
      <p:sp>
        <p:nvSpPr>
          <p:cNvPr id="10" name="Text 8"/>
          <p:cNvSpPr txBox="1"/>
          <p:nvPr/>
        </p:nvSpPr>
        <p:spPr>
          <a:xfrm>
            <a:off x="9491472" y="4032504"/>
            <a:ext cx="768096" cy="768096"/>
          </a:xfrm>
          <a:prstGeom prst="rect">
            <a:avLst/>
          </a:prstGeom>
          <a:noFill/>
          <a:ln/>
        </p:spPr>
        <p:txBody>
          <a:bodyPr wrap="square" lIns="0" tIns="0" rIns="0" bIns="0" rtlCol="0" anchor="ctr"/>
          <a:lstStyle/>
          <a:p>
            <a:pPr algn="ctr" indent="0" marL="0">
              <a:buNone/>
            </a:pPr>
            <a:r>
              <a:rPr lang="en-US" sz="1500" b="1" dirty="0">
                <a:solidFill>
                  <a:srgbClr val="1F2429"/>
                </a:solidFill>
                <a:latin typeface="Calibri" pitchFamily="34" charset="0"/>
                <a:ea typeface="Calibri" pitchFamily="34" charset="-122"/>
                <a:cs typeface="Calibri" pitchFamily="34" charset="-120"/>
              </a:rPr>
              <a:t>P3</a:t>
            </a:r>
            <a:endParaRPr lang="en-US" sz="1500" dirty="0"/>
          </a:p>
        </p:txBody>
      </p:sp>
      <p:sp>
        <p:nvSpPr>
          <p:cNvPr id="11" name="Shape 9"/>
          <p:cNvSpPr/>
          <p:nvPr/>
        </p:nvSpPr>
        <p:spPr>
          <a:xfrm>
            <a:off x="5166360" y="1810512"/>
            <a:ext cx="1371600" cy="822960"/>
          </a:xfrm>
          <a:prstGeom prst="rect">
            <a:avLst/>
          </a:prstGeom>
          <a:solidFill>
            <a:srgbClr val="F7F8F9"/>
          </a:solidFill>
          <a:ln w="25400">
            <a:solidFill>
              <a:srgbClr val="E8A33D"/>
            </a:solidFill>
            <a:prstDash val="solid"/>
          </a:ln>
        </p:spPr>
      </p:sp>
      <p:sp>
        <p:nvSpPr>
          <p:cNvPr id="12" name="Text 10"/>
          <p:cNvSpPr txBox="1"/>
          <p:nvPr/>
        </p:nvSpPr>
        <p:spPr>
          <a:xfrm>
            <a:off x="5166360" y="1536192"/>
            <a:ext cx="1371600" cy="237744"/>
          </a:xfrm>
          <a:prstGeom prst="rect">
            <a:avLst/>
          </a:prstGeom>
          <a:noFill/>
          <a:ln/>
        </p:spPr>
        <p:txBody>
          <a:bodyPr wrap="square" lIns="0" tIns="0" rIns="0" bIns="0" rtlCol="0" anchor="ctr"/>
          <a:lstStyle/>
          <a:p>
            <a:pPr algn="ctr" indent="0" marL="0">
              <a:buNone/>
            </a:pPr>
            <a:r>
              <a:rPr lang="en-US" sz="1300" b="1" dirty="0">
                <a:solidFill>
                  <a:srgbClr val="1F2429"/>
                </a:solidFill>
                <a:latin typeface="Calibri" pitchFamily="34" charset="0"/>
                <a:ea typeface="Calibri" pitchFamily="34" charset="-122"/>
                <a:cs typeface="Calibri" pitchFamily="34" charset="-120"/>
              </a:rPr>
              <a:t>R1 (2 instances)</a:t>
            </a:r>
            <a:endParaRPr lang="en-US" sz="1300" dirty="0"/>
          </a:p>
        </p:txBody>
      </p:sp>
      <p:sp>
        <p:nvSpPr>
          <p:cNvPr id="13" name="Shape 11"/>
          <p:cNvSpPr/>
          <p:nvPr/>
        </p:nvSpPr>
        <p:spPr>
          <a:xfrm>
            <a:off x="5701284" y="2171700"/>
            <a:ext cx="100584" cy="100584"/>
          </a:xfrm>
          <a:prstGeom prst="ellipse">
            <a:avLst/>
          </a:prstGeom>
          <a:solidFill>
            <a:srgbClr val="E8A33D"/>
          </a:solidFill>
          <a:ln/>
        </p:spPr>
      </p:sp>
      <p:sp>
        <p:nvSpPr>
          <p:cNvPr id="14" name="Shape 12"/>
          <p:cNvSpPr/>
          <p:nvPr/>
        </p:nvSpPr>
        <p:spPr>
          <a:xfrm>
            <a:off x="5902452" y="2171700"/>
            <a:ext cx="100584" cy="100584"/>
          </a:xfrm>
          <a:prstGeom prst="ellipse">
            <a:avLst/>
          </a:prstGeom>
          <a:solidFill>
            <a:srgbClr val="E8A33D"/>
          </a:solidFill>
          <a:ln/>
        </p:spPr>
      </p:sp>
      <p:sp>
        <p:nvSpPr>
          <p:cNvPr id="15" name="Shape 13"/>
          <p:cNvSpPr/>
          <p:nvPr/>
        </p:nvSpPr>
        <p:spPr>
          <a:xfrm>
            <a:off x="4663440" y="3502152"/>
            <a:ext cx="914400" cy="731520"/>
          </a:xfrm>
          <a:prstGeom prst="rect">
            <a:avLst/>
          </a:prstGeom>
          <a:solidFill>
            <a:srgbClr val="F7F8F9"/>
          </a:solidFill>
          <a:ln w="25400">
            <a:solidFill>
              <a:srgbClr val="E8A33D"/>
            </a:solidFill>
            <a:prstDash val="solid"/>
          </a:ln>
        </p:spPr>
      </p:sp>
      <p:sp>
        <p:nvSpPr>
          <p:cNvPr id="16" name="Text 14"/>
          <p:cNvSpPr txBox="1"/>
          <p:nvPr/>
        </p:nvSpPr>
        <p:spPr>
          <a:xfrm>
            <a:off x="4663440" y="3227832"/>
            <a:ext cx="914400" cy="237744"/>
          </a:xfrm>
          <a:prstGeom prst="rect">
            <a:avLst/>
          </a:prstGeom>
          <a:noFill/>
          <a:ln/>
        </p:spPr>
        <p:txBody>
          <a:bodyPr wrap="square" lIns="0" tIns="0" rIns="0" bIns="0" rtlCol="0" anchor="ctr"/>
          <a:lstStyle/>
          <a:p>
            <a:pPr algn="ctr" indent="0" marL="0">
              <a:buNone/>
            </a:pPr>
            <a:r>
              <a:rPr lang="en-US" sz="1300" b="1" dirty="0">
                <a:solidFill>
                  <a:srgbClr val="1F2429"/>
                </a:solidFill>
                <a:latin typeface="Calibri" pitchFamily="34" charset="0"/>
                <a:ea typeface="Calibri" pitchFamily="34" charset="-122"/>
                <a:cs typeface="Calibri" pitchFamily="34" charset="-120"/>
              </a:rPr>
              <a:t>R2</a:t>
            </a:r>
            <a:endParaRPr lang="en-US" sz="1300" dirty="0"/>
          </a:p>
        </p:txBody>
      </p:sp>
      <p:sp>
        <p:nvSpPr>
          <p:cNvPr id="17" name="Shape 15"/>
          <p:cNvSpPr/>
          <p:nvPr/>
        </p:nvSpPr>
        <p:spPr>
          <a:xfrm>
            <a:off x="5070348" y="3817620"/>
            <a:ext cx="100584" cy="100584"/>
          </a:xfrm>
          <a:prstGeom prst="ellipse">
            <a:avLst/>
          </a:prstGeom>
          <a:solidFill>
            <a:srgbClr val="E8A33D"/>
          </a:solidFill>
          <a:ln/>
        </p:spPr>
      </p:sp>
      <p:sp>
        <p:nvSpPr>
          <p:cNvPr id="18" name="Shape 16"/>
          <p:cNvSpPr/>
          <p:nvPr/>
        </p:nvSpPr>
        <p:spPr>
          <a:xfrm flipH="1">
            <a:off x="2304184" y="2235380"/>
            <a:ext cx="2972295" cy="69123"/>
          </a:xfrm>
          <a:prstGeom prst="line">
            <a:avLst/>
          </a:prstGeom>
          <a:noFill/>
          <a:ln w="25400">
            <a:solidFill>
              <a:srgbClr val="8A939B"/>
            </a:solidFill>
            <a:prstDash val="solid"/>
            <a:tailEnd type="triangle"/>
          </a:ln>
        </p:spPr>
      </p:sp>
      <p:sp>
        <p:nvSpPr>
          <p:cNvPr id="19" name="Shape 17"/>
          <p:cNvSpPr/>
          <p:nvPr/>
        </p:nvSpPr>
        <p:spPr>
          <a:xfrm>
            <a:off x="2265694" y="2481224"/>
            <a:ext cx="2475748" cy="1202506"/>
          </a:xfrm>
          <a:prstGeom prst="line">
            <a:avLst/>
          </a:prstGeom>
          <a:noFill/>
          <a:ln w="19050">
            <a:solidFill>
              <a:srgbClr val="8A939B"/>
            </a:solidFill>
            <a:prstDash val="dash"/>
            <a:tailEnd type="triangle"/>
          </a:ln>
        </p:spPr>
      </p:sp>
      <p:sp>
        <p:nvSpPr>
          <p:cNvPr id="20" name="Shape 18"/>
          <p:cNvSpPr/>
          <p:nvPr/>
        </p:nvSpPr>
        <p:spPr>
          <a:xfrm flipV="1">
            <a:off x="5521332" y="2432771"/>
            <a:ext cx="3989152" cy="1304146"/>
          </a:xfrm>
          <a:prstGeom prst="line">
            <a:avLst/>
          </a:prstGeom>
          <a:noFill/>
          <a:ln w="25400">
            <a:solidFill>
              <a:srgbClr val="8A939B"/>
            </a:solidFill>
            <a:prstDash val="solid"/>
            <a:tailEnd type="triangle"/>
          </a:ln>
        </p:spPr>
      </p:sp>
      <p:sp>
        <p:nvSpPr>
          <p:cNvPr id="21" name="Shape 19"/>
          <p:cNvSpPr/>
          <p:nvPr/>
        </p:nvSpPr>
        <p:spPr>
          <a:xfrm flipH="1" flipV="1">
            <a:off x="6427848" y="2235076"/>
            <a:ext cx="3063723" cy="69630"/>
          </a:xfrm>
          <a:prstGeom prst="line">
            <a:avLst/>
          </a:prstGeom>
          <a:noFill/>
          <a:ln w="19050">
            <a:solidFill>
              <a:srgbClr val="8A939B"/>
            </a:solidFill>
            <a:prstDash val="dash"/>
            <a:tailEnd type="triangle"/>
          </a:ln>
        </p:spPr>
      </p:sp>
      <p:sp>
        <p:nvSpPr>
          <p:cNvPr id="22" name="Shape 20"/>
          <p:cNvSpPr/>
          <p:nvPr/>
        </p:nvSpPr>
        <p:spPr>
          <a:xfrm>
            <a:off x="6357685" y="2497733"/>
            <a:ext cx="3180681" cy="1734917"/>
          </a:xfrm>
          <a:prstGeom prst="line">
            <a:avLst/>
          </a:prstGeom>
          <a:noFill/>
          <a:ln w="25400">
            <a:solidFill>
              <a:srgbClr val="8A939B"/>
            </a:solidFill>
            <a:prstDash val="solid"/>
            <a:tailEnd type="triangle"/>
          </a:ln>
        </p:spPr>
      </p:sp>
      <p:sp>
        <p:nvSpPr>
          <p:cNvPr id="23" name="Text 21"/>
          <p:cNvSpPr txBox="1"/>
          <p:nvPr/>
        </p:nvSpPr>
        <p:spPr>
          <a:xfrm>
            <a:off x="548640" y="5010912"/>
            <a:ext cx="11094415" cy="274320"/>
          </a:xfrm>
          <a:prstGeom prst="rect">
            <a:avLst/>
          </a:prstGeom>
          <a:noFill/>
          <a:ln/>
        </p:spPr>
        <p:txBody>
          <a:bodyPr wrap="square" lIns="0" tIns="0" rIns="0" bIns="0" rtlCol="0" anchor="ctr"/>
          <a:lstStyle/>
          <a:p>
            <a:pPr algn="ctr" indent="0" marL="0">
              <a:buNone/>
            </a:pPr>
            <a:r>
              <a:rPr lang="en-US" sz="1100" dirty="0">
                <a:solidFill>
                  <a:srgbClr val="8A939B"/>
                </a:solidFill>
                <a:latin typeface="Calibri" pitchFamily="34" charset="0"/>
                <a:ea typeface="Calibri" pitchFamily="34" charset="-122"/>
                <a:cs typeface="Calibri" pitchFamily="34" charset="-120"/>
              </a:rPr>
              <a:t>Dashed = request edge · Solid = assignment edge</a:t>
            </a:r>
            <a:endParaRPr lang="en-US" sz="1100" dirty="0"/>
          </a:p>
        </p:txBody>
      </p:sp>
      <p:sp>
        <p:nvSpPr>
          <p:cNvPr id="24" name="Shape 22"/>
          <p:cNvSpPr/>
          <p:nvPr/>
        </p:nvSpPr>
        <p:spPr>
          <a:xfrm>
            <a:off x="548640" y="5330952"/>
            <a:ext cx="11094415" cy="822960"/>
          </a:xfrm>
          <a:prstGeom prst="roundRect">
            <a:avLst>
              <a:gd name="adj" fmla="val 8889"/>
            </a:avLst>
          </a:prstGeom>
          <a:solidFill>
            <a:srgbClr val="F1EEFC"/>
          </a:solidFill>
          <a:ln w="12700">
            <a:solidFill>
              <a:srgbClr val="8B7FD9"/>
            </a:solidFill>
            <a:prstDash val="solid"/>
          </a:ln>
        </p:spPr>
      </p:sp>
      <p:sp>
        <p:nvSpPr>
          <p:cNvPr id="25" name="Text 23"/>
          <p:cNvSpPr txBox="1"/>
          <p:nvPr/>
        </p:nvSpPr>
        <p:spPr>
          <a:xfrm>
            <a:off x="804672" y="5440680"/>
            <a:ext cx="10582351" cy="603504"/>
          </a:xfrm>
          <a:prstGeom prst="rect">
            <a:avLst/>
          </a:prstGeom>
          <a:noFill/>
          <a:ln/>
        </p:spPr>
        <p:txBody>
          <a:bodyPr wrap="square" lIns="0" tIns="0" rIns="0" bIns="0" rtlCol="0" anchor="t"/>
          <a:lstStyle/>
          <a:p>
            <a:pPr indent="0" marL="0">
              <a:lnSpc>
                <a:spcPct val="112000"/>
              </a:lnSpc>
              <a:buNone/>
            </a:pPr>
            <a:r>
              <a:rPr lang="en-US" sz="1100" dirty="0">
                <a:solidFill>
                  <a:srgbClr val="1F2429"/>
                </a:solidFill>
                <a:latin typeface="Calibri" pitchFamily="34" charset="0"/>
                <a:ea typeface="Calibri" pitchFamily="34" charset="-122"/>
                <a:cs typeface="Calibri" pitchFamily="34" charset="-120"/>
              </a:rPr>
              <a:t>Cycle P1 → R2 → P2 → R1 → P1 exists, but R1’s second instance is held by P3, which isn’t waiting on anything. P3 can finish and release it — the cycle unwinds with no deadlock.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SUMMARY</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Interpreting Cycles in a RAG</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4114800"/>
                <a:gridCol w="3474720"/>
                <a:gridCol w="3502152"/>
              </a:tblGrid>
              <a:tr h="594360">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Every Resource in Cycle Has 1 Instance</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Some Resource Has ≥ 2 Instances</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594360">
                <a:tc>
                  <a:txBody>
                    <a:bodyPr/>
                    <a:lstStyle/>
                    <a:p>
                      <a:pPr algn="l" indent="0" marL="0">
                        <a:buNone/>
                      </a:pPr>
                      <a:r>
                        <a:rPr lang="en-US" sz="1150" b="1" dirty="0">
                          <a:solidFill>
                            <a:srgbClr val="1F2429"/>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Cycle guarantees deadlock</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Cycle is necessary but not sufficient</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94360">
                <a:tc>
                  <a:txBody>
                    <a:bodyPr/>
                    <a:lstStyle/>
                    <a:p>
                      <a:pPr algn="l" indent="0" marL="0">
                        <a:buNone/>
                      </a:pPr>
                      <a:r>
                        <a:rPr lang="en-US" sz="1150" b="1" dirty="0">
                          <a:solidFill>
                            <a:srgbClr val="1F2429"/>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 third process can free the needed instance</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An uninvolved process may hold and release another instance</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94360">
                <a:tc>
                  <a:txBody>
                    <a:bodyPr/>
                    <a:lstStyle/>
                    <a:p>
                      <a:pPr algn="l" indent="0" marL="0">
                        <a:buNone/>
                      </a:pPr>
                      <a:r>
                        <a:rPr lang="en-US" sz="1150" b="1" dirty="0">
                          <a:solidFill>
                            <a:srgbClr val="1F2429"/>
                          </a:solidFill>
                          <a:latin typeface="Calibri" pitchFamily="34" charset="0"/>
                          <a:ea typeface="Calibri" pitchFamily="34" charset="-122"/>
                          <a:cs typeface="Calibri" pitchFamily="34" charset="-120"/>
                        </a:rPr>
                        <a:t>What to check</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Nothing further — the cycle alone proves it</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429"/>
                          </a:solidFill>
                          <a:latin typeface="Calibri" pitchFamily="34" charset="0"/>
                          <a:ea typeface="Calibri" pitchFamily="34" charset="-122"/>
                          <a:cs typeface="Calibri" pitchFamily="34" charset="-120"/>
                        </a:rPr>
                        <a:t>Whether an instance outside the cycle can still be released</a:t>
                      </a:r>
                      <a:endParaRPr lang="en-US" sz="11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370832"/>
            <a:ext cx="11094415" cy="777240"/>
          </a:xfrm>
          <a:prstGeom prst="roundRect">
            <a:avLst>
              <a:gd name="adj" fmla="val 9412"/>
            </a:avLst>
          </a:prstGeom>
          <a:solidFill>
            <a:srgbClr val="E9F9F3"/>
          </a:solidFill>
          <a:ln w="12700">
            <a:solidFill>
              <a:srgbClr val="1FAE8C"/>
            </a:solidFill>
            <a:prstDash val="solid"/>
          </a:ln>
        </p:spPr>
      </p:sp>
      <p:sp>
        <p:nvSpPr>
          <p:cNvPr id="7" name="Text 4"/>
          <p:cNvSpPr txBox="1"/>
          <p:nvPr/>
        </p:nvSpPr>
        <p:spPr>
          <a:xfrm>
            <a:off x="804672" y="4480560"/>
            <a:ext cx="10582351" cy="237744"/>
          </a:xfrm>
          <a:prstGeom prst="rect">
            <a:avLst/>
          </a:prstGeom>
          <a:noFill/>
          <a:ln/>
        </p:spPr>
        <p:txBody>
          <a:bodyPr wrap="square" lIns="0" tIns="0" rIns="0" bIns="0" rtlCol="0" anchor="ctr"/>
          <a:lstStyle/>
          <a:p>
            <a:pPr indent="0" marL="0">
              <a:buNone/>
            </a:pPr>
            <a:r>
              <a:rPr lang="en-US" sz="1100" b="1" spc="200" kern="0" dirty="0">
                <a:solidFill>
                  <a:srgbClr val="0E7A61"/>
                </a:solidFill>
                <a:latin typeface="Calibri" pitchFamily="34" charset="0"/>
                <a:ea typeface="Calibri" pitchFamily="34" charset="-122"/>
                <a:cs typeface="Calibri" pitchFamily="34" charset="-120"/>
              </a:rPr>
              <a:t>TIP</a:t>
            </a:r>
            <a:endParaRPr lang="en-US" sz="1100" dirty="0"/>
          </a:p>
        </p:txBody>
      </p:sp>
      <p:sp>
        <p:nvSpPr>
          <p:cNvPr id="8" name="Text 5"/>
          <p:cNvSpPr txBox="1"/>
          <p:nvPr/>
        </p:nvSpPr>
        <p:spPr>
          <a:xfrm>
            <a:off x="804672" y="4754880"/>
            <a:ext cx="10582351" cy="283464"/>
          </a:xfrm>
          <a:prstGeom prst="rect">
            <a:avLst/>
          </a:prstGeom>
          <a:noFill/>
          <a:ln/>
        </p:spPr>
        <p:txBody>
          <a:bodyPr wrap="square" lIns="0" tIns="0" rIns="0" bIns="0" rtlCol="0" anchor="t"/>
          <a:lstStyle/>
          <a:p>
            <a:pPr indent="0" marL="0">
              <a:lnSpc>
                <a:spcPct val="112000"/>
              </a:lnSpc>
              <a:buNone/>
            </a:pPr>
            <a:r>
              <a:rPr lang="en-US" sz="1150" dirty="0">
                <a:solidFill>
                  <a:srgbClr val="1F2429"/>
                </a:solidFill>
                <a:latin typeface="Calibri" pitchFamily="34" charset="0"/>
                <a:ea typeface="Calibri" pitchFamily="34" charset="-122"/>
                <a:cs typeface="Calibri" pitchFamily="34" charset="-120"/>
              </a:rPr>
              <a:t>The exam-ready version: count the instances of every resource type in the cycle. If all are 1, stop — deadlock. If any is ≥ 2, check whether a process outside the cycle holds and can release an instance.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3" name="Text 1"/>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300" kern="0" dirty="0">
                <a:solidFill>
                  <a:srgbClr val="2FE6C4"/>
                </a:solidFill>
                <a:latin typeface="Calibri" pitchFamily="34" charset="0"/>
                <a:ea typeface="Calibri" pitchFamily="34" charset="-122"/>
                <a:cs typeface="Calibri" pitchFamily="34" charset="-120"/>
              </a:rPr>
              <a:t>KEY TAKEAWAYS</a:t>
            </a:r>
            <a:endParaRPr lang="en-US" sz="1300" dirty="0"/>
          </a:p>
        </p:txBody>
      </p:sp>
      <p:sp>
        <p:nvSpPr>
          <p:cNvPr id="4" name="Text 2"/>
          <p:cNvSpPr txBox="1"/>
          <p:nvPr/>
        </p:nvSpPr>
        <p:spPr>
          <a:xfrm>
            <a:off x="548640" y="841248"/>
            <a:ext cx="11094415"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Spotting Deadlock on Sight</a:t>
            </a:r>
            <a:endParaRPr lang="en-US" sz="3000" dirty="0"/>
          </a:p>
        </p:txBody>
      </p:sp>
      <p:sp>
        <p:nvSpPr>
          <p:cNvPr id="5" name="Shape 3"/>
          <p:cNvSpPr/>
          <p:nvPr/>
        </p:nvSpPr>
        <p:spPr>
          <a:xfrm>
            <a:off x="548640" y="1783080"/>
            <a:ext cx="384048" cy="384048"/>
          </a:xfrm>
          <a:prstGeom prst="ellipse">
            <a:avLst/>
          </a:prstGeom>
          <a:solidFill>
            <a:srgbClr val="2FE6C4"/>
          </a:solidFill>
          <a:ln/>
        </p:spPr>
      </p:sp>
      <p:sp>
        <p:nvSpPr>
          <p:cNvPr id="6" name="Text 4"/>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15568" y="1728216"/>
            <a:ext cx="10527487" cy="105156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Deadlock is a set of processes each waiting for an event only another process in that same set can cause — unlike starvation, it cannot resolve itself</a:t>
            </a:r>
            <a:endParaRPr lang="en-US" sz="1350" dirty="0"/>
          </a:p>
        </p:txBody>
      </p:sp>
      <p:sp>
        <p:nvSpPr>
          <p:cNvPr id="8" name="Shape 6"/>
          <p:cNvSpPr/>
          <p:nvPr/>
        </p:nvSpPr>
        <p:spPr>
          <a:xfrm>
            <a:off x="548640" y="2834640"/>
            <a:ext cx="384048" cy="384048"/>
          </a:xfrm>
          <a:prstGeom prst="ellipse">
            <a:avLst/>
          </a:prstGeom>
          <a:solidFill>
            <a:srgbClr val="2FE6C4"/>
          </a:solidFill>
          <a:ln/>
        </p:spPr>
      </p:sp>
      <p:sp>
        <p:nvSpPr>
          <p:cNvPr id="9" name="Text 7"/>
          <p:cNvSpPr txBox="1"/>
          <p:nvPr/>
        </p:nvSpPr>
        <p:spPr>
          <a:xfrm>
            <a:off x="548640" y="283464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15568" y="2779776"/>
            <a:ext cx="10527487" cy="105156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The four necessary conditions — mutual exclusion, hold-and-wait, no preemption, circular wait — must all hold at once</a:t>
            </a:r>
            <a:endParaRPr lang="en-US" sz="1350" dirty="0"/>
          </a:p>
        </p:txBody>
      </p:sp>
      <p:sp>
        <p:nvSpPr>
          <p:cNvPr id="11" name="Shape 9"/>
          <p:cNvSpPr/>
          <p:nvPr/>
        </p:nvSpPr>
        <p:spPr>
          <a:xfrm>
            <a:off x="548640" y="3886200"/>
            <a:ext cx="384048" cy="384048"/>
          </a:xfrm>
          <a:prstGeom prst="ellipse">
            <a:avLst/>
          </a:prstGeom>
          <a:solidFill>
            <a:srgbClr val="2FE6C4"/>
          </a:solidFill>
          <a:ln/>
        </p:spPr>
      </p:sp>
      <p:sp>
        <p:nvSpPr>
          <p:cNvPr id="12" name="Text 10"/>
          <p:cNvSpPr txBox="1"/>
          <p:nvPr/>
        </p:nvSpPr>
        <p:spPr>
          <a:xfrm>
            <a:off x="548640" y="388620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15568" y="3831336"/>
            <a:ext cx="10527487" cy="105156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A RAG draws processes as circles, resource types as rectangles with one dot per instance, requests as dashed edges, assignments as solid edges</a:t>
            </a:r>
            <a:endParaRPr lang="en-US" sz="1350" dirty="0"/>
          </a:p>
        </p:txBody>
      </p:sp>
      <p:sp>
        <p:nvSpPr>
          <p:cNvPr id="14" name="Shape 12"/>
          <p:cNvSpPr/>
          <p:nvPr/>
        </p:nvSpPr>
        <p:spPr>
          <a:xfrm>
            <a:off x="548640" y="4937760"/>
            <a:ext cx="384048" cy="384048"/>
          </a:xfrm>
          <a:prstGeom prst="ellipse">
            <a:avLst/>
          </a:prstGeom>
          <a:solidFill>
            <a:srgbClr val="2FE6C4"/>
          </a:solidFill>
          <a:ln/>
        </p:spPr>
      </p:sp>
      <p:sp>
        <p:nvSpPr>
          <p:cNvPr id="15" name="Text 13"/>
          <p:cNvSpPr txBox="1"/>
          <p:nvPr/>
        </p:nvSpPr>
        <p:spPr>
          <a:xfrm>
            <a:off x="548640" y="493776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115568" y="4882896"/>
            <a:ext cx="10527487" cy="105156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A cycle where every resource type has a single instance guarantees deadlock; a cycle with a multi-instance resource is only a warning sign</a:t>
            </a:r>
            <a:endParaRPr lang="en-US" sz="1350" dirty="0"/>
          </a:p>
        </p:txBody>
      </p:sp>
      <p:sp>
        <p:nvSpPr>
          <p:cNvPr id="17" name="Text 15"/>
          <p:cNvSpPr txBox="1"/>
          <p:nvPr/>
        </p:nvSpPr>
        <p:spPr>
          <a:xfrm>
            <a:off x="548640" y="6172200"/>
            <a:ext cx="11094415" cy="274320"/>
          </a:xfrm>
          <a:prstGeom prst="rect">
            <a:avLst/>
          </a:prstGeom>
          <a:noFill/>
          <a:ln/>
        </p:spPr>
        <p:txBody>
          <a:bodyPr wrap="square" lIns="0" tIns="0" rIns="0" bIns="0" rtlCol="0" anchor="ctr"/>
          <a:lstStyle/>
          <a:p>
            <a:pPr indent="0" marL="0">
              <a:buNone/>
            </a:pPr>
            <a:r>
              <a:rPr lang="en-US" sz="1150" i="1" dirty="0">
                <a:solidFill>
                  <a:srgbClr val="B9BFC6"/>
                </a:solidFill>
                <a:latin typeface="Calibri" pitchFamily="34" charset="0"/>
                <a:ea typeface="Calibri" pitchFamily="34" charset="-122"/>
                <a:cs typeface="Calibri" pitchFamily="34" charset="-120"/>
              </a:rPr>
              <a:t>Lecture 20 takes the opposite strategy — avoidance — built around the Banker’s Algorithm.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cuinotes.com</dc:creator>
  <cp:lastModifiedBy>cuinotes.com</cp:lastModifiedBy>
  <cp:revision>1</cp:revision>
  <dcterms:created xsi:type="dcterms:W3CDTF">2026-10-02T04:43:24Z</dcterms:created>
  <dcterms:modified xsi:type="dcterms:W3CDTF">2026-10-02T04:43:24Z</dcterms:modified>
</cp:coreProperties>
</file>
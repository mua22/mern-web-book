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81C"/>
        </a:solidFill>
      </p:bgPr>
    </p:bg>
    <p:spTree>
      <p:nvGrpSpPr>
        <p:cNvPr id="1" name=""/>
        <p:cNvGrpSpPr/>
        <p:nvPr/>
      </p:nvGrpSpPr>
      <p:grpSpPr>
        <a:xfrm>
          <a:off x="0" y="0"/>
          <a:ext cx="0" cy="0"/>
          <a:chOff x="0" y="0"/>
          <a:chExt cx="0" cy="0"/>
        </a:xfrm>
      </p:grpSpPr>
      <p:sp>
        <p:nvSpPr>
          <p:cNvPr id="2" name="Text 0"/>
          <p:cNvSpPr txBox="1"/>
          <p:nvPr/>
        </p:nvSpPr>
        <p:spPr>
          <a:xfrm>
            <a:off x="822960" y="1874520"/>
            <a:ext cx="9144000" cy="457200"/>
          </a:xfrm>
          <a:prstGeom prst="rect">
            <a:avLst/>
          </a:prstGeom>
          <a:noFill/>
          <a:ln/>
        </p:spPr>
        <p:txBody>
          <a:bodyPr wrap="square" lIns="0" tIns="0" rIns="0" bIns="0" rtlCol="0" anchor="ctr"/>
          <a:lstStyle/>
          <a:p>
            <a:pPr indent="0" marL="0">
              <a:buNone/>
            </a:pPr>
            <a:r>
              <a:rPr lang="en-US" sz="1500" b="1" spc="400" kern="0" dirty="0">
                <a:solidFill>
                  <a:srgbClr val="2FE6C4"/>
                </a:solidFill>
                <a:latin typeface="Calibri" pitchFamily="34" charset="0"/>
                <a:ea typeface="Calibri" pitchFamily="34" charset="-122"/>
                <a:cs typeface="Calibri" pitchFamily="34" charset="-120"/>
              </a:rPr>
              <a:t>LECTURE 20</a:t>
            </a:r>
            <a:endParaRPr lang="en-US" sz="1500" dirty="0"/>
          </a:p>
        </p:txBody>
      </p:sp>
      <p:sp>
        <p:nvSpPr>
          <p:cNvPr id="3" name="Text 1"/>
          <p:cNvSpPr txBox="1"/>
          <p:nvPr/>
        </p:nvSpPr>
        <p:spPr>
          <a:xfrm>
            <a:off x="777240" y="2331720"/>
            <a:ext cx="10515600" cy="1737360"/>
          </a:xfrm>
          <a:prstGeom prst="rect">
            <a:avLst/>
          </a:prstGeom>
          <a:noFill/>
          <a:ln/>
        </p:spPr>
        <p:txBody>
          <a:bodyPr wrap="square" lIns="0" tIns="0" rIns="0" bIns="0" rtlCol="0" anchor="ctr"/>
          <a:lstStyle/>
          <a:p>
            <a:pPr indent="0" marL="0">
              <a:lnSpc>
                <a:spcPct val="108000"/>
              </a:lnSpc>
              <a:buNone/>
            </a:pPr>
            <a:r>
              <a:rPr lang="en-US" sz="4000" b="1" dirty="0">
                <a:solidFill>
                  <a:srgbClr val="FFFFFF"/>
                </a:solidFill>
                <a:latin typeface="Calibri" pitchFamily="34" charset="0"/>
                <a:ea typeface="Calibri" pitchFamily="34" charset="-122"/>
                <a:cs typeface="Calibri" pitchFamily="34" charset="-120"/>
              </a:rPr>
              <a:t>Deadlock Avoidance and the Banker's Algorithm</a:t>
            </a:r>
            <a:endParaRPr lang="en-US" sz="4000" dirty="0"/>
          </a:p>
        </p:txBody>
      </p:sp>
      <p:sp>
        <p:nvSpPr>
          <p:cNvPr id="4" name="Text 2"/>
          <p:cNvSpPr txBox="1"/>
          <p:nvPr/>
        </p:nvSpPr>
        <p:spPr>
          <a:xfrm>
            <a:off x="822960" y="4343400"/>
            <a:ext cx="9875520" cy="457200"/>
          </a:xfrm>
          <a:prstGeom prst="rect">
            <a:avLst/>
          </a:prstGeom>
          <a:noFill/>
          <a:ln/>
        </p:spPr>
        <p:txBody>
          <a:bodyPr wrap="square" lIns="0" tIns="0" rIns="0" bIns="0" rtlCol="0" anchor="ctr"/>
          <a:lstStyle/>
          <a:p>
            <a:pPr indent="0" marL="0">
              <a:buNone/>
            </a:pPr>
            <a:r>
              <a:rPr lang="en-US" sz="1600" dirty="0">
                <a:solidFill>
                  <a:srgbClr val="2FE6C4"/>
                </a:solidFill>
                <a:latin typeface="Calibri" pitchFamily="34" charset="0"/>
                <a:ea typeface="Calibri" pitchFamily="34" charset="-122"/>
                <a:cs typeface="Calibri" pitchFamily="34" charset="-120"/>
              </a:rPr>
              <a:t>Never leave a safe state</a:t>
            </a:r>
            <a:endParaRPr lang="en-US" sz="1600" dirty="0"/>
          </a:p>
        </p:txBody>
      </p:sp>
      <p:sp>
        <p:nvSpPr>
          <p:cNvPr id="5" name="Text 3"/>
          <p:cNvSpPr txBox="1"/>
          <p:nvPr/>
        </p:nvSpPr>
        <p:spPr>
          <a:xfrm>
            <a:off x="822960" y="4800600"/>
            <a:ext cx="9875520" cy="365760"/>
          </a:xfrm>
          <a:prstGeom prst="rect">
            <a:avLst/>
          </a:prstGeom>
          <a:noFill/>
          <a:ln/>
        </p:spPr>
        <p:txBody>
          <a:bodyPr wrap="square" lIns="0" tIns="0" rIns="0" bIns="0" rtlCol="0" anchor="ctr"/>
          <a:lstStyle/>
          <a:p>
            <a:pPr indent="0" marL="0">
              <a:buNone/>
            </a:pPr>
            <a:r>
              <a:rPr lang="en-US" sz="1400" dirty="0">
                <a:solidFill>
                  <a:srgbClr val="B9BFC6"/>
                </a:solidFill>
                <a:latin typeface="Calibri" pitchFamily="34" charset="0"/>
                <a:ea typeface="Calibri" pitchFamily="34" charset="-122"/>
                <a:cs typeface="Calibri" pitchFamily="34" charset="-120"/>
              </a:rPr>
              <a:t>CSC323 · Operating Systems</a:t>
            </a:r>
            <a:endParaRPr lang="en-US" sz="1400" dirty="0"/>
          </a:p>
        </p:txBody>
      </p:sp>
      <p:sp>
        <p:nvSpPr>
          <p:cNvPr id="6" name="Text 4"/>
          <p:cNvSpPr txBox="1"/>
          <p:nvPr/>
        </p:nvSpPr>
        <p:spPr>
          <a:xfrm>
            <a:off x="822960" y="5166360"/>
            <a:ext cx="9875520" cy="365760"/>
          </a:xfrm>
          <a:prstGeom prst="rect">
            <a:avLst/>
          </a:prstGeom>
          <a:noFill/>
          <a:ln/>
        </p:spPr>
        <p:txBody>
          <a:bodyPr wrap="square" lIns="0" tIns="0" rIns="0" bIns="0" rtlCol="0" anchor="ctr"/>
          <a:lstStyle/>
          <a:p>
            <a:pPr indent="0" marL="0">
              <a:buNone/>
            </a:pPr>
            <a:r>
              <a:rPr lang="en-US" sz="1200" dirty="0">
                <a:solidFill>
                  <a:srgbClr val="757C84"/>
                </a:solidFill>
                <a:latin typeface="Calibri" pitchFamily="34" charset="0"/>
                <a:ea typeface="Calibri" pitchFamily="34" charset="-122"/>
                <a:cs typeface="Calibri" pitchFamily="34" charset="-120"/>
              </a:rPr>
              <a:t>COMSATS University Islamabad, Lahore Campus</a:t>
            </a:r>
            <a:endParaRPr lang="en-US" sz="1200" dirty="0"/>
          </a:p>
        </p:txBody>
      </p:sp>
      <p:sp>
        <p:nvSpPr>
          <p:cNvPr id="7" name="Text 5"/>
          <p:cNvSpPr txBox="1"/>
          <p:nvPr/>
        </p:nvSpPr>
        <p:spPr>
          <a:xfrm>
            <a:off x="9951415" y="6454750"/>
            <a:ext cx="201168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9951415" y="6454750"/>
            <a:ext cx="201168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2</a:t>
            </a:r>
            <a:endParaRPr lang="en-US" sz="1000" dirty="0"/>
          </a:p>
        </p:txBody>
      </p:sp>
      <p:sp>
        <p:nvSpPr>
          <p:cNvPr id="3" name="Text 1"/>
          <p:cNvSpPr txBox="1"/>
          <p:nvPr/>
        </p:nvSpPr>
        <p:spPr>
          <a:xfrm>
            <a:off x="548640" y="365760"/>
            <a:ext cx="11094415" cy="320040"/>
          </a:xfrm>
          <a:prstGeom prst="rect">
            <a:avLst/>
          </a:prstGeom>
          <a:noFill/>
          <a:ln/>
        </p:spPr>
        <p:txBody>
          <a:bodyPr wrap="square" lIns="0" tIns="0" rIns="0" bIns="0" rtlCol="0" anchor="ctr"/>
          <a:lstStyle/>
          <a:p>
            <a:pPr indent="0" marL="0">
              <a:buNone/>
            </a:pPr>
            <a:r>
              <a:rPr lang="en-US" sz="1250" b="1" spc="250" kern="0" dirty="0">
                <a:solidFill>
                  <a:srgbClr val="8B7FD9"/>
                </a:solidFill>
                <a:latin typeface="Calibri" pitchFamily="34" charset="0"/>
                <a:ea typeface="Calibri" pitchFamily="34" charset="-122"/>
                <a:cs typeface="Calibri" pitchFamily="34" charset="-120"/>
              </a:rPr>
              <a:t>OVERVIEW</a:t>
            </a:r>
            <a:endParaRPr lang="en-US" sz="1250" dirty="0"/>
          </a:p>
        </p:txBody>
      </p:sp>
      <p:sp>
        <p:nvSpPr>
          <p:cNvPr id="4" name="Text 2"/>
          <p:cNvSpPr txBox="1"/>
          <p:nvPr/>
        </p:nvSpPr>
        <p:spPr>
          <a:xfrm>
            <a:off x="548640" y="713232"/>
            <a:ext cx="11094415" cy="713232"/>
          </a:xfrm>
          <a:prstGeom prst="rect">
            <a:avLst/>
          </a:prstGeom>
          <a:noFill/>
          <a:ln/>
        </p:spPr>
        <p:txBody>
          <a:bodyPr wrap="square" lIns="0" tIns="0" rIns="0" bIns="0" rtlCol="0" anchor="ctr"/>
          <a:lstStyle/>
          <a:p>
            <a:pPr indent="0" marL="0">
              <a:buNone/>
            </a:pPr>
            <a:r>
              <a:rPr lang="en-US" sz="2600" b="1" dirty="0">
                <a:solidFill>
                  <a:srgbClr val="1F2429"/>
                </a:solidFill>
                <a:latin typeface="Calibri" pitchFamily="34" charset="0"/>
                <a:ea typeface="Calibri" pitchFamily="34" charset="-122"/>
                <a:cs typeface="Calibri" pitchFamily="34" charset="-120"/>
              </a:rPr>
              <a:t>In This Lecture</a:t>
            </a:r>
            <a:endParaRPr lang="en-US" sz="2600" dirty="0"/>
          </a:p>
        </p:txBody>
      </p:sp>
      <p:sp>
        <p:nvSpPr>
          <p:cNvPr id="5" name="Text 3"/>
          <p:cNvSpPr txBox="1"/>
          <p:nvPr/>
        </p:nvSpPr>
        <p:spPr>
          <a:xfrm>
            <a:off x="621792" y="1536192"/>
            <a:ext cx="10948111" cy="2286000"/>
          </a:xfrm>
          <a:prstGeom prst="rect">
            <a:avLst/>
          </a:prstGeom>
          <a:noFill/>
          <a:ln/>
        </p:spPr>
        <p:txBody>
          <a:bodyPr wrap="square" lIns="0" tIns="0" rIns="0" bIns="0" rtlCol="0" anchor="t"/>
          <a:lstStyle/>
          <a:p>
            <a:pPr marL="342900" indent="-342900">
              <a:spcAft>
                <a:spcPts val="1100"/>
              </a:spcAft>
              <a:buSzPct val="100000"/>
              <a:buChar char="•"/>
            </a:pPr>
            <a:r>
              <a:rPr lang="en-US" sz="1400" dirty="0">
                <a:solidFill>
                  <a:srgbClr val="1F2429"/>
                </a:solidFill>
                <a:latin typeface="Calibri" pitchFamily="34" charset="0"/>
                <a:ea typeface="Calibri" pitchFamily="34" charset="-122"/>
                <a:cs typeface="Calibri" pitchFamily="34" charset="-120"/>
              </a:rPr>
              <a:t>Define a safe state and a safe sequence — avoidance is "never leave a safe state"</a:t>
            </a:r>
            <a:endParaRPr lang="en-US" sz="1400" dirty="0"/>
          </a:p>
          <a:p>
            <a:pPr marL="342900" indent="-342900">
              <a:spcAft>
                <a:spcPts val="1100"/>
              </a:spcAft>
              <a:buSzPct val="100000"/>
              <a:buChar char="•"/>
            </a:pPr>
            <a:r>
              <a:rPr lang="en-US" sz="1400" dirty="0">
                <a:solidFill>
                  <a:srgbClr val="1F2429"/>
                </a:solidFill>
                <a:latin typeface="Calibri" pitchFamily="34" charset="0"/>
                <a:ea typeface="Calibri" pitchFamily="34" charset="-122"/>
                <a:cs typeface="Calibri" pitchFamily="34" charset="-120"/>
              </a:rPr>
              <a:t>Walk through the RAG algorithm for avoidance in single-instance systems</a:t>
            </a:r>
            <a:endParaRPr lang="en-US" sz="1400" dirty="0"/>
          </a:p>
          <a:p>
            <a:pPr marL="342900" indent="-342900">
              <a:spcAft>
                <a:spcPts val="1100"/>
              </a:spcAft>
              <a:buSzPct val="100000"/>
              <a:buChar char="•"/>
            </a:pPr>
            <a:r>
              <a:rPr lang="en-US" sz="1400" dirty="0">
                <a:solidFill>
                  <a:srgbClr val="1F2429"/>
                </a:solidFill>
                <a:latin typeface="Calibri" pitchFamily="34" charset="0"/>
                <a:ea typeface="Calibri" pitchFamily="34" charset="-122"/>
                <a:cs typeface="Calibri" pitchFamily="34" charset="-120"/>
              </a:rPr>
              <a:t>Learn the Banker's Algorithm's data structures: Available, Max, Allocation, Need</a:t>
            </a:r>
            <a:endParaRPr lang="en-US" sz="1400" dirty="0"/>
          </a:p>
          <a:p>
            <a:pPr marL="342900" indent="-342900">
              <a:spcAft>
                <a:spcPts val="1100"/>
              </a:spcAft>
              <a:buSzPct val="100000"/>
              <a:buChar char="•"/>
            </a:pPr>
            <a:r>
              <a:rPr lang="en-US" sz="1400" dirty="0">
                <a:solidFill>
                  <a:srgbClr val="1F2429"/>
                </a:solidFill>
                <a:latin typeface="Calibri" pitchFamily="34" charset="0"/>
                <a:ea typeface="Calibri" pitchFamily="34" charset="-122"/>
                <a:cs typeface="Calibri" pitchFamily="34" charset="-120"/>
              </a:rPr>
              <a:t>Work a complete numeric example: run the Safety Algorithm by hand</a:t>
            </a:r>
            <a:endParaRPr lang="en-US" sz="1400" dirty="0"/>
          </a:p>
          <a:p>
            <a:pPr marL="342900" indent="-342900">
              <a:spcAft>
                <a:spcPts val="1100"/>
              </a:spcAft>
              <a:buSzPct val="100000"/>
              <a:buChar char="•"/>
            </a:pPr>
            <a:r>
              <a:rPr lang="en-US" sz="1400" dirty="0">
                <a:solidFill>
                  <a:srgbClr val="1F2429"/>
                </a:solidFill>
                <a:latin typeface="Calibri" pitchFamily="34" charset="0"/>
                <a:ea typeface="Calibri" pitchFamily="34" charset="-122"/>
                <a:cs typeface="Calibri" pitchFamily="34" charset="-120"/>
              </a:rPr>
              <a:t>Work a complete Resource-Request Algorithm example, including a denied request</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9951415" y="6454750"/>
            <a:ext cx="201168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3</a:t>
            </a:r>
            <a:endParaRPr lang="en-US" sz="1000" dirty="0"/>
          </a:p>
        </p:txBody>
      </p:sp>
      <p:sp>
        <p:nvSpPr>
          <p:cNvPr id="3" name="Text 1"/>
          <p:cNvSpPr txBox="1"/>
          <p:nvPr/>
        </p:nvSpPr>
        <p:spPr>
          <a:xfrm>
            <a:off x="548640" y="365760"/>
            <a:ext cx="11094415" cy="320040"/>
          </a:xfrm>
          <a:prstGeom prst="rect">
            <a:avLst/>
          </a:prstGeom>
          <a:noFill/>
          <a:ln/>
        </p:spPr>
        <p:txBody>
          <a:bodyPr wrap="square" lIns="0" tIns="0" rIns="0" bIns="0" rtlCol="0" anchor="ctr"/>
          <a:lstStyle/>
          <a:p>
            <a:pPr indent="0" marL="0">
              <a:buNone/>
            </a:pPr>
            <a:r>
              <a:rPr lang="en-US" sz="1250" b="1" spc="250" kern="0" dirty="0">
                <a:solidFill>
                  <a:srgbClr val="2FE6C4"/>
                </a:solidFill>
                <a:latin typeface="Calibri" pitchFamily="34" charset="0"/>
                <a:ea typeface="Calibri" pitchFamily="34" charset="-122"/>
                <a:cs typeface="Calibri" pitchFamily="34" charset="-120"/>
              </a:rPr>
              <a:t>DEFINITION</a:t>
            </a:r>
            <a:endParaRPr lang="en-US" sz="1250" dirty="0"/>
          </a:p>
        </p:txBody>
      </p:sp>
      <p:sp>
        <p:nvSpPr>
          <p:cNvPr id="4" name="Text 2"/>
          <p:cNvSpPr txBox="1"/>
          <p:nvPr/>
        </p:nvSpPr>
        <p:spPr>
          <a:xfrm>
            <a:off x="548640" y="713232"/>
            <a:ext cx="11094415" cy="713232"/>
          </a:xfrm>
          <a:prstGeom prst="rect">
            <a:avLst/>
          </a:prstGeom>
          <a:noFill/>
          <a:ln/>
        </p:spPr>
        <p:txBody>
          <a:bodyPr wrap="square" lIns="0" tIns="0" rIns="0" bIns="0" rtlCol="0" anchor="ctr"/>
          <a:lstStyle/>
          <a:p>
            <a:pPr indent="0" marL="0">
              <a:buNone/>
            </a:pPr>
            <a:r>
              <a:rPr lang="en-US" sz="2600" b="1" dirty="0">
                <a:solidFill>
                  <a:srgbClr val="1F2429"/>
                </a:solidFill>
                <a:latin typeface="Calibri" pitchFamily="34" charset="0"/>
                <a:ea typeface="Calibri" pitchFamily="34" charset="-122"/>
                <a:cs typeface="Calibri" pitchFamily="34" charset="-120"/>
              </a:rPr>
              <a:t>Safe States and Safe Sequences</a:t>
            </a:r>
            <a:endParaRPr lang="en-US" sz="2600" dirty="0"/>
          </a:p>
        </p:txBody>
      </p:sp>
      <p:sp>
        <p:nvSpPr>
          <p:cNvPr id="5" name="Text 3"/>
          <p:cNvSpPr txBox="1"/>
          <p:nvPr/>
        </p:nvSpPr>
        <p:spPr>
          <a:xfrm>
            <a:off x="548640" y="1536192"/>
            <a:ext cx="11094415" cy="914400"/>
          </a:xfrm>
          <a:prstGeom prst="rect">
            <a:avLst/>
          </a:prstGeom>
          <a:noFill/>
          <a:ln/>
        </p:spPr>
        <p:txBody>
          <a:bodyPr wrap="square" lIns="0" tIns="0" rIns="0" bIns="0" rtlCol="0" anchor="t"/>
          <a:lstStyle/>
          <a:p>
            <a:pPr indent="0" marL="0">
              <a:lnSpc>
                <a:spcPct val="125000"/>
              </a:lnSpc>
              <a:buNone/>
            </a:pPr>
            <a:r>
              <a:rPr lang="en-US" sz="1450" dirty="0">
                <a:solidFill>
                  <a:srgbClr val="1F2429"/>
                </a:solidFill>
                <a:latin typeface="Calibri" pitchFamily="34" charset="0"/>
                <a:ea typeface="Calibri" pitchFamily="34" charset="-122"/>
                <a:cs typeface="Calibri" pitchFamily="34" charset="-120"/>
              </a:rPr>
              <a:t>A system is in a safe state if there exists at least one order in which every currently existing process can run to completion — even if every process immediately asks for its declared maximum — without ever causing deadlock. That order is a safe sequence.</a:t>
            </a:r>
            <a:endParaRPr lang="en-US" sz="1450" dirty="0"/>
          </a:p>
        </p:txBody>
      </p:sp>
      <p:sp>
        <p:nvSpPr>
          <p:cNvPr id="6" name="Text 4"/>
          <p:cNvSpPr txBox="1"/>
          <p:nvPr/>
        </p:nvSpPr>
        <p:spPr>
          <a:xfrm>
            <a:off x="548640" y="2496312"/>
            <a:ext cx="11094415" cy="822960"/>
          </a:xfrm>
          <a:prstGeom prst="rect">
            <a:avLst/>
          </a:prstGeom>
          <a:noFill/>
          <a:ln/>
        </p:spPr>
        <p:txBody>
          <a:bodyPr wrap="square" lIns="0" tIns="0" rIns="0" bIns="0" rtlCol="0" anchor="t"/>
          <a:lstStyle/>
          <a:p>
            <a:pPr indent="0" marL="0">
              <a:lnSpc>
                <a:spcPct val="120000"/>
              </a:lnSpc>
              <a:buNone/>
            </a:pPr>
            <a:r>
              <a:rPr lang="en-US" sz="1300" dirty="0">
                <a:solidFill>
                  <a:srgbClr val="1F2429"/>
                </a:solidFill>
                <a:latin typeface="Calibri" pitchFamily="34" charset="0"/>
                <a:ea typeface="Calibri" pitchFamily="34" charset="-122"/>
                <a:cs typeface="Calibri" pitchFamily="34" charset="-120"/>
              </a:rPr>
              <a:t>A sequence P1, P2, ..., Pn is safe if, for every Pi in that order, the resources Pi might still need can be satisfied using what’s currently available plus everything held by processes earlier in the sequence.</a:t>
            </a:r>
            <a:endParaRPr lang="en-US" sz="1300" dirty="0"/>
          </a:p>
        </p:txBody>
      </p:sp>
      <p:sp>
        <p:nvSpPr>
          <p:cNvPr id="7" name="Shape 5"/>
          <p:cNvSpPr/>
          <p:nvPr/>
        </p:nvSpPr>
        <p:spPr>
          <a:xfrm>
            <a:off x="548640" y="3456432"/>
            <a:ext cx="11094415" cy="914400"/>
          </a:xfrm>
          <a:prstGeom prst="roundRect">
            <a:avLst>
              <a:gd name="adj" fmla="val 8000"/>
            </a:avLst>
          </a:prstGeom>
          <a:solidFill>
            <a:srgbClr val="F1EEFC"/>
          </a:solidFill>
          <a:ln w="12700">
            <a:solidFill>
              <a:srgbClr val="8B7FD9"/>
            </a:solidFill>
            <a:prstDash val="solid"/>
          </a:ln>
        </p:spPr>
      </p:sp>
      <p:sp>
        <p:nvSpPr>
          <p:cNvPr id="8" name="Text 6"/>
          <p:cNvSpPr txBox="1"/>
          <p:nvPr/>
        </p:nvSpPr>
        <p:spPr>
          <a:xfrm>
            <a:off x="804672" y="3566160"/>
            <a:ext cx="10582351" cy="237744"/>
          </a:xfrm>
          <a:prstGeom prst="rect">
            <a:avLst/>
          </a:prstGeom>
          <a:noFill/>
          <a:ln/>
        </p:spPr>
        <p:txBody>
          <a:bodyPr wrap="square" lIns="0" tIns="0" rIns="0" bIns="0" rtlCol="0" anchor="ctr"/>
          <a:lstStyle/>
          <a:p>
            <a:pPr indent="0" marL="0">
              <a:buNone/>
            </a:pPr>
            <a:r>
              <a:rPr lang="en-US" sz="1100" b="1" spc="200" kern="0" dirty="0">
                <a:solidFill>
                  <a:srgbClr val="5B3FC4"/>
                </a:solidFill>
                <a:latin typeface="Calibri" pitchFamily="34" charset="0"/>
                <a:ea typeface="Calibri" pitchFamily="34" charset="-122"/>
                <a:cs typeface="Calibri" pitchFamily="34" charset="-120"/>
              </a:rPr>
              <a:t>NOTE</a:t>
            </a:r>
            <a:endParaRPr lang="en-US" sz="1100" dirty="0"/>
          </a:p>
        </p:txBody>
      </p:sp>
      <p:sp>
        <p:nvSpPr>
          <p:cNvPr id="9" name="Text 7"/>
          <p:cNvSpPr txBox="1"/>
          <p:nvPr/>
        </p:nvSpPr>
        <p:spPr>
          <a:xfrm>
            <a:off x="804672" y="3840480"/>
            <a:ext cx="10582351" cy="420624"/>
          </a:xfrm>
          <a:prstGeom prst="rect">
            <a:avLst/>
          </a:prstGeom>
          <a:noFill/>
          <a:ln/>
        </p:spPr>
        <p:txBody>
          <a:bodyPr wrap="square" lIns="0" tIns="0" rIns="0" bIns="0" rtlCol="0" anchor="t"/>
          <a:lstStyle/>
          <a:p>
            <a:pPr indent="0" marL="0">
              <a:lnSpc>
                <a:spcPct val="112000"/>
              </a:lnSpc>
              <a:buNone/>
            </a:pPr>
            <a:r>
              <a:rPr lang="en-US" sz="1200" dirty="0">
                <a:solidFill>
                  <a:srgbClr val="1F2429"/>
                </a:solidFill>
                <a:latin typeface="Calibri" pitchFamily="34" charset="0"/>
                <a:ea typeface="Calibri" pitchFamily="34" charset="-122"/>
                <a:cs typeface="Calibri" pitchFamily="34" charset="-120"/>
              </a:rPr>
              <a:t>Safe does not mean deadlocked otherwise. An unsafe state simply means no guarantee of avoiding deadlock exists anymore. Avoidance refuses that gamble: it only grants a request if the resulting state is still provably safe.</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9951415" y="6454750"/>
            <a:ext cx="201168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4</a:t>
            </a:r>
            <a:endParaRPr lang="en-US" sz="1000" dirty="0"/>
          </a:p>
        </p:txBody>
      </p:sp>
      <p:sp>
        <p:nvSpPr>
          <p:cNvPr id="3" name="Text 1"/>
          <p:cNvSpPr txBox="1"/>
          <p:nvPr/>
        </p:nvSpPr>
        <p:spPr>
          <a:xfrm>
            <a:off x="548640" y="365760"/>
            <a:ext cx="11094415" cy="320040"/>
          </a:xfrm>
          <a:prstGeom prst="rect">
            <a:avLst/>
          </a:prstGeom>
          <a:noFill/>
          <a:ln/>
        </p:spPr>
        <p:txBody>
          <a:bodyPr wrap="square" lIns="0" tIns="0" rIns="0" bIns="0" rtlCol="0" anchor="ctr"/>
          <a:lstStyle/>
          <a:p>
            <a:pPr indent="0" marL="0">
              <a:buNone/>
            </a:pPr>
            <a:r>
              <a:rPr lang="en-US" sz="1250" b="1" spc="250" kern="0" dirty="0">
                <a:solidFill>
                  <a:srgbClr val="E8A33D"/>
                </a:solidFill>
                <a:latin typeface="Calibri" pitchFamily="34" charset="0"/>
                <a:ea typeface="Calibri" pitchFamily="34" charset="-122"/>
                <a:cs typeface="Calibri" pitchFamily="34" charset="-120"/>
              </a:rPr>
              <a:t>SINGLE-INSTANCE CASE</a:t>
            </a:r>
            <a:endParaRPr lang="en-US" sz="1250" dirty="0"/>
          </a:p>
        </p:txBody>
      </p:sp>
      <p:sp>
        <p:nvSpPr>
          <p:cNvPr id="4" name="Text 2"/>
          <p:cNvSpPr txBox="1"/>
          <p:nvPr/>
        </p:nvSpPr>
        <p:spPr>
          <a:xfrm>
            <a:off x="548640" y="713232"/>
            <a:ext cx="11094415" cy="713232"/>
          </a:xfrm>
          <a:prstGeom prst="rect">
            <a:avLst/>
          </a:prstGeom>
          <a:noFill/>
          <a:ln/>
        </p:spPr>
        <p:txBody>
          <a:bodyPr wrap="square" lIns="0" tIns="0" rIns="0" bIns="0" rtlCol="0" anchor="ctr"/>
          <a:lstStyle/>
          <a:p>
            <a:pPr indent="0" marL="0">
              <a:buNone/>
            </a:pPr>
            <a:r>
              <a:rPr lang="en-US" sz="2600" b="1" dirty="0">
                <a:solidFill>
                  <a:srgbClr val="1F2429"/>
                </a:solidFill>
                <a:latin typeface="Calibri" pitchFamily="34" charset="0"/>
                <a:ea typeface="Calibri" pitchFamily="34" charset="-122"/>
                <a:cs typeface="Calibri" pitchFamily="34" charset="-120"/>
              </a:rPr>
              <a:t>The Resource-Allocation Graph Algorithm</a:t>
            </a:r>
            <a:endParaRPr lang="en-US" sz="2600" dirty="0"/>
          </a:p>
        </p:txBody>
      </p:sp>
      <p:sp>
        <p:nvSpPr>
          <p:cNvPr id="5" name="Text 3"/>
          <p:cNvSpPr txBox="1"/>
          <p:nvPr/>
        </p:nvSpPr>
        <p:spPr>
          <a:xfrm>
            <a:off x="621792" y="1536192"/>
            <a:ext cx="10948111" cy="2286000"/>
          </a:xfrm>
          <a:prstGeom prst="rect">
            <a:avLst/>
          </a:prstGeom>
          <a:noFill/>
          <a:ln/>
        </p:spPr>
        <p:txBody>
          <a:bodyPr wrap="square" lIns="0" tIns="0" rIns="0" bIns="0" rtlCol="0" anchor="t"/>
          <a:lstStyle/>
          <a:p>
            <a:pPr marL="342900" indent="-342900">
              <a:spcAft>
                <a:spcPts val="1000"/>
              </a:spcAft>
              <a:buSzPct val="100000"/>
              <a:buChar char="•"/>
            </a:pPr>
            <a:r>
              <a:rPr lang="en-US" sz="1350" dirty="0">
                <a:solidFill>
                  <a:srgbClr val="1F2429"/>
                </a:solidFill>
                <a:latin typeface="Calibri" pitchFamily="34" charset="0"/>
                <a:ea typeface="Calibri" pitchFamily="34" charset="-122"/>
                <a:cs typeface="Calibri" pitchFamily="34" charset="-120"/>
              </a:rPr>
              <a:t>Extends Lecture 19’s RAG with a new claim edge (dashed, like a request) meaning "this process might request this resource in the future"</a:t>
            </a:r>
            <a:endParaRPr lang="en-US" sz="1350" dirty="0"/>
          </a:p>
          <a:p>
            <a:pPr marL="342900" indent="-342900">
              <a:spcAft>
                <a:spcPts val="1000"/>
              </a:spcAft>
              <a:buSzPct val="100000"/>
              <a:buChar char="•"/>
            </a:pPr>
            <a:r>
              <a:rPr lang="en-US" sz="1350" dirty="0">
                <a:solidFill>
                  <a:srgbClr val="1F2429"/>
                </a:solidFill>
                <a:latin typeface="Calibri" pitchFamily="34" charset="0"/>
                <a:ea typeface="Calibri" pitchFamily="34" charset="-122"/>
                <a:cs typeface="Calibri" pitchFamily="34" charset="-120"/>
              </a:rPr>
              <a:t>Every process must declare its claim edges before it runs</a:t>
            </a:r>
            <a:endParaRPr lang="en-US" sz="1350" dirty="0"/>
          </a:p>
          <a:p>
            <a:pPr marL="342900" indent="-342900">
              <a:spcAft>
                <a:spcPts val="1000"/>
              </a:spcAft>
              <a:buSzPct val="100000"/>
              <a:buChar char="•"/>
            </a:pPr>
            <a:r>
              <a:rPr lang="en-US" sz="1350" dirty="0">
                <a:solidFill>
                  <a:srgbClr val="1F2429"/>
                </a:solidFill>
                <a:latin typeface="Calibri" pitchFamily="34" charset="0"/>
                <a:ea typeface="Calibri" pitchFamily="34" charset="-122"/>
                <a:cs typeface="Calibri" pitchFamily="34" charset="-120"/>
              </a:rPr>
              <a:t>When a process actually requests a resource, convert the claim edge into a real request edge</a:t>
            </a:r>
            <a:endParaRPr lang="en-US" sz="1350" dirty="0"/>
          </a:p>
          <a:p>
            <a:pPr marL="342900" indent="-342900">
              <a:spcAft>
                <a:spcPts val="1000"/>
              </a:spcAft>
              <a:buSzPct val="100000"/>
              <a:buChar char="•"/>
            </a:pPr>
            <a:r>
              <a:rPr lang="en-US" sz="1350" dirty="0">
                <a:solidFill>
                  <a:srgbClr val="1F2429"/>
                </a:solidFill>
                <a:latin typeface="Calibri" pitchFamily="34" charset="0"/>
                <a:ea typeface="Calibri" pitchFamily="34" charset="-122"/>
                <a:cs typeface="Calibri" pitchFamily="34" charset="-120"/>
              </a:rPr>
              <a:t>Grant the request — converting it to an assignment edge — only if doing so would NOT create a cycle anywhere in the graph</a:t>
            </a:r>
            <a:endParaRPr lang="en-US" sz="1350" dirty="0"/>
          </a:p>
          <a:p>
            <a:pPr marL="342900" indent="-342900">
              <a:spcAft>
                <a:spcPts val="1000"/>
              </a:spcAft>
              <a:buSzPct val="100000"/>
              <a:buChar char="•"/>
            </a:pPr>
            <a:r>
              <a:rPr lang="en-US" sz="1350" dirty="0">
                <a:solidFill>
                  <a:srgbClr val="1F2429"/>
                </a:solidFill>
                <a:latin typeface="Calibri" pitchFamily="34" charset="0"/>
                <a:ea typeface="Calibri" pitchFamily="34" charset="-122"/>
                <a:cs typeface="Calibri" pitchFamily="34" charset="-120"/>
              </a:rPr>
              <a:t>If granting would create a cycle, the request is deferred, even though the resource is currently free</a:t>
            </a:r>
            <a:endParaRPr lang="en-US" sz="1350" dirty="0"/>
          </a:p>
        </p:txBody>
      </p:sp>
      <p:sp>
        <p:nvSpPr>
          <p:cNvPr id="6" name="Shape 4"/>
          <p:cNvSpPr/>
          <p:nvPr/>
        </p:nvSpPr>
        <p:spPr>
          <a:xfrm>
            <a:off x="548640" y="4553712"/>
            <a:ext cx="11094415" cy="685800"/>
          </a:xfrm>
          <a:prstGeom prst="roundRect">
            <a:avLst>
              <a:gd name="adj" fmla="val 10667"/>
            </a:avLst>
          </a:prstGeom>
          <a:solidFill>
            <a:srgbClr val="E9F9F3"/>
          </a:solidFill>
          <a:ln w="12700">
            <a:solidFill>
              <a:srgbClr val="1FAE8C"/>
            </a:solidFill>
            <a:prstDash val="solid"/>
          </a:ln>
        </p:spPr>
      </p:sp>
      <p:sp>
        <p:nvSpPr>
          <p:cNvPr id="7" name="Text 5"/>
          <p:cNvSpPr txBox="1"/>
          <p:nvPr/>
        </p:nvSpPr>
        <p:spPr>
          <a:xfrm>
            <a:off x="804672" y="4663440"/>
            <a:ext cx="10582351" cy="466344"/>
          </a:xfrm>
          <a:prstGeom prst="rect">
            <a:avLst/>
          </a:prstGeom>
          <a:noFill/>
          <a:ln/>
        </p:spPr>
        <p:txBody>
          <a:bodyPr wrap="square" lIns="0" tIns="0" rIns="0" bIns="0" rtlCol="0" anchor="t"/>
          <a:lstStyle/>
          <a:p>
            <a:pPr indent="0" marL="0">
              <a:lnSpc>
                <a:spcPct val="112000"/>
              </a:lnSpc>
              <a:buNone/>
            </a:pPr>
            <a:r>
              <a:rPr lang="en-US" sz="1200" dirty="0">
                <a:solidFill>
                  <a:srgbClr val="1F2429"/>
                </a:solidFill>
                <a:latin typeface="Calibri" pitchFamily="34" charset="0"/>
                <a:ea typeface="Calibri" pitchFamily="34" charset="-122"/>
                <a:cs typeface="Calibri" pitchFamily="34" charset="-120"/>
              </a:rPr>
              <a:t>Checking for a cycle before every single grant is exactly what makes this "avoidance" rather than "prevention."</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9951415" y="6454750"/>
            <a:ext cx="201168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5</a:t>
            </a:r>
            <a:endParaRPr lang="en-US" sz="1000" dirty="0"/>
          </a:p>
        </p:txBody>
      </p:sp>
      <p:sp>
        <p:nvSpPr>
          <p:cNvPr id="3" name="Text 1"/>
          <p:cNvSpPr txBox="1"/>
          <p:nvPr/>
        </p:nvSpPr>
        <p:spPr>
          <a:xfrm>
            <a:off x="548640" y="365760"/>
            <a:ext cx="11094415" cy="320040"/>
          </a:xfrm>
          <a:prstGeom prst="rect">
            <a:avLst/>
          </a:prstGeom>
          <a:noFill/>
          <a:ln/>
        </p:spPr>
        <p:txBody>
          <a:bodyPr wrap="square" lIns="0" tIns="0" rIns="0" bIns="0" rtlCol="0" anchor="ctr"/>
          <a:lstStyle/>
          <a:p>
            <a:pPr indent="0" marL="0">
              <a:buNone/>
            </a:pPr>
            <a:r>
              <a:rPr lang="en-US" sz="1250" b="1" spc="250" kern="0" dirty="0">
                <a:solidFill>
                  <a:srgbClr val="8B7FD9"/>
                </a:solidFill>
                <a:latin typeface="Calibri" pitchFamily="34" charset="0"/>
                <a:ea typeface="Calibri" pitchFamily="34" charset="-122"/>
                <a:cs typeface="Calibri" pitchFamily="34" charset="-120"/>
              </a:rPr>
              <a:t>GENERAL CASE</a:t>
            </a:r>
            <a:endParaRPr lang="en-US" sz="1250" dirty="0"/>
          </a:p>
        </p:txBody>
      </p:sp>
      <p:sp>
        <p:nvSpPr>
          <p:cNvPr id="4" name="Text 2"/>
          <p:cNvSpPr txBox="1"/>
          <p:nvPr/>
        </p:nvSpPr>
        <p:spPr>
          <a:xfrm>
            <a:off x="548640" y="713232"/>
            <a:ext cx="11094415" cy="713232"/>
          </a:xfrm>
          <a:prstGeom prst="rect">
            <a:avLst/>
          </a:prstGeom>
          <a:noFill/>
          <a:ln/>
        </p:spPr>
        <p:txBody>
          <a:bodyPr wrap="square" lIns="0" tIns="0" rIns="0" bIns="0" rtlCol="0" anchor="ctr"/>
          <a:lstStyle/>
          <a:p>
            <a:pPr indent="0" marL="0">
              <a:buNone/>
            </a:pPr>
            <a:r>
              <a:rPr lang="en-US" sz="2600" b="1" dirty="0">
                <a:solidFill>
                  <a:srgbClr val="1F2429"/>
                </a:solidFill>
                <a:latin typeface="Calibri" pitchFamily="34" charset="0"/>
                <a:ea typeface="Calibri" pitchFamily="34" charset="-122"/>
                <a:cs typeface="Calibri" pitchFamily="34" charset="-120"/>
              </a:rPr>
              <a:t>The Banker's Algorithm: Four Data Structures</a:t>
            </a:r>
            <a:endParaRPr lang="en-US" sz="2600" dirty="0"/>
          </a:p>
        </p:txBody>
      </p:sp>
      <p:sp>
        <p:nvSpPr>
          <p:cNvPr id="5" name="Shape 3"/>
          <p:cNvSpPr/>
          <p:nvPr/>
        </p:nvSpPr>
        <p:spPr>
          <a:xfrm>
            <a:off x="548640" y="1536192"/>
            <a:ext cx="5478628" cy="1005840"/>
          </a:xfrm>
          <a:prstGeom prst="roundRect">
            <a:avLst>
              <a:gd name="adj" fmla="val 7273"/>
            </a:avLst>
          </a:prstGeom>
          <a:solidFill>
            <a:srgbClr val="2FE6C4"/>
          </a:solidFill>
          <a:ln/>
        </p:spPr>
      </p:sp>
      <p:sp>
        <p:nvSpPr>
          <p:cNvPr id="6" name="Text 4"/>
          <p:cNvSpPr txBox="1"/>
          <p:nvPr/>
        </p:nvSpPr>
        <p:spPr>
          <a:xfrm>
            <a:off x="713232" y="1627632"/>
            <a:ext cx="5149444" cy="274320"/>
          </a:xfrm>
          <a:prstGeom prst="rect">
            <a:avLst/>
          </a:prstGeom>
          <a:noFill/>
          <a:ln/>
        </p:spPr>
        <p:txBody>
          <a:bodyPr wrap="square" lIns="0" tIns="0" rIns="0" bIns="0"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Available</a:t>
            </a:r>
            <a:endParaRPr lang="en-US" sz="1300" dirty="0"/>
          </a:p>
        </p:txBody>
      </p:sp>
      <p:sp>
        <p:nvSpPr>
          <p:cNvPr id="7" name="Text 5"/>
          <p:cNvSpPr txBox="1"/>
          <p:nvPr/>
        </p:nvSpPr>
        <p:spPr>
          <a:xfrm>
            <a:off x="713232" y="1920240"/>
            <a:ext cx="5149444" cy="548640"/>
          </a:xfrm>
          <a:prstGeom prst="rect">
            <a:avLst/>
          </a:prstGeom>
          <a:noFill/>
          <a:ln/>
        </p:spPr>
        <p:txBody>
          <a:bodyPr wrap="square" lIns="0" tIns="0" rIns="0" bIns="0" rtlCol="0" anchor="t"/>
          <a:lstStyle/>
          <a:p>
            <a:pPr indent="0" marL="0">
              <a:buNone/>
            </a:pPr>
            <a:r>
              <a:rPr lang="en-US" sz="1050" dirty="0">
                <a:solidFill>
                  <a:srgbClr val="FFFFFF"/>
                </a:solidFill>
                <a:latin typeface="Calibri" pitchFamily="34" charset="0"/>
                <a:ea typeface="Calibri" pitchFamily="34" charset="-122"/>
                <a:cs typeface="Calibri" pitchFamily="34" charset="-120"/>
              </a:rPr>
              <a:t>A vector giving the number of currently free instances of each resource type</a:t>
            </a:r>
            <a:endParaRPr lang="en-US" sz="1050" dirty="0"/>
          </a:p>
        </p:txBody>
      </p:sp>
      <p:sp>
        <p:nvSpPr>
          <p:cNvPr id="8" name="Shape 6"/>
          <p:cNvSpPr/>
          <p:nvPr/>
        </p:nvSpPr>
        <p:spPr>
          <a:xfrm>
            <a:off x="6164428" y="1536192"/>
            <a:ext cx="5478628" cy="1005840"/>
          </a:xfrm>
          <a:prstGeom prst="roundRect">
            <a:avLst>
              <a:gd name="adj" fmla="val 7273"/>
            </a:avLst>
          </a:prstGeom>
          <a:solidFill>
            <a:srgbClr val="8B7FD9"/>
          </a:solidFill>
          <a:ln/>
        </p:spPr>
      </p:sp>
      <p:sp>
        <p:nvSpPr>
          <p:cNvPr id="9" name="Text 7"/>
          <p:cNvSpPr txBox="1"/>
          <p:nvPr/>
        </p:nvSpPr>
        <p:spPr>
          <a:xfrm>
            <a:off x="6329020" y="1627632"/>
            <a:ext cx="5149444" cy="274320"/>
          </a:xfrm>
          <a:prstGeom prst="rect">
            <a:avLst/>
          </a:prstGeom>
          <a:noFill/>
          <a:ln/>
        </p:spPr>
        <p:txBody>
          <a:bodyPr wrap="square" lIns="0" tIns="0" rIns="0" bIns="0"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Max</a:t>
            </a:r>
            <a:endParaRPr lang="en-US" sz="1300" dirty="0"/>
          </a:p>
        </p:txBody>
      </p:sp>
      <p:sp>
        <p:nvSpPr>
          <p:cNvPr id="10" name="Text 8"/>
          <p:cNvSpPr txBox="1"/>
          <p:nvPr/>
        </p:nvSpPr>
        <p:spPr>
          <a:xfrm>
            <a:off x="6329020" y="1920240"/>
            <a:ext cx="5149444" cy="548640"/>
          </a:xfrm>
          <a:prstGeom prst="rect">
            <a:avLst/>
          </a:prstGeom>
          <a:noFill/>
          <a:ln/>
        </p:spPr>
        <p:txBody>
          <a:bodyPr wrap="square" lIns="0" tIns="0" rIns="0" bIns="0" rtlCol="0" anchor="t"/>
          <a:lstStyle/>
          <a:p>
            <a:pPr indent="0" marL="0">
              <a:buNone/>
            </a:pPr>
            <a:r>
              <a:rPr lang="en-US" sz="1050" dirty="0">
                <a:solidFill>
                  <a:srgbClr val="FFFFFF"/>
                </a:solidFill>
                <a:latin typeface="Calibri" pitchFamily="34" charset="0"/>
                <a:ea typeface="Calibri" pitchFamily="34" charset="-122"/>
                <a:cs typeface="Calibri" pitchFamily="34" charset="-120"/>
              </a:rPr>
              <a:t>Row i gives the maximum instances of each resource type Pi may ever request, declared in advance</a:t>
            </a:r>
            <a:endParaRPr lang="en-US" sz="1050" dirty="0"/>
          </a:p>
        </p:txBody>
      </p:sp>
      <p:sp>
        <p:nvSpPr>
          <p:cNvPr id="11" name="Shape 9"/>
          <p:cNvSpPr/>
          <p:nvPr/>
        </p:nvSpPr>
        <p:spPr>
          <a:xfrm>
            <a:off x="548640" y="2679192"/>
            <a:ext cx="5478628" cy="1005840"/>
          </a:xfrm>
          <a:prstGeom prst="roundRect">
            <a:avLst>
              <a:gd name="adj" fmla="val 7273"/>
            </a:avLst>
          </a:prstGeom>
          <a:solidFill>
            <a:srgbClr val="E8A33D"/>
          </a:solidFill>
          <a:ln/>
        </p:spPr>
      </p:sp>
      <p:sp>
        <p:nvSpPr>
          <p:cNvPr id="12" name="Text 10"/>
          <p:cNvSpPr txBox="1"/>
          <p:nvPr/>
        </p:nvSpPr>
        <p:spPr>
          <a:xfrm>
            <a:off x="713232" y="2770632"/>
            <a:ext cx="5149444" cy="274320"/>
          </a:xfrm>
          <a:prstGeom prst="rect">
            <a:avLst/>
          </a:prstGeom>
          <a:noFill/>
          <a:ln/>
        </p:spPr>
        <p:txBody>
          <a:bodyPr wrap="square" lIns="0" tIns="0" rIns="0" bIns="0"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Allocation</a:t>
            </a:r>
            <a:endParaRPr lang="en-US" sz="1300" dirty="0"/>
          </a:p>
        </p:txBody>
      </p:sp>
      <p:sp>
        <p:nvSpPr>
          <p:cNvPr id="13" name="Text 11"/>
          <p:cNvSpPr txBox="1"/>
          <p:nvPr/>
        </p:nvSpPr>
        <p:spPr>
          <a:xfrm>
            <a:off x="713232" y="3063240"/>
            <a:ext cx="5149444" cy="548640"/>
          </a:xfrm>
          <a:prstGeom prst="rect">
            <a:avLst/>
          </a:prstGeom>
          <a:noFill/>
          <a:ln/>
        </p:spPr>
        <p:txBody>
          <a:bodyPr wrap="square" lIns="0" tIns="0" rIns="0" bIns="0" rtlCol="0" anchor="t"/>
          <a:lstStyle/>
          <a:p>
            <a:pPr indent="0" marL="0">
              <a:buNone/>
            </a:pPr>
            <a:r>
              <a:rPr lang="en-US" sz="1050" dirty="0">
                <a:solidFill>
                  <a:srgbClr val="FFFFFF"/>
                </a:solidFill>
                <a:latin typeface="Calibri" pitchFamily="34" charset="0"/>
                <a:ea typeface="Calibri" pitchFamily="34" charset="-122"/>
                <a:cs typeface="Calibri" pitchFamily="34" charset="-120"/>
              </a:rPr>
              <a:t>Row i gives the number of instances of each resource type currently allocated to Pi</a:t>
            </a:r>
            <a:endParaRPr lang="en-US" sz="1050" dirty="0"/>
          </a:p>
        </p:txBody>
      </p:sp>
      <p:sp>
        <p:nvSpPr>
          <p:cNvPr id="14" name="Shape 12"/>
          <p:cNvSpPr/>
          <p:nvPr/>
        </p:nvSpPr>
        <p:spPr>
          <a:xfrm>
            <a:off x="6164428" y="2679192"/>
            <a:ext cx="5478628" cy="1005840"/>
          </a:xfrm>
          <a:prstGeom prst="roundRect">
            <a:avLst>
              <a:gd name="adj" fmla="val 7273"/>
            </a:avLst>
          </a:prstGeom>
          <a:solidFill>
            <a:srgbClr val="2FE6C4"/>
          </a:solidFill>
          <a:ln/>
        </p:spPr>
      </p:sp>
      <p:sp>
        <p:nvSpPr>
          <p:cNvPr id="15" name="Text 13"/>
          <p:cNvSpPr txBox="1"/>
          <p:nvPr/>
        </p:nvSpPr>
        <p:spPr>
          <a:xfrm>
            <a:off x="6329020" y="2770632"/>
            <a:ext cx="5149444" cy="274320"/>
          </a:xfrm>
          <a:prstGeom prst="rect">
            <a:avLst/>
          </a:prstGeom>
          <a:noFill/>
          <a:ln/>
        </p:spPr>
        <p:txBody>
          <a:bodyPr wrap="square" lIns="0" tIns="0" rIns="0" bIns="0"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Need</a:t>
            </a:r>
            <a:endParaRPr lang="en-US" sz="1300" dirty="0"/>
          </a:p>
        </p:txBody>
      </p:sp>
      <p:sp>
        <p:nvSpPr>
          <p:cNvPr id="16" name="Text 14"/>
          <p:cNvSpPr txBox="1"/>
          <p:nvPr/>
        </p:nvSpPr>
        <p:spPr>
          <a:xfrm>
            <a:off x="6329020" y="3063240"/>
            <a:ext cx="5149444" cy="548640"/>
          </a:xfrm>
          <a:prstGeom prst="rect">
            <a:avLst/>
          </a:prstGeom>
          <a:noFill/>
          <a:ln/>
        </p:spPr>
        <p:txBody>
          <a:bodyPr wrap="square" lIns="0" tIns="0" rIns="0" bIns="0" rtlCol="0" anchor="t"/>
          <a:lstStyle/>
          <a:p>
            <a:pPr indent="0" marL="0">
              <a:buNone/>
            </a:pPr>
            <a:r>
              <a:rPr lang="en-US" sz="1050" dirty="0">
                <a:solidFill>
                  <a:srgbClr val="FFFFFF"/>
                </a:solidFill>
                <a:latin typeface="Calibri" pitchFamily="34" charset="0"/>
                <a:ea typeface="Calibri" pitchFamily="34" charset="-122"/>
                <a:cs typeface="Calibri" pitchFamily="34" charset="-120"/>
              </a:rPr>
              <a:t>Row i gives additional instances Pi may still request: Need[i] = Max[i] − Allocation[i]</a:t>
            </a:r>
            <a:endParaRPr lang="en-US" sz="1050" dirty="0"/>
          </a:p>
        </p:txBody>
      </p:sp>
      <p:sp>
        <p:nvSpPr>
          <p:cNvPr id="17" name="Shape 15"/>
          <p:cNvSpPr/>
          <p:nvPr/>
        </p:nvSpPr>
        <p:spPr>
          <a:xfrm>
            <a:off x="548640" y="3776472"/>
            <a:ext cx="11094415" cy="502920"/>
          </a:xfrm>
          <a:prstGeom prst="roundRect">
            <a:avLst>
              <a:gd name="adj" fmla="val 14545"/>
            </a:avLst>
          </a:prstGeom>
          <a:solidFill>
            <a:srgbClr val="F1EEFC"/>
          </a:solidFill>
          <a:ln w="12700">
            <a:solidFill>
              <a:srgbClr val="8B7FD9"/>
            </a:solidFill>
            <a:prstDash val="solid"/>
          </a:ln>
        </p:spPr>
      </p:sp>
      <p:sp>
        <p:nvSpPr>
          <p:cNvPr id="18" name="Text 16"/>
          <p:cNvSpPr txBox="1"/>
          <p:nvPr/>
        </p:nvSpPr>
        <p:spPr>
          <a:xfrm>
            <a:off x="804672" y="3886200"/>
            <a:ext cx="10582351" cy="283464"/>
          </a:xfrm>
          <a:prstGeom prst="rect">
            <a:avLst/>
          </a:prstGeom>
          <a:noFill/>
          <a:ln/>
        </p:spPr>
        <p:txBody>
          <a:bodyPr wrap="square" lIns="0" tIns="0" rIns="0" bIns="0" rtlCol="0" anchor="t"/>
          <a:lstStyle/>
          <a:p>
            <a:pPr indent="0" marL="0">
              <a:lnSpc>
                <a:spcPct val="112000"/>
              </a:lnSpc>
              <a:buNone/>
            </a:pPr>
            <a:r>
              <a:rPr lang="en-US" sz="1250" dirty="0">
                <a:solidFill>
                  <a:srgbClr val="1F2429"/>
                </a:solidFill>
                <a:latin typeface="Calibri" pitchFamily="34" charset="0"/>
                <a:ea typeface="Calibri" pitchFamily="34" charset="-122"/>
                <a:cs typeface="Calibri" pitchFamily="34" charset="-120"/>
              </a:rPr>
              <a:t>One identity must hold for every process, always: Need = Max − Allocation.</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9951415" y="6454750"/>
            <a:ext cx="201168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6</a:t>
            </a:r>
            <a:endParaRPr lang="en-US" sz="1000" dirty="0"/>
          </a:p>
        </p:txBody>
      </p:sp>
      <p:sp>
        <p:nvSpPr>
          <p:cNvPr id="3" name="Text 1"/>
          <p:cNvSpPr txBox="1"/>
          <p:nvPr/>
        </p:nvSpPr>
        <p:spPr>
          <a:xfrm>
            <a:off x="548640" y="365760"/>
            <a:ext cx="11094415" cy="320040"/>
          </a:xfrm>
          <a:prstGeom prst="rect">
            <a:avLst/>
          </a:prstGeom>
          <a:noFill/>
          <a:ln/>
        </p:spPr>
        <p:txBody>
          <a:bodyPr wrap="square" lIns="0" tIns="0" rIns="0" bIns="0" rtlCol="0" anchor="ctr"/>
          <a:lstStyle/>
          <a:p>
            <a:pPr indent="0" marL="0">
              <a:buNone/>
            </a:pPr>
            <a:r>
              <a:rPr lang="en-US" sz="1250" b="1" spc="250" kern="0" dirty="0">
                <a:solidFill>
                  <a:srgbClr val="8B7FD9"/>
                </a:solidFill>
                <a:latin typeface="Calibri" pitchFamily="34" charset="0"/>
                <a:ea typeface="Calibri" pitchFamily="34" charset="-122"/>
                <a:cs typeface="Calibri" pitchFamily="34" charset="-120"/>
              </a:rPr>
              <a:t>THE SYSTEM</a:t>
            </a:r>
            <a:endParaRPr lang="en-US" sz="1250" dirty="0"/>
          </a:p>
        </p:txBody>
      </p:sp>
      <p:sp>
        <p:nvSpPr>
          <p:cNvPr id="4" name="Text 2"/>
          <p:cNvSpPr txBox="1"/>
          <p:nvPr/>
        </p:nvSpPr>
        <p:spPr>
          <a:xfrm>
            <a:off x="548640" y="713232"/>
            <a:ext cx="11094415" cy="713232"/>
          </a:xfrm>
          <a:prstGeom prst="rect">
            <a:avLst/>
          </a:prstGeom>
          <a:noFill/>
          <a:ln/>
        </p:spPr>
        <p:txBody>
          <a:bodyPr wrap="square" lIns="0" tIns="0" rIns="0" bIns="0" rtlCol="0" anchor="ctr"/>
          <a:lstStyle/>
          <a:p>
            <a:pPr indent="0" marL="0">
              <a:buNone/>
            </a:pPr>
            <a:r>
              <a:rPr lang="en-US" sz="2600" b="1" dirty="0">
                <a:solidFill>
                  <a:srgbClr val="1F2429"/>
                </a:solidFill>
                <a:latin typeface="Calibri" pitchFamily="34" charset="0"/>
                <a:ea typeface="Calibri" pitchFamily="34" charset="-122"/>
                <a:cs typeface="Calibri" pitchFamily="34" charset="-120"/>
              </a:rPr>
              <a:t>Three Resources (X=9, Y=6, Z=8), Five Processes</a:t>
            </a:r>
            <a:endParaRPr lang="en-US" sz="2600" dirty="0"/>
          </a:p>
        </p:txBody>
      </p:sp>
      <p:sp>
        <p:nvSpPr>
          <p:cNvPr id="5" name="Text 3"/>
          <p:cNvSpPr txBox="1"/>
          <p:nvPr/>
        </p:nvSpPr>
        <p:spPr>
          <a:xfrm>
            <a:off x="548640" y="1536192"/>
            <a:ext cx="5303520" cy="274320"/>
          </a:xfrm>
          <a:prstGeom prst="rect">
            <a:avLst/>
          </a:prstGeom>
          <a:noFill/>
          <a:ln/>
        </p:spPr>
        <p:txBody>
          <a:bodyPr wrap="square" lIns="0" tIns="0" rIns="0" bIns="0" rtlCol="0" anchor="ctr"/>
          <a:lstStyle/>
          <a:p>
            <a:pPr indent="0" marL="0">
              <a:buNone/>
            </a:pPr>
            <a:r>
              <a:rPr lang="en-US" sz="1300" b="1" dirty="0">
                <a:solidFill>
                  <a:srgbClr val="1F2429"/>
                </a:solidFill>
                <a:latin typeface="Calibri" pitchFamily="34" charset="0"/>
                <a:ea typeface="Calibri" pitchFamily="34" charset="-122"/>
                <a:cs typeface="Calibri" pitchFamily="34" charset="-120"/>
              </a:rPr>
              <a:t>Allocation</a:t>
            </a:r>
            <a:endParaRPr lang="en-US" sz="13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856232"/>
          <a:ext cx="5303520" cy="914400"/>
        </p:xfrm>
        <a:graphic>
          <a:graphicData uri="http://schemas.openxmlformats.org/drawingml/2006/table">
            <a:tbl>
              <a:tblPr/>
              <a:tblGrid>
                <a:gridCol w="1737360"/>
                <a:gridCol w="1188720"/>
                <a:gridCol w="1188720"/>
                <a:gridCol w="1188720"/>
              </a:tblGrid>
              <a:tr h="384048">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Process</a:t>
                      </a:r>
                      <a:endParaRPr lang="en-US" sz="12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14181C"/>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X</a:t>
                      </a:r>
                      <a:endParaRPr lang="en-US" sz="12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14181C"/>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Y</a:t>
                      </a:r>
                      <a:endParaRPr lang="en-US" sz="12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14181C"/>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Z</a:t>
                      </a:r>
                      <a:endParaRPr lang="en-US" sz="12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14181C"/>
                    </a:solidFill>
                  </a:tcPr>
                </a:tc>
              </a:tr>
              <a:tr h="384048">
                <a:tc>
                  <a:txBody>
                    <a:bodyPr/>
                    <a:lstStyle/>
                    <a:p>
                      <a:pPr algn="l" indent="0" marL="0">
                        <a:buNone/>
                      </a:pPr>
                      <a:r>
                        <a:rPr lang="en-US" sz="1250" b="1" dirty="0">
                          <a:solidFill>
                            <a:srgbClr val="1F2429"/>
                          </a:solidFill>
                          <a:latin typeface="Calibri" pitchFamily="34" charset="0"/>
                          <a:ea typeface="Calibri" pitchFamily="34" charset="-122"/>
                          <a:cs typeface="Calibri" pitchFamily="34" charset="-120"/>
                        </a:rPr>
                        <a:t>P0</a:t>
                      </a:r>
                      <a:endParaRPr lang="en-US" sz="12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429"/>
                          </a:solidFill>
                          <a:latin typeface="Calibri" pitchFamily="34" charset="0"/>
                          <a:ea typeface="Calibri" pitchFamily="34" charset="-122"/>
                          <a:cs typeface="Calibri" pitchFamily="34" charset="-120"/>
                        </a:rPr>
                        <a:t>1</a:t>
                      </a:r>
                      <a:endParaRPr lang="en-US" sz="12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429"/>
                          </a:solidFill>
                          <a:latin typeface="Calibri" pitchFamily="34" charset="0"/>
                          <a:ea typeface="Calibri" pitchFamily="34" charset="-122"/>
                          <a:cs typeface="Calibri" pitchFamily="34" charset="-120"/>
                        </a:rPr>
                        <a:t>2</a:t>
                      </a:r>
                      <a:endParaRPr lang="en-US" sz="12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429"/>
                          </a:solidFill>
                          <a:latin typeface="Calibri" pitchFamily="34" charset="0"/>
                          <a:ea typeface="Calibri" pitchFamily="34" charset="-122"/>
                          <a:cs typeface="Calibri" pitchFamily="34" charset="-120"/>
                        </a:rPr>
                        <a:t>2</a:t>
                      </a:r>
                      <a:endParaRPr lang="en-US" sz="12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FFFFF"/>
                    </a:solidFill>
                  </a:tcPr>
                </a:tc>
              </a:tr>
              <a:tr h="384048">
                <a:tc>
                  <a:txBody>
                    <a:bodyPr/>
                    <a:lstStyle/>
                    <a:p>
                      <a:pPr algn="l" indent="0" marL="0">
                        <a:buNone/>
                      </a:pPr>
                      <a:r>
                        <a:rPr lang="en-US" sz="1250" b="1" dirty="0">
                          <a:solidFill>
                            <a:srgbClr val="1F2429"/>
                          </a:solidFill>
                          <a:latin typeface="Calibri" pitchFamily="34" charset="0"/>
                          <a:ea typeface="Calibri" pitchFamily="34" charset="-122"/>
                          <a:cs typeface="Calibri" pitchFamily="34" charset="-120"/>
                        </a:rPr>
                        <a:t>P1</a:t>
                      </a:r>
                      <a:endParaRPr lang="en-US" sz="12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0F2F4"/>
                    </a:solidFill>
                  </a:tcPr>
                </a:tc>
                <a:tc>
                  <a:txBody>
                    <a:bodyPr/>
                    <a:lstStyle/>
                    <a:p>
                      <a:pPr algn="ctr" indent="0" marL="0">
                        <a:buNone/>
                      </a:pPr>
                      <a:r>
                        <a:rPr lang="en-US" sz="1250" dirty="0">
                          <a:solidFill>
                            <a:srgbClr val="1F2429"/>
                          </a:solidFill>
                          <a:latin typeface="Calibri" pitchFamily="34" charset="0"/>
                          <a:ea typeface="Calibri" pitchFamily="34" charset="-122"/>
                          <a:cs typeface="Calibri" pitchFamily="34" charset="-120"/>
                        </a:rPr>
                        <a:t>2</a:t>
                      </a:r>
                      <a:endParaRPr lang="en-US" sz="12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0F2F4"/>
                    </a:solidFill>
                  </a:tcPr>
                </a:tc>
                <a:tc>
                  <a:txBody>
                    <a:bodyPr/>
                    <a:lstStyle/>
                    <a:p>
                      <a:pPr algn="ctr" indent="0" marL="0">
                        <a:buNone/>
                      </a:pPr>
                      <a:r>
                        <a:rPr lang="en-US" sz="1250" dirty="0">
                          <a:solidFill>
                            <a:srgbClr val="1F2429"/>
                          </a:solidFill>
                          <a:latin typeface="Calibri" pitchFamily="34" charset="0"/>
                          <a:ea typeface="Calibri" pitchFamily="34" charset="-122"/>
                          <a:cs typeface="Calibri" pitchFamily="34" charset="-120"/>
                        </a:rPr>
                        <a:t>0</a:t>
                      </a:r>
                      <a:endParaRPr lang="en-US" sz="12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0F2F4"/>
                    </a:solidFill>
                  </a:tcPr>
                </a:tc>
                <a:tc>
                  <a:txBody>
                    <a:bodyPr/>
                    <a:lstStyle/>
                    <a:p>
                      <a:pPr algn="ctr" indent="0" marL="0">
                        <a:buNone/>
                      </a:pPr>
                      <a:r>
                        <a:rPr lang="en-US" sz="1250" dirty="0">
                          <a:solidFill>
                            <a:srgbClr val="1F2429"/>
                          </a:solidFill>
                          <a:latin typeface="Calibri" pitchFamily="34" charset="0"/>
                          <a:ea typeface="Calibri" pitchFamily="34" charset="-122"/>
                          <a:cs typeface="Calibri" pitchFamily="34" charset="-120"/>
                        </a:rPr>
                        <a:t>1</a:t>
                      </a:r>
                      <a:endParaRPr lang="en-US" sz="12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0F2F4"/>
                    </a:solidFill>
                  </a:tcPr>
                </a:tc>
              </a:tr>
              <a:tr h="384048">
                <a:tc>
                  <a:txBody>
                    <a:bodyPr/>
                    <a:lstStyle/>
                    <a:p>
                      <a:pPr algn="l" indent="0" marL="0">
                        <a:buNone/>
                      </a:pPr>
                      <a:r>
                        <a:rPr lang="en-US" sz="1250" b="1" dirty="0">
                          <a:solidFill>
                            <a:srgbClr val="1F2429"/>
                          </a:solidFill>
                          <a:latin typeface="Calibri" pitchFamily="34" charset="0"/>
                          <a:ea typeface="Calibri" pitchFamily="34" charset="-122"/>
                          <a:cs typeface="Calibri" pitchFamily="34" charset="-120"/>
                        </a:rPr>
                        <a:t>P2</a:t>
                      </a:r>
                      <a:endParaRPr lang="en-US" sz="12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429"/>
                          </a:solidFill>
                          <a:latin typeface="Calibri" pitchFamily="34" charset="0"/>
                          <a:ea typeface="Calibri" pitchFamily="34" charset="-122"/>
                          <a:cs typeface="Calibri" pitchFamily="34" charset="-120"/>
                        </a:rPr>
                        <a:t>2</a:t>
                      </a:r>
                      <a:endParaRPr lang="en-US" sz="12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429"/>
                          </a:solidFill>
                          <a:latin typeface="Calibri" pitchFamily="34" charset="0"/>
                          <a:ea typeface="Calibri" pitchFamily="34" charset="-122"/>
                          <a:cs typeface="Calibri" pitchFamily="34" charset="-120"/>
                        </a:rPr>
                        <a:t>1</a:t>
                      </a:r>
                      <a:endParaRPr lang="en-US" sz="12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429"/>
                          </a:solidFill>
                          <a:latin typeface="Calibri" pitchFamily="34" charset="0"/>
                          <a:ea typeface="Calibri" pitchFamily="34" charset="-122"/>
                          <a:cs typeface="Calibri" pitchFamily="34" charset="-120"/>
                        </a:rPr>
                        <a:t>1</a:t>
                      </a:r>
                      <a:endParaRPr lang="en-US" sz="12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FFFFF"/>
                    </a:solidFill>
                  </a:tcPr>
                </a:tc>
              </a:tr>
              <a:tr h="384048">
                <a:tc>
                  <a:txBody>
                    <a:bodyPr/>
                    <a:lstStyle/>
                    <a:p>
                      <a:pPr algn="l" indent="0" marL="0">
                        <a:buNone/>
                      </a:pPr>
                      <a:r>
                        <a:rPr lang="en-US" sz="1250" b="1" dirty="0">
                          <a:solidFill>
                            <a:srgbClr val="1F2429"/>
                          </a:solidFill>
                          <a:latin typeface="Calibri" pitchFamily="34" charset="0"/>
                          <a:ea typeface="Calibri" pitchFamily="34" charset="-122"/>
                          <a:cs typeface="Calibri" pitchFamily="34" charset="-120"/>
                        </a:rPr>
                        <a:t>P3</a:t>
                      </a:r>
                      <a:endParaRPr lang="en-US" sz="12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0F2F4"/>
                    </a:solidFill>
                  </a:tcPr>
                </a:tc>
                <a:tc>
                  <a:txBody>
                    <a:bodyPr/>
                    <a:lstStyle/>
                    <a:p>
                      <a:pPr algn="ctr" indent="0" marL="0">
                        <a:buNone/>
                      </a:pPr>
                      <a:r>
                        <a:rPr lang="en-US" sz="1250" dirty="0">
                          <a:solidFill>
                            <a:srgbClr val="1F2429"/>
                          </a:solidFill>
                          <a:latin typeface="Calibri" pitchFamily="34" charset="0"/>
                          <a:ea typeface="Calibri" pitchFamily="34" charset="-122"/>
                          <a:cs typeface="Calibri" pitchFamily="34" charset="-120"/>
                        </a:rPr>
                        <a:t>0</a:t>
                      </a:r>
                      <a:endParaRPr lang="en-US" sz="12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0F2F4"/>
                    </a:solidFill>
                  </a:tcPr>
                </a:tc>
                <a:tc>
                  <a:txBody>
                    <a:bodyPr/>
                    <a:lstStyle/>
                    <a:p>
                      <a:pPr algn="ctr" indent="0" marL="0">
                        <a:buNone/>
                      </a:pPr>
                      <a:r>
                        <a:rPr lang="en-US" sz="1250" dirty="0">
                          <a:solidFill>
                            <a:srgbClr val="1F2429"/>
                          </a:solidFill>
                          <a:latin typeface="Calibri" pitchFamily="34" charset="0"/>
                          <a:ea typeface="Calibri" pitchFamily="34" charset="-122"/>
                          <a:cs typeface="Calibri" pitchFamily="34" charset="-120"/>
                        </a:rPr>
                        <a:t>1</a:t>
                      </a:r>
                      <a:endParaRPr lang="en-US" sz="12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0F2F4"/>
                    </a:solidFill>
                  </a:tcPr>
                </a:tc>
                <a:tc>
                  <a:txBody>
                    <a:bodyPr/>
                    <a:lstStyle/>
                    <a:p>
                      <a:pPr algn="ctr" indent="0" marL="0">
                        <a:buNone/>
                      </a:pPr>
                      <a:r>
                        <a:rPr lang="en-US" sz="1250" dirty="0">
                          <a:solidFill>
                            <a:srgbClr val="1F2429"/>
                          </a:solidFill>
                          <a:latin typeface="Calibri" pitchFamily="34" charset="0"/>
                          <a:ea typeface="Calibri" pitchFamily="34" charset="-122"/>
                          <a:cs typeface="Calibri" pitchFamily="34" charset="-120"/>
                        </a:rPr>
                        <a:t>2</a:t>
                      </a:r>
                      <a:endParaRPr lang="en-US" sz="12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0F2F4"/>
                    </a:solidFill>
                  </a:tcPr>
                </a:tc>
              </a:tr>
              <a:tr h="384048">
                <a:tc>
                  <a:txBody>
                    <a:bodyPr/>
                    <a:lstStyle/>
                    <a:p>
                      <a:pPr algn="l" indent="0" marL="0">
                        <a:buNone/>
                      </a:pPr>
                      <a:r>
                        <a:rPr lang="en-US" sz="1250" b="1" dirty="0">
                          <a:solidFill>
                            <a:srgbClr val="1F2429"/>
                          </a:solidFill>
                          <a:latin typeface="Calibri" pitchFamily="34" charset="0"/>
                          <a:ea typeface="Calibri" pitchFamily="34" charset="-122"/>
                          <a:cs typeface="Calibri" pitchFamily="34" charset="-120"/>
                        </a:rPr>
                        <a:t>P4</a:t>
                      </a:r>
                      <a:endParaRPr lang="en-US" sz="12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429"/>
                          </a:solidFill>
                          <a:latin typeface="Calibri" pitchFamily="34" charset="0"/>
                          <a:ea typeface="Calibri" pitchFamily="34" charset="-122"/>
                          <a:cs typeface="Calibri" pitchFamily="34" charset="-120"/>
                        </a:rPr>
                        <a:t>1</a:t>
                      </a:r>
                      <a:endParaRPr lang="en-US" sz="12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429"/>
                          </a:solidFill>
                          <a:latin typeface="Calibri" pitchFamily="34" charset="0"/>
                          <a:ea typeface="Calibri" pitchFamily="34" charset="-122"/>
                          <a:cs typeface="Calibri" pitchFamily="34" charset="-120"/>
                        </a:rPr>
                        <a:t>1</a:t>
                      </a:r>
                      <a:endParaRPr lang="en-US" sz="12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429"/>
                          </a:solidFill>
                          <a:latin typeface="Calibri" pitchFamily="34" charset="0"/>
                          <a:ea typeface="Calibri" pitchFamily="34" charset="-122"/>
                          <a:cs typeface="Calibri" pitchFamily="34" charset="-120"/>
                        </a:rPr>
                        <a:t>0</a:t>
                      </a:r>
                      <a:endParaRPr lang="en-US" sz="12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FFFFF"/>
                    </a:solidFill>
                  </a:tcPr>
                </a:tc>
              </a:tr>
            </a:tbl>
          </a:graphicData>
        </a:graphic>
      </p:graphicFrame>
      <p:sp>
        <p:nvSpPr>
          <p:cNvPr id="7" name="Text 4"/>
          <p:cNvSpPr txBox="1"/>
          <p:nvPr/>
        </p:nvSpPr>
        <p:spPr>
          <a:xfrm>
            <a:off x="6309360" y="1536192"/>
            <a:ext cx="5303520" cy="274320"/>
          </a:xfrm>
          <a:prstGeom prst="rect">
            <a:avLst/>
          </a:prstGeom>
          <a:noFill/>
          <a:ln/>
        </p:spPr>
        <p:txBody>
          <a:bodyPr wrap="square" lIns="0" tIns="0" rIns="0" bIns="0" rtlCol="0" anchor="ctr"/>
          <a:lstStyle/>
          <a:p>
            <a:pPr indent="0" marL="0">
              <a:buNone/>
            </a:pPr>
            <a:r>
              <a:rPr lang="en-US" sz="1300" b="1" dirty="0">
                <a:solidFill>
                  <a:srgbClr val="1F2429"/>
                </a:solidFill>
                <a:latin typeface="Calibri" pitchFamily="34" charset="0"/>
                <a:ea typeface="Calibri" pitchFamily="34" charset="-122"/>
                <a:cs typeface="Calibri" pitchFamily="34" charset="-120"/>
              </a:rPr>
              <a:t>Max</a:t>
            </a:r>
            <a:endParaRPr lang="en-US" sz="1300" dirty="0"/>
          </a:p>
        </p:txBody>
      </p:sp>
      <p:graphicFrame>
        <p:nvGraphicFramePr>
          <p:cNvPr id="13" name="Table 1"/>
          <p:cNvGraphicFramePr>
            <a:graphicFrameLocks noGrp="1"/>
          </p:cNvGraphicFramePr>
          <p:nvPr>
            <p:extLst>
              <p:ext uri="{D42A27DB-BD31-4B8C-83A1-F6EECF244321}">
                <p14:modId xmlns:p14="http://schemas.microsoft.com/office/powerpoint/2010/main" val="1579011935"/>
              </p:ext>
            </p:extLst>
          </p:nvPr>
        </p:nvGraphicFramePr>
        <p:xfrm>
          <a:off x="6309360" y="1856232"/>
          <a:ext cx="5303520" cy="914400"/>
        </p:xfrm>
        <a:graphic>
          <a:graphicData uri="http://schemas.openxmlformats.org/drawingml/2006/table">
            <a:tbl>
              <a:tblPr/>
              <a:tblGrid>
                <a:gridCol w="1737360"/>
                <a:gridCol w="1188720"/>
                <a:gridCol w="1188720"/>
                <a:gridCol w="1188720"/>
              </a:tblGrid>
              <a:tr h="384048">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Process</a:t>
                      </a:r>
                      <a:endParaRPr lang="en-US" sz="12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14181C"/>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X</a:t>
                      </a:r>
                      <a:endParaRPr lang="en-US" sz="12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14181C"/>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Y</a:t>
                      </a:r>
                      <a:endParaRPr lang="en-US" sz="12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14181C"/>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Z</a:t>
                      </a:r>
                      <a:endParaRPr lang="en-US" sz="12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14181C"/>
                    </a:solidFill>
                  </a:tcPr>
                </a:tc>
              </a:tr>
              <a:tr h="384048">
                <a:tc>
                  <a:txBody>
                    <a:bodyPr/>
                    <a:lstStyle/>
                    <a:p>
                      <a:pPr algn="l" indent="0" marL="0">
                        <a:buNone/>
                      </a:pPr>
                      <a:r>
                        <a:rPr lang="en-US" sz="1250" b="1" dirty="0">
                          <a:solidFill>
                            <a:srgbClr val="1F2429"/>
                          </a:solidFill>
                          <a:latin typeface="Calibri" pitchFamily="34" charset="0"/>
                          <a:ea typeface="Calibri" pitchFamily="34" charset="-122"/>
                          <a:cs typeface="Calibri" pitchFamily="34" charset="-120"/>
                        </a:rPr>
                        <a:t>P0</a:t>
                      </a:r>
                      <a:endParaRPr lang="en-US" sz="12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429"/>
                          </a:solidFill>
                          <a:latin typeface="Calibri" pitchFamily="34" charset="0"/>
                          <a:ea typeface="Calibri" pitchFamily="34" charset="-122"/>
                          <a:cs typeface="Calibri" pitchFamily="34" charset="-120"/>
                        </a:rPr>
                        <a:t>5</a:t>
                      </a:r>
                      <a:endParaRPr lang="en-US" sz="12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429"/>
                          </a:solidFill>
                          <a:latin typeface="Calibri" pitchFamily="34" charset="0"/>
                          <a:ea typeface="Calibri" pitchFamily="34" charset="-122"/>
                          <a:cs typeface="Calibri" pitchFamily="34" charset="-120"/>
                        </a:rPr>
                        <a:t>4</a:t>
                      </a:r>
                      <a:endParaRPr lang="en-US" sz="12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429"/>
                          </a:solidFill>
                          <a:latin typeface="Calibri" pitchFamily="34" charset="0"/>
                          <a:ea typeface="Calibri" pitchFamily="34" charset="-122"/>
                          <a:cs typeface="Calibri" pitchFamily="34" charset="-120"/>
                        </a:rPr>
                        <a:t>4</a:t>
                      </a:r>
                      <a:endParaRPr lang="en-US" sz="12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FFFFF"/>
                    </a:solidFill>
                  </a:tcPr>
                </a:tc>
              </a:tr>
              <a:tr h="384048">
                <a:tc>
                  <a:txBody>
                    <a:bodyPr/>
                    <a:lstStyle/>
                    <a:p>
                      <a:pPr algn="l" indent="0" marL="0">
                        <a:buNone/>
                      </a:pPr>
                      <a:r>
                        <a:rPr lang="en-US" sz="1250" b="1" dirty="0">
                          <a:solidFill>
                            <a:srgbClr val="1F2429"/>
                          </a:solidFill>
                          <a:latin typeface="Calibri" pitchFamily="34" charset="0"/>
                          <a:ea typeface="Calibri" pitchFamily="34" charset="-122"/>
                          <a:cs typeface="Calibri" pitchFamily="34" charset="-120"/>
                        </a:rPr>
                        <a:t>P1</a:t>
                      </a:r>
                      <a:endParaRPr lang="en-US" sz="12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0F2F4"/>
                    </a:solidFill>
                  </a:tcPr>
                </a:tc>
                <a:tc>
                  <a:txBody>
                    <a:bodyPr/>
                    <a:lstStyle/>
                    <a:p>
                      <a:pPr algn="ctr" indent="0" marL="0">
                        <a:buNone/>
                      </a:pPr>
                      <a:r>
                        <a:rPr lang="en-US" sz="1250" dirty="0">
                          <a:solidFill>
                            <a:srgbClr val="1F2429"/>
                          </a:solidFill>
                          <a:latin typeface="Calibri" pitchFamily="34" charset="0"/>
                          <a:ea typeface="Calibri" pitchFamily="34" charset="-122"/>
                          <a:cs typeface="Calibri" pitchFamily="34" charset="-120"/>
                        </a:rPr>
                        <a:t>3</a:t>
                      </a:r>
                      <a:endParaRPr lang="en-US" sz="12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0F2F4"/>
                    </a:solidFill>
                  </a:tcPr>
                </a:tc>
                <a:tc>
                  <a:txBody>
                    <a:bodyPr/>
                    <a:lstStyle/>
                    <a:p>
                      <a:pPr algn="ctr" indent="0" marL="0">
                        <a:buNone/>
                      </a:pPr>
                      <a:r>
                        <a:rPr lang="en-US" sz="1250" dirty="0">
                          <a:solidFill>
                            <a:srgbClr val="1F2429"/>
                          </a:solidFill>
                          <a:latin typeface="Calibri" pitchFamily="34" charset="0"/>
                          <a:ea typeface="Calibri" pitchFamily="34" charset="-122"/>
                          <a:cs typeface="Calibri" pitchFamily="34" charset="-120"/>
                        </a:rPr>
                        <a:t>2</a:t>
                      </a:r>
                      <a:endParaRPr lang="en-US" sz="12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0F2F4"/>
                    </a:solidFill>
                  </a:tcPr>
                </a:tc>
                <a:tc>
                  <a:txBody>
                    <a:bodyPr/>
                    <a:lstStyle/>
                    <a:p>
                      <a:pPr algn="ctr" indent="0" marL="0">
                        <a:buNone/>
                      </a:pPr>
                      <a:r>
                        <a:rPr lang="en-US" sz="1250" dirty="0">
                          <a:solidFill>
                            <a:srgbClr val="1F2429"/>
                          </a:solidFill>
                          <a:latin typeface="Calibri" pitchFamily="34" charset="0"/>
                          <a:ea typeface="Calibri" pitchFamily="34" charset="-122"/>
                          <a:cs typeface="Calibri" pitchFamily="34" charset="-120"/>
                        </a:rPr>
                        <a:t>2</a:t>
                      </a:r>
                      <a:endParaRPr lang="en-US" sz="12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0F2F4"/>
                    </a:solidFill>
                  </a:tcPr>
                </a:tc>
              </a:tr>
              <a:tr h="384048">
                <a:tc>
                  <a:txBody>
                    <a:bodyPr/>
                    <a:lstStyle/>
                    <a:p>
                      <a:pPr algn="l" indent="0" marL="0">
                        <a:buNone/>
                      </a:pPr>
                      <a:r>
                        <a:rPr lang="en-US" sz="1250" b="1" dirty="0">
                          <a:solidFill>
                            <a:srgbClr val="1F2429"/>
                          </a:solidFill>
                          <a:latin typeface="Calibri" pitchFamily="34" charset="0"/>
                          <a:ea typeface="Calibri" pitchFamily="34" charset="-122"/>
                          <a:cs typeface="Calibri" pitchFamily="34" charset="-120"/>
                        </a:rPr>
                        <a:t>P2</a:t>
                      </a:r>
                      <a:endParaRPr lang="en-US" sz="12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429"/>
                          </a:solidFill>
                          <a:latin typeface="Calibri" pitchFamily="34" charset="0"/>
                          <a:ea typeface="Calibri" pitchFamily="34" charset="-122"/>
                          <a:cs typeface="Calibri" pitchFamily="34" charset="-120"/>
                        </a:rPr>
                        <a:t>5</a:t>
                      </a:r>
                      <a:endParaRPr lang="en-US" sz="12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429"/>
                          </a:solidFill>
                          <a:latin typeface="Calibri" pitchFamily="34" charset="0"/>
                          <a:ea typeface="Calibri" pitchFamily="34" charset="-122"/>
                          <a:cs typeface="Calibri" pitchFamily="34" charset="-120"/>
                        </a:rPr>
                        <a:t>3</a:t>
                      </a:r>
                      <a:endParaRPr lang="en-US" sz="12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429"/>
                          </a:solidFill>
                          <a:latin typeface="Calibri" pitchFamily="34" charset="0"/>
                          <a:ea typeface="Calibri" pitchFamily="34" charset="-122"/>
                          <a:cs typeface="Calibri" pitchFamily="34" charset="-120"/>
                        </a:rPr>
                        <a:t>3</a:t>
                      </a:r>
                      <a:endParaRPr lang="en-US" sz="12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FFFFF"/>
                    </a:solidFill>
                  </a:tcPr>
                </a:tc>
              </a:tr>
              <a:tr h="384048">
                <a:tc>
                  <a:txBody>
                    <a:bodyPr/>
                    <a:lstStyle/>
                    <a:p>
                      <a:pPr algn="l" indent="0" marL="0">
                        <a:buNone/>
                      </a:pPr>
                      <a:r>
                        <a:rPr lang="en-US" sz="1250" b="1" dirty="0">
                          <a:solidFill>
                            <a:srgbClr val="1F2429"/>
                          </a:solidFill>
                          <a:latin typeface="Calibri" pitchFamily="34" charset="0"/>
                          <a:ea typeface="Calibri" pitchFamily="34" charset="-122"/>
                          <a:cs typeface="Calibri" pitchFamily="34" charset="-120"/>
                        </a:rPr>
                        <a:t>P3</a:t>
                      </a:r>
                      <a:endParaRPr lang="en-US" sz="12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0F2F4"/>
                    </a:solidFill>
                  </a:tcPr>
                </a:tc>
                <a:tc>
                  <a:txBody>
                    <a:bodyPr/>
                    <a:lstStyle/>
                    <a:p>
                      <a:pPr algn="ctr" indent="0" marL="0">
                        <a:buNone/>
                      </a:pPr>
                      <a:r>
                        <a:rPr lang="en-US" sz="1250" dirty="0">
                          <a:solidFill>
                            <a:srgbClr val="1F2429"/>
                          </a:solidFill>
                          <a:latin typeface="Calibri" pitchFamily="34" charset="0"/>
                          <a:ea typeface="Calibri" pitchFamily="34" charset="-122"/>
                          <a:cs typeface="Calibri" pitchFamily="34" charset="-120"/>
                        </a:rPr>
                        <a:t>2</a:t>
                      </a:r>
                      <a:endParaRPr lang="en-US" sz="12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0F2F4"/>
                    </a:solidFill>
                  </a:tcPr>
                </a:tc>
                <a:tc>
                  <a:txBody>
                    <a:bodyPr/>
                    <a:lstStyle/>
                    <a:p>
                      <a:pPr algn="ctr" indent="0" marL="0">
                        <a:buNone/>
                      </a:pPr>
                      <a:r>
                        <a:rPr lang="en-US" sz="1250" dirty="0">
                          <a:solidFill>
                            <a:srgbClr val="1F2429"/>
                          </a:solidFill>
                          <a:latin typeface="Calibri" pitchFamily="34" charset="0"/>
                          <a:ea typeface="Calibri" pitchFamily="34" charset="-122"/>
                          <a:cs typeface="Calibri" pitchFamily="34" charset="-120"/>
                        </a:rPr>
                        <a:t>2</a:t>
                      </a:r>
                      <a:endParaRPr lang="en-US" sz="12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0F2F4"/>
                    </a:solidFill>
                  </a:tcPr>
                </a:tc>
                <a:tc>
                  <a:txBody>
                    <a:bodyPr/>
                    <a:lstStyle/>
                    <a:p>
                      <a:pPr algn="ctr" indent="0" marL="0">
                        <a:buNone/>
                      </a:pPr>
                      <a:r>
                        <a:rPr lang="en-US" sz="1250" dirty="0">
                          <a:solidFill>
                            <a:srgbClr val="1F2429"/>
                          </a:solidFill>
                          <a:latin typeface="Calibri" pitchFamily="34" charset="0"/>
                          <a:ea typeface="Calibri" pitchFamily="34" charset="-122"/>
                          <a:cs typeface="Calibri" pitchFamily="34" charset="-120"/>
                        </a:rPr>
                        <a:t>3</a:t>
                      </a:r>
                      <a:endParaRPr lang="en-US" sz="12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0F2F4"/>
                    </a:solidFill>
                  </a:tcPr>
                </a:tc>
              </a:tr>
              <a:tr h="384048">
                <a:tc>
                  <a:txBody>
                    <a:bodyPr/>
                    <a:lstStyle/>
                    <a:p>
                      <a:pPr algn="l" indent="0" marL="0">
                        <a:buNone/>
                      </a:pPr>
                      <a:r>
                        <a:rPr lang="en-US" sz="1250" b="1" dirty="0">
                          <a:solidFill>
                            <a:srgbClr val="1F2429"/>
                          </a:solidFill>
                          <a:latin typeface="Calibri" pitchFamily="34" charset="0"/>
                          <a:ea typeface="Calibri" pitchFamily="34" charset="-122"/>
                          <a:cs typeface="Calibri" pitchFamily="34" charset="-120"/>
                        </a:rPr>
                        <a:t>P4</a:t>
                      </a:r>
                      <a:endParaRPr lang="en-US" sz="12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429"/>
                          </a:solidFill>
                          <a:latin typeface="Calibri" pitchFamily="34" charset="0"/>
                          <a:ea typeface="Calibri" pitchFamily="34" charset="-122"/>
                          <a:cs typeface="Calibri" pitchFamily="34" charset="-120"/>
                        </a:rPr>
                        <a:t>3</a:t>
                      </a:r>
                      <a:endParaRPr lang="en-US" sz="12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429"/>
                          </a:solidFill>
                          <a:latin typeface="Calibri" pitchFamily="34" charset="0"/>
                          <a:ea typeface="Calibri" pitchFamily="34" charset="-122"/>
                          <a:cs typeface="Calibri" pitchFamily="34" charset="-120"/>
                        </a:rPr>
                        <a:t>3</a:t>
                      </a:r>
                      <a:endParaRPr lang="en-US" sz="12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429"/>
                          </a:solidFill>
                          <a:latin typeface="Calibri" pitchFamily="34" charset="0"/>
                          <a:ea typeface="Calibri" pitchFamily="34" charset="-122"/>
                          <a:cs typeface="Calibri" pitchFamily="34" charset="-120"/>
                        </a:rPr>
                        <a:t>2</a:t>
                      </a:r>
                      <a:endParaRPr lang="en-US" sz="12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9951415" y="6454750"/>
            <a:ext cx="201168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7</a:t>
            </a:r>
            <a:endParaRPr lang="en-US" sz="1000" dirty="0"/>
          </a:p>
        </p:txBody>
      </p:sp>
      <p:sp>
        <p:nvSpPr>
          <p:cNvPr id="3" name="Text 1"/>
          <p:cNvSpPr txBox="1"/>
          <p:nvPr/>
        </p:nvSpPr>
        <p:spPr>
          <a:xfrm>
            <a:off x="548640" y="365760"/>
            <a:ext cx="11094415" cy="320040"/>
          </a:xfrm>
          <a:prstGeom prst="rect">
            <a:avLst/>
          </a:prstGeom>
          <a:noFill/>
          <a:ln/>
        </p:spPr>
        <p:txBody>
          <a:bodyPr wrap="square" lIns="0" tIns="0" rIns="0" bIns="0" rtlCol="0" anchor="ctr"/>
          <a:lstStyle/>
          <a:p>
            <a:pPr indent="0" marL="0">
              <a:buNone/>
            </a:pPr>
            <a:r>
              <a:rPr lang="en-US" sz="1250" b="1" spc="250" kern="0" dirty="0">
                <a:solidFill>
                  <a:srgbClr val="8B7FD9"/>
                </a:solidFill>
                <a:latin typeface="Calibri" pitchFamily="34" charset="0"/>
                <a:ea typeface="Calibri" pitchFamily="34" charset="-122"/>
                <a:cs typeface="Calibri" pitchFamily="34" charset="-120"/>
              </a:rPr>
              <a:t>THE SYSTEM</a:t>
            </a:r>
            <a:endParaRPr lang="en-US" sz="1250" dirty="0"/>
          </a:p>
        </p:txBody>
      </p:sp>
      <p:sp>
        <p:nvSpPr>
          <p:cNvPr id="4" name="Text 2"/>
          <p:cNvSpPr txBox="1"/>
          <p:nvPr/>
        </p:nvSpPr>
        <p:spPr>
          <a:xfrm>
            <a:off x="548640" y="713232"/>
            <a:ext cx="11094415" cy="713232"/>
          </a:xfrm>
          <a:prstGeom prst="rect">
            <a:avLst/>
          </a:prstGeom>
          <a:noFill/>
          <a:ln/>
        </p:spPr>
        <p:txBody>
          <a:bodyPr wrap="square" lIns="0" tIns="0" rIns="0" bIns="0" rtlCol="0" anchor="ctr"/>
          <a:lstStyle/>
          <a:p>
            <a:pPr indent="0" marL="0">
              <a:buNone/>
            </a:pPr>
            <a:r>
              <a:rPr lang="en-US" sz="2600" b="1" dirty="0">
                <a:solidFill>
                  <a:srgbClr val="1F2429"/>
                </a:solidFill>
                <a:latin typeface="Calibri" pitchFamily="34" charset="0"/>
                <a:ea typeface="Calibri" pitchFamily="34" charset="-122"/>
                <a:cs typeface="Calibri" pitchFamily="34" charset="-120"/>
              </a:rPr>
              <a:t>Need (Max − Allocation) and Available</a:t>
            </a:r>
            <a:endParaRPr lang="en-US" sz="2600" dirty="0"/>
          </a:p>
        </p:txBody>
      </p:sp>
      <p:sp>
        <p:nvSpPr>
          <p:cNvPr id="5" name="Text 3"/>
          <p:cNvSpPr txBox="1"/>
          <p:nvPr/>
        </p:nvSpPr>
        <p:spPr>
          <a:xfrm>
            <a:off x="548640" y="1536192"/>
            <a:ext cx="5303520" cy="274320"/>
          </a:xfrm>
          <a:prstGeom prst="rect">
            <a:avLst/>
          </a:prstGeom>
          <a:noFill/>
          <a:ln/>
        </p:spPr>
        <p:txBody>
          <a:bodyPr wrap="square" lIns="0" tIns="0" rIns="0" bIns="0" rtlCol="0" anchor="ctr"/>
          <a:lstStyle/>
          <a:p>
            <a:pPr indent="0" marL="0">
              <a:buNone/>
            </a:pPr>
            <a:r>
              <a:rPr lang="en-US" sz="1300" b="1" dirty="0">
                <a:solidFill>
                  <a:srgbClr val="1F2429"/>
                </a:solidFill>
                <a:latin typeface="Calibri" pitchFamily="34" charset="0"/>
                <a:ea typeface="Calibri" pitchFamily="34" charset="-122"/>
                <a:cs typeface="Calibri" pitchFamily="34" charset="-120"/>
              </a:rPr>
              <a:t>Need = Max − Allocation</a:t>
            </a:r>
            <a:endParaRPr lang="en-US" sz="13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856232"/>
          <a:ext cx="5303520" cy="914400"/>
        </p:xfrm>
        <a:graphic>
          <a:graphicData uri="http://schemas.openxmlformats.org/drawingml/2006/table">
            <a:tbl>
              <a:tblPr/>
              <a:tblGrid>
                <a:gridCol w="1737360"/>
                <a:gridCol w="1188720"/>
                <a:gridCol w="1188720"/>
                <a:gridCol w="1188720"/>
              </a:tblGrid>
              <a:tr h="384048">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Process</a:t>
                      </a:r>
                      <a:endParaRPr lang="en-US" sz="12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14181C"/>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X</a:t>
                      </a:r>
                      <a:endParaRPr lang="en-US" sz="12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14181C"/>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Y</a:t>
                      </a:r>
                      <a:endParaRPr lang="en-US" sz="12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14181C"/>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Z</a:t>
                      </a:r>
                      <a:endParaRPr lang="en-US" sz="12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14181C"/>
                    </a:solidFill>
                  </a:tcPr>
                </a:tc>
              </a:tr>
              <a:tr h="384048">
                <a:tc>
                  <a:txBody>
                    <a:bodyPr/>
                    <a:lstStyle/>
                    <a:p>
                      <a:pPr algn="l" indent="0" marL="0">
                        <a:buNone/>
                      </a:pPr>
                      <a:r>
                        <a:rPr lang="en-US" sz="1250" b="1" dirty="0">
                          <a:solidFill>
                            <a:srgbClr val="1F2429"/>
                          </a:solidFill>
                          <a:latin typeface="Calibri" pitchFamily="34" charset="0"/>
                          <a:ea typeface="Calibri" pitchFamily="34" charset="-122"/>
                          <a:cs typeface="Calibri" pitchFamily="34" charset="-120"/>
                        </a:rPr>
                        <a:t>P0</a:t>
                      </a:r>
                      <a:endParaRPr lang="en-US" sz="12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429"/>
                          </a:solidFill>
                          <a:latin typeface="Calibri" pitchFamily="34" charset="0"/>
                          <a:ea typeface="Calibri" pitchFamily="34" charset="-122"/>
                          <a:cs typeface="Calibri" pitchFamily="34" charset="-120"/>
                        </a:rPr>
                        <a:t>4</a:t>
                      </a:r>
                      <a:endParaRPr lang="en-US" sz="12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429"/>
                          </a:solidFill>
                          <a:latin typeface="Calibri" pitchFamily="34" charset="0"/>
                          <a:ea typeface="Calibri" pitchFamily="34" charset="-122"/>
                          <a:cs typeface="Calibri" pitchFamily="34" charset="-120"/>
                        </a:rPr>
                        <a:t>2</a:t>
                      </a:r>
                      <a:endParaRPr lang="en-US" sz="12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429"/>
                          </a:solidFill>
                          <a:latin typeface="Calibri" pitchFamily="34" charset="0"/>
                          <a:ea typeface="Calibri" pitchFamily="34" charset="-122"/>
                          <a:cs typeface="Calibri" pitchFamily="34" charset="-120"/>
                        </a:rPr>
                        <a:t>2</a:t>
                      </a:r>
                      <a:endParaRPr lang="en-US" sz="12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FFFFF"/>
                    </a:solidFill>
                  </a:tcPr>
                </a:tc>
              </a:tr>
              <a:tr h="384048">
                <a:tc>
                  <a:txBody>
                    <a:bodyPr/>
                    <a:lstStyle/>
                    <a:p>
                      <a:pPr algn="l" indent="0" marL="0">
                        <a:buNone/>
                      </a:pPr>
                      <a:r>
                        <a:rPr lang="en-US" sz="1250" b="1" dirty="0">
                          <a:solidFill>
                            <a:srgbClr val="1F2429"/>
                          </a:solidFill>
                          <a:latin typeface="Calibri" pitchFamily="34" charset="0"/>
                          <a:ea typeface="Calibri" pitchFamily="34" charset="-122"/>
                          <a:cs typeface="Calibri" pitchFamily="34" charset="-120"/>
                        </a:rPr>
                        <a:t>P1</a:t>
                      </a:r>
                      <a:endParaRPr lang="en-US" sz="12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0F2F4"/>
                    </a:solidFill>
                  </a:tcPr>
                </a:tc>
                <a:tc>
                  <a:txBody>
                    <a:bodyPr/>
                    <a:lstStyle/>
                    <a:p>
                      <a:pPr algn="ctr" indent="0" marL="0">
                        <a:buNone/>
                      </a:pPr>
                      <a:r>
                        <a:rPr lang="en-US" sz="1250" dirty="0">
                          <a:solidFill>
                            <a:srgbClr val="1F2429"/>
                          </a:solidFill>
                          <a:latin typeface="Calibri" pitchFamily="34" charset="0"/>
                          <a:ea typeface="Calibri" pitchFamily="34" charset="-122"/>
                          <a:cs typeface="Calibri" pitchFamily="34" charset="-120"/>
                        </a:rPr>
                        <a:t>1</a:t>
                      </a:r>
                      <a:endParaRPr lang="en-US" sz="12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0F2F4"/>
                    </a:solidFill>
                  </a:tcPr>
                </a:tc>
                <a:tc>
                  <a:txBody>
                    <a:bodyPr/>
                    <a:lstStyle/>
                    <a:p>
                      <a:pPr algn="ctr" indent="0" marL="0">
                        <a:buNone/>
                      </a:pPr>
                      <a:r>
                        <a:rPr lang="en-US" sz="1250" dirty="0">
                          <a:solidFill>
                            <a:srgbClr val="1F2429"/>
                          </a:solidFill>
                          <a:latin typeface="Calibri" pitchFamily="34" charset="0"/>
                          <a:ea typeface="Calibri" pitchFamily="34" charset="-122"/>
                          <a:cs typeface="Calibri" pitchFamily="34" charset="-120"/>
                        </a:rPr>
                        <a:t>2</a:t>
                      </a:r>
                      <a:endParaRPr lang="en-US" sz="12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0F2F4"/>
                    </a:solidFill>
                  </a:tcPr>
                </a:tc>
                <a:tc>
                  <a:txBody>
                    <a:bodyPr/>
                    <a:lstStyle/>
                    <a:p>
                      <a:pPr algn="ctr" indent="0" marL="0">
                        <a:buNone/>
                      </a:pPr>
                      <a:r>
                        <a:rPr lang="en-US" sz="1250" dirty="0">
                          <a:solidFill>
                            <a:srgbClr val="1F2429"/>
                          </a:solidFill>
                          <a:latin typeface="Calibri" pitchFamily="34" charset="0"/>
                          <a:ea typeface="Calibri" pitchFamily="34" charset="-122"/>
                          <a:cs typeface="Calibri" pitchFamily="34" charset="-120"/>
                        </a:rPr>
                        <a:t>1</a:t>
                      </a:r>
                      <a:endParaRPr lang="en-US" sz="12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0F2F4"/>
                    </a:solidFill>
                  </a:tcPr>
                </a:tc>
              </a:tr>
              <a:tr h="384048">
                <a:tc>
                  <a:txBody>
                    <a:bodyPr/>
                    <a:lstStyle/>
                    <a:p>
                      <a:pPr algn="l" indent="0" marL="0">
                        <a:buNone/>
                      </a:pPr>
                      <a:r>
                        <a:rPr lang="en-US" sz="1250" b="1" dirty="0">
                          <a:solidFill>
                            <a:srgbClr val="1F2429"/>
                          </a:solidFill>
                          <a:latin typeface="Calibri" pitchFamily="34" charset="0"/>
                          <a:ea typeface="Calibri" pitchFamily="34" charset="-122"/>
                          <a:cs typeface="Calibri" pitchFamily="34" charset="-120"/>
                        </a:rPr>
                        <a:t>P2</a:t>
                      </a:r>
                      <a:endParaRPr lang="en-US" sz="12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429"/>
                          </a:solidFill>
                          <a:latin typeface="Calibri" pitchFamily="34" charset="0"/>
                          <a:ea typeface="Calibri" pitchFamily="34" charset="-122"/>
                          <a:cs typeface="Calibri" pitchFamily="34" charset="-120"/>
                        </a:rPr>
                        <a:t>3</a:t>
                      </a:r>
                      <a:endParaRPr lang="en-US" sz="12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429"/>
                          </a:solidFill>
                          <a:latin typeface="Calibri" pitchFamily="34" charset="0"/>
                          <a:ea typeface="Calibri" pitchFamily="34" charset="-122"/>
                          <a:cs typeface="Calibri" pitchFamily="34" charset="-120"/>
                        </a:rPr>
                        <a:t>2</a:t>
                      </a:r>
                      <a:endParaRPr lang="en-US" sz="12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429"/>
                          </a:solidFill>
                          <a:latin typeface="Calibri" pitchFamily="34" charset="0"/>
                          <a:ea typeface="Calibri" pitchFamily="34" charset="-122"/>
                          <a:cs typeface="Calibri" pitchFamily="34" charset="-120"/>
                        </a:rPr>
                        <a:t>2</a:t>
                      </a:r>
                      <a:endParaRPr lang="en-US" sz="12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FFFFF"/>
                    </a:solidFill>
                  </a:tcPr>
                </a:tc>
              </a:tr>
              <a:tr h="384048">
                <a:tc>
                  <a:txBody>
                    <a:bodyPr/>
                    <a:lstStyle/>
                    <a:p>
                      <a:pPr algn="l" indent="0" marL="0">
                        <a:buNone/>
                      </a:pPr>
                      <a:r>
                        <a:rPr lang="en-US" sz="1250" b="1" dirty="0">
                          <a:solidFill>
                            <a:srgbClr val="1F2429"/>
                          </a:solidFill>
                          <a:latin typeface="Calibri" pitchFamily="34" charset="0"/>
                          <a:ea typeface="Calibri" pitchFamily="34" charset="-122"/>
                          <a:cs typeface="Calibri" pitchFamily="34" charset="-120"/>
                        </a:rPr>
                        <a:t>P3</a:t>
                      </a:r>
                      <a:endParaRPr lang="en-US" sz="12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0F2F4"/>
                    </a:solidFill>
                  </a:tcPr>
                </a:tc>
                <a:tc>
                  <a:txBody>
                    <a:bodyPr/>
                    <a:lstStyle/>
                    <a:p>
                      <a:pPr algn="ctr" indent="0" marL="0">
                        <a:buNone/>
                      </a:pPr>
                      <a:r>
                        <a:rPr lang="en-US" sz="1250" dirty="0">
                          <a:solidFill>
                            <a:srgbClr val="1F2429"/>
                          </a:solidFill>
                          <a:latin typeface="Calibri" pitchFamily="34" charset="0"/>
                          <a:ea typeface="Calibri" pitchFamily="34" charset="-122"/>
                          <a:cs typeface="Calibri" pitchFamily="34" charset="-120"/>
                        </a:rPr>
                        <a:t>2</a:t>
                      </a:r>
                      <a:endParaRPr lang="en-US" sz="12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0F2F4"/>
                    </a:solidFill>
                  </a:tcPr>
                </a:tc>
                <a:tc>
                  <a:txBody>
                    <a:bodyPr/>
                    <a:lstStyle/>
                    <a:p>
                      <a:pPr algn="ctr" indent="0" marL="0">
                        <a:buNone/>
                      </a:pPr>
                      <a:r>
                        <a:rPr lang="en-US" sz="1250" dirty="0">
                          <a:solidFill>
                            <a:srgbClr val="1F2429"/>
                          </a:solidFill>
                          <a:latin typeface="Calibri" pitchFamily="34" charset="0"/>
                          <a:ea typeface="Calibri" pitchFamily="34" charset="-122"/>
                          <a:cs typeface="Calibri" pitchFamily="34" charset="-120"/>
                        </a:rPr>
                        <a:t>1</a:t>
                      </a:r>
                      <a:endParaRPr lang="en-US" sz="12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0F2F4"/>
                    </a:solidFill>
                  </a:tcPr>
                </a:tc>
                <a:tc>
                  <a:txBody>
                    <a:bodyPr/>
                    <a:lstStyle/>
                    <a:p>
                      <a:pPr algn="ctr" indent="0" marL="0">
                        <a:buNone/>
                      </a:pPr>
                      <a:r>
                        <a:rPr lang="en-US" sz="1250" dirty="0">
                          <a:solidFill>
                            <a:srgbClr val="1F2429"/>
                          </a:solidFill>
                          <a:latin typeface="Calibri" pitchFamily="34" charset="0"/>
                          <a:ea typeface="Calibri" pitchFamily="34" charset="-122"/>
                          <a:cs typeface="Calibri" pitchFamily="34" charset="-120"/>
                        </a:rPr>
                        <a:t>1</a:t>
                      </a:r>
                      <a:endParaRPr lang="en-US" sz="12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0F2F4"/>
                    </a:solidFill>
                  </a:tcPr>
                </a:tc>
              </a:tr>
              <a:tr h="384048">
                <a:tc>
                  <a:txBody>
                    <a:bodyPr/>
                    <a:lstStyle/>
                    <a:p>
                      <a:pPr algn="l" indent="0" marL="0">
                        <a:buNone/>
                      </a:pPr>
                      <a:r>
                        <a:rPr lang="en-US" sz="1250" b="1" dirty="0">
                          <a:solidFill>
                            <a:srgbClr val="1F2429"/>
                          </a:solidFill>
                          <a:latin typeface="Calibri" pitchFamily="34" charset="0"/>
                          <a:ea typeface="Calibri" pitchFamily="34" charset="-122"/>
                          <a:cs typeface="Calibri" pitchFamily="34" charset="-120"/>
                        </a:rPr>
                        <a:t>P4</a:t>
                      </a:r>
                      <a:endParaRPr lang="en-US" sz="12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429"/>
                          </a:solidFill>
                          <a:latin typeface="Calibri" pitchFamily="34" charset="0"/>
                          <a:ea typeface="Calibri" pitchFamily="34" charset="-122"/>
                          <a:cs typeface="Calibri" pitchFamily="34" charset="-120"/>
                        </a:rPr>
                        <a:t>2</a:t>
                      </a:r>
                      <a:endParaRPr lang="en-US" sz="12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429"/>
                          </a:solidFill>
                          <a:latin typeface="Calibri" pitchFamily="34" charset="0"/>
                          <a:ea typeface="Calibri" pitchFamily="34" charset="-122"/>
                          <a:cs typeface="Calibri" pitchFamily="34" charset="-120"/>
                        </a:rPr>
                        <a:t>2</a:t>
                      </a:r>
                      <a:endParaRPr lang="en-US" sz="12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429"/>
                          </a:solidFill>
                          <a:latin typeface="Calibri" pitchFamily="34" charset="0"/>
                          <a:ea typeface="Calibri" pitchFamily="34" charset="-122"/>
                          <a:cs typeface="Calibri" pitchFamily="34" charset="-120"/>
                        </a:rPr>
                        <a:t>2</a:t>
                      </a:r>
                      <a:endParaRPr lang="en-US" sz="12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FFFFF"/>
                    </a:solidFill>
                  </a:tcPr>
                </a:tc>
              </a:tr>
            </a:tbl>
          </a:graphicData>
        </a:graphic>
      </p:graphicFrame>
      <p:sp>
        <p:nvSpPr>
          <p:cNvPr id="7" name="Text 4"/>
          <p:cNvSpPr txBox="1"/>
          <p:nvPr/>
        </p:nvSpPr>
        <p:spPr>
          <a:xfrm>
            <a:off x="6309360" y="1536192"/>
            <a:ext cx="5303520" cy="274320"/>
          </a:xfrm>
          <a:prstGeom prst="rect">
            <a:avLst/>
          </a:prstGeom>
          <a:noFill/>
          <a:ln/>
        </p:spPr>
        <p:txBody>
          <a:bodyPr wrap="square" lIns="0" tIns="0" rIns="0" bIns="0" rtlCol="0" anchor="ctr"/>
          <a:lstStyle/>
          <a:p>
            <a:pPr indent="0" marL="0">
              <a:buNone/>
            </a:pPr>
            <a:r>
              <a:rPr lang="en-US" sz="1300" b="1" dirty="0">
                <a:solidFill>
                  <a:srgbClr val="1F2429"/>
                </a:solidFill>
                <a:latin typeface="Calibri" pitchFamily="34" charset="0"/>
                <a:ea typeface="Calibri" pitchFamily="34" charset="-122"/>
                <a:cs typeface="Calibri" pitchFamily="34" charset="-120"/>
              </a:rPr>
              <a:t>Available = Total − Σ Allocation</a:t>
            </a:r>
            <a:endParaRPr lang="en-US" sz="1300" dirty="0"/>
          </a:p>
        </p:txBody>
      </p:sp>
      <p:graphicFrame>
        <p:nvGraphicFramePr>
          <p:cNvPr id="15" name="Table 1"/>
          <p:cNvGraphicFramePr>
            <a:graphicFrameLocks noGrp="1"/>
          </p:cNvGraphicFramePr>
          <p:nvPr>
            <p:extLst>
              <p:ext uri="{D42A27DB-BD31-4B8C-83A1-F6EECF244321}">
                <p14:modId xmlns:p14="http://schemas.microsoft.com/office/powerpoint/2010/main" val="1579011935"/>
              </p:ext>
            </p:extLst>
          </p:nvPr>
        </p:nvGraphicFramePr>
        <p:xfrm>
          <a:off x="6309360" y="1856232"/>
          <a:ext cx="5303520" cy="914400"/>
        </p:xfrm>
        <a:graphic>
          <a:graphicData uri="http://schemas.openxmlformats.org/drawingml/2006/table">
            <a:tbl>
              <a:tblPr/>
              <a:tblGrid>
                <a:gridCol w="1764792"/>
                <a:gridCol w="1764792"/>
                <a:gridCol w="1773936"/>
              </a:tblGrid>
              <a:tr h="457200">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X</a:t>
                      </a:r>
                      <a:endParaRPr lang="en-US" sz="12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14181C"/>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Y</a:t>
                      </a:r>
                      <a:endParaRPr lang="en-US" sz="12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14181C"/>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Z</a:t>
                      </a:r>
                      <a:endParaRPr lang="en-US" sz="12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14181C"/>
                    </a:solidFill>
                  </a:tcPr>
                </a:tc>
              </a:tr>
              <a:tr h="457200">
                <a:tc>
                  <a:txBody>
                    <a:bodyPr/>
                    <a:lstStyle/>
                    <a:p>
                      <a:pPr algn="l" indent="0" marL="0">
                        <a:buNone/>
                      </a:pPr>
                      <a:r>
                        <a:rPr lang="en-US" sz="1250" b="1" dirty="0">
                          <a:solidFill>
                            <a:srgbClr val="1F2429"/>
                          </a:solidFill>
                          <a:latin typeface="Calibri" pitchFamily="34" charset="0"/>
                          <a:ea typeface="Calibri" pitchFamily="34" charset="-122"/>
                          <a:cs typeface="Calibri" pitchFamily="34" charset="-120"/>
                        </a:rPr>
                        <a:t>9 − 6 = 3</a:t>
                      </a:r>
                      <a:endParaRPr lang="en-US" sz="12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429"/>
                          </a:solidFill>
                          <a:latin typeface="Calibri" pitchFamily="34" charset="0"/>
                          <a:ea typeface="Calibri" pitchFamily="34" charset="-122"/>
                          <a:cs typeface="Calibri" pitchFamily="34" charset="-120"/>
                        </a:rPr>
                        <a:t>6 − 5 = 1</a:t>
                      </a:r>
                      <a:endParaRPr lang="en-US" sz="12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429"/>
                          </a:solidFill>
                          <a:latin typeface="Calibri" pitchFamily="34" charset="0"/>
                          <a:ea typeface="Calibri" pitchFamily="34" charset="-122"/>
                          <a:cs typeface="Calibri" pitchFamily="34" charset="-120"/>
                        </a:rPr>
                        <a:t>8 − 6 = 2</a:t>
                      </a:r>
                      <a:endParaRPr lang="en-US" sz="12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FFFFF"/>
                    </a:solidFill>
                  </a:tcPr>
                </a:tc>
              </a:tr>
            </a:tbl>
          </a:graphicData>
        </a:graphic>
      </p:graphicFrame>
      <p:sp>
        <p:nvSpPr>
          <p:cNvPr id="9" name="Text 5"/>
          <p:cNvSpPr txBox="1"/>
          <p:nvPr/>
        </p:nvSpPr>
        <p:spPr>
          <a:xfrm>
            <a:off x="6309360" y="2953512"/>
            <a:ext cx="5303520" cy="822960"/>
          </a:xfrm>
          <a:prstGeom prst="rect">
            <a:avLst/>
          </a:prstGeom>
          <a:noFill/>
          <a:ln/>
        </p:spPr>
        <p:txBody>
          <a:bodyPr wrap="square" lIns="0" tIns="0" rIns="0" bIns="0" rtlCol="0" anchor="t"/>
          <a:lstStyle/>
          <a:p>
            <a:pPr indent="0" marL="0">
              <a:lnSpc>
                <a:spcPct val="125000"/>
              </a:lnSpc>
              <a:buNone/>
            </a:pPr>
            <a:r>
              <a:rPr lang="en-US" sz="1150" dirty="0">
                <a:solidFill>
                  <a:srgbClr val="8A939B"/>
                </a:solidFill>
                <a:latin typeface="Calibri" pitchFamily="34" charset="0"/>
                <a:ea typeface="Calibri" pitchFamily="34" charset="-122"/>
                <a:cs typeface="Calibri" pitchFamily="34" charset="-120"/>
              </a:rPr>
              <a:t>Column sums of Allocation: X = 1+2+2+0+1 = 6, Y = 2+0+1+1+1 = 5, Z = 2+1+1+2+0 = 6.</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9951415" y="6454750"/>
            <a:ext cx="201168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8</a:t>
            </a:r>
            <a:endParaRPr lang="en-US" sz="1000" dirty="0"/>
          </a:p>
        </p:txBody>
      </p:sp>
      <p:sp>
        <p:nvSpPr>
          <p:cNvPr id="3" name="Text 1"/>
          <p:cNvSpPr txBox="1"/>
          <p:nvPr/>
        </p:nvSpPr>
        <p:spPr>
          <a:xfrm>
            <a:off x="548640" y="365760"/>
            <a:ext cx="11094415" cy="320040"/>
          </a:xfrm>
          <a:prstGeom prst="rect">
            <a:avLst/>
          </a:prstGeom>
          <a:noFill/>
          <a:ln/>
        </p:spPr>
        <p:txBody>
          <a:bodyPr wrap="square" lIns="0" tIns="0" rIns="0" bIns="0" rtlCol="0" anchor="ctr"/>
          <a:lstStyle/>
          <a:p>
            <a:pPr indent="0" marL="0">
              <a:buNone/>
            </a:pPr>
            <a:r>
              <a:rPr lang="en-US" sz="1250" b="1" spc="250" kern="0" dirty="0">
                <a:solidFill>
                  <a:srgbClr val="2FE6C4"/>
                </a:solidFill>
                <a:latin typeface="Calibri" pitchFamily="34" charset="0"/>
                <a:ea typeface="Calibri" pitchFamily="34" charset="-122"/>
                <a:cs typeface="Calibri" pitchFamily="34" charset="-120"/>
              </a:rPr>
              <a:t>SAFETY ALGORITHM</a:t>
            </a:r>
            <a:endParaRPr lang="en-US" sz="1250" dirty="0"/>
          </a:p>
        </p:txBody>
      </p:sp>
      <p:sp>
        <p:nvSpPr>
          <p:cNvPr id="4" name="Text 2"/>
          <p:cNvSpPr txBox="1"/>
          <p:nvPr/>
        </p:nvSpPr>
        <p:spPr>
          <a:xfrm>
            <a:off x="548640" y="713232"/>
            <a:ext cx="11094415" cy="713232"/>
          </a:xfrm>
          <a:prstGeom prst="rect">
            <a:avLst/>
          </a:prstGeom>
          <a:noFill/>
          <a:ln/>
        </p:spPr>
        <p:txBody>
          <a:bodyPr wrap="square" lIns="0" tIns="0" rIns="0" bIns="0" rtlCol="0" anchor="ctr"/>
          <a:lstStyle/>
          <a:p>
            <a:pPr indent="0" marL="0">
              <a:buNone/>
            </a:pPr>
            <a:r>
              <a:rPr lang="en-US" sz="2600" b="1" dirty="0">
                <a:solidFill>
                  <a:srgbClr val="1F2429"/>
                </a:solidFill>
                <a:latin typeface="Calibri" pitchFamily="34" charset="0"/>
                <a:ea typeface="Calibri" pitchFamily="34" charset="-122"/>
                <a:cs typeface="Calibri" pitchFamily="34" charset="-120"/>
              </a:rPr>
              <a:t>Finding a Safe Sequence by Hand</a:t>
            </a:r>
            <a:endParaRPr lang="en-US" sz="2600" dirty="0"/>
          </a:p>
        </p:txBody>
      </p:sp>
      <p:sp>
        <p:nvSpPr>
          <p:cNvPr id="5" name="Shape 3"/>
          <p:cNvSpPr/>
          <p:nvPr/>
        </p:nvSpPr>
        <p:spPr>
          <a:xfrm>
            <a:off x="792328" y="1719072"/>
            <a:ext cx="1691640" cy="868680"/>
          </a:xfrm>
          <a:prstGeom prst="roundRect">
            <a:avLst>
              <a:gd name="adj" fmla="val 7368"/>
            </a:avLst>
          </a:prstGeom>
          <a:solidFill>
            <a:srgbClr val="F0F2F4"/>
          </a:solidFill>
          <a:ln/>
        </p:spPr>
      </p:sp>
      <p:sp>
        <p:nvSpPr>
          <p:cNvPr id="6" name="Text 4"/>
          <p:cNvSpPr txBox="1"/>
          <p:nvPr/>
        </p:nvSpPr>
        <p:spPr>
          <a:xfrm>
            <a:off x="792328" y="1810512"/>
            <a:ext cx="1691640" cy="292608"/>
          </a:xfrm>
          <a:prstGeom prst="rect">
            <a:avLst/>
          </a:prstGeom>
          <a:noFill/>
          <a:ln/>
        </p:spPr>
        <p:txBody>
          <a:bodyPr wrap="square" lIns="0" tIns="0" rIns="0" bIns="0" rtlCol="0" anchor="ctr"/>
          <a:lstStyle/>
          <a:p>
            <a:pPr algn="ctr" indent="0" marL="0">
              <a:buNone/>
            </a:pPr>
            <a:r>
              <a:rPr lang="en-US" sz="1050" b="1" dirty="0">
                <a:solidFill>
                  <a:srgbClr val="1F2429"/>
                </a:solidFill>
                <a:latin typeface="Calibri" pitchFamily="34" charset="0"/>
                <a:ea typeface="Calibri" pitchFamily="34" charset="-122"/>
                <a:cs typeface="Calibri" pitchFamily="34" charset="-120"/>
              </a:rPr>
              <a:t>Start</a:t>
            </a:r>
            <a:endParaRPr lang="en-US" sz="1050" dirty="0"/>
          </a:p>
        </p:txBody>
      </p:sp>
      <p:sp>
        <p:nvSpPr>
          <p:cNvPr id="7" name="Text 5"/>
          <p:cNvSpPr txBox="1"/>
          <p:nvPr/>
        </p:nvSpPr>
        <p:spPr>
          <a:xfrm>
            <a:off x="792328" y="2139696"/>
            <a:ext cx="1691640" cy="365760"/>
          </a:xfrm>
          <a:prstGeom prst="rect">
            <a:avLst/>
          </a:prstGeom>
          <a:noFill/>
          <a:ln/>
        </p:spPr>
        <p:txBody>
          <a:bodyPr wrap="square" lIns="0" tIns="0" rIns="0" bIns="0" rtlCol="0" anchor="ctr"/>
          <a:lstStyle/>
          <a:p>
            <a:pPr algn="ctr" indent="0" marL="0">
              <a:buNone/>
            </a:pPr>
            <a:r>
              <a:rPr lang="en-US" sz="1050" dirty="0">
                <a:solidFill>
                  <a:srgbClr val="1F2429"/>
                </a:solidFill>
                <a:latin typeface="Calibri" pitchFamily="34" charset="0"/>
                <a:ea typeface="Calibri" pitchFamily="34" charset="-122"/>
                <a:cs typeface="Calibri" pitchFamily="34" charset="-120"/>
              </a:rPr>
              <a:t>Work=(3,1,2)</a:t>
            </a:r>
            <a:endParaRPr lang="en-US" sz="1050" dirty="0"/>
          </a:p>
        </p:txBody>
      </p:sp>
      <p:sp>
        <p:nvSpPr>
          <p:cNvPr id="8" name="Shape 6"/>
          <p:cNvSpPr/>
          <p:nvPr/>
        </p:nvSpPr>
        <p:spPr>
          <a:xfrm>
            <a:off x="2488540" y="2080260"/>
            <a:ext cx="82296" cy="146304"/>
          </a:xfrm>
          <a:prstGeom prst="rightArrow">
            <a:avLst/>
          </a:prstGeom>
          <a:solidFill>
            <a:srgbClr val="8A939B"/>
          </a:solidFill>
          <a:ln/>
        </p:spPr>
      </p:sp>
      <p:sp>
        <p:nvSpPr>
          <p:cNvPr id="9" name="Shape 7"/>
          <p:cNvSpPr/>
          <p:nvPr/>
        </p:nvSpPr>
        <p:spPr>
          <a:xfrm>
            <a:off x="2575408" y="1719072"/>
            <a:ext cx="1691640" cy="868680"/>
          </a:xfrm>
          <a:prstGeom prst="roundRect">
            <a:avLst>
              <a:gd name="adj" fmla="val 7368"/>
            </a:avLst>
          </a:prstGeom>
          <a:solidFill>
            <a:srgbClr val="8B7FD9"/>
          </a:solidFill>
          <a:ln/>
        </p:spPr>
      </p:sp>
      <p:sp>
        <p:nvSpPr>
          <p:cNvPr id="10" name="Text 8"/>
          <p:cNvSpPr txBox="1"/>
          <p:nvPr/>
        </p:nvSpPr>
        <p:spPr>
          <a:xfrm>
            <a:off x="2575408" y="1810512"/>
            <a:ext cx="1691640"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P3 done</a:t>
            </a:r>
            <a:endParaRPr lang="en-US" sz="1050" dirty="0"/>
          </a:p>
        </p:txBody>
      </p:sp>
      <p:sp>
        <p:nvSpPr>
          <p:cNvPr id="11" name="Text 9"/>
          <p:cNvSpPr txBox="1"/>
          <p:nvPr/>
        </p:nvSpPr>
        <p:spPr>
          <a:xfrm>
            <a:off x="2575408" y="2139696"/>
            <a:ext cx="1691640" cy="365760"/>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Work=(3,2,4)</a:t>
            </a:r>
            <a:endParaRPr lang="en-US" sz="1050" dirty="0"/>
          </a:p>
        </p:txBody>
      </p:sp>
      <p:sp>
        <p:nvSpPr>
          <p:cNvPr id="12" name="Shape 10"/>
          <p:cNvSpPr/>
          <p:nvPr/>
        </p:nvSpPr>
        <p:spPr>
          <a:xfrm>
            <a:off x="4271620" y="2080260"/>
            <a:ext cx="82296" cy="146304"/>
          </a:xfrm>
          <a:prstGeom prst="rightArrow">
            <a:avLst/>
          </a:prstGeom>
          <a:solidFill>
            <a:srgbClr val="8A939B"/>
          </a:solidFill>
          <a:ln/>
        </p:spPr>
      </p:sp>
      <p:sp>
        <p:nvSpPr>
          <p:cNvPr id="13" name="Shape 11"/>
          <p:cNvSpPr/>
          <p:nvPr/>
        </p:nvSpPr>
        <p:spPr>
          <a:xfrm>
            <a:off x="4358488" y="1719072"/>
            <a:ext cx="1691640" cy="868680"/>
          </a:xfrm>
          <a:prstGeom prst="roundRect">
            <a:avLst>
              <a:gd name="adj" fmla="val 7368"/>
            </a:avLst>
          </a:prstGeom>
          <a:solidFill>
            <a:srgbClr val="8B7FD9"/>
          </a:solidFill>
          <a:ln/>
        </p:spPr>
      </p:sp>
      <p:sp>
        <p:nvSpPr>
          <p:cNvPr id="14" name="Text 12"/>
          <p:cNvSpPr txBox="1"/>
          <p:nvPr/>
        </p:nvSpPr>
        <p:spPr>
          <a:xfrm>
            <a:off x="4358488" y="1810512"/>
            <a:ext cx="1691640"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P1 done</a:t>
            </a:r>
            <a:endParaRPr lang="en-US" sz="1050" dirty="0"/>
          </a:p>
        </p:txBody>
      </p:sp>
      <p:sp>
        <p:nvSpPr>
          <p:cNvPr id="15" name="Text 13"/>
          <p:cNvSpPr txBox="1"/>
          <p:nvPr/>
        </p:nvSpPr>
        <p:spPr>
          <a:xfrm>
            <a:off x="4358488" y="2139696"/>
            <a:ext cx="1691640" cy="365760"/>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Work=(5,2,5)</a:t>
            </a:r>
            <a:endParaRPr lang="en-US" sz="1050" dirty="0"/>
          </a:p>
        </p:txBody>
      </p:sp>
      <p:sp>
        <p:nvSpPr>
          <p:cNvPr id="16" name="Shape 14"/>
          <p:cNvSpPr/>
          <p:nvPr/>
        </p:nvSpPr>
        <p:spPr>
          <a:xfrm>
            <a:off x="6054700" y="2080260"/>
            <a:ext cx="82296" cy="146304"/>
          </a:xfrm>
          <a:prstGeom prst="rightArrow">
            <a:avLst/>
          </a:prstGeom>
          <a:solidFill>
            <a:srgbClr val="8A939B"/>
          </a:solidFill>
          <a:ln/>
        </p:spPr>
      </p:sp>
      <p:sp>
        <p:nvSpPr>
          <p:cNvPr id="17" name="Shape 15"/>
          <p:cNvSpPr/>
          <p:nvPr/>
        </p:nvSpPr>
        <p:spPr>
          <a:xfrm>
            <a:off x="6141568" y="1719072"/>
            <a:ext cx="1691640" cy="868680"/>
          </a:xfrm>
          <a:prstGeom prst="roundRect">
            <a:avLst>
              <a:gd name="adj" fmla="val 7368"/>
            </a:avLst>
          </a:prstGeom>
          <a:solidFill>
            <a:srgbClr val="8B7FD9"/>
          </a:solidFill>
          <a:ln/>
        </p:spPr>
      </p:sp>
      <p:sp>
        <p:nvSpPr>
          <p:cNvPr id="18" name="Text 16"/>
          <p:cNvSpPr txBox="1"/>
          <p:nvPr/>
        </p:nvSpPr>
        <p:spPr>
          <a:xfrm>
            <a:off x="6141568" y="1810512"/>
            <a:ext cx="1691640"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P0 done</a:t>
            </a:r>
            <a:endParaRPr lang="en-US" sz="1050" dirty="0"/>
          </a:p>
        </p:txBody>
      </p:sp>
      <p:sp>
        <p:nvSpPr>
          <p:cNvPr id="19" name="Text 17"/>
          <p:cNvSpPr txBox="1"/>
          <p:nvPr/>
        </p:nvSpPr>
        <p:spPr>
          <a:xfrm>
            <a:off x="6141568" y="2139696"/>
            <a:ext cx="1691640" cy="365760"/>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Work=(6,4,7)</a:t>
            </a:r>
            <a:endParaRPr lang="en-US" sz="1050" dirty="0"/>
          </a:p>
        </p:txBody>
      </p:sp>
      <p:sp>
        <p:nvSpPr>
          <p:cNvPr id="20" name="Shape 18"/>
          <p:cNvSpPr/>
          <p:nvPr/>
        </p:nvSpPr>
        <p:spPr>
          <a:xfrm>
            <a:off x="7837780" y="2080260"/>
            <a:ext cx="82296" cy="146304"/>
          </a:xfrm>
          <a:prstGeom prst="rightArrow">
            <a:avLst/>
          </a:prstGeom>
          <a:solidFill>
            <a:srgbClr val="8A939B"/>
          </a:solidFill>
          <a:ln/>
        </p:spPr>
      </p:sp>
      <p:sp>
        <p:nvSpPr>
          <p:cNvPr id="21" name="Shape 19"/>
          <p:cNvSpPr/>
          <p:nvPr/>
        </p:nvSpPr>
        <p:spPr>
          <a:xfrm>
            <a:off x="7924648" y="1719072"/>
            <a:ext cx="1691640" cy="868680"/>
          </a:xfrm>
          <a:prstGeom prst="roundRect">
            <a:avLst>
              <a:gd name="adj" fmla="val 7368"/>
            </a:avLst>
          </a:prstGeom>
          <a:solidFill>
            <a:srgbClr val="8B7FD9"/>
          </a:solidFill>
          <a:ln/>
        </p:spPr>
      </p:sp>
      <p:sp>
        <p:nvSpPr>
          <p:cNvPr id="22" name="Text 20"/>
          <p:cNvSpPr txBox="1"/>
          <p:nvPr/>
        </p:nvSpPr>
        <p:spPr>
          <a:xfrm>
            <a:off x="7924648" y="1810512"/>
            <a:ext cx="1691640"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P2 done</a:t>
            </a:r>
            <a:endParaRPr lang="en-US" sz="1050" dirty="0"/>
          </a:p>
        </p:txBody>
      </p:sp>
      <p:sp>
        <p:nvSpPr>
          <p:cNvPr id="23" name="Text 21"/>
          <p:cNvSpPr txBox="1"/>
          <p:nvPr/>
        </p:nvSpPr>
        <p:spPr>
          <a:xfrm>
            <a:off x="7924648" y="2139696"/>
            <a:ext cx="1691640" cy="365760"/>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Work=(8,5,8)</a:t>
            </a:r>
            <a:endParaRPr lang="en-US" sz="1050" dirty="0"/>
          </a:p>
        </p:txBody>
      </p:sp>
      <p:sp>
        <p:nvSpPr>
          <p:cNvPr id="24" name="Shape 22"/>
          <p:cNvSpPr/>
          <p:nvPr/>
        </p:nvSpPr>
        <p:spPr>
          <a:xfrm>
            <a:off x="9620860" y="2080260"/>
            <a:ext cx="82296" cy="146304"/>
          </a:xfrm>
          <a:prstGeom prst="rightArrow">
            <a:avLst/>
          </a:prstGeom>
          <a:solidFill>
            <a:srgbClr val="8A939B"/>
          </a:solidFill>
          <a:ln/>
        </p:spPr>
      </p:sp>
      <p:sp>
        <p:nvSpPr>
          <p:cNvPr id="25" name="Shape 23"/>
          <p:cNvSpPr/>
          <p:nvPr/>
        </p:nvSpPr>
        <p:spPr>
          <a:xfrm>
            <a:off x="9707728" y="1719072"/>
            <a:ext cx="1691640" cy="868680"/>
          </a:xfrm>
          <a:prstGeom prst="roundRect">
            <a:avLst>
              <a:gd name="adj" fmla="val 7368"/>
            </a:avLst>
          </a:prstGeom>
          <a:solidFill>
            <a:srgbClr val="8B7FD9"/>
          </a:solidFill>
          <a:ln/>
        </p:spPr>
      </p:sp>
      <p:sp>
        <p:nvSpPr>
          <p:cNvPr id="26" name="Text 24"/>
          <p:cNvSpPr txBox="1"/>
          <p:nvPr/>
        </p:nvSpPr>
        <p:spPr>
          <a:xfrm>
            <a:off x="9707728" y="1810512"/>
            <a:ext cx="1691640"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P4 done</a:t>
            </a:r>
            <a:endParaRPr lang="en-US" sz="1050" dirty="0"/>
          </a:p>
        </p:txBody>
      </p:sp>
      <p:sp>
        <p:nvSpPr>
          <p:cNvPr id="27" name="Text 25"/>
          <p:cNvSpPr txBox="1"/>
          <p:nvPr/>
        </p:nvSpPr>
        <p:spPr>
          <a:xfrm>
            <a:off x="9707728" y="2139696"/>
            <a:ext cx="1691640" cy="365760"/>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Work=(9,6,8)</a:t>
            </a:r>
            <a:endParaRPr lang="en-US" sz="10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2862072"/>
          <a:ext cx="11094415" cy="914400"/>
        </p:xfrm>
        <a:graphic>
          <a:graphicData uri="http://schemas.openxmlformats.org/drawingml/2006/table">
            <a:tbl>
              <a:tblPr/>
              <a:tblGrid>
                <a:gridCol w="1188720"/>
                <a:gridCol w="1920240"/>
                <a:gridCol w="6400800"/>
                <a:gridCol w="1581912"/>
              </a:tblGrid>
              <a:tr h="365760">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Step</a:t>
                      </a:r>
                      <a:endParaRPr lang="en-US" sz="110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14181C"/>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Scan Finds</a:t>
                      </a:r>
                      <a:endParaRPr lang="en-US" sz="110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14181C"/>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Why It Qualifies (Need ≤ Work)</a:t>
                      </a:r>
                      <a:endParaRPr lang="en-US" sz="110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14181C"/>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Work After</a:t>
                      </a:r>
                      <a:endParaRPr lang="en-US" sz="110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14181C"/>
                    </a:solidFill>
                  </a:tcPr>
                </a:tc>
              </a:tr>
              <a:tr h="365760">
                <a:tc>
                  <a:txBody>
                    <a:bodyPr/>
                    <a:lstStyle/>
                    <a:p>
                      <a:pPr algn="l" indent="0" marL="0">
                        <a:buNone/>
                      </a:pPr>
                      <a:r>
                        <a:rPr lang="en-US" sz="1100" b="1" dirty="0">
                          <a:solidFill>
                            <a:srgbClr val="1F2429"/>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429"/>
                          </a:solidFill>
                          <a:latin typeface="Calibri" pitchFamily="34" charset="0"/>
                          <a:ea typeface="Calibri" pitchFamily="34" charset="-122"/>
                          <a:cs typeface="Calibri" pitchFamily="34" charset="-120"/>
                        </a:rPr>
                        <a:t>P3</a:t>
                      </a:r>
                      <a:endParaRPr lang="en-US" sz="110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429"/>
                          </a:solidFill>
                          <a:latin typeface="Calibri" pitchFamily="34" charset="0"/>
                          <a:ea typeface="Calibri" pitchFamily="34" charset="-122"/>
                          <a:cs typeface="Calibri" pitchFamily="34" charset="-120"/>
                        </a:rPr>
                        <a:t>Need (2,1,1) ≤ (3,1,2)? Yes</a:t>
                      </a:r>
                      <a:endParaRPr lang="en-US" sz="110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429"/>
                          </a:solidFill>
                          <a:latin typeface="Calibri" pitchFamily="34" charset="0"/>
                          <a:ea typeface="Calibri" pitchFamily="34" charset="-122"/>
                          <a:cs typeface="Calibri" pitchFamily="34" charset="-120"/>
                        </a:rPr>
                        <a:t>(3,2,4)</a:t>
                      </a:r>
                      <a:endParaRPr lang="en-US" sz="110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FFFFF"/>
                    </a:solidFill>
                  </a:tcPr>
                </a:tc>
              </a:tr>
              <a:tr h="365760">
                <a:tc>
                  <a:txBody>
                    <a:bodyPr/>
                    <a:lstStyle/>
                    <a:p>
                      <a:pPr algn="l" indent="0" marL="0">
                        <a:buNone/>
                      </a:pPr>
                      <a:r>
                        <a:rPr lang="en-US" sz="1100" b="1" dirty="0">
                          <a:solidFill>
                            <a:srgbClr val="1F2429"/>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0F2F4"/>
                    </a:solidFill>
                  </a:tcPr>
                </a:tc>
                <a:tc>
                  <a:txBody>
                    <a:bodyPr/>
                    <a:lstStyle/>
                    <a:p>
                      <a:pPr algn="ctr" indent="0" marL="0">
                        <a:buNone/>
                      </a:pPr>
                      <a:r>
                        <a:rPr lang="en-US" sz="1100" dirty="0">
                          <a:solidFill>
                            <a:srgbClr val="1F2429"/>
                          </a:solidFill>
                          <a:latin typeface="Calibri" pitchFamily="34" charset="0"/>
                          <a:ea typeface="Calibri" pitchFamily="34" charset="-122"/>
                          <a:cs typeface="Calibri" pitchFamily="34" charset="-120"/>
                        </a:rPr>
                        <a:t>P1</a:t>
                      </a:r>
                      <a:endParaRPr lang="en-US" sz="110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0F2F4"/>
                    </a:solidFill>
                  </a:tcPr>
                </a:tc>
                <a:tc>
                  <a:txBody>
                    <a:bodyPr/>
                    <a:lstStyle/>
                    <a:p>
                      <a:pPr algn="ctr" indent="0" marL="0">
                        <a:buNone/>
                      </a:pPr>
                      <a:r>
                        <a:rPr lang="en-US" sz="1100" dirty="0">
                          <a:solidFill>
                            <a:srgbClr val="1F2429"/>
                          </a:solidFill>
                          <a:latin typeface="Calibri" pitchFamily="34" charset="0"/>
                          <a:ea typeface="Calibri" pitchFamily="34" charset="-122"/>
                          <a:cs typeface="Calibri" pitchFamily="34" charset="-120"/>
                        </a:rPr>
                        <a:t>Need (1,2,1) ≤ (3,2,4)? Yes</a:t>
                      </a:r>
                      <a:endParaRPr lang="en-US" sz="110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0F2F4"/>
                    </a:solidFill>
                  </a:tcPr>
                </a:tc>
                <a:tc>
                  <a:txBody>
                    <a:bodyPr/>
                    <a:lstStyle/>
                    <a:p>
                      <a:pPr algn="ctr" indent="0" marL="0">
                        <a:buNone/>
                      </a:pPr>
                      <a:r>
                        <a:rPr lang="en-US" sz="1100" dirty="0">
                          <a:solidFill>
                            <a:srgbClr val="1F2429"/>
                          </a:solidFill>
                          <a:latin typeface="Calibri" pitchFamily="34" charset="0"/>
                          <a:ea typeface="Calibri" pitchFamily="34" charset="-122"/>
                          <a:cs typeface="Calibri" pitchFamily="34" charset="-120"/>
                        </a:rPr>
                        <a:t>(5,2,5)</a:t>
                      </a:r>
                      <a:endParaRPr lang="en-US" sz="110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0F2F4"/>
                    </a:solidFill>
                  </a:tcPr>
                </a:tc>
              </a:tr>
              <a:tr h="365760">
                <a:tc>
                  <a:txBody>
                    <a:bodyPr/>
                    <a:lstStyle/>
                    <a:p>
                      <a:pPr algn="l" indent="0" marL="0">
                        <a:buNone/>
                      </a:pPr>
                      <a:r>
                        <a:rPr lang="en-US" sz="1100" b="1" dirty="0">
                          <a:solidFill>
                            <a:srgbClr val="1F2429"/>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429"/>
                          </a:solidFill>
                          <a:latin typeface="Calibri" pitchFamily="34" charset="0"/>
                          <a:ea typeface="Calibri" pitchFamily="34" charset="-122"/>
                          <a:cs typeface="Calibri" pitchFamily="34" charset="-120"/>
                        </a:rPr>
                        <a:t>P0</a:t>
                      </a:r>
                      <a:endParaRPr lang="en-US" sz="110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429"/>
                          </a:solidFill>
                          <a:latin typeface="Calibri" pitchFamily="34" charset="0"/>
                          <a:ea typeface="Calibri" pitchFamily="34" charset="-122"/>
                          <a:cs typeface="Calibri" pitchFamily="34" charset="-120"/>
                        </a:rPr>
                        <a:t>Need (4,2,2) ≤ (5,2,5)? Yes</a:t>
                      </a:r>
                      <a:endParaRPr lang="en-US" sz="110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429"/>
                          </a:solidFill>
                          <a:latin typeface="Calibri" pitchFamily="34" charset="0"/>
                          <a:ea typeface="Calibri" pitchFamily="34" charset="-122"/>
                          <a:cs typeface="Calibri" pitchFamily="34" charset="-120"/>
                        </a:rPr>
                        <a:t>(6,4,7)</a:t>
                      </a:r>
                      <a:endParaRPr lang="en-US" sz="110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FFFFF"/>
                    </a:solidFill>
                  </a:tcPr>
                </a:tc>
              </a:tr>
              <a:tr h="365760">
                <a:tc>
                  <a:txBody>
                    <a:bodyPr/>
                    <a:lstStyle/>
                    <a:p>
                      <a:pPr algn="l" indent="0" marL="0">
                        <a:buNone/>
                      </a:pPr>
                      <a:r>
                        <a:rPr lang="en-US" sz="1100" b="1" dirty="0">
                          <a:solidFill>
                            <a:srgbClr val="1F2429"/>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0F2F4"/>
                    </a:solidFill>
                  </a:tcPr>
                </a:tc>
                <a:tc>
                  <a:txBody>
                    <a:bodyPr/>
                    <a:lstStyle/>
                    <a:p>
                      <a:pPr algn="ctr" indent="0" marL="0">
                        <a:buNone/>
                      </a:pPr>
                      <a:r>
                        <a:rPr lang="en-US" sz="1100" dirty="0">
                          <a:solidFill>
                            <a:srgbClr val="1F2429"/>
                          </a:solidFill>
                          <a:latin typeface="Calibri" pitchFamily="34" charset="0"/>
                          <a:ea typeface="Calibri" pitchFamily="34" charset="-122"/>
                          <a:cs typeface="Calibri" pitchFamily="34" charset="-120"/>
                        </a:rPr>
                        <a:t>P2</a:t>
                      </a:r>
                      <a:endParaRPr lang="en-US" sz="110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0F2F4"/>
                    </a:solidFill>
                  </a:tcPr>
                </a:tc>
                <a:tc>
                  <a:txBody>
                    <a:bodyPr/>
                    <a:lstStyle/>
                    <a:p>
                      <a:pPr algn="ctr" indent="0" marL="0">
                        <a:buNone/>
                      </a:pPr>
                      <a:r>
                        <a:rPr lang="en-US" sz="1100" dirty="0">
                          <a:solidFill>
                            <a:srgbClr val="1F2429"/>
                          </a:solidFill>
                          <a:latin typeface="Calibri" pitchFamily="34" charset="0"/>
                          <a:ea typeface="Calibri" pitchFamily="34" charset="-122"/>
                          <a:cs typeface="Calibri" pitchFamily="34" charset="-120"/>
                        </a:rPr>
                        <a:t>Need (3,2,2) ≤ (6,4,7)? Yes</a:t>
                      </a:r>
                      <a:endParaRPr lang="en-US" sz="110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0F2F4"/>
                    </a:solidFill>
                  </a:tcPr>
                </a:tc>
                <a:tc>
                  <a:txBody>
                    <a:bodyPr/>
                    <a:lstStyle/>
                    <a:p>
                      <a:pPr algn="ctr" indent="0" marL="0">
                        <a:buNone/>
                      </a:pPr>
                      <a:r>
                        <a:rPr lang="en-US" sz="1100" dirty="0">
                          <a:solidFill>
                            <a:srgbClr val="1F2429"/>
                          </a:solidFill>
                          <a:latin typeface="Calibri" pitchFamily="34" charset="0"/>
                          <a:ea typeface="Calibri" pitchFamily="34" charset="-122"/>
                          <a:cs typeface="Calibri" pitchFamily="34" charset="-120"/>
                        </a:rPr>
                        <a:t>(8,5,8)</a:t>
                      </a:r>
                      <a:endParaRPr lang="en-US" sz="110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0F2F4"/>
                    </a:solidFill>
                  </a:tcPr>
                </a:tc>
              </a:tr>
              <a:tr h="365760">
                <a:tc>
                  <a:txBody>
                    <a:bodyPr/>
                    <a:lstStyle/>
                    <a:p>
                      <a:pPr algn="l" indent="0" marL="0">
                        <a:buNone/>
                      </a:pPr>
                      <a:r>
                        <a:rPr lang="en-US" sz="1100" b="1" dirty="0">
                          <a:solidFill>
                            <a:srgbClr val="1F2429"/>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429"/>
                          </a:solidFill>
                          <a:latin typeface="Calibri" pitchFamily="34" charset="0"/>
                          <a:ea typeface="Calibri" pitchFamily="34" charset="-122"/>
                          <a:cs typeface="Calibri" pitchFamily="34" charset="-120"/>
                        </a:rPr>
                        <a:t>P4</a:t>
                      </a:r>
                      <a:endParaRPr lang="en-US" sz="110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429"/>
                          </a:solidFill>
                          <a:latin typeface="Calibri" pitchFamily="34" charset="0"/>
                          <a:ea typeface="Calibri" pitchFamily="34" charset="-122"/>
                          <a:cs typeface="Calibri" pitchFamily="34" charset="-120"/>
                        </a:rPr>
                        <a:t>Need (2,2,2) ≤ (8,5,8)? Yes</a:t>
                      </a:r>
                      <a:endParaRPr lang="en-US" sz="110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429"/>
                          </a:solidFill>
                          <a:latin typeface="Calibri" pitchFamily="34" charset="0"/>
                          <a:ea typeface="Calibri" pitchFamily="34" charset="-122"/>
                          <a:cs typeface="Calibri" pitchFamily="34" charset="-120"/>
                        </a:rPr>
                        <a:t>(9,6,8)</a:t>
                      </a:r>
                      <a:endParaRPr lang="en-US" sz="110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FFFFF"/>
                    </a:solidFill>
                  </a:tcPr>
                </a:tc>
              </a:tr>
            </a:tbl>
          </a:graphicData>
        </a:graphic>
      </p:graphicFrame>
      <p:sp>
        <p:nvSpPr>
          <p:cNvPr id="29" name="Shape 26"/>
          <p:cNvSpPr/>
          <p:nvPr/>
        </p:nvSpPr>
        <p:spPr>
          <a:xfrm>
            <a:off x="548640" y="5010912"/>
            <a:ext cx="11094415" cy="594360"/>
          </a:xfrm>
          <a:prstGeom prst="roundRect">
            <a:avLst>
              <a:gd name="adj" fmla="val 12308"/>
            </a:avLst>
          </a:prstGeom>
          <a:solidFill>
            <a:srgbClr val="E9F9F3"/>
          </a:solidFill>
          <a:ln w="12700">
            <a:solidFill>
              <a:srgbClr val="1FAE8C"/>
            </a:solidFill>
            <a:prstDash val="solid"/>
          </a:ln>
        </p:spPr>
      </p:sp>
      <p:sp>
        <p:nvSpPr>
          <p:cNvPr id="30" name="Text 27"/>
          <p:cNvSpPr txBox="1"/>
          <p:nvPr/>
        </p:nvSpPr>
        <p:spPr>
          <a:xfrm>
            <a:off x="804672" y="5120640"/>
            <a:ext cx="10582351" cy="374904"/>
          </a:xfrm>
          <a:prstGeom prst="rect">
            <a:avLst/>
          </a:prstGeom>
          <a:noFill/>
          <a:ln/>
        </p:spPr>
        <p:txBody>
          <a:bodyPr wrap="square" lIns="0" tIns="0" rIns="0" bIns="0" rtlCol="0" anchor="t"/>
          <a:lstStyle/>
          <a:p>
            <a:pPr indent="0" marL="0">
              <a:lnSpc>
                <a:spcPct val="112000"/>
              </a:lnSpc>
              <a:buNone/>
            </a:pPr>
            <a:r>
              <a:rPr lang="en-US" sz="1150" dirty="0">
                <a:solidFill>
                  <a:srgbClr val="1F2429"/>
                </a:solidFill>
                <a:latin typeface="Calibri" pitchFamily="34" charset="0"/>
                <a:ea typeface="Calibri" pitchFamily="34" charset="-122"/>
                <a:cs typeface="Calibri" pitchFamily="34" charset="-120"/>
              </a:rPr>
              <a:t>Safe sequence: P3, P1, P0, P2, P4. The final Work vector (9,6,8) equals the system totals — a built-in arithmetic check.</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9951415" y="6454750"/>
            <a:ext cx="201168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9</a:t>
            </a:r>
            <a:endParaRPr lang="en-US" sz="1000" dirty="0"/>
          </a:p>
        </p:txBody>
      </p:sp>
      <p:sp>
        <p:nvSpPr>
          <p:cNvPr id="3" name="Text 1"/>
          <p:cNvSpPr txBox="1"/>
          <p:nvPr/>
        </p:nvSpPr>
        <p:spPr>
          <a:xfrm>
            <a:off x="548640" y="365760"/>
            <a:ext cx="11094415" cy="320040"/>
          </a:xfrm>
          <a:prstGeom prst="rect">
            <a:avLst/>
          </a:prstGeom>
          <a:noFill/>
          <a:ln/>
        </p:spPr>
        <p:txBody>
          <a:bodyPr wrap="square" lIns="0" tIns="0" rIns="0" bIns="0" rtlCol="0" anchor="ctr"/>
          <a:lstStyle/>
          <a:p>
            <a:pPr indent="0" marL="0">
              <a:buNone/>
            </a:pPr>
            <a:r>
              <a:rPr lang="en-US" sz="1250" b="1" spc="250" kern="0" dirty="0">
                <a:solidFill>
                  <a:srgbClr val="E8A33D"/>
                </a:solidFill>
                <a:latin typeface="Calibri" pitchFamily="34" charset="0"/>
                <a:ea typeface="Calibri" pitchFamily="34" charset="-122"/>
                <a:cs typeface="Calibri" pitchFamily="34" charset="-120"/>
              </a:rPr>
              <a:t>REQUEST HANDLING</a:t>
            </a:r>
            <a:endParaRPr lang="en-US" sz="1250" dirty="0"/>
          </a:p>
        </p:txBody>
      </p:sp>
      <p:sp>
        <p:nvSpPr>
          <p:cNvPr id="4" name="Text 2"/>
          <p:cNvSpPr txBox="1"/>
          <p:nvPr/>
        </p:nvSpPr>
        <p:spPr>
          <a:xfrm>
            <a:off x="548640" y="713232"/>
            <a:ext cx="11094415" cy="713232"/>
          </a:xfrm>
          <a:prstGeom prst="rect">
            <a:avLst/>
          </a:prstGeom>
          <a:noFill/>
          <a:ln/>
        </p:spPr>
        <p:txBody>
          <a:bodyPr wrap="square" lIns="0" tIns="0" rIns="0" bIns="0" rtlCol="0" anchor="ctr"/>
          <a:lstStyle/>
          <a:p>
            <a:pPr indent="0" marL="0">
              <a:buNone/>
            </a:pPr>
            <a:r>
              <a:rPr lang="en-US" sz="2600" b="1" dirty="0">
                <a:solidFill>
                  <a:srgbClr val="1F2429"/>
                </a:solidFill>
                <a:latin typeface="Calibri" pitchFamily="34" charset="0"/>
                <a:ea typeface="Calibri" pitchFamily="34" charset="-122"/>
                <a:cs typeface="Calibri" pitchFamily="34" charset="-120"/>
              </a:rPr>
              <a:t>The Resource-Request Algorithm</a:t>
            </a:r>
            <a:endParaRPr lang="en-US" sz="2600" dirty="0"/>
          </a:p>
        </p:txBody>
      </p:sp>
      <p:sp>
        <p:nvSpPr>
          <p:cNvPr id="5" name="Text 3"/>
          <p:cNvSpPr txBox="1"/>
          <p:nvPr/>
        </p:nvSpPr>
        <p:spPr>
          <a:xfrm>
            <a:off x="621792" y="1536192"/>
            <a:ext cx="10948111" cy="2286000"/>
          </a:xfrm>
          <a:prstGeom prst="rect">
            <a:avLst/>
          </a:prstGeom>
          <a:noFill/>
          <a:ln/>
        </p:spPr>
        <p:txBody>
          <a:bodyPr wrap="square" lIns="0" tIns="0" rIns="0" bIns="0" rtlCol="0" anchor="t"/>
          <a:lstStyle/>
          <a:p>
            <a:pPr marL="342900" indent="-342900">
              <a:spcAft>
                <a:spcPts val="1100"/>
              </a:spcAft>
              <a:buSzPct val="100000"/>
              <a:buChar char="•"/>
            </a:pPr>
            <a:r>
              <a:rPr lang="en-US" sz="1400" dirty="0">
                <a:solidFill>
                  <a:srgbClr val="1F2429"/>
                </a:solidFill>
                <a:latin typeface="Calibri" pitchFamily="34" charset="0"/>
                <a:ea typeface="Calibri" pitchFamily="34" charset="-122"/>
                <a:cs typeface="Calibri" pitchFamily="34" charset="-120"/>
              </a:rPr>
              <a:t>Check 1: is the request ≤ that process’s remaining Need?</a:t>
            </a:r>
            <a:endParaRPr lang="en-US" sz="1400" dirty="0"/>
          </a:p>
          <a:p>
            <a:pPr marL="342900" indent="-342900">
              <a:spcAft>
                <a:spcPts val="1100"/>
              </a:spcAft>
              <a:buSzPct val="100000"/>
              <a:buChar char="•"/>
            </a:pPr>
            <a:r>
              <a:rPr lang="en-US" sz="1400" dirty="0">
                <a:solidFill>
                  <a:srgbClr val="1F2429"/>
                </a:solidFill>
                <a:latin typeface="Calibri" pitchFamily="34" charset="0"/>
                <a:ea typeface="Calibri" pitchFamily="34" charset="-122"/>
                <a:cs typeface="Calibri" pitchFamily="34" charset="-120"/>
              </a:rPr>
              <a:t>Check 2: is the request ≤ current Available?</a:t>
            </a:r>
            <a:endParaRPr lang="en-US" sz="1400" dirty="0"/>
          </a:p>
          <a:p>
            <a:pPr marL="342900" indent="-342900">
              <a:spcAft>
                <a:spcPts val="1100"/>
              </a:spcAft>
              <a:buSzPct val="100000"/>
              <a:buChar char="•"/>
            </a:pPr>
            <a:r>
              <a:rPr lang="en-US" sz="1400" dirty="0">
                <a:solidFill>
                  <a:srgbClr val="1F2429"/>
                </a:solidFill>
                <a:latin typeface="Calibri" pitchFamily="34" charset="0"/>
                <a:ea typeface="Calibri" pitchFamily="34" charset="-122"/>
                <a:cs typeface="Calibri" pitchFamily="34" charset="-120"/>
              </a:rPr>
              <a:t>If both pass, pretend-grant it — update Available, Allocation, and Need as if the grant happened</a:t>
            </a:r>
            <a:endParaRPr lang="en-US" sz="1400" dirty="0"/>
          </a:p>
          <a:p>
            <a:pPr marL="342900" indent="-342900">
              <a:spcAft>
                <a:spcPts val="1100"/>
              </a:spcAft>
              <a:buSzPct val="100000"/>
              <a:buChar char="•"/>
            </a:pPr>
            <a:r>
              <a:rPr lang="en-US" sz="1400" dirty="0">
                <a:solidFill>
                  <a:srgbClr val="1F2429"/>
                </a:solidFill>
                <a:latin typeface="Calibri" pitchFamily="34" charset="0"/>
                <a:ea typeface="Calibri" pitchFamily="34" charset="-122"/>
                <a:cs typeface="Calibri" pitchFamily="34" charset="-120"/>
              </a:rPr>
              <a:t>Rerun the Safety Algorithm on that hypothetical state</a:t>
            </a:r>
            <a:endParaRPr lang="en-US" sz="1400" dirty="0"/>
          </a:p>
          <a:p>
            <a:pPr marL="342900" indent="-342900">
              <a:spcAft>
                <a:spcPts val="1100"/>
              </a:spcAft>
              <a:buSzPct val="100000"/>
              <a:buChar char="•"/>
            </a:pPr>
            <a:r>
              <a:rPr lang="en-US" sz="1400" dirty="0">
                <a:solidFill>
                  <a:srgbClr val="1F2429"/>
                </a:solidFill>
                <a:latin typeface="Calibri" pitchFamily="34" charset="0"/>
                <a:ea typeface="Calibri" pitchFamily="34" charset="-122"/>
                <a:cs typeface="Calibri" pitchFamily="34" charset="-120"/>
              </a:rPr>
              <a:t>Only if the hypothetical state is still safe does the grant become permanent; otherwise roll back and the process waits</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9951415" y="6454750"/>
            <a:ext cx="201168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10</a:t>
            </a:r>
            <a:endParaRPr lang="en-US" sz="1000" dirty="0"/>
          </a:p>
        </p:txBody>
      </p:sp>
      <p:sp>
        <p:nvSpPr>
          <p:cNvPr id="3" name="Text 1"/>
          <p:cNvSpPr txBox="1"/>
          <p:nvPr/>
        </p:nvSpPr>
        <p:spPr>
          <a:xfrm>
            <a:off x="548640" y="365760"/>
            <a:ext cx="11094415" cy="320040"/>
          </a:xfrm>
          <a:prstGeom prst="rect">
            <a:avLst/>
          </a:prstGeom>
          <a:noFill/>
          <a:ln/>
        </p:spPr>
        <p:txBody>
          <a:bodyPr wrap="square" lIns="0" tIns="0" rIns="0" bIns="0" rtlCol="0" anchor="ctr"/>
          <a:lstStyle/>
          <a:p>
            <a:pPr indent="0" marL="0">
              <a:buNone/>
            </a:pPr>
            <a:r>
              <a:rPr lang="en-US" sz="1250" b="1" spc="250" kern="0" dirty="0">
                <a:solidFill>
                  <a:srgbClr val="2FE6C4"/>
                </a:solidFill>
                <a:latin typeface="Calibri" pitchFamily="34" charset="0"/>
                <a:ea typeface="Calibri" pitchFamily="34" charset="-122"/>
                <a:cs typeface="Calibri" pitchFamily="34" charset="-120"/>
              </a:rPr>
              <a:t>EXAMPLE A</a:t>
            </a:r>
            <a:endParaRPr lang="en-US" sz="1250" dirty="0"/>
          </a:p>
        </p:txBody>
      </p:sp>
      <p:sp>
        <p:nvSpPr>
          <p:cNvPr id="4" name="Text 2"/>
          <p:cNvSpPr txBox="1"/>
          <p:nvPr/>
        </p:nvSpPr>
        <p:spPr>
          <a:xfrm>
            <a:off x="548640" y="713232"/>
            <a:ext cx="11094415" cy="713232"/>
          </a:xfrm>
          <a:prstGeom prst="rect">
            <a:avLst/>
          </a:prstGeom>
          <a:noFill/>
          <a:ln/>
        </p:spPr>
        <p:txBody>
          <a:bodyPr wrap="square" lIns="0" tIns="0" rIns="0" bIns="0" rtlCol="0" anchor="ctr"/>
          <a:lstStyle/>
          <a:p>
            <a:pPr indent="0" marL="0">
              <a:buNone/>
            </a:pPr>
            <a:r>
              <a:rPr lang="en-US" sz="2600" b="1" dirty="0">
                <a:solidFill>
                  <a:srgbClr val="1F2429"/>
                </a:solidFill>
                <a:latin typeface="Calibri" pitchFamily="34" charset="0"/>
                <a:ea typeface="Calibri" pitchFamily="34" charset="-122"/>
                <a:cs typeface="Calibri" pitchFamily="34" charset="-120"/>
              </a:rPr>
              <a:t>P1 Requests (1, 0, 1) — Granted</a:t>
            </a:r>
            <a:endParaRPr lang="en-US" sz="2600" dirty="0"/>
          </a:p>
        </p:txBody>
      </p:sp>
      <p:sp>
        <p:nvSpPr>
          <p:cNvPr id="5" name="Text 3"/>
          <p:cNvSpPr txBox="1"/>
          <p:nvPr/>
        </p:nvSpPr>
        <p:spPr>
          <a:xfrm>
            <a:off x="621792" y="1536192"/>
            <a:ext cx="10948111" cy="228600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1F2429"/>
                </a:solidFill>
                <a:latin typeface="Calibri" pitchFamily="34" charset="0"/>
                <a:ea typeface="Calibri" pitchFamily="34" charset="-122"/>
                <a:cs typeface="Calibri" pitchFamily="34" charset="-120"/>
              </a:rPr>
              <a:t>Check 1: (1,0,1) ≤ Need[P1]=(1,2,1)? Yes</a:t>
            </a:r>
            <a:endParaRPr lang="en-US" sz="1250" dirty="0"/>
          </a:p>
          <a:p>
            <a:pPr marL="342900" indent="-342900">
              <a:spcAft>
                <a:spcPts val="600"/>
              </a:spcAft>
              <a:buSzPct val="100000"/>
              <a:buChar char="•"/>
            </a:pPr>
            <a:r>
              <a:rPr lang="en-US" sz="1250" dirty="0">
                <a:solidFill>
                  <a:srgbClr val="1F2429"/>
                </a:solidFill>
                <a:latin typeface="Calibri" pitchFamily="34" charset="0"/>
                <a:ea typeface="Calibri" pitchFamily="34" charset="-122"/>
                <a:cs typeface="Calibri" pitchFamily="34" charset="-120"/>
              </a:rPr>
              <a:t>Check 2: (1,0,1) ≤ Available=(3,1,2)? Yes</a:t>
            </a:r>
            <a:endParaRPr lang="en-US" sz="1250" dirty="0"/>
          </a:p>
          <a:p>
            <a:pPr marL="342900" indent="-342900">
              <a:spcAft>
                <a:spcPts val="600"/>
              </a:spcAft>
              <a:buSzPct val="100000"/>
              <a:buChar char="•"/>
            </a:pPr>
            <a:r>
              <a:rPr lang="en-US" sz="1250" dirty="0">
                <a:solidFill>
                  <a:srgbClr val="1F2429"/>
                </a:solidFill>
                <a:latin typeface="Calibri" pitchFamily="34" charset="0"/>
                <a:ea typeface="Calibri" pitchFamily="34" charset="-122"/>
                <a:cs typeface="Calibri" pitchFamily="34" charset="-120"/>
              </a:rPr>
              <a:t>Pretend-grant: Available′=(2,1,1), Allocation′[P1]=(3,0,2), Need′[P1]=(0,2,0)</a:t>
            </a:r>
            <a:endParaRPr lang="en-US" sz="1250" dirty="0"/>
          </a:p>
        </p:txBody>
      </p:sp>
      <p:sp>
        <p:nvSpPr>
          <p:cNvPr id="6" name="Shape 4"/>
          <p:cNvSpPr/>
          <p:nvPr/>
        </p:nvSpPr>
        <p:spPr>
          <a:xfrm>
            <a:off x="1066648" y="2724912"/>
            <a:ext cx="1600200" cy="868680"/>
          </a:xfrm>
          <a:prstGeom prst="roundRect">
            <a:avLst>
              <a:gd name="adj" fmla="val 7368"/>
            </a:avLst>
          </a:prstGeom>
          <a:solidFill>
            <a:srgbClr val="F0F2F4"/>
          </a:solidFill>
          <a:ln/>
        </p:spPr>
      </p:sp>
      <p:sp>
        <p:nvSpPr>
          <p:cNvPr id="7" name="Text 5"/>
          <p:cNvSpPr txBox="1"/>
          <p:nvPr/>
        </p:nvSpPr>
        <p:spPr>
          <a:xfrm>
            <a:off x="1066648" y="2816352"/>
            <a:ext cx="1600200" cy="292608"/>
          </a:xfrm>
          <a:prstGeom prst="rect">
            <a:avLst/>
          </a:prstGeom>
          <a:noFill/>
          <a:ln/>
        </p:spPr>
        <p:txBody>
          <a:bodyPr wrap="square" lIns="0" tIns="0" rIns="0" bIns="0" rtlCol="0" anchor="ctr"/>
          <a:lstStyle/>
          <a:p>
            <a:pPr algn="ctr" indent="0" marL="0">
              <a:buNone/>
            </a:pPr>
            <a:r>
              <a:rPr lang="en-US" sz="1050" b="1" dirty="0">
                <a:solidFill>
                  <a:srgbClr val="1F2429"/>
                </a:solidFill>
                <a:latin typeface="Calibri" pitchFamily="34" charset="0"/>
                <a:ea typeface="Calibri" pitchFamily="34" charset="-122"/>
                <a:cs typeface="Calibri" pitchFamily="34" charset="-120"/>
              </a:rPr>
              <a:t>Start</a:t>
            </a:r>
            <a:endParaRPr lang="en-US" sz="1050" dirty="0"/>
          </a:p>
        </p:txBody>
      </p:sp>
      <p:sp>
        <p:nvSpPr>
          <p:cNvPr id="8" name="Text 6"/>
          <p:cNvSpPr txBox="1"/>
          <p:nvPr/>
        </p:nvSpPr>
        <p:spPr>
          <a:xfrm>
            <a:off x="1066648" y="3145536"/>
            <a:ext cx="1600200" cy="365760"/>
          </a:xfrm>
          <a:prstGeom prst="rect">
            <a:avLst/>
          </a:prstGeom>
          <a:noFill/>
          <a:ln/>
        </p:spPr>
        <p:txBody>
          <a:bodyPr wrap="square" lIns="0" tIns="0" rIns="0" bIns="0" rtlCol="0" anchor="ctr"/>
          <a:lstStyle/>
          <a:p>
            <a:pPr algn="ctr" indent="0" marL="0">
              <a:buNone/>
            </a:pPr>
            <a:r>
              <a:rPr lang="en-US" sz="1050" dirty="0">
                <a:solidFill>
                  <a:srgbClr val="1F2429"/>
                </a:solidFill>
                <a:latin typeface="Calibri" pitchFamily="34" charset="0"/>
                <a:ea typeface="Calibri" pitchFamily="34" charset="-122"/>
                <a:cs typeface="Calibri" pitchFamily="34" charset="-120"/>
              </a:rPr>
              <a:t>Work=(2,1,1)</a:t>
            </a:r>
            <a:endParaRPr lang="en-US" sz="1050" dirty="0"/>
          </a:p>
        </p:txBody>
      </p:sp>
      <p:sp>
        <p:nvSpPr>
          <p:cNvPr id="9" name="Shape 7"/>
          <p:cNvSpPr/>
          <p:nvPr/>
        </p:nvSpPr>
        <p:spPr>
          <a:xfrm>
            <a:off x="2671420" y="3086100"/>
            <a:ext cx="82296" cy="146304"/>
          </a:xfrm>
          <a:prstGeom prst="rightArrow">
            <a:avLst/>
          </a:prstGeom>
          <a:solidFill>
            <a:srgbClr val="8A939B"/>
          </a:solidFill>
          <a:ln/>
        </p:spPr>
      </p:sp>
      <p:sp>
        <p:nvSpPr>
          <p:cNvPr id="10" name="Shape 8"/>
          <p:cNvSpPr/>
          <p:nvPr/>
        </p:nvSpPr>
        <p:spPr>
          <a:xfrm>
            <a:off x="2758288" y="2724912"/>
            <a:ext cx="1600200" cy="868680"/>
          </a:xfrm>
          <a:prstGeom prst="roundRect">
            <a:avLst>
              <a:gd name="adj" fmla="val 7368"/>
            </a:avLst>
          </a:prstGeom>
          <a:solidFill>
            <a:srgbClr val="8B7FD9"/>
          </a:solidFill>
          <a:ln/>
        </p:spPr>
      </p:sp>
      <p:sp>
        <p:nvSpPr>
          <p:cNvPr id="11" name="Text 9"/>
          <p:cNvSpPr txBox="1"/>
          <p:nvPr/>
        </p:nvSpPr>
        <p:spPr>
          <a:xfrm>
            <a:off x="2758288" y="2816352"/>
            <a:ext cx="1600200"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P3 done</a:t>
            </a:r>
            <a:endParaRPr lang="en-US" sz="1050" dirty="0"/>
          </a:p>
        </p:txBody>
      </p:sp>
      <p:sp>
        <p:nvSpPr>
          <p:cNvPr id="12" name="Text 10"/>
          <p:cNvSpPr txBox="1"/>
          <p:nvPr/>
        </p:nvSpPr>
        <p:spPr>
          <a:xfrm>
            <a:off x="2758288" y="3145536"/>
            <a:ext cx="1600200" cy="365760"/>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Work=(2,2,3)</a:t>
            </a:r>
            <a:endParaRPr lang="en-US" sz="1050" dirty="0"/>
          </a:p>
        </p:txBody>
      </p:sp>
      <p:sp>
        <p:nvSpPr>
          <p:cNvPr id="13" name="Shape 11"/>
          <p:cNvSpPr/>
          <p:nvPr/>
        </p:nvSpPr>
        <p:spPr>
          <a:xfrm>
            <a:off x="4363060" y="3086100"/>
            <a:ext cx="82296" cy="146304"/>
          </a:xfrm>
          <a:prstGeom prst="rightArrow">
            <a:avLst/>
          </a:prstGeom>
          <a:solidFill>
            <a:srgbClr val="8A939B"/>
          </a:solidFill>
          <a:ln/>
        </p:spPr>
      </p:sp>
      <p:sp>
        <p:nvSpPr>
          <p:cNvPr id="14" name="Shape 12"/>
          <p:cNvSpPr/>
          <p:nvPr/>
        </p:nvSpPr>
        <p:spPr>
          <a:xfrm>
            <a:off x="4449928" y="2724912"/>
            <a:ext cx="1600200" cy="868680"/>
          </a:xfrm>
          <a:prstGeom prst="roundRect">
            <a:avLst>
              <a:gd name="adj" fmla="val 7368"/>
            </a:avLst>
          </a:prstGeom>
          <a:solidFill>
            <a:srgbClr val="8B7FD9"/>
          </a:solidFill>
          <a:ln/>
        </p:spPr>
      </p:sp>
      <p:sp>
        <p:nvSpPr>
          <p:cNvPr id="15" name="Text 13"/>
          <p:cNvSpPr txBox="1"/>
          <p:nvPr/>
        </p:nvSpPr>
        <p:spPr>
          <a:xfrm>
            <a:off x="4449928" y="2816352"/>
            <a:ext cx="1600200"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P1 done</a:t>
            </a:r>
            <a:endParaRPr lang="en-US" sz="1050" dirty="0"/>
          </a:p>
        </p:txBody>
      </p:sp>
      <p:sp>
        <p:nvSpPr>
          <p:cNvPr id="16" name="Text 14"/>
          <p:cNvSpPr txBox="1"/>
          <p:nvPr/>
        </p:nvSpPr>
        <p:spPr>
          <a:xfrm>
            <a:off x="4449928" y="3145536"/>
            <a:ext cx="1600200" cy="365760"/>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Work=(5,2,5)</a:t>
            </a:r>
            <a:endParaRPr lang="en-US" sz="1050" dirty="0"/>
          </a:p>
        </p:txBody>
      </p:sp>
      <p:sp>
        <p:nvSpPr>
          <p:cNvPr id="17" name="Shape 15"/>
          <p:cNvSpPr/>
          <p:nvPr/>
        </p:nvSpPr>
        <p:spPr>
          <a:xfrm>
            <a:off x="6054700" y="3086100"/>
            <a:ext cx="82296" cy="146304"/>
          </a:xfrm>
          <a:prstGeom prst="rightArrow">
            <a:avLst/>
          </a:prstGeom>
          <a:solidFill>
            <a:srgbClr val="8A939B"/>
          </a:solidFill>
          <a:ln/>
        </p:spPr>
      </p:sp>
      <p:sp>
        <p:nvSpPr>
          <p:cNvPr id="18" name="Shape 16"/>
          <p:cNvSpPr/>
          <p:nvPr/>
        </p:nvSpPr>
        <p:spPr>
          <a:xfrm>
            <a:off x="6141568" y="2724912"/>
            <a:ext cx="1600200" cy="868680"/>
          </a:xfrm>
          <a:prstGeom prst="roundRect">
            <a:avLst>
              <a:gd name="adj" fmla="val 7368"/>
            </a:avLst>
          </a:prstGeom>
          <a:solidFill>
            <a:srgbClr val="8B7FD9"/>
          </a:solidFill>
          <a:ln/>
        </p:spPr>
      </p:sp>
      <p:sp>
        <p:nvSpPr>
          <p:cNvPr id="19" name="Text 17"/>
          <p:cNvSpPr txBox="1"/>
          <p:nvPr/>
        </p:nvSpPr>
        <p:spPr>
          <a:xfrm>
            <a:off x="6141568" y="2816352"/>
            <a:ext cx="1600200"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P0 done</a:t>
            </a:r>
            <a:endParaRPr lang="en-US" sz="1050" dirty="0"/>
          </a:p>
        </p:txBody>
      </p:sp>
      <p:sp>
        <p:nvSpPr>
          <p:cNvPr id="20" name="Text 18"/>
          <p:cNvSpPr txBox="1"/>
          <p:nvPr/>
        </p:nvSpPr>
        <p:spPr>
          <a:xfrm>
            <a:off x="6141568" y="3145536"/>
            <a:ext cx="1600200" cy="365760"/>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Work=(6,4,7)</a:t>
            </a:r>
            <a:endParaRPr lang="en-US" sz="1050" dirty="0"/>
          </a:p>
        </p:txBody>
      </p:sp>
      <p:sp>
        <p:nvSpPr>
          <p:cNvPr id="21" name="Shape 19"/>
          <p:cNvSpPr/>
          <p:nvPr/>
        </p:nvSpPr>
        <p:spPr>
          <a:xfrm>
            <a:off x="7746340" y="3086100"/>
            <a:ext cx="82296" cy="146304"/>
          </a:xfrm>
          <a:prstGeom prst="rightArrow">
            <a:avLst/>
          </a:prstGeom>
          <a:solidFill>
            <a:srgbClr val="8A939B"/>
          </a:solidFill>
          <a:ln/>
        </p:spPr>
      </p:sp>
      <p:sp>
        <p:nvSpPr>
          <p:cNvPr id="22" name="Shape 20"/>
          <p:cNvSpPr/>
          <p:nvPr/>
        </p:nvSpPr>
        <p:spPr>
          <a:xfrm>
            <a:off x="7833208" y="2724912"/>
            <a:ext cx="1600200" cy="868680"/>
          </a:xfrm>
          <a:prstGeom prst="roundRect">
            <a:avLst>
              <a:gd name="adj" fmla="val 7368"/>
            </a:avLst>
          </a:prstGeom>
          <a:solidFill>
            <a:srgbClr val="8B7FD9"/>
          </a:solidFill>
          <a:ln/>
        </p:spPr>
      </p:sp>
      <p:sp>
        <p:nvSpPr>
          <p:cNvPr id="23" name="Text 21"/>
          <p:cNvSpPr txBox="1"/>
          <p:nvPr/>
        </p:nvSpPr>
        <p:spPr>
          <a:xfrm>
            <a:off x="7833208" y="2816352"/>
            <a:ext cx="1600200"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P2 done</a:t>
            </a:r>
            <a:endParaRPr lang="en-US" sz="1050" dirty="0"/>
          </a:p>
        </p:txBody>
      </p:sp>
      <p:sp>
        <p:nvSpPr>
          <p:cNvPr id="24" name="Text 22"/>
          <p:cNvSpPr txBox="1"/>
          <p:nvPr/>
        </p:nvSpPr>
        <p:spPr>
          <a:xfrm>
            <a:off x="7833208" y="3145536"/>
            <a:ext cx="1600200" cy="365760"/>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Work=(8,5,8)</a:t>
            </a:r>
            <a:endParaRPr lang="en-US" sz="1050" dirty="0"/>
          </a:p>
        </p:txBody>
      </p:sp>
      <p:sp>
        <p:nvSpPr>
          <p:cNvPr id="25" name="Shape 23"/>
          <p:cNvSpPr/>
          <p:nvPr/>
        </p:nvSpPr>
        <p:spPr>
          <a:xfrm>
            <a:off x="9437980" y="3086100"/>
            <a:ext cx="82296" cy="146304"/>
          </a:xfrm>
          <a:prstGeom prst="rightArrow">
            <a:avLst/>
          </a:prstGeom>
          <a:solidFill>
            <a:srgbClr val="8A939B"/>
          </a:solidFill>
          <a:ln/>
        </p:spPr>
      </p:sp>
      <p:sp>
        <p:nvSpPr>
          <p:cNvPr id="26" name="Shape 24"/>
          <p:cNvSpPr/>
          <p:nvPr/>
        </p:nvSpPr>
        <p:spPr>
          <a:xfrm>
            <a:off x="9524848" y="2724912"/>
            <a:ext cx="1600200" cy="868680"/>
          </a:xfrm>
          <a:prstGeom prst="roundRect">
            <a:avLst>
              <a:gd name="adj" fmla="val 7368"/>
            </a:avLst>
          </a:prstGeom>
          <a:solidFill>
            <a:srgbClr val="8B7FD9"/>
          </a:solidFill>
          <a:ln/>
        </p:spPr>
      </p:sp>
      <p:sp>
        <p:nvSpPr>
          <p:cNvPr id="27" name="Text 25"/>
          <p:cNvSpPr txBox="1"/>
          <p:nvPr/>
        </p:nvSpPr>
        <p:spPr>
          <a:xfrm>
            <a:off x="9524848" y="2816352"/>
            <a:ext cx="1600200"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P4 done</a:t>
            </a:r>
            <a:endParaRPr lang="en-US" sz="1050" dirty="0"/>
          </a:p>
        </p:txBody>
      </p:sp>
      <p:sp>
        <p:nvSpPr>
          <p:cNvPr id="28" name="Text 26"/>
          <p:cNvSpPr txBox="1"/>
          <p:nvPr/>
        </p:nvSpPr>
        <p:spPr>
          <a:xfrm>
            <a:off x="9524848" y="3145536"/>
            <a:ext cx="1600200" cy="365760"/>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Work=(9,6,8)</a:t>
            </a:r>
            <a:endParaRPr lang="en-US" sz="1050" dirty="0"/>
          </a:p>
        </p:txBody>
      </p:sp>
      <p:sp>
        <p:nvSpPr>
          <p:cNvPr id="29" name="Shape 27"/>
          <p:cNvSpPr/>
          <p:nvPr/>
        </p:nvSpPr>
        <p:spPr>
          <a:xfrm>
            <a:off x="548640" y="3822192"/>
            <a:ext cx="11094415" cy="777240"/>
          </a:xfrm>
          <a:prstGeom prst="roundRect">
            <a:avLst>
              <a:gd name="adj" fmla="val 9412"/>
            </a:avLst>
          </a:prstGeom>
          <a:solidFill>
            <a:srgbClr val="E9F9F3"/>
          </a:solidFill>
          <a:ln w="12700">
            <a:solidFill>
              <a:srgbClr val="1FAE8C"/>
            </a:solidFill>
            <a:prstDash val="solid"/>
          </a:ln>
        </p:spPr>
      </p:sp>
      <p:sp>
        <p:nvSpPr>
          <p:cNvPr id="30" name="Text 28"/>
          <p:cNvSpPr txBox="1"/>
          <p:nvPr/>
        </p:nvSpPr>
        <p:spPr>
          <a:xfrm>
            <a:off x="804672" y="3931920"/>
            <a:ext cx="10582351" cy="237744"/>
          </a:xfrm>
          <a:prstGeom prst="rect">
            <a:avLst/>
          </a:prstGeom>
          <a:noFill/>
          <a:ln/>
        </p:spPr>
        <p:txBody>
          <a:bodyPr wrap="square" lIns="0" tIns="0" rIns="0" bIns="0" rtlCol="0" anchor="ctr"/>
          <a:lstStyle/>
          <a:p>
            <a:pPr indent="0" marL="0">
              <a:buNone/>
            </a:pPr>
            <a:r>
              <a:rPr lang="en-US" sz="1100" b="1" spc="200" kern="0" dirty="0">
                <a:solidFill>
                  <a:srgbClr val="0E7A61"/>
                </a:solidFill>
                <a:latin typeface="Calibri" pitchFamily="34" charset="0"/>
                <a:ea typeface="Calibri" pitchFamily="34" charset="-122"/>
                <a:cs typeface="Calibri" pitchFamily="34" charset="-120"/>
              </a:rPr>
              <a:t>GRANTED</a:t>
            </a:r>
            <a:endParaRPr lang="en-US" sz="1100" dirty="0"/>
          </a:p>
        </p:txBody>
      </p:sp>
      <p:sp>
        <p:nvSpPr>
          <p:cNvPr id="31" name="Text 29"/>
          <p:cNvSpPr txBox="1"/>
          <p:nvPr/>
        </p:nvSpPr>
        <p:spPr>
          <a:xfrm>
            <a:off x="804672" y="4206240"/>
            <a:ext cx="10582351" cy="283464"/>
          </a:xfrm>
          <a:prstGeom prst="rect">
            <a:avLst/>
          </a:prstGeom>
          <a:noFill/>
          <a:ln/>
        </p:spPr>
        <p:txBody>
          <a:bodyPr wrap="square" lIns="0" tIns="0" rIns="0" bIns="0" rtlCol="0" anchor="t"/>
          <a:lstStyle/>
          <a:p>
            <a:pPr indent="0" marL="0">
              <a:lnSpc>
                <a:spcPct val="112000"/>
              </a:lnSpc>
              <a:buNone/>
            </a:pPr>
            <a:r>
              <a:rPr lang="en-US" sz="1250" dirty="0">
                <a:solidFill>
                  <a:srgbClr val="1F2429"/>
                </a:solidFill>
                <a:latin typeface="Calibri" pitchFamily="34" charset="0"/>
                <a:ea typeface="Calibri" pitchFamily="34" charset="-122"/>
                <a:cs typeface="Calibri" pitchFamily="34" charset="-120"/>
              </a:rPr>
              <a:t>The hypothetical state is safe (sequence P3, P1, P0, P2, P4; Work returns to (9,6,8)), so P1’s request is granted immediately and permanently.</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9951415" y="6454750"/>
            <a:ext cx="201168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11</a:t>
            </a:r>
            <a:endParaRPr lang="en-US" sz="1000" dirty="0"/>
          </a:p>
        </p:txBody>
      </p:sp>
      <p:sp>
        <p:nvSpPr>
          <p:cNvPr id="3" name="Text 1"/>
          <p:cNvSpPr txBox="1"/>
          <p:nvPr/>
        </p:nvSpPr>
        <p:spPr>
          <a:xfrm>
            <a:off x="548640" y="365760"/>
            <a:ext cx="11094415" cy="320040"/>
          </a:xfrm>
          <a:prstGeom prst="rect">
            <a:avLst/>
          </a:prstGeom>
          <a:noFill/>
          <a:ln/>
        </p:spPr>
        <p:txBody>
          <a:bodyPr wrap="square" lIns="0" tIns="0" rIns="0" bIns="0" rtlCol="0" anchor="ctr"/>
          <a:lstStyle/>
          <a:p>
            <a:pPr indent="0" marL="0">
              <a:buNone/>
            </a:pPr>
            <a:r>
              <a:rPr lang="en-US" sz="1250" b="1" spc="250" kern="0" dirty="0">
                <a:solidFill>
                  <a:srgbClr val="E8A33D"/>
                </a:solidFill>
                <a:latin typeface="Calibri" pitchFamily="34" charset="0"/>
                <a:ea typeface="Calibri" pitchFamily="34" charset="-122"/>
                <a:cs typeface="Calibri" pitchFamily="34" charset="-120"/>
              </a:rPr>
              <a:t>EXAMPLE B</a:t>
            </a:r>
            <a:endParaRPr lang="en-US" sz="1250" dirty="0"/>
          </a:p>
        </p:txBody>
      </p:sp>
      <p:sp>
        <p:nvSpPr>
          <p:cNvPr id="4" name="Text 2"/>
          <p:cNvSpPr txBox="1"/>
          <p:nvPr/>
        </p:nvSpPr>
        <p:spPr>
          <a:xfrm>
            <a:off x="548640" y="713232"/>
            <a:ext cx="11094415" cy="713232"/>
          </a:xfrm>
          <a:prstGeom prst="rect">
            <a:avLst/>
          </a:prstGeom>
          <a:noFill/>
          <a:ln/>
        </p:spPr>
        <p:txBody>
          <a:bodyPr wrap="square" lIns="0" tIns="0" rIns="0" bIns="0" rtlCol="0" anchor="ctr"/>
          <a:lstStyle/>
          <a:p>
            <a:pPr indent="0" marL="0">
              <a:buNone/>
            </a:pPr>
            <a:r>
              <a:rPr lang="en-US" sz="2600" b="1" dirty="0">
                <a:solidFill>
                  <a:srgbClr val="1F2429"/>
                </a:solidFill>
                <a:latin typeface="Calibri" pitchFamily="34" charset="0"/>
                <a:ea typeface="Calibri" pitchFamily="34" charset="-122"/>
                <a:cs typeface="Calibri" pitchFamily="34" charset="-120"/>
              </a:rPr>
              <a:t>P2 Requests (2, 1, 0) — Denied</a:t>
            </a:r>
            <a:endParaRPr lang="en-US" sz="2600" dirty="0"/>
          </a:p>
        </p:txBody>
      </p:sp>
      <p:sp>
        <p:nvSpPr>
          <p:cNvPr id="5" name="Text 3"/>
          <p:cNvSpPr txBox="1"/>
          <p:nvPr/>
        </p:nvSpPr>
        <p:spPr>
          <a:xfrm>
            <a:off x="621792" y="1536192"/>
            <a:ext cx="10948111" cy="228600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1F2429"/>
                </a:solidFill>
                <a:latin typeface="Calibri" pitchFamily="34" charset="0"/>
                <a:ea typeface="Calibri" pitchFamily="34" charset="-122"/>
                <a:cs typeface="Calibri" pitchFamily="34" charset="-120"/>
              </a:rPr>
              <a:t>Check 1: (2,1,0) ≤ Need[P2]=(3,2,2)? Yes. Check 2: (2,1,0) ≤ Available=(3,1,2)? Yes</a:t>
            </a:r>
            <a:endParaRPr lang="en-US" sz="1250" dirty="0"/>
          </a:p>
          <a:p>
            <a:pPr marL="342900" indent="-342900">
              <a:spcAft>
                <a:spcPts val="600"/>
              </a:spcAft>
              <a:buSzPct val="100000"/>
              <a:buChar char="•"/>
            </a:pPr>
            <a:r>
              <a:rPr lang="en-US" sz="1250" dirty="0">
                <a:solidFill>
                  <a:srgbClr val="1F2429"/>
                </a:solidFill>
                <a:latin typeface="Calibri" pitchFamily="34" charset="0"/>
                <a:ea typeface="Calibri" pitchFamily="34" charset="-122"/>
                <a:cs typeface="Calibri" pitchFamily="34" charset="-120"/>
              </a:rPr>
              <a:t>Pretend-grant: Available′=(1,0,2), Allocation′[P2]=(4,2,1), Need′[P2]=(1,1,2)</a:t>
            </a:r>
            <a:endParaRPr lang="en-US" sz="125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2313432"/>
          <a:ext cx="6400800" cy="914400"/>
        </p:xfrm>
        <a:graphic>
          <a:graphicData uri="http://schemas.openxmlformats.org/drawingml/2006/table">
            <a:tbl>
              <a:tblPr/>
              <a:tblGrid>
                <a:gridCol w="1371600"/>
                <a:gridCol w="2286000"/>
                <a:gridCol w="2743200"/>
              </a:tblGrid>
              <a:tr h="384048">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Process</a:t>
                      </a:r>
                      <a:endParaRPr lang="en-US" sz="11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14181C"/>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Need</a:t>
                      </a:r>
                      <a:endParaRPr lang="en-US" sz="11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14181C"/>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Need ≤ Work (1,0,2)?</a:t>
                      </a:r>
                      <a:endParaRPr lang="en-US" sz="11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14181C"/>
                    </a:solidFill>
                  </a:tcPr>
                </a:tc>
              </a:tr>
              <a:tr h="384048">
                <a:tc>
                  <a:txBody>
                    <a:bodyPr/>
                    <a:lstStyle/>
                    <a:p>
                      <a:pPr algn="l" indent="0" marL="0">
                        <a:buNone/>
                      </a:pPr>
                      <a:r>
                        <a:rPr lang="en-US" sz="1150" b="1" dirty="0">
                          <a:solidFill>
                            <a:srgbClr val="1F2429"/>
                          </a:solidFill>
                          <a:latin typeface="Calibri" pitchFamily="34" charset="0"/>
                          <a:ea typeface="Calibri" pitchFamily="34" charset="-122"/>
                          <a:cs typeface="Calibri" pitchFamily="34" charset="-120"/>
                        </a:rPr>
                        <a:t>P0</a:t>
                      </a:r>
                      <a:endParaRPr lang="en-US" sz="11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F2429"/>
                          </a:solidFill>
                          <a:latin typeface="Calibri" pitchFamily="34" charset="0"/>
                          <a:ea typeface="Calibri" pitchFamily="34" charset="-122"/>
                          <a:cs typeface="Calibri" pitchFamily="34" charset="-120"/>
                        </a:rPr>
                        <a:t>(4,2,2)</a:t>
                      </a:r>
                      <a:endParaRPr lang="en-US" sz="11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F2429"/>
                          </a:solidFill>
                          <a:latin typeface="Calibri" pitchFamily="34" charset="0"/>
                          <a:ea typeface="Calibri" pitchFamily="34" charset="-122"/>
                          <a:cs typeface="Calibri" pitchFamily="34" charset="-120"/>
                        </a:rPr>
                        <a:t>No — 4 &gt; 1</a:t>
                      </a:r>
                      <a:endParaRPr lang="en-US" sz="11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FFFFF"/>
                    </a:solidFill>
                  </a:tcPr>
                </a:tc>
              </a:tr>
              <a:tr h="384048">
                <a:tc>
                  <a:txBody>
                    <a:bodyPr/>
                    <a:lstStyle/>
                    <a:p>
                      <a:pPr algn="l" indent="0" marL="0">
                        <a:buNone/>
                      </a:pPr>
                      <a:r>
                        <a:rPr lang="en-US" sz="1150" b="1" dirty="0">
                          <a:solidFill>
                            <a:srgbClr val="1F2429"/>
                          </a:solidFill>
                          <a:latin typeface="Calibri" pitchFamily="34" charset="0"/>
                          <a:ea typeface="Calibri" pitchFamily="34" charset="-122"/>
                          <a:cs typeface="Calibri" pitchFamily="34" charset="-120"/>
                        </a:rPr>
                        <a:t>P1</a:t>
                      </a:r>
                      <a:endParaRPr lang="en-US" sz="11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0F2F4"/>
                    </a:solidFill>
                  </a:tcPr>
                </a:tc>
                <a:tc>
                  <a:txBody>
                    <a:bodyPr/>
                    <a:lstStyle/>
                    <a:p>
                      <a:pPr algn="ctr" indent="0" marL="0">
                        <a:buNone/>
                      </a:pPr>
                      <a:r>
                        <a:rPr lang="en-US" sz="1150" dirty="0">
                          <a:solidFill>
                            <a:srgbClr val="1F2429"/>
                          </a:solidFill>
                          <a:latin typeface="Calibri" pitchFamily="34" charset="0"/>
                          <a:ea typeface="Calibri" pitchFamily="34" charset="-122"/>
                          <a:cs typeface="Calibri" pitchFamily="34" charset="-120"/>
                        </a:rPr>
                        <a:t>(1,2,1)</a:t>
                      </a:r>
                      <a:endParaRPr lang="en-US" sz="11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0F2F4"/>
                    </a:solidFill>
                  </a:tcPr>
                </a:tc>
                <a:tc>
                  <a:txBody>
                    <a:bodyPr/>
                    <a:lstStyle/>
                    <a:p>
                      <a:pPr algn="ctr" indent="0" marL="0">
                        <a:buNone/>
                      </a:pPr>
                      <a:r>
                        <a:rPr lang="en-US" sz="1150" dirty="0">
                          <a:solidFill>
                            <a:srgbClr val="1F2429"/>
                          </a:solidFill>
                          <a:latin typeface="Calibri" pitchFamily="34" charset="0"/>
                          <a:ea typeface="Calibri" pitchFamily="34" charset="-122"/>
                          <a:cs typeface="Calibri" pitchFamily="34" charset="-120"/>
                        </a:rPr>
                        <a:t>No — 2 &gt; 0</a:t>
                      </a:r>
                      <a:endParaRPr lang="en-US" sz="11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0F2F4"/>
                    </a:solidFill>
                  </a:tcPr>
                </a:tc>
              </a:tr>
              <a:tr h="384048">
                <a:tc>
                  <a:txBody>
                    <a:bodyPr/>
                    <a:lstStyle/>
                    <a:p>
                      <a:pPr algn="l" indent="0" marL="0">
                        <a:buNone/>
                      </a:pPr>
                      <a:r>
                        <a:rPr lang="en-US" sz="1150" b="1" dirty="0">
                          <a:solidFill>
                            <a:srgbClr val="1F2429"/>
                          </a:solidFill>
                          <a:latin typeface="Calibri" pitchFamily="34" charset="0"/>
                          <a:ea typeface="Calibri" pitchFamily="34" charset="-122"/>
                          <a:cs typeface="Calibri" pitchFamily="34" charset="-120"/>
                        </a:rPr>
                        <a:t>P2</a:t>
                      </a:r>
                      <a:endParaRPr lang="en-US" sz="11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F2429"/>
                          </a:solidFill>
                          <a:latin typeface="Calibri" pitchFamily="34" charset="0"/>
                          <a:ea typeface="Calibri" pitchFamily="34" charset="-122"/>
                          <a:cs typeface="Calibri" pitchFamily="34" charset="-120"/>
                        </a:rPr>
                        <a:t>(1,1,2)</a:t>
                      </a:r>
                      <a:endParaRPr lang="en-US" sz="11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F2429"/>
                          </a:solidFill>
                          <a:latin typeface="Calibri" pitchFamily="34" charset="0"/>
                          <a:ea typeface="Calibri" pitchFamily="34" charset="-122"/>
                          <a:cs typeface="Calibri" pitchFamily="34" charset="-120"/>
                        </a:rPr>
                        <a:t>No — 1 &gt; 0</a:t>
                      </a:r>
                      <a:endParaRPr lang="en-US" sz="11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FFFFF"/>
                    </a:solidFill>
                  </a:tcPr>
                </a:tc>
              </a:tr>
              <a:tr h="384048">
                <a:tc>
                  <a:txBody>
                    <a:bodyPr/>
                    <a:lstStyle/>
                    <a:p>
                      <a:pPr algn="l" indent="0" marL="0">
                        <a:buNone/>
                      </a:pPr>
                      <a:r>
                        <a:rPr lang="en-US" sz="1150" b="1" dirty="0">
                          <a:solidFill>
                            <a:srgbClr val="1F2429"/>
                          </a:solidFill>
                          <a:latin typeface="Calibri" pitchFamily="34" charset="0"/>
                          <a:ea typeface="Calibri" pitchFamily="34" charset="-122"/>
                          <a:cs typeface="Calibri" pitchFamily="34" charset="-120"/>
                        </a:rPr>
                        <a:t>P3</a:t>
                      </a:r>
                      <a:endParaRPr lang="en-US" sz="11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0F2F4"/>
                    </a:solidFill>
                  </a:tcPr>
                </a:tc>
                <a:tc>
                  <a:txBody>
                    <a:bodyPr/>
                    <a:lstStyle/>
                    <a:p>
                      <a:pPr algn="ctr" indent="0" marL="0">
                        <a:buNone/>
                      </a:pPr>
                      <a:r>
                        <a:rPr lang="en-US" sz="1150" dirty="0">
                          <a:solidFill>
                            <a:srgbClr val="1F2429"/>
                          </a:solidFill>
                          <a:latin typeface="Calibri" pitchFamily="34" charset="0"/>
                          <a:ea typeface="Calibri" pitchFamily="34" charset="-122"/>
                          <a:cs typeface="Calibri" pitchFamily="34" charset="-120"/>
                        </a:rPr>
                        <a:t>(2,1,1)</a:t>
                      </a:r>
                      <a:endParaRPr lang="en-US" sz="11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0F2F4"/>
                    </a:solidFill>
                  </a:tcPr>
                </a:tc>
                <a:tc>
                  <a:txBody>
                    <a:bodyPr/>
                    <a:lstStyle/>
                    <a:p>
                      <a:pPr algn="ctr" indent="0" marL="0">
                        <a:buNone/>
                      </a:pPr>
                      <a:r>
                        <a:rPr lang="en-US" sz="1150" dirty="0">
                          <a:solidFill>
                            <a:srgbClr val="1F2429"/>
                          </a:solidFill>
                          <a:latin typeface="Calibri" pitchFamily="34" charset="0"/>
                          <a:ea typeface="Calibri" pitchFamily="34" charset="-122"/>
                          <a:cs typeface="Calibri" pitchFamily="34" charset="-120"/>
                        </a:rPr>
                        <a:t>No — 2 &gt; 1 and 1 &gt; 0</a:t>
                      </a:r>
                      <a:endParaRPr lang="en-US" sz="11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0F2F4"/>
                    </a:solidFill>
                  </a:tcPr>
                </a:tc>
              </a:tr>
              <a:tr h="384048">
                <a:tc>
                  <a:txBody>
                    <a:bodyPr/>
                    <a:lstStyle/>
                    <a:p>
                      <a:pPr algn="l" indent="0" marL="0">
                        <a:buNone/>
                      </a:pPr>
                      <a:r>
                        <a:rPr lang="en-US" sz="1150" b="1" dirty="0">
                          <a:solidFill>
                            <a:srgbClr val="1F2429"/>
                          </a:solidFill>
                          <a:latin typeface="Calibri" pitchFamily="34" charset="0"/>
                          <a:ea typeface="Calibri" pitchFamily="34" charset="-122"/>
                          <a:cs typeface="Calibri" pitchFamily="34" charset="-120"/>
                        </a:rPr>
                        <a:t>P4</a:t>
                      </a:r>
                      <a:endParaRPr lang="en-US" sz="11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F2429"/>
                          </a:solidFill>
                          <a:latin typeface="Calibri" pitchFamily="34" charset="0"/>
                          <a:ea typeface="Calibri" pitchFamily="34" charset="-122"/>
                          <a:cs typeface="Calibri" pitchFamily="34" charset="-120"/>
                        </a:rPr>
                        <a:t>(2,2,2)</a:t>
                      </a:r>
                      <a:endParaRPr lang="en-US" sz="11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F2429"/>
                          </a:solidFill>
                          <a:latin typeface="Calibri" pitchFamily="34" charset="0"/>
                          <a:ea typeface="Calibri" pitchFamily="34" charset="-122"/>
                          <a:cs typeface="Calibri" pitchFamily="34" charset="-120"/>
                        </a:rPr>
                        <a:t>No — 2 &gt; 1</a:t>
                      </a:r>
                      <a:endParaRPr lang="en-US" sz="11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FFFFF"/>
                    </a:solidFill>
                  </a:tcPr>
                </a:tc>
              </a:tr>
            </a:tbl>
          </a:graphicData>
        </a:graphic>
      </p:graphicFrame>
      <p:sp>
        <p:nvSpPr>
          <p:cNvPr id="7" name="Shape 4"/>
          <p:cNvSpPr/>
          <p:nvPr/>
        </p:nvSpPr>
        <p:spPr>
          <a:xfrm>
            <a:off x="548640" y="4828032"/>
            <a:ext cx="11094415" cy="914400"/>
          </a:xfrm>
          <a:prstGeom prst="roundRect">
            <a:avLst>
              <a:gd name="adj" fmla="val 8000"/>
            </a:avLst>
          </a:prstGeom>
          <a:solidFill>
            <a:srgbClr val="FDF2E3"/>
          </a:solidFill>
          <a:ln w="12700">
            <a:solidFill>
              <a:srgbClr val="E8A33D"/>
            </a:solidFill>
            <a:prstDash val="solid"/>
          </a:ln>
        </p:spPr>
      </p:sp>
      <p:sp>
        <p:nvSpPr>
          <p:cNvPr id="8" name="Text 5"/>
          <p:cNvSpPr txBox="1"/>
          <p:nvPr/>
        </p:nvSpPr>
        <p:spPr>
          <a:xfrm>
            <a:off x="804672" y="4937760"/>
            <a:ext cx="10582351" cy="237744"/>
          </a:xfrm>
          <a:prstGeom prst="rect">
            <a:avLst/>
          </a:prstGeom>
          <a:noFill/>
          <a:ln/>
        </p:spPr>
        <p:txBody>
          <a:bodyPr wrap="square" lIns="0" tIns="0" rIns="0" bIns="0" rtlCol="0" anchor="ctr"/>
          <a:lstStyle/>
          <a:p>
            <a:pPr indent="0" marL="0">
              <a:buNone/>
            </a:pPr>
            <a:r>
              <a:rPr lang="en-US" sz="1100" b="1" spc="200" kern="0" dirty="0">
                <a:solidFill>
                  <a:srgbClr val="8A5A00"/>
                </a:solidFill>
                <a:latin typeface="Calibri" pitchFamily="34" charset="0"/>
                <a:ea typeface="Calibri" pitchFamily="34" charset="-122"/>
                <a:cs typeface="Calibri" pitchFamily="34" charset="-120"/>
              </a:rPr>
              <a:t>DENIED</a:t>
            </a:r>
            <a:endParaRPr lang="en-US" sz="1100" dirty="0"/>
          </a:p>
        </p:txBody>
      </p:sp>
      <p:sp>
        <p:nvSpPr>
          <p:cNvPr id="9" name="Text 6"/>
          <p:cNvSpPr txBox="1"/>
          <p:nvPr/>
        </p:nvSpPr>
        <p:spPr>
          <a:xfrm>
            <a:off x="804672" y="5212080"/>
            <a:ext cx="10582351" cy="420624"/>
          </a:xfrm>
          <a:prstGeom prst="rect">
            <a:avLst/>
          </a:prstGeom>
          <a:noFill/>
          <a:ln/>
        </p:spPr>
        <p:txBody>
          <a:bodyPr wrap="square" lIns="0" tIns="0" rIns="0" bIns="0" rtlCol="0" anchor="t"/>
          <a:lstStyle/>
          <a:p>
            <a:pPr indent="0" marL="0">
              <a:lnSpc>
                <a:spcPct val="112000"/>
              </a:lnSpc>
              <a:buNone/>
            </a:pPr>
            <a:r>
              <a:rPr lang="en-US" sz="1150" dirty="0">
                <a:solidFill>
                  <a:srgbClr val="1F2429"/>
                </a:solidFill>
                <a:latin typeface="Calibri" pitchFamily="34" charset="0"/>
                <a:ea typeface="Calibri" pitchFamily="34" charset="-122"/>
                <a:cs typeface="Calibri" pitchFamily="34" charset="-120"/>
              </a:rPr>
              <a:t>No process can proceed from Work=(1,0,2), and Work can never grow without a process finishing first. The hypothetical state is unsafe, so the pretend-grant is rolled back and P2 must wait — even though enough resources were technically available right now.</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4181C"/>
        </a:solidFill>
      </p:bgPr>
    </p:bg>
    <p:spTree>
      <p:nvGrpSpPr>
        <p:cNvPr id="1" name=""/>
        <p:cNvGrpSpPr/>
        <p:nvPr/>
      </p:nvGrpSpPr>
      <p:grpSpPr>
        <a:xfrm>
          <a:off x="0" y="0"/>
          <a:ext cx="0" cy="0"/>
          <a:chOff x="0" y="0"/>
          <a:chExt cx="0" cy="0"/>
        </a:xfrm>
      </p:grpSpPr>
      <p:sp>
        <p:nvSpPr>
          <p:cNvPr id="2" name="Text 0"/>
          <p:cNvSpPr txBox="1"/>
          <p:nvPr/>
        </p:nvSpPr>
        <p:spPr>
          <a:xfrm>
            <a:off x="9951415" y="6454750"/>
            <a:ext cx="201168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12</a:t>
            </a:r>
            <a:endParaRPr lang="en-US" sz="1000" dirty="0"/>
          </a:p>
        </p:txBody>
      </p:sp>
      <p:sp>
        <p:nvSpPr>
          <p:cNvPr id="3" name="Text 1"/>
          <p:cNvSpPr txBox="1"/>
          <p:nvPr/>
        </p:nvSpPr>
        <p:spPr>
          <a:xfrm>
            <a:off x="548640" y="502920"/>
            <a:ext cx="11094415" cy="320040"/>
          </a:xfrm>
          <a:prstGeom prst="rect">
            <a:avLst/>
          </a:prstGeom>
          <a:noFill/>
          <a:ln/>
        </p:spPr>
        <p:txBody>
          <a:bodyPr wrap="square" lIns="0" tIns="0" rIns="0" bIns="0" rtlCol="0" anchor="ctr"/>
          <a:lstStyle/>
          <a:p>
            <a:pPr indent="0" marL="0">
              <a:buNone/>
            </a:pPr>
            <a:r>
              <a:rPr lang="en-US" sz="1300" b="1" spc="300" kern="0" dirty="0">
                <a:solidFill>
                  <a:srgbClr val="2FE6C4"/>
                </a:solidFill>
                <a:latin typeface="Calibri" pitchFamily="34" charset="0"/>
                <a:ea typeface="Calibri" pitchFamily="34" charset="-122"/>
                <a:cs typeface="Calibri" pitchFamily="34" charset="-120"/>
              </a:rPr>
              <a:t>KEY TAKEAWAYS</a:t>
            </a:r>
            <a:endParaRPr lang="en-US" sz="1300" dirty="0"/>
          </a:p>
        </p:txBody>
      </p:sp>
      <p:sp>
        <p:nvSpPr>
          <p:cNvPr id="4" name="Text 2"/>
          <p:cNvSpPr txBox="1"/>
          <p:nvPr/>
        </p:nvSpPr>
        <p:spPr>
          <a:xfrm>
            <a:off x="548640" y="841248"/>
            <a:ext cx="11094415" cy="64008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Avoidance, Not Prevention</a:t>
            </a:r>
            <a:endParaRPr lang="en-US" sz="3000" dirty="0"/>
          </a:p>
        </p:txBody>
      </p:sp>
      <p:sp>
        <p:nvSpPr>
          <p:cNvPr id="5" name="Shape 3"/>
          <p:cNvSpPr/>
          <p:nvPr/>
        </p:nvSpPr>
        <p:spPr>
          <a:xfrm>
            <a:off x="548640" y="1783080"/>
            <a:ext cx="384048" cy="384048"/>
          </a:xfrm>
          <a:prstGeom prst="ellipse">
            <a:avLst/>
          </a:prstGeom>
          <a:solidFill>
            <a:srgbClr val="2FE6C4"/>
          </a:solidFill>
          <a:ln/>
        </p:spPr>
      </p:sp>
      <p:sp>
        <p:nvSpPr>
          <p:cNvPr id="6" name="Text 4"/>
          <p:cNvSpPr txBox="1"/>
          <p:nvPr/>
        </p:nvSpPr>
        <p:spPr>
          <a:xfrm>
            <a:off x="548640" y="1783080"/>
            <a:ext cx="384048" cy="384048"/>
          </a:xfrm>
          <a:prstGeom prst="rect">
            <a:avLst/>
          </a:prstGeom>
          <a:noFill/>
          <a:ln/>
        </p:spPr>
        <p:txBody>
          <a:bodyPr wrap="square" lIns="0" tIns="0" rIns="0" bIns="0" rtlCol="0" anchor="ctr"/>
          <a:lstStyle/>
          <a:p>
            <a:pPr algn="ctr" indent="0" marL="0">
              <a:buNone/>
            </a:pPr>
            <a:r>
              <a:rPr lang="en-US" sz="1400" b="1" dirty="0">
                <a:solidFill>
                  <a:srgbClr val="14181C"/>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1115568" y="1728216"/>
            <a:ext cx="10527487" cy="841248"/>
          </a:xfrm>
          <a:prstGeom prst="rect">
            <a:avLst/>
          </a:prstGeom>
          <a:noFill/>
          <a:ln/>
        </p:spPr>
        <p:txBody>
          <a:bodyPr wrap="square" lIns="0" tIns="0" rIns="0" bIns="0" rtlCol="0" anchor="ctr"/>
          <a:lstStyle/>
          <a:p>
            <a:pPr indent="0" marL="0">
              <a:lnSpc>
                <a:spcPct val="112000"/>
              </a:lnSpc>
              <a:buNone/>
            </a:pPr>
            <a:r>
              <a:rPr lang="en-US" sz="1350" dirty="0">
                <a:solidFill>
                  <a:srgbClr val="FFFFFF"/>
                </a:solidFill>
                <a:latin typeface="Calibri" pitchFamily="34" charset="0"/>
                <a:ea typeface="Calibri" pitchFamily="34" charset="-122"/>
                <a:cs typeface="Calibri" pitchFamily="34" charset="-120"/>
              </a:rPr>
              <a:t>Avoidance differs from prevention in strategy, not goal: prevention forbids a condition permanently; avoidance dynamically refuses any allocation that would leave the system unsafe</a:t>
            </a:r>
            <a:endParaRPr lang="en-US" sz="1350" dirty="0"/>
          </a:p>
        </p:txBody>
      </p:sp>
      <p:sp>
        <p:nvSpPr>
          <p:cNvPr id="8" name="Shape 6"/>
          <p:cNvSpPr/>
          <p:nvPr/>
        </p:nvSpPr>
        <p:spPr>
          <a:xfrm>
            <a:off x="548640" y="2624328"/>
            <a:ext cx="384048" cy="384048"/>
          </a:xfrm>
          <a:prstGeom prst="ellipse">
            <a:avLst/>
          </a:prstGeom>
          <a:solidFill>
            <a:srgbClr val="2FE6C4"/>
          </a:solidFill>
          <a:ln/>
        </p:spPr>
      </p:sp>
      <p:sp>
        <p:nvSpPr>
          <p:cNvPr id="9" name="Text 7"/>
          <p:cNvSpPr txBox="1"/>
          <p:nvPr/>
        </p:nvSpPr>
        <p:spPr>
          <a:xfrm>
            <a:off x="548640" y="2624328"/>
            <a:ext cx="384048" cy="384048"/>
          </a:xfrm>
          <a:prstGeom prst="rect">
            <a:avLst/>
          </a:prstGeom>
          <a:noFill/>
          <a:ln/>
        </p:spPr>
        <p:txBody>
          <a:bodyPr wrap="square" lIns="0" tIns="0" rIns="0" bIns="0" rtlCol="0" anchor="ctr"/>
          <a:lstStyle/>
          <a:p>
            <a:pPr algn="ctr" indent="0" marL="0">
              <a:buNone/>
            </a:pPr>
            <a:r>
              <a:rPr lang="en-US" sz="1400" b="1" dirty="0">
                <a:solidFill>
                  <a:srgbClr val="14181C"/>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1115568" y="2569464"/>
            <a:ext cx="10527487" cy="841248"/>
          </a:xfrm>
          <a:prstGeom prst="rect">
            <a:avLst/>
          </a:prstGeom>
          <a:noFill/>
          <a:ln/>
        </p:spPr>
        <p:txBody>
          <a:bodyPr wrap="square" lIns="0" tIns="0" rIns="0" bIns="0" rtlCol="0" anchor="ctr"/>
          <a:lstStyle/>
          <a:p>
            <a:pPr indent="0" marL="0">
              <a:lnSpc>
                <a:spcPct val="112000"/>
              </a:lnSpc>
              <a:buNone/>
            </a:pPr>
            <a:r>
              <a:rPr lang="en-US" sz="1350" dirty="0">
                <a:solidFill>
                  <a:srgbClr val="FFFFFF"/>
                </a:solidFill>
                <a:latin typeface="Calibri" pitchFamily="34" charset="0"/>
                <a:ea typeface="Calibri" pitchFamily="34" charset="-122"/>
                <a:cs typeface="Calibri" pitchFamily="34" charset="-120"/>
              </a:rPr>
              <a:t>A safe state has at least one safe sequence; an unsafe state is not automatically deadlocked, but it is no longer guaranteed deadlock-free</a:t>
            </a:r>
            <a:endParaRPr lang="en-US" sz="1350" dirty="0"/>
          </a:p>
        </p:txBody>
      </p:sp>
      <p:sp>
        <p:nvSpPr>
          <p:cNvPr id="11" name="Shape 9"/>
          <p:cNvSpPr/>
          <p:nvPr/>
        </p:nvSpPr>
        <p:spPr>
          <a:xfrm>
            <a:off x="548640" y="3465576"/>
            <a:ext cx="384048" cy="384048"/>
          </a:xfrm>
          <a:prstGeom prst="ellipse">
            <a:avLst/>
          </a:prstGeom>
          <a:solidFill>
            <a:srgbClr val="2FE6C4"/>
          </a:solidFill>
          <a:ln/>
        </p:spPr>
      </p:sp>
      <p:sp>
        <p:nvSpPr>
          <p:cNvPr id="12" name="Text 10"/>
          <p:cNvSpPr txBox="1"/>
          <p:nvPr/>
        </p:nvSpPr>
        <p:spPr>
          <a:xfrm>
            <a:off x="548640" y="3465576"/>
            <a:ext cx="384048" cy="384048"/>
          </a:xfrm>
          <a:prstGeom prst="rect">
            <a:avLst/>
          </a:prstGeom>
          <a:noFill/>
          <a:ln/>
        </p:spPr>
        <p:txBody>
          <a:bodyPr wrap="square" lIns="0" tIns="0" rIns="0" bIns="0" rtlCol="0" anchor="ctr"/>
          <a:lstStyle/>
          <a:p>
            <a:pPr algn="ctr" indent="0" marL="0">
              <a:buNone/>
            </a:pPr>
            <a:r>
              <a:rPr lang="en-US" sz="1400" b="1" dirty="0">
                <a:solidFill>
                  <a:srgbClr val="14181C"/>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1115568" y="3410712"/>
            <a:ext cx="10527487" cy="841248"/>
          </a:xfrm>
          <a:prstGeom prst="rect">
            <a:avLst/>
          </a:prstGeom>
          <a:noFill/>
          <a:ln/>
        </p:spPr>
        <p:txBody>
          <a:bodyPr wrap="square" lIns="0" tIns="0" rIns="0" bIns="0" rtlCol="0" anchor="ctr"/>
          <a:lstStyle/>
          <a:p>
            <a:pPr indent="0" marL="0">
              <a:lnSpc>
                <a:spcPct val="112000"/>
              </a:lnSpc>
              <a:buNone/>
            </a:pPr>
            <a:r>
              <a:rPr lang="en-US" sz="1350" dirty="0">
                <a:solidFill>
                  <a:srgbClr val="FFFFFF"/>
                </a:solidFill>
                <a:latin typeface="Calibri" pitchFamily="34" charset="0"/>
                <a:ea typeface="Calibri" pitchFamily="34" charset="-122"/>
                <a:cs typeface="Calibri" pitchFamily="34" charset="-120"/>
              </a:rPr>
              <a:t>The RAG algorithm (claim edges, grant only if no cycle) handles single-instance resources; the Banker’s Algorithm generalizes to multiple instances</a:t>
            </a:r>
            <a:endParaRPr lang="en-US" sz="1350" dirty="0"/>
          </a:p>
        </p:txBody>
      </p:sp>
      <p:sp>
        <p:nvSpPr>
          <p:cNvPr id="14" name="Shape 12"/>
          <p:cNvSpPr/>
          <p:nvPr/>
        </p:nvSpPr>
        <p:spPr>
          <a:xfrm>
            <a:off x="548640" y="4306824"/>
            <a:ext cx="384048" cy="384048"/>
          </a:xfrm>
          <a:prstGeom prst="ellipse">
            <a:avLst/>
          </a:prstGeom>
          <a:solidFill>
            <a:srgbClr val="2FE6C4"/>
          </a:solidFill>
          <a:ln/>
        </p:spPr>
      </p:sp>
      <p:sp>
        <p:nvSpPr>
          <p:cNvPr id="15" name="Text 13"/>
          <p:cNvSpPr txBox="1"/>
          <p:nvPr/>
        </p:nvSpPr>
        <p:spPr>
          <a:xfrm>
            <a:off x="548640" y="4306824"/>
            <a:ext cx="384048" cy="384048"/>
          </a:xfrm>
          <a:prstGeom prst="rect">
            <a:avLst/>
          </a:prstGeom>
          <a:noFill/>
          <a:ln/>
        </p:spPr>
        <p:txBody>
          <a:bodyPr wrap="square" lIns="0" tIns="0" rIns="0" bIns="0" rtlCol="0" anchor="ctr"/>
          <a:lstStyle/>
          <a:p>
            <a:pPr algn="ctr" indent="0" marL="0">
              <a:buNone/>
            </a:pPr>
            <a:r>
              <a:rPr lang="en-US" sz="1400" b="1" dirty="0">
                <a:solidFill>
                  <a:srgbClr val="14181C"/>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1115568" y="4251960"/>
            <a:ext cx="10527487" cy="841248"/>
          </a:xfrm>
          <a:prstGeom prst="rect">
            <a:avLst/>
          </a:prstGeom>
          <a:noFill/>
          <a:ln/>
        </p:spPr>
        <p:txBody>
          <a:bodyPr wrap="square" lIns="0" tIns="0" rIns="0" bIns="0" rtlCol="0" anchor="ctr"/>
          <a:lstStyle/>
          <a:p>
            <a:pPr indent="0" marL="0">
              <a:lnSpc>
                <a:spcPct val="112000"/>
              </a:lnSpc>
              <a:buNone/>
            </a:pPr>
            <a:r>
              <a:rPr lang="en-US" sz="1350" dirty="0">
                <a:solidFill>
                  <a:srgbClr val="FFFFFF"/>
                </a:solidFill>
                <a:latin typeface="Calibri" pitchFamily="34" charset="0"/>
                <a:ea typeface="Calibri" pitchFamily="34" charset="-122"/>
                <a:cs typeface="Calibri" pitchFamily="34" charset="-120"/>
              </a:rPr>
              <a:t>The four structures relate by one identity, always: Need = Max − Allocation</a:t>
            </a:r>
            <a:endParaRPr lang="en-US" sz="1350" dirty="0"/>
          </a:p>
        </p:txBody>
      </p:sp>
      <p:sp>
        <p:nvSpPr>
          <p:cNvPr id="17" name="Shape 15"/>
          <p:cNvSpPr/>
          <p:nvPr/>
        </p:nvSpPr>
        <p:spPr>
          <a:xfrm>
            <a:off x="548640" y="5148072"/>
            <a:ext cx="384048" cy="384048"/>
          </a:xfrm>
          <a:prstGeom prst="ellipse">
            <a:avLst/>
          </a:prstGeom>
          <a:solidFill>
            <a:srgbClr val="2FE6C4"/>
          </a:solidFill>
          <a:ln/>
        </p:spPr>
      </p:sp>
      <p:sp>
        <p:nvSpPr>
          <p:cNvPr id="18" name="Text 16"/>
          <p:cNvSpPr txBox="1"/>
          <p:nvPr/>
        </p:nvSpPr>
        <p:spPr>
          <a:xfrm>
            <a:off x="548640" y="5148072"/>
            <a:ext cx="384048" cy="384048"/>
          </a:xfrm>
          <a:prstGeom prst="rect">
            <a:avLst/>
          </a:prstGeom>
          <a:noFill/>
          <a:ln/>
        </p:spPr>
        <p:txBody>
          <a:bodyPr wrap="square" lIns="0" tIns="0" rIns="0" bIns="0" rtlCol="0" anchor="ctr"/>
          <a:lstStyle/>
          <a:p>
            <a:pPr algn="ctr" indent="0" marL="0">
              <a:buNone/>
            </a:pPr>
            <a:r>
              <a:rPr lang="en-US" sz="1400" b="1" dirty="0">
                <a:solidFill>
                  <a:srgbClr val="14181C"/>
                </a:solidFill>
                <a:latin typeface="Calibri" pitchFamily="34" charset="0"/>
                <a:ea typeface="Calibri" pitchFamily="34" charset="-122"/>
                <a:cs typeface="Calibri" pitchFamily="34" charset="-120"/>
              </a:rPr>
              <a:t>5</a:t>
            </a:r>
            <a:endParaRPr lang="en-US" sz="1400" dirty="0"/>
          </a:p>
        </p:txBody>
      </p:sp>
      <p:sp>
        <p:nvSpPr>
          <p:cNvPr id="19" name="Text 17"/>
          <p:cNvSpPr txBox="1"/>
          <p:nvPr/>
        </p:nvSpPr>
        <p:spPr>
          <a:xfrm>
            <a:off x="1115568" y="5093208"/>
            <a:ext cx="10527487" cy="841248"/>
          </a:xfrm>
          <a:prstGeom prst="rect">
            <a:avLst/>
          </a:prstGeom>
          <a:noFill/>
          <a:ln/>
        </p:spPr>
        <p:txBody>
          <a:bodyPr wrap="square" lIns="0" tIns="0" rIns="0" bIns="0" rtlCol="0" anchor="ctr"/>
          <a:lstStyle/>
          <a:p>
            <a:pPr indent="0" marL="0">
              <a:lnSpc>
                <a:spcPct val="112000"/>
              </a:lnSpc>
              <a:buNone/>
            </a:pPr>
            <a:r>
              <a:rPr lang="en-US" sz="1350" dirty="0">
                <a:solidFill>
                  <a:srgbClr val="FFFFFF"/>
                </a:solidFill>
                <a:latin typeface="Calibri" pitchFamily="34" charset="0"/>
                <a:ea typeface="Calibri" pitchFamily="34" charset="-122"/>
                <a:cs typeface="Calibri" pitchFamily="34" charset="-120"/>
              </a:rPr>
              <a:t>The Safety Algorithm finds a safe sequence by repeatedly granting the first process whose Need fits Work; the Resource-Request Algorithm pretends to grant, then reruns it before committing</a:t>
            </a:r>
            <a:endParaRPr lang="en-US" sz="1350" dirty="0"/>
          </a:p>
        </p:txBody>
      </p:sp>
      <p:sp>
        <p:nvSpPr>
          <p:cNvPr id="20" name="Text 18"/>
          <p:cNvSpPr txBox="1"/>
          <p:nvPr/>
        </p:nvSpPr>
        <p:spPr>
          <a:xfrm>
            <a:off x="548640" y="6172200"/>
            <a:ext cx="11094415" cy="274320"/>
          </a:xfrm>
          <a:prstGeom prst="rect">
            <a:avLst/>
          </a:prstGeom>
          <a:noFill/>
          <a:ln/>
        </p:spPr>
        <p:txBody>
          <a:bodyPr wrap="square" lIns="0" tIns="0" rIns="0" bIns="0" rtlCol="0" anchor="ctr"/>
          <a:lstStyle/>
          <a:p>
            <a:pPr indent="0" marL="0">
              <a:buNone/>
            </a:pPr>
            <a:r>
              <a:rPr lang="en-US" sz="1150" i="1" dirty="0">
                <a:solidFill>
                  <a:srgbClr val="B9BFC6"/>
                </a:solidFill>
                <a:latin typeface="Calibri" pitchFamily="34" charset="0"/>
                <a:ea typeface="Calibri" pitchFamily="34" charset="-122"/>
                <a:cs typeface="Calibri" pitchFamily="34" charset="-120"/>
              </a:rPr>
              <a:t>Lecture 21 covers what happens when the system cannot get this information in advance: detection and recovery.</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cuinotes.com</dc:creator>
  <cp:lastModifiedBy>cuinotes.com</cp:lastModifiedBy>
  <cp:revision>1</cp:revision>
  <dcterms:created xsi:type="dcterms:W3CDTF">2026-10-02T04:43:24Z</dcterms:created>
  <dcterms:modified xsi:type="dcterms:W3CDTF">2026-10-02T04:43:24Z</dcterms:modified>
</cp:coreProperties>
</file>
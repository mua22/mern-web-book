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48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0604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Management Fundamentals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CSC323 · Operating Systems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754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COMSATS University Islamabad, Lahore Campus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Lecture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10789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physical memory sharing needs active management, and the hardware (base and limit registers) that enforces protection between processes</a:t>
            </a:r>
            <a:endParaRPr lang="en-US" sz="155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binding — compile-time, load-time, and execution-time — and what each one fixes and when</a:t>
            </a:r>
            <a:endParaRPr lang="en-US" sz="155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vs. physical addresses, the MMU, and the relocation register — worked through with a numeric example</a:t>
            </a:r>
            <a:endParaRPr lang="en-US" sz="155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loading (load a routine only when called) and dynamic linking (defer linking a library until execution time), contrasted with static linking</a:t>
            </a:r>
            <a:endParaRPr lang="en-US" sz="155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brief look at how Windows resolves and loads DLLs at run time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Memory Needs Managing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107899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memory is a single, finite, shared resource — a machine with 16 GB of RAM has exactly 16 GB, whether running one program or fifty</a:t>
            </a:r>
            <a:endParaRPr lang="en-US" sz="155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operating system itself occupies some of it permanently (usually low memory, or the very top)</a:t>
            </a:r>
            <a:endParaRPr lang="en-US" sz="155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process should read or write memory that belongs to another process, or to the OS </a:t>
            </a:r>
            <a:pPr indent="0" marL="0">
              <a:buNone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whether by a bug or by design</a:t>
            </a:r>
            <a:endParaRPr lang="en-US" sz="155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Delivering efficient sharing and airtight isolation at once is memory management's whole job — and it needs hardware help to do it fast enough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and Limit Registers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43000"/>
            <a:ext cx="6675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register holds the smallest legal physical address a process may touch; a limit register holds the size of its address range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protection is enforced by hardware: every address the CPU generates is compared against base/limit before reaching memory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498080" y="1143000"/>
            <a:ext cx="3108960" cy="640080"/>
          </a:xfrm>
          <a:prstGeom prst="rect">
            <a:avLst/>
          </a:prstGeom>
          <a:solidFill>
            <a:srgbClr val="C9CDD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35240" y="1143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Reserved, low memory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98080" y="1783080"/>
            <a:ext cx="3108960" cy="822960"/>
          </a:xfrm>
          <a:prstGeom prst="rect">
            <a:avLst/>
          </a:prstGeom>
          <a:solidFill>
            <a:srgbClr val="D7DBD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35240" y="17830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processes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reachable by this process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498080" y="2606040"/>
            <a:ext cx="3108960" cy="1371600"/>
          </a:xfrm>
          <a:prstGeom prst="rect">
            <a:avLst/>
          </a:prstGeom>
          <a:solidFill>
            <a:srgbClr val="2FE6C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35240" y="260604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P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= 300000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98080" y="3977640"/>
            <a:ext cx="3108960" cy="2011680"/>
          </a:xfrm>
          <a:prstGeom prst="rect">
            <a:avLst/>
          </a:prstGeom>
          <a:solidFill>
            <a:srgbClr val="D7DBD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635240" y="3977640"/>
            <a:ext cx="2834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/ other processes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above P's range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698480" y="2423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+ limit = 420000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0698480" y="3794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= 300000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38328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range for P: 300000 ≤ address &lt; 420000  (limit = 120000)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023360"/>
            <a:ext cx="6675120" cy="1920240"/>
          </a:xfrm>
          <a:prstGeom prst="roundRect">
            <a:avLst>
              <a:gd name="adj" fmla="val 5714"/>
            </a:avLst>
          </a:prstGeom>
          <a:solidFill>
            <a:srgbClr val="FBEED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133088"/>
            <a:ext cx="621792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 on violation — </a:t>
            </a:r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address outside [base, base+limit) — e.g. 299999 or 420500 — is caught immediately by the hardware comparator, which traps to the OS. The OS then typically terminates the process with an addressing error — the origin of the segmentation-fault class of crashes. Only the OS, in kernel mode, may load new base/limit values.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Binding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10789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Compile-time binding — </a:t>
            </a:r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addresses fixed if the load location is known in advance. Most rigid: moving requires recompiling.</a:t>
            </a:r>
            <a:endParaRPr lang="en-US" sz="15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Load-time binding — </a:t>
            </a:r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relocatable addresses computed once, when the program is loaded. Avoids recompiling, but cannot move again without reloading.</a:t>
            </a:r>
            <a:endParaRPr lang="en-US" sz="15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Execution-time (run-time) binding — </a:t>
            </a:r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 deferred until the program runs; addresses can change mid-run. Most flexible, but requires MMU hardware support.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Binding Across a Program's Lifecycle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388870" cy="3108960"/>
          </a:xfrm>
          <a:prstGeom prst="roundRect">
            <a:avLst>
              <a:gd name="adj" fmla="val 3062"/>
            </a:avLst>
          </a:prstGeom>
          <a:solidFill>
            <a:srgbClr val="2FE6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121408"/>
            <a:ext cx="21145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450592"/>
            <a:ext cx="216941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→ object code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663440"/>
            <a:ext cx="220599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Compile-time binding: absolute addresses fixed here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047238" y="3451860"/>
            <a:ext cx="374904" cy="228600"/>
          </a:xfrm>
          <a:prstGeom prst="rightArrow">
            <a:avLst/>
          </a:prstGeom>
          <a:solidFill>
            <a:srgbClr val="8A939B"/>
          </a:solidFill>
          <a:ln/>
        </p:spPr>
      </p:sp>
      <p:sp>
        <p:nvSpPr>
          <p:cNvPr id="9" name="Shape 7"/>
          <p:cNvSpPr/>
          <p:nvPr/>
        </p:nvSpPr>
        <p:spPr>
          <a:xfrm>
            <a:off x="3440430" y="2011680"/>
            <a:ext cx="2388870" cy="3108960"/>
          </a:xfrm>
          <a:prstGeom prst="roundRect">
            <a:avLst>
              <a:gd name="adj" fmla="val 3062"/>
            </a:avLst>
          </a:prstGeom>
          <a:solidFill>
            <a:srgbClr val="8B7FD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77590" y="2121408"/>
            <a:ext cx="21145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550158" y="2450592"/>
            <a:ext cx="216941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modules + libraries → one executable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47588" y="3451860"/>
            <a:ext cx="374904" cy="228600"/>
          </a:xfrm>
          <a:prstGeom prst="rightArrow">
            <a:avLst/>
          </a:prstGeom>
          <a:solidFill>
            <a:srgbClr val="8A939B"/>
          </a:solidFill>
          <a:ln/>
        </p:spPr>
      </p:sp>
      <p:sp>
        <p:nvSpPr>
          <p:cNvPr id="13" name="Shape 11"/>
          <p:cNvSpPr/>
          <p:nvPr/>
        </p:nvSpPr>
        <p:spPr>
          <a:xfrm>
            <a:off x="6240780" y="2011680"/>
            <a:ext cx="2388870" cy="3108960"/>
          </a:xfrm>
          <a:prstGeom prst="roundRect">
            <a:avLst>
              <a:gd name="adj" fmla="val 3062"/>
            </a:avLst>
          </a:prstGeom>
          <a:solidFill>
            <a:srgbClr val="E8A3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77940" y="2121408"/>
            <a:ext cx="21145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350508" y="2450592"/>
            <a:ext cx="216941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Executable → process in memory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332220" y="4663440"/>
            <a:ext cx="220599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Load-time binding: addresses fixed here, if not already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647938" y="3451860"/>
            <a:ext cx="374904" cy="228600"/>
          </a:xfrm>
          <a:prstGeom prst="rightArrow">
            <a:avLst/>
          </a:prstGeom>
          <a:solidFill>
            <a:srgbClr val="8A939B"/>
          </a:solidFill>
          <a:ln/>
        </p:spPr>
      </p:sp>
      <p:sp>
        <p:nvSpPr>
          <p:cNvPr id="18" name="Shape 16"/>
          <p:cNvSpPr/>
          <p:nvPr/>
        </p:nvSpPr>
        <p:spPr>
          <a:xfrm>
            <a:off x="9041130" y="2011680"/>
            <a:ext cx="2388870" cy="3108960"/>
          </a:xfrm>
          <a:prstGeom prst="roundRect">
            <a:avLst>
              <a:gd name="adj" fmla="val 3062"/>
            </a:avLst>
          </a:prstGeom>
          <a:solidFill>
            <a:srgbClr val="8B7FD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78290" y="2121408"/>
            <a:ext cx="21145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150858" y="2450592"/>
            <a:ext cx="216941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runs, can even be relocated mid-run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9132570" y="4663440"/>
            <a:ext cx="220599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Execution-time binding: addresses can still change, with MMU support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vs. Physical Addresses, and the MMU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10789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address (virtual address) — </a:t>
            </a:r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address the CPU generates while a program runs — what the program itself believes it's using.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address — </a:t>
            </a:r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address that actually reaches the memory unit — the real location in physical RAM.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compile-time and load-time binding these are identical. Under execution-time binding they deliberately differ, and translating one into the other on every access is the job of the Memory-Management Unit (MMU).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4206240"/>
            <a:ext cx="10789920" cy="1371600"/>
          </a:xfrm>
          <a:prstGeom prst="roundRect">
            <a:avLst>
              <a:gd name="adj" fmla="val 8000"/>
            </a:avLst>
          </a:prstGeom>
          <a:solidFill>
            <a:srgbClr val="FBEEDD"/>
          </a:solidFill>
          <a:ln w="12700">
            <a:solidFill>
              <a:srgbClr val="2FE6C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4315968"/>
            <a:ext cx="103327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relocation register — </a:t>
            </a:r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simplest MMU design: physical address = logical address + relocation register's value. One register, one addition, applied on every single memory reference.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Relocation Register: A Worked Example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34440"/>
            <a:ext cx="10789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process's relocation register holds 14000 — the OS decided to physically load this process starting at address 14000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itself, compiled as if it would start at address 0, generates the logical address 346 to read one of its own local variables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737360" y="3154680"/>
            <a:ext cx="8686800" cy="1371600"/>
          </a:xfrm>
          <a:prstGeom prst="roundRect">
            <a:avLst>
              <a:gd name="adj" fmla="val 6667"/>
            </a:avLst>
          </a:prstGeom>
          <a:solidFill>
            <a:srgbClr val="1F242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37360" y="315468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physical address  =  346  +  14000  =  14346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84632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CPU never needed to know 14346 at all — it generated 346 exactly as its compiled code dictates, and the MMU transparently added the relocation offset. Only the OS, which sets the relocation register, knows where the process actually lives.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Loading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107899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routine needs to be in memory from the moment a program starts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loading </a:t>
            </a:r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a routine on disk, in relocatable form, until it is actually called for the first time — only then does a small stub load it and transfer control to it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 example: error-handling code may account for a meaningful share of a program's total code size, yet run only on the rare occasion that error actually occurs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it unconditionally at startup wastes memory for the overwhelmingly common case where it's never needed — with dynamic loading, its memory cost is paid only if the error path is taken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Linking and Shared Libraries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10789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linking copies the complete machine code of every library routine directly into a program's executable at link time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linking postpones linking a library until execution time — the executable holds only a small stub that resolves and loads the real routine the first time it's called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88036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E8A3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3008376"/>
            <a:ext cx="4855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linking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3355848"/>
            <a:ext cx="485546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code copied into every executable at link time — simple, but duplicated on disk and in RAM across every program that uses it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72200" y="288036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2FE6C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73368" y="3008376"/>
            <a:ext cx="4855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linking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373368" y="3355848"/>
            <a:ext cx="485546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stub resolves and loads the real library routine at execution time — one in-memory copy can be shared by every running program that needs it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84632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Payoff: the OS keeps exactly one physical copy of a shared library in memory, and every process maps that same copy into its own address space. A library can also be upgraded without recompiling every dependent program.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Example: DLL Loading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10789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.dll file holds compiled, shared code that one or more running programs can call into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Windows program references a DLL function, the loader resolves it at run time: locates the DLL, maps its code into the process's address space if not already mapped, and resolves the function address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several programs depend on the same DLL at once, Windows keeps only one physical copy of its code resident in memory — every process maps its own view onto that same shared copy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4572000"/>
            <a:ext cx="10789920" cy="1097280"/>
          </a:xfrm>
          <a:prstGeom prst="roundRect">
            <a:avLst>
              <a:gd name="adj" fmla="val 10000"/>
            </a:avLst>
          </a:prstGeom>
          <a:solidFill>
            <a:srgbClr val="FBEEDD"/>
          </a:solidFill>
          <a:ln w="12700">
            <a:solidFill>
              <a:srgbClr val="8B7F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4681728"/>
            <a:ext cx="103327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DLL's code is shared; its data usually is not — </a:t>
            </a:r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instructions are identical for every caller, so one copy suffices — but each process gets its own private copy of any writable data the DLL uses.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107899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and limit registers define each process's valid address range; hardware traps to the OS on any access outside it — protection without relying on software to behave</a:t>
            </a:r>
            <a:endParaRPr lang="en-US" sz="135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binding happens at compile time (fixed, requires recompiling to move), load time (fixed once loaded), or execution time (can change while running, needs MMU)</a:t>
            </a:r>
            <a:endParaRPr lang="en-US" sz="135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logical address the CPU generates and the physical address the memory unit sees can differ; the MMU translates between them — the simplest MMU is a single relocation register</a:t>
            </a:r>
            <a:endParaRPr lang="en-US" sz="135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loading defers loading a routine until it's actually called, saving memory for rarely used code paths</a:t>
            </a:r>
            <a:endParaRPr lang="en-US" sz="135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linking defers linking a library until execution time via a stub, enabling shared libraries — one in-memory copy shared by every process that needs it</a:t>
            </a:r>
            <a:endParaRPr lang="en-US" sz="135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DLLs are a real-world instance of dynamic linking: one physical copy mapped into, and shared by, every running program that depends on it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2026-10-02T01:19:30Z</dcterms:created>
  <dcterms:modified xsi:type="dcterms:W3CDTF">2026-10-02T01:19:30Z</dcterms:modified>
</cp:coreProperties>
</file>
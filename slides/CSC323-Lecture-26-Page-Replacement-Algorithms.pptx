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26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60604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Replacement Algorithms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CSC323 · Operating Systems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25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page replacement is necessary, and the role of the dirty (modify) bit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strings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the standard way to evaluate and compare replacement algorithms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worked in full, plus Belady's Anomaly — more frames causing more faults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(OPT/MIN)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replacement — provably best, and provably unusable in practice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its implementation costs, and the Second-Chance (Clock) algorithm that approximates it cheaply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MFU/LFU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brief, and thrashing — what happens when none of this is enough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Page Replacement Is Needed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paging works beautifully right up until physical memory fills up. When a page fault occurs and no frame is free, the OS must choose an existing resident page, evict it, and reuse its frame for the newly faulted page.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Dirty (modify) bit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tracks whether a page was modified since it was loaded.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evicted page was modified, it must be written back to disk before its frame can be reused.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 that was never written to can simply be discarded — an identical copy still exists on disk.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60857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algorithm below answers one question:  </a:t>
            </a:r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the pages currently resident, which one is safest to evict right now?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Strings: A Common Basis for Comparison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reference string is the sequence of page numbers a process references over time. Every algorithm in this lecture is evaluated against the same reference string, with the same number of frames, so the results can be compared directly.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5146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reference string used throughout this lecture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2834640"/>
            <a:ext cx="10881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7, 0, 1, 2, 0, 3, 0, 4, 2, 3, 0, 3, 2</a:t>
            </a:r>
            <a:endParaRPr lang="en-US" sz="3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page references, 3 frames available</a:t>
            </a:r>
            <a:endParaRPr lang="en-US" sz="3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Page Replacement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First-In-First-Out (FIFO) evicts whichever resident page has been in memory the longest, with no regard to how recently or how often it was actually used.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string: 7, 0, 1, 2, 0, 3, 0, 4, 2, 3, 0, 3, 2  ·  3 frames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21408"/>
          <a:ext cx="9144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(oldest → newest)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–, 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0, 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7, 0, 1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0, 1, 2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0, 1, 2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3, 0, 4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0, 4, 2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4, 2, 3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923483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FIFO faults: 10 out of 13 references.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Belady's Anomaly: More Memory Making Things Worse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 says giving a process more frames should never hurt. FIFO is the counter-example: it is possible to construct a reference string where adding a frame increases the fault count.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860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classic illustrative string 1, 2, 3, 4, 1, 2, 5, 1, 2, 3, 4, 5 against FIFO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604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faults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114800"/>
            <a:ext cx="10881360" cy="1371600"/>
          </a:xfrm>
          <a:prstGeom prst="roundRect">
            <a:avLst>
              <a:gd name="adj" fmla="val 3333"/>
            </a:avLst>
          </a:prstGeom>
          <a:solidFill>
            <a:srgbClr val="F7F8F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68680" y="4242816"/>
            <a:ext cx="10424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frames — strictly more memory than three — produces one more fault, not fewer.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large part of why FIFO is rarely used alone in serious production systems, and why stack algorithms like LRU (mathematically guaranteed never to exhibit this anomaly) are generally preferred.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Page Replacement (OPT / MIN)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replacement evicts whichever resident page will not be used again for the longest time in the future. It is provably the best possible policy for a given reference string.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string: 7, 0, 1, 2, 0, 3, 0, 4, 2, 3, 0, 3, 2  ·  3 frames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21408"/>
          <a:ext cx="9144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1005840"/>
                <a:gridCol w="45720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After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Fault?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Evicted (reason)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–, 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0, 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7, 0, 1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0, 1, 2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(never referenced again)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0, 1, 2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0, 2, 3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(never referenced again)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0, 2, 3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(next used at position 11 — farthest away)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(never referenced again)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923483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OPT faults: 7 out of 13 references — the best any algorithm could do against this exact string.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(Least Recently Used)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 evicts whichever resident page was least recently used — unused for the longest time in the past. It approximates OPT by betting the immediate past predicts the immediate future.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745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string: 7, 0, 1, 2, 0, 3, 0, 4, 2, 3, 0, 3, 2  ·  3 frames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67128"/>
          <a:ext cx="91440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1188720"/>
                <a:gridCol w="118872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Frames (LRU → MRU)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7, 0, 1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0, 1, 2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1, 2, 0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2, 0, 3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3, 0, 4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0, 4, 2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4, 2, 3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2, 3, 0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2, 0, 3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26151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0, 3, 2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40080" y="5969203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LRU faults: 9 out of 13 — one better than FIFO (10), one worse than OPT (7): OPT ≤ LRU ≤ FIFO.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Second-Chance (Clock) Algorithm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Second-Chance algorithm</a:t>
            </a:r>
            <a:pPr indent="0" marL="0"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(commonly called Clock) approximates LRU using only a single reference bit per frame. Frames are arranged in a circle with a clock hand pointing at the next eviction candidate.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6888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Whenever a page is referenced, its reference bit is set to 1 — at no extra cost beyond the reference itself.</a:t>
            </a:r>
            <a:endParaRPr lang="en-US" sz="1550" dirty="0"/>
          </a:p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fault, if the hand's frame has bit = 1: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give it a second chance — clear the bit to 0, advance the hand, don't evict.</a:t>
            </a:r>
            <a:endParaRPr lang="en-US" sz="1550" dirty="0"/>
          </a:p>
          <a:p>
            <a:pPr marL="241300" indent="-241300">
              <a:lnSpc>
                <a:spcPct val="120000"/>
              </a:lnSpc>
              <a:spcAft>
                <a:spcPts val="2000"/>
              </a:spcAft>
              <a:buSzPct val="100000"/>
              <a:buChar char="•"/>
            </a:pPr>
            <a:r>
              <a:rPr lang="en-US" sz="15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fault, if the hand's frame has bit = 0:</a:t>
            </a:r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evict it immediately, place the new page (bit = 1), advance the hand past it.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Trace (Slot: Page:Bit)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string: 7, 0, 1, 2, 0, 3, 0, 4, 2, 3, 0, 3, 2  ·  3 frames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91440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371600"/>
                <a:gridCol w="1371600"/>
                <a:gridCol w="1371600"/>
                <a:gridCol w="1097280"/>
                <a:gridCol w="118872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Slot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242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4:0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9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58978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Clock faults: 9 out of 13 — matching LRU exactly, at a fraction of the bookkeeping cost.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Fault-Count Comparison: OPT ≤ LRU ≤ FIFO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reference string (7, 0, 1, 2, 0, 3, 0, 4, 2, 3, 0, 3, 2), same 3 frames, every algorithm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2446020" cy="2011680"/>
          </a:xfrm>
          <a:prstGeom prst="roundRect">
            <a:avLst>
              <a:gd name="adj" fmla="val 3636"/>
            </a:avLst>
          </a:prstGeom>
          <a:solidFill>
            <a:srgbClr val="2FE6C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24460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4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3451860" y="1737360"/>
            <a:ext cx="2446020" cy="2011680"/>
          </a:xfrm>
          <a:prstGeom prst="roundRect">
            <a:avLst>
              <a:gd name="adj" fmla="val 3636"/>
            </a:avLst>
          </a:prstGeom>
          <a:solidFill>
            <a:srgbClr val="8B7FD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51860" y="1737360"/>
            <a:ext cx="24460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LRU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6263640" y="1737360"/>
            <a:ext cx="2446020" cy="2011680"/>
          </a:xfrm>
          <a:prstGeom prst="roundRect">
            <a:avLst>
              <a:gd name="adj" fmla="val 3636"/>
            </a:avLst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737360"/>
            <a:ext cx="24460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9075420" y="1737360"/>
            <a:ext cx="2446020" cy="2011680"/>
          </a:xfrm>
          <a:prstGeom prst="roundRect">
            <a:avLst>
              <a:gd name="adj" fmla="val 3636"/>
            </a:avLst>
          </a:prstGeom>
          <a:solidFill>
            <a:srgbClr val="E8A3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075420" y="1737360"/>
            <a:ext cx="24460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48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endParaRPr lang="en-US" sz="4800" dirty="0"/>
          </a:p>
        </p:txBody>
      </p:sp>
      <p:sp>
        <p:nvSpPr>
          <p:cNvPr id="13" name="Shape 11"/>
          <p:cNvSpPr/>
          <p:nvPr/>
        </p:nvSpPr>
        <p:spPr>
          <a:xfrm>
            <a:off x="640080" y="4114800"/>
            <a:ext cx="10881360" cy="1371600"/>
          </a:xfrm>
          <a:prstGeom prst="roundRect">
            <a:avLst>
              <a:gd name="adj" fmla="val 3333"/>
            </a:avLst>
          </a:prstGeom>
          <a:solidFill>
            <a:srgbClr val="F7F8F9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4242816"/>
            <a:ext cx="10424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≤ LRU ≤ FIFO, exactly the ordering theory predicts.  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(7 faults) is the unreachable lower bound; Clock (9) matches true LRU (9) at a fraction of the cost; FIFO (10), the simplest policy, pays for ignoring recency entirely.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and LFU (Brief)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further counting-based policies occasionally appear, each tracking how often a page has been referenced rather than how recently.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0312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b="1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LFU (Least Frequently Used)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evicts the page with the smallest reference count. Weakness: a page referenced heavily during an early burst keeps a high count forever, even long after the process stops needing it.</a:t>
            </a:r>
            <a:endParaRPr lang="en-US" sz="1600" dirty="0"/>
          </a:p>
          <a:p>
            <a:pPr marL="241300" indent="-241300">
              <a:lnSpc>
                <a:spcPct val="120000"/>
              </a:lnSpc>
              <a:spcAft>
                <a:spcPts val="2600"/>
              </a:spcAft>
              <a:buSzPct val="100000"/>
              <a:buChar char="•"/>
            </a:pPr>
            <a:r>
              <a:rPr lang="en-US" sz="1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(Most Frequently Used)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evicts the page with the largest reference count, reasoning that a heavily-used page is “done.” This rationale is weaker, and MFU is far less common in practice.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480560"/>
            <a:ext cx="10881360" cy="914400"/>
          </a:xfrm>
          <a:prstGeom prst="roundRect">
            <a:avLst>
              <a:gd name="adj" fmla="val 5000"/>
            </a:avLst>
          </a:prstGeom>
          <a:solidFill>
            <a:srgbClr val="F7F8F9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460857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mentioned mainly to round out the taxonomy — neither sees the widespread real-world use that LRU and its Clock approximation do.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Thrashing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4300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Thrashing</a:t>
            </a:r>
            <a:pPr indent="0" marL="0">
              <a:buNone/>
            </a:pPr>
            <a:r>
              <a:rPr lang="en-US" sz="15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precise name for a process spending more time paging than executing, because its allocated frames are too few to hold its working set — the pages it is actively referencing right now.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5740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thrashing feedback loop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2FE6C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2487168"/>
            <a:ext cx="2240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utilization looks low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OS sees idle CPU and interprets it as room for more 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91256" y="2980944"/>
            <a:ext cx="201168" cy="164592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237744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8B7FD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566160" y="2487168"/>
            <a:ext cx="2240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admits more processes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Hoping to raise CPU utilization via multiprogramming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80176" y="2980944"/>
            <a:ext cx="201168" cy="164592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37744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E8A33D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355080" y="2487168"/>
            <a:ext cx="2240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gets fewer frames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physical memory is now divided more ways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769096" y="2980944"/>
            <a:ext cx="201168" cy="164592"/>
          </a:xfrm>
          <a:prstGeom prst="rightArrow">
            <a:avLst/>
          </a:prstGeom>
          <a:solidFill>
            <a:srgbClr val="8A939B"/>
          </a:solidFill>
          <a:ln/>
        </p:spPr>
      </p:sp>
      <p:sp>
        <p:nvSpPr>
          <p:cNvPr id="15" name="Shape 13"/>
          <p:cNvSpPr/>
          <p:nvPr/>
        </p:nvSpPr>
        <p:spPr>
          <a:xfrm>
            <a:off x="9006840" y="2377440"/>
            <a:ext cx="2514600" cy="1371600"/>
          </a:xfrm>
          <a:prstGeom prst="roundRect">
            <a:avLst>
              <a:gd name="adj" fmla="val 4667"/>
            </a:avLst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0" y="2487168"/>
            <a:ext cx="22402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Faulting increases sharply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process holds enough of its working set resident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931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CPU utilization drops further — the loop repeats, each lap worse than the last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10881360" cy="1371600"/>
          </a:xfrm>
          <a:prstGeom prst="roundRect">
            <a:avLst>
              <a:gd name="adj" fmla="val 3333"/>
            </a:avLst>
          </a:prstGeom>
          <a:solidFill>
            <a:srgbClr val="F7F8F9"/>
          </a:solidFill>
          <a:ln w="12700">
            <a:solidFill>
              <a:srgbClr val="2FE6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700016"/>
            <a:ext cx="1042416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working-set model is the standard fix.  </a:t>
            </a:r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admitting processes until memory runs out, it tracks each process's actively-referenced page set directly and only admits new processes when collective working sets still leave room.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0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88136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41300" indent="-2413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replacement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needed whenever a fault occurs with no free frame; a dirty (modify) bit determines whether the evicted page must be written back first.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reference string, 3 frames, every algorithm: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FIFO = 10, LRU = 9, Clock = 9, OPT = 7.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 suffer Belady's Anomaly — more frames producing more faults (9 at 3 frames, 10 at 4, on the classic string).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theoretical lower bound; LRU approximates it from the past; Second-Chance (Clock) approximates LRU cheaply with one reference bit per frame.</a:t>
            </a:r>
            <a:endParaRPr lang="en-US" sz="1500" dirty="0"/>
          </a:p>
          <a:p>
            <a:pPr marL="241300" indent="-241300">
              <a:lnSpc>
                <a:spcPct val="120000"/>
              </a:lnSpc>
              <a:spcAft>
                <a:spcPts val="1800"/>
              </a:spcAft>
              <a:buSzPct val="100000"/>
              <a:buChar char="•"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Thrashing</a:t>
            </a:r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paging more than executing — can collapse system-wide CPU utilization; the working-set model is the standard defense.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2026-10-02T01:14:16Z</dcterms:created>
  <dcterms:modified xsi:type="dcterms:W3CDTF">2026-10-02T01:14:16Z</dcterms:modified>
</cp:coreProperties>
</file>
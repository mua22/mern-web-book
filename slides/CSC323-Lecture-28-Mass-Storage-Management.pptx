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28</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Mass Storage Management</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4" name="Text 2"/>
          <p:cNvSpPr txBox="1"/>
          <p:nvPr/>
        </p:nvSpPr>
        <p:spPr>
          <a:xfrm>
            <a:off x="640080" y="1371600"/>
            <a:ext cx="10881360" cy="4846320"/>
          </a:xfrm>
          <a:prstGeom prst="rect">
            <a:avLst/>
          </a:prstGeom>
          <a:noFill/>
          <a:ln/>
        </p:spPr>
        <p:txBody>
          <a:bodyPr wrap="square" rtlCol="0" anchor="t"/>
          <a:lstStyle/>
          <a:p>
            <a:pPr marL="241300" indent="-241300">
              <a:lnSpc>
                <a:spcPct val="120000"/>
              </a:lnSpc>
              <a:spcAft>
                <a:spcPts val="2000"/>
              </a:spcAft>
              <a:buSzPct val="100000"/>
              <a:buChar char="•"/>
            </a:pPr>
            <a:r>
              <a:rPr lang="en-US" sz="1600" dirty="0">
                <a:solidFill>
                  <a:srgbClr val="1F2429"/>
                </a:solidFill>
                <a:latin typeface="Calibri" pitchFamily="34" charset="0"/>
                <a:ea typeface="Calibri" pitchFamily="34" charset="-122"/>
                <a:cs typeface="Calibri" pitchFamily="34" charset="-120"/>
              </a:rPr>
              <a:t>The physical structure of a hard disk, and the three components of disk access time</a:t>
            </a:r>
            <a:endParaRPr lang="en-US" sz="1600" dirty="0"/>
          </a:p>
          <a:p>
            <a:pPr marL="241300" indent="-241300">
              <a:lnSpc>
                <a:spcPct val="120000"/>
              </a:lnSpc>
              <a:spcAft>
                <a:spcPts val="2000"/>
              </a:spcAft>
              <a:buSzPct val="100000"/>
              <a:buChar char="•"/>
            </a:pPr>
            <a:r>
              <a:rPr lang="en-US" sz="1600" b="1" dirty="0">
                <a:solidFill>
                  <a:srgbClr val="1F2429"/>
                </a:solidFill>
                <a:latin typeface="Calibri" pitchFamily="34" charset="0"/>
                <a:ea typeface="Calibri" pitchFamily="34" charset="-122"/>
                <a:cs typeface="Calibri" pitchFamily="34" charset="-120"/>
              </a:rPr>
              <a:t>Volatile vs. non-volatile memory</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and how SSD performance characteristics differ from a mechanical disk's</a:t>
            </a:r>
            <a:endParaRPr lang="en-US" sz="1600" dirty="0"/>
          </a:p>
          <a:p>
            <a:pPr marL="241300" indent="-241300">
              <a:lnSpc>
                <a:spcPct val="120000"/>
              </a:lnSpc>
              <a:spcAft>
                <a:spcPts val="2000"/>
              </a:spcAft>
              <a:buSzPct val="100000"/>
              <a:buChar char="•"/>
            </a:pPr>
            <a:r>
              <a:rPr lang="en-US" sz="1600" b="1" dirty="0">
                <a:solidFill>
                  <a:srgbClr val="1F2429"/>
                </a:solidFill>
                <a:latin typeface="Calibri" pitchFamily="34" charset="0"/>
                <a:ea typeface="Calibri" pitchFamily="34" charset="-122"/>
                <a:cs typeface="Calibri" pitchFamily="34" charset="-120"/>
              </a:rPr>
              <a:t>Why disk scheduling matters</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seek time dominates, so request order matters</a:t>
            </a:r>
            <a:endParaRPr lang="en-US" sz="1600" dirty="0"/>
          </a:p>
          <a:p>
            <a:pPr marL="241300" indent="-241300">
              <a:lnSpc>
                <a:spcPct val="120000"/>
              </a:lnSpc>
              <a:spcAft>
                <a:spcPts val="2000"/>
              </a:spcAft>
              <a:buSzPct val="100000"/>
              <a:buChar char="•"/>
            </a:pPr>
            <a:r>
              <a:rPr lang="en-US" sz="1600" b="1" dirty="0">
                <a:solidFill>
                  <a:srgbClr val="1F2429"/>
                </a:solidFill>
                <a:latin typeface="Calibri" pitchFamily="34" charset="0"/>
                <a:ea typeface="Calibri" pitchFamily="34" charset="-122"/>
                <a:cs typeface="Calibri" pitchFamily="34" charset="-120"/>
              </a:rPr>
              <a:t>FCFS, SSTF, SCAN, and C-SCAN</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worked against one shared example</a:t>
            </a:r>
            <a:endParaRPr lang="en-US" sz="1600" dirty="0"/>
          </a:p>
          <a:p>
            <a:pPr marL="241300" indent="-241300">
              <a:lnSpc>
                <a:spcPct val="120000"/>
              </a:lnSpc>
              <a:spcAft>
                <a:spcPts val="2000"/>
              </a:spcAft>
              <a:buSzPct val="100000"/>
              <a:buChar char="•"/>
            </a:pPr>
            <a:r>
              <a:rPr lang="en-US" sz="1600" b="1" dirty="0">
                <a:solidFill>
                  <a:srgbClr val="1F2429"/>
                </a:solidFill>
                <a:latin typeface="Calibri" pitchFamily="34" charset="0"/>
                <a:ea typeface="Calibri" pitchFamily="34" charset="-122"/>
                <a:cs typeface="Calibri" pitchFamily="34" charset="-120"/>
              </a:rPr>
              <a:t>Why NVM/SSD scheduling</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is a fundamentally different problem from head-movement minimization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Hard Disk Structure and Access Time</a:t>
            </a:r>
            <a:endParaRPr lang="en-US" sz="2800" dirty="0"/>
          </a:p>
        </p:txBody>
      </p:sp>
      <p:sp>
        <p:nvSpPr>
          <p:cNvPr id="4" name="Text 2"/>
          <p:cNvSpPr txBox="1"/>
          <p:nvPr/>
        </p:nvSpPr>
        <p:spPr>
          <a:xfrm>
            <a:off x="640080" y="1188720"/>
            <a:ext cx="10881360" cy="100584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A hard disk stores data on spinning platters, each with its own read/write head. Each surface is divided into tracks, each track into sectors — the smallest unit the disk can read or write. Reading any sector requires three distinct delays, all happening in sequence.</a:t>
            </a:r>
            <a:endParaRPr lang="en-US" sz="1500" dirty="0"/>
          </a:p>
        </p:txBody>
      </p:sp>
      <p:sp>
        <p:nvSpPr>
          <p:cNvPr id="5" name="Text 3"/>
          <p:cNvSpPr txBox="1"/>
          <p:nvPr/>
        </p:nvSpPr>
        <p:spPr>
          <a:xfrm>
            <a:off x="640080" y="233172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The three components of hard-disk access time</a:t>
            </a:r>
            <a:endParaRPr lang="en-US" sz="1200" dirty="0"/>
          </a:p>
        </p:txBody>
      </p:sp>
      <p:sp>
        <p:nvSpPr>
          <p:cNvPr id="6" name="Shape 4"/>
          <p:cNvSpPr/>
          <p:nvPr/>
        </p:nvSpPr>
        <p:spPr>
          <a:xfrm>
            <a:off x="640080" y="2651760"/>
            <a:ext cx="3383280" cy="1371600"/>
          </a:xfrm>
          <a:prstGeom prst="roundRect">
            <a:avLst>
              <a:gd name="adj" fmla="val 4667"/>
            </a:avLst>
          </a:prstGeom>
          <a:solidFill>
            <a:srgbClr val="2FE6C4"/>
          </a:solidFill>
          <a:ln/>
        </p:spPr>
      </p:sp>
      <p:sp>
        <p:nvSpPr>
          <p:cNvPr id="7" name="Text 5"/>
          <p:cNvSpPr txBox="1"/>
          <p:nvPr/>
        </p:nvSpPr>
        <p:spPr>
          <a:xfrm>
            <a:off x="777240" y="2761488"/>
            <a:ext cx="3108960" cy="1152144"/>
          </a:xfrm>
          <a:prstGeom prst="rect">
            <a:avLst/>
          </a:prstGeom>
          <a:noFill/>
          <a:ln/>
        </p:spPr>
        <p:txBody>
          <a:bodyPr wrap="square" lIns="0" tIns="0" rIns="0" bIns="0" rtlCol="0" anchor="t"/>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Seek time</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Moving the read/write head to the correct track</a:t>
            </a:r>
            <a:endParaRPr lang="en-US" sz="1300" dirty="0"/>
          </a:p>
        </p:txBody>
      </p:sp>
      <p:sp>
        <p:nvSpPr>
          <p:cNvPr id="8" name="Shape 6"/>
          <p:cNvSpPr/>
          <p:nvPr/>
        </p:nvSpPr>
        <p:spPr>
          <a:xfrm>
            <a:off x="4059936" y="3255264"/>
            <a:ext cx="292608" cy="164592"/>
          </a:xfrm>
          <a:prstGeom prst="rightArrow">
            <a:avLst/>
          </a:prstGeom>
          <a:solidFill>
            <a:srgbClr val="8A939B"/>
          </a:solidFill>
          <a:ln/>
        </p:spPr>
      </p:sp>
      <p:sp>
        <p:nvSpPr>
          <p:cNvPr id="9" name="Shape 7"/>
          <p:cNvSpPr/>
          <p:nvPr/>
        </p:nvSpPr>
        <p:spPr>
          <a:xfrm>
            <a:off x="4389120" y="2651760"/>
            <a:ext cx="3383280" cy="1371600"/>
          </a:xfrm>
          <a:prstGeom prst="roundRect">
            <a:avLst>
              <a:gd name="adj" fmla="val 4667"/>
            </a:avLst>
          </a:prstGeom>
          <a:solidFill>
            <a:srgbClr val="8B7FD9"/>
          </a:solidFill>
          <a:ln/>
        </p:spPr>
      </p:sp>
      <p:sp>
        <p:nvSpPr>
          <p:cNvPr id="10" name="Text 8"/>
          <p:cNvSpPr txBox="1"/>
          <p:nvPr/>
        </p:nvSpPr>
        <p:spPr>
          <a:xfrm>
            <a:off x="4526280" y="2761488"/>
            <a:ext cx="3108960" cy="1152144"/>
          </a:xfrm>
          <a:prstGeom prst="rect">
            <a:avLst/>
          </a:prstGeom>
          <a:noFill/>
          <a:ln/>
        </p:spPr>
        <p:txBody>
          <a:bodyPr wrap="square" lIns="0" tIns="0" rIns="0" bIns="0" rtlCol="0" anchor="t"/>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Rotational latency</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Waiting for the platter to spin the right sector under the head</a:t>
            </a:r>
            <a:endParaRPr lang="en-US" sz="1300" dirty="0"/>
          </a:p>
        </p:txBody>
      </p:sp>
      <p:sp>
        <p:nvSpPr>
          <p:cNvPr id="11" name="Shape 9"/>
          <p:cNvSpPr/>
          <p:nvPr/>
        </p:nvSpPr>
        <p:spPr>
          <a:xfrm>
            <a:off x="7808976" y="3255264"/>
            <a:ext cx="292608" cy="164592"/>
          </a:xfrm>
          <a:prstGeom prst="rightArrow">
            <a:avLst/>
          </a:prstGeom>
          <a:solidFill>
            <a:srgbClr val="8A939B"/>
          </a:solidFill>
          <a:ln/>
        </p:spPr>
      </p:sp>
      <p:sp>
        <p:nvSpPr>
          <p:cNvPr id="12" name="Shape 10"/>
          <p:cNvSpPr/>
          <p:nvPr/>
        </p:nvSpPr>
        <p:spPr>
          <a:xfrm>
            <a:off x="8138160" y="2651760"/>
            <a:ext cx="3383280" cy="1371600"/>
          </a:xfrm>
          <a:prstGeom prst="roundRect">
            <a:avLst>
              <a:gd name="adj" fmla="val 4667"/>
            </a:avLst>
          </a:prstGeom>
          <a:solidFill>
            <a:srgbClr val="E8A33D"/>
          </a:solidFill>
          <a:ln/>
        </p:spPr>
      </p:sp>
      <p:sp>
        <p:nvSpPr>
          <p:cNvPr id="13" name="Text 11"/>
          <p:cNvSpPr txBox="1"/>
          <p:nvPr/>
        </p:nvSpPr>
        <p:spPr>
          <a:xfrm>
            <a:off x="8275320" y="2761488"/>
            <a:ext cx="3108960" cy="1152144"/>
          </a:xfrm>
          <a:prstGeom prst="rect">
            <a:avLst/>
          </a:prstGeom>
          <a:noFill/>
          <a:ln/>
        </p:spPr>
        <p:txBody>
          <a:bodyPr wrap="square" lIns="0" tIns="0" rIns="0" bIns="0" rtlCol="0" anchor="t"/>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Transfer time</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Actually reading the sector's bits as they pass under the head</a:t>
            </a:r>
            <a:endParaRPr lang="en-US" sz="1300" dirty="0"/>
          </a:p>
        </p:txBody>
      </p:sp>
      <p:sp>
        <p:nvSpPr>
          <p:cNvPr id="14" name="Shape 12"/>
          <p:cNvSpPr/>
          <p:nvPr/>
        </p:nvSpPr>
        <p:spPr>
          <a:xfrm>
            <a:off x="640080" y="4480560"/>
            <a:ext cx="10881360" cy="914400"/>
          </a:xfrm>
          <a:prstGeom prst="roundRect">
            <a:avLst>
              <a:gd name="adj" fmla="val 5000"/>
            </a:avLst>
          </a:prstGeom>
          <a:solidFill>
            <a:srgbClr val="F7F8F9"/>
          </a:solidFill>
          <a:ln w="12700">
            <a:solidFill>
              <a:srgbClr val="2FE6C4"/>
            </a:solidFill>
            <a:prstDash val="solid"/>
          </a:ln>
        </p:spPr>
      </p:sp>
      <p:sp>
        <p:nvSpPr>
          <p:cNvPr id="15" name="Text 13"/>
          <p:cNvSpPr txBox="1"/>
          <p:nvPr/>
        </p:nvSpPr>
        <p:spPr>
          <a:xfrm>
            <a:off x="868680" y="4608576"/>
            <a:ext cx="10424160" cy="658368"/>
          </a:xfrm>
          <a:prstGeom prst="rect">
            <a:avLst/>
          </a:prstGeom>
          <a:noFill/>
          <a:ln/>
        </p:spPr>
        <p:txBody>
          <a:bodyPr wrap="square" lIns="0" tIns="0" rIns="0" bIns="0" rtlCol="0" anchor="t"/>
          <a:lstStyle/>
          <a:p>
            <a:pPr indent="0" marL="0">
              <a:lnSpc>
                <a:spcPct val="115000"/>
              </a:lnSpc>
              <a:buNone/>
            </a:pPr>
            <a:r>
              <a:rPr lang="en-US" sz="1400" b="1" dirty="0">
                <a:solidFill>
                  <a:srgbClr val="1F2429"/>
                </a:solidFill>
                <a:latin typeface="Calibri" pitchFamily="34" charset="0"/>
                <a:ea typeface="Calibri" pitchFamily="34" charset="-122"/>
                <a:cs typeface="Calibri" pitchFamily="34" charset="-120"/>
              </a:rPr>
              <a:t>All three must happen in sequence on every access.  </a:t>
            </a:r>
            <a:pPr indent="0" marL="0">
              <a:lnSpc>
                <a:spcPct val="115000"/>
              </a:lnSpc>
              <a:buNone/>
            </a:pPr>
            <a:r>
              <a:rPr lang="en-US" sz="1400" dirty="0">
                <a:solidFill>
                  <a:srgbClr val="1F2429"/>
                </a:solidFill>
                <a:latin typeface="Calibri" pitchFamily="34" charset="0"/>
                <a:ea typeface="Calibri" pitchFamily="34" charset="-122"/>
                <a:cs typeface="Calibri" pitchFamily="34" charset="-120"/>
              </a:rPr>
              <a:t>There is no way to skip or overlap seek, rotational latency, and transfer for a single mechanical read.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Worked Example: Disk Access Time</a:t>
            </a:r>
            <a:endParaRPr lang="en-US" sz="2800" dirty="0"/>
          </a:p>
        </p:txBody>
      </p:sp>
      <p:sp>
        <p:nvSpPr>
          <p:cNvPr id="4" name="Text 2"/>
          <p:cNvSpPr txBox="1"/>
          <p:nvPr/>
        </p:nvSpPr>
        <p:spPr>
          <a:xfrm>
            <a:off x="640080" y="1188720"/>
            <a:ext cx="10881360" cy="50292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 disk spinning at 7,200 RPM, average seek time 4 ms, transfer rate 125 MB/s, reading a single 4 KB block.</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9144000" cy="914400"/>
        </p:xfrm>
        <a:graphic>
          <a:graphicData uri="http://schemas.openxmlformats.org/drawingml/2006/table">
            <a:tbl>
              <a:tblPr/>
              <a:tblGrid>
                <a:gridCol w="2377440"/>
                <a:gridCol w="4754880"/>
                <a:gridCol w="201168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Calculation</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50292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Seek time</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given</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4 ms</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0292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Rotational latency</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(60,000 / 7,200) ÷ 2  ≈  8.33 / 2</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 4.17 ms</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50292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Transfer time</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4,096 bytes / 125,000,000 bytes/s</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 0.033 ms</a:t>
                      </a:r>
                      <a:endParaRPr lang="en-US" sz="14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6" name="Shape 3"/>
          <p:cNvSpPr/>
          <p:nvPr/>
        </p:nvSpPr>
        <p:spPr>
          <a:xfrm>
            <a:off x="640080" y="3931920"/>
            <a:ext cx="10881360" cy="1371600"/>
          </a:xfrm>
          <a:prstGeom prst="roundRect">
            <a:avLst>
              <a:gd name="adj" fmla="val 3333"/>
            </a:avLst>
          </a:prstGeom>
          <a:solidFill>
            <a:srgbClr val="F7F8F9"/>
          </a:solidFill>
          <a:ln w="12700">
            <a:solidFill>
              <a:srgbClr val="E8A33D"/>
            </a:solidFill>
            <a:prstDash val="solid"/>
          </a:ln>
        </p:spPr>
      </p:sp>
      <p:sp>
        <p:nvSpPr>
          <p:cNvPr id="7" name="Text 4"/>
          <p:cNvSpPr txBox="1"/>
          <p:nvPr/>
        </p:nvSpPr>
        <p:spPr>
          <a:xfrm>
            <a:off x="868680" y="4059936"/>
            <a:ext cx="10424160" cy="1115568"/>
          </a:xfrm>
          <a:prstGeom prst="rect">
            <a:avLst/>
          </a:prstGeom>
          <a:noFill/>
          <a:ln/>
        </p:spPr>
        <p:txBody>
          <a:bodyPr wrap="square" lIns="0" tIns="0" rIns="0" bIns="0" rtlCol="0" anchor="t"/>
          <a:lstStyle/>
          <a:p>
            <a:pPr indent="0" marL="0">
              <a:lnSpc>
                <a:spcPct val="115000"/>
              </a:lnSpc>
              <a:buNone/>
            </a:pPr>
            <a:r>
              <a:rPr lang="en-US" sz="1450" b="1" dirty="0">
                <a:solidFill>
                  <a:srgbClr val="1F2429"/>
                </a:solidFill>
                <a:latin typeface="Calibri" pitchFamily="34" charset="0"/>
                <a:ea typeface="Calibri" pitchFamily="34" charset="-122"/>
                <a:cs typeface="Calibri" pitchFamily="34" charset="-120"/>
              </a:rPr>
              <a:t>Total access time = 4 + 4.17 + 0.033 ≈ 8.2 ms.  </a:t>
            </a:r>
            <a:pPr indent="0" marL="0">
              <a:lnSpc>
                <a:spcPct val="115000"/>
              </a:lnSpc>
              <a:buNone/>
            </a:pPr>
            <a:r>
              <a:rPr lang="en-US" sz="1450" dirty="0">
                <a:solidFill>
                  <a:srgbClr val="1F2429"/>
                </a:solidFill>
                <a:latin typeface="Calibri" pitchFamily="34" charset="0"/>
                <a:ea typeface="Calibri" pitchFamily="34" charset="-122"/>
                <a:cs typeface="Calibri" pitchFamily="34" charset="-120"/>
              </a:rPr>
              <a:t>This is exactly the page-fault service time Lecture 25's EAT worked example used — a page fault's cost is dominated almost entirely by this one disk access, roughly forty thousand times slower than a 200 ns memory access.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Volatile and Non-Volatile Memory</a:t>
            </a:r>
            <a:endParaRPr lang="en-US" sz="2800" dirty="0"/>
          </a:p>
        </p:txBody>
      </p:sp>
      <p:sp>
        <p:nvSpPr>
          <p:cNvPr id="4" name="Text 2"/>
          <p:cNvSpPr txBox="1"/>
          <p:nvPr/>
        </p:nvSpPr>
        <p:spPr>
          <a:xfrm>
            <a:off x="640080" y="1188720"/>
            <a:ext cx="10881360" cy="822960"/>
          </a:xfrm>
          <a:prstGeom prst="rect">
            <a:avLst/>
          </a:prstGeom>
          <a:noFill/>
          <a:ln/>
        </p:spPr>
        <p:txBody>
          <a:bodyPr wrap="square" lIns="0" tIns="0" rIns="0" bIns="0" rtlCol="0" anchor="t"/>
          <a:lstStyle/>
          <a:p>
            <a:pPr indent="0" marL="0">
              <a:buNone/>
            </a:pPr>
            <a:r>
              <a:rPr lang="en-US" sz="1600" b="1" dirty="0">
                <a:solidFill>
                  <a:srgbClr val="8B7FD9"/>
                </a:solidFill>
                <a:latin typeface="Calibri" pitchFamily="34" charset="0"/>
                <a:ea typeface="Calibri" pitchFamily="34" charset="-122"/>
                <a:cs typeface="Calibri" pitchFamily="34" charset="-120"/>
              </a:rPr>
              <a:t>RAM is volatile</a:t>
            </a:r>
            <a:pPr indent="0" marL="0">
              <a:buNone/>
            </a:pPr>
            <a:r>
              <a:rPr lang="en-US" sz="1600" dirty="0">
                <a:solidFill>
                  <a:srgbClr val="1F2429"/>
                </a:solidFill>
                <a:latin typeface="Calibri" pitchFamily="34" charset="0"/>
                <a:ea typeface="Calibri" pitchFamily="34" charset="-122"/>
                <a:cs typeface="Calibri" pitchFamily="34" charset="-120"/>
              </a:rPr>
              <a:t>: its contents are lost the instant power is removed. Flash memory, SSDs, and other non-volatile memory (NVM) retain their contents with no power applied at all.</a:t>
            </a:r>
            <a:endParaRPr lang="en-US" sz="1600" dirty="0"/>
          </a:p>
        </p:txBody>
      </p:sp>
      <p:sp>
        <p:nvSpPr>
          <p:cNvPr id="5" name="Text 3"/>
          <p:cNvSpPr txBox="1"/>
          <p:nvPr/>
        </p:nvSpPr>
        <p:spPr>
          <a:xfrm>
            <a:off x="640080" y="2240280"/>
            <a:ext cx="10881360" cy="4846320"/>
          </a:xfrm>
          <a:prstGeom prst="rect">
            <a:avLst/>
          </a:prstGeom>
          <a:noFill/>
          <a:ln/>
        </p:spPr>
        <p:txBody>
          <a:bodyPr wrap="square" rtlCol="0" anchor="t"/>
          <a:lstStyle/>
          <a:p>
            <a:pPr marL="241300" indent="-241300">
              <a:lnSpc>
                <a:spcPct val="120000"/>
              </a:lnSpc>
              <a:spcAft>
                <a:spcPts val="2200"/>
              </a:spcAft>
              <a:buSzPct val="100000"/>
              <a:buChar char="•"/>
            </a:pPr>
            <a:r>
              <a:rPr lang="en-US" sz="1600" b="1" dirty="0">
                <a:solidFill>
                  <a:srgbClr val="1F2429"/>
                </a:solidFill>
                <a:latin typeface="Calibri" pitchFamily="34" charset="0"/>
                <a:ea typeface="Calibri" pitchFamily="34" charset="-122"/>
                <a:cs typeface="Calibri" pitchFamily="34" charset="-120"/>
              </a:rPr>
              <a:t>No moving parts.</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An SSD pays neither seek time nor rotational latency — any block is reached in roughly the same, very small time, regardless of where it sits.</a:t>
            </a:r>
            <a:endParaRPr lang="en-US" sz="1600" dirty="0"/>
          </a:p>
          <a:p>
            <a:pPr marL="241300" indent="-241300">
              <a:lnSpc>
                <a:spcPct val="120000"/>
              </a:lnSpc>
              <a:spcAft>
                <a:spcPts val="2200"/>
              </a:spcAft>
              <a:buSzPct val="100000"/>
              <a:buChar char="•"/>
            </a:pPr>
            <a:r>
              <a:rPr lang="en-US" sz="1600" b="1" dirty="0">
                <a:solidFill>
                  <a:srgbClr val="1F2429"/>
                </a:solidFill>
                <a:latin typeface="Calibri" pitchFamily="34" charset="0"/>
                <a:ea typeface="Calibri" pitchFamily="34" charset="-122"/>
                <a:cs typeface="Calibri" pitchFamily="34" charset="-120"/>
              </a:rPr>
              <a:t>Limited write-erase cycles.</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Flash cells wear out after a limited number of write-erase cycles, trading the mechanical bottleneck for a different one.</a:t>
            </a:r>
            <a:endParaRPr lang="en-US" sz="1600" dirty="0"/>
          </a:p>
          <a:p>
            <a:pPr marL="241300" indent="-241300">
              <a:lnSpc>
                <a:spcPct val="120000"/>
              </a:lnSpc>
              <a:spcAft>
                <a:spcPts val="2200"/>
              </a:spcAft>
              <a:buSzPct val="100000"/>
              <a:buChar char="•"/>
            </a:pPr>
            <a:r>
              <a:rPr lang="en-US" sz="1600" b="1" dirty="0">
                <a:solidFill>
                  <a:srgbClr val="1F2429"/>
                </a:solidFill>
                <a:latin typeface="Calibri" pitchFamily="34" charset="0"/>
                <a:ea typeface="Calibri" pitchFamily="34" charset="-122"/>
                <a:cs typeface="Calibri" pitchFamily="34" charset="-120"/>
              </a:rPr>
              <a:t>Wear leveling.</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SSD controllers spread writes evenly across all cells, so no one region wears out and fails long before the rest of the drive.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Disk Scheduling</a:t>
            </a:r>
            <a:endParaRPr lang="en-US" sz="2800" dirty="0"/>
          </a:p>
        </p:txBody>
      </p:sp>
      <p:sp>
        <p:nvSpPr>
          <p:cNvPr id="4" name="Text 2"/>
          <p:cNvSpPr txBox="1"/>
          <p:nvPr/>
        </p:nvSpPr>
        <p:spPr>
          <a:xfrm>
            <a:off x="640080" y="1188720"/>
            <a:ext cx="10881360" cy="8686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For a mechanical hard disk, seek time dominates total access time — and it's the one component that depends heavily on where the head currently is versus where it needs to go next. This makes the order pending requests are serviced matter enormously.</a:t>
            </a:r>
            <a:endParaRPr lang="en-US" sz="1500" dirty="0"/>
          </a:p>
        </p:txBody>
      </p:sp>
      <p:sp>
        <p:nvSpPr>
          <p:cNvPr id="5" name="Text 3"/>
          <p:cNvSpPr txBox="1"/>
          <p:nvPr/>
        </p:nvSpPr>
        <p:spPr>
          <a:xfrm>
            <a:off x="640080" y="2194560"/>
            <a:ext cx="10881360" cy="4846320"/>
          </a:xfrm>
          <a:prstGeom prst="rect">
            <a:avLst/>
          </a:prstGeom>
          <a:noFill/>
          <a:ln/>
        </p:spPr>
        <p:txBody>
          <a:bodyPr wrap="square" rtlCol="0" anchor="t"/>
          <a:lstStyle/>
          <a:p>
            <a:pPr marL="241300" indent="-241300">
              <a:lnSpc>
                <a:spcPct val="120000"/>
              </a:lnSpc>
              <a:spcAft>
                <a:spcPts val="1400"/>
              </a:spcAft>
              <a:buSzPct val="100000"/>
              <a:buChar char="•"/>
            </a:pPr>
            <a:r>
              <a:rPr lang="en-US" sz="1450" b="1" dirty="0">
                <a:solidFill>
                  <a:srgbClr val="2FE6C4"/>
                </a:solidFill>
                <a:latin typeface="Calibri" pitchFamily="34" charset="0"/>
                <a:ea typeface="Calibri" pitchFamily="34" charset="-122"/>
                <a:cs typeface="Calibri" pitchFamily="34" charset="-120"/>
              </a:rPr>
              <a:t>FCFS</a:t>
            </a:r>
            <a:pPr indent="0" marL="0">
              <a:lnSpc>
                <a:spcPct val="120000"/>
              </a:lnSpc>
              <a:buNone/>
            </a:pPr>
            <a:r>
              <a:rPr lang="en-US" sz="1450" dirty="0">
                <a:solidFill>
                  <a:srgbClr val="1F2429"/>
                </a:solidFill>
                <a:latin typeface="Calibri" pitchFamily="34" charset="0"/>
                <a:ea typeface="Calibri" pitchFamily="34" charset="-122"/>
                <a:cs typeface="Calibri" pitchFamily="34" charset="-120"/>
              </a:rPr>
              <a:t> (First-Come, First-Served) — service requests in arrival order. Simple, but makes no attempt to minimize head movement.</a:t>
            </a:r>
            <a:endParaRPr lang="en-US" sz="1450" dirty="0"/>
          </a:p>
          <a:p>
            <a:pPr marL="241300" indent="-241300">
              <a:lnSpc>
                <a:spcPct val="120000"/>
              </a:lnSpc>
              <a:spcAft>
                <a:spcPts val="1400"/>
              </a:spcAft>
              <a:buSzPct val="100000"/>
              <a:buChar char="•"/>
            </a:pPr>
            <a:r>
              <a:rPr lang="en-US" sz="1450" b="1" dirty="0">
                <a:solidFill>
                  <a:srgbClr val="8B7FD9"/>
                </a:solidFill>
                <a:latin typeface="Calibri" pitchFamily="34" charset="0"/>
                <a:ea typeface="Calibri" pitchFamily="34" charset="-122"/>
                <a:cs typeface="Calibri" pitchFamily="34" charset="-120"/>
              </a:rPr>
              <a:t>SSTF</a:t>
            </a:r>
            <a:pPr indent="0" marL="0">
              <a:lnSpc>
                <a:spcPct val="120000"/>
              </a:lnSpc>
              <a:buNone/>
            </a:pPr>
            <a:r>
              <a:rPr lang="en-US" sz="1450" dirty="0">
                <a:solidFill>
                  <a:srgbClr val="1F2429"/>
                </a:solidFill>
                <a:latin typeface="Calibri" pitchFamily="34" charset="0"/>
                <a:ea typeface="Calibri" pitchFamily="34" charset="-122"/>
                <a:cs typeface="Calibri" pitchFamily="34" charset="-120"/>
              </a:rPr>
              <a:t> (Shortest Seek Time First) — always service whichever request is closest to the head. Minimizes movement greedily, but can starve far-away requests.</a:t>
            </a:r>
            <a:endParaRPr lang="en-US" sz="1450" dirty="0"/>
          </a:p>
          <a:p>
            <a:pPr marL="241300" indent="-241300">
              <a:lnSpc>
                <a:spcPct val="120000"/>
              </a:lnSpc>
              <a:spcAft>
                <a:spcPts val="1400"/>
              </a:spcAft>
              <a:buSzPct val="100000"/>
              <a:buChar char="•"/>
            </a:pPr>
            <a:r>
              <a:rPr lang="en-US" sz="1450" b="1" dirty="0">
                <a:solidFill>
                  <a:srgbClr val="E8A33D"/>
                </a:solidFill>
                <a:latin typeface="Calibri" pitchFamily="34" charset="0"/>
                <a:ea typeface="Calibri" pitchFamily="34" charset="-122"/>
                <a:cs typeface="Calibri" pitchFamily="34" charset="-120"/>
              </a:rPr>
              <a:t>SCAN</a:t>
            </a:r>
            <a:pPr indent="0" marL="0">
              <a:lnSpc>
                <a:spcPct val="120000"/>
              </a:lnSpc>
              <a:buNone/>
            </a:pPr>
            <a:r>
              <a:rPr lang="en-US" sz="1450" dirty="0">
                <a:solidFill>
                  <a:srgbClr val="1F2429"/>
                </a:solidFill>
                <a:latin typeface="Calibri" pitchFamily="34" charset="0"/>
                <a:ea typeface="Calibri" pitchFamily="34" charset="-122"/>
                <a:cs typeface="Calibri" pitchFamily="34" charset="-120"/>
              </a:rPr>
              <a:t> (the “elevator algorithm”) — sweep in one direction, servicing every request along the way, then reverse.</a:t>
            </a:r>
            <a:endParaRPr lang="en-US" sz="1450" dirty="0"/>
          </a:p>
          <a:p>
            <a:pPr marL="241300" indent="-241300">
              <a:lnSpc>
                <a:spcPct val="120000"/>
              </a:lnSpc>
              <a:spcAft>
                <a:spcPts val="1400"/>
              </a:spcAft>
              <a:buSzPct val="100000"/>
              <a:buChar char="•"/>
            </a:pPr>
            <a:r>
              <a:rPr lang="en-US" sz="1450" b="1" dirty="0">
                <a:solidFill>
                  <a:srgbClr val="E8A33D"/>
                </a:solidFill>
                <a:latin typeface="Calibri" pitchFamily="34" charset="0"/>
                <a:ea typeface="Calibri" pitchFamily="34" charset="-122"/>
                <a:cs typeface="Calibri" pitchFamily="34" charset="-120"/>
              </a:rPr>
              <a:t>C-SCAN</a:t>
            </a:r>
            <a:pPr indent="0" marL="0">
              <a:lnSpc>
                <a:spcPct val="120000"/>
              </a:lnSpc>
              <a:buNone/>
            </a:pPr>
            <a:r>
              <a:rPr lang="en-US" sz="1450" dirty="0">
                <a:solidFill>
                  <a:srgbClr val="1F2429"/>
                </a:solidFill>
                <a:latin typeface="Calibri" pitchFamily="34" charset="0"/>
                <a:ea typeface="Calibri" pitchFamily="34" charset="-122"/>
                <a:cs typeface="Calibri" pitchFamily="34" charset="-120"/>
              </a:rPr>
              <a:t> — sweeps one direction only; jumps back to the start without servicing, then sweeps forward again, trading movement for uniform wait times.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FCFS: Service in Arrival Order</a:t>
            </a:r>
            <a:endParaRPr lang="en-US" sz="2800" dirty="0"/>
          </a:p>
        </p:txBody>
      </p:sp>
      <p:sp>
        <p:nvSpPr>
          <p:cNvPr id="4" name="Text 2"/>
          <p:cNvSpPr txBox="1"/>
          <p:nvPr/>
        </p:nvSpPr>
        <p:spPr>
          <a:xfrm>
            <a:off x="640080" y="1143000"/>
            <a:ext cx="10881360" cy="50292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Request queue, in arrival order: 98, 183, 37, 122, 14, 124, 65, 67.</a:t>
            </a:r>
            <a:endParaRPr lang="en-US" sz="1450" dirty="0"/>
          </a:p>
        </p:txBody>
      </p:sp>
      <p:sp>
        <p:nvSpPr>
          <p:cNvPr id="5" name="Text 3"/>
          <p:cNvSpPr txBox="1"/>
          <p:nvPr/>
        </p:nvSpPr>
        <p:spPr>
          <a:xfrm>
            <a:off x="640080" y="169164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Head position sequence — 200 cylinders (0–199), starting at cylinder 53</a:t>
            </a:r>
            <a:endParaRPr lang="en-US" sz="1200" dirty="0"/>
          </a:p>
        </p:txBody>
      </p:sp>
      <p:sp>
        <p:nvSpPr>
          <p:cNvPr id="6" name="Shape 4"/>
          <p:cNvSpPr/>
          <p:nvPr/>
        </p:nvSpPr>
        <p:spPr>
          <a:xfrm>
            <a:off x="640080" y="1965960"/>
            <a:ext cx="10881360" cy="566928"/>
          </a:xfrm>
          <a:prstGeom prst="roundRect">
            <a:avLst>
              <a:gd name="adj" fmla="val 9677"/>
            </a:avLst>
          </a:prstGeom>
          <a:solidFill>
            <a:srgbClr val="2FE6C4"/>
          </a:solidFill>
          <a:ln/>
        </p:spPr>
      </p:sp>
      <p:sp>
        <p:nvSpPr>
          <p:cNvPr id="7" name="Text 5"/>
          <p:cNvSpPr txBox="1"/>
          <p:nvPr/>
        </p:nvSpPr>
        <p:spPr>
          <a:xfrm>
            <a:off x="640080" y="1965960"/>
            <a:ext cx="108813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 → 98 → 183 → 37 → 122 → 14 → 124 → 65 → 67</a:t>
            </a:r>
            <a:endParaRPr lang="en-US" sz="1600" dirty="0"/>
          </a:p>
        </p:txBody>
      </p:sp>
      <p:sp>
        <p:nvSpPr>
          <p:cNvPr id="8" name="Text 6"/>
          <p:cNvSpPr txBox="1"/>
          <p:nvPr/>
        </p:nvSpPr>
        <p:spPr>
          <a:xfrm>
            <a:off x="640080" y="269748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Move distances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999232"/>
          <a:ext cx="9144000" cy="914400"/>
        </p:xfrm>
        <a:graphic>
          <a:graphicData uri="http://schemas.openxmlformats.org/drawingml/2006/table">
            <a:tbl>
              <a:tblPr/>
              <a:tblGrid>
                <a:gridCol w="4114800"/>
                <a:gridCol w="1828800"/>
              </a:tblGrid>
              <a:tr h="29260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Move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Distance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53 → 98</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45</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98 → 183</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85</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183 → 37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146</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37 → 122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85</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122 → 14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108</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14 → 124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110</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124 → 65</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59</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65 → 67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10" name="Text 7"/>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600" b="1" dirty="0">
                <a:solidFill>
                  <a:srgbClr val="1F2429"/>
                </a:solidFill>
                <a:latin typeface="Calibri" pitchFamily="34" charset="0"/>
                <a:ea typeface="Calibri" pitchFamily="34" charset="-122"/>
                <a:cs typeface="Calibri" pitchFamily="34" charset="-120"/>
              </a:rPr>
              <a:t>Total FCFS movement: 640 cylinders.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SSTF: Always Jump to the Closest Request</a:t>
            </a:r>
            <a:endParaRPr lang="en-US" sz="2800" dirty="0"/>
          </a:p>
        </p:txBody>
      </p:sp>
      <p:sp>
        <p:nvSpPr>
          <p:cNvPr id="4" name="Text 2"/>
          <p:cNvSpPr txBox="1"/>
          <p:nvPr/>
        </p:nvSpPr>
        <p:spPr>
          <a:xfrm>
            <a:off x="640080" y="1143000"/>
            <a:ext cx="10881360" cy="50292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Same queue, same starting position — always service whichever pending request is closest to the head.</a:t>
            </a:r>
            <a:endParaRPr lang="en-US" sz="1450" dirty="0"/>
          </a:p>
        </p:txBody>
      </p:sp>
      <p:sp>
        <p:nvSpPr>
          <p:cNvPr id="5" name="Text 3"/>
          <p:cNvSpPr txBox="1"/>
          <p:nvPr/>
        </p:nvSpPr>
        <p:spPr>
          <a:xfrm>
            <a:off x="640080" y="169164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Head position sequence — 200 cylinders (0–199), starting at cylinder 53</a:t>
            </a:r>
            <a:endParaRPr lang="en-US" sz="1200" dirty="0"/>
          </a:p>
        </p:txBody>
      </p:sp>
      <p:sp>
        <p:nvSpPr>
          <p:cNvPr id="6" name="Shape 4"/>
          <p:cNvSpPr/>
          <p:nvPr/>
        </p:nvSpPr>
        <p:spPr>
          <a:xfrm>
            <a:off x="640080" y="1965960"/>
            <a:ext cx="10881360" cy="566928"/>
          </a:xfrm>
          <a:prstGeom prst="roundRect">
            <a:avLst>
              <a:gd name="adj" fmla="val 9677"/>
            </a:avLst>
          </a:prstGeom>
          <a:solidFill>
            <a:srgbClr val="8B7FD9"/>
          </a:solidFill>
          <a:ln/>
        </p:spPr>
      </p:sp>
      <p:sp>
        <p:nvSpPr>
          <p:cNvPr id="7" name="Text 5"/>
          <p:cNvSpPr txBox="1"/>
          <p:nvPr/>
        </p:nvSpPr>
        <p:spPr>
          <a:xfrm>
            <a:off x="640080" y="1965960"/>
            <a:ext cx="108813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 → 65 → 67 → 37 → 14 → 98 → 122 → 124 → 183</a:t>
            </a:r>
            <a:endParaRPr lang="en-US" sz="1600" dirty="0"/>
          </a:p>
        </p:txBody>
      </p:sp>
      <p:sp>
        <p:nvSpPr>
          <p:cNvPr id="8" name="Text 6"/>
          <p:cNvSpPr txBox="1"/>
          <p:nvPr/>
        </p:nvSpPr>
        <p:spPr>
          <a:xfrm>
            <a:off x="640080" y="269748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Move distances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999232"/>
          <a:ext cx="9144000" cy="914400"/>
        </p:xfrm>
        <a:graphic>
          <a:graphicData uri="http://schemas.openxmlformats.org/drawingml/2006/table">
            <a:tbl>
              <a:tblPr/>
              <a:tblGrid>
                <a:gridCol w="4114800"/>
                <a:gridCol w="1828800"/>
              </a:tblGrid>
              <a:tr h="29260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Move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Distance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53 → 65</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65 → 67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67 → 37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37 → 14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14 → 98</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84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98 → 122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122 → 124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124 → 183</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59</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10" name="Text 7"/>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600" b="1" dirty="0">
                <a:solidFill>
                  <a:srgbClr val="1F2429"/>
                </a:solidFill>
                <a:latin typeface="Calibri" pitchFamily="34" charset="0"/>
                <a:ea typeface="Calibri" pitchFamily="34" charset="-122"/>
                <a:cs typeface="Calibri" pitchFamily="34" charset="-120"/>
              </a:rPr>
              <a:t>Total SSTF movement: 236 cylinders — dramatically less than FCFS, for the identical requests.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SCAN: Sweep to the End, Then Reverse</a:t>
            </a:r>
            <a:endParaRPr lang="en-US" sz="2800" dirty="0"/>
          </a:p>
        </p:txBody>
      </p:sp>
      <p:sp>
        <p:nvSpPr>
          <p:cNvPr id="4" name="Text 2"/>
          <p:cNvSpPr txBox="1"/>
          <p:nvPr/>
        </p:nvSpPr>
        <p:spPr>
          <a:xfrm>
            <a:off x="640080" y="1143000"/>
            <a:ext cx="10881360" cy="50292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Sweeping upward (toward higher cylinder numbers) first, all the way to the end of the disk, then reversing.</a:t>
            </a:r>
            <a:endParaRPr lang="en-US" sz="1450" dirty="0"/>
          </a:p>
        </p:txBody>
      </p:sp>
      <p:sp>
        <p:nvSpPr>
          <p:cNvPr id="5" name="Text 3"/>
          <p:cNvSpPr txBox="1"/>
          <p:nvPr/>
        </p:nvSpPr>
        <p:spPr>
          <a:xfrm>
            <a:off x="640080" y="169164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Head position sequence — 200 cylinders (0–199), starting at cylinder 53</a:t>
            </a:r>
            <a:endParaRPr lang="en-US" sz="1200" dirty="0"/>
          </a:p>
        </p:txBody>
      </p:sp>
      <p:sp>
        <p:nvSpPr>
          <p:cNvPr id="6" name="Shape 4"/>
          <p:cNvSpPr/>
          <p:nvPr/>
        </p:nvSpPr>
        <p:spPr>
          <a:xfrm>
            <a:off x="640080" y="1965960"/>
            <a:ext cx="10881360" cy="566928"/>
          </a:xfrm>
          <a:prstGeom prst="roundRect">
            <a:avLst>
              <a:gd name="adj" fmla="val 9677"/>
            </a:avLst>
          </a:prstGeom>
          <a:solidFill>
            <a:srgbClr val="E8A33D"/>
          </a:solidFill>
          <a:ln/>
        </p:spPr>
      </p:sp>
      <p:sp>
        <p:nvSpPr>
          <p:cNvPr id="7" name="Text 5"/>
          <p:cNvSpPr txBox="1"/>
          <p:nvPr/>
        </p:nvSpPr>
        <p:spPr>
          <a:xfrm>
            <a:off x="640080" y="1965960"/>
            <a:ext cx="108813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 → 65 → 67 → 98 → 122 → 124 → 183 → 199 → 37 → 14</a:t>
            </a:r>
            <a:endParaRPr lang="en-US" sz="1600" dirty="0"/>
          </a:p>
        </p:txBody>
      </p:sp>
      <p:sp>
        <p:nvSpPr>
          <p:cNvPr id="8" name="Text 6"/>
          <p:cNvSpPr txBox="1"/>
          <p:nvPr/>
        </p:nvSpPr>
        <p:spPr>
          <a:xfrm>
            <a:off x="640080" y="269748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Move distances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999232"/>
          <a:ext cx="9144000" cy="914400"/>
        </p:xfrm>
        <a:graphic>
          <a:graphicData uri="http://schemas.openxmlformats.org/drawingml/2006/table">
            <a:tbl>
              <a:tblPr/>
              <a:tblGrid>
                <a:gridCol w="4114800"/>
                <a:gridCol w="1828800"/>
              </a:tblGrid>
              <a:tr h="29260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Move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Distance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53 → 65</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65 → 67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67 → 98</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98 → 122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122 → 124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124 → 183</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59</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183 → 199 (end of disk)</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199 → 37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162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37 → 14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10" name="Text 7"/>
          <p:cNvSpPr txBox="1"/>
          <p:nvPr/>
        </p:nvSpPr>
        <p:spPr>
          <a:xfrm>
            <a:off x="640080" y="5897880"/>
            <a:ext cx="10881360" cy="365760"/>
          </a:xfrm>
          <a:prstGeom prst="rect">
            <a:avLst/>
          </a:prstGeom>
          <a:noFill/>
          <a:ln/>
        </p:spPr>
        <p:txBody>
          <a:bodyPr wrap="square" lIns="0" tIns="0" rIns="0" bIns="0" rtlCol="0" anchor="ctr"/>
          <a:lstStyle/>
          <a:p>
            <a:pPr indent="0" marL="0">
              <a:buNone/>
            </a:pPr>
            <a:r>
              <a:rPr lang="en-US" sz="1600" b="1" dirty="0">
                <a:solidFill>
                  <a:srgbClr val="1F2429"/>
                </a:solidFill>
                <a:latin typeface="Calibri" pitchFamily="34" charset="0"/>
                <a:ea typeface="Calibri" pitchFamily="34" charset="-122"/>
                <a:cs typeface="Calibri" pitchFamily="34" charset="-120"/>
              </a:rPr>
              <a:t>Total SCAN movement: 331 cylinders.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C-SCAN: One-Direction Sweep With a Return Jump</a:t>
            </a:r>
            <a:endParaRPr lang="en-US" sz="2800" dirty="0"/>
          </a:p>
        </p:txBody>
      </p:sp>
      <p:sp>
        <p:nvSpPr>
          <p:cNvPr id="4" name="Text 2"/>
          <p:cNvSpPr txBox="1"/>
          <p:nvPr/>
        </p:nvSpPr>
        <p:spPr>
          <a:xfrm>
            <a:off x="640080" y="1143000"/>
            <a:ext cx="10881360" cy="50292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Sweeping upward only; jumping back to cylinder 0 without servicing on the return, then continuing upward.</a:t>
            </a:r>
            <a:endParaRPr lang="en-US" sz="1450" dirty="0"/>
          </a:p>
        </p:txBody>
      </p:sp>
      <p:sp>
        <p:nvSpPr>
          <p:cNvPr id="5" name="Text 3"/>
          <p:cNvSpPr txBox="1"/>
          <p:nvPr/>
        </p:nvSpPr>
        <p:spPr>
          <a:xfrm>
            <a:off x="640080" y="169164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Head position sequence — 200 cylinders (0–199), starting at cylinder 53</a:t>
            </a:r>
            <a:endParaRPr lang="en-US" sz="1200" dirty="0"/>
          </a:p>
        </p:txBody>
      </p:sp>
      <p:sp>
        <p:nvSpPr>
          <p:cNvPr id="6" name="Shape 4"/>
          <p:cNvSpPr/>
          <p:nvPr/>
        </p:nvSpPr>
        <p:spPr>
          <a:xfrm>
            <a:off x="640080" y="1965960"/>
            <a:ext cx="10881360" cy="566928"/>
          </a:xfrm>
          <a:prstGeom prst="roundRect">
            <a:avLst>
              <a:gd name="adj" fmla="val 9677"/>
            </a:avLst>
          </a:prstGeom>
          <a:solidFill>
            <a:srgbClr val="E8A33D"/>
          </a:solidFill>
          <a:ln/>
        </p:spPr>
      </p:sp>
      <p:sp>
        <p:nvSpPr>
          <p:cNvPr id="7" name="Text 5"/>
          <p:cNvSpPr txBox="1"/>
          <p:nvPr/>
        </p:nvSpPr>
        <p:spPr>
          <a:xfrm>
            <a:off x="640080" y="1965960"/>
            <a:ext cx="108813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 → 65 → 67 → 98 → 122 → 124 → 183 → 199 → 0 → 14 → 37</a:t>
            </a:r>
            <a:endParaRPr lang="en-US" sz="1600" dirty="0"/>
          </a:p>
        </p:txBody>
      </p:sp>
      <p:sp>
        <p:nvSpPr>
          <p:cNvPr id="8" name="Text 6"/>
          <p:cNvSpPr txBox="1"/>
          <p:nvPr/>
        </p:nvSpPr>
        <p:spPr>
          <a:xfrm>
            <a:off x="640080" y="269748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Move distances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999232"/>
          <a:ext cx="9144000" cy="914400"/>
        </p:xfrm>
        <a:graphic>
          <a:graphicData uri="http://schemas.openxmlformats.org/drawingml/2006/table">
            <a:tbl>
              <a:tblPr/>
              <a:tblGrid>
                <a:gridCol w="4114800"/>
                <a:gridCol w="1828800"/>
              </a:tblGrid>
              <a:tr h="29260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Move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Distance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53 → 65</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65 → 67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67 → 98</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98 → 122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122 → 124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124 → 183</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59</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183 → 199 (end of disk)</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199 → 0 (return jump, no service)</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199</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0 → 14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74320">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14 → 37</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250" dirty="0">
                          <a:solidFill>
                            <a:srgbClr val="1F2429"/>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10" name="Text 7"/>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600" b="1" dirty="0">
                <a:solidFill>
                  <a:srgbClr val="1F2429"/>
                </a:solidFill>
                <a:latin typeface="Calibri" pitchFamily="34" charset="0"/>
                <a:ea typeface="Calibri" pitchFamily="34" charset="-122"/>
                <a:cs typeface="Calibri" pitchFamily="34" charset="-120"/>
              </a:rPr>
              <a:t>Total C-SCAN movement: 382 cylinders.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Head Movement Comparison</a:t>
            </a:r>
            <a:endParaRPr lang="en-US" sz="2800" dirty="0"/>
          </a:p>
        </p:txBody>
      </p:sp>
      <p:sp>
        <p:nvSpPr>
          <p:cNvPr id="4" name="Text 2"/>
          <p:cNvSpPr txBox="1"/>
          <p:nvPr/>
        </p:nvSpPr>
        <p:spPr>
          <a:xfrm>
            <a:off x="640080" y="118872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Same request queue, same starting position (cylinder 53)</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9144000" cy="914400"/>
        </p:xfrm>
        <a:graphic>
          <a:graphicData uri="http://schemas.openxmlformats.org/drawingml/2006/table">
            <a:tbl>
              <a:tblPr/>
              <a:tblGrid>
                <a:gridCol w="3657600"/>
                <a:gridCol w="4572000"/>
              </a:tblGrid>
              <a:tr h="36576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Algorithm</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Total head movement (cylinders)</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438912">
                <a:tc>
                  <a:txBody>
                    <a:bodyPr/>
                    <a:lstStyle/>
                    <a:p>
                      <a:pPr algn="l" indent="0" marL="0">
                        <a:buNone/>
                      </a:pPr>
                      <a:r>
                        <a:rPr lang="en-US" sz="1500" b="1" dirty="0">
                          <a:solidFill>
                            <a:srgbClr val="1F2429"/>
                          </a:solidFill>
                          <a:latin typeface="Calibri" pitchFamily="34" charset="0"/>
                          <a:ea typeface="Calibri" pitchFamily="34" charset="-122"/>
                          <a:cs typeface="Calibri" pitchFamily="34" charset="-120"/>
                        </a:rPr>
                        <a:t>FCFS</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500" dirty="0">
                          <a:solidFill>
                            <a:srgbClr val="1F2429"/>
                          </a:solidFill>
                          <a:latin typeface="Calibri" pitchFamily="34" charset="0"/>
                          <a:ea typeface="Calibri" pitchFamily="34" charset="-122"/>
                          <a:cs typeface="Calibri" pitchFamily="34" charset="-120"/>
                        </a:rPr>
                        <a:t>640</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38912">
                <a:tc>
                  <a:txBody>
                    <a:bodyPr/>
                    <a:lstStyle/>
                    <a:p>
                      <a:pPr algn="l" indent="0" marL="0">
                        <a:buNone/>
                      </a:pPr>
                      <a:r>
                        <a:rPr lang="en-US" sz="1500" b="1" dirty="0">
                          <a:solidFill>
                            <a:srgbClr val="1F2429"/>
                          </a:solidFill>
                          <a:latin typeface="Calibri" pitchFamily="34" charset="0"/>
                          <a:ea typeface="Calibri" pitchFamily="34" charset="-122"/>
                          <a:cs typeface="Calibri" pitchFamily="34" charset="-120"/>
                        </a:rPr>
                        <a:t>SCAN</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500" dirty="0">
                          <a:solidFill>
                            <a:srgbClr val="1F2429"/>
                          </a:solidFill>
                          <a:latin typeface="Calibri" pitchFamily="34" charset="0"/>
                          <a:ea typeface="Calibri" pitchFamily="34" charset="-122"/>
                          <a:cs typeface="Calibri" pitchFamily="34" charset="-120"/>
                        </a:rPr>
                        <a:t>331</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38912">
                <a:tc>
                  <a:txBody>
                    <a:bodyPr/>
                    <a:lstStyle/>
                    <a:p>
                      <a:pPr algn="l" indent="0" marL="0">
                        <a:buNone/>
                      </a:pPr>
                      <a:r>
                        <a:rPr lang="en-US" sz="1500" b="1" dirty="0">
                          <a:solidFill>
                            <a:srgbClr val="1F2429"/>
                          </a:solidFill>
                          <a:latin typeface="Calibri" pitchFamily="34" charset="0"/>
                          <a:ea typeface="Calibri" pitchFamily="34" charset="-122"/>
                          <a:cs typeface="Calibri" pitchFamily="34" charset="-120"/>
                        </a:rPr>
                        <a:t>C-SCAN</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500" dirty="0">
                          <a:solidFill>
                            <a:srgbClr val="1F2429"/>
                          </a:solidFill>
                          <a:latin typeface="Calibri" pitchFamily="34" charset="0"/>
                          <a:ea typeface="Calibri" pitchFamily="34" charset="-122"/>
                          <a:cs typeface="Calibri" pitchFamily="34" charset="-120"/>
                        </a:rPr>
                        <a:t>382</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38912">
                <a:tc>
                  <a:txBody>
                    <a:bodyPr/>
                    <a:lstStyle/>
                    <a:p>
                      <a:pPr algn="l" indent="0" marL="0">
                        <a:buNone/>
                      </a:pPr>
                      <a:r>
                        <a:rPr lang="en-US" sz="1500" b="1" dirty="0">
                          <a:solidFill>
                            <a:srgbClr val="1F2429"/>
                          </a:solidFill>
                          <a:latin typeface="Calibri" pitchFamily="34" charset="0"/>
                          <a:ea typeface="Calibri" pitchFamily="34" charset="-122"/>
                          <a:cs typeface="Calibri" pitchFamily="34" charset="-120"/>
                        </a:rPr>
                        <a:t>SSTF</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500" dirty="0">
                          <a:solidFill>
                            <a:srgbClr val="1F2429"/>
                          </a:solidFill>
                          <a:latin typeface="Calibri" pitchFamily="34" charset="0"/>
                          <a:ea typeface="Calibri" pitchFamily="34" charset="-122"/>
                          <a:cs typeface="Calibri" pitchFamily="34" charset="-120"/>
                        </a:rPr>
                        <a:t>236 (lowest)</a:t>
                      </a:r>
                      <a:endParaRPr lang="en-US" sz="1500" dirty="0">
                        <a:latin typeface="Calibri" charset="0"/>
                        <a:ea typeface="Calibri" charset="0"/>
                        <a:cs typeface="Calibri" charset="0"/>
                      </a:endParaRPr>
                    </a:p>
                  </a:txBody>
                  <a:tcPr marL="50800" marR="50800" marT="25400" marB="2540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6" name="Shape 3"/>
          <p:cNvSpPr/>
          <p:nvPr/>
        </p:nvSpPr>
        <p:spPr>
          <a:xfrm>
            <a:off x="640080" y="3931920"/>
            <a:ext cx="10881360" cy="1143000"/>
          </a:xfrm>
          <a:prstGeom prst="roundRect">
            <a:avLst>
              <a:gd name="adj" fmla="val 4000"/>
            </a:avLst>
          </a:prstGeom>
          <a:solidFill>
            <a:srgbClr val="F7F8F9"/>
          </a:solidFill>
          <a:ln w="12700">
            <a:solidFill>
              <a:srgbClr val="2FE6C4"/>
            </a:solidFill>
            <a:prstDash val="solid"/>
          </a:ln>
        </p:spPr>
      </p:sp>
      <p:sp>
        <p:nvSpPr>
          <p:cNvPr id="7" name="Text 4"/>
          <p:cNvSpPr txBox="1"/>
          <p:nvPr/>
        </p:nvSpPr>
        <p:spPr>
          <a:xfrm>
            <a:off x="868680" y="4059936"/>
            <a:ext cx="10424160" cy="886968"/>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SSTF wins on raw total movement, as it usually does.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But C-SCAN moves more than SCAN overall, despite being the one specifically designed for fairness — it spends extra movement on its unserviced return jump to guarantee every request waits roughly the same amount of time, rather than to minimize total movement.</a:t>
            </a:r>
            <a:endParaRPr lang="en-US" sz="1300" dirty="0"/>
          </a:p>
        </p:txBody>
      </p:sp>
      <p:sp>
        <p:nvSpPr>
          <p:cNvPr id="8" name="Shape 5"/>
          <p:cNvSpPr/>
          <p:nvPr/>
        </p:nvSpPr>
        <p:spPr>
          <a:xfrm>
            <a:off x="640080" y="5257800"/>
            <a:ext cx="10881360" cy="914400"/>
          </a:xfrm>
          <a:prstGeom prst="roundRect">
            <a:avLst>
              <a:gd name="adj" fmla="val 5000"/>
            </a:avLst>
          </a:prstGeom>
          <a:solidFill>
            <a:srgbClr val="F7F8F9"/>
          </a:solidFill>
          <a:ln w="12700">
            <a:solidFill>
              <a:srgbClr val="E8A33D"/>
            </a:solidFill>
            <a:prstDash val="solid"/>
          </a:ln>
        </p:spPr>
      </p:sp>
      <p:sp>
        <p:nvSpPr>
          <p:cNvPr id="9" name="Text 6"/>
          <p:cNvSpPr txBox="1"/>
          <p:nvPr/>
        </p:nvSpPr>
        <p:spPr>
          <a:xfrm>
            <a:off x="868680" y="5385816"/>
            <a:ext cx="10424160" cy="658368"/>
          </a:xfrm>
          <a:prstGeom prst="rect">
            <a:avLst/>
          </a:prstGeom>
          <a:noFill/>
          <a:ln/>
        </p:spPr>
        <p:txBody>
          <a:bodyPr wrap="square" lIns="0" tIns="0" rIns="0" bIns="0" rtlCol="0" anchor="t"/>
          <a:lstStyle/>
          <a:p>
            <a:pPr indent="0" marL="0">
              <a:lnSpc>
                <a:spcPct val="115000"/>
              </a:lnSpc>
              <a:buNone/>
            </a:pPr>
            <a:r>
              <a:rPr lang="en-US" sz="1250" b="1" dirty="0">
                <a:solidFill>
                  <a:srgbClr val="1F2429"/>
                </a:solidFill>
                <a:latin typeface="Calibri" pitchFamily="34" charset="0"/>
                <a:ea typeface="Calibri" pitchFamily="34" charset="-122"/>
                <a:cs typeface="Calibri" pitchFamily="34" charset="-120"/>
              </a:rPr>
              <a:t>SSTF's starvation risk doesn't show up in a single snapshot.  </a:t>
            </a:r>
            <a:pPr indent="0" marL="0">
              <a:lnSpc>
                <a:spcPct val="115000"/>
              </a:lnSpc>
              <a:buNone/>
            </a:pPr>
            <a:r>
              <a:rPr lang="en-US" sz="1250" dirty="0">
                <a:solidFill>
                  <a:srgbClr val="1F2429"/>
                </a:solidFill>
                <a:latin typeface="Calibri" pitchFamily="34" charset="0"/>
                <a:ea typeface="Calibri" pitchFamily="34" charset="-122"/>
                <a:cs typeface="Calibri" pitchFamily="34" charset="-120"/>
              </a:rPr>
              <a:t>A steady stream of requests near the head's current position can starve a lone far-away request indefinitely — something closer always wins the “shortest seek” comparison.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NVM Scheduling</a:t>
            </a:r>
            <a:endParaRPr lang="en-US" sz="2800" dirty="0"/>
          </a:p>
        </p:txBody>
      </p:sp>
      <p:sp>
        <p:nvSpPr>
          <p:cNvPr id="4" name="Text 2"/>
          <p:cNvSpPr txBox="1"/>
          <p:nvPr/>
        </p:nvSpPr>
        <p:spPr>
          <a:xfrm>
            <a:off x="640080" y="118872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None of the four algorithms above solve a seek-time problem for flash-based storage, because flash has no seek time to minimize in the first place. NVM scheduling is a genuinely different problem.</a:t>
            </a:r>
            <a:endParaRPr lang="en-US" sz="1600" dirty="0"/>
          </a:p>
        </p:txBody>
      </p:sp>
      <p:sp>
        <p:nvSpPr>
          <p:cNvPr id="5" name="Text 3"/>
          <p:cNvSpPr txBox="1"/>
          <p:nvPr/>
        </p:nvSpPr>
        <p:spPr>
          <a:xfrm>
            <a:off x="640080" y="2194560"/>
            <a:ext cx="10881360" cy="4846320"/>
          </a:xfrm>
          <a:prstGeom prst="rect">
            <a:avLst/>
          </a:prstGeom>
          <a:noFill/>
          <a:ln/>
        </p:spPr>
        <p:txBody>
          <a:bodyPr wrap="square" rtlCol="0" anchor="t"/>
          <a:lstStyle/>
          <a:p>
            <a:pPr marL="241300" indent="-241300">
              <a:lnSpc>
                <a:spcPct val="120000"/>
              </a:lnSpc>
              <a:spcAft>
                <a:spcPts val="2400"/>
              </a:spcAft>
              <a:buSzPct val="100000"/>
              <a:buChar char="•"/>
            </a:pPr>
            <a:r>
              <a:rPr lang="en-US" sz="1600" b="1" dirty="0">
                <a:solidFill>
                  <a:srgbClr val="8B7FD9"/>
                </a:solidFill>
                <a:latin typeface="Calibri" pitchFamily="34" charset="0"/>
                <a:ea typeface="Calibri" pitchFamily="34" charset="-122"/>
                <a:cs typeface="Calibri" pitchFamily="34" charset="-120"/>
              </a:rPr>
              <a:t>Write amplification</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 a single logical write can force the controller to rewrite a much larger physical region, because flash can only be erased in large blocks.</a:t>
            </a:r>
            <a:endParaRPr lang="en-US" sz="1600" dirty="0"/>
          </a:p>
          <a:p>
            <a:pPr marL="241300" indent="-241300">
              <a:lnSpc>
                <a:spcPct val="120000"/>
              </a:lnSpc>
              <a:spcAft>
                <a:spcPts val="2400"/>
              </a:spcAft>
              <a:buSzPct val="100000"/>
              <a:buChar char="•"/>
            </a:pPr>
            <a:r>
              <a:rPr lang="en-US" sz="1600" b="1" dirty="0">
                <a:solidFill>
                  <a:srgbClr val="2FE6C4"/>
                </a:solidFill>
                <a:latin typeface="Calibri" pitchFamily="34" charset="0"/>
                <a:ea typeface="Calibri" pitchFamily="34" charset="-122"/>
                <a:cs typeface="Calibri" pitchFamily="34" charset="-120"/>
              </a:rPr>
              <a:t>Parallelism across flash channels</a:t>
            </a:r>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 — an SSD is typically built from many independent flash chips wired to separate channels, so scheduling can dispatch multiple requests simultaneously.</a:t>
            </a:r>
            <a:endParaRPr lang="en-US" sz="1600" dirty="0"/>
          </a:p>
        </p:txBody>
      </p:sp>
      <p:sp>
        <p:nvSpPr>
          <p:cNvPr id="6" name="Shape 4"/>
          <p:cNvSpPr/>
          <p:nvPr/>
        </p:nvSpPr>
        <p:spPr>
          <a:xfrm>
            <a:off x="640080" y="3931920"/>
            <a:ext cx="10881360" cy="1371600"/>
          </a:xfrm>
          <a:prstGeom prst="roundRect">
            <a:avLst>
              <a:gd name="adj" fmla="val 3333"/>
            </a:avLst>
          </a:prstGeom>
          <a:solidFill>
            <a:srgbClr val="F7F8F9"/>
          </a:solidFill>
          <a:ln w="12700">
            <a:solidFill>
              <a:srgbClr val="2FE6C4"/>
            </a:solidFill>
            <a:prstDash val="solid"/>
          </a:ln>
        </p:spPr>
      </p:sp>
      <p:sp>
        <p:nvSpPr>
          <p:cNvPr id="7" name="Text 5"/>
          <p:cNvSpPr txBox="1"/>
          <p:nvPr/>
        </p:nvSpPr>
        <p:spPr>
          <a:xfrm>
            <a:off x="868680" y="4059936"/>
            <a:ext cx="10424160" cy="1115568"/>
          </a:xfrm>
          <a:prstGeom prst="rect">
            <a:avLst/>
          </a:prstGeom>
          <a:noFill/>
          <a:ln/>
        </p:spPr>
        <p:txBody>
          <a:bodyPr wrap="square" lIns="0" tIns="0" rIns="0" bIns="0" rtlCol="0" anchor="t"/>
          <a:lstStyle/>
          <a:p>
            <a:pPr indent="0" marL="0">
              <a:lnSpc>
                <a:spcPct val="115000"/>
              </a:lnSpc>
              <a:buNone/>
            </a:pPr>
            <a:r>
              <a:rPr lang="en-US" sz="1450" b="1" dirty="0">
                <a:solidFill>
                  <a:srgbClr val="1F2429"/>
                </a:solidFill>
                <a:latin typeface="Calibri" pitchFamily="34" charset="0"/>
                <a:ea typeface="Calibri" pitchFamily="34" charset="-122"/>
                <a:cs typeface="Calibri" pitchFamily="34" charset="-120"/>
              </a:rPr>
              <a:t>The mental model shifts entirely.  </a:t>
            </a:r>
            <a:pPr indent="0" marL="0">
              <a:lnSpc>
                <a:spcPct val="115000"/>
              </a:lnSpc>
              <a:buNone/>
            </a:pPr>
            <a:r>
              <a:rPr lang="en-US" sz="1450" dirty="0">
                <a:solidFill>
                  <a:srgbClr val="1F2429"/>
                </a:solidFill>
                <a:latin typeface="Calibri" pitchFamily="34" charset="0"/>
                <a:ea typeface="Calibri" pitchFamily="34" charset="-122"/>
                <a:cs typeface="Calibri" pitchFamily="34" charset="-120"/>
              </a:rPr>
              <a:t>A hard-disk scheduler's job is minimizing where the head has to go next; an NVM scheduler's job is minimizing wear and maximizing how much work happens in parallel — the same high-level goal, solved against a completely different set of physical constraints.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3" name="Text 1"/>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4" name="Text 2"/>
          <p:cNvSpPr txBox="1"/>
          <p:nvPr/>
        </p:nvSpPr>
        <p:spPr>
          <a:xfrm>
            <a:off x="640080" y="1325880"/>
            <a:ext cx="10881360" cy="4846320"/>
          </a:xfrm>
          <a:prstGeom prst="rect">
            <a:avLst/>
          </a:prstGeom>
          <a:noFill/>
          <a:ln/>
        </p:spPr>
        <p:txBody>
          <a:bodyPr wrap="square" rtlCol="0" anchor="t"/>
          <a:lstStyle/>
          <a:p>
            <a:pPr marL="241300" indent="-241300">
              <a:lnSpc>
                <a:spcPct val="120000"/>
              </a:lnSpc>
              <a:spcAft>
                <a:spcPts val="1600"/>
              </a:spcAft>
              <a:buSzPct val="100000"/>
              <a:buChar char="•"/>
            </a:pPr>
            <a:r>
              <a:rPr lang="en-US" sz="1450" b="1" dirty="0">
                <a:solidFill>
                  <a:srgbClr val="FFFFFF"/>
                </a:solidFill>
                <a:latin typeface="Calibri" pitchFamily="34" charset="0"/>
                <a:ea typeface="Calibri" pitchFamily="34" charset="-122"/>
                <a:cs typeface="Calibri" pitchFamily="34" charset="-120"/>
              </a:rPr>
              <a:t>Hard-disk access time</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 has three components — seek time, rotational latency, transfer time — combining to roughly 8.2 ms for a typical 7,200 RPM disk.</a:t>
            </a:r>
            <a:endParaRPr lang="en-US" sz="1450" dirty="0"/>
          </a:p>
          <a:p>
            <a:pPr marL="241300" indent="-241300">
              <a:lnSpc>
                <a:spcPct val="120000"/>
              </a:lnSpc>
              <a:spcAft>
                <a:spcPts val="1600"/>
              </a:spcAft>
              <a:buSzPct val="100000"/>
              <a:buChar char="•"/>
            </a:pPr>
            <a:r>
              <a:rPr lang="en-US" sz="1450" b="1" dirty="0">
                <a:solidFill>
                  <a:srgbClr val="FFFFFF"/>
                </a:solidFill>
                <a:latin typeface="Calibri" pitchFamily="34" charset="0"/>
                <a:ea typeface="Calibri" pitchFamily="34" charset="-122"/>
                <a:cs typeface="Calibri" pitchFamily="34" charset="-120"/>
              </a:rPr>
              <a:t>RAM is volatile; flash/SSD/NVM is non-volatile.</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 SSDs pay no seek or rotational cost, but manage limited write-erase cycles through wear leveling.</a:t>
            </a:r>
            <a:endParaRPr lang="en-US" sz="1450" dirty="0"/>
          </a:p>
          <a:p>
            <a:pPr marL="241300" indent="-241300">
              <a:lnSpc>
                <a:spcPct val="120000"/>
              </a:lnSpc>
              <a:spcAft>
                <a:spcPts val="1600"/>
              </a:spcAft>
              <a:buSzPct val="100000"/>
              <a:buChar char="•"/>
            </a:pPr>
            <a:r>
              <a:rPr lang="en-US" sz="1450" b="1" dirty="0">
                <a:solidFill>
                  <a:srgbClr val="FFFFFF"/>
                </a:solidFill>
                <a:latin typeface="Calibri" pitchFamily="34" charset="0"/>
                <a:ea typeface="Calibri" pitchFamily="34" charset="-122"/>
                <a:cs typeface="Calibri" pitchFamily="34" charset="-120"/>
              </a:rPr>
              <a:t>Request order matters enormously:</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 the same eight-request queue cost 640 cylinders under FCFS, but only 236 under SSTF, with SCAN (331) and C-SCAN (382) trading movement for fairness.</a:t>
            </a:r>
            <a:endParaRPr lang="en-US" sz="1450" dirty="0"/>
          </a:p>
          <a:p>
            <a:pPr marL="241300" indent="-241300">
              <a:lnSpc>
                <a:spcPct val="120000"/>
              </a:lnSpc>
              <a:spcAft>
                <a:spcPts val="1600"/>
              </a:spcAft>
              <a:buSzPct val="100000"/>
              <a:buChar char="•"/>
            </a:pPr>
            <a:r>
              <a:rPr lang="en-US" sz="1450" b="1" dirty="0">
                <a:solidFill>
                  <a:srgbClr val="FFFFFF"/>
                </a:solidFill>
                <a:latin typeface="Calibri" pitchFamily="34" charset="0"/>
                <a:ea typeface="Calibri" pitchFamily="34" charset="-122"/>
                <a:cs typeface="Calibri" pitchFamily="34" charset="-120"/>
              </a:rPr>
              <a:t>SSTF</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 minimizes movement greedily but can starve far-away requests; SCAN and C-SCAN bound worst-case waiting by sweeping systematically.</a:t>
            </a:r>
            <a:endParaRPr lang="en-US" sz="1450" dirty="0"/>
          </a:p>
          <a:p>
            <a:pPr marL="241300" indent="-241300">
              <a:lnSpc>
                <a:spcPct val="120000"/>
              </a:lnSpc>
              <a:spcAft>
                <a:spcPts val="1600"/>
              </a:spcAft>
              <a:buSzPct val="100000"/>
              <a:buChar char="•"/>
            </a:pPr>
            <a:r>
              <a:rPr lang="en-US" sz="1450" b="1" dirty="0">
                <a:solidFill>
                  <a:srgbClr val="FFFFFF"/>
                </a:solidFill>
                <a:latin typeface="Calibri" pitchFamily="34" charset="0"/>
                <a:ea typeface="Calibri" pitchFamily="34" charset="-122"/>
                <a:cs typeface="Calibri" pitchFamily="34" charset="-120"/>
              </a:rPr>
              <a:t>NVM/SSD scheduling</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 is a different problem altogether — write amplification and parallelism across flash channels, not head movement.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2026-10-02T01:19:47Z</dcterms:created>
  <dcterms:modified xsi:type="dcterms:W3CDTF">2026-10-02T01:19:47Z</dcterms:modified>
</cp:coreProperties>
</file>
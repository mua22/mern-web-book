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29</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Storage Device Management</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640080" y="1371600"/>
            <a:ext cx="10332720" cy="4846320"/>
          </a:xfrm>
          <a:prstGeom prst="rect">
            <a:avLst/>
          </a:prstGeom>
          <a:noFill/>
          <a:ln/>
        </p:spPr>
        <p:txBody>
          <a:bodyPr wrap="square" lIns="0" tIns="0" rIns="0" bIns="0" rtlCol="0" anchor="t"/>
          <a:lstStyle/>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Low-level (physical) formatting vs. logical formatting, and what each one actually writes to the disk</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boot block and the full bootstrap chain, from power-on to a running OS</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How disks handle bad blocks — and why this is almost invisible to the OS on modern hardware</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Swap-space management: what swap space is for, where it can live, and why it is allocated differently from ordinary file storage</a:t>
            </a:r>
            <a:endParaRPr lang="en-US" sz="1600" dirty="0"/>
          </a:p>
        </p:txBody>
      </p:sp>
      <p:sp>
        <p:nvSpPr>
          <p:cNvPr id="4"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Formatting a Disk</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A disk has to be formatted twice, at two different levels, before it is useful — and the two are easy to confuse because both are casually called “formatting.”</a:t>
            </a:r>
            <a:endParaRPr lang="en-US" sz="1550" dirty="0"/>
          </a:p>
        </p:txBody>
      </p:sp>
      <p:sp>
        <p:nvSpPr>
          <p:cNvPr id="4" name="Text 2"/>
          <p:cNvSpPr txBox="1"/>
          <p:nvPr/>
        </p:nvSpPr>
        <p:spPr>
          <a:xfrm>
            <a:off x="640080" y="2148840"/>
            <a:ext cx="10881360" cy="36576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Two formatting steps, two different jobs</a:t>
            </a:r>
            <a:endParaRPr lang="en-US" sz="1200" dirty="0"/>
          </a:p>
        </p:txBody>
      </p:sp>
      <p:sp>
        <p:nvSpPr>
          <p:cNvPr id="5" name="Shape 3"/>
          <p:cNvSpPr/>
          <p:nvPr/>
        </p:nvSpPr>
        <p:spPr>
          <a:xfrm>
            <a:off x="640080" y="2606040"/>
            <a:ext cx="5303520" cy="2011680"/>
          </a:xfrm>
          <a:prstGeom prst="roundRect">
            <a:avLst>
              <a:gd name="adj" fmla="val 3636"/>
            </a:avLst>
          </a:prstGeom>
          <a:solidFill>
            <a:srgbClr val="2FE6C4"/>
          </a:solidFill>
          <a:ln/>
        </p:spPr>
      </p:sp>
      <p:sp>
        <p:nvSpPr>
          <p:cNvPr id="6" name="Text 4"/>
          <p:cNvSpPr txBox="1"/>
          <p:nvPr/>
        </p:nvSpPr>
        <p:spPr>
          <a:xfrm>
            <a:off x="868680" y="27889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Low-level (physical) formatting</a:t>
            </a:r>
            <a:endParaRPr lang="en-US" sz="1500" dirty="0"/>
          </a:p>
        </p:txBody>
      </p:sp>
      <p:sp>
        <p:nvSpPr>
          <p:cNvPr id="7" name="Text 5"/>
          <p:cNvSpPr txBox="1"/>
          <p:nvPr/>
        </p:nvSpPr>
        <p:spPr>
          <a:xfrm>
            <a:off x="868680" y="32918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Divides the disk into addressable sectors with ECC — done at the factory, rarely by end users</a:t>
            </a:r>
            <a:endParaRPr lang="en-US" sz="1150" dirty="0"/>
          </a:p>
        </p:txBody>
      </p:sp>
      <p:sp>
        <p:nvSpPr>
          <p:cNvPr id="8" name="Shape 6"/>
          <p:cNvSpPr/>
          <p:nvPr/>
        </p:nvSpPr>
        <p:spPr>
          <a:xfrm>
            <a:off x="6217920" y="2606040"/>
            <a:ext cx="5303520" cy="2011680"/>
          </a:xfrm>
          <a:prstGeom prst="roundRect">
            <a:avLst>
              <a:gd name="adj" fmla="val 3636"/>
            </a:avLst>
          </a:prstGeom>
          <a:solidFill>
            <a:srgbClr val="8B7FD9"/>
          </a:solidFill>
          <a:ln/>
        </p:spPr>
      </p:sp>
      <p:sp>
        <p:nvSpPr>
          <p:cNvPr id="9" name="Text 7"/>
          <p:cNvSpPr txBox="1"/>
          <p:nvPr/>
        </p:nvSpPr>
        <p:spPr>
          <a:xfrm>
            <a:off x="6446520" y="27889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Logical formatting</a:t>
            </a:r>
            <a:endParaRPr lang="en-US" sz="1500" dirty="0"/>
          </a:p>
        </p:txBody>
      </p:sp>
      <p:sp>
        <p:nvSpPr>
          <p:cNvPr id="10" name="Text 8"/>
          <p:cNvSpPr txBox="1"/>
          <p:nvPr/>
        </p:nvSpPr>
        <p:spPr>
          <a:xfrm>
            <a:off x="6446520" y="32918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Writes a boot block, free-space info, and an empty root directory — what “formatting a drive” usually means today</a:t>
            </a:r>
            <a:endParaRPr lang="en-US" sz="1150" dirty="0"/>
          </a:p>
        </p:txBody>
      </p:sp>
      <p:sp>
        <p:nvSpPr>
          <p:cNvPr id="11" name="Text 9"/>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Low-Level (Physical) Formatting</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Divides a raw disk into sectors the disk controller can read and write, writing a header and a trailer around each sector's data area.</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header and trailer record a sector number and a piece of error-correcting code (ECC)</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controller later uses the ECC to detect — and often repair — corrupted data automatically whenever that sector is read back</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Decades ago, buying a new hard disk meant running a low-level format program before it could be used at all</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Today, manufacturers perform low-level formatting at the factory, as part of manufacturing and testing</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End users and admins only encounter it through specialized diagnostic or recovery tools, and only when a disk is already behaving abnormally</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Logical Formatting</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The step an operating system performs to actually make a disk usable as a volume: it writes the initial file-system data structures onto the already physically formatted disk.</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boot block, reserved at a fixed, known location so firmware can always find it</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Free-space information, recording which blocks on the volume are available for new data (a bitmap or a free list)</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An initial, empty root directory, the one directory every other file and directory on the volume is eventually reachable from</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This is the step most people actually mean when they say “format this drive” — reformatting a USB stick from FAT32 to NTFS is a logical format, not a physical one, and is dramatically faster because the physical sector boundaries underneath are left untouched</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Boot Block and the Bootstrap Process</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The bootstrap loader is a small program whose only job is to locate the real OS kernel, load it into memory, and jump to its starting address — stored in a reserved, fixed area called the boot block.</a:t>
            </a:r>
            <a:endParaRPr lang="en-US" sz="1550" dirty="0"/>
          </a:p>
        </p:txBody>
      </p:sp>
      <p:sp>
        <p:nvSpPr>
          <p:cNvPr id="4" name="Shape 2"/>
          <p:cNvSpPr/>
          <p:nvPr/>
        </p:nvSpPr>
        <p:spPr>
          <a:xfrm>
            <a:off x="640080" y="2103120"/>
            <a:ext cx="2240280" cy="2377440"/>
          </a:xfrm>
          <a:prstGeom prst="roundRect">
            <a:avLst>
              <a:gd name="adj" fmla="val 3265"/>
            </a:avLst>
          </a:prstGeom>
          <a:solidFill>
            <a:srgbClr val="FFFFFF"/>
          </a:solidFill>
          <a:ln w="19050">
            <a:solidFill>
              <a:srgbClr val="2FE6C4"/>
            </a:solidFill>
            <a:prstDash val="solid"/>
          </a:ln>
        </p:spPr>
      </p:sp>
      <p:sp>
        <p:nvSpPr>
          <p:cNvPr id="5" name="Shape 3"/>
          <p:cNvSpPr/>
          <p:nvPr/>
        </p:nvSpPr>
        <p:spPr>
          <a:xfrm>
            <a:off x="841248" y="2331720"/>
            <a:ext cx="502920" cy="82296"/>
          </a:xfrm>
          <a:prstGeom prst="rect">
            <a:avLst/>
          </a:prstGeom>
          <a:solidFill>
            <a:srgbClr val="2FE6C4"/>
          </a:solidFill>
          <a:ln/>
        </p:spPr>
      </p:sp>
      <p:sp>
        <p:nvSpPr>
          <p:cNvPr id="6" name="Text 4"/>
          <p:cNvSpPr txBox="1"/>
          <p:nvPr/>
        </p:nvSpPr>
        <p:spPr>
          <a:xfrm>
            <a:off x="841248" y="2560320"/>
            <a:ext cx="183794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Firmware (BIOS / UEFI)</a:t>
            </a:r>
            <a:endParaRPr lang="en-US" sz="1400" dirty="0"/>
          </a:p>
        </p:txBody>
      </p:sp>
      <p:sp>
        <p:nvSpPr>
          <p:cNvPr id="7" name="Text 5"/>
          <p:cNvSpPr txBox="1"/>
          <p:nvPr/>
        </p:nvSpPr>
        <p:spPr>
          <a:xfrm>
            <a:off x="841248" y="3154680"/>
            <a:ext cx="183794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Runs automatically at power-on; knows only one thing — where the boot block is</a:t>
            </a:r>
            <a:endParaRPr lang="en-US" sz="1100" dirty="0"/>
          </a:p>
        </p:txBody>
      </p:sp>
      <p:sp>
        <p:nvSpPr>
          <p:cNvPr id="8" name="Shape 6"/>
          <p:cNvSpPr/>
          <p:nvPr/>
        </p:nvSpPr>
        <p:spPr>
          <a:xfrm>
            <a:off x="2880360" y="3182112"/>
            <a:ext cx="320040" cy="219456"/>
          </a:xfrm>
          <a:prstGeom prst="rightArrow">
            <a:avLst/>
          </a:prstGeom>
          <a:solidFill>
            <a:srgbClr val="8A939B"/>
          </a:solidFill>
          <a:ln/>
        </p:spPr>
      </p:sp>
      <p:sp>
        <p:nvSpPr>
          <p:cNvPr id="9" name="Shape 7"/>
          <p:cNvSpPr/>
          <p:nvPr/>
        </p:nvSpPr>
        <p:spPr>
          <a:xfrm>
            <a:off x="3200400" y="2103120"/>
            <a:ext cx="2240280" cy="2377440"/>
          </a:xfrm>
          <a:prstGeom prst="roundRect">
            <a:avLst>
              <a:gd name="adj" fmla="val 3265"/>
            </a:avLst>
          </a:prstGeom>
          <a:solidFill>
            <a:srgbClr val="FFFFFF"/>
          </a:solidFill>
          <a:ln w="19050">
            <a:solidFill>
              <a:srgbClr val="8B7FD9"/>
            </a:solidFill>
            <a:prstDash val="solid"/>
          </a:ln>
        </p:spPr>
      </p:sp>
      <p:sp>
        <p:nvSpPr>
          <p:cNvPr id="10" name="Shape 8"/>
          <p:cNvSpPr/>
          <p:nvPr/>
        </p:nvSpPr>
        <p:spPr>
          <a:xfrm>
            <a:off x="3401568" y="2331720"/>
            <a:ext cx="502920" cy="82296"/>
          </a:xfrm>
          <a:prstGeom prst="rect">
            <a:avLst/>
          </a:prstGeom>
          <a:solidFill>
            <a:srgbClr val="8B7FD9"/>
          </a:solidFill>
          <a:ln/>
        </p:spPr>
      </p:sp>
      <p:sp>
        <p:nvSpPr>
          <p:cNvPr id="11" name="Text 9"/>
          <p:cNvSpPr txBox="1"/>
          <p:nvPr/>
        </p:nvSpPr>
        <p:spPr>
          <a:xfrm>
            <a:off x="3401568" y="2560320"/>
            <a:ext cx="183794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Boot Block / Bootstrap Loader</a:t>
            </a:r>
            <a:endParaRPr lang="en-US" sz="1400" dirty="0"/>
          </a:p>
        </p:txBody>
      </p:sp>
      <p:sp>
        <p:nvSpPr>
          <p:cNvPr id="12" name="Text 10"/>
          <p:cNvSpPr txBox="1"/>
          <p:nvPr/>
        </p:nvSpPr>
        <p:spPr>
          <a:xfrm>
            <a:off x="3401568" y="3154680"/>
            <a:ext cx="183794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Tiny fixed program; locates the real OS kernel image on disk</a:t>
            </a:r>
            <a:endParaRPr lang="en-US" sz="1100" dirty="0"/>
          </a:p>
        </p:txBody>
      </p:sp>
      <p:sp>
        <p:nvSpPr>
          <p:cNvPr id="13" name="Shape 11"/>
          <p:cNvSpPr/>
          <p:nvPr/>
        </p:nvSpPr>
        <p:spPr>
          <a:xfrm>
            <a:off x="5440680" y="3182112"/>
            <a:ext cx="320040" cy="219456"/>
          </a:xfrm>
          <a:prstGeom prst="rightArrow">
            <a:avLst/>
          </a:prstGeom>
          <a:solidFill>
            <a:srgbClr val="8A939B"/>
          </a:solidFill>
          <a:ln/>
        </p:spPr>
      </p:sp>
      <p:sp>
        <p:nvSpPr>
          <p:cNvPr id="14" name="Shape 12"/>
          <p:cNvSpPr/>
          <p:nvPr/>
        </p:nvSpPr>
        <p:spPr>
          <a:xfrm>
            <a:off x="5760720" y="2103120"/>
            <a:ext cx="2240280" cy="2377440"/>
          </a:xfrm>
          <a:prstGeom prst="roundRect">
            <a:avLst>
              <a:gd name="adj" fmla="val 3265"/>
            </a:avLst>
          </a:prstGeom>
          <a:solidFill>
            <a:srgbClr val="FFFFFF"/>
          </a:solidFill>
          <a:ln w="19050">
            <a:solidFill>
              <a:srgbClr val="E8A33D"/>
            </a:solidFill>
            <a:prstDash val="solid"/>
          </a:ln>
        </p:spPr>
      </p:sp>
      <p:sp>
        <p:nvSpPr>
          <p:cNvPr id="15" name="Shape 13"/>
          <p:cNvSpPr/>
          <p:nvPr/>
        </p:nvSpPr>
        <p:spPr>
          <a:xfrm>
            <a:off x="5961888" y="2331720"/>
            <a:ext cx="502920" cy="82296"/>
          </a:xfrm>
          <a:prstGeom prst="rect">
            <a:avLst/>
          </a:prstGeom>
          <a:solidFill>
            <a:srgbClr val="E8A33D"/>
          </a:solidFill>
          <a:ln/>
        </p:spPr>
      </p:sp>
      <p:sp>
        <p:nvSpPr>
          <p:cNvPr id="16" name="Text 14"/>
          <p:cNvSpPr txBox="1"/>
          <p:nvPr/>
        </p:nvSpPr>
        <p:spPr>
          <a:xfrm>
            <a:off x="5961888" y="2560320"/>
            <a:ext cx="183794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OS Kernel Loaded</a:t>
            </a:r>
            <a:endParaRPr lang="en-US" sz="1400" dirty="0"/>
          </a:p>
        </p:txBody>
      </p:sp>
      <p:sp>
        <p:nvSpPr>
          <p:cNvPr id="17" name="Text 15"/>
          <p:cNvSpPr txBox="1"/>
          <p:nvPr/>
        </p:nvSpPr>
        <p:spPr>
          <a:xfrm>
            <a:off x="5961888" y="3154680"/>
            <a:ext cx="183794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The bootstrap loader reads the kernel image into memory and transfers control to it</a:t>
            </a:r>
            <a:endParaRPr lang="en-US" sz="1100" dirty="0"/>
          </a:p>
        </p:txBody>
      </p:sp>
      <p:sp>
        <p:nvSpPr>
          <p:cNvPr id="18" name="Shape 16"/>
          <p:cNvSpPr/>
          <p:nvPr/>
        </p:nvSpPr>
        <p:spPr>
          <a:xfrm>
            <a:off x="8001000" y="3182112"/>
            <a:ext cx="320040" cy="219456"/>
          </a:xfrm>
          <a:prstGeom prst="rightArrow">
            <a:avLst/>
          </a:prstGeom>
          <a:solidFill>
            <a:srgbClr val="8A939B"/>
          </a:solidFill>
          <a:ln/>
        </p:spPr>
      </p:sp>
      <p:sp>
        <p:nvSpPr>
          <p:cNvPr id="19" name="Shape 17"/>
          <p:cNvSpPr/>
          <p:nvPr/>
        </p:nvSpPr>
        <p:spPr>
          <a:xfrm>
            <a:off x="8321040" y="2103120"/>
            <a:ext cx="2240280" cy="2377440"/>
          </a:xfrm>
          <a:prstGeom prst="roundRect">
            <a:avLst>
              <a:gd name="adj" fmla="val 3265"/>
            </a:avLst>
          </a:prstGeom>
          <a:solidFill>
            <a:srgbClr val="FFFFFF"/>
          </a:solidFill>
          <a:ln w="19050">
            <a:solidFill>
              <a:srgbClr val="2FE6C4"/>
            </a:solidFill>
            <a:prstDash val="solid"/>
          </a:ln>
        </p:spPr>
      </p:sp>
      <p:sp>
        <p:nvSpPr>
          <p:cNvPr id="20" name="Shape 18"/>
          <p:cNvSpPr/>
          <p:nvPr/>
        </p:nvSpPr>
        <p:spPr>
          <a:xfrm>
            <a:off x="8522208" y="2331720"/>
            <a:ext cx="502920" cy="82296"/>
          </a:xfrm>
          <a:prstGeom prst="rect">
            <a:avLst/>
          </a:prstGeom>
          <a:solidFill>
            <a:srgbClr val="2FE6C4"/>
          </a:solidFill>
          <a:ln/>
        </p:spPr>
      </p:sp>
      <p:sp>
        <p:nvSpPr>
          <p:cNvPr id="21" name="Text 19"/>
          <p:cNvSpPr txBox="1"/>
          <p:nvPr/>
        </p:nvSpPr>
        <p:spPr>
          <a:xfrm>
            <a:off x="8522208" y="2560320"/>
            <a:ext cx="183794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OS Takes Over</a:t>
            </a:r>
            <a:endParaRPr lang="en-US" sz="1400" dirty="0"/>
          </a:p>
        </p:txBody>
      </p:sp>
      <p:sp>
        <p:nvSpPr>
          <p:cNvPr id="22" name="Text 20"/>
          <p:cNvSpPr txBox="1"/>
          <p:nvPr/>
        </p:nvSpPr>
        <p:spPr>
          <a:xfrm>
            <a:off x="8522208" y="3154680"/>
            <a:ext cx="183794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Kernel initializes drivers, memory management, and scheduling; the system is now “up”</a:t>
            </a:r>
            <a:endParaRPr lang="en-US" sz="1100" dirty="0"/>
          </a:p>
        </p:txBody>
      </p:sp>
      <p:sp>
        <p:nvSpPr>
          <p:cNvPr id="23" name="Text 21"/>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Each Link Stays Simple</a:t>
            </a:r>
            <a:endParaRPr lang="en-US" sz="2800" dirty="0"/>
          </a:p>
        </p:txBody>
      </p:sp>
      <p:sp>
        <p:nvSpPr>
          <p:cNvPr id="3" name="Text 1"/>
          <p:cNvSpPr txBox="1"/>
          <p:nvPr/>
        </p:nvSpPr>
        <p:spPr>
          <a:xfrm>
            <a:off x="640080" y="1280160"/>
            <a:ext cx="10881360" cy="2209483"/>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Firmware is burned into read-only (or flash) memory on the motherboard, so it survives even a completely empty or corrupted disk — its only job is a power-on self-test, then reading one small, fixed region of the boot device</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boot block/bootloader is small enough to fit in that fixed region and simple enough not to need a working file system — it finds the kernel by its known location, not by searching a directory tree</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OS kernel, once loaded, is finally a fully capable program — it can initialize device drivers, set up virtual memory, and start the scheduler, none of which the tiny bootstrap loader could ever do</a:t>
            </a:r>
            <a:endParaRPr lang="en-US" sz="1550" dirty="0"/>
          </a:p>
        </p:txBody>
      </p:sp>
      <p:sp>
        <p:nvSpPr>
          <p:cNvPr id="4" name="Shape 2"/>
          <p:cNvSpPr/>
          <p:nvPr/>
        </p:nvSpPr>
        <p:spPr>
          <a:xfrm>
            <a:off x="640080" y="3718242"/>
            <a:ext cx="10881360" cy="2071370"/>
          </a:xfrm>
          <a:prstGeom prst="roundRect">
            <a:avLst>
              <a:gd name="adj" fmla="val 5297"/>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3946842"/>
            <a:ext cx="10332720" cy="457200"/>
          </a:xfrm>
          <a:prstGeom prst="rect">
            <a:avLst/>
          </a:prstGeom>
          <a:noFill/>
          <a:ln/>
        </p:spPr>
        <p:txBody>
          <a:bodyPr wrap="square" lIns="0" tIns="0" rIns="0" bIns="0" rtlCol="0" anchor="t"/>
          <a:lstStyle/>
          <a:p>
            <a:pPr indent="0" marL="0">
              <a:buNone/>
            </a:pPr>
            <a:r>
              <a:rPr lang="en-US" sz="1600" b="1" dirty="0">
                <a:solidFill>
                  <a:srgbClr val="E8A33D"/>
                </a:solidFill>
                <a:latin typeface="Calibri" pitchFamily="34" charset="0"/>
                <a:ea typeface="Calibri" pitchFamily="34" charset="-122"/>
                <a:cs typeface="Calibri" pitchFamily="34" charset="-120"/>
              </a:rPr>
              <a:t>Why not have the firmware load the OS directly?</a:t>
            </a:r>
            <a:endParaRPr lang="en-US" sz="1600" dirty="0"/>
          </a:p>
        </p:txBody>
      </p:sp>
      <p:sp>
        <p:nvSpPr>
          <p:cNvPr id="6" name="Text 4"/>
          <p:cNvSpPr txBox="1"/>
          <p:nvPr/>
        </p:nvSpPr>
        <p:spPr>
          <a:xfrm>
            <a:off x="914400" y="4449762"/>
            <a:ext cx="10332720" cy="111125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Firmware is written once, flashed onto the motherboard, and rarely updated — it has to work with any operating system a user might install, from any vendor, in any file-system format. Splitting the job lets the firmware stay completely generic (“read this one fixed block and run whatever is there”) while the bootloader, which is specific to one OS and file system, handles everything beyond that. Change operating systems, and only the boot block needs to change — the firmware never does.</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Bad Blocks</a:t>
            </a:r>
            <a:endParaRPr lang="en-US" sz="2800" dirty="0"/>
          </a:p>
        </p:txBody>
      </p:sp>
      <p:sp>
        <p:nvSpPr>
          <p:cNvPr id="3" name="Text 1"/>
          <p:cNvSpPr txBox="1"/>
          <p:nvPr/>
        </p:nvSpPr>
        <p:spPr>
          <a:xfrm>
            <a:off x="640080" y="1234440"/>
            <a:ext cx="5120640" cy="4389120"/>
          </a:xfrm>
          <a:prstGeom prst="rect">
            <a:avLst/>
          </a:prstGeom>
          <a:noFill/>
          <a:ln/>
        </p:spPr>
        <p:txBody>
          <a:bodyPr wrap="square" lIns="0" tIns="0" rIns="0" bIns="0" rtlCol="0" anchor="t"/>
          <a:lstStyle/>
          <a:p>
            <a:pPr indent="0" marL="0">
              <a:lnSpc>
                <a:spcPct val="125000"/>
              </a:lnSpc>
              <a:buNone/>
            </a:pPr>
            <a:r>
              <a:rPr lang="en-US" sz="1550" dirty="0">
                <a:solidFill>
                  <a:srgbClr val="1F2429"/>
                </a:solidFill>
                <a:latin typeface="Calibri" pitchFamily="34" charset="0"/>
                <a:ea typeface="Calibri" pitchFamily="34" charset="-122"/>
                <a:cs typeface="Calibri" pitchFamily="34" charset="-120"/>
              </a:rPr>
              <a:t>Disks eventually develop physically damaged sectors — a scratch on a platter, or a flash cell worn out after too many writes. Modern disks handle this almost entirely in hardware: the disk controller maintains a reserved spare-sector pool set aside specifically for this purpose.</a:t>
            </a:r>
            <a:endParaRPr lang="en-US" sz="1550" dirty="0"/>
          </a:p>
          <a:p>
            <a:pPr indent="0" marL="0">
              <a:lnSpc>
                <a:spcPct val="125000"/>
              </a:lnSpc>
              <a:buNone/>
            </a:pPr>
            <a:endParaRPr lang="en-US" sz="1550" dirty="0"/>
          </a:p>
          <a:p>
            <a:pPr indent="0" marL="0">
              <a:lnSpc>
                <a:spcPct val="125000"/>
              </a:lnSpc>
              <a:buNone/>
            </a:pPr>
            <a:r>
              <a:rPr lang="en-US" sz="1550" dirty="0">
                <a:solidFill>
                  <a:srgbClr val="1F2429"/>
                </a:solidFill>
                <a:latin typeface="Calibri" pitchFamily="34" charset="0"/>
                <a:ea typeface="Calibri" pitchFamily="34" charset="-122"/>
                <a:cs typeface="Calibri" pitchFamily="34" charset="-120"/>
              </a:rPr>
              <a:t>From the operating system's point of view, nothing changed — the same logical block number still works, and the OS never needs to know a remap even happened.</a:t>
            </a:r>
            <a:endParaRPr lang="en-US" sz="1550" dirty="0"/>
          </a:p>
        </p:txBody>
      </p:sp>
      <p:sp>
        <p:nvSpPr>
          <p:cNvPr id="4" name="Shape 2"/>
          <p:cNvSpPr/>
          <p:nvPr/>
        </p:nvSpPr>
        <p:spPr>
          <a:xfrm>
            <a:off x="6400800" y="1371600"/>
            <a:ext cx="5120640" cy="1225296"/>
          </a:xfrm>
          <a:prstGeom prst="roundRect">
            <a:avLst>
              <a:gd name="adj" fmla="val 4478"/>
            </a:avLst>
          </a:prstGeom>
          <a:solidFill>
            <a:srgbClr val="FFFFFF"/>
          </a:solidFill>
          <a:ln w="19050">
            <a:solidFill>
              <a:srgbClr val="2FE6C4"/>
            </a:solidFill>
            <a:prstDash val="solid"/>
          </a:ln>
        </p:spPr>
      </p:sp>
      <p:sp>
        <p:nvSpPr>
          <p:cNvPr id="5" name="Shape 3"/>
          <p:cNvSpPr/>
          <p:nvPr/>
        </p:nvSpPr>
        <p:spPr>
          <a:xfrm>
            <a:off x="6601968" y="1664208"/>
            <a:ext cx="64008" cy="640080"/>
          </a:xfrm>
          <a:prstGeom prst="rect">
            <a:avLst/>
          </a:prstGeom>
          <a:solidFill>
            <a:srgbClr val="2FE6C4"/>
          </a:solidFill>
          <a:ln/>
        </p:spPr>
      </p:sp>
      <p:sp>
        <p:nvSpPr>
          <p:cNvPr id="6" name="Text 4"/>
          <p:cNvSpPr txBox="1"/>
          <p:nvPr/>
        </p:nvSpPr>
        <p:spPr>
          <a:xfrm>
            <a:off x="6812280" y="1371600"/>
            <a:ext cx="4480560" cy="1225296"/>
          </a:xfrm>
          <a:prstGeom prst="rect">
            <a:avLst/>
          </a:prstGeom>
          <a:noFill/>
          <a:ln/>
        </p:spPr>
        <p:txBody>
          <a:bodyPr wrap="square" lIns="0" tIns="0" rIns="0" bIns="0" rtlCol="0" anchor="ctr"/>
          <a:lstStyle/>
          <a:p>
            <a:pPr indent="0" marL="0">
              <a:buNone/>
            </a:pPr>
            <a:r>
              <a:rPr lang="en-US" sz="1400" b="1" dirty="0">
                <a:solidFill>
                  <a:srgbClr val="1F2429"/>
                </a:solidFill>
                <a:latin typeface="Calibri" pitchFamily="34" charset="0"/>
                <a:ea typeface="Calibri" pitchFamily="34" charset="-122"/>
                <a:cs typeface="Calibri" pitchFamily="34" charset="-120"/>
              </a:rPr>
              <a:t>OS requests logical block 4,102</a:t>
            </a:r>
            <a:endParaRPr lang="en-US" sz="1400" dirty="0"/>
          </a:p>
        </p:txBody>
      </p:sp>
      <p:sp>
        <p:nvSpPr>
          <p:cNvPr id="7" name="Shape 5"/>
          <p:cNvSpPr/>
          <p:nvPr/>
        </p:nvSpPr>
        <p:spPr>
          <a:xfrm>
            <a:off x="8851392" y="2596896"/>
            <a:ext cx="219456" cy="237744"/>
          </a:xfrm>
          <a:prstGeom prst="downArrow">
            <a:avLst/>
          </a:prstGeom>
          <a:solidFill>
            <a:srgbClr val="8A939B"/>
          </a:solidFill>
          <a:ln/>
        </p:spPr>
      </p:sp>
      <p:sp>
        <p:nvSpPr>
          <p:cNvPr id="8" name="Shape 6"/>
          <p:cNvSpPr/>
          <p:nvPr/>
        </p:nvSpPr>
        <p:spPr>
          <a:xfrm>
            <a:off x="6400800" y="2834640"/>
            <a:ext cx="5120640" cy="1225296"/>
          </a:xfrm>
          <a:prstGeom prst="roundRect">
            <a:avLst>
              <a:gd name="adj" fmla="val 4478"/>
            </a:avLst>
          </a:prstGeom>
          <a:solidFill>
            <a:srgbClr val="FFFFFF"/>
          </a:solidFill>
          <a:ln w="19050">
            <a:solidFill>
              <a:srgbClr val="8B7FD9"/>
            </a:solidFill>
            <a:prstDash val="solid"/>
          </a:ln>
        </p:spPr>
      </p:sp>
      <p:sp>
        <p:nvSpPr>
          <p:cNvPr id="9" name="Shape 7"/>
          <p:cNvSpPr/>
          <p:nvPr/>
        </p:nvSpPr>
        <p:spPr>
          <a:xfrm>
            <a:off x="6601968" y="3127248"/>
            <a:ext cx="64008" cy="640080"/>
          </a:xfrm>
          <a:prstGeom prst="rect">
            <a:avLst/>
          </a:prstGeom>
          <a:solidFill>
            <a:srgbClr val="8B7FD9"/>
          </a:solidFill>
          <a:ln/>
        </p:spPr>
      </p:sp>
      <p:sp>
        <p:nvSpPr>
          <p:cNvPr id="10" name="Text 8"/>
          <p:cNvSpPr txBox="1"/>
          <p:nvPr/>
        </p:nvSpPr>
        <p:spPr>
          <a:xfrm>
            <a:off x="6812280" y="2932664"/>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Controller finds the physical sector behind it is damaged</a:t>
            </a:r>
            <a:endParaRPr lang="en-US" sz="1400" dirty="0"/>
          </a:p>
        </p:txBody>
      </p:sp>
      <p:sp>
        <p:nvSpPr>
          <p:cNvPr id="11" name="Text 9"/>
          <p:cNvSpPr txBox="1"/>
          <p:nvPr/>
        </p:nvSpPr>
        <p:spPr>
          <a:xfrm>
            <a:off x="6812280" y="3252704"/>
            <a:ext cx="4480560" cy="752368"/>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Detected via a failed ECC check or an outright read error</a:t>
            </a:r>
            <a:endParaRPr lang="en-US" sz="1100" dirty="0"/>
          </a:p>
        </p:txBody>
      </p:sp>
      <p:sp>
        <p:nvSpPr>
          <p:cNvPr id="12" name="Shape 10"/>
          <p:cNvSpPr/>
          <p:nvPr/>
        </p:nvSpPr>
        <p:spPr>
          <a:xfrm>
            <a:off x="8851392" y="4059936"/>
            <a:ext cx="219456" cy="237744"/>
          </a:xfrm>
          <a:prstGeom prst="downArrow">
            <a:avLst/>
          </a:prstGeom>
          <a:solidFill>
            <a:srgbClr val="8A939B"/>
          </a:solidFill>
          <a:ln/>
        </p:spPr>
      </p:sp>
      <p:sp>
        <p:nvSpPr>
          <p:cNvPr id="13" name="Shape 11"/>
          <p:cNvSpPr/>
          <p:nvPr/>
        </p:nvSpPr>
        <p:spPr>
          <a:xfrm>
            <a:off x="6400800" y="4297680"/>
            <a:ext cx="5120640" cy="1225296"/>
          </a:xfrm>
          <a:prstGeom prst="roundRect">
            <a:avLst>
              <a:gd name="adj" fmla="val 4478"/>
            </a:avLst>
          </a:prstGeom>
          <a:solidFill>
            <a:srgbClr val="FFFFFF"/>
          </a:solidFill>
          <a:ln w="19050">
            <a:solidFill>
              <a:srgbClr val="E8A33D"/>
            </a:solidFill>
            <a:prstDash val="solid"/>
          </a:ln>
        </p:spPr>
      </p:sp>
      <p:sp>
        <p:nvSpPr>
          <p:cNvPr id="14" name="Shape 12"/>
          <p:cNvSpPr/>
          <p:nvPr/>
        </p:nvSpPr>
        <p:spPr>
          <a:xfrm>
            <a:off x="6601968" y="4590288"/>
            <a:ext cx="64008" cy="640080"/>
          </a:xfrm>
          <a:prstGeom prst="rect">
            <a:avLst/>
          </a:prstGeom>
          <a:solidFill>
            <a:srgbClr val="E8A33D"/>
          </a:solidFill>
          <a:ln/>
        </p:spPr>
      </p:sp>
      <p:sp>
        <p:nvSpPr>
          <p:cNvPr id="15" name="Text 13"/>
          <p:cNvSpPr txBox="1"/>
          <p:nvPr/>
        </p:nvSpPr>
        <p:spPr>
          <a:xfrm>
            <a:off x="6812280" y="4395704"/>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Controller silently remaps 4,102 to a spare sector</a:t>
            </a:r>
            <a:endParaRPr lang="en-US" sz="1400" dirty="0"/>
          </a:p>
        </p:txBody>
      </p:sp>
      <p:sp>
        <p:nvSpPr>
          <p:cNvPr id="16" name="Text 14"/>
          <p:cNvSpPr txBox="1"/>
          <p:nvPr/>
        </p:nvSpPr>
        <p:spPr>
          <a:xfrm>
            <a:off x="6812280" y="4715744"/>
            <a:ext cx="4480560" cy="752368"/>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The OS's request still succeeds, against the same logical block number</a:t>
            </a:r>
            <a:endParaRPr lang="en-US" sz="1100" dirty="0"/>
          </a:p>
        </p:txBody>
      </p:sp>
      <p:sp>
        <p:nvSpPr>
          <p:cNvPr id="17" name="Text 1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Bad Blocks: Before Hardware Remapping</a:t>
            </a:r>
            <a:endParaRPr lang="en-US" sz="2800" dirty="0"/>
          </a:p>
        </p:txBody>
      </p:sp>
      <p:sp>
        <p:nvSpPr>
          <p:cNvPr id="3" name="Text 1"/>
          <p:cNvSpPr txBox="1"/>
          <p:nvPr/>
        </p:nvSpPr>
        <p:spPr>
          <a:xfrm>
            <a:off x="640080" y="1280160"/>
            <a:ext cx="10881360" cy="2160905"/>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Older, simpler disk systems — and some low-level utilities even today — had no spare-sector pool at all</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Bad blocks were tracked in software instead: a dedicated bad-block list, maintained by the OS or a formatting utility</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file system had to be told explicitly to avoid allocating any file data to those specific blocks</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A sector going bad on a disk like this could mean real data loss, since nothing beneath the OS was watching out for it</a:t>
            </a:r>
            <a:endParaRPr lang="en-US" sz="1550" dirty="0"/>
          </a:p>
        </p:txBody>
      </p:sp>
      <p:sp>
        <p:nvSpPr>
          <p:cNvPr id="4" name="Shape 2"/>
          <p:cNvSpPr/>
          <p:nvPr/>
        </p:nvSpPr>
        <p:spPr>
          <a:xfrm>
            <a:off x="640080" y="3669665"/>
            <a:ext cx="10881360" cy="2377440"/>
          </a:xfrm>
          <a:prstGeom prst="roundRect">
            <a:avLst>
              <a:gd name="adj" fmla="val 4615"/>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3898265"/>
            <a:ext cx="10332720" cy="457200"/>
          </a:xfrm>
          <a:prstGeom prst="rect">
            <a:avLst/>
          </a:prstGeom>
          <a:noFill/>
          <a:ln/>
        </p:spPr>
        <p:txBody>
          <a:bodyPr wrap="square" lIns="0" tIns="0" rIns="0" bIns="0" rtlCol="0" anchor="t"/>
          <a:lstStyle/>
          <a:p>
            <a:pPr indent="0" marL="0">
              <a:buNone/>
            </a:pPr>
            <a:r>
              <a:rPr lang="en-US" sz="1600" b="1" dirty="0">
                <a:solidFill>
                  <a:srgbClr val="E8A33D"/>
                </a:solidFill>
                <a:latin typeface="Calibri" pitchFamily="34" charset="0"/>
                <a:ea typeface="Calibri" pitchFamily="34" charset="-122"/>
                <a:cs typeface="Calibri" pitchFamily="34" charset="-120"/>
              </a:rPr>
              <a:t>Spare sectors are a mitigation, not a guarantee</a:t>
            </a:r>
            <a:endParaRPr lang="en-US" sz="1600" dirty="0"/>
          </a:p>
        </p:txBody>
      </p:sp>
      <p:sp>
        <p:nvSpPr>
          <p:cNvPr id="6" name="Text 4"/>
          <p:cNvSpPr txBox="1"/>
          <p:nvPr/>
        </p:nvSpPr>
        <p:spPr>
          <a:xfrm>
            <a:off x="914400" y="4401185"/>
            <a:ext cx="10332720" cy="141732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Hardware remapping handles sectors failing one at a time, gracefully, as a disk ages. It does not protect against the drive failing wholesale, nor does a nearly-exhausted spare-sector pool continue working forever — a disk reporting a rapidly growing reallocated-sector count is a strong signal it is approaching end of life, regardless of how invisible each individual remap has been so far.</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Swap-Space Management</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Swap space is a reserved area of secondary storage the OS uses to hold pages (and, on some systems, entire processes) that do not currently fit in physical memory — what makes usable memory larger than physical RAM, at the cost of disk-speed access on a miss.</a:t>
            </a:r>
            <a:endParaRPr lang="en-US" sz="1550" dirty="0"/>
          </a:p>
        </p:txBody>
      </p:sp>
      <p:sp>
        <p:nvSpPr>
          <p:cNvPr id="4" name="Text 2"/>
          <p:cNvSpPr txBox="1"/>
          <p:nvPr/>
        </p:nvSpPr>
        <p:spPr>
          <a:xfrm>
            <a:off x="640080" y="2148840"/>
            <a:ext cx="10881360" cy="36576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Where swap space can live</a:t>
            </a:r>
            <a:endParaRPr lang="en-US" sz="1200" dirty="0"/>
          </a:p>
        </p:txBody>
      </p:sp>
      <p:sp>
        <p:nvSpPr>
          <p:cNvPr id="5" name="Shape 3"/>
          <p:cNvSpPr/>
          <p:nvPr/>
        </p:nvSpPr>
        <p:spPr>
          <a:xfrm>
            <a:off x="640080" y="2606040"/>
            <a:ext cx="5303520" cy="2011680"/>
          </a:xfrm>
          <a:prstGeom prst="roundRect">
            <a:avLst>
              <a:gd name="adj" fmla="val 3636"/>
            </a:avLst>
          </a:prstGeom>
          <a:solidFill>
            <a:srgbClr val="2FE6C4"/>
          </a:solidFill>
          <a:ln/>
        </p:spPr>
      </p:sp>
      <p:sp>
        <p:nvSpPr>
          <p:cNvPr id="6" name="Text 4"/>
          <p:cNvSpPr txBox="1"/>
          <p:nvPr/>
        </p:nvSpPr>
        <p:spPr>
          <a:xfrm>
            <a:off x="868680" y="27889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 raw disk partition</a:t>
            </a:r>
            <a:endParaRPr lang="en-US" sz="1500" dirty="0"/>
          </a:p>
        </p:txBody>
      </p:sp>
      <p:sp>
        <p:nvSpPr>
          <p:cNvPr id="7" name="Text 5"/>
          <p:cNvSpPr txBox="1"/>
          <p:nvPr/>
        </p:nvSpPr>
        <p:spPr>
          <a:xfrm>
            <a:off x="868680" y="32918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Managed directly by the OS's own swap-space storage manager, bypassing the file system entirely — faster, since there is no file-system overhead on every swap I/O</a:t>
            </a:r>
            <a:endParaRPr lang="en-US" sz="1150" dirty="0"/>
          </a:p>
        </p:txBody>
      </p:sp>
      <p:sp>
        <p:nvSpPr>
          <p:cNvPr id="8" name="Shape 6"/>
          <p:cNvSpPr/>
          <p:nvPr/>
        </p:nvSpPr>
        <p:spPr>
          <a:xfrm>
            <a:off x="6217920" y="2606040"/>
            <a:ext cx="5303520" cy="2011680"/>
          </a:xfrm>
          <a:prstGeom prst="roundRect">
            <a:avLst>
              <a:gd name="adj" fmla="val 3636"/>
            </a:avLst>
          </a:prstGeom>
          <a:solidFill>
            <a:srgbClr val="8B7FD9"/>
          </a:solidFill>
          <a:ln/>
        </p:spPr>
      </p:sp>
      <p:sp>
        <p:nvSpPr>
          <p:cNvPr id="9" name="Text 7"/>
          <p:cNvSpPr txBox="1"/>
          <p:nvPr/>
        </p:nvSpPr>
        <p:spPr>
          <a:xfrm>
            <a:off x="6446520" y="27889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 regular file inside a file system</a:t>
            </a:r>
            <a:endParaRPr lang="en-US" sz="1500" dirty="0"/>
          </a:p>
        </p:txBody>
      </p:sp>
      <p:sp>
        <p:nvSpPr>
          <p:cNvPr id="10" name="Text 8"/>
          <p:cNvSpPr txBox="1"/>
          <p:nvPr/>
        </p:nvSpPr>
        <p:spPr>
          <a:xfrm>
            <a:off x="6446520" y="32918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A normal file (e.g. a Windows pagefile) the OS treats as swap space — more flexible: it can be resized, moved, or removed using ordinary file operations</a:t>
            </a:r>
            <a:endParaRPr lang="en-US" sz="1150" dirty="0"/>
          </a:p>
        </p:txBody>
      </p:sp>
      <p:sp>
        <p:nvSpPr>
          <p:cNvPr id="11" name="Text 9"/>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Swap I/O Performance Matters</a:t>
            </a:r>
            <a:endParaRPr lang="en-US" sz="2800" dirty="0"/>
          </a:p>
        </p:txBody>
      </p:sp>
      <p:sp>
        <p:nvSpPr>
          <p:cNvPr id="3" name="Text 1"/>
          <p:cNvSpPr txBox="1"/>
          <p:nvPr/>
        </p:nvSpPr>
        <p:spPr>
          <a:xfrm>
            <a:off x="640080" y="1280160"/>
            <a:ext cx="10881360" cy="2209483"/>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A page fault that has to wait on a slow swap read stalls the process — and often other processes scheduled behind it — far more visibly than almost any other kind of disk access</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Swap space is typically allocated in large, fixed-size chunks, rather than left to fragment across the disk the way ordinary file storage is allowed to</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Large, contiguous, uniformly sized swap extents keep the access pattern simple and predictable for the swap manager, which can then address a swapped-out page with simple arithmetic instead of walking a file-system's block-allocation structures on every page-in and page-out</a:t>
            </a:r>
            <a:endParaRPr lang="en-US" sz="1550" dirty="0"/>
          </a:p>
        </p:txBody>
      </p:sp>
      <p:sp>
        <p:nvSpPr>
          <p:cNvPr id="4" name="Shape 2"/>
          <p:cNvSpPr/>
          <p:nvPr/>
        </p:nvSpPr>
        <p:spPr>
          <a:xfrm>
            <a:off x="640080" y="3718242"/>
            <a:ext cx="10881360" cy="2103120"/>
          </a:xfrm>
          <a:prstGeom prst="roundRect">
            <a:avLst>
              <a:gd name="adj" fmla="val 5217"/>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3946842"/>
            <a:ext cx="10332720" cy="457200"/>
          </a:xfrm>
          <a:prstGeom prst="rect">
            <a:avLst/>
          </a:prstGeom>
          <a:noFill/>
          <a:ln/>
        </p:spPr>
        <p:txBody>
          <a:bodyPr wrap="square" lIns="0" tIns="0" rIns="0" bIns="0" rtlCol="0" anchor="t"/>
          <a:lstStyle/>
          <a:p>
            <a:pPr indent="0" marL="0">
              <a:buNone/>
            </a:pPr>
            <a:r>
              <a:rPr lang="en-US" sz="1600" b="1" dirty="0">
                <a:solidFill>
                  <a:srgbClr val="2FE6C4"/>
                </a:solidFill>
                <a:latin typeface="Calibri" pitchFamily="34" charset="0"/>
                <a:ea typeface="Calibri" pitchFamily="34" charset="-122"/>
                <a:cs typeface="Calibri" pitchFamily="34" charset="-120"/>
              </a:rPr>
              <a:t>Swap space is a consequence of Lectures 25–26, not a separate topic</a:t>
            </a:r>
            <a:endParaRPr lang="en-US" sz="1600" dirty="0"/>
          </a:p>
        </p:txBody>
      </p:sp>
      <p:sp>
        <p:nvSpPr>
          <p:cNvPr id="6" name="Text 4"/>
          <p:cNvSpPr txBox="1"/>
          <p:nvPr/>
        </p:nvSpPr>
        <p:spPr>
          <a:xfrm>
            <a:off x="914400" y="4449762"/>
            <a:ext cx="10332720" cy="11430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Everything here exists purely to support demand paging and page replacement: a page a process still needs, but that memory pressure forced out of RAM, has to go somewhere that can be read back in quickly on the next page fault. Swap space is that somewhere — storage management and memory management meet directly at this one point.</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Low-level (physical) formatting divides a disk into addressable sectors with ECC, done at the factory; logical formatting writes a boot block, free-space information, and an empty root directory — what most people mean by “formatting a drive” today</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The bootstrap chain keeps each stage as simple as possible: firmware reads one fixed location (the boot block), the bootstrap loader locates and loads the real OS kernel, and only then does the kernel take over</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Modern disks mostly hide bad blocks from the OS, transparently remapping damaged logical blocks onto a reserved spare-sector pool; older systems had to track bad blocks explicitly in software</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Swap space extends usable memory beyond physical RAM by holding evicted pages, can live on a raw partition (faster) or inside a regular file (more flexible), and is allocated in large fixed-size chunks because swap I/O performance is critical to system responsiveness</a:t>
            </a:r>
            <a:endParaRPr lang="en-US" sz="1600" dirty="0"/>
          </a:p>
        </p:txBody>
      </p:sp>
      <p:sp>
        <p:nvSpPr>
          <p:cNvPr id="4"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2026-10-02T04:34:34Z</dcterms:created>
  <dcterms:modified xsi:type="dcterms:W3CDTF">2026-10-02T04:34:34Z</dcterms:modified>
</cp:coreProperties>
</file>
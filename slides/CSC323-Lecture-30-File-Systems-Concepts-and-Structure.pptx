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2148840"/>
            <a:ext cx="10515600" cy="457200"/>
          </a:xfrm>
          <a:prstGeom prst="rect">
            <a:avLst/>
          </a:prstGeom>
          <a:noFill/>
          <a:ln/>
        </p:spPr>
        <p:txBody>
          <a:bodyPr wrap="square" lIns="0" tIns="0" rIns="0" bIns="0" rtlCol="0" anchor="ctr"/>
          <a:lstStyle/>
          <a:p>
            <a:pPr indent="0" marL="0">
              <a:buNone/>
            </a:pPr>
            <a:r>
              <a:rPr lang="en-US" sz="1600" b="1" spc="300" kern="0" dirty="0">
                <a:solidFill>
                  <a:srgbClr val="2FE6C4"/>
                </a:solidFill>
                <a:latin typeface="Calibri" pitchFamily="34" charset="0"/>
                <a:ea typeface="Calibri" pitchFamily="34" charset="-122"/>
                <a:cs typeface="Calibri" pitchFamily="34" charset="-120"/>
              </a:rPr>
              <a:t>LECTURE 30</a:t>
            </a:r>
            <a:endParaRPr lang="en-US" sz="1600" dirty="0"/>
          </a:p>
        </p:txBody>
      </p:sp>
      <p:sp>
        <p:nvSpPr>
          <p:cNvPr id="3" name="Text 1"/>
          <p:cNvSpPr txBox="1"/>
          <p:nvPr/>
        </p:nvSpPr>
        <p:spPr>
          <a:xfrm>
            <a:off x="822960" y="2606040"/>
            <a:ext cx="10515600"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File Systems: Concepts and Structure</a:t>
            </a:r>
            <a:endParaRPr lang="en-US" sz="4000" dirty="0"/>
          </a:p>
        </p:txBody>
      </p:sp>
      <p:sp>
        <p:nvSpPr>
          <p:cNvPr id="4" name="Text 2"/>
          <p:cNvSpPr txBox="1"/>
          <p:nvPr/>
        </p:nvSpPr>
        <p:spPr>
          <a:xfrm>
            <a:off x="822960" y="4343400"/>
            <a:ext cx="10515600" cy="457200"/>
          </a:xfrm>
          <a:prstGeom prst="rect">
            <a:avLst/>
          </a:prstGeom>
          <a:noFill/>
          <a:ln/>
        </p:spPr>
        <p:txBody>
          <a:bodyPr wrap="square" lIns="0" tIns="0" rIns="0" bIns="0" rtlCol="0" anchor="ctr"/>
          <a:lstStyle/>
          <a:p>
            <a:pPr indent="0" marL="0">
              <a:buNone/>
            </a:pPr>
            <a:r>
              <a:rPr lang="en-US" sz="1800" dirty="0">
                <a:solidFill>
                  <a:srgbClr val="2FE6C4"/>
                </a:solidFill>
                <a:latin typeface="Calibri" pitchFamily="34" charset="0"/>
                <a:ea typeface="Calibri" pitchFamily="34" charset="-122"/>
                <a:cs typeface="Calibri" pitchFamily="34" charset="-120"/>
              </a:rPr>
              <a:t>CSC323 · Operating Systems</a:t>
            </a:r>
            <a:endParaRPr lang="en-US" sz="1800" dirty="0"/>
          </a:p>
        </p:txBody>
      </p:sp>
      <p:sp>
        <p:nvSpPr>
          <p:cNvPr id="5" name="Text 3"/>
          <p:cNvSpPr txBox="1"/>
          <p:nvPr/>
        </p:nvSpPr>
        <p:spPr>
          <a:xfrm>
            <a:off x="822960" y="4754880"/>
            <a:ext cx="10515600" cy="365760"/>
          </a:xfrm>
          <a:prstGeom prst="rect">
            <a:avLst/>
          </a:prstGeom>
          <a:noFill/>
          <a:ln/>
        </p:spPr>
        <p:txBody>
          <a:bodyPr wrap="square" lIns="0" tIns="0" rIns="0" bIns="0" rtlCol="0" anchor="ctr"/>
          <a:lstStyle/>
          <a:p>
            <a:pPr indent="0" marL="0">
              <a:buNone/>
            </a:pPr>
            <a:r>
              <a:rPr lang="en-US" sz="1300" dirty="0">
                <a:solidFill>
                  <a:srgbClr val="8A939B"/>
                </a:solidFill>
                <a:latin typeface="Calibri" pitchFamily="34" charset="0"/>
                <a:ea typeface="Calibri" pitchFamily="34" charset="-122"/>
                <a:cs typeface="Calibri" pitchFamily="34" charset="-120"/>
              </a:rPr>
              <a:t>COMSATS University Islamabad, Lahore Campus</a:t>
            </a:r>
            <a:endParaRPr lang="en-US" sz="1300" dirty="0"/>
          </a:p>
        </p:txBody>
      </p:sp>
      <p:sp>
        <p:nvSpPr>
          <p:cNvPr id="6" name="Text 4"/>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 This Lecture</a:t>
            </a:r>
            <a:endParaRPr lang="en-US" sz="2800" dirty="0"/>
          </a:p>
        </p:txBody>
      </p:sp>
      <p:sp>
        <p:nvSpPr>
          <p:cNvPr id="3" name="Text 1"/>
          <p:cNvSpPr txBox="1"/>
          <p:nvPr/>
        </p:nvSpPr>
        <p:spPr>
          <a:xfrm>
            <a:off x="640080" y="1371600"/>
            <a:ext cx="10332720" cy="4846320"/>
          </a:xfrm>
          <a:prstGeom prst="rect">
            <a:avLst/>
          </a:prstGeom>
          <a:noFill/>
          <a:ln/>
        </p:spPr>
        <p:txBody>
          <a:bodyPr wrap="square" lIns="0" tIns="0" rIns="0" bIns="0" rtlCol="0" anchor="t"/>
          <a:lstStyle/>
          <a:p>
            <a:pPr marL="342900" indent="-342900">
              <a:lnSpc>
                <a:spcPct val="115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file concept: what a file abstracts away, and the attributes every file carries</a:t>
            </a:r>
            <a:endParaRPr lang="en-US" sz="1600" dirty="0"/>
          </a:p>
          <a:p>
            <a:pPr marL="342900" indent="-342900">
              <a:lnSpc>
                <a:spcPct val="115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File operations, and specifically why open() and close() exist as separate bookkeeping steps</a:t>
            </a:r>
            <a:endParaRPr lang="en-US" sz="1600" dirty="0"/>
          </a:p>
          <a:p>
            <a:pPr marL="342900" indent="-342900">
              <a:lnSpc>
                <a:spcPct val="115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Access methods: sequential access vs. direct (random) access</a:t>
            </a:r>
            <a:endParaRPr lang="en-US" sz="1600" dirty="0"/>
          </a:p>
          <a:p>
            <a:pPr marL="342900" indent="-342900">
              <a:lnSpc>
                <a:spcPct val="115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Directory structures: single-level, two-level, and tree-structured, and what problem each one solves that the previous one didn't</a:t>
            </a:r>
            <a:endParaRPr lang="en-US" sz="1600" dirty="0"/>
          </a:p>
          <a:p>
            <a:pPr marL="342900" indent="-342900">
              <a:lnSpc>
                <a:spcPct val="115000"/>
              </a:lnSpc>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layered file-system implementation, from application code down to the physical device</a:t>
            </a:r>
            <a:endParaRPr lang="en-US" sz="1600" dirty="0"/>
          </a:p>
        </p:txBody>
      </p:sp>
      <p:sp>
        <p:nvSpPr>
          <p:cNvPr id="4" name="Text 2"/>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File Concept</a:t>
            </a:r>
            <a:endParaRPr lang="en-US" sz="2800" dirty="0"/>
          </a:p>
        </p:txBody>
      </p:sp>
      <p:sp>
        <p:nvSpPr>
          <p:cNvPr id="3" name="Text 1"/>
          <p:cNvSpPr txBox="1"/>
          <p:nvPr/>
        </p:nvSpPr>
        <p:spPr>
          <a:xfrm>
            <a:off x="640080" y="1234440"/>
            <a:ext cx="10881360" cy="822960"/>
          </a:xfrm>
          <a:prstGeom prst="rect">
            <a:avLst/>
          </a:prstGeom>
          <a:noFill/>
          <a:ln/>
        </p:spPr>
        <p:txBody>
          <a:bodyPr wrap="square" lIns="0" tIns="0" rIns="0" bIns="0" rtlCol="0" anchor="t"/>
          <a:lstStyle/>
          <a:p>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A file is the operating system's basic unit of logical storage: a named collection of related information, recorded on secondary storage.</a:t>
            </a:r>
            <a:endParaRPr lang="en-US" sz="1600" dirty="0"/>
          </a:p>
        </p:txBody>
      </p:sp>
      <p:sp>
        <p:nvSpPr>
          <p:cNvPr id="4" name="Text 2"/>
          <p:cNvSpPr txBox="1"/>
          <p:nvPr/>
        </p:nvSpPr>
        <p:spPr>
          <a:xfrm>
            <a:off x="640080" y="2103120"/>
            <a:ext cx="10881360" cy="402336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The file is a deliberate abstraction — to the application programmer, a file is just a name and a stream (or a set) of bytes</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The messy physical reality underneath — which specific disk blocks hold the data, whether they are contiguous or scattered, which blocks are still free — is hidden entirely behind the file system</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A program that wants to store a document never has to think in terms of sectors, tracks, or spare-block pools; it thinks in terms of a file name and the bytes it writes to or reads from that name</a:t>
            </a:r>
            <a:endParaRPr lang="en-US" sz="1500" dirty="0"/>
          </a:p>
        </p:txBody>
      </p:sp>
      <p:sp>
        <p:nvSpPr>
          <p:cNvPr id="5" name="Text 3"/>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File Attributes</a:t>
            </a:r>
            <a:endParaRPr lang="en-US" sz="2800" dirty="0"/>
          </a:p>
        </p:txBody>
      </p:sp>
      <p:sp>
        <p:nvSpPr>
          <p:cNvPr id="3" name="Text 1"/>
          <p:cNvSpPr txBox="1"/>
          <p:nvPr/>
        </p:nvSpPr>
        <p:spPr>
          <a:xfrm>
            <a:off x="640080" y="1188720"/>
            <a:ext cx="10881360" cy="54864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Every file carries a set of attributes, maintained by the file system rather than by the file's own contents.</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881360" cy="2743200"/>
        </p:xfrm>
        <a:graphic>
          <a:graphicData uri="http://schemas.openxmlformats.org/drawingml/2006/table">
            <a:tbl>
              <a:tblPr/>
              <a:tblGrid>
                <a:gridCol w="3108960"/>
                <a:gridCol w="7772400"/>
              </a:tblGrid>
              <a:tr h="39188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Attribute</a:t>
                      </a:r>
                      <a:endParaRPr lang="en-US" sz="13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4181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records</a:t>
                      </a:r>
                      <a:endParaRPr lang="en-US" sz="1300" dirty="0">
                        <a:latin typeface="Calibri" charset="0"/>
                        <a:ea typeface="Calibri" charset="0"/>
                        <a:cs typeface="Calibri" charset="0"/>
                      </a:endParaRPr>
                    </a:p>
                  </a:txBody>
                  <a:tcPr marL="91440" marR="91440" marT="45720" marB="45720" anchor="ctr">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14181C"/>
                    </a:solidFill>
                  </a:tcPr>
                </a:tc>
              </a:tr>
              <a:tr h="391886">
                <a:tc>
                  <a:txBody>
                    <a:bodyPr/>
                    <a:lstStyle/>
                    <a:p>
                      <a:pPr indent="0" marL="0">
                        <a:buNone/>
                      </a:pPr>
                      <a:r>
                        <a:rPr lang="en-US" sz="1150" b="1" dirty="0">
                          <a:solidFill>
                            <a:srgbClr val="1F2429"/>
                          </a:solidFill>
                          <a:latin typeface="Calibri" pitchFamily="34" charset="0"/>
                          <a:ea typeface="Calibri" pitchFamily="34" charset="-122"/>
                          <a:cs typeface="Calibri" pitchFamily="34" charset="-120"/>
                        </a:rPr>
                        <a:t>Name</a:t>
                      </a:r>
                      <a:endParaRPr lang="en-US" sz="115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The human-readable name the file is identified by within its directory</a:t>
                      </a:r>
                      <a:endParaRPr lang="en-US" sz="115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r>
              <a:tr h="391886">
                <a:tc>
                  <a:txBody>
                    <a:bodyPr/>
                    <a:lstStyle/>
                    <a:p>
                      <a:pPr indent="0" marL="0">
                        <a:buNone/>
                      </a:pPr>
                      <a:r>
                        <a:rPr lang="en-US" sz="1150" b="1" dirty="0">
                          <a:solidFill>
                            <a:srgbClr val="1F2429"/>
                          </a:solidFill>
                          <a:latin typeface="Calibri" pitchFamily="34" charset="0"/>
                          <a:ea typeface="Calibri" pitchFamily="34" charset="-122"/>
                          <a:cs typeface="Calibri" pitchFamily="34" charset="-120"/>
                        </a:rPr>
                        <a:t>Identifier (inode number)</a:t>
                      </a:r>
                      <a:endParaRPr lang="en-US" sz="115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EFF1F4"/>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A unique number the file system itself uses internally to identify the file, independent of its name</a:t>
                      </a:r>
                      <a:endParaRPr lang="en-US" sz="115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EFF1F4"/>
                    </a:solidFill>
                  </a:tcPr>
                </a:tc>
              </a:tr>
              <a:tr h="391886">
                <a:tc>
                  <a:txBody>
                    <a:bodyPr/>
                    <a:lstStyle/>
                    <a:p>
                      <a:pPr indent="0" marL="0">
                        <a:buNone/>
                      </a:pPr>
                      <a:r>
                        <a:rPr lang="en-US" sz="1150" b="1" dirty="0">
                          <a:solidFill>
                            <a:srgbClr val="1F2429"/>
                          </a:solidFill>
                          <a:latin typeface="Calibri" pitchFamily="34" charset="0"/>
                          <a:ea typeface="Calibri" pitchFamily="34" charset="-122"/>
                          <a:cs typeface="Calibri" pitchFamily="34" charset="-120"/>
                        </a:rPr>
                        <a:t>Type</a:t>
                      </a:r>
                      <a:endParaRPr lang="en-US" sz="115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What kind of file this is (where the file system or OS distinguishes types at all)</a:t>
                      </a:r>
                      <a:endParaRPr lang="en-US" sz="115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r>
              <a:tr h="391886">
                <a:tc>
                  <a:txBody>
                    <a:bodyPr/>
                    <a:lstStyle/>
                    <a:p>
                      <a:pPr indent="0" marL="0">
                        <a:buNone/>
                      </a:pPr>
                      <a:r>
                        <a:rPr lang="en-US" sz="1150" b="1" dirty="0">
                          <a:solidFill>
                            <a:srgbClr val="1F2429"/>
                          </a:solidFill>
                          <a:latin typeface="Calibri" pitchFamily="34" charset="0"/>
                          <a:ea typeface="Calibri" pitchFamily="34" charset="-122"/>
                          <a:cs typeface="Calibri" pitchFamily="34" charset="-120"/>
                        </a:rPr>
                        <a:t>Size</a:t>
                      </a:r>
                      <a:endParaRPr lang="en-US" sz="115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EFF1F4"/>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The file's current size, in bytes</a:t>
                      </a:r>
                      <a:endParaRPr lang="en-US" sz="115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EFF1F4"/>
                    </a:solidFill>
                  </a:tcPr>
                </a:tc>
              </a:tr>
              <a:tr h="391886">
                <a:tc>
                  <a:txBody>
                    <a:bodyPr/>
                    <a:lstStyle/>
                    <a:p>
                      <a:pPr indent="0" marL="0">
                        <a:buNone/>
                      </a:pPr>
                      <a:r>
                        <a:rPr lang="en-US" sz="1150" b="1" dirty="0">
                          <a:solidFill>
                            <a:srgbClr val="1F2429"/>
                          </a:solidFill>
                          <a:latin typeface="Calibri" pitchFamily="34" charset="0"/>
                          <a:ea typeface="Calibri" pitchFamily="34" charset="-122"/>
                          <a:cs typeface="Calibri" pitchFamily="34" charset="-120"/>
                        </a:rPr>
                        <a:t>Protection</a:t>
                      </a:r>
                      <a:endParaRPr lang="en-US" sz="115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Who is allowed to read, write, or execute the file (the full subject of Lecture 31)</a:t>
                      </a:r>
                      <a:endParaRPr lang="en-US" sz="115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FFFFFF"/>
                    </a:solidFill>
                  </a:tcPr>
                </a:tc>
              </a:tr>
              <a:tr h="391886">
                <a:tc>
                  <a:txBody>
                    <a:bodyPr/>
                    <a:lstStyle/>
                    <a:p>
                      <a:pPr indent="0" marL="0">
                        <a:buNone/>
                      </a:pPr>
                      <a:r>
                        <a:rPr lang="en-US" sz="1150" b="1" dirty="0">
                          <a:solidFill>
                            <a:srgbClr val="1F2429"/>
                          </a:solidFill>
                          <a:latin typeface="Calibri" pitchFamily="34" charset="0"/>
                          <a:ea typeface="Calibri" pitchFamily="34" charset="-122"/>
                          <a:cs typeface="Calibri" pitchFamily="34" charset="-120"/>
                        </a:rPr>
                        <a:t>Timestamps</a:t>
                      </a:r>
                      <a:endParaRPr lang="en-US" sz="115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EFF1F4"/>
                    </a:solidFill>
                  </a:tcPr>
                </a:tc>
                <a:tc>
                  <a:txBody>
                    <a:bodyPr/>
                    <a:lstStyle/>
                    <a:p>
                      <a:pPr indent="0" marL="0">
                        <a:buNone/>
                      </a:pPr>
                      <a:r>
                        <a:rPr lang="en-US" sz="1150" dirty="0">
                          <a:solidFill>
                            <a:srgbClr val="1F2429"/>
                          </a:solidFill>
                          <a:latin typeface="Calibri" pitchFamily="34" charset="0"/>
                          <a:ea typeface="Calibri" pitchFamily="34" charset="-122"/>
                          <a:cs typeface="Calibri" pitchFamily="34" charset="-120"/>
                        </a:rPr>
                        <a:t>When the file was created, last modified, and last accessed</a:t>
                      </a:r>
                      <a:endParaRPr lang="en-US" sz="1150" dirty="0">
                        <a:latin typeface="Calibri" charset="0"/>
                        <a:ea typeface="Calibri" charset="0"/>
                        <a:cs typeface="Calibri" charset="0"/>
                      </a:endParaRPr>
                    </a:p>
                  </a:txBody>
                  <a:tcPr marL="91440" marR="91440" marT="45720" marB="45720" anchor="t">
                    <a:lnL w="9525" cap="flat" cmpd="sng" algn="ctr">
                      <a:solidFill>
                        <a:srgbClr val="E2E5EB"/>
                      </a:solidFill>
                      <a:prstDash val="solid"/>
                      <a:round/>
                      <a:headEnd type="none" w="med" len="med"/>
                      <a:tailEnd type="none" w="med" len="med"/>
                    </a:lnL>
                    <a:lnR w="9525" cap="flat" cmpd="sng" algn="ctr">
                      <a:solidFill>
                        <a:srgbClr val="E2E5EB"/>
                      </a:solidFill>
                      <a:prstDash val="solid"/>
                      <a:round/>
                      <a:headEnd type="none" w="med" len="med"/>
                      <a:tailEnd type="none" w="med" len="med"/>
                    </a:lnR>
                    <a:lnT w="9525" cap="flat" cmpd="sng" algn="ctr">
                      <a:solidFill>
                        <a:srgbClr val="E2E5EB"/>
                      </a:solidFill>
                      <a:prstDash val="solid"/>
                      <a:round/>
                      <a:headEnd type="none" w="med" len="med"/>
                      <a:tailEnd type="none" w="med" len="med"/>
                    </a:lnT>
                    <a:lnB w="9525" cap="flat" cmpd="sng" algn="ctr">
                      <a:solidFill>
                        <a:srgbClr val="E2E5EB"/>
                      </a:solidFill>
                      <a:prstDash val="solid"/>
                      <a:round/>
                      <a:headEnd type="none" w="med" len="med"/>
                      <a:tailEnd type="none" w="med" len="med"/>
                    </a:lnB>
                    <a:solidFill>
                      <a:srgbClr val="EFF1F4"/>
                    </a:solidFill>
                  </a:tcPr>
                </a:tc>
              </a:tr>
            </a:tbl>
          </a:graphicData>
        </a:graphic>
      </p:graphicFrame>
      <p:sp>
        <p:nvSpPr>
          <p:cNvPr id="5" name="Shape 2"/>
          <p:cNvSpPr/>
          <p:nvPr/>
        </p:nvSpPr>
        <p:spPr>
          <a:xfrm>
            <a:off x="640080" y="4754880"/>
            <a:ext cx="10881360" cy="1417320"/>
          </a:xfrm>
          <a:prstGeom prst="roundRect">
            <a:avLst>
              <a:gd name="adj" fmla="val 7742"/>
            </a:avLst>
          </a:prstGeom>
          <a:solidFill>
            <a:srgbClr val="14181C"/>
          </a:solidFill>
          <a:ln/>
          <a:effectLst>
            <a:outerShdw sx="100000" sy="100000" kx="0" ky="0" algn="bl" rotWithShape="0" blurRad="76200" dist="25400" dir="5400000">
              <a:srgbClr val="000000">
                <a:alpha val="25000"/>
              </a:srgbClr>
            </a:outerShdw>
          </a:effectLst>
        </p:spPr>
      </p:sp>
      <p:sp>
        <p:nvSpPr>
          <p:cNvPr id="6" name="Text 3"/>
          <p:cNvSpPr txBox="1"/>
          <p:nvPr/>
        </p:nvSpPr>
        <p:spPr>
          <a:xfrm>
            <a:off x="914400" y="4983480"/>
            <a:ext cx="10332720" cy="457200"/>
          </a:xfrm>
          <a:prstGeom prst="rect">
            <a:avLst/>
          </a:prstGeom>
          <a:noFill/>
          <a:ln/>
        </p:spPr>
        <p:txBody>
          <a:bodyPr wrap="square" lIns="0" tIns="0" rIns="0" bIns="0" rtlCol="0" anchor="t"/>
          <a:lstStyle/>
          <a:p>
            <a:pPr indent="0" marL="0">
              <a:buNone/>
            </a:pPr>
            <a:r>
              <a:rPr lang="en-US" sz="1600" b="1" dirty="0">
                <a:solidFill>
                  <a:srgbClr val="2FE6C4"/>
                </a:solidFill>
                <a:latin typeface="Calibri" pitchFamily="34" charset="0"/>
                <a:ea typeface="Calibri" pitchFamily="34" charset="-122"/>
                <a:cs typeface="Calibri" pitchFamily="34" charset="-120"/>
              </a:rPr>
              <a:t>A file's name and its identity are not the same thing</a:t>
            </a:r>
            <a:endParaRPr lang="en-US" sz="1600" dirty="0"/>
          </a:p>
        </p:txBody>
      </p:sp>
      <p:sp>
        <p:nvSpPr>
          <p:cNvPr id="7" name="Text 4"/>
          <p:cNvSpPr txBox="1"/>
          <p:nvPr/>
        </p:nvSpPr>
        <p:spPr>
          <a:xfrm>
            <a:off x="914400" y="5486400"/>
            <a:ext cx="10332720" cy="457200"/>
          </a:xfrm>
          <a:prstGeom prst="rect">
            <a:avLst/>
          </a:prstGeom>
          <a:noFill/>
          <a:ln/>
        </p:spPr>
        <p:txBody>
          <a:bodyPr wrap="square" lIns="0" tIns="0" rIns="0" bIns="0" rtlCol="0" anchor="t"/>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The name is for humans; the identifier (often an inode number) is what the file system actually uses to locate the file's data. This is why a file can be renamed without disturbing anything that has it open, and why two directory entries (hard links) can point at the very same file.</a:t>
            </a:r>
            <a:endParaRPr lang="en-US" sz="1400" dirty="0"/>
          </a:p>
        </p:txBody>
      </p:sp>
      <p:sp>
        <p:nvSpPr>
          <p:cNvPr id="8" name="Text 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File Operations</a:t>
            </a:r>
            <a:endParaRPr lang="en-US" sz="2800" dirty="0"/>
          </a:p>
        </p:txBody>
      </p:sp>
      <p:sp>
        <p:nvSpPr>
          <p:cNvPr id="3" name="Text 1"/>
          <p:cNvSpPr txBox="1"/>
          <p:nvPr/>
        </p:nvSpPr>
        <p:spPr>
          <a:xfrm>
            <a:off x="640080" y="1234440"/>
            <a:ext cx="10881360" cy="822960"/>
          </a:xfrm>
          <a:prstGeom prst="rect">
            <a:avLst/>
          </a:prstGeom>
          <a:noFill/>
          <a:ln/>
        </p:spPr>
        <p:txBody>
          <a:bodyPr wrap="square" lIns="0" tIns="0" rIns="0" bIns="0" rtlCol="0" anchor="t"/>
          <a:lstStyle/>
          <a:p>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The operating system provides a small set of system calls to manipulate files.</a:t>
            </a:r>
            <a:endParaRPr lang="en-US" sz="1600" dirty="0"/>
          </a:p>
        </p:txBody>
      </p:sp>
      <p:sp>
        <p:nvSpPr>
          <p:cNvPr id="4" name="Text 2"/>
          <p:cNvSpPr txBox="1"/>
          <p:nvPr/>
        </p:nvSpPr>
        <p:spPr>
          <a:xfrm>
            <a:off x="640080" y="2103120"/>
            <a:ext cx="10881360" cy="402336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Create — allocate space for a new file and add an entry for it to a directory</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Write — append (or overwrite) data at the current position within the file</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Read — retrieve data starting at the current position within the file</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Reposition within a file (seek) — move the file's current position without transferring any data</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Delete — remove the file's directory entry and release the space it occupied</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Truncate — erase a file's contents while keeping all of its attributes, resetting its length to zero</a:t>
            </a:r>
            <a:endParaRPr lang="en-US" sz="1500" dirty="0"/>
          </a:p>
        </p:txBody>
      </p:sp>
      <p:sp>
        <p:nvSpPr>
          <p:cNvPr id="5" name="Text 3"/>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Why Bother with open() and close() at All?</a:t>
            </a:r>
            <a:endParaRPr lang="en-US" sz="2800" dirty="0"/>
          </a:p>
        </p:txBody>
      </p:sp>
      <p:sp>
        <p:nvSpPr>
          <p:cNvPr id="3" name="Text 1"/>
          <p:cNvSpPr txBox="1"/>
          <p:nvPr/>
        </p:nvSpPr>
        <p:spPr>
          <a:xfrm>
            <a:off x="640080" y="1280160"/>
            <a:ext cx="10881360" cy="1578928"/>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Every operation above needs the file system to first search the relevant directory structure for the file's entry, confirm the caller is permitted to access it, and set up in-memory bookkeeping before anything can actually happen</a:t>
            </a:r>
            <a:endParaRPr lang="en-US" sz="1550" dirty="0"/>
          </a:p>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Doing all of that again on every single read() or write() call would be enormously wasteful, especially for a program issuing thousands of small reads to the same file</a:t>
            </a:r>
            <a:endParaRPr lang="en-US" sz="1550" dirty="0"/>
          </a:p>
        </p:txBody>
      </p:sp>
      <p:sp>
        <p:nvSpPr>
          <p:cNvPr id="4" name="Shape 2"/>
          <p:cNvSpPr/>
          <p:nvPr/>
        </p:nvSpPr>
        <p:spPr>
          <a:xfrm>
            <a:off x="640080" y="3087688"/>
            <a:ext cx="10881360" cy="1849120"/>
          </a:xfrm>
          <a:prstGeom prst="roundRect">
            <a:avLst>
              <a:gd name="adj" fmla="val 5934"/>
            </a:avLst>
          </a:prstGeom>
          <a:solidFill>
            <a:srgbClr val="14181C"/>
          </a:solidFill>
          <a:ln/>
          <a:effectLst>
            <a:outerShdw sx="100000" sy="100000" kx="0" ky="0" algn="bl" rotWithShape="0" blurRad="76200" dist="25400" dir="5400000">
              <a:srgbClr val="000000">
                <a:alpha val="25000"/>
              </a:srgbClr>
            </a:outerShdw>
          </a:effectLst>
        </p:spPr>
      </p:sp>
      <p:sp>
        <p:nvSpPr>
          <p:cNvPr id="5" name="Text 3"/>
          <p:cNvSpPr txBox="1"/>
          <p:nvPr/>
        </p:nvSpPr>
        <p:spPr>
          <a:xfrm>
            <a:off x="914400" y="3316288"/>
            <a:ext cx="10332720" cy="457200"/>
          </a:xfrm>
          <a:prstGeom prst="rect">
            <a:avLst/>
          </a:prstGeom>
          <a:noFill/>
          <a:ln/>
        </p:spPr>
        <p:txBody>
          <a:bodyPr wrap="square" lIns="0" tIns="0" rIns="0" bIns="0" rtlCol="0" anchor="t"/>
          <a:lstStyle/>
          <a:p>
            <a:pPr indent="0" marL="0">
              <a:buNone/>
            </a:pPr>
            <a:r>
              <a:rPr lang="en-US" sz="1600" b="1" dirty="0">
                <a:solidFill>
                  <a:srgbClr val="2FE6C4"/>
                </a:solidFill>
                <a:latin typeface="Calibri" pitchFamily="34" charset="0"/>
                <a:ea typeface="Calibri" pitchFamily="34" charset="-122"/>
                <a:cs typeface="Calibri" pitchFamily="34" charset="-120"/>
              </a:rPr>
              <a:t>open() and close() are pure bookkeeping, not data transfer</a:t>
            </a:r>
            <a:endParaRPr lang="en-US" sz="1600" dirty="0"/>
          </a:p>
        </p:txBody>
      </p:sp>
      <p:sp>
        <p:nvSpPr>
          <p:cNvPr id="6" name="Text 4"/>
          <p:cNvSpPr txBox="1"/>
          <p:nvPr/>
        </p:nvSpPr>
        <p:spPr>
          <a:xfrm>
            <a:off x="914400" y="3819208"/>
            <a:ext cx="10332720" cy="889000"/>
          </a:xfrm>
          <a:prstGeom prst="rect">
            <a:avLst/>
          </a:prstGeom>
          <a:noFill/>
          <a:ln/>
        </p:spPr>
        <p:txBody>
          <a:bodyPr wrap="square" lIns="0" tIns="0" rIns="0" bIns="0" rtlCol="0" anchor="t"/>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open() does the search-and-setup work exactly once, creates an entry in an in-memory open-file table, and hands the calling program back a cheap handle (a file descriptor) that every subsequent read or write can use directly, with no directory search required. close() simply tears that bookkeeping down again once the program is done, freeing the open-file-table entry for reuse.</a:t>
            </a:r>
            <a:endParaRPr lang="en-US" sz="1400" dirty="0"/>
          </a:p>
        </p:txBody>
      </p:sp>
      <p:sp>
        <p:nvSpPr>
          <p:cNvPr id="7" name="Text 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Access Methods</a:t>
            </a:r>
            <a:endParaRPr lang="en-US" sz="2800" dirty="0"/>
          </a:p>
        </p:txBody>
      </p:sp>
      <p:sp>
        <p:nvSpPr>
          <p:cNvPr id="3" name="Text 1"/>
          <p:cNvSpPr txBox="1"/>
          <p:nvPr/>
        </p:nvSpPr>
        <p:spPr>
          <a:xfrm>
            <a:off x="640080" y="1234440"/>
            <a:ext cx="10881360" cy="822960"/>
          </a:xfrm>
          <a:prstGeom prst="rect">
            <a:avLst/>
          </a:prstGeom>
          <a:noFill/>
          <a:ln/>
        </p:spPr>
        <p:txBody>
          <a:bodyPr wrap="square" lIns="0" tIns="0" rIns="0" bIns="0" rtlCol="0" anchor="t"/>
          <a:lstStyle/>
          <a:p>
            <a:pPr indent="0" marL="0">
              <a:lnSpc>
                <a:spcPct val="120000"/>
              </a:lnSpc>
              <a:buNone/>
            </a:pPr>
            <a:r>
              <a:rPr lang="en-US" sz="1550" dirty="0">
                <a:solidFill>
                  <a:srgbClr val="1F2429"/>
                </a:solidFill>
                <a:latin typeface="Calibri" pitchFamily="34" charset="0"/>
                <a:ea typeface="Calibri" pitchFamily="34" charset="-122"/>
                <a:cs typeface="Calibri" pitchFamily="34" charset="-120"/>
              </a:rPr>
              <a:t>A file system also has to decide how a program is allowed to move through a file's data — and most systems support at least two distinct models.</a:t>
            </a:r>
            <a:endParaRPr lang="en-US" sz="1550" dirty="0"/>
          </a:p>
        </p:txBody>
      </p:sp>
      <p:sp>
        <p:nvSpPr>
          <p:cNvPr id="4" name="Shape 2"/>
          <p:cNvSpPr/>
          <p:nvPr/>
        </p:nvSpPr>
        <p:spPr>
          <a:xfrm>
            <a:off x="640080" y="2148840"/>
            <a:ext cx="5303520" cy="2011680"/>
          </a:xfrm>
          <a:prstGeom prst="roundRect">
            <a:avLst>
              <a:gd name="adj" fmla="val 3636"/>
            </a:avLst>
          </a:prstGeom>
          <a:solidFill>
            <a:srgbClr val="2FE6C4"/>
          </a:solidFill>
          <a:ln/>
        </p:spPr>
      </p:sp>
      <p:sp>
        <p:nvSpPr>
          <p:cNvPr id="5" name="Text 3"/>
          <p:cNvSpPr txBox="1"/>
          <p:nvPr/>
        </p:nvSpPr>
        <p:spPr>
          <a:xfrm>
            <a:off x="868680" y="2331720"/>
            <a:ext cx="4846320"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Sequential access</a:t>
            </a:r>
            <a:endParaRPr lang="en-US" sz="1500" dirty="0"/>
          </a:p>
        </p:txBody>
      </p:sp>
      <p:sp>
        <p:nvSpPr>
          <p:cNvPr id="6" name="Text 4"/>
          <p:cNvSpPr txBox="1"/>
          <p:nvPr/>
        </p:nvSpPr>
        <p:spPr>
          <a:xfrm>
            <a:off x="868680" y="2834640"/>
            <a:ext cx="4846320" cy="11430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Read (or write) records in order, one after another, exactly like reading a tape — the file's own traditional model</a:t>
            </a:r>
            <a:endParaRPr lang="en-US" sz="1150" dirty="0"/>
          </a:p>
        </p:txBody>
      </p:sp>
      <p:sp>
        <p:nvSpPr>
          <p:cNvPr id="7" name="Shape 5"/>
          <p:cNvSpPr/>
          <p:nvPr/>
        </p:nvSpPr>
        <p:spPr>
          <a:xfrm>
            <a:off x="6217920" y="2148840"/>
            <a:ext cx="5303520" cy="2011680"/>
          </a:xfrm>
          <a:prstGeom prst="roundRect">
            <a:avLst>
              <a:gd name="adj" fmla="val 3636"/>
            </a:avLst>
          </a:prstGeom>
          <a:solidFill>
            <a:srgbClr val="8B7FD9"/>
          </a:solidFill>
          <a:ln/>
        </p:spPr>
      </p:sp>
      <p:sp>
        <p:nvSpPr>
          <p:cNvPr id="8" name="Text 6"/>
          <p:cNvSpPr txBox="1"/>
          <p:nvPr/>
        </p:nvSpPr>
        <p:spPr>
          <a:xfrm>
            <a:off x="6446520" y="2331720"/>
            <a:ext cx="4846320"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Direct (random) access</a:t>
            </a:r>
            <a:endParaRPr lang="en-US" sz="1500" dirty="0"/>
          </a:p>
        </p:txBody>
      </p:sp>
      <p:sp>
        <p:nvSpPr>
          <p:cNvPr id="9" name="Text 7"/>
          <p:cNvSpPr txBox="1"/>
          <p:nvPr/>
        </p:nvSpPr>
        <p:spPr>
          <a:xfrm>
            <a:off x="6446520" y="2834640"/>
            <a:ext cx="4846320" cy="11430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Jump straight to any block of the file by its block number, with no need to pass through the blocks before it</a:t>
            </a:r>
            <a:endParaRPr lang="en-US" sz="1150" dirty="0"/>
          </a:p>
        </p:txBody>
      </p:sp>
      <p:sp>
        <p:nvSpPr>
          <p:cNvPr id="10" name="Text 8"/>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Sequential vs. Direct Access, in Practice</a:t>
            </a:r>
            <a:endParaRPr lang="en-US" sz="2800" dirty="0"/>
          </a:p>
        </p:txBody>
      </p:sp>
      <p:sp>
        <p:nvSpPr>
          <p:cNvPr id="3" name="Text 1"/>
          <p:cNvSpPr txBox="1"/>
          <p:nvPr/>
        </p:nvSpPr>
        <p:spPr>
          <a:xfrm>
            <a:off x="640080" y="1280160"/>
            <a:ext cx="10881360" cy="1983105"/>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Sequential access is the older, simpler model: each read picks up exactly where the previous one left off, and each write appends to the end — the same discipline a magnetic tape drive physically requires</a:t>
            </a:r>
            <a:endParaRPr lang="en-US" sz="1550" dirty="0"/>
          </a:p>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It works well for files naturally processed start-to-finish, like a log file or a video stream</a:t>
            </a:r>
            <a:endParaRPr lang="en-US" sz="1550" dirty="0"/>
          </a:p>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Direct access lets a program request block N of a file directly, without reading blocks 0 through N-1 first — essential for database-style usage, where an engine locates one specific record by its known block number rather than scanning every record before it</a:t>
            </a:r>
            <a:endParaRPr lang="en-US" sz="1550" dirty="0"/>
          </a:p>
        </p:txBody>
      </p:sp>
      <p:sp>
        <p:nvSpPr>
          <p:cNvPr id="4" name="Shape 2"/>
          <p:cNvSpPr/>
          <p:nvPr/>
        </p:nvSpPr>
        <p:spPr>
          <a:xfrm>
            <a:off x="640080" y="3491865"/>
            <a:ext cx="10881360" cy="1849120"/>
          </a:xfrm>
          <a:prstGeom prst="roundRect">
            <a:avLst>
              <a:gd name="adj" fmla="val 5934"/>
            </a:avLst>
          </a:prstGeom>
          <a:solidFill>
            <a:srgbClr val="14181C"/>
          </a:solidFill>
          <a:ln/>
          <a:effectLst>
            <a:outerShdw sx="100000" sy="100000" kx="0" ky="0" algn="bl" rotWithShape="0" blurRad="76200" dist="25400" dir="5400000">
              <a:srgbClr val="000000">
                <a:alpha val="25000"/>
              </a:srgbClr>
            </a:outerShdw>
          </a:effectLst>
        </p:spPr>
      </p:sp>
      <p:sp>
        <p:nvSpPr>
          <p:cNvPr id="5" name="Text 3"/>
          <p:cNvSpPr txBox="1"/>
          <p:nvPr/>
        </p:nvSpPr>
        <p:spPr>
          <a:xfrm>
            <a:off x="914400" y="3720465"/>
            <a:ext cx="10332720" cy="457200"/>
          </a:xfrm>
          <a:prstGeom prst="rect">
            <a:avLst/>
          </a:prstGeom>
          <a:noFill/>
          <a:ln/>
        </p:spPr>
        <p:txBody>
          <a:bodyPr wrap="square" lIns="0" tIns="0" rIns="0" bIns="0" rtlCol="0" anchor="t"/>
          <a:lstStyle/>
          <a:p>
            <a:pPr indent="0" marL="0">
              <a:buNone/>
            </a:pPr>
            <a:r>
              <a:rPr lang="en-US" sz="1600" b="1" dirty="0">
                <a:solidFill>
                  <a:srgbClr val="8B7FD9"/>
                </a:solidFill>
                <a:latin typeface="Calibri" pitchFamily="34" charset="0"/>
                <a:ea typeface="Calibri" pitchFamily="34" charset="-122"/>
                <a:cs typeface="Calibri" pitchFamily="34" charset="-120"/>
              </a:rPr>
              <a:t>Sequential access is still possible on a direct-access file</a:t>
            </a:r>
            <a:endParaRPr lang="en-US" sz="1600" dirty="0"/>
          </a:p>
        </p:txBody>
      </p:sp>
      <p:sp>
        <p:nvSpPr>
          <p:cNvPr id="6" name="Text 4"/>
          <p:cNvSpPr txBox="1"/>
          <p:nvPr/>
        </p:nvSpPr>
        <p:spPr>
          <a:xfrm>
            <a:off x="914400" y="4223385"/>
            <a:ext cx="10332720" cy="889000"/>
          </a:xfrm>
          <a:prstGeom prst="rect">
            <a:avLst/>
          </a:prstGeom>
          <a:noFill/>
          <a:ln/>
        </p:spPr>
        <p:txBody>
          <a:bodyPr wrap="square" lIns="0" tIns="0" rIns="0" bIns="0" rtlCol="0" anchor="t"/>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Supporting direct access does not take sequential access away — a file system built for direct access can always be read sequentially simply by requesting blocks 0, 1, 2, ... in order. The reverse is not true: a strictly sequential-access medium cannot efficiently jump to an arbitrary block, which is exactly why direct access is the harder capability to provide and the one that matters for database-style workloads.</a:t>
            </a:r>
            <a:endParaRPr lang="en-US" sz="1400" dirty="0"/>
          </a:p>
        </p:txBody>
      </p:sp>
      <p:sp>
        <p:nvSpPr>
          <p:cNvPr id="7" name="Text 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Directory Structure</a:t>
            </a:r>
            <a:endParaRPr lang="en-US" sz="2800" dirty="0"/>
          </a:p>
        </p:txBody>
      </p:sp>
      <p:sp>
        <p:nvSpPr>
          <p:cNvPr id="3" name="Text 1"/>
          <p:cNvSpPr txBox="1"/>
          <p:nvPr/>
        </p:nvSpPr>
        <p:spPr>
          <a:xfrm>
            <a:off x="640080" y="1188720"/>
            <a:ext cx="10881360" cy="777240"/>
          </a:xfrm>
          <a:prstGeom prst="rect">
            <a:avLst/>
          </a:prstGeom>
          <a:noFill/>
          <a:ln/>
        </p:spPr>
        <p:txBody>
          <a:bodyPr wrap="square" lIns="0" tIns="0" rIns="0" bIns="0" rtlCol="0" anchor="t"/>
          <a:lstStyle/>
          <a:p>
            <a:pPr indent="0" marL="0">
              <a:lnSpc>
                <a:spcPct val="120000"/>
              </a:lnSpc>
              <a:buNone/>
            </a:pPr>
            <a:r>
              <a:rPr lang="en-US" sz="1450" dirty="0">
                <a:solidFill>
                  <a:srgbClr val="1F2429"/>
                </a:solidFill>
                <a:latin typeface="Calibri" pitchFamily="34" charset="0"/>
                <a:ea typeface="Calibri" pitchFamily="34" charset="-122"/>
                <a:cs typeface="Calibri" pitchFamily="34" charset="-120"/>
              </a:rPr>
              <a:t>A file system needs a directory structure to organize many files in a way that keeps their names distinct and their organization sensible. This structure evolved in stages, each solving a problem the previous stage left unsolved.</a:t>
            </a:r>
            <a:endParaRPr lang="en-US" sz="1450" dirty="0"/>
          </a:p>
        </p:txBody>
      </p:sp>
      <p:sp>
        <p:nvSpPr>
          <p:cNvPr id="4" name="Shape 2"/>
          <p:cNvSpPr/>
          <p:nvPr/>
        </p:nvSpPr>
        <p:spPr>
          <a:xfrm>
            <a:off x="640080" y="2148840"/>
            <a:ext cx="3410712" cy="3566160"/>
          </a:xfrm>
          <a:prstGeom prst="roundRect">
            <a:avLst>
              <a:gd name="adj" fmla="val 2145"/>
            </a:avLst>
          </a:prstGeom>
          <a:solidFill>
            <a:srgbClr val="FFFFFF"/>
          </a:solidFill>
          <a:ln w="19050">
            <a:solidFill>
              <a:srgbClr val="2FE6C4"/>
            </a:solidFill>
            <a:prstDash val="solid"/>
          </a:ln>
        </p:spPr>
      </p:sp>
      <p:sp>
        <p:nvSpPr>
          <p:cNvPr id="5" name="Shape 3"/>
          <p:cNvSpPr/>
          <p:nvPr/>
        </p:nvSpPr>
        <p:spPr>
          <a:xfrm>
            <a:off x="841248" y="2331720"/>
            <a:ext cx="457200" cy="73152"/>
          </a:xfrm>
          <a:prstGeom prst="rect">
            <a:avLst/>
          </a:prstGeom>
          <a:solidFill>
            <a:srgbClr val="2FE6C4"/>
          </a:solidFill>
          <a:ln/>
        </p:spPr>
      </p:sp>
      <p:sp>
        <p:nvSpPr>
          <p:cNvPr id="6" name="Text 4"/>
          <p:cNvSpPr txBox="1"/>
          <p:nvPr/>
        </p:nvSpPr>
        <p:spPr>
          <a:xfrm>
            <a:off x="841248" y="2468880"/>
            <a:ext cx="3008376" cy="365760"/>
          </a:xfrm>
          <a:prstGeom prst="rect">
            <a:avLst/>
          </a:prstGeom>
          <a:noFill/>
          <a:ln/>
        </p:spPr>
        <p:txBody>
          <a:bodyPr wrap="square" lIns="0" tIns="0" rIns="0" bIns="0" rtlCol="0" anchor="t"/>
          <a:lstStyle/>
          <a:p>
            <a:pPr indent="0" marL="0">
              <a:buNone/>
            </a:pPr>
            <a:r>
              <a:rPr lang="en-US" sz="1500" b="1" dirty="0">
                <a:solidFill>
                  <a:srgbClr val="1F2429"/>
                </a:solidFill>
                <a:latin typeface="Calibri" pitchFamily="34" charset="0"/>
                <a:ea typeface="Calibri" pitchFamily="34" charset="-122"/>
                <a:cs typeface="Calibri" pitchFamily="34" charset="-120"/>
              </a:rPr>
              <a:t>Single-Level</a:t>
            </a:r>
            <a:endParaRPr lang="en-US" sz="1500" dirty="0"/>
          </a:p>
        </p:txBody>
      </p:sp>
      <p:sp>
        <p:nvSpPr>
          <p:cNvPr id="7" name="Shape 5"/>
          <p:cNvSpPr/>
          <p:nvPr/>
        </p:nvSpPr>
        <p:spPr>
          <a:xfrm>
            <a:off x="1911096" y="2971800"/>
            <a:ext cx="868680" cy="310896"/>
          </a:xfrm>
          <a:prstGeom prst="rect">
            <a:avLst/>
          </a:prstGeom>
          <a:solidFill>
            <a:srgbClr val="2FE6C4"/>
          </a:solidFill>
          <a:ln/>
        </p:spPr>
      </p:sp>
      <p:sp>
        <p:nvSpPr>
          <p:cNvPr id="8" name="Text 6"/>
          <p:cNvSpPr txBox="1"/>
          <p:nvPr/>
        </p:nvSpPr>
        <p:spPr>
          <a:xfrm>
            <a:off x="1911096" y="2971800"/>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root</a:t>
            </a:r>
            <a:endParaRPr lang="en-US" sz="850" dirty="0"/>
          </a:p>
        </p:txBody>
      </p:sp>
      <p:sp>
        <p:nvSpPr>
          <p:cNvPr id="9" name="Shape 7"/>
          <p:cNvSpPr/>
          <p:nvPr/>
        </p:nvSpPr>
        <p:spPr>
          <a:xfrm>
            <a:off x="1705356" y="3282696"/>
            <a:ext cx="640080" cy="466344"/>
          </a:xfrm>
          <a:prstGeom prst="line">
            <a:avLst/>
          </a:prstGeom>
          <a:noFill/>
          <a:ln w="12700">
            <a:solidFill>
              <a:srgbClr val="8A939B"/>
            </a:solidFill>
            <a:prstDash val="solid"/>
          </a:ln>
        </p:spPr>
      </p:sp>
      <p:sp>
        <p:nvSpPr>
          <p:cNvPr id="10" name="Shape 8"/>
          <p:cNvSpPr/>
          <p:nvPr/>
        </p:nvSpPr>
        <p:spPr>
          <a:xfrm>
            <a:off x="1467612" y="3749040"/>
            <a:ext cx="475488" cy="256032"/>
          </a:xfrm>
          <a:prstGeom prst="rect">
            <a:avLst/>
          </a:prstGeom>
          <a:solidFill>
            <a:srgbClr val="8A939B"/>
          </a:solidFill>
          <a:ln/>
        </p:spPr>
      </p:sp>
      <p:sp>
        <p:nvSpPr>
          <p:cNvPr id="11" name="Text 9"/>
          <p:cNvSpPr txBox="1"/>
          <p:nvPr/>
        </p:nvSpPr>
        <p:spPr>
          <a:xfrm>
            <a:off x="1467612" y="3749040"/>
            <a:ext cx="475488"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a.txt</a:t>
            </a:r>
            <a:endParaRPr lang="en-US" sz="700" dirty="0"/>
          </a:p>
        </p:txBody>
      </p:sp>
      <p:sp>
        <p:nvSpPr>
          <p:cNvPr id="12" name="Shape 10"/>
          <p:cNvSpPr/>
          <p:nvPr/>
        </p:nvSpPr>
        <p:spPr>
          <a:xfrm>
            <a:off x="2345436" y="3282696"/>
            <a:ext cx="0" cy="466344"/>
          </a:xfrm>
          <a:prstGeom prst="line">
            <a:avLst/>
          </a:prstGeom>
          <a:noFill/>
          <a:ln w="12700">
            <a:solidFill>
              <a:srgbClr val="8A939B"/>
            </a:solidFill>
            <a:prstDash val="solid"/>
          </a:ln>
        </p:spPr>
      </p:sp>
      <p:sp>
        <p:nvSpPr>
          <p:cNvPr id="13" name="Shape 11"/>
          <p:cNvSpPr/>
          <p:nvPr/>
        </p:nvSpPr>
        <p:spPr>
          <a:xfrm>
            <a:off x="2107692" y="3749040"/>
            <a:ext cx="475488" cy="256032"/>
          </a:xfrm>
          <a:prstGeom prst="rect">
            <a:avLst/>
          </a:prstGeom>
          <a:solidFill>
            <a:srgbClr val="8A939B"/>
          </a:solidFill>
          <a:ln/>
        </p:spPr>
      </p:sp>
      <p:sp>
        <p:nvSpPr>
          <p:cNvPr id="14" name="Text 12"/>
          <p:cNvSpPr txBox="1"/>
          <p:nvPr/>
        </p:nvSpPr>
        <p:spPr>
          <a:xfrm>
            <a:off x="2107692" y="3749040"/>
            <a:ext cx="475488"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b.txt</a:t>
            </a:r>
            <a:endParaRPr lang="en-US" sz="700" dirty="0"/>
          </a:p>
        </p:txBody>
      </p:sp>
      <p:sp>
        <p:nvSpPr>
          <p:cNvPr id="15" name="Shape 13"/>
          <p:cNvSpPr/>
          <p:nvPr/>
        </p:nvSpPr>
        <p:spPr>
          <a:xfrm>
            <a:off x="2345436" y="3282696"/>
            <a:ext cx="640080" cy="466344"/>
          </a:xfrm>
          <a:prstGeom prst="line">
            <a:avLst/>
          </a:prstGeom>
          <a:noFill/>
          <a:ln w="12700">
            <a:solidFill>
              <a:srgbClr val="8A939B"/>
            </a:solidFill>
            <a:prstDash val="solid"/>
          </a:ln>
        </p:spPr>
      </p:sp>
      <p:sp>
        <p:nvSpPr>
          <p:cNvPr id="16" name="Shape 14"/>
          <p:cNvSpPr/>
          <p:nvPr/>
        </p:nvSpPr>
        <p:spPr>
          <a:xfrm>
            <a:off x="2747772" y="3749040"/>
            <a:ext cx="475488" cy="256032"/>
          </a:xfrm>
          <a:prstGeom prst="rect">
            <a:avLst/>
          </a:prstGeom>
          <a:solidFill>
            <a:srgbClr val="8A939B"/>
          </a:solidFill>
          <a:ln/>
        </p:spPr>
      </p:sp>
      <p:sp>
        <p:nvSpPr>
          <p:cNvPr id="17" name="Text 15"/>
          <p:cNvSpPr txBox="1"/>
          <p:nvPr/>
        </p:nvSpPr>
        <p:spPr>
          <a:xfrm>
            <a:off x="2747772" y="3749040"/>
            <a:ext cx="475488"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c.txt</a:t>
            </a:r>
            <a:endParaRPr lang="en-US" sz="700" dirty="0"/>
          </a:p>
        </p:txBody>
      </p:sp>
      <p:sp>
        <p:nvSpPr>
          <p:cNvPr id="18" name="Text 16"/>
          <p:cNvSpPr txBox="1"/>
          <p:nvPr/>
        </p:nvSpPr>
        <p:spPr>
          <a:xfrm>
            <a:off x="841248" y="4846320"/>
            <a:ext cx="3008376" cy="777240"/>
          </a:xfrm>
          <a:prstGeom prst="rect">
            <a:avLst/>
          </a:prstGeom>
          <a:noFill/>
          <a:ln/>
        </p:spPr>
        <p:txBody>
          <a:bodyPr wrap="square" lIns="0" tIns="0" rIns="0" bIns="0" rtlCol="0" anchor="t"/>
          <a:lstStyle/>
          <a:p>
            <a:pPr indent="0" marL="0">
              <a:lnSpc>
                <a:spcPct val="115000"/>
              </a:lnSpc>
              <a:buNone/>
            </a:pPr>
            <a:r>
              <a:rPr lang="en-US" sz="1000" dirty="0">
                <a:solidFill>
                  <a:srgbClr val="8A939B"/>
                </a:solidFill>
                <a:latin typeface="Calibri" pitchFamily="34" charset="0"/>
                <a:ea typeface="Calibri" pitchFamily="34" charset="-122"/>
                <a:cs typeface="Calibri" pitchFamily="34" charset="-120"/>
              </a:rPr>
              <a:t>One directory for the entire disk — every file needs a globally unique name</a:t>
            </a:r>
            <a:endParaRPr lang="en-US" sz="1000" dirty="0"/>
          </a:p>
        </p:txBody>
      </p:sp>
      <p:sp>
        <p:nvSpPr>
          <p:cNvPr id="19" name="Shape 17"/>
          <p:cNvSpPr/>
          <p:nvPr/>
        </p:nvSpPr>
        <p:spPr>
          <a:xfrm>
            <a:off x="4288536" y="2148840"/>
            <a:ext cx="3410712" cy="3566160"/>
          </a:xfrm>
          <a:prstGeom prst="roundRect">
            <a:avLst>
              <a:gd name="adj" fmla="val 2145"/>
            </a:avLst>
          </a:prstGeom>
          <a:solidFill>
            <a:srgbClr val="FFFFFF"/>
          </a:solidFill>
          <a:ln w="19050">
            <a:solidFill>
              <a:srgbClr val="8B7FD9"/>
            </a:solidFill>
            <a:prstDash val="solid"/>
          </a:ln>
        </p:spPr>
      </p:sp>
      <p:sp>
        <p:nvSpPr>
          <p:cNvPr id="20" name="Shape 18"/>
          <p:cNvSpPr/>
          <p:nvPr/>
        </p:nvSpPr>
        <p:spPr>
          <a:xfrm>
            <a:off x="4489704" y="2331720"/>
            <a:ext cx="457200" cy="73152"/>
          </a:xfrm>
          <a:prstGeom prst="rect">
            <a:avLst/>
          </a:prstGeom>
          <a:solidFill>
            <a:srgbClr val="8B7FD9"/>
          </a:solidFill>
          <a:ln/>
        </p:spPr>
      </p:sp>
      <p:sp>
        <p:nvSpPr>
          <p:cNvPr id="21" name="Text 19"/>
          <p:cNvSpPr txBox="1"/>
          <p:nvPr/>
        </p:nvSpPr>
        <p:spPr>
          <a:xfrm>
            <a:off x="4489704" y="2468880"/>
            <a:ext cx="3008376" cy="365760"/>
          </a:xfrm>
          <a:prstGeom prst="rect">
            <a:avLst/>
          </a:prstGeom>
          <a:noFill/>
          <a:ln/>
        </p:spPr>
        <p:txBody>
          <a:bodyPr wrap="square" lIns="0" tIns="0" rIns="0" bIns="0" rtlCol="0" anchor="t"/>
          <a:lstStyle/>
          <a:p>
            <a:pPr indent="0" marL="0">
              <a:buNone/>
            </a:pPr>
            <a:r>
              <a:rPr lang="en-US" sz="1500" b="1" dirty="0">
                <a:solidFill>
                  <a:srgbClr val="1F2429"/>
                </a:solidFill>
                <a:latin typeface="Calibri" pitchFamily="34" charset="0"/>
                <a:ea typeface="Calibri" pitchFamily="34" charset="-122"/>
                <a:cs typeface="Calibri" pitchFamily="34" charset="-120"/>
              </a:rPr>
              <a:t>Two-Level</a:t>
            </a:r>
            <a:endParaRPr lang="en-US" sz="1500" dirty="0"/>
          </a:p>
        </p:txBody>
      </p:sp>
      <p:sp>
        <p:nvSpPr>
          <p:cNvPr id="22" name="Shape 20"/>
          <p:cNvSpPr/>
          <p:nvPr/>
        </p:nvSpPr>
        <p:spPr>
          <a:xfrm>
            <a:off x="5559552" y="2971800"/>
            <a:ext cx="868680" cy="310896"/>
          </a:xfrm>
          <a:prstGeom prst="rect">
            <a:avLst/>
          </a:prstGeom>
          <a:solidFill>
            <a:srgbClr val="8B7FD9"/>
          </a:solidFill>
          <a:ln/>
        </p:spPr>
      </p:sp>
      <p:sp>
        <p:nvSpPr>
          <p:cNvPr id="23" name="Text 21"/>
          <p:cNvSpPr txBox="1"/>
          <p:nvPr/>
        </p:nvSpPr>
        <p:spPr>
          <a:xfrm>
            <a:off x="5559552" y="2971800"/>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root</a:t>
            </a:r>
            <a:endParaRPr lang="en-US" sz="850" dirty="0"/>
          </a:p>
        </p:txBody>
      </p:sp>
      <p:sp>
        <p:nvSpPr>
          <p:cNvPr id="24" name="Shape 22"/>
          <p:cNvSpPr/>
          <p:nvPr/>
        </p:nvSpPr>
        <p:spPr>
          <a:xfrm>
            <a:off x="5151547" y="3282696"/>
            <a:ext cx="842345" cy="374904"/>
          </a:xfrm>
          <a:prstGeom prst="line">
            <a:avLst/>
          </a:prstGeom>
          <a:noFill/>
          <a:ln w="12700">
            <a:solidFill>
              <a:srgbClr val="8A939B"/>
            </a:solidFill>
            <a:prstDash val="solid"/>
          </a:ln>
        </p:spPr>
      </p:sp>
      <p:sp>
        <p:nvSpPr>
          <p:cNvPr id="25" name="Shape 23"/>
          <p:cNvSpPr/>
          <p:nvPr/>
        </p:nvSpPr>
        <p:spPr>
          <a:xfrm>
            <a:off x="5993892" y="3282696"/>
            <a:ext cx="842345" cy="374904"/>
          </a:xfrm>
          <a:prstGeom prst="line">
            <a:avLst/>
          </a:prstGeom>
          <a:noFill/>
          <a:ln w="12700">
            <a:solidFill>
              <a:srgbClr val="8A939B"/>
            </a:solidFill>
            <a:prstDash val="solid"/>
          </a:ln>
        </p:spPr>
      </p:sp>
      <p:sp>
        <p:nvSpPr>
          <p:cNvPr id="26" name="Shape 24"/>
          <p:cNvSpPr/>
          <p:nvPr/>
        </p:nvSpPr>
        <p:spPr>
          <a:xfrm>
            <a:off x="4762927" y="3657600"/>
            <a:ext cx="777240" cy="274320"/>
          </a:xfrm>
          <a:prstGeom prst="rect">
            <a:avLst/>
          </a:prstGeom>
          <a:solidFill>
            <a:srgbClr val="8B7FD9"/>
          </a:solidFill>
          <a:ln/>
        </p:spPr>
      </p:sp>
      <p:sp>
        <p:nvSpPr>
          <p:cNvPr id="27" name="Text 25"/>
          <p:cNvSpPr txBox="1"/>
          <p:nvPr/>
        </p:nvSpPr>
        <p:spPr>
          <a:xfrm>
            <a:off x="4762927" y="3657600"/>
            <a:ext cx="777240"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userA</a:t>
            </a:r>
            <a:endParaRPr lang="en-US" sz="750" dirty="0"/>
          </a:p>
        </p:txBody>
      </p:sp>
      <p:sp>
        <p:nvSpPr>
          <p:cNvPr id="28" name="Shape 26"/>
          <p:cNvSpPr/>
          <p:nvPr/>
        </p:nvSpPr>
        <p:spPr>
          <a:xfrm>
            <a:off x="6447617" y="3657600"/>
            <a:ext cx="777240" cy="274320"/>
          </a:xfrm>
          <a:prstGeom prst="rect">
            <a:avLst/>
          </a:prstGeom>
          <a:solidFill>
            <a:srgbClr val="8B7FD9"/>
          </a:solidFill>
          <a:ln/>
        </p:spPr>
      </p:sp>
      <p:sp>
        <p:nvSpPr>
          <p:cNvPr id="29" name="Text 27"/>
          <p:cNvSpPr txBox="1"/>
          <p:nvPr/>
        </p:nvSpPr>
        <p:spPr>
          <a:xfrm>
            <a:off x="6447617" y="3657600"/>
            <a:ext cx="777240"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userB</a:t>
            </a:r>
            <a:endParaRPr lang="en-US" sz="750" dirty="0"/>
          </a:p>
        </p:txBody>
      </p:sp>
      <p:sp>
        <p:nvSpPr>
          <p:cNvPr id="30" name="Shape 28"/>
          <p:cNvSpPr/>
          <p:nvPr/>
        </p:nvSpPr>
        <p:spPr>
          <a:xfrm>
            <a:off x="4868083" y="3931920"/>
            <a:ext cx="283464" cy="292608"/>
          </a:xfrm>
          <a:prstGeom prst="line">
            <a:avLst/>
          </a:prstGeom>
          <a:noFill/>
          <a:ln w="12700">
            <a:solidFill>
              <a:srgbClr val="8A939B"/>
            </a:solidFill>
            <a:prstDash val="solid"/>
          </a:ln>
        </p:spPr>
      </p:sp>
      <p:sp>
        <p:nvSpPr>
          <p:cNvPr id="31" name="Shape 29"/>
          <p:cNvSpPr/>
          <p:nvPr/>
        </p:nvSpPr>
        <p:spPr>
          <a:xfrm>
            <a:off x="4657771" y="4224528"/>
            <a:ext cx="420624" cy="228600"/>
          </a:xfrm>
          <a:prstGeom prst="rect">
            <a:avLst/>
          </a:prstGeom>
          <a:solidFill>
            <a:srgbClr val="8A939B"/>
          </a:solidFill>
          <a:ln/>
        </p:spPr>
      </p:sp>
      <p:sp>
        <p:nvSpPr>
          <p:cNvPr id="32" name="Text 30"/>
          <p:cNvSpPr txBox="1"/>
          <p:nvPr/>
        </p:nvSpPr>
        <p:spPr>
          <a:xfrm>
            <a:off x="4657771" y="4224528"/>
            <a:ext cx="420624" cy="22860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x.txt</a:t>
            </a:r>
            <a:endParaRPr lang="en-US" sz="650" dirty="0"/>
          </a:p>
        </p:txBody>
      </p:sp>
      <p:sp>
        <p:nvSpPr>
          <p:cNvPr id="33" name="Shape 31"/>
          <p:cNvSpPr/>
          <p:nvPr/>
        </p:nvSpPr>
        <p:spPr>
          <a:xfrm>
            <a:off x="5151547" y="3931920"/>
            <a:ext cx="283464" cy="292608"/>
          </a:xfrm>
          <a:prstGeom prst="line">
            <a:avLst/>
          </a:prstGeom>
          <a:noFill/>
          <a:ln w="12700">
            <a:solidFill>
              <a:srgbClr val="8A939B"/>
            </a:solidFill>
            <a:prstDash val="solid"/>
          </a:ln>
        </p:spPr>
      </p:sp>
      <p:sp>
        <p:nvSpPr>
          <p:cNvPr id="34" name="Shape 32"/>
          <p:cNvSpPr/>
          <p:nvPr/>
        </p:nvSpPr>
        <p:spPr>
          <a:xfrm>
            <a:off x="5224699" y="4224528"/>
            <a:ext cx="420624" cy="228600"/>
          </a:xfrm>
          <a:prstGeom prst="rect">
            <a:avLst/>
          </a:prstGeom>
          <a:solidFill>
            <a:srgbClr val="8A939B"/>
          </a:solidFill>
          <a:ln/>
        </p:spPr>
      </p:sp>
      <p:sp>
        <p:nvSpPr>
          <p:cNvPr id="35" name="Text 33"/>
          <p:cNvSpPr txBox="1"/>
          <p:nvPr/>
        </p:nvSpPr>
        <p:spPr>
          <a:xfrm>
            <a:off x="5224699" y="4224528"/>
            <a:ext cx="420624" cy="22860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y.txt</a:t>
            </a:r>
            <a:endParaRPr lang="en-US" sz="650" dirty="0"/>
          </a:p>
        </p:txBody>
      </p:sp>
      <p:sp>
        <p:nvSpPr>
          <p:cNvPr id="36" name="Shape 34"/>
          <p:cNvSpPr/>
          <p:nvPr/>
        </p:nvSpPr>
        <p:spPr>
          <a:xfrm>
            <a:off x="6552773" y="3931920"/>
            <a:ext cx="283464" cy="292608"/>
          </a:xfrm>
          <a:prstGeom prst="line">
            <a:avLst/>
          </a:prstGeom>
          <a:noFill/>
          <a:ln w="12700">
            <a:solidFill>
              <a:srgbClr val="8A939B"/>
            </a:solidFill>
            <a:prstDash val="solid"/>
          </a:ln>
        </p:spPr>
      </p:sp>
      <p:sp>
        <p:nvSpPr>
          <p:cNvPr id="37" name="Shape 35"/>
          <p:cNvSpPr/>
          <p:nvPr/>
        </p:nvSpPr>
        <p:spPr>
          <a:xfrm>
            <a:off x="6342461" y="4224528"/>
            <a:ext cx="420624" cy="228600"/>
          </a:xfrm>
          <a:prstGeom prst="rect">
            <a:avLst/>
          </a:prstGeom>
          <a:solidFill>
            <a:srgbClr val="8A939B"/>
          </a:solidFill>
          <a:ln/>
        </p:spPr>
      </p:sp>
      <p:sp>
        <p:nvSpPr>
          <p:cNvPr id="38" name="Text 36"/>
          <p:cNvSpPr txBox="1"/>
          <p:nvPr/>
        </p:nvSpPr>
        <p:spPr>
          <a:xfrm>
            <a:off x="6342461" y="4224528"/>
            <a:ext cx="420624" cy="22860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x.txt</a:t>
            </a:r>
            <a:endParaRPr lang="en-US" sz="650" dirty="0"/>
          </a:p>
        </p:txBody>
      </p:sp>
      <p:sp>
        <p:nvSpPr>
          <p:cNvPr id="39" name="Shape 37"/>
          <p:cNvSpPr/>
          <p:nvPr/>
        </p:nvSpPr>
        <p:spPr>
          <a:xfrm>
            <a:off x="6836237" y="3931920"/>
            <a:ext cx="283464" cy="292608"/>
          </a:xfrm>
          <a:prstGeom prst="line">
            <a:avLst/>
          </a:prstGeom>
          <a:noFill/>
          <a:ln w="12700">
            <a:solidFill>
              <a:srgbClr val="8A939B"/>
            </a:solidFill>
            <a:prstDash val="solid"/>
          </a:ln>
        </p:spPr>
      </p:sp>
      <p:sp>
        <p:nvSpPr>
          <p:cNvPr id="40" name="Shape 38"/>
          <p:cNvSpPr/>
          <p:nvPr/>
        </p:nvSpPr>
        <p:spPr>
          <a:xfrm>
            <a:off x="6909389" y="4224528"/>
            <a:ext cx="420624" cy="228600"/>
          </a:xfrm>
          <a:prstGeom prst="rect">
            <a:avLst/>
          </a:prstGeom>
          <a:solidFill>
            <a:srgbClr val="8A939B"/>
          </a:solidFill>
          <a:ln/>
        </p:spPr>
      </p:sp>
      <p:sp>
        <p:nvSpPr>
          <p:cNvPr id="41" name="Text 39"/>
          <p:cNvSpPr txBox="1"/>
          <p:nvPr/>
        </p:nvSpPr>
        <p:spPr>
          <a:xfrm>
            <a:off x="6909389" y="4224528"/>
            <a:ext cx="420624" cy="228600"/>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y.txt</a:t>
            </a:r>
            <a:endParaRPr lang="en-US" sz="650" dirty="0"/>
          </a:p>
        </p:txBody>
      </p:sp>
      <p:sp>
        <p:nvSpPr>
          <p:cNvPr id="42" name="Text 40"/>
          <p:cNvSpPr txBox="1"/>
          <p:nvPr/>
        </p:nvSpPr>
        <p:spPr>
          <a:xfrm>
            <a:off x="4489704" y="4846320"/>
            <a:ext cx="3008376" cy="777240"/>
          </a:xfrm>
          <a:prstGeom prst="rect">
            <a:avLst/>
          </a:prstGeom>
          <a:noFill/>
          <a:ln/>
        </p:spPr>
        <p:txBody>
          <a:bodyPr wrap="square" lIns="0" tIns="0" rIns="0" bIns="0" rtlCol="0" anchor="t"/>
          <a:lstStyle/>
          <a:p>
            <a:pPr indent="0" marL="0">
              <a:lnSpc>
                <a:spcPct val="115000"/>
              </a:lnSpc>
              <a:buNone/>
            </a:pPr>
            <a:r>
              <a:rPr lang="en-US" sz="1000" dirty="0">
                <a:solidFill>
                  <a:srgbClr val="8A939B"/>
                </a:solidFill>
                <a:latin typeface="Calibri" pitchFamily="34" charset="0"/>
                <a:ea typeface="Calibri" pitchFamily="34" charset="-122"/>
                <a:cs typeface="Calibri" pitchFamily="34" charset="-120"/>
              </a:rPr>
              <a:t>One directory per user — solves naming conflicts between users, not within one user's files</a:t>
            </a:r>
            <a:endParaRPr lang="en-US" sz="1000" dirty="0"/>
          </a:p>
        </p:txBody>
      </p:sp>
      <p:sp>
        <p:nvSpPr>
          <p:cNvPr id="43" name="Shape 41"/>
          <p:cNvSpPr/>
          <p:nvPr/>
        </p:nvSpPr>
        <p:spPr>
          <a:xfrm>
            <a:off x="7936992" y="2148840"/>
            <a:ext cx="3410712" cy="3566160"/>
          </a:xfrm>
          <a:prstGeom prst="roundRect">
            <a:avLst>
              <a:gd name="adj" fmla="val 2145"/>
            </a:avLst>
          </a:prstGeom>
          <a:solidFill>
            <a:srgbClr val="FFFFFF"/>
          </a:solidFill>
          <a:ln w="19050">
            <a:solidFill>
              <a:srgbClr val="E8A33D"/>
            </a:solidFill>
            <a:prstDash val="solid"/>
          </a:ln>
        </p:spPr>
      </p:sp>
      <p:sp>
        <p:nvSpPr>
          <p:cNvPr id="44" name="Shape 42"/>
          <p:cNvSpPr/>
          <p:nvPr/>
        </p:nvSpPr>
        <p:spPr>
          <a:xfrm>
            <a:off x="8138160" y="2331720"/>
            <a:ext cx="457200" cy="73152"/>
          </a:xfrm>
          <a:prstGeom prst="rect">
            <a:avLst/>
          </a:prstGeom>
          <a:solidFill>
            <a:srgbClr val="E8A33D"/>
          </a:solidFill>
          <a:ln/>
        </p:spPr>
      </p:sp>
      <p:sp>
        <p:nvSpPr>
          <p:cNvPr id="45" name="Text 43"/>
          <p:cNvSpPr txBox="1"/>
          <p:nvPr/>
        </p:nvSpPr>
        <p:spPr>
          <a:xfrm>
            <a:off x="8138160" y="2468880"/>
            <a:ext cx="3008376" cy="365760"/>
          </a:xfrm>
          <a:prstGeom prst="rect">
            <a:avLst/>
          </a:prstGeom>
          <a:noFill/>
          <a:ln/>
        </p:spPr>
        <p:txBody>
          <a:bodyPr wrap="square" lIns="0" tIns="0" rIns="0" bIns="0" rtlCol="0" anchor="t"/>
          <a:lstStyle/>
          <a:p>
            <a:pPr indent="0" marL="0">
              <a:buNone/>
            </a:pPr>
            <a:r>
              <a:rPr lang="en-US" sz="1500" b="1" dirty="0">
                <a:solidFill>
                  <a:srgbClr val="1F2429"/>
                </a:solidFill>
                <a:latin typeface="Calibri" pitchFamily="34" charset="0"/>
                <a:ea typeface="Calibri" pitchFamily="34" charset="-122"/>
                <a:cs typeface="Calibri" pitchFamily="34" charset="-120"/>
              </a:rPr>
              <a:t>Tree-Structured</a:t>
            </a:r>
            <a:endParaRPr lang="en-US" sz="1500" dirty="0"/>
          </a:p>
        </p:txBody>
      </p:sp>
      <p:sp>
        <p:nvSpPr>
          <p:cNvPr id="46" name="Shape 44"/>
          <p:cNvSpPr/>
          <p:nvPr/>
        </p:nvSpPr>
        <p:spPr>
          <a:xfrm>
            <a:off x="9208008" y="2971800"/>
            <a:ext cx="868680" cy="310896"/>
          </a:xfrm>
          <a:prstGeom prst="rect">
            <a:avLst/>
          </a:prstGeom>
          <a:solidFill>
            <a:srgbClr val="E8A33D"/>
          </a:solidFill>
          <a:ln/>
        </p:spPr>
      </p:sp>
      <p:sp>
        <p:nvSpPr>
          <p:cNvPr id="47" name="Text 45"/>
          <p:cNvSpPr txBox="1"/>
          <p:nvPr/>
        </p:nvSpPr>
        <p:spPr>
          <a:xfrm>
            <a:off x="9208008" y="2971800"/>
            <a:ext cx="868680"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root</a:t>
            </a:r>
            <a:endParaRPr lang="en-US" sz="850" dirty="0"/>
          </a:p>
        </p:txBody>
      </p:sp>
      <p:sp>
        <p:nvSpPr>
          <p:cNvPr id="48" name="Shape 46"/>
          <p:cNvSpPr/>
          <p:nvPr/>
        </p:nvSpPr>
        <p:spPr>
          <a:xfrm>
            <a:off x="8920338" y="3282696"/>
            <a:ext cx="722010" cy="347472"/>
          </a:xfrm>
          <a:prstGeom prst="line">
            <a:avLst/>
          </a:prstGeom>
          <a:noFill/>
          <a:ln w="12700">
            <a:solidFill>
              <a:srgbClr val="8A939B"/>
            </a:solidFill>
            <a:prstDash val="solid"/>
          </a:ln>
        </p:spPr>
      </p:sp>
      <p:sp>
        <p:nvSpPr>
          <p:cNvPr id="49" name="Shape 47"/>
          <p:cNvSpPr/>
          <p:nvPr/>
        </p:nvSpPr>
        <p:spPr>
          <a:xfrm>
            <a:off x="9642348" y="3282696"/>
            <a:ext cx="782178" cy="347472"/>
          </a:xfrm>
          <a:prstGeom prst="line">
            <a:avLst/>
          </a:prstGeom>
          <a:noFill/>
          <a:ln w="12700">
            <a:solidFill>
              <a:srgbClr val="8A939B"/>
            </a:solidFill>
            <a:prstDash val="solid"/>
          </a:ln>
        </p:spPr>
      </p:sp>
      <p:sp>
        <p:nvSpPr>
          <p:cNvPr id="50" name="Shape 48"/>
          <p:cNvSpPr/>
          <p:nvPr/>
        </p:nvSpPr>
        <p:spPr>
          <a:xfrm>
            <a:off x="8563722" y="3630168"/>
            <a:ext cx="713232" cy="274320"/>
          </a:xfrm>
          <a:prstGeom prst="rect">
            <a:avLst/>
          </a:prstGeom>
          <a:solidFill>
            <a:srgbClr val="E8A33D"/>
          </a:solidFill>
          <a:ln/>
        </p:spPr>
      </p:sp>
      <p:sp>
        <p:nvSpPr>
          <p:cNvPr id="51" name="Text 49"/>
          <p:cNvSpPr txBox="1"/>
          <p:nvPr/>
        </p:nvSpPr>
        <p:spPr>
          <a:xfrm>
            <a:off x="8563722" y="3630168"/>
            <a:ext cx="713232"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notes</a:t>
            </a:r>
            <a:endParaRPr lang="en-US" sz="750" dirty="0"/>
          </a:p>
        </p:txBody>
      </p:sp>
      <p:sp>
        <p:nvSpPr>
          <p:cNvPr id="52" name="Shape 50"/>
          <p:cNvSpPr/>
          <p:nvPr/>
        </p:nvSpPr>
        <p:spPr>
          <a:xfrm>
            <a:off x="10067910" y="3630168"/>
            <a:ext cx="713232" cy="274320"/>
          </a:xfrm>
          <a:prstGeom prst="rect">
            <a:avLst/>
          </a:prstGeom>
          <a:solidFill>
            <a:srgbClr val="E8A33D"/>
          </a:solidFill>
          <a:ln/>
        </p:spPr>
      </p:sp>
      <p:sp>
        <p:nvSpPr>
          <p:cNvPr id="53" name="Text 51"/>
          <p:cNvSpPr txBox="1"/>
          <p:nvPr/>
        </p:nvSpPr>
        <p:spPr>
          <a:xfrm>
            <a:off x="10067910" y="3630168"/>
            <a:ext cx="713232" cy="27432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photos</a:t>
            </a:r>
            <a:endParaRPr lang="en-US" sz="750" dirty="0"/>
          </a:p>
        </p:txBody>
      </p:sp>
      <p:sp>
        <p:nvSpPr>
          <p:cNvPr id="54" name="Shape 52"/>
          <p:cNvSpPr/>
          <p:nvPr/>
        </p:nvSpPr>
        <p:spPr>
          <a:xfrm>
            <a:off x="8646018" y="3904488"/>
            <a:ext cx="274320" cy="274320"/>
          </a:xfrm>
          <a:prstGeom prst="line">
            <a:avLst/>
          </a:prstGeom>
          <a:noFill/>
          <a:ln w="12700">
            <a:solidFill>
              <a:srgbClr val="8A939B"/>
            </a:solidFill>
            <a:prstDash val="solid"/>
          </a:ln>
        </p:spPr>
      </p:sp>
      <p:sp>
        <p:nvSpPr>
          <p:cNvPr id="55" name="Shape 53"/>
          <p:cNvSpPr/>
          <p:nvPr/>
        </p:nvSpPr>
        <p:spPr>
          <a:xfrm>
            <a:off x="8316834" y="4178808"/>
            <a:ext cx="658368" cy="246888"/>
          </a:xfrm>
          <a:prstGeom prst="rect">
            <a:avLst/>
          </a:prstGeom>
          <a:solidFill>
            <a:srgbClr val="E8A33D"/>
          </a:solidFill>
          <a:ln/>
        </p:spPr>
      </p:sp>
      <p:sp>
        <p:nvSpPr>
          <p:cNvPr id="56" name="Text 54"/>
          <p:cNvSpPr txBox="1"/>
          <p:nvPr/>
        </p:nvSpPr>
        <p:spPr>
          <a:xfrm>
            <a:off x="8316834" y="4178808"/>
            <a:ext cx="658368" cy="246888"/>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week3</a:t>
            </a:r>
            <a:endParaRPr lang="en-US" sz="700" dirty="0"/>
          </a:p>
        </p:txBody>
      </p:sp>
      <p:sp>
        <p:nvSpPr>
          <p:cNvPr id="57" name="Shape 55"/>
          <p:cNvSpPr/>
          <p:nvPr/>
        </p:nvSpPr>
        <p:spPr>
          <a:xfrm>
            <a:off x="8646018" y="4425696"/>
            <a:ext cx="9144" cy="228600"/>
          </a:xfrm>
          <a:prstGeom prst="line">
            <a:avLst/>
          </a:prstGeom>
          <a:noFill/>
          <a:ln w="12700">
            <a:solidFill>
              <a:srgbClr val="8A939B"/>
            </a:solidFill>
            <a:prstDash val="solid"/>
          </a:ln>
        </p:spPr>
      </p:sp>
      <p:sp>
        <p:nvSpPr>
          <p:cNvPr id="58" name="Shape 56"/>
          <p:cNvSpPr/>
          <p:nvPr/>
        </p:nvSpPr>
        <p:spPr>
          <a:xfrm>
            <a:off x="8453994" y="4654296"/>
            <a:ext cx="384048" cy="210312"/>
          </a:xfrm>
          <a:prstGeom prst="rect">
            <a:avLst/>
          </a:prstGeom>
          <a:solidFill>
            <a:srgbClr val="8A939B"/>
          </a:solidFill>
          <a:ln/>
        </p:spPr>
      </p:sp>
      <p:sp>
        <p:nvSpPr>
          <p:cNvPr id="59" name="Text 57"/>
          <p:cNvSpPr txBox="1"/>
          <p:nvPr/>
        </p:nvSpPr>
        <p:spPr>
          <a:xfrm>
            <a:off x="8453994" y="4654296"/>
            <a:ext cx="384048" cy="210312"/>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hw.md</a:t>
            </a:r>
            <a:endParaRPr lang="en-US" sz="600" dirty="0"/>
          </a:p>
        </p:txBody>
      </p:sp>
      <p:sp>
        <p:nvSpPr>
          <p:cNvPr id="60" name="Shape 58"/>
          <p:cNvSpPr/>
          <p:nvPr/>
        </p:nvSpPr>
        <p:spPr>
          <a:xfrm>
            <a:off x="10232502" y="3904488"/>
            <a:ext cx="192024" cy="749808"/>
          </a:xfrm>
          <a:prstGeom prst="line">
            <a:avLst/>
          </a:prstGeom>
          <a:noFill/>
          <a:ln w="12700">
            <a:solidFill>
              <a:srgbClr val="8A939B"/>
            </a:solidFill>
            <a:prstDash val="solid"/>
          </a:ln>
        </p:spPr>
      </p:sp>
      <p:sp>
        <p:nvSpPr>
          <p:cNvPr id="61" name="Shape 59"/>
          <p:cNvSpPr/>
          <p:nvPr/>
        </p:nvSpPr>
        <p:spPr>
          <a:xfrm>
            <a:off x="10232502" y="4654296"/>
            <a:ext cx="384048" cy="210312"/>
          </a:xfrm>
          <a:prstGeom prst="rect">
            <a:avLst/>
          </a:prstGeom>
          <a:solidFill>
            <a:srgbClr val="8A939B"/>
          </a:solidFill>
          <a:ln/>
        </p:spPr>
      </p:sp>
      <p:sp>
        <p:nvSpPr>
          <p:cNvPr id="62" name="Text 60"/>
          <p:cNvSpPr txBox="1"/>
          <p:nvPr/>
        </p:nvSpPr>
        <p:spPr>
          <a:xfrm>
            <a:off x="10232502" y="4654296"/>
            <a:ext cx="384048" cy="210312"/>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img.jpg</a:t>
            </a:r>
            <a:endParaRPr lang="en-US" sz="600" dirty="0"/>
          </a:p>
        </p:txBody>
      </p:sp>
      <p:sp>
        <p:nvSpPr>
          <p:cNvPr id="63" name="Text 61"/>
          <p:cNvSpPr txBox="1"/>
          <p:nvPr/>
        </p:nvSpPr>
        <p:spPr>
          <a:xfrm>
            <a:off x="8138160" y="4846320"/>
            <a:ext cx="3008376" cy="777240"/>
          </a:xfrm>
          <a:prstGeom prst="rect">
            <a:avLst/>
          </a:prstGeom>
          <a:noFill/>
          <a:ln/>
        </p:spPr>
        <p:txBody>
          <a:bodyPr wrap="square" lIns="0" tIns="0" rIns="0" bIns="0" rtlCol="0" anchor="t"/>
          <a:lstStyle/>
          <a:p>
            <a:pPr indent="0" marL="0">
              <a:lnSpc>
                <a:spcPct val="115000"/>
              </a:lnSpc>
              <a:buNone/>
            </a:pPr>
            <a:r>
              <a:rPr lang="en-US" sz="1000" dirty="0">
                <a:solidFill>
                  <a:srgbClr val="8A939B"/>
                </a:solidFill>
                <a:latin typeface="Calibri" pitchFamily="34" charset="0"/>
                <a:ea typeface="Calibri" pitchFamily="34" charset="-122"/>
                <a:cs typeface="Calibri" pitchFamily="34" charset="-120"/>
              </a:rPr>
              <a:t>Directories nest to any depth — files named by a full path; the structure almost every file system uses today</a:t>
            </a:r>
            <a:endParaRPr lang="en-US" sz="1000" dirty="0"/>
          </a:p>
        </p:txBody>
      </p:sp>
      <p:sp>
        <p:nvSpPr>
          <p:cNvPr id="64" name="Text 62"/>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Single-Level and Two-Level Directories</a:t>
            </a:r>
            <a:endParaRPr lang="en-US" sz="2800" dirty="0"/>
          </a:p>
        </p:txBody>
      </p:sp>
      <p:sp>
        <p:nvSpPr>
          <p:cNvPr id="3" name="Text 1"/>
          <p:cNvSpPr txBox="1"/>
          <p:nvPr/>
        </p:nvSpPr>
        <p:spPr>
          <a:xfrm>
            <a:off x="640080" y="1234440"/>
            <a:ext cx="10881360" cy="489204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Single-level: the simplest possible scheme — one directory holds every file on the entire system, for every user</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Trivial to implement, but does not scale past a single user: every file name must be unique across the entire disk, so two users each wanting notes.txt means one of them loses</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There is also no way to group related files together; everything lives in one flat, undifferentiated list</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Two-level: the next step gives each user their own directory, with one master directory mapping user names to their individual directories</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This fixes the cross-user naming conflict — two users can each have their own notes.txt, since a file's full identity is now (user, filename), not just filename</a:t>
            </a:r>
            <a:endParaRPr lang="en-US" sz="1500" dirty="0"/>
          </a:p>
          <a:p>
            <a:pPr marL="342900" indent="-342900">
              <a:lnSpc>
                <a:spcPct val="115000"/>
              </a:lnSpc>
              <a:spcAft>
                <a:spcPts val="1400"/>
              </a:spcAft>
              <a:buSzPct val="100000"/>
              <a:buChar char="•"/>
            </a:pPr>
            <a:r>
              <a:rPr lang="en-US" sz="1500" dirty="0">
                <a:solidFill>
                  <a:srgbClr val="1F2429"/>
                </a:solidFill>
                <a:latin typeface="Calibri" pitchFamily="34" charset="0"/>
                <a:ea typeface="Calibri" pitchFamily="34" charset="-122"/>
                <a:cs typeface="Calibri" pitchFamily="34" charset="-120"/>
              </a:rPr>
              <a:t>What it does not fix: organization within one user's own files — a user with hundreds of files is still stuck with one flat list</a:t>
            </a:r>
            <a:endParaRPr lang="en-US" sz="1500" dirty="0"/>
          </a:p>
        </p:txBody>
      </p:sp>
      <p:sp>
        <p:nvSpPr>
          <p:cNvPr id="4" name="Text 2"/>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Tree-Structured Directory</a:t>
            </a:r>
            <a:endParaRPr lang="en-US" sz="2800" dirty="0"/>
          </a:p>
        </p:txBody>
      </p:sp>
      <p:sp>
        <p:nvSpPr>
          <p:cNvPr id="3" name="Text 1"/>
          <p:cNvSpPr txBox="1"/>
          <p:nvPr/>
        </p:nvSpPr>
        <p:spPr>
          <a:xfrm>
            <a:off x="640080" y="1280160"/>
            <a:ext cx="10881360" cy="261366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The structure virtually every file system uses today: directories can contain other directories, to any depth, forming a tree</a:t>
            </a:r>
            <a:endParaRPr lang="en-US" sz="1550" dirty="0"/>
          </a:p>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A file (or directory) is identified by a path — the sequence of directory names leading from some starting point down to it</a:t>
            </a:r>
            <a:endParaRPr lang="en-US" sz="1550" dirty="0"/>
          </a:p>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Every process maintains a current directory, which lets a relative path (notes/week3.txt) stand in for the full absolute path (/home/amina/notes/week3.txt)</a:t>
            </a:r>
            <a:endParaRPr lang="en-US" sz="1550" dirty="0"/>
          </a:p>
          <a:p>
            <a:pPr marL="342900" indent="-342900">
              <a:lnSpc>
                <a:spcPct val="115000"/>
              </a:lnSpc>
              <a:spcAft>
                <a:spcPts val="1400"/>
              </a:spcAft>
              <a:buSzPct val="100000"/>
              <a:buChar char="•"/>
            </a:pPr>
            <a:r>
              <a:rPr lang="en-US" sz="1550" dirty="0">
                <a:solidFill>
                  <a:srgbClr val="1F2429"/>
                </a:solidFill>
                <a:latin typeface="Calibri" pitchFamily="34" charset="0"/>
                <a:ea typeface="Calibri" pitchFamily="34" charset="-122"/>
                <a:cs typeface="Calibri" pitchFamily="34" charset="-120"/>
              </a:rPr>
              <a:t>This solves both earlier problems at once: two files can share a name in different directories anywhere in the tree, and a user can organize files into as many nested groupings as they like</a:t>
            </a:r>
            <a:endParaRPr lang="en-US" sz="1550" dirty="0"/>
          </a:p>
        </p:txBody>
      </p:sp>
      <p:sp>
        <p:nvSpPr>
          <p:cNvPr id="4" name="Shape 2"/>
          <p:cNvSpPr/>
          <p:nvPr/>
        </p:nvSpPr>
        <p:spPr>
          <a:xfrm>
            <a:off x="640080" y="4122420"/>
            <a:ext cx="10881360" cy="1849120"/>
          </a:xfrm>
          <a:prstGeom prst="roundRect">
            <a:avLst>
              <a:gd name="adj" fmla="val 5934"/>
            </a:avLst>
          </a:prstGeom>
          <a:solidFill>
            <a:srgbClr val="14181C"/>
          </a:solidFill>
          <a:ln/>
          <a:effectLst>
            <a:outerShdw sx="100000" sy="100000" kx="0" ky="0" algn="bl" rotWithShape="0" blurRad="76200" dist="25400" dir="5400000">
              <a:srgbClr val="000000">
                <a:alpha val="25000"/>
              </a:srgbClr>
            </a:outerShdw>
          </a:effectLst>
        </p:spPr>
      </p:sp>
      <p:sp>
        <p:nvSpPr>
          <p:cNvPr id="5" name="Text 3"/>
          <p:cNvSpPr txBox="1"/>
          <p:nvPr/>
        </p:nvSpPr>
        <p:spPr>
          <a:xfrm>
            <a:off x="914400" y="4351020"/>
            <a:ext cx="10332720" cy="457200"/>
          </a:xfrm>
          <a:prstGeom prst="rect">
            <a:avLst/>
          </a:prstGeom>
          <a:noFill/>
          <a:ln/>
        </p:spPr>
        <p:txBody>
          <a:bodyPr wrap="square" lIns="0" tIns="0" rIns="0" bIns="0" rtlCol="0" anchor="t"/>
          <a:lstStyle/>
          <a:p>
            <a:pPr indent="0" marL="0">
              <a:buNone/>
            </a:pPr>
            <a:r>
              <a:rPr lang="en-US" sz="1600" b="1" dirty="0">
                <a:solidFill>
                  <a:srgbClr val="E8A33D"/>
                </a:solidFill>
                <a:latin typeface="Calibri" pitchFamily="34" charset="0"/>
                <a:ea typeface="Calibri" pitchFamily="34" charset="-122"/>
                <a:cs typeface="Calibri" pitchFamily="34" charset="-120"/>
              </a:rPr>
              <a:t>Tree-structured directories still need a deletion policy</a:t>
            </a:r>
            <a:endParaRPr lang="en-US" sz="1600" dirty="0"/>
          </a:p>
        </p:txBody>
      </p:sp>
      <p:sp>
        <p:nvSpPr>
          <p:cNvPr id="6" name="Text 4"/>
          <p:cNvSpPr txBox="1"/>
          <p:nvPr/>
        </p:nvSpPr>
        <p:spPr>
          <a:xfrm>
            <a:off x="914400" y="4853940"/>
            <a:ext cx="10332720" cy="889000"/>
          </a:xfrm>
          <a:prstGeom prst="rect">
            <a:avLst/>
          </a:prstGeom>
          <a:noFill/>
          <a:ln/>
        </p:spPr>
        <p:txBody>
          <a:bodyPr wrap="square" lIns="0" tIns="0" rIns="0" bIns="0" rtlCol="0" anchor="t"/>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Deleting a directory that still contains files (or sub-directories) raises a choice every tree-structured file system has to make explicitly: refuse the deletion until the directory is empty, or recursively delete everything beneath it. Getting this wrong — silently deleting an entire subtree a user expected to be protected — causes real, unrecoverable data loss.</a:t>
            </a:r>
            <a:endParaRPr lang="en-US" sz="1400" dirty="0"/>
          </a:p>
        </p:txBody>
      </p:sp>
      <p:sp>
        <p:nvSpPr>
          <p:cNvPr id="7" name="Text 5"/>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File-System Structure</a:t>
            </a:r>
            <a:endParaRPr lang="en-US" sz="2800" dirty="0"/>
          </a:p>
        </p:txBody>
      </p:sp>
      <p:sp>
        <p:nvSpPr>
          <p:cNvPr id="3" name="Shape 1"/>
          <p:cNvSpPr/>
          <p:nvPr/>
        </p:nvSpPr>
        <p:spPr>
          <a:xfrm>
            <a:off x="640080" y="1234440"/>
            <a:ext cx="10881360" cy="624840"/>
          </a:xfrm>
          <a:prstGeom prst="roundRect">
            <a:avLst>
              <a:gd name="adj" fmla="val 8780"/>
            </a:avLst>
          </a:prstGeom>
          <a:solidFill>
            <a:srgbClr val="FFFFFF"/>
          </a:solidFill>
          <a:ln w="19050">
            <a:solidFill>
              <a:srgbClr val="2FE6C4"/>
            </a:solidFill>
            <a:prstDash val="solid"/>
          </a:ln>
        </p:spPr>
      </p:sp>
      <p:sp>
        <p:nvSpPr>
          <p:cNvPr id="4" name="Shape 2"/>
          <p:cNvSpPr/>
          <p:nvPr/>
        </p:nvSpPr>
        <p:spPr>
          <a:xfrm>
            <a:off x="841248" y="1307592"/>
            <a:ext cx="64008" cy="478536"/>
          </a:xfrm>
          <a:prstGeom prst="rect">
            <a:avLst/>
          </a:prstGeom>
          <a:solidFill>
            <a:srgbClr val="2FE6C4"/>
          </a:solidFill>
          <a:ln/>
        </p:spPr>
      </p:sp>
      <p:sp>
        <p:nvSpPr>
          <p:cNvPr id="5" name="Text 3"/>
          <p:cNvSpPr txBox="1"/>
          <p:nvPr/>
        </p:nvSpPr>
        <p:spPr>
          <a:xfrm>
            <a:off x="1051560" y="1284427"/>
            <a:ext cx="10241280" cy="262433"/>
          </a:xfrm>
          <a:prstGeom prst="rect">
            <a:avLst/>
          </a:prstGeom>
          <a:noFill/>
          <a:ln/>
        </p:spPr>
        <p:txBody>
          <a:bodyPr wrap="square" lIns="0" tIns="0" rIns="0" bIns="0" rtlCol="0" anchor="t"/>
          <a:lstStyle/>
          <a:p>
            <a:pPr indent="0" marL="0">
              <a:buNone/>
            </a:pPr>
            <a:r>
              <a:rPr lang="en-US" sz="1350" b="1" dirty="0">
                <a:solidFill>
                  <a:srgbClr val="1F2429"/>
                </a:solidFill>
                <a:latin typeface="Calibri" pitchFamily="34" charset="0"/>
                <a:ea typeface="Calibri" pitchFamily="34" charset="-122"/>
                <a:cs typeface="Calibri" pitchFamily="34" charset="-120"/>
              </a:rPr>
              <a:t>Application Programs</a:t>
            </a:r>
            <a:endParaRPr lang="en-US" sz="1350" dirty="0"/>
          </a:p>
        </p:txBody>
      </p:sp>
      <p:sp>
        <p:nvSpPr>
          <p:cNvPr id="6" name="Text 4"/>
          <p:cNvSpPr txBox="1"/>
          <p:nvPr/>
        </p:nvSpPr>
        <p:spPr>
          <a:xfrm>
            <a:off x="1051560" y="1546860"/>
            <a:ext cx="10241280" cy="257556"/>
          </a:xfrm>
          <a:prstGeom prst="rect">
            <a:avLst/>
          </a:prstGeom>
          <a:noFill/>
          <a:ln/>
        </p:spPr>
        <p:txBody>
          <a:bodyPr wrap="square" lIns="0" tIns="0" rIns="0" bIns="0" rtlCol="0" anchor="t"/>
          <a:lstStyle/>
          <a:p>
            <a:pPr indent="0" marL="0">
              <a:lnSpc>
                <a:spcPct val="108000"/>
              </a:lnSpc>
              <a:buNone/>
            </a:pPr>
            <a:r>
              <a:rPr lang="en-US" sz="1000" dirty="0">
                <a:solidFill>
                  <a:srgbClr val="8A939B"/>
                </a:solidFill>
                <a:latin typeface="Calibri" pitchFamily="34" charset="0"/>
                <a:ea typeface="Calibri" pitchFamily="34" charset="-122"/>
                <a:cs typeface="Calibri" pitchFamily="34" charset="-120"/>
              </a:rPr>
              <a:t>Issue system calls like open(), read(), write() on file names</a:t>
            </a:r>
            <a:endParaRPr lang="en-US" sz="1000" dirty="0"/>
          </a:p>
        </p:txBody>
      </p:sp>
      <p:sp>
        <p:nvSpPr>
          <p:cNvPr id="7" name="Shape 5"/>
          <p:cNvSpPr/>
          <p:nvPr/>
        </p:nvSpPr>
        <p:spPr>
          <a:xfrm>
            <a:off x="5971032" y="1859280"/>
            <a:ext cx="219456" cy="155448"/>
          </a:xfrm>
          <a:prstGeom prst="downArrow">
            <a:avLst/>
          </a:prstGeom>
          <a:solidFill>
            <a:srgbClr val="8A939B"/>
          </a:solidFill>
          <a:ln/>
        </p:spPr>
      </p:sp>
      <p:sp>
        <p:nvSpPr>
          <p:cNvPr id="8" name="Shape 6"/>
          <p:cNvSpPr/>
          <p:nvPr/>
        </p:nvSpPr>
        <p:spPr>
          <a:xfrm>
            <a:off x="640080" y="2014728"/>
            <a:ext cx="10881360" cy="624840"/>
          </a:xfrm>
          <a:prstGeom prst="roundRect">
            <a:avLst>
              <a:gd name="adj" fmla="val 8780"/>
            </a:avLst>
          </a:prstGeom>
          <a:solidFill>
            <a:srgbClr val="FFFFFF"/>
          </a:solidFill>
          <a:ln w="19050">
            <a:solidFill>
              <a:srgbClr val="8B7FD9"/>
            </a:solidFill>
            <a:prstDash val="solid"/>
          </a:ln>
        </p:spPr>
      </p:sp>
      <p:sp>
        <p:nvSpPr>
          <p:cNvPr id="9" name="Shape 7"/>
          <p:cNvSpPr/>
          <p:nvPr/>
        </p:nvSpPr>
        <p:spPr>
          <a:xfrm>
            <a:off x="841248" y="2087880"/>
            <a:ext cx="64008" cy="478536"/>
          </a:xfrm>
          <a:prstGeom prst="rect">
            <a:avLst/>
          </a:prstGeom>
          <a:solidFill>
            <a:srgbClr val="8B7FD9"/>
          </a:solidFill>
          <a:ln/>
        </p:spPr>
      </p:sp>
      <p:sp>
        <p:nvSpPr>
          <p:cNvPr id="10" name="Text 8"/>
          <p:cNvSpPr txBox="1"/>
          <p:nvPr/>
        </p:nvSpPr>
        <p:spPr>
          <a:xfrm>
            <a:off x="1051560" y="2064715"/>
            <a:ext cx="10241280" cy="262433"/>
          </a:xfrm>
          <a:prstGeom prst="rect">
            <a:avLst/>
          </a:prstGeom>
          <a:noFill/>
          <a:ln/>
        </p:spPr>
        <p:txBody>
          <a:bodyPr wrap="square" lIns="0" tIns="0" rIns="0" bIns="0" rtlCol="0" anchor="t"/>
          <a:lstStyle/>
          <a:p>
            <a:pPr indent="0" marL="0">
              <a:buNone/>
            </a:pPr>
            <a:r>
              <a:rPr lang="en-US" sz="1350" b="1" dirty="0">
                <a:solidFill>
                  <a:srgbClr val="1F2429"/>
                </a:solidFill>
                <a:latin typeface="Calibri" pitchFamily="34" charset="0"/>
                <a:ea typeface="Calibri" pitchFamily="34" charset="-122"/>
                <a:cs typeface="Calibri" pitchFamily="34" charset="-120"/>
              </a:rPr>
              <a:t>Logical File System</a:t>
            </a:r>
            <a:endParaRPr lang="en-US" sz="1350" dirty="0"/>
          </a:p>
        </p:txBody>
      </p:sp>
      <p:sp>
        <p:nvSpPr>
          <p:cNvPr id="11" name="Text 9"/>
          <p:cNvSpPr txBox="1"/>
          <p:nvPr/>
        </p:nvSpPr>
        <p:spPr>
          <a:xfrm>
            <a:off x="1051560" y="2327148"/>
            <a:ext cx="10241280" cy="257556"/>
          </a:xfrm>
          <a:prstGeom prst="rect">
            <a:avLst/>
          </a:prstGeom>
          <a:noFill/>
          <a:ln/>
        </p:spPr>
        <p:txBody>
          <a:bodyPr wrap="square" lIns="0" tIns="0" rIns="0" bIns="0" rtlCol="0" anchor="t"/>
          <a:lstStyle/>
          <a:p>
            <a:pPr indent="0" marL="0">
              <a:lnSpc>
                <a:spcPct val="108000"/>
              </a:lnSpc>
              <a:buNone/>
            </a:pPr>
            <a:r>
              <a:rPr lang="en-US" sz="1000" dirty="0">
                <a:solidFill>
                  <a:srgbClr val="8A939B"/>
                </a:solidFill>
                <a:latin typeface="Calibri" pitchFamily="34" charset="0"/>
                <a:ea typeface="Calibri" pitchFamily="34" charset="-122"/>
                <a:cs typeface="Calibri" pitchFamily="34" charset="-120"/>
              </a:rPr>
              <a:t>Manages directory structure, file metadata, and protection; translates a file name into its identifier</a:t>
            </a:r>
            <a:endParaRPr lang="en-US" sz="1000" dirty="0"/>
          </a:p>
        </p:txBody>
      </p:sp>
      <p:sp>
        <p:nvSpPr>
          <p:cNvPr id="12" name="Shape 10"/>
          <p:cNvSpPr/>
          <p:nvPr/>
        </p:nvSpPr>
        <p:spPr>
          <a:xfrm>
            <a:off x="5971032" y="2639568"/>
            <a:ext cx="219456" cy="155448"/>
          </a:xfrm>
          <a:prstGeom prst="downArrow">
            <a:avLst/>
          </a:prstGeom>
          <a:solidFill>
            <a:srgbClr val="8A939B"/>
          </a:solidFill>
          <a:ln/>
        </p:spPr>
      </p:sp>
      <p:sp>
        <p:nvSpPr>
          <p:cNvPr id="13" name="Shape 11"/>
          <p:cNvSpPr/>
          <p:nvPr/>
        </p:nvSpPr>
        <p:spPr>
          <a:xfrm>
            <a:off x="640080" y="2795016"/>
            <a:ext cx="10881360" cy="624840"/>
          </a:xfrm>
          <a:prstGeom prst="roundRect">
            <a:avLst>
              <a:gd name="adj" fmla="val 8780"/>
            </a:avLst>
          </a:prstGeom>
          <a:solidFill>
            <a:srgbClr val="FFFFFF"/>
          </a:solidFill>
          <a:ln w="19050">
            <a:solidFill>
              <a:srgbClr val="E8A33D"/>
            </a:solidFill>
            <a:prstDash val="solid"/>
          </a:ln>
        </p:spPr>
      </p:sp>
      <p:sp>
        <p:nvSpPr>
          <p:cNvPr id="14" name="Shape 12"/>
          <p:cNvSpPr/>
          <p:nvPr/>
        </p:nvSpPr>
        <p:spPr>
          <a:xfrm>
            <a:off x="841248" y="2868168"/>
            <a:ext cx="64008" cy="478536"/>
          </a:xfrm>
          <a:prstGeom prst="rect">
            <a:avLst/>
          </a:prstGeom>
          <a:solidFill>
            <a:srgbClr val="E8A33D"/>
          </a:solidFill>
          <a:ln/>
        </p:spPr>
      </p:sp>
      <p:sp>
        <p:nvSpPr>
          <p:cNvPr id="15" name="Text 13"/>
          <p:cNvSpPr txBox="1"/>
          <p:nvPr/>
        </p:nvSpPr>
        <p:spPr>
          <a:xfrm>
            <a:off x="1051560" y="2845003"/>
            <a:ext cx="10241280" cy="262433"/>
          </a:xfrm>
          <a:prstGeom prst="rect">
            <a:avLst/>
          </a:prstGeom>
          <a:noFill/>
          <a:ln/>
        </p:spPr>
        <p:txBody>
          <a:bodyPr wrap="square" lIns="0" tIns="0" rIns="0" bIns="0" rtlCol="0" anchor="t"/>
          <a:lstStyle/>
          <a:p>
            <a:pPr indent="0" marL="0">
              <a:buNone/>
            </a:pPr>
            <a:r>
              <a:rPr lang="en-US" sz="1350" b="1" dirty="0">
                <a:solidFill>
                  <a:srgbClr val="1F2429"/>
                </a:solidFill>
                <a:latin typeface="Calibri" pitchFamily="34" charset="0"/>
                <a:ea typeface="Calibri" pitchFamily="34" charset="-122"/>
                <a:cs typeface="Calibri" pitchFamily="34" charset="-120"/>
              </a:rPr>
              <a:t>File-Organization Module</a:t>
            </a:r>
            <a:endParaRPr lang="en-US" sz="1350" dirty="0"/>
          </a:p>
        </p:txBody>
      </p:sp>
      <p:sp>
        <p:nvSpPr>
          <p:cNvPr id="16" name="Text 14"/>
          <p:cNvSpPr txBox="1"/>
          <p:nvPr/>
        </p:nvSpPr>
        <p:spPr>
          <a:xfrm>
            <a:off x="1051560" y="3107436"/>
            <a:ext cx="10241280" cy="257556"/>
          </a:xfrm>
          <a:prstGeom prst="rect">
            <a:avLst/>
          </a:prstGeom>
          <a:noFill/>
          <a:ln/>
        </p:spPr>
        <p:txBody>
          <a:bodyPr wrap="square" lIns="0" tIns="0" rIns="0" bIns="0" rtlCol="0" anchor="t"/>
          <a:lstStyle/>
          <a:p>
            <a:pPr indent="0" marL="0">
              <a:lnSpc>
                <a:spcPct val="108000"/>
              </a:lnSpc>
              <a:buNone/>
            </a:pPr>
            <a:r>
              <a:rPr lang="en-US" sz="1000" dirty="0">
                <a:solidFill>
                  <a:srgbClr val="8A939B"/>
                </a:solidFill>
                <a:latin typeface="Calibri" pitchFamily="34" charset="0"/>
                <a:ea typeface="Calibri" pitchFamily="34" charset="-122"/>
                <a:cs typeface="Calibri" pitchFamily="34" charset="-120"/>
              </a:rPr>
              <a:t>Translates logical block numbers (within a file) into physical block numbers (on the device)</a:t>
            </a:r>
            <a:endParaRPr lang="en-US" sz="1000" dirty="0"/>
          </a:p>
        </p:txBody>
      </p:sp>
      <p:sp>
        <p:nvSpPr>
          <p:cNvPr id="17" name="Shape 15"/>
          <p:cNvSpPr/>
          <p:nvPr/>
        </p:nvSpPr>
        <p:spPr>
          <a:xfrm>
            <a:off x="5971032" y="3419856"/>
            <a:ext cx="219456" cy="155448"/>
          </a:xfrm>
          <a:prstGeom prst="downArrow">
            <a:avLst/>
          </a:prstGeom>
          <a:solidFill>
            <a:srgbClr val="8A939B"/>
          </a:solidFill>
          <a:ln/>
        </p:spPr>
      </p:sp>
      <p:sp>
        <p:nvSpPr>
          <p:cNvPr id="18" name="Shape 16"/>
          <p:cNvSpPr/>
          <p:nvPr/>
        </p:nvSpPr>
        <p:spPr>
          <a:xfrm>
            <a:off x="640080" y="3575304"/>
            <a:ext cx="10881360" cy="624840"/>
          </a:xfrm>
          <a:prstGeom prst="roundRect">
            <a:avLst>
              <a:gd name="adj" fmla="val 8780"/>
            </a:avLst>
          </a:prstGeom>
          <a:solidFill>
            <a:srgbClr val="FFFFFF"/>
          </a:solidFill>
          <a:ln w="19050">
            <a:solidFill>
              <a:srgbClr val="2FE6C4"/>
            </a:solidFill>
            <a:prstDash val="solid"/>
          </a:ln>
        </p:spPr>
      </p:sp>
      <p:sp>
        <p:nvSpPr>
          <p:cNvPr id="19" name="Shape 17"/>
          <p:cNvSpPr/>
          <p:nvPr/>
        </p:nvSpPr>
        <p:spPr>
          <a:xfrm>
            <a:off x="841248" y="3648456"/>
            <a:ext cx="64008" cy="478536"/>
          </a:xfrm>
          <a:prstGeom prst="rect">
            <a:avLst/>
          </a:prstGeom>
          <a:solidFill>
            <a:srgbClr val="2FE6C4"/>
          </a:solidFill>
          <a:ln/>
        </p:spPr>
      </p:sp>
      <p:sp>
        <p:nvSpPr>
          <p:cNvPr id="20" name="Text 18"/>
          <p:cNvSpPr txBox="1"/>
          <p:nvPr/>
        </p:nvSpPr>
        <p:spPr>
          <a:xfrm>
            <a:off x="1051560" y="3625291"/>
            <a:ext cx="10241280" cy="262433"/>
          </a:xfrm>
          <a:prstGeom prst="rect">
            <a:avLst/>
          </a:prstGeom>
          <a:noFill/>
          <a:ln/>
        </p:spPr>
        <p:txBody>
          <a:bodyPr wrap="square" lIns="0" tIns="0" rIns="0" bIns="0" rtlCol="0" anchor="t"/>
          <a:lstStyle/>
          <a:p>
            <a:pPr indent="0" marL="0">
              <a:buNone/>
            </a:pPr>
            <a:r>
              <a:rPr lang="en-US" sz="1350" b="1" dirty="0">
                <a:solidFill>
                  <a:srgbClr val="1F2429"/>
                </a:solidFill>
                <a:latin typeface="Calibri" pitchFamily="34" charset="0"/>
                <a:ea typeface="Calibri" pitchFamily="34" charset="-122"/>
                <a:cs typeface="Calibri" pitchFamily="34" charset="-120"/>
              </a:rPr>
              <a:t>Basic File System</a:t>
            </a:r>
            <a:endParaRPr lang="en-US" sz="1350" dirty="0"/>
          </a:p>
        </p:txBody>
      </p:sp>
      <p:sp>
        <p:nvSpPr>
          <p:cNvPr id="21" name="Text 19"/>
          <p:cNvSpPr txBox="1"/>
          <p:nvPr/>
        </p:nvSpPr>
        <p:spPr>
          <a:xfrm>
            <a:off x="1051560" y="3887724"/>
            <a:ext cx="10241280" cy="257556"/>
          </a:xfrm>
          <a:prstGeom prst="rect">
            <a:avLst/>
          </a:prstGeom>
          <a:noFill/>
          <a:ln/>
        </p:spPr>
        <p:txBody>
          <a:bodyPr wrap="square" lIns="0" tIns="0" rIns="0" bIns="0" rtlCol="0" anchor="t"/>
          <a:lstStyle/>
          <a:p>
            <a:pPr indent="0" marL="0">
              <a:lnSpc>
                <a:spcPct val="108000"/>
              </a:lnSpc>
              <a:buNone/>
            </a:pPr>
            <a:r>
              <a:rPr lang="en-US" sz="1000" dirty="0">
                <a:solidFill>
                  <a:srgbClr val="8A939B"/>
                </a:solidFill>
                <a:latin typeface="Calibri" pitchFamily="34" charset="0"/>
                <a:ea typeface="Calibri" pitchFamily="34" charset="-122"/>
                <a:cs typeface="Calibri" pitchFamily="34" charset="-120"/>
              </a:rPr>
              <a:t>Issues generic commands to the appropriate device driver to read/write physical blocks</a:t>
            </a:r>
            <a:endParaRPr lang="en-US" sz="1000" dirty="0"/>
          </a:p>
        </p:txBody>
      </p:sp>
      <p:sp>
        <p:nvSpPr>
          <p:cNvPr id="22" name="Shape 20"/>
          <p:cNvSpPr/>
          <p:nvPr/>
        </p:nvSpPr>
        <p:spPr>
          <a:xfrm>
            <a:off x="5971032" y="4200144"/>
            <a:ext cx="219456" cy="155448"/>
          </a:xfrm>
          <a:prstGeom prst="downArrow">
            <a:avLst/>
          </a:prstGeom>
          <a:solidFill>
            <a:srgbClr val="8A939B"/>
          </a:solidFill>
          <a:ln/>
        </p:spPr>
      </p:sp>
      <p:sp>
        <p:nvSpPr>
          <p:cNvPr id="23" name="Shape 21"/>
          <p:cNvSpPr/>
          <p:nvPr/>
        </p:nvSpPr>
        <p:spPr>
          <a:xfrm>
            <a:off x="640080" y="4355592"/>
            <a:ext cx="10881360" cy="624840"/>
          </a:xfrm>
          <a:prstGeom prst="roundRect">
            <a:avLst>
              <a:gd name="adj" fmla="val 8780"/>
            </a:avLst>
          </a:prstGeom>
          <a:solidFill>
            <a:srgbClr val="FFFFFF"/>
          </a:solidFill>
          <a:ln w="19050">
            <a:solidFill>
              <a:srgbClr val="8B7FD9"/>
            </a:solidFill>
            <a:prstDash val="solid"/>
          </a:ln>
        </p:spPr>
      </p:sp>
      <p:sp>
        <p:nvSpPr>
          <p:cNvPr id="24" name="Shape 22"/>
          <p:cNvSpPr/>
          <p:nvPr/>
        </p:nvSpPr>
        <p:spPr>
          <a:xfrm>
            <a:off x="841248" y="4428744"/>
            <a:ext cx="64008" cy="478536"/>
          </a:xfrm>
          <a:prstGeom prst="rect">
            <a:avLst/>
          </a:prstGeom>
          <a:solidFill>
            <a:srgbClr val="8B7FD9"/>
          </a:solidFill>
          <a:ln/>
        </p:spPr>
      </p:sp>
      <p:sp>
        <p:nvSpPr>
          <p:cNvPr id="25" name="Text 23"/>
          <p:cNvSpPr txBox="1"/>
          <p:nvPr/>
        </p:nvSpPr>
        <p:spPr>
          <a:xfrm>
            <a:off x="1051560" y="4405579"/>
            <a:ext cx="10241280" cy="262433"/>
          </a:xfrm>
          <a:prstGeom prst="rect">
            <a:avLst/>
          </a:prstGeom>
          <a:noFill/>
          <a:ln/>
        </p:spPr>
        <p:txBody>
          <a:bodyPr wrap="square" lIns="0" tIns="0" rIns="0" bIns="0" rtlCol="0" anchor="t"/>
          <a:lstStyle/>
          <a:p>
            <a:pPr indent="0" marL="0">
              <a:buNone/>
            </a:pPr>
            <a:r>
              <a:rPr lang="en-US" sz="1350" b="1" dirty="0">
                <a:solidFill>
                  <a:srgbClr val="1F2429"/>
                </a:solidFill>
                <a:latin typeface="Calibri" pitchFamily="34" charset="0"/>
                <a:ea typeface="Calibri" pitchFamily="34" charset="-122"/>
                <a:cs typeface="Calibri" pitchFamily="34" charset="-120"/>
              </a:rPr>
              <a:t>I/O Control</a:t>
            </a:r>
            <a:endParaRPr lang="en-US" sz="1350" dirty="0"/>
          </a:p>
        </p:txBody>
      </p:sp>
      <p:sp>
        <p:nvSpPr>
          <p:cNvPr id="26" name="Text 24"/>
          <p:cNvSpPr txBox="1"/>
          <p:nvPr/>
        </p:nvSpPr>
        <p:spPr>
          <a:xfrm>
            <a:off x="1051560" y="4668012"/>
            <a:ext cx="10241280" cy="257556"/>
          </a:xfrm>
          <a:prstGeom prst="rect">
            <a:avLst/>
          </a:prstGeom>
          <a:noFill/>
          <a:ln/>
        </p:spPr>
        <p:txBody>
          <a:bodyPr wrap="square" lIns="0" tIns="0" rIns="0" bIns="0" rtlCol="0" anchor="t"/>
          <a:lstStyle/>
          <a:p>
            <a:pPr indent="0" marL="0">
              <a:lnSpc>
                <a:spcPct val="108000"/>
              </a:lnSpc>
              <a:buNone/>
            </a:pPr>
            <a:r>
              <a:rPr lang="en-US" sz="1000" dirty="0">
                <a:solidFill>
                  <a:srgbClr val="8A939B"/>
                </a:solidFill>
                <a:latin typeface="Calibri" pitchFamily="34" charset="0"/>
                <a:ea typeface="Calibri" pitchFamily="34" charset="-122"/>
                <a:cs typeface="Calibri" pitchFamily="34" charset="-120"/>
              </a:rPr>
              <a:t>Device drivers and interrupt handlers that actually move data between main memory and the device controller</a:t>
            </a:r>
            <a:endParaRPr lang="en-US" sz="1000" dirty="0"/>
          </a:p>
        </p:txBody>
      </p:sp>
      <p:sp>
        <p:nvSpPr>
          <p:cNvPr id="27" name="Shape 25"/>
          <p:cNvSpPr/>
          <p:nvPr/>
        </p:nvSpPr>
        <p:spPr>
          <a:xfrm>
            <a:off x="5971032" y="4980432"/>
            <a:ext cx="219456" cy="155448"/>
          </a:xfrm>
          <a:prstGeom prst="downArrow">
            <a:avLst/>
          </a:prstGeom>
          <a:solidFill>
            <a:srgbClr val="8A939B"/>
          </a:solidFill>
          <a:ln/>
        </p:spPr>
      </p:sp>
      <p:sp>
        <p:nvSpPr>
          <p:cNvPr id="28" name="Shape 26"/>
          <p:cNvSpPr/>
          <p:nvPr/>
        </p:nvSpPr>
        <p:spPr>
          <a:xfrm>
            <a:off x="640080" y="5135880"/>
            <a:ext cx="10881360" cy="624840"/>
          </a:xfrm>
          <a:prstGeom prst="roundRect">
            <a:avLst>
              <a:gd name="adj" fmla="val 8780"/>
            </a:avLst>
          </a:prstGeom>
          <a:solidFill>
            <a:srgbClr val="FFFFFF"/>
          </a:solidFill>
          <a:ln w="19050">
            <a:solidFill>
              <a:srgbClr val="E8A33D"/>
            </a:solidFill>
            <a:prstDash val="solid"/>
          </a:ln>
        </p:spPr>
      </p:sp>
      <p:sp>
        <p:nvSpPr>
          <p:cNvPr id="29" name="Shape 27"/>
          <p:cNvSpPr/>
          <p:nvPr/>
        </p:nvSpPr>
        <p:spPr>
          <a:xfrm>
            <a:off x="841248" y="5209032"/>
            <a:ext cx="64008" cy="478536"/>
          </a:xfrm>
          <a:prstGeom prst="rect">
            <a:avLst/>
          </a:prstGeom>
          <a:solidFill>
            <a:srgbClr val="E8A33D"/>
          </a:solidFill>
          <a:ln/>
        </p:spPr>
      </p:sp>
      <p:sp>
        <p:nvSpPr>
          <p:cNvPr id="30" name="Text 28"/>
          <p:cNvSpPr txBox="1"/>
          <p:nvPr/>
        </p:nvSpPr>
        <p:spPr>
          <a:xfrm>
            <a:off x="1051560" y="5185867"/>
            <a:ext cx="10241280" cy="262433"/>
          </a:xfrm>
          <a:prstGeom prst="rect">
            <a:avLst/>
          </a:prstGeom>
          <a:noFill/>
          <a:ln/>
        </p:spPr>
        <p:txBody>
          <a:bodyPr wrap="square" lIns="0" tIns="0" rIns="0" bIns="0" rtlCol="0" anchor="t"/>
          <a:lstStyle/>
          <a:p>
            <a:pPr indent="0" marL="0">
              <a:buNone/>
            </a:pPr>
            <a:r>
              <a:rPr lang="en-US" sz="1350" b="1" dirty="0">
                <a:solidFill>
                  <a:srgbClr val="1F2429"/>
                </a:solidFill>
                <a:latin typeface="Calibri" pitchFamily="34" charset="0"/>
                <a:ea typeface="Calibri" pitchFamily="34" charset="-122"/>
                <a:cs typeface="Calibri" pitchFamily="34" charset="-120"/>
              </a:rPr>
              <a:t>Devices</a:t>
            </a:r>
            <a:endParaRPr lang="en-US" sz="1350" dirty="0"/>
          </a:p>
        </p:txBody>
      </p:sp>
      <p:sp>
        <p:nvSpPr>
          <p:cNvPr id="31" name="Text 29"/>
          <p:cNvSpPr txBox="1"/>
          <p:nvPr/>
        </p:nvSpPr>
        <p:spPr>
          <a:xfrm>
            <a:off x="1051560" y="5448300"/>
            <a:ext cx="10241280" cy="257556"/>
          </a:xfrm>
          <a:prstGeom prst="rect">
            <a:avLst/>
          </a:prstGeom>
          <a:noFill/>
          <a:ln/>
        </p:spPr>
        <p:txBody>
          <a:bodyPr wrap="square" lIns="0" tIns="0" rIns="0" bIns="0" rtlCol="0" anchor="t"/>
          <a:lstStyle/>
          <a:p>
            <a:pPr indent="0" marL="0">
              <a:lnSpc>
                <a:spcPct val="108000"/>
              </a:lnSpc>
              <a:buNone/>
            </a:pPr>
            <a:r>
              <a:rPr lang="en-US" sz="1000" dirty="0">
                <a:solidFill>
                  <a:srgbClr val="8A939B"/>
                </a:solidFill>
                <a:latin typeface="Calibri" pitchFamily="34" charset="0"/>
                <a:ea typeface="Calibri" pitchFamily="34" charset="-122"/>
                <a:cs typeface="Calibri" pitchFamily="34" charset="-120"/>
              </a:rPr>
              <a:t>The physical disk, SSD, or other storage hardware</a:t>
            </a:r>
            <a:endParaRPr lang="en-US" sz="1000" dirty="0"/>
          </a:p>
        </p:txBody>
      </p:sp>
      <p:sp>
        <p:nvSpPr>
          <p:cNvPr id="32" name="Text 30"/>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From a read() Call to Real Disk I/O</a:t>
            </a:r>
            <a:endParaRPr lang="en-US" sz="2800" dirty="0"/>
          </a:p>
        </p:txBody>
      </p:sp>
      <p:sp>
        <p:nvSpPr>
          <p:cNvPr id="3" name="Text 1"/>
          <p:cNvSpPr txBox="1"/>
          <p:nvPr/>
        </p:nvSpPr>
        <p:spPr>
          <a:xfrm>
            <a:off x="640080" y="1234440"/>
            <a:ext cx="10881360" cy="822960"/>
          </a:xfrm>
          <a:prstGeom prst="rect">
            <a:avLst/>
          </a:prstGeom>
          <a:noFill/>
          <a:ln/>
        </p:spPr>
        <p:txBody>
          <a:bodyPr wrap="square" lIns="0" tIns="0" rIns="0" bIns="0" rtlCol="0" anchor="t"/>
          <a:lstStyle/>
          <a:p>
            <a:pPr indent="0" marL="0">
              <a:lnSpc>
                <a:spcPct val="120000"/>
              </a:lnSpc>
              <a:buNone/>
            </a:pPr>
            <a:r>
              <a:rPr lang="en-US" sz="1600" dirty="0">
                <a:solidFill>
                  <a:srgbClr val="1F2429"/>
                </a:solidFill>
                <a:latin typeface="Calibri" pitchFamily="34" charset="0"/>
                <a:ea typeface="Calibri" pitchFamily="34" charset="-122"/>
                <a:cs typeface="Calibri" pitchFamily="34" charset="-120"/>
              </a:rPr>
              <a:t>Lecture 3 introduced the system call as the formal boundary between an application and the kernel — a read() call is exactly where that boundary gets exercised in the file-system context.</a:t>
            </a:r>
            <a:endParaRPr lang="en-US" sz="1600" dirty="0"/>
          </a:p>
        </p:txBody>
      </p:sp>
      <p:sp>
        <p:nvSpPr>
          <p:cNvPr id="4" name="Text 2"/>
          <p:cNvSpPr txBox="1"/>
          <p:nvPr/>
        </p:nvSpPr>
        <p:spPr>
          <a:xfrm>
            <a:off x="640080" y="2103120"/>
            <a:ext cx="10881360" cy="4023360"/>
          </a:xfrm>
          <a:prstGeom prst="rect">
            <a:avLst/>
          </a:prstGeom>
          <a:noFill/>
          <a:ln/>
        </p:spPr>
        <p:txBody>
          <a:bodyPr wrap="square" lIns="0" tIns="0" rIns="0" bIns="0" rtlCol="0" anchor="t"/>
          <a:lstStyle/>
          <a:p>
            <a:pPr marL="342900" indent="-342900">
              <a:lnSpc>
                <a:spcPct val="115000"/>
              </a:lnSpc>
              <a:spcAft>
                <a:spcPts val="1400"/>
              </a:spcAft>
              <a:buSzPct val="100000"/>
              <a:buFont typeface="+mj-lt"/>
              <a:buAutoNum type="arabicPeriod" startAt="1"/>
            </a:pPr>
            <a:r>
              <a:rPr lang="en-US" sz="1500" dirty="0">
                <a:solidFill>
                  <a:srgbClr val="1F2429"/>
                </a:solidFill>
                <a:latin typeface="Calibri" pitchFamily="34" charset="0"/>
                <a:ea typeface="Calibri" pitchFamily="34" charset="-122"/>
                <a:cs typeface="Calibri" pitchFamily="34" charset="-120"/>
              </a:rPr>
              <a:t>The application calls read() on a file handle it already obtained from open()</a:t>
            </a:r>
            <a:endParaRPr lang="en-US" sz="1500" dirty="0"/>
          </a:p>
          <a:p>
            <a:pPr marL="342900" indent="-342900">
              <a:lnSpc>
                <a:spcPct val="115000"/>
              </a:lnSpc>
              <a:spcAft>
                <a:spcPts val="1400"/>
              </a:spcAft>
              <a:buSzPct val="100000"/>
              <a:buFont typeface="+mj-lt"/>
              <a:buAutoNum type="arabicPeriod" startAt="1"/>
            </a:pPr>
            <a:r>
              <a:rPr lang="en-US" sz="1500" dirty="0">
                <a:solidFill>
                  <a:srgbClr val="1F2429"/>
                </a:solidFill>
                <a:latin typeface="Calibri" pitchFamily="34" charset="0"/>
                <a:ea typeface="Calibri" pitchFamily="34" charset="-122"/>
                <a:cs typeface="Calibri" pitchFamily="34" charset="-120"/>
              </a:rPr>
              <a:t>The logical file system looks up the open-file-table entry the handle refers to, confirms the caller's permissions, and determines which logical blocks of the file satisfy the request</a:t>
            </a:r>
            <a:endParaRPr lang="en-US" sz="1500" dirty="0"/>
          </a:p>
          <a:p>
            <a:pPr marL="342900" indent="-342900">
              <a:lnSpc>
                <a:spcPct val="115000"/>
              </a:lnSpc>
              <a:spcAft>
                <a:spcPts val="1400"/>
              </a:spcAft>
              <a:buSzPct val="100000"/>
              <a:buFont typeface="+mj-lt"/>
              <a:buAutoNum type="arabicPeriod" startAt="1"/>
            </a:pPr>
            <a:r>
              <a:rPr lang="en-US" sz="1500" dirty="0">
                <a:solidFill>
                  <a:srgbClr val="1F2429"/>
                </a:solidFill>
                <a:latin typeface="Calibri" pitchFamily="34" charset="0"/>
                <a:ea typeface="Calibri" pitchFamily="34" charset="-122"/>
                <a:cs typeface="Calibri" pitchFamily="34" charset="-120"/>
              </a:rPr>
              <a:t>The file-organization module translates those logical block numbers into the actual physical block numbers the data lives at on the device</a:t>
            </a:r>
            <a:endParaRPr lang="en-US" sz="1500" dirty="0"/>
          </a:p>
          <a:p>
            <a:pPr marL="342900" indent="-342900">
              <a:lnSpc>
                <a:spcPct val="115000"/>
              </a:lnSpc>
              <a:spcAft>
                <a:spcPts val="1400"/>
              </a:spcAft>
              <a:buSzPct val="100000"/>
              <a:buFont typeface="+mj-lt"/>
              <a:buAutoNum type="arabicPeriod" startAt="1"/>
            </a:pPr>
            <a:r>
              <a:rPr lang="en-US" sz="1500" dirty="0">
                <a:solidFill>
                  <a:srgbClr val="1F2429"/>
                </a:solidFill>
                <a:latin typeface="Calibri" pitchFamily="34" charset="0"/>
                <a:ea typeface="Calibri" pitchFamily="34" charset="-122"/>
                <a:cs typeface="Calibri" pitchFamily="34" charset="-120"/>
              </a:rPr>
              <a:t>The basic file system issues a generic command (“read physical block P”) down to the appropriate device driver, without caring what file, or even what file system, that block belongs to</a:t>
            </a:r>
            <a:endParaRPr lang="en-US" sz="1500" dirty="0"/>
          </a:p>
          <a:p>
            <a:pPr marL="342900" indent="-342900">
              <a:lnSpc>
                <a:spcPct val="115000"/>
              </a:lnSpc>
              <a:spcAft>
                <a:spcPts val="1400"/>
              </a:spcAft>
              <a:buSzPct val="100000"/>
              <a:buFont typeface="+mj-lt"/>
              <a:buAutoNum type="arabicPeriod" startAt="1"/>
            </a:pPr>
            <a:r>
              <a:rPr lang="en-US" sz="1500" dirty="0">
                <a:solidFill>
                  <a:srgbClr val="1F2429"/>
                </a:solidFill>
                <a:latin typeface="Calibri" pitchFamily="34" charset="0"/>
                <a:ea typeface="Calibri" pitchFamily="34" charset="-122"/>
                <a:cs typeface="Calibri" pitchFamily="34" charset="-120"/>
              </a:rPr>
              <a:t>I/O control — the device driver and its interrupt handler — carries out the actual transfer between the device controller and main memory, and signals completion back up the stack</a:t>
            </a:r>
            <a:endParaRPr lang="en-US" sz="1500" dirty="0"/>
          </a:p>
        </p:txBody>
      </p:sp>
      <p:sp>
        <p:nvSpPr>
          <p:cNvPr id="5" name="Text 3"/>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64008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3" name="Text 1"/>
          <p:cNvSpPr txBox="1"/>
          <p:nvPr/>
        </p:nvSpPr>
        <p:spPr>
          <a:xfrm>
            <a:off x="822960" y="1645920"/>
            <a:ext cx="10332720" cy="4572000"/>
          </a:xfrm>
          <a:prstGeom prst="rect">
            <a:avLst/>
          </a:prstGeom>
          <a:noFill/>
          <a:ln/>
        </p:spPr>
        <p:txBody>
          <a:bodyPr wrap="square" lIns="0" tIns="0" rIns="0" bIns="0" rtlCol="0" anchor="t"/>
          <a:lstStyle/>
          <a:p>
            <a:pPr marL="342900" indent="-342900">
              <a:lnSpc>
                <a:spcPct val="120000"/>
              </a:lnSpc>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A file is the OS's basic logical unit of storage — a named collection of data that hides the physical scattering of disk blocks behind a small set of attributes (name, identifier, type, size, protection, timestamps)</a:t>
            </a:r>
            <a:endParaRPr lang="en-US" sz="1600" dirty="0"/>
          </a:p>
          <a:p>
            <a:pPr marL="342900" indent="-342900">
              <a:lnSpc>
                <a:spcPct val="120000"/>
              </a:lnSpc>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File operations include create, write, read, reposition, delete, and truncate; open and close are separate bookkeeping operations that set up and tear down an in-memory open-file-table entry exactly once</a:t>
            </a:r>
            <a:endParaRPr lang="en-US" sz="1600" dirty="0"/>
          </a:p>
          <a:p>
            <a:pPr marL="342900" indent="-342900">
              <a:lnSpc>
                <a:spcPct val="120000"/>
              </a:lnSpc>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Sequential access reads a file in order, like a tape; direct (random) access jumps straight to any block by number — essential for database-style workloads</a:t>
            </a:r>
            <a:endParaRPr lang="en-US" sz="1600" dirty="0"/>
          </a:p>
          <a:p>
            <a:pPr marL="342900" indent="-342900">
              <a:lnSpc>
                <a:spcPct val="120000"/>
              </a:lnSpc>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Directory structures evolved from single-level (global naming conflicts), to two-level (conflicts solved between users), to tree-structured (arbitrary nesting, path-based naming) — the structure virtually every modern file system uses</a:t>
            </a:r>
            <a:endParaRPr lang="en-US" sz="1600" dirty="0"/>
          </a:p>
          <a:p>
            <a:pPr marL="342900" indent="-342900">
              <a:lnSpc>
                <a:spcPct val="120000"/>
              </a:lnSpc>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A file system is implemented as layers — application programs, logical file system, file-organization module, basic file system, I/O control, and devices — and a single read() system call passes down through every one of them on its way to an actual disk access</a:t>
            </a:r>
            <a:endParaRPr lang="en-US" sz="1600" dirty="0"/>
          </a:p>
        </p:txBody>
      </p:sp>
      <p:sp>
        <p:nvSpPr>
          <p:cNvPr id="4" name="Text 2"/>
          <p:cNvSpPr txBox="1"/>
          <p:nvPr/>
        </p:nvSpPr>
        <p:spPr>
          <a:xfrm>
            <a:off x="9948672"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2026-10-02T01:19:50Z</dcterms:created>
  <dcterms:modified xsi:type="dcterms:W3CDTF">2026-10-02T01:19:50Z</dcterms:modified>
</cp:coreProperties>
</file>
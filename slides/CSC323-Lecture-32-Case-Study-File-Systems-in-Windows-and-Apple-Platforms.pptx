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8229600" y="-2011680"/>
            <a:ext cx="4937760" cy="4937760"/>
          </a:xfrm>
          <a:prstGeom prst="ellipse">
            <a:avLst/>
          </a:prstGeom>
          <a:solidFill>
            <a:srgbClr val="1C3B34"/>
          </a:solidFill>
          <a:ln/>
        </p:spPr>
      </p:sp>
      <p:sp>
        <p:nvSpPr>
          <p:cNvPr id="3" name="Shape 1"/>
          <p:cNvSpPr/>
          <p:nvPr/>
        </p:nvSpPr>
        <p:spPr>
          <a:xfrm>
            <a:off x="9692640" y="4206240"/>
            <a:ext cx="4206240" cy="4206240"/>
          </a:xfrm>
          <a:prstGeom prst="ellipse">
            <a:avLst/>
          </a:prstGeom>
          <a:solidFill>
            <a:srgbClr val="2A2550"/>
          </a:solidFill>
          <a:ln/>
        </p:spPr>
      </p:sp>
      <p:sp>
        <p:nvSpPr>
          <p:cNvPr id="4" name="Shape 2"/>
          <p:cNvSpPr/>
          <p:nvPr/>
        </p:nvSpPr>
        <p:spPr>
          <a:xfrm>
            <a:off x="-1463040" y="4846320"/>
            <a:ext cx="3657600" cy="3657600"/>
          </a:xfrm>
          <a:prstGeom prst="ellipse">
            <a:avLst/>
          </a:prstGeom>
          <a:solidFill>
            <a:srgbClr val="2E2410"/>
          </a:solidFill>
          <a:ln/>
        </p:spPr>
      </p:sp>
      <p:sp>
        <p:nvSpPr>
          <p:cNvPr id="5" name="Text 3"/>
          <p:cNvSpPr txBox="1"/>
          <p:nvPr/>
        </p:nvSpPr>
        <p:spPr>
          <a:xfrm>
            <a:off x="822960" y="1417320"/>
            <a:ext cx="10515600" cy="457200"/>
          </a:xfrm>
          <a:prstGeom prst="rect">
            <a:avLst/>
          </a:prstGeom>
          <a:noFill/>
          <a:ln/>
        </p:spPr>
        <p:txBody>
          <a:bodyPr wrap="square" lIns="0" tIns="0" rIns="0" bIns="0" rtlCol="0" anchor="ctr"/>
          <a:lstStyle/>
          <a:p>
            <a:pPr algn="l" indent="0" marL="0">
              <a:buNone/>
            </a:pPr>
            <a:r>
              <a:rPr lang="en-US" sz="1600" b="1" spc="200" kern="0" dirty="0">
                <a:solidFill>
                  <a:srgbClr val="2FE6C4"/>
                </a:solidFill>
                <a:latin typeface="Calibri" pitchFamily="34" charset="0"/>
                <a:ea typeface="Calibri" pitchFamily="34" charset="-122"/>
                <a:cs typeface="Calibri" pitchFamily="34" charset="-120"/>
              </a:rPr>
              <a:t>CSC323 · OPERATING SYSTEMS · LECTURE 32</a:t>
            </a:r>
            <a:endParaRPr lang="en-US" sz="1600" dirty="0"/>
          </a:p>
        </p:txBody>
      </p:sp>
      <p:sp>
        <p:nvSpPr>
          <p:cNvPr id="6" name="Text 4"/>
          <p:cNvSpPr txBox="1"/>
          <p:nvPr/>
        </p:nvSpPr>
        <p:spPr>
          <a:xfrm>
            <a:off x="822960" y="196596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Case Study: File Systems in Windows and Apple Platforms</a:t>
            </a:r>
            <a:endParaRPr lang="en-US" sz="4400" dirty="0"/>
          </a:p>
        </p:txBody>
      </p:sp>
      <p:sp>
        <p:nvSpPr>
          <p:cNvPr id="7" name="Text 5"/>
          <p:cNvSpPr txBox="1"/>
          <p:nvPr/>
        </p:nvSpPr>
        <p:spPr>
          <a:xfrm>
            <a:off x="822960" y="3383280"/>
            <a:ext cx="10058400" cy="2377440"/>
          </a:xfrm>
          <a:prstGeom prst="rect">
            <a:avLst/>
          </a:prstGeom>
          <a:noFill/>
          <a:ln/>
        </p:spPr>
        <p:txBody>
          <a:bodyPr wrap="square" lIns="0" tIns="0" rIns="0" bIns="0" rtlCol="0" anchor="t"/>
          <a:lstStyle/>
          <a:p>
            <a:pPr indent="0" marL="0">
              <a:lnSpc>
                <a:spcPct val="125000"/>
              </a:lnSpc>
              <a:spcAft>
                <a:spcPts val="1400"/>
              </a:spcAft>
              <a:buNone/>
            </a:pPr>
            <a:r>
              <a:rPr lang="en-US" sz="1500" dirty="0">
                <a:solidFill>
                  <a:srgbClr val="AEB4BD"/>
                </a:solidFill>
                <a:latin typeface="Calibri" pitchFamily="34" charset="0"/>
                <a:ea typeface="Calibri" pitchFamily="34" charset="-122"/>
                <a:cs typeface="Calibri" pitchFamily="34" charset="-120"/>
              </a:rPr>
              <a:t>Course Capstone — The Final Lecture</a:t>
            </a:r>
            <a:endParaRPr lang="en-US" sz="1500" dirty="0"/>
          </a:p>
          <a:p>
            <a:pPr indent="0" marL="0">
              <a:lnSpc>
                <a:spcPct val="125000"/>
              </a:lnSpc>
              <a:spcAft>
                <a:spcPts val="1400"/>
              </a:spcAft>
              <a:buNone/>
            </a:pPr>
            <a:r>
              <a:rPr lang="en-US" sz="1500" dirty="0">
                <a:solidFill>
                  <a:srgbClr val="AEB4BD"/>
                </a:solidFill>
                <a:latin typeface="Calibri" pitchFamily="34" charset="0"/>
                <a:ea typeface="Calibri" pitchFamily="34" charset="-122"/>
                <a:cs typeface="Calibri" pitchFamily="34" charset="-120"/>
              </a:rPr>
              <a:t>Every file-system idea this course has built up — files as a named abstraction over disk blocks, tree-structured directories, owner/group/other permissions, journaling for crash safety — is, almost unchanged, how the file system on the computer you are reading this on actually works. This lecture looks at two real, production file systems side by side, then closes the entire course.</a:t>
            </a:r>
            <a:endParaRPr lang="en-US" sz="1500" dirty="0"/>
          </a:p>
        </p:txBody>
      </p:sp>
      <p:sp>
        <p:nvSpPr>
          <p:cNvPr id="8" name="Text 6"/>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640080" y="1371600"/>
            <a:ext cx="10332720" cy="4846320"/>
          </a:xfrm>
          <a:prstGeom prst="rect">
            <a:avLst/>
          </a:prstGeom>
          <a:noFill/>
          <a:ln/>
        </p:spPr>
        <p:txBody>
          <a:bodyPr wrap="square" lIns="0" tIns="0" rIns="0" bIns="0" rtlCol="0" anchor="t"/>
          <a:lstStyle/>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NTFS basics: the Master File Table, journaling for crash consistency, and ACL-based permissions</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APFS basics: copy-on-write, space sharing across volumes, and native snapshots and encryption</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direct, dimension-by-dimension comparison of NTFS and APFS</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complete course recap — all thirty-two lectures, seven units, one running example followed end to end</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Where the ideas in this course lead next, and a closing note now that the course is complete</a:t>
            </a:r>
            <a:endParaRPr lang="en-US" sz="1600" dirty="0"/>
          </a:p>
        </p:txBody>
      </p:sp>
      <p:sp>
        <p:nvSpPr>
          <p:cNvPr id="4"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Windows File System: NTFS — The Master File Table</a:t>
            </a:r>
            <a:endParaRPr lang="en-US" sz="2800" dirty="0"/>
          </a:p>
        </p:txBody>
      </p:sp>
      <p:sp>
        <p:nvSpPr>
          <p:cNvPr id="3" name="Text 1"/>
          <p:cNvSpPr txBox="1"/>
          <p:nvPr/>
        </p:nvSpPr>
        <p:spPr>
          <a:xfrm>
            <a:off x="640080" y="1234440"/>
            <a:ext cx="5120640" cy="4389120"/>
          </a:xfrm>
          <a:prstGeom prst="rect">
            <a:avLst/>
          </a:prstGeom>
          <a:noFill/>
          <a:ln/>
        </p:spPr>
        <p:txBody>
          <a:bodyPr wrap="square" lIns="0" tIns="0" rIns="0" bIns="0" rtlCol="0" anchor="t"/>
          <a:lstStyle/>
          <a:p>
            <a:pPr indent="0" marL="0">
              <a:lnSpc>
                <a:spcPct val="125000"/>
              </a:lnSpc>
              <a:buNone/>
            </a:pPr>
            <a:r>
              <a:rPr lang="en-US" sz="1550" dirty="0">
                <a:solidFill>
                  <a:srgbClr val="1F2429"/>
                </a:solidFill>
                <a:latin typeface="Calibri" pitchFamily="34" charset="0"/>
                <a:ea typeface="Calibri" pitchFamily="34" charset="-122"/>
                <a:cs typeface="Calibri" pitchFamily="34" charset="-120"/>
              </a:rPr>
              <a:t>NTFS organizes almost everything around a single database-like structure called the Master File Table (MFT). Every file on an NTFS volume — and every piece of file-system metadata too — is represented as one record in this table.</a:t>
            </a:r>
            <a:endParaRPr lang="en-US" sz="1550" dirty="0"/>
          </a:p>
        </p:txBody>
      </p:sp>
      <p:sp>
        <p:nvSpPr>
          <p:cNvPr id="4" name="Shape 2"/>
          <p:cNvSpPr/>
          <p:nvPr/>
        </p:nvSpPr>
        <p:spPr>
          <a:xfrm>
            <a:off x="6400800" y="2286000"/>
            <a:ext cx="5120640" cy="981456"/>
          </a:xfrm>
          <a:prstGeom prst="roundRect">
            <a:avLst>
              <a:gd name="adj" fmla="val 5590"/>
            </a:avLst>
          </a:prstGeom>
          <a:solidFill>
            <a:srgbClr val="FFFFFF"/>
          </a:solidFill>
          <a:ln w="19050">
            <a:solidFill>
              <a:srgbClr val="2FE6C4"/>
            </a:solidFill>
            <a:prstDash val="solid"/>
          </a:ln>
        </p:spPr>
      </p:sp>
      <p:sp>
        <p:nvSpPr>
          <p:cNvPr id="5" name="Shape 3"/>
          <p:cNvSpPr/>
          <p:nvPr/>
        </p:nvSpPr>
        <p:spPr>
          <a:xfrm>
            <a:off x="6601968" y="2456688"/>
            <a:ext cx="64008" cy="640080"/>
          </a:xfrm>
          <a:prstGeom prst="rect">
            <a:avLst/>
          </a:prstGeom>
          <a:solidFill>
            <a:srgbClr val="2FE6C4"/>
          </a:solidFill>
          <a:ln/>
        </p:spPr>
      </p:sp>
      <p:sp>
        <p:nvSpPr>
          <p:cNvPr id="6" name="Text 4"/>
          <p:cNvSpPr txBox="1"/>
          <p:nvPr/>
        </p:nvSpPr>
        <p:spPr>
          <a:xfrm>
            <a:off x="6812280" y="2364516"/>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MFT Record</a:t>
            </a:r>
            <a:endParaRPr lang="en-US" sz="1400" dirty="0"/>
          </a:p>
        </p:txBody>
      </p:sp>
      <p:sp>
        <p:nvSpPr>
          <p:cNvPr id="7" name="Text 5"/>
          <p:cNvSpPr txBox="1"/>
          <p:nvPr/>
        </p:nvSpPr>
        <p:spPr>
          <a:xfrm>
            <a:off x="6812280" y="2684556"/>
            <a:ext cx="4480560" cy="528036"/>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Holds a file's name, timestamps, security descriptor, and pointers to its data clusters</a:t>
            </a:r>
            <a:endParaRPr lang="en-US" sz="1100" dirty="0"/>
          </a:p>
        </p:txBody>
      </p:sp>
      <p:sp>
        <p:nvSpPr>
          <p:cNvPr id="8" name="Shape 6"/>
          <p:cNvSpPr/>
          <p:nvPr/>
        </p:nvSpPr>
        <p:spPr>
          <a:xfrm>
            <a:off x="8851392" y="3267456"/>
            <a:ext cx="219456" cy="237744"/>
          </a:xfrm>
          <a:prstGeom prst="downArrow">
            <a:avLst/>
          </a:prstGeom>
          <a:solidFill>
            <a:srgbClr val="8A939B"/>
          </a:solidFill>
          <a:ln/>
        </p:spPr>
      </p:sp>
      <p:sp>
        <p:nvSpPr>
          <p:cNvPr id="9" name="Shape 7"/>
          <p:cNvSpPr/>
          <p:nvPr/>
        </p:nvSpPr>
        <p:spPr>
          <a:xfrm>
            <a:off x="6400800" y="3505200"/>
            <a:ext cx="5120640" cy="981456"/>
          </a:xfrm>
          <a:prstGeom prst="roundRect">
            <a:avLst>
              <a:gd name="adj" fmla="val 5590"/>
            </a:avLst>
          </a:prstGeom>
          <a:solidFill>
            <a:srgbClr val="FFFFFF"/>
          </a:solidFill>
          <a:ln w="19050">
            <a:solidFill>
              <a:srgbClr val="8B7FD9"/>
            </a:solidFill>
            <a:prstDash val="solid"/>
          </a:ln>
        </p:spPr>
      </p:sp>
      <p:sp>
        <p:nvSpPr>
          <p:cNvPr id="10" name="Shape 8"/>
          <p:cNvSpPr/>
          <p:nvPr/>
        </p:nvSpPr>
        <p:spPr>
          <a:xfrm>
            <a:off x="6601968" y="3675888"/>
            <a:ext cx="64008" cy="640080"/>
          </a:xfrm>
          <a:prstGeom prst="rect">
            <a:avLst/>
          </a:prstGeom>
          <a:solidFill>
            <a:srgbClr val="8B7FD9"/>
          </a:solidFill>
          <a:ln/>
        </p:spPr>
      </p:sp>
      <p:sp>
        <p:nvSpPr>
          <p:cNvPr id="11" name="Text 9"/>
          <p:cNvSpPr txBox="1"/>
          <p:nvPr/>
        </p:nvSpPr>
        <p:spPr>
          <a:xfrm>
            <a:off x="6812280" y="3583716"/>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Small file: stored entirely within its own record</a:t>
            </a:r>
            <a:endParaRPr lang="en-US" sz="1400" dirty="0"/>
          </a:p>
        </p:txBody>
      </p:sp>
      <p:sp>
        <p:nvSpPr>
          <p:cNvPr id="12" name="Text 10"/>
          <p:cNvSpPr txBox="1"/>
          <p:nvPr/>
        </p:nvSpPr>
        <p:spPr>
          <a:xfrm>
            <a:off x="6812280" y="3903756"/>
            <a:ext cx="4480560" cy="528036"/>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A file small enough to fit in the record's remaining space needs no separate data clusters at all — it is “resident” data</a:t>
            </a:r>
            <a:endParaRPr lang="en-US" sz="1100" dirty="0"/>
          </a:p>
        </p:txBody>
      </p:sp>
      <p:sp>
        <p:nvSpPr>
          <p:cNvPr id="13" name="Shape 11"/>
          <p:cNvSpPr/>
          <p:nvPr/>
        </p:nvSpPr>
        <p:spPr>
          <a:xfrm>
            <a:off x="8851392" y="4486656"/>
            <a:ext cx="219456" cy="237744"/>
          </a:xfrm>
          <a:prstGeom prst="downArrow">
            <a:avLst/>
          </a:prstGeom>
          <a:solidFill>
            <a:srgbClr val="8A939B"/>
          </a:solidFill>
          <a:ln/>
        </p:spPr>
      </p:sp>
      <p:sp>
        <p:nvSpPr>
          <p:cNvPr id="14" name="Shape 12"/>
          <p:cNvSpPr/>
          <p:nvPr/>
        </p:nvSpPr>
        <p:spPr>
          <a:xfrm>
            <a:off x="6400800" y="4724400"/>
            <a:ext cx="5120640" cy="981456"/>
          </a:xfrm>
          <a:prstGeom prst="roundRect">
            <a:avLst>
              <a:gd name="adj" fmla="val 5590"/>
            </a:avLst>
          </a:prstGeom>
          <a:solidFill>
            <a:srgbClr val="FFFFFF"/>
          </a:solidFill>
          <a:ln w="19050">
            <a:solidFill>
              <a:srgbClr val="E8A33D"/>
            </a:solidFill>
            <a:prstDash val="solid"/>
          </a:ln>
        </p:spPr>
      </p:sp>
      <p:sp>
        <p:nvSpPr>
          <p:cNvPr id="15" name="Shape 13"/>
          <p:cNvSpPr/>
          <p:nvPr/>
        </p:nvSpPr>
        <p:spPr>
          <a:xfrm>
            <a:off x="6601968" y="4895088"/>
            <a:ext cx="64008" cy="640080"/>
          </a:xfrm>
          <a:prstGeom prst="rect">
            <a:avLst/>
          </a:prstGeom>
          <a:solidFill>
            <a:srgbClr val="E8A33D"/>
          </a:solidFill>
          <a:ln/>
        </p:spPr>
      </p:sp>
      <p:sp>
        <p:nvSpPr>
          <p:cNvPr id="16" name="Text 14"/>
          <p:cNvSpPr txBox="1"/>
          <p:nvPr/>
        </p:nvSpPr>
        <p:spPr>
          <a:xfrm>
            <a:off x="6812280" y="4802916"/>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Large file: record points out to data clusters</a:t>
            </a:r>
            <a:endParaRPr lang="en-US" sz="1400" dirty="0"/>
          </a:p>
        </p:txBody>
      </p:sp>
      <p:sp>
        <p:nvSpPr>
          <p:cNvPr id="17" name="Text 15"/>
          <p:cNvSpPr txBox="1"/>
          <p:nvPr/>
        </p:nvSpPr>
        <p:spPr>
          <a:xfrm>
            <a:off x="6812280" y="5122956"/>
            <a:ext cx="4480560" cy="528036"/>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The record holds only the map; the actual bytes live in clusters elsewhere on the volume</a:t>
            </a:r>
            <a:endParaRPr lang="en-US" sz="1100" dirty="0"/>
          </a:p>
        </p:txBody>
      </p:sp>
      <p:sp>
        <p:nvSpPr>
          <p:cNvPr id="18" name="Text 16"/>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Journaling: Log the Intent, Then Act</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NTFS is a journaling file system: before it modifies its own metadata structures, it first writes a short record of the change it is about to make into a separate log area, the journal, and only afterward performs the actual modification.</a:t>
            </a:r>
            <a:endParaRPr lang="en-US" sz="1550" dirty="0"/>
          </a:p>
        </p:txBody>
      </p:sp>
      <p:sp>
        <p:nvSpPr>
          <p:cNvPr id="4" name="Shape 2"/>
          <p:cNvSpPr/>
          <p:nvPr/>
        </p:nvSpPr>
        <p:spPr>
          <a:xfrm>
            <a:off x="640080" y="2103120"/>
            <a:ext cx="3200400" cy="2377440"/>
          </a:xfrm>
          <a:prstGeom prst="roundRect">
            <a:avLst>
              <a:gd name="adj" fmla="val 3077"/>
            </a:avLst>
          </a:prstGeom>
          <a:solidFill>
            <a:srgbClr val="FFFFFF"/>
          </a:solidFill>
          <a:ln w="19050">
            <a:solidFill>
              <a:srgbClr val="2FE6C4"/>
            </a:solidFill>
            <a:prstDash val="solid"/>
          </a:ln>
        </p:spPr>
      </p:sp>
      <p:sp>
        <p:nvSpPr>
          <p:cNvPr id="5" name="Shape 3"/>
          <p:cNvSpPr/>
          <p:nvPr/>
        </p:nvSpPr>
        <p:spPr>
          <a:xfrm>
            <a:off x="841248" y="2331720"/>
            <a:ext cx="502920" cy="82296"/>
          </a:xfrm>
          <a:prstGeom prst="rect">
            <a:avLst/>
          </a:prstGeom>
          <a:solidFill>
            <a:srgbClr val="2FE6C4"/>
          </a:solidFill>
          <a:ln/>
        </p:spPr>
      </p:sp>
      <p:sp>
        <p:nvSpPr>
          <p:cNvPr id="6" name="Text 4"/>
          <p:cNvSpPr txBox="1"/>
          <p:nvPr/>
        </p:nvSpPr>
        <p:spPr>
          <a:xfrm>
            <a:off x="841248" y="2560320"/>
            <a:ext cx="279806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Write intent to journal</a:t>
            </a:r>
            <a:endParaRPr lang="en-US" sz="1400" dirty="0"/>
          </a:p>
        </p:txBody>
      </p:sp>
      <p:sp>
        <p:nvSpPr>
          <p:cNvPr id="7" name="Text 5"/>
          <p:cNvSpPr txBox="1"/>
          <p:nvPr/>
        </p:nvSpPr>
        <p:spPr>
          <a:xfrm>
            <a:off x="841248" y="3154680"/>
            <a:ext cx="279806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“About to update these metadata structures”</a:t>
            </a:r>
            <a:endParaRPr lang="en-US" sz="1100" dirty="0"/>
          </a:p>
        </p:txBody>
      </p:sp>
      <p:sp>
        <p:nvSpPr>
          <p:cNvPr id="8" name="Shape 6"/>
          <p:cNvSpPr/>
          <p:nvPr/>
        </p:nvSpPr>
        <p:spPr>
          <a:xfrm>
            <a:off x="3840480" y="3182112"/>
            <a:ext cx="320040" cy="219456"/>
          </a:xfrm>
          <a:prstGeom prst="rightArrow">
            <a:avLst/>
          </a:prstGeom>
          <a:solidFill>
            <a:srgbClr val="8A939B"/>
          </a:solidFill>
          <a:ln/>
        </p:spPr>
      </p:sp>
      <p:sp>
        <p:nvSpPr>
          <p:cNvPr id="9" name="Shape 7"/>
          <p:cNvSpPr/>
          <p:nvPr/>
        </p:nvSpPr>
        <p:spPr>
          <a:xfrm>
            <a:off x="4160520" y="2103120"/>
            <a:ext cx="3200400" cy="2377440"/>
          </a:xfrm>
          <a:prstGeom prst="roundRect">
            <a:avLst>
              <a:gd name="adj" fmla="val 3077"/>
            </a:avLst>
          </a:prstGeom>
          <a:solidFill>
            <a:srgbClr val="FFFFFF"/>
          </a:solidFill>
          <a:ln w="19050">
            <a:solidFill>
              <a:srgbClr val="8B7FD9"/>
            </a:solidFill>
            <a:prstDash val="solid"/>
          </a:ln>
        </p:spPr>
      </p:sp>
      <p:sp>
        <p:nvSpPr>
          <p:cNvPr id="10" name="Shape 8"/>
          <p:cNvSpPr/>
          <p:nvPr/>
        </p:nvSpPr>
        <p:spPr>
          <a:xfrm>
            <a:off x="4361688" y="2331720"/>
            <a:ext cx="502920" cy="82296"/>
          </a:xfrm>
          <a:prstGeom prst="rect">
            <a:avLst/>
          </a:prstGeom>
          <a:solidFill>
            <a:srgbClr val="8B7FD9"/>
          </a:solidFill>
          <a:ln/>
        </p:spPr>
      </p:sp>
      <p:sp>
        <p:nvSpPr>
          <p:cNvPr id="11" name="Text 9"/>
          <p:cNvSpPr txBox="1"/>
          <p:nvPr/>
        </p:nvSpPr>
        <p:spPr>
          <a:xfrm>
            <a:off x="4361688" y="2560320"/>
            <a:ext cx="279806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Perform the actual update</a:t>
            </a:r>
            <a:endParaRPr lang="en-US" sz="1400" dirty="0"/>
          </a:p>
        </p:txBody>
      </p:sp>
      <p:sp>
        <p:nvSpPr>
          <p:cNvPr id="12" name="Text 10"/>
          <p:cNvSpPr txBox="1"/>
          <p:nvPr/>
        </p:nvSpPr>
        <p:spPr>
          <a:xfrm>
            <a:off x="4361688" y="3154680"/>
            <a:ext cx="279806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The MFT, directory entries, or free-space bitmaps are modified</a:t>
            </a:r>
            <a:endParaRPr lang="en-US" sz="1100" dirty="0"/>
          </a:p>
        </p:txBody>
      </p:sp>
      <p:sp>
        <p:nvSpPr>
          <p:cNvPr id="13" name="Shape 11"/>
          <p:cNvSpPr/>
          <p:nvPr/>
        </p:nvSpPr>
        <p:spPr>
          <a:xfrm>
            <a:off x="7360920" y="3182112"/>
            <a:ext cx="320040" cy="219456"/>
          </a:xfrm>
          <a:prstGeom prst="rightArrow">
            <a:avLst/>
          </a:prstGeom>
          <a:solidFill>
            <a:srgbClr val="8A939B"/>
          </a:solidFill>
          <a:ln/>
        </p:spPr>
      </p:sp>
      <p:sp>
        <p:nvSpPr>
          <p:cNvPr id="14" name="Shape 12"/>
          <p:cNvSpPr/>
          <p:nvPr/>
        </p:nvSpPr>
        <p:spPr>
          <a:xfrm>
            <a:off x="7680960" y="2103120"/>
            <a:ext cx="3200400" cy="2377440"/>
          </a:xfrm>
          <a:prstGeom prst="roundRect">
            <a:avLst>
              <a:gd name="adj" fmla="val 3077"/>
            </a:avLst>
          </a:prstGeom>
          <a:solidFill>
            <a:srgbClr val="FFFFFF"/>
          </a:solidFill>
          <a:ln w="19050">
            <a:solidFill>
              <a:srgbClr val="E8A33D"/>
            </a:solidFill>
            <a:prstDash val="solid"/>
          </a:ln>
        </p:spPr>
      </p:sp>
      <p:sp>
        <p:nvSpPr>
          <p:cNvPr id="15" name="Shape 13"/>
          <p:cNvSpPr/>
          <p:nvPr/>
        </p:nvSpPr>
        <p:spPr>
          <a:xfrm>
            <a:off x="7882128" y="2331720"/>
            <a:ext cx="502920" cy="82296"/>
          </a:xfrm>
          <a:prstGeom prst="rect">
            <a:avLst/>
          </a:prstGeom>
          <a:solidFill>
            <a:srgbClr val="E8A33D"/>
          </a:solidFill>
          <a:ln/>
        </p:spPr>
      </p:sp>
      <p:sp>
        <p:nvSpPr>
          <p:cNvPr id="16" name="Text 14"/>
          <p:cNvSpPr txBox="1"/>
          <p:nvPr/>
        </p:nvSpPr>
        <p:spPr>
          <a:xfrm>
            <a:off x="7882128" y="2560320"/>
            <a:ext cx="279806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Mark the journal entry complete</a:t>
            </a:r>
            <a:endParaRPr lang="en-US" sz="1400" dirty="0"/>
          </a:p>
        </p:txBody>
      </p:sp>
      <p:sp>
        <p:nvSpPr>
          <p:cNvPr id="17" name="Text 15"/>
          <p:cNvSpPr txBox="1"/>
          <p:nvPr/>
        </p:nvSpPr>
        <p:spPr>
          <a:xfrm>
            <a:off x="7882128" y="3154680"/>
            <a:ext cx="279806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A crash before this point means: replay or roll back on next boot, never a full scan</a:t>
            </a:r>
            <a:endParaRPr lang="en-US" sz="1100" dirty="0"/>
          </a:p>
        </p:txBody>
      </p:sp>
      <p:sp>
        <p:nvSpPr>
          <p:cNvPr id="18" name="Text 16"/>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NTFS Permissions via ACLs</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NTFS enforces file protection with full access control lists (ACLs) attached to every file and directory — exactly the access-list protection model Lecture 31 introduced as the flexible-but-potentially-unwieldy alternative to owner/group/other.</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Each entry in an NTFS ACL names a specific user or group and the specific operations they are permitted (or explicitly denied)</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This is considerably more expressive than three fixed rwx buckets — a single file can grant five different users five different permission sets</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cost is exactly the administrative overhead Lecture 31 warned a growing access list accumulates: every new user who needs access means another entry to add, audit, and eventually remove</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Apple File System: APFS</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APFS is the modern default file system across macOS, iOS, iPadOS, tvOS, and watchOS, replacing the older HFS+. It was designed from scratch around flash storage and makes different trade-offs from NTFS at almost every point.</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Copy-on-write (COW) is the foundation — the same core idea Lecture 25's fork() discussion introduced for duplicating a process's memory, now applied to an entire volume's data</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When a file (or an entire snapshot) is “copied,” APFS does not duplicate its data blocks up front — the copy and the original share the same underlying blocks</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genuinely new block is allocated only the moment either side is actually modified — the identical lazy-duplication principle, now protecting file data instead of process memory pages</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APFS: Space Sharing Across Volumes</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Older partitioning schemes gave each volume a fixed size, decided at creation time — growing one volume meant shrinking another, often requiring a disruptive repartition.</a:t>
            </a:r>
            <a:endParaRPr lang="en-US" sz="1550" dirty="0"/>
          </a:p>
        </p:txBody>
      </p:sp>
      <p:sp>
        <p:nvSpPr>
          <p:cNvPr id="4" name="Shape 2"/>
          <p:cNvSpPr/>
          <p:nvPr/>
        </p:nvSpPr>
        <p:spPr>
          <a:xfrm>
            <a:off x="640080" y="2148840"/>
            <a:ext cx="5303520" cy="2011680"/>
          </a:xfrm>
          <a:prstGeom prst="roundRect">
            <a:avLst>
              <a:gd name="adj" fmla="val 3636"/>
            </a:avLst>
          </a:prstGeom>
          <a:solidFill>
            <a:srgbClr val="8B7FD9"/>
          </a:solidFill>
          <a:ln/>
        </p:spPr>
      </p:sp>
      <p:sp>
        <p:nvSpPr>
          <p:cNvPr id="5" name="Text 3"/>
          <p:cNvSpPr txBox="1"/>
          <p:nvPr/>
        </p:nvSpPr>
        <p:spPr>
          <a:xfrm>
            <a:off x="868680" y="23317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Older partitioning</a:t>
            </a:r>
            <a:endParaRPr lang="en-US" sz="1500" dirty="0"/>
          </a:p>
        </p:txBody>
      </p:sp>
      <p:sp>
        <p:nvSpPr>
          <p:cNvPr id="6" name="Text 4"/>
          <p:cNvSpPr txBox="1"/>
          <p:nvPr/>
        </p:nvSpPr>
        <p:spPr>
          <a:xfrm>
            <a:off x="868680" y="28346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Each volume's size is fixed at creation; growing one means shrinking another</a:t>
            </a:r>
            <a:endParaRPr lang="en-US" sz="1150" dirty="0"/>
          </a:p>
        </p:txBody>
      </p:sp>
      <p:sp>
        <p:nvSpPr>
          <p:cNvPr id="7" name="Shape 5"/>
          <p:cNvSpPr/>
          <p:nvPr/>
        </p:nvSpPr>
        <p:spPr>
          <a:xfrm>
            <a:off x="6217920" y="2148840"/>
            <a:ext cx="5303520" cy="2011680"/>
          </a:xfrm>
          <a:prstGeom prst="roundRect">
            <a:avLst>
              <a:gd name="adj" fmla="val 3636"/>
            </a:avLst>
          </a:prstGeom>
          <a:solidFill>
            <a:srgbClr val="2FE6C4"/>
          </a:solidFill>
          <a:ln/>
        </p:spPr>
      </p:sp>
      <p:sp>
        <p:nvSpPr>
          <p:cNvPr id="8" name="Text 6"/>
          <p:cNvSpPr txBox="1"/>
          <p:nvPr/>
        </p:nvSpPr>
        <p:spPr>
          <a:xfrm>
            <a:off x="6446520" y="23317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APFS container</a:t>
            </a:r>
            <a:endParaRPr lang="en-US" sz="1500" dirty="0"/>
          </a:p>
        </p:txBody>
      </p:sp>
      <p:sp>
        <p:nvSpPr>
          <p:cNvPr id="9" name="Text 7"/>
          <p:cNvSpPr txBox="1"/>
          <p:nvPr/>
        </p:nvSpPr>
        <p:spPr>
          <a:xfrm>
            <a:off x="6446520" y="28346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Multiple volumes share one pool of free space dynamically; no volume's size is rigidly fixed</a:t>
            </a:r>
            <a:endParaRPr lang="en-US" sz="1150" dirty="0"/>
          </a:p>
        </p:txBody>
      </p:sp>
      <p:sp>
        <p:nvSpPr>
          <p:cNvPr id="10" name="Text 8"/>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APFS: Snapshots and Encryption</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Because of its copy-on-write foundation, APFS can take a snapshot — a complete, point-in-time, read-only copy of an entire volume — almost instantly and at almost no extra disk cost.</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snapshot simply shares every block with the live volume at the moment it was taken, and only consumes additional space as the live volume's data subsequently diverges from it, block by block</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This is precisely the mechanism behind Time Machine-style backups on macOS, which can hold many historical snapshots without storing a full, separate copy of the data for each one</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APFS also natively supports strong, full-volume and per-file encryption, built in as a first-class feature rather than bolted on afterward</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NTFS and APFS, Dimension by Dimension</a:t>
            </a:r>
            <a:endParaRPr lang="en-US" sz="2800" dirty="0"/>
          </a:p>
        </p:txBody>
      </p:sp>
      <p:sp>
        <p:nvSpPr>
          <p:cNvPr id="3" name="Text 1"/>
          <p:cNvSpPr txBox="1"/>
          <p:nvPr/>
        </p:nvSpPr>
        <p:spPr>
          <a:xfrm>
            <a:off x="640080" y="1234440"/>
            <a:ext cx="10881360" cy="64008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Both file systems solve the exact problems the last three lectures raised — just with different concrete engineering choices.</a:t>
            </a:r>
            <a:endParaRPr lang="en-US" sz="15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4251960"/>
        </p:xfrm>
        <a:graphic>
          <a:graphicData uri="http://schemas.openxmlformats.org/drawingml/2006/table">
            <a:tbl>
              <a:tblPr/>
              <a:tblGrid>
                <a:gridCol w="2286000"/>
                <a:gridCol w="4297680"/>
                <a:gridCol w="4297680"/>
              </a:tblGrid>
              <a:tr h="85039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4181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NTFS</a:t>
                      </a:r>
                      <a:endParaRPr lang="en-US" sz="13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4181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APFS</a:t>
                      </a:r>
                      <a:endParaRPr lang="en-US" sz="13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4181C"/>
                    </a:solidFill>
                  </a:tcPr>
                </a:tc>
              </a:tr>
              <a:tr h="850392">
                <a:tc>
                  <a:txBody>
                    <a:bodyPr/>
                    <a:lstStyle/>
                    <a:p>
                      <a:pPr indent="0" marL="0">
                        <a:buNone/>
                      </a:pPr>
                      <a:r>
                        <a:rPr lang="en-US" sz="1200" b="1" dirty="0">
                          <a:solidFill>
                            <a:srgbClr val="1F2429"/>
                          </a:solidFill>
                          <a:latin typeface="Calibri" pitchFamily="34" charset="0"/>
                          <a:ea typeface="Calibri" pitchFamily="34" charset="-122"/>
                          <a:cs typeface="Calibri" pitchFamily="34" charset="-120"/>
                        </a:rPr>
                        <a:t>Journaling approach</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Logs metadata-change intent before acting; replays/rolls back the journal after a crash — no full-disk check</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Copy-on-write means an in-progress update never overwrites committed data in place, so there is little to “replay” at all</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850392">
                <a:tc>
                  <a:txBody>
                    <a:bodyPr/>
                    <a:lstStyle/>
                    <a:p>
                      <a:pPr indent="0" marL="0">
                        <a:buNone/>
                      </a:pPr>
                      <a:r>
                        <a:rPr lang="en-US" sz="1200" b="1" dirty="0">
                          <a:solidFill>
                            <a:srgbClr val="1F2429"/>
                          </a:solidFill>
                          <a:latin typeface="Calibri" pitchFamily="34" charset="0"/>
                          <a:ea typeface="Calibri" pitchFamily="34" charset="-122"/>
                          <a:cs typeface="Calibri" pitchFamily="34" charset="-120"/>
                        </a:rPr>
                        <a:t>Space allocation model</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Each volume has a size set when the partition is created</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Multiple volumes dynamically share free space from one physical container</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r>
              <a:tr h="850392">
                <a:tc>
                  <a:txBody>
                    <a:bodyPr/>
                    <a:lstStyle/>
                    <a:p>
                      <a:pPr indent="0" marL="0">
                        <a:buNone/>
                      </a:pPr>
                      <a:r>
                        <a:rPr lang="en-US" sz="1200" b="1" dirty="0">
                          <a:solidFill>
                            <a:srgbClr val="1F2429"/>
                          </a:solidFill>
                          <a:latin typeface="Calibri" pitchFamily="34" charset="0"/>
                          <a:ea typeface="Calibri" pitchFamily="34" charset="-122"/>
                          <a:cs typeface="Calibri" pitchFamily="34" charset="-120"/>
                        </a:rPr>
                        <a:t>Snapshot support</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Supported (Volume Shadow Copy), layered on top of the base file system rather than native to it</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Native, instant, and space-efficient by design, directly because of its copy-on-write foundation</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850392">
                <a:tc>
                  <a:txBody>
                    <a:bodyPr/>
                    <a:lstStyle/>
                    <a:p>
                      <a:pPr indent="0" marL="0">
                        <a:buNone/>
                      </a:pPr>
                      <a:r>
                        <a:rPr lang="en-US" sz="1200" b="1" dirty="0">
                          <a:solidFill>
                            <a:srgbClr val="1F2429"/>
                          </a:solidFill>
                          <a:latin typeface="Calibri" pitchFamily="34" charset="0"/>
                          <a:ea typeface="Calibri" pitchFamily="34" charset="-122"/>
                          <a:cs typeface="Calibri" pitchFamily="34" charset="-120"/>
                        </a:rPr>
                        <a:t>Typical use context</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Windows desktops, laptops, and servers; fine-grained ACL permissions for shared, multi-user environments</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Apple desktops and mobile devices; flash-optimized, snapshot-friendly, built-in encryption by default</a:t>
                      </a:r>
                      <a:endParaRPr lang="en-US" sz="120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r>
            </a:tbl>
          </a:graphicData>
        </a:graphic>
      </p:graphicFrame>
      <p:sp>
        <p:nvSpPr>
          <p:cNvPr id="5"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NTFS and APFS: Two Answers to the Same Problems</a:t>
            </a:r>
            <a:endParaRPr lang="en-US" sz="2800" dirty="0"/>
          </a:p>
        </p:txBody>
      </p:sp>
      <p:sp>
        <p:nvSpPr>
          <p:cNvPr id="3" name="Text 1"/>
          <p:cNvSpPr txBox="1"/>
          <p:nvPr/>
        </p:nvSpPr>
        <p:spPr>
          <a:xfrm>
            <a:off x="640080" y="1280160"/>
            <a:ext cx="10881360" cy="1126173"/>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NTFS's ACLs and APFS's owner/group/other-plus-extensions both answer Lecture 31's protection question, from two different directions</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NTFS's journal and APFS's copy-on-write both answer the exact same crash-consistency problem, just differently</a:t>
            </a:r>
            <a:endParaRPr lang="en-US" sz="1550" dirty="0"/>
          </a:p>
        </p:txBody>
      </p:sp>
      <p:sp>
        <p:nvSpPr>
          <p:cNvPr id="4" name="Shape 2"/>
          <p:cNvSpPr/>
          <p:nvPr/>
        </p:nvSpPr>
        <p:spPr>
          <a:xfrm>
            <a:off x="640080" y="2634933"/>
            <a:ext cx="10881360" cy="1645920"/>
          </a:xfrm>
          <a:prstGeom prst="roundRect">
            <a:avLst>
              <a:gd name="adj" fmla="val 6667"/>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2863533"/>
            <a:ext cx="10332720" cy="457200"/>
          </a:xfrm>
          <a:prstGeom prst="rect">
            <a:avLst/>
          </a:prstGeom>
          <a:noFill/>
          <a:ln/>
        </p:spPr>
        <p:txBody>
          <a:bodyPr wrap="square" lIns="0" tIns="0" rIns="0" bIns="0" rtlCol="0" anchor="t"/>
          <a:lstStyle/>
          <a:p>
            <a:pPr indent="0" marL="0">
              <a:buNone/>
            </a:pPr>
            <a:r>
              <a:rPr lang="en-US" sz="1600" b="1" dirty="0">
                <a:solidFill>
                  <a:srgbClr val="2FE6C4"/>
                </a:solidFill>
                <a:latin typeface="Calibri" pitchFamily="34" charset="0"/>
                <a:ea typeface="Calibri" pitchFamily="34" charset="-122"/>
                <a:cs typeface="Calibri" pitchFamily="34" charset="-120"/>
              </a:rPr>
              <a:t>Different defaults, same underlying problems</a:t>
            </a:r>
            <a:endParaRPr lang="en-US" sz="1600" dirty="0"/>
          </a:p>
        </p:txBody>
      </p:sp>
      <p:sp>
        <p:nvSpPr>
          <p:cNvPr id="6" name="Text 4"/>
          <p:cNvSpPr txBox="1"/>
          <p:nvPr/>
        </p:nvSpPr>
        <p:spPr>
          <a:xfrm>
            <a:off x="914400" y="3366452"/>
            <a:ext cx="10332720" cy="6858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Neither design is “wrong” — they reflect different priorities (fine-grained enterprise permission management vs. flash-optimized, snapshot-native simplicity) built on top of the exact same concepts this course spent four lectures establishing.</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822960" y="457200"/>
            <a:ext cx="1051560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Course Recap — Seven Units, One Running Example</a:t>
            </a:r>
            <a:endParaRPr lang="en-US" sz="3000" dirty="0"/>
          </a:p>
        </p:txBody>
      </p:sp>
      <p:sp>
        <p:nvSpPr>
          <p:cNvPr id="3" name="Shape 1"/>
          <p:cNvSpPr/>
          <p:nvPr/>
        </p:nvSpPr>
        <p:spPr>
          <a:xfrm>
            <a:off x="822960" y="1737360"/>
            <a:ext cx="502920" cy="502920"/>
          </a:xfrm>
          <a:prstGeom prst="ellipse">
            <a:avLst/>
          </a:prstGeom>
          <a:solidFill>
            <a:srgbClr val="2FE6C4"/>
          </a:solidFill>
          <a:ln/>
        </p:spPr>
      </p:sp>
      <p:sp>
        <p:nvSpPr>
          <p:cNvPr id="4" name="Text 2"/>
          <p:cNvSpPr txBox="1"/>
          <p:nvPr/>
        </p:nvSpPr>
        <p:spPr>
          <a:xfrm>
            <a:off x="822960" y="173736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508760" y="169164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One running example, threaded through all 7 units</a:t>
            </a:r>
            <a:endParaRPr lang="en-US" sz="1400" dirty="0"/>
          </a:p>
        </p:txBody>
      </p:sp>
      <p:sp>
        <p:nvSpPr>
          <p:cNvPr id="6" name="Shape 4"/>
          <p:cNvSpPr/>
          <p:nvPr/>
        </p:nvSpPr>
        <p:spPr>
          <a:xfrm>
            <a:off x="822960" y="2697480"/>
            <a:ext cx="502920" cy="502920"/>
          </a:xfrm>
          <a:prstGeom prst="ellipse">
            <a:avLst/>
          </a:prstGeom>
          <a:solidFill>
            <a:srgbClr val="8B7FD9"/>
          </a:solidFill>
          <a:ln/>
        </p:spPr>
      </p:sp>
      <p:sp>
        <p:nvSpPr>
          <p:cNvPr id="7" name="Text 5"/>
          <p:cNvSpPr txBox="1"/>
          <p:nvPr/>
        </p:nvSpPr>
        <p:spPr>
          <a:xfrm>
            <a:off x="822960" y="269748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1508760" y="265176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1: OS Foundations and Structure</a:t>
            </a:r>
            <a:endParaRPr lang="en-US" sz="1400" dirty="0"/>
          </a:p>
        </p:txBody>
      </p:sp>
      <p:sp>
        <p:nvSpPr>
          <p:cNvPr id="9" name="Shape 7"/>
          <p:cNvSpPr/>
          <p:nvPr/>
        </p:nvSpPr>
        <p:spPr>
          <a:xfrm>
            <a:off x="822960" y="3657600"/>
            <a:ext cx="502920" cy="502920"/>
          </a:xfrm>
          <a:prstGeom prst="ellipse">
            <a:avLst/>
          </a:prstGeom>
          <a:solidFill>
            <a:srgbClr val="E8A33D"/>
          </a:solidFill>
          <a:ln/>
        </p:spPr>
      </p:sp>
      <p:sp>
        <p:nvSpPr>
          <p:cNvPr id="10" name="Text 8"/>
          <p:cNvSpPr txBox="1"/>
          <p:nvPr/>
        </p:nvSpPr>
        <p:spPr>
          <a:xfrm>
            <a:off x="822960" y="365760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508760" y="361188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2: Process Management and Threads</a:t>
            </a:r>
            <a:endParaRPr lang="en-US" sz="1400" dirty="0"/>
          </a:p>
        </p:txBody>
      </p:sp>
      <p:sp>
        <p:nvSpPr>
          <p:cNvPr id="12" name="Shape 10"/>
          <p:cNvSpPr/>
          <p:nvPr/>
        </p:nvSpPr>
        <p:spPr>
          <a:xfrm>
            <a:off x="822960" y="4617720"/>
            <a:ext cx="502920" cy="502920"/>
          </a:xfrm>
          <a:prstGeom prst="ellipse">
            <a:avLst/>
          </a:prstGeom>
          <a:solidFill>
            <a:srgbClr val="2FE6C4"/>
          </a:solidFill>
          <a:ln/>
        </p:spPr>
      </p:sp>
      <p:sp>
        <p:nvSpPr>
          <p:cNvPr id="13" name="Text 11"/>
          <p:cNvSpPr txBox="1"/>
          <p:nvPr/>
        </p:nvSpPr>
        <p:spPr>
          <a:xfrm>
            <a:off x="822960" y="461772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1508760" y="457200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3: CPU Scheduling</a:t>
            </a:r>
            <a:endParaRPr lang="en-US" sz="1400" dirty="0"/>
          </a:p>
        </p:txBody>
      </p:sp>
      <p:sp>
        <p:nvSpPr>
          <p:cNvPr id="15" name="Shape 13"/>
          <p:cNvSpPr/>
          <p:nvPr/>
        </p:nvSpPr>
        <p:spPr>
          <a:xfrm>
            <a:off x="6309360" y="1737360"/>
            <a:ext cx="502920" cy="502920"/>
          </a:xfrm>
          <a:prstGeom prst="ellipse">
            <a:avLst/>
          </a:prstGeom>
          <a:solidFill>
            <a:srgbClr val="8B7FD9"/>
          </a:solidFill>
          <a:ln/>
        </p:spPr>
      </p:sp>
      <p:sp>
        <p:nvSpPr>
          <p:cNvPr id="16" name="Text 14"/>
          <p:cNvSpPr txBox="1"/>
          <p:nvPr/>
        </p:nvSpPr>
        <p:spPr>
          <a:xfrm>
            <a:off x="6309360" y="173736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6995160" y="169164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4: Process Synchronization</a:t>
            </a:r>
            <a:endParaRPr lang="en-US" sz="1400" dirty="0"/>
          </a:p>
        </p:txBody>
      </p:sp>
      <p:sp>
        <p:nvSpPr>
          <p:cNvPr id="18" name="Shape 16"/>
          <p:cNvSpPr/>
          <p:nvPr/>
        </p:nvSpPr>
        <p:spPr>
          <a:xfrm>
            <a:off x="6309360" y="2697480"/>
            <a:ext cx="502920" cy="502920"/>
          </a:xfrm>
          <a:prstGeom prst="ellipse">
            <a:avLst/>
          </a:prstGeom>
          <a:solidFill>
            <a:srgbClr val="E8A33D"/>
          </a:solidFill>
          <a:ln/>
        </p:spPr>
      </p:sp>
      <p:sp>
        <p:nvSpPr>
          <p:cNvPr id="19" name="Text 17"/>
          <p:cNvSpPr txBox="1"/>
          <p:nvPr/>
        </p:nvSpPr>
        <p:spPr>
          <a:xfrm>
            <a:off x="6309360" y="269748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6</a:t>
            </a:r>
            <a:endParaRPr lang="en-US" sz="1600" dirty="0"/>
          </a:p>
        </p:txBody>
      </p:sp>
      <p:sp>
        <p:nvSpPr>
          <p:cNvPr id="20" name="Text 18"/>
          <p:cNvSpPr txBox="1"/>
          <p:nvPr/>
        </p:nvSpPr>
        <p:spPr>
          <a:xfrm>
            <a:off x="6995160" y="265176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5: Deadlocks</a:t>
            </a:r>
            <a:endParaRPr lang="en-US" sz="1400" dirty="0"/>
          </a:p>
        </p:txBody>
      </p:sp>
      <p:sp>
        <p:nvSpPr>
          <p:cNvPr id="21" name="Shape 19"/>
          <p:cNvSpPr/>
          <p:nvPr/>
        </p:nvSpPr>
        <p:spPr>
          <a:xfrm>
            <a:off x="6309360" y="3657600"/>
            <a:ext cx="502920" cy="502920"/>
          </a:xfrm>
          <a:prstGeom prst="ellipse">
            <a:avLst/>
          </a:prstGeom>
          <a:solidFill>
            <a:srgbClr val="2FE6C4"/>
          </a:solidFill>
          <a:ln/>
        </p:spPr>
      </p:sp>
      <p:sp>
        <p:nvSpPr>
          <p:cNvPr id="22" name="Text 20"/>
          <p:cNvSpPr txBox="1"/>
          <p:nvPr/>
        </p:nvSpPr>
        <p:spPr>
          <a:xfrm>
            <a:off x="6309360" y="365760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7</a:t>
            </a:r>
            <a:endParaRPr lang="en-US" sz="1600" dirty="0"/>
          </a:p>
        </p:txBody>
      </p:sp>
      <p:sp>
        <p:nvSpPr>
          <p:cNvPr id="23" name="Text 21"/>
          <p:cNvSpPr txBox="1"/>
          <p:nvPr/>
        </p:nvSpPr>
        <p:spPr>
          <a:xfrm>
            <a:off x="6995160" y="361188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6: Memory Management</a:t>
            </a:r>
            <a:endParaRPr lang="en-US" sz="1400" dirty="0"/>
          </a:p>
        </p:txBody>
      </p:sp>
      <p:sp>
        <p:nvSpPr>
          <p:cNvPr id="24" name="Shape 22"/>
          <p:cNvSpPr/>
          <p:nvPr/>
        </p:nvSpPr>
        <p:spPr>
          <a:xfrm>
            <a:off x="6309360" y="4617720"/>
            <a:ext cx="502920" cy="502920"/>
          </a:xfrm>
          <a:prstGeom prst="ellipse">
            <a:avLst/>
          </a:prstGeom>
          <a:solidFill>
            <a:srgbClr val="8B7FD9"/>
          </a:solidFill>
          <a:ln/>
        </p:spPr>
      </p:sp>
      <p:sp>
        <p:nvSpPr>
          <p:cNvPr id="25" name="Text 23"/>
          <p:cNvSpPr txBox="1"/>
          <p:nvPr/>
        </p:nvSpPr>
        <p:spPr>
          <a:xfrm>
            <a:off x="6309360" y="4617720"/>
            <a:ext cx="502920" cy="502920"/>
          </a:xfrm>
          <a:prstGeom prst="rect">
            <a:avLst/>
          </a:prstGeom>
          <a:noFill/>
          <a:ln/>
        </p:spPr>
        <p:txBody>
          <a:bodyPr wrap="square" lIns="0" tIns="0" rIns="0" bIns="0" rtlCol="0" anchor="ctr"/>
          <a:lstStyle/>
          <a:p>
            <a:pPr algn="ctr" indent="0" marL="0">
              <a:buNone/>
            </a:pPr>
            <a:r>
              <a:rPr lang="en-US" sz="1600" b="1" dirty="0">
                <a:solidFill>
                  <a:srgbClr val="1F2429"/>
                </a:solidFill>
                <a:latin typeface="Calibri" pitchFamily="34" charset="0"/>
                <a:ea typeface="Calibri" pitchFamily="34" charset="-122"/>
                <a:cs typeface="Calibri" pitchFamily="34" charset="-120"/>
              </a:rPr>
              <a:t>8</a:t>
            </a:r>
            <a:endParaRPr lang="en-US" sz="1600" dirty="0"/>
          </a:p>
        </p:txBody>
      </p:sp>
      <p:sp>
        <p:nvSpPr>
          <p:cNvPr id="26" name="Text 24"/>
          <p:cNvSpPr txBox="1"/>
          <p:nvPr/>
        </p:nvSpPr>
        <p:spPr>
          <a:xfrm>
            <a:off x="6995160" y="4572000"/>
            <a:ext cx="4526280" cy="777240"/>
          </a:xfrm>
          <a:prstGeom prst="rect">
            <a:avLst/>
          </a:prstGeom>
          <a:noFill/>
          <a:ln/>
        </p:spPr>
        <p:txBody>
          <a:bodyPr wrap="square" lIns="0" tIns="0" rIns="0" bIns="0" rtlCol="0" anchor="ctr"/>
          <a:lstStyle/>
          <a:p>
            <a:pPr indent="0" marL="0">
              <a:lnSpc>
                <a:spcPct val="110000"/>
              </a:lnSpc>
              <a:buNone/>
            </a:pPr>
            <a:r>
              <a:rPr lang="en-US" sz="1400" dirty="0">
                <a:solidFill>
                  <a:srgbClr val="1F2429"/>
                </a:solidFill>
                <a:latin typeface="Calibri" pitchFamily="34" charset="0"/>
                <a:ea typeface="Calibri" pitchFamily="34" charset="-122"/>
                <a:cs typeface="Calibri" pitchFamily="34" charset="-120"/>
              </a:rPr>
              <a:t>Unit 7: Storage and File Systems</a:t>
            </a:r>
            <a:endParaRPr lang="en-US" sz="1400" dirty="0"/>
          </a:p>
        </p:txBody>
      </p:sp>
      <p:sp>
        <p:nvSpPr>
          <p:cNvPr id="27" name="Text 2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822960" y="530352"/>
            <a:ext cx="10515600" cy="365760"/>
          </a:xfrm>
          <a:prstGeom prst="rect">
            <a:avLst/>
          </a:prstGeom>
          <a:noFill/>
          <a:ln/>
        </p:spPr>
        <p:txBody>
          <a:bodyPr wrap="square" lIns="0" tIns="0" rIns="0" bIns="0" rtlCol="0" anchor="ctr"/>
          <a:lstStyle/>
          <a:p>
            <a:pPr indent="0" marL="0">
              <a:buNone/>
            </a:pPr>
            <a:r>
              <a:rPr lang="en-US" sz="1300" b="1" spc="200" kern="0" dirty="0">
                <a:solidFill>
                  <a:srgbClr val="8B7FD9"/>
                </a:solidFill>
                <a:latin typeface="Calibri" pitchFamily="34" charset="0"/>
                <a:ea typeface="Calibri" pitchFamily="34" charset="-122"/>
                <a:cs typeface="Calibri" pitchFamily="34" charset="-120"/>
              </a:rPr>
              <a:t>COURSE RECAP</a:t>
            </a:r>
            <a:endParaRPr lang="en-US" sz="1300" dirty="0"/>
          </a:p>
        </p:txBody>
      </p:sp>
      <p:sp>
        <p:nvSpPr>
          <p:cNvPr id="3" name="Text 1"/>
          <p:cNvSpPr txBox="1"/>
          <p:nvPr/>
        </p:nvSpPr>
        <p:spPr>
          <a:xfrm>
            <a:off x="822960" y="896112"/>
            <a:ext cx="1051560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The Running Example</a:t>
            </a:r>
            <a:endParaRPr lang="en-US" sz="3000" dirty="0"/>
          </a:p>
        </p:txBody>
      </p:sp>
      <p:sp>
        <p:nvSpPr>
          <p:cNvPr id="4" name="Text 2"/>
          <p:cNvSpPr txBox="1"/>
          <p:nvPr/>
        </p:nvSpPr>
        <p:spPr>
          <a:xfrm>
            <a:off x="822960" y="1828800"/>
            <a:ext cx="10332720" cy="3931920"/>
          </a:xfrm>
          <a:prstGeom prst="rect">
            <a:avLst/>
          </a:prstGeom>
          <a:noFill/>
          <a:ln/>
        </p:spPr>
        <p:txBody>
          <a:bodyPr wrap="square" lIns="0" tIns="0" rIns="0" bIns="0" rtlCol="0" anchor="t"/>
          <a:lstStyle/>
          <a:p>
            <a:pPr indent="0" marL="0">
              <a:lnSpc>
                <a:spcPct val="135000"/>
              </a:lnSpc>
              <a:buNone/>
            </a:pPr>
            <a:r>
              <a:rPr lang="en-US" sz="1700" dirty="0">
                <a:solidFill>
                  <a:srgbClr val="1F2429"/>
                </a:solidFill>
                <a:latin typeface="Calibri" pitchFamily="34" charset="0"/>
                <a:ea typeface="Calibri" pitchFamily="34" charset="-122"/>
                <a:cs typeface="Calibri" pitchFamily="34" charset="-120"/>
              </a:rPr>
              <a:t>Throughout this recap, one scenario recurs: Ayesha opens a text editor to edit and save a large report. It is small enough to hold in your head in full, and rich enough that every unit of this course had something genuine to say about it.</a:t>
            </a:r>
            <a:endParaRPr lang="en-US" sz="17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Unit 1 — OS Foundations and Structure</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The moment Ayesha launches the editor, the OS creates a new process for it, and every single thing that process does from then on — opening the report, allocating memory, eventually saving — happens through a system call, the formal, protected boundary between an ordinary program and the kernel.</a:t>
            </a:r>
            <a:endParaRPr lang="en-US" sz="1550" dirty="0"/>
          </a:p>
        </p:txBody>
      </p:sp>
      <p:sp>
        <p:nvSpPr>
          <p:cNvPr id="4" name="Shape 2"/>
          <p:cNvSpPr/>
          <p:nvPr/>
        </p:nvSpPr>
        <p:spPr>
          <a:xfrm>
            <a:off x="640080" y="2103120"/>
            <a:ext cx="3200400" cy="2377440"/>
          </a:xfrm>
          <a:prstGeom prst="roundRect">
            <a:avLst>
              <a:gd name="adj" fmla="val 3077"/>
            </a:avLst>
          </a:prstGeom>
          <a:solidFill>
            <a:srgbClr val="FFFFFF"/>
          </a:solidFill>
          <a:ln w="19050">
            <a:solidFill>
              <a:srgbClr val="2FE6C4"/>
            </a:solidFill>
            <a:prstDash val="solid"/>
          </a:ln>
        </p:spPr>
      </p:sp>
      <p:sp>
        <p:nvSpPr>
          <p:cNvPr id="5" name="Shape 3"/>
          <p:cNvSpPr/>
          <p:nvPr/>
        </p:nvSpPr>
        <p:spPr>
          <a:xfrm>
            <a:off x="841248" y="2331720"/>
            <a:ext cx="502920" cy="82296"/>
          </a:xfrm>
          <a:prstGeom prst="rect">
            <a:avLst/>
          </a:prstGeom>
          <a:solidFill>
            <a:srgbClr val="2FE6C4"/>
          </a:solidFill>
          <a:ln/>
        </p:spPr>
      </p:sp>
      <p:sp>
        <p:nvSpPr>
          <p:cNvPr id="6" name="Text 4"/>
          <p:cNvSpPr txBox="1"/>
          <p:nvPr/>
        </p:nvSpPr>
        <p:spPr>
          <a:xfrm>
            <a:off x="841248" y="2560320"/>
            <a:ext cx="279806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Editor (user mode)</a:t>
            </a:r>
            <a:endParaRPr lang="en-US" sz="1400" dirty="0"/>
          </a:p>
        </p:txBody>
      </p:sp>
      <p:sp>
        <p:nvSpPr>
          <p:cNvPr id="7" name="Text 5"/>
          <p:cNvSpPr txBox="1"/>
          <p:nvPr/>
        </p:nvSpPr>
        <p:spPr>
          <a:xfrm>
            <a:off x="841248" y="3154680"/>
            <a:ext cx="279806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Calls open(), read(), write() — never touches hardware directly</a:t>
            </a:r>
            <a:endParaRPr lang="en-US" sz="1100" dirty="0"/>
          </a:p>
        </p:txBody>
      </p:sp>
      <p:sp>
        <p:nvSpPr>
          <p:cNvPr id="8" name="Shape 6"/>
          <p:cNvSpPr/>
          <p:nvPr/>
        </p:nvSpPr>
        <p:spPr>
          <a:xfrm>
            <a:off x="3840480" y="3182112"/>
            <a:ext cx="320040" cy="219456"/>
          </a:xfrm>
          <a:prstGeom prst="rightArrow">
            <a:avLst/>
          </a:prstGeom>
          <a:solidFill>
            <a:srgbClr val="8A939B"/>
          </a:solidFill>
          <a:ln/>
        </p:spPr>
      </p:sp>
      <p:sp>
        <p:nvSpPr>
          <p:cNvPr id="9" name="Shape 7"/>
          <p:cNvSpPr/>
          <p:nvPr/>
        </p:nvSpPr>
        <p:spPr>
          <a:xfrm>
            <a:off x="4160520" y="2103120"/>
            <a:ext cx="3200400" cy="2377440"/>
          </a:xfrm>
          <a:prstGeom prst="roundRect">
            <a:avLst>
              <a:gd name="adj" fmla="val 3077"/>
            </a:avLst>
          </a:prstGeom>
          <a:solidFill>
            <a:srgbClr val="FFFFFF"/>
          </a:solidFill>
          <a:ln w="19050">
            <a:solidFill>
              <a:srgbClr val="8B7FD9"/>
            </a:solidFill>
            <a:prstDash val="solid"/>
          </a:ln>
        </p:spPr>
      </p:sp>
      <p:sp>
        <p:nvSpPr>
          <p:cNvPr id="10" name="Shape 8"/>
          <p:cNvSpPr/>
          <p:nvPr/>
        </p:nvSpPr>
        <p:spPr>
          <a:xfrm>
            <a:off x="4361688" y="2331720"/>
            <a:ext cx="502920" cy="82296"/>
          </a:xfrm>
          <a:prstGeom prst="rect">
            <a:avLst/>
          </a:prstGeom>
          <a:solidFill>
            <a:srgbClr val="8B7FD9"/>
          </a:solidFill>
          <a:ln/>
        </p:spPr>
      </p:sp>
      <p:sp>
        <p:nvSpPr>
          <p:cNvPr id="11" name="Text 9"/>
          <p:cNvSpPr txBox="1"/>
          <p:nvPr/>
        </p:nvSpPr>
        <p:spPr>
          <a:xfrm>
            <a:off x="4361688" y="2560320"/>
            <a:ext cx="279806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System call boundary</a:t>
            </a:r>
            <a:endParaRPr lang="en-US" sz="1400" dirty="0"/>
          </a:p>
        </p:txBody>
      </p:sp>
      <p:sp>
        <p:nvSpPr>
          <p:cNvPr id="12" name="Shape 10"/>
          <p:cNvSpPr/>
          <p:nvPr/>
        </p:nvSpPr>
        <p:spPr>
          <a:xfrm>
            <a:off x="7360920" y="3182112"/>
            <a:ext cx="320040" cy="219456"/>
          </a:xfrm>
          <a:prstGeom prst="rightArrow">
            <a:avLst/>
          </a:prstGeom>
          <a:solidFill>
            <a:srgbClr val="8A939B"/>
          </a:solidFill>
          <a:ln/>
        </p:spPr>
      </p:sp>
      <p:sp>
        <p:nvSpPr>
          <p:cNvPr id="13" name="Shape 11"/>
          <p:cNvSpPr/>
          <p:nvPr/>
        </p:nvSpPr>
        <p:spPr>
          <a:xfrm>
            <a:off x="7680960" y="2103120"/>
            <a:ext cx="3200400" cy="2377440"/>
          </a:xfrm>
          <a:prstGeom prst="roundRect">
            <a:avLst>
              <a:gd name="adj" fmla="val 3077"/>
            </a:avLst>
          </a:prstGeom>
          <a:solidFill>
            <a:srgbClr val="FFFFFF"/>
          </a:solidFill>
          <a:ln w="19050">
            <a:solidFill>
              <a:srgbClr val="E8A33D"/>
            </a:solidFill>
            <a:prstDash val="solid"/>
          </a:ln>
        </p:spPr>
      </p:sp>
      <p:sp>
        <p:nvSpPr>
          <p:cNvPr id="14" name="Shape 12"/>
          <p:cNvSpPr/>
          <p:nvPr/>
        </p:nvSpPr>
        <p:spPr>
          <a:xfrm>
            <a:off x="7882128" y="2331720"/>
            <a:ext cx="502920" cy="82296"/>
          </a:xfrm>
          <a:prstGeom prst="rect">
            <a:avLst/>
          </a:prstGeom>
          <a:solidFill>
            <a:srgbClr val="E8A33D"/>
          </a:solidFill>
          <a:ln/>
        </p:spPr>
      </p:sp>
      <p:sp>
        <p:nvSpPr>
          <p:cNvPr id="15" name="Text 13"/>
          <p:cNvSpPr txBox="1"/>
          <p:nvPr/>
        </p:nvSpPr>
        <p:spPr>
          <a:xfrm>
            <a:off x="7882128" y="2560320"/>
            <a:ext cx="2798064" cy="5486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Kernel (kernel mode)</a:t>
            </a:r>
            <a:endParaRPr lang="en-US" sz="1400" dirty="0"/>
          </a:p>
        </p:txBody>
      </p:sp>
      <p:sp>
        <p:nvSpPr>
          <p:cNvPr id="16" name="Text 14"/>
          <p:cNvSpPr txBox="1"/>
          <p:nvPr/>
        </p:nvSpPr>
        <p:spPr>
          <a:xfrm>
            <a:off x="7882128" y="3154680"/>
            <a:ext cx="2798064" cy="1143000"/>
          </a:xfrm>
          <a:prstGeom prst="rect">
            <a:avLst/>
          </a:prstGeom>
          <a:noFill/>
          <a:ln/>
        </p:spPr>
        <p:txBody>
          <a:bodyPr wrap="square" lIns="0" tIns="0" rIns="0" bIns="0" rtlCol="0" anchor="t"/>
          <a:lstStyle/>
          <a:p>
            <a:pPr indent="0" marL="0">
              <a:lnSpc>
                <a:spcPct val="115000"/>
              </a:lnSpc>
              <a:buNone/>
            </a:pPr>
            <a:r>
              <a:rPr lang="en-US" sz="1100" dirty="0">
                <a:solidFill>
                  <a:srgbClr val="8A939B"/>
                </a:solidFill>
                <a:latin typeface="Calibri" pitchFamily="34" charset="0"/>
                <a:ea typeface="Calibri" pitchFamily="34" charset="-122"/>
                <a:cs typeface="Calibri" pitchFamily="34" charset="-120"/>
              </a:rPr>
              <a:t>Services the request on the process's behalf</a:t>
            </a:r>
            <a:endParaRPr lang="en-US" sz="1100" dirty="0"/>
          </a:p>
        </p:txBody>
      </p:sp>
      <p:sp>
        <p:nvSpPr>
          <p:cNvPr id="17" name="Text 1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Shape 0"/>
          <p:cNvSpPr/>
          <p:nvPr/>
        </p:nvSpPr>
        <p:spPr>
          <a:xfrm>
            <a:off x="822960" y="502920"/>
            <a:ext cx="594360" cy="594360"/>
          </a:xfrm>
          <a:prstGeom prst="ellipse">
            <a:avLst/>
          </a:prstGeom>
          <a:solidFill>
            <a:srgbClr val="8B7FD9"/>
          </a:solidFill>
          <a:ln/>
        </p:spPr>
      </p:sp>
      <p:sp>
        <p:nvSpPr>
          <p:cNvPr id="3" name="Text 1"/>
          <p:cNvSpPr txBox="1"/>
          <p:nvPr/>
        </p:nvSpPr>
        <p:spPr>
          <a:xfrm>
            <a:off x="822960" y="502920"/>
            <a:ext cx="594360" cy="594360"/>
          </a:xfrm>
          <a:prstGeom prst="rect">
            <a:avLst/>
          </a:prstGeom>
          <a:noFill/>
          <a:ln/>
        </p:spPr>
        <p:txBody>
          <a:bodyPr wrap="square" lIns="0" tIns="0" rIns="0" bIns="0" rtlCol="0" anchor="ctr"/>
          <a:lstStyle/>
          <a:p>
            <a:pPr algn="ctr" indent="0" marL="0">
              <a:buNone/>
            </a:pPr>
            <a:r>
              <a:rPr lang="en-US" sz="2000" b="1" dirty="0">
                <a:solidFill>
                  <a:srgbClr val="1F2429"/>
                </a:solidFill>
                <a:latin typeface="Calibri" pitchFamily="34" charset="0"/>
                <a:ea typeface="Calibri" pitchFamily="34" charset="-122"/>
                <a:cs typeface="Calibri" pitchFamily="34" charset="-120"/>
              </a:rPr>
              <a:t>2</a:t>
            </a:r>
            <a:endParaRPr lang="en-US" sz="2000" dirty="0"/>
          </a:p>
        </p:txBody>
      </p:sp>
      <p:sp>
        <p:nvSpPr>
          <p:cNvPr id="4" name="Text 2"/>
          <p:cNvSpPr txBox="1"/>
          <p:nvPr/>
        </p:nvSpPr>
        <p:spPr>
          <a:xfrm>
            <a:off x="1783080" y="530352"/>
            <a:ext cx="9555480" cy="365760"/>
          </a:xfrm>
          <a:prstGeom prst="rect">
            <a:avLst/>
          </a:prstGeom>
          <a:noFill/>
          <a:ln/>
        </p:spPr>
        <p:txBody>
          <a:bodyPr wrap="square" lIns="0" tIns="0" rIns="0" bIns="0" rtlCol="0" anchor="ctr"/>
          <a:lstStyle/>
          <a:p>
            <a:pPr indent="0" marL="0">
              <a:buNone/>
            </a:pPr>
            <a:r>
              <a:rPr lang="en-US" sz="1300" b="1" spc="200" kern="0" dirty="0">
                <a:solidFill>
                  <a:srgbClr val="8B7FD9"/>
                </a:solidFill>
                <a:latin typeface="Calibri" pitchFamily="34" charset="0"/>
                <a:ea typeface="Calibri" pitchFamily="34" charset="-122"/>
                <a:cs typeface="Calibri" pitchFamily="34" charset="-120"/>
              </a:rPr>
              <a:t>UNIT 2</a:t>
            </a:r>
            <a:endParaRPr lang="en-US" sz="1300" dirty="0"/>
          </a:p>
        </p:txBody>
      </p:sp>
      <p:sp>
        <p:nvSpPr>
          <p:cNvPr id="5" name="Text 3"/>
          <p:cNvSpPr txBox="1"/>
          <p:nvPr/>
        </p:nvSpPr>
        <p:spPr>
          <a:xfrm>
            <a:off x="1783080" y="896112"/>
            <a:ext cx="955548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Process Management and Threads</a:t>
            </a:r>
            <a:endParaRPr lang="en-US" sz="3000" dirty="0"/>
          </a:p>
        </p:txBody>
      </p:sp>
      <p:sp>
        <p:nvSpPr>
          <p:cNvPr id="6" name="Text 4"/>
          <p:cNvSpPr txBox="1"/>
          <p:nvPr/>
        </p:nvSpPr>
        <p:spPr>
          <a:xfrm>
            <a:off x="822960" y="1828800"/>
            <a:ext cx="10332720" cy="3931920"/>
          </a:xfrm>
          <a:prstGeom prst="rect">
            <a:avLst/>
          </a:prstGeom>
          <a:noFill/>
          <a:ln/>
        </p:spPr>
        <p:txBody>
          <a:bodyPr wrap="square" lIns="0" tIns="0" rIns="0" bIns="0" rtlCol="0" anchor="t"/>
          <a:lstStyle/>
          <a:p>
            <a:pPr indent="0" marL="0">
              <a:lnSpc>
                <a:spcPct val="135000"/>
              </a:lnSpc>
              <a:buNone/>
            </a:pPr>
            <a:r>
              <a:rPr lang="en-US" sz="1700" dirty="0">
                <a:solidFill>
                  <a:srgbClr val="1F2429"/>
                </a:solidFill>
                <a:latin typeface="Calibri" pitchFamily="34" charset="0"/>
                <a:ea typeface="Calibri" pitchFamily="34" charset="-122"/>
                <a:cs typeface="Calibri" pitchFamily="34" charset="-120"/>
              </a:rPr>
              <a:t>The editor doesn't do everything on its single main thread — it spins up a background autosave thread that periodically saves the report without freezing the editing window. Both threads share the same process's address space and open files, exactly the distinguishing feature of threads: cheaper to create and switch between than a whole new process, precisely because so much context is already shared.</a:t>
            </a:r>
            <a:endParaRPr lang="en-US" sz="17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Shape 0"/>
          <p:cNvSpPr/>
          <p:nvPr/>
        </p:nvSpPr>
        <p:spPr>
          <a:xfrm>
            <a:off x="822960" y="502920"/>
            <a:ext cx="594360" cy="594360"/>
          </a:xfrm>
          <a:prstGeom prst="ellipse">
            <a:avLst/>
          </a:prstGeom>
          <a:solidFill>
            <a:srgbClr val="E8A33D"/>
          </a:solidFill>
          <a:ln/>
        </p:spPr>
      </p:sp>
      <p:sp>
        <p:nvSpPr>
          <p:cNvPr id="3" name="Text 1"/>
          <p:cNvSpPr txBox="1"/>
          <p:nvPr/>
        </p:nvSpPr>
        <p:spPr>
          <a:xfrm>
            <a:off x="822960" y="502920"/>
            <a:ext cx="594360" cy="594360"/>
          </a:xfrm>
          <a:prstGeom prst="rect">
            <a:avLst/>
          </a:prstGeom>
          <a:noFill/>
          <a:ln/>
        </p:spPr>
        <p:txBody>
          <a:bodyPr wrap="square" lIns="0" tIns="0" rIns="0" bIns="0" rtlCol="0" anchor="ctr"/>
          <a:lstStyle/>
          <a:p>
            <a:pPr algn="ctr" indent="0" marL="0">
              <a:buNone/>
            </a:pPr>
            <a:r>
              <a:rPr lang="en-US" sz="2000" b="1" dirty="0">
                <a:solidFill>
                  <a:srgbClr val="1F2429"/>
                </a:solidFill>
                <a:latin typeface="Calibri" pitchFamily="34" charset="0"/>
                <a:ea typeface="Calibri" pitchFamily="34" charset="-122"/>
                <a:cs typeface="Calibri" pitchFamily="34" charset="-120"/>
              </a:rPr>
              <a:t>3</a:t>
            </a:r>
            <a:endParaRPr lang="en-US" sz="2000" dirty="0"/>
          </a:p>
        </p:txBody>
      </p:sp>
      <p:sp>
        <p:nvSpPr>
          <p:cNvPr id="4" name="Text 2"/>
          <p:cNvSpPr txBox="1"/>
          <p:nvPr/>
        </p:nvSpPr>
        <p:spPr>
          <a:xfrm>
            <a:off x="1783080" y="530352"/>
            <a:ext cx="9555480" cy="365760"/>
          </a:xfrm>
          <a:prstGeom prst="rect">
            <a:avLst/>
          </a:prstGeom>
          <a:noFill/>
          <a:ln/>
        </p:spPr>
        <p:txBody>
          <a:bodyPr wrap="square" lIns="0" tIns="0" rIns="0" bIns="0" rtlCol="0" anchor="ctr"/>
          <a:lstStyle/>
          <a:p>
            <a:pPr indent="0" marL="0">
              <a:buNone/>
            </a:pPr>
            <a:r>
              <a:rPr lang="en-US" sz="1300" b="1" spc="200" kern="0" dirty="0">
                <a:solidFill>
                  <a:srgbClr val="8B7FD9"/>
                </a:solidFill>
                <a:latin typeface="Calibri" pitchFamily="34" charset="0"/>
                <a:ea typeface="Calibri" pitchFamily="34" charset="-122"/>
                <a:cs typeface="Calibri" pitchFamily="34" charset="-120"/>
              </a:rPr>
              <a:t>UNIT 3</a:t>
            </a:r>
            <a:endParaRPr lang="en-US" sz="1300" dirty="0"/>
          </a:p>
        </p:txBody>
      </p:sp>
      <p:sp>
        <p:nvSpPr>
          <p:cNvPr id="5" name="Text 3"/>
          <p:cNvSpPr txBox="1"/>
          <p:nvPr/>
        </p:nvSpPr>
        <p:spPr>
          <a:xfrm>
            <a:off x="1783080" y="896112"/>
            <a:ext cx="955548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CPU Scheduling</a:t>
            </a:r>
            <a:endParaRPr lang="en-US" sz="3000" dirty="0"/>
          </a:p>
        </p:txBody>
      </p:sp>
      <p:sp>
        <p:nvSpPr>
          <p:cNvPr id="6" name="Text 4"/>
          <p:cNvSpPr txBox="1"/>
          <p:nvPr/>
        </p:nvSpPr>
        <p:spPr>
          <a:xfrm>
            <a:off x="822960" y="1828800"/>
            <a:ext cx="10332720" cy="3931920"/>
          </a:xfrm>
          <a:prstGeom prst="rect">
            <a:avLst/>
          </a:prstGeom>
          <a:noFill/>
          <a:ln/>
        </p:spPr>
        <p:txBody>
          <a:bodyPr wrap="square" lIns="0" tIns="0" rIns="0" bIns="0" rtlCol="0" anchor="t"/>
          <a:lstStyle/>
          <a:p>
            <a:pPr indent="0" marL="0">
              <a:lnSpc>
                <a:spcPct val="135000"/>
              </a:lnSpc>
              <a:buNone/>
            </a:pPr>
            <a:r>
              <a:rPr lang="en-US" sz="1700" dirty="0">
                <a:solidFill>
                  <a:srgbClr val="1F2429"/>
                </a:solidFill>
                <a:latin typeface="Calibri" pitchFamily="34" charset="0"/>
                <a:ea typeface="Calibri" pitchFamily="34" charset="-122"/>
                <a:cs typeface="Calibri" pitchFamily="34" charset="-120"/>
              </a:rPr>
              <a:t>Ayesha's editor is never the only thing running — a browser, a music player, and a dozen background services are all runnable at the same moment. The CPU scheduler decides, many times a second, which of them actually gets the processor next, keeping every process, including the editor's own main and autosave threads, making visible progress without any one of them starving the others.</a:t>
            </a:r>
            <a:endParaRPr lang="en-US" sz="17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Shape 0"/>
          <p:cNvSpPr/>
          <p:nvPr/>
        </p:nvSpPr>
        <p:spPr>
          <a:xfrm>
            <a:off x="822960" y="502920"/>
            <a:ext cx="594360" cy="594360"/>
          </a:xfrm>
          <a:prstGeom prst="ellipse">
            <a:avLst/>
          </a:prstGeom>
          <a:solidFill>
            <a:srgbClr val="2FE6C4"/>
          </a:solidFill>
          <a:ln/>
        </p:spPr>
      </p:sp>
      <p:sp>
        <p:nvSpPr>
          <p:cNvPr id="3" name="Text 1"/>
          <p:cNvSpPr txBox="1"/>
          <p:nvPr/>
        </p:nvSpPr>
        <p:spPr>
          <a:xfrm>
            <a:off x="822960" y="502920"/>
            <a:ext cx="594360" cy="594360"/>
          </a:xfrm>
          <a:prstGeom prst="rect">
            <a:avLst/>
          </a:prstGeom>
          <a:noFill/>
          <a:ln/>
        </p:spPr>
        <p:txBody>
          <a:bodyPr wrap="square" lIns="0" tIns="0" rIns="0" bIns="0" rtlCol="0" anchor="ctr"/>
          <a:lstStyle/>
          <a:p>
            <a:pPr algn="ctr" indent="0" marL="0">
              <a:buNone/>
            </a:pPr>
            <a:r>
              <a:rPr lang="en-US" sz="2000" b="1" dirty="0">
                <a:solidFill>
                  <a:srgbClr val="1F2429"/>
                </a:solidFill>
                <a:latin typeface="Calibri" pitchFamily="34" charset="0"/>
                <a:ea typeface="Calibri" pitchFamily="34" charset="-122"/>
                <a:cs typeface="Calibri" pitchFamily="34" charset="-120"/>
              </a:rPr>
              <a:t>4</a:t>
            </a:r>
            <a:endParaRPr lang="en-US" sz="2000" dirty="0"/>
          </a:p>
        </p:txBody>
      </p:sp>
      <p:sp>
        <p:nvSpPr>
          <p:cNvPr id="4" name="Text 2"/>
          <p:cNvSpPr txBox="1"/>
          <p:nvPr/>
        </p:nvSpPr>
        <p:spPr>
          <a:xfrm>
            <a:off x="1783080" y="530352"/>
            <a:ext cx="9555480" cy="365760"/>
          </a:xfrm>
          <a:prstGeom prst="rect">
            <a:avLst/>
          </a:prstGeom>
          <a:noFill/>
          <a:ln/>
        </p:spPr>
        <p:txBody>
          <a:bodyPr wrap="square" lIns="0" tIns="0" rIns="0" bIns="0" rtlCol="0" anchor="ctr"/>
          <a:lstStyle/>
          <a:p>
            <a:pPr indent="0" marL="0">
              <a:buNone/>
            </a:pPr>
            <a:r>
              <a:rPr lang="en-US" sz="1300" b="1" spc="200" kern="0" dirty="0">
                <a:solidFill>
                  <a:srgbClr val="8B7FD9"/>
                </a:solidFill>
                <a:latin typeface="Calibri" pitchFamily="34" charset="0"/>
                <a:ea typeface="Calibri" pitchFamily="34" charset="-122"/>
                <a:cs typeface="Calibri" pitchFamily="34" charset="-120"/>
              </a:rPr>
              <a:t>UNIT 4</a:t>
            </a:r>
            <a:endParaRPr lang="en-US" sz="1300" dirty="0"/>
          </a:p>
        </p:txBody>
      </p:sp>
      <p:sp>
        <p:nvSpPr>
          <p:cNvPr id="5" name="Text 3"/>
          <p:cNvSpPr txBox="1"/>
          <p:nvPr/>
        </p:nvSpPr>
        <p:spPr>
          <a:xfrm>
            <a:off x="1783080" y="896112"/>
            <a:ext cx="955548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Process Synchronization</a:t>
            </a:r>
            <a:endParaRPr lang="en-US" sz="3000" dirty="0"/>
          </a:p>
        </p:txBody>
      </p:sp>
      <p:sp>
        <p:nvSpPr>
          <p:cNvPr id="6" name="Text 4"/>
          <p:cNvSpPr txBox="1"/>
          <p:nvPr/>
        </p:nvSpPr>
        <p:spPr>
          <a:xfrm>
            <a:off x="822960" y="1828800"/>
            <a:ext cx="10332720" cy="3931920"/>
          </a:xfrm>
          <a:prstGeom prst="rect">
            <a:avLst/>
          </a:prstGeom>
          <a:noFill/>
          <a:ln/>
        </p:spPr>
        <p:txBody>
          <a:bodyPr wrap="square" lIns="0" tIns="0" rIns="0" bIns="0" rtlCol="0" anchor="t"/>
          <a:lstStyle/>
          <a:p>
            <a:pPr indent="0" marL="0">
              <a:lnSpc>
                <a:spcPct val="135000"/>
              </a:lnSpc>
              <a:buNone/>
            </a:pPr>
            <a:r>
              <a:rPr lang="en-US" sz="1700" dirty="0">
                <a:solidFill>
                  <a:srgbClr val="1F2429"/>
                </a:solidFill>
                <a:latin typeface="Calibri" pitchFamily="34" charset="0"/>
                <a:ea typeface="Calibri" pitchFamily="34" charset="-122"/>
                <a:cs typeface="Calibri" pitchFamily="34" charset="-120"/>
              </a:rPr>
              <a:t>The main thread and the autosave thread both need to touch the exact same in-memory copy of the report. Without coordination, the autosave thread could read the buffer mid-edit and save a half-typed sentence — or the two threads could corrupt the buffer entirely. A lock around every access to the shared buffer is what prevents that race, exactly the critical-section discipline this unit built from first principles.</a:t>
            </a:r>
            <a:endParaRPr lang="en-US" sz="17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9"/>
        </a:solidFill>
      </p:bgPr>
    </p:bg>
    <p:spTree>
      <p:nvGrpSpPr>
        <p:cNvPr id="1" name=""/>
        <p:cNvGrpSpPr/>
        <p:nvPr/>
      </p:nvGrpSpPr>
      <p:grpSpPr>
        <a:xfrm>
          <a:off x="0" y="0"/>
          <a:ext cx="0" cy="0"/>
          <a:chOff x="0" y="0"/>
          <a:chExt cx="0" cy="0"/>
        </a:xfrm>
      </p:grpSpPr>
      <p:sp>
        <p:nvSpPr>
          <p:cNvPr id="2" name="Shape 0"/>
          <p:cNvSpPr/>
          <p:nvPr/>
        </p:nvSpPr>
        <p:spPr>
          <a:xfrm>
            <a:off x="822960" y="502920"/>
            <a:ext cx="594360" cy="594360"/>
          </a:xfrm>
          <a:prstGeom prst="ellipse">
            <a:avLst/>
          </a:prstGeom>
          <a:solidFill>
            <a:srgbClr val="8B7FD9"/>
          </a:solidFill>
          <a:ln/>
        </p:spPr>
      </p:sp>
      <p:sp>
        <p:nvSpPr>
          <p:cNvPr id="3" name="Text 1"/>
          <p:cNvSpPr txBox="1"/>
          <p:nvPr/>
        </p:nvSpPr>
        <p:spPr>
          <a:xfrm>
            <a:off x="822960" y="502920"/>
            <a:ext cx="594360" cy="594360"/>
          </a:xfrm>
          <a:prstGeom prst="rect">
            <a:avLst/>
          </a:prstGeom>
          <a:noFill/>
          <a:ln/>
        </p:spPr>
        <p:txBody>
          <a:bodyPr wrap="square" lIns="0" tIns="0" rIns="0" bIns="0" rtlCol="0" anchor="ctr"/>
          <a:lstStyle/>
          <a:p>
            <a:pPr algn="ctr" indent="0" marL="0">
              <a:buNone/>
            </a:pPr>
            <a:r>
              <a:rPr lang="en-US" sz="2000" b="1" dirty="0">
                <a:solidFill>
                  <a:srgbClr val="1F2429"/>
                </a:solidFill>
                <a:latin typeface="Calibri" pitchFamily="34" charset="0"/>
                <a:ea typeface="Calibri" pitchFamily="34" charset="-122"/>
                <a:cs typeface="Calibri" pitchFamily="34" charset="-120"/>
              </a:rPr>
              <a:t>5</a:t>
            </a:r>
            <a:endParaRPr lang="en-US" sz="2000" dirty="0"/>
          </a:p>
        </p:txBody>
      </p:sp>
      <p:sp>
        <p:nvSpPr>
          <p:cNvPr id="4" name="Text 2"/>
          <p:cNvSpPr txBox="1"/>
          <p:nvPr/>
        </p:nvSpPr>
        <p:spPr>
          <a:xfrm>
            <a:off x="1783080" y="530352"/>
            <a:ext cx="9555480" cy="365760"/>
          </a:xfrm>
          <a:prstGeom prst="rect">
            <a:avLst/>
          </a:prstGeom>
          <a:noFill/>
          <a:ln/>
        </p:spPr>
        <p:txBody>
          <a:bodyPr wrap="square" lIns="0" tIns="0" rIns="0" bIns="0" rtlCol="0" anchor="ctr"/>
          <a:lstStyle/>
          <a:p>
            <a:pPr indent="0" marL="0">
              <a:buNone/>
            </a:pPr>
            <a:r>
              <a:rPr lang="en-US" sz="1300" b="1" spc="200" kern="0" dirty="0">
                <a:solidFill>
                  <a:srgbClr val="8B7FD9"/>
                </a:solidFill>
                <a:latin typeface="Calibri" pitchFamily="34" charset="0"/>
                <a:ea typeface="Calibri" pitchFamily="34" charset="-122"/>
                <a:cs typeface="Calibri" pitchFamily="34" charset="-120"/>
              </a:rPr>
              <a:t>UNIT 5</a:t>
            </a:r>
            <a:endParaRPr lang="en-US" sz="1300" dirty="0"/>
          </a:p>
        </p:txBody>
      </p:sp>
      <p:sp>
        <p:nvSpPr>
          <p:cNvPr id="5" name="Text 3"/>
          <p:cNvSpPr txBox="1"/>
          <p:nvPr/>
        </p:nvSpPr>
        <p:spPr>
          <a:xfrm>
            <a:off x="1783080" y="896112"/>
            <a:ext cx="955548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Deadlocks</a:t>
            </a:r>
            <a:endParaRPr lang="en-US" sz="3000" dirty="0"/>
          </a:p>
        </p:txBody>
      </p:sp>
      <p:sp>
        <p:nvSpPr>
          <p:cNvPr id="6" name="Text 4"/>
          <p:cNvSpPr txBox="1"/>
          <p:nvPr/>
        </p:nvSpPr>
        <p:spPr>
          <a:xfrm>
            <a:off x="822960" y="1828800"/>
            <a:ext cx="10332720" cy="3931920"/>
          </a:xfrm>
          <a:prstGeom prst="rect">
            <a:avLst/>
          </a:prstGeom>
          <a:noFill/>
          <a:ln/>
        </p:spPr>
        <p:txBody>
          <a:bodyPr wrap="square" lIns="0" tIns="0" rIns="0" bIns="0" rtlCol="0" anchor="t"/>
          <a:lstStyle/>
          <a:p>
            <a:pPr indent="0" marL="0">
              <a:lnSpc>
                <a:spcPct val="135000"/>
              </a:lnSpc>
              <a:buNone/>
            </a:pPr>
            <a:r>
              <a:rPr lang="en-US" sz="1700" dirty="0">
                <a:solidFill>
                  <a:srgbClr val="1F2429"/>
                </a:solidFill>
                <a:latin typeface="Calibri" pitchFamily="34" charset="0"/>
                <a:ea typeface="Calibri" pitchFamily="34" charset="-122"/>
                <a:cs typeface="Calibri" pitchFamily="34" charset="-120"/>
              </a:rPr>
              <a:t>Suppose the autosave thread acquires the buffer lock first and then needs the log-file lock, while at the same moment the main thread acquires the log lock first and then needs the buffer lock. Neither thread can proceed, and neither will ever release what it's holding — a deadlock. The fix is just as direct: enforce a single, consistent order in which any thread acquires these two locks, and the circular wait deadlock depends on becomes structurally impossible.</a:t>
            </a:r>
            <a:endParaRPr lang="en-US" sz="17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Unit 6 — Memory Management</a:t>
            </a:r>
            <a:endParaRPr lang="en-US" sz="2800" dirty="0"/>
          </a:p>
        </p:txBody>
      </p:sp>
      <p:sp>
        <p:nvSpPr>
          <p:cNvPr id="3" name="Text 1"/>
          <p:cNvSpPr txBox="1"/>
          <p:nvPr/>
        </p:nvSpPr>
        <p:spPr>
          <a:xfrm>
            <a:off x="640080" y="1234440"/>
            <a:ext cx="5120640" cy="4389120"/>
          </a:xfrm>
          <a:prstGeom prst="rect">
            <a:avLst/>
          </a:prstGeom>
          <a:noFill/>
          <a:ln/>
        </p:spPr>
        <p:txBody>
          <a:bodyPr wrap="square" lIns="0" tIns="0" rIns="0" bIns="0" rtlCol="0" anchor="t"/>
          <a:lstStyle/>
          <a:p>
            <a:pPr indent="0" marL="0">
              <a:lnSpc>
                <a:spcPct val="125000"/>
              </a:lnSpc>
              <a:buNone/>
            </a:pPr>
            <a:r>
              <a:rPr lang="en-US" sz="1550" dirty="0">
                <a:solidFill>
                  <a:srgbClr val="1F2429"/>
                </a:solidFill>
                <a:latin typeface="Calibri" pitchFamily="34" charset="0"/>
                <a:ea typeface="Calibri" pitchFamily="34" charset="-122"/>
                <a:cs typeface="Calibri" pitchFamily="34" charset="-120"/>
              </a:rPr>
              <a:t>The report's text, and the editor's own code, do not all sit in physical RAM the instant the editor launches — they are demand-paged in, one page at a time, only as each page is actually touched. If Ayesha opens a second window on the same report, the OS does not duplicate every page immediately; it uses copy-on-write to let both windows share the same physical pages until one of them actually modifies its own copy.</a:t>
            </a:r>
            <a:endParaRPr lang="en-US" sz="1550" dirty="0"/>
          </a:p>
        </p:txBody>
      </p:sp>
      <p:sp>
        <p:nvSpPr>
          <p:cNvPr id="4" name="Shape 2"/>
          <p:cNvSpPr/>
          <p:nvPr/>
        </p:nvSpPr>
        <p:spPr>
          <a:xfrm>
            <a:off x="6400800" y="2286000"/>
            <a:ext cx="5120640" cy="981456"/>
          </a:xfrm>
          <a:prstGeom prst="roundRect">
            <a:avLst>
              <a:gd name="adj" fmla="val 5590"/>
            </a:avLst>
          </a:prstGeom>
          <a:solidFill>
            <a:srgbClr val="FFFFFF"/>
          </a:solidFill>
          <a:ln w="19050">
            <a:solidFill>
              <a:srgbClr val="2FE6C4"/>
            </a:solidFill>
            <a:prstDash val="solid"/>
          </a:ln>
        </p:spPr>
      </p:sp>
      <p:sp>
        <p:nvSpPr>
          <p:cNvPr id="5" name="Shape 3"/>
          <p:cNvSpPr/>
          <p:nvPr/>
        </p:nvSpPr>
        <p:spPr>
          <a:xfrm>
            <a:off x="6601968" y="2456688"/>
            <a:ext cx="64008" cy="640080"/>
          </a:xfrm>
          <a:prstGeom prst="rect">
            <a:avLst/>
          </a:prstGeom>
          <a:solidFill>
            <a:srgbClr val="2FE6C4"/>
          </a:solidFill>
          <a:ln/>
        </p:spPr>
      </p:sp>
      <p:sp>
        <p:nvSpPr>
          <p:cNvPr id="6" name="Text 4"/>
          <p:cNvSpPr txBox="1"/>
          <p:nvPr/>
        </p:nvSpPr>
        <p:spPr>
          <a:xfrm>
            <a:off x="6812280" y="2364516"/>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Page first touched</a:t>
            </a:r>
            <a:endParaRPr lang="en-US" sz="1400" dirty="0"/>
          </a:p>
        </p:txBody>
      </p:sp>
      <p:sp>
        <p:nvSpPr>
          <p:cNvPr id="7" name="Text 5"/>
          <p:cNvSpPr txBox="1"/>
          <p:nvPr/>
        </p:nvSpPr>
        <p:spPr>
          <a:xfrm>
            <a:off x="6812280" y="2684556"/>
            <a:ext cx="4480560" cy="528036"/>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Page fault — the OS brings it into a physical frame on demand</a:t>
            </a:r>
            <a:endParaRPr lang="en-US" sz="1100" dirty="0"/>
          </a:p>
        </p:txBody>
      </p:sp>
      <p:sp>
        <p:nvSpPr>
          <p:cNvPr id="8" name="Shape 6"/>
          <p:cNvSpPr/>
          <p:nvPr/>
        </p:nvSpPr>
        <p:spPr>
          <a:xfrm>
            <a:off x="8851392" y="3267456"/>
            <a:ext cx="219456" cy="237744"/>
          </a:xfrm>
          <a:prstGeom prst="downArrow">
            <a:avLst/>
          </a:prstGeom>
          <a:solidFill>
            <a:srgbClr val="8A939B"/>
          </a:solidFill>
          <a:ln/>
        </p:spPr>
      </p:sp>
      <p:sp>
        <p:nvSpPr>
          <p:cNvPr id="9" name="Shape 7"/>
          <p:cNvSpPr/>
          <p:nvPr/>
        </p:nvSpPr>
        <p:spPr>
          <a:xfrm>
            <a:off x="6400800" y="3505200"/>
            <a:ext cx="5120640" cy="981456"/>
          </a:xfrm>
          <a:prstGeom prst="roundRect">
            <a:avLst>
              <a:gd name="adj" fmla="val 5590"/>
            </a:avLst>
          </a:prstGeom>
          <a:solidFill>
            <a:srgbClr val="FFFFFF"/>
          </a:solidFill>
          <a:ln w="19050">
            <a:solidFill>
              <a:srgbClr val="8B7FD9"/>
            </a:solidFill>
            <a:prstDash val="solid"/>
          </a:ln>
        </p:spPr>
      </p:sp>
      <p:sp>
        <p:nvSpPr>
          <p:cNvPr id="10" name="Shape 8"/>
          <p:cNvSpPr/>
          <p:nvPr/>
        </p:nvSpPr>
        <p:spPr>
          <a:xfrm>
            <a:off x="6601968" y="3675888"/>
            <a:ext cx="64008" cy="640080"/>
          </a:xfrm>
          <a:prstGeom prst="rect">
            <a:avLst/>
          </a:prstGeom>
          <a:solidFill>
            <a:srgbClr val="8B7FD9"/>
          </a:solidFill>
          <a:ln/>
        </p:spPr>
      </p:sp>
      <p:sp>
        <p:nvSpPr>
          <p:cNvPr id="11" name="Text 9"/>
          <p:cNvSpPr txBox="1"/>
          <p:nvPr/>
        </p:nvSpPr>
        <p:spPr>
          <a:xfrm>
            <a:off x="6812280" y="3583716"/>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Second window opened on the same report</a:t>
            </a:r>
            <a:endParaRPr lang="en-US" sz="1400" dirty="0"/>
          </a:p>
        </p:txBody>
      </p:sp>
      <p:sp>
        <p:nvSpPr>
          <p:cNvPr id="12" name="Text 10"/>
          <p:cNvSpPr txBox="1"/>
          <p:nvPr/>
        </p:nvSpPr>
        <p:spPr>
          <a:xfrm>
            <a:off x="6812280" y="3903756"/>
            <a:ext cx="4480560" cy="528036"/>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Copy-on-write: both windows share the same physical pages, unmodified</a:t>
            </a:r>
            <a:endParaRPr lang="en-US" sz="1100" dirty="0"/>
          </a:p>
        </p:txBody>
      </p:sp>
      <p:sp>
        <p:nvSpPr>
          <p:cNvPr id="13" name="Shape 11"/>
          <p:cNvSpPr/>
          <p:nvPr/>
        </p:nvSpPr>
        <p:spPr>
          <a:xfrm>
            <a:off x="8851392" y="4486656"/>
            <a:ext cx="219456" cy="237744"/>
          </a:xfrm>
          <a:prstGeom prst="downArrow">
            <a:avLst/>
          </a:prstGeom>
          <a:solidFill>
            <a:srgbClr val="8A939B"/>
          </a:solidFill>
          <a:ln/>
        </p:spPr>
      </p:sp>
      <p:sp>
        <p:nvSpPr>
          <p:cNvPr id="14" name="Shape 12"/>
          <p:cNvSpPr/>
          <p:nvPr/>
        </p:nvSpPr>
        <p:spPr>
          <a:xfrm>
            <a:off x="6400800" y="4724400"/>
            <a:ext cx="5120640" cy="981456"/>
          </a:xfrm>
          <a:prstGeom prst="roundRect">
            <a:avLst>
              <a:gd name="adj" fmla="val 5590"/>
            </a:avLst>
          </a:prstGeom>
          <a:solidFill>
            <a:srgbClr val="FFFFFF"/>
          </a:solidFill>
          <a:ln w="19050">
            <a:solidFill>
              <a:srgbClr val="E8A33D"/>
            </a:solidFill>
            <a:prstDash val="solid"/>
          </a:ln>
        </p:spPr>
      </p:sp>
      <p:sp>
        <p:nvSpPr>
          <p:cNvPr id="15" name="Shape 13"/>
          <p:cNvSpPr/>
          <p:nvPr/>
        </p:nvSpPr>
        <p:spPr>
          <a:xfrm>
            <a:off x="6601968" y="4895088"/>
            <a:ext cx="64008" cy="640080"/>
          </a:xfrm>
          <a:prstGeom prst="rect">
            <a:avLst/>
          </a:prstGeom>
          <a:solidFill>
            <a:srgbClr val="E8A33D"/>
          </a:solidFill>
          <a:ln/>
        </p:spPr>
      </p:sp>
      <p:sp>
        <p:nvSpPr>
          <p:cNvPr id="16" name="Text 14"/>
          <p:cNvSpPr txBox="1"/>
          <p:nvPr/>
        </p:nvSpPr>
        <p:spPr>
          <a:xfrm>
            <a:off x="6812280" y="4802916"/>
            <a:ext cx="4480560" cy="320040"/>
          </a:xfrm>
          <a:prstGeom prst="rect">
            <a:avLst/>
          </a:prstGeom>
          <a:noFill/>
          <a:ln/>
        </p:spPr>
        <p:txBody>
          <a:bodyPr wrap="square" lIns="0" tIns="0" rIns="0" bIns="0" rtlCol="0" anchor="t"/>
          <a:lstStyle/>
          <a:p>
            <a:pPr indent="0" marL="0">
              <a:buNone/>
            </a:pPr>
            <a:r>
              <a:rPr lang="en-US" sz="1400" b="1" dirty="0">
                <a:solidFill>
                  <a:srgbClr val="1F2429"/>
                </a:solidFill>
                <a:latin typeface="Calibri" pitchFamily="34" charset="0"/>
                <a:ea typeface="Calibri" pitchFamily="34" charset="-122"/>
                <a:cs typeface="Calibri" pitchFamily="34" charset="-120"/>
              </a:rPr>
              <a:t>Either window edits its own copy</a:t>
            </a:r>
            <a:endParaRPr lang="en-US" sz="1400" dirty="0"/>
          </a:p>
        </p:txBody>
      </p:sp>
      <p:sp>
        <p:nvSpPr>
          <p:cNvPr id="17" name="Text 15"/>
          <p:cNvSpPr txBox="1"/>
          <p:nvPr/>
        </p:nvSpPr>
        <p:spPr>
          <a:xfrm>
            <a:off x="6812280" y="5122956"/>
            <a:ext cx="4480560" cy="528036"/>
          </a:xfrm>
          <a:prstGeom prst="rect">
            <a:avLst/>
          </a:prstGeom>
          <a:noFill/>
          <a:ln/>
        </p:spPr>
        <p:txBody>
          <a:bodyPr wrap="square" lIns="0" tIns="0" rIns="0" bIns="0" rtlCol="0" anchor="t"/>
          <a:lstStyle/>
          <a:p>
            <a:pPr indent="0" marL="0">
              <a:lnSpc>
                <a:spcPct val="108000"/>
              </a:lnSpc>
              <a:buNone/>
            </a:pPr>
            <a:r>
              <a:rPr lang="en-US" sz="1100" dirty="0">
                <a:solidFill>
                  <a:srgbClr val="8A939B"/>
                </a:solidFill>
                <a:latin typeface="Calibri" pitchFamily="34" charset="0"/>
                <a:ea typeface="Calibri" pitchFamily="34" charset="-122"/>
                <a:cs typeface="Calibri" pitchFamily="34" charset="-120"/>
              </a:rPr>
              <a:t>Only now does a genuinely separate physical page get allocated</a:t>
            </a:r>
            <a:endParaRPr lang="en-US" sz="1100" dirty="0"/>
          </a:p>
        </p:txBody>
      </p:sp>
      <p:sp>
        <p:nvSpPr>
          <p:cNvPr id="18" name="Text 16"/>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9"/>
        </a:solidFill>
      </p:bgPr>
    </p:bg>
    <p:spTree>
      <p:nvGrpSpPr>
        <p:cNvPr id="1" name=""/>
        <p:cNvGrpSpPr/>
        <p:nvPr/>
      </p:nvGrpSpPr>
      <p:grpSpPr>
        <a:xfrm>
          <a:off x="0" y="0"/>
          <a:ext cx="0" cy="0"/>
          <a:chOff x="0" y="0"/>
          <a:chExt cx="0" cy="0"/>
        </a:xfrm>
      </p:grpSpPr>
      <p:sp>
        <p:nvSpPr>
          <p:cNvPr id="2" name="Shape 0"/>
          <p:cNvSpPr/>
          <p:nvPr/>
        </p:nvSpPr>
        <p:spPr>
          <a:xfrm>
            <a:off x="822960" y="502920"/>
            <a:ext cx="594360" cy="594360"/>
          </a:xfrm>
          <a:prstGeom prst="ellipse">
            <a:avLst/>
          </a:prstGeom>
          <a:solidFill>
            <a:srgbClr val="2FE6C4"/>
          </a:solidFill>
          <a:ln/>
        </p:spPr>
      </p:sp>
      <p:sp>
        <p:nvSpPr>
          <p:cNvPr id="3" name="Text 1"/>
          <p:cNvSpPr txBox="1"/>
          <p:nvPr/>
        </p:nvSpPr>
        <p:spPr>
          <a:xfrm>
            <a:off x="822960" y="502920"/>
            <a:ext cx="594360" cy="594360"/>
          </a:xfrm>
          <a:prstGeom prst="rect">
            <a:avLst/>
          </a:prstGeom>
          <a:noFill/>
          <a:ln/>
        </p:spPr>
        <p:txBody>
          <a:bodyPr wrap="square" lIns="0" tIns="0" rIns="0" bIns="0" rtlCol="0" anchor="ctr"/>
          <a:lstStyle/>
          <a:p>
            <a:pPr algn="ctr" indent="0" marL="0">
              <a:buNone/>
            </a:pPr>
            <a:r>
              <a:rPr lang="en-US" sz="2000" b="1" dirty="0">
                <a:solidFill>
                  <a:srgbClr val="1F2429"/>
                </a:solidFill>
                <a:latin typeface="Calibri" pitchFamily="34" charset="0"/>
                <a:ea typeface="Calibri" pitchFamily="34" charset="-122"/>
                <a:cs typeface="Calibri" pitchFamily="34" charset="-120"/>
              </a:rPr>
              <a:t>7</a:t>
            </a:r>
            <a:endParaRPr lang="en-US" sz="2000" dirty="0"/>
          </a:p>
        </p:txBody>
      </p:sp>
      <p:sp>
        <p:nvSpPr>
          <p:cNvPr id="4" name="Text 2"/>
          <p:cNvSpPr txBox="1"/>
          <p:nvPr/>
        </p:nvSpPr>
        <p:spPr>
          <a:xfrm>
            <a:off x="1783080" y="530352"/>
            <a:ext cx="9555480" cy="365760"/>
          </a:xfrm>
          <a:prstGeom prst="rect">
            <a:avLst/>
          </a:prstGeom>
          <a:noFill/>
          <a:ln/>
        </p:spPr>
        <p:txBody>
          <a:bodyPr wrap="square" lIns="0" tIns="0" rIns="0" bIns="0" rtlCol="0" anchor="ctr"/>
          <a:lstStyle/>
          <a:p>
            <a:pPr indent="0" marL="0">
              <a:buNone/>
            </a:pPr>
            <a:r>
              <a:rPr lang="en-US" sz="1300" b="1" spc="200" kern="0" dirty="0">
                <a:solidFill>
                  <a:srgbClr val="8B7FD9"/>
                </a:solidFill>
                <a:latin typeface="Calibri" pitchFamily="34" charset="0"/>
                <a:ea typeface="Calibri" pitchFamily="34" charset="-122"/>
                <a:cs typeface="Calibri" pitchFamily="34" charset="-120"/>
              </a:rPr>
              <a:t>UNIT 7</a:t>
            </a:r>
            <a:endParaRPr lang="en-US" sz="1300" dirty="0"/>
          </a:p>
        </p:txBody>
      </p:sp>
      <p:sp>
        <p:nvSpPr>
          <p:cNvPr id="5" name="Text 3"/>
          <p:cNvSpPr txBox="1"/>
          <p:nvPr/>
        </p:nvSpPr>
        <p:spPr>
          <a:xfrm>
            <a:off x="1783080" y="896112"/>
            <a:ext cx="9555480" cy="731520"/>
          </a:xfrm>
          <a:prstGeom prst="rect">
            <a:avLst/>
          </a:prstGeom>
          <a:noFill/>
          <a:ln/>
        </p:spPr>
        <p:txBody>
          <a:bodyPr wrap="square" lIns="0" tIns="0" rIns="0" bIns="0" rtlCol="0" anchor="ctr"/>
          <a:lstStyle/>
          <a:p>
            <a:pPr indent="0" marL="0">
              <a:buNone/>
            </a:pPr>
            <a:r>
              <a:rPr lang="en-US" sz="3000" b="1" dirty="0">
                <a:solidFill>
                  <a:srgbClr val="1F2429"/>
                </a:solidFill>
                <a:latin typeface="Calibri" pitchFamily="34" charset="0"/>
                <a:ea typeface="Calibri" pitchFamily="34" charset="-122"/>
                <a:cs typeface="Calibri" pitchFamily="34" charset="-120"/>
              </a:rPr>
              <a:t>Storage and File Systems</a:t>
            </a:r>
            <a:endParaRPr lang="en-US" sz="3000" dirty="0"/>
          </a:p>
        </p:txBody>
      </p:sp>
      <p:sp>
        <p:nvSpPr>
          <p:cNvPr id="6" name="Text 4"/>
          <p:cNvSpPr txBox="1"/>
          <p:nvPr/>
        </p:nvSpPr>
        <p:spPr>
          <a:xfrm>
            <a:off x="822960" y="1828800"/>
            <a:ext cx="10332720" cy="3931920"/>
          </a:xfrm>
          <a:prstGeom prst="rect">
            <a:avLst/>
          </a:prstGeom>
          <a:noFill/>
          <a:ln/>
        </p:spPr>
        <p:txBody>
          <a:bodyPr wrap="square" lIns="0" tIns="0" rIns="0" bIns="0" rtlCol="0" anchor="t"/>
          <a:lstStyle/>
          <a:p>
            <a:pPr indent="0" marL="0">
              <a:lnSpc>
                <a:spcPct val="135000"/>
              </a:lnSpc>
              <a:buNone/>
            </a:pPr>
            <a:r>
              <a:rPr lang="en-US" sz="1700" dirty="0">
                <a:solidFill>
                  <a:srgbClr val="1F2429"/>
                </a:solidFill>
                <a:latin typeface="Calibri" pitchFamily="34" charset="0"/>
                <a:ea typeface="Calibri" pitchFamily="34" charset="-122"/>
                <a:cs typeface="Calibri" pitchFamily="34" charset="-120"/>
              </a:rPr>
              <a:t>Finally, Ayesha presses “Save.” That one keystroke becomes a write() system call that descends through the layered file-system implementation — the logical file system, the file-organization module, the basic file system, and I/O control — checked the entire way against the report file's rwx permissions, and committed to disk through an NTFS journal or APFS copy-on-write mechanism — guaranteeing that even a crash one instant later cannot leave the report corrupted or half-written.</a:t>
            </a:r>
            <a:endParaRPr lang="en-US" sz="17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Whole Course, as One Thread</a:t>
            </a:r>
            <a:endParaRPr lang="en-US" sz="2800" dirty="0"/>
          </a:p>
        </p:txBody>
      </p:sp>
      <p:sp>
        <p:nvSpPr>
          <p:cNvPr id="3" name="Shape 1"/>
          <p:cNvSpPr/>
          <p:nvPr/>
        </p:nvSpPr>
        <p:spPr>
          <a:xfrm>
            <a:off x="640080" y="1188720"/>
            <a:ext cx="10881360" cy="543415"/>
          </a:xfrm>
          <a:prstGeom prst="roundRect">
            <a:avLst>
              <a:gd name="adj" fmla="val 10096"/>
            </a:avLst>
          </a:prstGeom>
          <a:solidFill>
            <a:srgbClr val="FFFFFF"/>
          </a:solidFill>
          <a:ln w="19050">
            <a:solidFill>
              <a:srgbClr val="2FE6C4"/>
            </a:solidFill>
            <a:prstDash val="solid"/>
          </a:ln>
        </p:spPr>
      </p:sp>
      <p:sp>
        <p:nvSpPr>
          <p:cNvPr id="4" name="Shape 2"/>
          <p:cNvSpPr/>
          <p:nvPr/>
        </p:nvSpPr>
        <p:spPr>
          <a:xfrm>
            <a:off x="841248" y="1261872"/>
            <a:ext cx="64008" cy="397111"/>
          </a:xfrm>
          <a:prstGeom prst="rect">
            <a:avLst/>
          </a:prstGeom>
          <a:solidFill>
            <a:srgbClr val="2FE6C4"/>
          </a:solidFill>
          <a:ln/>
        </p:spPr>
      </p:sp>
      <p:sp>
        <p:nvSpPr>
          <p:cNvPr id="5" name="Text 3"/>
          <p:cNvSpPr txBox="1"/>
          <p:nvPr/>
        </p:nvSpPr>
        <p:spPr>
          <a:xfrm>
            <a:off x="1051560" y="1232193"/>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1 — OS Foundations &amp; Structure</a:t>
            </a:r>
            <a:endParaRPr lang="en-US" sz="1300" dirty="0"/>
          </a:p>
        </p:txBody>
      </p:sp>
      <p:sp>
        <p:nvSpPr>
          <p:cNvPr id="6" name="Text 4"/>
          <p:cNvSpPr txBox="1"/>
          <p:nvPr/>
        </p:nvSpPr>
        <p:spPr>
          <a:xfrm>
            <a:off x="1051560" y="1460427"/>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The editor process exists and acts only through system calls into the kernel</a:t>
            </a:r>
            <a:endParaRPr lang="en-US" sz="950" dirty="0"/>
          </a:p>
        </p:txBody>
      </p:sp>
      <p:sp>
        <p:nvSpPr>
          <p:cNvPr id="7" name="Shape 5"/>
          <p:cNvSpPr/>
          <p:nvPr/>
        </p:nvSpPr>
        <p:spPr>
          <a:xfrm>
            <a:off x="5971032" y="1732135"/>
            <a:ext cx="219456" cy="128016"/>
          </a:xfrm>
          <a:prstGeom prst="downArrow">
            <a:avLst/>
          </a:prstGeom>
          <a:solidFill>
            <a:srgbClr val="8A939B"/>
          </a:solidFill>
          <a:ln/>
        </p:spPr>
      </p:sp>
      <p:sp>
        <p:nvSpPr>
          <p:cNvPr id="8" name="Shape 6"/>
          <p:cNvSpPr/>
          <p:nvPr/>
        </p:nvSpPr>
        <p:spPr>
          <a:xfrm>
            <a:off x="640080" y="1860151"/>
            <a:ext cx="10881360" cy="543415"/>
          </a:xfrm>
          <a:prstGeom prst="roundRect">
            <a:avLst>
              <a:gd name="adj" fmla="val 10096"/>
            </a:avLst>
          </a:prstGeom>
          <a:solidFill>
            <a:srgbClr val="FFFFFF"/>
          </a:solidFill>
          <a:ln w="19050">
            <a:solidFill>
              <a:srgbClr val="8B7FD9"/>
            </a:solidFill>
            <a:prstDash val="solid"/>
          </a:ln>
        </p:spPr>
      </p:sp>
      <p:sp>
        <p:nvSpPr>
          <p:cNvPr id="9" name="Shape 7"/>
          <p:cNvSpPr/>
          <p:nvPr/>
        </p:nvSpPr>
        <p:spPr>
          <a:xfrm>
            <a:off x="841248" y="1933303"/>
            <a:ext cx="64008" cy="397111"/>
          </a:xfrm>
          <a:prstGeom prst="rect">
            <a:avLst/>
          </a:prstGeom>
          <a:solidFill>
            <a:srgbClr val="8B7FD9"/>
          </a:solidFill>
          <a:ln/>
        </p:spPr>
      </p:sp>
      <p:sp>
        <p:nvSpPr>
          <p:cNvPr id="10" name="Text 8"/>
          <p:cNvSpPr txBox="1"/>
          <p:nvPr/>
        </p:nvSpPr>
        <p:spPr>
          <a:xfrm>
            <a:off x="1051560" y="1903624"/>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2 — Process Management &amp; Threads</a:t>
            </a:r>
            <a:endParaRPr lang="en-US" sz="1300" dirty="0"/>
          </a:p>
        </p:txBody>
      </p:sp>
      <p:sp>
        <p:nvSpPr>
          <p:cNvPr id="11" name="Text 9"/>
          <p:cNvSpPr txBox="1"/>
          <p:nvPr/>
        </p:nvSpPr>
        <p:spPr>
          <a:xfrm>
            <a:off x="1051560" y="2131858"/>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A background autosave thread shares the editor's address space</a:t>
            </a:r>
            <a:endParaRPr lang="en-US" sz="950" dirty="0"/>
          </a:p>
        </p:txBody>
      </p:sp>
      <p:sp>
        <p:nvSpPr>
          <p:cNvPr id="12" name="Shape 10"/>
          <p:cNvSpPr/>
          <p:nvPr/>
        </p:nvSpPr>
        <p:spPr>
          <a:xfrm>
            <a:off x="5971032" y="2403566"/>
            <a:ext cx="219456" cy="128016"/>
          </a:xfrm>
          <a:prstGeom prst="downArrow">
            <a:avLst/>
          </a:prstGeom>
          <a:solidFill>
            <a:srgbClr val="8A939B"/>
          </a:solidFill>
          <a:ln/>
        </p:spPr>
      </p:sp>
      <p:sp>
        <p:nvSpPr>
          <p:cNvPr id="13" name="Shape 11"/>
          <p:cNvSpPr/>
          <p:nvPr/>
        </p:nvSpPr>
        <p:spPr>
          <a:xfrm>
            <a:off x="640080" y="2531582"/>
            <a:ext cx="10881360" cy="543415"/>
          </a:xfrm>
          <a:prstGeom prst="roundRect">
            <a:avLst>
              <a:gd name="adj" fmla="val 10096"/>
            </a:avLst>
          </a:prstGeom>
          <a:solidFill>
            <a:srgbClr val="FFFFFF"/>
          </a:solidFill>
          <a:ln w="19050">
            <a:solidFill>
              <a:srgbClr val="E8A33D"/>
            </a:solidFill>
            <a:prstDash val="solid"/>
          </a:ln>
        </p:spPr>
      </p:sp>
      <p:sp>
        <p:nvSpPr>
          <p:cNvPr id="14" name="Shape 12"/>
          <p:cNvSpPr/>
          <p:nvPr/>
        </p:nvSpPr>
        <p:spPr>
          <a:xfrm>
            <a:off x="841248" y="2604734"/>
            <a:ext cx="64008" cy="397111"/>
          </a:xfrm>
          <a:prstGeom prst="rect">
            <a:avLst/>
          </a:prstGeom>
          <a:solidFill>
            <a:srgbClr val="E8A33D"/>
          </a:solidFill>
          <a:ln/>
        </p:spPr>
      </p:sp>
      <p:sp>
        <p:nvSpPr>
          <p:cNvPr id="15" name="Text 13"/>
          <p:cNvSpPr txBox="1"/>
          <p:nvPr/>
        </p:nvSpPr>
        <p:spPr>
          <a:xfrm>
            <a:off x="1051560" y="2575055"/>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3 — CPU Scheduling</a:t>
            </a:r>
            <a:endParaRPr lang="en-US" sz="1300" dirty="0"/>
          </a:p>
        </p:txBody>
      </p:sp>
      <p:sp>
        <p:nvSpPr>
          <p:cNvPr id="16" name="Text 14"/>
          <p:cNvSpPr txBox="1"/>
          <p:nvPr/>
        </p:nvSpPr>
        <p:spPr>
          <a:xfrm>
            <a:off x="1051560" y="2803289"/>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The scheduler interleaves the editor with every other running program</a:t>
            </a:r>
            <a:endParaRPr lang="en-US" sz="950" dirty="0"/>
          </a:p>
        </p:txBody>
      </p:sp>
      <p:sp>
        <p:nvSpPr>
          <p:cNvPr id="17" name="Shape 15"/>
          <p:cNvSpPr/>
          <p:nvPr/>
        </p:nvSpPr>
        <p:spPr>
          <a:xfrm>
            <a:off x="5971032" y="3074997"/>
            <a:ext cx="219456" cy="128016"/>
          </a:xfrm>
          <a:prstGeom prst="downArrow">
            <a:avLst/>
          </a:prstGeom>
          <a:solidFill>
            <a:srgbClr val="8A939B"/>
          </a:solidFill>
          <a:ln/>
        </p:spPr>
      </p:sp>
      <p:sp>
        <p:nvSpPr>
          <p:cNvPr id="18" name="Shape 16"/>
          <p:cNvSpPr/>
          <p:nvPr/>
        </p:nvSpPr>
        <p:spPr>
          <a:xfrm>
            <a:off x="640080" y="3203013"/>
            <a:ext cx="10881360" cy="543415"/>
          </a:xfrm>
          <a:prstGeom prst="roundRect">
            <a:avLst>
              <a:gd name="adj" fmla="val 10096"/>
            </a:avLst>
          </a:prstGeom>
          <a:solidFill>
            <a:srgbClr val="FFFFFF"/>
          </a:solidFill>
          <a:ln w="19050">
            <a:solidFill>
              <a:srgbClr val="2FE6C4"/>
            </a:solidFill>
            <a:prstDash val="solid"/>
          </a:ln>
        </p:spPr>
      </p:sp>
      <p:sp>
        <p:nvSpPr>
          <p:cNvPr id="19" name="Shape 17"/>
          <p:cNvSpPr/>
          <p:nvPr/>
        </p:nvSpPr>
        <p:spPr>
          <a:xfrm>
            <a:off x="841248" y="3276165"/>
            <a:ext cx="64008" cy="397111"/>
          </a:xfrm>
          <a:prstGeom prst="rect">
            <a:avLst/>
          </a:prstGeom>
          <a:solidFill>
            <a:srgbClr val="2FE6C4"/>
          </a:solidFill>
          <a:ln/>
        </p:spPr>
      </p:sp>
      <p:sp>
        <p:nvSpPr>
          <p:cNvPr id="20" name="Text 18"/>
          <p:cNvSpPr txBox="1"/>
          <p:nvPr/>
        </p:nvSpPr>
        <p:spPr>
          <a:xfrm>
            <a:off x="1051560" y="3246486"/>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4 — Synchronization</a:t>
            </a:r>
            <a:endParaRPr lang="en-US" sz="1300" dirty="0"/>
          </a:p>
        </p:txBody>
      </p:sp>
      <p:sp>
        <p:nvSpPr>
          <p:cNvPr id="21" name="Text 19"/>
          <p:cNvSpPr txBox="1"/>
          <p:nvPr/>
        </p:nvSpPr>
        <p:spPr>
          <a:xfrm>
            <a:off x="1051560" y="3474720"/>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A lock keeps the main and autosave threads from racing on the shared buffer</a:t>
            </a:r>
            <a:endParaRPr lang="en-US" sz="950" dirty="0"/>
          </a:p>
        </p:txBody>
      </p:sp>
      <p:sp>
        <p:nvSpPr>
          <p:cNvPr id="22" name="Shape 20"/>
          <p:cNvSpPr/>
          <p:nvPr/>
        </p:nvSpPr>
        <p:spPr>
          <a:xfrm>
            <a:off x="5971032" y="3746427"/>
            <a:ext cx="219456" cy="128016"/>
          </a:xfrm>
          <a:prstGeom prst="downArrow">
            <a:avLst/>
          </a:prstGeom>
          <a:solidFill>
            <a:srgbClr val="8A939B"/>
          </a:solidFill>
          <a:ln/>
        </p:spPr>
      </p:sp>
      <p:sp>
        <p:nvSpPr>
          <p:cNvPr id="23" name="Shape 21"/>
          <p:cNvSpPr/>
          <p:nvPr/>
        </p:nvSpPr>
        <p:spPr>
          <a:xfrm>
            <a:off x="640080" y="3874443"/>
            <a:ext cx="10881360" cy="543415"/>
          </a:xfrm>
          <a:prstGeom prst="roundRect">
            <a:avLst>
              <a:gd name="adj" fmla="val 10096"/>
            </a:avLst>
          </a:prstGeom>
          <a:solidFill>
            <a:srgbClr val="FFFFFF"/>
          </a:solidFill>
          <a:ln w="19050">
            <a:solidFill>
              <a:srgbClr val="8B7FD9"/>
            </a:solidFill>
            <a:prstDash val="solid"/>
          </a:ln>
        </p:spPr>
      </p:sp>
      <p:sp>
        <p:nvSpPr>
          <p:cNvPr id="24" name="Shape 22"/>
          <p:cNvSpPr/>
          <p:nvPr/>
        </p:nvSpPr>
        <p:spPr>
          <a:xfrm>
            <a:off x="841248" y="3947595"/>
            <a:ext cx="64008" cy="397111"/>
          </a:xfrm>
          <a:prstGeom prst="rect">
            <a:avLst/>
          </a:prstGeom>
          <a:solidFill>
            <a:srgbClr val="8B7FD9"/>
          </a:solidFill>
          <a:ln/>
        </p:spPr>
      </p:sp>
      <p:sp>
        <p:nvSpPr>
          <p:cNvPr id="25" name="Text 23"/>
          <p:cNvSpPr txBox="1"/>
          <p:nvPr/>
        </p:nvSpPr>
        <p:spPr>
          <a:xfrm>
            <a:off x="1051560" y="3917917"/>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5 — Deadlocks</a:t>
            </a:r>
            <a:endParaRPr lang="en-US" sz="1300" dirty="0"/>
          </a:p>
        </p:txBody>
      </p:sp>
      <p:sp>
        <p:nvSpPr>
          <p:cNvPr id="26" name="Text 24"/>
          <p:cNvSpPr txBox="1"/>
          <p:nvPr/>
        </p:nvSpPr>
        <p:spPr>
          <a:xfrm>
            <a:off x="1051560" y="4146151"/>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Consistent lock ordering keeps two cooperating threads from freezing each other permanently</a:t>
            </a:r>
            <a:endParaRPr lang="en-US" sz="950" dirty="0"/>
          </a:p>
        </p:txBody>
      </p:sp>
      <p:sp>
        <p:nvSpPr>
          <p:cNvPr id="27" name="Shape 25"/>
          <p:cNvSpPr/>
          <p:nvPr/>
        </p:nvSpPr>
        <p:spPr>
          <a:xfrm>
            <a:off x="5971032" y="4417858"/>
            <a:ext cx="219456" cy="128016"/>
          </a:xfrm>
          <a:prstGeom prst="downArrow">
            <a:avLst/>
          </a:prstGeom>
          <a:solidFill>
            <a:srgbClr val="8A939B"/>
          </a:solidFill>
          <a:ln/>
        </p:spPr>
      </p:sp>
      <p:sp>
        <p:nvSpPr>
          <p:cNvPr id="28" name="Shape 26"/>
          <p:cNvSpPr/>
          <p:nvPr/>
        </p:nvSpPr>
        <p:spPr>
          <a:xfrm>
            <a:off x="640080" y="4545874"/>
            <a:ext cx="10881360" cy="543415"/>
          </a:xfrm>
          <a:prstGeom prst="roundRect">
            <a:avLst>
              <a:gd name="adj" fmla="val 10096"/>
            </a:avLst>
          </a:prstGeom>
          <a:solidFill>
            <a:srgbClr val="FFFFFF"/>
          </a:solidFill>
          <a:ln w="19050">
            <a:solidFill>
              <a:srgbClr val="E8A33D"/>
            </a:solidFill>
            <a:prstDash val="solid"/>
          </a:ln>
        </p:spPr>
      </p:sp>
      <p:sp>
        <p:nvSpPr>
          <p:cNvPr id="29" name="Shape 27"/>
          <p:cNvSpPr/>
          <p:nvPr/>
        </p:nvSpPr>
        <p:spPr>
          <a:xfrm>
            <a:off x="841248" y="4619026"/>
            <a:ext cx="64008" cy="397111"/>
          </a:xfrm>
          <a:prstGeom prst="rect">
            <a:avLst/>
          </a:prstGeom>
          <a:solidFill>
            <a:srgbClr val="E8A33D"/>
          </a:solidFill>
          <a:ln/>
        </p:spPr>
      </p:sp>
      <p:sp>
        <p:nvSpPr>
          <p:cNvPr id="30" name="Text 28"/>
          <p:cNvSpPr txBox="1"/>
          <p:nvPr/>
        </p:nvSpPr>
        <p:spPr>
          <a:xfrm>
            <a:off x="1051560" y="4589347"/>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6 — Memory Management</a:t>
            </a:r>
            <a:endParaRPr lang="en-US" sz="1300" dirty="0"/>
          </a:p>
        </p:txBody>
      </p:sp>
      <p:sp>
        <p:nvSpPr>
          <p:cNvPr id="31" name="Text 29"/>
          <p:cNvSpPr txBox="1"/>
          <p:nvPr/>
        </p:nvSpPr>
        <p:spPr>
          <a:xfrm>
            <a:off x="1051560" y="4817582"/>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The report's pages are demand-paged in, and shared copy-on-write across windows</a:t>
            </a:r>
            <a:endParaRPr lang="en-US" sz="950" dirty="0"/>
          </a:p>
        </p:txBody>
      </p:sp>
      <p:sp>
        <p:nvSpPr>
          <p:cNvPr id="32" name="Shape 30"/>
          <p:cNvSpPr/>
          <p:nvPr/>
        </p:nvSpPr>
        <p:spPr>
          <a:xfrm>
            <a:off x="5971032" y="5089289"/>
            <a:ext cx="219456" cy="128016"/>
          </a:xfrm>
          <a:prstGeom prst="downArrow">
            <a:avLst/>
          </a:prstGeom>
          <a:solidFill>
            <a:srgbClr val="8A939B"/>
          </a:solidFill>
          <a:ln/>
        </p:spPr>
      </p:sp>
      <p:sp>
        <p:nvSpPr>
          <p:cNvPr id="33" name="Shape 31"/>
          <p:cNvSpPr/>
          <p:nvPr/>
        </p:nvSpPr>
        <p:spPr>
          <a:xfrm>
            <a:off x="640080" y="5217305"/>
            <a:ext cx="10881360" cy="543415"/>
          </a:xfrm>
          <a:prstGeom prst="roundRect">
            <a:avLst>
              <a:gd name="adj" fmla="val 10096"/>
            </a:avLst>
          </a:prstGeom>
          <a:solidFill>
            <a:srgbClr val="FFFFFF"/>
          </a:solidFill>
          <a:ln w="19050">
            <a:solidFill>
              <a:srgbClr val="2FE6C4"/>
            </a:solidFill>
            <a:prstDash val="solid"/>
          </a:ln>
        </p:spPr>
      </p:sp>
      <p:sp>
        <p:nvSpPr>
          <p:cNvPr id="34" name="Shape 32"/>
          <p:cNvSpPr/>
          <p:nvPr/>
        </p:nvSpPr>
        <p:spPr>
          <a:xfrm>
            <a:off x="841248" y="5290457"/>
            <a:ext cx="64008" cy="397111"/>
          </a:xfrm>
          <a:prstGeom prst="rect">
            <a:avLst/>
          </a:prstGeom>
          <a:solidFill>
            <a:srgbClr val="2FE6C4"/>
          </a:solidFill>
          <a:ln/>
        </p:spPr>
      </p:sp>
      <p:sp>
        <p:nvSpPr>
          <p:cNvPr id="35" name="Text 33"/>
          <p:cNvSpPr txBox="1"/>
          <p:nvPr/>
        </p:nvSpPr>
        <p:spPr>
          <a:xfrm>
            <a:off x="1051560" y="5260778"/>
            <a:ext cx="10241280" cy="228234"/>
          </a:xfrm>
          <a:prstGeom prst="rect">
            <a:avLst/>
          </a:prstGeom>
          <a:noFill/>
          <a:ln/>
        </p:spPr>
        <p:txBody>
          <a:bodyPr wrap="square" lIns="0" tIns="0" rIns="0" bIns="0" rtlCol="0" anchor="t"/>
          <a:lstStyle/>
          <a:p>
            <a:pPr indent="0" marL="0">
              <a:buNone/>
            </a:pPr>
            <a:r>
              <a:rPr lang="en-US" sz="1300" b="1" dirty="0">
                <a:solidFill>
                  <a:srgbClr val="1F2429"/>
                </a:solidFill>
                <a:latin typeface="Calibri" pitchFamily="34" charset="0"/>
                <a:ea typeface="Calibri" pitchFamily="34" charset="-122"/>
                <a:cs typeface="Calibri" pitchFamily="34" charset="-120"/>
              </a:rPr>
              <a:t>Unit 7 — Storage &amp; File Systems</a:t>
            </a:r>
            <a:endParaRPr lang="en-US" sz="1300" dirty="0"/>
          </a:p>
        </p:txBody>
      </p:sp>
      <p:sp>
        <p:nvSpPr>
          <p:cNvPr id="36" name="Text 34"/>
          <p:cNvSpPr txBox="1"/>
          <p:nvPr/>
        </p:nvSpPr>
        <p:spPr>
          <a:xfrm>
            <a:off x="1051560" y="5489013"/>
            <a:ext cx="10241280" cy="216843"/>
          </a:xfrm>
          <a:prstGeom prst="rect">
            <a:avLst/>
          </a:prstGeom>
          <a:noFill/>
          <a:ln/>
        </p:spPr>
        <p:txBody>
          <a:bodyPr wrap="square" lIns="0" tIns="0" rIns="0" bIns="0" rtlCol="0" anchor="t"/>
          <a:lstStyle/>
          <a:p>
            <a:pPr indent="0" marL="0">
              <a:lnSpc>
                <a:spcPct val="108000"/>
              </a:lnSpc>
              <a:buNone/>
            </a:pPr>
            <a:r>
              <a:rPr lang="en-US" sz="950" dirty="0">
                <a:solidFill>
                  <a:srgbClr val="8A939B"/>
                </a:solidFill>
                <a:latin typeface="Calibri" pitchFamily="34" charset="0"/>
                <a:ea typeface="Calibri" pitchFamily="34" charset="-122"/>
                <a:cs typeface="Calibri" pitchFamily="34" charset="-120"/>
              </a:rPr>
              <a:t>The save itself passes through the file-system layers and lands, journaled or copy-on-write, on disk</a:t>
            </a:r>
            <a:endParaRPr lang="en-US" sz="950" dirty="0"/>
          </a:p>
        </p:txBody>
      </p:sp>
      <p:sp>
        <p:nvSpPr>
          <p:cNvPr id="37" name="Text 3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Where This Leads Next</a:t>
            </a:r>
            <a:endParaRPr lang="en-US" sz="2800" dirty="0"/>
          </a:p>
        </p:txBody>
      </p:sp>
      <p:sp>
        <p:nvSpPr>
          <p:cNvPr id="3" name="Text 1"/>
          <p:cNvSpPr txBox="1"/>
          <p:nvPr/>
        </p:nvSpPr>
        <p:spPr>
          <a:xfrm>
            <a:off x="640080" y="1234440"/>
            <a:ext cx="10881360" cy="64008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This course deliberately stayed within a single machine, running a single instance of one operating system. Several natural directions extend everything you've learned here.</a:t>
            </a:r>
            <a:endParaRPr lang="en-US" sz="1550" dirty="0"/>
          </a:p>
        </p:txBody>
      </p:sp>
      <p:sp>
        <p:nvSpPr>
          <p:cNvPr id="4" name="Shape 2"/>
          <p:cNvSpPr/>
          <p:nvPr/>
        </p:nvSpPr>
        <p:spPr>
          <a:xfrm>
            <a:off x="640080" y="2011680"/>
            <a:ext cx="5303520" cy="2011680"/>
          </a:xfrm>
          <a:prstGeom prst="roundRect">
            <a:avLst>
              <a:gd name="adj" fmla="val 3636"/>
            </a:avLst>
          </a:prstGeom>
          <a:solidFill>
            <a:srgbClr val="FFFFFF"/>
          </a:solidFill>
          <a:ln w="15875">
            <a:solidFill>
              <a:srgbClr val="2FE6C4"/>
            </a:solidFill>
            <a:prstDash val="solid"/>
          </a:ln>
        </p:spPr>
      </p:sp>
      <p:sp>
        <p:nvSpPr>
          <p:cNvPr id="5" name="Shape 3"/>
          <p:cNvSpPr/>
          <p:nvPr/>
        </p:nvSpPr>
        <p:spPr>
          <a:xfrm>
            <a:off x="868680" y="2212848"/>
            <a:ext cx="274320" cy="274320"/>
          </a:xfrm>
          <a:prstGeom prst="ellipse">
            <a:avLst/>
          </a:prstGeom>
          <a:solidFill>
            <a:srgbClr val="2FE6C4"/>
          </a:solidFill>
          <a:ln/>
        </p:spPr>
      </p:sp>
      <p:sp>
        <p:nvSpPr>
          <p:cNvPr id="6" name="Text 4"/>
          <p:cNvSpPr txBox="1"/>
          <p:nvPr/>
        </p:nvSpPr>
        <p:spPr>
          <a:xfrm>
            <a:off x="1280160" y="2176272"/>
            <a:ext cx="4434840" cy="365760"/>
          </a:xfrm>
          <a:prstGeom prst="rect">
            <a:avLst/>
          </a:prstGeom>
          <a:noFill/>
          <a:ln/>
        </p:spPr>
        <p:txBody>
          <a:bodyPr wrap="square" lIns="0" tIns="0" rIns="0" bIns="0" rtlCol="0" anchor="ctr"/>
          <a:lstStyle/>
          <a:p>
            <a:pPr indent="0" marL="0">
              <a:buNone/>
            </a:pPr>
            <a:r>
              <a:rPr lang="en-US" sz="1400" b="1" dirty="0">
                <a:solidFill>
                  <a:srgbClr val="1F2429"/>
                </a:solidFill>
                <a:latin typeface="Calibri" pitchFamily="34" charset="0"/>
                <a:ea typeface="Calibri" pitchFamily="34" charset="-122"/>
                <a:cs typeface="Calibri" pitchFamily="34" charset="-120"/>
              </a:rPr>
              <a:t>Distributed Operating Systems</a:t>
            </a:r>
            <a:endParaRPr lang="en-US" sz="1400" dirty="0"/>
          </a:p>
        </p:txBody>
      </p:sp>
      <p:sp>
        <p:nvSpPr>
          <p:cNvPr id="7" name="Text 5"/>
          <p:cNvSpPr txBox="1"/>
          <p:nvPr/>
        </p:nvSpPr>
        <p:spPr>
          <a:xfrm>
            <a:off x="868680" y="2633472"/>
            <a:ext cx="4846320" cy="1234440"/>
          </a:xfrm>
          <a:prstGeom prst="rect">
            <a:avLst/>
          </a:prstGeom>
          <a:noFill/>
          <a:ln/>
        </p:spPr>
        <p:txBody>
          <a:bodyPr wrap="square" lIns="0" tIns="0" rIns="0" bIns="0" rtlCol="0" anchor="t"/>
          <a:lstStyle/>
          <a:p>
            <a:pPr indent="0" marL="0">
              <a:lnSpc>
                <a:spcPct val="115000"/>
              </a:lnSpc>
              <a:buNone/>
            </a:pPr>
            <a:r>
              <a:rPr lang="en-US" sz="1150" dirty="0">
                <a:solidFill>
                  <a:srgbClr val="8A939B"/>
                </a:solidFill>
                <a:latin typeface="Calibri" pitchFamily="34" charset="0"/>
                <a:ea typeface="Calibri" pitchFamily="34" charset="-122"/>
                <a:cs typeface="Calibri" pitchFamily="34" charset="-120"/>
              </a:rPr>
              <a:t>What happens when processes on entirely different machines need to synchronize, share files, or survive one machine's outright failure — needing its own versions of synchronization and deadlock detection, across a network that can partially fail</a:t>
            </a:r>
            <a:endParaRPr lang="en-US" sz="1150" dirty="0"/>
          </a:p>
        </p:txBody>
      </p:sp>
      <p:sp>
        <p:nvSpPr>
          <p:cNvPr id="8" name="Shape 6"/>
          <p:cNvSpPr/>
          <p:nvPr/>
        </p:nvSpPr>
        <p:spPr>
          <a:xfrm>
            <a:off x="6217920" y="2011680"/>
            <a:ext cx="5303520" cy="2011680"/>
          </a:xfrm>
          <a:prstGeom prst="roundRect">
            <a:avLst>
              <a:gd name="adj" fmla="val 3636"/>
            </a:avLst>
          </a:prstGeom>
          <a:solidFill>
            <a:srgbClr val="FFFFFF"/>
          </a:solidFill>
          <a:ln w="15875">
            <a:solidFill>
              <a:srgbClr val="8B7FD9"/>
            </a:solidFill>
            <a:prstDash val="solid"/>
          </a:ln>
        </p:spPr>
      </p:sp>
      <p:sp>
        <p:nvSpPr>
          <p:cNvPr id="9" name="Shape 7"/>
          <p:cNvSpPr/>
          <p:nvPr/>
        </p:nvSpPr>
        <p:spPr>
          <a:xfrm>
            <a:off x="6446520" y="2212848"/>
            <a:ext cx="274320" cy="274320"/>
          </a:xfrm>
          <a:prstGeom prst="ellipse">
            <a:avLst/>
          </a:prstGeom>
          <a:solidFill>
            <a:srgbClr val="8B7FD9"/>
          </a:solidFill>
          <a:ln/>
        </p:spPr>
      </p:sp>
      <p:sp>
        <p:nvSpPr>
          <p:cNvPr id="10" name="Text 8"/>
          <p:cNvSpPr txBox="1"/>
          <p:nvPr/>
        </p:nvSpPr>
        <p:spPr>
          <a:xfrm>
            <a:off x="6858000" y="2176272"/>
            <a:ext cx="4434840" cy="365760"/>
          </a:xfrm>
          <a:prstGeom prst="rect">
            <a:avLst/>
          </a:prstGeom>
          <a:noFill/>
          <a:ln/>
        </p:spPr>
        <p:txBody>
          <a:bodyPr wrap="square" lIns="0" tIns="0" rIns="0" bIns="0" rtlCol="0" anchor="ctr"/>
          <a:lstStyle/>
          <a:p>
            <a:pPr indent="0" marL="0">
              <a:buNone/>
            </a:pPr>
            <a:r>
              <a:rPr lang="en-US" sz="1400" b="1" dirty="0">
                <a:solidFill>
                  <a:srgbClr val="1F2429"/>
                </a:solidFill>
                <a:latin typeface="Calibri" pitchFamily="34" charset="0"/>
                <a:ea typeface="Calibri" pitchFamily="34" charset="-122"/>
                <a:cs typeface="Calibri" pitchFamily="34" charset="-120"/>
              </a:rPr>
              <a:t>Virtualization and Containers</a:t>
            </a:r>
            <a:endParaRPr lang="en-US" sz="1400" dirty="0"/>
          </a:p>
        </p:txBody>
      </p:sp>
      <p:sp>
        <p:nvSpPr>
          <p:cNvPr id="11" name="Text 9"/>
          <p:cNvSpPr txBox="1"/>
          <p:nvPr/>
        </p:nvSpPr>
        <p:spPr>
          <a:xfrm>
            <a:off x="6446520" y="2633472"/>
            <a:ext cx="4846320" cy="1234440"/>
          </a:xfrm>
          <a:prstGeom prst="rect">
            <a:avLst/>
          </a:prstGeom>
          <a:noFill/>
          <a:ln/>
        </p:spPr>
        <p:txBody>
          <a:bodyPr wrap="square" lIns="0" tIns="0" rIns="0" bIns="0" rtlCol="0" anchor="t"/>
          <a:lstStyle/>
          <a:p>
            <a:pPr indent="0" marL="0">
              <a:lnSpc>
                <a:spcPct val="115000"/>
              </a:lnSpc>
              <a:buNone/>
            </a:pPr>
            <a:r>
              <a:rPr lang="en-US" sz="1150" dirty="0">
                <a:solidFill>
                  <a:srgbClr val="8A939B"/>
                </a:solidFill>
                <a:latin typeface="Calibri" pitchFamily="34" charset="0"/>
                <a:ea typeface="Calibri" pitchFamily="34" charset="-122"/>
                <a:cs typeface="Calibri" pitchFamily="34" charset="-120"/>
              </a:rPr>
              <a:t>Running multiple, isolated “guest” operating systems (or lightweight process groups) on one physical machine, depending directly on this course's memory-management and protection material, pushed one level further</a:t>
            </a:r>
            <a:endParaRPr lang="en-US" sz="1150" dirty="0"/>
          </a:p>
        </p:txBody>
      </p:sp>
      <p:sp>
        <p:nvSpPr>
          <p:cNvPr id="12" name="Shape 10"/>
          <p:cNvSpPr/>
          <p:nvPr/>
        </p:nvSpPr>
        <p:spPr>
          <a:xfrm>
            <a:off x="640080" y="4297680"/>
            <a:ext cx="5303520" cy="2011680"/>
          </a:xfrm>
          <a:prstGeom prst="roundRect">
            <a:avLst>
              <a:gd name="adj" fmla="val 3636"/>
            </a:avLst>
          </a:prstGeom>
          <a:solidFill>
            <a:srgbClr val="FFFFFF"/>
          </a:solidFill>
          <a:ln w="15875">
            <a:solidFill>
              <a:srgbClr val="E8A33D"/>
            </a:solidFill>
            <a:prstDash val="solid"/>
          </a:ln>
        </p:spPr>
      </p:sp>
      <p:sp>
        <p:nvSpPr>
          <p:cNvPr id="13" name="Shape 11"/>
          <p:cNvSpPr/>
          <p:nvPr/>
        </p:nvSpPr>
        <p:spPr>
          <a:xfrm>
            <a:off x="868680" y="4498848"/>
            <a:ext cx="274320" cy="274320"/>
          </a:xfrm>
          <a:prstGeom prst="ellipse">
            <a:avLst/>
          </a:prstGeom>
          <a:solidFill>
            <a:srgbClr val="E8A33D"/>
          </a:solidFill>
          <a:ln/>
        </p:spPr>
      </p:sp>
      <p:sp>
        <p:nvSpPr>
          <p:cNvPr id="14" name="Text 12"/>
          <p:cNvSpPr txBox="1"/>
          <p:nvPr/>
        </p:nvSpPr>
        <p:spPr>
          <a:xfrm>
            <a:off x="1280160" y="4462272"/>
            <a:ext cx="4434840" cy="365760"/>
          </a:xfrm>
          <a:prstGeom prst="rect">
            <a:avLst/>
          </a:prstGeom>
          <a:noFill/>
          <a:ln/>
        </p:spPr>
        <p:txBody>
          <a:bodyPr wrap="square" lIns="0" tIns="0" rIns="0" bIns="0" rtlCol="0" anchor="ctr"/>
          <a:lstStyle/>
          <a:p>
            <a:pPr indent="0" marL="0">
              <a:buNone/>
            </a:pPr>
            <a:r>
              <a:rPr lang="en-US" sz="1400" b="1" dirty="0">
                <a:solidFill>
                  <a:srgbClr val="1F2429"/>
                </a:solidFill>
                <a:latin typeface="Calibri" pitchFamily="34" charset="0"/>
                <a:ea typeface="Calibri" pitchFamily="34" charset="-122"/>
                <a:cs typeface="Calibri" pitchFamily="34" charset="-120"/>
              </a:rPr>
              <a:t>Security and Advanced Protection</a:t>
            </a:r>
            <a:endParaRPr lang="en-US" sz="1400" dirty="0"/>
          </a:p>
        </p:txBody>
      </p:sp>
      <p:sp>
        <p:nvSpPr>
          <p:cNvPr id="15" name="Text 13"/>
          <p:cNvSpPr txBox="1"/>
          <p:nvPr/>
        </p:nvSpPr>
        <p:spPr>
          <a:xfrm>
            <a:off x="868680" y="4919472"/>
            <a:ext cx="4846320" cy="1234440"/>
          </a:xfrm>
          <a:prstGeom prst="rect">
            <a:avLst/>
          </a:prstGeom>
          <a:noFill/>
          <a:ln/>
        </p:spPr>
        <p:txBody>
          <a:bodyPr wrap="square" lIns="0" tIns="0" rIns="0" bIns="0" rtlCol="0" anchor="t"/>
          <a:lstStyle/>
          <a:p>
            <a:pPr indent="0" marL="0">
              <a:lnSpc>
                <a:spcPct val="115000"/>
              </a:lnSpc>
              <a:buNone/>
            </a:pPr>
            <a:r>
              <a:rPr lang="en-US" sz="1150" dirty="0">
                <a:solidFill>
                  <a:srgbClr val="8A939B"/>
                </a:solidFill>
                <a:latin typeface="Calibri" pitchFamily="34" charset="0"/>
                <a:ea typeface="Calibri" pitchFamily="34" charset="-122"/>
                <a:cs typeface="Calibri" pitchFamily="34" charset="-120"/>
              </a:rPr>
              <a:t>This course's owner/group/other and ACL models are the starting point for capability-based systems, sandboxing, and formal models of what a compromised process can and cannot do</a:t>
            </a:r>
            <a:endParaRPr lang="en-US" sz="1150" dirty="0"/>
          </a:p>
        </p:txBody>
      </p:sp>
      <p:sp>
        <p:nvSpPr>
          <p:cNvPr id="16" name="Shape 14"/>
          <p:cNvSpPr/>
          <p:nvPr/>
        </p:nvSpPr>
        <p:spPr>
          <a:xfrm>
            <a:off x="6217920" y="4297680"/>
            <a:ext cx="5303520" cy="2011680"/>
          </a:xfrm>
          <a:prstGeom prst="roundRect">
            <a:avLst>
              <a:gd name="adj" fmla="val 3636"/>
            </a:avLst>
          </a:prstGeom>
          <a:solidFill>
            <a:srgbClr val="FFFFFF"/>
          </a:solidFill>
          <a:ln w="15875">
            <a:solidFill>
              <a:srgbClr val="2FE6C4"/>
            </a:solidFill>
            <a:prstDash val="solid"/>
          </a:ln>
        </p:spPr>
      </p:sp>
      <p:sp>
        <p:nvSpPr>
          <p:cNvPr id="17" name="Shape 15"/>
          <p:cNvSpPr/>
          <p:nvPr/>
        </p:nvSpPr>
        <p:spPr>
          <a:xfrm>
            <a:off x="6446520" y="4498848"/>
            <a:ext cx="274320" cy="274320"/>
          </a:xfrm>
          <a:prstGeom prst="ellipse">
            <a:avLst/>
          </a:prstGeom>
          <a:solidFill>
            <a:srgbClr val="2FE6C4"/>
          </a:solidFill>
          <a:ln/>
        </p:spPr>
      </p:sp>
      <p:sp>
        <p:nvSpPr>
          <p:cNvPr id="18" name="Text 16"/>
          <p:cNvSpPr txBox="1"/>
          <p:nvPr/>
        </p:nvSpPr>
        <p:spPr>
          <a:xfrm>
            <a:off x="6858000" y="4462272"/>
            <a:ext cx="4434840" cy="365760"/>
          </a:xfrm>
          <a:prstGeom prst="rect">
            <a:avLst/>
          </a:prstGeom>
          <a:noFill/>
          <a:ln/>
        </p:spPr>
        <p:txBody>
          <a:bodyPr wrap="square" lIns="0" tIns="0" rIns="0" bIns="0" rtlCol="0" anchor="ctr"/>
          <a:lstStyle/>
          <a:p>
            <a:pPr indent="0" marL="0">
              <a:buNone/>
            </a:pPr>
            <a:r>
              <a:rPr lang="en-US" sz="1400" b="1" dirty="0">
                <a:solidFill>
                  <a:srgbClr val="1F2429"/>
                </a:solidFill>
                <a:latin typeface="Calibri" pitchFamily="34" charset="0"/>
                <a:ea typeface="Calibri" pitchFamily="34" charset="-122"/>
                <a:cs typeface="Calibri" pitchFamily="34" charset="-120"/>
              </a:rPr>
              <a:t>Real-Time Operating Systems</a:t>
            </a:r>
            <a:endParaRPr lang="en-US" sz="1400" dirty="0"/>
          </a:p>
        </p:txBody>
      </p:sp>
      <p:sp>
        <p:nvSpPr>
          <p:cNvPr id="19" name="Text 17"/>
          <p:cNvSpPr txBox="1"/>
          <p:nvPr/>
        </p:nvSpPr>
        <p:spPr>
          <a:xfrm>
            <a:off x="6446520" y="4919472"/>
            <a:ext cx="4846320" cy="1234440"/>
          </a:xfrm>
          <a:prstGeom prst="rect">
            <a:avLst/>
          </a:prstGeom>
          <a:noFill/>
          <a:ln/>
        </p:spPr>
        <p:txBody>
          <a:bodyPr wrap="square" lIns="0" tIns="0" rIns="0" bIns="0" rtlCol="0" anchor="t"/>
          <a:lstStyle/>
          <a:p>
            <a:pPr indent="0" marL="0">
              <a:lnSpc>
                <a:spcPct val="115000"/>
              </a:lnSpc>
              <a:buNone/>
            </a:pPr>
            <a:r>
              <a:rPr lang="en-US" sz="1150" dirty="0">
                <a:solidFill>
                  <a:srgbClr val="8A939B"/>
                </a:solidFill>
                <a:latin typeface="Calibri" pitchFamily="34" charset="0"/>
                <a:ea typeface="Calibri" pitchFamily="34" charset="-122"/>
                <a:cs typeface="Calibri" pitchFamily="34" charset="-120"/>
              </a:rPr>
              <a:t>Environments where a scheduling decision isn't about fairness or throughput, but about hard deadlines that must never be missed — a fundamentally different take on this course's CPU-scheduling unit</a:t>
            </a:r>
            <a:endParaRPr lang="en-US" sz="1150" dirty="0"/>
          </a:p>
        </p:txBody>
      </p:sp>
      <p:sp>
        <p:nvSpPr>
          <p:cNvPr id="20" name="Text 18"/>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8229600" y="-2011680"/>
            <a:ext cx="4937760" cy="4937760"/>
          </a:xfrm>
          <a:prstGeom prst="ellipse">
            <a:avLst/>
          </a:prstGeom>
          <a:solidFill>
            <a:srgbClr val="1C3B34"/>
          </a:solidFill>
          <a:ln/>
        </p:spPr>
      </p:sp>
      <p:sp>
        <p:nvSpPr>
          <p:cNvPr id="3" name="Shape 1"/>
          <p:cNvSpPr/>
          <p:nvPr/>
        </p:nvSpPr>
        <p:spPr>
          <a:xfrm>
            <a:off x="9692640" y="4206240"/>
            <a:ext cx="4206240" cy="4206240"/>
          </a:xfrm>
          <a:prstGeom prst="ellipse">
            <a:avLst/>
          </a:prstGeom>
          <a:solidFill>
            <a:srgbClr val="2A2550"/>
          </a:solidFill>
          <a:ln/>
        </p:spPr>
      </p:sp>
      <p:sp>
        <p:nvSpPr>
          <p:cNvPr id="4" name="Shape 2"/>
          <p:cNvSpPr/>
          <p:nvPr/>
        </p:nvSpPr>
        <p:spPr>
          <a:xfrm>
            <a:off x="-1463040" y="4846320"/>
            <a:ext cx="3657600" cy="3657600"/>
          </a:xfrm>
          <a:prstGeom prst="ellipse">
            <a:avLst/>
          </a:prstGeom>
          <a:solidFill>
            <a:srgbClr val="2E2410"/>
          </a:solidFill>
          <a:ln/>
        </p:spPr>
      </p:sp>
      <p:sp>
        <p:nvSpPr>
          <p:cNvPr id="5" name="Text 3"/>
          <p:cNvSpPr txBox="1"/>
          <p:nvPr/>
        </p:nvSpPr>
        <p:spPr>
          <a:xfrm>
            <a:off x="822960" y="1417320"/>
            <a:ext cx="10515600" cy="457200"/>
          </a:xfrm>
          <a:prstGeom prst="rect">
            <a:avLst/>
          </a:prstGeom>
          <a:noFill/>
          <a:ln/>
        </p:spPr>
        <p:txBody>
          <a:bodyPr wrap="square" lIns="0" tIns="0" rIns="0" bIns="0" rtlCol="0" anchor="ctr"/>
          <a:lstStyle/>
          <a:p>
            <a:pPr algn="l" indent="0" marL="0">
              <a:buNone/>
            </a:pPr>
            <a:r>
              <a:rPr lang="en-US" sz="1600" b="1" spc="200" kern="0" dirty="0">
                <a:solidFill>
                  <a:srgbClr val="2FE6C4"/>
                </a:solidFill>
                <a:latin typeface="Calibri" pitchFamily="34" charset="0"/>
                <a:ea typeface="Calibri" pitchFamily="34" charset="-122"/>
                <a:cs typeface="Calibri" pitchFamily="34" charset="-120"/>
              </a:rPr>
              <a:t>OPERATING SYSTEMS · CSC323</a:t>
            </a:r>
            <a:endParaRPr lang="en-US" sz="1600" dirty="0"/>
          </a:p>
        </p:txBody>
      </p:sp>
      <p:sp>
        <p:nvSpPr>
          <p:cNvPr id="6" name="Text 4"/>
          <p:cNvSpPr txBox="1"/>
          <p:nvPr/>
        </p:nvSpPr>
        <p:spPr>
          <a:xfrm>
            <a:off x="822960" y="196596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Course Complete</a:t>
            </a:r>
            <a:endParaRPr lang="en-US" sz="4400" dirty="0"/>
          </a:p>
        </p:txBody>
      </p:sp>
      <p:sp>
        <p:nvSpPr>
          <p:cNvPr id="7" name="Text 5"/>
          <p:cNvSpPr txBox="1"/>
          <p:nvPr/>
        </p:nvSpPr>
        <p:spPr>
          <a:xfrm>
            <a:off x="822960" y="3383280"/>
            <a:ext cx="10058400" cy="2377440"/>
          </a:xfrm>
          <a:prstGeom prst="rect">
            <a:avLst/>
          </a:prstGeom>
          <a:noFill/>
          <a:ln/>
        </p:spPr>
        <p:txBody>
          <a:bodyPr wrap="square" lIns="0" tIns="0" rIns="0" bIns="0" rtlCol="0" anchor="t"/>
          <a:lstStyle/>
          <a:p>
            <a:pPr indent="0" marL="0">
              <a:lnSpc>
                <a:spcPct val="125000"/>
              </a:lnSpc>
              <a:spcAft>
                <a:spcPts val="1400"/>
              </a:spcAft>
              <a:buNone/>
            </a:pPr>
            <a:r>
              <a:rPr lang="en-US" sz="1500" dirty="0">
                <a:solidFill>
                  <a:srgbClr val="AEB4BD"/>
                </a:solidFill>
                <a:latin typeface="Calibri" pitchFamily="34" charset="0"/>
                <a:ea typeface="Calibri" pitchFamily="34" charset="-122"/>
                <a:cs typeface="Calibri" pitchFamily="34" charset="-120"/>
              </a:rPr>
              <a:t>You started this course asking what an operating system actually is, and built a complete answer: how it structures itself, manages processes and threads, decides what runs when, keeps concurrent access safe and deadlock-free, gives every process the illusion of abundant memory, and finally turns that memory into data that genuinely survives on disk.</a:t>
            </a:r>
            <a:endParaRPr lang="en-US" sz="1500" dirty="0"/>
          </a:p>
          <a:p>
            <a:pPr indent="0" marL="0">
              <a:lnSpc>
                <a:spcPct val="125000"/>
              </a:lnSpc>
              <a:spcAft>
                <a:spcPts val="1400"/>
              </a:spcAft>
              <a:buNone/>
            </a:pPr>
            <a:r>
              <a:rPr lang="en-US" sz="1500" dirty="0">
                <a:solidFill>
                  <a:srgbClr val="AEB4BD"/>
                </a:solidFill>
                <a:latin typeface="Calibri" pitchFamily="34" charset="0"/>
                <a:ea typeface="Calibri" pitchFamily="34" charset="-122"/>
                <a:cs typeface="Calibri" pitchFamily="34" charset="-120"/>
              </a:rPr>
              <a:t>That habit of mind — is this process isolated correctly, is this resource synchronized safely, is memory used efficiently, and is every write to disk actually going to survive — is what this course was built to give you. Congratulations on completing Operating Systems (CSC323).</a:t>
            </a:r>
            <a:endParaRPr lang="en-US" sz="1500" dirty="0"/>
          </a:p>
        </p:txBody>
      </p:sp>
      <p:sp>
        <p:nvSpPr>
          <p:cNvPr id="8" name="Text 6"/>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2026-10-02T04:36:42Z</dcterms:created>
  <dcterms:modified xsi:type="dcterms:W3CDTF">2026-10-02T04:36:42Z</dcterms:modified>
</cp:coreProperties>
</file>
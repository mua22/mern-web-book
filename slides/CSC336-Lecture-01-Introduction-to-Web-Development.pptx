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371600"/>
            <a:ext cx="3657600" cy="2743200"/>
          </a:xfrm>
          <a:prstGeom prst="roundRect">
            <a:avLst>
              <a:gd name="adj" fmla="val 2000"/>
            </a:avLst>
          </a:prstGeom>
          <a:solidFill>
            <a:srgbClr val="1E1E4C"/>
          </a:solidFill>
          <a:ln w="12700">
            <a:solidFill>
              <a:srgbClr val="C9D3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1371600"/>
            <a:ext cx="3657600" cy="45720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4" name="Shape 2"/>
          <p:cNvSpPr/>
          <p:nvPr/>
        </p:nvSpPr>
        <p:spPr>
          <a:xfrm>
            <a:off x="8183880" y="1536192"/>
            <a:ext cx="146304" cy="1463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Shape 3"/>
          <p:cNvSpPr/>
          <p:nvPr/>
        </p:nvSpPr>
        <p:spPr>
          <a:xfrm>
            <a:off x="8476488" y="1536192"/>
            <a:ext cx="146304" cy="1463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6" name="Shape 4"/>
          <p:cNvSpPr/>
          <p:nvPr/>
        </p:nvSpPr>
        <p:spPr>
          <a:xfrm>
            <a:off x="8769096" y="1536192"/>
            <a:ext cx="146304" cy="146304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0" y="21031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9659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37744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Development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3434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what the web actually is, to building full applications anyone can open in a browser.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911096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between the Internet and the Web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85800" y="271576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6090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client–server request–response model behind every website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85800" y="346557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1071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vocabulary: URL/URI, HTTP/HTTPS, DNS, hosting, web server, browser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85800" y="421538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160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organizations that create and maintain web standards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85800" y="4965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9103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web apps: static, dynamic, MPA, SPA, and PWA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85800" y="57150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715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660136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technology landscape — where HTML, CSS, JS, React, Node and MongoDB fit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Internet vs. the Web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not the same thing.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1752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global network of interconnected computers that exchange data.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 since the late 1960s (ARPANET).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far more than websites: email, video calls, games, file transfer.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roads, cables and traffic rules of the digital world.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560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 (WORLD WIDE WEB)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301752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service that runs on top of the Internet.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in 1989 by Tim Berners-Lee.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three ideas: HTML documents, URLs, and the HTTP protocol.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one kind of “mail” sent through the Internet's postal system.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 = Three Simple Ideas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2514600"/>
            <a:ext cx="731520" cy="731520"/>
          </a:xfrm>
          <a:prstGeom prst="ellipse">
            <a:avLst/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0116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3708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written in HyperText Markup Language that can link to one another.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21945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06440" y="2514600"/>
            <a:ext cx="731520" cy="731520"/>
          </a:xfrm>
          <a:prstGeom prst="ellipse">
            <a:avLst/>
          </a:prstGeom>
          <a:solidFill>
            <a:srgbClr val="2B2B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0644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URLs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43708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unique address that identifies where each document lives.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2194560"/>
            <a:ext cx="3474720" cy="3657600"/>
          </a:xfrm>
          <a:prstGeom prst="roundRect">
            <a:avLst>
              <a:gd name="adj" fmla="val 2368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2514600"/>
            <a:ext cx="731520" cy="731520"/>
          </a:xfrm>
          <a:prstGeom prst="ellipse">
            <a:avLst/>
          </a:prstGeom>
          <a:solidFill>
            <a:srgbClr val="2B2B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0120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Protocol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7947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43708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for requesting a document and receiving it back.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WEB 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Client–Server Request–Response Model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client asks for something. A server answers. The server does nothing until asked.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(Browser)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595360" y="274320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0" y="27432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(Web Server)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94560" y="4434840"/>
            <a:ext cx="7772400" cy="0"/>
          </a:xfrm>
          <a:prstGeom prst="line">
            <a:avLst/>
          </a:prstGeom>
          <a:noFill/>
          <a:ln w="25400">
            <a:solidFill>
              <a:srgbClr val="2B2B7A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377440" y="416052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Request:  GET /index.html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94560" y="4855464"/>
            <a:ext cx="7772400" cy="0"/>
          </a:xfrm>
          <a:prstGeom prst="line">
            <a:avLst/>
          </a:prstGeom>
          <a:noFill/>
          <a:ln w="25400">
            <a:solidFill>
              <a:srgbClr val="E67528"/>
            </a:solidFill>
            <a:prstDash val="solid"/>
            <a:headEnd type="triangle"/>
            <a:tailEnd type="none"/>
          </a:ln>
        </p:spPr>
      </p:sp>
      <p:sp>
        <p:nvSpPr>
          <p:cNvPr id="12" name="Text 10"/>
          <p:cNvSpPr txBox="1"/>
          <p:nvPr/>
        </p:nvSpPr>
        <p:spPr>
          <a:xfrm>
            <a:off x="2377440" y="458114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Response:  200 OK  —  HTML page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5276088"/>
            <a:ext cx="7772400" cy="0"/>
          </a:xfrm>
          <a:prstGeom prst="line">
            <a:avLst/>
          </a:prstGeom>
          <a:noFill/>
          <a:ln w="25400">
            <a:solidFill>
              <a:srgbClr val="2B2B7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2377440" y="500176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Request:  GET /style.css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94560" y="5696712"/>
            <a:ext cx="7772400" cy="0"/>
          </a:xfrm>
          <a:prstGeom prst="line">
            <a:avLst/>
          </a:prstGeom>
          <a:noFill/>
          <a:ln w="25400">
            <a:solidFill>
              <a:srgbClr val="E67528"/>
            </a:solidFill>
            <a:prstDash val="solid"/>
            <a:headEnd type="triangl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2377440" y="542239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Response:  200 OK  —  CSS file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 can take many request–response exchanges — one for the HTML, then the CSS, images, and more.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URL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URI identifies a resource. A URL is a URI that also says where it is and how to fetch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10515600" cy="822960"/>
          </a:xfrm>
          <a:prstGeom prst="roundRect">
            <a:avLst>
              <a:gd name="adj" fmla="val 6667"/>
            </a:avLst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4688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https://www.example.com:443/courses/web-tech?semester=fall#lecture1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566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3566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3566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protocol to use (here, secure HTTP)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www.example.com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40233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40233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server to contact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480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:443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4480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44805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omitted — 443 is the default for HTTPS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937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/courses/web-tech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937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49377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resource on that server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394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?semester=fall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394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53949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parameters, as key=value pairs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58521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#lecture1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852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5852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spot within the page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and HTTPS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49240" cy="3017520"/>
          </a:xfrm>
          <a:prstGeom prst="roundRect">
            <a:avLst>
              <a:gd name="adj" fmla="val 2727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31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for how a browser and server exchange requests and responses.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methods: GET (fetch data), POST (send data), and more.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status codes: 200 OK, 404 Not Found, 500 Server Error.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2103120"/>
            <a:ext cx="5349240" cy="3017520"/>
          </a:xfrm>
          <a:prstGeom prst="roundRect">
            <a:avLst>
              <a:gd name="adj" fmla="val 2727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331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9260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plus an encryption layer (TLS/SSL).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Scrambles data so eavesdroppers on the network cannot read it.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used by almost every site; browsers warn when a site is not on HTTPS.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5394960"/>
            <a:ext cx="10927080" cy="868680"/>
          </a:xfrm>
          <a:prstGeom prst="roundRect">
            <a:avLst>
              <a:gd name="adj" fmla="val 6316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539496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send passwords, card numbers or personal data over plain HTTP — it can be intercepted. Always use HTTPS.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DNS — The Phone Book of the Internet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connect using numeric IP addresses. DNS translates a name into that number.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4231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example.com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the browser's address bar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78408" y="3063240"/>
            <a:ext cx="0" cy="411480"/>
          </a:xfrm>
          <a:prstGeom prst="line">
            <a:avLst/>
          </a:prstGeom>
          <a:noFill/>
          <a:ln w="25400">
            <a:solidFill>
              <a:srgbClr val="C9D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52044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3832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DNS resolver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looks up the name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Internet's distributed directory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78408" y="4023360"/>
            <a:ext cx="0" cy="411480"/>
          </a:xfrm>
          <a:prstGeom prst="line">
            <a:avLst/>
          </a:prstGeom>
          <a:noFill/>
          <a:ln w="25400">
            <a:solidFill>
              <a:srgbClr val="C9D3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434340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returns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93.184.216.34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IP address of the server that hosts the site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8408" y="4983480"/>
            <a:ext cx="0" cy="411480"/>
          </a:xfrm>
          <a:prstGeom prst="line">
            <a:avLst/>
          </a:prstGeom>
          <a:noFill/>
          <a:ln w="25400">
            <a:solidFill>
              <a:srgbClr val="C9D3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5440680"/>
            <a:ext cx="502920" cy="5029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440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530352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connects  </a:t>
            </a:r>
            <a:pPr indent="0" marL="0">
              <a:buNone/>
            </a:pPr>
            <a:r>
              <a:rPr lang="en-US" sz="1350" b="1" dirty="0">
                <a:solidFill>
                  <a:srgbClr val="E675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that IP  </a:t>
            </a:r>
            <a:pPr indent="0" marL="0">
              <a:buNone/>
            </a:pPr>
            <a:r>
              <a:rPr lang="en-US" sz="13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HTTP request–response begins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TERMINOLOGY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Hosting, Web Servers, and Browsers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74720" cy="3246120"/>
          </a:xfrm>
          <a:prstGeom prst="roundRect">
            <a:avLst>
              <a:gd name="adj" fmla="val 253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 your site's files on a computer connected to the Internet 24/7, so anyone can reach it any time.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800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 •  Netlify  •  AWS  •  DigitalOcean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34840" y="2148840"/>
            <a:ext cx="3474720" cy="3246120"/>
          </a:xfrm>
          <a:prstGeom prst="roundRect">
            <a:avLst>
              <a:gd name="adj" fmla="val 253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916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Server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292608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that listens for HTTP requests and sends back responses.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4800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 •  Nginx  •  Node.js + Express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0" y="2148840"/>
            <a:ext cx="3474720" cy="3246120"/>
          </a:xfrm>
          <a:prstGeom prst="roundRect">
            <a:avLst>
              <a:gd name="adj" fmla="val 253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2377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292608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the user interacts with: sends requests, receives HTML/CSS/JS, renders the page.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800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 •  Firefox  •  Safari  •  Edge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THE WEB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Standards Bodies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let every browser interpret HTML, CSS and JavaScript the same way.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W3C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Wide Web Consortium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46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for HTML, CSS, and accessibility (WCAG). Founded by Tim Berners-Lee.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2286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WHATWG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26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Hypertext Application Technology Working Group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246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the HTML Living Standard, updated continuously by browser vendors.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434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ECMA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892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Ecma International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212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Standardizes ECMAScript — the specification that JavaScript implements (ES2015, ES2020...).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17920" y="42519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4434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75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IETF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892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Engineering Task Force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5212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Internet protocols: HTTP, TLS, DNS. Publishes specs called RFCs.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KINDS OF WEB APPS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Web Applications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5740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468880" y="203911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same HTML file to everyone. Nothing changes per user.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052560" y="20391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Portfolios, documentation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898648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898648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8803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or changes content per request, using data from a database.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 applications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73989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68880" y="372160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Multi-Page App: every navigation loads a brand-new page from the server.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372160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sites, classic e-commerce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581144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58114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68880" y="4562856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App: loads once, then JavaScript swaps content in place.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052560" y="456285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social apps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422392"/>
            <a:ext cx="1554480" cy="603504"/>
          </a:xfrm>
          <a:prstGeom prst="roundRect">
            <a:avLst>
              <a:gd name="adj" fmla="val 9091"/>
            </a:avLst>
          </a:prstGeom>
          <a:solidFill>
            <a:srgbClr val="2B2B7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422392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468880" y="5404104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app-like SPA: works offline, installable, can send push notifications.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052560" y="540410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needing offline access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KINDS OF WEB APPS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the Types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270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063240"/>
                <a:gridCol w="26517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changes per user?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page reloads?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use 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(content never changes)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Portfolio,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(MPA)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on every navigation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sites, e-commerce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after the first 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Dashboards, social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/ installable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categories overlap: an SPA is almost always dynamic, and a PWA is usually an SPA with extra powers.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Technology Landscape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011680" y="2148840"/>
            <a:ext cx="8138160" cy="1005840"/>
          </a:xfrm>
          <a:prstGeom prst="roundRect">
            <a:avLst>
              <a:gd name="adj" fmla="val 727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0" y="227685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 (Client)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6243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 •  CSS + Bootstrap / Tailwind  •  JavaScript + jQuery / React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80760" y="3154680"/>
            <a:ext cx="0" cy="2286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011680" y="3383280"/>
            <a:ext cx="8138160" cy="1005840"/>
          </a:xfrm>
          <a:prstGeom prst="roundRect">
            <a:avLst>
              <a:gd name="adj" fmla="val 7273"/>
            </a:avLst>
          </a:prstGeom>
          <a:solidFill>
            <a:srgbClr val="3A3A7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86000" y="351129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385876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080760" y="4389120"/>
            <a:ext cx="0" cy="22860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011680" y="4617720"/>
            <a:ext cx="8138160" cy="1005840"/>
          </a:xfrm>
          <a:prstGeom prst="roundRect">
            <a:avLst>
              <a:gd name="adj" fmla="val 7273"/>
            </a:avLst>
          </a:prstGeom>
          <a:solidFill>
            <a:srgbClr val="E675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86000" y="474573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50932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 (via Mongoose)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3154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/ response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Nicknamed the MERN stack:  MongoDB · Express · React · Node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Picks One Path Per Layer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383280" y="206654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20440" y="206654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2011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— (no real alternative in the browser)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432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83280" y="279806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279806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+ Bootstrap or Tailwind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743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Sass, Bulma, UnoCSS, ...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474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83280" y="352958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0440" y="352958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(ES6+), plus jQuery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3474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TypeScript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2062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framework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383280" y="426110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20440" y="426110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4206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Vue, Angular, Svelte, SolidJS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9377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runtime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383280" y="499262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499262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49377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Django, Rails, Laravel, Spring Boot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669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383280" y="5724144"/>
            <a:ext cx="4114800" cy="530352"/>
          </a:xfrm>
          <a:prstGeom prst="roundRect">
            <a:avLst>
              <a:gd name="adj" fmla="val 10345"/>
            </a:avLst>
          </a:prstGeom>
          <a:solidFill>
            <a:srgbClr val="F1F1F8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572414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+ Mongoose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5669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 PostgreSQL, MySQL, SQLite, Firebase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Actually Need to Know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not expected to learn everything on the previous slide. Go deep on this stack; recognize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— non-negotiable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19456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CSS, JavaScript (ES6+), Git &amp; GitHub, REST API design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94436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— the MERN core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92608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Node.js + Express, MongoDB + Mongoose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67588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67588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One, deeply — not both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749040" y="365760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CSS framework: Bootstrap OR Tailwind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0740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4407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only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438912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— enough to read and maintain older codebases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138928"/>
            <a:ext cx="2880360" cy="548640"/>
          </a:xfrm>
          <a:prstGeom prst="roundRect">
            <a:avLst>
              <a:gd name="adj" fmla="val 10000"/>
            </a:avLst>
          </a:prstGeom>
          <a:solidFill>
            <a:srgbClr val="2B2B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13892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to have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5120640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TypeScript; basic SQL/PostgreSQL; a second front-end framework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pick-one pattern: depth in one option per category + awareness of the rest is what makes you employable.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Internet is the global network; the Web is one service (pages, links, HTTP) running on top of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works through a client–server, request–response model — browsers ask, servers answer.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URL/URI identify resources, HTTP/HTTPS transfer them, DNS resolves names to IP addresses, hosting keeps a server reachable.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W3C, WHATWG, ECMA and IETF write the standards that keep browsers and developers speaking one language.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apps range from static sites to dynamic ones, built as MPAs, SPAs, or installable PWAs.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teaches the MERN stack (+ Bootstrap/Tailwind, jQuery) — depth in one path, awareness of the alternatives.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1: Introduction to Web Development</dc:title>
  <dc:subject>CSC336 Web Technologies</dc:subject>
  <dc:creator>Usman Akram</dc:creator>
  <cp:lastModifiedBy>Usman Akram</cp:lastModifiedBy>
  <cp:revision>1</cp:revision>
  <dcterms:created xsi:type="dcterms:W3CDTF">2026-09-13T18:09:12Z</dcterms:created>
  <dcterms:modified xsi:type="dcterms:W3CDTF">2026-09-13T18:09:12Z</dcterms:modified>
</cp:coreProperties>
</file>
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cuinotes.com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cuinotes.com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cuinotes.com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cuinotes.com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cuinotes.com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cuinotes.com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cuinotes.com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cuinotes.com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cuinotes.com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cuinotes.com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cuinotes.com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cuinotes.com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cuinotes.com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cuinotes.com" TargetMode="Externa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cuinotes.com" TargetMode="Externa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cuinotes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2B7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1371600"/>
            <a:ext cx="3657600" cy="2743200"/>
          </a:xfrm>
          <a:prstGeom prst="roundRect">
            <a:avLst>
              <a:gd name="adj" fmla="val 2000"/>
            </a:avLst>
          </a:prstGeom>
          <a:solidFill>
            <a:srgbClr val="1E1E4C"/>
          </a:solidFill>
          <a:ln w="12700">
            <a:solidFill>
              <a:srgbClr val="C9D3F5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7955280" y="1371600"/>
            <a:ext cx="3657600" cy="457200"/>
          </a:xfrm>
          <a:prstGeom prst="rect">
            <a:avLst/>
          </a:prstGeom>
          <a:solidFill>
            <a:srgbClr val="3A3A78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8183880" y="1536192"/>
            <a:ext cx="146304" cy="146304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476488" y="1536192"/>
            <a:ext cx="146304" cy="146304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8769096" y="1536192"/>
            <a:ext cx="146304" cy="146304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7955280" y="210312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9D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&lt;h1&gt;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19659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377440"/>
            <a:ext cx="6949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to</a:t>
            </a:r>
            <a:endParaRPr lang="en-US" sz="4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 Development</a:t>
            </a:r>
            <a:endParaRPr lang="en-US" sz="4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434340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D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what the web actually is, to building full applications anyone can open in a browser.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5943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CSC336 Web Technologies</a:t>
            </a:r>
            <a:endParaRPr lang="en-US" sz="1200" dirty="0"/>
          </a:p>
        </p:txBody>
      </p:sp>
      <p:sp>
        <p:nvSpPr>
          <p:cNvPr id="14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This Lecture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96596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68580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911096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difference between the Internet and the Web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685800" y="2715768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685800" y="2715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2660904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client–server request–response model behind every website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685800" y="3465576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685800" y="34655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3410712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vocabulary: URL/URI, HTTP/HTTPS, DNS, hosting, web server, browser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685800" y="4215384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685800" y="42153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41605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organizations that create and maintain web standards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685800" y="4965192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685800" y="4965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371600" y="4910328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web apps: static, dynamic, MPA, SPA, and PWA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685800" y="571500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20" name="Text 18"/>
          <p:cNvSpPr txBox="1"/>
          <p:nvPr/>
        </p:nvSpPr>
        <p:spPr>
          <a:xfrm>
            <a:off x="685800" y="5715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371600" y="5660136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technology landscape — where HTML, CSS, JS, React, Node and MongoDB fit</a:t>
            </a:r>
            <a:endParaRPr lang="en-US" sz="1550" dirty="0"/>
          </a:p>
        </p:txBody>
      </p:sp>
      <p:sp>
        <p:nvSpPr>
          <p:cNvPr id="24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Internet vs. the Web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9164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D5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are not the same thing.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5349240" cy="3566160"/>
          </a:xfrm>
          <a:prstGeom prst="roundRect">
            <a:avLst>
              <a:gd name="adj" fmla="val 2308"/>
            </a:avLst>
          </a:prstGeom>
          <a:solidFill>
            <a:srgbClr val="F1F1F8"/>
          </a:solidFill>
          <a:ln w="12700">
            <a:solidFill>
              <a:srgbClr val="E2E2EE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914400" y="25603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B2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INTERNET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017520"/>
            <a:ext cx="48006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global network of interconnected computers that exchange data.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Exists since the late 1960s (ARPANET).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Carries far more than websites: email, video calls, games, file transfer.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roads, cables and traffic rules of the digital world.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17920" y="2286000"/>
            <a:ext cx="5349240" cy="3566160"/>
          </a:xfrm>
          <a:prstGeom prst="roundRect">
            <a:avLst>
              <a:gd name="adj" fmla="val 2308"/>
            </a:avLst>
          </a:prstGeom>
          <a:solidFill>
            <a:srgbClr val="F1F1F8"/>
          </a:solidFill>
          <a:ln w="12700">
            <a:solidFill>
              <a:srgbClr val="E2E2EE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6492240" y="25603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67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WEB  (WORLD WIDE WEB)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492240" y="3017520"/>
            <a:ext cx="48006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service that runs on top of the Internet.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Invented in 1989 by Tim Berners-Lee.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from three ideas: HTML documents, URLs, and the HTTP protocol.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one kind of “mail” sent through the Internet's postal system.</a:t>
            </a:r>
            <a:endParaRPr lang="en-US" sz="1350" dirty="0"/>
          </a:p>
        </p:txBody>
      </p:sp>
      <p:sp>
        <p:nvSpPr>
          <p:cNvPr id="13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Web = Three Simple Ideas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3474720" cy="3657600"/>
          </a:xfrm>
          <a:prstGeom prst="roundRect">
            <a:avLst>
              <a:gd name="adj" fmla="val 2368"/>
            </a:avLst>
          </a:prstGeom>
          <a:solidFill>
            <a:srgbClr val="F1F1F8"/>
          </a:solidFill>
          <a:ln w="12700">
            <a:solidFill>
              <a:srgbClr val="E2E2EE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2011680" y="2514600"/>
            <a:ext cx="731520" cy="731520"/>
          </a:xfrm>
          <a:prstGeom prst="ellipse">
            <a:avLst/>
          </a:prstGeom>
          <a:solidFill>
            <a:srgbClr val="2B2B7A"/>
          </a:solidFill>
          <a:ln/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2011680" y="25146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4747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D5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7947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675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HTML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4370832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written in HyperText Markup Language that can link to one another.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434840" y="2194560"/>
            <a:ext cx="3474720" cy="3657600"/>
          </a:xfrm>
          <a:prstGeom prst="roundRect">
            <a:avLst>
              <a:gd name="adj" fmla="val 2368"/>
            </a:avLst>
          </a:prstGeom>
          <a:solidFill>
            <a:srgbClr val="F1F1F8"/>
          </a:solidFill>
          <a:ln w="12700">
            <a:solidFill>
              <a:srgbClr val="E2E2EE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5806440" y="2514600"/>
            <a:ext cx="731520" cy="731520"/>
          </a:xfrm>
          <a:prstGeom prst="ellipse">
            <a:avLst/>
          </a:prstGeom>
          <a:solidFill>
            <a:srgbClr val="2B2B7A"/>
          </a:solidFill>
          <a:ln/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5806440" y="25146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4617720" y="34747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D5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Addresses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617720" y="37947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675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URLs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4754880" y="4370832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unique address that identifies where each document lives.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229600" y="2194560"/>
            <a:ext cx="3474720" cy="3657600"/>
          </a:xfrm>
          <a:prstGeom prst="roundRect">
            <a:avLst>
              <a:gd name="adj" fmla="val 2368"/>
            </a:avLst>
          </a:prstGeom>
          <a:solidFill>
            <a:srgbClr val="F1F1F8"/>
          </a:solidFill>
          <a:ln w="12700">
            <a:solidFill>
              <a:srgbClr val="E2E2EE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9601200" y="2514600"/>
            <a:ext cx="731520" cy="731520"/>
          </a:xfrm>
          <a:prstGeom prst="ellipse">
            <a:avLst/>
          </a:prstGeom>
          <a:solidFill>
            <a:srgbClr val="2B2B7A"/>
          </a:solidFill>
          <a:ln/>
        </p:spPr>
        <p:txBody>
          <a:bodyPr/>
          <a:p/>
        </p:txBody>
      </p:sp>
      <p:sp>
        <p:nvSpPr>
          <p:cNvPr id="18" name="Text 16"/>
          <p:cNvSpPr txBox="1"/>
          <p:nvPr/>
        </p:nvSpPr>
        <p:spPr>
          <a:xfrm>
            <a:off x="9601200" y="25146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8412480" y="34747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D5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Protocol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8412480" y="37947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675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HTTP</a:t>
            </a:r>
            <a:endParaRPr lang="en-US" sz="2400" dirty="0"/>
          </a:p>
        </p:txBody>
      </p:sp>
      <p:sp>
        <p:nvSpPr>
          <p:cNvPr id="21" name="Text 19"/>
          <p:cNvSpPr txBox="1"/>
          <p:nvPr/>
        </p:nvSpPr>
        <p:spPr>
          <a:xfrm>
            <a:off x="8549640" y="4370832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rules for requesting a document and receiving it back.</a:t>
            </a:r>
            <a:endParaRPr lang="en-US" sz="1200" dirty="0"/>
          </a:p>
        </p:txBody>
      </p:sp>
      <p:sp>
        <p:nvSpPr>
          <p:cNvPr id="24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WEB WORKS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Client–Server Request–Response Model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9164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5D5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client asks for something. A server answers. The server does nothing until asked.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822960" y="2743200"/>
            <a:ext cx="2743200" cy="1371600"/>
          </a:xfrm>
          <a:prstGeom prst="roundRect">
            <a:avLst>
              <a:gd name="adj" fmla="val 5333"/>
            </a:avLst>
          </a:prstGeom>
          <a:solidFill>
            <a:srgbClr val="2B2B7A"/>
          </a:solidFill>
          <a:ln/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822960" y="274320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(Browser)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595360" y="2743200"/>
            <a:ext cx="2743200" cy="1371600"/>
          </a:xfrm>
          <a:prstGeom prst="roundRect">
            <a:avLst>
              <a:gd name="adj" fmla="val 5333"/>
            </a:avLst>
          </a:prstGeom>
          <a:solidFill>
            <a:srgbClr val="E67528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8595360" y="274320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(Web Server)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194560" y="4434840"/>
            <a:ext cx="7772400" cy="0"/>
          </a:xfrm>
          <a:prstGeom prst="line">
            <a:avLst/>
          </a:prstGeom>
          <a:noFill/>
          <a:ln w="25400">
            <a:solidFill>
              <a:srgbClr val="2B2B7A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2377440" y="4160520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Request:  GET /index.html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194560" y="4855464"/>
            <a:ext cx="7772400" cy="0"/>
          </a:xfrm>
          <a:prstGeom prst="line">
            <a:avLst/>
          </a:prstGeom>
          <a:noFill/>
          <a:ln w="25400">
            <a:solidFill>
              <a:srgbClr val="E67528"/>
            </a:solidFill>
            <a:prstDash val="solid"/>
            <a:headEnd type="triangle"/>
            <a:tailEnd type="none"/>
          </a:ln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2377440" y="4581144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675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Response:  200 OK  —  HTML page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194560" y="5276088"/>
            <a:ext cx="7772400" cy="0"/>
          </a:xfrm>
          <a:prstGeom prst="line">
            <a:avLst/>
          </a:prstGeom>
          <a:noFill/>
          <a:ln w="25400">
            <a:solidFill>
              <a:srgbClr val="2B2B7A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2377440" y="500176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Request:  GET /style.css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194560" y="5696712"/>
            <a:ext cx="7772400" cy="0"/>
          </a:xfrm>
          <a:prstGeom prst="line">
            <a:avLst/>
          </a:prstGeom>
          <a:noFill/>
          <a:ln w="25400">
            <a:solidFill>
              <a:srgbClr val="E67528"/>
            </a:solidFill>
            <a:prstDash val="solid"/>
            <a:headEnd type="triangle"/>
            <a:tailEnd type="none"/>
          </a:ln>
        </p:spPr>
        <p:txBody>
          <a:bodyPr/>
          <a:p/>
        </p:txBody>
      </p:sp>
      <p:sp>
        <p:nvSpPr>
          <p:cNvPr id="16" name="Text 14"/>
          <p:cNvSpPr txBox="1"/>
          <p:nvPr/>
        </p:nvSpPr>
        <p:spPr>
          <a:xfrm>
            <a:off x="2377440" y="542239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675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Response:  200 OK  —  CSS file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58978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5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web page can take many request–response exchanges — one for the HTML, then the CSS, images, and more.</a:t>
            </a:r>
            <a:endParaRPr lang="en-US" sz="1200" dirty="0"/>
          </a:p>
        </p:txBody>
      </p:sp>
      <p:sp>
        <p:nvSpPr>
          <p:cNvPr id="20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TERMINOLOGY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Anatomy of a URL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9164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D5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URI identifies a resource. A URL is a URI that also says where it is and how to fetch it.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2468880"/>
            <a:ext cx="10515600" cy="822960"/>
          </a:xfrm>
          <a:prstGeom prst="roundRect">
            <a:avLst>
              <a:gd name="adj" fmla="val 6667"/>
            </a:avLst>
          </a:prstGeom>
          <a:solidFill>
            <a:srgbClr val="2B2B7A"/>
          </a:solidFill>
          <a:ln/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1005840" y="2468880"/>
            <a:ext cx="10149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https://www.example.com:443/courses/web-tech?semester=fall#lecture1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5661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75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3657600" y="356616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scheme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5303520" y="3566160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protocol to use (here, secure HTTP)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40233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75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www.example.com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657600" y="402336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5303520" y="4023360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server to contact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868680" y="44805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75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:443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3657600" y="448056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5303520" y="4480560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Often omitted — 443 is the default for HTTPS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868680" y="49377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75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/courses/web-tech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3657600" y="493776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5303520" y="4937760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resource on that server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868680" y="53949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75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?semester=fall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3657600" y="539496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5303520" y="5394960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parameters, as key=value pairs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868680" y="58521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75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#lecture1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3657600" y="585216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5303520" y="5852160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specific spot within the page</a:t>
            </a:r>
            <a:endParaRPr lang="en-US" sz="1250" dirty="0"/>
          </a:p>
        </p:txBody>
      </p:sp>
      <p:sp>
        <p:nvSpPr>
          <p:cNvPr id="27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TERMINOLOGY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HTTP and HTTPS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5349240" cy="3017520"/>
          </a:xfrm>
          <a:prstGeom prst="roundRect">
            <a:avLst>
              <a:gd name="adj" fmla="val 2727"/>
            </a:avLst>
          </a:prstGeom>
          <a:solidFill>
            <a:srgbClr val="F1F1F8"/>
          </a:solidFill>
          <a:ln w="12700">
            <a:solidFill>
              <a:srgbClr val="E2E2EE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14400" y="233172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HTTP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926080"/>
            <a:ext cx="4800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rules for how a browser and server exchange requests and responses.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methods: GET (fetch data), POST (send data), and more.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status codes: 200 OK, 404 Not Found, 500 Server Error.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17920" y="2103120"/>
            <a:ext cx="5349240" cy="3017520"/>
          </a:xfrm>
          <a:prstGeom prst="roundRect">
            <a:avLst>
              <a:gd name="adj" fmla="val 2727"/>
            </a:avLst>
          </a:prstGeom>
          <a:solidFill>
            <a:srgbClr val="F1F1F8"/>
          </a:solidFill>
          <a:ln w="12700">
            <a:solidFill>
              <a:srgbClr val="E2E2EE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6492240" y="233172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75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HTTPS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6492240" y="2926080"/>
            <a:ext cx="4800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plus an encryption layer (TLS/SSL).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Scrambles data so eavesdroppers on the network cannot read it.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used by almost every site; browsers warn when a site is not on HTTPS.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5394960"/>
            <a:ext cx="10927080" cy="868680"/>
          </a:xfrm>
          <a:prstGeom prst="roundRect">
            <a:avLst>
              <a:gd name="adj" fmla="val 6316"/>
            </a:avLst>
          </a:prstGeom>
          <a:solidFill>
            <a:srgbClr val="FDECE0"/>
          </a:solidFill>
          <a:ln w="12700">
            <a:solidFill>
              <a:srgbClr val="FF8A3D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914400" y="539496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3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send passwords, card numbers or personal data over plain HTTP — it can be intercepted. Always use HTTPS.</a:t>
            </a:r>
            <a:endParaRPr lang="en-US" sz="1300" dirty="0"/>
          </a:p>
        </p:txBody>
      </p:sp>
      <p:sp>
        <p:nvSpPr>
          <p:cNvPr id="14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TERMINOLOGY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DNS — The Phone Book of the Internet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9164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D5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Computers connect using numeric IP addresses. DNS translates a name into that number.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502920" cy="50292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731520" y="2560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24231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type  </a:t>
            </a:r>
            <a:pPr indent="0" marL="0">
              <a:buNone/>
            </a:pPr>
            <a:r>
              <a:rPr lang="en-US" sz="1350" b="1" dirty="0">
                <a:solidFill>
                  <a:srgbClr val="E675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example.com  </a:t>
            </a:r>
            <a:pPr indent="0" marL="0">
              <a:buNone/>
            </a:pPr>
            <a:r>
              <a:rPr lang="en-US" sz="1300" dirty="0">
                <a:solidFill>
                  <a:srgbClr val="5D5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 the browser's address bar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978408" y="3063240"/>
            <a:ext cx="0" cy="411480"/>
          </a:xfrm>
          <a:prstGeom prst="line">
            <a:avLst/>
          </a:prstGeom>
          <a:noFill/>
          <a:ln w="25400">
            <a:solidFill>
              <a:srgbClr val="C9D3F5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731520" y="3520440"/>
            <a:ext cx="502920" cy="50292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731520" y="3520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554480" y="338328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DNS resolver  </a:t>
            </a:r>
            <a:pPr indent="0" marL="0">
              <a:buNone/>
            </a:pPr>
            <a:r>
              <a:rPr lang="en-US" sz="1350" b="1" dirty="0">
                <a:solidFill>
                  <a:srgbClr val="E675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looks up the name  </a:t>
            </a:r>
            <a:pPr indent="0" marL="0">
              <a:buNone/>
            </a:pPr>
            <a:r>
              <a:rPr lang="en-US" sz="1300" dirty="0">
                <a:solidFill>
                  <a:srgbClr val="5D5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Internet's distributed directory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78408" y="4023360"/>
            <a:ext cx="0" cy="411480"/>
          </a:xfrm>
          <a:prstGeom prst="line">
            <a:avLst/>
          </a:prstGeom>
          <a:noFill/>
          <a:ln w="25400">
            <a:solidFill>
              <a:srgbClr val="C9D3F5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731520" y="4480560"/>
            <a:ext cx="502920" cy="50292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731520" y="4480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554480" y="434340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returns  </a:t>
            </a:r>
            <a:pPr indent="0" marL="0">
              <a:buNone/>
            </a:pPr>
            <a:r>
              <a:rPr lang="en-US" sz="1350" b="1" dirty="0">
                <a:solidFill>
                  <a:srgbClr val="E675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93.184.216.34  </a:t>
            </a:r>
            <a:pPr indent="0" marL="0">
              <a:buNone/>
            </a:pPr>
            <a:r>
              <a:rPr lang="en-US" sz="1300" dirty="0">
                <a:solidFill>
                  <a:srgbClr val="5D5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IP address of the server that hosts the site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978408" y="4983480"/>
            <a:ext cx="0" cy="411480"/>
          </a:xfrm>
          <a:prstGeom prst="line">
            <a:avLst/>
          </a:prstGeom>
          <a:noFill/>
          <a:ln w="25400">
            <a:solidFill>
              <a:srgbClr val="C9D3F5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731520" y="5440680"/>
            <a:ext cx="502920" cy="50292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18" name="Text 16"/>
          <p:cNvSpPr txBox="1"/>
          <p:nvPr/>
        </p:nvSpPr>
        <p:spPr>
          <a:xfrm>
            <a:off x="731520" y="5440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554480" y="530352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browser connects  </a:t>
            </a:r>
            <a:pPr indent="0" marL="0">
              <a:buNone/>
            </a:pPr>
            <a:r>
              <a:rPr lang="en-US" sz="1350" b="1" dirty="0">
                <a:solidFill>
                  <a:srgbClr val="E675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 that IP  </a:t>
            </a:r>
            <a:pPr indent="0" marL="0">
              <a:buNone/>
            </a:pPr>
            <a:r>
              <a:rPr lang="en-US" sz="1300" dirty="0">
                <a:solidFill>
                  <a:srgbClr val="5D5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the HTTP request–response begins</a:t>
            </a:r>
            <a:endParaRPr lang="en-US" sz="1400" dirty="0"/>
          </a:p>
        </p:txBody>
      </p:sp>
      <p:sp>
        <p:nvSpPr>
          <p:cNvPr id="22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TERMINOLOGY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Hosting, Web Servers, and Browsers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3474720" cy="3246120"/>
          </a:xfrm>
          <a:prstGeom prst="roundRect">
            <a:avLst>
              <a:gd name="adj" fmla="val 2535"/>
            </a:avLst>
          </a:prstGeom>
          <a:solidFill>
            <a:srgbClr val="F1F1F8"/>
          </a:solidFill>
          <a:ln w="12700">
            <a:solidFill>
              <a:srgbClr val="E2E2EE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14400" y="23774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Hosting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926080"/>
            <a:ext cx="29260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Storing your site's files on a computer connected to the Internet 24/7, so anyone can reach it any time.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480060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E67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 •  Netlify  •  AWS  •  DigitalOcean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434840" y="2148840"/>
            <a:ext cx="3474720" cy="3246120"/>
          </a:xfrm>
          <a:prstGeom prst="roundRect">
            <a:avLst>
              <a:gd name="adj" fmla="val 2535"/>
            </a:avLst>
          </a:prstGeom>
          <a:solidFill>
            <a:srgbClr val="F1F1F8"/>
          </a:solidFill>
          <a:ln w="12700">
            <a:solidFill>
              <a:srgbClr val="E2E2EE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4709160" y="23774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 Server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4709160" y="2926080"/>
            <a:ext cx="29260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software that listens for HTTP requests and sends back responses.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4709160" y="480060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E67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 •  Nginx  •  Node.js + Express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229600" y="2148840"/>
            <a:ext cx="3474720" cy="3246120"/>
          </a:xfrm>
          <a:prstGeom prst="roundRect">
            <a:avLst>
              <a:gd name="adj" fmla="val 2535"/>
            </a:avLst>
          </a:prstGeom>
          <a:solidFill>
            <a:srgbClr val="F1F1F8"/>
          </a:solidFill>
          <a:ln w="12700">
            <a:solidFill>
              <a:srgbClr val="E2E2EE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8503920" y="23774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Browser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8503920" y="2926080"/>
            <a:ext cx="29260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client the user interacts with: sends requests, receives HTML/CSS/JS, renders the page.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8503920" y="480060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E67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  •  Firefox  •  Safari  •  Edge</a:t>
            </a:r>
            <a:endParaRPr lang="en-US" sz="1050" dirty="0"/>
          </a:p>
        </p:txBody>
      </p:sp>
      <p:sp>
        <p:nvSpPr>
          <p:cNvPr id="18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RUNS THE WEB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 Standards Bodies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9164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D5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 let every browser interpret HTML, CSS and JavaScript the same way.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5349240" cy="1783080"/>
          </a:xfrm>
          <a:prstGeom prst="roundRect">
            <a:avLst>
              <a:gd name="adj" fmla="val 4615"/>
            </a:avLst>
          </a:prstGeom>
          <a:solidFill>
            <a:srgbClr val="F1F1F8"/>
          </a:solidFill>
          <a:ln w="12700">
            <a:solidFill>
              <a:srgbClr val="E2E2EE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914400" y="24688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675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W3C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9260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2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Wide Web Consortium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24612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 for HTML, CSS, and accessibility (WCAG). Founded by Tim Berners-Lee.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17920" y="2286000"/>
            <a:ext cx="5349240" cy="1783080"/>
          </a:xfrm>
          <a:prstGeom prst="roundRect">
            <a:avLst>
              <a:gd name="adj" fmla="val 4615"/>
            </a:avLst>
          </a:prstGeom>
          <a:solidFill>
            <a:srgbClr val="F1F1F8"/>
          </a:solidFill>
          <a:ln w="12700">
            <a:solidFill>
              <a:srgbClr val="E2E2EE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6492240" y="24688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675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WHATWG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6492240" y="29260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2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Hypertext Application Technology Working Group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492240" y="324612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Maintains the HTML Living Standard, updated continuously by browser vendors.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4251960"/>
            <a:ext cx="5349240" cy="1783080"/>
          </a:xfrm>
          <a:prstGeom prst="roundRect">
            <a:avLst>
              <a:gd name="adj" fmla="val 4615"/>
            </a:avLst>
          </a:prstGeom>
          <a:solidFill>
            <a:srgbClr val="F1F1F8"/>
          </a:solidFill>
          <a:ln w="12700">
            <a:solidFill>
              <a:srgbClr val="E2E2EE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914400" y="44348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675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ECMA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" y="48920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2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Ecma International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914400" y="521208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Standardizes ECMAScript — the specification that JavaScript implements (ES2015, ES2020...).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217920" y="4251960"/>
            <a:ext cx="5349240" cy="1783080"/>
          </a:xfrm>
          <a:prstGeom prst="roundRect">
            <a:avLst>
              <a:gd name="adj" fmla="val 4615"/>
            </a:avLst>
          </a:prstGeom>
          <a:solidFill>
            <a:srgbClr val="F1F1F8"/>
          </a:solidFill>
          <a:ln w="12700">
            <a:solidFill>
              <a:srgbClr val="E2E2EE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 txBox="1"/>
          <p:nvPr/>
        </p:nvSpPr>
        <p:spPr>
          <a:xfrm>
            <a:off x="6492240" y="44348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675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IETF</a:t>
            </a:r>
            <a:endParaRPr lang="en-US" sz="1900" dirty="0"/>
          </a:p>
        </p:txBody>
      </p:sp>
      <p:sp>
        <p:nvSpPr>
          <p:cNvPr id="19" name="Text 17"/>
          <p:cNvSpPr txBox="1"/>
          <p:nvPr/>
        </p:nvSpPr>
        <p:spPr>
          <a:xfrm>
            <a:off x="6492240" y="48920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2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Engineering Task Force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6492240" y="521208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Internet protocols: HTTP, TLS, DNS. Publishes specs called RFCs.</a:t>
            </a:r>
            <a:endParaRPr lang="en-US" sz="1150" dirty="0"/>
          </a:p>
        </p:txBody>
      </p:sp>
      <p:sp>
        <p:nvSpPr>
          <p:cNvPr id="23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KINDS OF WEB APPS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Types of Web Applications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057400"/>
            <a:ext cx="1554480" cy="603504"/>
          </a:xfrm>
          <a:prstGeom prst="roundRect">
            <a:avLst>
              <a:gd name="adj" fmla="val 9091"/>
            </a:avLst>
          </a:prstGeom>
          <a:solidFill>
            <a:srgbClr val="2B2B7A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640080" y="2057400"/>
            <a:ext cx="1554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2468880" y="2039112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Serves the same HTML file to everyone. Nothing changes per user.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9052560" y="2039112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D5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Portfolios, documentation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2898648"/>
            <a:ext cx="1554480" cy="603504"/>
          </a:xfrm>
          <a:prstGeom prst="roundRect">
            <a:avLst>
              <a:gd name="adj" fmla="val 9091"/>
            </a:avLst>
          </a:prstGeom>
          <a:solidFill>
            <a:srgbClr val="2B2B7A"/>
          </a:solidFill>
          <a:ln/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640080" y="2898648"/>
            <a:ext cx="1554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2468880" y="288036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or changes content per request, using data from a database.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9052560" y="288036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D5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real applications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3739896"/>
            <a:ext cx="1554480" cy="603504"/>
          </a:xfrm>
          <a:prstGeom prst="roundRect">
            <a:avLst>
              <a:gd name="adj" fmla="val 9091"/>
            </a:avLst>
          </a:prstGeom>
          <a:solidFill>
            <a:srgbClr val="2B2B7A"/>
          </a:solidFill>
          <a:ln/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640080" y="3739896"/>
            <a:ext cx="1554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MPA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2468880" y="3721608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Multi-Page App: every navigation loads a brand-new page from the server.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9052560" y="3721608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D5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 sites, classic e-commerce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4581144"/>
            <a:ext cx="1554480" cy="603504"/>
          </a:xfrm>
          <a:prstGeom prst="roundRect">
            <a:avLst>
              <a:gd name="adj" fmla="val 9091"/>
            </a:avLst>
          </a:prstGeom>
          <a:solidFill>
            <a:srgbClr val="2B2B7A"/>
          </a:solidFill>
          <a:ln/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640080" y="4581144"/>
            <a:ext cx="1554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2468880" y="4562856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Single-Page App: loads once, then JavaScript swaps content in place.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9052560" y="4562856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D5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Dashboards, social apps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5422392"/>
            <a:ext cx="1554480" cy="603504"/>
          </a:xfrm>
          <a:prstGeom prst="roundRect">
            <a:avLst>
              <a:gd name="adj" fmla="val 9091"/>
            </a:avLst>
          </a:prstGeom>
          <a:solidFill>
            <a:srgbClr val="2B2B7A"/>
          </a:solidFill>
          <a:ln/>
        </p:spPr>
        <p:txBody>
          <a:bodyPr/>
          <a:p/>
        </p:txBody>
      </p:sp>
      <p:sp>
        <p:nvSpPr>
          <p:cNvPr id="21" name="Text 19"/>
          <p:cNvSpPr txBox="1"/>
          <p:nvPr/>
        </p:nvSpPr>
        <p:spPr>
          <a:xfrm>
            <a:off x="640080" y="5422392"/>
            <a:ext cx="1554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PWA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2468880" y="5404104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app-like SPA: works offline, installable, can send push notifications.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9052560" y="5404104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D5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 needing offline access</a:t>
            </a:r>
            <a:endParaRPr lang="en-US" sz="1100" dirty="0"/>
          </a:p>
        </p:txBody>
      </p:sp>
      <p:sp>
        <p:nvSpPr>
          <p:cNvPr id="26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KINDS OF WEB APPS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Comparing the Types</a:t>
            </a:r>
            <a:endParaRPr lang="en-US" sz="3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194560"/>
          <a:ext cx="1092708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200400"/>
                <a:gridCol w="3063240"/>
                <a:gridCol w="2651760"/>
              </a:tblGrid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7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Content changes per user?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7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page reloads?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7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Typical use case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7A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(content never changes)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Portfolio, documentation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Dynamic (MPA)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Yes, on every navigation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News sites, e-commerce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No, after the first load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Dashboards, social apps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PWA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Offline / installable apps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40080" y="576072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D5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categories overlap: an SPA is almost always dynamic, and a PWA is usually an SPA with extra powers.</a:t>
            </a:r>
            <a:endParaRPr lang="en-US" sz="1200" dirty="0"/>
          </a:p>
        </p:txBody>
      </p:sp>
      <p:sp>
        <p:nvSpPr>
          <p:cNvPr id="14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PICTURE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Technology Landscape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2011680" y="2148840"/>
            <a:ext cx="8138160" cy="1005840"/>
          </a:xfrm>
          <a:prstGeom prst="roundRect">
            <a:avLst>
              <a:gd name="adj" fmla="val 7273"/>
            </a:avLst>
          </a:prstGeom>
          <a:solidFill>
            <a:srgbClr val="2B2B7A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2286000" y="2276856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DE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 (Client)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2286000" y="2624328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 •  CSS + Bootstrap / Tailwind  •  JavaScript + jQuery / React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80760" y="3154680"/>
            <a:ext cx="0" cy="228600"/>
          </a:xfrm>
          <a:prstGeom prst="line">
            <a:avLst/>
          </a:prstGeom>
          <a:noFill/>
          <a:ln w="25400">
            <a:solidFill>
              <a:srgbClr val="5D5D72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2011680" y="3383280"/>
            <a:ext cx="8138160" cy="1005840"/>
          </a:xfrm>
          <a:prstGeom prst="roundRect">
            <a:avLst>
              <a:gd name="adj" fmla="val 7273"/>
            </a:avLst>
          </a:prstGeom>
          <a:solidFill>
            <a:srgbClr val="3A3A78"/>
          </a:solidFill>
          <a:ln/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2286000" y="3511296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DE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2286000" y="3858768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080760" y="4389120"/>
            <a:ext cx="0" cy="228600"/>
          </a:xfrm>
          <a:prstGeom prst="line">
            <a:avLst/>
          </a:prstGeom>
          <a:noFill/>
          <a:ln w="25400">
            <a:solidFill>
              <a:srgbClr val="5D5D72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2011680" y="4617720"/>
            <a:ext cx="8138160" cy="1005840"/>
          </a:xfrm>
          <a:prstGeom prst="roundRect">
            <a:avLst>
              <a:gd name="adj" fmla="val 7273"/>
            </a:avLst>
          </a:prstGeom>
          <a:solidFill>
            <a:srgbClr val="E67528"/>
          </a:solidFill>
          <a:ln/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2286000" y="4745736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DE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2286000" y="5093208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 (via Mongoose)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7589520" y="31546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D5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request / response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035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2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Nicknamed the MERN stack:  MongoDB · Express · React · Node</a:t>
            </a:r>
            <a:endParaRPr lang="en-US" sz="1300" dirty="0"/>
          </a:p>
        </p:txBody>
      </p:sp>
      <p:sp>
        <p:nvSpPr>
          <p:cNvPr id="19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PICTURE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Course Picks One Path Per Layer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201168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Markup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383280" y="2066544"/>
            <a:ext cx="4114800" cy="530352"/>
          </a:xfrm>
          <a:prstGeom prst="roundRect">
            <a:avLst>
              <a:gd name="adj" fmla="val 10345"/>
            </a:avLst>
          </a:prstGeom>
          <a:solidFill>
            <a:srgbClr val="F1F1F8"/>
          </a:solidFill>
          <a:ln w="12700">
            <a:solidFill>
              <a:srgbClr val="FF8A3D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3520440" y="2066544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772400" y="201168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D5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alt:  — (no real alternative in the browser)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74320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Styling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383280" y="2798064"/>
            <a:ext cx="4114800" cy="530352"/>
          </a:xfrm>
          <a:prstGeom prst="roundRect">
            <a:avLst>
              <a:gd name="adj" fmla="val 10345"/>
            </a:avLst>
          </a:prstGeom>
          <a:solidFill>
            <a:srgbClr val="F1F1F8"/>
          </a:solidFill>
          <a:ln w="12700">
            <a:solidFill>
              <a:srgbClr val="FF8A3D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3520440" y="2798064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+ Bootstrap or Tailwind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7772400" y="274320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D5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alt:  Sass, Bulma, UnoCSS, ...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347472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Scripting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383280" y="3529584"/>
            <a:ext cx="4114800" cy="530352"/>
          </a:xfrm>
          <a:prstGeom prst="roundRect">
            <a:avLst>
              <a:gd name="adj" fmla="val 10345"/>
            </a:avLst>
          </a:prstGeom>
          <a:solidFill>
            <a:srgbClr val="F1F1F8"/>
          </a:solidFill>
          <a:ln w="12700">
            <a:solidFill>
              <a:srgbClr val="FF8A3D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3520440" y="3529584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(ES6+), plus jQuery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0" y="347472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D5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alt:  TypeScript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42062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Front-end framework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383280" y="4261104"/>
            <a:ext cx="4114800" cy="530352"/>
          </a:xfrm>
          <a:prstGeom prst="roundRect">
            <a:avLst>
              <a:gd name="adj" fmla="val 10345"/>
            </a:avLst>
          </a:prstGeom>
          <a:solidFill>
            <a:srgbClr val="F1F1F8"/>
          </a:solidFill>
          <a:ln w="12700">
            <a:solidFill>
              <a:srgbClr val="FF8A3D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 txBox="1"/>
          <p:nvPr/>
        </p:nvSpPr>
        <p:spPr>
          <a:xfrm>
            <a:off x="3520440" y="4261104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7772400" y="420624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D5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alt:  Vue, Angular, Svelte, SolidJS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685800" y="493776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runtime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3383280" y="4992624"/>
            <a:ext cx="4114800" cy="530352"/>
          </a:xfrm>
          <a:prstGeom prst="roundRect">
            <a:avLst>
              <a:gd name="adj" fmla="val 10345"/>
            </a:avLst>
          </a:prstGeom>
          <a:solidFill>
            <a:srgbClr val="F1F1F8"/>
          </a:solidFill>
          <a:ln w="12700">
            <a:solidFill>
              <a:srgbClr val="FF8A3D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 txBox="1"/>
          <p:nvPr/>
        </p:nvSpPr>
        <p:spPr>
          <a:xfrm>
            <a:off x="3520440" y="4992624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7772400" y="493776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D5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alt:  Django, Rails, Laravel, Spring Boot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685800" y="566928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3383280" y="5724144"/>
            <a:ext cx="4114800" cy="530352"/>
          </a:xfrm>
          <a:prstGeom prst="roundRect">
            <a:avLst>
              <a:gd name="adj" fmla="val 10345"/>
            </a:avLst>
          </a:prstGeom>
          <a:solidFill>
            <a:srgbClr val="F1F1F8"/>
          </a:solidFill>
          <a:ln w="12700">
            <a:solidFill>
              <a:srgbClr val="FF8A3D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 txBox="1"/>
          <p:nvPr/>
        </p:nvSpPr>
        <p:spPr>
          <a:xfrm>
            <a:off x="3520440" y="5724144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+ Mongoose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7772400" y="566928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D5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alt:  PostgreSQL, MySQL, SQLite, Firebase</a:t>
            </a:r>
            <a:endParaRPr lang="en-US" sz="1050" dirty="0"/>
          </a:p>
        </p:txBody>
      </p:sp>
      <p:sp>
        <p:nvSpPr>
          <p:cNvPr id="30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REALITY CHECK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 Actually Need to Know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9164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D5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not expected to learn everything on the previous slide. Go deep on this stack; recognize the rest.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212848"/>
            <a:ext cx="2880360" cy="548640"/>
          </a:xfrm>
          <a:prstGeom prst="roundRect">
            <a:avLst>
              <a:gd name="adj" fmla="val 10000"/>
            </a:avLst>
          </a:prstGeom>
          <a:solidFill>
            <a:srgbClr val="2B2B7A"/>
          </a:solidFill>
          <a:ln/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731520" y="2212848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 — non-negotiable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3749040" y="2194560"/>
            <a:ext cx="7772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HTML, CSS, JavaScript (ES6+), Git &amp; GitHub, REST API design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944368"/>
            <a:ext cx="2880360" cy="548640"/>
          </a:xfrm>
          <a:prstGeom prst="roundRect">
            <a:avLst>
              <a:gd name="adj" fmla="val 10000"/>
            </a:avLst>
          </a:prstGeom>
          <a:solidFill>
            <a:srgbClr val="2B2B7A"/>
          </a:solidFill>
          <a:ln/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731520" y="2944368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 — the MERN core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3749040" y="2926080"/>
            <a:ext cx="7772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React, Node.js + Express, MongoDB + Mongoose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3675888"/>
            <a:ext cx="2880360" cy="548640"/>
          </a:xfrm>
          <a:prstGeom prst="roundRect">
            <a:avLst>
              <a:gd name="adj" fmla="val 10000"/>
            </a:avLst>
          </a:prstGeom>
          <a:solidFill>
            <a:srgbClr val="2B2B7A"/>
          </a:solidFill>
          <a:ln/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731520" y="3675888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One, deeply — not both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3749040" y="3657600"/>
            <a:ext cx="7772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CSS framework: Bootstrap OR Tailwind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4407408"/>
            <a:ext cx="2880360" cy="548640"/>
          </a:xfrm>
          <a:prstGeom prst="roundRect">
            <a:avLst>
              <a:gd name="adj" fmla="val 10000"/>
            </a:avLst>
          </a:prstGeom>
          <a:solidFill>
            <a:srgbClr val="2B2B7A"/>
          </a:solidFill>
          <a:ln/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731520" y="4407408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Awareness only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3749040" y="4389120"/>
            <a:ext cx="7772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jQuery — enough to read and maintain older codebases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0080" y="5138928"/>
            <a:ext cx="2880360" cy="548640"/>
          </a:xfrm>
          <a:prstGeom prst="roundRect">
            <a:avLst>
              <a:gd name="adj" fmla="val 10000"/>
            </a:avLst>
          </a:prstGeom>
          <a:solidFill>
            <a:srgbClr val="2B2B7A"/>
          </a:solidFill>
          <a:ln/>
        </p:spPr>
        <p:txBody>
          <a:bodyPr/>
          <a:p/>
        </p:txBody>
      </p:sp>
      <p:sp>
        <p:nvSpPr>
          <p:cNvPr id="18" name="Text 16"/>
          <p:cNvSpPr txBox="1"/>
          <p:nvPr/>
        </p:nvSpPr>
        <p:spPr>
          <a:xfrm>
            <a:off x="731520" y="5138928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Nice to have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3749040" y="5120640"/>
            <a:ext cx="7772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TypeScript; basic SQL/PostgreSQL; a second front-end framework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59436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67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pick-one pattern: depth in one option per category + awareness of the rest is what makes you employable.</a:t>
            </a:r>
            <a:endParaRPr lang="en-US" sz="1150" dirty="0"/>
          </a:p>
        </p:txBody>
      </p:sp>
      <p:sp>
        <p:nvSpPr>
          <p:cNvPr id="23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B2B7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7315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11887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Lecture 1 in Six Points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2286000"/>
            <a:ext cx="438912" cy="438912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822960" y="22860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2194560"/>
            <a:ext cx="10058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Internet is the global network; the Web is one service (pages, links, HTTP) running on top of it.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822960" y="2971800"/>
            <a:ext cx="438912" cy="438912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822960" y="29718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463040" y="2880360"/>
            <a:ext cx="10058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web works through a client–server, request–response model — browsers ask, servers answer.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22960" y="3657600"/>
            <a:ext cx="438912" cy="438912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822960" y="36576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463040" y="3566160"/>
            <a:ext cx="10058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URL/URI identify resources, HTTP/HTTPS transfer them, DNS resolves names to IP addresses, hosting keeps a server reachable.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22960" y="4343400"/>
            <a:ext cx="438912" cy="438912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822960" y="43434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463040" y="4251960"/>
            <a:ext cx="10058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W3C, WHATWG, ECMA and IETF write the standards that keep browsers and developers speaking one language.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22960" y="5029200"/>
            <a:ext cx="438912" cy="438912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822960" y="50292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463040" y="4937760"/>
            <a:ext cx="10058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apps range from static sites to dynamic ones, built as MPAs, SPAs, or installable PWAs.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22960" y="5715000"/>
            <a:ext cx="438912" cy="438912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20" name="Text 18"/>
          <p:cNvSpPr txBox="1"/>
          <p:nvPr/>
        </p:nvSpPr>
        <p:spPr>
          <a:xfrm>
            <a:off x="822960" y="57150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463040" y="5623560"/>
            <a:ext cx="10058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course teaches the MERN stack (+ Bootstrap/Tailwind, jQuery) — depth in one path, awareness of the alternatives.</a:t>
            </a:r>
            <a:endParaRPr lang="en-US" sz="1250" dirty="0"/>
          </a:p>
        </p:txBody>
      </p:sp>
      <p:sp>
        <p:nvSpPr>
          <p:cNvPr id="24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COMSATS University Islamabad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1: Introduction to Web Development</dc:title>
  <dc:subject>CSC336 Web Technologies</dc:subject>
  <dc:creator>Usman Akram</dc:creator>
  <cp:lastModifiedBy>Usman Akram</cp:lastModifiedBy>
  <cp:revision>1</cp:revision>
  <dcterms:created xsi:type="dcterms:W3CDTF">2026-09-13T18:09:12Z</dcterms:created>
  <dcterms:modified xsi:type="dcterms:W3CDTF">2026-09-13T18:09:12Z</dcterms:modified>
</cp:coreProperties>
</file>
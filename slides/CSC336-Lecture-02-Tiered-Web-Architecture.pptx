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cuinotes.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cuinotes.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cuinotes.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cuinotes.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cuinotes.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cuinotes.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cuinotes.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cuinotes.co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cuinotes.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cuinotes.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cuinotes.co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cuinotes.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cuinotes.co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cuinotes.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cuinotes.co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cuinotes.co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cuinotes.co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cuinote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B7A"/>
        </a:solidFill>
      </p:bgPr>
    </p:bg>
    <p:spTree>
      <p:nvGrpSpPr>
        <p:cNvPr id="1" name=""/>
        <p:cNvGrpSpPr/>
        <p:nvPr/>
      </p:nvGrpSpPr>
      <p:grpSpPr>
        <a:xfrm>
          <a:off x="0" y="0"/>
          <a:ext cx="0" cy="0"/>
          <a:chOff x="0" y="0"/>
          <a:chExt cx="0" cy="0"/>
        </a:xfrm>
      </p:grpSpPr>
      <p:sp>
        <p:nvSpPr>
          <p:cNvPr id="2" name="Text 0"/>
          <p:cNvSpPr txBox="1"/>
          <p:nvPr/>
        </p:nvSpPr>
        <p:spPr>
          <a:xfrm>
            <a:off x="822960" y="1965960"/>
            <a:ext cx="7315200" cy="457200"/>
          </a:xfrm>
          <a:prstGeom prst="rect">
            <a:avLst/>
          </a:prstGeom>
          <a:noFill/>
          <a:ln/>
        </p:spPr>
        <p:txBody>
          <a:bodyPr wrap="square" lIns="0" tIns="0" rIns="0" bIns="0" rtlCol="0" anchor="ctr"/>
          <a:lstStyle/>
          <a:p>
            <a:pPr indent="0" marL="0">
              <a:buNone/>
            </a:pPr>
            <a:r>
              <a:rPr lang="en-US" sz="1500" b="1" spc="400" kern="0" dirty="0">
                <a:solidFill>
                  <a:srgbClr val="FF8A3D"/>
                </a:solidFill>
                <a:latin typeface="Calibri" pitchFamily="34" charset="0"/>
                <a:ea typeface="Calibri" pitchFamily="34" charset="-122"/>
                <a:cs typeface="Calibri" pitchFamily="34" charset="-120"/>
              </a:rPr>
              <a:t>LECTURE 2</a:t>
            </a:r>
            <a:endParaRPr lang="en-US" sz="1500" dirty="0"/>
          </a:p>
        </p:txBody>
      </p:sp>
      <p:sp>
        <p:nvSpPr>
          <p:cNvPr id="3" name="Text 1"/>
          <p:cNvSpPr txBox="1"/>
          <p:nvPr/>
        </p:nvSpPr>
        <p:spPr>
          <a:xfrm>
            <a:off x="777240" y="2377440"/>
            <a:ext cx="8686800" cy="192024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Tiered Web</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Architecture</a:t>
            </a:r>
            <a:endParaRPr lang="en-US" sz="4000" dirty="0"/>
          </a:p>
        </p:txBody>
      </p:sp>
      <p:sp>
        <p:nvSpPr>
          <p:cNvPr id="4" name="Text 2"/>
          <p:cNvSpPr txBox="1"/>
          <p:nvPr/>
        </p:nvSpPr>
        <p:spPr>
          <a:xfrm>
            <a:off x="822960" y="4389120"/>
            <a:ext cx="8961120" cy="822960"/>
          </a:xfrm>
          <a:prstGeom prst="rect">
            <a:avLst/>
          </a:prstGeom>
          <a:noFill/>
          <a:ln/>
        </p:spPr>
        <p:txBody>
          <a:bodyPr wrap="square" lIns="0" tIns="0" rIns="0" bIns="0" rtlCol="0" anchor="ctr"/>
          <a:lstStyle/>
          <a:p>
            <a:pPr indent="0" marL="0">
              <a:buNone/>
            </a:pPr>
            <a:r>
              <a:rPr lang="en-US" sz="1500" dirty="0">
                <a:solidFill>
                  <a:srgbClr val="C9D3F5"/>
                </a:solidFill>
                <a:latin typeface="Calibri" pitchFamily="34" charset="0"/>
                <a:ea typeface="Calibri" pitchFamily="34" charset="-122"/>
                <a:cs typeface="Calibri" pitchFamily="34" charset="-120"/>
              </a:rPr>
              <a:t>How to organize an application's code and computers — from one machine to many.</a:t>
            </a:r>
            <a:endParaRPr lang="en-US" sz="1500" dirty="0"/>
          </a:p>
        </p:txBody>
      </p:sp>
      <p:sp>
        <p:nvSpPr>
          <p:cNvPr id="5" name="Text 3"/>
          <p:cNvSpPr txBox="1"/>
          <p:nvPr/>
        </p:nvSpPr>
        <p:spPr>
          <a:xfrm>
            <a:off x="822960" y="5943600"/>
            <a:ext cx="8229600" cy="365760"/>
          </a:xfrm>
          <a:prstGeom prst="rect">
            <a:avLst/>
          </a:prstGeom>
          <a:noFill/>
          <a:ln/>
        </p:spPr>
        <p:txBody>
          <a:bodyPr wrap="square" lIns="0" tIns="0" rIns="0" bIns="0" rtlCol="0" anchor="ctr"/>
          <a:lstStyle/>
          <a:p>
            <a:pPr indent="0" marL="0">
              <a:buNone/>
            </a:pPr>
            <a:r>
              <a:rPr lang="en-US" sz="1200" dirty="0">
                <a:solidFill>
                  <a:srgbClr val="9AA3D8"/>
                </a:solidFill>
                <a:latin typeface="Calibri" pitchFamily="34" charset="0"/>
                <a:ea typeface="Calibri" pitchFamily="34" charset="-122"/>
                <a:cs typeface="Calibri" pitchFamily="34" charset="-120"/>
              </a:rPr>
              <a:t>CSC336 Web Technologies</a:t>
            </a:r>
            <a:endParaRPr lang="en-US" sz="12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OVERVIEW</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In This Lecture</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Distinguish between tiers (physical deployment) and layers (logical code organization)</a:t>
            </a:r>
            <a:endParaRPr lang="en-US" sz="1500" dirty="0"/>
          </a:p>
        </p:txBody>
      </p:sp>
      <p:sp>
        <p:nvSpPr>
          <p:cNvPr id="7" name="Shape 5"/>
          <p:cNvSpPr/>
          <p:nvPr/>
        </p:nvSpPr>
        <p:spPr>
          <a:xfrm>
            <a:off x="685800" y="2679192"/>
            <a:ext cx="457200" cy="457200"/>
          </a:xfrm>
          <a:prstGeom prst="ellipse">
            <a:avLst/>
          </a:prstGeom>
          <a:solidFill>
            <a:srgbClr val="FF8A3D"/>
          </a:solidFill>
          <a:ln/>
        </p:spPr>
        <p:txBody>
          <a:bodyPr/>
          <a:p/>
        </p:txBody>
      </p:sp>
      <p:sp>
        <p:nvSpPr>
          <p:cNvPr id="8" name="Text 6"/>
          <p:cNvSpPr txBox="1"/>
          <p:nvPr/>
        </p:nvSpPr>
        <p:spPr>
          <a:xfrm>
            <a:off x="685800" y="26791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606040"/>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Learn the common layers inside a typical application, and how they combine with tiers</a:t>
            </a:r>
            <a:endParaRPr lang="en-US" sz="1500" dirty="0"/>
          </a:p>
        </p:txBody>
      </p:sp>
      <p:sp>
        <p:nvSpPr>
          <p:cNvPr id="10" name="Shape 8"/>
          <p:cNvSpPr/>
          <p:nvPr/>
        </p:nvSpPr>
        <p:spPr>
          <a:xfrm>
            <a:off x="685800" y="3392424"/>
            <a:ext cx="457200" cy="457200"/>
          </a:xfrm>
          <a:prstGeom prst="ellipse">
            <a:avLst/>
          </a:prstGeom>
          <a:solidFill>
            <a:srgbClr val="FF8A3D"/>
          </a:solidFill>
          <a:ln/>
        </p:spPr>
        <p:txBody>
          <a:bodyPr/>
          <a:p/>
        </p:txBody>
      </p:sp>
      <p:sp>
        <p:nvSpPr>
          <p:cNvPr id="11" name="Text 9"/>
          <p:cNvSpPr txBox="1"/>
          <p:nvPr/>
        </p:nvSpPr>
        <p:spPr>
          <a:xfrm>
            <a:off x="685800" y="33924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319272"/>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Understand one-tier (standalone) architecture and when it's used</a:t>
            </a:r>
            <a:endParaRPr lang="en-US" sz="1500" dirty="0"/>
          </a:p>
        </p:txBody>
      </p:sp>
      <p:sp>
        <p:nvSpPr>
          <p:cNvPr id="13" name="Shape 11"/>
          <p:cNvSpPr/>
          <p:nvPr/>
        </p:nvSpPr>
        <p:spPr>
          <a:xfrm>
            <a:off x="685800" y="4105656"/>
            <a:ext cx="457200" cy="457200"/>
          </a:xfrm>
          <a:prstGeom prst="ellipse">
            <a:avLst/>
          </a:prstGeom>
          <a:solidFill>
            <a:srgbClr val="FF8A3D"/>
          </a:solidFill>
          <a:ln/>
        </p:spPr>
        <p:txBody>
          <a:bodyPr/>
          <a:p/>
        </p:txBody>
      </p:sp>
      <p:sp>
        <p:nvSpPr>
          <p:cNvPr id="14" name="Text 12"/>
          <p:cNvSpPr txBox="1"/>
          <p:nvPr/>
        </p:nvSpPr>
        <p:spPr>
          <a:xfrm>
            <a:off x="685800" y="410565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371600" y="4032504"/>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Understand two-tier (client-server) architecture, its advantages and limitations</a:t>
            </a:r>
            <a:endParaRPr lang="en-US" sz="1500" dirty="0"/>
          </a:p>
        </p:txBody>
      </p:sp>
      <p:sp>
        <p:nvSpPr>
          <p:cNvPr id="16" name="Shape 14"/>
          <p:cNvSpPr/>
          <p:nvPr/>
        </p:nvSpPr>
        <p:spPr>
          <a:xfrm>
            <a:off x="685800" y="4818888"/>
            <a:ext cx="457200" cy="457200"/>
          </a:xfrm>
          <a:prstGeom prst="ellipse">
            <a:avLst/>
          </a:prstGeom>
          <a:solidFill>
            <a:srgbClr val="FF8A3D"/>
          </a:solidFill>
          <a:ln/>
        </p:spPr>
        <p:txBody>
          <a:bodyPr/>
          <a:p/>
        </p:txBody>
      </p:sp>
      <p:sp>
        <p:nvSpPr>
          <p:cNvPr id="17" name="Text 15"/>
          <p:cNvSpPr txBox="1"/>
          <p:nvPr/>
        </p:nvSpPr>
        <p:spPr>
          <a:xfrm>
            <a:off x="685800" y="48188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txBox="1"/>
          <p:nvPr/>
        </p:nvSpPr>
        <p:spPr>
          <a:xfrm>
            <a:off x="1371600" y="4745736"/>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Understand three-tier and N-tier architecture</a:t>
            </a:r>
            <a:endParaRPr lang="en-US" sz="1500" dirty="0"/>
          </a:p>
        </p:txBody>
      </p:sp>
      <p:sp>
        <p:nvSpPr>
          <p:cNvPr id="19" name="Shape 17"/>
          <p:cNvSpPr/>
          <p:nvPr/>
        </p:nvSpPr>
        <p:spPr>
          <a:xfrm>
            <a:off x="685800" y="5532120"/>
            <a:ext cx="457200" cy="457200"/>
          </a:xfrm>
          <a:prstGeom prst="ellipse">
            <a:avLst/>
          </a:prstGeom>
          <a:solidFill>
            <a:srgbClr val="FF8A3D"/>
          </a:solidFill>
          <a:ln/>
        </p:spPr>
        <p:txBody>
          <a:bodyPr/>
          <a:p/>
        </p:txBody>
      </p:sp>
      <p:sp>
        <p:nvSpPr>
          <p:cNvPr id="20" name="Text 18"/>
          <p:cNvSpPr txBox="1"/>
          <p:nvPr/>
        </p:nvSpPr>
        <p:spPr>
          <a:xfrm>
            <a:off x="685800" y="55321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1" name="Text 19"/>
          <p:cNvSpPr txBox="1"/>
          <p:nvPr/>
        </p:nvSpPr>
        <p:spPr>
          <a:xfrm>
            <a:off x="1371600" y="54589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Learn how to choose an architecture based on scalability, maintainability, and cost</a:t>
            </a:r>
            <a:endParaRPr lang="en-US" sz="1500" dirty="0"/>
          </a:p>
        </p:txBody>
      </p:sp>
      <p:sp>
        <p:nvSpPr>
          <p:cNvPr id="24"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FOUNDATIONS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Tiers vs. Layers: Two Different Ideas</a:t>
            </a:r>
            <a:endParaRPr lang="en-US" sz="3400" dirty="0"/>
          </a:p>
        </p:txBody>
      </p:sp>
      <p:sp>
        <p:nvSpPr>
          <p:cNvPr id="4" name="Text 2"/>
          <p:cNvSpPr txBox="1"/>
          <p:nvPr/>
        </p:nvSpPr>
        <p:spPr>
          <a:xfrm>
            <a:off x="640080" y="1691640"/>
            <a:ext cx="10911535" cy="411480"/>
          </a:xfrm>
          <a:prstGeom prst="rect">
            <a:avLst/>
          </a:prstGeom>
          <a:noFill/>
          <a:ln/>
        </p:spPr>
        <p:txBody>
          <a:bodyPr wrap="square" lIns="0" tIns="0" rIns="0" bIns="0" rtlCol="0" anchor="ctr"/>
          <a:lstStyle/>
          <a:p>
            <a:pPr indent="0" marL="0">
              <a:buNone/>
            </a:pPr>
            <a:r>
              <a:rPr lang="en-US" sz="1350" i="1" dirty="0">
                <a:solidFill>
                  <a:srgbClr val="5D5D72"/>
                </a:solidFill>
                <a:latin typeface="Calibri" pitchFamily="34" charset="0"/>
                <a:ea typeface="Calibri" pitchFamily="34" charset="-122"/>
                <a:cs typeface="Calibri" pitchFamily="34" charset="-120"/>
              </a:rPr>
              <a:t>Both aim at separation of concerns — but tiers separate physically, layers separate logically.</a:t>
            </a:r>
            <a:endParaRPr lang="en-US" sz="1350" dirty="0"/>
          </a:p>
        </p:txBody>
      </p:sp>
      <p:sp>
        <p:nvSpPr>
          <p:cNvPr id="5" name="Shape 3"/>
          <p:cNvSpPr/>
          <p:nvPr/>
        </p:nvSpPr>
        <p:spPr>
          <a:xfrm>
            <a:off x="640080" y="2240280"/>
            <a:ext cx="5341468" cy="3840480"/>
          </a:xfrm>
          <a:prstGeom prst="roundRect">
            <a:avLst>
              <a:gd name="adj" fmla="val 2143"/>
            </a:avLst>
          </a:prstGeom>
          <a:solidFill>
            <a:srgbClr val="F1F1F8"/>
          </a:solidFill>
          <a:ln w="12700">
            <a:solidFill>
              <a:srgbClr val="E2E2EE"/>
            </a:solidFill>
            <a:prstDash val="solid"/>
          </a:ln>
        </p:spPr>
        <p:txBody>
          <a:bodyPr/>
          <a:p/>
        </p:txBody>
      </p:sp>
      <p:sp>
        <p:nvSpPr>
          <p:cNvPr id="6" name="Text 4"/>
          <p:cNvSpPr txBox="1"/>
          <p:nvPr/>
        </p:nvSpPr>
        <p:spPr>
          <a:xfrm>
            <a:off x="896112" y="2468880"/>
            <a:ext cx="4829404" cy="365760"/>
          </a:xfrm>
          <a:prstGeom prst="rect">
            <a:avLst/>
          </a:prstGeom>
          <a:noFill/>
          <a:ln/>
        </p:spPr>
        <p:txBody>
          <a:bodyPr wrap="square" lIns="0" tIns="0" rIns="0" bIns="0" rtlCol="0" anchor="ctr"/>
          <a:lstStyle/>
          <a:p>
            <a:pPr indent="0" marL="0">
              <a:buNone/>
            </a:pPr>
            <a:r>
              <a:rPr lang="en-US" sz="1250" b="1" spc="150" kern="0" dirty="0">
                <a:solidFill>
                  <a:srgbClr val="2B2B7A"/>
                </a:solidFill>
                <a:latin typeface="Calibri" pitchFamily="34" charset="0"/>
                <a:ea typeface="Calibri" pitchFamily="34" charset="-122"/>
                <a:cs typeface="Calibri" pitchFamily="34" charset="-120"/>
              </a:rPr>
              <a:t>TIER</a:t>
            </a:r>
            <a:endParaRPr lang="en-US" sz="1250" dirty="0"/>
          </a:p>
        </p:txBody>
      </p:sp>
      <p:sp>
        <p:nvSpPr>
          <p:cNvPr id="7" name="Text 5"/>
          <p:cNvSpPr txBox="1"/>
          <p:nvPr/>
        </p:nvSpPr>
        <p:spPr>
          <a:xfrm>
            <a:off x="896112" y="2926080"/>
            <a:ext cx="4829404" cy="29260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A physical (deployment) boundary</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Describes WHERE a piece of the app runs — which machine, process, or container</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Two pieces running on different computers are in different tiers</a:t>
            </a:r>
            <a:endParaRPr lang="en-US" sz="1200" dirty="0"/>
          </a:p>
        </p:txBody>
      </p:sp>
      <p:sp>
        <p:nvSpPr>
          <p:cNvPr id="8" name="Shape 6"/>
          <p:cNvSpPr/>
          <p:nvPr/>
        </p:nvSpPr>
        <p:spPr>
          <a:xfrm>
            <a:off x="6210148" y="2240280"/>
            <a:ext cx="5341468" cy="3840480"/>
          </a:xfrm>
          <a:prstGeom prst="roundRect">
            <a:avLst>
              <a:gd name="adj" fmla="val 2143"/>
            </a:avLst>
          </a:prstGeom>
          <a:solidFill>
            <a:srgbClr val="F1F1F8"/>
          </a:solidFill>
          <a:ln w="12700">
            <a:solidFill>
              <a:srgbClr val="E2E2EE"/>
            </a:solidFill>
            <a:prstDash val="solid"/>
          </a:ln>
        </p:spPr>
        <p:txBody>
          <a:bodyPr/>
          <a:p/>
        </p:txBody>
      </p:sp>
      <p:sp>
        <p:nvSpPr>
          <p:cNvPr id="9" name="Text 7"/>
          <p:cNvSpPr txBox="1"/>
          <p:nvPr/>
        </p:nvSpPr>
        <p:spPr>
          <a:xfrm>
            <a:off x="6466180" y="2468880"/>
            <a:ext cx="4829404" cy="365760"/>
          </a:xfrm>
          <a:prstGeom prst="rect">
            <a:avLst/>
          </a:prstGeom>
          <a:noFill/>
          <a:ln/>
        </p:spPr>
        <p:txBody>
          <a:bodyPr wrap="square" lIns="0" tIns="0" rIns="0" bIns="0" rtlCol="0" anchor="ctr"/>
          <a:lstStyle/>
          <a:p>
            <a:pPr indent="0" marL="0">
              <a:buNone/>
            </a:pPr>
            <a:r>
              <a:rPr lang="en-US" sz="1250" b="1" spc="150" kern="0" dirty="0">
                <a:solidFill>
                  <a:srgbClr val="E67528"/>
                </a:solidFill>
                <a:latin typeface="Calibri" pitchFamily="34" charset="0"/>
                <a:ea typeface="Calibri" pitchFamily="34" charset="-122"/>
                <a:cs typeface="Calibri" pitchFamily="34" charset="-120"/>
              </a:rPr>
              <a:t>LAYER</a:t>
            </a:r>
            <a:endParaRPr lang="en-US" sz="1250" dirty="0"/>
          </a:p>
        </p:txBody>
      </p:sp>
      <p:sp>
        <p:nvSpPr>
          <p:cNvPr id="10" name="Text 8"/>
          <p:cNvSpPr txBox="1"/>
          <p:nvPr/>
        </p:nvSpPr>
        <p:spPr>
          <a:xfrm>
            <a:off x="6466180" y="2926080"/>
            <a:ext cx="4829404" cy="29260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A logical boundary inside your code</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Describes HOW responsibilities are organized within a program</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Layers can all live on the very same machine, in the very same process</a:t>
            </a:r>
            <a:endParaRPr lang="en-US" sz="1200" dirty="0"/>
          </a:p>
        </p:txBody>
      </p:sp>
      <p:sp>
        <p:nvSpPr>
          <p:cNvPr id="13"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TIERS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Tiers = Physical Deployment</a:t>
            </a:r>
            <a:endParaRPr lang="en-US" sz="3400" dirty="0"/>
          </a:p>
        </p:txBody>
      </p:sp>
      <p:sp>
        <p:nvSpPr>
          <p:cNvPr id="4" name="Shape 2"/>
          <p:cNvSpPr/>
          <p:nvPr/>
        </p:nvSpPr>
        <p:spPr>
          <a:xfrm>
            <a:off x="640080" y="2514600"/>
            <a:ext cx="5204308" cy="1371600"/>
          </a:xfrm>
          <a:prstGeom prst="roundRect">
            <a:avLst>
              <a:gd name="adj" fmla="val 5333"/>
            </a:avLst>
          </a:prstGeom>
          <a:solidFill>
            <a:srgbClr val="2B2B7A"/>
          </a:solidFill>
          <a:ln/>
        </p:spPr>
        <p:txBody>
          <a:bodyPr/>
          <a:p/>
        </p:txBody>
      </p:sp>
      <p:sp>
        <p:nvSpPr>
          <p:cNvPr id="5" name="Text 3"/>
          <p:cNvSpPr txBox="1"/>
          <p:nvPr/>
        </p:nvSpPr>
        <p:spPr>
          <a:xfrm>
            <a:off x="731520" y="2624328"/>
            <a:ext cx="5021428"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Machine 1</a:t>
            </a:r>
            <a:endParaRPr lang="en-US" sz="1250" dirty="0"/>
          </a:p>
        </p:txBody>
      </p:sp>
      <p:sp>
        <p:nvSpPr>
          <p:cNvPr id="6" name="Shape 4"/>
          <p:cNvSpPr/>
          <p:nvPr/>
        </p:nvSpPr>
        <p:spPr>
          <a:xfrm>
            <a:off x="5844388" y="3200400"/>
            <a:ext cx="502920" cy="0"/>
          </a:xfrm>
          <a:prstGeom prst="line">
            <a:avLst/>
          </a:prstGeom>
          <a:noFill/>
          <a:ln w="25400">
            <a:solidFill>
              <a:srgbClr val="5D5D72"/>
            </a:solidFill>
            <a:prstDash val="solid"/>
            <a:tailEnd type="triangle"/>
          </a:ln>
        </p:spPr>
        <p:txBody>
          <a:bodyPr/>
          <a:p/>
        </p:txBody>
      </p:sp>
      <p:sp>
        <p:nvSpPr>
          <p:cNvPr id="7" name="Shape 5"/>
          <p:cNvSpPr/>
          <p:nvPr/>
        </p:nvSpPr>
        <p:spPr>
          <a:xfrm>
            <a:off x="6347308" y="2514600"/>
            <a:ext cx="5204308" cy="1371600"/>
          </a:xfrm>
          <a:prstGeom prst="roundRect">
            <a:avLst>
              <a:gd name="adj" fmla="val 5333"/>
            </a:avLst>
          </a:prstGeom>
          <a:solidFill>
            <a:srgbClr val="E67528"/>
          </a:solidFill>
          <a:ln/>
        </p:spPr>
        <p:txBody>
          <a:bodyPr/>
          <a:p/>
        </p:txBody>
      </p:sp>
      <p:sp>
        <p:nvSpPr>
          <p:cNvPr id="8" name="Text 6"/>
          <p:cNvSpPr txBox="1"/>
          <p:nvPr/>
        </p:nvSpPr>
        <p:spPr>
          <a:xfrm>
            <a:off x="6438748" y="2624328"/>
            <a:ext cx="5021428"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Machine 2</a:t>
            </a:r>
            <a:endParaRPr lang="en-US" sz="1250" dirty="0"/>
          </a:p>
        </p:txBody>
      </p:sp>
      <p:sp>
        <p:nvSpPr>
          <p:cNvPr id="9" name="Text 7"/>
          <p:cNvSpPr txBox="1"/>
          <p:nvPr/>
        </p:nvSpPr>
        <p:spPr>
          <a:xfrm>
            <a:off x="640080" y="4343400"/>
            <a:ext cx="10911535" cy="137160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Two pieces of an app communicating over a network are in two different tiers, no matter how similar their code looks.</a:t>
            </a:r>
            <a:endParaRPr lang="en-US" sz="1300" dirty="0"/>
          </a:p>
        </p:txBody>
      </p:sp>
      <p:sp>
        <p:nvSpPr>
          <p:cNvPr id="12"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LAYERS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Layers = Logical Code Organization</a:t>
            </a:r>
            <a:endParaRPr lang="en-US" sz="3400" dirty="0"/>
          </a:p>
        </p:txBody>
      </p:sp>
      <p:sp>
        <p:nvSpPr>
          <p:cNvPr id="4" name="Shape 2"/>
          <p:cNvSpPr/>
          <p:nvPr/>
        </p:nvSpPr>
        <p:spPr>
          <a:xfrm>
            <a:off x="1554480" y="1965960"/>
            <a:ext cx="9052560" cy="1005840"/>
          </a:xfrm>
          <a:prstGeom prst="roundRect">
            <a:avLst>
              <a:gd name="adj" fmla="val 7273"/>
            </a:avLst>
          </a:prstGeom>
          <a:solidFill>
            <a:srgbClr val="2B2B7A"/>
          </a:solidFill>
          <a:ln/>
        </p:spPr>
        <p:txBody>
          <a:bodyPr/>
          <a:p/>
        </p:txBody>
      </p:sp>
      <p:sp>
        <p:nvSpPr>
          <p:cNvPr id="5" name="Text 3"/>
          <p:cNvSpPr txBox="1"/>
          <p:nvPr/>
        </p:nvSpPr>
        <p:spPr>
          <a:xfrm>
            <a:off x="1828800" y="2126894"/>
            <a:ext cx="8503920" cy="352044"/>
          </a:xfrm>
          <a:prstGeom prst="rect">
            <a:avLst/>
          </a:prstGeom>
          <a:noFill/>
          <a:ln/>
        </p:spPr>
        <p:txBody>
          <a:bodyPr wrap="square" lIns="0" tIns="0" rIns="0" bIns="0" rtlCol="0" anchor="ctr"/>
          <a:lstStyle/>
          <a:p>
            <a:pPr indent="0" marL="0">
              <a:buNone/>
            </a:pPr>
            <a:r>
              <a:rPr lang="en-US" sz="1100" b="1" spc="150" kern="0" dirty="0">
                <a:solidFill>
                  <a:srgbClr val="DDE1F7"/>
                </a:solidFill>
                <a:latin typeface="Calibri" pitchFamily="34" charset="0"/>
                <a:ea typeface="Calibri" pitchFamily="34" charset="-122"/>
                <a:cs typeface="Calibri" pitchFamily="34" charset="-120"/>
              </a:rPr>
              <a:t>PRESENTATION LAYER</a:t>
            </a:r>
            <a:endParaRPr lang="en-US" sz="1100" dirty="0"/>
          </a:p>
        </p:txBody>
      </p:sp>
      <p:sp>
        <p:nvSpPr>
          <p:cNvPr id="6" name="Text 4"/>
          <p:cNvSpPr txBox="1"/>
          <p:nvPr/>
        </p:nvSpPr>
        <p:spPr>
          <a:xfrm>
            <a:off x="1828800" y="2448763"/>
            <a:ext cx="8503920" cy="482803"/>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Shows information, collects input</a:t>
            </a:r>
            <a:endParaRPr lang="en-US" sz="1300" dirty="0"/>
          </a:p>
        </p:txBody>
      </p:sp>
      <p:sp>
        <p:nvSpPr>
          <p:cNvPr id="7" name="Shape 5"/>
          <p:cNvSpPr/>
          <p:nvPr/>
        </p:nvSpPr>
        <p:spPr>
          <a:xfrm>
            <a:off x="6080760" y="2971800"/>
            <a:ext cx="0" cy="320040"/>
          </a:xfrm>
          <a:prstGeom prst="line">
            <a:avLst/>
          </a:prstGeom>
          <a:noFill/>
          <a:ln w="25400">
            <a:solidFill>
              <a:srgbClr val="5D5D72"/>
            </a:solidFill>
            <a:prstDash val="solid"/>
            <a:tailEnd type="triangle"/>
          </a:ln>
        </p:spPr>
        <p:txBody>
          <a:bodyPr/>
          <a:p/>
        </p:txBody>
      </p:sp>
      <p:sp>
        <p:nvSpPr>
          <p:cNvPr id="8" name="Shape 6"/>
          <p:cNvSpPr/>
          <p:nvPr/>
        </p:nvSpPr>
        <p:spPr>
          <a:xfrm>
            <a:off x="1554480" y="3291840"/>
            <a:ext cx="9052560" cy="1005840"/>
          </a:xfrm>
          <a:prstGeom prst="roundRect">
            <a:avLst>
              <a:gd name="adj" fmla="val 7273"/>
            </a:avLst>
          </a:prstGeom>
          <a:solidFill>
            <a:srgbClr val="3A3A78"/>
          </a:solidFill>
          <a:ln/>
        </p:spPr>
        <p:txBody>
          <a:bodyPr/>
          <a:p/>
        </p:txBody>
      </p:sp>
      <p:sp>
        <p:nvSpPr>
          <p:cNvPr id="9" name="Text 7"/>
          <p:cNvSpPr txBox="1"/>
          <p:nvPr/>
        </p:nvSpPr>
        <p:spPr>
          <a:xfrm>
            <a:off x="1828800" y="3452774"/>
            <a:ext cx="8503920" cy="352044"/>
          </a:xfrm>
          <a:prstGeom prst="rect">
            <a:avLst/>
          </a:prstGeom>
          <a:noFill/>
          <a:ln/>
        </p:spPr>
        <p:txBody>
          <a:bodyPr wrap="square" lIns="0" tIns="0" rIns="0" bIns="0" rtlCol="0" anchor="ctr"/>
          <a:lstStyle/>
          <a:p>
            <a:pPr indent="0" marL="0">
              <a:buNone/>
            </a:pPr>
            <a:r>
              <a:rPr lang="en-US" sz="1100" b="1" spc="150" kern="0" dirty="0">
                <a:solidFill>
                  <a:srgbClr val="DDE1F7"/>
                </a:solidFill>
                <a:latin typeface="Calibri" pitchFamily="34" charset="0"/>
                <a:ea typeface="Calibri" pitchFamily="34" charset="-122"/>
                <a:cs typeface="Calibri" pitchFamily="34" charset="-120"/>
              </a:rPr>
              <a:t>BUSINESS LOGIC LAYER</a:t>
            </a:r>
            <a:endParaRPr lang="en-US" sz="1100" dirty="0"/>
          </a:p>
        </p:txBody>
      </p:sp>
      <p:sp>
        <p:nvSpPr>
          <p:cNvPr id="10" name="Text 8"/>
          <p:cNvSpPr txBox="1"/>
          <p:nvPr/>
        </p:nvSpPr>
        <p:spPr>
          <a:xfrm>
            <a:off x="1828800" y="3774643"/>
            <a:ext cx="8503920" cy="482803"/>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Applies the rules of the application</a:t>
            </a:r>
            <a:endParaRPr lang="en-US" sz="1300" dirty="0"/>
          </a:p>
        </p:txBody>
      </p:sp>
      <p:sp>
        <p:nvSpPr>
          <p:cNvPr id="11" name="Shape 9"/>
          <p:cNvSpPr/>
          <p:nvPr/>
        </p:nvSpPr>
        <p:spPr>
          <a:xfrm>
            <a:off x="6080760" y="4297680"/>
            <a:ext cx="0" cy="320040"/>
          </a:xfrm>
          <a:prstGeom prst="line">
            <a:avLst/>
          </a:prstGeom>
          <a:noFill/>
          <a:ln w="25400">
            <a:solidFill>
              <a:srgbClr val="5D5D72"/>
            </a:solidFill>
            <a:prstDash val="solid"/>
            <a:tailEnd type="triangle"/>
          </a:ln>
        </p:spPr>
        <p:txBody>
          <a:bodyPr/>
          <a:p/>
        </p:txBody>
      </p:sp>
      <p:sp>
        <p:nvSpPr>
          <p:cNvPr id="12" name="Shape 10"/>
          <p:cNvSpPr/>
          <p:nvPr/>
        </p:nvSpPr>
        <p:spPr>
          <a:xfrm>
            <a:off x="1554480" y="4617720"/>
            <a:ext cx="9052560" cy="1005840"/>
          </a:xfrm>
          <a:prstGeom prst="roundRect">
            <a:avLst>
              <a:gd name="adj" fmla="val 7273"/>
            </a:avLst>
          </a:prstGeom>
          <a:solidFill>
            <a:srgbClr val="E67528"/>
          </a:solidFill>
          <a:ln/>
        </p:spPr>
        <p:txBody>
          <a:bodyPr/>
          <a:p/>
        </p:txBody>
      </p:sp>
      <p:sp>
        <p:nvSpPr>
          <p:cNvPr id="13" name="Text 11"/>
          <p:cNvSpPr txBox="1"/>
          <p:nvPr/>
        </p:nvSpPr>
        <p:spPr>
          <a:xfrm>
            <a:off x="1828800" y="4778654"/>
            <a:ext cx="8503920" cy="352044"/>
          </a:xfrm>
          <a:prstGeom prst="rect">
            <a:avLst/>
          </a:prstGeom>
          <a:noFill/>
          <a:ln/>
        </p:spPr>
        <p:txBody>
          <a:bodyPr wrap="square" lIns="0" tIns="0" rIns="0" bIns="0" rtlCol="0" anchor="ctr"/>
          <a:lstStyle/>
          <a:p>
            <a:pPr indent="0" marL="0">
              <a:buNone/>
            </a:pPr>
            <a:r>
              <a:rPr lang="en-US" sz="1100" b="1" spc="150" kern="0" dirty="0">
                <a:solidFill>
                  <a:srgbClr val="DDE1F7"/>
                </a:solidFill>
                <a:latin typeface="Calibri" pitchFamily="34" charset="0"/>
                <a:ea typeface="Calibri" pitchFamily="34" charset="-122"/>
                <a:cs typeface="Calibri" pitchFamily="34" charset="-120"/>
              </a:rPr>
              <a:t>DATA ACCESS LAYER</a:t>
            </a:r>
            <a:endParaRPr lang="en-US" sz="1100" dirty="0"/>
          </a:p>
        </p:txBody>
      </p:sp>
      <p:sp>
        <p:nvSpPr>
          <p:cNvPr id="14" name="Text 12"/>
          <p:cNvSpPr txBox="1"/>
          <p:nvPr/>
        </p:nvSpPr>
        <p:spPr>
          <a:xfrm>
            <a:off x="1828800" y="5100523"/>
            <a:ext cx="8503920" cy="482803"/>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Talks to the database</a:t>
            </a:r>
            <a:endParaRPr lang="en-US" sz="1300" dirty="0"/>
          </a:p>
        </p:txBody>
      </p:sp>
      <p:sp>
        <p:nvSpPr>
          <p:cNvPr id="17"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FOUNDATIONS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A Layered App Can Still Be One Tier</a:t>
            </a:r>
            <a:endParaRPr lang="en-US" sz="3400" dirty="0"/>
          </a:p>
        </p:txBody>
      </p:sp>
      <p:sp>
        <p:nvSpPr>
          <p:cNvPr id="4" name="Shape 2"/>
          <p:cNvSpPr/>
          <p:nvPr/>
        </p:nvSpPr>
        <p:spPr>
          <a:xfrm>
            <a:off x="640080" y="1965960"/>
            <a:ext cx="10911535" cy="3657600"/>
          </a:xfrm>
          <a:prstGeom prst="roundRect">
            <a:avLst>
              <a:gd name="adj" fmla="val 3333"/>
            </a:avLst>
          </a:prstGeom>
          <a:solidFill>
            <a:srgbClr val="E9EDFB"/>
          </a:solidFill>
          <a:ln w="12700">
            <a:solidFill>
              <a:srgbClr val="6C7FD6"/>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33459E"/>
                </a:solidFill>
                <a:latin typeface="Calibri" pitchFamily="34" charset="0"/>
                <a:ea typeface="Calibri" pitchFamily="34" charset="-122"/>
                <a:cs typeface="Calibri" pitchFamily="34" charset="-120"/>
              </a:rPr>
              <a:t>NOTE</a:t>
            </a:r>
            <a:endParaRPr lang="en-US" sz="1800" dirty="0"/>
          </a:p>
        </p:txBody>
      </p:sp>
      <p:sp>
        <p:nvSpPr>
          <p:cNvPr id="6" name="Text 4"/>
          <p:cNvSpPr txBox="1"/>
          <p:nvPr/>
        </p:nvSpPr>
        <p:spPr>
          <a:xfrm>
            <a:off x="868680" y="2795960"/>
            <a:ext cx="10454335" cy="25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You could write a program with clean layers — a data layer, a business-logic layer, a presentation layer — and still run the entire thing on a single laptop as one process. That is one tier (everything deployed together) but multiple layers (well-organized code). Tiers and layers are independent design decisions.</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SIMPLEST CASE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One-Tier (Standalone) Architecture</a:t>
            </a:r>
            <a:endParaRPr lang="en-US" sz="3400" dirty="0"/>
          </a:p>
        </p:txBody>
      </p:sp>
      <p:sp>
        <p:nvSpPr>
          <p:cNvPr id="4" name="Shape 2"/>
          <p:cNvSpPr/>
          <p:nvPr/>
        </p:nvSpPr>
        <p:spPr>
          <a:xfrm>
            <a:off x="685800" y="2185416"/>
            <a:ext cx="82296" cy="82296"/>
          </a:xfrm>
          <a:prstGeom prst="ellipse">
            <a:avLst/>
          </a:prstGeom>
          <a:solidFill>
            <a:srgbClr val="FF8A3D"/>
          </a:solidFill>
          <a:ln/>
        </p:spPr>
        <p:txBody>
          <a:bodyPr/>
          <a:p/>
        </p:txBody>
      </p:sp>
      <p:sp>
        <p:nvSpPr>
          <p:cNvPr id="5" name="Text 3"/>
          <p:cNvSpPr txBox="1"/>
          <p:nvPr/>
        </p:nvSpPr>
        <p:spPr>
          <a:xfrm>
            <a:off x="960120" y="1892808"/>
            <a:ext cx="1059149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The entire application — UI, business logic, and data storage — runs on a single machine, in a single process</a:t>
            </a:r>
            <a:endParaRPr lang="en-US" sz="1500" dirty="0"/>
          </a:p>
        </p:txBody>
      </p:sp>
      <p:sp>
        <p:nvSpPr>
          <p:cNvPr id="6" name="Shape 4"/>
          <p:cNvSpPr/>
          <p:nvPr/>
        </p:nvSpPr>
        <p:spPr>
          <a:xfrm>
            <a:off x="685800" y="3008376"/>
            <a:ext cx="82296" cy="82296"/>
          </a:xfrm>
          <a:prstGeom prst="ellipse">
            <a:avLst/>
          </a:prstGeom>
          <a:solidFill>
            <a:srgbClr val="FF8A3D"/>
          </a:solidFill>
          <a:ln/>
        </p:spPr>
        <p:txBody>
          <a:bodyPr/>
          <a:p/>
        </p:txBody>
      </p:sp>
      <p:sp>
        <p:nvSpPr>
          <p:cNvPr id="7" name="Text 5"/>
          <p:cNvSpPr txBox="1"/>
          <p:nvPr/>
        </p:nvSpPr>
        <p:spPr>
          <a:xfrm>
            <a:off x="960120" y="2715768"/>
            <a:ext cx="1059149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No network communication between tiers, because there is only one tier</a:t>
            </a:r>
            <a:endParaRPr lang="en-US" sz="1500" dirty="0"/>
          </a:p>
        </p:txBody>
      </p:sp>
      <p:sp>
        <p:nvSpPr>
          <p:cNvPr id="8" name="Shape 6"/>
          <p:cNvSpPr/>
          <p:nvPr/>
        </p:nvSpPr>
        <p:spPr>
          <a:xfrm>
            <a:off x="685800" y="3831336"/>
            <a:ext cx="82296" cy="82296"/>
          </a:xfrm>
          <a:prstGeom prst="ellipse">
            <a:avLst/>
          </a:prstGeom>
          <a:solidFill>
            <a:srgbClr val="FF8A3D"/>
          </a:solidFill>
          <a:ln/>
        </p:spPr>
        <p:txBody>
          <a:bodyPr/>
          <a:p/>
        </p:txBody>
      </p:sp>
      <p:sp>
        <p:nvSpPr>
          <p:cNvPr id="9" name="Text 7"/>
          <p:cNvSpPr txBox="1"/>
          <p:nvPr/>
        </p:nvSpPr>
        <p:spPr>
          <a:xfrm>
            <a:off x="960120" y="3538728"/>
            <a:ext cx="1059149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Example: a desktop calculator, a local script, or a static HTML file opened via file:///</a:t>
            </a:r>
            <a:endParaRPr lang="en-US" sz="1500" dirty="0"/>
          </a:p>
        </p:txBody>
      </p:sp>
      <p:sp>
        <p:nvSpPr>
          <p:cNvPr id="12"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SIMPLEST CASE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One-Tier, Visualized</a:t>
            </a:r>
            <a:endParaRPr lang="en-US" sz="3400" dirty="0"/>
          </a:p>
        </p:txBody>
      </p:sp>
      <p:sp>
        <p:nvSpPr>
          <p:cNvPr id="4" name="Shape 2"/>
          <p:cNvSpPr/>
          <p:nvPr/>
        </p:nvSpPr>
        <p:spPr>
          <a:xfrm>
            <a:off x="640080" y="1965960"/>
            <a:ext cx="10911535" cy="1615440"/>
          </a:xfrm>
          <a:prstGeom prst="roundRect">
            <a:avLst>
              <a:gd name="adj" fmla="val 4528"/>
            </a:avLst>
          </a:prstGeom>
          <a:solidFill>
            <a:srgbClr val="F7F8F9"/>
          </a:solidFill>
          <a:ln w="9525">
            <a:solidFill>
              <a:srgbClr val="D0D5DD"/>
            </a:solidFill>
          </a:ln>
        </p:spPr>
        <p:txBody>
          <a:bodyPr/>
          <a:p/>
        </p:txBody>
      </p:sp>
      <p:sp>
        <p:nvSpPr>
          <p:cNvPr id="5" name="Text 3"/>
          <p:cNvSpPr txBox="1"/>
          <p:nvPr/>
        </p:nvSpPr>
        <p:spPr>
          <a:xfrm>
            <a:off x="960120" y="2194560"/>
            <a:ext cx="10271455" cy="11582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Your Computer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 User Interface</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 Application Logic</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 Data (local file / in-memory)</a:t>
            </a:r>
            <a:endParaRPr lang="en-US" sz="1400" dirty="0"/>
          </a:p>
        </p:txBody>
      </p:sp>
      <p:sp>
        <p:nvSpPr>
          <p:cNvPr id="6" name="Text 4"/>
          <p:cNvSpPr txBox="1"/>
          <p:nvPr/>
        </p:nvSpPr>
        <p:spPr>
          <a:xfrm>
            <a:off x="640080" y="3810000"/>
            <a:ext cx="10911535" cy="24536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One-tier applications are the easiest to build and deploy — no network, no server to configure. But they cannot be shared over the Internet as-is; they only work for a single user on a single machine.</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SPLITTING THE APP</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Two-Tier (Client–Server) Architecture</a:t>
            </a:r>
            <a:endParaRPr lang="en-US" sz="3400" dirty="0"/>
          </a:p>
        </p:txBody>
      </p:sp>
      <p:sp>
        <p:nvSpPr>
          <p:cNvPr id="4" name="Shape 2"/>
          <p:cNvSpPr/>
          <p:nvPr/>
        </p:nvSpPr>
        <p:spPr>
          <a:xfrm>
            <a:off x="640080" y="2514600"/>
            <a:ext cx="5204308" cy="1371600"/>
          </a:xfrm>
          <a:prstGeom prst="roundRect">
            <a:avLst>
              <a:gd name="adj" fmla="val 5333"/>
            </a:avLst>
          </a:prstGeom>
          <a:solidFill>
            <a:srgbClr val="2B2B7A"/>
          </a:solidFill>
          <a:ln/>
        </p:spPr>
        <p:txBody>
          <a:bodyPr/>
          <a:p/>
        </p:txBody>
      </p:sp>
      <p:sp>
        <p:nvSpPr>
          <p:cNvPr id="5" name="Text 3"/>
          <p:cNvSpPr txBox="1"/>
          <p:nvPr/>
        </p:nvSpPr>
        <p:spPr>
          <a:xfrm>
            <a:off x="731520" y="2624328"/>
            <a:ext cx="5021428"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Client (UI)</a:t>
            </a:r>
            <a:endParaRPr lang="en-US" sz="1250" dirty="0"/>
          </a:p>
        </p:txBody>
      </p:sp>
      <p:sp>
        <p:nvSpPr>
          <p:cNvPr id="6" name="Shape 4"/>
          <p:cNvSpPr/>
          <p:nvPr/>
        </p:nvSpPr>
        <p:spPr>
          <a:xfrm>
            <a:off x="5844388" y="3200400"/>
            <a:ext cx="502920" cy="0"/>
          </a:xfrm>
          <a:prstGeom prst="line">
            <a:avLst/>
          </a:prstGeom>
          <a:noFill/>
          <a:ln w="25400">
            <a:solidFill>
              <a:srgbClr val="5D5D72"/>
            </a:solidFill>
            <a:prstDash val="solid"/>
            <a:tailEnd type="triangle"/>
          </a:ln>
        </p:spPr>
        <p:txBody>
          <a:bodyPr/>
          <a:p/>
        </p:txBody>
      </p:sp>
      <p:sp>
        <p:nvSpPr>
          <p:cNvPr id="7" name="Shape 5"/>
          <p:cNvSpPr/>
          <p:nvPr/>
        </p:nvSpPr>
        <p:spPr>
          <a:xfrm>
            <a:off x="6347308" y="2514600"/>
            <a:ext cx="5204308" cy="1371600"/>
          </a:xfrm>
          <a:prstGeom prst="roundRect">
            <a:avLst>
              <a:gd name="adj" fmla="val 5333"/>
            </a:avLst>
          </a:prstGeom>
          <a:solidFill>
            <a:srgbClr val="E67528"/>
          </a:solidFill>
          <a:ln/>
        </p:spPr>
        <p:txBody>
          <a:bodyPr/>
          <a:p/>
        </p:txBody>
      </p:sp>
      <p:sp>
        <p:nvSpPr>
          <p:cNvPr id="8" name="Text 6"/>
          <p:cNvSpPr txBox="1"/>
          <p:nvPr/>
        </p:nvSpPr>
        <p:spPr>
          <a:xfrm>
            <a:off x="6438748" y="2624328"/>
            <a:ext cx="5021428"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Server (Logic + Data)</a:t>
            </a:r>
            <a:endParaRPr lang="en-US" sz="1250" dirty="0"/>
          </a:p>
        </p:txBody>
      </p:sp>
      <p:sp>
        <p:nvSpPr>
          <p:cNvPr id="9" name="Text 7"/>
          <p:cNvSpPr txBox="1"/>
          <p:nvPr/>
        </p:nvSpPr>
        <p:spPr>
          <a:xfrm>
            <a:off x="640080" y="4343400"/>
            <a:ext cx="10911535" cy="137160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The client and server communicate over a network — the same client-server model from Lecture 1, now viewed as an architecture pattern.</a:t>
            </a:r>
            <a:endParaRPr lang="en-US" sz="1300" dirty="0"/>
          </a:p>
        </p:txBody>
      </p:sp>
      <p:sp>
        <p:nvSpPr>
          <p:cNvPr id="12"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TRADE-OFFS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Two-Tier: Advantages and Limitations</a:t>
            </a:r>
            <a:endParaRPr lang="en-US" sz="3400" dirty="0"/>
          </a:p>
        </p:txBody>
      </p:sp>
      <p:sp>
        <p:nvSpPr>
          <p:cNvPr id="4" name="Shape 2"/>
          <p:cNvSpPr/>
          <p:nvPr/>
        </p:nvSpPr>
        <p:spPr>
          <a:xfrm>
            <a:off x="640080" y="1965960"/>
            <a:ext cx="5341468" cy="4114800"/>
          </a:xfrm>
          <a:prstGeom prst="roundRect">
            <a:avLst>
              <a:gd name="adj" fmla="val 2000"/>
            </a:avLst>
          </a:prstGeom>
          <a:solidFill>
            <a:srgbClr val="F1F1F8"/>
          </a:solidFill>
          <a:ln w="12700">
            <a:solidFill>
              <a:srgbClr val="E2E2EE"/>
            </a:solidFill>
            <a:prstDash val="solid"/>
          </a:ln>
        </p:spPr>
        <p:txBody>
          <a:bodyPr/>
          <a:p/>
        </p:txBody>
      </p:sp>
      <p:sp>
        <p:nvSpPr>
          <p:cNvPr id="5" name="Text 3"/>
          <p:cNvSpPr txBox="1"/>
          <p:nvPr/>
        </p:nvSpPr>
        <p:spPr>
          <a:xfrm>
            <a:off x="896112" y="2194560"/>
            <a:ext cx="4829404" cy="365760"/>
          </a:xfrm>
          <a:prstGeom prst="rect">
            <a:avLst/>
          </a:prstGeom>
          <a:noFill/>
          <a:ln/>
        </p:spPr>
        <p:txBody>
          <a:bodyPr wrap="square" lIns="0" tIns="0" rIns="0" bIns="0" rtlCol="0" anchor="ctr"/>
          <a:lstStyle/>
          <a:p>
            <a:pPr indent="0" marL="0">
              <a:buNone/>
            </a:pPr>
            <a:r>
              <a:rPr lang="en-US" sz="1250" b="1" spc="150" kern="0" dirty="0">
                <a:solidFill>
                  <a:srgbClr val="2B2B7A"/>
                </a:solidFill>
                <a:latin typeface="Calibri" pitchFamily="34" charset="0"/>
                <a:ea typeface="Calibri" pitchFamily="34" charset="-122"/>
                <a:cs typeface="Calibri" pitchFamily="34" charset="-120"/>
              </a:rPr>
              <a:t>ADVANTAGES</a:t>
            </a:r>
            <a:endParaRPr lang="en-US" sz="1250" dirty="0"/>
          </a:p>
        </p:txBody>
      </p:sp>
      <p:sp>
        <p:nvSpPr>
          <p:cNvPr id="6" name="Text 4"/>
          <p:cNvSpPr txBox="1"/>
          <p:nvPr/>
        </p:nvSpPr>
        <p:spPr>
          <a:xfrm>
            <a:off x="896112" y="2651760"/>
            <a:ext cx="4829404" cy="3200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Simple to build and reason about — only two moving parts</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Centralized data — all clients see the same up-to-date data</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Lower initial cost — fewer servers to set up and pay for</a:t>
            </a:r>
            <a:endParaRPr lang="en-US" sz="1200" dirty="0"/>
          </a:p>
        </p:txBody>
      </p:sp>
      <p:sp>
        <p:nvSpPr>
          <p:cNvPr id="7" name="Shape 5"/>
          <p:cNvSpPr/>
          <p:nvPr/>
        </p:nvSpPr>
        <p:spPr>
          <a:xfrm>
            <a:off x="6210148" y="1965960"/>
            <a:ext cx="5341468" cy="4114800"/>
          </a:xfrm>
          <a:prstGeom prst="roundRect">
            <a:avLst>
              <a:gd name="adj" fmla="val 2000"/>
            </a:avLst>
          </a:prstGeom>
          <a:solidFill>
            <a:srgbClr val="F1F1F8"/>
          </a:solidFill>
          <a:ln w="12700">
            <a:solidFill>
              <a:srgbClr val="E2E2EE"/>
            </a:solidFill>
            <a:prstDash val="solid"/>
          </a:ln>
        </p:spPr>
        <p:txBody>
          <a:bodyPr/>
          <a:p/>
        </p:txBody>
      </p:sp>
      <p:sp>
        <p:nvSpPr>
          <p:cNvPr id="8" name="Text 6"/>
          <p:cNvSpPr txBox="1"/>
          <p:nvPr/>
        </p:nvSpPr>
        <p:spPr>
          <a:xfrm>
            <a:off x="6466180" y="2194560"/>
            <a:ext cx="4829404" cy="365760"/>
          </a:xfrm>
          <a:prstGeom prst="rect">
            <a:avLst/>
          </a:prstGeom>
          <a:noFill/>
          <a:ln/>
        </p:spPr>
        <p:txBody>
          <a:bodyPr wrap="square" lIns="0" tIns="0" rIns="0" bIns="0" rtlCol="0" anchor="ctr"/>
          <a:lstStyle/>
          <a:p>
            <a:pPr indent="0" marL="0">
              <a:buNone/>
            </a:pPr>
            <a:r>
              <a:rPr lang="en-US" sz="1250" b="1" spc="150" kern="0" dirty="0">
                <a:solidFill>
                  <a:srgbClr val="E67528"/>
                </a:solidFill>
                <a:latin typeface="Calibri" pitchFamily="34" charset="0"/>
                <a:ea typeface="Calibri" pitchFamily="34" charset="-122"/>
                <a:cs typeface="Calibri" pitchFamily="34" charset="-120"/>
              </a:rPr>
              <a:t>LIMITATIONS</a:t>
            </a:r>
            <a:endParaRPr lang="en-US" sz="1250" dirty="0"/>
          </a:p>
        </p:txBody>
      </p:sp>
      <p:sp>
        <p:nvSpPr>
          <p:cNvPr id="9" name="Text 7"/>
          <p:cNvSpPr txBox="1"/>
          <p:nvPr/>
        </p:nvSpPr>
        <p:spPr>
          <a:xfrm>
            <a:off x="6466180" y="2651760"/>
            <a:ext cx="4829404" cy="3200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Scalability bottleneck — one server handles UI, logic, and data all at once</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Tight coupling between business logic and data access</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Single point of failure — if the server goes down, so does the app</a:t>
            </a:r>
            <a:endParaRPr lang="en-US" sz="1200" dirty="0"/>
          </a:p>
        </p:txBody>
      </p:sp>
      <p:sp>
        <p:nvSpPr>
          <p:cNvPr id="12"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SCALING UP</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Three-Tier Architecture</a:t>
            </a:r>
            <a:endParaRPr lang="en-US" sz="3400" dirty="0"/>
          </a:p>
        </p:txBody>
      </p:sp>
      <p:sp>
        <p:nvSpPr>
          <p:cNvPr id="4" name="Shape 2"/>
          <p:cNvSpPr/>
          <p:nvPr/>
        </p:nvSpPr>
        <p:spPr>
          <a:xfrm>
            <a:off x="640080" y="2514600"/>
            <a:ext cx="3301898" cy="1371600"/>
          </a:xfrm>
          <a:prstGeom prst="roundRect">
            <a:avLst>
              <a:gd name="adj" fmla="val 5333"/>
            </a:avLst>
          </a:prstGeom>
          <a:solidFill>
            <a:srgbClr val="2B2B7A"/>
          </a:solidFill>
          <a:ln/>
        </p:spPr>
        <p:txBody>
          <a:bodyPr/>
          <a:p/>
        </p:txBody>
      </p:sp>
      <p:sp>
        <p:nvSpPr>
          <p:cNvPr id="5" name="Text 3"/>
          <p:cNvSpPr txBox="1"/>
          <p:nvPr/>
        </p:nvSpPr>
        <p:spPr>
          <a:xfrm>
            <a:off x="731520" y="2624328"/>
            <a:ext cx="3119018"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Presentation Tier</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(Browser / React)</a:t>
            </a:r>
            <a:endParaRPr lang="en-US" sz="1250" dirty="0"/>
          </a:p>
        </p:txBody>
      </p:sp>
      <p:sp>
        <p:nvSpPr>
          <p:cNvPr id="6" name="Shape 4"/>
          <p:cNvSpPr/>
          <p:nvPr/>
        </p:nvSpPr>
        <p:spPr>
          <a:xfrm>
            <a:off x="3941978" y="3200400"/>
            <a:ext cx="502920" cy="0"/>
          </a:xfrm>
          <a:prstGeom prst="line">
            <a:avLst/>
          </a:prstGeom>
          <a:noFill/>
          <a:ln w="25400">
            <a:solidFill>
              <a:srgbClr val="5D5D72"/>
            </a:solidFill>
            <a:prstDash val="solid"/>
            <a:tailEnd type="triangle"/>
          </a:ln>
        </p:spPr>
        <p:txBody>
          <a:bodyPr/>
          <a:p/>
        </p:txBody>
      </p:sp>
      <p:sp>
        <p:nvSpPr>
          <p:cNvPr id="7" name="Shape 5"/>
          <p:cNvSpPr/>
          <p:nvPr/>
        </p:nvSpPr>
        <p:spPr>
          <a:xfrm>
            <a:off x="4444898" y="2514600"/>
            <a:ext cx="3301898" cy="1371600"/>
          </a:xfrm>
          <a:prstGeom prst="roundRect">
            <a:avLst>
              <a:gd name="adj" fmla="val 5333"/>
            </a:avLst>
          </a:prstGeom>
          <a:solidFill>
            <a:srgbClr val="2B2B7A"/>
          </a:solidFill>
          <a:ln/>
        </p:spPr>
        <p:txBody>
          <a:bodyPr/>
          <a:p/>
        </p:txBody>
      </p:sp>
      <p:sp>
        <p:nvSpPr>
          <p:cNvPr id="8" name="Text 6"/>
          <p:cNvSpPr txBox="1"/>
          <p:nvPr/>
        </p:nvSpPr>
        <p:spPr>
          <a:xfrm>
            <a:off x="4536338" y="2624328"/>
            <a:ext cx="3119018"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Application Tier</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(API Server)</a:t>
            </a:r>
            <a:endParaRPr lang="en-US" sz="1250" dirty="0"/>
          </a:p>
        </p:txBody>
      </p:sp>
      <p:sp>
        <p:nvSpPr>
          <p:cNvPr id="9" name="Shape 7"/>
          <p:cNvSpPr/>
          <p:nvPr/>
        </p:nvSpPr>
        <p:spPr>
          <a:xfrm>
            <a:off x="7746797" y="3200400"/>
            <a:ext cx="502920" cy="0"/>
          </a:xfrm>
          <a:prstGeom prst="line">
            <a:avLst/>
          </a:prstGeom>
          <a:noFill/>
          <a:ln w="25400">
            <a:solidFill>
              <a:srgbClr val="5D5D72"/>
            </a:solidFill>
            <a:prstDash val="solid"/>
            <a:tailEnd type="triangle"/>
          </a:ln>
        </p:spPr>
        <p:txBody>
          <a:bodyPr/>
          <a:p/>
        </p:txBody>
      </p:sp>
      <p:sp>
        <p:nvSpPr>
          <p:cNvPr id="10" name="Shape 8"/>
          <p:cNvSpPr/>
          <p:nvPr/>
        </p:nvSpPr>
        <p:spPr>
          <a:xfrm>
            <a:off x="8249717" y="2514600"/>
            <a:ext cx="3301898" cy="1371600"/>
          </a:xfrm>
          <a:prstGeom prst="roundRect">
            <a:avLst>
              <a:gd name="adj" fmla="val 5333"/>
            </a:avLst>
          </a:prstGeom>
          <a:solidFill>
            <a:srgbClr val="E67528"/>
          </a:solidFill>
          <a:ln/>
        </p:spPr>
        <p:txBody>
          <a:bodyPr/>
          <a:p/>
        </p:txBody>
      </p:sp>
      <p:sp>
        <p:nvSpPr>
          <p:cNvPr id="11" name="Text 9"/>
          <p:cNvSpPr txBox="1"/>
          <p:nvPr/>
        </p:nvSpPr>
        <p:spPr>
          <a:xfrm>
            <a:off x="8341157" y="2624328"/>
            <a:ext cx="3119018"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Data Tier</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(Database)</a:t>
            </a:r>
            <a:endParaRPr lang="en-US" sz="1250" dirty="0"/>
          </a:p>
        </p:txBody>
      </p:sp>
      <p:sp>
        <p:nvSpPr>
          <p:cNvPr id="12" name="Text 10"/>
          <p:cNvSpPr txBox="1"/>
          <p:nvPr/>
        </p:nvSpPr>
        <p:spPr>
          <a:xfrm>
            <a:off x="640080" y="4343400"/>
            <a:ext cx="10911535" cy="137160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This is exactly the shape of the MERN stack you'll build later: React (presentation), Express/Node.js (application), MongoDB (data) — each capable of running on its own machine.</a:t>
            </a:r>
            <a:endParaRPr lang="en-US" sz="13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GENERALIZING</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N-Tier: As Many Tiers as You Need</a:t>
            </a:r>
            <a:endParaRPr lang="en-US" sz="3400" dirty="0"/>
          </a:p>
        </p:txBody>
      </p:sp>
      <p:sp>
        <p:nvSpPr>
          <p:cNvPr id="4" name="Text 2"/>
          <p:cNvSpPr txBox="1"/>
          <p:nvPr/>
        </p:nvSpPr>
        <p:spPr>
          <a:xfrm>
            <a:off x="640080" y="1691640"/>
            <a:ext cx="10911535" cy="411480"/>
          </a:xfrm>
          <a:prstGeom prst="rect">
            <a:avLst/>
          </a:prstGeom>
          <a:noFill/>
          <a:ln/>
        </p:spPr>
        <p:txBody>
          <a:bodyPr wrap="square" lIns="0" tIns="0" rIns="0" bIns="0" rtlCol="0" anchor="ctr"/>
          <a:lstStyle/>
          <a:p>
            <a:pPr indent="0" marL="0">
              <a:buNone/>
            </a:pPr>
            <a:r>
              <a:rPr lang="en-US" sz="1350" i="1" dirty="0">
                <a:solidFill>
                  <a:srgbClr val="5D5D72"/>
                </a:solidFill>
                <a:latin typeface="Calibri" pitchFamily="34" charset="0"/>
                <a:ea typeface="Calibri" pitchFamily="34" charset="-122"/>
                <a:cs typeface="Calibri" pitchFamily="34" charset="-120"/>
              </a:rPr>
              <a:t>N-tier generalizes three-tier: split into any number of tiers when it's useful.</a:t>
            </a:r>
            <a:endParaRPr lang="en-US" sz="1350" dirty="0"/>
          </a:p>
        </p:txBody>
      </p:sp>
      <p:sp>
        <p:nvSpPr>
          <p:cNvPr id="5" name="Shape 3"/>
          <p:cNvSpPr/>
          <p:nvPr/>
        </p:nvSpPr>
        <p:spPr>
          <a:xfrm>
            <a:off x="685800" y="2459736"/>
            <a:ext cx="82296" cy="82296"/>
          </a:xfrm>
          <a:prstGeom prst="ellipse">
            <a:avLst/>
          </a:prstGeom>
          <a:solidFill>
            <a:srgbClr val="FF8A3D"/>
          </a:solidFill>
          <a:ln/>
        </p:spPr>
        <p:txBody>
          <a:bodyPr/>
          <a:p/>
        </p:txBody>
      </p:sp>
      <p:sp>
        <p:nvSpPr>
          <p:cNvPr id="6" name="Text 4"/>
          <p:cNvSpPr txBox="1"/>
          <p:nvPr/>
        </p:nvSpPr>
        <p:spPr>
          <a:xfrm>
            <a:off x="960120" y="2167128"/>
            <a:ext cx="1059149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 caching tier (e.g., Redis) to speed up repeated requests</a:t>
            </a:r>
            <a:endParaRPr lang="en-US" sz="1500" dirty="0"/>
          </a:p>
        </p:txBody>
      </p:sp>
      <p:sp>
        <p:nvSpPr>
          <p:cNvPr id="7" name="Shape 5"/>
          <p:cNvSpPr/>
          <p:nvPr/>
        </p:nvSpPr>
        <p:spPr>
          <a:xfrm>
            <a:off x="685800" y="3282696"/>
            <a:ext cx="82296" cy="82296"/>
          </a:xfrm>
          <a:prstGeom prst="ellipse">
            <a:avLst/>
          </a:prstGeom>
          <a:solidFill>
            <a:srgbClr val="FF8A3D"/>
          </a:solidFill>
          <a:ln/>
        </p:spPr>
        <p:txBody>
          <a:bodyPr/>
          <a:p/>
        </p:txBody>
      </p:sp>
      <p:sp>
        <p:nvSpPr>
          <p:cNvPr id="8" name="Text 6"/>
          <p:cNvSpPr txBox="1"/>
          <p:nvPr/>
        </p:nvSpPr>
        <p:spPr>
          <a:xfrm>
            <a:off x="960120" y="2990088"/>
            <a:ext cx="1059149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 load balancer tier in front of multiple application servers</a:t>
            </a:r>
            <a:endParaRPr lang="en-US" sz="1500" dirty="0"/>
          </a:p>
        </p:txBody>
      </p:sp>
      <p:sp>
        <p:nvSpPr>
          <p:cNvPr id="9" name="Shape 7"/>
          <p:cNvSpPr/>
          <p:nvPr/>
        </p:nvSpPr>
        <p:spPr>
          <a:xfrm>
            <a:off x="685800" y="4105656"/>
            <a:ext cx="82296" cy="82296"/>
          </a:xfrm>
          <a:prstGeom prst="ellipse">
            <a:avLst/>
          </a:prstGeom>
          <a:solidFill>
            <a:srgbClr val="FF8A3D"/>
          </a:solidFill>
          <a:ln/>
        </p:spPr>
        <p:txBody>
          <a:bodyPr/>
          <a:p/>
        </p:txBody>
      </p:sp>
      <p:sp>
        <p:nvSpPr>
          <p:cNvPr id="10" name="Text 8"/>
          <p:cNvSpPr txBox="1"/>
          <p:nvPr/>
        </p:nvSpPr>
        <p:spPr>
          <a:xfrm>
            <a:off x="960120" y="3813048"/>
            <a:ext cx="1059149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 separate authentication tier dedicated to verifying user identity</a:t>
            </a:r>
            <a:endParaRPr lang="en-US" sz="1500" dirty="0"/>
          </a:p>
        </p:txBody>
      </p:sp>
      <p:sp>
        <p:nvSpPr>
          <p:cNvPr id="13"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TRADE-OFFS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Three-Tier / N-Tier: Advantages and Limitations</a:t>
            </a:r>
            <a:endParaRPr lang="en-US" sz="3400" dirty="0"/>
          </a:p>
        </p:txBody>
      </p:sp>
      <p:sp>
        <p:nvSpPr>
          <p:cNvPr id="4" name="Shape 2"/>
          <p:cNvSpPr/>
          <p:nvPr/>
        </p:nvSpPr>
        <p:spPr>
          <a:xfrm>
            <a:off x="640080" y="1965960"/>
            <a:ext cx="5341468" cy="4114800"/>
          </a:xfrm>
          <a:prstGeom prst="roundRect">
            <a:avLst>
              <a:gd name="adj" fmla="val 2000"/>
            </a:avLst>
          </a:prstGeom>
          <a:solidFill>
            <a:srgbClr val="F1F1F8"/>
          </a:solidFill>
          <a:ln w="12700">
            <a:solidFill>
              <a:srgbClr val="E2E2EE"/>
            </a:solidFill>
            <a:prstDash val="solid"/>
          </a:ln>
        </p:spPr>
        <p:txBody>
          <a:bodyPr/>
          <a:p/>
        </p:txBody>
      </p:sp>
      <p:sp>
        <p:nvSpPr>
          <p:cNvPr id="5" name="Text 3"/>
          <p:cNvSpPr txBox="1"/>
          <p:nvPr/>
        </p:nvSpPr>
        <p:spPr>
          <a:xfrm>
            <a:off x="896112" y="2194560"/>
            <a:ext cx="4829404" cy="365760"/>
          </a:xfrm>
          <a:prstGeom prst="rect">
            <a:avLst/>
          </a:prstGeom>
          <a:noFill/>
          <a:ln/>
        </p:spPr>
        <p:txBody>
          <a:bodyPr wrap="square" lIns="0" tIns="0" rIns="0" bIns="0" rtlCol="0" anchor="ctr"/>
          <a:lstStyle/>
          <a:p>
            <a:pPr indent="0" marL="0">
              <a:buNone/>
            </a:pPr>
            <a:r>
              <a:rPr lang="en-US" sz="1250" b="1" spc="150" kern="0" dirty="0">
                <a:solidFill>
                  <a:srgbClr val="2B2B7A"/>
                </a:solidFill>
                <a:latin typeface="Calibri" pitchFamily="34" charset="0"/>
                <a:ea typeface="Calibri" pitchFamily="34" charset="-122"/>
                <a:cs typeface="Calibri" pitchFamily="34" charset="-120"/>
              </a:rPr>
              <a:t>ADVANTAGES</a:t>
            </a:r>
            <a:endParaRPr lang="en-US" sz="1250" dirty="0"/>
          </a:p>
        </p:txBody>
      </p:sp>
      <p:sp>
        <p:nvSpPr>
          <p:cNvPr id="6" name="Text 4"/>
          <p:cNvSpPr txBox="1"/>
          <p:nvPr/>
        </p:nvSpPr>
        <p:spPr>
          <a:xfrm>
            <a:off x="896112" y="2651760"/>
            <a:ext cx="4829404" cy="3200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Independent scaling — add app servers without touching the database</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Each tier can be developed and deployed by different teams</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Reusability — one API tier can serve web, mobile, and third parties</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Better fault isolation</a:t>
            </a:r>
            <a:endParaRPr lang="en-US" sz="1200" dirty="0"/>
          </a:p>
        </p:txBody>
      </p:sp>
      <p:sp>
        <p:nvSpPr>
          <p:cNvPr id="7" name="Shape 5"/>
          <p:cNvSpPr/>
          <p:nvPr/>
        </p:nvSpPr>
        <p:spPr>
          <a:xfrm>
            <a:off x="6210148" y="1965960"/>
            <a:ext cx="5341468" cy="4114800"/>
          </a:xfrm>
          <a:prstGeom prst="roundRect">
            <a:avLst>
              <a:gd name="adj" fmla="val 2000"/>
            </a:avLst>
          </a:prstGeom>
          <a:solidFill>
            <a:srgbClr val="F1F1F8"/>
          </a:solidFill>
          <a:ln w="12700">
            <a:solidFill>
              <a:srgbClr val="E2E2EE"/>
            </a:solidFill>
            <a:prstDash val="solid"/>
          </a:ln>
        </p:spPr>
        <p:txBody>
          <a:bodyPr/>
          <a:p/>
        </p:txBody>
      </p:sp>
      <p:sp>
        <p:nvSpPr>
          <p:cNvPr id="8" name="Text 6"/>
          <p:cNvSpPr txBox="1"/>
          <p:nvPr/>
        </p:nvSpPr>
        <p:spPr>
          <a:xfrm>
            <a:off x="6466180" y="2194560"/>
            <a:ext cx="4829404" cy="365760"/>
          </a:xfrm>
          <a:prstGeom prst="rect">
            <a:avLst/>
          </a:prstGeom>
          <a:noFill/>
          <a:ln/>
        </p:spPr>
        <p:txBody>
          <a:bodyPr wrap="square" lIns="0" tIns="0" rIns="0" bIns="0" rtlCol="0" anchor="ctr"/>
          <a:lstStyle/>
          <a:p>
            <a:pPr indent="0" marL="0">
              <a:buNone/>
            </a:pPr>
            <a:r>
              <a:rPr lang="en-US" sz="1250" b="1" spc="150" kern="0" dirty="0">
                <a:solidFill>
                  <a:srgbClr val="E67528"/>
                </a:solidFill>
                <a:latin typeface="Calibri" pitchFamily="34" charset="0"/>
                <a:ea typeface="Calibri" pitchFamily="34" charset="-122"/>
                <a:cs typeface="Calibri" pitchFamily="34" charset="-120"/>
              </a:rPr>
              <a:t>LIMITATIONS</a:t>
            </a:r>
            <a:endParaRPr lang="en-US" sz="1250" dirty="0"/>
          </a:p>
        </p:txBody>
      </p:sp>
      <p:sp>
        <p:nvSpPr>
          <p:cNvPr id="9" name="Text 7"/>
          <p:cNvSpPr txBox="1"/>
          <p:nvPr/>
        </p:nvSpPr>
        <p:spPr>
          <a:xfrm>
            <a:off x="6466180" y="2651760"/>
            <a:ext cx="4829404" cy="3200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More complexity — more configuration, more network calls</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Higher cost — more servers or cloud services to pay for</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Network latency between tiers, slower than in-process calls</a:t>
            </a:r>
            <a:endParaRPr lang="en-US" sz="1200" dirty="0"/>
          </a:p>
        </p:txBody>
      </p:sp>
      <p:sp>
        <p:nvSpPr>
          <p:cNvPr id="12"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INSIDE ONE TIER</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The Three Common Layers</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Presentation Layer — shows information and captures input; no business rules here</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Business Logic Layer — the actual rules: validation, calculations, decisions</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Data Access Layer — talks to the database; knows nothing about business rules or UI</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INSIDE ONE TIER</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A Request Flowing Through the Layers</a:t>
            </a:r>
            <a:endParaRPr lang="en-US" sz="3400" dirty="0"/>
          </a:p>
        </p:txBody>
      </p:sp>
      <p:sp>
        <p:nvSpPr>
          <p:cNvPr id="4" name="Shape 2"/>
          <p:cNvSpPr/>
          <p:nvPr/>
        </p:nvSpPr>
        <p:spPr>
          <a:xfrm>
            <a:off x="640080" y="1965960"/>
            <a:ext cx="10911535" cy="1882140"/>
          </a:xfrm>
          <a:prstGeom prst="roundRect">
            <a:avLst>
              <a:gd name="adj" fmla="val 3887"/>
            </a:avLst>
          </a:prstGeom>
          <a:solidFill>
            <a:srgbClr val="F7F8F9"/>
          </a:solidFill>
          <a:ln w="9525">
            <a:solidFill>
              <a:srgbClr val="D0D5DD"/>
            </a:solidFill>
          </a:ln>
        </p:spPr>
        <p:txBody>
          <a:bodyPr/>
          <a:p/>
        </p:txBody>
      </p:sp>
      <p:sp>
        <p:nvSpPr>
          <p:cNvPr id="5" name="Text 3"/>
          <p:cNvSpPr txBox="1"/>
          <p:nvPr/>
        </p:nvSpPr>
        <p:spPr>
          <a:xfrm>
            <a:off x="960120" y="2194560"/>
            <a:ext cx="10271455" cy="14249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project/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routes/       &lt;- Presentation: reads the request, sends response</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services/     &lt;- Business logic: validation, calculations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models/       &lt;- Data access: talks to the database</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app.js</a:t>
            </a:r>
            <a:endParaRPr lang="en-US" sz="1400" dirty="0"/>
          </a:p>
        </p:txBody>
      </p:sp>
      <p:sp>
        <p:nvSpPr>
          <p:cNvPr id="6" name="Text 4"/>
          <p:cNvSpPr txBox="1"/>
          <p:nvPr/>
        </p:nvSpPr>
        <p:spPr>
          <a:xfrm>
            <a:off x="640080" y="4076700"/>
            <a:ext cx="10911535" cy="21869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A request flows down through the layers, and the response flows back up — each layer only ever talks to its direct neighbor, never skipping ahead. This is exactly the structure you'll build starting in Unit 5.</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DECISION TIME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Choosing an Architecture</a:t>
            </a:r>
            <a:endParaRPr lang="en-US" sz="3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11535" cy="914400"/>
        </p:xfrm>
        <a:graphic>
          <a:graphicData uri="http://schemas.openxmlformats.org/drawingml/2006/table">
            <a:tbl>
              <a:tblPr/>
              <a:tblGrid>
                <a:gridCol w="2926080"/>
                <a:gridCol w="8001000"/>
              </a:tblGrid>
              <a:tr h="91440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Factor</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Question to Ask</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r>
              <a:tr h="914400">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Scalability</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Will the number of users grow? Do parts need to grow at different rates?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914400">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Maintainability</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Will multiple teams work on this? Update one part without breaking another?</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914400">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Cost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What's the hosting budget? Can you afford the added operational complexity?</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6035040"/>
            <a:ext cx="10911535" cy="365760"/>
          </a:xfrm>
          <a:prstGeom prst="rect">
            <a:avLst/>
          </a:prstGeom>
          <a:noFill/>
          <a:ln/>
        </p:spPr>
        <p:txBody>
          <a:bodyPr wrap="square" lIns="0" tIns="0" rIns="0" bIns="0" rtlCol="0" anchor="ctr"/>
          <a:lstStyle/>
          <a:p>
            <a:pPr indent="0" marL="0">
              <a:buNone/>
            </a:pPr>
            <a:r>
              <a:rPr lang="en-US" sz="1150" i="1" dirty="0">
                <a:solidFill>
                  <a:srgbClr val="5D5D72"/>
                </a:solidFill>
                <a:latin typeface="Calibri" pitchFamily="34" charset="0"/>
                <a:ea typeface="Calibri" pitchFamily="34" charset="-122"/>
                <a:cs typeface="Calibri" pitchFamily="34" charset="-120"/>
              </a:rPr>
              <a:t>One-tier for personal tools and prototypes. Two-tier for small, stable apps. Three-tier/N-tier for apps expected to grow or be maintained by a team long-term.</a:t>
            </a:r>
            <a:endParaRPr lang="en-US" sz="1150" dirty="0"/>
          </a:p>
        </p:txBody>
      </p:sp>
      <p:sp>
        <p:nvSpPr>
          <p:cNvPr id="1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A WORD OF CAUTION</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More Tiers Is Not Automatically Better</a:t>
            </a:r>
            <a:endParaRPr lang="en-US" sz="3400" dirty="0"/>
          </a:p>
        </p:txBody>
      </p:sp>
      <p:sp>
        <p:nvSpPr>
          <p:cNvPr id="4" name="Shape 2"/>
          <p:cNvSpPr/>
          <p:nvPr/>
        </p:nvSpPr>
        <p:spPr>
          <a:xfrm>
            <a:off x="640080" y="1965960"/>
            <a:ext cx="10911535" cy="3657600"/>
          </a:xfrm>
          <a:prstGeom prst="roundRect">
            <a:avLst>
              <a:gd name="adj" fmla="val 3333"/>
            </a:avLst>
          </a:prstGeom>
          <a:solidFill>
            <a:srgbClr val="FDECE0"/>
          </a:solidFill>
          <a:ln w="12700">
            <a:solidFill>
              <a:srgbClr val="FF8A3D"/>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8A3A12"/>
                </a:solidFill>
                <a:latin typeface="Calibri" pitchFamily="34" charset="0"/>
                <a:ea typeface="Calibri" pitchFamily="34" charset="-122"/>
                <a:cs typeface="Calibri" pitchFamily="34" charset="-120"/>
              </a:rPr>
              <a:t>WARNING</a:t>
            </a:r>
            <a:endParaRPr lang="en-US" sz="1800" dirty="0"/>
          </a:p>
        </p:txBody>
      </p:sp>
      <p:sp>
        <p:nvSpPr>
          <p:cNvPr id="6" name="Text 4"/>
          <p:cNvSpPr txBox="1"/>
          <p:nvPr/>
        </p:nvSpPr>
        <p:spPr>
          <a:xfrm>
            <a:off x="868680" y="2795960"/>
            <a:ext cx="10454335" cy="25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A three-tier setup for a small class project adds deployment overhead (multiple servers, network configuration) that isn't justified if the project will never need to scale. Match the architecture to the actual requirements, not to what sounds most impressive.</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B2B7A"/>
        </a:solidFill>
      </p:bgPr>
    </p:bg>
    <p:spTree>
      <p:nvGrpSpPr>
        <p:cNvPr id="1" name=""/>
        <p:cNvGrpSpPr/>
        <p:nvPr/>
      </p:nvGrpSpPr>
      <p:grpSpPr>
        <a:xfrm>
          <a:off x="0" y="0"/>
          <a:ext cx="0" cy="0"/>
          <a:chOff x="0" y="0"/>
          <a:chExt cx="0" cy="0"/>
        </a:xfrm>
      </p:grpSpPr>
      <p:sp>
        <p:nvSpPr>
          <p:cNvPr id="2" name="Text 0"/>
          <p:cNvSpPr txBox="1"/>
          <p:nvPr/>
        </p:nvSpPr>
        <p:spPr>
          <a:xfrm>
            <a:off x="822960" y="731520"/>
            <a:ext cx="9144000" cy="457200"/>
          </a:xfrm>
          <a:prstGeom prst="rect">
            <a:avLst/>
          </a:prstGeom>
          <a:noFill/>
          <a:ln/>
        </p:spPr>
        <p:txBody>
          <a:bodyPr wrap="square" lIns="0" tIns="0" rIns="0" bIns="0" rtlCol="0" anchor="ctr"/>
          <a:lstStyle/>
          <a:p>
            <a:pPr indent="0" marL="0">
              <a:buNone/>
            </a:pPr>
            <a:r>
              <a:rPr lang="en-US" sz="1500" b="1" spc="400" kern="0" dirty="0">
                <a:solidFill>
                  <a:srgbClr val="FF8A3D"/>
                </a:solidFill>
                <a:latin typeface="Calibri" pitchFamily="34" charset="0"/>
                <a:ea typeface="Calibri" pitchFamily="34" charset="-122"/>
                <a:cs typeface="Calibri" pitchFamily="34" charset="-120"/>
              </a:rPr>
              <a:t>KEY TAKEAWAYS</a:t>
            </a:r>
            <a:endParaRPr lang="en-US" sz="1500" dirty="0"/>
          </a:p>
        </p:txBody>
      </p:sp>
      <p:sp>
        <p:nvSpPr>
          <p:cNvPr id="3" name="Text 1"/>
          <p:cNvSpPr txBox="1"/>
          <p:nvPr/>
        </p:nvSpPr>
        <p:spPr>
          <a:xfrm>
            <a:off x="777240" y="1188720"/>
            <a:ext cx="105156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Lecture 2 in Six Points</a:t>
            </a:r>
            <a:endParaRPr lang="en-US" sz="3400" dirty="0"/>
          </a:p>
        </p:txBody>
      </p:sp>
      <p:sp>
        <p:nvSpPr>
          <p:cNvPr id="4" name="Shape 2"/>
          <p:cNvSpPr/>
          <p:nvPr/>
        </p:nvSpPr>
        <p:spPr>
          <a:xfrm>
            <a:off x="822960" y="2286000"/>
            <a:ext cx="438912" cy="438912"/>
          </a:xfrm>
          <a:prstGeom prst="ellipse">
            <a:avLst/>
          </a:prstGeom>
          <a:solidFill>
            <a:srgbClr val="FF8A3D"/>
          </a:solidFill>
          <a:ln/>
        </p:spPr>
        <p:txBody>
          <a:bodyPr/>
          <a:p/>
        </p:txBody>
      </p:sp>
      <p:sp>
        <p:nvSpPr>
          <p:cNvPr id="5" name="Text 3"/>
          <p:cNvSpPr txBox="1"/>
          <p:nvPr/>
        </p:nvSpPr>
        <p:spPr>
          <a:xfrm>
            <a:off x="822960" y="22860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463040" y="2194560"/>
            <a:ext cx="10058400" cy="64008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Tiers are physical/deployment boundaries; layers are logical boundaries in code — both aim at separation of concerns, independently.</a:t>
            </a:r>
            <a:endParaRPr lang="en-US" sz="1250" dirty="0"/>
          </a:p>
        </p:txBody>
      </p:sp>
      <p:sp>
        <p:nvSpPr>
          <p:cNvPr id="7" name="Shape 5"/>
          <p:cNvSpPr/>
          <p:nvPr/>
        </p:nvSpPr>
        <p:spPr>
          <a:xfrm>
            <a:off x="822960" y="2971800"/>
            <a:ext cx="438912" cy="438912"/>
          </a:xfrm>
          <a:prstGeom prst="ellipse">
            <a:avLst/>
          </a:prstGeom>
          <a:solidFill>
            <a:srgbClr val="FF8A3D"/>
          </a:solidFill>
          <a:ln/>
        </p:spPr>
        <p:txBody>
          <a:bodyPr/>
          <a:p/>
        </p:txBody>
      </p:sp>
      <p:sp>
        <p:nvSpPr>
          <p:cNvPr id="8" name="Text 6"/>
          <p:cNvSpPr txBox="1"/>
          <p:nvPr/>
        </p:nvSpPr>
        <p:spPr>
          <a:xfrm>
            <a:off x="822960" y="29718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463040" y="2880360"/>
            <a:ext cx="10058400" cy="64008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One-tier runs everything on one machine; two-tier splits client from server but has a single point of failure.</a:t>
            </a:r>
            <a:endParaRPr lang="en-US" sz="1250" dirty="0"/>
          </a:p>
        </p:txBody>
      </p:sp>
      <p:sp>
        <p:nvSpPr>
          <p:cNvPr id="10" name="Shape 8"/>
          <p:cNvSpPr/>
          <p:nvPr/>
        </p:nvSpPr>
        <p:spPr>
          <a:xfrm>
            <a:off x="822960" y="3657600"/>
            <a:ext cx="438912" cy="438912"/>
          </a:xfrm>
          <a:prstGeom prst="ellipse">
            <a:avLst/>
          </a:prstGeom>
          <a:solidFill>
            <a:srgbClr val="FF8A3D"/>
          </a:solidFill>
          <a:ln/>
        </p:spPr>
        <p:txBody>
          <a:bodyPr/>
          <a:p/>
        </p:txBody>
      </p:sp>
      <p:sp>
        <p:nvSpPr>
          <p:cNvPr id="11" name="Text 9"/>
          <p:cNvSpPr txBox="1"/>
          <p:nvPr/>
        </p:nvSpPr>
        <p:spPr>
          <a:xfrm>
            <a:off x="822960" y="3657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463040" y="3566160"/>
            <a:ext cx="10058400" cy="64008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Three-tier separates presentation, application, and data — enabling independent scaling at the cost of complexity.</a:t>
            </a:r>
            <a:endParaRPr lang="en-US" sz="1250" dirty="0"/>
          </a:p>
        </p:txBody>
      </p:sp>
      <p:sp>
        <p:nvSpPr>
          <p:cNvPr id="13" name="Shape 11"/>
          <p:cNvSpPr/>
          <p:nvPr/>
        </p:nvSpPr>
        <p:spPr>
          <a:xfrm>
            <a:off x="822960" y="4343400"/>
            <a:ext cx="438912" cy="438912"/>
          </a:xfrm>
          <a:prstGeom prst="ellipse">
            <a:avLst/>
          </a:prstGeom>
          <a:solidFill>
            <a:srgbClr val="FF8A3D"/>
          </a:solidFill>
          <a:ln/>
        </p:spPr>
        <p:txBody>
          <a:bodyPr/>
          <a:p/>
        </p:txBody>
      </p:sp>
      <p:sp>
        <p:nvSpPr>
          <p:cNvPr id="14" name="Text 12"/>
          <p:cNvSpPr txBox="1"/>
          <p:nvPr/>
        </p:nvSpPr>
        <p:spPr>
          <a:xfrm>
            <a:off x="822960" y="43434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463040" y="4251960"/>
            <a:ext cx="10058400" cy="64008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N-tier generalizes further, adding tiers like caching or load balancing as needed.</a:t>
            </a:r>
            <a:endParaRPr lang="en-US" sz="1250" dirty="0"/>
          </a:p>
        </p:txBody>
      </p:sp>
      <p:sp>
        <p:nvSpPr>
          <p:cNvPr id="16" name="Shape 14"/>
          <p:cNvSpPr/>
          <p:nvPr/>
        </p:nvSpPr>
        <p:spPr>
          <a:xfrm>
            <a:off x="822960" y="5029200"/>
            <a:ext cx="438912" cy="438912"/>
          </a:xfrm>
          <a:prstGeom prst="ellipse">
            <a:avLst/>
          </a:prstGeom>
          <a:solidFill>
            <a:srgbClr val="FF8A3D"/>
          </a:solidFill>
          <a:ln/>
        </p:spPr>
        <p:txBody>
          <a:bodyPr/>
          <a:p/>
        </p:txBody>
      </p:sp>
      <p:sp>
        <p:nvSpPr>
          <p:cNvPr id="17" name="Text 15"/>
          <p:cNvSpPr txBox="1"/>
          <p:nvPr/>
        </p:nvSpPr>
        <p:spPr>
          <a:xfrm>
            <a:off x="822960" y="5029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txBox="1"/>
          <p:nvPr/>
        </p:nvSpPr>
        <p:spPr>
          <a:xfrm>
            <a:off x="1463040" y="4937760"/>
            <a:ext cx="10058400" cy="64008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Most apps organize code into three layers: presentation, business logic, and data access — each talks only to its neighbor.</a:t>
            </a:r>
            <a:endParaRPr lang="en-US" sz="1250" dirty="0"/>
          </a:p>
        </p:txBody>
      </p:sp>
      <p:sp>
        <p:nvSpPr>
          <p:cNvPr id="19" name="Shape 17"/>
          <p:cNvSpPr/>
          <p:nvPr/>
        </p:nvSpPr>
        <p:spPr>
          <a:xfrm>
            <a:off x="822960" y="5715000"/>
            <a:ext cx="438912" cy="438912"/>
          </a:xfrm>
          <a:prstGeom prst="ellipse">
            <a:avLst/>
          </a:prstGeom>
          <a:solidFill>
            <a:srgbClr val="FF8A3D"/>
          </a:solidFill>
          <a:ln/>
        </p:spPr>
        <p:txBody>
          <a:bodyPr/>
          <a:p/>
        </p:txBody>
      </p:sp>
      <p:sp>
        <p:nvSpPr>
          <p:cNvPr id="20" name="Text 18"/>
          <p:cNvSpPr txBox="1"/>
          <p:nvPr/>
        </p:nvSpPr>
        <p:spPr>
          <a:xfrm>
            <a:off x="822960" y="57150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1" name="Text 19"/>
          <p:cNvSpPr txBox="1"/>
          <p:nvPr/>
        </p:nvSpPr>
        <p:spPr>
          <a:xfrm>
            <a:off x="1463040" y="5623560"/>
            <a:ext cx="10058400" cy="64008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Choosing an architecture is a trade-off between scalability, maintainability, and cost.</a:t>
            </a:r>
            <a:endParaRPr lang="en-US" sz="1250" dirty="0"/>
          </a:p>
        </p:txBody>
      </p:sp>
      <p:sp>
        <p:nvSpPr>
          <p:cNvPr id="24"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COMSATS University Islamabad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 Tiered Web Architecture</dc:title>
  <dc:subject>CSC336 Web Technologies</dc:subject>
  <dc:creator>Usman Akram</dc:creator>
  <cp:lastModifiedBy>Usman Akram</cp:lastModifiedBy>
  <cp:revision>1</cp:revision>
  <dcterms:created xsi:type="dcterms:W3CDTF">2026-09-13T18:09:13Z</dcterms:created>
  <dcterms:modified xsi:type="dcterms:W3CDTF">2026-09-13T18:09:13Z</dcterms:modified>
</cp:coreProperties>
</file>
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Tiered Web</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Architecture</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How to organize an application's code and computers — from one machine to many.</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Distinguish between tiers (physical deployment) and layers (logical code organization)</a:t>
            </a:r>
            <a:endParaRPr lang="en-US" sz="1500" dirty="0"/>
          </a:p>
        </p:txBody>
      </p:sp>
      <p:sp>
        <p:nvSpPr>
          <p:cNvPr id="7" name="Shape 5"/>
          <p:cNvSpPr/>
          <p:nvPr/>
        </p:nvSpPr>
        <p:spPr>
          <a:xfrm>
            <a:off x="685800" y="2679192"/>
            <a:ext cx="457200" cy="457200"/>
          </a:xfrm>
          <a:prstGeom prst="ellipse">
            <a:avLst/>
          </a:prstGeom>
          <a:solidFill>
            <a:srgbClr val="FF8A3D"/>
          </a:solidFill>
          <a:ln/>
        </p:spPr>
      </p:sp>
      <p:sp>
        <p:nvSpPr>
          <p:cNvPr id="8" name="Text 6"/>
          <p:cNvSpPr txBox="1"/>
          <p:nvPr/>
        </p:nvSpPr>
        <p:spPr>
          <a:xfrm>
            <a:off x="685800" y="2679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06040"/>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Learn the common layers inside a typical application, and how they combine with tiers</a:t>
            </a:r>
            <a:endParaRPr lang="en-US" sz="1500" dirty="0"/>
          </a:p>
        </p:txBody>
      </p:sp>
      <p:sp>
        <p:nvSpPr>
          <p:cNvPr id="10" name="Shape 8"/>
          <p:cNvSpPr/>
          <p:nvPr/>
        </p:nvSpPr>
        <p:spPr>
          <a:xfrm>
            <a:off x="685800" y="3392424"/>
            <a:ext cx="457200" cy="457200"/>
          </a:xfrm>
          <a:prstGeom prst="ellipse">
            <a:avLst/>
          </a:prstGeom>
          <a:solidFill>
            <a:srgbClr val="FF8A3D"/>
          </a:solidFill>
          <a:ln/>
        </p:spPr>
      </p:sp>
      <p:sp>
        <p:nvSpPr>
          <p:cNvPr id="11" name="Text 9"/>
          <p:cNvSpPr txBox="1"/>
          <p:nvPr/>
        </p:nvSpPr>
        <p:spPr>
          <a:xfrm>
            <a:off x="685800" y="3392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19272"/>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one-tier (standalone) architecture and when it's used</a:t>
            </a:r>
            <a:endParaRPr lang="en-US" sz="1500" dirty="0"/>
          </a:p>
        </p:txBody>
      </p:sp>
      <p:sp>
        <p:nvSpPr>
          <p:cNvPr id="13" name="Shape 11"/>
          <p:cNvSpPr/>
          <p:nvPr/>
        </p:nvSpPr>
        <p:spPr>
          <a:xfrm>
            <a:off x="685800" y="4105656"/>
            <a:ext cx="457200" cy="457200"/>
          </a:xfrm>
          <a:prstGeom prst="ellipse">
            <a:avLst/>
          </a:prstGeom>
          <a:solidFill>
            <a:srgbClr val="FF8A3D"/>
          </a:solidFill>
          <a:ln/>
        </p:spPr>
      </p:sp>
      <p:sp>
        <p:nvSpPr>
          <p:cNvPr id="14" name="Text 12"/>
          <p:cNvSpPr txBox="1"/>
          <p:nvPr/>
        </p:nvSpPr>
        <p:spPr>
          <a:xfrm>
            <a:off x="68580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32504"/>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two-tier (client-server) architecture, its advantages and limitations</a:t>
            </a:r>
            <a:endParaRPr lang="en-US" sz="1500" dirty="0"/>
          </a:p>
        </p:txBody>
      </p:sp>
      <p:sp>
        <p:nvSpPr>
          <p:cNvPr id="16" name="Shape 14"/>
          <p:cNvSpPr/>
          <p:nvPr/>
        </p:nvSpPr>
        <p:spPr>
          <a:xfrm>
            <a:off x="685800" y="4818888"/>
            <a:ext cx="457200" cy="457200"/>
          </a:xfrm>
          <a:prstGeom prst="ellipse">
            <a:avLst/>
          </a:prstGeom>
          <a:solidFill>
            <a:srgbClr val="FF8A3D"/>
          </a:solidFill>
          <a:ln/>
        </p:spPr>
      </p:sp>
      <p:sp>
        <p:nvSpPr>
          <p:cNvPr id="17" name="Text 15"/>
          <p:cNvSpPr txBox="1"/>
          <p:nvPr/>
        </p:nvSpPr>
        <p:spPr>
          <a:xfrm>
            <a:off x="68580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45736"/>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three-tier and N-tier architecture</a:t>
            </a:r>
            <a:endParaRPr lang="en-US" sz="1500" dirty="0"/>
          </a:p>
        </p:txBody>
      </p:sp>
      <p:sp>
        <p:nvSpPr>
          <p:cNvPr id="19" name="Shape 17"/>
          <p:cNvSpPr/>
          <p:nvPr/>
        </p:nvSpPr>
        <p:spPr>
          <a:xfrm>
            <a:off x="685800" y="5532120"/>
            <a:ext cx="457200" cy="457200"/>
          </a:xfrm>
          <a:prstGeom prst="ellipse">
            <a:avLst/>
          </a:prstGeom>
          <a:solidFill>
            <a:srgbClr val="FF8A3D"/>
          </a:solidFill>
          <a:ln/>
        </p:spPr>
      </p:sp>
      <p:sp>
        <p:nvSpPr>
          <p:cNvPr id="20" name="Text 18"/>
          <p:cNvSpPr txBox="1"/>
          <p:nvPr/>
        </p:nvSpPr>
        <p:spPr>
          <a:xfrm>
            <a:off x="685800" y="5532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4589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Learn how to choose an architecture based on scalability, maintainability, and cost</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Tiers vs. Layers: Two Different Ideas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Both aim at separation of concerns — but tiers separate physically, layers separate logically.</a:t>
            </a:r>
            <a:endParaRPr lang="en-US" sz="1350" dirty="0"/>
          </a:p>
        </p:txBody>
      </p:sp>
      <p:sp>
        <p:nvSpPr>
          <p:cNvPr id="5" name="Shape 3"/>
          <p:cNvSpPr/>
          <p:nvPr/>
        </p:nvSpPr>
        <p:spPr>
          <a:xfrm>
            <a:off x="640080" y="2240280"/>
            <a:ext cx="5341468" cy="3840480"/>
          </a:xfrm>
          <a:prstGeom prst="roundRect">
            <a:avLst>
              <a:gd name="adj" fmla="val 2143"/>
            </a:avLst>
          </a:prstGeom>
          <a:solidFill>
            <a:srgbClr val="F1F1F8"/>
          </a:solidFill>
          <a:ln w="12700">
            <a:solidFill>
              <a:srgbClr val="E2E2EE"/>
            </a:solidFill>
            <a:prstDash val="solid"/>
          </a:ln>
        </p:spPr>
      </p:sp>
      <p:sp>
        <p:nvSpPr>
          <p:cNvPr id="6" name="Text 4"/>
          <p:cNvSpPr txBox="1"/>
          <p:nvPr/>
        </p:nvSpPr>
        <p:spPr>
          <a:xfrm>
            <a:off x="896112" y="246888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TIER</a:t>
            </a:r>
            <a:endParaRPr lang="en-US" sz="1250" dirty="0"/>
          </a:p>
        </p:txBody>
      </p:sp>
      <p:sp>
        <p:nvSpPr>
          <p:cNvPr id="7" name="Text 5"/>
          <p:cNvSpPr txBox="1"/>
          <p:nvPr/>
        </p:nvSpPr>
        <p:spPr>
          <a:xfrm>
            <a:off x="896112" y="2926080"/>
            <a:ext cx="4829404"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physical (deployment) boundary</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Describes WHERE a piece of the app runs — which machine, process, or container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Two pieces running on different computers are in different tiers</a:t>
            </a:r>
            <a:endParaRPr lang="en-US" sz="1200" dirty="0"/>
          </a:p>
        </p:txBody>
      </p:sp>
      <p:sp>
        <p:nvSpPr>
          <p:cNvPr id="8" name="Shape 6"/>
          <p:cNvSpPr/>
          <p:nvPr/>
        </p:nvSpPr>
        <p:spPr>
          <a:xfrm>
            <a:off x="6210148" y="2240280"/>
            <a:ext cx="5341468" cy="3840480"/>
          </a:xfrm>
          <a:prstGeom prst="roundRect">
            <a:avLst>
              <a:gd name="adj" fmla="val 2143"/>
            </a:avLst>
          </a:prstGeom>
          <a:solidFill>
            <a:srgbClr val="F1F1F8"/>
          </a:solidFill>
          <a:ln w="12700">
            <a:solidFill>
              <a:srgbClr val="E2E2EE"/>
            </a:solidFill>
            <a:prstDash val="solid"/>
          </a:ln>
        </p:spPr>
      </p:sp>
      <p:sp>
        <p:nvSpPr>
          <p:cNvPr id="9" name="Text 7"/>
          <p:cNvSpPr txBox="1"/>
          <p:nvPr/>
        </p:nvSpPr>
        <p:spPr>
          <a:xfrm>
            <a:off x="6466180" y="246888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LAYER</a:t>
            </a:r>
            <a:endParaRPr lang="en-US" sz="1250" dirty="0"/>
          </a:p>
        </p:txBody>
      </p:sp>
      <p:sp>
        <p:nvSpPr>
          <p:cNvPr id="10" name="Text 8"/>
          <p:cNvSpPr txBox="1"/>
          <p:nvPr/>
        </p:nvSpPr>
        <p:spPr>
          <a:xfrm>
            <a:off x="6466180" y="2926080"/>
            <a:ext cx="4829404"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logical boundary inside your code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Describes HOW responsibilities are organized within a program</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Layers can all live on the very same machine, in the very same process</a:t>
            </a:r>
            <a:endParaRPr lang="en-US" sz="1200" dirty="0"/>
          </a:p>
        </p:txBody>
      </p:sp>
      <p:sp>
        <p:nvSpPr>
          <p:cNvPr id="11" name="Text 9"/>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2" name="Text 10"/>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TIERS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Tiers = Physical Deployment</a:t>
            </a:r>
            <a:endParaRPr lang="en-US" sz="3400" dirty="0"/>
          </a:p>
        </p:txBody>
      </p:sp>
      <p:sp>
        <p:nvSpPr>
          <p:cNvPr id="4" name="Shape 2"/>
          <p:cNvSpPr/>
          <p:nvPr/>
        </p:nvSpPr>
        <p:spPr>
          <a:xfrm>
            <a:off x="640080" y="2514600"/>
            <a:ext cx="5204308" cy="1371600"/>
          </a:xfrm>
          <a:prstGeom prst="roundRect">
            <a:avLst>
              <a:gd name="adj" fmla="val 5333"/>
            </a:avLst>
          </a:prstGeom>
          <a:solidFill>
            <a:srgbClr val="2B2B7A"/>
          </a:solidFill>
          <a:ln/>
        </p:spPr>
      </p:sp>
      <p:sp>
        <p:nvSpPr>
          <p:cNvPr id="5" name="Text 3"/>
          <p:cNvSpPr txBox="1"/>
          <p:nvPr/>
        </p:nvSpPr>
        <p:spPr>
          <a:xfrm>
            <a:off x="731520"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Machine 1</a:t>
            </a:r>
            <a:endParaRPr lang="en-US" sz="1250" dirty="0"/>
          </a:p>
        </p:txBody>
      </p:sp>
      <p:sp>
        <p:nvSpPr>
          <p:cNvPr id="6" name="Shape 4"/>
          <p:cNvSpPr/>
          <p:nvPr/>
        </p:nvSpPr>
        <p:spPr>
          <a:xfrm>
            <a:off x="5844388" y="3200400"/>
            <a:ext cx="502920" cy="0"/>
          </a:xfrm>
          <a:prstGeom prst="line">
            <a:avLst/>
          </a:prstGeom>
          <a:noFill/>
          <a:ln w="25400">
            <a:solidFill>
              <a:srgbClr val="5D5D72"/>
            </a:solidFill>
            <a:prstDash val="solid"/>
            <a:tailEnd type="triangle"/>
          </a:ln>
        </p:spPr>
      </p:sp>
      <p:sp>
        <p:nvSpPr>
          <p:cNvPr id="7" name="Shape 5"/>
          <p:cNvSpPr/>
          <p:nvPr/>
        </p:nvSpPr>
        <p:spPr>
          <a:xfrm>
            <a:off x="6347308" y="2514600"/>
            <a:ext cx="5204308" cy="1371600"/>
          </a:xfrm>
          <a:prstGeom prst="roundRect">
            <a:avLst>
              <a:gd name="adj" fmla="val 5333"/>
            </a:avLst>
          </a:prstGeom>
          <a:solidFill>
            <a:srgbClr val="E67528"/>
          </a:solidFill>
          <a:ln/>
        </p:spPr>
      </p:sp>
      <p:sp>
        <p:nvSpPr>
          <p:cNvPr id="8" name="Text 6"/>
          <p:cNvSpPr txBox="1"/>
          <p:nvPr/>
        </p:nvSpPr>
        <p:spPr>
          <a:xfrm>
            <a:off x="6438748"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Machine 2</a:t>
            </a:r>
            <a:endParaRPr lang="en-US" sz="1250" dirty="0"/>
          </a:p>
        </p:txBody>
      </p:sp>
      <p:sp>
        <p:nvSpPr>
          <p:cNvPr id="9" name="Text 7"/>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Two pieces of an app communicating over a network are in two different tiers, no matter how similar their code looks.</a:t>
            </a:r>
            <a:endParaRPr lang="en-US" sz="13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LAYERS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Layers = Logical Code Organization</a:t>
            </a:r>
            <a:endParaRPr lang="en-US" sz="3400" dirty="0"/>
          </a:p>
        </p:txBody>
      </p:sp>
      <p:sp>
        <p:nvSpPr>
          <p:cNvPr id="4" name="Shape 2"/>
          <p:cNvSpPr/>
          <p:nvPr/>
        </p:nvSpPr>
        <p:spPr>
          <a:xfrm>
            <a:off x="1554480" y="1965960"/>
            <a:ext cx="9052560" cy="1005840"/>
          </a:xfrm>
          <a:prstGeom prst="roundRect">
            <a:avLst>
              <a:gd name="adj" fmla="val 7273"/>
            </a:avLst>
          </a:prstGeom>
          <a:solidFill>
            <a:srgbClr val="2B2B7A"/>
          </a:solidFill>
          <a:ln/>
        </p:spPr>
      </p:sp>
      <p:sp>
        <p:nvSpPr>
          <p:cNvPr id="5" name="Text 3"/>
          <p:cNvSpPr txBox="1"/>
          <p:nvPr/>
        </p:nvSpPr>
        <p:spPr>
          <a:xfrm>
            <a:off x="1828800" y="212689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PRESENTATION LAYER</a:t>
            </a:r>
            <a:endParaRPr lang="en-US" sz="1100" dirty="0"/>
          </a:p>
        </p:txBody>
      </p:sp>
      <p:sp>
        <p:nvSpPr>
          <p:cNvPr id="6" name="Text 4"/>
          <p:cNvSpPr txBox="1"/>
          <p:nvPr/>
        </p:nvSpPr>
        <p:spPr>
          <a:xfrm>
            <a:off x="1828800" y="244876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Shows information, collects input</a:t>
            </a:r>
            <a:endParaRPr lang="en-US" sz="1300" dirty="0"/>
          </a:p>
        </p:txBody>
      </p:sp>
      <p:sp>
        <p:nvSpPr>
          <p:cNvPr id="7" name="Shape 5"/>
          <p:cNvSpPr/>
          <p:nvPr/>
        </p:nvSpPr>
        <p:spPr>
          <a:xfrm>
            <a:off x="6080760" y="2971800"/>
            <a:ext cx="0" cy="320040"/>
          </a:xfrm>
          <a:prstGeom prst="line">
            <a:avLst/>
          </a:prstGeom>
          <a:noFill/>
          <a:ln w="25400">
            <a:solidFill>
              <a:srgbClr val="5D5D72"/>
            </a:solidFill>
            <a:prstDash val="solid"/>
            <a:tailEnd type="triangle"/>
          </a:ln>
        </p:spPr>
      </p:sp>
      <p:sp>
        <p:nvSpPr>
          <p:cNvPr id="8" name="Shape 6"/>
          <p:cNvSpPr/>
          <p:nvPr/>
        </p:nvSpPr>
        <p:spPr>
          <a:xfrm>
            <a:off x="1554480" y="3291840"/>
            <a:ext cx="9052560" cy="1005840"/>
          </a:xfrm>
          <a:prstGeom prst="roundRect">
            <a:avLst>
              <a:gd name="adj" fmla="val 7273"/>
            </a:avLst>
          </a:prstGeom>
          <a:solidFill>
            <a:srgbClr val="3A3A78"/>
          </a:solidFill>
          <a:ln/>
        </p:spPr>
      </p:sp>
      <p:sp>
        <p:nvSpPr>
          <p:cNvPr id="9" name="Text 7"/>
          <p:cNvSpPr txBox="1"/>
          <p:nvPr/>
        </p:nvSpPr>
        <p:spPr>
          <a:xfrm>
            <a:off x="1828800" y="345277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BUSINESS LOGIC LAYER</a:t>
            </a:r>
            <a:endParaRPr lang="en-US" sz="1100" dirty="0"/>
          </a:p>
        </p:txBody>
      </p:sp>
      <p:sp>
        <p:nvSpPr>
          <p:cNvPr id="10" name="Text 8"/>
          <p:cNvSpPr txBox="1"/>
          <p:nvPr/>
        </p:nvSpPr>
        <p:spPr>
          <a:xfrm>
            <a:off x="1828800" y="377464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Applies the rules of the application</a:t>
            </a:r>
            <a:endParaRPr lang="en-US" sz="1300" dirty="0"/>
          </a:p>
        </p:txBody>
      </p:sp>
      <p:sp>
        <p:nvSpPr>
          <p:cNvPr id="11" name="Shape 9"/>
          <p:cNvSpPr/>
          <p:nvPr/>
        </p:nvSpPr>
        <p:spPr>
          <a:xfrm>
            <a:off x="6080760" y="4297680"/>
            <a:ext cx="0" cy="320040"/>
          </a:xfrm>
          <a:prstGeom prst="line">
            <a:avLst/>
          </a:prstGeom>
          <a:noFill/>
          <a:ln w="25400">
            <a:solidFill>
              <a:srgbClr val="5D5D72"/>
            </a:solidFill>
            <a:prstDash val="solid"/>
            <a:tailEnd type="triangle"/>
          </a:ln>
        </p:spPr>
      </p:sp>
      <p:sp>
        <p:nvSpPr>
          <p:cNvPr id="12" name="Shape 10"/>
          <p:cNvSpPr/>
          <p:nvPr/>
        </p:nvSpPr>
        <p:spPr>
          <a:xfrm>
            <a:off x="1554480" y="4617720"/>
            <a:ext cx="9052560" cy="1005840"/>
          </a:xfrm>
          <a:prstGeom prst="roundRect">
            <a:avLst>
              <a:gd name="adj" fmla="val 7273"/>
            </a:avLst>
          </a:prstGeom>
          <a:solidFill>
            <a:srgbClr val="E67528"/>
          </a:solidFill>
          <a:ln/>
        </p:spPr>
      </p:sp>
      <p:sp>
        <p:nvSpPr>
          <p:cNvPr id="13" name="Text 11"/>
          <p:cNvSpPr txBox="1"/>
          <p:nvPr/>
        </p:nvSpPr>
        <p:spPr>
          <a:xfrm>
            <a:off x="1828800" y="477865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DATA ACCESS LAYER</a:t>
            </a:r>
            <a:endParaRPr lang="en-US" sz="1100" dirty="0"/>
          </a:p>
        </p:txBody>
      </p:sp>
      <p:sp>
        <p:nvSpPr>
          <p:cNvPr id="14" name="Text 12"/>
          <p:cNvSpPr txBox="1"/>
          <p:nvPr/>
        </p:nvSpPr>
        <p:spPr>
          <a:xfrm>
            <a:off x="1828800" y="510052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Talks to the database</a:t>
            </a:r>
            <a:endParaRPr lang="en-US" sz="1300" dirty="0"/>
          </a:p>
        </p:txBody>
      </p:sp>
      <p:sp>
        <p:nvSpPr>
          <p:cNvPr id="15" name="Text 1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6" name="Text 1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Layered App Can Still Be One Tier</a:t>
            </a:r>
            <a:endParaRPr lang="en-US" sz="3400" dirty="0"/>
          </a:p>
        </p:txBody>
      </p:sp>
      <p:sp>
        <p:nvSpPr>
          <p:cNvPr id="4" name="Shape 2"/>
          <p:cNvSpPr/>
          <p:nvPr/>
        </p:nvSpPr>
        <p:spPr>
          <a:xfrm>
            <a:off x="640080" y="1965960"/>
            <a:ext cx="10911535" cy="1645920"/>
          </a:xfrm>
          <a:prstGeom prst="roundRect">
            <a:avLst>
              <a:gd name="adj" fmla="val 3333"/>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You could write a program with clean layers — a data layer, a business-logic layer, a presentation layer — and still run the entire thing on a single laptop as one process. That is one tier (everything deployed together) but multiple layers (well-organized code). Tiers and layers are independent design decisions.</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SIMPLEST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One-Tier (Standalone) Architecture</a:t>
            </a:r>
            <a:endParaRPr lang="en-US" sz="3400" dirty="0"/>
          </a:p>
        </p:txBody>
      </p:sp>
      <p:sp>
        <p:nvSpPr>
          <p:cNvPr id="4" name="Shape 2"/>
          <p:cNvSpPr/>
          <p:nvPr/>
        </p:nvSpPr>
        <p:spPr>
          <a:xfrm>
            <a:off x="685800" y="2185416"/>
            <a:ext cx="82296" cy="82296"/>
          </a:xfrm>
          <a:prstGeom prst="ellipse">
            <a:avLst/>
          </a:prstGeom>
          <a:solidFill>
            <a:srgbClr val="FF8A3D"/>
          </a:solidFill>
          <a:ln/>
        </p:spPr>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entire application — UI, business logic, and data storage — runs on a single machine, in a single process</a:t>
            </a:r>
            <a:endParaRPr lang="en-US" sz="1500" dirty="0"/>
          </a:p>
        </p:txBody>
      </p:sp>
      <p:sp>
        <p:nvSpPr>
          <p:cNvPr id="6" name="Shape 4"/>
          <p:cNvSpPr/>
          <p:nvPr/>
        </p:nvSpPr>
        <p:spPr>
          <a:xfrm>
            <a:off x="685800" y="3008376"/>
            <a:ext cx="82296" cy="82296"/>
          </a:xfrm>
          <a:prstGeom prst="ellipse">
            <a:avLst/>
          </a:prstGeom>
          <a:solidFill>
            <a:srgbClr val="FF8A3D"/>
          </a:solidFill>
          <a:ln/>
        </p:spPr>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No network communication between tiers, because there is only one tier</a:t>
            </a:r>
            <a:endParaRPr lang="en-US" sz="1500" dirty="0"/>
          </a:p>
        </p:txBody>
      </p:sp>
      <p:sp>
        <p:nvSpPr>
          <p:cNvPr id="8" name="Shape 6"/>
          <p:cNvSpPr/>
          <p:nvPr/>
        </p:nvSpPr>
        <p:spPr>
          <a:xfrm>
            <a:off x="685800" y="3831336"/>
            <a:ext cx="82296" cy="82296"/>
          </a:xfrm>
          <a:prstGeom prst="ellipse">
            <a:avLst/>
          </a:prstGeom>
          <a:solidFill>
            <a:srgbClr val="FF8A3D"/>
          </a:solidFill>
          <a:ln/>
        </p:spPr>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Example: a desktop calculator, a local script, or a static HTML file opened via file:///</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SIMPLEST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One-Tier, Visualized</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Your Computer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User Interface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Application Logic</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Data (local file / in-memory)</a:t>
            </a:r>
            <a:endParaRPr lang="en-US" sz="1400" dirty="0"/>
          </a:p>
        </p:txBody>
      </p:sp>
      <p:sp>
        <p:nvSpPr>
          <p:cNvPr id="6" name="Text 4"/>
          <p:cNvSpPr txBox="1"/>
          <p:nvPr/>
        </p:nvSpPr>
        <p:spPr>
          <a:xfrm>
            <a:off x="640080" y="4416552"/>
            <a:ext cx="10911535" cy="109728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One-tier applications are the easiest to build and deploy — no network, no server to configure. But they cannot be shared over the Internet as-is; they only work for a single user on a single machine.</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SPLITTING THE APP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Two-Tier (Client–Server) Architecture</a:t>
            </a:r>
            <a:endParaRPr lang="en-US" sz="3400" dirty="0"/>
          </a:p>
        </p:txBody>
      </p:sp>
      <p:sp>
        <p:nvSpPr>
          <p:cNvPr id="4" name="Shape 2"/>
          <p:cNvSpPr/>
          <p:nvPr/>
        </p:nvSpPr>
        <p:spPr>
          <a:xfrm>
            <a:off x="640080" y="2514600"/>
            <a:ext cx="5204308" cy="1371600"/>
          </a:xfrm>
          <a:prstGeom prst="roundRect">
            <a:avLst>
              <a:gd name="adj" fmla="val 5333"/>
            </a:avLst>
          </a:prstGeom>
          <a:solidFill>
            <a:srgbClr val="2B2B7A"/>
          </a:solidFill>
          <a:ln/>
        </p:spPr>
      </p:sp>
      <p:sp>
        <p:nvSpPr>
          <p:cNvPr id="5" name="Text 3"/>
          <p:cNvSpPr txBox="1"/>
          <p:nvPr/>
        </p:nvSpPr>
        <p:spPr>
          <a:xfrm>
            <a:off x="731520"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Client (UI)</a:t>
            </a:r>
            <a:endParaRPr lang="en-US" sz="1250" dirty="0"/>
          </a:p>
        </p:txBody>
      </p:sp>
      <p:sp>
        <p:nvSpPr>
          <p:cNvPr id="6" name="Shape 4"/>
          <p:cNvSpPr/>
          <p:nvPr/>
        </p:nvSpPr>
        <p:spPr>
          <a:xfrm>
            <a:off x="5844388" y="3200400"/>
            <a:ext cx="502920" cy="0"/>
          </a:xfrm>
          <a:prstGeom prst="line">
            <a:avLst/>
          </a:prstGeom>
          <a:noFill/>
          <a:ln w="25400">
            <a:solidFill>
              <a:srgbClr val="5D5D72"/>
            </a:solidFill>
            <a:prstDash val="solid"/>
            <a:tailEnd type="triangle"/>
          </a:ln>
        </p:spPr>
      </p:sp>
      <p:sp>
        <p:nvSpPr>
          <p:cNvPr id="7" name="Shape 5"/>
          <p:cNvSpPr/>
          <p:nvPr/>
        </p:nvSpPr>
        <p:spPr>
          <a:xfrm>
            <a:off x="6347308" y="2514600"/>
            <a:ext cx="5204308" cy="1371600"/>
          </a:xfrm>
          <a:prstGeom prst="roundRect">
            <a:avLst>
              <a:gd name="adj" fmla="val 5333"/>
            </a:avLst>
          </a:prstGeom>
          <a:solidFill>
            <a:srgbClr val="E67528"/>
          </a:solidFill>
          <a:ln/>
        </p:spPr>
      </p:sp>
      <p:sp>
        <p:nvSpPr>
          <p:cNvPr id="8" name="Text 6"/>
          <p:cNvSpPr txBox="1"/>
          <p:nvPr/>
        </p:nvSpPr>
        <p:spPr>
          <a:xfrm>
            <a:off x="6438748"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(Logic + Data)</a:t>
            </a:r>
            <a:endParaRPr lang="en-US" sz="1250" dirty="0"/>
          </a:p>
        </p:txBody>
      </p:sp>
      <p:sp>
        <p:nvSpPr>
          <p:cNvPr id="9" name="Text 7"/>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client and server communicate over a network — the same client-server model from Lecture 1, now viewed as an architecture pattern.</a:t>
            </a:r>
            <a:endParaRPr lang="en-US" sz="13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Two-Tier: Advantages and Limitations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ADVANTAGES</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Simple to build and reason about — only two moving parts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Centralized data — all clients see the same up-to-date data</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Lower initial cost — fewer servers to set up and pay for</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LIMITATIONS</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Scalability bottleneck — one server handles UI, logic, and data all at once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Tight coupling between business logic and data access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Single point of failure — if the server goes down, so does the app</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SCALING UP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Three-Tier Architecture</a:t>
            </a:r>
            <a:endParaRPr lang="en-US" sz="3400" dirty="0"/>
          </a:p>
        </p:txBody>
      </p:sp>
      <p:sp>
        <p:nvSpPr>
          <p:cNvPr id="4" name="Shape 2"/>
          <p:cNvSpPr/>
          <p:nvPr/>
        </p:nvSpPr>
        <p:spPr>
          <a:xfrm>
            <a:off x="640080" y="2514600"/>
            <a:ext cx="3301898" cy="1371600"/>
          </a:xfrm>
          <a:prstGeom prst="roundRect">
            <a:avLst>
              <a:gd name="adj" fmla="val 5333"/>
            </a:avLst>
          </a:prstGeom>
          <a:solidFill>
            <a:srgbClr val="2B2B7A"/>
          </a:solidFill>
          <a:ln/>
        </p:spPr>
      </p:sp>
      <p:sp>
        <p:nvSpPr>
          <p:cNvPr id="5" name="Text 3"/>
          <p:cNvSpPr txBox="1"/>
          <p:nvPr/>
        </p:nvSpPr>
        <p:spPr>
          <a:xfrm>
            <a:off x="731520"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Presentation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(Browser / React)</a:t>
            </a:r>
            <a:endParaRPr lang="en-US" sz="1250" dirty="0"/>
          </a:p>
        </p:txBody>
      </p:sp>
      <p:sp>
        <p:nvSpPr>
          <p:cNvPr id="6" name="Shape 4"/>
          <p:cNvSpPr/>
          <p:nvPr/>
        </p:nvSpPr>
        <p:spPr>
          <a:xfrm>
            <a:off x="3941978" y="3200400"/>
            <a:ext cx="502920" cy="0"/>
          </a:xfrm>
          <a:prstGeom prst="line">
            <a:avLst/>
          </a:prstGeom>
          <a:noFill/>
          <a:ln w="25400">
            <a:solidFill>
              <a:srgbClr val="5D5D72"/>
            </a:solidFill>
            <a:prstDash val="solid"/>
            <a:tailEnd type="triangle"/>
          </a:ln>
        </p:spPr>
      </p:sp>
      <p:sp>
        <p:nvSpPr>
          <p:cNvPr id="7" name="Shape 5"/>
          <p:cNvSpPr/>
          <p:nvPr/>
        </p:nvSpPr>
        <p:spPr>
          <a:xfrm>
            <a:off x="4444898" y="2514600"/>
            <a:ext cx="3301898" cy="1371600"/>
          </a:xfrm>
          <a:prstGeom prst="roundRect">
            <a:avLst>
              <a:gd name="adj" fmla="val 5333"/>
            </a:avLst>
          </a:prstGeom>
          <a:solidFill>
            <a:srgbClr val="2B2B7A"/>
          </a:solidFill>
          <a:ln/>
        </p:spPr>
      </p:sp>
      <p:sp>
        <p:nvSpPr>
          <p:cNvPr id="8" name="Text 6"/>
          <p:cNvSpPr txBox="1"/>
          <p:nvPr/>
        </p:nvSpPr>
        <p:spPr>
          <a:xfrm>
            <a:off x="4536338"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Application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(API Server)</a:t>
            </a:r>
            <a:endParaRPr lang="en-US" sz="1250" dirty="0"/>
          </a:p>
        </p:txBody>
      </p:sp>
      <p:sp>
        <p:nvSpPr>
          <p:cNvPr id="9" name="Shape 7"/>
          <p:cNvSpPr/>
          <p:nvPr/>
        </p:nvSpPr>
        <p:spPr>
          <a:xfrm>
            <a:off x="7746797" y="3200400"/>
            <a:ext cx="502920" cy="0"/>
          </a:xfrm>
          <a:prstGeom prst="line">
            <a:avLst/>
          </a:prstGeom>
          <a:noFill/>
          <a:ln w="25400">
            <a:solidFill>
              <a:srgbClr val="5D5D72"/>
            </a:solidFill>
            <a:prstDash val="solid"/>
            <a:tailEnd type="triangle"/>
          </a:ln>
        </p:spPr>
      </p:sp>
      <p:sp>
        <p:nvSpPr>
          <p:cNvPr id="10" name="Shape 8"/>
          <p:cNvSpPr/>
          <p:nvPr/>
        </p:nvSpPr>
        <p:spPr>
          <a:xfrm>
            <a:off x="8249717" y="2514600"/>
            <a:ext cx="3301898" cy="1371600"/>
          </a:xfrm>
          <a:prstGeom prst="roundRect">
            <a:avLst>
              <a:gd name="adj" fmla="val 5333"/>
            </a:avLst>
          </a:prstGeom>
          <a:solidFill>
            <a:srgbClr val="E67528"/>
          </a:solidFill>
          <a:ln/>
        </p:spPr>
      </p:sp>
      <p:sp>
        <p:nvSpPr>
          <p:cNvPr id="11" name="Text 9"/>
          <p:cNvSpPr txBox="1"/>
          <p:nvPr/>
        </p:nvSpPr>
        <p:spPr>
          <a:xfrm>
            <a:off x="8341157"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Data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(Database)</a:t>
            </a:r>
            <a:endParaRPr lang="en-US" sz="1250" dirty="0"/>
          </a:p>
        </p:txBody>
      </p:sp>
      <p:sp>
        <p:nvSpPr>
          <p:cNvPr id="12" name="Text 10"/>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This is exactly the shape of the MERN stack you'll build later: React (presentation), Express/Node.js (application), MongoDB (data) — each capable of running on its own machine.</a:t>
            </a:r>
            <a:endParaRPr lang="en-US" sz="13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GENERALIZING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N-Tier: As Many Tiers as You Need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N-tier generalizes three-tier: split into any number of tiers when it's useful.</a:t>
            </a:r>
            <a:endParaRPr lang="en-US" sz="1350" dirty="0"/>
          </a:p>
        </p:txBody>
      </p:sp>
      <p:sp>
        <p:nvSpPr>
          <p:cNvPr id="5" name="Shape 3"/>
          <p:cNvSpPr/>
          <p:nvPr/>
        </p:nvSpPr>
        <p:spPr>
          <a:xfrm>
            <a:off x="685800" y="2459736"/>
            <a:ext cx="82296" cy="82296"/>
          </a:xfrm>
          <a:prstGeom prst="ellipse">
            <a:avLst/>
          </a:prstGeom>
          <a:solidFill>
            <a:srgbClr val="FF8A3D"/>
          </a:solidFill>
          <a:ln/>
        </p:spPr>
      </p:sp>
      <p:sp>
        <p:nvSpPr>
          <p:cNvPr id="6" name="Text 4"/>
          <p:cNvSpPr txBox="1"/>
          <p:nvPr/>
        </p:nvSpPr>
        <p:spPr>
          <a:xfrm>
            <a:off x="960120" y="21671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caching tier (e.g., Redis) to speed up repeated requests</a:t>
            </a:r>
            <a:endParaRPr lang="en-US" sz="1500" dirty="0"/>
          </a:p>
        </p:txBody>
      </p:sp>
      <p:sp>
        <p:nvSpPr>
          <p:cNvPr id="7" name="Shape 5"/>
          <p:cNvSpPr/>
          <p:nvPr/>
        </p:nvSpPr>
        <p:spPr>
          <a:xfrm>
            <a:off x="685800" y="3282696"/>
            <a:ext cx="82296" cy="82296"/>
          </a:xfrm>
          <a:prstGeom prst="ellipse">
            <a:avLst/>
          </a:prstGeom>
          <a:solidFill>
            <a:srgbClr val="FF8A3D"/>
          </a:solidFill>
          <a:ln/>
        </p:spPr>
      </p:sp>
      <p:sp>
        <p:nvSpPr>
          <p:cNvPr id="8" name="Text 6"/>
          <p:cNvSpPr txBox="1"/>
          <p:nvPr/>
        </p:nvSpPr>
        <p:spPr>
          <a:xfrm>
            <a:off x="960120" y="299008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load balancer tier in front of multiple application servers</a:t>
            </a:r>
            <a:endParaRPr lang="en-US" sz="1500" dirty="0"/>
          </a:p>
        </p:txBody>
      </p:sp>
      <p:sp>
        <p:nvSpPr>
          <p:cNvPr id="9" name="Shape 7"/>
          <p:cNvSpPr/>
          <p:nvPr/>
        </p:nvSpPr>
        <p:spPr>
          <a:xfrm>
            <a:off x="685800" y="4105656"/>
            <a:ext cx="82296" cy="82296"/>
          </a:xfrm>
          <a:prstGeom prst="ellipse">
            <a:avLst/>
          </a:prstGeom>
          <a:solidFill>
            <a:srgbClr val="FF8A3D"/>
          </a:solidFill>
          <a:ln/>
        </p:spPr>
      </p:sp>
      <p:sp>
        <p:nvSpPr>
          <p:cNvPr id="10" name="Text 8"/>
          <p:cNvSpPr txBox="1"/>
          <p:nvPr/>
        </p:nvSpPr>
        <p:spPr>
          <a:xfrm>
            <a:off x="960120" y="381304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separate authentication tier dedicated to verifying user identity</a:t>
            </a:r>
            <a:endParaRPr lang="en-US" sz="1500" dirty="0"/>
          </a:p>
        </p:txBody>
      </p:sp>
      <p:sp>
        <p:nvSpPr>
          <p:cNvPr id="11" name="Text 9"/>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2" name="Text 10"/>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Three-Tier / N-Tier: Advantages and Limitations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ADVANTAGES</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Independent scaling — add app servers without touching the database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Each tier can be developed and deployed by different teams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Reusability — one API tier can serve web, mobile, and third parties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Better fault isolation</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LIMITATIONS</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More complexity — more configuration, more network calls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Higher cost — more servers or cloud services to pay for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Network latency between tiers, slower than in-process calls</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INSIDE ONE TIER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Three Common Layers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Presentation Layer — shows information and captures input; no business rules here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Business Logic Layer — the actual rules: validation, calculations, decisions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Data Access Layer — talks to the database; knows nothing about business rules or UI</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INSIDE ONE TIER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Request Flowing Through the Layers</a:t>
            </a:r>
            <a:endParaRPr lang="en-US" sz="3400" dirty="0"/>
          </a:p>
        </p:txBody>
      </p:sp>
      <p:sp>
        <p:nvSpPr>
          <p:cNvPr id="4" name="Shape 2"/>
          <p:cNvSpPr/>
          <p:nvPr/>
        </p:nvSpPr>
        <p:spPr>
          <a:xfrm>
            <a:off x="640080" y="1965960"/>
            <a:ext cx="10911535" cy="2606040"/>
          </a:xfrm>
          <a:prstGeom prst="roundRect">
            <a:avLst>
              <a:gd name="adj" fmla="val 2807"/>
            </a:avLst>
          </a:prstGeom>
          <a:solidFill>
            <a:srgbClr val="1E1E4C"/>
          </a:solidFill>
          <a:ln/>
        </p:spPr>
      </p:sp>
      <p:sp>
        <p:nvSpPr>
          <p:cNvPr id="5" name="Text 3"/>
          <p:cNvSpPr txBox="1"/>
          <p:nvPr/>
        </p:nvSpPr>
        <p:spPr>
          <a:xfrm>
            <a:off x="960120" y="2194560"/>
            <a:ext cx="10271455" cy="2148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project/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routes/       &lt;- Presentation: reads the request, sends response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services/     &lt;- Business logic: validation, calculations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models/       &lt;- Data access: talks to the database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app.js</a:t>
            </a:r>
            <a:endParaRPr lang="en-US" sz="1400" dirty="0"/>
          </a:p>
        </p:txBody>
      </p:sp>
      <p:sp>
        <p:nvSpPr>
          <p:cNvPr id="6" name="Text 4"/>
          <p:cNvSpPr txBox="1"/>
          <p:nvPr/>
        </p:nvSpPr>
        <p:spPr>
          <a:xfrm>
            <a:off x="640080" y="4800600"/>
            <a:ext cx="10911535" cy="109728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request flows down through the layers, and the response flows back up — each layer only ever talks to its direct neighbor, never skipping ahead. This is exactly the structure you'll build starting in Unit 5.</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DECISION TIME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Choosing an Architecture</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926080"/>
                <a:gridCol w="8001000"/>
              </a:tblGrid>
              <a:tr h="9144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Factor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Question to Ask</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Scalability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Will the number of users grow? Do parts need to grow at different rates?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Maintainability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Will multiple teams work on this? Update one part without breaking another?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What's the hosting budget? Can you afford the added operational complexity?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One-tier for personal tools and prototypes. Two-tier for small, stable apps. Three-tier/N-tier for apps expected to grow or be maintained by a team long-term.</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 WORD OF CAUTION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More Tiers Is Not Automatically Better</a:t>
            </a:r>
            <a:endParaRPr lang="en-US" sz="3400" dirty="0"/>
          </a:p>
        </p:txBody>
      </p:sp>
      <p:sp>
        <p:nvSpPr>
          <p:cNvPr id="4" name="Shape 2"/>
          <p:cNvSpPr/>
          <p:nvPr/>
        </p:nvSpPr>
        <p:spPr>
          <a:xfrm>
            <a:off x="640080" y="1965960"/>
            <a:ext cx="10911535" cy="1645920"/>
          </a:xfrm>
          <a:prstGeom prst="roundRect">
            <a:avLst>
              <a:gd name="adj" fmla="val 3333"/>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three-tier setup for a small class project adds deployment overhead (multiple servers, network configuration) that isn't justified if the project will never need to scale. Match the architecture to the actual requirements, not to what sounds most impressive.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Tiers are physical/deployment boundaries; layers are logical boundaries in code — both aim at separation of concerns, independently.</a:t>
            </a:r>
            <a:endParaRPr lang="en-US" sz="1250" dirty="0"/>
          </a:p>
        </p:txBody>
      </p:sp>
      <p:sp>
        <p:nvSpPr>
          <p:cNvPr id="7" name="Shape 5"/>
          <p:cNvSpPr/>
          <p:nvPr/>
        </p:nvSpPr>
        <p:spPr>
          <a:xfrm>
            <a:off x="822960" y="2971800"/>
            <a:ext cx="438912" cy="438912"/>
          </a:xfrm>
          <a:prstGeom prst="ellipse">
            <a:avLst/>
          </a:prstGeom>
          <a:solidFill>
            <a:srgbClr val="FF8A3D"/>
          </a:solidFill>
          <a:ln/>
        </p:spPr>
      </p:sp>
      <p:sp>
        <p:nvSpPr>
          <p:cNvPr id="8" name="Text 6"/>
          <p:cNvSpPr txBox="1"/>
          <p:nvPr/>
        </p:nvSpPr>
        <p:spPr>
          <a:xfrm>
            <a:off x="822960" y="2971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One-tier runs everything on one machine; two-tier splits client from server but has a single point of failure.</a:t>
            </a:r>
            <a:endParaRPr lang="en-US" sz="1250" dirty="0"/>
          </a:p>
        </p:txBody>
      </p:sp>
      <p:sp>
        <p:nvSpPr>
          <p:cNvPr id="10" name="Shape 8"/>
          <p:cNvSpPr/>
          <p:nvPr/>
        </p:nvSpPr>
        <p:spPr>
          <a:xfrm>
            <a:off x="822960" y="3657600"/>
            <a:ext cx="438912" cy="438912"/>
          </a:xfrm>
          <a:prstGeom prst="ellipse">
            <a:avLst/>
          </a:prstGeom>
          <a:solidFill>
            <a:srgbClr val="FF8A3D"/>
          </a:solidFill>
          <a:ln/>
        </p:spPr>
      </p:sp>
      <p:sp>
        <p:nvSpPr>
          <p:cNvPr id="11" name="Text 9"/>
          <p:cNvSpPr txBox="1"/>
          <p:nvPr/>
        </p:nvSpPr>
        <p:spPr>
          <a:xfrm>
            <a:off x="822960" y="3657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661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Three-tier separates presentation, application, and data — enabling independent scaling at the cost of complexity.</a:t>
            </a:r>
            <a:endParaRPr lang="en-US" sz="1250" dirty="0"/>
          </a:p>
        </p:txBody>
      </p:sp>
      <p:sp>
        <p:nvSpPr>
          <p:cNvPr id="13" name="Shape 11"/>
          <p:cNvSpPr/>
          <p:nvPr/>
        </p:nvSpPr>
        <p:spPr>
          <a:xfrm>
            <a:off x="822960" y="4343400"/>
            <a:ext cx="438912" cy="438912"/>
          </a:xfrm>
          <a:prstGeom prst="ellipse">
            <a:avLst/>
          </a:prstGeom>
          <a:solidFill>
            <a:srgbClr val="FF8A3D"/>
          </a:solidFill>
          <a:ln/>
        </p:spPr>
      </p:sp>
      <p:sp>
        <p:nvSpPr>
          <p:cNvPr id="14" name="Text 12"/>
          <p:cNvSpPr txBox="1"/>
          <p:nvPr/>
        </p:nvSpPr>
        <p:spPr>
          <a:xfrm>
            <a:off x="822960" y="4343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519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N-tier generalizes further, adding tiers like caching or load balancing as needed.</a:t>
            </a:r>
            <a:endParaRPr lang="en-US" sz="1250" dirty="0"/>
          </a:p>
        </p:txBody>
      </p:sp>
      <p:sp>
        <p:nvSpPr>
          <p:cNvPr id="16" name="Shape 14"/>
          <p:cNvSpPr/>
          <p:nvPr/>
        </p:nvSpPr>
        <p:spPr>
          <a:xfrm>
            <a:off x="822960" y="5029200"/>
            <a:ext cx="438912" cy="438912"/>
          </a:xfrm>
          <a:prstGeom prst="ellipse">
            <a:avLst/>
          </a:prstGeom>
          <a:solidFill>
            <a:srgbClr val="FF8A3D"/>
          </a:solidFill>
          <a:ln/>
        </p:spPr>
      </p:sp>
      <p:sp>
        <p:nvSpPr>
          <p:cNvPr id="17" name="Text 15"/>
          <p:cNvSpPr txBox="1"/>
          <p:nvPr/>
        </p:nvSpPr>
        <p:spPr>
          <a:xfrm>
            <a:off x="822960" y="5029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9377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Most apps organize code into three layers: presentation, business logic, and data access — each talks only to its neighbor.</a:t>
            </a:r>
            <a:endParaRPr lang="en-US" sz="1250" dirty="0"/>
          </a:p>
        </p:txBody>
      </p:sp>
      <p:sp>
        <p:nvSpPr>
          <p:cNvPr id="19" name="Shape 17"/>
          <p:cNvSpPr/>
          <p:nvPr/>
        </p:nvSpPr>
        <p:spPr>
          <a:xfrm>
            <a:off x="822960" y="5715000"/>
            <a:ext cx="438912" cy="438912"/>
          </a:xfrm>
          <a:prstGeom prst="ellipse">
            <a:avLst/>
          </a:prstGeom>
          <a:solidFill>
            <a:srgbClr val="FF8A3D"/>
          </a:solidFill>
          <a:ln/>
        </p:spPr>
      </p:sp>
      <p:sp>
        <p:nvSpPr>
          <p:cNvPr id="20" name="Text 18"/>
          <p:cNvSpPr txBox="1"/>
          <p:nvPr/>
        </p:nvSpPr>
        <p:spPr>
          <a:xfrm>
            <a:off x="822960" y="5715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623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Choosing an architecture is a trade-off between scalability, maintainability, and cost.</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Tiered Web Architecture</dc:title>
  <dc:subject>CSC336 Web Technologies</dc:subject>
  <dc:creator>Usman Akram</dc:creator>
  <cp:lastModifiedBy>Usman Akram</cp:lastModifiedBy>
  <cp:revision>1</cp:revision>
  <dcterms:created xsi:type="dcterms:W3CDTF">2026-09-13T10:55:11Z</dcterms:created>
  <dcterms:modified xsi:type="dcterms:W3CDTF">2026-09-13T10:55:11Z</dcterms:modified>
</cp:coreProperties>
</file>
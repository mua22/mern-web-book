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2B7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9659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3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2377440"/>
            <a:ext cx="8686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HTML and HTML5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Fundamentals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389120"/>
            <a:ext cx="8961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raw ingredients of every website: structure, text, links, images, tables, and lists.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5943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CSC336 Web Technologies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This Lecture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the role of markup languages, and HTML's document structure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679192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26791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606040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Elements, tags, attributes, nesting rules, void elements, and validation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392424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33924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319272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Headings, text formatting, and why the old &lt;font&gt; tag is obsolete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85800" y="4105656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41056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4032504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&lt;pre&gt;/&lt;code&gt; and other technical text tags, plus HTML entities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4818888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85800" y="48188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4745736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Hyperlinks (internal vs. external), images (including image links), audio, video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85800" y="55321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85800" y="5532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371600" y="54589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Tables, lists (including nested lists), and what HTML5 added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a Markup Language?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HyperText — text that contains links to other text or pages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Markup — the text is annotated with tags describing its structure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 — a shared grammar every browser agrees to follow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85800" y="443484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436168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 is NOT a programming language — no variables, loops, or conditions; it only describes structure and content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HTML Document Structure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&lt;!DOCTYPE html&gt;, &lt;html lang="en"&gt;, &lt;head&gt; (meta, title), and &lt;body&gt; — every valid page starts this way.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30352" y="2221992"/>
            <a:ext cx="11130991" cy="4059936"/>
          </a:xfrm>
          <a:prstGeom prst="roundRect">
            <a:avLst>
              <a:gd name="adj" fmla="val 1351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D:/GitHub/mern-web-book/docs/assets/img/lecture-03/doc-stru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88768" y="2827020"/>
            <a:ext cx="6614160" cy="28498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ELEMENTS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Void (Self-Closing) Elements</a:t>
            </a:r>
            <a:endParaRPr lang="en-US" sz="3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1153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822960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Element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&lt;br&gt;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single line break within text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&lt;hr&gt;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thematic divider line between sections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&lt;img&gt;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Embeds an image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&lt;input&gt;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form control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&lt;meta&gt; / &lt;link&gt;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Document metadata / an external resource, used inside &lt;head&gt;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60350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Void elements have no content and therefore no closing tag — &lt;div&gt;&lt;/div&gt; is NOT void, it just happens to be empty.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ELEMENTS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Void Elements, Rendered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line break, a horizontal rule, a broken-image icon showing its alt text, and an empty input.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30352" y="2221992"/>
            <a:ext cx="11130991" cy="4059936"/>
          </a:xfrm>
          <a:prstGeom prst="roundRect">
            <a:avLst>
              <a:gd name="adj" fmla="val 1351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D:/GitHub/mern-web-book/docs/assets/img/lecture-03/void-elemen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3486556"/>
            <a:ext cx="10911535" cy="153080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BASICS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Block-Level vs. Inline Elements</a:t>
            </a:r>
            <a:endParaRPr lang="en-US" sz="3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11535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3931920"/>
                <a:gridCol w="393192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Block-Level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Inline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Starts a new line?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— flows with content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available width?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Yes, by default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— only as wide as content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Examples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h1-h6, p, div, ul, table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a, strong, em, span, img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BASICS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Block vs. Inline, Rendered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heading and both paragraphs each claim a full line; strong and a sit inside the last paragraph's line.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30352" y="2221992"/>
            <a:ext cx="11130991" cy="4059936"/>
          </a:xfrm>
          <a:prstGeom prst="roundRect">
            <a:avLst>
              <a:gd name="adj" fmla="val 1351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D:/GitHub/mern-web-book/docs/assets/img/lecture-03/block-in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942431"/>
            <a:ext cx="10911535" cy="2619059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Global Attributes</a:t>
            </a:r>
            <a:endParaRPr lang="en-US" sz="3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1153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59536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Attribute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unique identifier for one specific element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Category name(s) shared by many elements, for CSS/JS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Extra info shown as a tooltip on hover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style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Inline CSS applied to just this one element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(human) language of this element's content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data-*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custom attribute for attaching your own data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60350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Boolean attributes (required, checked, disabled) need no ="value" — present means true, absent means false.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Attributes, Rendered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link, an abbr with a title tooltip, a style-colored paragraph, and three boolean-attribute form controls.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30352" y="2221992"/>
            <a:ext cx="11130991" cy="4059936"/>
          </a:xfrm>
          <a:prstGeom prst="roundRect">
            <a:avLst>
              <a:gd name="adj" fmla="val 1351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D:/GitHub/mern-web-book/docs/assets/img/lecture-03/attributes-dem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830" y="2331720"/>
            <a:ext cx="10398034" cy="38404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CONTENT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Headings and Paragraphs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&lt;h1&gt; through &lt;h6&gt;, most to least important — only one &lt;h1&gt; per page.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30352" y="2221992"/>
            <a:ext cx="11130991" cy="4059936"/>
          </a:xfrm>
          <a:prstGeom prst="roundRect">
            <a:avLst>
              <a:gd name="adj" fmla="val 1351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D:/GitHub/mern-web-book/docs/assets/img/lecture-03/heading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5521" y="2331720"/>
            <a:ext cx="5780653" cy="38404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CONTENT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Text Formatting Elements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strong, em, b, i, mark, small, sub/sup, br, hr — each with a distinct default appearance.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30352" y="2221992"/>
            <a:ext cx="11130991" cy="4059936"/>
          </a:xfrm>
          <a:prstGeom prst="roundRect">
            <a:avLst>
              <a:gd name="adj" fmla="val 1351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D:/GitHub/mern-web-book/docs/assets/img/lecture-03/text-formatt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653293"/>
            <a:ext cx="10911535" cy="319733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DEPRECATED TAG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&lt;font&gt; Tag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837944"/>
          </a:xfrm>
          <a:prstGeom prst="roundRect">
            <a:avLst>
              <a:gd name="adj" fmla="val 3980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&lt;font color="red" size="5" face="Arial"&gt;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This text is red, size 5, Arial font.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&lt;/font&gt;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032504"/>
            <a:ext cx="10911535" cy="2231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CSS existed, &lt;font&gt; was the only way to style text directly in HTML.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DEPRECATED TAG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&lt;font&gt;, Rendered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30352" y="1947672"/>
            <a:ext cx="11130991" cy="4334256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D:/GitHub/mern-web-book/docs/assets/img/lecture-03/font-ta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3446747"/>
            <a:ext cx="10911535" cy="133610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DEPRECATED TAG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We Don't Use &lt;font&gt;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218541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189280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Mixes structure with appearance — HTML should describe what something is, not how it looks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300837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60120" y="271576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Doesn't scale — changing 50 pages means editing 50 pages, not one CSS rule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85800" y="383133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60120" y="353872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responsive or interactive ability — can't change on hover, on a smaller screen, or in dark mode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465429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60120" y="436168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Fails validation — flagged as an error by the W3C Markup Validator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TEXT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&lt;pre&gt;, &lt;code&gt;, and Related Tags</a:t>
            </a:r>
            <a:endParaRPr lang="en-US" sz="34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1153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59536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&lt;pre&gt;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Preformatted text — preserves every space and line break, monospace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&lt;code&gt;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 inline snippet of computer code, monospace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&lt;kbd&gt;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Keyboard input — a key the user should press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&lt;samp&gt;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Sample output from a program or command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&lt;var&gt;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variable name or placeholder value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&lt;blockquote&gt;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longer, block-level quotation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CHARACTERS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HTML Entities</a:t>
            </a:r>
            <a:endParaRPr lang="en-US" sz="34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11535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011680"/>
                <a:gridCol w="694944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Entity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Renders 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 You Need 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&amp;lt;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literal &lt; would start a tag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&amp;gt;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literal &gt; would end a tag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&amp;amp;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&amp;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literal &amp; would start another entity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&amp;nbsp;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(a space)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non-breaking space — never wraps a line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&amp;copy;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©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on most keyboards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&amp;mdash;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 em dash, longer than a hyphen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HYPERLINKS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Internal and External Links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5341468" cy="4114800"/>
          </a:xfrm>
          <a:prstGeom prst="roundRect">
            <a:avLst>
              <a:gd name="adj" fmla="val 2000"/>
            </a:avLst>
          </a:prstGeom>
          <a:solidFill>
            <a:srgbClr val="F1F1F8"/>
          </a:solidFill>
          <a:ln w="12700">
            <a:solidFill>
              <a:srgbClr val="E2E2E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96112" y="2194560"/>
            <a:ext cx="48294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2B2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(ABSOLUTE URL)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2651760"/>
            <a:ext cx="4829404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complete address, including https:// and the domain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for a page on a DIFFERENT website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target="_blank" + rel="noopener noreferrer" opens safely in a new tab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210148" y="1965960"/>
            <a:ext cx="5341468" cy="4114800"/>
          </a:xfrm>
          <a:prstGeom prst="roundRect">
            <a:avLst>
              <a:gd name="adj" fmla="val 2000"/>
            </a:avLst>
          </a:prstGeom>
          <a:solidFill>
            <a:srgbClr val="F1F1F8"/>
          </a:solidFill>
          <a:ln w="12700">
            <a:solidFill>
              <a:srgbClr val="E2E2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66180" y="2194560"/>
            <a:ext cx="48294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E675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(RELATIVE URL)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6466180" y="2651760"/>
            <a:ext cx="4829404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path relative to the current page — no domain name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for pages within YOUR OWN site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Survives a domain move, since it never contained the domain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HYPERLINKS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Links, Rendered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links first (Wikipedia, COMSATS in a new tab), then internal ones (About, Contact, Home).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30352" y="2221992"/>
            <a:ext cx="11130991" cy="4059936"/>
          </a:xfrm>
          <a:prstGeom prst="roundRect">
            <a:avLst>
              <a:gd name="adj" fmla="val 1351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D:/GitHub/mern-web-book/docs/assets/img/lecture-03/link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55807" y="2331720"/>
            <a:ext cx="5080080" cy="38404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&lt;img&gt; Element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src, alt, width, height — and wrapping an &lt;img&gt; in &lt;a&gt; turns it into a clickable image link.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30352" y="2221992"/>
            <a:ext cx="11130991" cy="4059936"/>
          </a:xfrm>
          <a:prstGeom prst="roundRect">
            <a:avLst>
              <a:gd name="adj" fmla="val 1351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D:/GitHub/mern-web-book/docs/assets/img/lecture-03/imag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82088" y="2667000"/>
            <a:ext cx="6827520" cy="31699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Audio and Video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&lt;audio controls&gt; and &lt;video controls&gt; with a &lt;source&gt; child — native players, no plugins needed.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30352" y="2221992"/>
            <a:ext cx="11130991" cy="4059936"/>
          </a:xfrm>
          <a:prstGeom prst="roundRect">
            <a:avLst>
              <a:gd name="adj" fmla="val 1351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D:/GitHub/mern-web-book/docs/assets/img/lecture-03/audio-vide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89087" y="2331720"/>
            <a:ext cx="4213520" cy="38404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TABULAR DATA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Tables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&lt;table&gt;, &lt;thead&gt;/&lt;tbody&gt;, &lt;tr&gt;, &lt;th&gt;, &lt;td&gt; — for genuinely tabular data only, never page layout.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30352" y="2221992"/>
            <a:ext cx="11130991" cy="4059936"/>
          </a:xfrm>
          <a:prstGeom prst="roundRect">
            <a:avLst>
              <a:gd name="adj" fmla="val 1351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D:/GitHub/mern-web-book/docs/assets/img/lecture-03/tabl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78228" y="2430780"/>
            <a:ext cx="7635240" cy="36423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Nested Lists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291840"/>
          </a:xfrm>
          <a:prstGeom prst="roundRect">
            <a:avLst>
              <a:gd name="adj" fmla="val 2222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&lt;ul&gt;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&lt;li&gt;Front End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&lt;ul&gt;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&lt;li&gt;HTML&lt;/li&gt;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&lt;li&gt;CSS&lt;/li&gt;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&lt;/ul&gt;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&lt;/li&gt;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&lt;li&gt;Back End&lt;/li&gt;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&lt;/ul&gt;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486400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nested &lt;ul&gt;/&lt;ol&gt; goes inside the &lt;li&gt; of the item it belongs under. Browsers change bullet style (disc, circle, square) at each depth.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 Three List Types, Rendered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Unordered (bulleted), ordered (numbered), and description (term/definition pairs).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30352" y="2221992"/>
            <a:ext cx="11130991" cy="4059936"/>
          </a:xfrm>
          <a:prstGeom prst="roundRect">
            <a:avLst>
              <a:gd name="adj" fmla="val 1351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D:/GitHub/mern-web-book/docs/assets/img/lecture-03/lis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28072" y="2331720"/>
            <a:ext cx="6935550" cy="38404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HTML5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HTML5 Added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218541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189280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layout: header, nav, main, section, article, aside, footer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300837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60120" y="271576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Media: audio, video, source, track — no plugins required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85800" y="383133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60120" y="353872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Graphics: canvas and native svg support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465429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60120" y="436168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attributes: placeholder, required, pattern, data-*, contenteditable, draggable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SUPPORT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Progressive Enhancement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737360"/>
          </a:xfrm>
          <a:prstGeom prst="roundRect">
            <a:avLst>
              <a:gd name="adj" fmla="val 3158"/>
            </a:avLst>
          </a:prstGeom>
          <a:solidFill>
            <a:srgbClr val="E6F6EE"/>
          </a:solidFill>
          <a:ln w="12700">
            <a:solidFill>
              <a:srgbClr val="3FA6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7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every browser supports every HTML5 feature. Check caniuse.com before relying on a newer one, and design your page so it still works reasonably well in older browsers while enhancing the experience for those that support more.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2B2B7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7315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887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3 in Six Points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22860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286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21945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 describes structure and content only — void elements (br, img) have no closing tag; nesting must close in reverse order.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822960" y="29718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29718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28803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Block-level elements stack and fill width; inline elements flow within text.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22960" y="36576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36576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35661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&lt;font&gt; tag is obsolete — use CSS for all styling instead.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2960" y="43434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2960" y="43434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42519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&lt;pre&gt;/&lt;code&gt; handle technical text; entities (&amp;lt; &amp;nbsp;) represent characters HTML can't take literally.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22960" y="50292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22960" y="5029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463040" y="49377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links use absolute URLs; internal links use relative ones and survive a domain move.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22960" y="57150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22960" y="5715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463040" y="56235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 has three list types — unordered, ordered, description — and any of them can be nested.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COMSATS University Islamabad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3: HTML and HTML5 Fundamentals</dc:title>
  <dc:subject>CSC336 Web Technologies</dc:subject>
  <dc:creator>Usman Akram</dc:creator>
  <cp:lastModifiedBy>Usman Akram</cp:lastModifiedBy>
  <cp:revision>1</cp:revision>
  <dcterms:created xsi:type="dcterms:W3CDTF">2026-09-13T11:38:23Z</dcterms:created>
  <dcterms:modified xsi:type="dcterms:W3CDTF">2026-09-13T11:38:23Z</dcterms:modified>
</cp:coreProperties>
</file>
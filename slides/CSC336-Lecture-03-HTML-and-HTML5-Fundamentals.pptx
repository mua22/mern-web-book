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and HTML5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Fundamentals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ingredients of every website: structure, text, links, images, tables, and lists.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role of markup languages, and the anatomy of an HTML tag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HTML's document structure, elements, attributes, nesting rules, and void elements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Headings, text formatting, and why the old &lt;font&gt; tag is obsolete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and other technical text tags, plus HTML entities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 (internal vs. external), images (including image links), audio, video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all three list types (including nested lists), and what HTML5 added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Markup Language?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HyperText — text that contains links to other text or pages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Markup — the text is annotated with tags describing its structure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— a shared grammar every browser agrees to follow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is NOT a programming language — no variables, loops, or conditions; it only describes structure and content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an HTML Tag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120640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the start of an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class="intro"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info, written inside the opening tag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Hello, World!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sits between the opening and closing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&lt;/p&gt;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the end — note the forward slash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&lt;!-- note --&gt;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Ignored by the browser, visible only in the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Void (self-closing)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content, and so no closing tag at 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Example: Hello, World!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24890"/>
          </a:xfrm>
          <a:prstGeom prst="roundRect">
            <a:avLst>
              <a:gd name="adj" fmla="val 713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56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This is a comment: the browser ignores it --&gt;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class="intro" id="greeting"&gt;Hello, World!&lt;/p&gt;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155442"/>
            <a:ext cx="11130991" cy="3172206"/>
          </a:xfrm>
          <a:prstGeom prst="roundRect">
            <a:avLst>
              <a:gd name="adj" fmla="val 173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hello-wor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2648" y="4010025"/>
            <a:ext cx="5486400" cy="1463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Document Structure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063240"/>
          </a:xfrm>
          <a:prstGeom prst="roundRect">
            <a:avLst>
              <a:gd name="adj" fmla="val 238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 lang="en"&gt;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&lt;meta charset="UTF-8"&gt;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&lt;title&gt;My First Page&lt;/title&gt;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&lt;/head&gt;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&lt;h1&gt;Hello, Web!&lt;/h1&gt;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&lt;p&gt;This is my first HTML page.&lt;/p&gt;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&lt;/body&gt;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0352" y="5193792"/>
            <a:ext cx="11130991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doc-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4752" y="5303520"/>
            <a:ext cx="2122190" cy="914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(Self-Closing) Elements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line break within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&lt;hr&gt;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thematic divider line between sections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&lt;img&gt;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Embeds an image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&lt;input&gt;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form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&lt;meta&gt; / &lt;link&gt;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metadata / an external resource, used inside &lt;head&gt;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elements have no content and therefore no closing tag — &lt;div&gt;&lt;/div&gt; is NOT void, it just happens to be empty.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Void Elements,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src="cat.jpg" alt="A photo of a cat"&gt;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type="text"&gt;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631692"/>
            <a:ext cx="11130991" cy="2695956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void-el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214266"/>
            <a:ext cx="10911535" cy="153080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Block-Level vs. Inline Elements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Block-Level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a new line?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flows with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available width?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by default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only as wide as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h1-h6, p, div, ul, 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a, strong, em, span, img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BASICS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vs. Inline,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&lt;h1&gt;Page Title&lt;/h1&gt;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is a paragraph.&lt;/p&gt;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is another paragraph, on its own line below.&lt;/p&gt;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&lt;p&gt;This word is &lt;strong&gt;important&lt;/strong&gt;, and this is a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href="#"&gt;link&lt;/a&gt; in the middle of a sentence.&lt;/p&gt;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block-in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9122" y="4217670"/>
            <a:ext cx="8333452" cy="20002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Attributes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unique identifier for one specific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name(s) shared by many elements, for CSS/JS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info shown as a tooltip on hover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Inline CSS applied to just this one 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(human) language of this element's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custom attribute for attaching your own 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attributes (required, checked, disabled) need no ="value" — present means true, absent means false.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Attributes,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href="https://www.comsats.edu.pk" target="_blank"&gt;Visit COMSATS&lt;/a&gt;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&lt;p&gt;Founded in 1998, &lt;abbr title="World Wide Web Consortium"&gt;W3C&lt;/abbr&gt; sets web standards.&lt;/p&gt;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style="color: red;"&gt;Urgent&lt;/p&gt;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type="text" required placeholder="required field"&gt;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&lt;input type="checkbox" checked&gt; Subscribe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disabled&gt;Can't click me&lt;/button&gt;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attribute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8026" y="4217670"/>
            <a:ext cx="5415643" cy="20002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&lt;h1&gt;Chapter Title&lt;/h1&gt;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&lt;h2&gt;Section Heading&lt;/h2&gt;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&lt;h3&gt;Sub-section Heading&lt;/h3&gt;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hea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2834" y="3503295"/>
            <a:ext cx="4086027" cy="271462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CONTENT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Formatting Elements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&lt;strong&gt;Warning&lt;/strong&gt;: this is &lt;em&gt;really&lt;/em&gt; important.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&lt;b&gt;Bold text&lt;/b&gt; and &lt;i&gt;Italic text&lt;/i&gt;.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&lt;mark&gt;highlighted&lt;/mark&gt; text, and &lt;small&gt;terms apply&lt;/small&gt;.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H&lt;sub&gt;2&lt;/sub&gt;O and x&lt;sup&gt;2&lt;/sup&gt;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 one&lt;br&gt;Line two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&lt;hr&gt;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text-forma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2723" y="4217670"/>
            <a:ext cx="6826250" cy="20002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&lt;font&gt; Tag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&lt;font color="red" size="5" face="Arial"&gt;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text is red, size 5, Arial font.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&lt;/font&gt;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font-t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92554"/>
            <a:ext cx="10911535" cy="13361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DEPRECATED TAG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Don't Use &lt;font&gt;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Mixes structure with appearance — HTML should describe what something is, not how it looks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scale — changing 50 pages means editing 50 pages, not one CSS rule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responsive or interactive ability — can't change on hover, on a smaller screen, or in dark mode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validation — flagged as an error by the W3C Markup Validator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&lt;pre&gt;, &lt;code&gt;, and Related Tags</a:t>
            </a:r>
            <a:endParaRPr lang="en-US" sz="3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&lt;pre&gt;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Preformatted text — preserves every space and line break,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&lt;code&gt;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inline snippet of computer code, monospace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&lt;kbd&gt;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input — a key the user should press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&lt;samp&gt;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output from a program or command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&lt;var&gt;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variable name or placeholder 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&lt;blockquote&gt;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longer, block-level quotation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Text Tags,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53640"/>
          </a:xfrm>
          <a:prstGeom prst="roundRect">
            <a:avLst>
              <a:gd name="adj" fmla="val 29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9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&lt;pre&gt;function greet()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console.log("Hello!");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}&lt;/pre&gt;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&lt;p&gt;Use the &lt;code&gt;console.log()&lt;/code&gt; function.&lt;/p&gt;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&lt;p&gt;Press &lt;kbd&gt;Ctrl&lt;/kbd&gt; + &lt;kbd&gt;C&lt;/kbd&gt; to copy.&lt;/p&gt;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&lt;p&gt;Printed: &lt;samp&gt;Build succeeded&lt;/samp&gt;&lt;/p&gt;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&lt;p&gt;Replace &lt;var&gt;filename&lt;/var&gt; with your own.&lt;/p&gt;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&lt;blockquote&gt;The Web connects people.&lt;/blockquote&gt;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584192"/>
            <a:ext cx="11130991" cy="1743456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pre-code-ta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7097" y="4693920"/>
            <a:ext cx="3437501" cy="1524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Entities</a:t>
            </a:r>
            <a:endParaRPr lang="en-US" sz="3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69494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Renders 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You Need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&lt; would start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&gt; would end a tag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literal &amp; would start another entity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&amp;nbsp;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 space)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non-breaking space — never wraps a 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&amp;copy;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on most keyboards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&amp;mdash;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em dash, longer than a hyphen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CHARACTERS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Entities,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&lt;p&gt;5 &amp;lt; 10 and 10 &amp;gt; 5&lt;/p&gt;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&lt;p&gt;Copyright &amp;copy; 2025 &amp;mdash; All rights reserved&lt;/p&gt;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&lt;p&gt;Click&amp;nbsp;Here&amp;nbsp;Now (no line break allowed)&lt;/p&gt;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393567"/>
            <a:ext cx="11130991" cy="2934081"/>
          </a:xfrm>
          <a:prstGeom prst="roundRect">
            <a:avLst>
              <a:gd name="adj" fmla="val 187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ent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779153"/>
            <a:ext cx="10911535" cy="21629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and External Links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(ABSOLUTE URL)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address, including https:// and the domain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a page on a DIFFERENT website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target="_blank" + rel="noopener noreferrer" opens safely in a new tab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(RELATIVE URL)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relative to the current page — no domain name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pages within YOUR OWN site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 domain move, since it never contained the domain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HYPERLINKS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href="https://en.wikipedia.org/wiki/HTML"&gt;HTML on Wikipedia&lt;/a&gt;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href="https://www.comsats.edu.pk" target="_blank" rel="noopener noreferrer"&gt;Visit COMSATS (new tab)&lt;/a&gt;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href="about.html"&gt;About Us&lt;/a&gt;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href="pages/contact.html"&gt;Contact (in a subfolder)&lt;/a&gt;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 href="../index.html"&gt;Back to home (one folder up)&lt;/a&gt;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5417" y="3979545"/>
            <a:ext cx="2960860" cy="22383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&lt;img&gt; Element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86765"/>
          </a:xfrm>
          <a:prstGeom prst="roundRect">
            <a:avLst>
              <a:gd name="adj" fmla="val 929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29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src="images/logo.png" alt="COMSATS logo" width="200" height="80"&gt;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2917317"/>
            <a:ext cx="11130991" cy="3410331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im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2088" y="3037522"/>
            <a:ext cx="6827520" cy="3169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Audio and Video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91765"/>
          </a:xfrm>
          <a:prstGeom prst="roundRect">
            <a:avLst>
              <a:gd name="adj" fmla="val 271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3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&lt;audio controls&gt;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&lt;source src="song.mp3" type="audio/mpeg"&gt;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Your browser does not support audio.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&lt;/audio&gt;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&lt;video width="480" controls&gt;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&lt;source src="movie.mp4" type="video/mp4"&gt;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Your browser does not support video.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&lt;/video&gt;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822317"/>
            <a:ext cx="11130991" cy="1505331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audio-vide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0459" y="4932045"/>
            <a:ext cx="1410777" cy="12858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DATA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Tables: &lt;table&gt;, &lt;tr&gt;, &lt;th&gt;, &lt;td&gt;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91765"/>
          </a:xfrm>
          <a:prstGeom prst="roundRect">
            <a:avLst>
              <a:gd name="adj" fmla="val 271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3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&lt;table&gt;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&lt;thead&gt;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&lt;tr&gt;&lt;th&gt;Name&lt;/th&gt;&lt;th&gt;Course&lt;/th&gt;&lt;th&gt;Grade&lt;/th&gt;&lt;/tr&gt;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&lt;/thead&gt;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&lt;tbody&gt;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&lt;tr&gt;&lt;td&gt;Ali&lt;/td&gt;&lt;td&gt;CSC336&lt;/td&gt;&lt;td&gt;A&lt;/td&gt;&lt;/tr&gt;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&lt;tr&gt;&lt;td&gt;Sara&lt;/td&gt;&lt;td&gt;CSC336&lt;/td&gt;&lt;td&gt;A+&lt;/td&gt;&lt;/tr&gt;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&lt;/tbody&gt;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&lt;/table&gt;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822317"/>
            <a:ext cx="11130991" cy="1505331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ta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48100" y="4932045"/>
            <a:ext cx="2695495" cy="12858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Unordered, Ordered, and Description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063240"/>
          </a:xfrm>
          <a:prstGeom prst="roundRect">
            <a:avLst>
              <a:gd name="adj" fmla="val 238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&lt;li&gt;HTML&lt;/li&gt;&lt;li&gt;CSS&lt;/li&gt;&lt;li&gt;JavaScript&lt;/li&gt;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&lt;ol&gt;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&lt;li&gt;Write the HTML&lt;/li&gt;&lt;li&gt;Add CSS styling&lt;/li&gt;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&lt;/ol&gt;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&lt;dl&gt;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&lt;dt&gt;HTML&lt;/dt&gt;&lt;dd&gt;The markup language...&lt;/dd&gt;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&lt;/dl&gt;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0352" y="5193792"/>
            <a:ext cx="11130991" cy="1133856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3/li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0187" y="5303520"/>
            <a:ext cx="1651322" cy="914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Closer Look: Description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77390"/>
          </a:xfrm>
          <a:prstGeom prst="roundRect">
            <a:avLst>
              <a:gd name="adj" fmla="val 3699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520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&lt;dl&gt;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&lt;dt&gt;HTML&lt;/dt&gt;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&lt;dd&gt;The markup language used to structure web pages.&lt;/dd&gt;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&lt;dt&gt;CSS&lt;/dt&gt;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&lt;dd&gt;The language used to style web pages.&lt;/dd&gt;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&lt;/dl&gt;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4107942"/>
            <a:ext cx="11130991" cy="2219706"/>
          </a:xfrm>
          <a:prstGeom prst="roundRect">
            <a:avLst>
              <a:gd name="adj" fmla="val 247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description-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7076" y="4217670"/>
            <a:ext cx="9437543" cy="20002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Lists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&lt;li&gt;Front End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&lt;li&gt;HTML&lt;/li&gt;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&lt;li&gt;CSS&lt;/li&gt;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&lt;li&gt;Back End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&lt;li&gt;Node.js&lt;/li&gt;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&lt;li&gt;Express&lt;/li&gt;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&lt;/li&gt;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&lt;/ul&gt;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30352" y="5346192"/>
            <a:ext cx="11130991" cy="981456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slides/assets/lecture-03/nested-lis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0210" y="5455920"/>
            <a:ext cx="691275" cy="7620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Nested List Rules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&lt;ul&gt;/&lt;ol&gt; goes inside the &lt;li&gt; of the item it belongs under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nested &lt;ol&gt; restarts its own numbering from 1, independent of the level above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 change bullet style (disc → circle → square) at each nesting depth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HTML5 Added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layout: header, nav, main, section, article, aside, footer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audio, video, source, track — no plugins required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Graphics: canvas and native svg support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attributes: placeholder, required, pattern, data-*, contenteditable, draggable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SUPPORT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Progressive Enhancement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browser supports every HTML5 feature. Check caniuse.com before relying on a newer one, and design your page so it still works reasonably well in older browsers while enhancing the experience for those that support more.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3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tag has an opening tag, content, and a closing tag; attributes live inside the opening tag; comments and attributes never appear in the rendered page.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elements (br, img) have no closing tag; nesting must close in reverse order.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Block-level elements stack and fill width; inline elements flow within text.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&lt;font&gt; tag is obsolete — use CSS for all styling instead.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&lt;pre&gt;/&lt;code&gt; handle technical text; entities (&amp;lt; &amp;nbsp;) represent characters HTML can't take literally.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has three list types — unordered, ordered, description (&lt;dl&gt;) — and any of them can be nested.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HTML and HTML5 Fundamentals</dc:title>
  <dc:subject>CSC336 Web Technologies</dc:subject>
  <dc:creator>Usman Akram</dc:creator>
  <cp:lastModifiedBy>Usman Akram</cp:lastModifiedBy>
  <cp:revision>1</cp:revision>
  <dcterms:created xsi:type="dcterms:W3CDTF">2026-09-13T17:43:14Z</dcterms:created>
  <dcterms:modified xsi:type="dcterms:W3CDTF">2026-09-13T17:43:14Z</dcterms:modified>
</cp:coreProperties>
</file>
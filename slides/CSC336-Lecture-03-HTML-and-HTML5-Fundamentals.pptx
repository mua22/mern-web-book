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and HTML5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ingredients of every website: structure, text, links, images, tables, and lists.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role of markup languages, and the anatomy of an HTML tag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HTML's document structure, elements, attributes, nesting rules, and void elements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text formatting, and why the old &lt;font&gt; tag is obsolete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and other technical text tags, plus HTML entities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 (internal vs. external), images (including image links), audio, video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all three list types (including nested lists), and what HTML5 added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Markup Language?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HyperText — text that contains links to other text or pages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— the text is annotated with tags describing its structure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— a shared grammar every browser agrees to follow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is NOT a programming language — no variables, loops, or conditions; it only describes structure and content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an HTML Tag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1206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start of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class="intro"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info, written inside the opening tag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Hello, World!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sits between the opening and closing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&lt;/p&gt;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end — note the forward slash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&lt;!-- note --&gt;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Ignored by the browser, visible only in the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(self-closing)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content, and so no closing tag at 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Example: Hello, World!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133856"/>
          </a:xfrm>
          <a:prstGeom prst="roundRect">
            <a:avLst>
              <a:gd name="adj" fmla="val 645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This is a comment: the browser ignores it --&gt;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class="intro" id="greeting"&gt;Hello, World!&lt;/p&gt;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264408"/>
            <a:ext cx="11130991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hello-wor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2648" y="4064508"/>
            <a:ext cx="548640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Document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77440"/>
          </a:xfrm>
          <a:prstGeom prst="roundRect">
            <a:avLst>
              <a:gd name="adj" fmla="val 307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 lang="en"&gt;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&lt;meta charset="UTF-8"&gt;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&lt;title&gt;My First Page&lt;/title&gt;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&lt;h1&gt;Hello, Web!&lt;/h1&gt;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&lt;p&gt;This is my first HTML page.&lt;/p&gt;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07992"/>
            <a:ext cx="11130991" cy="1819656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doc-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8931" y="4617720"/>
            <a:ext cx="3713833" cy="1600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(Self-Closing) Elements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line break within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&lt;hr&gt;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thematic divider line between sections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&lt;img&gt;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Embeds an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&lt;input&gt;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form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&lt;meta&gt; / &lt;link&gt;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metadata / an external resource, used inside &lt;head&gt;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have no content and therefore no closing tag — &lt;div&gt;&lt;/div&gt; is NOT void, it just happens to be empty.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Elements,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19072"/>
          </a:xfrm>
          <a:prstGeom prst="roundRect">
            <a:avLst>
              <a:gd name="adj" fmla="val 425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src="cat.jpg" alt="A photo of a cat"&gt;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type="text"&gt;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49624"/>
            <a:ext cx="11130991" cy="2478024"/>
          </a:xfrm>
          <a:prstGeom prst="roundRect">
            <a:avLst>
              <a:gd name="adj" fmla="val 221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void-el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23232"/>
            <a:ext cx="10911535" cy="15308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Block-Level vs. Inline Elements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a new line?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flows with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available width?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by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only as wide as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h1-h6, p, div, ul,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strong, em, span, img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vs. Inline,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04288"/>
          </a:xfrm>
          <a:prstGeom prst="roundRect">
            <a:avLst>
              <a:gd name="adj" fmla="val 31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&lt;h1&gt;Page Title&lt;/h1&gt;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is a paragraph.&lt;/p&gt;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is another paragraph, on its own line below.&lt;/p&gt;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word is &lt;strong&gt;important&lt;/strong&gt;, and this is a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href="#"&gt;link&lt;/a&gt; in the middle of a sentence.&lt;/p&gt;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434840"/>
            <a:ext cx="11130991" cy="1892808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block-in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0084" y="4544568"/>
            <a:ext cx="6971527" cy="1673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Attributes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unique identifier for one specific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name(s) shared by many elements, for CSS/JS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 shown as a tooltip on hover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CSS applied to just this one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(human) language of this element's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 attribute for attaching your own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attributes (required, checked, disabled) need no ="value" — present means true, absent means false.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04288"/>
          </a:xfrm>
          <a:prstGeom prst="roundRect">
            <a:avLst>
              <a:gd name="adj" fmla="val 31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href="https://www.comsats.edu.pk" target="_blank"&gt;Visit COMSATS&lt;/a&gt;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&lt;p&gt;Founded in 1998, &lt;abbr title="World Wide Web Consortium"&gt;W3C&lt;/abbr&gt; sets web standards.&lt;/p&gt;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style="color: red;"&gt;Urgent&lt;/p&gt;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type="text" required placeholder="required field"&gt;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type="checkbox" checked&gt; Subscribe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disabled&gt;Can't click me&lt;/button&gt;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434840"/>
            <a:ext cx="11130991" cy="1892808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attribut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0562" y="4544568"/>
            <a:ext cx="4530572" cy="1673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26464"/>
          </a:xfrm>
          <a:prstGeom prst="roundRect">
            <a:avLst>
              <a:gd name="adj" fmla="val 51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&lt;h1&gt;Chapter Title&lt;/h1&gt;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&lt;h2&gt;Section Heading&lt;/h2&gt;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&lt;h3&gt;Sub-section Heading&lt;/h3&gt;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557016"/>
            <a:ext cx="11130991" cy="2770632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hea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75845" y="3666744"/>
            <a:ext cx="3840005" cy="255117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Formatting Elements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04288"/>
          </a:xfrm>
          <a:prstGeom prst="roundRect">
            <a:avLst>
              <a:gd name="adj" fmla="val 31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&lt;strong&gt;Warning&lt;/strong&gt;: this is &lt;em&gt;really&lt;/em&gt; important.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&lt;b&gt;Bold text&lt;/b&gt; and &lt;i&gt;Italic text&lt;/i&gt;.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&lt;mark&gt;highlighted&lt;/mark&gt; text, and &lt;small&gt;terms apply&lt;/small&gt;.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H&lt;sub&gt;2&lt;/sub&gt;O and x&lt;sup&gt;2&lt;/sup&gt;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one&lt;br&gt;Line two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&lt;hr&gt;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434840"/>
            <a:ext cx="11130991" cy="1892808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text-forma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0525" y="4544568"/>
            <a:ext cx="5710646" cy="1673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&lt;font&gt;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26464"/>
          </a:xfrm>
          <a:prstGeom prst="roundRect">
            <a:avLst>
              <a:gd name="adj" fmla="val 51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color="red" size="5" face="Arial"&gt;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text is red, size 5, Arial font.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&lt;/font&gt;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557016"/>
            <a:ext cx="11130991" cy="2770632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font-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74279"/>
            <a:ext cx="10911535" cy="13361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Don't Use &lt;font&gt;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Mixes structure with appearance — HTML should describe what something is, not how it looks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scale — changing 50 pages means editing 50 pages, not one CSS rule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responsive or interactive ability — can't change on hover, on a smaller screen, or in dark mode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validation — flagged as an error by the W3C Markup Validator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&lt;pre&gt;, &lt;code&gt;, and Related Tags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&lt;pre&gt;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Preformatted text — preserves every space and line break,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&lt;code&gt;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inline snippet of computer code,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&lt;kbd&gt;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input — a key the user should 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&lt;samp&gt;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output from a program or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&lt;var&gt;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variable name or placeholder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&lt;blockquote&gt;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longer, block-level quotation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Text Tags,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77440"/>
          </a:xfrm>
          <a:prstGeom prst="roundRect">
            <a:avLst>
              <a:gd name="adj" fmla="val 307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&lt;pre&gt;function greet()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console.log("Hello!");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}&lt;/pre&gt;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&lt;p&gt;Use the &lt;code&gt;console.log()&lt;/code&gt; function.&lt;/p&gt;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&lt;p&gt;Press &lt;kbd&gt;Ctrl&lt;/kbd&gt; + &lt;kbd&gt;C&lt;/kbd&gt; to copy.&lt;/p&gt;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&lt;p&gt;Printed: &lt;samp&gt;Build succeeded&lt;/samp&gt;&lt;/p&gt;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&lt;p&gt;Replace &lt;var&gt;filename&lt;/var&gt; with your own.&lt;/p&gt;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&lt;blockquote&gt;The Web connects people.&lt;/blockquote&gt;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07992"/>
            <a:ext cx="11130991" cy="1819656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pre-code-ta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1160" y="4617720"/>
            <a:ext cx="3609376" cy="1600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Entities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6949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You Need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&lt; would start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&gt; would end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&amp; would start another 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&amp;nbsp;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space)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non-breaking space — never wraps a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&amp;copy;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on most keyboards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&amp;mdash;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em dash, longer than a hyphen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26464"/>
          </a:xfrm>
          <a:prstGeom prst="roundRect">
            <a:avLst>
              <a:gd name="adj" fmla="val 51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&lt;p&gt;5 &amp;lt; 10 and 10 &amp;gt; 5&lt;/p&gt;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&lt;p&gt;Copyright &amp;copy; 2025 &amp;mdash; All rights reserved&lt;/p&gt;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&lt;p&gt;Click&amp;nbsp;Here&amp;nbsp;Now (no line break allowed)&lt;/p&gt;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557016"/>
            <a:ext cx="11130991" cy="2770632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ent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60878"/>
            <a:ext cx="10911535" cy="21629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and External Links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(ABSOLUTE URL)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address, including https:// and the domain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a page on a DIFFERENT website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target="_blank" + rel="noopener noreferrer" opens safely in a new tab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(RELATIVE URL)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relative to the current page — no domain name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pages within YOUR OWN 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domain move, since it never contained the domain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363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href="https://en.wikipedia.org/wiki/HTML"&gt;HTML on Wikipedia&lt;/a&gt;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href="https://www.comsats.edu.pk" target="_blank" rel="noopener noreferrer"&gt;Visit COMSATS (new tab)&lt;/a&gt;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href="about.html"&gt;About Us&lt;/a&gt;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href="pages/contact.html"&gt;Contact (in a subfolder)&lt;/a&gt;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href="../index.html"&gt;Back to home (one folder up)&lt;/a&gt;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42232"/>
            <a:ext cx="11130991" cy="2185416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5589" y="4251960"/>
            <a:ext cx="2600517" cy="1965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&lt;img&gt; Element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41248"/>
          </a:xfrm>
          <a:prstGeom prst="roundRect">
            <a:avLst>
              <a:gd name="adj" fmla="val 869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src="images/logo.png" alt="COMSATS logo" width="200" height="80"&gt;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2971800"/>
            <a:ext cx="11130991" cy="3355848"/>
          </a:xfrm>
          <a:prstGeom prst="roundRect">
            <a:avLst>
              <a:gd name="adj" fmla="val 163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im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8195" y="3081528"/>
            <a:ext cx="6755306" cy="31363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 and Video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77440"/>
          </a:xfrm>
          <a:prstGeom prst="roundRect">
            <a:avLst>
              <a:gd name="adj" fmla="val 307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&lt;audio controls&gt;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&lt;source src="song.mp3" type="audio/mpeg"&gt;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Your browser does not support audio.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&lt;/audio&gt;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&lt;video width="480" controls&gt;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&lt;source src="movie.mp4" type="video/mp4"&gt;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Your browser does not support video.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&lt;/video&gt;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07992"/>
            <a:ext cx="11130991" cy="1819656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audio-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8031" y="4617720"/>
            <a:ext cx="1755633" cy="1600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Tables: &lt;table&gt;, &lt;tr&gt;, &lt;th&gt;, &lt;td&gt;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77440"/>
          </a:xfrm>
          <a:prstGeom prst="roundRect">
            <a:avLst>
              <a:gd name="adj" fmla="val 307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&lt;tr&gt;&lt;th&gt;Name&lt;/th&gt;&lt;th&gt;Course&lt;/th&gt;&lt;th&gt;Grade&lt;/th&gt;&lt;/tr&gt;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&lt;tr&gt;&lt;td&gt;Ali&lt;/td&gt;&lt;td&gt;CSC336&lt;/td&gt;&lt;td&gt;A&lt;/td&gt;&lt;/tr&gt;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&lt;tr&gt;&lt;td&gt;Sara&lt;/td&gt;&lt;td&gt;CSC336&lt;/td&gt;&lt;td&gt;A+&lt;/td&gt;&lt;/tr&gt;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07992"/>
            <a:ext cx="11130991" cy="1819656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t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8651" y="4617720"/>
            <a:ext cx="3354394" cy="1600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Unordered, Ordered, and Description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77440"/>
          </a:xfrm>
          <a:prstGeom prst="roundRect">
            <a:avLst>
              <a:gd name="adj" fmla="val 307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&lt;li&gt;HTML&lt;/li&gt;&lt;li&gt;CSS&lt;/li&gt;&lt;li&gt;JavaScript&lt;/li&gt;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&lt;ol&gt;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&lt;li&gt;Write the HTML&lt;/li&gt;&lt;li&gt;Add CSS styling&lt;/li&gt;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&lt;/ol&gt;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&lt;dt&gt;HTML&lt;/dt&gt;&lt;dd&gt;The markup language...&lt;/dd&gt;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&lt;/dl&gt;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07992"/>
            <a:ext cx="11130991" cy="1819656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li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0941" y="4617720"/>
            <a:ext cx="2889813" cy="1600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Closer Look: Description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04288"/>
          </a:xfrm>
          <a:prstGeom prst="roundRect">
            <a:avLst>
              <a:gd name="adj" fmla="val 31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&lt;dt&gt;HTML&lt;/dt&gt;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&lt;dd&gt;The markup language used to structure web pages.&lt;/dd&gt;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&lt;dt&gt;CSS&lt;/dt&gt;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&lt;dd&gt;The language used to style web pages.&lt;/dd&gt;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&lt;/dl&gt;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434840"/>
            <a:ext cx="11130991" cy="1892808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description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258" y="4544568"/>
            <a:ext cx="7895179" cy="16733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377440"/>
          </a:xfrm>
          <a:prstGeom prst="roundRect">
            <a:avLst>
              <a:gd name="adj" fmla="val 307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&lt;li&gt;Front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&lt;li&gt;HTML&lt;/li&gt;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&lt;li&gt;CSS&lt;/li&gt;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&lt;li&gt;Back End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&lt;li&gt;Node.js&lt;/li&gt;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&lt;li&gt;Express&lt;/li&gt;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07992"/>
            <a:ext cx="11130991" cy="1819656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li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0941" y="4617720"/>
            <a:ext cx="2889813" cy="1600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&lt;ul&gt;/&lt;ol&gt; goes inside the &lt;li&gt; of the item it belongs under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&lt;ol&gt; restarts its own numbering from 1, independent of the level above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change bullet style (disc → circle → square) at each nesting depth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HTML5 Added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layout: header, nav, main, section, article, aside, footer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audio, video, source, track — no plugins required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Graphics: canvas and native svg support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attributes: placeholder, required, pattern, data-*, contenteditable, draggable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SUPPORT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Progressive Enhancement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browser supports every HTML5 feature. Check caniuse.com before relying on a newer one, and design your page so it still works reasonably well in older browsers while enhancing the experience for those that support more.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3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tag has an opening tag, content, and a closing tag; attributes live inside the opening tag; comments and attributes never appear in the rendered page.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(br, img) have no closing tag; nesting must close in reverse order.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Block-level elements stack and fill width; inline elements flow within text.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&lt;font&gt; tag is obsolete — use CSS for all styling instead.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handle technical text; entities (&amp;lt; &amp;nbsp;) represent characters HTML can't take literally.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has three list types — unordered, ordered, description (&lt;dl&gt;) — and any of them can be nested.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HTML and HTML5 Fundamentals</dc:title>
  <dc:subject>CSC336 Web Technologies</dc:subject>
  <dc:creator>Usman Akram</dc:creator>
  <cp:lastModifiedBy>Usman Akram</cp:lastModifiedBy>
  <cp:revision>1</cp:revision>
  <dcterms:created xsi:type="dcterms:W3CDTF">2026-09-13T17:20:13Z</dcterms:created>
  <dcterms:modified xsi:type="dcterms:W3CDTF">2026-09-13T17:20:13Z</dcterms:modified>
</cp:coreProperties>
</file>
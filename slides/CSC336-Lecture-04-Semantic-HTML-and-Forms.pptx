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4</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Semantic HTML</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and HTML Forms</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Organizing a page so it means something — to humans, browsers, and search engines — and collecting user input.</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Block-level vs. inline elements, and the generic &lt;div&gt;/&lt;span&gt;</a:t>
            </a:r>
            <a:endParaRPr lang="en-US" sz="1500" dirty="0"/>
          </a:p>
        </p:txBody>
      </p:sp>
      <p:sp>
        <p:nvSpPr>
          <p:cNvPr id="7" name="Shape 5"/>
          <p:cNvSpPr/>
          <p:nvPr/>
        </p:nvSpPr>
        <p:spPr>
          <a:xfrm>
            <a:off x="685800" y="2679192"/>
            <a:ext cx="457200" cy="457200"/>
          </a:xfrm>
          <a:prstGeom prst="ellipse">
            <a:avLst/>
          </a:prstGeom>
          <a:solidFill>
            <a:srgbClr val="FF8A3D"/>
          </a:solidFill>
          <a:ln/>
        </p:spPr>
      </p:sp>
      <p:sp>
        <p:nvSpPr>
          <p:cNvPr id="8" name="Text 6"/>
          <p:cNvSpPr txBox="1"/>
          <p:nvPr/>
        </p:nvSpPr>
        <p:spPr>
          <a:xfrm>
            <a:off x="685800" y="2679192"/>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606040"/>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HTML5 semantic elements, and why they matter for accessibility and SEO</a:t>
            </a:r>
            <a:endParaRPr lang="en-US" sz="1500" dirty="0"/>
          </a:p>
        </p:txBody>
      </p:sp>
      <p:sp>
        <p:nvSpPr>
          <p:cNvPr id="10" name="Shape 8"/>
          <p:cNvSpPr/>
          <p:nvPr/>
        </p:nvSpPr>
        <p:spPr>
          <a:xfrm>
            <a:off x="685800" y="3392424"/>
            <a:ext cx="457200" cy="457200"/>
          </a:xfrm>
          <a:prstGeom prst="ellipse">
            <a:avLst/>
          </a:prstGeom>
          <a:solidFill>
            <a:srgbClr val="FF8A3D"/>
          </a:solidFill>
          <a:ln/>
        </p:spPr>
      </p:sp>
      <p:sp>
        <p:nvSpPr>
          <p:cNvPr id="11" name="Text 9"/>
          <p:cNvSpPr txBox="1"/>
          <p:nvPr/>
        </p:nvSpPr>
        <p:spPr>
          <a:xfrm>
            <a:off x="685800" y="3392424"/>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319272"/>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Build forms: &lt;form&gt;, action/method — including a real Google search GET form</a:t>
            </a:r>
            <a:endParaRPr lang="en-US" sz="1500" dirty="0"/>
          </a:p>
        </p:txBody>
      </p:sp>
      <p:sp>
        <p:nvSpPr>
          <p:cNvPr id="13" name="Shape 11"/>
          <p:cNvSpPr/>
          <p:nvPr/>
        </p:nvSpPr>
        <p:spPr>
          <a:xfrm>
            <a:off x="685800" y="4105656"/>
            <a:ext cx="457200" cy="457200"/>
          </a:xfrm>
          <a:prstGeom prst="ellipse">
            <a:avLst/>
          </a:prstGeom>
          <a:solidFill>
            <a:srgbClr val="FF8A3D"/>
          </a:solidFill>
          <a:ln/>
        </p:spPr>
      </p:sp>
      <p:sp>
        <p:nvSpPr>
          <p:cNvPr id="14" name="Text 12"/>
          <p:cNvSpPr txBox="1"/>
          <p:nvPr/>
        </p:nvSpPr>
        <p:spPr>
          <a:xfrm>
            <a:off x="685800" y="4105656"/>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032504"/>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&lt;input&gt; types, &lt;select&gt;, &lt;textarea&gt;, &lt;button&gt;</a:t>
            </a:r>
            <a:endParaRPr lang="en-US" sz="1500" dirty="0"/>
          </a:p>
        </p:txBody>
      </p:sp>
      <p:sp>
        <p:nvSpPr>
          <p:cNvPr id="16" name="Shape 14"/>
          <p:cNvSpPr/>
          <p:nvPr/>
        </p:nvSpPr>
        <p:spPr>
          <a:xfrm>
            <a:off x="685800" y="4818888"/>
            <a:ext cx="457200" cy="457200"/>
          </a:xfrm>
          <a:prstGeom prst="ellipse">
            <a:avLst/>
          </a:prstGeom>
          <a:solidFill>
            <a:srgbClr val="FF8A3D"/>
          </a:solidFill>
          <a:ln/>
        </p:spPr>
      </p:sp>
      <p:sp>
        <p:nvSpPr>
          <p:cNvPr id="17" name="Text 15"/>
          <p:cNvSpPr txBox="1"/>
          <p:nvPr/>
        </p:nvSpPr>
        <p:spPr>
          <a:xfrm>
            <a:off x="685800" y="481888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371600" y="4745736"/>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Upload files with multipart/form-data</a:t>
            </a:r>
            <a:endParaRPr lang="en-US" sz="1500" dirty="0"/>
          </a:p>
        </p:txBody>
      </p:sp>
      <p:sp>
        <p:nvSpPr>
          <p:cNvPr id="19" name="Shape 17"/>
          <p:cNvSpPr/>
          <p:nvPr/>
        </p:nvSpPr>
        <p:spPr>
          <a:xfrm>
            <a:off x="685800" y="5532120"/>
            <a:ext cx="457200" cy="457200"/>
          </a:xfrm>
          <a:prstGeom prst="ellipse">
            <a:avLst/>
          </a:prstGeom>
          <a:solidFill>
            <a:srgbClr val="FF8A3D"/>
          </a:solidFill>
          <a:ln/>
        </p:spPr>
      </p:sp>
      <p:sp>
        <p:nvSpPr>
          <p:cNvPr id="20" name="Text 18"/>
          <p:cNvSpPr txBox="1"/>
          <p:nvPr/>
        </p:nvSpPr>
        <p:spPr>
          <a:xfrm>
            <a:off x="685800" y="5532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371600" y="54589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Client-side validation with required, pattern, min, max</a:t>
            </a:r>
            <a:endParaRPr lang="en-US" sz="150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LAYOUT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Block-Level vs. Inline (Recap)</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Block elements each claim their own line; inline elements flow within the surrounding text.</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is a block-level paragraph.&lt;/p&gt;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is another block — starts on its own line.&lt;/p&gt;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&lt;p&gt;This sentence has an &lt;strong&gt;inline bold word&lt;/strong&gt; and an</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&lt;a href="#"&gt;inline link&lt;/a&gt; in the flow of the text.&lt;/p&gt;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block-inline.png">    </p:cNvPr>
          <p:cNvPicPr>
            <a:picLocks noChangeAspect="1"/>
          </p:cNvPicPr>
          <p:nvPr/>
        </p:nvPicPr>
        <p:blipFill>
          <a:blip r:embed="rId1"/>
          <a:stretch>
            <a:fillRect/>
          </a:stretch>
        </p:blipFill>
        <p:spPr>
          <a:xfrm>
            <a:off x="640080" y="4351951"/>
            <a:ext cx="10911535" cy="1767882"/>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GENERIC CONTAINERS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Generic &lt;div&gt; and &lt;span&gt;</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&lt;div&gt; is a generic BLOCK container; &lt;span&gt; is a generic INLINE container — neither means anything on its own.</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 class="card"&gt;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&lt;p&gt;Some content wrapped in a div so it can be styled as a "card".&lt;/p&gt;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&lt;/div&gt;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&lt;p&gt;The price is &lt;span class="highlight-price"&gt;$25&lt;/span&gt; today only.&lt;/p&gt;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div-span.png">    </p:cNvPr>
          <p:cNvPicPr>
            <a:picLocks noChangeAspect="1"/>
          </p:cNvPicPr>
          <p:nvPr/>
        </p:nvPicPr>
        <p:blipFill>
          <a:blip r:embed="rId1"/>
          <a:stretch>
            <a:fillRect/>
          </a:stretch>
        </p:blipFill>
        <p:spPr>
          <a:xfrm>
            <a:off x="640080" y="4486558"/>
            <a:ext cx="10911535" cy="1498668"/>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Meaningless Divs vs. Semantic Tags</a:t>
            </a:r>
            <a:endParaRPr lang="en-US" sz="3400" dirty="0"/>
          </a:p>
        </p:txBody>
      </p:sp>
      <p:sp>
        <p:nvSpPr>
          <p:cNvPr id="4" name="Shape 2"/>
          <p:cNvSpPr/>
          <p:nvPr/>
        </p:nvSpPr>
        <p:spPr>
          <a:xfrm>
            <a:off x="640080" y="1965960"/>
            <a:ext cx="5341468" cy="4114800"/>
          </a:xfrm>
          <a:prstGeom prst="roundRect">
            <a:avLst>
              <a:gd name="adj" fmla="val 2000"/>
            </a:avLst>
          </a:prstGeom>
          <a:solidFill>
            <a:srgbClr val="F1F1F8"/>
          </a:solidFill>
          <a:ln w="12700">
            <a:solidFill>
              <a:srgbClr val="E2E2EE"/>
            </a:solidFill>
            <a:prstDash val="solid"/>
          </a:ln>
        </p:spPr>
      </p:sp>
      <p:sp>
        <p:nvSpPr>
          <p:cNvPr id="5" name="Text 3"/>
          <p:cNvSpPr txBox="1"/>
          <p:nvPr/>
        </p:nvSpPr>
        <p:spPr>
          <a:xfrm>
            <a:off x="896112" y="2194560"/>
            <a:ext cx="4829404" cy="365760"/>
          </a:xfrm>
          <a:prstGeom prst="rect">
            <a:avLst/>
          </a:prstGeom>
          <a:noFill/>
          <a:ln/>
        </p:spPr>
        <p:txBody>
          <a:bodyPr wrap="square" lIns="0" tIns="0" rIns="0" bIns="0" rtlCol="0" anchor="ctr"/>
          <a:lstStyle/>
          <a:p>
            <a:pPr indent="0" marL="0">
              <a:buNone/>
            </a:pPr>
            <a:r>
              <a:rPr lang="en-US" sz="1250" b="1" spc="150" kern="0" dirty="0">
                <a:solidFill>
                  <a:srgbClr val="2B2B7A"/>
                </a:solidFill>
                <a:latin typeface="Calibri" pitchFamily="34" charset="0"/>
                <a:ea typeface="Calibri" pitchFamily="34" charset="-122"/>
                <a:cs typeface="Calibri" pitchFamily="34" charset="-120"/>
              </a:rPr>
              <a:t>WITHOUT SEMANTICS (OLD STYLE)</a:t>
            </a:r>
            <a:endParaRPr lang="en-US" sz="1250" dirty="0"/>
          </a:p>
        </p:txBody>
      </p:sp>
      <p:sp>
        <p:nvSpPr>
          <p:cNvPr id="6" name="Text 4"/>
          <p:cNvSpPr txBox="1"/>
          <p:nvPr/>
        </p:nvSpPr>
        <p:spPr>
          <a:xfrm>
            <a:off x="896112"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class="main-content"&gt;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&lt;div class="footer"&gt;</a:t>
            </a:r>
            <a:endParaRPr lang="en-US" sz="1200" dirty="0"/>
          </a:p>
        </p:txBody>
      </p:sp>
      <p:sp>
        <p:nvSpPr>
          <p:cNvPr id="7" name="Shape 5"/>
          <p:cNvSpPr/>
          <p:nvPr/>
        </p:nvSpPr>
        <p:spPr>
          <a:xfrm>
            <a:off x="6210148" y="1965960"/>
            <a:ext cx="5341468" cy="4114800"/>
          </a:xfrm>
          <a:prstGeom prst="roundRect">
            <a:avLst>
              <a:gd name="adj" fmla="val 2000"/>
            </a:avLst>
          </a:prstGeom>
          <a:solidFill>
            <a:srgbClr val="F1F1F8"/>
          </a:solidFill>
          <a:ln w="12700">
            <a:solidFill>
              <a:srgbClr val="E2E2EE"/>
            </a:solidFill>
            <a:prstDash val="solid"/>
          </a:ln>
        </p:spPr>
      </p:sp>
      <p:sp>
        <p:nvSpPr>
          <p:cNvPr id="8" name="Text 6"/>
          <p:cNvSpPr txBox="1"/>
          <p:nvPr/>
        </p:nvSpPr>
        <p:spPr>
          <a:xfrm>
            <a:off x="6466180" y="2194560"/>
            <a:ext cx="4829404" cy="365760"/>
          </a:xfrm>
          <a:prstGeom prst="rect">
            <a:avLst/>
          </a:prstGeom>
          <a:noFill/>
          <a:ln/>
        </p:spPr>
        <p:txBody>
          <a:bodyPr wrap="square" lIns="0" tIns="0" rIns="0" bIns="0" rtlCol="0" anchor="ctr"/>
          <a:lstStyle/>
          <a:p>
            <a:pPr indent="0" marL="0">
              <a:buNone/>
            </a:pPr>
            <a:r>
              <a:rPr lang="en-US" sz="1250" b="1" spc="150" kern="0" dirty="0">
                <a:solidFill>
                  <a:srgbClr val="E67528"/>
                </a:solidFill>
                <a:latin typeface="Calibri" pitchFamily="34" charset="0"/>
                <a:ea typeface="Calibri" pitchFamily="34" charset="-122"/>
                <a:cs typeface="Calibri" pitchFamily="34" charset="-120"/>
              </a:rPr>
              <a:t>WITH SEMANTICS (HTML5)</a:t>
            </a:r>
            <a:endParaRPr lang="en-US" sz="1250" dirty="0"/>
          </a:p>
        </p:txBody>
      </p:sp>
      <p:sp>
        <p:nvSpPr>
          <p:cNvPr id="9" name="Text 7"/>
          <p:cNvSpPr txBox="1"/>
          <p:nvPr/>
        </p:nvSpPr>
        <p:spPr>
          <a:xfrm>
            <a:off x="6466180" y="2651760"/>
            <a:ext cx="4829404"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&lt;header&gt;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&lt;nav&gt;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&lt;main&gt;</a:t>
            </a:r>
            <a:endParaRPr lang="en-US" sz="1200" dirty="0"/>
          </a:p>
          <a:p>
            <a:pPr marL="342900" indent="-342900">
              <a:spcAft>
                <a:spcPts val="600"/>
              </a:spcAft>
              <a:buSzPct val="100000"/>
              <a:buChar char="•"/>
            </a:pPr>
            <a:r>
              <a:rPr lang="en-US" sz="1200" dirty="0">
                <a:solidFill>
                  <a:srgbClr val="26262F"/>
                </a:solidFill>
                <a:latin typeface="Calibri" pitchFamily="34" charset="0"/>
                <a:ea typeface="Calibri" pitchFamily="34" charset="-122"/>
                <a:cs typeface="Calibri" pitchFamily="34" charset="-120"/>
              </a:rPr>
              <a:t>&lt;footer&gt;</a:t>
            </a:r>
            <a:endParaRPr lang="en-US" sz="12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Main Semantic Elements</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Element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Represents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&lt;header&gt;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Introductory content — logo, title, nav</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&lt;nav&gt;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block of navigation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&lt;main&gt;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primary, unique content (only one per page)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&lt;section&gt; / &lt;article&gt;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themed grouping / self-contained standalone content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&lt;aside&gt;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Content tangentially related (a sidebar)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&lt;footer&gt;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Closing content — copyright, contact links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a:t>
            </a:r>
            <a:endParaRPr lang="en-US" sz="3400" dirty="0"/>
          </a:p>
        </p:txBody>
      </p:sp>
      <p:sp>
        <p:nvSpPr>
          <p:cNvPr id="4" name="Shape 2"/>
          <p:cNvSpPr/>
          <p:nvPr/>
        </p:nvSpPr>
        <p:spPr>
          <a:xfrm>
            <a:off x="640080" y="1965960"/>
            <a:ext cx="10911535" cy="2948940"/>
          </a:xfrm>
          <a:prstGeom prst="roundRect">
            <a:avLst>
              <a:gd name="adj" fmla="val 2481"/>
            </a:avLst>
          </a:prstGeom>
          <a:solidFill>
            <a:srgbClr val="1E1E4C"/>
          </a:solidFill>
          <a:ln/>
        </p:spPr>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&lt;header&gt;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&lt;h1&gt;My Tech Blog&lt;/h1&gt;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&lt;nav&gt;&lt;a href="/"&gt;Home&lt;/a&gt; &lt;a href="/about.html"&gt;About&lt;/a&gt;&lt;/nav&gt;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&lt;/header&gt;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&lt;main&gt;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&lt;article&gt;&lt;h2&gt;Why Semantic HTML Matters&lt;/h2&gt;&lt;p&gt;Semantic tags help everyone.&lt;/p&gt;&lt;/article&gt;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&lt;aside&gt;&lt;h3&gt;Related Posts&lt;/h3&gt;&lt;/aside&gt;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&lt;/main&gt;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&lt;footer&gt;&lt;p&gt;&amp;copy; 2026 My Tech Blog.&lt;/p&gt;&lt;/footer&gt;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SEMANTIC HTML</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Full Page Skeleton,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Semantic elements have no built-in visual style — but every section genuinely exists in the markup.</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mantic-skeleton.png">    </p:cNvPr>
          <p:cNvPicPr>
            <a:picLocks noChangeAspect="1"/>
          </p:cNvPicPr>
          <p:nvPr/>
        </p:nvPicPr>
        <p:blipFill>
          <a:blip r:embed="rId1"/>
          <a:stretch>
            <a:fillRect/>
          </a:stretch>
        </p:blipFill>
        <p:spPr>
          <a:xfrm>
            <a:off x="2221244" y="2331720"/>
            <a:ext cx="7749208"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IT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Accessibility and SEO</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Accessibility: screen readers use semantic tags to jump to navigation or skip to main content — a div-only page gives them nothing to work with</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SEO: search engines weight content inside &lt;article&gt;/&lt;main&gt;/headings more than anonymous &lt;div&gt;s</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Rule of thumb: reach for a semantic element first; fall back to &lt;div&gt;/&lt;span&gt; only when nothing else fits</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Basic Form</a:t>
            </a:r>
            <a:endParaRPr lang="en-US" sz="3400" dirty="0"/>
          </a:p>
        </p:txBody>
      </p:sp>
      <p:sp>
        <p:nvSpPr>
          <p:cNvPr id="4" name="Shape 2"/>
          <p:cNvSpPr/>
          <p:nvPr/>
        </p:nvSpPr>
        <p:spPr>
          <a:xfrm>
            <a:off x="640080" y="1965960"/>
            <a:ext cx="10911535" cy="2691765"/>
          </a:xfrm>
          <a:prstGeom prst="roundRect">
            <a:avLst>
              <a:gd name="adj" fmla="val 2718"/>
            </a:avLst>
          </a:prstGeom>
          <a:solidFill>
            <a:srgbClr val="1E1E4C"/>
          </a:solidFill>
          <a:ln/>
        </p:spPr>
      </p:sp>
      <p:sp>
        <p:nvSpPr>
          <p:cNvPr id="5" name="Text 3"/>
          <p:cNvSpPr txBox="1"/>
          <p:nvPr/>
        </p:nvSpPr>
        <p:spPr>
          <a:xfrm>
            <a:off x="960120" y="2194560"/>
            <a:ext cx="10271455" cy="22345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 action="/submit-login" method="POST"&gt;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for="username"&gt;Username:&lt;/label&gt;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type="text" id="username" name="username"&gt;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for="password"&gt;Password:&lt;/label&gt;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type="password" id="password" name="password"&gt;</a:t>
            </a:r>
            <a:endParaRPr lang="en-US" sz="1250" dirty="0"/>
          </a:p>
          <a:p>
            <a:pPr indent="0" marL="0">
              <a:lnSpc>
                <a:spcPct val="125000"/>
              </a:lnSpc>
              <a:buNone/>
            </a:pP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&lt;button type="submit"&gt;Log In&lt;/button&gt;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&lt;/form&gt;</a:t>
            </a:r>
            <a:endParaRPr lang="en-US" sz="1250" dirty="0"/>
          </a:p>
        </p:txBody>
      </p:sp>
      <p:sp>
        <p:nvSpPr>
          <p:cNvPr id="6" name="Shape 4"/>
          <p:cNvSpPr/>
          <p:nvPr/>
        </p:nvSpPr>
        <p:spPr>
          <a:xfrm>
            <a:off x="530352" y="4822317"/>
            <a:ext cx="11130991" cy="1505331"/>
          </a:xfrm>
          <a:prstGeom prst="roundRect">
            <a:avLst>
              <a:gd name="adj" fmla="val 3645"/>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7" name="Image 0" descr="D:/GitHub/mern-web-book/docs/assets/img/lecture-04/login-form.png">    </p:cNvPr>
          <p:cNvPicPr>
            <a:picLocks noChangeAspect="1"/>
          </p:cNvPicPr>
          <p:nvPr/>
        </p:nvPicPr>
        <p:blipFill>
          <a:blip r:embed="rId1"/>
          <a:stretch>
            <a:fillRect/>
          </a:stretch>
        </p:blipFill>
        <p:spPr>
          <a:xfrm>
            <a:off x="640080" y="5152810"/>
            <a:ext cx="10911535" cy="844345"/>
          </a:xfrm>
          <a:prstGeom prst="rect">
            <a:avLst/>
          </a:prstGeom>
        </p:spPr>
      </p:pic>
      <p:sp>
        <p:nvSpPr>
          <p:cNvPr id="8"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9"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HTML FORMS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action and method Attributes</a:t>
            </a:r>
            <a:endParaRPr lang="en-US" sz="3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8229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Meaning</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URL the form's data is sent to on submit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GET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Appends data to the URL as a query string — for searches, not sensitive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82296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method: POST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Sends data in the request body — for anything that creates/changes data, or is sensitive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SECURITY</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Never Use GET for Passwords</a:t>
            </a:r>
            <a:endParaRPr lang="en-US" sz="3400" dirty="0"/>
          </a:p>
        </p:txBody>
      </p:sp>
      <p:sp>
        <p:nvSpPr>
          <p:cNvPr id="4" name="Shape 2"/>
          <p:cNvSpPr/>
          <p:nvPr/>
        </p:nvSpPr>
        <p:spPr>
          <a:xfrm>
            <a:off x="640080" y="1965960"/>
            <a:ext cx="10911535" cy="1554480"/>
          </a:xfrm>
          <a:prstGeom prst="roundRect">
            <a:avLst>
              <a:gd name="adj" fmla="val 3529"/>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96012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GET puts form values directly into the URL, where they can end up saved in browser history, server logs, and shared links. Always use POST for passwords and other sensitive information.</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 REAL EXAMPLE</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Searching Google with a GET Form</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name="q" is the exact query-parameter name Google's search endpoint expects — submitting this form genuinely searches Google.</a:t>
            </a:r>
            <a:endParaRPr lang="en-US" sz="1350" dirty="0"/>
          </a:p>
        </p:txBody>
      </p:sp>
      <p:sp>
        <p:nvSpPr>
          <p:cNvPr id="5" name="Shape 3"/>
          <p:cNvSpPr/>
          <p:nvPr/>
        </p:nvSpPr>
        <p:spPr>
          <a:xfrm>
            <a:off x="640080" y="2240280"/>
            <a:ext cx="10911535" cy="1739265"/>
          </a:xfrm>
          <a:prstGeom prst="roundRect">
            <a:avLst>
              <a:gd name="adj" fmla="val 4206"/>
            </a:avLst>
          </a:prstGeom>
          <a:solidFill>
            <a:srgbClr val="1E1E4C"/>
          </a:solidFill>
          <a:ln/>
        </p:spPr>
      </p:sp>
      <p:sp>
        <p:nvSpPr>
          <p:cNvPr id="6" name="Text 4"/>
          <p:cNvSpPr txBox="1"/>
          <p:nvPr/>
        </p:nvSpPr>
        <p:spPr>
          <a:xfrm>
            <a:off x="960120" y="2468880"/>
            <a:ext cx="10271455" cy="128206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 action="https://www.google.com/search" method="GET"&gt;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&lt;label for="q"&gt;Search Google:&lt;/label&gt;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&lt;input type="text" id="q" name="q" placeholder="Type your search..."&gt;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    &lt;button type="submit"&gt;Search&lt;/button&gt;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&lt;/form&gt;</a:t>
            </a:r>
            <a:endParaRPr lang="en-US" sz="1250" dirty="0"/>
          </a:p>
        </p:txBody>
      </p:sp>
      <p:sp>
        <p:nvSpPr>
          <p:cNvPr id="7" name="Shape 5"/>
          <p:cNvSpPr/>
          <p:nvPr/>
        </p:nvSpPr>
        <p:spPr>
          <a:xfrm>
            <a:off x="530352" y="4144137"/>
            <a:ext cx="11130991" cy="2183511"/>
          </a:xfrm>
          <a:prstGeom prst="roundRect">
            <a:avLst>
              <a:gd name="adj" fmla="val 251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google-search-form.png">    </p:cNvPr>
          <p:cNvPicPr>
            <a:picLocks noChangeAspect="1"/>
          </p:cNvPicPr>
          <p:nvPr/>
        </p:nvPicPr>
        <p:blipFill>
          <a:blip r:embed="rId1"/>
          <a:stretch>
            <a:fillRect/>
          </a:stretch>
        </p:blipFill>
        <p:spPr>
          <a:xfrm>
            <a:off x="640080" y="4589503"/>
            <a:ext cx="10911535" cy="1292780"/>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Common &lt;input&gt; Types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194560"/>
                <a:gridCol w="8778240"/>
              </a:tblGrid>
              <a:tr h="512064">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Purpose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text / email / password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line of text, checked for an email shape, or hidden as dots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number / date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Numeric input with arrows / a date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checkbox / radio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An on/off box / a mutually-exclusive choice (same name)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file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Lets the user pick a file to upload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range / color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slider / a color picker</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12064">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submit / hidden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Submits the form / not shown, but sent along with the data</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&lt;input&gt; Type</a:t>
            </a:r>
            <a:endParaRPr lang="en-US" sz="3400" dirty="0"/>
          </a:p>
        </p:txBody>
      </p:sp>
      <p:sp>
        <p:nvSpPr>
          <p:cNvPr id="4" name="Shape 2"/>
          <p:cNvSpPr/>
          <p:nvPr/>
        </p:nvSpPr>
        <p:spPr>
          <a:xfrm>
            <a:off x="640080" y="1965960"/>
            <a:ext cx="10911535" cy="3749040"/>
          </a:xfrm>
          <a:prstGeom prst="roundRect">
            <a:avLst>
              <a:gd name="adj" fmla="val 1951"/>
            </a:avLst>
          </a:prstGeom>
          <a:solidFill>
            <a:srgbClr val="1E1E4C"/>
          </a:solidFill>
          <a:ln/>
        </p:spPr>
      </p:sp>
      <p:sp>
        <p:nvSpPr>
          <p:cNvPr id="5" name="Text 3"/>
          <p:cNvSpPr txBox="1"/>
          <p:nvPr/>
        </p:nvSpPr>
        <p:spPr>
          <a:xfrm>
            <a:off x="960120" y="2194560"/>
            <a:ext cx="10271455" cy="32918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type="text" name="fullname" placeholder="Full name"&gt;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type="email" name="email" placeholder="you@example.com"&gt;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type="password" name="password"&gt;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type="number" name="age" min="1" max="120"&gt;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type="date" name="birthday"&gt;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type="checkbox" name="subscribe" checked&gt;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type="radio" name="gender" value="male"&gt; Male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type="radio" name="gender" value="female"&gt; Female</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type="file" name="resume"&gt;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type="range" name="volume" min="0" max="100"&gt;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type="color" name="favcolor"&gt;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&lt;input type="submit" value="Send"&gt;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INPUT TYPES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Every Input Type,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Each type is a genuinely different native control — this is the browser doing most of the work for you.</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input-types.png">    </p:cNvPr>
          <p:cNvPicPr>
            <a:picLocks noChangeAspect="1"/>
          </p:cNvPicPr>
          <p:nvPr/>
        </p:nvPicPr>
        <p:blipFill>
          <a:blip r:embed="rId1"/>
          <a:stretch>
            <a:fillRect/>
          </a:stretch>
        </p:blipFill>
        <p:spPr>
          <a:xfrm>
            <a:off x="5156959" y="2331720"/>
            <a:ext cx="1877778" cy="384048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multipart/form-data</a:t>
            </a:r>
            <a:endParaRPr lang="en-US" sz="3400" dirty="0"/>
          </a:p>
        </p:txBody>
      </p:sp>
      <p:sp>
        <p:nvSpPr>
          <p:cNvPr id="4" name="Shape 2"/>
          <p:cNvSpPr/>
          <p:nvPr/>
        </p:nvSpPr>
        <p:spPr>
          <a:xfrm>
            <a:off x="685800" y="2185416"/>
            <a:ext cx="82296" cy="82296"/>
          </a:xfrm>
          <a:prstGeom prst="ellipse">
            <a:avLst/>
          </a:prstGeom>
          <a:solidFill>
            <a:srgbClr val="FF8A3D"/>
          </a:solidFill>
          <a:ln/>
        </p:spPr>
      </p:sp>
      <p:sp>
        <p:nvSpPr>
          <p:cNvPr id="5" name="Text 3"/>
          <p:cNvSpPr txBox="1"/>
          <p:nvPr/>
        </p:nvSpPr>
        <p:spPr>
          <a:xfrm>
            <a:off x="960120" y="189280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file's raw bytes can't fit in a URL — file uploads require method="POST"</a:t>
            </a:r>
            <a:endParaRPr lang="en-US" sz="1500" dirty="0"/>
          </a:p>
        </p:txBody>
      </p:sp>
      <p:sp>
        <p:nvSpPr>
          <p:cNvPr id="6" name="Shape 4"/>
          <p:cNvSpPr/>
          <p:nvPr/>
        </p:nvSpPr>
        <p:spPr>
          <a:xfrm>
            <a:off x="685800" y="3008376"/>
            <a:ext cx="82296" cy="82296"/>
          </a:xfrm>
          <a:prstGeom prst="ellipse">
            <a:avLst/>
          </a:prstGeom>
          <a:solidFill>
            <a:srgbClr val="FF8A3D"/>
          </a:solidFill>
          <a:ln/>
        </p:spPr>
      </p:sp>
      <p:sp>
        <p:nvSpPr>
          <p:cNvPr id="7" name="Text 5"/>
          <p:cNvSpPr txBox="1"/>
          <p:nvPr/>
        </p:nvSpPr>
        <p:spPr>
          <a:xfrm>
            <a:off x="960120" y="271576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enctype="multipart/form-data" switches the request body format so text fields and raw file bytes can travel together</a:t>
            </a:r>
            <a:endParaRPr lang="en-US" sz="1500" dirty="0"/>
          </a:p>
        </p:txBody>
      </p:sp>
      <p:sp>
        <p:nvSpPr>
          <p:cNvPr id="8" name="Shape 6"/>
          <p:cNvSpPr/>
          <p:nvPr/>
        </p:nvSpPr>
        <p:spPr>
          <a:xfrm>
            <a:off x="685800" y="3831336"/>
            <a:ext cx="82296" cy="82296"/>
          </a:xfrm>
          <a:prstGeom prst="ellipse">
            <a:avLst/>
          </a:prstGeom>
          <a:solidFill>
            <a:srgbClr val="FF8A3D"/>
          </a:solidFill>
          <a:ln/>
        </p:spPr>
      </p:sp>
      <p:sp>
        <p:nvSpPr>
          <p:cNvPr id="9" name="Text 7"/>
          <p:cNvSpPr txBox="1"/>
          <p:nvPr/>
        </p:nvSpPr>
        <p:spPr>
          <a:xfrm>
            <a:off x="960120" y="3538728"/>
            <a:ext cx="1059149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accept is a filter hint for the file picker, not a security check — the server must always re-validate the uploaded file</a:t>
            </a:r>
            <a:endParaRPr lang="en-US" sz="1500" dirty="0"/>
          </a:p>
        </p:txBody>
      </p:sp>
      <p:sp>
        <p:nvSpPr>
          <p:cNvPr id="10" name="Text 8"/>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9"/>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FILE UPLOADS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multipart/form-data Looks Like</a:t>
            </a:r>
            <a:endParaRPr lang="en-US" sz="3400" dirty="0"/>
          </a:p>
        </p:txBody>
      </p:sp>
      <p:sp>
        <p:nvSpPr>
          <p:cNvPr id="4" name="Shape 2"/>
          <p:cNvSpPr/>
          <p:nvPr/>
        </p:nvSpPr>
        <p:spPr>
          <a:xfrm>
            <a:off x="640080" y="1965960"/>
            <a:ext cx="10911535" cy="2682240"/>
          </a:xfrm>
          <a:prstGeom prst="roundRect">
            <a:avLst>
              <a:gd name="adj" fmla="val 2727"/>
            </a:avLst>
          </a:prstGeom>
          <a:solidFill>
            <a:srgbClr val="1E1E4C"/>
          </a:solidFill>
          <a:ln/>
        </p:spPr>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POST /upload-resume HTTP/1.1</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Content-Type: multipart/form-data; boundary=----Bnd123</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Content-Disposition: form-data; name="resume"; filename="cv.pdf"</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%PDF-1.4 ...(raw binary bytes)...</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------Bnd123--</a:t>
            </a:r>
            <a:endParaRPr lang="en-US" sz="1400" dirty="0"/>
          </a:p>
        </p:txBody>
      </p:sp>
      <p:sp>
        <p:nvSpPr>
          <p:cNvPr id="6" name="Text 4"/>
          <p:cNvSpPr txBox="1"/>
          <p:nvPr/>
        </p:nvSpPr>
        <p:spPr>
          <a:xfrm>
            <a:off x="640080" y="4876800"/>
            <a:ext cx="10911535" cy="13868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Node.js/Express (with multer) parses this format for you automatically — you'll never write boundary-splitting code by hand.</a:t>
            </a:r>
            <a:endParaRPr lang="en-US" sz="130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&lt;textarea&gt;, and &lt;button&gt;</a:t>
            </a:r>
            <a:endParaRPr lang="en-US" sz="3400" dirty="0"/>
          </a:p>
        </p:txBody>
      </p:sp>
      <p:sp>
        <p:nvSpPr>
          <p:cNvPr id="4" name="Shape 2"/>
          <p:cNvSpPr/>
          <p:nvPr/>
        </p:nvSpPr>
        <p:spPr>
          <a:xfrm>
            <a:off x="685800" y="1965960"/>
            <a:ext cx="457200" cy="457200"/>
          </a:xfrm>
          <a:prstGeom prst="ellipse">
            <a:avLst/>
          </a:prstGeom>
          <a:solidFill>
            <a:srgbClr val="FF8A3D"/>
          </a:solidFill>
          <a:ln/>
        </p:spPr>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&lt;select&gt; + &lt;option&gt; creates a dropdown; the selected attribute pre-picks one</a:t>
            </a:r>
            <a:endParaRPr lang="en-US" sz="1500" dirty="0"/>
          </a:p>
        </p:txBody>
      </p:sp>
      <p:sp>
        <p:nvSpPr>
          <p:cNvPr id="7" name="Shape 5"/>
          <p:cNvSpPr/>
          <p:nvPr/>
        </p:nvSpPr>
        <p:spPr>
          <a:xfrm>
            <a:off x="685800" y="2788920"/>
            <a:ext cx="457200" cy="457200"/>
          </a:xfrm>
          <a:prstGeom prst="ellipse">
            <a:avLst/>
          </a:prstGeom>
          <a:solidFill>
            <a:srgbClr val="FF8A3D"/>
          </a:solidFill>
          <a:ln/>
        </p:spPr>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&lt;textarea&gt; is a resizable, multi-line text box — its default text goes between the tags, not in a value attribute</a:t>
            </a:r>
            <a:endParaRPr lang="en-US" sz="1500" dirty="0"/>
          </a:p>
        </p:txBody>
      </p:sp>
      <p:sp>
        <p:nvSpPr>
          <p:cNvPr id="10" name="Shape 8"/>
          <p:cNvSpPr/>
          <p:nvPr/>
        </p:nvSpPr>
        <p:spPr>
          <a:xfrm>
            <a:off x="685800" y="3611880"/>
            <a:ext cx="457200" cy="457200"/>
          </a:xfrm>
          <a:prstGeom prst="ellipse">
            <a:avLst/>
          </a:prstGeom>
          <a:solidFill>
            <a:srgbClr val="FF8A3D"/>
          </a:solidFill>
          <a:ln/>
        </p:spPr>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&lt;button&gt; is more flexible than &lt;input type="submit"&gt; because it can contain other HTML</a:t>
            </a:r>
            <a:endParaRPr lang="en-US" sz="1500" dirty="0"/>
          </a:p>
        </p:txBody>
      </p:sp>
      <p:sp>
        <p:nvSpPr>
          <p:cNvPr id="13" name="Text 11"/>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4" name="Text 12"/>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&lt;select&gt; and &lt;textarea&gt; Markup</a:t>
            </a:r>
            <a:endParaRPr lang="en-US" sz="3400" dirty="0"/>
          </a:p>
        </p:txBody>
      </p:sp>
      <p:sp>
        <p:nvSpPr>
          <p:cNvPr id="4" name="Shape 2"/>
          <p:cNvSpPr/>
          <p:nvPr/>
        </p:nvSpPr>
        <p:spPr>
          <a:xfrm>
            <a:off x="640080" y="1965960"/>
            <a:ext cx="10911535" cy="2148840"/>
          </a:xfrm>
          <a:prstGeom prst="roundRect">
            <a:avLst>
              <a:gd name="adj" fmla="val 3404"/>
            </a:avLst>
          </a:prstGeom>
          <a:solidFill>
            <a:srgbClr val="1E1E4C"/>
          </a:solidFill>
          <a:ln/>
        </p:spPr>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&lt;select id="course" name="course"&gt;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&lt;option value="csc336"&gt;Web Technologies&lt;/option&gt;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    &lt;option value="csc337" selected&gt;Advanced Web Technologies&lt;/option&gt;</a:t>
            </a: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&lt;/select&gt;</a:t>
            </a:r>
            <a:endParaRPr lang="en-US" sz="1400" dirty="0"/>
          </a:p>
          <a:p>
            <a:pPr indent="0" marL="0">
              <a:lnSpc>
                <a:spcPct val="125000"/>
              </a:lnSpc>
              <a:buNone/>
            </a:pPr>
            <a:endParaRPr lang="en-US" sz="1400" dirty="0"/>
          </a:p>
          <a:p>
            <a:pPr indent="0" marL="0">
              <a:lnSpc>
                <a:spcPct val="125000"/>
              </a:lnSpc>
              <a:buNone/>
            </a:pPr>
            <a:r>
              <a:rPr lang="en-US" sz="1400" dirty="0">
                <a:solidFill>
                  <a:srgbClr val="C9D3F5"/>
                </a:solidFill>
                <a:latin typeface="Courier New" pitchFamily="34" charset="0"/>
                <a:ea typeface="Courier New" pitchFamily="34" charset="-122"/>
                <a:cs typeface="Courier New" pitchFamily="34" charset="-120"/>
              </a:rPr>
              <a:t>&lt;textarea id="message" name="message" rows="5" cols="40"&gt;Type here...&lt;/textarea&gt;</a:t>
            </a:r>
            <a:endParaRPr lang="en-US" sz="1400"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Dropdown and Textarea, Rendered</a:t>
            </a:r>
            <a:endParaRPr lang="en-US" sz="3400" dirty="0"/>
          </a:p>
        </p:txBody>
      </p:sp>
      <p:sp>
        <p:nvSpPr>
          <p:cNvPr id="4" name="Text 2"/>
          <p:cNvSpPr txBox="1"/>
          <p:nvPr/>
        </p:nvSpPr>
        <p:spPr>
          <a:xfrm>
            <a:off x="640080"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SELECT</a:t>
            </a:r>
            <a:endParaRPr lang="en-US" sz="1100" dirty="0"/>
          </a:p>
        </p:txBody>
      </p:sp>
      <p:sp>
        <p:nvSpPr>
          <p:cNvPr id="5" name="Shape 3"/>
          <p:cNvSpPr/>
          <p:nvPr/>
        </p:nvSpPr>
        <p:spPr>
          <a:xfrm>
            <a:off x="530352"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select-dropdown.png">    </p:cNvPr>
          <p:cNvPicPr>
            <a:picLocks noChangeAspect="1"/>
          </p:cNvPicPr>
          <p:nvPr/>
        </p:nvPicPr>
        <p:blipFill>
          <a:blip r:embed="rId1"/>
          <a:stretch>
            <a:fillRect/>
          </a:stretch>
        </p:blipFill>
        <p:spPr>
          <a:xfrm>
            <a:off x="640080" y="3907947"/>
            <a:ext cx="5272888" cy="642306"/>
          </a:xfrm>
          <a:prstGeom prst="rect">
            <a:avLst/>
          </a:prstGeom>
        </p:spPr>
      </p:pic>
      <p:sp>
        <p:nvSpPr>
          <p:cNvPr id="7" name="Text 4"/>
          <p:cNvSpPr txBox="1"/>
          <p:nvPr/>
        </p:nvSpPr>
        <p:spPr>
          <a:xfrm>
            <a:off x="6278728" y="1965960"/>
            <a:ext cx="5272888" cy="365760"/>
          </a:xfrm>
          <a:prstGeom prst="rect">
            <a:avLst/>
          </a:prstGeom>
          <a:noFill/>
          <a:ln/>
        </p:spPr>
        <p:txBody>
          <a:bodyPr wrap="square" lIns="0" tIns="0" rIns="0" bIns="0" rtlCol="0" anchor="ctr"/>
          <a:lstStyle/>
          <a:p>
            <a:pPr algn="ctr" indent="0" marL="0">
              <a:buNone/>
            </a:pPr>
            <a:r>
              <a:rPr lang="en-US" sz="1100" b="1" spc="150" kern="0" dirty="0">
                <a:solidFill>
                  <a:srgbClr val="E67528"/>
                </a:solidFill>
                <a:latin typeface="Calibri" pitchFamily="34" charset="0"/>
                <a:ea typeface="Calibri" pitchFamily="34" charset="-122"/>
                <a:cs typeface="Calibri" pitchFamily="34" charset="-120"/>
              </a:rPr>
              <a:t>TEXTAREA</a:t>
            </a:r>
            <a:endParaRPr lang="en-US" sz="1100" dirty="0"/>
          </a:p>
        </p:txBody>
      </p:sp>
      <p:sp>
        <p:nvSpPr>
          <p:cNvPr id="8" name="Shape 5"/>
          <p:cNvSpPr/>
          <p:nvPr/>
        </p:nvSpPr>
        <p:spPr>
          <a:xfrm>
            <a:off x="6169000" y="2313432"/>
            <a:ext cx="5492344" cy="3831336"/>
          </a:xfrm>
          <a:prstGeom prst="roundRect">
            <a:avLst>
              <a:gd name="adj" fmla="val 1432"/>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9" name="Image 1" descr="D:/GitHub/mern-web-book/docs/assets/img/lecture-04/textarea.png">    </p:cNvPr>
          <p:cNvPicPr>
            <a:picLocks noChangeAspect="1"/>
          </p:cNvPicPr>
          <p:nvPr/>
        </p:nvPicPr>
        <p:blipFill>
          <a:blip r:embed="rId2"/>
          <a:stretch>
            <a:fillRect/>
          </a:stretch>
        </p:blipFill>
        <p:spPr>
          <a:xfrm>
            <a:off x="6278728" y="3516377"/>
            <a:ext cx="5272888" cy="1425446"/>
          </a:xfrm>
          <a:prstGeom prst="rect">
            <a:avLst/>
          </a:prstGeom>
        </p:spPr>
      </p:pic>
      <p:sp>
        <p:nvSpPr>
          <p:cNvPr id="10"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1"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MORE CONTROLS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Three Button Types</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submit submits the form, reset clears it, button does nothing on its own (wired up with JavaScript later).</a:t>
            </a:r>
            <a:endParaRPr lang="en-US" sz="1350" dirty="0"/>
          </a:p>
        </p:txBody>
      </p:sp>
      <p:sp>
        <p:nvSpPr>
          <p:cNvPr id="5" name="Shape 3"/>
          <p:cNvSpPr/>
          <p:nvPr/>
        </p:nvSpPr>
        <p:spPr>
          <a:xfrm>
            <a:off x="640080" y="2240280"/>
            <a:ext cx="10911535" cy="1263015"/>
          </a:xfrm>
          <a:prstGeom prst="roundRect">
            <a:avLst>
              <a:gd name="adj" fmla="val 5792"/>
            </a:avLst>
          </a:prstGeom>
          <a:solidFill>
            <a:srgbClr val="1E1E4C"/>
          </a:solidFill>
          <a:ln/>
        </p:spPr>
      </p:sp>
      <p:sp>
        <p:nvSpPr>
          <p:cNvPr id="6" name="Text 4"/>
          <p:cNvSpPr txBox="1"/>
          <p:nvPr/>
        </p:nvSpPr>
        <p:spPr>
          <a:xfrm>
            <a:off x="960120" y="2468880"/>
            <a:ext cx="10271455" cy="805815"/>
          </a:xfrm>
          <a:prstGeom prst="rect">
            <a:avLst/>
          </a:prstGeom>
          <a:noFill/>
          <a:ln/>
        </p:spPr>
        <p:txBody>
          <a:bodyPr wrap="square" lIns="0" tIns="0" rIns="0" bIns="0" rtlCol="0" anchor="t"/>
          <a:lstStyle/>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type="submit"&gt;Submit&lt;/button&gt;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type="reset"&gt;Clear Form&lt;/button&gt;</a:t>
            </a:r>
            <a:endParaRPr lang="en-US" sz="1250" dirty="0"/>
          </a:p>
          <a:p>
            <a:pPr indent="0" marL="0">
              <a:lnSpc>
                <a:spcPct val="125000"/>
              </a:lnSpc>
              <a:buNone/>
            </a:pPr>
            <a:r>
              <a:rPr lang="en-US" sz="1250" dirty="0">
                <a:solidFill>
                  <a:srgbClr val="C9D3F5"/>
                </a:solidFill>
                <a:latin typeface="Courier New" pitchFamily="34" charset="0"/>
                <a:ea typeface="Courier New" pitchFamily="34" charset="-122"/>
                <a:cs typeface="Courier New" pitchFamily="34" charset="-120"/>
              </a:rPr>
              <a:t>&lt;button type="button"&gt;Just a Button (does nothing by itself)&lt;/button&gt;</a:t>
            </a:r>
            <a:endParaRPr lang="en-US" sz="1250" dirty="0"/>
          </a:p>
        </p:txBody>
      </p:sp>
      <p:sp>
        <p:nvSpPr>
          <p:cNvPr id="7" name="Shape 5"/>
          <p:cNvSpPr/>
          <p:nvPr/>
        </p:nvSpPr>
        <p:spPr>
          <a:xfrm>
            <a:off x="530352" y="3667887"/>
            <a:ext cx="11130991" cy="2659761"/>
          </a:xfrm>
          <a:prstGeom prst="roundRect">
            <a:avLst>
              <a:gd name="adj" fmla="val 206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8" name="Image 0" descr="D:/GitHub/mern-web-book/docs/assets/img/lecture-04/buttons.png">    </p:cNvPr>
          <p:cNvPicPr>
            <a:picLocks noChangeAspect="1"/>
          </p:cNvPicPr>
          <p:nvPr/>
        </p:nvPicPr>
        <p:blipFill>
          <a:blip r:embed="rId1"/>
          <a:stretch>
            <a:fillRect/>
          </a:stretch>
        </p:blipFill>
        <p:spPr>
          <a:xfrm>
            <a:off x="640080" y="4384078"/>
            <a:ext cx="10911535" cy="1227379"/>
          </a:xfrm>
          <a:prstGeom prst="rect">
            <a:avLst/>
          </a:prstGeom>
        </p:spPr>
      </p:pic>
      <p:sp>
        <p:nvSpPr>
          <p:cNvPr id="9" name="Text 6"/>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10" name="Text 7"/>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HTML5 Client-Side Validation</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2377440"/>
                <a:gridCol w="8595360"/>
              </a:tblGrid>
              <a:tr h="68580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Attribute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Effect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required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The field cannot be left empty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A regular expression the value must match (with title for a hint)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min / max / step</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Lowest/highest acceptable value and allowed increment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685800">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maxlength / minlength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Character-count limits on a text field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6" name="Text 3"/>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Registration Form</a:t>
            </a:r>
            <a:endParaRPr lang="en-US" sz="3400" dirty="0"/>
          </a:p>
        </p:txBody>
      </p:sp>
      <p:sp>
        <p:nvSpPr>
          <p:cNvPr id="4" name="Shape 2"/>
          <p:cNvSpPr/>
          <p:nvPr/>
        </p:nvSpPr>
        <p:spPr>
          <a:xfrm>
            <a:off x="640080" y="1965960"/>
            <a:ext cx="10911535" cy="3931920"/>
          </a:xfrm>
          <a:prstGeom prst="roundRect">
            <a:avLst>
              <a:gd name="adj" fmla="val 1860"/>
            </a:avLst>
          </a:prstGeom>
          <a:solidFill>
            <a:srgbClr val="1E1E4C"/>
          </a:solidFill>
          <a:ln/>
        </p:spPr>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&lt;form action="/register" method="POST"&gt;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for="uname"&gt;Username (required):&lt;/label&gt;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type="text" id="uname" name="uname" required&gt;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for="cnic"&gt;CNIC (format 00000-0000000-0):&lt;/label&gt;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type="text" id="cnic" name="cnic"</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pattern="\d{5}-\d{7}-\d" title="Format: 00000-0000000-0"&gt;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&lt;label for="age"&gt;Age (18–60):&lt;/label&gt;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&lt;input type="number" id="age" name="age" min="18" max="60"&gt;</a:t>
            </a:r>
            <a:endParaRPr lang="en-US" sz="1366" dirty="0"/>
          </a:p>
          <a:p>
            <a:pPr indent="0" marL="0">
              <a:lnSpc>
                <a:spcPct val="125000"/>
              </a:lnSpc>
              <a:buNone/>
            </a:pP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    &lt;button type="submit"&gt;Register&lt;/button&gt;</a:t>
            </a:r>
            <a:endParaRPr lang="en-US" sz="1366" dirty="0"/>
          </a:p>
          <a:p>
            <a:pPr indent="0" marL="0">
              <a:lnSpc>
                <a:spcPct val="125000"/>
              </a:lnSpc>
              <a:buNone/>
            </a:pPr>
            <a:r>
              <a:rPr lang="en-US" sz="1366" dirty="0">
                <a:solidFill>
                  <a:srgbClr val="C9D3F5"/>
                </a:solidFill>
                <a:latin typeface="Courier New" pitchFamily="34" charset="0"/>
                <a:ea typeface="Courier New" pitchFamily="34" charset="-122"/>
                <a:cs typeface="Courier New" pitchFamily="34" charset="-120"/>
              </a:rPr>
              <a:t>&lt;/form&gt;</a:t>
            </a:r>
            <a:endParaRPr lang="en-US" sz="1366" dirty="0"/>
          </a:p>
        </p:txBody>
      </p:sp>
      <p:sp>
        <p:nvSpPr>
          <p:cNvPr id="6"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7"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Validated Form, Rendered</a:t>
            </a:r>
            <a:endParaRPr lang="en-US" sz="3400" dirty="0"/>
          </a:p>
        </p:txBody>
      </p:sp>
      <p:sp>
        <p:nvSpPr>
          <p:cNvPr id="4" name="Text 2"/>
          <p:cNvSpPr txBox="1"/>
          <p:nvPr/>
        </p:nvSpPr>
        <p:spPr>
          <a:xfrm>
            <a:off x="640080" y="1691640"/>
            <a:ext cx="10911535" cy="411480"/>
          </a:xfrm>
          <a:prstGeom prst="rect">
            <a:avLst/>
          </a:prstGeom>
          <a:noFill/>
          <a:ln/>
        </p:spPr>
        <p:txBody>
          <a:bodyPr wrap="square" lIns="0" tIns="0" rIns="0" bIns="0" rtlCol="0" anchor="ctr"/>
          <a:lstStyle/>
          <a:p>
            <a:pPr indent="0" marL="0">
              <a:buNone/>
            </a:pPr>
            <a:r>
              <a:rPr lang="en-US" sz="1350" i="1" dirty="0">
                <a:solidFill>
                  <a:srgbClr val="5D5D72"/>
                </a:solidFill>
                <a:latin typeface="Calibri" pitchFamily="34" charset="0"/>
                <a:ea typeface="Calibri" pitchFamily="34" charset="-122"/>
                <a:cs typeface="Calibri" pitchFamily="34" charset="-120"/>
              </a:rPr>
              <a:t>The warning bubbles only appear live in a browser when you try to submit invalid or missing data.</a:t>
            </a:r>
            <a:endParaRPr lang="en-US" sz="1350" dirty="0"/>
          </a:p>
        </p:txBody>
      </p:sp>
      <p:sp>
        <p:nvSpPr>
          <p:cNvPr id="5" name="Shape 3"/>
          <p:cNvSpPr/>
          <p:nvPr/>
        </p:nvSpPr>
        <p:spPr>
          <a:xfrm>
            <a:off x="530352" y="2221992"/>
            <a:ext cx="11130991" cy="4059936"/>
          </a:xfrm>
          <a:prstGeom prst="roundRect">
            <a:avLst>
              <a:gd name="adj" fmla="val 1351"/>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sp>
      <p:pic>
        <p:nvPicPr>
          <p:cNvPr id="6" name="Image 0" descr="D:/GitHub/mern-web-book/docs/assets/img/lecture-04/validation-form.png">    </p:cNvPr>
          <p:cNvPicPr>
            <a:picLocks noChangeAspect="1"/>
          </p:cNvPicPr>
          <p:nvPr/>
        </p:nvPicPr>
        <p:blipFill>
          <a:blip r:embed="rId1"/>
          <a:stretch>
            <a:fillRect/>
          </a:stretch>
        </p:blipFill>
        <p:spPr>
          <a:xfrm>
            <a:off x="640080" y="3631355"/>
            <a:ext cx="10911535" cy="1241210"/>
          </a:xfrm>
          <a:prstGeom prst="rect">
            <a:avLst/>
          </a:prstGeom>
        </p:spPr>
      </p:pic>
      <p:sp>
        <p:nvSpPr>
          <p:cNvPr id="7" name="Text 4"/>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5"/>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VALIDATION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Client-Side Validation Is Not Enough</a:t>
            </a:r>
            <a:endParaRPr lang="en-US" sz="3400" dirty="0"/>
          </a:p>
        </p:txBody>
      </p:sp>
      <p:sp>
        <p:nvSpPr>
          <p:cNvPr id="4" name="Shape 2"/>
          <p:cNvSpPr/>
          <p:nvPr/>
        </p:nvSpPr>
        <p:spPr>
          <a:xfrm>
            <a:off x="640080" y="1965960"/>
            <a:ext cx="10911535" cy="1737360"/>
          </a:xfrm>
          <a:prstGeom prst="roundRect">
            <a:avLst>
              <a:gd name="adj" fmla="val 3158"/>
            </a:avLst>
          </a:prstGeom>
          <a:solidFill>
            <a:srgbClr val="FDECE0"/>
          </a:solidFill>
          <a:ln w="12700">
            <a:solidFill>
              <a:srgbClr val="FF8A3D"/>
            </a:solidFill>
            <a:prstDash val="solid"/>
          </a:ln>
        </p:spPr>
      </p:sp>
      <p:sp>
        <p:nvSpPr>
          <p:cNvPr id="5" name="Text 3"/>
          <p:cNvSpPr txBox="1"/>
          <p:nvPr/>
        </p:nvSpPr>
        <p:spPr>
          <a:xfrm>
            <a:off x="868680" y="2103120"/>
            <a:ext cx="10454335" cy="274320"/>
          </a:xfrm>
          <a:prstGeom prst="rect">
            <a:avLst/>
          </a:prstGeom>
          <a:noFill/>
          <a:ln/>
        </p:spPr>
        <p:txBody>
          <a:bodyPr wrap="square" lIns="0" tIns="0" rIns="0" bIns="0" rtlCol="0" anchor="ctr"/>
          <a:lstStyle/>
          <a:p>
            <a:pPr indent="0" marL="0">
              <a:buNone/>
            </a:pPr>
            <a:r>
              <a:rPr lang="en-US" sz="1000" b="1" spc="200" kern="0" dirty="0">
                <a:solidFill>
                  <a:srgbClr val="8A3A12"/>
                </a:solidFill>
                <a:latin typeface="Calibri" pitchFamily="34" charset="0"/>
                <a:ea typeface="Calibri" pitchFamily="34" charset="-122"/>
                <a:cs typeface="Calibri" pitchFamily="34" charset="-120"/>
              </a:rPr>
              <a:t>WARNING</a:t>
            </a:r>
            <a:endParaRPr lang="en-US" sz="1000" dirty="0"/>
          </a:p>
        </p:txBody>
      </p:sp>
      <p:sp>
        <p:nvSpPr>
          <p:cNvPr id="6" name="Text 4"/>
          <p:cNvSpPr txBox="1"/>
          <p:nvPr/>
        </p:nvSpPr>
        <p:spPr>
          <a:xfrm>
            <a:off x="868680" y="2404872"/>
            <a:ext cx="10454335" cy="1143000"/>
          </a:xfrm>
          <a:prstGeom prst="rect">
            <a:avLst/>
          </a:prstGeom>
          <a:noFill/>
          <a:ln/>
        </p:spPr>
        <p:txBody>
          <a:bodyPr wrap="square" lIns="0" tIns="0" rIns="0" bIns="0" rtlCol="0" anchor="t"/>
          <a:lstStyle/>
          <a:p>
            <a:pPr indent="0" marL="0">
              <a:buNone/>
            </a:pPr>
            <a:r>
              <a:rPr lang="en-US" sz="1250" dirty="0">
                <a:solidFill>
                  <a:srgbClr val="26262F"/>
                </a:solidFill>
                <a:latin typeface="Calibri" pitchFamily="34" charset="0"/>
                <a:ea typeface="Calibri" pitchFamily="34" charset="-122"/>
                <a:cs typeface="Calibri" pitchFamily="34" charset="-120"/>
              </a:rPr>
              <a:t>A user can disable JavaScript or edit HTML in dev tools. Client-side validation is a convenience for instant feedback — it is not security. Every submission must also be validated again on the server.</a:t>
            </a:r>
            <a:endParaRPr lang="en-US" sz="1250" dirty="0"/>
          </a:p>
        </p:txBody>
      </p:sp>
      <p:sp>
        <p:nvSpPr>
          <p:cNvPr id="7" name="Text 5"/>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5D5D72"/>
                </a:solidFill>
                <a:latin typeface="Calibri" pitchFamily="34" charset="0"/>
                <a:ea typeface="Calibri" pitchFamily="34" charset="-122"/>
                <a:cs typeface="Calibri" pitchFamily="34" charset="-120"/>
              </a:rPr>
              <a:t>Usman Akram  •  COMSATS University Islamabad</a:t>
            </a:r>
            <a:endParaRPr lang="en-US" sz="900" dirty="0"/>
          </a:p>
        </p:txBody>
      </p:sp>
      <p:sp>
        <p:nvSpPr>
          <p:cNvPr id="8" name="Text 6"/>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5D5D72"/>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4 in Six Points</a:t>
            </a:r>
            <a:endParaRPr lang="en-US" sz="3400" dirty="0"/>
          </a:p>
        </p:txBody>
      </p:sp>
      <p:sp>
        <p:nvSpPr>
          <p:cNvPr id="4" name="Shape 2"/>
          <p:cNvSpPr/>
          <p:nvPr/>
        </p:nvSpPr>
        <p:spPr>
          <a:xfrm>
            <a:off x="822960" y="2286000"/>
            <a:ext cx="438912" cy="438912"/>
          </a:xfrm>
          <a:prstGeom prst="ellipse">
            <a:avLst/>
          </a:prstGeom>
          <a:solidFill>
            <a:srgbClr val="FF8A3D"/>
          </a:solidFill>
          <a:ln/>
        </p:spPr>
      </p:sp>
      <p:sp>
        <p:nvSpPr>
          <p:cNvPr id="5" name="Text 3"/>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463040" y="2194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Semantic elements (header, nav, main, article, footer) describe role, improving accessibility and SEO over generic divs.</a:t>
            </a:r>
            <a:endParaRPr lang="en-US" sz="1250" dirty="0"/>
          </a:p>
        </p:txBody>
      </p:sp>
      <p:sp>
        <p:nvSpPr>
          <p:cNvPr id="7" name="Shape 5"/>
          <p:cNvSpPr/>
          <p:nvPr/>
        </p:nvSpPr>
        <p:spPr>
          <a:xfrm>
            <a:off x="822960" y="2971800"/>
            <a:ext cx="438912" cy="438912"/>
          </a:xfrm>
          <a:prstGeom prst="ellipse">
            <a:avLst/>
          </a:prstGeom>
          <a:solidFill>
            <a:srgbClr val="FF8A3D"/>
          </a:solidFill>
          <a:ln/>
        </p:spPr>
      </p:sp>
      <p:sp>
        <p:nvSpPr>
          <p:cNvPr id="8" name="Text 6"/>
          <p:cNvSpPr txBox="1"/>
          <p:nvPr/>
        </p:nvSpPr>
        <p:spPr>
          <a:xfrm>
            <a:off x="822960" y="2971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463040" y="28803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action sets where form data goes; method (GET/POST) sets how — GET builds a query string, exactly how Google's search box works.</a:t>
            </a:r>
            <a:endParaRPr lang="en-US" sz="1250" dirty="0"/>
          </a:p>
        </p:txBody>
      </p:sp>
      <p:sp>
        <p:nvSpPr>
          <p:cNvPr id="10" name="Shape 8"/>
          <p:cNvSpPr/>
          <p:nvPr/>
        </p:nvSpPr>
        <p:spPr>
          <a:xfrm>
            <a:off x="822960" y="3657600"/>
            <a:ext cx="438912" cy="438912"/>
          </a:xfrm>
          <a:prstGeom prst="ellipse">
            <a:avLst/>
          </a:prstGeom>
          <a:solidFill>
            <a:srgbClr val="FF8A3D"/>
          </a:solidFill>
          <a:ln/>
        </p:spPr>
      </p:sp>
      <p:sp>
        <p:nvSpPr>
          <p:cNvPr id="11" name="Text 9"/>
          <p:cNvSpPr txBox="1"/>
          <p:nvPr/>
        </p:nvSpPr>
        <p:spPr>
          <a:xfrm>
            <a:off x="822960" y="3657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463040" y="35661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&lt;input type="..."&gt; covers most controls; &lt;select&gt;, &lt;textarea&gt;, and &lt;button&gt; cover the rest.</a:t>
            </a:r>
            <a:endParaRPr lang="en-US" sz="1250" dirty="0"/>
          </a:p>
        </p:txBody>
      </p:sp>
      <p:sp>
        <p:nvSpPr>
          <p:cNvPr id="13" name="Shape 11"/>
          <p:cNvSpPr/>
          <p:nvPr/>
        </p:nvSpPr>
        <p:spPr>
          <a:xfrm>
            <a:off x="822960" y="4343400"/>
            <a:ext cx="438912" cy="438912"/>
          </a:xfrm>
          <a:prstGeom prst="ellipse">
            <a:avLst/>
          </a:prstGeom>
          <a:solidFill>
            <a:srgbClr val="FF8A3D"/>
          </a:solidFill>
          <a:ln/>
        </p:spPr>
      </p:sp>
      <p:sp>
        <p:nvSpPr>
          <p:cNvPr id="14" name="Text 12"/>
          <p:cNvSpPr txBox="1"/>
          <p:nvPr/>
        </p:nvSpPr>
        <p:spPr>
          <a:xfrm>
            <a:off x="822960" y="4343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463040" y="42519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File uploads need method="POST" and enctype="multipart/form-data" — accept is a hint, not a security check.</a:t>
            </a:r>
            <a:endParaRPr lang="en-US" sz="1250" dirty="0"/>
          </a:p>
        </p:txBody>
      </p:sp>
      <p:sp>
        <p:nvSpPr>
          <p:cNvPr id="16" name="Shape 14"/>
          <p:cNvSpPr/>
          <p:nvPr/>
        </p:nvSpPr>
        <p:spPr>
          <a:xfrm>
            <a:off x="822960" y="5029200"/>
            <a:ext cx="438912" cy="438912"/>
          </a:xfrm>
          <a:prstGeom prst="ellipse">
            <a:avLst/>
          </a:prstGeom>
          <a:solidFill>
            <a:srgbClr val="FF8A3D"/>
          </a:solidFill>
          <a:ln/>
        </p:spPr>
      </p:sp>
      <p:sp>
        <p:nvSpPr>
          <p:cNvPr id="17" name="Text 15"/>
          <p:cNvSpPr txBox="1"/>
          <p:nvPr/>
        </p:nvSpPr>
        <p:spPr>
          <a:xfrm>
            <a:off x="822960" y="5029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8" name="Text 16"/>
          <p:cNvSpPr txBox="1"/>
          <p:nvPr/>
        </p:nvSpPr>
        <p:spPr>
          <a:xfrm>
            <a:off x="1463040" y="49377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required/pattern/min/max give instant feedback, but must always be backed by server-side validation.</a:t>
            </a:r>
            <a:endParaRPr lang="en-US" sz="1250" dirty="0"/>
          </a:p>
        </p:txBody>
      </p:sp>
      <p:sp>
        <p:nvSpPr>
          <p:cNvPr id="19" name="Shape 17"/>
          <p:cNvSpPr/>
          <p:nvPr/>
        </p:nvSpPr>
        <p:spPr>
          <a:xfrm>
            <a:off x="822960" y="5715000"/>
            <a:ext cx="438912" cy="438912"/>
          </a:xfrm>
          <a:prstGeom prst="ellipse">
            <a:avLst/>
          </a:prstGeom>
          <a:solidFill>
            <a:srgbClr val="FF8A3D"/>
          </a:solidFill>
          <a:ln/>
        </p:spPr>
      </p:sp>
      <p:sp>
        <p:nvSpPr>
          <p:cNvPr id="20" name="Text 18"/>
          <p:cNvSpPr txBox="1"/>
          <p:nvPr/>
        </p:nvSpPr>
        <p:spPr>
          <a:xfrm>
            <a:off x="822960" y="5715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21" name="Text 19"/>
          <p:cNvSpPr txBox="1"/>
          <p:nvPr/>
        </p:nvSpPr>
        <p:spPr>
          <a:xfrm>
            <a:off x="1463040" y="5623560"/>
            <a:ext cx="10058400" cy="64008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Always pair inputs with &lt;label&gt;, connected via matching for/id attributes.</a:t>
            </a:r>
            <a:endParaRPr lang="en-US" sz="1250" dirty="0"/>
          </a:p>
        </p:txBody>
      </p:sp>
      <p:sp>
        <p:nvSpPr>
          <p:cNvPr id="22" name="Text 20"/>
          <p:cNvSpPr txBox="1"/>
          <p:nvPr/>
        </p:nvSpPr>
        <p:spPr>
          <a:xfrm>
            <a:off x="640080" y="6446520"/>
            <a:ext cx="8686800" cy="292608"/>
          </a:xfrm>
          <a:prstGeom prst="rect">
            <a:avLst/>
          </a:prstGeom>
          <a:noFill/>
          <a:ln/>
        </p:spPr>
        <p:txBody>
          <a:bodyPr wrap="square" lIns="0" tIns="0" rIns="0" bIns="0" rtlCol="0" anchor="ctr"/>
          <a:lstStyle/>
          <a:p>
            <a:pPr algn="l" indent="0" marL="0">
              <a:buNone/>
            </a:pPr>
            <a:r>
              <a:rPr lang="en-US" sz="900" dirty="0">
                <a:solidFill>
                  <a:srgbClr val="9AA3D8"/>
                </a:solidFill>
                <a:latin typeface="Calibri" pitchFamily="34" charset="0"/>
                <a:ea typeface="Calibri" pitchFamily="34" charset="-122"/>
                <a:cs typeface="Calibri" pitchFamily="34" charset="-120"/>
              </a:rPr>
              <a:t>Usman Akram  •  COMSATS University Islamabad</a:t>
            </a:r>
            <a:endParaRPr lang="en-US" sz="900" dirty="0"/>
          </a:p>
        </p:txBody>
      </p:sp>
      <p:sp>
        <p:nvSpPr>
          <p:cNvPr id="23" name="Text 21"/>
          <p:cNvSpPr txBox="1"/>
          <p:nvPr/>
        </p:nvSpPr>
        <p:spPr>
          <a:xfrm>
            <a:off x="11155680" y="6446520"/>
            <a:ext cx="457200" cy="292608"/>
          </a:xfrm>
          <a:prstGeom prst="rect">
            <a:avLst/>
          </a:prstGeom>
          <a:noFill/>
          <a:ln/>
        </p:spPr>
        <p:txBody>
          <a:bodyPr wrap="square" lIns="0" tIns="0" rIns="0" bIns="0" rtlCol="0" anchor="ctr"/>
          <a:lstStyle/>
          <a:p>
            <a:pPr algn="r" indent="0" marL="0">
              <a:buNone/>
            </a:pPr>
            <a:r>
              <a:rPr lang="en-US" sz="900" dirty="0">
                <a:solidFill>
                  <a:srgbClr val="9AA3D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4: Semantic HTML and HTML Forms</dc:title>
  <dc:subject>CSC336 Web Technologies</dc:subject>
  <dc:creator>Usman Akram</dc:creator>
  <cp:lastModifiedBy>Usman Akram</cp:lastModifiedBy>
  <cp:revision>1</cp:revision>
  <dcterms:created xsi:type="dcterms:W3CDTF">2026-09-13T18:14:01Z</dcterms:created>
  <dcterms:modified xsi:type="dcterms:W3CDTF">2026-09-13T18:14:01Z</dcterms:modified>
</cp:coreProperties>
</file>
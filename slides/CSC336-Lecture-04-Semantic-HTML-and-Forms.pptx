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cuinotes.com"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hyperlink" Target="https://cuinotes.com" TargetMode="Externa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 Id="rId4" Type="http://schemas.openxmlformats.org/officeDocument/2006/relationships/hyperlink" Target="https://cuinotes.com" TargetMode="Externa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 Id="rId4" Type="http://schemas.openxmlformats.org/officeDocument/2006/relationships/hyperlink" Target="https://cuinotes.com"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hyperlink" Target="https://cuinotes.com"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hyperlink" Target="https://cuinotes.com"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hyperlink" Target="https://cuinotes.com" TargetMode="Externa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 Id="rId4" Type="http://schemas.openxmlformats.org/officeDocument/2006/relationships/hyperlink" Target="https://cuinotes.co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hyperlink" Target="https://cuinotes.com" TargetMode="Externa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 Id="rId4" Type="http://schemas.openxmlformats.org/officeDocument/2006/relationships/hyperlink" Target="https://cuinotes.com"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hyperlink" Target="https://cuinotes.com"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hyperlink" Target="https://cuinotes.com"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hyperlink" Target="https://cuinotes.com" TargetMode="Externa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 Id="rId4" Type="http://schemas.openxmlformats.org/officeDocument/2006/relationships/hyperlink" Target="https://cuinotes.com"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hyperlink" Target="https://cuinotes.com"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hyperlink" Target="https://cuinotes.com" TargetMode="Externa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 Id="rId4" Type="http://schemas.openxmlformats.org/officeDocument/2006/relationships/hyperlink" Target="https://cuinotes.com"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hyperlink" Target="https://cuinotes.com"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hyperlink" Target="https://cuinotes.com"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hyperlink" Target="https://cuinotes.com"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hyperlink" Target="https://cuinotes.com" TargetMode="Externa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 Id="rId5" Type="http://schemas.openxmlformats.org/officeDocument/2006/relationships/hyperlink" Target="https://cuinotes.com" TargetMode="Externa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 Id="rId4" Type="http://schemas.openxmlformats.org/officeDocument/2006/relationships/hyperlink" Target="https://cuinotes.com"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hyperlink" Target="https://cuinotes.com"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hyperlink" Target="https://cuinotes.com" TargetMode="Externa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 Id="rId4" Type="http://schemas.openxmlformats.org/officeDocument/2006/relationships/hyperlink" Target="https://cuinotes.com"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hyperlink" Target="https://cuinotes.com"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hyperlink" Target="https://cuinotes.com"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B7A"/>
        </a:solidFill>
      </p:bgPr>
    </p:bg>
    <p:spTree>
      <p:nvGrpSpPr>
        <p:cNvPr id="1" name=""/>
        <p:cNvGrpSpPr/>
        <p:nvPr/>
      </p:nvGrpSpPr>
      <p:grpSpPr>
        <a:xfrm>
          <a:off x="0" y="0"/>
          <a:ext cx="0" cy="0"/>
          <a:chOff x="0" y="0"/>
          <a:chExt cx="0" cy="0"/>
        </a:xfrm>
      </p:grpSpPr>
      <p:sp>
        <p:nvSpPr>
          <p:cNvPr id="2" name="Text 0"/>
          <p:cNvSpPr txBox="1"/>
          <p:nvPr/>
        </p:nvSpPr>
        <p:spPr>
          <a:xfrm>
            <a:off x="822960" y="1965960"/>
            <a:ext cx="7315200" cy="457200"/>
          </a:xfrm>
          <a:prstGeom prst="rect">
            <a:avLst/>
          </a:prstGeom>
          <a:noFill/>
          <a:ln/>
        </p:spPr>
        <p:txBody>
          <a:bodyPr wrap="square" lIns="0" tIns="0" rIns="0" bIns="0" rtlCol="0" anchor="ctr"/>
          <a:lstStyle/>
          <a:p>
            <a:pPr indent="0" marL="0">
              <a:buNone/>
            </a:pPr>
            <a:r>
              <a:rPr lang="en-US" sz="1500" b="1" spc="400" kern="0" dirty="0">
                <a:solidFill>
                  <a:srgbClr val="FF8A3D"/>
                </a:solidFill>
                <a:latin typeface="Calibri" pitchFamily="34" charset="0"/>
                <a:ea typeface="Calibri" pitchFamily="34" charset="-122"/>
                <a:cs typeface="Calibri" pitchFamily="34" charset="-120"/>
              </a:rPr>
              <a:t>LECTURE 4</a:t>
            </a:r>
            <a:endParaRPr lang="en-US" sz="1500" dirty="0"/>
          </a:p>
        </p:txBody>
      </p:sp>
      <p:sp>
        <p:nvSpPr>
          <p:cNvPr id="3" name="Text 1"/>
          <p:cNvSpPr txBox="1"/>
          <p:nvPr/>
        </p:nvSpPr>
        <p:spPr>
          <a:xfrm>
            <a:off x="777240" y="2377440"/>
            <a:ext cx="8686800" cy="1920240"/>
          </a:xfrm>
          <a:prstGeom prst="rect">
            <a:avLst/>
          </a:prstGeom>
          <a:noFill/>
          <a:ln/>
        </p:spPr>
        <p:txBody>
          <a:bodyPr wrap="square" lIns="0" tIns="0" rIns="0" bIns="0" rtlCol="0" anchor="ctr"/>
          <a:lstStyle/>
          <a:p>
            <a:pPr indent="0" marL="0">
              <a:lnSpc>
                <a:spcPct val="105000"/>
              </a:lnSpc>
              <a:buNone/>
            </a:pPr>
            <a:r>
              <a:rPr lang="en-US" sz="4000" b="1" dirty="0">
                <a:solidFill>
                  <a:srgbClr val="FFFFFF"/>
                </a:solidFill>
                <a:latin typeface="Cambria" pitchFamily="34" charset="0"/>
                <a:ea typeface="Cambria" pitchFamily="34" charset="-122"/>
                <a:cs typeface="Cambria" pitchFamily="34" charset="-120"/>
              </a:rPr>
              <a:t>Semantic HTML</a:t>
            </a:r>
            <a:endParaRPr lang="en-US" sz="4000" dirty="0"/>
          </a:p>
          <a:p>
            <a:pPr indent="0" marL="0">
              <a:lnSpc>
                <a:spcPct val="105000"/>
              </a:lnSpc>
              <a:buNone/>
            </a:pPr>
            <a:r>
              <a:rPr lang="en-US" sz="4000" b="1" dirty="0">
                <a:solidFill>
                  <a:srgbClr val="FFFFFF"/>
                </a:solidFill>
                <a:latin typeface="Cambria" pitchFamily="34" charset="0"/>
                <a:ea typeface="Cambria" pitchFamily="34" charset="-122"/>
                <a:cs typeface="Cambria" pitchFamily="34" charset="-120"/>
              </a:rPr>
              <a:t>and HTML Forms</a:t>
            </a:r>
            <a:endParaRPr lang="en-US" sz="4000" dirty="0"/>
          </a:p>
        </p:txBody>
      </p:sp>
      <p:sp>
        <p:nvSpPr>
          <p:cNvPr id="4" name="Text 2"/>
          <p:cNvSpPr txBox="1"/>
          <p:nvPr/>
        </p:nvSpPr>
        <p:spPr>
          <a:xfrm>
            <a:off x="822960" y="4389120"/>
            <a:ext cx="8961120" cy="822960"/>
          </a:xfrm>
          <a:prstGeom prst="rect">
            <a:avLst/>
          </a:prstGeom>
          <a:noFill/>
          <a:ln/>
        </p:spPr>
        <p:txBody>
          <a:bodyPr wrap="square" lIns="0" tIns="0" rIns="0" bIns="0" rtlCol="0" anchor="ctr"/>
          <a:lstStyle/>
          <a:p>
            <a:pPr indent="0" marL="0">
              <a:buNone/>
            </a:pPr>
            <a:r>
              <a:rPr lang="en-US" sz="1500" dirty="0">
                <a:solidFill>
                  <a:srgbClr val="C9D3F5"/>
                </a:solidFill>
                <a:latin typeface="Calibri" pitchFamily="34" charset="0"/>
                <a:ea typeface="Calibri" pitchFamily="34" charset="-122"/>
                <a:cs typeface="Calibri" pitchFamily="34" charset="-120"/>
              </a:rPr>
              <a:t>Organizing a page so it means something — to humans, browsers, and search engines — and collecting user input.</a:t>
            </a:r>
            <a:endParaRPr lang="en-US" sz="1500" dirty="0"/>
          </a:p>
        </p:txBody>
      </p:sp>
      <p:sp>
        <p:nvSpPr>
          <p:cNvPr id="5" name="Text 3"/>
          <p:cNvSpPr txBox="1"/>
          <p:nvPr/>
        </p:nvSpPr>
        <p:spPr>
          <a:xfrm>
            <a:off x="822960" y="5943600"/>
            <a:ext cx="8229600" cy="365760"/>
          </a:xfrm>
          <a:prstGeom prst="rect">
            <a:avLst/>
          </a:prstGeom>
          <a:noFill/>
          <a:ln/>
        </p:spPr>
        <p:txBody>
          <a:bodyPr wrap="square" lIns="0" tIns="0" rIns="0" bIns="0" rtlCol="0" anchor="ctr"/>
          <a:lstStyle/>
          <a:p>
            <a:pPr indent="0" marL="0">
              <a:buNone/>
            </a:pPr>
            <a:r>
              <a:rPr lang="en-US" sz="1200" dirty="0">
                <a:solidFill>
                  <a:srgbClr val="9AA3D8"/>
                </a:solidFill>
                <a:latin typeface="Calibri" pitchFamily="34" charset="0"/>
                <a:ea typeface="Calibri" pitchFamily="34" charset="-122"/>
                <a:cs typeface="Calibri" pitchFamily="34" charset="-120"/>
              </a:rPr>
              <a:t>CSC336 Web Technologies</a:t>
            </a:r>
            <a:endParaRPr lang="en-US" sz="1200" dirty="0"/>
          </a:p>
        </p:txBody>
      </p:sp>
      <p:sp>
        <p:nvSpPr>
          <p:cNvPr id="8"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OVERVIEW</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In This Lecture</a:t>
            </a:r>
            <a:endParaRPr lang="en-US" sz="3400" dirty="0"/>
          </a:p>
        </p:txBody>
      </p:sp>
      <p:sp>
        <p:nvSpPr>
          <p:cNvPr id="4" name="Shape 2"/>
          <p:cNvSpPr/>
          <p:nvPr/>
        </p:nvSpPr>
        <p:spPr>
          <a:xfrm>
            <a:off x="685800" y="1965960"/>
            <a:ext cx="457200" cy="457200"/>
          </a:xfrm>
          <a:prstGeom prst="ellipse">
            <a:avLst/>
          </a:prstGeom>
          <a:solidFill>
            <a:srgbClr val="FF8A3D"/>
          </a:solidFill>
          <a:ln/>
        </p:spPr>
        <p:txBody>
          <a:bodyPr/>
          <a:p/>
        </p:txBody>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Block-level vs. inline elements, and the generic &lt;div&gt;/&lt;span&gt;</a:t>
            </a:r>
            <a:endParaRPr lang="en-US" sz="1500" dirty="0"/>
          </a:p>
        </p:txBody>
      </p:sp>
      <p:sp>
        <p:nvSpPr>
          <p:cNvPr id="7" name="Shape 5"/>
          <p:cNvSpPr/>
          <p:nvPr/>
        </p:nvSpPr>
        <p:spPr>
          <a:xfrm>
            <a:off x="685800" y="2689860"/>
            <a:ext cx="457200" cy="457200"/>
          </a:xfrm>
          <a:prstGeom prst="ellipse">
            <a:avLst/>
          </a:prstGeom>
          <a:solidFill>
            <a:srgbClr val="FF8A3D"/>
          </a:solidFill>
          <a:ln/>
        </p:spPr>
        <p:txBody>
          <a:bodyPr/>
          <a:p/>
        </p:txBody>
      </p:sp>
      <p:sp>
        <p:nvSpPr>
          <p:cNvPr id="8" name="Text 6"/>
          <p:cNvSpPr txBox="1"/>
          <p:nvPr/>
        </p:nvSpPr>
        <p:spPr>
          <a:xfrm>
            <a:off x="685800" y="26898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6167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HTML5 semantic elements, and why they matter for accessibility and SEO</a:t>
            </a:r>
            <a:endParaRPr lang="en-US" sz="1500" dirty="0"/>
          </a:p>
        </p:txBody>
      </p:sp>
      <p:sp>
        <p:nvSpPr>
          <p:cNvPr id="10" name="Shape 8"/>
          <p:cNvSpPr/>
          <p:nvPr/>
        </p:nvSpPr>
        <p:spPr>
          <a:xfrm>
            <a:off x="685800" y="3413760"/>
            <a:ext cx="457200" cy="457200"/>
          </a:xfrm>
          <a:prstGeom prst="ellipse">
            <a:avLst/>
          </a:prstGeom>
          <a:solidFill>
            <a:srgbClr val="FF8A3D"/>
          </a:solidFill>
          <a:ln/>
        </p:spPr>
        <p:txBody>
          <a:bodyPr/>
          <a:p/>
        </p:txBody>
      </p:sp>
      <p:sp>
        <p:nvSpPr>
          <p:cNvPr id="11" name="Text 9"/>
          <p:cNvSpPr txBox="1"/>
          <p:nvPr/>
        </p:nvSpPr>
        <p:spPr>
          <a:xfrm>
            <a:off x="685800" y="34137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3406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Build forms: &lt;form&gt;, action/method — including a real Google search GET form</a:t>
            </a:r>
            <a:endParaRPr lang="en-US" sz="1500" dirty="0"/>
          </a:p>
        </p:txBody>
      </p:sp>
      <p:sp>
        <p:nvSpPr>
          <p:cNvPr id="13" name="Shape 11"/>
          <p:cNvSpPr/>
          <p:nvPr/>
        </p:nvSpPr>
        <p:spPr>
          <a:xfrm>
            <a:off x="685800" y="4137660"/>
            <a:ext cx="457200" cy="457200"/>
          </a:xfrm>
          <a:prstGeom prst="ellipse">
            <a:avLst/>
          </a:prstGeom>
          <a:solidFill>
            <a:srgbClr val="FF8A3D"/>
          </a:solidFill>
          <a:ln/>
        </p:spPr>
        <p:txBody>
          <a:bodyPr/>
          <a:p/>
        </p:txBody>
      </p:sp>
      <p:sp>
        <p:nvSpPr>
          <p:cNvPr id="14" name="Text 12"/>
          <p:cNvSpPr txBox="1"/>
          <p:nvPr/>
        </p:nvSpPr>
        <p:spPr>
          <a:xfrm>
            <a:off x="685800" y="41376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 13"/>
          <p:cNvSpPr txBox="1"/>
          <p:nvPr/>
        </p:nvSpPr>
        <p:spPr>
          <a:xfrm>
            <a:off x="1371600" y="40645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&lt;input&gt; types, &lt;select&gt;, &lt;textarea&gt;, &lt;button&gt;</a:t>
            </a:r>
            <a:endParaRPr lang="en-US" sz="1500" dirty="0"/>
          </a:p>
        </p:txBody>
      </p:sp>
      <p:sp>
        <p:nvSpPr>
          <p:cNvPr id="16" name="Shape 14"/>
          <p:cNvSpPr/>
          <p:nvPr/>
        </p:nvSpPr>
        <p:spPr>
          <a:xfrm>
            <a:off x="685800" y="4861560"/>
            <a:ext cx="457200" cy="457200"/>
          </a:xfrm>
          <a:prstGeom prst="ellipse">
            <a:avLst/>
          </a:prstGeom>
          <a:solidFill>
            <a:srgbClr val="FF8A3D"/>
          </a:solidFill>
          <a:ln/>
        </p:spPr>
        <p:txBody>
          <a:bodyPr/>
          <a:p/>
        </p:txBody>
      </p:sp>
      <p:sp>
        <p:nvSpPr>
          <p:cNvPr id="17" name="Text 15"/>
          <p:cNvSpPr txBox="1"/>
          <p:nvPr/>
        </p:nvSpPr>
        <p:spPr>
          <a:xfrm>
            <a:off x="685800" y="48615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8" name="Text 16"/>
          <p:cNvSpPr txBox="1"/>
          <p:nvPr/>
        </p:nvSpPr>
        <p:spPr>
          <a:xfrm>
            <a:off x="1371600" y="47884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Upload files with multipart/form-data</a:t>
            </a:r>
            <a:endParaRPr lang="en-US" sz="1500" dirty="0"/>
          </a:p>
        </p:txBody>
      </p:sp>
      <p:sp>
        <p:nvSpPr>
          <p:cNvPr id="19" name="Shape 17"/>
          <p:cNvSpPr/>
          <p:nvPr/>
        </p:nvSpPr>
        <p:spPr>
          <a:xfrm>
            <a:off x="685800" y="5585460"/>
            <a:ext cx="457200" cy="457200"/>
          </a:xfrm>
          <a:prstGeom prst="ellipse">
            <a:avLst/>
          </a:prstGeom>
          <a:solidFill>
            <a:srgbClr val="FF8A3D"/>
          </a:solidFill>
          <a:ln/>
        </p:spPr>
        <p:txBody>
          <a:bodyPr/>
          <a:p/>
        </p:txBody>
      </p:sp>
      <p:sp>
        <p:nvSpPr>
          <p:cNvPr id="20" name="Text 18"/>
          <p:cNvSpPr txBox="1"/>
          <p:nvPr/>
        </p:nvSpPr>
        <p:spPr>
          <a:xfrm>
            <a:off x="685800" y="55854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1" name="Text 19"/>
          <p:cNvSpPr txBox="1"/>
          <p:nvPr/>
        </p:nvSpPr>
        <p:spPr>
          <a:xfrm>
            <a:off x="1371600" y="55123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Client-side validation with required, pattern, min, max</a:t>
            </a:r>
            <a:endParaRPr lang="en-US" sz="1500" dirty="0"/>
          </a:p>
        </p:txBody>
      </p:sp>
      <p:sp>
        <p:nvSpPr>
          <p:cNvPr id="24"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LAYOUT BASICS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Block-Level vs. Inline (Recap)</a:t>
            </a:r>
            <a:endParaRPr lang="en-US" sz="3400" dirty="0"/>
          </a:p>
        </p:txBody>
      </p:sp>
      <p:sp>
        <p:nvSpPr>
          <p:cNvPr id="4" name="Text 2"/>
          <p:cNvSpPr txBox="1"/>
          <p:nvPr/>
        </p:nvSpPr>
        <p:spPr>
          <a:xfrm>
            <a:off x="640080" y="1691640"/>
            <a:ext cx="10911535" cy="411480"/>
          </a:xfrm>
          <a:prstGeom prst="rect">
            <a:avLst/>
          </a:prstGeom>
          <a:noFill/>
          <a:ln/>
        </p:spPr>
        <p:txBody>
          <a:bodyPr wrap="square" lIns="0" tIns="0" rIns="0" bIns="0" rtlCol="0" anchor="ctr"/>
          <a:lstStyle/>
          <a:p>
            <a:pPr indent="0" marL="0">
              <a:buNone/>
            </a:pPr>
            <a:r>
              <a:rPr lang="en-US" sz="1350" i="1" dirty="0">
                <a:solidFill>
                  <a:srgbClr val="5D5D72"/>
                </a:solidFill>
                <a:latin typeface="Calibri" pitchFamily="34" charset="0"/>
                <a:ea typeface="Calibri" pitchFamily="34" charset="-122"/>
                <a:cs typeface="Calibri" pitchFamily="34" charset="-120"/>
              </a:rPr>
              <a:t>Block elements each claim their own line; inline elements flow within the surrounding text.</a:t>
            </a:r>
            <a:endParaRPr lang="en-US" sz="1350" dirty="0"/>
          </a:p>
        </p:txBody>
      </p:sp>
      <p:sp>
        <p:nvSpPr>
          <p:cNvPr id="5" name="Shape 3"/>
          <p:cNvSpPr/>
          <p:nvPr/>
        </p:nvSpPr>
        <p:spPr>
          <a:xfrm>
            <a:off x="640080" y="2240280"/>
            <a:ext cx="10911535" cy="1739265"/>
          </a:xfrm>
          <a:prstGeom prst="roundRect">
            <a:avLst>
              <a:gd name="adj" fmla="val 4206"/>
            </a:avLst>
          </a:prstGeom>
          <a:solidFill>
            <a:srgbClr val="1E1E4C"/>
          </a:solidFill>
          <a:ln/>
        </p:spPr>
        <p:txBody>
          <a:bodyPr/>
          <a:p/>
        </p:txBody>
      </p:sp>
      <p:sp>
        <p:nvSpPr>
          <p:cNvPr id="6" name="Text 4"/>
          <p:cNvSpPr txBox="1"/>
          <p:nvPr/>
        </p:nvSpPr>
        <p:spPr>
          <a:xfrm>
            <a:off x="960120" y="2468880"/>
            <a:ext cx="10271455" cy="1282065"/>
          </a:xfrm>
          <a:prstGeom prst="rect">
            <a:avLst/>
          </a:prstGeom>
          <a:noFill/>
          <a:ln/>
        </p:spPr>
        <p:txBody>
          <a:bodyPr wrap="square" lIns="0" tIns="0" rIns="0" bIns="0" rtlCol="0" anchor="t"/>
          <a:lstStyle/>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&lt;p&gt;This is a block-level paragraph.&lt;/p&gt;</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&lt;p&gt;This is another block — starts on its own line.&lt;/p&gt;</a:t>
            </a:r>
            <a:endParaRPr lang="en-US" sz="1250" dirty="0"/>
          </a:p>
          <a:p>
            <a:pPr indent="0" marL="0">
              <a:lnSpc>
                <a:spcPct val="125000"/>
              </a:lnSpc>
              <a:buNone/>
            </a:pP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&lt;p&gt;This sentence has an &lt;strong&gt;inline bold word&lt;/strong&gt; and an</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&lt;a href="#"&gt;inline link&lt;/a&gt; in the flow of the text.&lt;/p&gt;</a:t>
            </a:r>
            <a:endParaRPr lang="en-US" sz="1250" dirty="0"/>
          </a:p>
        </p:txBody>
      </p:sp>
      <p:sp>
        <p:nvSpPr>
          <p:cNvPr id="7" name="Shape 5"/>
          <p:cNvSpPr/>
          <p:nvPr/>
        </p:nvSpPr>
        <p:spPr>
          <a:xfrm>
            <a:off x="530352" y="4144137"/>
            <a:ext cx="11130991" cy="2183511"/>
          </a:xfrm>
          <a:prstGeom prst="roundRect">
            <a:avLst>
              <a:gd name="adj" fmla="val 2513"/>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txBody>
          <a:bodyPr/>
          <a:p/>
        </p:txBody>
      </p:sp>
      <p:pic>
        <p:nvPicPr>
          <p:cNvPr id="8" name="Image 0" descr="D:/GitHub/mern-web-book/docs/assets/img/lecture-04/block-inline.png">    </p:cNvPr>
          <p:cNvPicPr>
            <a:picLocks noChangeAspect="1"/>
          </p:cNvPicPr>
          <p:nvPr/>
        </p:nvPicPr>
        <p:blipFill>
          <a:blip r:embed="rId1"/>
          <a:stretch>
            <a:fillRect/>
          </a:stretch>
        </p:blipFill>
        <p:spPr>
          <a:xfrm>
            <a:off x="640080" y="4351951"/>
            <a:ext cx="10911535" cy="1767882"/>
          </a:xfrm>
          <a:prstGeom prst="rect">
            <a:avLst/>
          </a:prstGeom>
        </p:spPr>
      </p:pic>
      <p:sp>
        <p:nvSpPr>
          <p:cNvPr id="11"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4"/>
              </a:rPr>
              <a:t>cuinotes.com</a:t>
            </a:r>
            <a:r>
              <a:rPr sz="1000">
                <a:solidFill>
                  <a:srgbClr val="8A939B"/>
                </a:solidFill>
              </a:rPr>
              <a:t>  ·  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GENERIC CONTAINERS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The Generic &lt;div&gt; and &lt;span&gt;</a:t>
            </a:r>
            <a:endParaRPr lang="en-US" sz="3400" dirty="0"/>
          </a:p>
        </p:txBody>
      </p:sp>
      <p:sp>
        <p:nvSpPr>
          <p:cNvPr id="4" name="Text 2"/>
          <p:cNvSpPr txBox="1"/>
          <p:nvPr/>
        </p:nvSpPr>
        <p:spPr>
          <a:xfrm>
            <a:off x="640080" y="1691640"/>
            <a:ext cx="10911535" cy="411480"/>
          </a:xfrm>
          <a:prstGeom prst="rect">
            <a:avLst/>
          </a:prstGeom>
          <a:noFill/>
          <a:ln/>
        </p:spPr>
        <p:txBody>
          <a:bodyPr wrap="square" lIns="0" tIns="0" rIns="0" bIns="0" rtlCol="0" anchor="ctr"/>
          <a:lstStyle/>
          <a:p>
            <a:pPr indent="0" marL="0">
              <a:buNone/>
            </a:pPr>
            <a:r>
              <a:rPr lang="en-US" sz="1350" i="1" dirty="0">
                <a:solidFill>
                  <a:srgbClr val="5D5D72"/>
                </a:solidFill>
                <a:latin typeface="Calibri" pitchFamily="34" charset="0"/>
                <a:ea typeface="Calibri" pitchFamily="34" charset="-122"/>
                <a:cs typeface="Calibri" pitchFamily="34" charset="-120"/>
              </a:rPr>
              <a:t>&lt;div&gt; is a generic BLOCK container; &lt;span&gt; is a generic INLINE container — neither means anything on its own.</a:t>
            </a:r>
            <a:endParaRPr lang="en-US" sz="1350" dirty="0"/>
          </a:p>
        </p:txBody>
      </p:sp>
      <p:sp>
        <p:nvSpPr>
          <p:cNvPr id="5" name="Shape 3"/>
          <p:cNvSpPr/>
          <p:nvPr/>
        </p:nvSpPr>
        <p:spPr>
          <a:xfrm>
            <a:off x="640080" y="2240280"/>
            <a:ext cx="10911535" cy="1739265"/>
          </a:xfrm>
          <a:prstGeom prst="roundRect">
            <a:avLst>
              <a:gd name="adj" fmla="val 4206"/>
            </a:avLst>
          </a:prstGeom>
          <a:solidFill>
            <a:srgbClr val="1E1E4C"/>
          </a:solidFill>
          <a:ln/>
        </p:spPr>
        <p:txBody>
          <a:bodyPr/>
          <a:p/>
        </p:txBody>
      </p:sp>
      <p:sp>
        <p:nvSpPr>
          <p:cNvPr id="6" name="Text 4"/>
          <p:cNvSpPr txBox="1"/>
          <p:nvPr/>
        </p:nvSpPr>
        <p:spPr>
          <a:xfrm>
            <a:off x="960120" y="2468880"/>
            <a:ext cx="10271455" cy="1282065"/>
          </a:xfrm>
          <a:prstGeom prst="rect">
            <a:avLst/>
          </a:prstGeom>
          <a:noFill/>
          <a:ln/>
        </p:spPr>
        <p:txBody>
          <a:bodyPr wrap="square" lIns="0" tIns="0" rIns="0" bIns="0" rtlCol="0" anchor="t"/>
          <a:lstStyle/>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&lt;div class="card"&gt;</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&lt;p&gt;Some content wrapped in a div so it can be styled as a "card".&lt;/p&gt;</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&lt;/div&gt;</a:t>
            </a:r>
            <a:endParaRPr lang="en-US" sz="1250" dirty="0"/>
          </a:p>
          <a:p>
            <a:pPr indent="0" marL="0">
              <a:lnSpc>
                <a:spcPct val="125000"/>
              </a:lnSpc>
              <a:buNone/>
            </a:pP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&lt;p&gt;The price is &lt;span class="highlight-price"&gt;$25&lt;/span&gt; today only.&lt;/p&gt;</a:t>
            </a:r>
            <a:endParaRPr lang="en-US" sz="1250" dirty="0"/>
          </a:p>
        </p:txBody>
      </p:sp>
      <p:sp>
        <p:nvSpPr>
          <p:cNvPr id="7" name="Shape 5"/>
          <p:cNvSpPr/>
          <p:nvPr/>
        </p:nvSpPr>
        <p:spPr>
          <a:xfrm>
            <a:off x="530352" y="4144137"/>
            <a:ext cx="11130991" cy="2183511"/>
          </a:xfrm>
          <a:prstGeom prst="roundRect">
            <a:avLst>
              <a:gd name="adj" fmla="val 2513"/>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txBody>
          <a:bodyPr/>
          <a:p/>
        </p:txBody>
      </p:sp>
      <p:pic>
        <p:nvPicPr>
          <p:cNvPr id="8" name="Image 0" descr="D:/GitHub/mern-web-book/docs/assets/img/lecture-04/div-span.png">    </p:cNvPr>
          <p:cNvPicPr>
            <a:picLocks noChangeAspect="1"/>
          </p:cNvPicPr>
          <p:nvPr/>
        </p:nvPicPr>
        <p:blipFill>
          <a:blip r:embed="rId1"/>
          <a:stretch>
            <a:fillRect/>
          </a:stretch>
        </p:blipFill>
        <p:spPr>
          <a:xfrm>
            <a:off x="640080" y="4486558"/>
            <a:ext cx="10911535" cy="1498668"/>
          </a:xfrm>
          <a:prstGeom prst="rect">
            <a:avLst/>
          </a:prstGeom>
        </p:spPr>
      </p:pic>
      <p:sp>
        <p:nvSpPr>
          <p:cNvPr id="11"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4"/>
              </a:rPr>
              <a:t>cuinotes.com</a:t>
            </a:r>
            <a:r>
              <a:rPr sz="1000">
                <a:solidFill>
                  <a:srgbClr val="8A939B"/>
                </a:solidFill>
              </a:rPr>
              <a:t>  ·  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SEMANTIC HTML</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Meaningless Divs vs. Semantic Tags</a:t>
            </a:r>
            <a:endParaRPr lang="en-US" sz="3400" dirty="0"/>
          </a:p>
        </p:txBody>
      </p:sp>
      <p:sp>
        <p:nvSpPr>
          <p:cNvPr id="4" name="Shape 2"/>
          <p:cNvSpPr/>
          <p:nvPr/>
        </p:nvSpPr>
        <p:spPr>
          <a:xfrm>
            <a:off x="640080" y="1965960"/>
            <a:ext cx="5341468" cy="4114800"/>
          </a:xfrm>
          <a:prstGeom prst="roundRect">
            <a:avLst>
              <a:gd name="adj" fmla="val 2000"/>
            </a:avLst>
          </a:prstGeom>
          <a:solidFill>
            <a:srgbClr val="F1F1F8"/>
          </a:solidFill>
          <a:ln w="12700">
            <a:solidFill>
              <a:srgbClr val="E2E2EE"/>
            </a:solidFill>
            <a:prstDash val="solid"/>
          </a:ln>
        </p:spPr>
        <p:txBody>
          <a:bodyPr/>
          <a:p/>
        </p:txBody>
      </p:sp>
      <p:sp>
        <p:nvSpPr>
          <p:cNvPr id="5" name="Text 3"/>
          <p:cNvSpPr txBox="1"/>
          <p:nvPr/>
        </p:nvSpPr>
        <p:spPr>
          <a:xfrm>
            <a:off x="896112" y="2194560"/>
            <a:ext cx="4829404" cy="365760"/>
          </a:xfrm>
          <a:prstGeom prst="rect">
            <a:avLst/>
          </a:prstGeom>
          <a:noFill/>
          <a:ln/>
        </p:spPr>
        <p:txBody>
          <a:bodyPr wrap="square" lIns="0" tIns="0" rIns="0" bIns="0" rtlCol="0" anchor="ctr"/>
          <a:lstStyle/>
          <a:p>
            <a:pPr indent="0" marL="0">
              <a:buNone/>
            </a:pPr>
            <a:r>
              <a:rPr lang="en-US" sz="1250" b="1" spc="150" kern="0" dirty="0">
                <a:solidFill>
                  <a:srgbClr val="2B2B7A"/>
                </a:solidFill>
                <a:latin typeface="Calibri" pitchFamily="34" charset="0"/>
                <a:ea typeface="Calibri" pitchFamily="34" charset="-122"/>
                <a:cs typeface="Calibri" pitchFamily="34" charset="-120"/>
              </a:rPr>
              <a:t>WITHOUT SEMANTICS (OLD STYLE)</a:t>
            </a:r>
            <a:endParaRPr lang="en-US" sz="1250" dirty="0"/>
          </a:p>
        </p:txBody>
      </p:sp>
      <p:sp>
        <p:nvSpPr>
          <p:cNvPr id="6" name="Text 4"/>
          <p:cNvSpPr txBox="1"/>
          <p:nvPr/>
        </p:nvSpPr>
        <p:spPr>
          <a:xfrm>
            <a:off x="896112" y="2651760"/>
            <a:ext cx="4829404" cy="32004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&lt;div class="header"&gt;</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&lt;div class="nav"&gt;</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&lt;div class="main-content"&gt;</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&lt;div class="footer"&gt;</a:t>
            </a:r>
            <a:endParaRPr lang="en-US" sz="1200" dirty="0"/>
          </a:p>
        </p:txBody>
      </p:sp>
      <p:sp>
        <p:nvSpPr>
          <p:cNvPr id="7" name="Shape 5"/>
          <p:cNvSpPr/>
          <p:nvPr/>
        </p:nvSpPr>
        <p:spPr>
          <a:xfrm>
            <a:off x="6210148" y="1965960"/>
            <a:ext cx="5341468" cy="4114800"/>
          </a:xfrm>
          <a:prstGeom prst="roundRect">
            <a:avLst>
              <a:gd name="adj" fmla="val 2000"/>
            </a:avLst>
          </a:prstGeom>
          <a:solidFill>
            <a:srgbClr val="F1F1F8"/>
          </a:solidFill>
          <a:ln w="12700">
            <a:solidFill>
              <a:srgbClr val="E2E2EE"/>
            </a:solidFill>
            <a:prstDash val="solid"/>
          </a:ln>
        </p:spPr>
        <p:txBody>
          <a:bodyPr/>
          <a:p/>
        </p:txBody>
      </p:sp>
      <p:sp>
        <p:nvSpPr>
          <p:cNvPr id="8" name="Text 6"/>
          <p:cNvSpPr txBox="1"/>
          <p:nvPr/>
        </p:nvSpPr>
        <p:spPr>
          <a:xfrm>
            <a:off x="6466180" y="2194560"/>
            <a:ext cx="4829404" cy="365760"/>
          </a:xfrm>
          <a:prstGeom prst="rect">
            <a:avLst/>
          </a:prstGeom>
          <a:noFill/>
          <a:ln/>
        </p:spPr>
        <p:txBody>
          <a:bodyPr wrap="square" lIns="0" tIns="0" rIns="0" bIns="0" rtlCol="0" anchor="ctr"/>
          <a:lstStyle/>
          <a:p>
            <a:pPr indent="0" marL="0">
              <a:buNone/>
            </a:pPr>
            <a:r>
              <a:rPr lang="en-US" sz="1250" b="1" spc="150" kern="0" dirty="0">
                <a:solidFill>
                  <a:srgbClr val="E67528"/>
                </a:solidFill>
                <a:latin typeface="Calibri" pitchFamily="34" charset="0"/>
                <a:ea typeface="Calibri" pitchFamily="34" charset="-122"/>
                <a:cs typeface="Calibri" pitchFamily="34" charset="-120"/>
              </a:rPr>
              <a:t>WITH SEMANTICS (HTML5)</a:t>
            </a:r>
            <a:endParaRPr lang="en-US" sz="1250" dirty="0"/>
          </a:p>
        </p:txBody>
      </p:sp>
      <p:sp>
        <p:nvSpPr>
          <p:cNvPr id="9" name="Text 7"/>
          <p:cNvSpPr txBox="1"/>
          <p:nvPr/>
        </p:nvSpPr>
        <p:spPr>
          <a:xfrm>
            <a:off x="6466180" y="2651760"/>
            <a:ext cx="4829404" cy="32004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&lt;header&gt;</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&lt;nav&gt;</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&lt;main&gt;</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&lt;footer&gt;</a:t>
            </a:r>
            <a:endParaRPr lang="en-US" sz="1200" dirty="0"/>
          </a:p>
        </p:txBody>
      </p:sp>
      <p:sp>
        <p:nvSpPr>
          <p:cNvPr id="12"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SEMANTIC HTML</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The Main Semantic Elements</a:t>
            </a:r>
            <a:endParaRPr lang="en-US" sz="3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911535" cy="914400"/>
        </p:xfrm>
        <a:graphic>
          <a:graphicData uri="http://schemas.openxmlformats.org/drawingml/2006/table">
            <a:tbl>
              <a:tblPr/>
              <a:tblGrid>
                <a:gridCol w="2377440"/>
                <a:gridCol w="8595360"/>
              </a:tblGrid>
              <a:tr h="566928">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Element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Represents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&lt;header&gt;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Introductory content — logo, title, nav</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&lt;nav&gt;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A block of navigation links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&lt;main&gt;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The primary, unique content (only one per page)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&lt;section&gt; / &lt;article&gt;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A themed grouping / self-contained standalone content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&lt;aside&gt;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Content tangentially related (a sidebar)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&lt;footer&gt;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Closing content — copyright, contact links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bl>
          </a:graphicData>
        </a:graphic>
      </p:graphicFrame>
      <p:sp>
        <p:nvSpPr>
          <p:cNvPr id="8"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SEMANTIC HTML</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 Full Page Skeleton</a:t>
            </a:r>
            <a:endParaRPr lang="en-US" sz="3400" dirty="0"/>
          </a:p>
        </p:txBody>
      </p:sp>
      <p:sp>
        <p:nvSpPr>
          <p:cNvPr id="4" name="Shape 2"/>
          <p:cNvSpPr/>
          <p:nvPr/>
        </p:nvSpPr>
        <p:spPr>
          <a:xfrm>
            <a:off x="640080" y="1965960"/>
            <a:ext cx="10911535" cy="2948940"/>
          </a:xfrm>
          <a:prstGeom prst="roundRect">
            <a:avLst>
              <a:gd name="adj" fmla="val 2481"/>
            </a:avLst>
          </a:prstGeom>
          <a:solidFill>
            <a:srgbClr val="1E1E4C"/>
          </a:solidFill>
          <a:ln/>
        </p:spPr>
        <p:txBody>
          <a:bodyPr/>
          <a:p/>
        </p:txBody>
      </p:sp>
      <p:sp>
        <p:nvSpPr>
          <p:cNvPr id="5" name="Text 3"/>
          <p:cNvSpPr txBox="1"/>
          <p:nvPr/>
        </p:nvSpPr>
        <p:spPr>
          <a:xfrm>
            <a:off x="960120" y="2194560"/>
            <a:ext cx="10271455" cy="24917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&lt;header&gt;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&lt;h1&gt;My Tech Blog&lt;/h1&gt;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&lt;nav&gt;&lt;a href="/"&gt;Home&lt;/a&gt; &lt;a href="/about.html"&gt;About&lt;/a&gt;&lt;/nav&gt;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&lt;/header&gt;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&lt;main&gt;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&lt;article&gt;&lt;h2&gt;Why Semantic HTML Matters&lt;/h2&gt;&lt;p&gt;Semantic tags help everyone.&lt;/p&gt;&lt;/article&gt;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&lt;aside&gt;&lt;h3&gt;Related Posts&lt;/h3&gt;&lt;/aside&gt;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&lt;/main&gt;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&lt;footer&gt;&lt;p&gt;&amp;copy; 2026 My Tech Blog.&lt;/p&gt;&lt;/footer&gt;</a:t>
            </a:r>
            <a:endParaRPr lang="en-US" sz="1400" dirty="0"/>
          </a:p>
        </p:txBody>
      </p:sp>
      <p:sp>
        <p:nvSpPr>
          <p:cNvPr id="8"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SEMANTIC HTML</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 Full Page Skeleton, Rendered</a:t>
            </a:r>
            <a:endParaRPr lang="en-US" sz="3400" dirty="0"/>
          </a:p>
        </p:txBody>
      </p:sp>
      <p:sp>
        <p:nvSpPr>
          <p:cNvPr id="4" name="Text 2"/>
          <p:cNvSpPr txBox="1"/>
          <p:nvPr/>
        </p:nvSpPr>
        <p:spPr>
          <a:xfrm>
            <a:off x="640080" y="1691640"/>
            <a:ext cx="10911535" cy="411480"/>
          </a:xfrm>
          <a:prstGeom prst="rect">
            <a:avLst/>
          </a:prstGeom>
          <a:noFill/>
          <a:ln/>
        </p:spPr>
        <p:txBody>
          <a:bodyPr wrap="square" lIns="0" tIns="0" rIns="0" bIns="0" rtlCol="0" anchor="ctr"/>
          <a:lstStyle/>
          <a:p>
            <a:pPr indent="0" marL="0">
              <a:buNone/>
            </a:pPr>
            <a:r>
              <a:rPr lang="en-US" sz="1350" i="1" dirty="0">
                <a:solidFill>
                  <a:srgbClr val="5D5D72"/>
                </a:solidFill>
                <a:latin typeface="Calibri" pitchFamily="34" charset="0"/>
                <a:ea typeface="Calibri" pitchFamily="34" charset="-122"/>
                <a:cs typeface="Calibri" pitchFamily="34" charset="-120"/>
              </a:rPr>
              <a:t>Semantic elements have no built-in visual style — but every section genuinely exists in the markup.</a:t>
            </a:r>
            <a:endParaRPr lang="en-US" sz="1350" dirty="0"/>
          </a:p>
        </p:txBody>
      </p:sp>
      <p:sp>
        <p:nvSpPr>
          <p:cNvPr id="5" name="Shape 3"/>
          <p:cNvSpPr/>
          <p:nvPr/>
        </p:nvSpPr>
        <p:spPr>
          <a:xfrm>
            <a:off x="530352" y="2221992"/>
            <a:ext cx="11130991" cy="4059936"/>
          </a:xfrm>
          <a:prstGeom prst="roundRect">
            <a:avLst>
              <a:gd name="adj" fmla="val 1351"/>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txBody>
          <a:bodyPr/>
          <a:p/>
        </p:txBody>
      </p:sp>
      <p:pic>
        <p:nvPicPr>
          <p:cNvPr id="6" name="Image 0" descr="D:/GitHub/mern-web-book/docs/assets/img/lecture-04/semantic-skeleton.png">    </p:cNvPr>
          <p:cNvPicPr>
            <a:picLocks noChangeAspect="1"/>
          </p:cNvPicPr>
          <p:nvPr/>
        </p:nvPicPr>
        <p:blipFill>
          <a:blip r:embed="rId1"/>
          <a:stretch>
            <a:fillRect/>
          </a:stretch>
        </p:blipFill>
        <p:spPr>
          <a:xfrm>
            <a:off x="2221244" y="2331720"/>
            <a:ext cx="7749208" cy="3840480"/>
          </a:xfrm>
          <a:prstGeom prst="rect">
            <a:avLst/>
          </a:prstGeom>
        </p:spPr>
      </p:pic>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4"/>
              </a:rPr>
              <a:t>cuinotes.com</a:t>
            </a:r>
            <a:r>
              <a:rPr sz="1000">
                <a:solidFill>
                  <a:srgbClr val="8A939B"/>
                </a:solidFill>
              </a:rPr>
              <a:t>  ·  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WHY IT MATTERS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Accessibility and SEO</a:t>
            </a:r>
            <a:endParaRPr lang="en-US" sz="3400" dirty="0"/>
          </a:p>
        </p:txBody>
      </p:sp>
      <p:sp>
        <p:nvSpPr>
          <p:cNvPr id="4" name="Shape 2"/>
          <p:cNvSpPr/>
          <p:nvPr/>
        </p:nvSpPr>
        <p:spPr>
          <a:xfrm>
            <a:off x="685800" y="2185416"/>
            <a:ext cx="82296" cy="82296"/>
          </a:xfrm>
          <a:prstGeom prst="ellipse">
            <a:avLst/>
          </a:prstGeom>
          <a:solidFill>
            <a:srgbClr val="FF8A3D"/>
          </a:solidFill>
          <a:ln/>
        </p:spPr>
        <p:txBody>
          <a:bodyPr/>
          <a:p/>
        </p:txBody>
      </p:sp>
      <p:sp>
        <p:nvSpPr>
          <p:cNvPr id="5" name="Text 3"/>
          <p:cNvSpPr txBox="1"/>
          <p:nvPr/>
        </p:nvSpPr>
        <p:spPr>
          <a:xfrm>
            <a:off x="960120" y="1892808"/>
            <a:ext cx="1059149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Accessibility: screen readers use semantic tags to jump to navigation or skip to main content — a div-only page gives them nothing to work with</a:t>
            </a:r>
            <a:endParaRPr lang="en-US" sz="1500" dirty="0"/>
          </a:p>
        </p:txBody>
      </p:sp>
      <p:sp>
        <p:nvSpPr>
          <p:cNvPr id="6" name="Shape 4"/>
          <p:cNvSpPr/>
          <p:nvPr/>
        </p:nvSpPr>
        <p:spPr>
          <a:xfrm>
            <a:off x="685800" y="3008376"/>
            <a:ext cx="82296" cy="82296"/>
          </a:xfrm>
          <a:prstGeom prst="ellipse">
            <a:avLst/>
          </a:prstGeom>
          <a:solidFill>
            <a:srgbClr val="FF8A3D"/>
          </a:solidFill>
          <a:ln/>
        </p:spPr>
        <p:txBody>
          <a:bodyPr/>
          <a:p/>
        </p:txBody>
      </p:sp>
      <p:sp>
        <p:nvSpPr>
          <p:cNvPr id="7" name="Text 5"/>
          <p:cNvSpPr txBox="1"/>
          <p:nvPr/>
        </p:nvSpPr>
        <p:spPr>
          <a:xfrm>
            <a:off x="960120" y="2715768"/>
            <a:ext cx="1059149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SEO: search engines weight content inside &lt;article&gt;/&lt;main&gt;/headings more than anonymous &lt;div&gt;s</a:t>
            </a:r>
            <a:endParaRPr lang="en-US" sz="1500" dirty="0"/>
          </a:p>
        </p:txBody>
      </p:sp>
      <p:sp>
        <p:nvSpPr>
          <p:cNvPr id="8" name="Shape 6"/>
          <p:cNvSpPr/>
          <p:nvPr/>
        </p:nvSpPr>
        <p:spPr>
          <a:xfrm>
            <a:off x="685800" y="3831336"/>
            <a:ext cx="82296" cy="82296"/>
          </a:xfrm>
          <a:prstGeom prst="ellipse">
            <a:avLst/>
          </a:prstGeom>
          <a:solidFill>
            <a:srgbClr val="FF8A3D"/>
          </a:solidFill>
          <a:ln/>
        </p:spPr>
        <p:txBody>
          <a:bodyPr/>
          <a:p/>
        </p:txBody>
      </p:sp>
      <p:sp>
        <p:nvSpPr>
          <p:cNvPr id="9" name="Text 7"/>
          <p:cNvSpPr txBox="1"/>
          <p:nvPr/>
        </p:nvSpPr>
        <p:spPr>
          <a:xfrm>
            <a:off x="960120" y="3538728"/>
            <a:ext cx="1059149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Rule of thumb: reach for a semantic element first; fall back to &lt;div&gt;/&lt;span&gt; only when nothing else fits</a:t>
            </a:r>
            <a:endParaRPr lang="en-US" sz="1500" dirty="0"/>
          </a:p>
        </p:txBody>
      </p:sp>
      <p:sp>
        <p:nvSpPr>
          <p:cNvPr id="12"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HTML FORMS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 Basic Form</a:t>
            </a:r>
            <a:endParaRPr lang="en-US" sz="3400" dirty="0"/>
          </a:p>
        </p:txBody>
      </p:sp>
      <p:sp>
        <p:nvSpPr>
          <p:cNvPr id="4" name="Shape 2"/>
          <p:cNvSpPr/>
          <p:nvPr/>
        </p:nvSpPr>
        <p:spPr>
          <a:xfrm>
            <a:off x="640080" y="1965960"/>
            <a:ext cx="10911535" cy="2691765"/>
          </a:xfrm>
          <a:prstGeom prst="roundRect">
            <a:avLst>
              <a:gd name="adj" fmla="val 2718"/>
            </a:avLst>
          </a:prstGeom>
          <a:solidFill>
            <a:srgbClr val="1E1E4C"/>
          </a:solidFill>
          <a:ln/>
        </p:spPr>
        <p:txBody>
          <a:bodyPr/>
          <a:p/>
        </p:txBody>
      </p:sp>
      <p:sp>
        <p:nvSpPr>
          <p:cNvPr id="5" name="Text 3"/>
          <p:cNvSpPr txBox="1"/>
          <p:nvPr/>
        </p:nvSpPr>
        <p:spPr>
          <a:xfrm>
            <a:off x="960120" y="2194560"/>
            <a:ext cx="10271455" cy="2234565"/>
          </a:xfrm>
          <a:prstGeom prst="rect">
            <a:avLst/>
          </a:prstGeom>
          <a:noFill/>
          <a:ln/>
        </p:spPr>
        <p:txBody>
          <a:bodyPr wrap="square" lIns="0" tIns="0" rIns="0" bIns="0" rtlCol="0" anchor="t"/>
          <a:lstStyle/>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&lt;form action="/submit-login" method="POST"&gt;</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&lt;label for="username"&gt;Username:&lt;/label&gt;</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&lt;input type="text" id="username" name="username"&gt;</a:t>
            </a:r>
            <a:endParaRPr lang="en-US" sz="1250" dirty="0"/>
          </a:p>
          <a:p>
            <a:pPr indent="0" marL="0">
              <a:lnSpc>
                <a:spcPct val="125000"/>
              </a:lnSpc>
              <a:buNone/>
            </a:pP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&lt;label for="password"&gt;Password:&lt;/label&gt;</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&lt;input type="password" id="password" name="password"&gt;</a:t>
            </a:r>
            <a:endParaRPr lang="en-US" sz="1250" dirty="0"/>
          </a:p>
          <a:p>
            <a:pPr indent="0" marL="0">
              <a:lnSpc>
                <a:spcPct val="125000"/>
              </a:lnSpc>
              <a:buNone/>
            </a:pP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&lt;button type="submit"&gt;Log In&lt;/button&gt;</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&lt;/form&gt;</a:t>
            </a:r>
            <a:endParaRPr lang="en-US" sz="1250" dirty="0"/>
          </a:p>
        </p:txBody>
      </p:sp>
      <p:sp>
        <p:nvSpPr>
          <p:cNvPr id="6" name="Shape 4"/>
          <p:cNvSpPr/>
          <p:nvPr/>
        </p:nvSpPr>
        <p:spPr>
          <a:xfrm>
            <a:off x="530352" y="4822317"/>
            <a:ext cx="11130991" cy="1505331"/>
          </a:xfrm>
          <a:prstGeom prst="roundRect">
            <a:avLst>
              <a:gd name="adj" fmla="val 3645"/>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txBody>
          <a:bodyPr/>
          <a:p/>
        </p:txBody>
      </p:sp>
      <p:pic>
        <p:nvPicPr>
          <p:cNvPr id="7" name="Image 0" descr="D:/GitHub/mern-web-book/docs/assets/img/lecture-04/login-form.png">    </p:cNvPr>
          <p:cNvPicPr>
            <a:picLocks noChangeAspect="1"/>
          </p:cNvPicPr>
          <p:nvPr/>
        </p:nvPicPr>
        <p:blipFill>
          <a:blip r:embed="rId1"/>
          <a:stretch>
            <a:fillRect/>
          </a:stretch>
        </p:blipFill>
        <p:spPr>
          <a:xfrm>
            <a:off x="640080" y="5152810"/>
            <a:ext cx="10911535" cy="844345"/>
          </a:xfrm>
          <a:prstGeom prst="rect">
            <a:avLst/>
          </a:prstGeom>
        </p:spPr>
      </p:pic>
      <p:sp>
        <p:nvSpPr>
          <p:cNvPr id="10"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4"/>
              </a:rPr>
              <a:t>cuinotes.com</a:t>
            </a:r>
            <a:r>
              <a:rPr sz="1000">
                <a:solidFill>
                  <a:srgbClr val="8A939B"/>
                </a:solidFill>
              </a:rPr>
              <a:t>  ·  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HTML FORMS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What Happens on Submit</a:t>
            </a:r>
            <a:endParaRPr lang="en-US" sz="3400" dirty="0"/>
          </a:p>
        </p:txBody>
      </p:sp>
      <p:sp>
        <p:nvSpPr>
          <p:cNvPr id="4" name="Shape 2"/>
          <p:cNvSpPr/>
          <p:nvPr/>
        </p:nvSpPr>
        <p:spPr>
          <a:xfrm>
            <a:off x="640080" y="2514600"/>
            <a:ext cx="1779971" cy="1371600"/>
          </a:xfrm>
          <a:prstGeom prst="roundRect">
            <a:avLst>
              <a:gd name="adj" fmla="val 5333"/>
            </a:avLst>
          </a:prstGeom>
          <a:solidFill>
            <a:srgbClr val="2B2B7A"/>
          </a:solidFill>
          <a:ln/>
        </p:spPr>
        <p:txBody>
          <a:bodyPr/>
          <a:p/>
        </p:txBody>
      </p:sp>
      <p:sp>
        <p:nvSpPr>
          <p:cNvPr id="5" name="Text 3"/>
          <p:cNvSpPr txBox="1"/>
          <p:nvPr/>
        </p:nvSpPr>
        <p:spPr>
          <a:xfrm>
            <a:off x="731520" y="2624328"/>
            <a:ext cx="1597091"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User fills in</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form fields</a:t>
            </a:r>
            <a:endParaRPr lang="en-US" sz="1250" dirty="0"/>
          </a:p>
        </p:txBody>
      </p:sp>
      <p:sp>
        <p:nvSpPr>
          <p:cNvPr id="6" name="Shape 4"/>
          <p:cNvSpPr/>
          <p:nvPr/>
        </p:nvSpPr>
        <p:spPr>
          <a:xfrm>
            <a:off x="2420051" y="3200400"/>
            <a:ext cx="502920" cy="0"/>
          </a:xfrm>
          <a:prstGeom prst="line">
            <a:avLst/>
          </a:prstGeom>
          <a:noFill/>
          <a:ln w="25400">
            <a:solidFill>
              <a:srgbClr val="5D5D72"/>
            </a:solidFill>
            <a:prstDash val="solid"/>
            <a:tailEnd type="triangle"/>
          </a:ln>
        </p:spPr>
        <p:txBody>
          <a:bodyPr/>
          <a:p/>
        </p:txBody>
      </p:sp>
      <p:sp>
        <p:nvSpPr>
          <p:cNvPr id="7" name="Shape 5"/>
          <p:cNvSpPr/>
          <p:nvPr/>
        </p:nvSpPr>
        <p:spPr>
          <a:xfrm>
            <a:off x="2922971" y="2514600"/>
            <a:ext cx="1779971" cy="1371600"/>
          </a:xfrm>
          <a:prstGeom prst="roundRect">
            <a:avLst>
              <a:gd name="adj" fmla="val 5333"/>
            </a:avLst>
          </a:prstGeom>
          <a:solidFill>
            <a:srgbClr val="2B2B7A"/>
          </a:solidFill>
          <a:ln/>
        </p:spPr>
        <p:txBody>
          <a:bodyPr/>
          <a:p/>
        </p:txBody>
      </p:sp>
      <p:sp>
        <p:nvSpPr>
          <p:cNvPr id="8" name="Text 6"/>
          <p:cNvSpPr txBox="1"/>
          <p:nvPr/>
        </p:nvSpPr>
        <p:spPr>
          <a:xfrm>
            <a:off x="3014411" y="2624328"/>
            <a:ext cx="1597091"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Clicks the</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Submit button</a:t>
            </a:r>
            <a:endParaRPr lang="en-US" sz="1250" dirty="0"/>
          </a:p>
        </p:txBody>
      </p:sp>
      <p:sp>
        <p:nvSpPr>
          <p:cNvPr id="9" name="Shape 7"/>
          <p:cNvSpPr/>
          <p:nvPr/>
        </p:nvSpPr>
        <p:spPr>
          <a:xfrm>
            <a:off x="4702942" y="3200400"/>
            <a:ext cx="502920" cy="0"/>
          </a:xfrm>
          <a:prstGeom prst="line">
            <a:avLst/>
          </a:prstGeom>
          <a:noFill/>
          <a:ln w="25400">
            <a:solidFill>
              <a:srgbClr val="5D5D72"/>
            </a:solidFill>
            <a:prstDash val="solid"/>
            <a:tailEnd type="triangle"/>
          </a:ln>
        </p:spPr>
        <p:txBody>
          <a:bodyPr/>
          <a:p/>
        </p:txBody>
      </p:sp>
      <p:sp>
        <p:nvSpPr>
          <p:cNvPr id="10" name="Shape 8"/>
          <p:cNvSpPr/>
          <p:nvPr/>
        </p:nvSpPr>
        <p:spPr>
          <a:xfrm>
            <a:off x="5205862" y="2514600"/>
            <a:ext cx="1779971" cy="1371600"/>
          </a:xfrm>
          <a:prstGeom prst="roundRect">
            <a:avLst>
              <a:gd name="adj" fmla="val 5333"/>
            </a:avLst>
          </a:prstGeom>
          <a:solidFill>
            <a:srgbClr val="2B2B7A"/>
          </a:solidFill>
          <a:ln/>
        </p:spPr>
        <p:txBody>
          <a:bodyPr/>
          <a:p/>
        </p:txBody>
      </p:sp>
      <p:sp>
        <p:nvSpPr>
          <p:cNvPr id="11" name="Text 9"/>
          <p:cNvSpPr txBox="1"/>
          <p:nvPr/>
        </p:nvSpPr>
        <p:spPr>
          <a:xfrm>
            <a:off x="5297302" y="2624328"/>
            <a:ext cx="1597091"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Browser sends an</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HTTP request to</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the action URL</a:t>
            </a:r>
            <a:endParaRPr lang="en-US" sz="1250" dirty="0"/>
          </a:p>
        </p:txBody>
      </p:sp>
      <p:sp>
        <p:nvSpPr>
          <p:cNvPr id="12" name="Shape 10"/>
          <p:cNvSpPr/>
          <p:nvPr/>
        </p:nvSpPr>
        <p:spPr>
          <a:xfrm>
            <a:off x="6985833" y="3200400"/>
            <a:ext cx="502920" cy="0"/>
          </a:xfrm>
          <a:prstGeom prst="line">
            <a:avLst/>
          </a:prstGeom>
          <a:noFill/>
          <a:ln w="25400">
            <a:solidFill>
              <a:srgbClr val="5D5D72"/>
            </a:solidFill>
            <a:prstDash val="solid"/>
            <a:tailEnd type="triangle"/>
          </a:ln>
        </p:spPr>
        <p:txBody>
          <a:bodyPr/>
          <a:p/>
        </p:txBody>
      </p:sp>
      <p:sp>
        <p:nvSpPr>
          <p:cNvPr id="13" name="Shape 11"/>
          <p:cNvSpPr/>
          <p:nvPr/>
        </p:nvSpPr>
        <p:spPr>
          <a:xfrm>
            <a:off x="7488753" y="2514600"/>
            <a:ext cx="1779971" cy="1371600"/>
          </a:xfrm>
          <a:prstGeom prst="roundRect">
            <a:avLst>
              <a:gd name="adj" fmla="val 5333"/>
            </a:avLst>
          </a:prstGeom>
          <a:solidFill>
            <a:srgbClr val="2B2B7A"/>
          </a:solidFill>
          <a:ln/>
        </p:spPr>
        <p:txBody>
          <a:bodyPr/>
          <a:p/>
        </p:txBody>
      </p:sp>
      <p:sp>
        <p:nvSpPr>
          <p:cNvPr id="14" name="Text 12"/>
          <p:cNvSpPr txBox="1"/>
          <p:nvPr/>
        </p:nvSpPr>
        <p:spPr>
          <a:xfrm>
            <a:off x="7580193" y="2624328"/>
            <a:ext cx="1597091"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Server</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processes</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the data</a:t>
            </a:r>
            <a:endParaRPr lang="en-US" sz="1250" dirty="0"/>
          </a:p>
        </p:txBody>
      </p:sp>
      <p:sp>
        <p:nvSpPr>
          <p:cNvPr id="15" name="Shape 13"/>
          <p:cNvSpPr/>
          <p:nvPr/>
        </p:nvSpPr>
        <p:spPr>
          <a:xfrm>
            <a:off x="9268724" y="3200400"/>
            <a:ext cx="502920" cy="0"/>
          </a:xfrm>
          <a:prstGeom prst="line">
            <a:avLst/>
          </a:prstGeom>
          <a:noFill/>
          <a:ln w="25400">
            <a:solidFill>
              <a:srgbClr val="5D5D72"/>
            </a:solidFill>
            <a:prstDash val="solid"/>
            <a:tailEnd type="triangle"/>
          </a:ln>
        </p:spPr>
        <p:txBody>
          <a:bodyPr/>
          <a:p/>
        </p:txBody>
      </p:sp>
      <p:sp>
        <p:nvSpPr>
          <p:cNvPr id="16" name="Shape 14"/>
          <p:cNvSpPr/>
          <p:nvPr/>
        </p:nvSpPr>
        <p:spPr>
          <a:xfrm>
            <a:off x="9771644" y="2514600"/>
            <a:ext cx="1779971" cy="1371600"/>
          </a:xfrm>
          <a:prstGeom prst="roundRect">
            <a:avLst>
              <a:gd name="adj" fmla="val 5333"/>
            </a:avLst>
          </a:prstGeom>
          <a:solidFill>
            <a:srgbClr val="E67528"/>
          </a:solidFill>
          <a:ln/>
        </p:spPr>
        <p:txBody>
          <a:bodyPr/>
          <a:p/>
        </p:txBody>
      </p:sp>
      <p:sp>
        <p:nvSpPr>
          <p:cNvPr id="17" name="Text 15"/>
          <p:cNvSpPr txBox="1"/>
          <p:nvPr/>
        </p:nvSpPr>
        <p:spPr>
          <a:xfrm>
            <a:off x="9863084" y="2624328"/>
            <a:ext cx="1597091"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Server sends</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back a response</a:t>
            </a:r>
            <a:endParaRPr lang="en-US" sz="1250" dirty="0"/>
          </a:p>
        </p:txBody>
      </p:sp>
      <p:sp>
        <p:nvSpPr>
          <p:cNvPr id="18" name="Text 16"/>
          <p:cNvSpPr txBox="1"/>
          <p:nvPr/>
        </p:nvSpPr>
        <p:spPr>
          <a:xfrm>
            <a:off x="640080" y="4343400"/>
            <a:ext cx="10911535" cy="137160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The action URL and the method (GET or POST) decide where the request goes and how the form's data is packaged inside it.</a:t>
            </a:r>
            <a:endParaRPr lang="en-US" sz="1300" dirty="0"/>
          </a:p>
        </p:txBody>
      </p:sp>
      <p:sp>
        <p:nvSpPr>
          <p:cNvPr id="21"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HTML FORMS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The action and method Attributes</a:t>
            </a:r>
            <a:endParaRPr lang="en-US" sz="3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911535" cy="914400"/>
        </p:xfrm>
        <a:graphic>
          <a:graphicData uri="http://schemas.openxmlformats.org/drawingml/2006/table">
            <a:tbl>
              <a:tblPr/>
              <a:tblGrid>
                <a:gridCol w="2194560"/>
                <a:gridCol w="8778240"/>
              </a:tblGrid>
              <a:tr h="822960">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Attribute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Meaning</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r>
              <a:tr h="822960">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action</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The URL the form's data is sent to on submit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822960">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method: GET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Appends data to the URL as a query string — for searches, not sensitive data</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822960">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method: POST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Sends data in the request body — for anything that creates/changes data, or is sensitive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bl>
          </a:graphicData>
        </a:graphic>
      </p:graphicFrame>
      <p:sp>
        <p:nvSpPr>
          <p:cNvPr id="14"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SECURITY</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Never Use GET for Passwords</a:t>
            </a:r>
            <a:endParaRPr lang="en-US" sz="3400" dirty="0"/>
          </a:p>
        </p:txBody>
      </p:sp>
      <p:sp>
        <p:nvSpPr>
          <p:cNvPr id="4" name="Shape 2"/>
          <p:cNvSpPr/>
          <p:nvPr/>
        </p:nvSpPr>
        <p:spPr>
          <a:xfrm>
            <a:off x="640080" y="1965960"/>
            <a:ext cx="10911535" cy="1554480"/>
          </a:xfrm>
          <a:prstGeom prst="roundRect">
            <a:avLst>
              <a:gd name="adj" fmla="val 3529"/>
            </a:avLst>
          </a:prstGeom>
          <a:solidFill>
            <a:srgbClr val="FDECE0"/>
          </a:solidFill>
          <a:ln w="12700">
            <a:solidFill>
              <a:srgbClr val="FF8A3D"/>
            </a:solidFill>
            <a:prstDash val="solid"/>
          </a:ln>
        </p:spPr>
        <p:txBody>
          <a:bodyPr/>
          <a:p/>
        </p:txBody>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8A3A12"/>
                </a:solidFill>
                <a:latin typeface="Calibri" pitchFamily="34" charset="0"/>
                <a:ea typeface="Calibri" pitchFamily="34" charset="-122"/>
                <a:cs typeface="Calibri" pitchFamily="34" charset="-120"/>
              </a:rPr>
              <a:t>WARNING</a:t>
            </a:r>
            <a:endParaRPr lang="en-US" sz="1000" dirty="0"/>
          </a:p>
        </p:txBody>
      </p:sp>
      <p:sp>
        <p:nvSpPr>
          <p:cNvPr id="6" name="Text 4"/>
          <p:cNvSpPr txBox="1"/>
          <p:nvPr/>
        </p:nvSpPr>
        <p:spPr>
          <a:xfrm>
            <a:off x="868680" y="2404872"/>
            <a:ext cx="10454335" cy="96012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GET puts form values directly into the URL, where they can end up saved in browser history, server logs, and shared links. Always use POST for passwords and other sensitive information.</a:t>
            </a:r>
            <a:endParaRPr lang="en-US" sz="125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A REAL EXAMPLE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Searching Google with a GET Form</a:t>
            </a:r>
            <a:endParaRPr lang="en-US" sz="3400" dirty="0"/>
          </a:p>
        </p:txBody>
      </p:sp>
      <p:sp>
        <p:nvSpPr>
          <p:cNvPr id="4" name="Text 2"/>
          <p:cNvSpPr txBox="1"/>
          <p:nvPr/>
        </p:nvSpPr>
        <p:spPr>
          <a:xfrm>
            <a:off x="640080" y="1691640"/>
            <a:ext cx="10911535" cy="411480"/>
          </a:xfrm>
          <a:prstGeom prst="rect">
            <a:avLst/>
          </a:prstGeom>
          <a:noFill/>
          <a:ln/>
        </p:spPr>
        <p:txBody>
          <a:bodyPr wrap="square" lIns="0" tIns="0" rIns="0" bIns="0" rtlCol="0" anchor="ctr"/>
          <a:lstStyle/>
          <a:p>
            <a:pPr indent="0" marL="0">
              <a:buNone/>
            </a:pPr>
            <a:r>
              <a:rPr lang="en-US" sz="1350" i="1" dirty="0">
                <a:solidFill>
                  <a:srgbClr val="5D5D72"/>
                </a:solidFill>
                <a:latin typeface="Calibri" pitchFamily="34" charset="0"/>
                <a:ea typeface="Calibri" pitchFamily="34" charset="-122"/>
                <a:cs typeface="Calibri" pitchFamily="34" charset="-120"/>
              </a:rPr>
              <a:t>name="q" is the exact query-parameter name Google's search endpoint expects — submitting this form genuinely searches Google.</a:t>
            </a:r>
            <a:endParaRPr lang="en-US" sz="1350" dirty="0"/>
          </a:p>
        </p:txBody>
      </p:sp>
      <p:sp>
        <p:nvSpPr>
          <p:cNvPr id="5" name="Shape 3"/>
          <p:cNvSpPr/>
          <p:nvPr/>
        </p:nvSpPr>
        <p:spPr>
          <a:xfrm>
            <a:off x="640080" y="2240280"/>
            <a:ext cx="10911535" cy="1739265"/>
          </a:xfrm>
          <a:prstGeom prst="roundRect">
            <a:avLst>
              <a:gd name="adj" fmla="val 4206"/>
            </a:avLst>
          </a:prstGeom>
          <a:solidFill>
            <a:srgbClr val="1E1E4C"/>
          </a:solidFill>
          <a:ln/>
        </p:spPr>
        <p:txBody>
          <a:bodyPr/>
          <a:p/>
        </p:txBody>
      </p:sp>
      <p:sp>
        <p:nvSpPr>
          <p:cNvPr id="6" name="Text 4"/>
          <p:cNvSpPr txBox="1"/>
          <p:nvPr/>
        </p:nvSpPr>
        <p:spPr>
          <a:xfrm>
            <a:off x="960120" y="2468880"/>
            <a:ext cx="10271455" cy="1282065"/>
          </a:xfrm>
          <a:prstGeom prst="rect">
            <a:avLst/>
          </a:prstGeom>
          <a:noFill/>
          <a:ln/>
        </p:spPr>
        <p:txBody>
          <a:bodyPr wrap="square" lIns="0" tIns="0" rIns="0" bIns="0" rtlCol="0" anchor="t"/>
          <a:lstStyle/>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&lt;form action="https://www.google.com/search" method="GET"&gt;</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&lt;label for="q"&gt;Search Google:&lt;/label&gt;</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&lt;input type="text" id="q" name="q" placeholder="Type your search..."&gt;</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&lt;button type="submit"&gt;Search&lt;/button&gt;</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&lt;/form&gt;</a:t>
            </a:r>
            <a:endParaRPr lang="en-US" sz="1250" dirty="0"/>
          </a:p>
        </p:txBody>
      </p:sp>
      <p:sp>
        <p:nvSpPr>
          <p:cNvPr id="7" name="Shape 5"/>
          <p:cNvSpPr/>
          <p:nvPr/>
        </p:nvSpPr>
        <p:spPr>
          <a:xfrm>
            <a:off x="530352" y="4144137"/>
            <a:ext cx="11130991" cy="2183511"/>
          </a:xfrm>
          <a:prstGeom prst="roundRect">
            <a:avLst>
              <a:gd name="adj" fmla="val 2513"/>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txBody>
          <a:bodyPr/>
          <a:p/>
        </p:txBody>
      </p:sp>
      <p:pic>
        <p:nvPicPr>
          <p:cNvPr id="8" name="Image 0" descr="D:/GitHub/mern-web-book/docs/assets/img/lecture-04/google-search-form.png">    </p:cNvPr>
          <p:cNvPicPr>
            <a:picLocks noChangeAspect="1"/>
          </p:cNvPicPr>
          <p:nvPr/>
        </p:nvPicPr>
        <p:blipFill>
          <a:blip r:embed="rId1"/>
          <a:stretch>
            <a:fillRect/>
          </a:stretch>
        </p:blipFill>
        <p:spPr>
          <a:xfrm>
            <a:off x="640080" y="4589503"/>
            <a:ext cx="10911535" cy="1292780"/>
          </a:xfrm>
          <a:prstGeom prst="rect">
            <a:avLst/>
          </a:prstGeom>
        </p:spPr>
      </p:pic>
      <p:sp>
        <p:nvSpPr>
          <p:cNvPr id="11"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4"/>
              </a:rPr>
              <a:t>cuinotes.com</a:t>
            </a:r>
            <a:r>
              <a:rPr sz="1000">
                <a:solidFill>
                  <a:srgbClr val="8A939B"/>
                </a:solidFill>
              </a:rPr>
              <a:t>  ·  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INPUT TYPES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Common &lt;input&gt; Types</a:t>
            </a:r>
            <a:endParaRPr lang="en-US" sz="34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911535" cy="914400"/>
        </p:xfrm>
        <a:graphic>
          <a:graphicData uri="http://schemas.openxmlformats.org/drawingml/2006/table">
            <a:tbl>
              <a:tblPr/>
              <a:tblGrid>
                <a:gridCol w="2194560"/>
                <a:gridCol w="8778240"/>
              </a:tblGrid>
              <a:tr h="512064">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Type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Purpose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r>
              <a:tr h="512064">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text / email / password</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A line of text, checked for an email shape, or hidden as dots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12064">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number / date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Numeric input with arrows / a date picker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12064">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checkbox / radio</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An on/off box / a mutually-exclusive choice (same name)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12064">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file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Lets the user pick a file to upload</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12064">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range / color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A slider / a color picker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12064">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submit / hidden</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Submits the form / not shown, but sent along with the data</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bl>
          </a:graphicData>
        </a:graphic>
      </p:graphicFrame>
      <p:sp>
        <p:nvSpPr>
          <p:cNvPr id="17"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INPUT TYPES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Every &lt;input&gt; Type</a:t>
            </a:r>
            <a:endParaRPr lang="en-US" sz="3400" dirty="0"/>
          </a:p>
        </p:txBody>
      </p:sp>
      <p:sp>
        <p:nvSpPr>
          <p:cNvPr id="4" name="Shape 2"/>
          <p:cNvSpPr/>
          <p:nvPr/>
        </p:nvSpPr>
        <p:spPr>
          <a:xfrm>
            <a:off x="640080" y="1965960"/>
            <a:ext cx="10911535" cy="3749040"/>
          </a:xfrm>
          <a:prstGeom prst="roundRect">
            <a:avLst>
              <a:gd name="adj" fmla="val 1951"/>
            </a:avLst>
          </a:prstGeom>
          <a:solidFill>
            <a:srgbClr val="1E1E4C"/>
          </a:solidFill>
          <a:ln/>
        </p:spPr>
        <p:txBody>
          <a:bodyPr/>
          <a:p/>
        </p:txBody>
      </p:sp>
      <p:sp>
        <p:nvSpPr>
          <p:cNvPr id="5" name="Text 3"/>
          <p:cNvSpPr txBox="1"/>
          <p:nvPr/>
        </p:nvSpPr>
        <p:spPr>
          <a:xfrm>
            <a:off x="960120" y="2194560"/>
            <a:ext cx="10271455" cy="32918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&lt;input type="text" name="fullname" placeholder="Full name"&gt;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&lt;input type="email" name="email" placeholder="you@example.com"&gt;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&lt;input type="password" name="password"&gt;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&lt;input type="number" name="age" min="1" max="120"&gt;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&lt;input type="date" name="birthday"&gt;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&lt;input type="checkbox" name="subscribe" checked&gt;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&lt;input type="radio" name="gender" value="male"&gt; Male</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&lt;input type="radio" name="gender" value="female"&gt; Female</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&lt;input type="file" name="resume"&gt;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&lt;input type="range" name="volume" min="0" max="100"&gt;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&lt;input type="color" name="favcolor"&gt;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&lt;input type="submit" value="Send"&gt;</a:t>
            </a:r>
            <a:endParaRPr lang="en-US" sz="1400" dirty="0"/>
          </a:p>
        </p:txBody>
      </p:sp>
      <p:sp>
        <p:nvSpPr>
          <p:cNvPr id="8"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INPUT TYPES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Every Input Type, Rendered</a:t>
            </a:r>
            <a:endParaRPr lang="en-US" sz="3400" dirty="0"/>
          </a:p>
        </p:txBody>
      </p:sp>
      <p:sp>
        <p:nvSpPr>
          <p:cNvPr id="4" name="Text 2"/>
          <p:cNvSpPr txBox="1"/>
          <p:nvPr/>
        </p:nvSpPr>
        <p:spPr>
          <a:xfrm>
            <a:off x="640080" y="1691640"/>
            <a:ext cx="10911535" cy="411480"/>
          </a:xfrm>
          <a:prstGeom prst="rect">
            <a:avLst/>
          </a:prstGeom>
          <a:noFill/>
          <a:ln/>
        </p:spPr>
        <p:txBody>
          <a:bodyPr wrap="square" lIns="0" tIns="0" rIns="0" bIns="0" rtlCol="0" anchor="ctr"/>
          <a:lstStyle/>
          <a:p>
            <a:pPr indent="0" marL="0">
              <a:buNone/>
            </a:pPr>
            <a:r>
              <a:rPr lang="en-US" sz="1350" i="1" dirty="0">
                <a:solidFill>
                  <a:srgbClr val="5D5D72"/>
                </a:solidFill>
                <a:latin typeface="Calibri" pitchFamily="34" charset="0"/>
                <a:ea typeface="Calibri" pitchFamily="34" charset="-122"/>
                <a:cs typeface="Calibri" pitchFamily="34" charset="-120"/>
              </a:rPr>
              <a:t>Each type is a genuinely different native control — this is the browser doing most of the work for you.</a:t>
            </a:r>
            <a:endParaRPr lang="en-US" sz="1350" dirty="0"/>
          </a:p>
        </p:txBody>
      </p:sp>
      <p:sp>
        <p:nvSpPr>
          <p:cNvPr id="5" name="Shape 3"/>
          <p:cNvSpPr/>
          <p:nvPr/>
        </p:nvSpPr>
        <p:spPr>
          <a:xfrm>
            <a:off x="530352" y="2221992"/>
            <a:ext cx="11130991" cy="4059936"/>
          </a:xfrm>
          <a:prstGeom prst="roundRect">
            <a:avLst>
              <a:gd name="adj" fmla="val 1351"/>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txBody>
          <a:bodyPr/>
          <a:p/>
        </p:txBody>
      </p:sp>
      <p:pic>
        <p:nvPicPr>
          <p:cNvPr id="6" name="Image 0" descr="D:/GitHub/mern-web-book/docs/assets/img/lecture-04/input-types.png">    </p:cNvPr>
          <p:cNvPicPr>
            <a:picLocks noChangeAspect="1"/>
          </p:cNvPicPr>
          <p:nvPr/>
        </p:nvPicPr>
        <p:blipFill>
          <a:blip r:embed="rId1"/>
          <a:stretch>
            <a:fillRect/>
          </a:stretch>
        </p:blipFill>
        <p:spPr>
          <a:xfrm>
            <a:off x="5156959" y="2331720"/>
            <a:ext cx="1877778" cy="3840480"/>
          </a:xfrm>
          <a:prstGeom prst="rect">
            <a:avLst/>
          </a:prstGeom>
        </p:spPr>
      </p:pic>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4"/>
              </a:rPr>
              <a:t>cuinotes.com</a:t>
            </a:r>
            <a:r>
              <a:rPr sz="1000">
                <a:solidFill>
                  <a:srgbClr val="8A939B"/>
                </a:solidFill>
              </a:rPr>
              <a:t>  ·  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FILE UPLOADS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multipart/form-data</a:t>
            </a:r>
            <a:endParaRPr lang="en-US" sz="3400" dirty="0"/>
          </a:p>
        </p:txBody>
      </p:sp>
      <p:sp>
        <p:nvSpPr>
          <p:cNvPr id="4" name="Shape 2"/>
          <p:cNvSpPr/>
          <p:nvPr/>
        </p:nvSpPr>
        <p:spPr>
          <a:xfrm>
            <a:off x="685800" y="2185416"/>
            <a:ext cx="82296" cy="82296"/>
          </a:xfrm>
          <a:prstGeom prst="ellipse">
            <a:avLst/>
          </a:prstGeom>
          <a:solidFill>
            <a:srgbClr val="FF8A3D"/>
          </a:solidFill>
          <a:ln/>
        </p:spPr>
        <p:txBody>
          <a:bodyPr/>
          <a:p/>
        </p:txBody>
      </p:sp>
      <p:sp>
        <p:nvSpPr>
          <p:cNvPr id="5" name="Text 3"/>
          <p:cNvSpPr txBox="1"/>
          <p:nvPr/>
        </p:nvSpPr>
        <p:spPr>
          <a:xfrm>
            <a:off x="960120" y="1892808"/>
            <a:ext cx="1059149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 file's raw bytes can't fit in a URL — file uploads require method="POST"</a:t>
            </a:r>
            <a:endParaRPr lang="en-US" sz="1500" dirty="0"/>
          </a:p>
        </p:txBody>
      </p:sp>
      <p:sp>
        <p:nvSpPr>
          <p:cNvPr id="6" name="Shape 4"/>
          <p:cNvSpPr/>
          <p:nvPr/>
        </p:nvSpPr>
        <p:spPr>
          <a:xfrm>
            <a:off x="685800" y="3008376"/>
            <a:ext cx="82296" cy="82296"/>
          </a:xfrm>
          <a:prstGeom prst="ellipse">
            <a:avLst/>
          </a:prstGeom>
          <a:solidFill>
            <a:srgbClr val="FF8A3D"/>
          </a:solidFill>
          <a:ln/>
        </p:spPr>
        <p:txBody>
          <a:bodyPr/>
          <a:p/>
        </p:txBody>
      </p:sp>
      <p:sp>
        <p:nvSpPr>
          <p:cNvPr id="7" name="Text 5"/>
          <p:cNvSpPr txBox="1"/>
          <p:nvPr/>
        </p:nvSpPr>
        <p:spPr>
          <a:xfrm>
            <a:off x="960120" y="2715768"/>
            <a:ext cx="1059149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enctype="multipart/form-data" switches the request body format so text fields and raw file bytes can travel together</a:t>
            </a:r>
            <a:endParaRPr lang="en-US" sz="1500" dirty="0"/>
          </a:p>
        </p:txBody>
      </p:sp>
      <p:sp>
        <p:nvSpPr>
          <p:cNvPr id="8" name="Shape 6"/>
          <p:cNvSpPr/>
          <p:nvPr/>
        </p:nvSpPr>
        <p:spPr>
          <a:xfrm>
            <a:off x="685800" y="3831336"/>
            <a:ext cx="82296" cy="82296"/>
          </a:xfrm>
          <a:prstGeom prst="ellipse">
            <a:avLst/>
          </a:prstGeom>
          <a:solidFill>
            <a:srgbClr val="FF8A3D"/>
          </a:solidFill>
          <a:ln/>
        </p:spPr>
        <p:txBody>
          <a:bodyPr/>
          <a:p/>
        </p:txBody>
      </p:sp>
      <p:sp>
        <p:nvSpPr>
          <p:cNvPr id="9" name="Text 7"/>
          <p:cNvSpPr txBox="1"/>
          <p:nvPr/>
        </p:nvSpPr>
        <p:spPr>
          <a:xfrm>
            <a:off x="960120" y="3538728"/>
            <a:ext cx="1059149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accept is a filter hint for the file picker, not a security check — the server must always re-validate the uploaded file</a:t>
            </a:r>
            <a:endParaRPr lang="en-US" sz="1500" dirty="0"/>
          </a:p>
        </p:txBody>
      </p:sp>
      <p:sp>
        <p:nvSpPr>
          <p:cNvPr id="12"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FILE UPLOADS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What multipart/form-data Looks Like</a:t>
            </a:r>
            <a:endParaRPr lang="en-US" sz="3400" dirty="0"/>
          </a:p>
        </p:txBody>
      </p:sp>
      <p:sp>
        <p:nvSpPr>
          <p:cNvPr id="4" name="Shape 2"/>
          <p:cNvSpPr/>
          <p:nvPr/>
        </p:nvSpPr>
        <p:spPr>
          <a:xfrm>
            <a:off x="640080" y="1965960"/>
            <a:ext cx="10911535" cy="2682240"/>
          </a:xfrm>
          <a:prstGeom prst="roundRect">
            <a:avLst>
              <a:gd name="adj" fmla="val 2727"/>
            </a:avLst>
          </a:prstGeom>
          <a:solidFill>
            <a:srgbClr val="1E1E4C"/>
          </a:solidFill>
          <a:ln/>
        </p:spPr>
        <p:txBody>
          <a:bodyPr/>
          <a:p/>
        </p:txBody>
      </p:sp>
      <p:sp>
        <p:nvSpPr>
          <p:cNvPr id="5" name="Text 3"/>
          <p:cNvSpPr txBox="1"/>
          <p:nvPr/>
        </p:nvSpPr>
        <p:spPr>
          <a:xfrm>
            <a:off x="960120" y="2194560"/>
            <a:ext cx="10271455" cy="22250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POST /upload-resume HTTP/1.1</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Content-Type: multipart/form-data; boundary=----Bnd123</a:t>
            </a:r>
            <a:endParaRPr lang="en-US" sz="1400" dirty="0"/>
          </a:p>
          <a:p>
            <a:pPr indent="0" marL="0">
              <a:lnSpc>
                <a:spcPct val="125000"/>
              </a:lnSpc>
              <a:buNone/>
            </a:pP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------Bnd123</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Content-Disposition: form-data; name="resume"; filename="cv.pdf"</a:t>
            </a:r>
            <a:endParaRPr lang="en-US" sz="1400" dirty="0"/>
          </a:p>
          <a:p>
            <a:pPr indent="0" marL="0">
              <a:lnSpc>
                <a:spcPct val="125000"/>
              </a:lnSpc>
              <a:buNone/>
            </a:pP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%PDF-1.4 ...(raw binary bytes)...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------Bnd123--</a:t>
            </a:r>
            <a:endParaRPr lang="en-US" sz="1400" dirty="0"/>
          </a:p>
        </p:txBody>
      </p:sp>
      <p:sp>
        <p:nvSpPr>
          <p:cNvPr id="6" name="Text 4"/>
          <p:cNvSpPr txBox="1"/>
          <p:nvPr/>
        </p:nvSpPr>
        <p:spPr>
          <a:xfrm>
            <a:off x="640080" y="4876800"/>
            <a:ext cx="10911535" cy="13868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Node.js/Express (with multer) parses this format for you automatically — you'll never write boundary-splitting code by hand.</a:t>
            </a:r>
            <a:endParaRPr lang="en-US" sz="130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MORE CONTROLS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&lt;select&gt;, &lt;textarea&gt;, and &lt;button&gt;</a:t>
            </a:r>
            <a:endParaRPr lang="en-US" sz="3400" dirty="0"/>
          </a:p>
        </p:txBody>
      </p:sp>
      <p:sp>
        <p:nvSpPr>
          <p:cNvPr id="4" name="Shape 2"/>
          <p:cNvSpPr/>
          <p:nvPr/>
        </p:nvSpPr>
        <p:spPr>
          <a:xfrm>
            <a:off x="685800" y="1965960"/>
            <a:ext cx="457200" cy="457200"/>
          </a:xfrm>
          <a:prstGeom prst="ellipse">
            <a:avLst/>
          </a:prstGeom>
          <a:solidFill>
            <a:srgbClr val="FF8A3D"/>
          </a:solidFill>
          <a:ln/>
        </p:spPr>
        <p:txBody>
          <a:bodyPr/>
          <a:p/>
        </p:txBody>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&lt;select&gt; + &lt;option&gt; creates a dropdown; the selected attribute pre-picks one</a:t>
            </a:r>
            <a:endParaRPr lang="en-US" sz="1500" dirty="0"/>
          </a:p>
        </p:txBody>
      </p:sp>
      <p:sp>
        <p:nvSpPr>
          <p:cNvPr id="7" name="Shape 5"/>
          <p:cNvSpPr/>
          <p:nvPr/>
        </p:nvSpPr>
        <p:spPr>
          <a:xfrm>
            <a:off x="685800" y="2788920"/>
            <a:ext cx="457200" cy="457200"/>
          </a:xfrm>
          <a:prstGeom prst="ellipse">
            <a:avLst/>
          </a:prstGeom>
          <a:solidFill>
            <a:srgbClr val="FF8A3D"/>
          </a:solidFill>
          <a:ln/>
        </p:spPr>
        <p:txBody>
          <a:bodyPr/>
          <a:p/>
        </p:txBody>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&lt;textarea&gt; is a resizable, multi-line text box — its default text goes between the tags, not in a value attribute</a:t>
            </a:r>
            <a:endParaRPr lang="en-US" sz="1500" dirty="0"/>
          </a:p>
        </p:txBody>
      </p:sp>
      <p:sp>
        <p:nvSpPr>
          <p:cNvPr id="10" name="Shape 8"/>
          <p:cNvSpPr/>
          <p:nvPr/>
        </p:nvSpPr>
        <p:spPr>
          <a:xfrm>
            <a:off x="685800" y="3611880"/>
            <a:ext cx="457200" cy="457200"/>
          </a:xfrm>
          <a:prstGeom prst="ellipse">
            <a:avLst/>
          </a:prstGeom>
          <a:solidFill>
            <a:srgbClr val="FF8A3D"/>
          </a:solidFill>
          <a:ln/>
        </p:spPr>
        <p:txBody>
          <a:bodyPr/>
          <a:p/>
        </p:txBody>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&lt;button&gt; is more flexible than &lt;input type="submit"&gt; because it can contain other HTML</a:t>
            </a:r>
            <a:endParaRPr lang="en-US" sz="1500" dirty="0"/>
          </a:p>
        </p:txBody>
      </p:sp>
      <p:sp>
        <p:nvSpPr>
          <p:cNvPr id="15"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MORE CONTROLS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&lt;select&gt; and &lt;textarea&gt; Markup</a:t>
            </a:r>
            <a:endParaRPr lang="en-US" sz="3400" dirty="0"/>
          </a:p>
        </p:txBody>
      </p:sp>
      <p:sp>
        <p:nvSpPr>
          <p:cNvPr id="4" name="Shape 2"/>
          <p:cNvSpPr/>
          <p:nvPr/>
        </p:nvSpPr>
        <p:spPr>
          <a:xfrm>
            <a:off x="640080" y="1965960"/>
            <a:ext cx="10911535" cy="2148840"/>
          </a:xfrm>
          <a:prstGeom prst="roundRect">
            <a:avLst>
              <a:gd name="adj" fmla="val 3404"/>
            </a:avLst>
          </a:prstGeom>
          <a:solidFill>
            <a:srgbClr val="1E1E4C"/>
          </a:solidFill>
          <a:ln/>
        </p:spPr>
        <p:txBody>
          <a:bodyPr/>
          <a:p/>
        </p:txBody>
      </p:sp>
      <p:sp>
        <p:nvSpPr>
          <p:cNvPr id="5" name="Text 3"/>
          <p:cNvSpPr txBox="1"/>
          <p:nvPr/>
        </p:nvSpPr>
        <p:spPr>
          <a:xfrm>
            <a:off x="960120" y="2194560"/>
            <a:ext cx="10271455" cy="16916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&lt;select id="course" name="course"&gt;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&lt;option value="csc336"&gt;Web Technologies&lt;/option&gt;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&lt;option value="csc337" selected&gt;Advanced Web Technologies&lt;/option&gt;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&lt;/select&gt;</a:t>
            </a:r>
            <a:endParaRPr lang="en-US" sz="1400" dirty="0"/>
          </a:p>
          <a:p>
            <a:pPr indent="0" marL="0">
              <a:lnSpc>
                <a:spcPct val="125000"/>
              </a:lnSpc>
              <a:buNone/>
            </a:pP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&lt;textarea id="message" name="message" rows="5" cols="40"&gt;Type here...&lt;/textarea&gt;</a:t>
            </a:r>
            <a:endParaRPr lang="en-US" sz="1400" dirty="0"/>
          </a:p>
        </p:txBody>
      </p:sp>
      <p:sp>
        <p:nvSpPr>
          <p:cNvPr id="8"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MORE CONTROLS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Dropdown and Textarea, Rendered</a:t>
            </a:r>
            <a:endParaRPr lang="en-US" sz="3400" dirty="0"/>
          </a:p>
        </p:txBody>
      </p:sp>
      <p:sp>
        <p:nvSpPr>
          <p:cNvPr id="4" name="Text 2"/>
          <p:cNvSpPr txBox="1"/>
          <p:nvPr/>
        </p:nvSpPr>
        <p:spPr>
          <a:xfrm>
            <a:off x="640080" y="1965960"/>
            <a:ext cx="5272888" cy="365760"/>
          </a:xfrm>
          <a:prstGeom prst="rect">
            <a:avLst/>
          </a:prstGeom>
          <a:noFill/>
          <a:ln/>
        </p:spPr>
        <p:txBody>
          <a:bodyPr wrap="square" lIns="0" tIns="0" rIns="0" bIns="0" rtlCol="0" anchor="ctr"/>
          <a:lstStyle/>
          <a:p>
            <a:pPr algn="ctr" indent="0" marL="0">
              <a:buNone/>
            </a:pPr>
            <a:r>
              <a:rPr lang="en-US" sz="1100" b="1" spc="150" kern="0" dirty="0">
                <a:solidFill>
                  <a:srgbClr val="E67528"/>
                </a:solidFill>
                <a:latin typeface="Calibri" pitchFamily="34" charset="0"/>
                <a:ea typeface="Calibri" pitchFamily="34" charset="-122"/>
                <a:cs typeface="Calibri" pitchFamily="34" charset="-120"/>
              </a:rPr>
              <a:t>SELECT</a:t>
            </a:r>
            <a:endParaRPr lang="en-US" sz="1100" dirty="0"/>
          </a:p>
        </p:txBody>
      </p:sp>
      <p:sp>
        <p:nvSpPr>
          <p:cNvPr id="5" name="Shape 3"/>
          <p:cNvSpPr/>
          <p:nvPr/>
        </p:nvSpPr>
        <p:spPr>
          <a:xfrm>
            <a:off x="530352" y="2313432"/>
            <a:ext cx="5492344" cy="3831336"/>
          </a:xfrm>
          <a:prstGeom prst="roundRect">
            <a:avLst>
              <a:gd name="adj" fmla="val 1432"/>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txBody>
          <a:bodyPr/>
          <a:p/>
        </p:txBody>
      </p:sp>
      <p:pic>
        <p:nvPicPr>
          <p:cNvPr id="6" name="Image 0" descr="D:/GitHub/mern-web-book/docs/assets/img/lecture-04/select-dropdown.png">    </p:cNvPr>
          <p:cNvPicPr>
            <a:picLocks noChangeAspect="1"/>
          </p:cNvPicPr>
          <p:nvPr/>
        </p:nvPicPr>
        <p:blipFill>
          <a:blip r:embed="rId1"/>
          <a:stretch>
            <a:fillRect/>
          </a:stretch>
        </p:blipFill>
        <p:spPr>
          <a:xfrm>
            <a:off x="640080" y="3907947"/>
            <a:ext cx="5272888" cy="642306"/>
          </a:xfrm>
          <a:prstGeom prst="rect">
            <a:avLst/>
          </a:prstGeom>
        </p:spPr>
      </p:pic>
      <p:sp>
        <p:nvSpPr>
          <p:cNvPr id="7" name="Text 4"/>
          <p:cNvSpPr txBox="1"/>
          <p:nvPr/>
        </p:nvSpPr>
        <p:spPr>
          <a:xfrm>
            <a:off x="6278728" y="1965960"/>
            <a:ext cx="5272888" cy="365760"/>
          </a:xfrm>
          <a:prstGeom prst="rect">
            <a:avLst/>
          </a:prstGeom>
          <a:noFill/>
          <a:ln/>
        </p:spPr>
        <p:txBody>
          <a:bodyPr wrap="square" lIns="0" tIns="0" rIns="0" bIns="0" rtlCol="0" anchor="ctr"/>
          <a:lstStyle/>
          <a:p>
            <a:pPr algn="ctr" indent="0" marL="0">
              <a:buNone/>
            </a:pPr>
            <a:r>
              <a:rPr lang="en-US" sz="1100" b="1" spc="150" kern="0" dirty="0">
                <a:solidFill>
                  <a:srgbClr val="E67528"/>
                </a:solidFill>
                <a:latin typeface="Calibri" pitchFamily="34" charset="0"/>
                <a:ea typeface="Calibri" pitchFamily="34" charset="-122"/>
                <a:cs typeface="Calibri" pitchFamily="34" charset="-120"/>
              </a:rPr>
              <a:t>TEXTAREA</a:t>
            </a:r>
            <a:endParaRPr lang="en-US" sz="1100" dirty="0"/>
          </a:p>
        </p:txBody>
      </p:sp>
      <p:sp>
        <p:nvSpPr>
          <p:cNvPr id="8" name="Shape 5"/>
          <p:cNvSpPr/>
          <p:nvPr/>
        </p:nvSpPr>
        <p:spPr>
          <a:xfrm>
            <a:off x="6169000" y="2313432"/>
            <a:ext cx="5492344" cy="3831336"/>
          </a:xfrm>
          <a:prstGeom prst="roundRect">
            <a:avLst>
              <a:gd name="adj" fmla="val 1432"/>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txBody>
          <a:bodyPr/>
          <a:p/>
        </p:txBody>
      </p:sp>
      <p:pic>
        <p:nvPicPr>
          <p:cNvPr id="9" name="Image 1" descr="D:/GitHub/mern-web-book/docs/assets/img/lecture-04/textarea.png">    </p:cNvPr>
          <p:cNvPicPr>
            <a:picLocks noChangeAspect="1"/>
          </p:cNvPicPr>
          <p:nvPr/>
        </p:nvPicPr>
        <p:blipFill>
          <a:blip r:embed="rId2"/>
          <a:stretch>
            <a:fillRect/>
          </a:stretch>
        </p:blipFill>
        <p:spPr>
          <a:xfrm>
            <a:off x="6278728" y="3516377"/>
            <a:ext cx="5272888" cy="1425446"/>
          </a:xfrm>
          <a:prstGeom prst="rect">
            <a:avLst/>
          </a:prstGeom>
        </p:spPr>
      </p:pic>
      <p:sp>
        <p:nvSpPr>
          <p:cNvPr id="12"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5"/>
              </a:rPr>
              <a:t>cuinotes.com</a:t>
            </a:r>
            <a:r>
              <a:rPr sz="1000">
                <a:solidFill>
                  <a:srgbClr val="8A939B"/>
                </a:solidFill>
              </a:rPr>
              <a:t>  ·  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MORE CONTROLS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Three Button Types</a:t>
            </a:r>
            <a:endParaRPr lang="en-US" sz="3400" dirty="0"/>
          </a:p>
        </p:txBody>
      </p:sp>
      <p:sp>
        <p:nvSpPr>
          <p:cNvPr id="4" name="Text 2"/>
          <p:cNvSpPr txBox="1"/>
          <p:nvPr/>
        </p:nvSpPr>
        <p:spPr>
          <a:xfrm>
            <a:off x="640080" y="1691640"/>
            <a:ext cx="10911535" cy="411480"/>
          </a:xfrm>
          <a:prstGeom prst="rect">
            <a:avLst/>
          </a:prstGeom>
          <a:noFill/>
          <a:ln/>
        </p:spPr>
        <p:txBody>
          <a:bodyPr wrap="square" lIns="0" tIns="0" rIns="0" bIns="0" rtlCol="0" anchor="ctr"/>
          <a:lstStyle/>
          <a:p>
            <a:pPr indent="0" marL="0">
              <a:buNone/>
            </a:pPr>
            <a:r>
              <a:rPr lang="en-US" sz="1350" i="1" dirty="0">
                <a:solidFill>
                  <a:srgbClr val="5D5D72"/>
                </a:solidFill>
                <a:latin typeface="Calibri" pitchFamily="34" charset="0"/>
                <a:ea typeface="Calibri" pitchFamily="34" charset="-122"/>
                <a:cs typeface="Calibri" pitchFamily="34" charset="-120"/>
              </a:rPr>
              <a:t>submit submits the form, reset clears it, button does nothing on its own (wired up with JavaScript later).</a:t>
            </a:r>
            <a:endParaRPr lang="en-US" sz="1350" dirty="0"/>
          </a:p>
        </p:txBody>
      </p:sp>
      <p:sp>
        <p:nvSpPr>
          <p:cNvPr id="5" name="Shape 3"/>
          <p:cNvSpPr/>
          <p:nvPr/>
        </p:nvSpPr>
        <p:spPr>
          <a:xfrm>
            <a:off x="640080" y="2240280"/>
            <a:ext cx="10911535" cy="1263015"/>
          </a:xfrm>
          <a:prstGeom prst="roundRect">
            <a:avLst>
              <a:gd name="adj" fmla="val 5792"/>
            </a:avLst>
          </a:prstGeom>
          <a:solidFill>
            <a:srgbClr val="1E1E4C"/>
          </a:solidFill>
          <a:ln/>
        </p:spPr>
        <p:txBody>
          <a:bodyPr/>
          <a:p/>
        </p:txBody>
      </p:sp>
      <p:sp>
        <p:nvSpPr>
          <p:cNvPr id="6" name="Text 4"/>
          <p:cNvSpPr txBox="1"/>
          <p:nvPr/>
        </p:nvSpPr>
        <p:spPr>
          <a:xfrm>
            <a:off x="960120" y="2468880"/>
            <a:ext cx="10271455" cy="805815"/>
          </a:xfrm>
          <a:prstGeom prst="rect">
            <a:avLst/>
          </a:prstGeom>
          <a:noFill/>
          <a:ln/>
        </p:spPr>
        <p:txBody>
          <a:bodyPr wrap="square" lIns="0" tIns="0" rIns="0" bIns="0" rtlCol="0" anchor="t"/>
          <a:lstStyle/>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&lt;button type="submit"&gt;Submit&lt;/button&gt;</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&lt;button type="reset"&gt;Clear Form&lt;/button&gt;</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&lt;button type="button"&gt;Just a Button (does nothing by itself)&lt;/button&gt;</a:t>
            </a:r>
            <a:endParaRPr lang="en-US" sz="1250" dirty="0"/>
          </a:p>
        </p:txBody>
      </p:sp>
      <p:sp>
        <p:nvSpPr>
          <p:cNvPr id="7" name="Shape 5"/>
          <p:cNvSpPr/>
          <p:nvPr/>
        </p:nvSpPr>
        <p:spPr>
          <a:xfrm>
            <a:off x="530352" y="3667887"/>
            <a:ext cx="11130991" cy="2659761"/>
          </a:xfrm>
          <a:prstGeom prst="roundRect">
            <a:avLst>
              <a:gd name="adj" fmla="val 2063"/>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txBody>
          <a:bodyPr/>
          <a:p/>
        </p:txBody>
      </p:sp>
      <p:pic>
        <p:nvPicPr>
          <p:cNvPr id="8" name="Image 0" descr="D:/GitHub/mern-web-book/docs/assets/img/lecture-04/buttons.png">    </p:cNvPr>
          <p:cNvPicPr>
            <a:picLocks noChangeAspect="1"/>
          </p:cNvPicPr>
          <p:nvPr/>
        </p:nvPicPr>
        <p:blipFill>
          <a:blip r:embed="rId1"/>
          <a:stretch>
            <a:fillRect/>
          </a:stretch>
        </p:blipFill>
        <p:spPr>
          <a:xfrm>
            <a:off x="640080" y="4384078"/>
            <a:ext cx="10911535" cy="1227379"/>
          </a:xfrm>
          <a:prstGeom prst="rect">
            <a:avLst/>
          </a:prstGeom>
        </p:spPr>
      </p:pic>
      <p:sp>
        <p:nvSpPr>
          <p:cNvPr id="11"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4"/>
              </a:rPr>
              <a:t>cuinotes.com</a:t>
            </a:r>
            <a:r>
              <a:rPr sz="1000">
                <a:solidFill>
                  <a:srgbClr val="8A939B"/>
                </a:solidFill>
              </a:rPr>
              <a:t>  ·  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VALIDATION</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HTML5 Client-Side Validation</a:t>
            </a:r>
            <a:endParaRPr lang="en-US" sz="34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911535" cy="914400"/>
        </p:xfrm>
        <a:graphic>
          <a:graphicData uri="http://schemas.openxmlformats.org/drawingml/2006/table">
            <a:tbl>
              <a:tblPr/>
              <a:tblGrid>
                <a:gridCol w="2377440"/>
                <a:gridCol w="8595360"/>
              </a:tblGrid>
              <a:tr h="685800">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Attribute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Effect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r>
              <a:tr h="685800">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required</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The field cannot be left empty</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685800">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pattern</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A regular expression the value must match (with title for a hint)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685800">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min / max / step</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Lowest/highest acceptable value and allowed increment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685800">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maxlength / minlength</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Character-count limits on a text field</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bl>
          </a:graphicData>
        </a:graphic>
      </p:graphicFrame>
      <p:sp>
        <p:nvSpPr>
          <p:cNvPr id="26"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VALIDATION</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 Validated Registration Form</a:t>
            </a:r>
            <a:endParaRPr lang="en-US" sz="3400" dirty="0"/>
          </a:p>
        </p:txBody>
      </p:sp>
      <p:sp>
        <p:nvSpPr>
          <p:cNvPr id="4" name="Shape 2"/>
          <p:cNvSpPr/>
          <p:nvPr/>
        </p:nvSpPr>
        <p:spPr>
          <a:xfrm>
            <a:off x="640080" y="1965960"/>
            <a:ext cx="10911535" cy="3931920"/>
          </a:xfrm>
          <a:prstGeom prst="roundRect">
            <a:avLst>
              <a:gd name="adj" fmla="val 1860"/>
            </a:avLst>
          </a:prstGeom>
          <a:solidFill>
            <a:srgbClr val="1E1E4C"/>
          </a:solidFill>
          <a:ln/>
        </p:spPr>
        <p:txBody>
          <a:bodyPr/>
          <a:p/>
        </p:txBody>
      </p:sp>
      <p:sp>
        <p:nvSpPr>
          <p:cNvPr id="5" name="Text 3"/>
          <p:cNvSpPr txBox="1"/>
          <p:nvPr/>
        </p:nvSpPr>
        <p:spPr>
          <a:xfrm>
            <a:off x="960120" y="2194560"/>
            <a:ext cx="10271455" cy="3474720"/>
          </a:xfrm>
          <a:prstGeom prst="rect">
            <a:avLst/>
          </a:prstGeom>
          <a:noFill/>
          <a:ln/>
        </p:spPr>
        <p:txBody>
          <a:bodyPr wrap="square" lIns="0" tIns="0" rIns="0" bIns="0" rtlCol="0" anchor="t"/>
          <a:lstStyle/>
          <a:p>
            <a:pPr indent="0" marL="0">
              <a:lnSpc>
                <a:spcPct val="125000"/>
              </a:lnSpc>
              <a:buNone/>
            </a:pPr>
            <a:r>
              <a:rPr lang="en-US" sz="1366" dirty="0">
                <a:solidFill>
                  <a:srgbClr val="C9D3F5"/>
                </a:solidFill>
                <a:latin typeface="Courier New" pitchFamily="34" charset="0"/>
                <a:ea typeface="Courier New" pitchFamily="34" charset="-122"/>
                <a:cs typeface="Courier New" pitchFamily="34" charset="-120"/>
              </a:rPr>
              <a:t>&lt;form action="/register" method="POST"&gt;</a:t>
            </a:r>
            <a:endParaRPr lang="en-US" sz="1366" dirty="0"/>
          </a:p>
          <a:p>
            <a:pPr indent="0" marL="0">
              <a:lnSpc>
                <a:spcPct val="125000"/>
              </a:lnSpc>
              <a:buNone/>
            </a:pPr>
            <a:r>
              <a:rPr lang="en-US" sz="1366" dirty="0">
                <a:solidFill>
                  <a:srgbClr val="C9D3F5"/>
                </a:solidFill>
                <a:latin typeface="Courier New" pitchFamily="34" charset="0"/>
                <a:ea typeface="Courier New" pitchFamily="34" charset="-122"/>
                <a:cs typeface="Courier New" pitchFamily="34" charset="-120"/>
              </a:rPr>
              <a:t>    &lt;label for="uname"&gt;Username (required):&lt;/label&gt;</a:t>
            </a:r>
            <a:endParaRPr lang="en-US" sz="1366" dirty="0"/>
          </a:p>
          <a:p>
            <a:pPr indent="0" marL="0">
              <a:lnSpc>
                <a:spcPct val="125000"/>
              </a:lnSpc>
              <a:buNone/>
            </a:pPr>
            <a:r>
              <a:rPr lang="en-US" sz="1366" dirty="0">
                <a:solidFill>
                  <a:srgbClr val="C9D3F5"/>
                </a:solidFill>
                <a:latin typeface="Courier New" pitchFamily="34" charset="0"/>
                <a:ea typeface="Courier New" pitchFamily="34" charset="-122"/>
                <a:cs typeface="Courier New" pitchFamily="34" charset="-120"/>
              </a:rPr>
              <a:t>    &lt;input type="text" id="uname" name="uname" required&gt;</a:t>
            </a:r>
            <a:endParaRPr lang="en-US" sz="1366" dirty="0"/>
          </a:p>
          <a:p>
            <a:pPr indent="0" marL="0">
              <a:lnSpc>
                <a:spcPct val="125000"/>
              </a:lnSpc>
              <a:buNone/>
            </a:pPr>
            <a:endParaRPr lang="en-US" sz="1366" dirty="0"/>
          </a:p>
          <a:p>
            <a:pPr indent="0" marL="0">
              <a:lnSpc>
                <a:spcPct val="125000"/>
              </a:lnSpc>
              <a:buNone/>
            </a:pPr>
            <a:r>
              <a:rPr lang="en-US" sz="1366" dirty="0">
                <a:solidFill>
                  <a:srgbClr val="C9D3F5"/>
                </a:solidFill>
                <a:latin typeface="Courier New" pitchFamily="34" charset="0"/>
                <a:ea typeface="Courier New" pitchFamily="34" charset="-122"/>
                <a:cs typeface="Courier New" pitchFamily="34" charset="-120"/>
              </a:rPr>
              <a:t>    &lt;label for="cnic"&gt;CNIC (format 00000-0000000-0):&lt;/label&gt;</a:t>
            </a:r>
            <a:endParaRPr lang="en-US" sz="1366" dirty="0"/>
          </a:p>
          <a:p>
            <a:pPr indent="0" marL="0">
              <a:lnSpc>
                <a:spcPct val="125000"/>
              </a:lnSpc>
              <a:buNone/>
            </a:pPr>
            <a:r>
              <a:rPr lang="en-US" sz="1366" dirty="0">
                <a:solidFill>
                  <a:srgbClr val="C9D3F5"/>
                </a:solidFill>
                <a:latin typeface="Courier New" pitchFamily="34" charset="0"/>
                <a:ea typeface="Courier New" pitchFamily="34" charset="-122"/>
                <a:cs typeface="Courier New" pitchFamily="34" charset="-120"/>
              </a:rPr>
              <a:t>    &lt;input type="text" id="cnic" name="cnic"</a:t>
            </a:r>
            <a:endParaRPr lang="en-US" sz="1366" dirty="0"/>
          </a:p>
          <a:p>
            <a:pPr indent="0" marL="0">
              <a:lnSpc>
                <a:spcPct val="125000"/>
              </a:lnSpc>
              <a:buNone/>
            </a:pPr>
            <a:r>
              <a:rPr lang="en-US" sz="1366" dirty="0">
                <a:solidFill>
                  <a:srgbClr val="C9D3F5"/>
                </a:solidFill>
                <a:latin typeface="Courier New" pitchFamily="34" charset="0"/>
                <a:ea typeface="Courier New" pitchFamily="34" charset="-122"/>
                <a:cs typeface="Courier New" pitchFamily="34" charset="-120"/>
              </a:rPr>
              <a:t>           pattern="\d{5}-\d{7}-\d" title="Format: 00000-0000000-0"&gt;</a:t>
            </a:r>
            <a:endParaRPr lang="en-US" sz="1366" dirty="0"/>
          </a:p>
          <a:p>
            <a:pPr indent="0" marL="0">
              <a:lnSpc>
                <a:spcPct val="125000"/>
              </a:lnSpc>
              <a:buNone/>
            </a:pPr>
            <a:endParaRPr lang="en-US" sz="1366" dirty="0"/>
          </a:p>
          <a:p>
            <a:pPr indent="0" marL="0">
              <a:lnSpc>
                <a:spcPct val="125000"/>
              </a:lnSpc>
              <a:buNone/>
            </a:pPr>
            <a:r>
              <a:rPr lang="en-US" sz="1366" dirty="0">
                <a:solidFill>
                  <a:srgbClr val="C9D3F5"/>
                </a:solidFill>
                <a:latin typeface="Courier New" pitchFamily="34" charset="0"/>
                <a:ea typeface="Courier New" pitchFamily="34" charset="-122"/>
                <a:cs typeface="Courier New" pitchFamily="34" charset="-120"/>
              </a:rPr>
              <a:t>    &lt;label for="age"&gt;Age (18–60):&lt;/label&gt;</a:t>
            </a:r>
            <a:endParaRPr lang="en-US" sz="1366" dirty="0"/>
          </a:p>
          <a:p>
            <a:pPr indent="0" marL="0">
              <a:lnSpc>
                <a:spcPct val="125000"/>
              </a:lnSpc>
              <a:buNone/>
            </a:pPr>
            <a:r>
              <a:rPr lang="en-US" sz="1366" dirty="0">
                <a:solidFill>
                  <a:srgbClr val="C9D3F5"/>
                </a:solidFill>
                <a:latin typeface="Courier New" pitchFamily="34" charset="0"/>
                <a:ea typeface="Courier New" pitchFamily="34" charset="-122"/>
                <a:cs typeface="Courier New" pitchFamily="34" charset="-120"/>
              </a:rPr>
              <a:t>    &lt;input type="number" id="age" name="age" min="18" max="60"&gt;</a:t>
            </a:r>
            <a:endParaRPr lang="en-US" sz="1366" dirty="0"/>
          </a:p>
          <a:p>
            <a:pPr indent="0" marL="0">
              <a:lnSpc>
                <a:spcPct val="125000"/>
              </a:lnSpc>
              <a:buNone/>
            </a:pPr>
            <a:endParaRPr lang="en-US" sz="1366" dirty="0"/>
          </a:p>
          <a:p>
            <a:pPr indent="0" marL="0">
              <a:lnSpc>
                <a:spcPct val="125000"/>
              </a:lnSpc>
              <a:buNone/>
            </a:pPr>
            <a:r>
              <a:rPr lang="en-US" sz="1366" dirty="0">
                <a:solidFill>
                  <a:srgbClr val="C9D3F5"/>
                </a:solidFill>
                <a:latin typeface="Courier New" pitchFamily="34" charset="0"/>
                <a:ea typeface="Courier New" pitchFamily="34" charset="-122"/>
                <a:cs typeface="Courier New" pitchFamily="34" charset="-120"/>
              </a:rPr>
              <a:t>    &lt;button type="submit"&gt;Register&lt;/button&gt;</a:t>
            </a:r>
            <a:endParaRPr lang="en-US" sz="1366" dirty="0"/>
          </a:p>
          <a:p>
            <a:pPr indent="0" marL="0">
              <a:lnSpc>
                <a:spcPct val="125000"/>
              </a:lnSpc>
              <a:buNone/>
            </a:pPr>
            <a:r>
              <a:rPr lang="en-US" sz="1366" dirty="0">
                <a:solidFill>
                  <a:srgbClr val="C9D3F5"/>
                </a:solidFill>
                <a:latin typeface="Courier New" pitchFamily="34" charset="0"/>
                <a:ea typeface="Courier New" pitchFamily="34" charset="-122"/>
                <a:cs typeface="Courier New" pitchFamily="34" charset="-120"/>
              </a:rPr>
              <a:t>&lt;/form&gt;</a:t>
            </a:r>
            <a:endParaRPr lang="en-US" sz="1366" dirty="0"/>
          </a:p>
        </p:txBody>
      </p:sp>
      <p:sp>
        <p:nvSpPr>
          <p:cNvPr id="8"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VALIDATION</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 Validated Form, Rendered</a:t>
            </a:r>
            <a:endParaRPr lang="en-US" sz="3400" dirty="0"/>
          </a:p>
        </p:txBody>
      </p:sp>
      <p:sp>
        <p:nvSpPr>
          <p:cNvPr id="4" name="Text 2"/>
          <p:cNvSpPr txBox="1"/>
          <p:nvPr/>
        </p:nvSpPr>
        <p:spPr>
          <a:xfrm>
            <a:off x="640080" y="1691640"/>
            <a:ext cx="10911535" cy="411480"/>
          </a:xfrm>
          <a:prstGeom prst="rect">
            <a:avLst/>
          </a:prstGeom>
          <a:noFill/>
          <a:ln/>
        </p:spPr>
        <p:txBody>
          <a:bodyPr wrap="square" lIns="0" tIns="0" rIns="0" bIns="0" rtlCol="0" anchor="ctr"/>
          <a:lstStyle/>
          <a:p>
            <a:pPr indent="0" marL="0">
              <a:buNone/>
            </a:pPr>
            <a:r>
              <a:rPr lang="en-US" sz="1350" i="1" dirty="0">
                <a:solidFill>
                  <a:srgbClr val="5D5D72"/>
                </a:solidFill>
                <a:latin typeface="Calibri" pitchFamily="34" charset="0"/>
                <a:ea typeface="Calibri" pitchFamily="34" charset="-122"/>
                <a:cs typeface="Calibri" pitchFamily="34" charset="-120"/>
              </a:rPr>
              <a:t>The warning bubbles only appear live in a browser when you try to submit invalid or missing data.</a:t>
            </a:r>
            <a:endParaRPr lang="en-US" sz="1350" dirty="0"/>
          </a:p>
        </p:txBody>
      </p:sp>
      <p:sp>
        <p:nvSpPr>
          <p:cNvPr id="5" name="Shape 3"/>
          <p:cNvSpPr/>
          <p:nvPr/>
        </p:nvSpPr>
        <p:spPr>
          <a:xfrm>
            <a:off x="530352" y="2221992"/>
            <a:ext cx="11130991" cy="4059936"/>
          </a:xfrm>
          <a:prstGeom prst="roundRect">
            <a:avLst>
              <a:gd name="adj" fmla="val 1351"/>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txBody>
          <a:bodyPr/>
          <a:p/>
        </p:txBody>
      </p:sp>
      <p:pic>
        <p:nvPicPr>
          <p:cNvPr id="6" name="Image 0" descr="D:/GitHub/mern-web-book/docs/assets/img/lecture-04/validation-form.png">    </p:cNvPr>
          <p:cNvPicPr>
            <a:picLocks noChangeAspect="1"/>
          </p:cNvPicPr>
          <p:nvPr/>
        </p:nvPicPr>
        <p:blipFill>
          <a:blip r:embed="rId1"/>
          <a:stretch>
            <a:fillRect/>
          </a:stretch>
        </p:blipFill>
        <p:spPr>
          <a:xfrm>
            <a:off x="640080" y="3631355"/>
            <a:ext cx="10911535" cy="1241210"/>
          </a:xfrm>
          <a:prstGeom prst="rect">
            <a:avLst/>
          </a:prstGeom>
        </p:spPr>
      </p:pic>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4"/>
              </a:rPr>
              <a:t>cuinotes.com</a:t>
            </a:r>
            <a:r>
              <a:rPr sz="1000">
                <a:solidFill>
                  <a:srgbClr val="8A939B"/>
                </a:solidFill>
              </a:rPr>
              <a:t>  ·  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VALIDATION</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Client-Side Validation Is Not Enough</a:t>
            </a:r>
            <a:endParaRPr lang="en-US" sz="3400" dirty="0"/>
          </a:p>
        </p:txBody>
      </p:sp>
      <p:sp>
        <p:nvSpPr>
          <p:cNvPr id="4" name="Shape 2"/>
          <p:cNvSpPr/>
          <p:nvPr/>
        </p:nvSpPr>
        <p:spPr>
          <a:xfrm>
            <a:off x="640080" y="1965960"/>
            <a:ext cx="10911535" cy="1737360"/>
          </a:xfrm>
          <a:prstGeom prst="roundRect">
            <a:avLst>
              <a:gd name="adj" fmla="val 3158"/>
            </a:avLst>
          </a:prstGeom>
          <a:solidFill>
            <a:srgbClr val="FDECE0"/>
          </a:solidFill>
          <a:ln w="12700">
            <a:solidFill>
              <a:srgbClr val="FF8A3D"/>
            </a:solidFill>
            <a:prstDash val="solid"/>
          </a:ln>
        </p:spPr>
        <p:txBody>
          <a:bodyPr/>
          <a:p/>
        </p:txBody>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8A3A12"/>
                </a:solidFill>
                <a:latin typeface="Calibri" pitchFamily="34" charset="0"/>
                <a:ea typeface="Calibri" pitchFamily="34" charset="-122"/>
                <a:cs typeface="Calibri" pitchFamily="34" charset="-120"/>
              </a:rPr>
              <a:t>WARNING</a:t>
            </a:r>
            <a:endParaRPr lang="en-US" sz="1000" dirty="0"/>
          </a:p>
        </p:txBody>
      </p:sp>
      <p:sp>
        <p:nvSpPr>
          <p:cNvPr id="6" name="Text 4"/>
          <p:cNvSpPr txBox="1"/>
          <p:nvPr/>
        </p:nvSpPr>
        <p:spPr>
          <a:xfrm>
            <a:off x="868680" y="2404872"/>
            <a:ext cx="10454335" cy="114300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A user can disable JavaScript or edit HTML in dev tools. Client-side validation is a convenience for instant feedback — it is not security. Every submission must also be validated again on the server.</a:t>
            </a:r>
            <a:endParaRPr lang="en-US" sz="125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27</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2B2B7A"/>
        </a:solidFill>
      </p:bgPr>
    </p:bg>
    <p:spTree>
      <p:nvGrpSpPr>
        <p:cNvPr id="1" name=""/>
        <p:cNvGrpSpPr/>
        <p:nvPr/>
      </p:nvGrpSpPr>
      <p:grpSpPr>
        <a:xfrm>
          <a:off x="0" y="0"/>
          <a:ext cx="0" cy="0"/>
          <a:chOff x="0" y="0"/>
          <a:chExt cx="0" cy="0"/>
        </a:xfrm>
      </p:grpSpPr>
      <p:sp>
        <p:nvSpPr>
          <p:cNvPr id="2" name="Text 0"/>
          <p:cNvSpPr txBox="1"/>
          <p:nvPr/>
        </p:nvSpPr>
        <p:spPr>
          <a:xfrm>
            <a:off x="822960" y="731520"/>
            <a:ext cx="9144000" cy="457200"/>
          </a:xfrm>
          <a:prstGeom prst="rect">
            <a:avLst/>
          </a:prstGeom>
          <a:noFill/>
          <a:ln/>
        </p:spPr>
        <p:txBody>
          <a:bodyPr wrap="square" lIns="0" tIns="0" rIns="0" bIns="0" rtlCol="0" anchor="ctr"/>
          <a:lstStyle/>
          <a:p>
            <a:pPr indent="0" marL="0">
              <a:buNone/>
            </a:pPr>
            <a:r>
              <a:rPr lang="en-US" sz="1500" b="1" spc="400" kern="0" dirty="0">
                <a:solidFill>
                  <a:srgbClr val="FF8A3D"/>
                </a:solidFill>
                <a:latin typeface="Calibri" pitchFamily="34" charset="0"/>
                <a:ea typeface="Calibri" pitchFamily="34" charset="-122"/>
                <a:cs typeface="Calibri" pitchFamily="34" charset="-120"/>
              </a:rPr>
              <a:t>KEY TAKEAWAYS</a:t>
            </a:r>
            <a:endParaRPr lang="en-US" sz="1500" dirty="0"/>
          </a:p>
        </p:txBody>
      </p:sp>
      <p:sp>
        <p:nvSpPr>
          <p:cNvPr id="3" name="Text 1"/>
          <p:cNvSpPr txBox="1"/>
          <p:nvPr/>
        </p:nvSpPr>
        <p:spPr>
          <a:xfrm>
            <a:off x="777240" y="1188720"/>
            <a:ext cx="10515600" cy="8229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Lecture 4 in Six Points</a:t>
            </a:r>
            <a:endParaRPr lang="en-US" sz="3400" dirty="0"/>
          </a:p>
        </p:txBody>
      </p:sp>
      <p:sp>
        <p:nvSpPr>
          <p:cNvPr id="4" name="Shape 2"/>
          <p:cNvSpPr/>
          <p:nvPr/>
        </p:nvSpPr>
        <p:spPr>
          <a:xfrm>
            <a:off x="822960" y="2286000"/>
            <a:ext cx="438912" cy="438912"/>
          </a:xfrm>
          <a:prstGeom prst="ellipse">
            <a:avLst/>
          </a:prstGeom>
          <a:solidFill>
            <a:srgbClr val="FF8A3D"/>
          </a:solidFill>
          <a:ln/>
        </p:spPr>
        <p:txBody>
          <a:bodyPr/>
          <a:p/>
        </p:txBody>
      </p:sp>
      <p:sp>
        <p:nvSpPr>
          <p:cNvPr id="5" name="Text 3"/>
          <p:cNvSpPr txBox="1"/>
          <p:nvPr/>
        </p:nvSpPr>
        <p:spPr>
          <a:xfrm>
            <a:off x="822960" y="22860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463040" y="219456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Semantic elements (header, nav, main, article, footer) describe role, improving accessibility and SEO over generic divs.</a:t>
            </a:r>
            <a:endParaRPr lang="en-US" sz="1250" dirty="0"/>
          </a:p>
        </p:txBody>
      </p:sp>
      <p:sp>
        <p:nvSpPr>
          <p:cNvPr id="7" name="Shape 5"/>
          <p:cNvSpPr/>
          <p:nvPr/>
        </p:nvSpPr>
        <p:spPr>
          <a:xfrm>
            <a:off x="822960" y="2956560"/>
            <a:ext cx="438912" cy="438912"/>
          </a:xfrm>
          <a:prstGeom prst="ellipse">
            <a:avLst/>
          </a:prstGeom>
          <a:solidFill>
            <a:srgbClr val="FF8A3D"/>
          </a:solidFill>
          <a:ln/>
        </p:spPr>
        <p:txBody>
          <a:bodyPr/>
          <a:p/>
        </p:txBody>
      </p:sp>
      <p:sp>
        <p:nvSpPr>
          <p:cNvPr id="8" name="Text 6"/>
          <p:cNvSpPr txBox="1"/>
          <p:nvPr/>
        </p:nvSpPr>
        <p:spPr>
          <a:xfrm>
            <a:off x="822960" y="295656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463040" y="286512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action sets where form data goes; method (GET/POST) sets how — GET builds a query string, exactly how Google's search box works.</a:t>
            </a:r>
            <a:endParaRPr lang="en-US" sz="1250" dirty="0"/>
          </a:p>
        </p:txBody>
      </p:sp>
      <p:sp>
        <p:nvSpPr>
          <p:cNvPr id="10" name="Shape 8"/>
          <p:cNvSpPr/>
          <p:nvPr/>
        </p:nvSpPr>
        <p:spPr>
          <a:xfrm>
            <a:off x="822960" y="3627120"/>
            <a:ext cx="438912" cy="438912"/>
          </a:xfrm>
          <a:prstGeom prst="ellipse">
            <a:avLst/>
          </a:prstGeom>
          <a:solidFill>
            <a:srgbClr val="FF8A3D"/>
          </a:solidFill>
          <a:ln/>
        </p:spPr>
        <p:txBody>
          <a:bodyPr/>
          <a:p/>
        </p:txBody>
      </p:sp>
      <p:sp>
        <p:nvSpPr>
          <p:cNvPr id="11" name="Text 9"/>
          <p:cNvSpPr txBox="1"/>
          <p:nvPr/>
        </p:nvSpPr>
        <p:spPr>
          <a:xfrm>
            <a:off x="822960" y="362712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463040" y="353568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&lt;input type="..."&gt; covers most controls; &lt;select&gt;, &lt;textarea&gt;, and &lt;button&gt; cover the rest.</a:t>
            </a:r>
            <a:endParaRPr lang="en-US" sz="1250" dirty="0"/>
          </a:p>
        </p:txBody>
      </p:sp>
      <p:sp>
        <p:nvSpPr>
          <p:cNvPr id="13" name="Shape 11"/>
          <p:cNvSpPr/>
          <p:nvPr/>
        </p:nvSpPr>
        <p:spPr>
          <a:xfrm>
            <a:off x="822960" y="4297680"/>
            <a:ext cx="438912" cy="438912"/>
          </a:xfrm>
          <a:prstGeom prst="ellipse">
            <a:avLst/>
          </a:prstGeom>
          <a:solidFill>
            <a:srgbClr val="FF8A3D"/>
          </a:solidFill>
          <a:ln/>
        </p:spPr>
        <p:txBody>
          <a:bodyPr/>
          <a:p/>
        </p:txBody>
      </p:sp>
      <p:sp>
        <p:nvSpPr>
          <p:cNvPr id="14" name="Text 12"/>
          <p:cNvSpPr txBox="1"/>
          <p:nvPr/>
        </p:nvSpPr>
        <p:spPr>
          <a:xfrm>
            <a:off x="822960" y="429768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 13"/>
          <p:cNvSpPr txBox="1"/>
          <p:nvPr/>
        </p:nvSpPr>
        <p:spPr>
          <a:xfrm>
            <a:off x="1463040" y="420624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File uploads need method="POST" and enctype="multipart/form-data" — accept is a hint, not a security check.</a:t>
            </a:r>
            <a:endParaRPr lang="en-US" sz="1250" dirty="0"/>
          </a:p>
        </p:txBody>
      </p:sp>
      <p:sp>
        <p:nvSpPr>
          <p:cNvPr id="16" name="Shape 14"/>
          <p:cNvSpPr/>
          <p:nvPr/>
        </p:nvSpPr>
        <p:spPr>
          <a:xfrm>
            <a:off x="822960" y="4968240"/>
            <a:ext cx="438912" cy="438912"/>
          </a:xfrm>
          <a:prstGeom prst="ellipse">
            <a:avLst/>
          </a:prstGeom>
          <a:solidFill>
            <a:srgbClr val="FF8A3D"/>
          </a:solidFill>
          <a:ln/>
        </p:spPr>
        <p:txBody>
          <a:bodyPr/>
          <a:p/>
        </p:txBody>
      </p:sp>
      <p:sp>
        <p:nvSpPr>
          <p:cNvPr id="17" name="Text 15"/>
          <p:cNvSpPr txBox="1"/>
          <p:nvPr/>
        </p:nvSpPr>
        <p:spPr>
          <a:xfrm>
            <a:off x="822960" y="496824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8" name="Text 16"/>
          <p:cNvSpPr txBox="1"/>
          <p:nvPr/>
        </p:nvSpPr>
        <p:spPr>
          <a:xfrm>
            <a:off x="1463040" y="487680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required/pattern/min/max give instant feedback, but must always be backed by server-side validation.</a:t>
            </a:r>
            <a:endParaRPr lang="en-US" sz="1250" dirty="0"/>
          </a:p>
        </p:txBody>
      </p:sp>
      <p:sp>
        <p:nvSpPr>
          <p:cNvPr id="19" name="Shape 17"/>
          <p:cNvSpPr/>
          <p:nvPr/>
        </p:nvSpPr>
        <p:spPr>
          <a:xfrm>
            <a:off x="822960" y="5638800"/>
            <a:ext cx="438912" cy="438912"/>
          </a:xfrm>
          <a:prstGeom prst="ellipse">
            <a:avLst/>
          </a:prstGeom>
          <a:solidFill>
            <a:srgbClr val="FF8A3D"/>
          </a:solidFill>
          <a:ln/>
        </p:spPr>
        <p:txBody>
          <a:bodyPr/>
          <a:p/>
        </p:txBody>
      </p:sp>
      <p:sp>
        <p:nvSpPr>
          <p:cNvPr id="20" name="Text 18"/>
          <p:cNvSpPr txBox="1"/>
          <p:nvPr/>
        </p:nvSpPr>
        <p:spPr>
          <a:xfrm>
            <a:off x="822960" y="56388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1" name="Text 19"/>
          <p:cNvSpPr txBox="1"/>
          <p:nvPr/>
        </p:nvSpPr>
        <p:spPr>
          <a:xfrm>
            <a:off x="1463040" y="554736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Always pair inputs with &lt;label&gt;, connected via matching for/id attributes.</a:t>
            </a:r>
            <a:endParaRPr lang="en-US" sz="1250" dirty="0"/>
          </a:p>
        </p:txBody>
      </p:sp>
      <p:sp>
        <p:nvSpPr>
          <p:cNvPr id="24"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COMSATS University Islamabad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4: Semantic HTML and HTML Forms</dc:title>
  <dc:subject>CSC336 Web Technologies</dc:subject>
  <dc:creator>Usman Akram</dc:creator>
  <cp:lastModifiedBy>Usman Akram</cp:lastModifiedBy>
  <cp:revision>1</cp:revision>
  <dcterms:created xsi:type="dcterms:W3CDTF">2026-09-22T05:25:25Z</dcterms:created>
  <dcterms:modified xsi:type="dcterms:W3CDTF">2026-09-22T05:25:25Z</dcterms:modified>
</cp:coreProperties>
</file>
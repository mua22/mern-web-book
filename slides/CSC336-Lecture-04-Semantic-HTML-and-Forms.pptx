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4</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Semantic HTML</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and HTML Forms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Organizing a page so it means something — to humans, browsers, and search engines — and collecting user input.</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Block-level vs. inline elements, and the generic &lt;div&gt;/&lt;span&gt;</a:t>
            </a:r>
            <a:endParaRPr lang="en-US" sz="1500" dirty="0"/>
          </a:p>
        </p:txBody>
      </p:sp>
      <p:sp>
        <p:nvSpPr>
          <p:cNvPr id="7" name="Shape 5"/>
          <p:cNvSpPr/>
          <p:nvPr/>
        </p:nvSpPr>
        <p:spPr>
          <a:xfrm>
            <a:off x="685800" y="2679192"/>
            <a:ext cx="457200" cy="457200"/>
          </a:xfrm>
          <a:prstGeom prst="ellipse">
            <a:avLst/>
          </a:prstGeom>
          <a:solidFill>
            <a:srgbClr val="FF8A3D"/>
          </a:solidFill>
          <a:ln/>
        </p:spPr>
      </p:sp>
      <p:sp>
        <p:nvSpPr>
          <p:cNvPr id="8" name="Text 6"/>
          <p:cNvSpPr txBox="1"/>
          <p:nvPr/>
        </p:nvSpPr>
        <p:spPr>
          <a:xfrm>
            <a:off x="685800" y="2679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06040"/>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HTML5 semantic elements, and why they matter for accessibility and SEO</a:t>
            </a:r>
            <a:endParaRPr lang="en-US" sz="1500" dirty="0"/>
          </a:p>
        </p:txBody>
      </p:sp>
      <p:sp>
        <p:nvSpPr>
          <p:cNvPr id="10" name="Shape 8"/>
          <p:cNvSpPr/>
          <p:nvPr/>
        </p:nvSpPr>
        <p:spPr>
          <a:xfrm>
            <a:off x="685800" y="3392424"/>
            <a:ext cx="457200" cy="457200"/>
          </a:xfrm>
          <a:prstGeom prst="ellipse">
            <a:avLst/>
          </a:prstGeom>
          <a:solidFill>
            <a:srgbClr val="FF8A3D"/>
          </a:solidFill>
          <a:ln/>
        </p:spPr>
      </p:sp>
      <p:sp>
        <p:nvSpPr>
          <p:cNvPr id="11" name="Text 9"/>
          <p:cNvSpPr txBox="1"/>
          <p:nvPr/>
        </p:nvSpPr>
        <p:spPr>
          <a:xfrm>
            <a:off x="685800" y="3392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19272"/>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Build forms: &lt;form&gt;, action/method — including a real Google search GET form</a:t>
            </a:r>
            <a:endParaRPr lang="en-US" sz="1500" dirty="0"/>
          </a:p>
        </p:txBody>
      </p:sp>
      <p:sp>
        <p:nvSpPr>
          <p:cNvPr id="13" name="Shape 11"/>
          <p:cNvSpPr/>
          <p:nvPr/>
        </p:nvSpPr>
        <p:spPr>
          <a:xfrm>
            <a:off x="685800" y="4105656"/>
            <a:ext cx="457200" cy="457200"/>
          </a:xfrm>
          <a:prstGeom prst="ellipse">
            <a:avLst/>
          </a:prstGeom>
          <a:solidFill>
            <a:srgbClr val="FF8A3D"/>
          </a:solidFill>
          <a:ln/>
        </p:spPr>
      </p:sp>
      <p:sp>
        <p:nvSpPr>
          <p:cNvPr id="14" name="Text 12"/>
          <p:cNvSpPr txBox="1"/>
          <p:nvPr/>
        </p:nvSpPr>
        <p:spPr>
          <a:xfrm>
            <a:off x="68580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32504"/>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&lt;input&gt; types, &lt;select&gt;, &lt;textarea&gt;, &lt;button&gt;</a:t>
            </a:r>
            <a:endParaRPr lang="en-US" sz="1500" dirty="0"/>
          </a:p>
        </p:txBody>
      </p:sp>
      <p:sp>
        <p:nvSpPr>
          <p:cNvPr id="16" name="Shape 14"/>
          <p:cNvSpPr/>
          <p:nvPr/>
        </p:nvSpPr>
        <p:spPr>
          <a:xfrm>
            <a:off x="685800" y="4818888"/>
            <a:ext cx="457200" cy="457200"/>
          </a:xfrm>
          <a:prstGeom prst="ellipse">
            <a:avLst/>
          </a:prstGeom>
          <a:solidFill>
            <a:srgbClr val="FF8A3D"/>
          </a:solidFill>
          <a:ln/>
        </p:spPr>
      </p:sp>
      <p:sp>
        <p:nvSpPr>
          <p:cNvPr id="17" name="Text 15"/>
          <p:cNvSpPr txBox="1"/>
          <p:nvPr/>
        </p:nvSpPr>
        <p:spPr>
          <a:xfrm>
            <a:off x="685800" y="4818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45736"/>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Upload files with multipart/form-data</a:t>
            </a:r>
            <a:endParaRPr lang="en-US" sz="1500" dirty="0"/>
          </a:p>
        </p:txBody>
      </p:sp>
      <p:sp>
        <p:nvSpPr>
          <p:cNvPr id="19" name="Shape 17"/>
          <p:cNvSpPr/>
          <p:nvPr/>
        </p:nvSpPr>
        <p:spPr>
          <a:xfrm>
            <a:off x="685800" y="5532120"/>
            <a:ext cx="457200" cy="457200"/>
          </a:xfrm>
          <a:prstGeom prst="ellipse">
            <a:avLst/>
          </a:prstGeom>
          <a:solidFill>
            <a:srgbClr val="FF8A3D"/>
          </a:solidFill>
          <a:ln/>
        </p:spPr>
      </p:sp>
      <p:sp>
        <p:nvSpPr>
          <p:cNvPr id="20" name="Text 18"/>
          <p:cNvSpPr txBox="1"/>
          <p:nvPr/>
        </p:nvSpPr>
        <p:spPr>
          <a:xfrm>
            <a:off x="685800" y="5532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4589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Client-side validation with required, pattern, min, max</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LAYOUT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Block-Level vs. Inline (Recap)</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Block elements each claim their own line; inline elements flow within the surrounding text.</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block-inline.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GENERIC CONTAINERS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Generic &lt;div&gt; and &lt;span&gt;</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&lt;div&gt; is a generic BLOCK container; &lt;span&gt; is a generic INLINE container — neither means anything on its own.</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div-span.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Meaningless Divs vs. Semantic Tags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WITHOUT SEMANTICS (OLD STYLE)</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class="header"&gt;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class="nav"&gt;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class="main-content"&gt;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class="footer"&gt;</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WITH SEMANTICS (HTML5)</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&lt;header&gt;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&lt;nav&gt;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&lt;main&gt;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&lt;footer&gt;</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Main Semantic Elements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859536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Represents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&lt;header&gt;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Introductory content — logo, title, nav</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&lt;nav&gt;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block of navigation links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&lt;main&gt;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primary, unique content (only one per page)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&lt;section&gt; / &lt;article&gt;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themed grouping / self-contained standalone content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&lt;aside&gt;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Content tangentially related (a sidebar)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&lt;footer&gt;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Closing content — copyright, contact links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Full Page Skeleton,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Semantic elements have no built-in visual style — but every section genuinely exists in the markup.</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semantic-skeleton.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IT MATTERS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Accessibility and SEO</a:t>
            </a:r>
            <a:endParaRPr lang="en-US" sz="3400" dirty="0"/>
          </a:p>
        </p:txBody>
      </p:sp>
      <p:sp>
        <p:nvSpPr>
          <p:cNvPr id="4" name="Shape 2"/>
          <p:cNvSpPr/>
          <p:nvPr/>
        </p:nvSpPr>
        <p:spPr>
          <a:xfrm>
            <a:off x="685800" y="2185416"/>
            <a:ext cx="82296" cy="82296"/>
          </a:xfrm>
          <a:prstGeom prst="ellipse">
            <a:avLst/>
          </a:prstGeom>
          <a:solidFill>
            <a:srgbClr val="FF8A3D"/>
          </a:solidFill>
          <a:ln/>
        </p:spPr>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Accessibility: screen readers use semantic tags to jump to navigation or skip to main content — a div-only page gives them nothing to work with</a:t>
            </a:r>
            <a:endParaRPr lang="en-US" sz="1500" dirty="0"/>
          </a:p>
        </p:txBody>
      </p:sp>
      <p:sp>
        <p:nvSpPr>
          <p:cNvPr id="6" name="Shape 4"/>
          <p:cNvSpPr/>
          <p:nvPr/>
        </p:nvSpPr>
        <p:spPr>
          <a:xfrm>
            <a:off x="685800" y="3008376"/>
            <a:ext cx="82296" cy="82296"/>
          </a:xfrm>
          <a:prstGeom prst="ellipse">
            <a:avLst/>
          </a:prstGeom>
          <a:solidFill>
            <a:srgbClr val="FF8A3D"/>
          </a:solidFill>
          <a:ln/>
        </p:spPr>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SEO: search engines weight content inside &lt;article&gt;/&lt;main&gt;/headings more than anonymous &lt;div&gt;s</a:t>
            </a:r>
            <a:endParaRPr lang="en-US" sz="1500" dirty="0"/>
          </a:p>
        </p:txBody>
      </p:sp>
      <p:sp>
        <p:nvSpPr>
          <p:cNvPr id="8" name="Shape 6"/>
          <p:cNvSpPr/>
          <p:nvPr/>
        </p:nvSpPr>
        <p:spPr>
          <a:xfrm>
            <a:off x="685800" y="3831336"/>
            <a:ext cx="82296" cy="82296"/>
          </a:xfrm>
          <a:prstGeom prst="ellipse">
            <a:avLst/>
          </a:prstGeom>
          <a:solidFill>
            <a:srgbClr val="FF8A3D"/>
          </a:solidFill>
          <a:ln/>
        </p:spPr>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Rule of thumb: reach for a semantic element first; fall back to &lt;div&gt;/&lt;span&gt; only when nothing else fits</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HTML FORMS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Basic Form</a:t>
            </a:r>
            <a:endParaRPr lang="en-US" sz="3400" dirty="0"/>
          </a:p>
        </p:txBody>
      </p:sp>
      <p:sp>
        <p:nvSpPr>
          <p:cNvPr id="4" name="Shape 2"/>
          <p:cNvSpPr/>
          <p:nvPr/>
        </p:nvSpPr>
        <p:spPr>
          <a:xfrm>
            <a:off x="640080" y="1965960"/>
            <a:ext cx="10911535" cy="2606040"/>
          </a:xfrm>
          <a:prstGeom prst="roundRect">
            <a:avLst>
              <a:gd name="adj" fmla="val 2807"/>
            </a:avLst>
          </a:prstGeom>
          <a:solidFill>
            <a:srgbClr val="1E1E4C"/>
          </a:solidFill>
          <a:ln/>
        </p:spPr>
      </p:sp>
      <p:sp>
        <p:nvSpPr>
          <p:cNvPr id="5" name="Text 3"/>
          <p:cNvSpPr txBox="1"/>
          <p:nvPr/>
        </p:nvSpPr>
        <p:spPr>
          <a:xfrm>
            <a:off x="960120" y="2194560"/>
            <a:ext cx="10271455" cy="2148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&lt;form action="/submit-login" method="POST"&gt;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&lt;label for="username"&gt;Username:&lt;/label&gt;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&lt;input type="text" id="username" name="username"&gt;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&lt;button type="submit"&gt;Log In&lt;/button&gt;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&lt;/form&gt;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HTML FORMS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Basic Form, Rendered</a:t>
            </a:r>
            <a:endParaRPr lang="en-US" sz="3400" dirty="0"/>
          </a:p>
        </p:txBody>
      </p:sp>
      <p:sp>
        <p:nvSpPr>
          <p:cNvPr id="4" name="Shape 2"/>
          <p:cNvSpPr/>
          <p:nvPr/>
        </p:nvSpPr>
        <p:spPr>
          <a:xfrm>
            <a:off x="530352" y="1947672"/>
            <a:ext cx="11130991" cy="4334256"/>
          </a:xfrm>
          <a:prstGeom prst="roundRect">
            <a:avLst>
              <a:gd name="adj" fmla="val 1266"/>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5" name="Image 0" descr="D:/GitHub/mern-web-book/docs/assets/img/lecture-04/login-form.png">    </p:cNvPr>
          <p:cNvPicPr>
            <a:picLocks noChangeAspect="1"/>
          </p:cNvPicPr>
          <p:nvPr/>
        </p:nvPicPr>
        <p:blipFill>
          <a:blip r:embed="rId1"/>
          <a:srcRect l="0" r="0" t="0" b="0"/>
          <a:stretch/>
        </p:blipFill>
        <p:spPr>
          <a:xfrm>
            <a:off x="640080" y="2057400"/>
            <a:ext cx="10911535" cy="4114800"/>
          </a:xfrm>
          <a:prstGeom prst="rect">
            <a:avLst/>
          </a:prstGeom>
        </p:spPr>
      </p:pic>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HTML FORMS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action and method Attributes</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194560"/>
                <a:gridCol w="8778240"/>
              </a:tblGrid>
              <a:tr h="8229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Attribute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URL the form's data is sent to on submit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method: GET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Appends data to the URL as a query string — for searches, not sensitive data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method: POST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Sends data in the request body — for anything that creates/changes data, or is sensitive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SECURITY</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Never Use GET for Passwords</a:t>
            </a:r>
            <a:endParaRPr lang="en-US" sz="3400" dirty="0"/>
          </a:p>
        </p:txBody>
      </p:sp>
      <p:sp>
        <p:nvSpPr>
          <p:cNvPr id="4" name="Shape 2"/>
          <p:cNvSpPr/>
          <p:nvPr/>
        </p:nvSpPr>
        <p:spPr>
          <a:xfrm>
            <a:off x="640080" y="1965960"/>
            <a:ext cx="10911535" cy="1554480"/>
          </a:xfrm>
          <a:prstGeom prst="roundRect">
            <a:avLst>
              <a:gd name="adj" fmla="val 3529"/>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GET puts form values directly into the URL, where they can end up saved in browser history, server logs, and shared links. Always use POST for passwords and other sensitive information.</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 REAL EXAMPLE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Searching Google with a GET Form</a:t>
            </a:r>
            <a:endParaRPr lang="en-US" sz="3400" dirty="0"/>
          </a:p>
        </p:txBody>
      </p:sp>
      <p:sp>
        <p:nvSpPr>
          <p:cNvPr id="4" name="Shape 2"/>
          <p:cNvSpPr/>
          <p:nvPr/>
        </p:nvSpPr>
        <p:spPr>
          <a:xfrm>
            <a:off x="640080" y="1965960"/>
            <a:ext cx="10911535" cy="2221992"/>
          </a:xfrm>
          <a:prstGeom prst="roundRect">
            <a:avLst>
              <a:gd name="adj" fmla="val 3292"/>
            </a:avLst>
          </a:prstGeom>
          <a:solidFill>
            <a:srgbClr val="1E1E4C"/>
          </a:solidFill>
          <a:ln/>
        </p:spPr>
      </p:sp>
      <p:sp>
        <p:nvSpPr>
          <p:cNvPr id="5" name="Text 3"/>
          <p:cNvSpPr txBox="1"/>
          <p:nvPr/>
        </p:nvSpPr>
        <p:spPr>
          <a:xfrm>
            <a:off x="960120" y="2194560"/>
            <a:ext cx="10271455" cy="1764792"/>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&lt;form action="https://www.google.com/search" method="GET"&gt;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&lt;input type="text" name="q" placeholder="Type your search..."&gt;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&lt;button type="submit"&gt;Search&lt;/button&gt;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&lt;/form&gt;</a:t>
            </a:r>
            <a:endParaRPr lang="en-US" sz="1400" dirty="0"/>
          </a:p>
        </p:txBody>
      </p:sp>
      <p:sp>
        <p:nvSpPr>
          <p:cNvPr id="6" name="Text 4"/>
          <p:cNvSpPr txBox="1"/>
          <p:nvPr/>
        </p:nvSpPr>
        <p:spPr>
          <a:xfrm>
            <a:off x="640080" y="4416552"/>
            <a:ext cx="10911535" cy="1847088"/>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name="q" is the exact query-parameter name Google's search endpoint expects — submitting this form genuinely searches Google.</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 REAL EXAMPLE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Google Search Form, Rendered</a:t>
            </a:r>
            <a:endParaRPr lang="en-US" sz="3400" dirty="0"/>
          </a:p>
        </p:txBody>
      </p:sp>
      <p:sp>
        <p:nvSpPr>
          <p:cNvPr id="4" name="Shape 2"/>
          <p:cNvSpPr/>
          <p:nvPr/>
        </p:nvSpPr>
        <p:spPr>
          <a:xfrm>
            <a:off x="530352" y="1947672"/>
            <a:ext cx="11130991" cy="4334256"/>
          </a:xfrm>
          <a:prstGeom prst="roundRect">
            <a:avLst>
              <a:gd name="adj" fmla="val 1266"/>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5" name="Image 0" descr="D:/GitHub/mern-web-book/docs/assets/img/lecture-04/google-search-form.png">    </p:cNvPr>
          <p:cNvPicPr>
            <a:picLocks noChangeAspect="1"/>
          </p:cNvPicPr>
          <p:nvPr/>
        </p:nvPicPr>
        <p:blipFill>
          <a:blip r:embed="rId1"/>
          <a:srcRect l="0" r="0" t="0" b="0"/>
          <a:stretch/>
        </p:blipFill>
        <p:spPr>
          <a:xfrm>
            <a:off x="640080" y="2057400"/>
            <a:ext cx="10911535" cy="4114800"/>
          </a:xfrm>
          <a:prstGeom prst="rect">
            <a:avLst/>
          </a:prstGeom>
        </p:spPr>
      </p:pic>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TYPES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Common &lt;input&gt; Types</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194560"/>
                <a:gridCol w="8778240"/>
              </a:tblGrid>
              <a:tr h="512064">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text / email / password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line of text, checked for an email shape, or hidden as dots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number / date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Numeric input with arrows / a date picker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checkbox / radio</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An on/off box / a mutually-exclusive choice (same name)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file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Lets the user pick a file to upload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range / 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slider / a color picker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submit / hidden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Submits the form / not shown, but sent along with the data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TYPES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Every Input Type,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Each type is a genuinely different native control — this is the browser doing most of the work for you.</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input-types.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FILE UPLOADS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multipart/form-data</a:t>
            </a:r>
            <a:endParaRPr lang="en-US" sz="3400" dirty="0"/>
          </a:p>
        </p:txBody>
      </p:sp>
      <p:sp>
        <p:nvSpPr>
          <p:cNvPr id="4" name="Shape 2"/>
          <p:cNvSpPr/>
          <p:nvPr/>
        </p:nvSpPr>
        <p:spPr>
          <a:xfrm>
            <a:off x="685800" y="2185416"/>
            <a:ext cx="82296" cy="82296"/>
          </a:xfrm>
          <a:prstGeom prst="ellipse">
            <a:avLst/>
          </a:prstGeom>
          <a:solidFill>
            <a:srgbClr val="FF8A3D"/>
          </a:solidFill>
          <a:ln/>
        </p:spPr>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file's raw bytes can't fit in a URL — file uploads require method="POST"</a:t>
            </a:r>
            <a:endParaRPr lang="en-US" sz="1500" dirty="0"/>
          </a:p>
        </p:txBody>
      </p:sp>
      <p:sp>
        <p:nvSpPr>
          <p:cNvPr id="6" name="Shape 4"/>
          <p:cNvSpPr/>
          <p:nvPr/>
        </p:nvSpPr>
        <p:spPr>
          <a:xfrm>
            <a:off x="685800" y="3008376"/>
            <a:ext cx="82296" cy="82296"/>
          </a:xfrm>
          <a:prstGeom prst="ellipse">
            <a:avLst/>
          </a:prstGeom>
          <a:solidFill>
            <a:srgbClr val="FF8A3D"/>
          </a:solidFill>
          <a:ln/>
        </p:spPr>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enctype="multipart/form-data" switches the request body format so text fields and raw file bytes can travel together</a:t>
            </a:r>
            <a:endParaRPr lang="en-US" sz="1500" dirty="0"/>
          </a:p>
        </p:txBody>
      </p:sp>
      <p:sp>
        <p:nvSpPr>
          <p:cNvPr id="8" name="Shape 6"/>
          <p:cNvSpPr/>
          <p:nvPr/>
        </p:nvSpPr>
        <p:spPr>
          <a:xfrm>
            <a:off x="685800" y="3831336"/>
            <a:ext cx="82296" cy="82296"/>
          </a:xfrm>
          <a:prstGeom prst="ellipse">
            <a:avLst/>
          </a:prstGeom>
          <a:solidFill>
            <a:srgbClr val="FF8A3D"/>
          </a:solidFill>
          <a:ln/>
        </p:spPr>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accept is a filter hint for the file picker, not a security check — the server must always re-validate the uploaded file</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FILE UPLOADS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multipart/form-data Looks Like</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POST /upload-resume HTTP/1.1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Content-Type: multipart/form-data; boundary=----Bnd123</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------Bnd123</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Content-Disposition: form-data; name="resume"; filename="cv.pdf"</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%PDF-1.4 ...(raw binary bytes)...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------Bnd123--</a:t>
            </a:r>
            <a:endParaRPr lang="en-US" sz="1400"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Node.js/Express (with multer) parses this format for you automatically — you'll never write boundary-splitting code by hand.</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&lt;select&gt;, &lt;textarea&gt;, and &lt;button&gt;</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&lt;select&gt; + &lt;option&gt; creates a dropdown; the selected attribute pre-picks one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&lt;textarea&gt; is a resizable, multi-line text box — its default text goes between the tags, not in a value attribute</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&lt;button&gt; is more flexible than &lt;input type="submit"&gt; because it can contain other HTML</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Dropdown and Textarea, Rendered</a:t>
            </a:r>
            <a:endParaRPr lang="en-US" sz="3400" dirty="0"/>
          </a:p>
        </p:txBody>
      </p:sp>
      <p:sp>
        <p:nvSpPr>
          <p:cNvPr id="4" name="Text 2"/>
          <p:cNvSpPr txBox="1"/>
          <p:nvPr/>
        </p:nvSpPr>
        <p:spPr>
          <a:xfrm>
            <a:off x="640080" y="1965960"/>
            <a:ext cx="5272888" cy="365760"/>
          </a:xfrm>
          <a:prstGeom prst="rect">
            <a:avLst/>
          </a:prstGeom>
          <a:noFill/>
          <a:ln/>
        </p:spPr>
        <p:txBody>
          <a:bodyPr wrap="square" lIns="0" tIns="0" rIns="0" bIns="0" rtlCol="0" anchor="ctr"/>
          <a:lstStyle/>
          <a:p>
            <a:pPr algn="ctr" indent="0" marL="0">
              <a:buNone/>
            </a:pPr>
            <a:r>
              <a:rPr lang="en-US" sz="1100" b="1" spc="150" kern="0" dirty="0">
                <a:solidFill>
                  <a:srgbClr val="E67528"/>
                </a:solidFill>
                <a:latin typeface="Calibri" pitchFamily="34" charset="0"/>
                <a:ea typeface="Calibri" pitchFamily="34" charset="-122"/>
                <a:cs typeface="Calibri" pitchFamily="34" charset="-120"/>
              </a:rPr>
              <a:t>SELECT</a:t>
            </a:r>
            <a:endParaRPr lang="en-US" sz="1100" dirty="0"/>
          </a:p>
        </p:txBody>
      </p:sp>
      <p:sp>
        <p:nvSpPr>
          <p:cNvPr id="5" name="Shape 3"/>
          <p:cNvSpPr/>
          <p:nvPr/>
        </p:nvSpPr>
        <p:spPr>
          <a:xfrm>
            <a:off x="530352" y="2313432"/>
            <a:ext cx="5492344" cy="3831336"/>
          </a:xfrm>
          <a:prstGeom prst="roundRect">
            <a:avLst>
              <a:gd name="adj" fmla="val 14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select-dropdown.png">    </p:cNvPr>
          <p:cNvPicPr>
            <a:picLocks noChangeAspect="1"/>
          </p:cNvPicPr>
          <p:nvPr/>
        </p:nvPicPr>
        <p:blipFill>
          <a:blip r:embed="rId1"/>
          <a:srcRect l="0" r="0" t="0" b="0"/>
          <a:stretch/>
        </p:blipFill>
        <p:spPr>
          <a:xfrm>
            <a:off x="640080" y="2423160"/>
            <a:ext cx="5272888" cy="3611880"/>
          </a:xfrm>
          <a:prstGeom prst="rect">
            <a:avLst/>
          </a:prstGeom>
        </p:spPr>
      </p:pic>
      <p:sp>
        <p:nvSpPr>
          <p:cNvPr id="7" name="Text 4"/>
          <p:cNvSpPr txBox="1"/>
          <p:nvPr/>
        </p:nvSpPr>
        <p:spPr>
          <a:xfrm>
            <a:off x="6278728" y="1965960"/>
            <a:ext cx="5272888" cy="365760"/>
          </a:xfrm>
          <a:prstGeom prst="rect">
            <a:avLst/>
          </a:prstGeom>
          <a:noFill/>
          <a:ln/>
        </p:spPr>
        <p:txBody>
          <a:bodyPr wrap="square" lIns="0" tIns="0" rIns="0" bIns="0" rtlCol="0" anchor="ctr"/>
          <a:lstStyle/>
          <a:p>
            <a:pPr algn="ctr" indent="0" marL="0">
              <a:buNone/>
            </a:pPr>
            <a:r>
              <a:rPr lang="en-US" sz="1100" b="1" spc="150" kern="0" dirty="0">
                <a:solidFill>
                  <a:srgbClr val="E67528"/>
                </a:solidFill>
                <a:latin typeface="Calibri" pitchFamily="34" charset="0"/>
                <a:ea typeface="Calibri" pitchFamily="34" charset="-122"/>
                <a:cs typeface="Calibri" pitchFamily="34" charset="-120"/>
              </a:rPr>
              <a:t>TEXTAREA</a:t>
            </a:r>
            <a:endParaRPr lang="en-US" sz="1100" dirty="0"/>
          </a:p>
        </p:txBody>
      </p:sp>
      <p:sp>
        <p:nvSpPr>
          <p:cNvPr id="8" name="Shape 5"/>
          <p:cNvSpPr/>
          <p:nvPr/>
        </p:nvSpPr>
        <p:spPr>
          <a:xfrm>
            <a:off x="6169000" y="2313432"/>
            <a:ext cx="5492344" cy="3831336"/>
          </a:xfrm>
          <a:prstGeom prst="roundRect">
            <a:avLst>
              <a:gd name="adj" fmla="val 14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9" name="Image 1" descr="D:/GitHub/mern-web-book/docs/assets/img/lecture-04/textarea.png">    </p:cNvPr>
          <p:cNvPicPr>
            <a:picLocks noChangeAspect="1"/>
          </p:cNvPicPr>
          <p:nvPr/>
        </p:nvPicPr>
        <p:blipFill>
          <a:blip r:embed="rId2"/>
          <a:srcRect l="0" r="0" t="0" b="0"/>
          <a:stretch/>
        </p:blipFill>
        <p:spPr>
          <a:xfrm>
            <a:off x="6278728" y="2423160"/>
            <a:ext cx="5272888" cy="3611880"/>
          </a:xfrm>
          <a:prstGeom prst="rect">
            <a:avLst/>
          </a:prstGeom>
        </p:spPr>
      </p:pic>
      <p:sp>
        <p:nvSpPr>
          <p:cNvPr id="10"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 Button Types,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submit submits the form, reset clears it, button does nothing on its own (wired up with JavaScript later).</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buttons.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HTML5 Client-Side Validation</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8595360"/>
              </a:tblGrid>
              <a:tr h="6858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Attribute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field cannot be left empty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pattern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regular expression the value must match (with title for a hint)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min / max / step</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Lowest/highest acceptable value and allowed increment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maxlength / minlength</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Character-count limits on a text field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Validated Form,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The warning bubbles only appear live in a browser when you try to submit invalid or missing data.</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validation-form.png">    </p:cNvPr>
          <p:cNvPicPr>
            <a:picLocks noChangeAspect="1"/>
          </p:cNvPicPr>
          <p:nvPr/>
        </p:nvPicPr>
        <p:blipFill>
          <a:blip r:embed="rId1"/>
          <a:srcRect l="0" r="0" t="0" b="0"/>
          <a:stretch/>
        </p:blipFill>
        <p:spPr>
          <a:xfrm>
            <a:off x="640080" y="2331720"/>
            <a:ext cx="10911535"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Client-Side Validation Is Not Enough</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 user can disable JavaScript or edit HTML in dev tools. Client-side validation is a convenience for instant feedback — it is not security. Every submission must also be validated again on the server.</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4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Semantic elements (header, nav, main, article, footer) describe role, improving accessibility and SEO over generic divs.</a:t>
            </a:r>
            <a:endParaRPr lang="en-US" sz="1250" dirty="0"/>
          </a:p>
        </p:txBody>
      </p:sp>
      <p:sp>
        <p:nvSpPr>
          <p:cNvPr id="7" name="Shape 5"/>
          <p:cNvSpPr/>
          <p:nvPr/>
        </p:nvSpPr>
        <p:spPr>
          <a:xfrm>
            <a:off x="822960" y="2971800"/>
            <a:ext cx="438912" cy="438912"/>
          </a:xfrm>
          <a:prstGeom prst="ellipse">
            <a:avLst/>
          </a:prstGeom>
          <a:solidFill>
            <a:srgbClr val="FF8A3D"/>
          </a:solidFill>
          <a:ln/>
        </p:spPr>
      </p:sp>
      <p:sp>
        <p:nvSpPr>
          <p:cNvPr id="8" name="Text 6"/>
          <p:cNvSpPr txBox="1"/>
          <p:nvPr/>
        </p:nvSpPr>
        <p:spPr>
          <a:xfrm>
            <a:off x="822960" y="2971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action sets where form data goes; method (GET/POST) sets how — GET builds a query string, exactly how Google's search box works.</a:t>
            </a:r>
            <a:endParaRPr lang="en-US" sz="1250" dirty="0"/>
          </a:p>
        </p:txBody>
      </p:sp>
      <p:sp>
        <p:nvSpPr>
          <p:cNvPr id="10" name="Shape 8"/>
          <p:cNvSpPr/>
          <p:nvPr/>
        </p:nvSpPr>
        <p:spPr>
          <a:xfrm>
            <a:off x="822960" y="3657600"/>
            <a:ext cx="438912" cy="438912"/>
          </a:xfrm>
          <a:prstGeom prst="ellipse">
            <a:avLst/>
          </a:prstGeom>
          <a:solidFill>
            <a:srgbClr val="FF8A3D"/>
          </a:solidFill>
          <a:ln/>
        </p:spPr>
      </p:sp>
      <p:sp>
        <p:nvSpPr>
          <p:cNvPr id="11" name="Text 9"/>
          <p:cNvSpPr txBox="1"/>
          <p:nvPr/>
        </p:nvSpPr>
        <p:spPr>
          <a:xfrm>
            <a:off x="822960" y="3657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661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&lt;input type="..."&gt; covers most controls; &lt;select&gt;, &lt;textarea&gt;, and &lt;button&gt; cover the rest.</a:t>
            </a:r>
            <a:endParaRPr lang="en-US" sz="1250" dirty="0"/>
          </a:p>
        </p:txBody>
      </p:sp>
      <p:sp>
        <p:nvSpPr>
          <p:cNvPr id="13" name="Shape 11"/>
          <p:cNvSpPr/>
          <p:nvPr/>
        </p:nvSpPr>
        <p:spPr>
          <a:xfrm>
            <a:off x="822960" y="4343400"/>
            <a:ext cx="438912" cy="438912"/>
          </a:xfrm>
          <a:prstGeom prst="ellipse">
            <a:avLst/>
          </a:prstGeom>
          <a:solidFill>
            <a:srgbClr val="FF8A3D"/>
          </a:solidFill>
          <a:ln/>
        </p:spPr>
      </p:sp>
      <p:sp>
        <p:nvSpPr>
          <p:cNvPr id="14" name="Text 12"/>
          <p:cNvSpPr txBox="1"/>
          <p:nvPr/>
        </p:nvSpPr>
        <p:spPr>
          <a:xfrm>
            <a:off x="822960" y="43434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519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File uploads need method="POST" and enctype="multipart/form-data" — accept is a hint, not a security check.</a:t>
            </a:r>
            <a:endParaRPr lang="en-US" sz="1250" dirty="0"/>
          </a:p>
        </p:txBody>
      </p:sp>
      <p:sp>
        <p:nvSpPr>
          <p:cNvPr id="16" name="Shape 14"/>
          <p:cNvSpPr/>
          <p:nvPr/>
        </p:nvSpPr>
        <p:spPr>
          <a:xfrm>
            <a:off x="822960" y="5029200"/>
            <a:ext cx="438912" cy="438912"/>
          </a:xfrm>
          <a:prstGeom prst="ellipse">
            <a:avLst/>
          </a:prstGeom>
          <a:solidFill>
            <a:srgbClr val="FF8A3D"/>
          </a:solidFill>
          <a:ln/>
        </p:spPr>
      </p:sp>
      <p:sp>
        <p:nvSpPr>
          <p:cNvPr id="17" name="Text 15"/>
          <p:cNvSpPr txBox="1"/>
          <p:nvPr/>
        </p:nvSpPr>
        <p:spPr>
          <a:xfrm>
            <a:off x="822960" y="5029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9377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required/pattern/min/max give instant feedback, but must always be backed by server-side validation.</a:t>
            </a:r>
            <a:endParaRPr lang="en-US" sz="1250" dirty="0"/>
          </a:p>
        </p:txBody>
      </p:sp>
      <p:sp>
        <p:nvSpPr>
          <p:cNvPr id="19" name="Shape 17"/>
          <p:cNvSpPr/>
          <p:nvPr/>
        </p:nvSpPr>
        <p:spPr>
          <a:xfrm>
            <a:off x="822960" y="5715000"/>
            <a:ext cx="438912" cy="438912"/>
          </a:xfrm>
          <a:prstGeom prst="ellipse">
            <a:avLst/>
          </a:prstGeom>
          <a:solidFill>
            <a:srgbClr val="FF8A3D"/>
          </a:solidFill>
          <a:ln/>
        </p:spPr>
      </p:sp>
      <p:sp>
        <p:nvSpPr>
          <p:cNvPr id="20" name="Text 18"/>
          <p:cNvSpPr txBox="1"/>
          <p:nvPr/>
        </p:nvSpPr>
        <p:spPr>
          <a:xfrm>
            <a:off x="822960" y="5715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623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Always pair inputs with &lt;label&gt;, connected via matching for/id attributes.</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Semantic HTML and HTML Forms</dc:title>
  <dc:subject>CSC336 Web Technologies</dc:subject>
  <dc:creator>Usman Akram</dc:creator>
  <cp:lastModifiedBy>Usman Akram</cp:lastModifiedBy>
  <cp:revision>1</cp:revision>
  <dcterms:created xsi:type="dcterms:W3CDTF">2026-09-13T11:09:25Z</dcterms:created>
  <dcterms:modified xsi:type="dcterms:W3CDTF">2026-09-13T11:09:25Z</dcterms:modified>
</cp:coreProperties>
</file>
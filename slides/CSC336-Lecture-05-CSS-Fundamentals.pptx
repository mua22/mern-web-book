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CSS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Fundamentals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language that controls how HTML looks: colours, fonts, spacing, and layout.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CSS syntax, and the three ways to attach CSS to HTML</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Selectors: element, class, id, attribute, grouping, descendant</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Pseudo-classes and pseudo-elements</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cascade and specificity — every conflict case, and the real scoring method</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Which properties inherit from parent to child, and which do not</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most common colour, font, text, and background properties</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CSS?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style sheet language: HTML says what something IS, CSS says how it should look</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Separates content (HTML) from presentation (CSS)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Change a whole site's look by editing one CSS file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HTML can be restyled for print, mobile, or accessibility</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SYNTAX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CSS Rule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darkslategray;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font-size: 16px;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selector (which elements) plus a declaration block (what style) — every declaration is a property: value pair, ending in a semicolon.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1. Inline Styles</a:t>
            </a:r>
            <a:endParaRPr lang="en-US" sz="3400" dirty="0"/>
          </a:p>
        </p:txBody>
      </p:sp>
      <p:sp>
        <p:nvSpPr>
          <p:cNvPr id="4" name="Shape 2"/>
          <p:cNvSpPr/>
          <p:nvPr/>
        </p:nvSpPr>
        <p:spPr>
          <a:xfrm>
            <a:off x="640080" y="1965960"/>
            <a:ext cx="10911535" cy="786765"/>
          </a:xfrm>
          <a:prstGeom prst="roundRect">
            <a:avLst>
              <a:gd name="adj" fmla="val 9298"/>
            </a:avLst>
          </a:prstGeom>
          <a:solidFill>
            <a:srgbClr val="1E1E4C"/>
          </a:solidFill>
          <a:ln/>
        </p:spPr>
      </p:sp>
      <p:sp>
        <p:nvSpPr>
          <p:cNvPr id="5" name="Text 3"/>
          <p:cNvSpPr txBox="1"/>
          <p:nvPr/>
        </p:nvSpPr>
        <p:spPr>
          <a:xfrm>
            <a:off x="960120" y="2194560"/>
            <a:ext cx="10271455" cy="3295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style="color: red; font-weight: bold;"&gt;This paragraph is styled inline.&lt;/p&gt;</a:t>
            </a:r>
            <a:endParaRPr lang="en-US" sz="1250" dirty="0"/>
          </a:p>
        </p:txBody>
      </p:sp>
      <p:sp>
        <p:nvSpPr>
          <p:cNvPr id="6" name="Shape 4"/>
          <p:cNvSpPr/>
          <p:nvPr/>
        </p:nvSpPr>
        <p:spPr>
          <a:xfrm>
            <a:off x="530352" y="2917317"/>
            <a:ext cx="11130991" cy="3410331"/>
          </a:xfrm>
          <a:prstGeom prst="roundRect">
            <a:avLst>
              <a:gd name="adj" fmla="val 160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inline-style.png">    </p:cNvPr>
          <p:cNvPicPr>
            <a:picLocks noChangeAspect="1"/>
          </p:cNvPicPr>
          <p:nvPr/>
        </p:nvPicPr>
        <p:blipFill>
          <a:blip r:embed="rId1"/>
          <a:stretch>
            <a:fillRect/>
          </a:stretch>
        </p:blipFill>
        <p:spPr>
          <a:xfrm>
            <a:off x="2171548" y="4035742"/>
            <a:ext cx="7848600" cy="117348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body { font-family: Arial, sans-serif;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h1 { color: navy;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&lt;/style&gt;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&lt;h1&gt;Welcome&lt;/h1&gt;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&lt;/body&gt;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 &lt;style&gt; block inside &lt;head&gt; — applies to the whole page, but stuck in that one HTML file.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ternal-stylesheet.png">    </p:cNvPr>
          <p:cNvPicPr>
            <a:picLocks noChangeAspect="1"/>
          </p:cNvPicPr>
          <p:nvPr/>
        </p:nvPicPr>
        <p:blipFill>
          <a:blip r:embed="rId1"/>
          <a:stretch>
            <a:fillRect/>
          </a:stretch>
        </p:blipFill>
        <p:spPr>
          <a:xfrm>
            <a:off x="3611728" y="3528060"/>
            <a:ext cx="4968240" cy="144780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3. External Style Sheets — Preferred</a:t>
            </a:r>
            <a:endParaRPr lang="en-US" sz="3400" dirty="0"/>
          </a:p>
        </p:txBody>
      </p:sp>
      <p:sp>
        <p:nvSpPr>
          <p:cNvPr id="4" name="Shape 2"/>
          <p:cNvSpPr/>
          <p:nvPr/>
        </p:nvSpPr>
        <p:spPr>
          <a:xfrm>
            <a:off x="640080" y="1965960"/>
            <a:ext cx="10911535" cy="2194560"/>
          </a:xfrm>
          <a:prstGeom prst="roundRect">
            <a:avLst>
              <a:gd name="adj" fmla="val 2500"/>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6002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file, many pages: every page links the same styles.css, so the whole site looks consistent and you edit one file to restyle it. Separation of concerns keeps HTML focused on content. Browsers cache the file, so pages after the first load faster. Designers and developers can work on CSS and HTML independently.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Selector: .highlight</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class="highlight"&gt;This text is important.&lt;/p&gt;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.highlight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background-color: yellow;</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lass-selector.png">    </p:cNvPr>
          <p:cNvPicPr>
            <a:picLocks noChangeAspect="1"/>
          </p:cNvPicPr>
          <p:nvPr/>
        </p:nvPicPr>
        <p:blipFill>
          <a:blip r:embed="rId1"/>
          <a:stretch>
            <a:fillRect/>
          </a:stretch>
        </p:blipFill>
        <p:spPr>
          <a:xfrm>
            <a:off x="640080" y="4790395"/>
            <a:ext cx="10911535" cy="616676"/>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ID Selector: #main-header</a:t>
            </a:r>
            <a:endParaRPr lang="en-US" sz="3400" dirty="0"/>
          </a:p>
        </p:txBody>
      </p:sp>
      <p:sp>
        <p:nvSpPr>
          <p:cNvPr id="4" name="Shape 2"/>
          <p:cNvSpPr/>
          <p:nvPr/>
        </p:nvSpPr>
        <p:spPr>
          <a:xfrm>
            <a:off x="640080" y="1965960"/>
            <a:ext cx="10911535" cy="1977390"/>
          </a:xfrm>
          <a:prstGeom prst="roundRect">
            <a:avLst>
              <a:gd name="adj" fmla="val 3699"/>
            </a:avLst>
          </a:prstGeom>
          <a:solidFill>
            <a:srgbClr val="1E1E4C"/>
          </a:solidFill>
          <a:ln/>
        </p:spPr>
      </p:sp>
      <p:sp>
        <p:nvSpPr>
          <p:cNvPr id="5" name="Text 3"/>
          <p:cNvSpPr txBox="1"/>
          <p:nvPr/>
        </p:nvSpPr>
        <p:spPr>
          <a:xfrm>
            <a:off x="960120" y="219456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 id="main-header"&gt;Site Title&lt;/div&gt;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#main-header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2rem;</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107942"/>
            <a:ext cx="11130991" cy="2219706"/>
          </a:xfrm>
          <a:prstGeom prst="roundRect">
            <a:avLst>
              <a:gd name="adj" fmla="val 247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id-selector.png">    </p:cNvPr>
          <p:cNvPicPr>
            <a:picLocks noChangeAspect="1"/>
          </p:cNvPicPr>
          <p:nvPr/>
        </p:nvPicPr>
        <p:blipFill>
          <a:blip r:embed="rId1"/>
          <a:stretch>
            <a:fillRect/>
          </a:stretch>
        </p:blipFill>
        <p:spPr>
          <a:xfrm>
            <a:off x="3886048" y="4493895"/>
            <a:ext cx="4419600" cy="14478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vs. ID</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 a class when a style might apply to more than one element (most of the time). Use an id only for something that truly appears once on the page. Overusing ids makes CSS harder to reuse.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Attribute Selector</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input[type="email"]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border: 1px solid gray;</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a[target]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purple;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attribute-selector.png">    </p:cNvPr>
          <p:cNvPicPr>
            <a:picLocks noChangeAspect="1"/>
          </p:cNvPicPr>
          <p:nvPr/>
        </p:nvPicPr>
        <p:blipFill>
          <a:blip r:embed="rId1"/>
          <a:stretch>
            <a:fillRect/>
          </a:stretch>
        </p:blipFill>
        <p:spPr>
          <a:xfrm>
            <a:off x="3429775" y="4455795"/>
            <a:ext cx="5332144" cy="176212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Grouping Selector</a:t>
            </a:r>
            <a:endParaRPr lang="en-US" sz="3400" dirty="0"/>
          </a:p>
        </p:txBody>
      </p:sp>
      <p:sp>
        <p:nvSpPr>
          <p:cNvPr id="4" name="Shape 2"/>
          <p:cNvSpPr/>
          <p:nvPr/>
        </p:nvSpPr>
        <p:spPr>
          <a:xfrm>
            <a:off x="640080" y="1965960"/>
            <a:ext cx="10911535" cy="1501140"/>
          </a:xfrm>
          <a:prstGeom prst="roundRect">
            <a:avLst>
              <a:gd name="adj" fmla="val 4873"/>
            </a:avLst>
          </a:prstGeom>
          <a:solidFill>
            <a:srgbClr val="1E1E4C"/>
          </a:solidFill>
          <a:ln/>
        </p:spPr>
      </p:sp>
      <p:sp>
        <p:nvSpPr>
          <p:cNvPr id="5" name="Text 3"/>
          <p:cNvSpPr txBox="1"/>
          <p:nvPr/>
        </p:nvSpPr>
        <p:spPr>
          <a:xfrm>
            <a:off x="960120" y="2194560"/>
            <a:ext cx="10271455" cy="10439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h1, h2, h3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Georgia, 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darkred;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3631692"/>
            <a:ext cx="11130991" cy="2695956"/>
          </a:xfrm>
          <a:prstGeom prst="roundRect">
            <a:avLst>
              <a:gd name="adj" fmla="val 2035"/>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grouping-selector.png">    </p:cNvPr>
          <p:cNvPicPr>
            <a:picLocks noChangeAspect="1"/>
          </p:cNvPicPr>
          <p:nvPr/>
        </p:nvPicPr>
        <p:blipFill>
          <a:blip r:embed="rId1"/>
          <a:stretch>
            <a:fillRect/>
          </a:stretch>
        </p:blipFill>
        <p:spPr>
          <a:xfrm>
            <a:off x="4050600" y="3741420"/>
            <a:ext cx="4090495" cy="24765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Descendant Selector</a:t>
            </a:r>
            <a:endParaRPr lang="en-US" sz="3400" dirty="0"/>
          </a:p>
        </p:txBody>
      </p:sp>
      <p:sp>
        <p:nvSpPr>
          <p:cNvPr id="4" name="Shape 2"/>
          <p:cNvSpPr/>
          <p:nvPr/>
        </p:nvSpPr>
        <p:spPr>
          <a:xfrm>
            <a:off x="640080" y="1965960"/>
            <a:ext cx="10911535" cy="2453640"/>
          </a:xfrm>
          <a:prstGeom prst="roundRect">
            <a:avLst>
              <a:gd name="adj" fmla="val 2981"/>
            </a:avLst>
          </a:prstGeom>
          <a:solidFill>
            <a:srgbClr val="1E1E4C"/>
          </a:solidFill>
          <a:ln/>
        </p:spPr>
      </p:sp>
      <p:sp>
        <p:nvSpPr>
          <p:cNvPr id="5" name="Text 3"/>
          <p:cNvSpPr txBox="1"/>
          <p:nvPr/>
        </p:nvSpPr>
        <p:spPr>
          <a:xfrm>
            <a:off x="960120" y="2194560"/>
            <a:ext cx="10271455" cy="199644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article 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color: #333;</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&lt;p&gt;This paragraph IS styled (inside article).&lt;/p&gt;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&lt;/article&gt;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paragraph is NOT styled (outside article).&lt;/p&gt;</a:t>
            </a:r>
            <a:endParaRPr lang="en-US" sz="1250" dirty="0"/>
          </a:p>
        </p:txBody>
      </p:sp>
      <p:sp>
        <p:nvSpPr>
          <p:cNvPr id="6" name="Shape 4"/>
          <p:cNvSpPr/>
          <p:nvPr/>
        </p:nvSpPr>
        <p:spPr>
          <a:xfrm>
            <a:off x="530352" y="4584192"/>
            <a:ext cx="11130991" cy="1743456"/>
          </a:xfrm>
          <a:prstGeom prst="roundRect">
            <a:avLst>
              <a:gd name="adj" fmla="val 3147"/>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descendant-selector.png">    </p:cNvPr>
          <p:cNvPicPr>
            <a:picLocks noChangeAspect="1"/>
          </p:cNvPicPr>
          <p:nvPr/>
        </p:nvPicPr>
        <p:blipFill>
          <a:blip r:embed="rId1"/>
          <a:stretch>
            <a:fillRect/>
          </a:stretch>
        </p:blipFill>
        <p:spPr>
          <a:xfrm>
            <a:off x="2207560" y="4693920"/>
            <a:ext cx="7776575" cy="152400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Universal Selector</a:t>
            </a:r>
            <a:endParaRPr lang="en-US" sz="3400" dirty="0"/>
          </a:p>
        </p:txBody>
      </p:sp>
      <p:sp>
        <p:nvSpPr>
          <p:cNvPr id="4" name="Shape 2"/>
          <p:cNvSpPr/>
          <p:nvPr/>
        </p:nvSpPr>
        <p:spPr>
          <a:xfrm>
            <a:off x="640080" y="1965960"/>
            <a:ext cx="10911535" cy="1882140"/>
          </a:xfrm>
          <a:prstGeom prst="roundRect">
            <a:avLst>
              <a:gd name="adj" fmla="val 3887"/>
            </a:avLst>
          </a:prstGeom>
          <a:solidFill>
            <a:srgbClr val="1E1E4C"/>
          </a:solidFill>
          <a:ln/>
        </p:spPr>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margin: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box-sizing: border-box;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 matches every single element on the page — most commonly seen in a "CSS reset" at the very top of a stylesheet.</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Combinators: Child and Sibling</a:t>
            </a:r>
            <a:endParaRPr lang="en-US" sz="3400" dirty="0"/>
          </a:p>
        </p:txBody>
      </p:sp>
      <p:sp>
        <p:nvSpPr>
          <p:cNvPr id="4" name="Shape 2"/>
          <p:cNvSpPr/>
          <p:nvPr/>
        </p:nvSpPr>
        <p:spPr>
          <a:xfrm>
            <a:off x="640080" y="1965960"/>
            <a:ext cx="10911535" cy="1348740"/>
          </a:xfrm>
          <a:prstGeom prst="roundRect">
            <a:avLst>
              <a:gd name="adj" fmla="val 5424"/>
            </a:avLst>
          </a:prstGeom>
          <a:solidFill>
            <a:srgbClr val="1E1E4C"/>
          </a:solidFill>
          <a:ln/>
        </p:spPr>
      </p:sp>
      <p:sp>
        <p:nvSpPr>
          <p:cNvPr id="5" name="Text 3"/>
          <p:cNvSpPr txBox="1"/>
          <p:nvPr/>
        </p:nvSpPr>
        <p:spPr>
          <a:xfrm>
            <a:off x="960120" y="2194560"/>
            <a:ext cx="10271455" cy="8915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nav &gt; a   { color: navy; }    /* only DIRECT children, not grandchildren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h2 + p    { font-weight: bold; } /* the paragraph immediately after an h2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h2 ~ p    { color: gray; }       /* every p that follows an h2, not just one */</a:t>
            </a:r>
            <a:endParaRPr lang="en-US" sz="1400" dirty="0"/>
          </a:p>
        </p:txBody>
      </p:sp>
      <p:sp>
        <p:nvSpPr>
          <p:cNvPr id="6" name="Text 4"/>
          <p:cNvSpPr txBox="1"/>
          <p:nvPr/>
        </p:nvSpPr>
        <p:spPr>
          <a:xfrm>
            <a:off x="640080" y="3543300"/>
            <a:ext cx="10911535" cy="27203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&gt; is stricter than a plain descendant selector (space) — it skips anything nested more than one level deep.</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Pseudo-Classes</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108960"/>
                <a:gridCol w="786384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Matches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 / :focus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Mouse over the element / the element is focused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While the element is being clicked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:first-child / :last-child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First / last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:nth-child(n)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nth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:not(selector)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that do NOT match the given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Pseudo-Classes,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li:first-child and button:disabled are states the browser can render up front.</a:t>
            </a:r>
            <a:endParaRPr lang="en-US" sz="1350" dirty="0"/>
          </a:p>
        </p:txBody>
      </p:sp>
      <p:sp>
        <p:nvSpPr>
          <p:cNvPr id="5" name="Shape 3"/>
          <p:cNvSpPr/>
          <p:nvPr/>
        </p:nvSpPr>
        <p:spPr>
          <a:xfrm>
            <a:off x="640080" y="2240280"/>
            <a:ext cx="10911535" cy="2215515"/>
          </a:xfrm>
          <a:prstGeom prst="roundRect">
            <a:avLst>
              <a:gd name="adj" fmla="val 3302"/>
            </a:avLst>
          </a:prstGeom>
          <a:solidFill>
            <a:srgbClr val="1E1E4C"/>
          </a:solidFill>
          <a:ln/>
        </p:spPr>
      </p:sp>
      <p:sp>
        <p:nvSpPr>
          <p:cNvPr id="6" name="Text 4"/>
          <p:cNvSpPr txBox="1"/>
          <p:nvPr/>
        </p:nvSpPr>
        <p:spPr>
          <a:xfrm>
            <a:off x="960120" y="246888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li:first-child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font-weight: bold;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button:disabled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opacity: 0.5;</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7" name="Shape 5"/>
          <p:cNvSpPr/>
          <p:nvPr/>
        </p:nvSpPr>
        <p:spPr>
          <a:xfrm>
            <a:off x="530352" y="4620387"/>
            <a:ext cx="11130991" cy="1707261"/>
          </a:xfrm>
          <a:prstGeom prst="roundRect">
            <a:avLst>
              <a:gd name="adj" fmla="val 3214"/>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5/pseudo-class-demo.png">    </p:cNvPr>
          <p:cNvPicPr>
            <a:picLocks noChangeAspect="1"/>
          </p:cNvPicPr>
          <p:nvPr/>
        </p:nvPicPr>
        <p:blipFill>
          <a:blip r:embed="rId1"/>
          <a:stretch>
            <a:fillRect/>
          </a:stretch>
        </p:blipFill>
        <p:spPr>
          <a:xfrm>
            <a:off x="5100715" y="4730115"/>
            <a:ext cx="1990265" cy="1487805"/>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p::first-line { font-weight: bold;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.quote::before { content: "\201C";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.quote::after  { content: "\201D";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::before and ::after insert content that is not in the HTML at all — purely for decoration.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5/pseudo-element-demo.png">    </p:cNvPr>
          <p:cNvPicPr>
            <a:picLocks noChangeAspect="1"/>
          </p:cNvPicPr>
          <p:nvPr/>
        </p:nvPicPr>
        <p:blipFill>
          <a:blip r:embed="rId1"/>
          <a:stretch>
            <a:fillRect/>
          </a:stretch>
        </p:blipFill>
        <p:spPr>
          <a:xfrm>
            <a:off x="640080" y="2519655"/>
            <a:ext cx="10911535" cy="319029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From Lowest to Highest</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114800"/>
                <a:gridCol w="6858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Selector 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 / pseudo-element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 ::before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 / attribute / 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.highlight, [type="text"], :hover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#main-header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 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Overrides everything else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Decides the Winner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 color: black; }              /* low specificity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.intro { color: green; }         /* medium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#lead-paragraph { color: blue; } /* high            */</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 id="lead-paragraph" class="intro"&gt;What colour am I?&lt;/p&gt;</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specificity-demo.png">    </p:cNvPr>
          <p:cNvPicPr>
            <a:picLocks noChangeAspect="1"/>
          </p:cNvPicPr>
          <p:nvPr/>
        </p:nvPicPr>
        <p:blipFill>
          <a:blip r:embed="rId1"/>
          <a:stretch>
            <a:fillRect/>
          </a:stretch>
        </p:blipFill>
        <p:spPr>
          <a:xfrm>
            <a:off x="3756508" y="4557713"/>
            <a:ext cx="4678680" cy="1082040"/>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Resolves Conflicts</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389120"/>
                <a:gridCol w="658368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The Winner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1. Different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more specific rule, regardless of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2. Equal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rule written LATER in the 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3. One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!important rule, regardless of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4. Both rules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Falls back to specificity, then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5. Inline style vs. stylesheet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inline style — unless the stylesheet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Case 5 in Code</a:t>
            </a:r>
            <a:endParaRPr lang="en-US" sz="3400" dirty="0"/>
          </a:p>
        </p:txBody>
      </p:sp>
      <p:sp>
        <p:nvSpPr>
          <p:cNvPr id="4" name="Shape 2"/>
          <p:cNvSpPr/>
          <p:nvPr/>
        </p:nvSpPr>
        <p:spPr>
          <a:xfrm>
            <a:off x="640080" y="1965960"/>
            <a:ext cx="10911535" cy="1615440"/>
          </a:xfrm>
          <a:prstGeom prst="roundRect">
            <a:avLst>
              <a:gd name="adj" fmla="val 4528"/>
            </a:avLst>
          </a:prstGeom>
          <a:solidFill>
            <a:srgbClr val="1E1E4C"/>
          </a:solidFill>
          <a:ln/>
        </p:spPr>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&lt;p id="lead" style="color: purple;"&gt;...&lt;/p&gt;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blue; }              /* loses to inline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green !important; } /* beats inline   */</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the !important line, the paragraph is purple. With it, green — one of the few times !important is the right tool.</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4-Part Specificity Score</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Counts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1 if the style is inline, else 0</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ID selectors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Classes / attrs / pseudo-classes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Elements / pseudo-elements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-&gt; (0,1,2,1)  beats  nav ul li a -&gt; (0,0,0,4) — one ID always outweighs any number of elements, no matter how long the other selector looks.</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An Example Where Inheritance Does NOT Happen</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.parent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border: 4px solid crimson;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20px;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 class="parent"&gt;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Parent text is dark 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&lt;p&gt;Child paragraph is dark blue too.&lt;/p&gt;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&lt;/div&gt;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color inherits, so the &lt;p&gt; is dark blue too. border and padding do NOT inherit — only .parent itself gets the crimson outline and padding.</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Inherited vs. Not Inherited</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03520"/>
                <a:gridCol w="566928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Not 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font-family, font-size, font-weight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padding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line-height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text-align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width, 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visibility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background / background-color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COLOUR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Five Ways to Write a Colour</a:t>
            </a:r>
            <a:endParaRPr lang="en-US" sz="3400" dirty="0"/>
          </a:p>
        </p:txBody>
      </p:sp>
      <p:sp>
        <p:nvSpPr>
          <p:cNvPr id="4" name="Shape 2"/>
          <p:cNvSpPr/>
          <p:nvPr/>
        </p:nvSpPr>
        <p:spPr>
          <a:xfrm>
            <a:off x="640080" y="1965960"/>
            <a:ext cx="10911535" cy="1739265"/>
          </a:xfrm>
          <a:prstGeom prst="roundRect">
            <a:avLst>
              <a:gd name="adj" fmla="val 4206"/>
            </a:avLst>
          </a:prstGeom>
          <a:solidFill>
            <a:srgbClr val="1E1E4C"/>
          </a:solidFill>
          <a:ln/>
        </p:spPr>
      </p:sp>
      <p:sp>
        <p:nvSpPr>
          <p:cNvPr id="5" name="Text 3"/>
          <p:cNvSpPr txBox="1"/>
          <p:nvPr/>
        </p:nvSpPr>
        <p:spPr>
          <a:xfrm>
            <a:off x="960120" y="219456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 { color: red; }                  /* named colour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.b { color: #ff0000; }              /* hex code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.c { color: rgb(255, 0, 0); }       /* red, green, blue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.d { color: rgba(255, 0, 0, 0.5); } /* rgb + alpha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.e { color: hsl(0, 100%, 50%); }    /* hue, sat, lightness */</a:t>
            </a:r>
            <a:endParaRPr lang="en-US" sz="1250" dirty="0"/>
          </a:p>
        </p:txBody>
      </p:sp>
      <p:sp>
        <p:nvSpPr>
          <p:cNvPr id="6" name="Shape 4"/>
          <p:cNvSpPr/>
          <p:nvPr/>
        </p:nvSpPr>
        <p:spPr>
          <a:xfrm>
            <a:off x="530352" y="3869817"/>
            <a:ext cx="11130991" cy="2457831"/>
          </a:xfrm>
          <a:prstGeom prst="roundRect">
            <a:avLst>
              <a:gd name="adj" fmla="val 22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color-values.png">    </p:cNvPr>
          <p:cNvPicPr>
            <a:picLocks noChangeAspect="1"/>
          </p:cNvPicPr>
          <p:nvPr/>
        </p:nvPicPr>
        <p:blipFill>
          <a:blip r:embed="rId1"/>
          <a:stretch>
            <a:fillRect/>
          </a:stretch>
        </p:blipFill>
        <p:spPr>
          <a:xfrm>
            <a:off x="3781381" y="3979545"/>
            <a:ext cx="4628934" cy="223837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Font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font-family (a fallback list), font-size, font-weight, font-style — combined via the font shorthand too.</a:t>
            </a:r>
            <a:endParaRPr lang="en-US" sz="1350" dirty="0"/>
          </a:p>
        </p:txBody>
      </p:sp>
      <p:sp>
        <p:nvSpPr>
          <p:cNvPr id="5" name="Shape 3"/>
          <p:cNvSpPr/>
          <p:nvPr/>
        </p:nvSpPr>
        <p:spPr>
          <a:xfrm>
            <a:off x="640080" y="2240280"/>
            <a:ext cx="10911535" cy="1977390"/>
          </a:xfrm>
          <a:prstGeom prst="roundRect">
            <a:avLst>
              <a:gd name="adj" fmla="val 3699"/>
            </a:avLst>
          </a:prstGeom>
          <a:solidFill>
            <a:srgbClr val="1E1E4C"/>
          </a:solidFill>
          <a:ln/>
        </p:spPr>
      </p:sp>
      <p:sp>
        <p:nvSpPr>
          <p:cNvPr id="6" name="Text 4"/>
          <p:cNvSpPr txBox="1"/>
          <p:nvPr/>
        </p:nvSpPr>
        <p:spPr>
          <a:xfrm>
            <a:off x="960120" y="2468880"/>
            <a:ext cx="10271455" cy="1520190"/>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font-family: "Helvetica Neue", Arial, sans-serif;</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font-size: 16px;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font-weight: bold;</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font-style: italic;</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7" name="Shape 5"/>
          <p:cNvSpPr/>
          <p:nvPr/>
        </p:nvSpPr>
        <p:spPr>
          <a:xfrm>
            <a:off x="530352" y="4382262"/>
            <a:ext cx="11130991" cy="1945386"/>
          </a:xfrm>
          <a:prstGeom prst="roundRect">
            <a:avLst>
              <a:gd name="adj" fmla="val 2820"/>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5/font-properties.png">    </p:cNvPr>
          <p:cNvPicPr>
            <a:picLocks noChangeAspect="1"/>
          </p:cNvPicPr>
          <p:nvPr/>
        </p:nvPicPr>
        <p:blipFill>
          <a:blip r:embed="rId1"/>
          <a:stretch>
            <a:fillRect/>
          </a:stretch>
        </p:blipFill>
        <p:spPr>
          <a:xfrm>
            <a:off x="640080" y="5049654"/>
            <a:ext cx="10911535" cy="610602"/>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TEXT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Text Properties</a:t>
            </a:r>
            <a:endParaRPr lang="en-US" sz="3400" dirty="0"/>
          </a:p>
        </p:txBody>
      </p:sp>
      <p:sp>
        <p:nvSpPr>
          <p:cNvPr id="4" name="Shape 2"/>
          <p:cNvSpPr/>
          <p:nvPr/>
        </p:nvSpPr>
        <p:spPr>
          <a:xfrm>
            <a:off x="640080" y="1965960"/>
            <a:ext cx="10911535" cy="2215515"/>
          </a:xfrm>
          <a:prstGeom prst="roundRect">
            <a:avLst>
              <a:gd name="adj" fmla="val 3302"/>
            </a:avLst>
          </a:prstGeom>
          <a:solidFill>
            <a:srgbClr val="1E1E4C"/>
          </a:solidFill>
          <a:ln/>
        </p:spPr>
      </p:sp>
      <p:sp>
        <p:nvSpPr>
          <p:cNvPr id="5" name="Text 3"/>
          <p:cNvSpPr txBox="1"/>
          <p:nvPr/>
        </p:nvSpPr>
        <p:spPr>
          <a:xfrm>
            <a:off x="960120" y="2194560"/>
            <a:ext cx="10271455" cy="17583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p {</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text-align: center;</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text-decoration: underline;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text-transform: uppercase;</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line-height: 1.6;</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letter-spacing: 0.5px;</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a:t>
            </a:r>
            <a:endParaRPr lang="en-US" sz="1250" dirty="0"/>
          </a:p>
        </p:txBody>
      </p:sp>
      <p:sp>
        <p:nvSpPr>
          <p:cNvPr id="6" name="Shape 4"/>
          <p:cNvSpPr/>
          <p:nvPr/>
        </p:nvSpPr>
        <p:spPr>
          <a:xfrm>
            <a:off x="530352" y="4346067"/>
            <a:ext cx="11130991" cy="1981581"/>
          </a:xfrm>
          <a:prstGeom prst="roundRect">
            <a:avLst>
              <a:gd name="adj" fmla="val 2769"/>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5/text-properties.png">    </p:cNvPr>
          <p:cNvPicPr>
            <a:picLocks noChangeAspect="1"/>
          </p:cNvPicPr>
          <p:nvPr/>
        </p:nvPicPr>
        <p:blipFill>
          <a:blip r:embed="rId1"/>
          <a:stretch>
            <a:fillRect/>
          </a:stretch>
        </p:blipFill>
        <p:spPr>
          <a:xfrm>
            <a:off x="1700435" y="4455795"/>
            <a:ext cx="8790826" cy="176212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BACKGROUNDS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Background Properties</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.card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background-color: #f5f5f5;</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background-image: url("pattern.png");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background-repeat: no-repeat;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background-position: center;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background-size: cover;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background shorthand combines several of these into one declaration, just like font does.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CSS separates presentation from content; external style sheets are preferred for real projects.</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Selectors decide what gets styled: element, class, id, attribute, grouping, descendant.</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cascade resolves conflicts in order: importance, then specificity, then source order — every time.</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Specificity is a 4-part score compared column by column; one ID beats any number of classes or elements.</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!important should be a last resort — it breaks normal specificity reasoning.</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Text properties like color inherit from parent to child; box properties like border and margin do not.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Cascading Style Sheets (CSS) Fundamentals</dc:title>
  <dc:subject>CSC336 Web Technologies</dc:subject>
  <dc:creator>Usman Akram</dc:creator>
  <cp:lastModifiedBy>Usman Akram</cp:lastModifiedBy>
  <cp:revision>1</cp:revision>
  <dcterms:created xsi:type="dcterms:W3CDTF">2026-09-13T18:18:43Z</dcterms:created>
  <dcterms:modified xsi:type="dcterms:W3CDTF">2026-09-13T18:18:43Z</dcterms:modified>
</cp:coreProperties>
</file>
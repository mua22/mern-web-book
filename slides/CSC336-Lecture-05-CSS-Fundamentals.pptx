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89860"/>
            <a:ext cx="457200" cy="457200"/>
          </a:xfrm>
          <a:prstGeom prst="ellipse">
            <a:avLst/>
          </a:prstGeom>
          <a:solidFill>
            <a:srgbClr val="FF8A3D"/>
          </a:solidFill>
          <a:ln/>
        </p:spPr>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413760"/>
            <a:ext cx="457200" cy="457200"/>
          </a:xfrm>
          <a:prstGeom prst="ellipse">
            <a:avLst/>
          </a:prstGeom>
          <a:solidFill>
            <a:srgbClr val="FF8A3D"/>
          </a:solidFill>
          <a:ln/>
        </p:spPr>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37660"/>
            <a:ext cx="457200" cy="457200"/>
          </a:xfrm>
          <a:prstGeom prst="ellipse">
            <a:avLst/>
          </a:prstGeom>
          <a:solidFill>
            <a:srgbClr val="FF8A3D"/>
          </a:solidFill>
          <a:ln/>
        </p:spPr>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61560"/>
            <a:ext cx="457200" cy="457200"/>
          </a:xfrm>
          <a:prstGeom prst="ellipse">
            <a:avLst/>
          </a:prstGeom>
          <a:solidFill>
            <a:srgbClr val="FF8A3D"/>
          </a:solidFill>
          <a:ln/>
        </p:spPr>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85460"/>
            <a:ext cx="457200" cy="457200"/>
          </a:xfrm>
          <a:prstGeom prst="ellipse">
            <a:avLst/>
          </a:prstGeom>
          <a:solidFill>
            <a:srgbClr val="FF8A3D"/>
          </a:solidFill>
          <a:ln/>
        </p:spPr>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Shape 2"/>
          <p:cNvSpPr/>
          <p:nvPr/>
        </p:nvSpPr>
        <p:spPr>
          <a:xfrm>
            <a:off x="640080" y="1965960"/>
            <a:ext cx="10911535" cy="786765"/>
          </a:xfrm>
          <a:prstGeom prst="roundRect">
            <a:avLst>
              <a:gd name="adj" fmla="val 9298"/>
            </a:avLst>
          </a:prstGeom>
          <a:solidFill>
            <a:srgbClr val="1E1E4C"/>
          </a:solidFill>
          <a:ln/>
        </p:spPr>
      </p:sp>
      <p:sp>
        <p:nvSpPr>
          <p:cNvPr id="5" name="Text 3"/>
          <p:cNvSpPr txBox="1"/>
          <p:nvPr/>
        </p:nvSpPr>
        <p:spPr>
          <a:xfrm>
            <a:off x="960120" y="2194560"/>
            <a:ext cx="10271455" cy="329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style="color: red; font-weight: bold;"&gt;This paragraph is styled inline.&lt;/p&gt;</a:t>
            </a:r>
            <a:endParaRPr lang="en-US" sz="1250" dirty="0"/>
          </a:p>
        </p:txBody>
      </p:sp>
      <p:sp>
        <p:nvSpPr>
          <p:cNvPr id="6" name="Shape 4"/>
          <p:cNvSpPr/>
          <p:nvPr/>
        </p:nvSpPr>
        <p:spPr>
          <a:xfrm>
            <a:off x="530352" y="2917317"/>
            <a:ext cx="11130991" cy="3410331"/>
          </a:xfrm>
          <a:prstGeom prst="roundRect">
            <a:avLst>
              <a:gd name="adj" fmla="val 160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inline-style.png">    </p:cNvPr>
          <p:cNvPicPr>
            <a:picLocks noChangeAspect="1"/>
          </p:cNvPicPr>
          <p:nvPr/>
        </p:nvPicPr>
        <p:blipFill>
          <a:blip r:embed="rId1"/>
          <a:stretch>
            <a:fillRect/>
          </a:stretch>
        </p:blipFill>
        <p:spPr>
          <a:xfrm>
            <a:off x="2171548" y="4035742"/>
            <a:ext cx="7848600" cy="117348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 font-family: Arial, sans-serif;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h1 { color: navy;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&lt;h1&gt;Welcome&lt;/h1&gt;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ternal-stylesheet.png">    </p:cNvPr>
          <p:cNvPicPr>
            <a:picLocks noChangeAspect="1"/>
          </p:cNvPicPr>
          <p:nvPr/>
        </p:nvPicPr>
        <p:blipFill>
          <a:blip r:embed="rId1"/>
          <a:stretch>
            <a:fillRect/>
          </a:stretch>
        </p:blipFill>
        <p:spPr>
          <a:xfrm>
            <a:off x="3611728" y="3528060"/>
            <a:ext cx="496824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class="highlight"&gt;This text is important.&lt;/p&gt;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.highlight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background-color: yellow;</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lass-selector.png">    </p:cNvPr>
          <p:cNvPicPr>
            <a:picLocks noChangeAspect="1"/>
          </p:cNvPicPr>
          <p:nvPr/>
        </p:nvPicPr>
        <p:blipFill>
          <a:blip r:embed="rId1"/>
          <a:stretch>
            <a:fillRect/>
          </a:stretch>
        </p:blipFill>
        <p:spPr>
          <a:xfrm>
            <a:off x="640080" y="4790395"/>
            <a:ext cx="10911535" cy="616676"/>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Shape 2"/>
          <p:cNvSpPr/>
          <p:nvPr/>
        </p:nvSpPr>
        <p:spPr>
          <a:xfrm>
            <a:off x="640080" y="1965960"/>
            <a:ext cx="10911535" cy="1977390"/>
          </a:xfrm>
          <a:prstGeom prst="roundRect">
            <a:avLst>
              <a:gd name="adj" fmla="val 3699"/>
            </a:avLst>
          </a:prstGeom>
          <a:solidFill>
            <a:srgbClr val="1E1E4C"/>
          </a:solidFill>
          <a:ln/>
        </p:spPr>
      </p:sp>
      <p:sp>
        <p:nvSpPr>
          <p:cNvPr id="5" name="Text 3"/>
          <p:cNvSpPr txBox="1"/>
          <p:nvPr/>
        </p:nvSpPr>
        <p:spPr>
          <a:xfrm>
            <a:off x="960120" y="219456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id="main-header"&gt;Site Title&lt;/div&gt;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#main-header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2rem;</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107942"/>
            <a:ext cx="11130991" cy="2219706"/>
          </a:xfrm>
          <a:prstGeom prst="roundRect">
            <a:avLst>
              <a:gd name="adj" fmla="val 247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id-selector.png">    </p:cNvPr>
          <p:cNvPicPr>
            <a:picLocks noChangeAspect="1"/>
          </p:cNvPicPr>
          <p:nvPr/>
        </p:nvPicPr>
        <p:blipFill>
          <a:blip r:embed="rId1"/>
          <a:stretch>
            <a:fillRect/>
          </a:stretch>
        </p:blipFill>
        <p:spPr>
          <a:xfrm>
            <a:off x="3886048" y="4493895"/>
            <a:ext cx="4419600" cy="14478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input[type="email"]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border: 1px solid gray;</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a[target]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purple;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attribute-selector.png">    </p:cNvPr>
          <p:cNvPicPr>
            <a:picLocks noChangeAspect="1"/>
          </p:cNvPicPr>
          <p:nvPr/>
        </p:nvPicPr>
        <p:blipFill>
          <a:blip r:embed="rId1"/>
          <a:stretch>
            <a:fillRect/>
          </a:stretch>
        </p:blipFill>
        <p:spPr>
          <a:xfrm>
            <a:off x="3429775" y="4455795"/>
            <a:ext cx="5332144" cy="176212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Shape 2"/>
          <p:cNvSpPr/>
          <p:nvPr/>
        </p:nvSpPr>
        <p:spPr>
          <a:xfrm>
            <a:off x="640080" y="1965960"/>
            <a:ext cx="10911535" cy="1501140"/>
          </a:xfrm>
          <a:prstGeom prst="roundRect">
            <a:avLst>
              <a:gd name="adj" fmla="val 4873"/>
            </a:avLst>
          </a:prstGeom>
          <a:solidFill>
            <a:srgbClr val="1E1E4C"/>
          </a:solidFill>
          <a:ln/>
        </p:spPr>
      </p:sp>
      <p:sp>
        <p:nvSpPr>
          <p:cNvPr id="5" name="Text 3"/>
          <p:cNvSpPr txBox="1"/>
          <p:nvPr/>
        </p:nvSpPr>
        <p:spPr>
          <a:xfrm>
            <a:off x="960120" y="2194560"/>
            <a:ext cx="10271455" cy="10439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h1, h2, h3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Georgia, 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darkred;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631692"/>
            <a:ext cx="11130991" cy="2695956"/>
          </a:xfrm>
          <a:prstGeom prst="roundRect">
            <a:avLst>
              <a:gd name="adj" fmla="val 203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grouping-selector.png">    </p:cNvPr>
          <p:cNvPicPr>
            <a:picLocks noChangeAspect="1"/>
          </p:cNvPicPr>
          <p:nvPr/>
        </p:nvPicPr>
        <p:blipFill>
          <a:blip r:embed="rId1"/>
          <a:stretch>
            <a:fillRect/>
          </a:stretch>
        </p:blipFill>
        <p:spPr>
          <a:xfrm>
            <a:off x="4050600" y="3741420"/>
            <a:ext cx="4090495" cy="24765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Shape 2"/>
          <p:cNvSpPr/>
          <p:nvPr/>
        </p:nvSpPr>
        <p:spPr>
          <a:xfrm>
            <a:off x="640080" y="1965960"/>
            <a:ext cx="10911535" cy="2453640"/>
          </a:xfrm>
          <a:prstGeom prst="roundRect">
            <a:avLst>
              <a:gd name="adj" fmla="val 2981"/>
            </a:avLst>
          </a:prstGeom>
          <a:solidFill>
            <a:srgbClr val="1E1E4C"/>
          </a:solidFill>
          <a:ln/>
        </p:spPr>
      </p:sp>
      <p:sp>
        <p:nvSpPr>
          <p:cNvPr id="5" name="Text 3"/>
          <p:cNvSpPr txBox="1"/>
          <p:nvPr/>
        </p:nvSpPr>
        <p:spPr>
          <a:xfrm>
            <a:off x="960120" y="2194560"/>
            <a:ext cx="10271455" cy="19964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article 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#333;</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&lt;p&gt;This paragraph IS styled (inside article).&lt;/p&gt;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paragraph is NOT styled (outside article).&lt;/p&gt;</a:t>
            </a:r>
            <a:endParaRPr lang="en-US" sz="1250" dirty="0"/>
          </a:p>
        </p:txBody>
      </p:sp>
      <p:sp>
        <p:nvSpPr>
          <p:cNvPr id="6" name="Shape 4"/>
          <p:cNvSpPr/>
          <p:nvPr/>
        </p:nvSpPr>
        <p:spPr>
          <a:xfrm>
            <a:off x="530352" y="4584192"/>
            <a:ext cx="11130991" cy="1743456"/>
          </a:xfrm>
          <a:prstGeom prst="roundRect">
            <a:avLst>
              <a:gd name="adj" fmla="val 3147"/>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descendant-selector.png">    </p:cNvPr>
          <p:cNvPicPr>
            <a:picLocks noChangeAspect="1"/>
          </p:cNvPicPr>
          <p:nvPr/>
        </p:nvPicPr>
        <p:blipFill>
          <a:blip r:embed="rId1"/>
          <a:stretch>
            <a:fillRect/>
          </a:stretch>
        </p:blipFill>
        <p:spPr>
          <a:xfrm>
            <a:off x="2207560" y="4693920"/>
            <a:ext cx="7776575" cy="15240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Universal Selector</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margin: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box-sizing: border-box;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 matches every single element on the page — most commonly seen in a "CSS reset" at the very top of a stylesheet.</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Combinators: Child and Sibling</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nav &gt; a { color: navy; font-weight: bold;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h2 + p  { font-weight: bold;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h2 ~ p  { color: gray; }</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&lt;nav&gt;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&lt;a&gt;Direct link&lt;/a&gt;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&lt;div&gt;&lt;a&gt;Grandchild link&lt;/a&gt;&lt;/div&gt;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&lt;/nav&gt;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&lt;h2&gt;A Heading&lt;/h2&gt;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&lt;p&gt;Immediately after&lt;/p&gt;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&lt;p&gt;Further down&lt;/p&gt;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ombinators-demo.png">    </p:cNvPr>
          <p:cNvPicPr>
            <a:picLocks noChangeAspect="1"/>
          </p:cNvPicPr>
          <p:nvPr/>
        </p:nvPicPr>
        <p:blipFill>
          <a:blip r:embed="rId1"/>
          <a:stretch>
            <a:fillRect/>
          </a:stretch>
        </p:blipFill>
        <p:spPr>
          <a:xfrm>
            <a:off x="6278728" y="3194381"/>
            <a:ext cx="5272888" cy="1886557"/>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640080" y="3133725"/>
            <a:ext cx="5272888" cy="2282190"/>
          </a:xfrm>
          <a:prstGeom prst="roundRect">
            <a:avLst>
              <a:gd name="adj" fmla="val 3205"/>
            </a:avLst>
          </a:prstGeom>
          <a:solidFill>
            <a:srgbClr val="1E1E4C"/>
          </a:solidFill>
          <a:ln/>
        </p:spPr>
      </p:sp>
      <p:sp>
        <p:nvSpPr>
          <p:cNvPr id="6" name="Text 4"/>
          <p:cNvSpPr txBox="1"/>
          <p:nvPr/>
        </p:nvSpPr>
        <p:spPr>
          <a:xfrm>
            <a:off x="960120" y="336232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li:first-child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font-weight: bold;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button:disabled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opacity: 0.5;</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169000" y="2221992"/>
            <a:ext cx="5492344" cy="4105656"/>
          </a:xfrm>
          <a:prstGeom prst="roundRect">
            <a:avLst>
              <a:gd name="adj" fmla="val 133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5/pseudo-class-demo.png">    </p:cNvPr>
          <p:cNvPicPr>
            <a:picLocks noChangeAspect="1"/>
          </p:cNvPicPr>
          <p:nvPr/>
        </p:nvPicPr>
        <p:blipFill>
          <a:blip r:embed="rId1"/>
          <a:stretch>
            <a:fillRect/>
          </a:stretch>
        </p:blipFill>
        <p:spPr>
          <a:xfrm>
            <a:off x="6591071" y="2537460"/>
            <a:ext cx="4648200" cy="3474720"/>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5/pseudo-element-demo.png">    </p:cNvPr>
          <p:cNvPicPr>
            <a:picLocks noChangeAspect="1"/>
          </p:cNvPicPr>
          <p:nvPr/>
        </p:nvPicPr>
        <p:blipFill>
          <a:blip r:embed="rId1"/>
          <a:stretch>
            <a:fillRect/>
          </a:stretch>
        </p:blipFill>
        <p:spPr>
          <a:xfrm>
            <a:off x="640080" y="2519655"/>
            <a:ext cx="10911535" cy="319029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 color: black; }              /* low specificity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.intro { color: green; }         /* medium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#lead-paragraph { color: blue; } /* high            */</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id="lead-paragraph" class="intro"&gt;What colour am I?&lt;/p&gt;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specificity-demo.png">    </p:cNvPr>
          <p:cNvPicPr>
            <a:picLocks noChangeAspect="1"/>
          </p:cNvPicPr>
          <p:nvPr/>
        </p:nvPicPr>
        <p:blipFill>
          <a:blip r:embed="rId1"/>
          <a:stretch>
            <a:fillRect/>
          </a:stretch>
        </p:blipFill>
        <p:spPr>
          <a:xfrm>
            <a:off x="3756508" y="4557713"/>
            <a:ext cx="4678680" cy="108204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Resolution Flowchart</a:t>
            </a:r>
            <a:endParaRPr lang="en-US" sz="3400" dirty="0"/>
          </a:p>
        </p:txBody>
      </p:sp>
      <p:sp>
        <p:nvSpPr>
          <p:cNvPr id="4" name="Shape 2"/>
          <p:cNvSpPr/>
          <p:nvPr/>
        </p:nvSpPr>
        <p:spPr>
          <a:xfrm>
            <a:off x="6080760" y="2651760"/>
            <a:ext cx="9144" cy="228600"/>
          </a:xfrm>
          <a:prstGeom prst="line">
            <a:avLst/>
          </a:prstGeom>
          <a:noFill/>
          <a:ln w="25400">
            <a:solidFill>
              <a:srgbClr val="5D5D72"/>
            </a:solidFill>
            <a:prstDash val="solid"/>
            <a:tailEnd type="triangle"/>
          </a:ln>
        </p:spPr>
      </p:sp>
      <p:sp>
        <p:nvSpPr>
          <p:cNvPr id="5" name="Shape 3"/>
          <p:cNvSpPr/>
          <p:nvPr/>
        </p:nvSpPr>
        <p:spPr>
          <a:xfrm flipH="1">
            <a:off x="2286000" y="3429000"/>
            <a:ext cx="2468880" cy="731520"/>
          </a:xfrm>
          <a:prstGeom prst="line">
            <a:avLst/>
          </a:prstGeom>
          <a:noFill/>
          <a:ln w="25400">
            <a:solidFill>
              <a:srgbClr val="5D5D72"/>
            </a:solidFill>
            <a:prstDash val="solid"/>
            <a:tailEnd type="triangle"/>
          </a:ln>
        </p:spPr>
      </p:sp>
      <p:sp>
        <p:nvSpPr>
          <p:cNvPr id="6" name="Text 4"/>
          <p:cNvSpPr txBox="1"/>
          <p:nvPr/>
        </p:nvSpPr>
        <p:spPr>
          <a:xfrm>
            <a:off x="2606040" y="36484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One is !important</a:t>
            </a:r>
            <a:endParaRPr lang="en-US" sz="1050" dirty="0"/>
          </a:p>
        </p:txBody>
      </p:sp>
      <p:sp>
        <p:nvSpPr>
          <p:cNvPr id="7" name="Shape 5"/>
          <p:cNvSpPr/>
          <p:nvPr/>
        </p:nvSpPr>
        <p:spPr>
          <a:xfrm>
            <a:off x="5852160" y="3657600"/>
            <a:ext cx="365760" cy="502920"/>
          </a:xfrm>
          <a:prstGeom prst="line">
            <a:avLst/>
          </a:prstGeom>
          <a:noFill/>
          <a:ln w="25400">
            <a:solidFill>
              <a:srgbClr val="5D5D72"/>
            </a:solidFill>
            <a:prstDash val="solid"/>
            <a:tailEnd type="triangle"/>
          </a:ln>
        </p:spPr>
      </p:sp>
      <p:sp>
        <p:nvSpPr>
          <p:cNvPr id="8" name="Text 6"/>
          <p:cNvSpPr txBox="1"/>
          <p:nvPr/>
        </p:nvSpPr>
        <p:spPr>
          <a:xfrm>
            <a:off x="5120640" y="37627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Both / neither</a:t>
            </a:r>
            <a:endParaRPr lang="en-US" sz="1050" dirty="0"/>
          </a:p>
        </p:txBody>
      </p:sp>
      <p:sp>
        <p:nvSpPr>
          <p:cNvPr id="9" name="Shape 7"/>
          <p:cNvSpPr/>
          <p:nvPr/>
        </p:nvSpPr>
        <p:spPr>
          <a:xfrm flipH="1">
            <a:off x="4434840" y="4846320"/>
            <a:ext cx="1051560" cy="411480"/>
          </a:xfrm>
          <a:prstGeom prst="line">
            <a:avLst/>
          </a:prstGeom>
          <a:noFill/>
          <a:ln w="25400">
            <a:solidFill>
              <a:srgbClr val="5D5D72"/>
            </a:solidFill>
            <a:prstDash val="solid"/>
            <a:tailEnd type="triangle"/>
          </a:ln>
        </p:spPr>
      </p:sp>
      <p:sp>
        <p:nvSpPr>
          <p:cNvPr id="10" name="Text 8"/>
          <p:cNvSpPr txBox="1"/>
          <p:nvPr/>
        </p:nvSpPr>
        <p:spPr>
          <a:xfrm>
            <a:off x="4046220" y="49057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One higher</a:t>
            </a:r>
            <a:endParaRPr lang="en-US" sz="1050" dirty="0"/>
          </a:p>
        </p:txBody>
      </p:sp>
      <p:sp>
        <p:nvSpPr>
          <p:cNvPr id="11" name="Shape 9"/>
          <p:cNvSpPr/>
          <p:nvPr/>
        </p:nvSpPr>
        <p:spPr>
          <a:xfrm>
            <a:off x="6766560" y="4846320"/>
            <a:ext cx="1463040" cy="411480"/>
          </a:xfrm>
          <a:prstGeom prst="line">
            <a:avLst/>
          </a:prstGeom>
          <a:noFill/>
          <a:ln w="25400">
            <a:solidFill>
              <a:srgbClr val="5D5D72"/>
            </a:solidFill>
            <a:prstDash val="solid"/>
            <a:tailEnd type="triangle"/>
          </a:ln>
        </p:spPr>
      </p:sp>
      <p:sp>
        <p:nvSpPr>
          <p:cNvPr id="12" name="Text 10"/>
          <p:cNvSpPr txBox="1"/>
          <p:nvPr/>
        </p:nvSpPr>
        <p:spPr>
          <a:xfrm>
            <a:off x="6583680" y="49057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Equal specificity</a:t>
            </a:r>
            <a:endParaRPr lang="en-US" sz="1050" dirty="0"/>
          </a:p>
        </p:txBody>
      </p:sp>
      <p:sp>
        <p:nvSpPr>
          <p:cNvPr id="13" name="Shape 11"/>
          <p:cNvSpPr/>
          <p:nvPr/>
        </p:nvSpPr>
        <p:spPr>
          <a:xfrm>
            <a:off x="4114800" y="2103120"/>
            <a:ext cx="3931920" cy="548640"/>
          </a:xfrm>
          <a:prstGeom prst="rect">
            <a:avLst/>
          </a:prstGeom>
          <a:solidFill>
            <a:srgbClr val="1E1E4C"/>
          </a:solidFill>
          <a:ln/>
        </p:spPr>
      </p:sp>
      <p:sp>
        <p:nvSpPr>
          <p:cNvPr id="14" name="Text 12"/>
          <p:cNvSpPr txBox="1"/>
          <p:nvPr/>
        </p:nvSpPr>
        <p:spPr>
          <a:xfrm>
            <a:off x="4169664" y="2103120"/>
            <a:ext cx="382219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Conflicting declarations</a:t>
            </a:r>
            <a:endParaRPr lang="en-US" sz="1250" dirty="0"/>
          </a:p>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on the same property</a:t>
            </a:r>
            <a:endParaRPr lang="en-US" sz="1250" dirty="0"/>
          </a:p>
        </p:txBody>
      </p:sp>
      <p:sp>
        <p:nvSpPr>
          <p:cNvPr id="15" name="Shape 13"/>
          <p:cNvSpPr/>
          <p:nvPr/>
        </p:nvSpPr>
        <p:spPr>
          <a:xfrm>
            <a:off x="4206240" y="2880360"/>
            <a:ext cx="3749040" cy="777240"/>
          </a:xfrm>
          <a:prstGeom prst="diamond">
            <a:avLst/>
          </a:prstGeom>
          <a:solidFill>
            <a:srgbClr val="FF8A3D"/>
          </a:solidFill>
          <a:ln/>
        </p:spPr>
      </p:sp>
      <p:sp>
        <p:nvSpPr>
          <p:cNvPr id="16" name="Text 14"/>
          <p:cNvSpPr txBox="1"/>
          <p:nvPr/>
        </p:nvSpPr>
        <p:spPr>
          <a:xfrm>
            <a:off x="4261104" y="2880360"/>
            <a:ext cx="3639312" cy="7772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Differ in</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!important status?</a:t>
            </a:r>
            <a:endParaRPr lang="en-US" sz="1150" dirty="0"/>
          </a:p>
        </p:txBody>
      </p:sp>
      <p:sp>
        <p:nvSpPr>
          <p:cNvPr id="17" name="Shape 15"/>
          <p:cNvSpPr/>
          <p:nvPr/>
        </p:nvSpPr>
        <p:spPr>
          <a:xfrm>
            <a:off x="822960" y="4160520"/>
            <a:ext cx="2926080" cy="548640"/>
          </a:xfrm>
          <a:prstGeom prst="rect">
            <a:avLst/>
          </a:prstGeom>
          <a:solidFill>
            <a:srgbClr val="3FA66B"/>
          </a:solidFill>
          <a:ln/>
        </p:spPr>
      </p:sp>
      <p:sp>
        <p:nvSpPr>
          <p:cNvPr id="18" name="Text 16"/>
          <p:cNvSpPr txBox="1"/>
          <p:nvPr/>
        </p:nvSpPr>
        <p:spPr>
          <a:xfrm>
            <a:off x="877824" y="4160520"/>
            <a:ext cx="281635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The !important</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declaration wins</a:t>
            </a:r>
            <a:endParaRPr lang="en-US" sz="1200" dirty="0"/>
          </a:p>
        </p:txBody>
      </p:sp>
      <p:sp>
        <p:nvSpPr>
          <p:cNvPr id="19" name="Shape 17"/>
          <p:cNvSpPr/>
          <p:nvPr/>
        </p:nvSpPr>
        <p:spPr>
          <a:xfrm>
            <a:off x="4572000" y="4160520"/>
            <a:ext cx="3291840" cy="685800"/>
          </a:xfrm>
          <a:prstGeom prst="diamond">
            <a:avLst/>
          </a:prstGeom>
          <a:solidFill>
            <a:srgbClr val="FF8A3D"/>
          </a:solidFill>
          <a:ln/>
        </p:spPr>
      </p:sp>
      <p:sp>
        <p:nvSpPr>
          <p:cNvPr id="20" name="Text 18"/>
          <p:cNvSpPr txBox="1"/>
          <p:nvPr/>
        </p:nvSpPr>
        <p:spPr>
          <a:xfrm>
            <a:off x="4626864" y="4160520"/>
            <a:ext cx="3182112" cy="68580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Compare specificity</a:t>
            </a:r>
            <a:endParaRPr lang="en-US" sz="1150" dirty="0"/>
          </a:p>
        </p:txBody>
      </p:sp>
      <p:sp>
        <p:nvSpPr>
          <p:cNvPr id="21" name="Shape 19"/>
          <p:cNvSpPr/>
          <p:nvPr/>
        </p:nvSpPr>
        <p:spPr>
          <a:xfrm>
            <a:off x="3017520" y="5257800"/>
            <a:ext cx="2834640" cy="548640"/>
          </a:xfrm>
          <a:prstGeom prst="rect">
            <a:avLst/>
          </a:prstGeom>
          <a:solidFill>
            <a:srgbClr val="3FA66B"/>
          </a:solidFill>
          <a:ln/>
        </p:spPr>
      </p:sp>
      <p:sp>
        <p:nvSpPr>
          <p:cNvPr id="22" name="Text 20"/>
          <p:cNvSpPr txBox="1"/>
          <p:nvPr/>
        </p:nvSpPr>
        <p:spPr>
          <a:xfrm>
            <a:off x="3072384" y="5257800"/>
            <a:ext cx="272491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More specific</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rule wins</a:t>
            </a:r>
            <a:endParaRPr lang="en-US" sz="1200" dirty="0"/>
          </a:p>
        </p:txBody>
      </p:sp>
      <p:sp>
        <p:nvSpPr>
          <p:cNvPr id="23" name="Shape 21"/>
          <p:cNvSpPr/>
          <p:nvPr/>
        </p:nvSpPr>
        <p:spPr>
          <a:xfrm>
            <a:off x="6583680" y="5257800"/>
            <a:ext cx="3291840" cy="548640"/>
          </a:xfrm>
          <a:prstGeom prst="rect">
            <a:avLst/>
          </a:prstGeom>
          <a:solidFill>
            <a:srgbClr val="3FA66B"/>
          </a:solidFill>
          <a:ln/>
        </p:spPr>
      </p:sp>
      <p:sp>
        <p:nvSpPr>
          <p:cNvPr id="24" name="Text 22"/>
          <p:cNvSpPr txBox="1"/>
          <p:nvPr/>
        </p:nvSpPr>
        <p:spPr>
          <a:xfrm>
            <a:off x="6638544" y="5257800"/>
            <a:ext cx="3182112" cy="5486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Rule written LATER wins</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(equal specificity)</a:t>
            </a:r>
            <a:endParaRPr lang="en-US" sz="1150" dirty="0"/>
          </a:p>
        </p:txBody>
      </p:sp>
      <p:sp>
        <p:nvSpPr>
          <p:cNvPr id="25" name="Text 23"/>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Every cascade conflict resolves through exactly these branches, in this order — importance first, then specificity, then source order.</a:t>
            </a:r>
            <a:endParaRPr lang="en-US" sz="1250" dirty="0"/>
          </a:p>
        </p:txBody>
      </p:sp>
      <p:sp>
        <p:nvSpPr>
          <p:cNvPr id="26" name="Text 2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7" name="Text 2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Specificity Is Calculated</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3108960"/>
                <a:gridCol w="4572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 of the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Category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 It Counts Toward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ID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IDs: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Classes / attrs / pseudo-classes: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Classes / attrs / pseudo-classes: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 pseudo-elements: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totals to (0 inline, 1 ID, 2 classes/pseudo, 1 element) = (0,1,2,1). Every part of nav ul li a is a plain element, so it totals to (0,0,0,4). Compare column by column, left to right: the IDs column differs first (1 vs. 0), so #nav .item a:hover wins outright — the comparison never even reaches the Elements column.</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 { color: red; }                  /* named colour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.b { color: #ff0000; }              /* hex code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.c { color: rgb(255, 0, 0); }       /* red, green, blue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.d { color: rgba(255, 0, 0, 0.5); } /* rgb + alpha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.e { color: hsl(0, 100%, 50%); }    /* hue, sat, lightness */</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olor-values.png">    </p:cNvPr>
          <p:cNvPicPr>
            <a:picLocks noChangeAspect="1"/>
          </p:cNvPicPr>
          <p:nvPr/>
        </p:nvPicPr>
        <p:blipFill>
          <a:blip r:embed="rId1"/>
          <a:stretch>
            <a:fillRect/>
          </a:stretch>
        </p:blipFill>
        <p:spPr>
          <a:xfrm>
            <a:off x="3781381" y="3979545"/>
            <a:ext cx="4628934" cy="223837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640080" y="2240280"/>
            <a:ext cx="10911535" cy="1977390"/>
          </a:xfrm>
          <a:prstGeom prst="roundRect">
            <a:avLst>
              <a:gd name="adj" fmla="val 3699"/>
            </a:avLst>
          </a:prstGeom>
          <a:solidFill>
            <a:srgbClr val="1E1E4C"/>
          </a:solidFill>
          <a:ln/>
        </p:spPr>
      </p:sp>
      <p:sp>
        <p:nvSpPr>
          <p:cNvPr id="6" name="Text 4"/>
          <p:cNvSpPr txBox="1"/>
          <p:nvPr/>
        </p:nvSpPr>
        <p:spPr>
          <a:xfrm>
            <a:off x="960120" y="246888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"Helvetica Neue", Arial, sans-serif;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16px;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font-weight: bold;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font-style: italic;</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7" name="Shape 5"/>
          <p:cNvSpPr/>
          <p:nvPr/>
        </p:nvSpPr>
        <p:spPr>
          <a:xfrm>
            <a:off x="530352" y="4382262"/>
            <a:ext cx="11130991" cy="1945386"/>
          </a:xfrm>
          <a:prstGeom prst="roundRect">
            <a:avLst>
              <a:gd name="adj" fmla="val 2820"/>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5/font-properties.png">    </p:cNvPr>
          <p:cNvPicPr>
            <a:picLocks noChangeAspect="1"/>
          </p:cNvPicPr>
          <p:nvPr/>
        </p:nvPicPr>
        <p:blipFill>
          <a:blip r:embed="rId1"/>
          <a:stretch>
            <a:fillRect/>
          </a:stretch>
        </p:blipFill>
        <p:spPr>
          <a:xfrm>
            <a:off x="640080" y="5049654"/>
            <a:ext cx="10911535" cy="610602"/>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text-decoration: underline;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text-transform: uppercase;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line-height: 1.6;</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letter-spacing: 0.5px;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text-properties.png">    </p:cNvPr>
          <p:cNvPicPr>
            <a:picLocks noChangeAspect="1"/>
          </p:cNvPicPr>
          <p:nvPr/>
        </p:nvPicPr>
        <p:blipFill>
          <a:blip r:embed="rId1"/>
          <a:stretch>
            <a:fillRect/>
          </a:stretch>
        </p:blipFill>
        <p:spPr>
          <a:xfrm>
            <a:off x="1700435" y="4455795"/>
            <a:ext cx="8790826" cy="176212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2026-09-22T05:25:25Z</dcterms:created>
  <dcterms:modified xsi:type="dcterms:W3CDTF">2026-09-22T05:25:25Z</dcterms:modified>
</cp:coreProperties>
</file>
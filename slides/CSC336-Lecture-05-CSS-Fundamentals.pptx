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cuinotes.co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cuinotes.com"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hyperlink" Target="https://cuinotes.com"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s://cuinotes.com" TargetMode="Externa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 Id="rId4" Type="http://schemas.openxmlformats.org/officeDocument/2006/relationships/hyperlink" Target="https://cuinotes.com"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hyperlink" Target="https://cuinotes.com" TargetMode="Externa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 Id="rId4" Type="http://schemas.openxmlformats.org/officeDocument/2006/relationships/hyperlink" Target="https://cuinotes.com"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hyperlink" Target="https://cuinotes.com" TargetMode="Externa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 Id="rId4" Type="http://schemas.openxmlformats.org/officeDocument/2006/relationships/hyperlink" Target="https://cuinotes.com" TargetMode="Externa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 Id="rId4" Type="http://schemas.openxmlformats.org/officeDocument/2006/relationships/hyperlink" Target="https://cuinotes.com"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hyperlink" Target="https://cuinotes.com" TargetMode="Externa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 Id="rId4" Type="http://schemas.openxmlformats.org/officeDocument/2006/relationships/hyperlink" Target="https://cuinotes.com" TargetMode="Externa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 Id="rId4" Type="http://schemas.openxmlformats.org/officeDocument/2006/relationships/hyperlink" Target="https://cuinotes.com" TargetMode="Externa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 Id="rId4" Type="http://schemas.openxmlformats.org/officeDocument/2006/relationships/hyperlink" Target="https://cuinotes.com"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hyperlink" Target="https://cuinotes.com" TargetMode="Externa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 Id="rId4" Type="http://schemas.openxmlformats.org/officeDocument/2006/relationships/hyperlink" Target="https://cuinotes.com"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hyperlink" Target="https://cuinotes.com" TargetMode="Externa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 Id="rId4" Type="http://schemas.openxmlformats.org/officeDocument/2006/relationships/hyperlink" Target="https://cuinotes.com"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hyperlink" Target="https://cuinotes.com" TargetMode="Externa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 Id="rId4" Type="http://schemas.openxmlformats.org/officeDocument/2006/relationships/hyperlink" Target="https://cuinotes.com"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hyperlink" Target="https://cuinotes.com" TargetMode="Externa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 Id="rId4" Type="http://schemas.openxmlformats.org/officeDocument/2006/relationships/hyperlink" Target="https://cuinotes.com"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hyperlink" Target="https://cuinotes.com"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hyperlink" Target="https://cuinotes.com"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hyperlink" Target="https://cuinotes.com"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hyperlink" Target="https://cuinotes.com"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hyperlink" Target="https://cuinotes.com"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hyperlink" Target="https://cuinotes.com"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hyperlink" Target="https://cuinotes.com" TargetMode="Externa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 Id="rId4" Type="http://schemas.openxmlformats.org/officeDocument/2006/relationships/hyperlink" Target="https://cuinotes.com" TargetMode="Externa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 Id="rId4" Type="http://schemas.openxmlformats.org/officeDocument/2006/relationships/hyperlink" Target="https://cuinotes.com" TargetMode="Externa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 Id="rId4" Type="http://schemas.openxmlformats.org/officeDocument/2006/relationships/hyperlink" Target="https://cuinotes.com"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hyperlink" Target="https://cuinotes.com"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hyperlink" Target="https://cuinotes.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B7A"/>
        </a:solidFill>
      </p:bgPr>
    </p:bg>
    <p:spTree>
      <p:nvGrpSpPr>
        <p:cNvPr id="1" name=""/>
        <p:cNvGrpSpPr/>
        <p:nvPr/>
      </p:nvGrpSpPr>
      <p:grpSpPr>
        <a:xfrm>
          <a:off x="0" y="0"/>
          <a:ext cx="0" cy="0"/>
          <a:chOff x="0" y="0"/>
          <a:chExt cx="0" cy="0"/>
        </a:xfrm>
      </p:grpSpPr>
      <p:sp>
        <p:nvSpPr>
          <p:cNvPr id="2" name="Text 0"/>
          <p:cNvSpPr txBox="1"/>
          <p:nvPr/>
        </p:nvSpPr>
        <p:spPr>
          <a:xfrm>
            <a:off x="822960" y="1965960"/>
            <a:ext cx="7315200" cy="457200"/>
          </a:xfrm>
          <a:prstGeom prst="rect">
            <a:avLst/>
          </a:prstGeom>
          <a:noFill/>
          <a:ln/>
        </p:spPr>
        <p:txBody>
          <a:bodyPr wrap="square" lIns="0" tIns="0" rIns="0" bIns="0" rtlCol="0" anchor="ctr"/>
          <a:lstStyle/>
          <a:p>
            <a:pPr indent="0" marL="0">
              <a:buNone/>
            </a:pPr>
            <a:r>
              <a:rPr lang="en-US" sz="1500" b="1" spc="400" kern="0" dirty="0">
                <a:solidFill>
                  <a:srgbClr val="FF8A3D"/>
                </a:solidFill>
                <a:latin typeface="Calibri" pitchFamily="34" charset="0"/>
                <a:ea typeface="Calibri" pitchFamily="34" charset="-122"/>
                <a:cs typeface="Calibri" pitchFamily="34" charset="-120"/>
              </a:rPr>
              <a:t>LECTURE 5</a:t>
            </a:r>
            <a:endParaRPr lang="en-US" sz="1500" dirty="0"/>
          </a:p>
        </p:txBody>
      </p:sp>
      <p:sp>
        <p:nvSpPr>
          <p:cNvPr id="3" name="Text 1"/>
          <p:cNvSpPr txBox="1"/>
          <p:nvPr/>
        </p:nvSpPr>
        <p:spPr>
          <a:xfrm>
            <a:off x="777240" y="2377440"/>
            <a:ext cx="8686800" cy="192024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CSS</a:t>
            </a:r>
            <a:endParaRPr lang="en-US" sz="4000" dirty="0"/>
          </a:p>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Fundamentals</a:t>
            </a:r>
            <a:endParaRPr lang="en-US" sz="4000" dirty="0"/>
          </a:p>
        </p:txBody>
      </p:sp>
      <p:sp>
        <p:nvSpPr>
          <p:cNvPr id="4" name="Text 2"/>
          <p:cNvSpPr txBox="1"/>
          <p:nvPr/>
        </p:nvSpPr>
        <p:spPr>
          <a:xfrm>
            <a:off x="822960" y="4389120"/>
            <a:ext cx="8961120" cy="822960"/>
          </a:xfrm>
          <a:prstGeom prst="rect">
            <a:avLst/>
          </a:prstGeom>
          <a:noFill/>
          <a:ln/>
        </p:spPr>
        <p:txBody>
          <a:bodyPr wrap="square" lIns="0" tIns="0" rIns="0" bIns="0" rtlCol="0" anchor="ctr"/>
          <a:lstStyle/>
          <a:p>
            <a:pPr indent="0" marL="0">
              <a:buNone/>
            </a:pPr>
            <a:r>
              <a:rPr lang="en-US" sz="1500" dirty="0">
                <a:solidFill>
                  <a:srgbClr val="C9D3F5"/>
                </a:solidFill>
                <a:latin typeface="Calibri" pitchFamily="34" charset="0"/>
                <a:ea typeface="Calibri" pitchFamily="34" charset="-122"/>
                <a:cs typeface="Calibri" pitchFamily="34" charset="-120"/>
              </a:rPr>
              <a:t>The language that controls how HTML looks: colours, fonts, spacing, and layout.</a:t>
            </a:r>
            <a:endParaRPr lang="en-US" sz="1500" dirty="0"/>
          </a:p>
        </p:txBody>
      </p:sp>
      <p:sp>
        <p:nvSpPr>
          <p:cNvPr id="5" name="Text 3"/>
          <p:cNvSpPr txBox="1"/>
          <p:nvPr/>
        </p:nvSpPr>
        <p:spPr>
          <a:xfrm>
            <a:off x="822960" y="5943600"/>
            <a:ext cx="8229600" cy="365760"/>
          </a:xfrm>
          <a:prstGeom prst="rect">
            <a:avLst/>
          </a:prstGeom>
          <a:noFill/>
          <a:ln/>
        </p:spPr>
        <p:txBody>
          <a:bodyPr wrap="square" lIns="0" tIns="0" rIns="0" bIns="0" rtlCol="0" anchor="ctr"/>
          <a:lstStyle/>
          <a:p>
            <a:pPr indent="0" marL="0">
              <a:buNone/>
            </a:pPr>
            <a:r>
              <a:rPr lang="en-US" sz="1200" dirty="0">
                <a:solidFill>
                  <a:srgbClr val="9AA3D8"/>
                </a:solidFill>
                <a:latin typeface="Calibri" pitchFamily="34" charset="0"/>
                <a:ea typeface="Calibri" pitchFamily="34" charset="-122"/>
                <a:cs typeface="Calibri" pitchFamily="34" charset="-120"/>
              </a:rPr>
              <a:t>CSC336 Web Technologies</a:t>
            </a:r>
            <a:endParaRPr lang="en-US" sz="1200" dirty="0"/>
          </a:p>
        </p:txBody>
      </p:sp>
      <p:sp>
        <p:nvSpPr>
          <p:cNvPr id="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OVERVIEW</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In This Lecture</a:t>
            </a:r>
            <a:endParaRPr lang="en-US" sz="3400" dirty="0"/>
          </a:p>
        </p:txBody>
      </p:sp>
      <p:sp>
        <p:nvSpPr>
          <p:cNvPr id="4" name="Shape 2"/>
          <p:cNvSpPr/>
          <p:nvPr/>
        </p:nvSpPr>
        <p:spPr>
          <a:xfrm>
            <a:off x="685800" y="1965960"/>
            <a:ext cx="457200" cy="457200"/>
          </a:xfrm>
          <a:prstGeom prst="ellipse">
            <a:avLst/>
          </a:prstGeom>
          <a:solidFill>
            <a:srgbClr val="FF8A3D"/>
          </a:solidFill>
          <a:ln/>
        </p:spPr>
        <p:txBody>
          <a:bodyPr/>
          <a:p/>
        </p:txBody>
      </p:sp>
      <p:sp>
        <p:nvSpPr>
          <p:cNvPr id="5" name="Text 3"/>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8928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CSS syntax, and the three ways to attach CSS to HTML</a:t>
            </a:r>
            <a:endParaRPr lang="en-US" sz="1500" dirty="0"/>
          </a:p>
        </p:txBody>
      </p:sp>
      <p:sp>
        <p:nvSpPr>
          <p:cNvPr id="7" name="Shape 5"/>
          <p:cNvSpPr/>
          <p:nvPr/>
        </p:nvSpPr>
        <p:spPr>
          <a:xfrm>
            <a:off x="685800" y="2689860"/>
            <a:ext cx="457200" cy="457200"/>
          </a:xfrm>
          <a:prstGeom prst="ellipse">
            <a:avLst/>
          </a:prstGeom>
          <a:solidFill>
            <a:srgbClr val="FF8A3D"/>
          </a:solidFill>
          <a:ln/>
        </p:spPr>
        <p:txBody>
          <a:bodyPr/>
          <a:p/>
        </p:txBody>
      </p:sp>
      <p:sp>
        <p:nvSpPr>
          <p:cNvPr id="8" name="Text 6"/>
          <p:cNvSpPr txBox="1"/>
          <p:nvPr/>
        </p:nvSpPr>
        <p:spPr>
          <a:xfrm>
            <a:off x="685800" y="26898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6167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Selectors: element, class, id, attribute, grouping, descendant</a:t>
            </a:r>
            <a:endParaRPr lang="en-US" sz="1500" dirty="0"/>
          </a:p>
        </p:txBody>
      </p:sp>
      <p:sp>
        <p:nvSpPr>
          <p:cNvPr id="10" name="Shape 8"/>
          <p:cNvSpPr/>
          <p:nvPr/>
        </p:nvSpPr>
        <p:spPr>
          <a:xfrm>
            <a:off x="685800" y="3413760"/>
            <a:ext cx="457200" cy="457200"/>
          </a:xfrm>
          <a:prstGeom prst="ellipse">
            <a:avLst/>
          </a:prstGeom>
          <a:solidFill>
            <a:srgbClr val="FF8A3D"/>
          </a:solidFill>
          <a:ln/>
        </p:spPr>
        <p:txBody>
          <a:bodyPr/>
          <a:p/>
        </p:txBody>
      </p:sp>
      <p:sp>
        <p:nvSpPr>
          <p:cNvPr id="11" name="Text 9"/>
          <p:cNvSpPr txBox="1"/>
          <p:nvPr/>
        </p:nvSpPr>
        <p:spPr>
          <a:xfrm>
            <a:off x="685800" y="34137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371600" y="33406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Pseudo-classes and pseudo-elements</a:t>
            </a:r>
            <a:endParaRPr lang="en-US" sz="1500" dirty="0"/>
          </a:p>
        </p:txBody>
      </p:sp>
      <p:sp>
        <p:nvSpPr>
          <p:cNvPr id="13" name="Shape 11"/>
          <p:cNvSpPr/>
          <p:nvPr/>
        </p:nvSpPr>
        <p:spPr>
          <a:xfrm>
            <a:off x="685800" y="4137660"/>
            <a:ext cx="457200" cy="457200"/>
          </a:xfrm>
          <a:prstGeom prst="ellipse">
            <a:avLst/>
          </a:prstGeom>
          <a:solidFill>
            <a:srgbClr val="FF8A3D"/>
          </a:solidFill>
          <a:ln/>
        </p:spPr>
        <p:txBody>
          <a:bodyPr/>
          <a:p/>
        </p:txBody>
      </p:sp>
      <p:sp>
        <p:nvSpPr>
          <p:cNvPr id="14" name="Text 12"/>
          <p:cNvSpPr txBox="1"/>
          <p:nvPr/>
        </p:nvSpPr>
        <p:spPr>
          <a:xfrm>
            <a:off x="685800" y="41376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5" name="Text 13"/>
          <p:cNvSpPr txBox="1"/>
          <p:nvPr/>
        </p:nvSpPr>
        <p:spPr>
          <a:xfrm>
            <a:off x="1371600" y="40645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The cascade and specificity — every conflict case, and the real scoring method</a:t>
            </a:r>
            <a:endParaRPr lang="en-US" sz="1500" dirty="0"/>
          </a:p>
        </p:txBody>
      </p:sp>
      <p:sp>
        <p:nvSpPr>
          <p:cNvPr id="16" name="Shape 14"/>
          <p:cNvSpPr/>
          <p:nvPr/>
        </p:nvSpPr>
        <p:spPr>
          <a:xfrm>
            <a:off x="685800" y="4861560"/>
            <a:ext cx="457200" cy="457200"/>
          </a:xfrm>
          <a:prstGeom prst="ellipse">
            <a:avLst/>
          </a:prstGeom>
          <a:solidFill>
            <a:srgbClr val="FF8A3D"/>
          </a:solidFill>
          <a:ln/>
        </p:spPr>
        <p:txBody>
          <a:bodyPr/>
          <a:p/>
        </p:txBody>
      </p:sp>
      <p:sp>
        <p:nvSpPr>
          <p:cNvPr id="17" name="Text 15"/>
          <p:cNvSpPr txBox="1"/>
          <p:nvPr/>
        </p:nvSpPr>
        <p:spPr>
          <a:xfrm>
            <a:off x="685800" y="4861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8" name="Text 16"/>
          <p:cNvSpPr txBox="1"/>
          <p:nvPr/>
        </p:nvSpPr>
        <p:spPr>
          <a:xfrm>
            <a:off x="1371600" y="47884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Which properties inherit from parent to child, and which do not</a:t>
            </a:r>
            <a:endParaRPr lang="en-US" sz="1500" dirty="0"/>
          </a:p>
        </p:txBody>
      </p:sp>
      <p:sp>
        <p:nvSpPr>
          <p:cNvPr id="19" name="Shape 17"/>
          <p:cNvSpPr/>
          <p:nvPr/>
        </p:nvSpPr>
        <p:spPr>
          <a:xfrm>
            <a:off x="685800" y="5585460"/>
            <a:ext cx="457200" cy="457200"/>
          </a:xfrm>
          <a:prstGeom prst="ellipse">
            <a:avLst/>
          </a:prstGeom>
          <a:solidFill>
            <a:srgbClr val="FF8A3D"/>
          </a:solidFill>
          <a:ln/>
        </p:spPr>
        <p:txBody>
          <a:bodyPr/>
          <a:p/>
        </p:txBody>
      </p:sp>
      <p:sp>
        <p:nvSpPr>
          <p:cNvPr id="20" name="Text 18"/>
          <p:cNvSpPr txBox="1"/>
          <p:nvPr/>
        </p:nvSpPr>
        <p:spPr>
          <a:xfrm>
            <a:off x="685800" y="55854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1" name="Text 19"/>
          <p:cNvSpPr txBox="1"/>
          <p:nvPr/>
        </p:nvSpPr>
        <p:spPr>
          <a:xfrm>
            <a:off x="1371600" y="55123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The most common colour, font, text, and background properties</a:t>
            </a:r>
            <a:endParaRPr lang="en-US" sz="1500" dirty="0"/>
          </a:p>
        </p:txBody>
      </p:sp>
      <p:sp>
        <p:nvSpPr>
          <p:cNvPr id="24"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FOUNDATIONS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What Is CSS?</a:t>
            </a:r>
            <a:endParaRPr lang="en-US" sz="3400" dirty="0"/>
          </a:p>
        </p:txBody>
      </p:sp>
      <p:sp>
        <p:nvSpPr>
          <p:cNvPr id="4" name="Shape 2"/>
          <p:cNvSpPr/>
          <p:nvPr/>
        </p:nvSpPr>
        <p:spPr>
          <a:xfrm>
            <a:off x="685800" y="1965960"/>
            <a:ext cx="457200" cy="457200"/>
          </a:xfrm>
          <a:prstGeom prst="ellipse">
            <a:avLst/>
          </a:prstGeom>
          <a:solidFill>
            <a:srgbClr val="FF8A3D"/>
          </a:solidFill>
          <a:ln/>
        </p:spPr>
        <p:txBody>
          <a:bodyPr/>
          <a:p/>
        </p:txBody>
      </p:sp>
      <p:sp>
        <p:nvSpPr>
          <p:cNvPr id="5" name="Text 3"/>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8928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A style sheet language: HTML says what something IS, CSS says how it should look</a:t>
            </a:r>
            <a:endParaRPr lang="en-US" sz="1500" dirty="0"/>
          </a:p>
        </p:txBody>
      </p:sp>
      <p:sp>
        <p:nvSpPr>
          <p:cNvPr id="7" name="Shape 5"/>
          <p:cNvSpPr/>
          <p:nvPr/>
        </p:nvSpPr>
        <p:spPr>
          <a:xfrm>
            <a:off x="685800" y="2788920"/>
            <a:ext cx="457200" cy="457200"/>
          </a:xfrm>
          <a:prstGeom prst="ellipse">
            <a:avLst/>
          </a:prstGeom>
          <a:solidFill>
            <a:srgbClr val="FF8A3D"/>
          </a:solidFill>
          <a:ln/>
        </p:spPr>
        <p:txBody>
          <a:bodyPr/>
          <a:p/>
        </p:txBody>
      </p:sp>
      <p:sp>
        <p:nvSpPr>
          <p:cNvPr id="8" name="Text 6"/>
          <p:cNvSpPr txBox="1"/>
          <p:nvPr/>
        </p:nvSpPr>
        <p:spPr>
          <a:xfrm>
            <a:off x="685800" y="2788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71576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Separates content (HTML) from presentation (CSS)</a:t>
            </a:r>
            <a:endParaRPr lang="en-US" sz="1500" dirty="0"/>
          </a:p>
        </p:txBody>
      </p:sp>
      <p:sp>
        <p:nvSpPr>
          <p:cNvPr id="10" name="Shape 8"/>
          <p:cNvSpPr/>
          <p:nvPr/>
        </p:nvSpPr>
        <p:spPr>
          <a:xfrm>
            <a:off x="685800" y="3611880"/>
            <a:ext cx="457200" cy="457200"/>
          </a:xfrm>
          <a:prstGeom prst="ellipse">
            <a:avLst/>
          </a:prstGeom>
          <a:solidFill>
            <a:srgbClr val="FF8A3D"/>
          </a:solidFill>
          <a:ln/>
        </p:spPr>
        <p:txBody>
          <a:bodyPr/>
          <a:p/>
        </p:txBody>
      </p:sp>
      <p:sp>
        <p:nvSpPr>
          <p:cNvPr id="11" name="Text 9"/>
          <p:cNvSpPr txBox="1"/>
          <p:nvPr/>
        </p:nvSpPr>
        <p:spPr>
          <a:xfrm>
            <a:off x="685800" y="3611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371600" y="353872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Change a whole site's look by editing one CSS file</a:t>
            </a:r>
            <a:endParaRPr lang="en-US" sz="1500" dirty="0"/>
          </a:p>
        </p:txBody>
      </p:sp>
      <p:sp>
        <p:nvSpPr>
          <p:cNvPr id="13" name="Shape 11"/>
          <p:cNvSpPr/>
          <p:nvPr/>
        </p:nvSpPr>
        <p:spPr>
          <a:xfrm>
            <a:off x="685800" y="4434840"/>
            <a:ext cx="457200" cy="457200"/>
          </a:xfrm>
          <a:prstGeom prst="ellipse">
            <a:avLst/>
          </a:prstGeom>
          <a:solidFill>
            <a:srgbClr val="FF8A3D"/>
          </a:solidFill>
          <a:ln/>
        </p:spPr>
        <p:txBody>
          <a:bodyPr/>
          <a:p/>
        </p:txBody>
      </p:sp>
      <p:sp>
        <p:nvSpPr>
          <p:cNvPr id="14" name="Text 12"/>
          <p:cNvSpPr txBox="1"/>
          <p:nvPr/>
        </p:nvSpPr>
        <p:spPr>
          <a:xfrm>
            <a:off x="685800" y="44348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5" name="Text 13"/>
          <p:cNvSpPr txBox="1"/>
          <p:nvPr/>
        </p:nvSpPr>
        <p:spPr>
          <a:xfrm>
            <a:off x="1371600" y="436168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The same HTML can be restyled for print, mobile, or accessibility</a:t>
            </a:r>
            <a:endParaRPr lang="en-US" sz="1500" dirty="0"/>
          </a:p>
        </p:txBody>
      </p:sp>
      <p:sp>
        <p:nvSpPr>
          <p:cNvPr id="1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SYNTAX</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A CSS Rule</a:t>
            </a:r>
            <a:endParaRPr lang="en-US" sz="3400" dirty="0"/>
          </a:p>
        </p:txBody>
      </p:sp>
      <p:sp>
        <p:nvSpPr>
          <p:cNvPr id="4" name="Shape 2"/>
          <p:cNvSpPr/>
          <p:nvPr/>
        </p:nvSpPr>
        <p:spPr>
          <a:xfrm>
            <a:off x="640080" y="1965960"/>
            <a:ext cx="10911535" cy="1615440"/>
          </a:xfrm>
          <a:prstGeom prst="roundRect">
            <a:avLst>
              <a:gd name="adj" fmla="val 4528"/>
            </a:avLst>
          </a:prstGeom>
          <a:solidFill>
            <a:srgbClr val="F7F8F9"/>
          </a:solidFill>
          <a:ln w="9525">
            <a:solidFill>
              <a:srgbClr val="D0D5DD"/>
            </a:solidFill>
          </a:ln>
        </p:spPr>
        <p:txBody>
          <a:bodyPr/>
          <a:p/>
        </p:txBody>
      </p:sp>
      <p:sp>
        <p:nvSpPr>
          <p:cNvPr id="5" name="Text 3"/>
          <p:cNvSpPr txBox="1"/>
          <p:nvPr/>
        </p:nvSpPr>
        <p:spPr>
          <a:xfrm>
            <a:off x="960120" y="2194560"/>
            <a:ext cx="10271455" cy="1158240"/>
          </a:xfrm>
          <a:prstGeom prst="rect">
            <a:avLst/>
          </a:prstGeom>
          <a:noFill/>
          <a:ln/>
        </p:spPr>
        <p:txBody>
          <a:bodyPr wrap="square" lIns="0" tIns="0" rIns="0" bIns="0" rtlCol="0" anchor="t"/>
          <a:lstStyle/>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p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color: darkslategray;</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font-size: 16px;</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a:t>
            </a:r>
            <a:endParaRPr lang="en-US" sz="1400" dirty="0"/>
          </a:p>
        </p:txBody>
      </p:sp>
      <p:sp>
        <p:nvSpPr>
          <p:cNvPr id="6" name="Text 4"/>
          <p:cNvSpPr txBox="1"/>
          <p:nvPr/>
        </p:nvSpPr>
        <p:spPr>
          <a:xfrm>
            <a:off x="640080" y="3810000"/>
            <a:ext cx="10911535" cy="2453640"/>
          </a:xfrm>
          <a:prstGeom prst="rect">
            <a:avLst/>
          </a:prstGeom>
          <a:noFill/>
          <a:ln/>
        </p:spPr>
        <p:txBody>
          <a:bodyPr wrap="square" lIns="0" tIns="0" rIns="0" bIns="0" rtlCol="0" anchor="t"/>
          <a:lstStyle/>
          <a:p>
            <a:pPr indent="0" marL="0">
              <a:buNone/>
            </a:pPr>
            <a:r>
              <a:rPr lang="en-US" sz="1300" dirty="0">
                <a:solidFill>
                  <a:srgbClr val="26262F"/>
                </a:solidFill>
                <a:latin typeface="Calibri" pitchFamily="34" charset="0"/>
                <a:ea typeface="Calibri" pitchFamily="34" charset="-122"/>
                <a:cs typeface="Calibri" pitchFamily="34" charset="-120"/>
              </a:rPr>
              <a:t>A selector (which elements) plus a declaration block (what style) — every declaration is a property: value pair, ending in a semicolon.</a:t>
            </a:r>
            <a:endParaRPr lang="en-US" sz="13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ATTACHING CSS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1. Inline Styles</a:t>
            </a:r>
            <a:endParaRPr lang="en-US" sz="3400" dirty="0"/>
          </a:p>
        </p:txBody>
      </p:sp>
      <p:sp>
        <p:nvSpPr>
          <p:cNvPr id="4" name="Shape 2"/>
          <p:cNvSpPr/>
          <p:nvPr/>
        </p:nvSpPr>
        <p:spPr>
          <a:xfrm>
            <a:off x="640080" y="1965960"/>
            <a:ext cx="10911535" cy="786765"/>
          </a:xfrm>
          <a:prstGeom prst="roundRect">
            <a:avLst>
              <a:gd name="adj" fmla="val 9298"/>
            </a:avLst>
          </a:prstGeom>
          <a:solidFill>
            <a:srgbClr val="F7F8F9"/>
          </a:solidFill>
          <a:ln w="9525">
            <a:solidFill>
              <a:srgbClr val="D0D5DD"/>
            </a:solidFill>
          </a:ln>
        </p:spPr>
        <p:txBody>
          <a:bodyPr/>
          <a:p/>
        </p:txBody>
      </p:sp>
      <p:sp>
        <p:nvSpPr>
          <p:cNvPr id="5" name="Text 3"/>
          <p:cNvSpPr txBox="1"/>
          <p:nvPr/>
        </p:nvSpPr>
        <p:spPr>
          <a:xfrm>
            <a:off x="960120" y="2194560"/>
            <a:ext cx="10271455" cy="329565"/>
          </a:xfrm>
          <a:prstGeom prst="rect">
            <a:avLst/>
          </a:prstGeom>
          <a:noFill/>
          <a:ln/>
        </p:spPr>
        <p:txBody>
          <a:bodyPr wrap="square" lIns="0" tIns="0" rIns="0" bIns="0" rtlCol="0" anchor="t"/>
          <a:lstStyle/>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&lt;p style="color: red; font-weight: bold;"&gt;This paragraph is styled inline.&lt;/p&gt;</a:t>
            </a:r>
            <a:endParaRPr lang="en-US" sz="1250" dirty="0"/>
          </a:p>
        </p:txBody>
      </p:sp>
      <p:sp>
        <p:nvSpPr>
          <p:cNvPr id="6" name="Shape 4"/>
          <p:cNvSpPr/>
          <p:nvPr/>
        </p:nvSpPr>
        <p:spPr>
          <a:xfrm>
            <a:off x="530352" y="2917317"/>
            <a:ext cx="11130991" cy="3410331"/>
          </a:xfrm>
          <a:prstGeom prst="roundRect">
            <a:avLst>
              <a:gd name="adj" fmla="val 1609"/>
            </a:avLst>
          </a:prstGeom>
          <a:solidFill>
            <a:srgbClr val="FFFFFF"/>
          </a:solidFill>
          <a:ln w="12700">
            <a:solidFill>
              <a:srgbClr val="E2E2EE"/>
            </a:solidFill>
            <a:prstDash val="solid"/>
          </a:ln>
          <a:effectLst>
            <a:outerShdw sx="100000" sy="100000" kx="0" ky="0" algn="bl" rotWithShape="0" blurRad="101600" dist="38100" dir="5400000">
              <a:srgbClr val="000000">
                <a:alpha val="12000"/>
              </a:srgbClr>
            </a:outerShdw>
          </a:effectLst>
        </p:spPr>
        <p:txBody>
          <a:bodyPr/>
          <a:p/>
        </p:txBody>
      </p:sp>
      <p:pic>
        <p:nvPicPr>
          <p:cNvPr id="7" name="Image 0" descr="D:/GitHub/mern-web-book/docs/assets/img/lecture-05/inline-style.png">    </p:cNvPr>
          <p:cNvPicPr>
            <a:picLocks noChangeAspect="1"/>
          </p:cNvPicPr>
          <p:nvPr/>
        </p:nvPicPr>
        <p:blipFill>
          <a:blip r:embed="rId1"/>
          <a:stretch>
            <a:fillRect/>
          </a:stretch>
        </p:blipFill>
        <p:spPr>
          <a:xfrm>
            <a:off x="2171548" y="4035742"/>
            <a:ext cx="7848600" cy="1173480"/>
          </a:xfrm>
          <a:prstGeom prst="rect">
            <a:avLst/>
          </a:prstGeom>
        </p:spPr>
      </p:pic>
      <p:sp>
        <p:nvSpPr>
          <p:cNvPr id="10"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4"/>
              </a:rPr>
              <a:t>cuinotes.com</a:t>
            </a:r>
            <a:r>
              <a:rPr sz="1000">
                <a:solidFill>
                  <a:srgbClr val="8A939B"/>
                </a:solidFill>
              </a:rPr>
              <a:t>  ·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ATTACHING CSS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2. Internal Style Sheets</a:t>
            </a:r>
            <a:endParaRPr lang="en-US" sz="3400" dirty="0"/>
          </a:p>
        </p:txBody>
      </p:sp>
      <p:sp>
        <p:nvSpPr>
          <p:cNvPr id="4" name="Shape 2"/>
          <p:cNvSpPr/>
          <p:nvPr/>
        </p:nvSpPr>
        <p:spPr>
          <a:xfrm>
            <a:off x="640080" y="1965960"/>
            <a:ext cx="10911535" cy="2948940"/>
          </a:xfrm>
          <a:prstGeom prst="roundRect">
            <a:avLst>
              <a:gd name="adj" fmla="val 2481"/>
            </a:avLst>
          </a:prstGeom>
          <a:solidFill>
            <a:srgbClr val="F7F8F9"/>
          </a:solidFill>
          <a:ln w="9525">
            <a:solidFill>
              <a:srgbClr val="D0D5DD"/>
            </a:solidFill>
          </a:ln>
        </p:spPr>
        <p:txBody>
          <a:bodyPr/>
          <a:p/>
        </p:txBody>
      </p:sp>
      <p:sp>
        <p:nvSpPr>
          <p:cNvPr id="5" name="Text 3"/>
          <p:cNvSpPr txBox="1"/>
          <p:nvPr/>
        </p:nvSpPr>
        <p:spPr>
          <a:xfrm>
            <a:off x="960120" y="2194560"/>
            <a:ext cx="10271455" cy="2491740"/>
          </a:xfrm>
          <a:prstGeom prst="rect">
            <a:avLst/>
          </a:prstGeom>
          <a:noFill/>
          <a:ln/>
        </p:spPr>
        <p:txBody>
          <a:bodyPr wrap="square" lIns="0" tIns="0" rIns="0" bIns="0" rtlCol="0" anchor="t"/>
          <a:lstStyle/>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&lt;head&gt;</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&lt;style&gt;</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body { font-family: Arial, sans-serif;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h1 { color: navy;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&lt;/style&gt;</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&lt;/head&gt;</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&lt;body&gt;</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&lt;h1&gt;Welcome&lt;/h1&gt;</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&lt;/body&gt;</a:t>
            </a:r>
            <a:endParaRPr lang="en-US" sz="1400" dirty="0"/>
          </a:p>
        </p:txBody>
      </p:sp>
      <p:sp>
        <p:nvSpPr>
          <p:cNvPr id="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ATTACHING CSS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2. Internal Style Sheets, Rendered</a:t>
            </a:r>
            <a:endParaRPr lang="en-US" sz="3400" dirty="0"/>
          </a:p>
        </p:txBody>
      </p:sp>
      <p:sp>
        <p:nvSpPr>
          <p:cNvPr id="4" name="Text 2"/>
          <p:cNvSpPr txBox="1"/>
          <p:nvPr/>
        </p:nvSpPr>
        <p:spPr>
          <a:xfrm>
            <a:off x="640080" y="1691640"/>
            <a:ext cx="10911535" cy="411480"/>
          </a:xfrm>
          <a:prstGeom prst="rect">
            <a:avLst/>
          </a:prstGeom>
          <a:noFill/>
          <a:ln/>
        </p:spPr>
        <p:txBody>
          <a:bodyPr wrap="square" lIns="0" tIns="0" rIns="0" bIns="0" rtlCol="0" anchor="ctr"/>
          <a:lstStyle/>
          <a:p>
            <a:pPr indent="0" marL="0">
              <a:buNone/>
            </a:pPr>
            <a:r>
              <a:rPr lang="en-US" sz="1350" i="1" dirty="0">
                <a:solidFill>
                  <a:srgbClr val="5D5D72"/>
                </a:solidFill>
                <a:latin typeface="Calibri" pitchFamily="34" charset="0"/>
                <a:ea typeface="Calibri" pitchFamily="34" charset="-122"/>
                <a:cs typeface="Calibri" pitchFamily="34" charset="-120"/>
              </a:rPr>
              <a:t>A &lt;style&gt; block inside &lt;head&gt; — applies to the whole page, but stuck in that one HTML file.</a:t>
            </a:r>
            <a:endParaRPr lang="en-US" sz="1350" dirty="0"/>
          </a:p>
        </p:txBody>
      </p:sp>
      <p:sp>
        <p:nvSpPr>
          <p:cNvPr id="5" name="Shape 3"/>
          <p:cNvSpPr/>
          <p:nvPr/>
        </p:nvSpPr>
        <p:spPr>
          <a:xfrm>
            <a:off x="530352" y="2221992"/>
            <a:ext cx="11130991" cy="4059936"/>
          </a:xfrm>
          <a:prstGeom prst="roundRect">
            <a:avLst>
              <a:gd name="adj" fmla="val 1351"/>
            </a:avLst>
          </a:prstGeom>
          <a:solidFill>
            <a:srgbClr val="FFFFFF"/>
          </a:solidFill>
          <a:ln w="12700">
            <a:solidFill>
              <a:srgbClr val="E2E2EE"/>
            </a:solidFill>
            <a:prstDash val="solid"/>
          </a:ln>
          <a:effectLst>
            <a:outerShdw sx="100000" sy="100000" kx="0" ky="0" algn="bl" rotWithShape="0" blurRad="101600" dist="38100" dir="5400000">
              <a:srgbClr val="000000">
                <a:alpha val="12000"/>
              </a:srgbClr>
            </a:outerShdw>
          </a:effectLst>
        </p:spPr>
        <p:txBody>
          <a:bodyPr/>
          <a:p/>
        </p:txBody>
      </p:sp>
      <p:pic>
        <p:nvPicPr>
          <p:cNvPr id="6" name="Image 0" descr="D:/GitHub/mern-web-book/docs/assets/img/lecture-05/internal-stylesheet.png">    </p:cNvPr>
          <p:cNvPicPr>
            <a:picLocks noChangeAspect="1"/>
          </p:cNvPicPr>
          <p:nvPr/>
        </p:nvPicPr>
        <p:blipFill>
          <a:blip r:embed="rId1"/>
          <a:stretch>
            <a:fillRect/>
          </a:stretch>
        </p:blipFill>
        <p:spPr>
          <a:xfrm>
            <a:off x="3611728" y="3528060"/>
            <a:ext cx="4968240" cy="1447800"/>
          </a:xfrm>
          <a:prstGeom prst="rect">
            <a:avLst/>
          </a:prstGeom>
        </p:spPr>
      </p:pic>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4"/>
              </a:rPr>
              <a:t>cuinotes.com</a:t>
            </a:r>
            <a:r>
              <a:rPr sz="1000">
                <a:solidFill>
                  <a:srgbClr val="8A939B"/>
                </a:solidFill>
              </a:rPr>
              <a:t>  ·  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ATTACHING CSS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3. External Style Sheets — Preferred</a:t>
            </a:r>
            <a:endParaRPr lang="en-US" sz="3400" dirty="0"/>
          </a:p>
        </p:txBody>
      </p:sp>
      <p:sp>
        <p:nvSpPr>
          <p:cNvPr id="4" name="Shape 2"/>
          <p:cNvSpPr/>
          <p:nvPr/>
        </p:nvSpPr>
        <p:spPr>
          <a:xfrm>
            <a:off x="640080" y="1965960"/>
            <a:ext cx="10911535" cy="3657600"/>
          </a:xfrm>
          <a:prstGeom prst="roundRect">
            <a:avLst>
              <a:gd name="adj" fmla="val 2500"/>
            </a:avLst>
          </a:prstGeom>
          <a:solidFill>
            <a:srgbClr val="E6F6EE"/>
          </a:solidFill>
          <a:ln w="12700">
            <a:solidFill>
              <a:srgbClr val="3FA66B"/>
            </a:solidFill>
            <a:prstDash val="solid"/>
          </a:ln>
        </p:spPr>
        <p:txBody>
          <a:bodyPr/>
          <a:p/>
        </p:txBody>
      </p:sp>
      <p:sp>
        <p:nvSpPr>
          <p:cNvPr id="5" name="Text 3"/>
          <p:cNvSpPr txBox="1"/>
          <p:nvPr/>
        </p:nvSpPr>
        <p:spPr>
          <a:xfrm>
            <a:off x="868680" y="2103120"/>
            <a:ext cx="10454335" cy="400000"/>
          </a:xfrm>
          <a:prstGeom prst="rect">
            <a:avLst/>
          </a:prstGeom>
          <a:noFill/>
          <a:ln/>
        </p:spPr>
        <p:txBody>
          <a:bodyPr wrap="square" lIns="0" tIns="0" rIns="0" bIns="0" rtlCol="0" anchor="ctr"/>
          <a:lstStyle/>
          <a:p>
            <a:pPr indent="0" marL="0">
              <a:buNone/>
            </a:pPr>
            <a:r>
              <a:rPr lang="en-US" sz="1800" b="1" spc="200" kern="0" dirty="0">
                <a:solidFill>
                  <a:srgbClr val="1F7A46"/>
                </a:solidFill>
                <a:latin typeface="Calibri" pitchFamily="34" charset="0"/>
                <a:ea typeface="Calibri" pitchFamily="34" charset="-122"/>
                <a:cs typeface="Calibri" pitchFamily="34" charset="-120"/>
              </a:rPr>
              <a:t>TIP</a:t>
            </a:r>
            <a:endParaRPr lang="en-US" sz="1800" dirty="0"/>
          </a:p>
        </p:txBody>
      </p:sp>
      <p:sp>
        <p:nvSpPr>
          <p:cNvPr id="6" name="Text 4"/>
          <p:cNvSpPr txBox="1"/>
          <p:nvPr/>
        </p:nvSpPr>
        <p:spPr>
          <a:xfrm>
            <a:off x="868680" y="2795960"/>
            <a:ext cx="10454335" cy="2500000"/>
          </a:xfrm>
          <a:prstGeom prst="rect">
            <a:avLst/>
          </a:prstGeom>
          <a:noFill/>
          <a:ln/>
        </p:spPr>
        <p:txBody>
          <a:bodyPr wrap="square" lIns="0" tIns="0" rIns="0" bIns="0" rtlCol="0" anchor="ctr"/>
          <a:lstStyle/>
          <a:p>
            <a:pPr indent="0" marL="0">
              <a:buNone/>
            </a:pPr>
            <a:r>
              <a:rPr lang="en-US" sz="2800" dirty="0">
                <a:solidFill>
                  <a:srgbClr val="26262F"/>
                </a:solidFill>
                <a:latin typeface="Calibri" pitchFamily="34" charset="0"/>
                <a:ea typeface="Calibri" pitchFamily="34" charset="-122"/>
                <a:cs typeface="Calibri" pitchFamily="34" charset="-120"/>
              </a:rPr>
              <a:t>One file, many pages: every page links the same styles.css, so the whole site looks consistent and you edit one file to restyle it. Separation of concerns keeps HTML focused on content. Browsers cache the file, so pages after the first load faster. Designers and developers can work on CSS and HTML independently.</a:t>
            </a:r>
            <a:endParaRPr lang="en-US" sz="28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SELECTORS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Class Selector: .highlight</a:t>
            </a:r>
            <a:endParaRPr lang="en-US" sz="3400" dirty="0"/>
          </a:p>
        </p:txBody>
      </p:sp>
      <p:sp>
        <p:nvSpPr>
          <p:cNvPr id="4" name="Shape 2"/>
          <p:cNvSpPr/>
          <p:nvPr/>
        </p:nvSpPr>
        <p:spPr>
          <a:xfrm>
            <a:off x="640080" y="1965960"/>
            <a:ext cx="10911535" cy="1739265"/>
          </a:xfrm>
          <a:prstGeom prst="roundRect">
            <a:avLst>
              <a:gd name="adj" fmla="val 4206"/>
            </a:avLst>
          </a:prstGeom>
          <a:solidFill>
            <a:srgbClr val="F7F8F9"/>
          </a:solidFill>
          <a:ln w="9525">
            <a:solidFill>
              <a:srgbClr val="D0D5DD"/>
            </a:solidFill>
          </a:ln>
        </p:spPr>
        <p:txBody>
          <a:bodyPr/>
          <a:p/>
        </p:txBody>
      </p:sp>
      <p:sp>
        <p:nvSpPr>
          <p:cNvPr id="5" name="Text 3"/>
          <p:cNvSpPr txBox="1"/>
          <p:nvPr/>
        </p:nvSpPr>
        <p:spPr>
          <a:xfrm>
            <a:off x="960120" y="2194560"/>
            <a:ext cx="10271455" cy="1282065"/>
          </a:xfrm>
          <a:prstGeom prst="rect">
            <a:avLst/>
          </a:prstGeom>
          <a:noFill/>
          <a:ln/>
        </p:spPr>
        <p:txBody>
          <a:bodyPr wrap="square" lIns="0" tIns="0" rIns="0" bIns="0" rtlCol="0" anchor="t"/>
          <a:lstStyle/>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&lt;p class="highlight"&gt;This text is important.&lt;/p&gt;</a:t>
            </a:r>
            <a:endParaRPr lang="en-US" sz="1250" dirty="0"/>
          </a:p>
          <a:p>
            <a:pPr indent="0" marL="0">
              <a:lnSpc>
                <a:spcPct val="125000"/>
              </a:lnSpc>
              <a:buNone/>
            </a:pPr>
            <a:endParaRPr lang="en-US" sz="1250" dirty="0"/>
          </a:p>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.highlight {</a:t>
            </a:r>
            <a:endParaRPr lang="en-US" sz="1250" dirty="0"/>
          </a:p>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  background-color: yellow;</a:t>
            </a:r>
            <a:endParaRPr lang="en-US" sz="1250" dirty="0"/>
          </a:p>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a:t>
            </a:r>
            <a:endParaRPr lang="en-US" sz="1250" dirty="0"/>
          </a:p>
        </p:txBody>
      </p:sp>
      <p:sp>
        <p:nvSpPr>
          <p:cNvPr id="6" name="Shape 4"/>
          <p:cNvSpPr/>
          <p:nvPr/>
        </p:nvSpPr>
        <p:spPr>
          <a:xfrm>
            <a:off x="530352" y="3869817"/>
            <a:ext cx="11130991" cy="2457831"/>
          </a:xfrm>
          <a:prstGeom prst="roundRect">
            <a:avLst>
              <a:gd name="adj" fmla="val 2232"/>
            </a:avLst>
          </a:prstGeom>
          <a:solidFill>
            <a:srgbClr val="FFFFFF"/>
          </a:solidFill>
          <a:ln w="12700">
            <a:solidFill>
              <a:srgbClr val="E2E2EE"/>
            </a:solidFill>
            <a:prstDash val="solid"/>
          </a:ln>
          <a:effectLst>
            <a:outerShdw sx="100000" sy="100000" kx="0" ky="0" algn="bl" rotWithShape="0" blurRad="101600" dist="38100" dir="5400000">
              <a:srgbClr val="000000">
                <a:alpha val="12000"/>
              </a:srgbClr>
            </a:outerShdw>
          </a:effectLst>
        </p:spPr>
        <p:txBody>
          <a:bodyPr/>
          <a:p/>
        </p:txBody>
      </p:sp>
      <p:pic>
        <p:nvPicPr>
          <p:cNvPr id="7" name="Image 0" descr="D:/GitHub/mern-web-book/docs/assets/img/lecture-05/class-selector.png">    </p:cNvPr>
          <p:cNvPicPr>
            <a:picLocks noChangeAspect="1"/>
          </p:cNvPicPr>
          <p:nvPr/>
        </p:nvPicPr>
        <p:blipFill>
          <a:blip r:embed="rId1"/>
          <a:stretch>
            <a:fillRect/>
          </a:stretch>
        </p:blipFill>
        <p:spPr>
          <a:xfrm>
            <a:off x="640080" y="4790395"/>
            <a:ext cx="10911535" cy="616676"/>
          </a:xfrm>
          <a:prstGeom prst="rect">
            <a:avLst/>
          </a:prstGeom>
        </p:spPr>
      </p:pic>
      <p:sp>
        <p:nvSpPr>
          <p:cNvPr id="10"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4"/>
              </a:rPr>
              <a:t>cuinotes.com</a:t>
            </a:r>
            <a:r>
              <a:rPr sz="1000">
                <a:solidFill>
                  <a:srgbClr val="8A939B"/>
                </a:solidFill>
              </a:rPr>
              <a:t>  ·  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SELECTORS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ID Selector: #main-header</a:t>
            </a:r>
            <a:endParaRPr lang="en-US" sz="3400" dirty="0"/>
          </a:p>
        </p:txBody>
      </p:sp>
      <p:sp>
        <p:nvSpPr>
          <p:cNvPr id="4" name="Shape 2"/>
          <p:cNvSpPr/>
          <p:nvPr/>
        </p:nvSpPr>
        <p:spPr>
          <a:xfrm>
            <a:off x="640080" y="1965960"/>
            <a:ext cx="10911535" cy="1977390"/>
          </a:xfrm>
          <a:prstGeom prst="roundRect">
            <a:avLst>
              <a:gd name="adj" fmla="val 3699"/>
            </a:avLst>
          </a:prstGeom>
          <a:solidFill>
            <a:srgbClr val="F7F8F9"/>
          </a:solidFill>
          <a:ln w="9525">
            <a:solidFill>
              <a:srgbClr val="D0D5DD"/>
            </a:solidFill>
          </a:ln>
        </p:spPr>
        <p:txBody>
          <a:bodyPr/>
          <a:p/>
        </p:txBody>
      </p:sp>
      <p:sp>
        <p:nvSpPr>
          <p:cNvPr id="5" name="Text 3"/>
          <p:cNvSpPr txBox="1"/>
          <p:nvPr/>
        </p:nvSpPr>
        <p:spPr>
          <a:xfrm>
            <a:off x="960120" y="2194560"/>
            <a:ext cx="10271455" cy="1520190"/>
          </a:xfrm>
          <a:prstGeom prst="rect">
            <a:avLst/>
          </a:prstGeom>
          <a:noFill/>
          <a:ln/>
        </p:spPr>
        <p:txBody>
          <a:bodyPr wrap="square" lIns="0" tIns="0" rIns="0" bIns="0" rtlCol="0" anchor="t"/>
          <a:lstStyle/>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&lt;div id="main-header"&gt;Site Title&lt;/div&gt;</a:t>
            </a:r>
            <a:endParaRPr lang="en-US" sz="1250" dirty="0"/>
          </a:p>
          <a:p>
            <a:pPr indent="0" marL="0">
              <a:lnSpc>
                <a:spcPct val="125000"/>
              </a:lnSpc>
              <a:buNone/>
            </a:pPr>
            <a:endParaRPr lang="en-US" sz="1250" dirty="0"/>
          </a:p>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#main-header {</a:t>
            </a:r>
            <a:endParaRPr lang="en-US" sz="1250" dirty="0"/>
          </a:p>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  font-size: 2rem;</a:t>
            </a:r>
            <a:endParaRPr lang="en-US" sz="1250" dirty="0"/>
          </a:p>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  text-align: center;</a:t>
            </a:r>
            <a:endParaRPr lang="en-US" sz="1250" dirty="0"/>
          </a:p>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a:t>
            </a:r>
            <a:endParaRPr lang="en-US" sz="1250" dirty="0"/>
          </a:p>
        </p:txBody>
      </p:sp>
      <p:sp>
        <p:nvSpPr>
          <p:cNvPr id="6" name="Shape 4"/>
          <p:cNvSpPr/>
          <p:nvPr/>
        </p:nvSpPr>
        <p:spPr>
          <a:xfrm>
            <a:off x="530352" y="4107942"/>
            <a:ext cx="11130991" cy="2219706"/>
          </a:xfrm>
          <a:prstGeom prst="roundRect">
            <a:avLst>
              <a:gd name="adj" fmla="val 2472"/>
            </a:avLst>
          </a:prstGeom>
          <a:solidFill>
            <a:srgbClr val="FFFFFF"/>
          </a:solidFill>
          <a:ln w="12700">
            <a:solidFill>
              <a:srgbClr val="E2E2EE"/>
            </a:solidFill>
            <a:prstDash val="solid"/>
          </a:ln>
          <a:effectLst>
            <a:outerShdw sx="100000" sy="100000" kx="0" ky="0" algn="bl" rotWithShape="0" blurRad="101600" dist="38100" dir="5400000">
              <a:srgbClr val="000000">
                <a:alpha val="12000"/>
              </a:srgbClr>
            </a:outerShdw>
          </a:effectLst>
        </p:spPr>
        <p:txBody>
          <a:bodyPr/>
          <a:p/>
        </p:txBody>
      </p:sp>
      <p:pic>
        <p:nvPicPr>
          <p:cNvPr id="7" name="Image 0" descr="D:/GitHub/mern-web-book/docs/assets/img/lecture-05/id-selector.png">    </p:cNvPr>
          <p:cNvPicPr>
            <a:picLocks noChangeAspect="1"/>
          </p:cNvPicPr>
          <p:nvPr/>
        </p:nvPicPr>
        <p:blipFill>
          <a:blip r:embed="rId1"/>
          <a:stretch>
            <a:fillRect/>
          </a:stretch>
        </p:blipFill>
        <p:spPr>
          <a:xfrm>
            <a:off x="3886048" y="4493895"/>
            <a:ext cx="4419600" cy="1447800"/>
          </a:xfrm>
          <a:prstGeom prst="rect">
            <a:avLst/>
          </a:prstGeom>
        </p:spPr>
      </p:pic>
      <p:sp>
        <p:nvSpPr>
          <p:cNvPr id="10"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4"/>
              </a:rPr>
              <a:t>cuinotes.com</a:t>
            </a:r>
            <a:r>
              <a:rPr sz="1000">
                <a:solidFill>
                  <a:srgbClr val="8A939B"/>
                </a:solidFill>
              </a:rPr>
              <a:t>  ·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SELECTORS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Class vs. ID</a:t>
            </a:r>
            <a:endParaRPr lang="en-US" sz="3400" dirty="0"/>
          </a:p>
        </p:txBody>
      </p:sp>
      <p:sp>
        <p:nvSpPr>
          <p:cNvPr id="4" name="Shape 2"/>
          <p:cNvSpPr/>
          <p:nvPr/>
        </p:nvSpPr>
        <p:spPr>
          <a:xfrm>
            <a:off x="640080" y="1965960"/>
            <a:ext cx="10911535" cy="3657600"/>
          </a:xfrm>
          <a:prstGeom prst="roundRect">
            <a:avLst>
              <a:gd name="adj" fmla="val 3529"/>
            </a:avLst>
          </a:prstGeom>
          <a:solidFill>
            <a:srgbClr val="FDECE0"/>
          </a:solidFill>
          <a:ln w="12700">
            <a:solidFill>
              <a:srgbClr val="FF8A3D"/>
            </a:solidFill>
            <a:prstDash val="solid"/>
          </a:ln>
        </p:spPr>
        <p:txBody>
          <a:bodyPr/>
          <a:p/>
        </p:txBody>
      </p:sp>
      <p:sp>
        <p:nvSpPr>
          <p:cNvPr id="5" name="Text 3"/>
          <p:cNvSpPr txBox="1"/>
          <p:nvPr/>
        </p:nvSpPr>
        <p:spPr>
          <a:xfrm>
            <a:off x="868680" y="2103120"/>
            <a:ext cx="10454335" cy="400000"/>
          </a:xfrm>
          <a:prstGeom prst="rect">
            <a:avLst/>
          </a:prstGeom>
          <a:noFill/>
          <a:ln/>
        </p:spPr>
        <p:txBody>
          <a:bodyPr wrap="square" lIns="0" tIns="0" rIns="0" bIns="0" rtlCol="0" anchor="ctr"/>
          <a:lstStyle/>
          <a:p>
            <a:pPr indent="0" marL="0">
              <a:buNone/>
            </a:pPr>
            <a:r>
              <a:rPr lang="en-US" sz="1800" b="1" spc="200" kern="0" dirty="0">
                <a:solidFill>
                  <a:srgbClr val="8A3A12"/>
                </a:solidFill>
                <a:latin typeface="Calibri" pitchFamily="34" charset="0"/>
                <a:ea typeface="Calibri" pitchFamily="34" charset="-122"/>
                <a:cs typeface="Calibri" pitchFamily="34" charset="-120"/>
              </a:rPr>
              <a:t>WARNING</a:t>
            </a:r>
            <a:endParaRPr lang="en-US" sz="1800" dirty="0"/>
          </a:p>
        </p:txBody>
      </p:sp>
      <p:sp>
        <p:nvSpPr>
          <p:cNvPr id="6" name="Text 4"/>
          <p:cNvSpPr txBox="1"/>
          <p:nvPr/>
        </p:nvSpPr>
        <p:spPr>
          <a:xfrm>
            <a:off x="868680" y="2795960"/>
            <a:ext cx="10454335" cy="2500000"/>
          </a:xfrm>
          <a:prstGeom prst="rect">
            <a:avLst/>
          </a:prstGeom>
          <a:noFill/>
          <a:ln/>
        </p:spPr>
        <p:txBody>
          <a:bodyPr wrap="square" lIns="0" tIns="0" rIns="0" bIns="0" rtlCol="0" anchor="ctr"/>
          <a:lstStyle/>
          <a:p>
            <a:pPr indent="0" marL="0">
              <a:buNone/>
            </a:pPr>
            <a:r>
              <a:rPr lang="en-US" sz="2800" dirty="0">
                <a:solidFill>
                  <a:srgbClr val="26262F"/>
                </a:solidFill>
                <a:latin typeface="Calibri" pitchFamily="34" charset="0"/>
                <a:ea typeface="Calibri" pitchFamily="34" charset="-122"/>
                <a:cs typeface="Calibri" pitchFamily="34" charset="-120"/>
              </a:rPr>
              <a:t>Use a class when a style might apply to more than one element (most of the time). Use an id only for something that truly appears once on the page. Overusing ids makes CSS harder to reuse.</a:t>
            </a:r>
            <a:endParaRPr lang="en-US" sz="28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SELECTORS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Attribute Selector</a:t>
            </a:r>
            <a:endParaRPr lang="en-US" sz="3400" dirty="0"/>
          </a:p>
        </p:txBody>
      </p:sp>
      <p:sp>
        <p:nvSpPr>
          <p:cNvPr id="4" name="Shape 2"/>
          <p:cNvSpPr/>
          <p:nvPr/>
        </p:nvSpPr>
        <p:spPr>
          <a:xfrm>
            <a:off x="640080" y="1965960"/>
            <a:ext cx="10911535" cy="2215515"/>
          </a:xfrm>
          <a:prstGeom prst="roundRect">
            <a:avLst>
              <a:gd name="adj" fmla="val 3302"/>
            </a:avLst>
          </a:prstGeom>
          <a:solidFill>
            <a:srgbClr val="F7F8F9"/>
          </a:solidFill>
          <a:ln w="9525">
            <a:solidFill>
              <a:srgbClr val="D0D5DD"/>
            </a:solidFill>
          </a:ln>
        </p:spPr>
        <p:txBody>
          <a:bodyPr/>
          <a:p/>
        </p:txBody>
      </p:sp>
      <p:sp>
        <p:nvSpPr>
          <p:cNvPr id="5" name="Text 3"/>
          <p:cNvSpPr txBox="1"/>
          <p:nvPr/>
        </p:nvSpPr>
        <p:spPr>
          <a:xfrm>
            <a:off x="960120" y="2194560"/>
            <a:ext cx="10271455" cy="1758315"/>
          </a:xfrm>
          <a:prstGeom prst="rect">
            <a:avLst/>
          </a:prstGeom>
          <a:noFill/>
          <a:ln/>
        </p:spPr>
        <p:txBody>
          <a:bodyPr wrap="square" lIns="0" tIns="0" rIns="0" bIns="0" rtlCol="0" anchor="t"/>
          <a:lstStyle/>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input[type="email"] {</a:t>
            </a:r>
            <a:endParaRPr lang="en-US" sz="1250" dirty="0"/>
          </a:p>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  border: 1px solid gray;</a:t>
            </a:r>
            <a:endParaRPr lang="en-US" sz="1250" dirty="0"/>
          </a:p>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a:t>
            </a:r>
            <a:endParaRPr lang="en-US" sz="1250" dirty="0"/>
          </a:p>
          <a:p>
            <a:pPr indent="0" marL="0">
              <a:lnSpc>
                <a:spcPct val="125000"/>
              </a:lnSpc>
              <a:buNone/>
            </a:pPr>
            <a:endParaRPr lang="en-US" sz="1250" dirty="0"/>
          </a:p>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a[target] {</a:t>
            </a:r>
            <a:endParaRPr lang="en-US" sz="1250" dirty="0"/>
          </a:p>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  color: purple;</a:t>
            </a:r>
            <a:endParaRPr lang="en-US" sz="1250" dirty="0"/>
          </a:p>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a:t>
            </a:r>
            <a:endParaRPr lang="en-US" sz="1250" dirty="0"/>
          </a:p>
        </p:txBody>
      </p:sp>
      <p:sp>
        <p:nvSpPr>
          <p:cNvPr id="6" name="Shape 4"/>
          <p:cNvSpPr/>
          <p:nvPr/>
        </p:nvSpPr>
        <p:spPr>
          <a:xfrm>
            <a:off x="530352" y="4346067"/>
            <a:ext cx="11130991" cy="1981581"/>
          </a:xfrm>
          <a:prstGeom prst="roundRect">
            <a:avLst>
              <a:gd name="adj" fmla="val 2769"/>
            </a:avLst>
          </a:prstGeom>
          <a:solidFill>
            <a:srgbClr val="FFFFFF"/>
          </a:solidFill>
          <a:ln w="12700">
            <a:solidFill>
              <a:srgbClr val="E2E2EE"/>
            </a:solidFill>
            <a:prstDash val="solid"/>
          </a:ln>
          <a:effectLst>
            <a:outerShdw sx="100000" sy="100000" kx="0" ky="0" algn="bl" rotWithShape="0" blurRad="101600" dist="38100" dir="5400000">
              <a:srgbClr val="000000">
                <a:alpha val="12000"/>
              </a:srgbClr>
            </a:outerShdw>
          </a:effectLst>
        </p:spPr>
        <p:txBody>
          <a:bodyPr/>
          <a:p/>
        </p:txBody>
      </p:sp>
      <p:pic>
        <p:nvPicPr>
          <p:cNvPr id="7" name="Image 0" descr="D:/GitHub/mern-web-book/docs/assets/img/lecture-05/attribute-selector.png">    </p:cNvPr>
          <p:cNvPicPr>
            <a:picLocks noChangeAspect="1"/>
          </p:cNvPicPr>
          <p:nvPr/>
        </p:nvPicPr>
        <p:blipFill>
          <a:blip r:embed="rId1"/>
          <a:stretch>
            <a:fillRect/>
          </a:stretch>
        </p:blipFill>
        <p:spPr>
          <a:xfrm>
            <a:off x="3429775" y="4455795"/>
            <a:ext cx="5332144" cy="1762125"/>
          </a:xfrm>
          <a:prstGeom prst="rect">
            <a:avLst/>
          </a:prstGeom>
        </p:spPr>
      </p:pic>
      <p:sp>
        <p:nvSpPr>
          <p:cNvPr id="10"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4"/>
              </a:rPr>
              <a:t>cuinotes.com</a:t>
            </a:r>
            <a:r>
              <a:rPr sz="1000">
                <a:solidFill>
                  <a:srgbClr val="8A939B"/>
                </a:solidFill>
              </a:rPr>
              <a:t>  ·  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SELECTORS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Grouping Selector</a:t>
            </a:r>
            <a:endParaRPr lang="en-US" sz="3400" dirty="0"/>
          </a:p>
        </p:txBody>
      </p:sp>
      <p:sp>
        <p:nvSpPr>
          <p:cNvPr id="4" name="Shape 2"/>
          <p:cNvSpPr/>
          <p:nvPr/>
        </p:nvSpPr>
        <p:spPr>
          <a:xfrm>
            <a:off x="640080" y="1965960"/>
            <a:ext cx="10911535" cy="1501140"/>
          </a:xfrm>
          <a:prstGeom prst="roundRect">
            <a:avLst>
              <a:gd name="adj" fmla="val 4873"/>
            </a:avLst>
          </a:prstGeom>
          <a:solidFill>
            <a:srgbClr val="F7F8F9"/>
          </a:solidFill>
          <a:ln w="9525">
            <a:solidFill>
              <a:srgbClr val="D0D5DD"/>
            </a:solidFill>
          </a:ln>
        </p:spPr>
        <p:txBody>
          <a:bodyPr/>
          <a:p/>
        </p:txBody>
      </p:sp>
      <p:sp>
        <p:nvSpPr>
          <p:cNvPr id="5" name="Text 3"/>
          <p:cNvSpPr txBox="1"/>
          <p:nvPr/>
        </p:nvSpPr>
        <p:spPr>
          <a:xfrm>
            <a:off x="960120" y="2194560"/>
            <a:ext cx="10271455" cy="1043940"/>
          </a:xfrm>
          <a:prstGeom prst="rect">
            <a:avLst/>
          </a:prstGeom>
          <a:noFill/>
          <a:ln/>
        </p:spPr>
        <p:txBody>
          <a:bodyPr wrap="square" lIns="0" tIns="0" rIns="0" bIns="0" rtlCol="0" anchor="t"/>
          <a:lstStyle/>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h1, h2, h3 {</a:t>
            </a:r>
            <a:endParaRPr lang="en-US" sz="1250" dirty="0"/>
          </a:p>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  font-family: Georgia, serif;</a:t>
            </a:r>
            <a:endParaRPr lang="en-US" sz="1250" dirty="0"/>
          </a:p>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  color: darkred;</a:t>
            </a:r>
            <a:endParaRPr lang="en-US" sz="1250" dirty="0"/>
          </a:p>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a:t>
            </a:r>
            <a:endParaRPr lang="en-US" sz="1250" dirty="0"/>
          </a:p>
        </p:txBody>
      </p:sp>
      <p:sp>
        <p:nvSpPr>
          <p:cNvPr id="6" name="Shape 4"/>
          <p:cNvSpPr/>
          <p:nvPr/>
        </p:nvSpPr>
        <p:spPr>
          <a:xfrm>
            <a:off x="530352" y="3631692"/>
            <a:ext cx="11130991" cy="2695956"/>
          </a:xfrm>
          <a:prstGeom prst="roundRect">
            <a:avLst>
              <a:gd name="adj" fmla="val 2035"/>
            </a:avLst>
          </a:prstGeom>
          <a:solidFill>
            <a:srgbClr val="FFFFFF"/>
          </a:solidFill>
          <a:ln w="12700">
            <a:solidFill>
              <a:srgbClr val="E2E2EE"/>
            </a:solidFill>
            <a:prstDash val="solid"/>
          </a:ln>
          <a:effectLst>
            <a:outerShdw sx="100000" sy="100000" kx="0" ky="0" algn="bl" rotWithShape="0" blurRad="101600" dist="38100" dir="5400000">
              <a:srgbClr val="000000">
                <a:alpha val="12000"/>
              </a:srgbClr>
            </a:outerShdw>
          </a:effectLst>
        </p:spPr>
        <p:txBody>
          <a:bodyPr/>
          <a:p/>
        </p:txBody>
      </p:sp>
      <p:pic>
        <p:nvPicPr>
          <p:cNvPr id="7" name="Image 0" descr="D:/GitHub/mern-web-book/docs/assets/img/lecture-05/grouping-selector.png">    </p:cNvPr>
          <p:cNvPicPr>
            <a:picLocks noChangeAspect="1"/>
          </p:cNvPicPr>
          <p:nvPr/>
        </p:nvPicPr>
        <p:blipFill>
          <a:blip r:embed="rId1"/>
          <a:stretch>
            <a:fillRect/>
          </a:stretch>
        </p:blipFill>
        <p:spPr>
          <a:xfrm>
            <a:off x="4050600" y="3741420"/>
            <a:ext cx="4090495" cy="2476500"/>
          </a:xfrm>
          <a:prstGeom prst="rect">
            <a:avLst/>
          </a:prstGeom>
        </p:spPr>
      </p:pic>
      <p:sp>
        <p:nvSpPr>
          <p:cNvPr id="10"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4"/>
              </a:rPr>
              <a:t>cuinotes.com</a:t>
            </a:r>
            <a:r>
              <a:rPr sz="1000">
                <a:solidFill>
                  <a:srgbClr val="8A939B"/>
                </a:solidFill>
              </a:rPr>
              <a:t>  ·  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SELECTORS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Descendant Selector</a:t>
            </a:r>
            <a:endParaRPr lang="en-US" sz="3400" dirty="0"/>
          </a:p>
        </p:txBody>
      </p:sp>
      <p:sp>
        <p:nvSpPr>
          <p:cNvPr id="4" name="Shape 2"/>
          <p:cNvSpPr/>
          <p:nvPr/>
        </p:nvSpPr>
        <p:spPr>
          <a:xfrm>
            <a:off x="640080" y="1965960"/>
            <a:ext cx="10911535" cy="2453640"/>
          </a:xfrm>
          <a:prstGeom prst="roundRect">
            <a:avLst>
              <a:gd name="adj" fmla="val 2981"/>
            </a:avLst>
          </a:prstGeom>
          <a:solidFill>
            <a:srgbClr val="F7F8F9"/>
          </a:solidFill>
          <a:ln w="9525">
            <a:solidFill>
              <a:srgbClr val="D0D5DD"/>
            </a:solidFill>
          </a:ln>
        </p:spPr>
        <p:txBody>
          <a:bodyPr/>
          <a:p/>
        </p:txBody>
      </p:sp>
      <p:sp>
        <p:nvSpPr>
          <p:cNvPr id="5" name="Text 3"/>
          <p:cNvSpPr txBox="1"/>
          <p:nvPr/>
        </p:nvSpPr>
        <p:spPr>
          <a:xfrm>
            <a:off x="960120" y="2194560"/>
            <a:ext cx="10271455" cy="1996440"/>
          </a:xfrm>
          <a:prstGeom prst="rect">
            <a:avLst/>
          </a:prstGeom>
          <a:noFill/>
          <a:ln/>
        </p:spPr>
        <p:txBody>
          <a:bodyPr wrap="square" lIns="0" tIns="0" rIns="0" bIns="0" rtlCol="0" anchor="t"/>
          <a:lstStyle/>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article p {</a:t>
            </a:r>
            <a:endParaRPr lang="en-US" sz="1250" dirty="0"/>
          </a:p>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  color: #333;</a:t>
            </a:r>
            <a:endParaRPr lang="en-US" sz="1250" dirty="0"/>
          </a:p>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a:t>
            </a:r>
            <a:endParaRPr lang="en-US" sz="1250" dirty="0"/>
          </a:p>
          <a:p>
            <a:pPr indent="0" marL="0">
              <a:lnSpc>
                <a:spcPct val="125000"/>
              </a:lnSpc>
              <a:buNone/>
            </a:pPr>
            <a:endParaRPr lang="en-US" sz="1250" dirty="0"/>
          </a:p>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&lt;article&gt;</a:t>
            </a:r>
            <a:endParaRPr lang="en-US" sz="1250" dirty="0"/>
          </a:p>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  &lt;p&gt;This paragraph IS styled (inside article).&lt;/p&gt;</a:t>
            </a:r>
            <a:endParaRPr lang="en-US" sz="1250" dirty="0"/>
          </a:p>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&lt;/article&gt;</a:t>
            </a:r>
            <a:endParaRPr lang="en-US" sz="1250" dirty="0"/>
          </a:p>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&lt;p&gt;This paragraph is NOT styled (outside article).&lt;/p&gt;</a:t>
            </a:r>
            <a:endParaRPr lang="en-US" sz="1250" dirty="0"/>
          </a:p>
        </p:txBody>
      </p:sp>
      <p:sp>
        <p:nvSpPr>
          <p:cNvPr id="6" name="Shape 4"/>
          <p:cNvSpPr/>
          <p:nvPr/>
        </p:nvSpPr>
        <p:spPr>
          <a:xfrm>
            <a:off x="530352" y="4584192"/>
            <a:ext cx="11130991" cy="1743456"/>
          </a:xfrm>
          <a:prstGeom prst="roundRect">
            <a:avLst>
              <a:gd name="adj" fmla="val 3147"/>
            </a:avLst>
          </a:prstGeom>
          <a:solidFill>
            <a:srgbClr val="FFFFFF"/>
          </a:solidFill>
          <a:ln w="12700">
            <a:solidFill>
              <a:srgbClr val="E2E2EE"/>
            </a:solidFill>
            <a:prstDash val="solid"/>
          </a:ln>
          <a:effectLst>
            <a:outerShdw sx="100000" sy="100000" kx="0" ky="0" algn="bl" rotWithShape="0" blurRad="101600" dist="38100" dir="5400000">
              <a:srgbClr val="000000">
                <a:alpha val="12000"/>
              </a:srgbClr>
            </a:outerShdw>
          </a:effectLst>
        </p:spPr>
        <p:txBody>
          <a:bodyPr/>
          <a:p/>
        </p:txBody>
      </p:sp>
      <p:pic>
        <p:nvPicPr>
          <p:cNvPr id="7" name="Image 0" descr="D:/GitHub/mern-web-book/docs/assets/img/lecture-05/descendant-selector.png">    </p:cNvPr>
          <p:cNvPicPr>
            <a:picLocks noChangeAspect="1"/>
          </p:cNvPicPr>
          <p:nvPr/>
        </p:nvPicPr>
        <p:blipFill>
          <a:blip r:embed="rId1"/>
          <a:stretch>
            <a:fillRect/>
          </a:stretch>
        </p:blipFill>
        <p:spPr>
          <a:xfrm>
            <a:off x="2207560" y="4693920"/>
            <a:ext cx="7776575" cy="1524000"/>
          </a:xfrm>
          <a:prstGeom prst="rect">
            <a:avLst/>
          </a:prstGeom>
        </p:spPr>
      </p:pic>
      <p:sp>
        <p:nvSpPr>
          <p:cNvPr id="10"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4"/>
              </a:rPr>
              <a:t>cuinotes.com</a:t>
            </a:r>
            <a:r>
              <a:rPr sz="1000">
                <a:solidFill>
                  <a:srgbClr val="8A939B"/>
                </a:solidFill>
              </a:rPr>
              <a:t>  ·  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SELECTORS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The Universal Selector</a:t>
            </a:r>
            <a:endParaRPr lang="en-US" sz="3400" dirty="0"/>
          </a:p>
        </p:txBody>
      </p:sp>
      <p:sp>
        <p:nvSpPr>
          <p:cNvPr id="4" name="Shape 2"/>
          <p:cNvSpPr/>
          <p:nvPr/>
        </p:nvSpPr>
        <p:spPr>
          <a:xfrm>
            <a:off x="640080" y="1965960"/>
            <a:ext cx="10911535" cy="1882140"/>
          </a:xfrm>
          <a:prstGeom prst="roundRect">
            <a:avLst>
              <a:gd name="adj" fmla="val 3887"/>
            </a:avLst>
          </a:prstGeom>
          <a:solidFill>
            <a:srgbClr val="F7F8F9"/>
          </a:solidFill>
          <a:ln w="9525">
            <a:solidFill>
              <a:srgbClr val="D0D5DD"/>
            </a:solidFill>
          </a:ln>
        </p:spPr>
        <p:txBody>
          <a:bodyPr/>
          <a:p/>
        </p:txBody>
      </p:sp>
      <p:sp>
        <p:nvSpPr>
          <p:cNvPr id="5" name="Text 3"/>
          <p:cNvSpPr txBox="1"/>
          <p:nvPr/>
        </p:nvSpPr>
        <p:spPr>
          <a:xfrm>
            <a:off x="960120" y="2194560"/>
            <a:ext cx="10271455" cy="1424940"/>
          </a:xfrm>
          <a:prstGeom prst="rect">
            <a:avLst/>
          </a:prstGeom>
          <a:noFill/>
          <a:ln/>
        </p:spPr>
        <p:txBody>
          <a:bodyPr wrap="square" lIns="0" tIns="0" rIns="0" bIns="0" rtlCol="0" anchor="t"/>
          <a:lstStyle/>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margin: 0;</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padding: 0;</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box-sizing: border-box;</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a:t>
            </a:r>
            <a:endParaRPr lang="en-US" sz="1400" dirty="0"/>
          </a:p>
        </p:txBody>
      </p:sp>
      <p:sp>
        <p:nvSpPr>
          <p:cNvPr id="6" name="Text 4"/>
          <p:cNvSpPr txBox="1"/>
          <p:nvPr/>
        </p:nvSpPr>
        <p:spPr>
          <a:xfrm>
            <a:off x="640080" y="4076700"/>
            <a:ext cx="10911535" cy="2186940"/>
          </a:xfrm>
          <a:prstGeom prst="rect">
            <a:avLst/>
          </a:prstGeom>
          <a:noFill/>
          <a:ln/>
        </p:spPr>
        <p:txBody>
          <a:bodyPr wrap="square" lIns="0" tIns="0" rIns="0" bIns="0" rtlCol="0" anchor="t"/>
          <a:lstStyle/>
          <a:p>
            <a:pPr indent="0" marL="0">
              <a:buNone/>
            </a:pPr>
            <a:r>
              <a:rPr lang="en-US" sz="1300" dirty="0">
                <a:solidFill>
                  <a:srgbClr val="26262F"/>
                </a:solidFill>
                <a:latin typeface="Calibri" pitchFamily="34" charset="0"/>
                <a:ea typeface="Calibri" pitchFamily="34" charset="-122"/>
                <a:cs typeface="Calibri" pitchFamily="34" charset="-120"/>
              </a:rPr>
              <a:t>* matches every single element on the page — most commonly seen in a "CSS reset" at the very top of a stylesheet.</a:t>
            </a:r>
            <a:endParaRPr lang="en-US" sz="13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SELECTORS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Combinators: Child and Sibling</a:t>
            </a:r>
            <a:endParaRPr lang="en-US" sz="3400" dirty="0"/>
          </a:p>
        </p:txBody>
      </p:sp>
      <p:sp>
        <p:nvSpPr>
          <p:cNvPr id="4" name="Shape 2"/>
          <p:cNvSpPr/>
          <p:nvPr/>
        </p:nvSpPr>
        <p:spPr>
          <a:xfrm>
            <a:off x="640080" y="2501265"/>
            <a:ext cx="5272888" cy="3272790"/>
          </a:xfrm>
          <a:prstGeom prst="roundRect">
            <a:avLst>
              <a:gd name="adj" fmla="val 2235"/>
            </a:avLst>
          </a:prstGeom>
          <a:solidFill>
            <a:srgbClr val="F7F8F9"/>
          </a:solidFill>
          <a:ln w="9525">
            <a:solidFill>
              <a:srgbClr val="D0D5DD"/>
            </a:solidFill>
          </a:ln>
        </p:spPr>
        <p:txBody>
          <a:bodyPr/>
          <a:p/>
        </p:txBody>
      </p:sp>
      <p:sp>
        <p:nvSpPr>
          <p:cNvPr id="5" name="Text 3"/>
          <p:cNvSpPr txBox="1"/>
          <p:nvPr/>
        </p:nvSpPr>
        <p:spPr>
          <a:xfrm>
            <a:off x="960120" y="2729865"/>
            <a:ext cx="4632808" cy="2815590"/>
          </a:xfrm>
          <a:prstGeom prst="rect">
            <a:avLst/>
          </a:prstGeom>
          <a:noFill/>
          <a:ln/>
        </p:spPr>
        <p:txBody>
          <a:bodyPr wrap="square" lIns="0" tIns="0" rIns="0" bIns="0" rtlCol="0" anchor="t"/>
          <a:lstStyle/>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nav &gt; a { color: navy; font-weight: bold; }</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h2 + p  { font-weight: bold; }</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h2 ~ p  { color: gray; }</a:t>
            </a:r>
            <a:endParaRPr lang="en-US" sz="1300" dirty="0"/>
          </a:p>
          <a:p>
            <a:pPr indent="0" marL="0">
              <a:lnSpc>
                <a:spcPct val="125000"/>
              </a:lnSpc>
              <a:buNone/>
            </a:pP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&lt;nav&gt;</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&lt;a&gt;Direct link&lt;/a&gt;</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&lt;div&gt;&lt;a&gt;Grandchild link&lt;/a&gt;&lt;/div&gt;</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&lt;/nav&gt;</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&lt;h2&gt;A Heading&lt;/h2&gt;</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&lt;p&gt;Immediately after&lt;/p&gt;</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&lt;p&gt;Further down&lt;/p&gt;</a:t>
            </a:r>
            <a:endParaRPr lang="en-US" sz="1300" dirty="0"/>
          </a:p>
        </p:txBody>
      </p:sp>
      <p:sp>
        <p:nvSpPr>
          <p:cNvPr id="6" name="Shape 4"/>
          <p:cNvSpPr/>
          <p:nvPr/>
        </p:nvSpPr>
        <p:spPr>
          <a:xfrm>
            <a:off x="6169000" y="1947672"/>
            <a:ext cx="5492344" cy="4379976"/>
          </a:xfrm>
          <a:prstGeom prst="roundRect">
            <a:avLst>
              <a:gd name="adj" fmla="val 1253"/>
            </a:avLst>
          </a:prstGeom>
          <a:solidFill>
            <a:srgbClr val="FFFFFF"/>
          </a:solidFill>
          <a:ln w="12700">
            <a:solidFill>
              <a:srgbClr val="E2E2EE"/>
            </a:solidFill>
            <a:prstDash val="solid"/>
          </a:ln>
          <a:effectLst>
            <a:outerShdw sx="100000" sy="100000" kx="0" ky="0" algn="bl" rotWithShape="0" blurRad="101600" dist="38100" dir="5400000">
              <a:srgbClr val="000000">
                <a:alpha val="12000"/>
              </a:srgbClr>
            </a:outerShdw>
          </a:effectLst>
        </p:spPr>
        <p:txBody>
          <a:bodyPr/>
          <a:p/>
        </p:txBody>
      </p:sp>
      <p:pic>
        <p:nvPicPr>
          <p:cNvPr id="7" name="Image 0" descr="D:/GitHub/mern-web-book/docs/assets/img/lecture-05/combinators-demo.png">    </p:cNvPr>
          <p:cNvPicPr>
            <a:picLocks noChangeAspect="1"/>
          </p:cNvPicPr>
          <p:nvPr/>
        </p:nvPicPr>
        <p:blipFill>
          <a:blip r:embed="rId1"/>
          <a:stretch>
            <a:fillRect/>
          </a:stretch>
        </p:blipFill>
        <p:spPr>
          <a:xfrm>
            <a:off x="6278728" y="3194381"/>
            <a:ext cx="5272888" cy="1886557"/>
          </a:xfrm>
          <a:prstGeom prst="rect">
            <a:avLst/>
          </a:prstGeom>
        </p:spPr>
      </p:pic>
      <p:sp>
        <p:nvSpPr>
          <p:cNvPr id="10"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4"/>
              </a:rPr>
              <a:t>cuinotes.com</a:t>
            </a:r>
            <a:r>
              <a:rPr sz="1000">
                <a:solidFill>
                  <a:srgbClr val="8A939B"/>
                </a:solidFill>
              </a:rPr>
              <a:t>  ·  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STATES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Common Pseudo-Classes</a:t>
            </a:r>
            <a:endParaRPr lang="en-US" sz="3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10911535" cy="914400"/>
        </p:xfrm>
        <a:graphic>
          <a:graphicData uri="http://schemas.openxmlformats.org/drawingml/2006/table">
            <a:tbl>
              <a:tblPr/>
              <a:tblGrid>
                <a:gridCol w="3108960"/>
                <a:gridCol w="7863840"/>
              </a:tblGrid>
              <a:tr h="566928">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Pseudo-class</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2B2B7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Matches</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2B2B7A"/>
                    </a:solidFill>
                  </a:tcPr>
                </a:tc>
              </a:tr>
              <a:tr h="566928">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:hover / :focus</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Mouse over the element / the element is focused</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566928">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:active</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While the element is being clicked</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566928">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:first-child / :last-child</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First / last child of its parent</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566928">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:nth-child(n)</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The nth child of its parent</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566928">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:not(selector)</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Elements that do NOT match the given selector</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bl>
          </a:graphicData>
        </a:graphic>
      </p:graphicFrame>
      <p:sp>
        <p:nvSpPr>
          <p:cNvPr id="1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STATES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Pseudo-Classes, Rendered</a:t>
            </a:r>
            <a:endParaRPr lang="en-US" sz="3400" dirty="0"/>
          </a:p>
        </p:txBody>
      </p:sp>
      <p:sp>
        <p:nvSpPr>
          <p:cNvPr id="4" name="Text 2"/>
          <p:cNvSpPr txBox="1"/>
          <p:nvPr/>
        </p:nvSpPr>
        <p:spPr>
          <a:xfrm>
            <a:off x="640080" y="1691640"/>
            <a:ext cx="10911535" cy="411480"/>
          </a:xfrm>
          <a:prstGeom prst="rect">
            <a:avLst/>
          </a:prstGeom>
          <a:noFill/>
          <a:ln/>
        </p:spPr>
        <p:txBody>
          <a:bodyPr wrap="square" lIns="0" tIns="0" rIns="0" bIns="0" rtlCol="0" anchor="ctr"/>
          <a:lstStyle/>
          <a:p>
            <a:pPr indent="0" marL="0">
              <a:buNone/>
            </a:pPr>
            <a:r>
              <a:rPr lang="en-US" sz="1350" i="1" dirty="0">
                <a:solidFill>
                  <a:srgbClr val="5D5D72"/>
                </a:solidFill>
                <a:latin typeface="Calibri" pitchFamily="34" charset="0"/>
                <a:ea typeface="Calibri" pitchFamily="34" charset="-122"/>
                <a:cs typeface="Calibri" pitchFamily="34" charset="-120"/>
              </a:rPr>
              <a:t>li:first-child and button:disabled are states the browser can render up front.</a:t>
            </a:r>
            <a:endParaRPr lang="en-US" sz="1350" dirty="0"/>
          </a:p>
        </p:txBody>
      </p:sp>
      <p:sp>
        <p:nvSpPr>
          <p:cNvPr id="5" name="Shape 3"/>
          <p:cNvSpPr/>
          <p:nvPr/>
        </p:nvSpPr>
        <p:spPr>
          <a:xfrm>
            <a:off x="640080" y="3133725"/>
            <a:ext cx="5272888" cy="2282190"/>
          </a:xfrm>
          <a:prstGeom prst="roundRect">
            <a:avLst>
              <a:gd name="adj" fmla="val 3205"/>
            </a:avLst>
          </a:prstGeom>
          <a:solidFill>
            <a:srgbClr val="F7F8F9"/>
          </a:solidFill>
          <a:ln w="9525">
            <a:solidFill>
              <a:srgbClr val="D0D5DD"/>
            </a:solidFill>
          </a:ln>
        </p:spPr>
        <p:txBody>
          <a:bodyPr/>
          <a:p/>
        </p:txBody>
      </p:sp>
      <p:sp>
        <p:nvSpPr>
          <p:cNvPr id="6" name="Text 4"/>
          <p:cNvSpPr txBox="1"/>
          <p:nvPr/>
        </p:nvSpPr>
        <p:spPr>
          <a:xfrm>
            <a:off x="960120" y="3362325"/>
            <a:ext cx="4632808" cy="1824990"/>
          </a:xfrm>
          <a:prstGeom prst="rect">
            <a:avLst/>
          </a:prstGeom>
          <a:noFill/>
          <a:ln/>
        </p:spPr>
        <p:txBody>
          <a:bodyPr wrap="square" lIns="0" tIns="0" rIns="0" bIns="0" rtlCol="0" anchor="t"/>
          <a:lstStyle/>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li:first-child {</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font-weight: bold;</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a:t>
            </a:r>
            <a:endParaRPr lang="en-US" sz="1300" dirty="0"/>
          </a:p>
          <a:p>
            <a:pPr indent="0" marL="0">
              <a:lnSpc>
                <a:spcPct val="125000"/>
              </a:lnSpc>
              <a:buNone/>
            </a:pP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button:disabled {</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opacity: 0.5;</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a:t>
            </a:r>
            <a:endParaRPr lang="en-US" sz="1300" dirty="0"/>
          </a:p>
        </p:txBody>
      </p:sp>
      <p:sp>
        <p:nvSpPr>
          <p:cNvPr id="7" name="Shape 5"/>
          <p:cNvSpPr/>
          <p:nvPr/>
        </p:nvSpPr>
        <p:spPr>
          <a:xfrm>
            <a:off x="6169000" y="2221992"/>
            <a:ext cx="5492344" cy="4105656"/>
          </a:xfrm>
          <a:prstGeom prst="roundRect">
            <a:avLst>
              <a:gd name="adj" fmla="val 1336"/>
            </a:avLst>
          </a:prstGeom>
          <a:solidFill>
            <a:srgbClr val="FFFFFF"/>
          </a:solidFill>
          <a:ln w="12700">
            <a:solidFill>
              <a:srgbClr val="E2E2EE"/>
            </a:solidFill>
            <a:prstDash val="solid"/>
          </a:ln>
          <a:effectLst>
            <a:outerShdw sx="100000" sy="100000" kx="0" ky="0" algn="bl" rotWithShape="0" blurRad="101600" dist="38100" dir="5400000">
              <a:srgbClr val="000000">
                <a:alpha val="12000"/>
              </a:srgbClr>
            </a:outerShdw>
          </a:effectLst>
        </p:spPr>
        <p:txBody>
          <a:bodyPr/>
          <a:p/>
        </p:txBody>
      </p:sp>
      <p:pic>
        <p:nvPicPr>
          <p:cNvPr id="8" name="Image 0" descr="D:/GitHub/mern-web-book/docs/assets/img/lecture-05/pseudo-class-demo.png">    </p:cNvPr>
          <p:cNvPicPr>
            <a:picLocks noChangeAspect="1"/>
          </p:cNvPicPr>
          <p:nvPr/>
        </p:nvPicPr>
        <p:blipFill>
          <a:blip r:embed="rId1"/>
          <a:stretch>
            <a:fillRect/>
          </a:stretch>
        </p:blipFill>
        <p:spPr>
          <a:xfrm>
            <a:off x="6591071" y="2537460"/>
            <a:ext cx="4648200" cy="3474720"/>
          </a:xfrm>
          <a:prstGeom prst="rect">
            <a:avLst/>
          </a:prstGeom>
        </p:spPr>
      </p:pic>
      <p:sp>
        <p:nvSpPr>
          <p:cNvPr id="11"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4"/>
              </a:rPr>
              <a:t>cuinotes.com</a:t>
            </a:r>
            <a:r>
              <a:rPr sz="1000">
                <a:solidFill>
                  <a:srgbClr val="8A939B"/>
                </a:solidFill>
              </a:rPr>
              <a:t>  ·  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PARTS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Pseudo-Elements</a:t>
            </a:r>
            <a:endParaRPr lang="en-US" sz="3400" dirty="0"/>
          </a:p>
        </p:txBody>
      </p:sp>
      <p:sp>
        <p:nvSpPr>
          <p:cNvPr id="4" name="Shape 2"/>
          <p:cNvSpPr/>
          <p:nvPr/>
        </p:nvSpPr>
        <p:spPr>
          <a:xfrm>
            <a:off x="640080" y="1965960"/>
            <a:ext cx="10911535" cy="1615440"/>
          </a:xfrm>
          <a:prstGeom prst="roundRect">
            <a:avLst>
              <a:gd name="adj" fmla="val 4528"/>
            </a:avLst>
          </a:prstGeom>
          <a:solidFill>
            <a:srgbClr val="F7F8F9"/>
          </a:solidFill>
          <a:ln w="9525">
            <a:solidFill>
              <a:srgbClr val="D0D5DD"/>
            </a:solidFill>
          </a:ln>
        </p:spPr>
        <p:txBody>
          <a:bodyPr/>
          <a:p/>
        </p:txBody>
      </p:sp>
      <p:sp>
        <p:nvSpPr>
          <p:cNvPr id="5" name="Text 3"/>
          <p:cNvSpPr txBox="1"/>
          <p:nvPr/>
        </p:nvSpPr>
        <p:spPr>
          <a:xfrm>
            <a:off x="960120" y="2194560"/>
            <a:ext cx="10271455" cy="1158240"/>
          </a:xfrm>
          <a:prstGeom prst="rect">
            <a:avLst/>
          </a:prstGeom>
          <a:noFill/>
          <a:ln/>
        </p:spPr>
        <p:txBody>
          <a:bodyPr wrap="square" lIns="0" tIns="0" rIns="0" bIns="0" rtlCol="0" anchor="t"/>
          <a:lstStyle/>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p::first-line { font-weight: bold; }</a:t>
            </a:r>
            <a:endParaRPr lang="en-US" sz="1400" dirty="0"/>
          </a:p>
          <a:p>
            <a:pPr indent="0" marL="0">
              <a:lnSpc>
                <a:spcPct val="125000"/>
              </a:lnSpc>
              <a:buNone/>
            </a:pP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.quote::before { content: "\201C";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.quote::after  { content: "\201D"; }</a:t>
            </a:r>
            <a:endParaRPr lang="en-US" sz="1400" dirty="0"/>
          </a:p>
        </p:txBody>
      </p:sp>
      <p:sp>
        <p:nvSpPr>
          <p:cNvPr id="6" name="Text 4"/>
          <p:cNvSpPr txBox="1"/>
          <p:nvPr/>
        </p:nvSpPr>
        <p:spPr>
          <a:xfrm>
            <a:off x="640080" y="3810000"/>
            <a:ext cx="10911535" cy="2453640"/>
          </a:xfrm>
          <a:prstGeom prst="rect">
            <a:avLst/>
          </a:prstGeom>
          <a:noFill/>
          <a:ln/>
        </p:spPr>
        <p:txBody>
          <a:bodyPr wrap="square" lIns="0" tIns="0" rIns="0" bIns="0" rtlCol="0" anchor="t"/>
          <a:lstStyle/>
          <a:p>
            <a:pPr indent="0" marL="0">
              <a:buNone/>
            </a:pPr>
            <a:r>
              <a:rPr lang="en-US" sz="1300" dirty="0">
                <a:solidFill>
                  <a:srgbClr val="26262F"/>
                </a:solidFill>
                <a:latin typeface="Calibri" pitchFamily="34" charset="0"/>
                <a:ea typeface="Calibri" pitchFamily="34" charset="-122"/>
                <a:cs typeface="Calibri" pitchFamily="34" charset="-120"/>
              </a:rPr>
              <a:t>::before and ::after insert content that is not in the HTML at all — purely for decoration.</a:t>
            </a:r>
            <a:endParaRPr lang="en-US" sz="13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PARTS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Pseudo-Elements, Rendered</a:t>
            </a:r>
            <a:endParaRPr lang="en-US" sz="3400" dirty="0"/>
          </a:p>
        </p:txBody>
      </p:sp>
      <p:sp>
        <p:nvSpPr>
          <p:cNvPr id="4" name="Shape 2"/>
          <p:cNvSpPr/>
          <p:nvPr/>
        </p:nvSpPr>
        <p:spPr>
          <a:xfrm>
            <a:off x="530352" y="1947672"/>
            <a:ext cx="11130991" cy="4334256"/>
          </a:xfrm>
          <a:prstGeom prst="roundRect">
            <a:avLst>
              <a:gd name="adj" fmla="val 1266"/>
            </a:avLst>
          </a:prstGeom>
          <a:solidFill>
            <a:srgbClr val="FFFFFF"/>
          </a:solidFill>
          <a:ln w="12700">
            <a:solidFill>
              <a:srgbClr val="E2E2EE"/>
            </a:solidFill>
            <a:prstDash val="solid"/>
          </a:ln>
          <a:effectLst>
            <a:outerShdw sx="100000" sy="100000" kx="0" ky="0" algn="bl" rotWithShape="0" blurRad="101600" dist="38100" dir="5400000">
              <a:srgbClr val="000000">
                <a:alpha val="12000"/>
              </a:srgbClr>
            </a:outerShdw>
          </a:effectLst>
        </p:spPr>
        <p:txBody>
          <a:bodyPr/>
          <a:p/>
        </p:txBody>
      </p:sp>
      <p:pic>
        <p:nvPicPr>
          <p:cNvPr id="5" name="Image 0" descr="D:/GitHub/mern-web-book/docs/assets/img/lecture-05/pseudo-element-demo.png">    </p:cNvPr>
          <p:cNvPicPr>
            <a:picLocks noChangeAspect="1"/>
          </p:cNvPicPr>
          <p:nvPr/>
        </p:nvPicPr>
        <p:blipFill>
          <a:blip r:embed="rId1"/>
          <a:stretch>
            <a:fillRect/>
          </a:stretch>
        </p:blipFill>
        <p:spPr>
          <a:xfrm>
            <a:off x="640080" y="2519655"/>
            <a:ext cx="10911535" cy="3190290"/>
          </a:xfrm>
          <a:prstGeom prst="rect">
            <a:avLst/>
          </a:prstGeom>
        </p:spPr>
      </p:pic>
      <p:sp>
        <p:nvSpPr>
          <p:cNvPr id="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4"/>
              </a:rPr>
              <a:t>cuinotes.com</a:t>
            </a:r>
            <a:r>
              <a:rPr sz="1000">
                <a:solidFill>
                  <a:srgbClr val="8A939B"/>
                </a:solidFill>
              </a:rPr>
              <a:t>  ·  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THE CASCADE</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Specificity, From Lowest to Highest</a:t>
            </a:r>
            <a:endParaRPr lang="en-US" sz="34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10911535" cy="914400"/>
        </p:xfrm>
        <a:graphic>
          <a:graphicData uri="http://schemas.openxmlformats.org/drawingml/2006/table">
            <a:tbl>
              <a:tblPr/>
              <a:tblGrid>
                <a:gridCol w="4114800"/>
                <a:gridCol w="6858000"/>
              </a:tblGrid>
              <a:tr h="566928">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Selector Type</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2B2B7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Example</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2B2B7A"/>
                    </a:solidFill>
                  </a:tcPr>
                </a:tc>
              </a:tr>
              <a:tr h="566928">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Element / pseudo-element</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p, ::before</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566928">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Class / attribute / pseudo-class</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.highlight, [type="text"], :hover</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566928">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ID</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#main-header</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566928">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Inline style</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style="..."</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566928">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!important</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Overrides everything else</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bl>
          </a:graphicData>
        </a:graphic>
      </p:graphicFrame>
      <p:sp>
        <p:nvSpPr>
          <p:cNvPr id="23"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THE CASCADE</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Specificity Decides the Winner</a:t>
            </a:r>
            <a:endParaRPr lang="en-US" sz="3400" dirty="0"/>
          </a:p>
        </p:txBody>
      </p:sp>
      <p:sp>
        <p:nvSpPr>
          <p:cNvPr id="4" name="Shape 2"/>
          <p:cNvSpPr/>
          <p:nvPr/>
        </p:nvSpPr>
        <p:spPr>
          <a:xfrm>
            <a:off x="640080" y="1965960"/>
            <a:ext cx="10911535" cy="1739265"/>
          </a:xfrm>
          <a:prstGeom prst="roundRect">
            <a:avLst>
              <a:gd name="adj" fmla="val 4206"/>
            </a:avLst>
          </a:prstGeom>
          <a:solidFill>
            <a:srgbClr val="F7F8F9"/>
          </a:solidFill>
          <a:ln w="9525">
            <a:solidFill>
              <a:srgbClr val="D0D5DD"/>
            </a:solidFill>
          </a:ln>
        </p:spPr>
        <p:txBody>
          <a:bodyPr/>
          <a:p/>
        </p:txBody>
      </p:sp>
      <p:sp>
        <p:nvSpPr>
          <p:cNvPr id="5" name="Text 3"/>
          <p:cNvSpPr txBox="1"/>
          <p:nvPr/>
        </p:nvSpPr>
        <p:spPr>
          <a:xfrm>
            <a:off x="960120" y="2194560"/>
            <a:ext cx="10271455" cy="1282065"/>
          </a:xfrm>
          <a:prstGeom prst="rect">
            <a:avLst/>
          </a:prstGeom>
          <a:noFill/>
          <a:ln/>
        </p:spPr>
        <p:txBody>
          <a:bodyPr wrap="square" lIns="0" tIns="0" rIns="0" bIns="0" rtlCol="0" anchor="t"/>
          <a:lstStyle/>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p { color: black; }              /* low specificity */</a:t>
            </a:r>
            <a:endParaRPr lang="en-US" sz="1250" dirty="0"/>
          </a:p>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.intro { color: green; }         /* medium          */</a:t>
            </a:r>
            <a:endParaRPr lang="en-US" sz="1250" dirty="0"/>
          </a:p>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#lead-paragraph { color: blue; } /* high            */</a:t>
            </a:r>
            <a:endParaRPr lang="en-US" sz="1250" dirty="0"/>
          </a:p>
          <a:p>
            <a:pPr indent="0" marL="0">
              <a:lnSpc>
                <a:spcPct val="125000"/>
              </a:lnSpc>
              <a:buNone/>
            </a:pPr>
            <a:endParaRPr lang="en-US" sz="1250" dirty="0"/>
          </a:p>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&lt;p id="lead-paragraph" class="intro"&gt;What colour am I?&lt;/p&gt;</a:t>
            </a:r>
            <a:endParaRPr lang="en-US" sz="1250" dirty="0"/>
          </a:p>
        </p:txBody>
      </p:sp>
      <p:sp>
        <p:nvSpPr>
          <p:cNvPr id="6" name="Shape 4"/>
          <p:cNvSpPr/>
          <p:nvPr/>
        </p:nvSpPr>
        <p:spPr>
          <a:xfrm>
            <a:off x="530352" y="3869817"/>
            <a:ext cx="11130991" cy="2457831"/>
          </a:xfrm>
          <a:prstGeom prst="roundRect">
            <a:avLst>
              <a:gd name="adj" fmla="val 2232"/>
            </a:avLst>
          </a:prstGeom>
          <a:solidFill>
            <a:srgbClr val="FFFFFF"/>
          </a:solidFill>
          <a:ln w="12700">
            <a:solidFill>
              <a:srgbClr val="E2E2EE"/>
            </a:solidFill>
            <a:prstDash val="solid"/>
          </a:ln>
          <a:effectLst>
            <a:outerShdw sx="100000" sy="100000" kx="0" ky="0" algn="bl" rotWithShape="0" blurRad="101600" dist="38100" dir="5400000">
              <a:srgbClr val="000000">
                <a:alpha val="12000"/>
              </a:srgbClr>
            </a:outerShdw>
          </a:effectLst>
        </p:spPr>
        <p:txBody>
          <a:bodyPr/>
          <a:p/>
        </p:txBody>
      </p:sp>
      <p:pic>
        <p:nvPicPr>
          <p:cNvPr id="7" name="Image 0" descr="D:/GitHub/mern-web-book/docs/assets/img/lecture-05/specificity-demo.png">    </p:cNvPr>
          <p:cNvPicPr>
            <a:picLocks noChangeAspect="1"/>
          </p:cNvPicPr>
          <p:nvPr/>
        </p:nvPicPr>
        <p:blipFill>
          <a:blip r:embed="rId1"/>
          <a:stretch>
            <a:fillRect/>
          </a:stretch>
        </p:blipFill>
        <p:spPr>
          <a:xfrm>
            <a:off x="3756508" y="4557713"/>
            <a:ext cx="4678680" cy="1082040"/>
          </a:xfrm>
          <a:prstGeom prst="rect">
            <a:avLst/>
          </a:prstGeom>
        </p:spPr>
      </p:pic>
      <p:sp>
        <p:nvSpPr>
          <p:cNvPr id="10"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4"/>
              </a:rPr>
              <a:t>cuinotes.com</a:t>
            </a:r>
            <a:r>
              <a:rPr sz="1000">
                <a:solidFill>
                  <a:srgbClr val="8A939B"/>
                </a:solidFill>
              </a:rPr>
              <a:t>  ·  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EVERY CONFLICT CASE</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How the Browser Resolves Conflicts</a:t>
            </a:r>
            <a:endParaRPr lang="en-US" sz="34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10911535" cy="914400"/>
        </p:xfrm>
        <a:graphic>
          <a:graphicData uri="http://schemas.openxmlformats.org/drawingml/2006/table">
            <a:tbl>
              <a:tblPr/>
              <a:tblGrid>
                <a:gridCol w="4389120"/>
                <a:gridCol w="6583680"/>
              </a:tblGrid>
              <a:tr h="713232">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Case</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2B2B7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The Winner</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2B2B7A"/>
                    </a:solidFill>
                  </a:tcPr>
                </a:tc>
              </a:tr>
              <a:tr h="713232">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1. Different specificity</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The more specific rule, regardless of order</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713232">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2. Equal specificity</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The rule written LATER in the source</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713232">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3. One rule is !important</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The !important rule, regardless of specificity</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713232">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4. Both rules !important</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Falls back to specificity, then order</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713232">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5. Inline style vs. stylesheet</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The inline style — unless the stylesheet rule is !important</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bl>
          </a:graphicData>
        </a:graphic>
      </p:graphicFrame>
      <p:sp>
        <p:nvSpPr>
          <p:cNvPr id="25"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EVERY CONFLICT CASE</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The Resolution Flowchart</a:t>
            </a:r>
            <a:endParaRPr lang="en-US" sz="3400" dirty="0"/>
          </a:p>
        </p:txBody>
      </p:sp>
      <p:sp>
        <p:nvSpPr>
          <p:cNvPr id="4" name="Shape 2"/>
          <p:cNvSpPr/>
          <p:nvPr/>
        </p:nvSpPr>
        <p:spPr>
          <a:xfrm>
            <a:off x="6080760" y="2651760"/>
            <a:ext cx="9144" cy="228600"/>
          </a:xfrm>
          <a:prstGeom prst="line">
            <a:avLst/>
          </a:prstGeom>
          <a:noFill/>
          <a:ln w="25400">
            <a:solidFill>
              <a:srgbClr val="5D5D72"/>
            </a:solidFill>
            <a:prstDash val="solid"/>
            <a:tailEnd type="triangle"/>
          </a:ln>
        </p:spPr>
        <p:txBody>
          <a:bodyPr/>
          <a:p/>
        </p:txBody>
      </p:sp>
      <p:sp>
        <p:nvSpPr>
          <p:cNvPr id="5" name="Shape 3"/>
          <p:cNvSpPr/>
          <p:nvPr/>
        </p:nvSpPr>
        <p:spPr>
          <a:xfrm flipH="1">
            <a:off x="2286000" y="3429000"/>
            <a:ext cx="2468880" cy="731520"/>
          </a:xfrm>
          <a:prstGeom prst="line">
            <a:avLst/>
          </a:prstGeom>
          <a:noFill/>
          <a:ln w="25400">
            <a:solidFill>
              <a:srgbClr val="5D5D72"/>
            </a:solidFill>
            <a:prstDash val="solid"/>
            <a:tailEnd type="triangle"/>
          </a:ln>
        </p:spPr>
        <p:txBody>
          <a:bodyPr/>
          <a:p/>
        </p:txBody>
      </p:sp>
      <p:sp>
        <p:nvSpPr>
          <p:cNvPr id="6" name="Text 4"/>
          <p:cNvSpPr txBox="1"/>
          <p:nvPr/>
        </p:nvSpPr>
        <p:spPr>
          <a:xfrm>
            <a:off x="2606040" y="3648456"/>
            <a:ext cx="1828800" cy="292608"/>
          </a:xfrm>
          <a:prstGeom prst="rect">
            <a:avLst/>
          </a:prstGeom>
          <a:solidFill>
            <a:srgbClr val="FFFFFF"/>
          </a:solidFill>
          <a:ln/>
        </p:spPr>
        <p:txBody>
          <a:bodyPr wrap="square" lIns="0" tIns="0" rIns="0" bIns="0" rtlCol="0" anchor="ctr"/>
          <a:lstStyle/>
          <a:p>
            <a:pPr algn="ctr" indent="0" marL="0">
              <a:buNone/>
            </a:pPr>
            <a:r>
              <a:rPr lang="en-US" sz="1050" i="1" dirty="0">
                <a:solidFill>
                  <a:srgbClr val="5D5D72"/>
                </a:solidFill>
                <a:latin typeface="Calibri" pitchFamily="34" charset="0"/>
                <a:ea typeface="Calibri" pitchFamily="34" charset="-122"/>
                <a:cs typeface="Calibri" pitchFamily="34" charset="-120"/>
              </a:rPr>
              <a:t>One is !important</a:t>
            </a:r>
            <a:endParaRPr lang="en-US" sz="1050" dirty="0"/>
          </a:p>
        </p:txBody>
      </p:sp>
      <p:sp>
        <p:nvSpPr>
          <p:cNvPr id="7" name="Shape 5"/>
          <p:cNvSpPr/>
          <p:nvPr/>
        </p:nvSpPr>
        <p:spPr>
          <a:xfrm>
            <a:off x="5852160" y="3657600"/>
            <a:ext cx="365760" cy="502920"/>
          </a:xfrm>
          <a:prstGeom prst="line">
            <a:avLst/>
          </a:prstGeom>
          <a:noFill/>
          <a:ln w="25400">
            <a:solidFill>
              <a:srgbClr val="5D5D72"/>
            </a:solidFill>
            <a:prstDash val="solid"/>
            <a:tailEnd type="triangle"/>
          </a:ln>
        </p:spPr>
        <p:txBody>
          <a:bodyPr/>
          <a:p/>
        </p:txBody>
      </p:sp>
      <p:sp>
        <p:nvSpPr>
          <p:cNvPr id="8" name="Text 6"/>
          <p:cNvSpPr txBox="1"/>
          <p:nvPr/>
        </p:nvSpPr>
        <p:spPr>
          <a:xfrm>
            <a:off x="5120640" y="3762756"/>
            <a:ext cx="1828800" cy="292608"/>
          </a:xfrm>
          <a:prstGeom prst="rect">
            <a:avLst/>
          </a:prstGeom>
          <a:solidFill>
            <a:srgbClr val="FFFFFF"/>
          </a:solidFill>
          <a:ln/>
        </p:spPr>
        <p:txBody>
          <a:bodyPr wrap="square" lIns="0" tIns="0" rIns="0" bIns="0" rtlCol="0" anchor="ctr"/>
          <a:lstStyle/>
          <a:p>
            <a:pPr algn="ctr" indent="0" marL="0">
              <a:buNone/>
            </a:pPr>
            <a:r>
              <a:rPr lang="en-US" sz="1050" i="1" dirty="0">
                <a:solidFill>
                  <a:srgbClr val="5D5D72"/>
                </a:solidFill>
                <a:latin typeface="Calibri" pitchFamily="34" charset="0"/>
                <a:ea typeface="Calibri" pitchFamily="34" charset="-122"/>
                <a:cs typeface="Calibri" pitchFamily="34" charset="-120"/>
              </a:rPr>
              <a:t>Both / neither</a:t>
            </a:r>
            <a:endParaRPr lang="en-US" sz="1050" dirty="0"/>
          </a:p>
        </p:txBody>
      </p:sp>
      <p:sp>
        <p:nvSpPr>
          <p:cNvPr id="9" name="Shape 7"/>
          <p:cNvSpPr/>
          <p:nvPr/>
        </p:nvSpPr>
        <p:spPr>
          <a:xfrm flipH="1">
            <a:off x="4434840" y="4846320"/>
            <a:ext cx="1051560" cy="411480"/>
          </a:xfrm>
          <a:prstGeom prst="line">
            <a:avLst/>
          </a:prstGeom>
          <a:noFill/>
          <a:ln w="25400">
            <a:solidFill>
              <a:srgbClr val="5D5D72"/>
            </a:solidFill>
            <a:prstDash val="solid"/>
            <a:tailEnd type="triangle"/>
          </a:ln>
        </p:spPr>
        <p:txBody>
          <a:bodyPr/>
          <a:p/>
        </p:txBody>
      </p:sp>
      <p:sp>
        <p:nvSpPr>
          <p:cNvPr id="10" name="Text 8"/>
          <p:cNvSpPr txBox="1"/>
          <p:nvPr/>
        </p:nvSpPr>
        <p:spPr>
          <a:xfrm>
            <a:off x="4046220" y="4905756"/>
            <a:ext cx="1828800" cy="292608"/>
          </a:xfrm>
          <a:prstGeom prst="rect">
            <a:avLst/>
          </a:prstGeom>
          <a:solidFill>
            <a:srgbClr val="FFFFFF"/>
          </a:solidFill>
          <a:ln/>
        </p:spPr>
        <p:txBody>
          <a:bodyPr wrap="square" lIns="0" tIns="0" rIns="0" bIns="0" rtlCol="0" anchor="ctr"/>
          <a:lstStyle/>
          <a:p>
            <a:pPr algn="ctr" indent="0" marL="0">
              <a:buNone/>
            </a:pPr>
            <a:r>
              <a:rPr lang="en-US" sz="1050" i="1" dirty="0">
                <a:solidFill>
                  <a:srgbClr val="5D5D72"/>
                </a:solidFill>
                <a:latin typeface="Calibri" pitchFamily="34" charset="0"/>
                <a:ea typeface="Calibri" pitchFamily="34" charset="-122"/>
                <a:cs typeface="Calibri" pitchFamily="34" charset="-120"/>
              </a:rPr>
              <a:t>One higher</a:t>
            </a:r>
            <a:endParaRPr lang="en-US" sz="1050" dirty="0"/>
          </a:p>
        </p:txBody>
      </p:sp>
      <p:sp>
        <p:nvSpPr>
          <p:cNvPr id="11" name="Shape 9"/>
          <p:cNvSpPr/>
          <p:nvPr/>
        </p:nvSpPr>
        <p:spPr>
          <a:xfrm>
            <a:off x="6766560" y="4846320"/>
            <a:ext cx="1463040" cy="411480"/>
          </a:xfrm>
          <a:prstGeom prst="line">
            <a:avLst/>
          </a:prstGeom>
          <a:noFill/>
          <a:ln w="25400">
            <a:solidFill>
              <a:srgbClr val="5D5D72"/>
            </a:solidFill>
            <a:prstDash val="solid"/>
            <a:tailEnd type="triangle"/>
          </a:ln>
        </p:spPr>
        <p:txBody>
          <a:bodyPr/>
          <a:p/>
        </p:txBody>
      </p:sp>
      <p:sp>
        <p:nvSpPr>
          <p:cNvPr id="12" name="Text 10"/>
          <p:cNvSpPr txBox="1"/>
          <p:nvPr/>
        </p:nvSpPr>
        <p:spPr>
          <a:xfrm>
            <a:off x="6583680" y="4905756"/>
            <a:ext cx="1828800" cy="292608"/>
          </a:xfrm>
          <a:prstGeom prst="rect">
            <a:avLst/>
          </a:prstGeom>
          <a:solidFill>
            <a:srgbClr val="FFFFFF"/>
          </a:solidFill>
          <a:ln/>
        </p:spPr>
        <p:txBody>
          <a:bodyPr wrap="square" lIns="0" tIns="0" rIns="0" bIns="0" rtlCol="0" anchor="ctr"/>
          <a:lstStyle/>
          <a:p>
            <a:pPr algn="ctr" indent="0" marL="0">
              <a:buNone/>
            </a:pPr>
            <a:r>
              <a:rPr lang="en-US" sz="1050" i="1" dirty="0">
                <a:solidFill>
                  <a:srgbClr val="5D5D72"/>
                </a:solidFill>
                <a:latin typeface="Calibri" pitchFamily="34" charset="0"/>
                <a:ea typeface="Calibri" pitchFamily="34" charset="-122"/>
                <a:cs typeface="Calibri" pitchFamily="34" charset="-120"/>
              </a:rPr>
              <a:t>Equal specificity</a:t>
            </a:r>
            <a:endParaRPr lang="en-US" sz="1050" dirty="0"/>
          </a:p>
        </p:txBody>
      </p:sp>
      <p:sp>
        <p:nvSpPr>
          <p:cNvPr id="13" name="Shape 11"/>
          <p:cNvSpPr/>
          <p:nvPr/>
        </p:nvSpPr>
        <p:spPr>
          <a:xfrm>
            <a:off x="4114800" y="2103120"/>
            <a:ext cx="3931920" cy="548640"/>
          </a:xfrm>
          <a:prstGeom prst="rect">
            <a:avLst/>
          </a:prstGeom>
          <a:solidFill>
            <a:srgbClr val="1E1E4C"/>
          </a:solidFill>
          <a:ln/>
        </p:spPr>
        <p:txBody>
          <a:bodyPr/>
          <a:p/>
        </p:txBody>
      </p:sp>
      <p:sp>
        <p:nvSpPr>
          <p:cNvPr id="14" name="Text 12"/>
          <p:cNvSpPr txBox="1"/>
          <p:nvPr/>
        </p:nvSpPr>
        <p:spPr>
          <a:xfrm>
            <a:off x="4169664" y="2103120"/>
            <a:ext cx="3822192" cy="548640"/>
          </a:xfrm>
          <a:prstGeom prst="rect">
            <a:avLst/>
          </a:prstGeom>
          <a:noFill/>
          <a:ln/>
        </p:spPr>
        <p:txBody>
          <a:bodyPr wrap="square" lIns="0" tIns="0" rIns="0" bIns="0" rtlCol="0" anchor="ctr"/>
          <a:lstStyle/>
          <a:p>
            <a:pPr algn="ctr" indent="0" marL="0">
              <a:lnSpc>
                <a:spcPct val="105000"/>
              </a:lnSpc>
              <a:buNone/>
            </a:pPr>
            <a:r>
              <a:rPr lang="en-US" sz="1250" b="1" dirty="0">
                <a:solidFill>
                  <a:srgbClr val="FFFFFF"/>
                </a:solidFill>
                <a:latin typeface="Calibri" pitchFamily="34" charset="0"/>
                <a:ea typeface="Calibri" pitchFamily="34" charset="-122"/>
                <a:cs typeface="Calibri" pitchFamily="34" charset="-120"/>
              </a:rPr>
              <a:t>Conflicting declarations</a:t>
            </a:r>
            <a:endParaRPr lang="en-US" sz="1250" dirty="0"/>
          </a:p>
          <a:p>
            <a:pPr algn="ctr" indent="0" marL="0">
              <a:lnSpc>
                <a:spcPct val="105000"/>
              </a:lnSpc>
              <a:buNone/>
            </a:pPr>
            <a:r>
              <a:rPr lang="en-US" sz="1250" b="1" dirty="0">
                <a:solidFill>
                  <a:srgbClr val="FFFFFF"/>
                </a:solidFill>
                <a:latin typeface="Calibri" pitchFamily="34" charset="0"/>
                <a:ea typeface="Calibri" pitchFamily="34" charset="-122"/>
                <a:cs typeface="Calibri" pitchFamily="34" charset="-120"/>
              </a:rPr>
              <a:t>on the same property</a:t>
            </a:r>
            <a:endParaRPr lang="en-US" sz="1250" dirty="0"/>
          </a:p>
        </p:txBody>
      </p:sp>
      <p:sp>
        <p:nvSpPr>
          <p:cNvPr id="15" name="Shape 13"/>
          <p:cNvSpPr/>
          <p:nvPr/>
        </p:nvSpPr>
        <p:spPr>
          <a:xfrm>
            <a:off x="4206240" y="2880360"/>
            <a:ext cx="3749040" cy="777240"/>
          </a:xfrm>
          <a:prstGeom prst="diamond">
            <a:avLst/>
          </a:prstGeom>
          <a:solidFill>
            <a:srgbClr val="FF8A3D"/>
          </a:solidFill>
          <a:ln/>
        </p:spPr>
        <p:txBody>
          <a:bodyPr/>
          <a:p/>
        </p:txBody>
      </p:sp>
      <p:sp>
        <p:nvSpPr>
          <p:cNvPr id="16" name="Text 14"/>
          <p:cNvSpPr txBox="1"/>
          <p:nvPr/>
        </p:nvSpPr>
        <p:spPr>
          <a:xfrm>
            <a:off x="4261104" y="2880360"/>
            <a:ext cx="3639312" cy="777240"/>
          </a:xfrm>
          <a:prstGeom prst="rect">
            <a:avLst/>
          </a:prstGeom>
          <a:noFill/>
          <a:ln/>
        </p:spPr>
        <p:txBody>
          <a:bodyPr wrap="square" lIns="0" tIns="0" rIns="0" bIns="0" rtlCol="0" anchor="ctr"/>
          <a:lstStyle/>
          <a:p>
            <a:pPr algn="ctr" indent="0" marL="0">
              <a:lnSpc>
                <a:spcPct val="105000"/>
              </a:lnSpc>
              <a:buNone/>
            </a:pPr>
            <a:r>
              <a:rPr lang="en-US" sz="1150" b="1" dirty="0">
                <a:solidFill>
                  <a:srgbClr val="FFFFFF"/>
                </a:solidFill>
                <a:latin typeface="Calibri" pitchFamily="34" charset="0"/>
                <a:ea typeface="Calibri" pitchFamily="34" charset="-122"/>
                <a:cs typeface="Calibri" pitchFamily="34" charset="-120"/>
              </a:rPr>
              <a:t>Differ in</a:t>
            </a:r>
            <a:endParaRPr lang="en-US" sz="1150" dirty="0"/>
          </a:p>
          <a:p>
            <a:pPr algn="ctr" indent="0" marL="0">
              <a:lnSpc>
                <a:spcPct val="105000"/>
              </a:lnSpc>
              <a:buNone/>
            </a:pPr>
            <a:r>
              <a:rPr lang="en-US" sz="1150" b="1" dirty="0">
                <a:solidFill>
                  <a:srgbClr val="FFFFFF"/>
                </a:solidFill>
                <a:latin typeface="Calibri" pitchFamily="34" charset="0"/>
                <a:ea typeface="Calibri" pitchFamily="34" charset="-122"/>
                <a:cs typeface="Calibri" pitchFamily="34" charset="-120"/>
              </a:rPr>
              <a:t>!important status?</a:t>
            </a:r>
            <a:endParaRPr lang="en-US" sz="1150" dirty="0"/>
          </a:p>
        </p:txBody>
      </p:sp>
      <p:sp>
        <p:nvSpPr>
          <p:cNvPr id="17" name="Shape 15"/>
          <p:cNvSpPr/>
          <p:nvPr/>
        </p:nvSpPr>
        <p:spPr>
          <a:xfrm>
            <a:off x="822960" y="4160520"/>
            <a:ext cx="2926080" cy="548640"/>
          </a:xfrm>
          <a:prstGeom prst="rect">
            <a:avLst/>
          </a:prstGeom>
          <a:solidFill>
            <a:srgbClr val="3FA66B"/>
          </a:solidFill>
          <a:ln/>
        </p:spPr>
        <p:txBody>
          <a:bodyPr/>
          <a:p/>
        </p:txBody>
      </p:sp>
      <p:sp>
        <p:nvSpPr>
          <p:cNvPr id="18" name="Text 16"/>
          <p:cNvSpPr txBox="1"/>
          <p:nvPr/>
        </p:nvSpPr>
        <p:spPr>
          <a:xfrm>
            <a:off x="877824" y="4160520"/>
            <a:ext cx="2816352" cy="548640"/>
          </a:xfrm>
          <a:prstGeom prst="rect">
            <a:avLst/>
          </a:prstGeom>
          <a:noFill/>
          <a:ln/>
        </p:spPr>
        <p:txBody>
          <a:bodyPr wrap="square" lIns="0" tIns="0" rIns="0" bIns="0" rtlCol="0" anchor="ctr"/>
          <a:lstStyle/>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The !important</a:t>
            </a:r>
            <a:endParaRPr lang="en-US" sz="1200" dirty="0"/>
          </a:p>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declaration wins</a:t>
            </a:r>
            <a:endParaRPr lang="en-US" sz="1200" dirty="0"/>
          </a:p>
        </p:txBody>
      </p:sp>
      <p:sp>
        <p:nvSpPr>
          <p:cNvPr id="19" name="Shape 17"/>
          <p:cNvSpPr/>
          <p:nvPr/>
        </p:nvSpPr>
        <p:spPr>
          <a:xfrm>
            <a:off x="4572000" y="4160520"/>
            <a:ext cx="3291840" cy="685800"/>
          </a:xfrm>
          <a:prstGeom prst="diamond">
            <a:avLst/>
          </a:prstGeom>
          <a:solidFill>
            <a:srgbClr val="FF8A3D"/>
          </a:solidFill>
          <a:ln/>
        </p:spPr>
        <p:txBody>
          <a:bodyPr/>
          <a:p/>
        </p:txBody>
      </p:sp>
      <p:sp>
        <p:nvSpPr>
          <p:cNvPr id="20" name="Text 18"/>
          <p:cNvSpPr txBox="1"/>
          <p:nvPr/>
        </p:nvSpPr>
        <p:spPr>
          <a:xfrm>
            <a:off x="4626864" y="4160520"/>
            <a:ext cx="3182112" cy="685800"/>
          </a:xfrm>
          <a:prstGeom prst="rect">
            <a:avLst/>
          </a:prstGeom>
          <a:noFill/>
          <a:ln/>
        </p:spPr>
        <p:txBody>
          <a:bodyPr wrap="square" lIns="0" tIns="0" rIns="0" bIns="0" rtlCol="0" anchor="ctr"/>
          <a:lstStyle/>
          <a:p>
            <a:pPr algn="ctr" indent="0" marL="0">
              <a:lnSpc>
                <a:spcPct val="105000"/>
              </a:lnSpc>
              <a:buNone/>
            </a:pPr>
            <a:r>
              <a:rPr lang="en-US" sz="1150" b="1" dirty="0">
                <a:solidFill>
                  <a:srgbClr val="FFFFFF"/>
                </a:solidFill>
                <a:latin typeface="Calibri" pitchFamily="34" charset="0"/>
                <a:ea typeface="Calibri" pitchFamily="34" charset="-122"/>
                <a:cs typeface="Calibri" pitchFamily="34" charset="-120"/>
              </a:rPr>
              <a:t>Compare specificity</a:t>
            </a:r>
            <a:endParaRPr lang="en-US" sz="1150" dirty="0"/>
          </a:p>
        </p:txBody>
      </p:sp>
      <p:sp>
        <p:nvSpPr>
          <p:cNvPr id="21" name="Shape 19"/>
          <p:cNvSpPr/>
          <p:nvPr/>
        </p:nvSpPr>
        <p:spPr>
          <a:xfrm>
            <a:off x="3017520" y="5257800"/>
            <a:ext cx="2834640" cy="548640"/>
          </a:xfrm>
          <a:prstGeom prst="rect">
            <a:avLst/>
          </a:prstGeom>
          <a:solidFill>
            <a:srgbClr val="3FA66B"/>
          </a:solidFill>
          <a:ln/>
        </p:spPr>
        <p:txBody>
          <a:bodyPr/>
          <a:p/>
        </p:txBody>
      </p:sp>
      <p:sp>
        <p:nvSpPr>
          <p:cNvPr id="22" name="Text 20"/>
          <p:cNvSpPr txBox="1"/>
          <p:nvPr/>
        </p:nvSpPr>
        <p:spPr>
          <a:xfrm>
            <a:off x="3072384" y="5257800"/>
            <a:ext cx="2724912" cy="548640"/>
          </a:xfrm>
          <a:prstGeom prst="rect">
            <a:avLst/>
          </a:prstGeom>
          <a:noFill/>
          <a:ln/>
        </p:spPr>
        <p:txBody>
          <a:bodyPr wrap="square" lIns="0" tIns="0" rIns="0" bIns="0" rtlCol="0" anchor="ctr"/>
          <a:lstStyle/>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More specific</a:t>
            </a:r>
            <a:endParaRPr lang="en-US" sz="1200" dirty="0"/>
          </a:p>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rule wins</a:t>
            </a:r>
            <a:endParaRPr lang="en-US" sz="1200" dirty="0"/>
          </a:p>
        </p:txBody>
      </p:sp>
      <p:sp>
        <p:nvSpPr>
          <p:cNvPr id="23" name="Shape 21"/>
          <p:cNvSpPr/>
          <p:nvPr/>
        </p:nvSpPr>
        <p:spPr>
          <a:xfrm>
            <a:off x="6583680" y="5257800"/>
            <a:ext cx="3291840" cy="548640"/>
          </a:xfrm>
          <a:prstGeom prst="rect">
            <a:avLst/>
          </a:prstGeom>
          <a:solidFill>
            <a:srgbClr val="3FA66B"/>
          </a:solidFill>
          <a:ln/>
        </p:spPr>
        <p:txBody>
          <a:bodyPr/>
          <a:p/>
        </p:txBody>
      </p:sp>
      <p:sp>
        <p:nvSpPr>
          <p:cNvPr id="24" name="Text 22"/>
          <p:cNvSpPr txBox="1"/>
          <p:nvPr/>
        </p:nvSpPr>
        <p:spPr>
          <a:xfrm>
            <a:off x="6638544" y="5257800"/>
            <a:ext cx="3182112" cy="548640"/>
          </a:xfrm>
          <a:prstGeom prst="rect">
            <a:avLst/>
          </a:prstGeom>
          <a:noFill/>
          <a:ln/>
        </p:spPr>
        <p:txBody>
          <a:bodyPr wrap="square" lIns="0" tIns="0" rIns="0" bIns="0" rtlCol="0" anchor="ctr"/>
          <a:lstStyle/>
          <a:p>
            <a:pPr algn="ctr" indent="0" marL="0">
              <a:lnSpc>
                <a:spcPct val="105000"/>
              </a:lnSpc>
              <a:buNone/>
            </a:pPr>
            <a:r>
              <a:rPr lang="en-US" sz="1150" b="1" dirty="0">
                <a:solidFill>
                  <a:srgbClr val="FFFFFF"/>
                </a:solidFill>
                <a:latin typeface="Calibri" pitchFamily="34" charset="0"/>
                <a:ea typeface="Calibri" pitchFamily="34" charset="-122"/>
                <a:cs typeface="Calibri" pitchFamily="34" charset="-120"/>
              </a:rPr>
              <a:t>Rule written LATER wins</a:t>
            </a:r>
            <a:endParaRPr lang="en-US" sz="1150" dirty="0"/>
          </a:p>
          <a:p>
            <a:pPr algn="ctr" indent="0" marL="0">
              <a:lnSpc>
                <a:spcPct val="105000"/>
              </a:lnSpc>
              <a:buNone/>
            </a:pPr>
            <a:r>
              <a:rPr lang="en-US" sz="1150" b="1" dirty="0">
                <a:solidFill>
                  <a:srgbClr val="FFFFFF"/>
                </a:solidFill>
                <a:latin typeface="Calibri" pitchFamily="34" charset="0"/>
                <a:ea typeface="Calibri" pitchFamily="34" charset="-122"/>
                <a:cs typeface="Calibri" pitchFamily="34" charset="-120"/>
              </a:rPr>
              <a:t>(equal specificity)</a:t>
            </a:r>
            <a:endParaRPr lang="en-US" sz="1150" dirty="0"/>
          </a:p>
        </p:txBody>
      </p:sp>
      <p:sp>
        <p:nvSpPr>
          <p:cNvPr id="25" name="Text 23"/>
          <p:cNvSpPr txBox="1"/>
          <p:nvPr/>
        </p:nvSpPr>
        <p:spPr>
          <a:xfrm>
            <a:off x="640080" y="5989320"/>
            <a:ext cx="10911535" cy="411480"/>
          </a:xfrm>
          <a:prstGeom prst="rect">
            <a:avLst/>
          </a:prstGeom>
          <a:noFill/>
          <a:ln/>
        </p:spPr>
        <p:txBody>
          <a:bodyPr wrap="square" lIns="0" tIns="0" rIns="0" bIns="0" rtlCol="0" anchor="t"/>
          <a:lstStyle/>
          <a:p>
            <a:pPr indent="0" marL="0">
              <a:buNone/>
            </a:pPr>
            <a:r>
              <a:rPr lang="en-US" sz="1250" i="1" dirty="0">
                <a:solidFill>
                  <a:srgbClr val="5D5D72"/>
                </a:solidFill>
                <a:latin typeface="Calibri" pitchFamily="34" charset="0"/>
                <a:ea typeface="Calibri" pitchFamily="34" charset="-122"/>
                <a:cs typeface="Calibri" pitchFamily="34" charset="-120"/>
              </a:rPr>
              <a:t>Every cascade conflict resolves through exactly these branches, in this order — importance first, then specificity, then source order.</a:t>
            </a:r>
            <a:endParaRPr lang="en-US" sz="1250" dirty="0"/>
          </a:p>
        </p:txBody>
      </p:sp>
      <p:sp>
        <p:nvSpPr>
          <p:cNvPr id="2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EVERY CONFLICT CASE</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Case 5 in Code</a:t>
            </a:r>
            <a:endParaRPr lang="en-US" sz="3400" dirty="0"/>
          </a:p>
        </p:txBody>
      </p:sp>
      <p:sp>
        <p:nvSpPr>
          <p:cNvPr id="4" name="Shape 2"/>
          <p:cNvSpPr/>
          <p:nvPr/>
        </p:nvSpPr>
        <p:spPr>
          <a:xfrm>
            <a:off x="640080" y="1965960"/>
            <a:ext cx="10911535" cy="1615440"/>
          </a:xfrm>
          <a:prstGeom prst="roundRect">
            <a:avLst>
              <a:gd name="adj" fmla="val 4528"/>
            </a:avLst>
          </a:prstGeom>
          <a:solidFill>
            <a:srgbClr val="F7F8F9"/>
          </a:solidFill>
          <a:ln w="9525">
            <a:solidFill>
              <a:srgbClr val="D0D5DD"/>
            </a:solidFill>
          </a:ln>
        </p:spPr>
        <p:txBody>
          <a:bodyPr/>
          <a:p/>
        </p:txBody>
      </p:sp>
      <p:sp>
        <p:nvSpPr>
          <p:cNvPr id="5" name="Text 3"/>
          <p:cNvSpPr txBox="1"/>
          <p:nvPr/>
        </p:nvSpPr>
        <p:spPr>
          <a:xfrm>
            <a:off x="960120" y="2194560"/>
            <a:ext cx="10271455" cy="1158240"/>
          </a:xfrm>
          <a:prstGeom prst="rect">
            <a:avLst/>
          </a:prstGeom>
          <a:noFill/>
          <a:ln/>
        </p:spPr>
        <p:txBody>
          <a:bodyPr wrap="square" lIns="0" tIns="0" rIns="0" bIns="0" rtlCol="0" anchor="t"/>
          <a:lstStyle/>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&lt;p id="lead" style="color: purple;"&gt;...&lt;/p&gt;</a:t>
            </a:r>
            <a:endParaRPr lang="en-US" sz="1400" dirty="0"/>
          </a:p>
          <a:p>
            <a:pPr indent="0" marL="0">
              <a:lnSpc>
                <a:spcPct val="125000"/>
              </a:lnSpc>
              <a:buNone/>
            </a:pP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#lead { color: blue; }              /* loses to inline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#lead { color: green !important; } /* beats inline   */</a:t>
            </a:r>
            <a:endParaRPr lang="en-US" sz="1400" dirty="0"/>
          </a:p>
        </p:txBody>
      </p:sp>
      <p:sp>
        <p:nvSpPr>
          <p:cNvPr id="6" name="Text 4"/>
          <p:cNvSpPr txBox="1"/>
          <p:nvPr/>
        </p:nvSpPr>
        <p:spPr>
          <a:xfrm>
            <a:off x="640080" y="3810000"/>
            <a:ext cx="10911535" cy="2453640"/>
          </a:xfrm>
          <a:prstGeom prst="rect">
            <a:avLst/>
          </a:prstGeom>
          <a:noFill/>
          <a:ln/>
        </p:spPr>
        <p:txBody>
          <a:bodyPr wrap="square" lIns="0" tIns="0" rIns="0" bIns="0" rtlCol="0" anchor="t"/>
          <a:lstStyle/>
          <a:p>
            <a:pPr indent="0" marL="0">
              <a:buNone/>
            </a:pPr>
            <a:r>
              <a:rPr lang="en-US" sz="1300" dirty="0">
                <a:solidFill>
                  <a:srgbClr val="26262F"/>
                </a:solidFill>
                <a:latin typeface="Calibri" pitchFamily="34" charset="0"/>
                <a:ea typeface="Calibri" pitchFamily="34" charset="-122"/>
                <a:cs typeface="Calibri" pitchFamily="34" charset="-120"/>
              </a:rPr>
              <a:t>Without the !important line, the paragraph is purple. With it, green — one of the few times !important is the right tool.</a:t>
            </a:r>
            <a:endParaRPr lang="en-US" sz="13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THE REAL FORMULA</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The 4-Part Specificity Score</a:t>
            </a:r>
            <a:endParaRPr lang="en-US" sz="34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10911535" cy="914400"/>
        </p:xfrm>
        <a:graphic>
          <a:graphicData uri="http://schemas.openxmlformats.org/drawingml/2006/table">
            <a:tbl>
              <a:tblPr/>
              <a:tblGrid>
                <a:gridCol w="3291840"/>
                <a:gridCol w="7680960"/>
              </a:tblGrid>
              <a:tr h="713232">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Column</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2B2B7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Counts</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2B2B7A"/>
                    </a:solidFill>
                  </a:tcPr>
                </a:tc>
              </a:tr>
              <a:tr h="713232">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Inline</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1 if the style is inline, else 0</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713232">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IDs</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Number of ID selectors</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713232">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Classes / attrs / pseudo-classes</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Number of these</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713232">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Elements / pseudo-elements</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Number of these</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40080" y="6035040"/>
            <a:ext cx="10911535" cy="365760"/>
          </a:xfrm>
          <a:prstGeom prst="rect">
            <a:avLst/>
          </a:prstGeom>
          <a:noFill/>
          <a:ln/>
        </p:spPr>
        <p:txBody>
          <a:bodyPr wrap="square" lIns="0" tIns="0" rIns="0" bIns="0" rtlCol="0" anchor="ctr"/>
          <a:lstStyle/>
          <a:p>
            <a:pPr indent="0" marL="0">
              <a:buNone/>
            </a:pPr>
            <a:r>
              <a:rPr lang="en-US" sz="1150" i="1" dirty="0">
                <a:solidFill>
                  <a:srgbClr val="5D5D72"/>
                </a:solidFill>
                <a:latin typeface="Calibri" pitchFamily="34" charset="0"/>
                <a:ea typeface="Calibri" pitchFamily="34" charset="-122"/>
                <a:cs typeface="Calibri" pitchFamily="34" charset="-120"/>
              </a:rPr>
              <a:t>#nav .item a:hover -&gt; (0,1,2,1)  beats  nav ul li a -&gt; (0,0,0,4) — one ID always outweighs any number of elements, no matter how long the other selector looks.</a:t>
            </a:r>
            <a:endParaRPr lang="en-US" sz="1150" dirty="0"/>
          </a:p>
        </p:txBody>
      </p:sp>
      <p:sp>
        <p:nvSpPr>
          <p:cNvPr id="2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THE REAL FORMULA</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How Specificity Is Calculated</a:t>
            </a:r>
            <a:endParaRPr lang="en-US" sz="34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10911535" cy="914400"/>
        </p:xfrm>
        <a:graphic>
          <a:graphicData uri="http://schemas.openxmlformats.org/drawingml/2006/table">
            <a:tbl>
              <a:tblPr/>
              <a:tblGrid>
                <a:gridCol w="3291840"/>
                <a:gridCol w="3108960"/>
                <a:gridCol w="4572000"/>
              </a:tblGrid>
              <a:tr h="566928">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Part of the Selector</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2B2B7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Category</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2B2B7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Column It Counts Toward</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2B2B7A"/>
                    </a:solidFill>
                  </a:tcPr>
                </a:tc>
              </a:tr>
              <a:tr h="566928">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#nav</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ID selector</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IDs: +1</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566928">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.item</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Class selector</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Classes / attrs / pseudo-classes: +1</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566928">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:hover</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Pseudo-class</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Classes / attrs / pseudo-classes: +1</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566928">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a</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Element selector</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Elements / pseudo-elements: +1</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40080" y="6035040"/>
            <a:ext cx="10911535" cy="365760"/>
          </a:xfrm>
          <a:prstGeom prst="rect">
            <a:avLst/>
          </a:prstGeom>
          <a:noFill/>
          <a:ln/>
        </p:spPr>
        <p:txBody>
          <a:bodyPr wrap="square" lIns="0" tIns="0" rIns="0" bIns="0" rtlCol="0" anchor="ctr"/>
          <a:lstStyle/>
          <a:p>
            <a:pPr indent="0" marL="0">
              <a:buNone/>
            </a:pPr>
            <a:r>
              <a:rPr lang="en-US" sz="1150" i="1" dirty="0">
                <a:solidFill>
                  <a:srgbClr val="5D5D72"/>
                </a:solidFill>
                <a:latin typeface="Calibri" pitchFamily="34" charset="0"/>
                <a:ea typeface="Calibri" pitchFamily="34" charset="-122"/>
                <a:cs typeface="Calibri" pitchFamily="34" charset="-120"/>
              </a:rPr>
              <a:t>#nav .item a:hover totals to (0 inline, 1 ID, 2 classes/pseudo, 1 element) = (0,1,2,1). Every part of nav ul li a is a plain element, so it totals to (0,0,0,4). Compare column by column, left to right: the IDs column differs first (1 vs. 0), so #nav .item a:hover wins outright — the comparison never even reaches the Elements column.</a:t>
            </a:r>
            <a:endParaRPr lang="en-US" sz="1150" dirty="0"/>
          </a:p>
        </p:txBody>
      </p:sp>
      <p:sp>
        <p:nvSpPr>
          <p:cNvPr id="2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INHERITANCE</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An Example Where Inheritance Does NOT Happen</a:t>
            </a:r>
            <a:endParaRPr lang="en-US" sz="3400" dirty="0"/>
          </a:p>
        </p:txBody>
      </p:sp>
      <p:sp>
        <p:nvSpPr>
          <p:cNvPr id="4" name="Shape 2"/>
          <p:cNvSpPr/>
          <p:nvPr/>
        </p:nvSpPr>
        <p:spPr>
          <a:xfrm>
            <a:off x="640080" y="1965960"/>
            <a:ext cx="10911535" cy="3215640"/>
          </a:xfrm>
          <a:prstGeom prst="roundRect">
            <a:avLst>
              <a:gd name="adj" fmla="val 2275"/>
            </a:avLst>
          </a:prstGeom>
          <a:solidFill>
            <a:srgbClr val="F7F8F9"/>
          </a:solidFill>
          <a:ln w="9525">
            <a:solidFill>
              <a:srgbClr val="D0D5DD"/>
            </a:solidFill>
          </a:ln>
        </p:spPr>
        <p:txBody>
          <a:bodyPr/>
          <a:p/>
        </p:txBody>
      </p:sp>
      <p:sp>
        <p:nvSpPr>
          <p:cNvPr id="5" name="Text 3"/>
          <p:cNvSpPr txBox="1"/>
          <p:nvPr/>
        </p:nvSpPr>
        <p:spPr>
          <a:xfrm>
            <a:off x="960120" y="2194560"/>
            <a:ext cx="10271455" cy="2758440"/>
          </a:xfrm>
          <a:prstGeom prst="rect">
            <a:avLst/>
          </a:prstGeom>
          <a:noFill/>
          <a:ln/>
        </p:spPr>
        <p:txBody>
          <a:bodyPr wrap="square" lIns="0" tIns="0" rIns="0" bIns="0" rtlCol="0" anchor="t"/>
          <a:lstStyle/>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.parent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border: 4px solid crimson;</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padding: 20px;</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color: darkblue;</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a:t>
            </a:r>
            <a:endParaRPr lang="en-US" sz="1400" dirty="0"/>
          </a:p>
          <a:p>
            <a:pPr indent="0" marL="0">
              <a:lnSpc>
                <a:spcPct val="125000"/>
              </a:lnSpc>
              <a:buNone/>
            </a:pP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&lt;div class="parent"&gt;</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Parent text is dark blue.</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&lt;p&gt;Child paragraph is dark blue too.&lt;/p&gt;</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&lt;/div&gt;</a:t>
            </a:r>
            <a:endParaRPr lang="en-US" sz="1400" dirty="0"/>
          </a:p>
        </p:txBody>
      </p:sp>
      <p:sp>
        <p:nvSpPr>
          <p:cNvPr id="6" name="Text 4"/>
          <p:cNvSpPr txBox="1"/>
          <p:nvPr/>
        </p:nvSpPr>
        <p:spPr>
          <a:xfrm>
            <a:off x="640080" y="5410200"/>
            <a:ext cx="10911535" cy="853440"/>
          </a:xfrm>
          <a:prstGeom prst="rect">
            <a:avLst/>
          </a:prstGeom>
          <a:noFill/>
          <a:ln/>
        </p:spPr>
        <p:txBody>
          <a:bodyPr wrap="square" lIns="0" tIns="0" rIns="0" bIns="0" rtlCol="0" anchor="t"/>
          <a:lstStyle/>
          <a:p>
            <a:pPr indent="0" marL="0">
              <a:buNone/>
            </a:pPr>
            <a:r>
              <a:rPr lang="en-US" sz="1300" dirty="0">
                <a:solidFill>
                  <a:srgbClr val="26262F"/>
                </a:solidFill>
                <a:latin typeface="Calibri" pitchFamily="34" charset="0"/>
                <a:ea typeface="Calibri" pitchFamily="34" charset="-122"/>
                <a:cs typeface="Calibri" pitchFamily="34" charset="-120"/>
              </a:rPr>
              <a:t>color inherits, so the &lt;p&gt; is dark blue too. border and padding do NOT inherit — only .parent itself gets the crimson outline and padding.</a:t>
            </a:r>
            <a:endParaRPr lang="en-US" sz="13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INHERITANCE</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Inherited vs. Not Inherited</a:t>
            </a:r>
            <a:endParaRPr lang="en-US" sz="34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10911535" cy="914400"/>
        </p:xfrm>
        <a:graphic>
          <a:graphicData uri="http://schemas.openxmlformats.org/drawingml/2006/table">
            <a:tbl>
              <a:tblPr/>
              <a:tblGrid>
                <a:gridCol w="5303520"/>
                <a:gridCol w="5669280"/>
              </a:tblGrid>
              <a:tr h="566928">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Inherited by Default</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2B2B7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Not Inherited by Default</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2B2B7A"/>
                    </a:solidFill>
                  </a:tcPr>
                </a:tc>
              </a:tr>
              <a:tr h="566928">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color</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margin</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566928">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font-family, font-size, font-weight</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padding</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566928">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line-height</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border</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566928">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text-align</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width, height</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566928">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visibility</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background / background-color</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bl>
          </a:graphicData>
        </a:graphic>
      </p:graphicFrame>
      <p:sp>
        <p:nvSpPr>
          <p:cNvPr id="31"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COLOUR</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Five Ways to Write a Colour</a:t>
            </a:r>
            <a:endParaRPr lang="en-US" sz="3400" dirty="0"/>
          </a:p>
        </p:txBody>
      </p:sp>
      <p:sp>
        <p:nvSpPr>
          <p:cNvPr id="4" name="Shape 2"/>
          <p:cNvSpPr/>
          <p:nvPr/>
        </p:nvSpPr>
        <p:spPr>
          <a:xfrm>
            <a:off x="640080" y="1965960"/>
            <a:ext cx="10911535" cy="1739265"/>
          </a:xfrm>
          <a:prstGeom prst="roundRect">
            <a:avLst>
              <a:gd name="adj" fmla="val 4206"/>
            </a:avLst>
          </a:prstGeom>
          <a:solidFill>
            <a:srgbClr val="F7F8F9"/>
          </a:solidFill>
          <a:ln w="9525">
            <a:solidFill>
              <a:srgbClr val="D0D5DD"/>
            </a:solidFill>
          </a:ln>
        </p:spPr>
        <p:txBody>
          <a:bodyPr/>
          <a:p/>
        </p:txBody>
      </p:sp>
      <p:sp>
        <p:nvSpPr>
          <p:cNvPr id="5" name="Text 3"/>
          <p:cNvSpPr txBox="1"/>
          <p:nvPr/>
        </p:nvSpPr>
        <p:spPr>
          <a:xfrm>
            <a:off x="960120" y="2194560"/>
            <a:ext cx="10271455" cy="1282065"/>
          </a:xfrm>
          <a:prstGeom prst="rect">
            <a:avLst/>
          </a:prstGeom>
          <a:noFill/>
          <a:ln/>
        </p:spPr>
        <p:txBody>
          <a:bodyPr wrap="square" lIns="0" tIns="0" rIns="0" bIns="0" rtlCol="0" anchor="t"/>
          <a:lstStyle/>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.a { color: red; }                  /* named colour */</a:t>
            </a:r>
            <a:endParaRPr lang="en-US" sz="1250" dirty="0"/>
          </a:p>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.b { color: #ff0000; }              /* hex code */</a:t>
            </a:r>
            <a:endParaRPr lang="en-US" sz="1250" dirty="0"/>
          </a:p>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.c { color: rgb(255, 0, 0); }       /* red, green, blue */</a:t>
            </a:r>
            <a:endParaRPr lang="en-US" sz="1250" dirty="0"/>
          </a:p>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.d { color: rgba(255, 0, 0, 0.5); } /* rgb + alpha */</a:t>
            </a:r>
            <a:endParaRPr lang="en-US" sz="1250" dirty="0"/>
          </a:p>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.e { color: hsl(0, 100%, 50%); }    /* hue, sat, lightness */</a:t>
            </a:r>
            <a:endParaRPr lang="en-US" sz="1250" dirty="0"/>
          </a:p>
        </p:txBody>
      </p:sp>
      <p:sp>
        <p:nvSpPr>
          <p:cNvPr id="6" name="Shape 4"/>
          <p:cNvSpPr/>
          <p:nvPr/>
        </p:nvSpPr>
        <p:spPr>
          <a:xfrm>
            <a:off x="530352" y="3869817"/>
            <a:ext cx="11130991" cy="2457831"/>
          </a:xfrm>
          <a:prstGeom prst="roundRect">
            <a:avLst>
              <a:gd name="adj" fmla="val 2232"/>
            </a:avLst>
          </a:prstGeom>
          <a:solidFill>
            <a:srgbClr val="FFFFFF"/>
          </a:solidFill>
          <a:ln w="12700">
            <a:solidFill>
              <a:srgbClr val="E2E2EE"/>
            </a:solidFill>
            <a:prstDash val="solid"/>
          </a:ln>
          <a:effectLst>
            <a:outerShdw sx="100000" sy="100000" kx="0" ky="0" algn="bl" rotWithShape="0" blurRad="101600" dist="38100" dir="5400000">
              <a:srgbClr val="000000">
                <a:alpha val="12000"/>
              </a:srgbClr>
            </a:outerShdw>
          </a:effectLst>
        </p:spPr>
        <p:txBody>
          <a:bodyPr/>
          <a:p/>
        </p:txBody>
      </p:sp>
      <p:pic>
        <p:nvPicPr>
          <p:cNvPr id="7" name="Image 0" descr="D:/GitHub/mern-web-book/docs/assets/img/lecture-05/color-values.png">    </p:cNvPr>
          <p:cNvPicPr>
            <a:picLocks noChangeAspect="1"/>
          </p:cNvPicPr>
          <p:nvPr/>
        </p:nvPicPr>
        <p:blipFill>
          <a:blip r:embed="rId1"/>
          <a:stretch>
            <a:fillRect/>
          </a:stretch>
        </p:blipFill>
        <p:spPr>
          <a:xfrm>
            <a:off x="3781381" y="3979545"/>
            <a:ext cx="4628934" cy="2238375"/>
          </a:xfrm>
          <a:prstGeom prst="rect">
            <a:avLst/>
          </a:prstGeom>
        </p:spPr>
      </p:pic>
      <p:sp>
        <p:nvSpPr>
          <p:cNvPr id="10"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4"/>
              </a:rPr>
              <a:t>cuinotes.com</a:t>
            </a:r>
            <a:r>
              <a:rPr sz="1000">
                <a:solidFill>
                  <a:srgbClr val="8A939B"/>
                </a:solidFill>
              </a:rPr>
              <a:t>  ·  30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FONTS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Font Properties</a:t>
            </a:r>
            <a:endParaRPr lang="en-US" sz="3400" dirty="0"/>
          </a:p>
        </p:txBody>
      </p:sp>
      <p:sp>
        <p:nvSpPr>
          <p:cNvPr id="4" name="Text 2"/>
          <p:cNvSpPr txBox="1"/>
          <p:nvPr/>
        </p:nvSpPr>
        <p:spPr>
          <a:xfrm>
            <a:off x="640080" y="1691640"/>
            <a:ext cx="10911535" cy="411480"/>
          </a:xfrm>
          <a:prstGeom prst="rect">
            <a:avLst/>
          </a:prstGeom>
          <a:noFill/>
          <a:ln/>
        </p:spPr>
        <p:txBody>
          <a:bodyPr wrap="square" lIns="0" tIns="0" rIns="0" bIns="0" rtlCol="0" anchor="ctr"/>
          <a:lstStyle/>
          <a:p>
            <a:pPr indent="0" marL="0">
              <a:buNone/>
            </a:pPr>
            <a:r>
              <a:rPr lang="en-US" sz="1350" i="1" dirty="0">
                <a:solidFill>
                  <a:srgbClr val="5D5D72"/>
                </a:solidFill>
                <a:latin typeface="Calibri" pitchFamily="34" charset="0"/>
                <a:ea typeface="Calibri" pitchFamily="34" charset="-122"/>
                <a:cs typeface="Calibri" pitchFamily="34" charset="-120"/>
              </a:rPr>
              <a:t>font-family (a fallback list), font-size, font-weight, font-style — combined via the font shorthand too.</a:t>
            </a:r>
            <a:endParaRPr lang="en-US" sz="1350" dirty="0"/>
          </a:p>
        </p:txBody>
      </p:sp>
      <p:sp>
        <p:nvSpPr>
          <p:cNvPr id="5" name="Shape 3"/>
          <p:cNvSpPr/>
          <p:nvPr/>
        </p:nvSpPr>
        <p:spPr>
          <a:xfrm>
            <a:off x="640080" y="2240280"/>
            <a:ext cx="10911535" cy="1977390"/>
          </a:xfrm>
          <a:prstGeom prst="roundRect">
            <a:avLst>
              <a:gd name="adj" fmla="val 3699"/>
            </a:avLst>
          </a:prstGeom>
          <a:solidFill>
            <a:srgbClr val="F7F8F9"/>
          </a:solidFill>
          <a:ln w="9525">
            <a:solidFill>
              <a:srgbClr val="D0D5DD"/>
            </a:solidFill>
          </a:ln>
        </p:spPr>
        <p:txBody>
          <a:bodyPr/>
          <a:p/>
        </p:txBody>
      </p:sp>
      <p:sp>
        <p:nvSpPr>
          <p:cNvPr id="6" name="Text 4"/>
          <p:cNvSpPr txBox="1"/>
          <p:nvPr/>
        </p:nvSpPr>
        <p:spPr>
          <a:xfrm>
            <a:off x="960120" y="2468880"/>
            <a:ext cx="10271455" cy="1520190"/>
          </a:xfrm>
          <a:prstGeom prst="rect">
            <a:avLst/>
          </a:prstGeom>
          <a:noFill/>
          <a:ln/>
        </p:spPr>
        <p:txBody>
          <a:bodyPr wrap="square" lIns="0" tIns="0" rIns="0" bIns="0" rtlCol="0" anchor="t"/>
          <a:lstStyle/>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p {</a:t>
            </a:r>
            <a:endParaRPr lang="en-US" sz="1250" dirty="0"/>
          </a:p>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  font-family: "Helvetica Neue", Arial, sans-serif;</a:t>
            </a:r>
            <a:endParaRPr lang="en-US" sz="1250" dirty="0"/>
          </a:p>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  font-size: 16px;</a:t>
            </a:r>
            <a:endParaRPr lang="en-US" sz="1250" dirty="0"/>
          </a:p>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  font-weight: bold;</a:t>
            </a:r>
            <a:endParaRPr lang="en-US" sz="1250" dirty="0"/>
          </a:p>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  font-style: italic;</a:t>
            </a:r>
            <a:endParaRPr lang="en-US" sz="1250" dirty="0"/>
          </a:p>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a:t>
            </a:r>
            <a:endParaRPr lang="en-US" sz="1250" dirty="0"/>
          </a:p>
        </p:txBody>
      </p:sp>
      <p:sp>
        <p:nvSpPr>
          <p:cNvPr id="7" name="Shape 5"/>
          <p:cNvSpPr/>
          <p:nvPr/>
        </p:nvSpPr>
        <p:spPr>
          <a:xfrm>
            <a:off x="530352" y="4382262"/>
            <a:ext cx="11130991" cy="1945386"/>
          </a:xfrm>
          <a:prstGeom prst="roundRect">
            <a:avLst>
              <a:gd name="adj" fmla="val 2820"/>
            </a:avLst>
          </a:prstGeom>
          <a:solidFill>
            <a:srgbClr val="FFFFFF"/>
          </a:solidFill>
          <a:ln w="12700">
            <a:solidFill>
              <a:srgbClr val="E2E2EE"/>
            </a:solidFill>
            <a:prstDash val="solid"/>
          </a:ln>
          <a:effectLst>
            <a:outerShdw sx="100000" sy="100000" kx="0" ky="0" algn="bl" rotWithShape="0" blurRad="101600" dist="38100" dir="5400000">
              <a:srgbClr val="000000">
                <a:alpha val="12000"/>
              </a:srgbClr>
            </a:outerShdw>
          </a:effectLst>
        </p:spPr>
        <p:txBody>
          <a:bodyPr/>
          <a:p/>
        </p:txBody>
      </p:sp>
      <p:pic>
        <p:nvPicPr>
          <p:cNvPr id="8" name="Image 0" descr="D:/GitHub/mern-web-book/docs/assets/img/lecture-05/font-properties.png">    </p:cNvPr>
          <p:cNvPicPr>
            <a:picLocks noChangeAspect="1"/>
          </p:cNvPicPr>
          <p:nvPr/>
        </p:nvPicPr>
        <p:blipFill>
          <a:blip r:embed="rId1"/>
          <a:stretch>
            <a:fillRect/>
          </a:stretch>
        </p:blipFill>
        <p:spPr>
          <a:xfrm>
            <a:off x="640080" y="5049654"/>
            <a:ext cx="10911535" cy="610602"/>
          </a:xfrm>
          <a:prstGeom prst="rect">
            <a:avLst/>
          </a:prstGeom>
        </p:spPr>
      </p:pic>
      <p:sp>
        <p:nvSpPr>
          <p:cNvPr id="11"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4"/>
              </a:rPr>
              <a:t>cuinotes.com</a:t>
            </a:r>
            <a:r>
              <a:rPr sz="1000">
                <a:solidFill>
                  <a:srgbClr val="8A939B"/>
                </a:solidFill>
              </a:rPr>
              <a:t>  ·  31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TEXT</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Text Properties</a:t>
            </a:r>
            <a:endParaRPr lang="en-US" sz="3400" dirty="0"/>
          </a:p>
        </p:txBody>
      </p:sp>
      <p:sp>
        <p:nvSpPr>
          <p:cNvPr id="4" name="Shape 2"/>
          <p:cNvSpPr/>
          <p:nvPr/>
        </p:nvSpPr>
        <p:spPr>
          <a:xfrm>
            <a:off x="640080" y="1965960"/>
            <a:ext cx="10911535" cy="2215515"/>
          </a:xfrm>
          <a:prstGeom prst="roundRect">
            <a:avLst>
              <a:gd name="adj" fmla="val 3302"/>
            </a:avLst>
          </a:prstGeom>
          <a:solidFill>
            <a:srgbClr val="F7F8F9"/>
          </a:solidFill>
          <a:ln w="9525">
            <a:solidFill>
              <a:srgbClr val="D0D5DD"/>
            </a:solidFill>
          </a:ln>
        </p:spPr>
        <p:txBody>
          <a:bodyPr/>
          <a:p/>
        </p:txBody>
      </p:sp>
      <p:sp>
        <p:nvSpPr>
          <p:cNvPr id="5" name="Text 3"/>
          <p:cNvSpPr txBox="1"/>
          <p:nvPr/>
        </p:nvSpPr>
        <p:spPr>
          <a:xfrm>
            <a:off x="960120" y="2194560"/>
            <a:ext cx="10271455" cy="1758315"/>
          </a:xfrm>
          <a:prstGeom prst="rect">
            <a:avLst/>
          </a:prstGeom>
          <a:noFill/>
          <a:ln/>
        </p:spPr>
        <p:txBody>
          <a:bodyPr wrap="square" lIns="0" tIns="0" rIns="0" bIns="0" rtlCol="0" anchor="t"/>
          <a:lstStyle/>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p {</a:t>
            </a:r>
            <a:endParaRPr lang="en-US" sz="1250" dirty="0"/>
          </a:p>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  text-align: center;</a:t>
            </a:r>
            <a:endParaRPr lang="en-US" sz="1250" dirty="0"/>
          </a:p>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  text-decoration: underline;</a:t>
            </a:r>
            <a:endParaRPr lang="en-US" sz="1250" dirty="0"/>
          </a:p>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  text-transform: uppercase;</a:t>
            </a:r>
            <a:endParaRPr lang="en-US" sz="1250" dirty="0"/>
          </a:p>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  line-height: 1.6;</a:t>
            </a:r>
            <a:endParaRPr lang="en-US" sz="1250" dirty="0"/>
          </a:p>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  letter-spacing: 0.5px;</a:t>
            </a:r>
            <a:endParaRPr lang="en-US" sz="1250" dirty="0"/>
          </a:p>
          <a:p>
            <a:pPr indent="0" marL="0">
              <a:lnSpc>
                <a:spcPct val="125000"/>
              </a:lnSpc>
              <a:buNone/>
            </a:pPr>
            <a:r>
              <a:rPr lang="en-US" sz="1250" dirty="0">
                <a:solidFill>
                  <a:srgbClr val="1F2429"/>
                </a:solidFill>
                <a:latin typeface="Courier New" pitchFamily="34" charset="0"/>
                <a:ea typeface="Courier New" pitchFamily="34" charset="-122"/>
                <a:cs typeface="Courier New" pitchFamily="34" charset="-120"/>
              </a:rPr>
              <a:t>}</a:t>
            </a:r>
            <a:endParaRPr lang="en-US" sz="1250" dirty="0"/>
          </a:p>
        </p:txBody>
      </p:sp>
      <p:sp>
        <p:nvSpPr>
          <p:cNvPr id="6" name="Shape 4"/>
          <p:cNvSpPr/>
          <p:nvPr/>
        </p:nvSpPr>
        <p:spPr>
          <a:xfrm>
            <a:off x="530352" y="4346067"/>
            <a:ext cx="11130991" cy="1981581"/>
          </a:xfrm>
          <a:prstGeom prst="roundRect">
            <a:avLst>
              <a:gd name="adj" fmla="val 2769"/>
            </a:avLst>
          </a:prstGeom>
          <a:solidFill>
            <a:srgbClr val="FFFFFF"/>
          </a:solidFill>
          <a:ln w="12700">
            <a:solidFill>
              <a:srgbClr val="E2E2EE"/>
            </a:solidFill>
            <a:prstDash val="solid"/>
          </a:ln>
          <a:effectLst>
            <a:outerShdw sx="100000" sy="100000" kx="0" ky="0" algn="bl" rotWithShape="0" blurRad="101600" dist="38100" dir="5400000">
              <a:srgbClr val="000000">
                <a:alpha val="12000"/>
              </a:srgbClr>
            </a:outerShdw>
          </a:effectLst>
        </p:spPr>
        <p:txBody>
          <a:bodyPr/>
          <a:p/>
        </p:txBody>
      </p:sp>
      <p:pic>
        <p:nvPicPr>
          <p:cNvPr id="7" name="Image 0" descr="D:/GitHub/mern-web-book/docs/assets/img/lecture-05/text-properties.png">    </p:cNvPr>
          <p:cNvPicPr>
            <a:picLocks noChangeAspect="1"/>
          </p:cNvPicPr>
          <p:nvPr/>
        </p:nvPicPr>
        <p:blipFill>
          <a:blip r:embed="rId1"/>
          <a:stretch>
            <a:fillRect/>
          </a:stretch>
        </p:blipFill>
        <p:spPr>
          <a:xfrm>
            <a:off x="1700435" y="4455795"/>
            <a:ext cx="8790826" cy="1762125"/>
          </a:xfrm>
          <a:prstGeom prst="rect">
            <a:avLst/>
          </a:prstGeom>
        </p:spPr>
      </p:pic>
      <p:sp>
        <p:nvSpPr>
          <p:cNvPr id="10"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4"/>
              </a:rPr>
              <a:t>cuinotes.com</a:t>
            </a:r>
            <a:r>
              <a:rPr sz="1000">
                <a:solidFill>
                  <a:srgbClr val="8A939B"/>
                </a:solidFill>
              </a:rPr>
              <a:t>  ·  32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BACKGROUNDS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Background Properties</a:t>
            </a:r>
            <a:endParaRPr lang="en-US" sz="3400" dirty="0"/>
          </a:p>
        </p:txBody>
      </p:sp>
      <p:sp>
        <p:nvSpPr>
          <p:cNvPr id="4" name="Shape 2"/>
          <p:cNvSpPr/>
          <p:nvPr/>
        </p:nvSpPr>
        <p:spPr>
          <a:xfrm>
            <a:off x="640080" y="1965960"/>
            <a:ext cx="10911535" cy="2415540"/>
          </a:xfrm>
          <a:prstGeom prst="roundRect">
            <a:avLst>
              <a:gd name="adj" fmla="val 3028"/>
            </a:avLst>
          </a:prstGeom>
          <a:solidFill>
            <a:srgbClr val="F7F8F9"/>
          </a:solidFill>
          <a:ln w="9525">
            <a:solidFill>
              <a:srgbClr val="D0D5DD"/>
            </a:solidFill>
          </a:ln>
        </p:spPr>
        <p:txBody>
          <a:bodyPr/>
          <a:p/>
        </p:txBody>
      </p:sp>
      <p:sp>
        <p:nvSpPr>
          <p:cNvPr id="5" name="Text 3"/>
          <p:cNvSpPr txBox="1"/>
          <p:nvPr/>
        </p:nvSpPr>
        <p:spPr>
          <a:xfrm>
            <a:off x="960120" y="2194560"/>
            <a:ext cx="10271455" cy="1958340"/>
          </a:xfrm>
          <a:prstGeom prst="rect">
            <a:avLst/>
          </a:prstGeom>
          <a:noFill/>
          <a:ln/>
        </p:spPr>
        <p:txBody>
          <a:bodyPr wrap="square" lIns="0" tIns="0" rIns="0" bIns="0" rtlCol="0" anchor="t"/>
          <a:lstStyle/>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.card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background-color: #f5f5f5;</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background-image: url("pattern.png");</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background-repeat: no-repeat;</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background-position: center;</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background-size: cover;</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a:t>
            </a:r>
            <a:endParaRPr lang="en-US" sz="1400" dirty="0"/>
          </a:p>
        </p:txBody>
      </p:sp>
      <p:sp>
        <p:nvSpPr>
          <p:cNvPr id="6" name="Text 4"/>
          <p:cNvSpPr txBox="1"/>
          <p:nvPr/>
        </p:nvSpPr>
        <p:spPr>
          <a:xfrm>
            <a:off x="640080" y="4610100"/>
            <a:ext cx="10911535" cy="1653540"/>
          </a:xfrm>
          <a:prstGeom prst="rect">
            <a:avLst/>
          </a:prstGeom>
          <a:noFill/>
          <a:ln/>
        </p:spPr>
        <p:txBody>
          <a:bodyPr wrap="square" lIns="0" tIns="0" rIns="0" bIns="0" rtlCol="0" anchor="t"/>
          <a:lstStyle/>
          <a:p>
            <a:pPr indent="0" marL="0">
              <a:buNone/>
            </a:pPr>
            <a:r>
              <a:rPr lang="en-US" sz="1300" dirty="0">
                <a:solidFill>
                  <a:srgbClr val="26262F"/>
                </a:solidFill>
                <a:latin typeface="Calibri" pitchFamily="34" charset="0"/>
                <a:ea typeface="Calibri" pitchFamily="34" charset="-122"/>
                <a:cs typeface="Calibri" pitchFamily="34" charset="-120"/>
              </a:rPr>
              <a:t>A background shorthand combines several of these into one declaration, just like font does.</a:t>
            </a:r>
            <a:endParaRPr lang="en-US" sz="13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33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2B2B7A"/>
        </a:solidFill>
      </p:bgPr>
    </p:bg>
    <p:spTree>
      <p:nvGrpSpPr>
        <p:cNvPr id="1" name=""/>
        <p:cNvGrpSpPr/>
        <p:nvPr/>
      </p:nvGrpSpPr>
      <p:grpSpPr>
        <a:xfrm>
          <a:off x="0" y="0"/>
          <a:ext cx="0" cy="0"/>
          <a:chOff x="0" y="0"/>
          <a:chExt cx="0" cy="0"/>
        </a:xfrm>
      </p:grpSpPr>
      <p:sp>
        <p:nvSpPr>
          <p:cNvPr id="2" name="Text 0"/>
          <p:cNvSpPr txBox="1"/>
          <p:nvPr/>
        </p:nvSpPr>
        <p:spPr>
          <a:xfrm>
            <a:off x="822960" y="731520"/>
            <a:ext cx="9144000" cy="457200"/>
          </a:xfrm>
          <a:prstGeom prst="rect">
            <a:avLst/>
          </a:prstGeom>
          <a:noFill/>
          <a:ln/>
        </p:spPr>
        <p:txBody>
          <a:bodyPr wrap="square" lIns="0" tIns="0" rIns="0" bIns="0" rtlCol="0" anchor="ctr"/>
          <a:lstStyle/>
          <a:p>
            <a:pPr indent="0" marL="0">
              <a:buNone/>
            </a:pPr>
            <a:r>
              <a:rPr lang="en-US" sz="1500" b="1" spc="400" kern="0" dirty="0">
                <a:solidFill>
                  <a:srgbClr val="FF8A3D"/>
                </a:solidFill>
                <a:latin typeface="Calibri" pitchFamily="34" charset="0"/>
                <a:ea typeface="Calibri" pitchFamily="34" charset="-122"/>
                <a:cs typeface="Calibri" pitchFamily="34" charset="-120"/>
              </a:rPr>
              <a:t>KEY TAKEAWAYS</a:t>
            </a:r>
            <a:endParaRPr lang="en-US" sz="1500" dirty="0"/>
          </a:p>
        </p:txBody>
      </p:sp>
      <p:sp>
        <p:nvSpPr>
          <p:cNvPr id="3" name="Text 1"/>
          <p:cNvSpPr txBox="1"/>
          <p:nvPr/>
        </p:nvSpPr>
        <p:spPr>
          <a:xfrm>
            <a:off x="777240" y="1188720"/>
            <a:ext cx="1051560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Lecture 5 in Six Points</a:t>
            </a:r>
            <a:endParaRPr lang="en-US" sz="3400" dirty="0"/>
          </a:p>
        </p:txBody>
      </p:sp>
      <p:sp>
        <p:nvSpPr>
          <p:cNvPr id="4" name="Shape 2"/>
          <p:cNvSpPr/>
          <p:nvPr/>
        </p:nvSpPr>
        <p:spPr>
          <a:xfrm>
            <a:off x="822960" y="2286000"/>
            <a:ext cx="438912" cy="438912"/>
          </a:xfrm>
          <a:prstGeom prst="ellipse">
            <a:avLst/>
          </a:prstGeom>
          <a:solidFill>
            <a:srgbClr val="FF8A3D"/>
          </a:solidFill>
          <a:ln/>
        </p:spPr>
        <p:txBody>
          <a:bodyPr/>
          <a:p/>
        </p:txBody>
      </p:sp>
      <p:sp>
        <p:nvSpPr>
          <p:cNvPr id="5" name="Text 3"/>
          <p:cNvSpPr txBox="1"/>
          <p:nvPr/>
        </p:nvSpPr>
        <p:spPr>
          <a:xfrm>
            <a:off x="822960" y="22860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463040" y="2194560"/>
            <a:ext cx="10058400" cy="624840"/>
          </a:xfrm>
          <a:prstGeom prst="rect">
            <a:avLst/>
          </a:prstGeom>
          <a:noFill/>
          <a:ln/>
        </p:spPr>
        <p:txBody>
          <a:bodyPr wrap="square" lIns="0" tIns="0" rIns="0" bIns="0" rtlCol="0" anchor="ctr"/>
          <a:lstStyle/>
          <a:p>
            <a:pPr indent="0" marL="0">
              <a:buNone/>
            </a:pPr>
            <a:r>
              <a:rPr lang="en-US" sz="1250" dirty="0">
                <a:solidFill>
                  <a:srgbClr val="C9D3F5"/>
                </a:solidFill>
                <a:latin typeface="Calibri" pitchFamily="34" charset="0"/>
                <a:ea typeface="Calibri" pitchFamily="34" charset="-122"/>
                <a:cs typeface="Calibri" pitchFamily="34" charset="-120"/>
              </a:rPr>
              <a:t>CSS separates presentation from content; external style sheets are preferred for real projects.</a:t>
            </a:r>
            <a:endParaRPr lang="en-US" sz="1250" dirty="0"/>
          </a:p>
        </p:txBody>
      </p:sp>
      <p:sp>
        <p:nvSpPr>
          <p:cNvPr id="7" name="Shape 5"/>
          <p:cNvSpPr/>
          <p:nvPr/>
        </p:nvSpPr>
        <p:spPr>
          <a:xfrm>
            <a:off x="822960" y="2956560"/>
            <a:ext cx="438912" cy="438912"/>
          </a:xfrm>
          <a:prstGeom prst="ellipse">
            <a:avLst/>
          </a:prstGeom>
          <a:solidFill>
            <a:srgbClr val="FF8A3D"/>
          </a:solidFill>
          <a:ln/>
        </p:spPr>
        <p:txBody>
          <a:bodyPr/>
          <a:p/>
        </p:txBody>
      </p:sp>
      <p:sp>
        <p:nvSpPr>
          <p:cNvPr id="8" name="Text 6"/>
          <p:cNvSpPr txBox="1"/>
          <p:nvPr/>
        </p:nvSpPr>
        <p:spPr>
          <a:xfrm>
            <a:off x="822960" y="29565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463040" y="2865120"/>
            <a:ext cx="10058400" cy="624840"/>
          </a:xfrm>
          <a:prstGeom prst="rect">
            <a:avLst/>
          </a:prstGeom>
          <a:noFill/>
          <a:ln/>
        </p:spPr>
        <p:txBody>
          <a:bodyPr wrap="square" lIns="0" tIns="0" rIns="0" bIns="0" rtlCol="0" anchor="ctr"/>
          <a:lstStyle/>
          <a:p>
            <a:pPr indent="0" marL="0">
              <a:buNone/>
            </a:pPr>
            <a:r>
              <a:rPr lang="en-US" sz="1250" dirty="0">
                <a:solidFill>
                  <a:srgbClr val="C9D3F5"/>
                </a:solidFill>
                <a:latin typeface="Calibri" pitchFamily="34" charset="0"/>
                <a:ea typeface="Calibri" pitchFamily="34" charset="-122"/>
                <a:cs typeface="Calibri" pitchFamily="34" charset="-120"/>
              </a:rPr>
              <a:t>Selectors decide what gets styled: element, class, id, attribute, grouping, descendant.</a:t>
            </a:r>
            <a:endParaRPr lang="en-US" sz="1250" dirty="0"/>
          </a:p>
        </p:txBody>
      </p:sp>
      <p:sp>
        <p:nvSpPr>
          <p:cNvPr id="10" name="Shape 8"/>
          <p:cNvSpPr/>
          <p:nvPr/>
        </p:nvSpPr>
        <p:spPr>
          <a:xfrm>
            <a:off x="822960" y="3627120"/>
            <a:ext cx="438912" cy="438912"/>
          </a:xfrm>
          <a:prstGeom prst="ellipse">
            <a:avLst/>
          </a:prstGeom>
          <a:solidFill>
            <a:srgbClr val="FF8A3D"/>
          </a:solidFill>
          <a:ln/>
        </p:spPr>
        <p:txBody>
          <a:bodyPr/>
          <a:p/>
        </p:txBody>
      </p:sp>
      <p:sp>
        <p:nvSpPr>
          <p:cNvPr id="11" name="Text 9"/>
          <p:cNvSpPr txBox="1"/>
          <p:nvPr/>
        </p:nvSpPr>
        <p:spPr>
          <a:xfrm>
            <a:off x="822960" y="362712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463040" y="3535680"/>
            <a:ext cx="10058400" cy="624840"/>
          </a:xfrm>
          <a:prstGeom prst="rect">
            <a:avLst/>
          </a:prstGeom>
          <a:noFill/>
          <a:ln/>
        </p:spPr>
        <p:txBody>
          <a:bodyPr wrap="square" lIns="0" tIns="0" rIns="0" bIns="0" rtlCol="0" anchor="ctr"/>
          <a:lstStyle/>
          <a:p>
            <a:pPr indent="0" marL="0">
              <a:buNone/>
            </a:pPr>
            <a:r>
              <a:rPr lang="en-US" sz="1250" dirty="0">
                <a:solidFill>
                  <a:srgbClr val="C9D3F5"/>
                </a:solidFill>
                <a:latin typeface="Calibri" pitchFamily="34" charset="0"/>
                <a:ea typeface="Calibri" pitchFamily="34" charset="-122"/>
                <a:cs typeface="Calibri" pitchFamily="34" charset="-120"/>
              </a:rPr>
              <a:t>The cascade resolves conflicts in order: importance, then specificity, then source order — every time.</a:t>
            </a:r>
            <a:endParaRPr lang="en-US" sz="1250" dirty="0"/>
          </a:p>
        </p:txBody>
      </p:sp>
      <p:sp>
        <p:nvSpPr>
          <p:cNvPr id="13" name="Shape 11"/>
          <p:cNvSpPr/>
          <p:nvPr/>
        </p:nvSpPr>
        <p:spPr>
          <a:xfrm>
            <a:off x="822960" y="4297680"/>
            <a:ext cx="438912" cy="438912"/>
          </a:xfrm>
          <a:prstGeom prst="ellipse">
            <a:avLst/>
          </a:prstGeom>
          <a:solidFill>
            <a:srgbClr val="FF8A3D"/>
          </a:solidFill>
          <a:ln/>
        </p:spPr>
        <p:txBody>
          <a:bodyPr/>
          <a:p/>
        </p:txBody>
      </p:sp>
      <p:sp>
        <p:nvSpPr>
          <p:cNvPr id="14" name="Text 12"/>
          <p:cNvSpPr txBox="1"/>
          <p:nvPr/>
        </p:nvSpPr>
        <p:spPr>
          <a:xfrm>
            <a:off x="822960" y="429768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5" name="Text 13"/>
          <p:cNvSpPr txBox="1"/>
          <p:nvPr/>
        </p:nvSpPr>
        <p:spPr>
          <a:xfrm>
            <a:off x="1463040" y="4206240"/>
            <a:ext cx="10058400" cy="624840"/>
          </a:xfrm>
          <a:prstGeom prst="rect">
            <a:avLst/>
          </a:prstGeom>
          <a:noFill/>
          <a:ln/>
        </p:spPr>
        <p:txBody>
          <a:bodyPr wrap="square" lIns="0" tIns="0" rIns="0" bIns="0" rtlCol="0" anchor="ctr"/>
          <a:lstStyle/>
          <a:p>
            <a:pPr indent="0" marL="0">
              <a:buNone/>
            </a:pPr>
            <a:r>
              <a:rPr lang="en-US" sz="1250" dirty="0">
                <a:solidFill>
                  <a:srgbClr val="C9D3F5"/>
                </a:solidFill>
                <a:latin typeface="Calibri" pitchFamily="34" charset="0"/>
                <a:ea typeface="Calibri" pitchFamily="34" charset="-122"/>
                <a:cs typeface="Calibri" pitchFamily="34" charset="-120"/>
              </a:rPr>
              <a:t>Specificity is a 4-part score compared column by column; one ID beats any number of classes or elements.</a:t>
            </a:r>
            <a:endParaRPr lang="en-US" sz="1250" dirty="0"/>
          </a:p>
        </p:txBody>
      </p:sp>
      <p:sp>
        <p:nvSpPr>
          <p:cNvPr id="16" name="Shape 14"/>
          <p:cNvSpPr/>
          <p:nvPr/>
        </p:nvSpPr>
        <p:spPr>
          <a:xfrm>
            <a:off x="822960" y="4968240"/>
            <a:ext cx="438912" cy="438912"/>
          </a:xfrm>
          <a:prstGeom prst="ellipse">
            <a:avLst/>
          </a:prstGeom>
          <a:solidFill>
            <a:srgbClr val="FF8A3D"/>
          </a:solidFill>
          <a:ln/>
        </p:spPr>
        <p:txBody>
          <a:bodyPr/>
          <a:p/>
        </p:txBody>
      </p:sp>
      <p:sp>
        <p:nvSpPr>
          <p:cNvPr id="17" name="Text 15"/>
          <p:cNvSpPr txBox="1"/>
          <p:nvPr/>
        </p:nvSpPr>
        <p:spPr>
          <a:xfrm>
            <a:off x="822960" y="496824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8" name="Text 16"/>
          <p:cNvSpPr txBox="1"/>
          <p:nvPr/>
        </p:nvSpPr>
        <p:spPr>
          <a:xfrm>
            <a:off x="1463040" y="4876800"/>
            <a:ext cx="10058400" cy="624840"/>
          </a:xfrm>
          <a:prstGeom prst="rect">
            <a:avLst/>
          </a:prstGeom>
          <a:noFill/>
          <a:ln/>
        </p:spPr>
        <p:txBody>
          <a:bodyPr wrap="square" lIns="0" tIns="0" rIns="0" bIns="0" rtlCol="0" anchor="ctr"/>
          <a:lstStyle/>
          <a:p>
            <a:pPr indent="0" marL="0">
              <a:buNone/>
            </a:pPr>
            <a:r>
              <a:rPr lang="en-US" sz="1250" dirty="0">
                <a:solidFill>
                  <a:srgbClr val="C9D3F5"/>
                </a:solidFill>
                <a:latin typeface="Calibri" pitchFamily="34" charset="0"/>
                <a:ea typeface="Calibri" pitchFamily="34" charset="-122"/>
                <a:cs typeface="Calibri" pitchFamily="34" charset="-120"/>
              </a:rPr>
              <a:t>!important should be a last resort — it breaks normal specificity reasoning.</a:t>
            </a:r>
            <a:endParaRPr lang="en-US" sz="1250" dirty="0"/>
          </a:p>
        </p:txBody>
      </p:sp>
      <p:sp>
        <p:nvSpPr>
          <p:cNvPr id="19" name="Shape 17"/>
          <p:cNvSpPr/>
          <p:nvPr/>
        </p:nvSpPr>
        <p:spPr>
          <a:xfrm>
            <a:off x="822960" y="5638800"/>
            <a:ext cx="438912" cy="438912"/>
          </a:xfrm>
          <a:prstGeom prst="ellipse">
            <a:avLst/>
          </a:prstGeom>
          <a:solidFill>
            <a:srgbClr val="FF8A3D"/>
          </a:solidFill>
          <a:ln/>
        </p:spPr>
        <p:txBody>
          <a:bodyPr/>
          <a:p/>
        </p:txBody>
      </p:sp>
      <p:sp>
        <p:nvSpPr>
          <p:cNvPr id="20" name="Text 18"/>
          <p:cNvSpPr txBox="1"/>
          <p:nvPr/>
        </p:nvSpPr>
        <p:spPr>
          <a:xfrm>
            <a:off x="822960" y="56388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1" name="Text 19"/>
          <p:cNvSpPr txBox="1"/>
          <p:nvPr/>
        </p:nvSpPr>
        <p:spPr>
          <a:xfrm>
            <a:off x="1463040" y="5547360"/>
            <a:ext cx="10058400" cy="624840"/>
          </a:xfrm>
          <a:prstGeom prst="rect">
            <a:avLst/>
          </a:prstGeom>
          <a:noFill/>
          <a:ln/>
        </p:spPr>
        <p:txBody>
          <a:bodyPr wrap="square" lIns="0" tIns="0" rIns="0" bIns="0" rtlCol="0" anchor="ctr"/>
          <a:lstStyle/>
          <a:p>
            <a:pPr indent="0" marL="0">
              <a:buNone/>
            </a:pPr>
            <a:r>
              <a:rPr lang="en-US" sz="1250" dirty="0">
                <a:solidFill>
                  <a:srgbClr val="C9D3F5"/>
                </a:solidFill>
                <a:latin typeface="Calibri" pitchFamily="34" charset="0"/>
                <a:ea typeface="Calibri" pitchFamily="34" charset="-122"/>
                <a:cs typeface="Calibri" pitchFamily="34" charset="-120"/>
              </a:rPr>
              <a:t>Text properties like color inherit from parent to child; box properties like border and margin do not.</a:t>
            </a:r>
            <a:endParaRPr lang="en-US" sz="1250" dirty="0"/>
          </a:p>
        </p:txBody>
      </p:sp>
      <p:sp>
        <p:nvSpPr>
          <p:cNvPr id="24"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34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COMSATS University Islamabad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5: Cascading Style Sheets (CSS) Fundamentals</dc:title>
  <dc:subject>CSC336 Web Technologies</dc:subject>
  <dc:creator>Usman Akram</dc:creator>
  <cp:lastModifiedBy>Usman Akram</cp:lastModifiedBy>
  <cp:revision>1</cp:revision>
  <dcterms:created xsi:type="dcterms:W3CDTF">2026-09-22T05:25:25Z</dcterms:created>
  <dcterms:modified xsi:type="dcterms:W3CDTF">2026-09-22T05:25:25Z</dcterms:modified>
</cp:coreProperties>
</file>
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CSS</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Fundamentals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The language that controls how HTML looks: colours, fonts, spacing, and layout.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CSS syntax, and the three ways to attach CSS to HTML</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Selectors: element, class, id, attribute, grouping, descendant</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Pseudo-classes and pseudo-elements</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cascade and specificity — every conflict case, and the real scoring method</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Which properties inherit from parent to child, and which do not</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most common colour, font, text, and background properties</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FOUNDATIONS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CSS?</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style sheet language: HTML says what something IS, CSS says how it should look</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Separates content (HTML) from presentation (CSS)</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Change a whole site's look by editing one CSS file</a:t>
            </a:r>
            <a:endParaRPr lang="en-US" sz="1500" dirty="0"/>
          </a:p>
        </p:txBody>
      </p:sp>
      <p:sp>
        <p:nvSpPr>
          <p:cNvPr id="13" name="Shape 11"/>
          <p:cNvSpPr/>
          <p:nvPr/>
        </p:nvSpPr>
        <p:spPr>
          <a:xfrm>
            <a:off x="685800" y="4434840"/>
            <a:ext cx="457200" cy="457200"/>
          </a:xfrm>
          <a:prstGeom prst="ellipse">
            <a:avLst/>
          </a:prstGeom>
          <a:solidFill>
            <a:srgbClr val="FF8A3D"/>
          </a:solidFill>
          <a:ln/>
        </p:spPr>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same HTML can be restyled for print, mobile, or accessibility</a:t>
            </a:r>
            <a:endParaRPr lang="en-US" sz="1500" dirty="0"/>
          </a:p>
        </p:txBody>
      </p:sp>
      <p:sp>
        <p:nvSpPr>
          <p:cNvPr id="16" name="Text 1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7" name="Text 1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SYNTAX</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CSS Rule</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darkslategray;</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font-size: 16px;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selector (which elements) plus a declaration block (what style) — every declaration is a property: value pair, ending in a semicolon.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1. Inline Styles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&lt;p style="color: red; font-weight: bold;"&gt; — applies only to that one element.</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nline-style.png">    </p:cNvPr>
          <p:cNvPicPr>
            <a:picLocks noChangeAspect="1"/>
          </p:cNvPicPr>
          <p:nvPr/>
        </p:nvPicPr>
        <p:blipFill>
          <a:blip r:embed="rId1"/>
          <a:stretch>
            <a:fillRect/>
          </a:stretch>
        </p:blipFill>
        <p:spPr>
          <a:xfrm>
            <a:off x="2171548" y="3665220"/>
            <a:ext cx="7848600" cy="1173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2. Internal Style Sheets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 &lt;style&gt; block inside &lt;head&gt; — applies to the whole page, but stuck in that one HTML file.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nternal-stylesheet.png">    </p:cNvPr>
          <p:cNvPicPr>
            <a:picLocks noChangeAspect="1"/>
          </p:cNvPicPr>
          <p:nvPr/>
        </p:nvPicPr>
        <p:blipFill>
          <a:blip r:embed="rId1"/>
          <a:stretch>
            <a:fillRect/>
          </a:stretch>
        </p:blipFill>
        <p:spPr>
          <a:xfrm>
            <a:off x="3611728" y="3528060"/>
            <a:ext cx="4968240" cy="144780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ATTACHING CSS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3. External Style Sheets — Preferred</a:t>
            </a:r>
            <a:endParaRPr lang="en-US" sz="3400" dirty="0"/>
          </a:p>
        </p:txBody>
      </p:sp>
      <p:sp>
        <p:nvSpPr>
          <p:cNvPr id="4" name="Shape 2"/>
          <p:cNvSpPr/>
          <p:nvPr/>
        </p:nvSpPr>
        <p:spPr>
          <a:xfrm>
            <a:off x="640080" y="1965960"/>
            <a:ext cx="10911535" cy="2194560"/>
          </a:xfrm>
          <a:prstGeom prst="roundRect">
            <a:avLst>
              <a:gd name="adj" fmla="val 2500"/>
            </a:avLst>
          </a:prstGeom>
          <a:solidFill>
            <a:srgbClr val="E6F6EE"/>
          </a:solidFill>
          <a:ln w="12700">
            <a:solidFill>
              <a:srgbClr val="3FA66B"/>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1F7A46"/>
                </a:solidFill>
                <a:latin typeface="Calibri" pitchFamily="34" charset="0"/>
                <a:ea typeface="Calibri" pitchFamily="34" charset="-122"/>
                <a:cs typeface="Calibri" pitchFamily="34" charset="-120"/>
              </a:rPr>
              <a:t>TIP</a:t>
            </a:r>
            <a:endParaRPr lang="en-US" sz="1000" dirty="0"/>
          </a:p>
        </p:txBody>
      </p:sp>
      <p:sp>
        <p:nvSpPr>
          <p:cNvPr id="6" name="Text 4"/>
          <p:cNvSpPr txBox="1"/>
          <p:nvPr/>
        </p:nvSpPr>
        <p:spPr>
          <a:xfrm>
            <a:off x="868680" y="2404872"/>
            <a:ext cx="10454335" cy="16002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One file, many pages: every page links the same styles.css, so the whole site looks consistent and you edit one file to restyle it. Separation of concerns keeps HTML focused on content. Browsers cache the file, so pages after the first load faster. Designers and developers can work on CSS and HTML independently.</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Selector: .highlight</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.highlight { background-color: yellow; } — reusable across as many elements as you like.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class-selector.png">    </p:cNvPr>
          <p:cNvPicPr>
            <a:picLocks noChangeAspect="1"/>
          </p:cNvPicPr>
          <p:nvPr/>
        </p:nvPicPr>
        <p:blipFill>
          <a:blip r:embed="rId1"/>
          <a:stretch>
            <a:fillRect/>
          </a:stretch>
        </p:blipFill>
        <p:spPr>
          <a:xfrm>
            <a:off x="640080" y="3943622"/>
            <a:ext cx="10911535" cy="616676"/>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ID Selector: #main-header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#main-header { font-size: 2rem; text-align: center; } — an id must be unique on the page.</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id-selector.png">    </p:cNvPr>
          <p:cNvPicPr>
            <a:picLocks noChangeAspect="1"/>
          </p:cNvPicPr>
          <p:nvPr/>
        </p:nvPicPr>
        <p:blipFill>
          <a:blip r:embed="rId1"/>
          <a:stretch>
            <a:fillRect/>
          </a:stretch>
        </p:blipFill>
        <p:spPr>
          <a:xfrm>
            <a:off x="3886048" y="3528060"/>
            <a:ext cx="4419600" cy="144780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Class vs. ID</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Use a class when a style might apply to more than one element (most of the time). Use an id only for something that truly appears once on the page. Overusing ids makes CSS harder to reuse.</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Attribute Selector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input[type="email"] { border: 1px solid gray; }  and  a[target] { color: purple; }</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attribute-selector.png">    </p:cNvPr>
          <p:cNvPicPr>
            <a:picLocks noChangeAspect="1"/>
          </p:cNvPicPr>
          <p:nvPr/>
        </p:nvPicPr>
        <p:blipFill>
          <a:blip r:embed="rId1"/>
          <a:stretch>
            <a:fillRect/>
          </a:stretch>
        </p:blipFill>
        <p:spPr>
          <a:xfrm>
            <a:off x="2544928" y="3078480"/>
            <a:ext cx="7101840" cy="234696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Grouping Selector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h1, h2, h3 { font-family: Georgia, serif; color: darkred; } — one declaration block, three selectors.</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grouping-selector.png">    </p:cNvPr>
          <p:cNvPicPr>
            <a:picLocks noChangeAspect="1"/>
          </p:cNvPicPr>
          <p:nvPr/>
        </p:nvPicPr>
        <p:blipFill>
          <a:blip r:embed="rId1"/>
          <a:stretch>
            <a:fillRect/>
          </a:stretch>
        </p:blipFill>
        <p:spPr>
          <a:xfrm>
            <a:off x="2924141" y="2331720"/>
            <a:ext cx="6343414"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SELECTORS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Descendant Selector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article p { color: #333; } — selects a &lt;p&gt; anywhere inside an &lt;article&gt;, however deeply nested.</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descendant-selector.png">    </p:cNvPr>
          <p:cNvPicPr>
            <a:picLocks noChangeAspect="1"/>
          </p:cNvPicPr>
          <p:nvPr/>
        </p:nvPicPr>
        <p:blipFill>
          <a:blip r:embed="rId1"/>
          <a:stretch>
            <a:fillRect/>
          </a:stretch>
        </p:blipFill>
        <p:spPr>
          <a:xfrm>
            <a:off x="640080" y="3182776"/>
            <a:ext cx="10911535" cy="2138368"/>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Pseudo-Classes</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108960"/>
                <a:gridCol w="786384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Matches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:hover / :focus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Mouse over the element / the element is focused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While the element is being clicked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:first-child / :last-child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First / last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:nth-child(n)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nth child of its parent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:not(selector)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Elements that do NOT match the given selector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STATES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Pseudo-Classes,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li:first-child and button:disabled are states the browser can render up front.</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pseudo-class-demo.png">    </p:cNvPr>
          <p:cNvPicPr>
            <a:picLocks noChangeAspect="1"/>
          </p:cNvPicPr>
          <p:nvPr/>
        </p:nvPicPr>
        <p:blipFill>
          <a:blip r:embed="rId1"/>
          <a:stretch>
            <a:fillRect/>
          </a:stretch>
        </p:blipFill>
        <p:spPr>
          <a:xfrm>
            <a:off x="3771748" y="2514600"/>
            <a:ext cx="4648200" cy="347472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p::first-line { font-weight: bold; }</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.quote::before { content: "\201C";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.quote::after  { content: "\201D"; }</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::before and ::after insert content that is not in the HTML at all — purely for decoration.</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PARTS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Pseudo-Elements, Rendered</a:t>
            </a:r>
            <a:endParaRPr lang="en-US" sz="3400" dirty="0"/>
          </a:p>
        </p:txBody>
      </p:sp>
      <p:sp>
        <p:nvSpPr>
          <p:cNvPr id="4" name="Shape 2"/>
          <p:cNvSpPr/>
          <p:nvPr/>
        </p:nvSpPr>
        <p:spPr>
          <a:xfrm>
            <a:off x="530352" y="1947672"/>
            <a:ext cx="11130991" cy="4334256"/>
          </a:xfrm>
          <a:prstGeom prst="roundRect">
            <a:avLst>
              <a:gd name="adj" fmla="val 1266"/>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5" name="Image 0" descr="D:/GitHub/mern-web-book/docs/assets/img/lecture-05/pseudo-element-demo.png">    </p:cNvPr>
          <p:cNvPicPr>
            <a:picLocks noChangeAspect="1"/>
          </p:cNvPicPr>
          <p:nvPr/>
        </p:nvPicPr>
        <p:blipFill>
          <a:blip r:embed="rId1"/>
          <a:stretch>
            <a:fillRect/>
          </a:stretch>
        </p:blipFill>
        <p:spPr>
          <a:xfrm>
            <a:off x="640080" y="2519655"/>
            <a:ext cx="10911535" cy="3190290"/>
          </a:xfrm>
          <a:prstGeom prst="rect">
            <a:avLst/>
          </a:prstGeom>
        </p:spPr>
      </p:pic>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From Lowest to Highest</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114800"/>
                <a:gridCol w="6858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Selector 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Example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 / pseudo-element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 ::before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 / attribute / pseudo-class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.highlight, [type="text"], :hover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#main-header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 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style="..."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Overrides everything else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CASCADE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Specificity Decides the Winner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&lt;p id="lead-paragraph" class="intro"&gt; — the id selector wins, regardless of source order.</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specificity-demo.png">    </p:cNvPr>
          <p:cNvPicPr>
            <a:picLocks noChangeAspect="1"/>
          </p:cNvPicPr>
          <p:nvPr/>
        </p:nvPicPr>
        <p:blipFill>
          <a:blip r:embed="rId1"/>
          <a:stretch>
            <a:fillRect/>
          </a:stretch>
        </p:blipFill>
        <p:spPr>
          <a:xfrm>
            <a:off x="3756508" y="3710940"/>
            <a:ext cx="4678680" cy="108204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Resolves Conflicts</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4389120"/>
                <a:gridCol w="658368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The Winner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1. Different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more specific rule, regardless of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2. Equal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rule written LATER in the source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3. One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!important rule, regardless of specificity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4. Both rules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Falls back to specificity, then 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5. Inline style vs. stylesheet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inline style — unless the stylesheet rule is !important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EVERY CONFLICT CASE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Case 5 in Code</a:t>
            </a:r>
            <a:endParaRPr lang="en-US" sz="3400" dirty="0"/>
          </a:p>
        </p:txBody>
      </p:sp>
      <p:sp>
        <p:nvSpPr>
          <p:cNvPr id="4" name="Shape 2"/>
          <p:cNvSpPr/>
          <p:nvPr/>
        </p:nvSpPr>
        <p:spPr>
          <a:xfrm>
            <a:off x="640080" y="1965960"/>
            <a:ext cx="10911535" cy="2221992"/>
          </a:xfrm>
          <a:prstGeom prst="roundRect">
            <a:avLst>
              <a:gd name="adj" fmla="val 3292"/>
            </a:avLst>
          </a:prstGeom>
          <a:solidFill>
            <a:srgbClr val="1E1E4C"/>
          </a:solidFill>
          <a:ln/>
        </p:spPr>
      </p:sp>
      <p:sp>
        <p:nvSpPr>
          <p:cNvPr id="5" name="Text 3"/>
          <p:cNvSpPr txBox="1"/>
          <p:nvPr/>
        </p:nvSpPr>
        <p:spPr>
          <a:xfrm>
            <a:off x="960120" y="2194560"/>
            <a:ext cx="10271455" cy="1764792"/>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&lt;p id="lead" style="color: purple;"&gt;...&lt;/p&gt;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blue; }              /* loses to inline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#lead { color: green !important; } /* beats inline   */</a:t>
            </a:r>
            <a:endParaRPr lang="en-US" sz="1400" dirty="0"/>
          </a:p>
        </p:txBody>
      </p:sp>
      <p:sp>
        <p:nvSpPr>
          <p:cNvPr id="6" name="Text 4"/>
          <p:cNvSpPr txBox="1"/>
          <p:nvPr/>
        </p:nvSpPr>
        <p:spPr>
          <a:xfrm>
            <a:off x="640080" y="4416552"/>
            <a:ext cx="10911535" cy="1847088"/>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Without the !important line, the paragraph is purple. With it, green — one of the few times !important is the right tool.</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REAL FORMULA</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4-Part Specificity Score</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713232">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Column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Counts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Inline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1 if the style is inline, else 0</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IDs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ID selectors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Classes / attrs / pseudo-classes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713232">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Elements / pseudo-elements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Number of these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#nav .item a:hover -&gt; (0,1,2,1)  beats  nav ul li a -&gt; (0,0,0,4) — one ID always outweighs any number of elements, no matter how long the other selector looks.</a:t>
            </a:r>
            <a:endParaRPr lang="en-US" sz="1150" dirty="0"/>
          </a:p>
        </p:txBody>
      </p:sp>
      <p:sp>
        <p:nvSpPr>
          <p:cNvPr id="6" name="Text 3"/>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4"/>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An Example Where Inheritance Does NOT Happen</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.parent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border: 4px solid crimson;</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padding: 20px;</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color: darkblue;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 class="parent"&gt;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Parent text is dark blue.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&lt;p&gt;Child paragraph is dark blue too.&lt;/p&gt;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&lt;/div&gt;</a:t>
            </a:r>
            <a:endParaRPr lang="en-US" sz="14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color inherits, so the &lt;p&gt; is dark blue too. border and padding do NOT inherit — only .parent itself gets the crimson outline and padding.</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INHERITANCE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Inherited vs. Not Inherited</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5303520"/>
                <a:gridCol w="566928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Not Inherited by Default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font-family, font-size, font-weight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padding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line-height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border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text-align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width, height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visibility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background / background-color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COLOUR</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Five Ways to Write a Colour</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Named, hex, rgb() all give the same red; rgba() adds transparency; hsl() gives hue/saturation/lightness.</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color-values.png">    </p:cNvPr>
          <p:cNvPicPr>
            <a:picLocks noChangeAspect="1"/>
          </p:cNvPicPr>
          <p:nvPr/>
        </p:nvPicPr>
        <p:blipFill>
          <a:blip r:embed="rId1"/>
          <a:stretch>
            <a:fillRect/>
          </a:stretch>
        </p:blipFill>
        <p:spPr>
          <a:xfrm>
            <a:off x="2124813" y="2331720"/>
            <a:ext cx="7942069"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FONTS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Font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font-family (a fallback list), font-size, font-weight, font-style — combined via the font shorthand too.</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font-properties.png">    </p:cNvPr>
          <p:cNvPicPr>
            <a:picLocks noChangeAspect="1"/>
          </p:cNvPicPr>
          <p:nvPr/>
        </p:nvPicPr>
        <p:blipFill>
          <a:blip r:embed="rId1"/>
          <a:stretch>
            <a:fillRect/>
          </a:stretch>
        </p:blipFill>
        <p:spPr>
          <a:xfrm>
            <a:off x="640080" y="3946659"/>
            <a:ext cx="10911535" cy="610602"/>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TEXT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Text Properties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text-align, text-decoration, text-transform, line-height, letter-spacing.</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5/text-properties.png">    </p:cNvPr>
          <p:cNvPicPr>
            <a:picLocks noChangeAspect="1"/>
          </p:cNvPicPr>
          <p:nvPr/>
        </p:nvPicPr>
        <p:blipFill>
          <a:blip r:embed="rId1"/>
          <a:stretch>
            <a:fillRect/>
          </a:stretch>
        </p:blipFill>
        <p:spPr>
          <a:xfrm>
            <a:off x="640080" y="3158349"/>
            <a:ext cx="10911535" cy="2187222"/>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BACKGROUNDS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Background Properties</a:t>
            </a:r>
            <a:endParaRPr lang="en-US" sz="3400" dirty="0"/>
          </a:p>
        </p:txBody>
      </p:sp>
      <p:sp>
        <p:nvSpPr>
          <p:cNvPr id="4" name="Shape 2"/>
          <p:cNvSpPr/>
          <p:nvPr/>
        </p:nvSpPr>
        <p:spPr>
          <a:xfrm>
            <a:off x="640080" y="1965960"/>
            <a:ext cx="10911535" cy="3291840"/>
          </a:xfrm>
          <a:prstGeom prst="roundRect">
            <a:avLst>
              <a:gd name="adj" fmla="val 2222"/>
            </a:avLst>
          </a:prstGeom>
          <a:solidFill>
            <a:srgbClr val="1E1E4C"/>
          </a:solidFill>
          <a:ln/>
        </p:spPr>
      </p:sp>
      <p:sp>
        <p:nvSpPr>
          <p:cNvPr id="5" name="Text 3"/>
          <p:cNvSpPr txBox="1"/>
          <p:nvPr/>
        </p:nvSpPr>
        <p:spPr>
          <a:xfrm>
            <a:off x="960120" y="2194560"/>
            <a:ext cx="10271455" cy="2834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.card {</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background-color: #f5f5f5;</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background-image: url("pattern.png");</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background-repeat: no-repeat;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background-position: center;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background-size: cover;</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486400"/>
            <a:ext cx="10911535" cy="7772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A background shorthand combines several of these into one declaration, just like font does.</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5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CSS separates presentation from content; external style sheets are preferred for real projects.</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Selectors decide what gets styled: element, class, id, attribute, grouping, descendant.</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cascade resolves conflicts in order: importance, then specificity, then source order — every time.</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Specificity is a 4-part score compared column by column; one ID beats any number of classes or elements.</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!important should be a last resort — it breaks normal specificity reasoning.</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Text properties like color inherit from parent to child; box properties like border and margin do not.</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Cascading Style Sheets (CSS) Fundamentals</dc:title>
  <dc:subject>CSC336 Web Technologies</dc:subject>
  <dc:creator>Usman Akram</dc:creator>
  <cp:lastModifiedBy>Usman Akram</cp:lastModifiedBy>
  <cp:revision>1</cp:revision>
  <dcterms:created xsi:type="dcterms:W3CDTF">2026-09-13T11:38:23Z</dcterms:created>
  <dcterms:modified xsi:type="dcterms:W3CDTF">2026-09-13T11:38:23Z</dcterms:modified>
</cp:coreProperties>
</file>
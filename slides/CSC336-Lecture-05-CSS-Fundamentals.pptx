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&lt;p style="color: red; font-weight: bold;"&gt; — applies only to that one element.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line-style.png">    </p:cNvPr>
          <p:cNvPicPr>
            <a:picLocks noChangeAspect="1"/>
          </p:cNvPicPr>
          <p:nvPr/>
        </p:nvPicPr>
        <p:blipFill>
          <a:blip r:embed="rId1"/>
          <a:stretch>
            <a:fillRect/>
          </a:stretch>
        </p:blipFill>
        <p:spPr>
          <a:xfrm>
            <a:off x="2171548" y="3665220"/>
            <a:ext cx="7848600" cy="1173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ternal-stylesheet.png">    </p:cNvPr>
          <p:cNvPicPr>
            <a:picLocks noChangeAspect="1"/>
          </p:cNvPicPr>
          <p:nvPr/>
        </p:nvPicPr>
        <p:blipFill>
          <a:blip r:embed="rId1"/>
          <a:stretch>
            <a:fillRect/>
          </a:stretch>
        </p:blipFill>
        <p:spPr>
          <a:xfrm>
            <a:off x="3611728" y="3528060"/>
            <a:ext cx="496824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.highlight { background-color: yellow; } — reusable across as many elements as you like.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class-selector.png">    </p:cNvPr>
          <p:cNvPicPr>
            <a:picLocks noChangeAspect="1"/>
          </p:cNvPicPr>
          <p:nvPr/>
        </p:nvPicPr>
        <p:blipFill>
          <a:blip r:embed="rId1"/>
          <a:stretch>
            <a:fillRect/>
          </a:stretch>
        </p:blipFill>
        <p:spPr>
          <a:xfrm>
            <a:off x="640080" y="3943622"/>
            <a:ext cx="10911535" cy="616676"/>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#main-header { font-size: 2rem; text-align: center; } — an id must be unique on the page.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d-selector.png">    </p:cNvPr>
          <p:cNvPicPr>
            <a:picLocks noChangeAspect="1"/>
          </p:cNvPicPr>
          <p:nvPr/>
        </p:nvPicPr>
        <p:blipFill>
          <a:blip r:embed="rId1"/>
          <a:stretch>
            <a:fillRect/>
          </a:stretch>
        </p:blipFill>
        <p:spPr>
          <a:xfrm>
            <a:off x="3886048" y="3528060"/>
            <a:ext cx="441960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input[type="email"] { border: 1px solid gray; }  and  a[target] { color: purple; }</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attribute-selector.png">    </p:cNvPr>
          <p:cNvPicPr>
            <a:picLocks noChangeAspect="1"/>
          </p:cNvPicPr>
          <p:nvPr/>
        </p:nvPicPr>
        <p:blipFill>
          <a:blip r:embed="rId1"/>
          <a:stretch>
            <a:fillRect/>
          </a:stretch>
        </p:blipFill>
        <p:spPr>
          <a:xfrm>
            <a:off x="2544928" y="3078480"/>
            <a:ext cx="7101840" cy="234696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h1, h2, h3 { font-family: Georgia, serif; color: darkred; } — one declaration block, three selectors.</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grouping-selector.png">    </p:cNvPr>
          <p:cNvPicPr>
            <a:picLocks noChangeAspect="1"/>
          </p:cNvPicPr>
          <p:nvPr/>
        </p:nvPicPr>
        <p:blipFill>
          <a:blip r:embed="rId1"/>
          <a:stretch>
            <a:fillRect/>
          </a:stretch>
        </p:blipFill>
        <p:spPr>
          <a:xfrm>
            <a:off x="2924141" y="2331720"/>
            <a:ext cx="6343414"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article p { color: #333; } — selects a &lt;p&gt; anywhere inside an &lt;article&gt;, however deeply nested.</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descendant-selector.png">    </p:cNvPr>
          <p:cNvPicPr>
            <a:picLocks noChangeAspect="1"/>
          </p:cNvPicPr>
          <p:nvPr/>
        </p:nvPicPr>
        <p:blipFill>
          <a:blip r:embed="rId1"/>
          <a:stretch>
            <a:fillRect/>
          </a:stretch>
        </p:blipFill>
        <p:spPr>
          <a:xfrm>
            <a:off x="640080" y="3182776"/>
            <a:ext cx="10911535" cy="2138368"/>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Universal Selector</a:t>
            </a:r>
            <a:endParaRPr lang="en-US" sz="3400" dirty="0"/>
          </a:p>
        </p:txBody>
      </p:sp>
      <p:sp>
        <p:nvSpPr>
          <p:cNvPr id="4" name="Shape 2"/>
          <p:cNvSpPr/>
          <p:nvPr/>
        </p:nvSpPr>
        <p:spPr>
          <a:xfrm>
            <a:off x="640080" y="1965960"/>
            <a:ext cx="10911535" cy="2606040"/>
          </a:xfrm>
          <a:prstGeom prst="roundRect">
            <a:avLst>
              <a:gd name="adj" fmla="val 2807"/>
            </a:avLst>
          </a:prstGeom>
          <a:solidFill>
            <a:srgbClr val="1E1E4C"/>
          </a:solidFill>
          <a:ln/>
        </p:spPr>
      </p:sp>
      <p:sp>
        <p:nvSpPr>
          <p:cNvPr id="5" name="Text 3"/>
          <p:cNvSpPr txBox="1"/>
          <p:nvPr/>
        </p:nvSpPr>
        <p:spPr>
          <a:xfrm>
            <a:off x="960120" y="2194560"/>
            <a:ext cx="10271455" cy="2148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margin: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box-sizing: border-box;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800600"/>
            <a:ext cx="10911535" cy="14630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 matches every single element on the page — most commonly seen in a "CSS reset" at the very top of a stylesheet.</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Combinators: Child and Sibling</a:t>
            </a:r>
            <a:endParaRPr lang="en-US" sz="3400" dirty="0"/>
          </a:p>
        </p:txBody>
      </p:sp>
      <p:sp>
        <p:nvSpPr>
          <p:cNvPr id="4" name="Shape 2"/>
          <p:cNvSpPr/>
          <p:nvPr/>
        </p:nvSpPr>
        <p:spPr>
          <a:xfrm>
            <a:off x="640080" y="1965960"/>
            <a:ext cx="10911535" cy="1837944"/>
          </a:xfrm>
          <a:prstGeom prst="roundRect">
            <a:avLst>
              <a:gd name="adj" fmla="val 3980"/>
            </a:avLst>
          </a:prstGeom>
          <a:solidFill>
            <a:srgbClr val="1E1E4C"/>
          </a:solidFill>
          <a:ln/>
        </p:spPr>
      </p:sp>
      <p:sp>
        <p:nvSpPr>
          <p:cNvPr id="5" name="Text 3"/>
          <p:cNvSpPr txBox="1"/>
          <p:nvPr/>
        </p:nvSpPr>
        <p:spPr>
          <a:xfrm>
            <a:off x="960120" y="2194560"/>
            <a:ext cx="10271455" cy="1380744"/>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nav &gt; a   { color: navy; }    /* only DIRECT children, not grandchildren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h2 + p    { font-weight: bold; } /* the paragraph immediately after an h2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h2 ~ p    { color: gray; }       /* every p that follows an h2, not just one */</a:t>
            </a:r>
            <a:endParaRPr lang="en-US" sz="1400" dirty="0"/>
          </a:p>
        </p:txBody>
      </p:sp>
      <p:sp>
        <p:nvSpPr>
          <p:cNvPr id="6" name="Text 4"/>
          <p:cNvSpPr txBox="1"/>
          <p:nvPr/>
        </p:nvSpPr>
        <p:spPr>
          <a:xfrm>
            <a:off x="640080" y="4032504"/>
            <a:ext cx="10911535" cy="2231136"/>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&gt; is stricter than a plain descendant selector (space) — it skips anything nested more than one level deep.</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pseudo-class-demo.png">    </p:cNvPr>
          <p:cNvPicPr>
            <a:picLocks noChangeAspect="1"/>
          </p:cNvPicPr>
          <p:nvPr/>
        </p:nvPicPr>
        <p:blipFill>
          <a:blip r:embed="rId1"/>
          <a:stretch>
            <a:fillRect/>
          </a:stretch>
        </p:blipFill>
        <p:spPr>
          <a:xfrm>
            <a:off x="3771748" y="2514600"/>
            <a:ext cx="4648200" cy="347472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5/pseudo-element-demo.png">    </p:cNvPr>
          <p:cNvPicPr>
            <a:picLocks noChangeAspect="1"/>
          </p:cNvPicPr>
          <p:nvPr/>
        </p:nvPicPr>
        <p:blipFill>
          <a:blip r:embed="rId1"/>
          <a:stretch>
            <a:fillRect/>
          </a:stretch>
        </p:blipFill>
        <p:spPr>
          <a:xfrm>
            <a:off x="640080" y="2519655"/>
            <a:ext cx="10911535" cy="319029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&lt;p id="lead-paragraph" class="intro"&gt; — the id selector wins, regardless of source order.</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specificity-demo.png">    </p:cNvPr>
          <p:cNvPicPr>
            <a:picLocks noChangeAspect="1"/>
          </p:cNvPicPr>
          <p:nvPr/>
        </p:nvPicPr>
        <p:blipFill>
          <a:blip r:embed="rId1"/>
          <a:stretch>
            <a:fillRect/>
          </a:stretch>
        </p:blipFill>
        <p:spPr>
          <a:xfrm>
            <a:off x="3756508" y="3710940"/>
            <a:ext cx="4678680" cy="108204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Named, hex, rgb() all give the same red; rgba() adds transparency; hsl() gives hue/saturation/lightness.</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color-values.png">    </p:cNvPr>
          <p:cNvPicPr>
            <a:picLocks noChangeAspect="1"/>
          </p:cNvPicPr>
          <p:nvPr/>
        </p:nvPicPr>
        <p:blipFill>
          <a:blip r:embed="rId1"/>
          <a:stretch>
            <a:fillRect/>
          </a:stretch>
        </p:blipFill>
        <p:spPr>
          <a:xfrm>
            <a:off x="2124813" y="2331720"/>
            <a:ext cx="7942069"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font-properties.png">    </p:cNvPr>
          <p:cNvPicPr>
            <a:picLocks noChangeAspect="1"/>
          </p:cNvPicPr>
          <p:nvPr/>
        </p:nvPicPr>
        <p:blipFill>
          <a:blip r:embed="rId1"/>
          <a:stretch>
            <a:fillRect/>
          </a:stretch>
        </p:blipFill>
        <p:spPr>
          <a:xfrm>
            <a:off x="640080" y="3946659"/>
            <a:ext cx="10911535" cy="610602"/>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text-align, text-decoration, text-transform, line-height, letter-spacing.</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text-properties.png">    </p:cNvPr>
          <p:cNvPicPr>
            <a:picLocks noChangeAspect="1"/>
          </p:cNvPicPr>
          <p:nvPr/>
        </p:nvPicPr>
        <p:blipFill>
          <a:blip r:embed="rId1"/>
          <a:stretch>
            <a:fillRect/>
          </a:stretch>
        </p:blipFill>
        <p:spPr>
          <a:xfrm>
            <a:off x="640080" y="3158349"/>
            <a:ext cx="10911535" cy="2187222"/>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2026-09-13T11:44:20Z</dcterms:created>
  <dcterms:modified xsi:type="dcterms:W3CDTF">2026-09-13T11:44:20Z</dcterms:modified>
</cp:coreProperties>
</file>
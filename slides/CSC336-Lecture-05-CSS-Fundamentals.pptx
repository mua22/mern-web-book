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 Id="rId4"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 Id="rId4"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 Id="rId4"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cuinote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cuinote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uinotes.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cuinotes.com" TargetMode="Externa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hyperlink" Target="https://cuinotes.com" TargetMode="Externa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 Id="rId4" Type="http://schemas.openxmlformats.org/officeDocument/2006/relationships/hyperlink" Target="https://cuinotes.com" TargetMode="Externa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 Id="rId4" Type="http://schemas.openxmlformats.org/officeDocument/2006/relationships/hyperlink" Target="https://cuinotes.co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cuinotes.com"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CSS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Fundamentals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The language that controls how HTML looks: colours, fonts, spacing, and layout.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CSS syntax, and the three ways to attach CSS to HTML</a:t>
            </a:r>
            <a:endParaRPr lang="en-US" sz="1500" dirty="0"/>
          </a:p>
        </p:txBody>
      </p:sp>
      <p:sp>
        <p:nvSpPr>
          <p:cNvPr id="7" name="Shape 5"/>
          <p:cNvSpPr/>
          <p:nvPr/>
        </p:nvSpPr>
        <p:spPr>
          <a:xfrm>
            <a:off x="685800" y="2689860"/>
            <a:ext cx="457200" cy="457200"/>
          </a:xfrm>
          <a:prstGeom prst="ellipse">
            <a:avLst/>
          </a:prstGeom>
          <a:solidFill>
            <a:srgbClr val="FF8A3D"/>
          </a:solidFill>
          <a:ln/>
        </p:spPr>
        <p:txBody>
          <a:bodyPr/>
          <a:p/>
        </p:txBody>
      </p:sp>
      <p:sp>
        <p:nvSpPr>
          <p:cNvPr id="8" name="Text 6"/>
          <p:cNvSpPr txBox="1"/>
          <p:nvPr/>
        </p:nvSpPr>
        <p:spPr>
          <a:xfrm>
            <a:off x="685800" y="26898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167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Selectors: element, class, id, attribute, grouping, descendant</a:t>
            </a:r>
            <a:endParaRPr lang="en-US" sz="1500" dirty="0"/>
          </a:p>
        </p:txBody>
      </p:sp>
      <p:sp>
        <p:nvSpPr>
          <p:cNvPr id="10" name="Shape 8"/>
          <p:cNvSpPr/>
          <p:nvPr/>
        </p:nvSpPr>
        <p:spPr>
          <a:xfrm>
            <a:off x="685800" y="3413760"/>
            <a:ext cx="457200" cy="457200"/>
          </a:xfrm>
          <a:prstGeom prst="ellipse">
            <a:avLst/>
          </a:prstGeom>
          <a:solidFill>
            <a:srgbClr val="FF8A3D"/>
          </a:solidFill>
          <a:ln/>
        </p:spPr>
        <p:txBody>
          <a:bodyPr/>
          <a:p/>
        </p:txBody>
      </p:sp>
      <p:sp>
        <p:nvSpPr>
          <p:cNvPr id="11" name="Text 9"/>
          <p:cNvSpPr txBox="1"/>
          <p:nvPr/>
        </p:nvSpPr>
        <p:spPr>
          <a:xfrm>
            <a:off x="685800" y="34137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406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Pseudo-classes and pseudo-elements</a:t>
            </a:r>
            <a:endParaRPr lang="en-US" sz="1500" dirty="0"/>
          </a:p>
        </p:txBody>
      </p:sp>
      <p:sp>
        <p:nvSpPr>
          <p:cNvPr id="13" name="Shape 11"/>
          <p:cNvSpPr/>
          <p:nvPr/>
        </p:nvSpPr>
        <p:spPr>
          <a:xfrm>
            <a:off x="685800" y="4137660"/>
            <a:ext cx="457200" cy="457200"/>
          </a:xfrm>
          <a:prstGeom prst="ellipse">
            <a:avLst/>
          </a:prstGeom>
          <a:solidFill>
            <a:srgbClr val="FF8A3D"/>
          </a:solidFill>
          <a:ln/>
        </p:spPr>
        <p:txBody>
          <a:bodyPr/>
          <a:p/>
        </p:txBody>
      </p:sp>
      <p:sp>
        <p:nvSpPr>
          <p:cNvPr id="14" name="Text 12"/>
          <p:cNvSpPr txBox="1"/>
          <p:nvPr/>
        </p:nvSpPr>
        <p:spPr>
          <a:xfrm>
            <a:off x="685800" y="41376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645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cascade and specificity — every conflict case, and the real scoring method</a:t>
            </a:r>
            <a:endParaRPr lang="en-US" sz="1500" dirty="0"/>
          </a:p>
        </p:txBody>
      </p:sp>
      <p:sp>
        <p:nvSpPr>
          <p:cNvPr id="16" name="Shape 14"/>
          <p:cNvSpPr/>
          <p:nvPr/>
        </p:nvSpPr>
        <p:spPr>
          <a:xfrm>
            <a:off x="685800" y="4861560"/>
            <a:ext cx="457200" cy="457200"/>
          </a:xfrm>
          <a:prstGeom prst="ellipse">
            <a:avLst/>
          </a:prstGeom>
          <a:solidFill>
            <a:srgbClr val="FF8A3D"/>
          </a:solidFill>
          <a:ln/>
        </p:spPr>
        <p:txBody>
          <a:bodyPr/>
          <a:p/>
        </p:txBody>
      </p:sp>
      <p:sp>
        <p:nvSpPr>
          <p:cNvPr id="17" name="Text 15"/>
          <p:cNvSpPr txBox="1"/>
          <p:nvPr/>
        </p:nvSpPr>
        <p:spPr>
          <a:xfrm>
            <a:off x="685800" y="4861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884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Which properties inherit from parent to child, and which do not</a:t>
            </a:r>
            <a:endParaRPr lang="en-US" sz="1500" dirty="0"/>
          </a:p>
        </p:txBody>
      </p:sp>
      <p:sp>
        <p:nvSpPr>
          <p:cNvPr id="19" name="Shape 17"/>
          <p:cNvSpPr/>
          <p:nvPr/>
        </p:nvSpPr>
        <p:spPr>
          <a:xfrm>
            <a:off x="685800" y="5585460"/>
            <a:ext cx="457200" cy="457200"/>
          </a:xfrm>
          <a:prstGeom prst="ellipse">
            <a:avLst/>
          </a:prstGeom>
          <a:solidFill>
            <a:srgbClr val="FF8A3D"/>
          </a:solidFill>
          <a:ln/>
        </p:spPr>
        <p:txBody>
          <a:bodyPr/>
          <a:p/>
        </p:txBody>
      </p:sp>
      <p:sp>
        <p:nvSpPr>
          <p:cNvPr id="20" name="Text 18"/>
          <p:cNvSpPr txBox="1"/>
          <p:nvPr/>
        </p:nvSpPr>
        <p:spPr>
          <a:xfrm>
            <a:off x="685800" y="55854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5123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most common colour, font, text, and background properties</a:t>
            </a:r>
            <a:endParaRPr lang="en-US" sz="150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CSS?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style sheet language: HTML says what something IS, CSS says how it should look</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Separates content (HTML) from presentation (CSS)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Change a whole site's look by editing one CSS file</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same HTML can be restyled for print, mobile, or accessibility</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SYNTAX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CSS Rule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darkslategray;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font-size: 16px;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selector (which elements) plus a declaration block (what style) — every declaration is a property: value pair, ending in a semicolon.</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1. Inline Styles</a:t>
            </a:r>
            <a:endParaRPr lang="en-US" sz="3400" dirty="0"/>
          </a:p>
        </p:txBody>
      </p:sp>
      <p:sp>
        <p:nvSpPr>
          <p:cNvPr id="4" name="Shape 2"/>
          <p:cNvSpPr/>
          <p:nvPr/>
        </p:nvSpPr>
        <p:spPr>
          <a:xfrm>
            <a:off x="640080" y="1965960"/>
            <a:ext cx="10911535" cy="786765"/>
          </a:xfrm>
          <a:prstGeom prst="roundRect">
            <a:avLst>
              <a:gd name="adj" fmla="val 9298"/>
            </a:avLst>
          </a:prstGeom>
          <a:solidFill>
            <a:srgbClr val="1E1E4C"/>
          </a:solidFill>
          <a:ln/>
        </p:spPr>
        <p:txBody>
          <a:bodyPr/>
          <a:p/>
        </p:txBody>
      </p:sp>
      <p:sp>
        <p:nvSpPr>
          <p:cNvPr id="5" name="Text 3"/>
          <p:cNvSpPr txBox="1"/>
          <p:nvPr/>
        </p:nvSpPr>
        <p:spPr>
          <a:xfrm>
            <a:off x="960120" y="2194560"/>
            <a:ext cx="10271455" cy="3295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style="color: red; font-weight: bold;"&gt;This paragraph is styled inline.&lt;/p&gt;</a:t>
            </a:r>
            <a:endParaRPr lang="en-US" sz="1250" dirty="0"/>
          </a:p>
        </p:txBody>
      </p:sp>
      <p:sp>
        <p:nvSpPr>
          <p:cNvPr id="6" name="Shape 4"/>
          <p:cNvSpPr/>
          <p:nvPr/>
        </p:nvSpPr>
        <p:spPr>
          <a:xfrm>
            <a:off x="530352" y="2917317"/>
            <a:ext cx="11130991" cy="3410331"/>
          </a:xfrm>
          <a:prstGeom prst="roundRect">
            <a:avLst>
              <a:gd name="adj" fmla="val 160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5/inline-style.png">    </p:cNvPr>
          <p:cNvPicPr>
            <a:picLocks noChangeAspect="1"/>
          </p:cNvPicPr>
          <p:nvPr/>
        </p:nvPicPr>
        <p:blipFill>
          <a:blip r:embed="rId1"/>
          <a:stretch>
            <a:fillRect/>
          </a:stretch>
        </p:blipFill>
        <p:spPr>
          <a:xfrm>
            <a:off x="2171548" y="4035742"/>
            <a:ext cx="7848600" cy="1173480"/>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txBody>
          <a:bodyPr/>
          <a:p/>
        </p:txBody>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&lt;style&gt;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body { font-family: Arial, sans-serif;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h1 { color: navy;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&lt;/style&gt;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&lt;body&gt;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&lt;h1&gt;Welcome&lt;/h1&gt;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&lt;/body&gt;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A &lt;style&gt; block inside &lt;head&gt; — applies to the whole page, but stuck in that one HTML file.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6" name="Image 0" descr="D:/GitHub/mern-web-book/docs/assets/img/lecture-05/internal-stylesheet.png">    </p:cNvPr>
          <p:cNvPicPr>
            <a:picLocks noChangeAspect="1"/>
          </p:cNvPicPr>
          <p:nvPr/>
        </p:nvPicPr>
        <p:blipFill>
          <a:blip r:embed="rId1"/>
          <a:stretch>
            <a:fillRect/>
          </a:stretch>
        </p:blipFill>
        <p:spPr>
          <a:xfrm>
            <a:off x="3611728" y="3528060"/>
            <a:ext cx="4968240" cy="1447800"/>
          </a:xfrm>
          <a:prstGeom prst="rect">
            <a:avLst/>
          </a:prstGeom>
        </p:spPr>
      </p:pic>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3. External Style Sheets — Preferred</a:t>
            </a:r>
            <a:endParaRPr lang="en-US" sz="3400" dirty="0"/>
          </a:p>
        </p:txBody>
      </p:sp>
      <p:sp>
        <p:nvSpPr>
          <p:cNvPr id="4" name="Shape 2"/>
          <p:cNvSpPr/>
          <p:nvPr/>
        </p:nvSpPr>
        <p:spPr>
          <a:xfrm>
            <a:off x="640080" y="1965960"/>
            <a:ext cx="10911535" cy="2194560"/>
          </a:xfrm>
          <a:prstGeom prst="roundRect">
            <a:avLst>
              <a:gd name="adj" fmla="val 2500"/>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6002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One file, many pages: every page links the same styles.css, so the whole site looks consistent and you edit one file to restyle it. Separation of concerns keeps HTML focused on content. Browsers cache the file, so pages after the first load faster. Designers and developers can work on CSS and HTML independently.</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Selector: .highlight</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txBody>
          <a:bodyPr/>
          <a:p/>
        </p:txBody>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class="highlight"&gt;This text is important.&lt;/p&gt;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.highlight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background-color: yellow;</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5/class-selector.png">    </p:cNvPr>
          <p:cNvPicPr>
            <a:picLocks noChangeAspect="1"/>
          </p:cNvPicPr>
          <p:nvPr/>
        </p:nvPicPr>
        <p:blipFill>
          <a:blip r:embed="rId1"/>
          <a:stretch>
            <a:fillRect/>
          </a:stretch>
        </p:blipFill>
        <p:spPr>
          <a:xfrm>
            <a:off x="640080" y="4790395"/>
            <a:ext cx="10911535" cy="616676"/>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ID Selector: #main-header</a:t>
            </a:r>
            <a:endParaRPr lang="en-US" sz="3400" dirty="0"/>
          </a:p>
        </p:txBody>
      </p:sp>
      <p:sp>
        <p:nvSpPr>
          <p:cNvPr id="4" name="Shape 2"/>
          <p:cNvSpPr/>
          <p:nvPr/>
        </p:nvSpPr>
        <p:spPr>
          <a:xfrm>
            <a:off x="640080" y="1965960"/>
            <a:ext cx="10911535" cy="1977390"/>
          </a:xfrm>
          <a:prstGeom prst="roundRect">
            <a:avLst>
              <a:gd name="adj" fmla="val 3699"/>
            </a:avLst>
          </a:prstGeom>
          <a:solidFill>
            <a:srgbClr val="1E1E4C"/>
          </a:solidFill>
          <a:ln/>
        </p:spPr>
        <p:txBody>
          <a:bodyPr/>
          <a:p/>
        </p:txBody>
      </p:sp>
      <p:sp>
        <p:nvSpPr>
          <p:cNvPr id="5" name="Text 3"/>
          <p:cNvSpPr txBox="1"/>
          <p:nvPr/>
        </p:nvSpPr>
        <p:spPr>
          <a:xfrm>
            <a:off x="960120" y="2194560"/>
            <a:ext cx="10271455" cy="152019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&lt;div id="main-header"&gt;Site Title&lt;/div&gt;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#main-header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font-size: 2rem;</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text-align: center;</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107942"/>
            <a:ext cx="11130991" cy="2219706"/>
          </a:xfrm>
          <a:prstGeom prst="roundRect">
            <a:avLst>
              <a:gd name="adj" fmla="val 247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5/id-selector.png">    </p:cNvPr>
          <p:cNvPicPr>
            <a:picLocks noChangeAspect="1"/>
          </p:cNvPicPr>
          <p:nvPr/>
        </p:nvPicPr>
        <p:blipFill>
          <a:blip r:embed="rId1"/>
          <a:stretch>
            <a:fillRect/>
          </a:stretch>
        </p:blipFill>
        <p:spPr>
          <a:xfrm>
            <a:off x="3886048" y="4493895"/>
            <a:ext cx="4419600" cy="1447800"/>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vs. ID</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Use a class when a style might apply to more than one element (most of the time). Use an id only for something that truly appears once on the page. Overusing ids makes CSS harder to reuse.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Attribute Selector</a:t>
            </a:r>
            <a:endParaRPr lang="en-US" sz="3400" dirty="0"/>
          </a:p>
        </p:txBody>
      </p:sp>
      <p:sp>
        <p:nvSpPr>
          <p:cNvPr id="4" name="Shape 2"/>
          <p:cNvSpPr/>
          <p:nvPr/>
        </p:nvSpPr>
        <p:spPr>
          <a:xfrm>
            <a:off x="640080" y="1965960"/>
            <a:ext cx="10911535" cy="2215515"/>
          </a:xfrm>
          <a:prstGeom prst="roundRect">
            <a:avLst>
              <a:gd name="adj" fmla="val 3302"/>
            </a:avLst>
          </a:prstGeom>
          <a:solidFill>
            <a:srgbClr val="1E1E4C"/>
          </a:solidFill>
          <a:ln/>
        </p:spPr>
        <p:txBody>
          <a:bodyPr/>
          <a:p/>
        </p:txBody>
      </p:sp>
      <p:sp>
        <p:nvSpPr>
          <p:cNvPr id="5" name="Text 3"/>
          <p:cNvSpPr txBox="1"/>
          <p:nvPr/>
        </p:nvSpPr>
        <p:spPr>
          <a:xfrm>
            <a:off x="960120" y="2194560"/>
            <a:ext cx="10271455" cy="17583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input[type="email"]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border: 1px solid gray;</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a[target]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purple;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346067"/>
            <a:ext cx="11130991" cy="1981581"/>
          </a:xfrm>
          <a:prstGeom prst="roundRect">
            <a:avLst>
              <a:gd name="adj" fmla="val 276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5/attribute-selector.png">    </p:cNvPr>
          <p:cNvPicPr>
            <a:picLocks noChangeAspect="1"/>
          </p:cNvPicPr>
          <p:nvPr/>
        </p:nvPicPr>
        <p:blipFill>
          <a:blip r:embed="rId1"/>
          <a:stretch>
            <a:fillRect/>
          </a:stretch>
        </p:blipFill>
        <p:spPr>
          <a:xfrm>
            <a:off x="3429775" y="4455795"/>
            <a:ext cx="5332144" cy="1762125"/>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Grouping Selector</a:t>
            </a:r>
            <a:endParaRPr lang="en-US" sz="3400" dirty="0"/>
          </a:p>
        </p:txBody>
      </p:sp>
      <p:sp>
        <p:nvSpPr>
          <p:cNvPr id="4" name="Shape 2"/>
          <p:cNvSpPr/>
          <p:nvPr/>
        </p:nvSpPr>
        <p:spPr>
          <a:xfrm>
            <a:off x="640080" y="1965960"/>
            <a:ext cx="10911535" cy="1501140"/>
          </a:xfrm>
          <a:prstGeom prst="roundRect">
            <a:avLst>
              <a:gd name="adj" fmla="val 4873"/>
            </a:avLst>
          </a:prstGeom>
          <a:solidFill>
            <a:srgbClr val="1E1E4C"/>
          </a:solidFill>
          <a:ln/>
        </p:spPr>
        <p:txBody>
          <a:bodyPr/>
          <a:p/>
        </p:txBody>
      </p:sp>
      <p:sp>
        <p:nvSpPr>
          <p:cNvPr id="5" name="Text 3"/>
          <p:cNvSpPr txBox="1"/>
          <p:nvPr/>
        </p:nvSpPr>
        <p:spPr>
          <a:xfrm>
            <a:off x="960120" y="2194560"/>
            <a:ext cx="10271455" cy="104394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h1, h2, h3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font-family: Georgia, serif;</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darkred;</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3631692"/>
            <a:ext cx="11130991" cy="2695956"/>
          </a:xfrm>
          <a:prstGeom prst="roundRect">
            <a:avLst>
              <a:gd name="adj" fmla="val 2035"/>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5/grouping-selector.png">    </p:cNvPr>
          <p:cNvPicPr>
            <a:picLocks noChangeAspect="1"/>
          </p:cNvPicPr>
          <p:nvPr/>
        </p:nvPicPr>
        <p:blipFill>
          <a:blip r:embed="rId1"/>
          <a:stretch>
            <a:fillRect/>
          </a:stretch>
        </p:blipFill>
        <p:spPr>
          <a:xfrm>
            <a:off x="4050600" y="3741420"/>
            <a:ext cx="4090495" cy="2476500"/>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Descendant Selector</a:t>
            </a:r>
            <a:endParaRPr lang="en-US" sz="3400" dirty="0"/>
          </a:p>
        </p:txBody>
      </p:sp>
      <p:sp>
        <p:nvSpPr>
          <p:cNvPr id="4" name="Shape 2"/>
          <p:cNvSpPr/>
          <p:nvPr/>
        </p:nvSpPr>
        <p:spPr>
          <a:xfrm>
            <a:off x="640080" y="1965960"/>
            <a:ext cx="10911535" cy="2453640"/>
          </a:xfrm>
          <a:prstGeom prst="roundRect">
            <a:avLst>
              <a:gd name="adj" fmla="val 2981"/>
            </a:avLst>
          </a:prstGeom>
          <a:solidFill>
            <a:srgbClr val="1E1E4C"/>
          </a:solidFill>
          <a:ln/>
        </p:spPr>
        <p:txBody>
          <a:bodyPr/>
          <a:p/>
        </p:txBody>
      </p:sp>
      <p:sp>
        <p:nvSpPr>
          <p:cNvPr id="5" name="Text 3"/>
          <p:cNvSpPr txBox="1"/>
          <p:nvPr/>
        </p:nvSpPr>
        <p:spPr>
          <a:xfrm>
            <a:off x="960120" y="2194560"/>
            <a:ext cx="10271455" cy="199644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article 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#333;</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&lt;article&gt;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&lt;p&gt;This paragraph IS styled (inside article).&lt;/p&gt;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&lt;/article&gt;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paragraph is NOT styled (outside article).&lt;/p&gt;</a:t>
            </a:r>
            <a:endParaRPr lang="en-US" sz="1250" dirty="0"/>
          </a:p>
        </p:txBody>
      </p:sp>
      <p:sp>
        <p:nvSpPr>
          <p:cNvPr id="6" name="Shape 4"/>
          <p:cNvSpPr/>
          <p:nvPr/>
        </p:nvSpPr>
        <p:spPr>
          <a:xfrm>
            <a:off x="530352" y="4584192"/>
            <a:ext cx="11130991" cy="1743456"/>
          </a:xfrm>
          <a:prstGeom prst="roundRect">
            <a:avLst>
              <a:gd name="adj" fmla="val 3147"/>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5/descendant-selector.png">    </p:cNvPr>
          <p:cNvPicPr>
            <a:picLocks noChangeAspect="1"/>
          </p:cNvPicPr>
          <p:nvPr/>
        </p:nvPicPr>
        <p:blipFill>
          <a:blip r:embed="rId1"/>
          <a:stretch>
            <a:fillRect/>
          </a:stretch>
        </p:blipFill>
        <p:spPr>
          <a:xfrm>
            <a:off x="2207560" y="4693920"/>
            <a:ext cx="7776575" cy="1524000"/>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Universal Selector</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margin: 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box-sizing: border-box;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 matches every single element on the page — most commonly seen in a "CSS reset" at the very top of a stylesheet.</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Combinators: Child and Sibling</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txBody>
          <a:bodyPr/>
          <a:p/>
        </p:txBody>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nav &gt; a { color: navy; font-weight: bold;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h2 + p  { font-weight: bold;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h2 ~ p  { color: gray; }</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&lt;nav&gt;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&lt;a&gt;Direct link&lt;/a&gt;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&lt;div&gt;&lt;a&gt;Grandchild link&lt;/a&gt;&lt;/div&gt;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&lt;/nav&gt;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&lt;h2&gt;A Heading&lt;/h2&gt;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&lt;p&gt;Immediately after&lt;/p&gt;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&lt;p&gt;Further down&lt;/p&gt;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5/combinators-demo.png">    </p:cNvPr>
          <p:cNvPicPr>
            <a:picLocks noChangeAspect="1"/>
          </p:cNvPicPr>
          <p:nvPr/>
        </p:nvPicPr>
        <p:blipFill>
          <a:blip r:embed="rId1"/>
          <a:stretch>
            <a:fillRect/>
          </a:stretch>
        </p:blipFill>
        <p:spPr>
          <a:xfrm>
            <a:off x="6278728" y="3194381"/>
            <a:ext cx="5272888" cy="1886557"/>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Pseudo-Classes</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108960"/>
                <a:gridCol w="786384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Matches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:hover / :focus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Mouse over the element / the element is focused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While the element is being clicked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:first-child / :last-child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First / last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:nth-child(n)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nth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:not(selector)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Elements that do NOT match the given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1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Pseudo-Classes,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li:first-child and button:disabled are states the browser can render up front.</a:t>
            </a:r>
            <a:endParaRPr lang="en-US" sz="1350" dirty="0"/>
          </a:p>
        </p:txBody>
      </p:sp>
      <p:sp>
        <p:nvSpPr>
          <p:cNvPr id="5" name="Shape 3"/>
          <p:cNvSpPr/>
          <p:nvPr/>
        </p:nvSpPr>
        <p:spPr>
          <a:xfrm>
            <a:off x="640080" y="3133725"/>
            <a:ext cx="5272888" cy="2282190"/>
          </a:xfrm>
          <a:prstGeom prst="roundRect">
            <a:avLst>
              <a:gd name="adj" fmla="val 3205"/>
            </a:avLst>
          </a:prstGeom>
          <a:solidFill>
            <a:srgbClr val="1E1E4C"/>
          </a:solidFill>
          <a:ln/>
        </p:spPr>
        <p:txBody>
          <a:bodyPr/>
          <a:p/>
        </p:txBody>
      </p:sp>
      <p:sp>
        <p:nvSpPr>
          <p:cNvPr id="6" name="Text 4"/>
          <p:cNvSpPr txBox="1"/>
          <p:nvPr/>
        </p:nvSpPr>
        <p:spPr>
          <a:xfrm>
            <a:off x="960120" y="3362325"/>
            <a:ext cx="4632808" cy="18249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li:first-child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font-weight: bold;</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button:disabled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opacity: 0.5;</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169000" y="2221992"/>
            <a:ext cx="5492344" cy="4105656"/>
          </a:xfrm>
          <a:prstGeom prst="roundRect">
            <a:avLst>
              <a:gd name="adj" fmla="val 133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8" name="Image 0" descr="D:/GitHub/mern-web-book/docs/assets/img/lecture-05/pseudo-class-demo.png">    </p:cNvPr>
          <p:cNvPicPr>
            <a:picLocks noChangeAspect="1"/>
          </p:cNvPicPr>
          <p:nvPr/>
        </p:nvPicPr>
        <p:blipFill>
          <a:blip r:embed="rId1"/>
          <a:stretch>
            <a:fillRect/>
          </a:stretch>
        </p:blipFill>
        <p:spPr>
          <a:xfrm>
            <a:off x="6591071" y="2537460"/>
            <a:ext cx="4648200" cy="3474720"/>
          </a:xfrm>
          <a:prstGeom prst="rect">
            <a:avLst/>
          </a:prstGeom>
        </p:spPr>
      </p:pic>
      <p:sp>
        <p:nvSpPr>
          <p:cNvPr id="1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p::first-line { font-weight: bold;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.quote::before { content: "\201C";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.quote::after  { content: "\201D"; }</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::before and ::after insert content that is not in the HTML at all — purely for decoration.</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5" name="Image 0" descr="D:/GitHub/mern-web-book/docs/assets/img/lecture-05/pseudo-element-demo.png">    </p:cNvPr>
          <p:cNvPicPr>
            <a:picLocks noChangeAspect="1"/>
          </p:cNvPicPr>
          <p:nvPr/>
        </p:nvPicPr>
        <p:blipFill>
          <a:blip r:embed="rId1"/>
          <a:stretch>
            <a:fillRect/>
          </a:stretch>
        </p:blipFill>
        <p:spPr>
          <a:xfrm>
            <a:off x="640080" y="2519655"/>
            <a:ext cx="10911535" cy="3190290"/>
          </a:xfrm>
          <a:prstGeom prst="rect">
            <a:avLst/>
          </a:prstGeom>
        </p:spPr>
      </p:pic>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From Lowest to Highest</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114800"/>
                <a:gridCol w="6858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Selector 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 / pseudo-element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 ::before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 / attribute / 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.highlight, [type="text"], :hover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#main-header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 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Overrides everything else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23"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Decides the Winner</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txBody>
          <a:bodyPr/>
          <a:p/>
        </p:txBody>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 color: black; }              /* low specificity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.intro { color: green; }         /* medium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#lead-paragraph { color: blue; } /* high            */</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id="lead-paragraph" class="intro"&gt;What colour am I?&lt;/p&gt;</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5/specificity-demo.png">    </p:cNvPr>
          <p:cNvPicPr>
            <a:picLocks noChangeAspect="1"/>
          </p:cNvPicPr>
          <p:nvPr/>
        </p:nvPicPr>
        <p:blipFill>
          <a:blip r:embed="rId1"/>
          <a:stretch>
            <a:fillRect/>
          </a:stretch>
        </p:blipFill>
        <p:spPr>
          <a:xfrm>
            <a:off x="3756508" y="4557713"/>
            <a:ext cx="4678680" cy="1082040"/>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Resolves Conflicts</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389120"/>
                <a:gridCol w="658368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The Winner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1. Different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more specific rule, regardless of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2. Equal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rule written LATER in the source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3. One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!important rule, regardless of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4. Both rules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Falls back to specificity, then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5. Inline style vs. stylesheet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inline style — unless the stylesheet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2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Resolution Flowchart</a:t>
            </a:r>
            <a:endParaRPr lang="en-US" sz="3400" dirty="0"/>
          </a:p>
        </p:txBody>
      </p:sp>
      <p:sp>
        <p:nvSpPr>
          <p:cNvPr id="4" name="Shape 2"/>
          <p:cNvSpPr/>
          <p:nvPr/>
        </p:nvSpPr>
        <p:spPr>
          <a:xfrm>
            <a:off x="6080760" y="2651760"/>
            <a:ext cx="9144" cy="228600"/>
          </a:xfrm>
          <a:prstGeom prst="line">
            <a:avLst/>
          </a:prstGeom>
          <a:noFill/>
          <a:ln w="25400">
            <a:solidFill>
              <a:srgbClr val="5D5D72"/>
            </a:solidFill>
            <a:prstDash val="solid"/>
            <a:tailEnd type="triangle"/>
          </a:ln>
        </p:spPr>
        <p:txBody>
          <a:bodyPr/>
          <a:p/>
        </p:txBody>
      </p:sp>
      <p:sp>
        <p:nvSpPr>
          <p:cNvPr id="5" name="Shape 3"/>
          <p:cNvSpPr/>
          <p:nvPr/>
        </p:nvSpPr>
        <p:spPr>
          <a:xfrm flipH="1">
            <a:off x="2286000" y="3429000"/>
            <a:ext cx="2468880" cy="731520"/>
          </a:xfrm>
          <a:prstGeom prst="line">
            <a:avLst/>
          </a:prstGeom>
          <a:noFill/>
          <a:ln w="25400">
            <a:solidFill>
              <a:srgbClr val="5D5D72"/>
            </a:solidFill>
            <a:prstDash val="solid"/>
            <a:tailEnd type="triangle"/>
          </a:ln>
        </p:spPr>
        <p:txBody>
          <a:bodyPr/>
          <a:p/>
        </p:txBody>
      </p:sp>
      <p:sp>
        <p:nvSpPr>
          <p:cNvPr id="6" name="Text 4"/>
          <p:cNvSpPr txBox="1"/>
          <p:nvPr/>
        </p:nvSpPr>
        <p:spPr>
          <a:xfrm>
            <a:off x="2606040" y="36484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One is !important</a:t>
            </a:r>
            <a:endParaRPr lang="en-US" sz="1050" dirty="0"/>
          </a:p>
        </p:txBody>
      </p:sp>
      <p:sp>
        <p:nvSpPr>
          <p:cNvPr id="7" name="Shape 5"/>
          <p:cNvSpPr/>
          <p:nvPr/>
        </p:nvSpPr>
        <p:spPr>
          <a:xfrm>
            <a:off x="5852160" y="3657600"/>
            <a:ext cx="365760" cy="502920"/>
          </a:xfrm>
          <a:prstGeom prst="line">
            <a:avLst/>
          </a:prstGeom>
          <a:noFill/>
          <a:ln w="25400">
            <a:solidFill>
              <a:srgbClr val="5D5D72"/>
            </a:solidFill>
            <a:prstDash val="solid"/>
            <a:tailEnd type="triangle"/>
          </a:ln>
        </p:spPr>
        <p:txBody>
          <a:bodyPr/>
          <a:p/>
        </p:txBody>
      </p:sp>
      <p:sp>
        <p:nvSpPr>
          <p:cNvPr id="8" name="Text 6"/>
          <p:cNvSpPr txBox="1"/>
          <p:nvPr/>
        </p:nvSpPr>
        <p:spPr>
          <a:xfrm>
            <a:off x="5120640" y="37627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Both / neither</a:t>
            </a:r>
            <a:endParaRPr lang="en-US" sz="1050" dirty="0"/>
          </a:p>
        </p:txBody>
      </p:sp>
      <p:sp>
        <p:nvSpPr>
          <p:cNvPr id="9" name="Shape 7"/>
          <p:cNvSpPr/>
          <p:nvPr/>
        </p:nvSpPr>
        <p:spPr>
          <a:xfrm flipH="1">
            <a:off x="4434840" y="4846320"/>
            <a:ext cx="1051560" cy="411480"/>
          </a:xfrm>
          <a:prstGeom prst="line">
            <a:avLst/>
          </a:prstGeom>
          <a:noFill/>
          <a:ln w="25400">
            <a:solidFill>
              <a:srgbClr val="5D5D72"/>
            </a:solidFill>
            <a:prstDash val="solid"/>
            <a:tailEnd type="triangle"/>
          </a:ln>
        </p:spPr>
        <p:txBody>
          <a:bodyPr/>
          <a:p/>
        </p:txBody>
      </p:sp>
      <p:sp>
        <p:nvSpPr>
          <p:cNvPr id="10" name="Text 8"/>
          <p:cNvSpPr txBox="1"/>
          <p:nvPr/>
        </p:nvSpPr>
        <p:spPr>
          <a:xfrm>
            <a:off x="4046220" y="49057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One higher</a:t>
            </a:r>
            <a:endParaRPr lang="en-US" sz="1050" dirty="0"/>
          </a:p>
        </p:txBody>
      </p:sp>
      <p:sp>
        <p:nvSpPr>
          <p:cNvPr id="11" name="Shape 9"/>
          <p:cNvSpPr/>
          <p:nvPr/>
        </p:nvSpPr>
        <p:spPr>
          <a:xfrm>
            <a:off x="6766560" y="4846320"/>
            <a:ext cx="1463040" cy="411480"/>
          </a:xfrm>
          <a:prstGeom prst="line">
            <a:avLst/>
          </a:prstGeom>
          <a:noFill/>
          <a:ln w="25400">
            <a:solidFill>
              <a:srgbClr val="5D5D72"/>
            </a:solidFill>
            <a:prstDash val="solid"/>
            <a:tailEnd type="triangle"/>
          </a:ln>
        </p:spPr>
        <p:txBody>
          <a:bodyPr/>
          <a:p/>
        </p:txBody>
      </p:sp>
      <p:sp>
        <p:nvSpPr>
          <p:cNvPr id="12" name="Text 10"/>
          <p:cNvSpPr txBox="1"/>
          <p:nvPr/>
        </p:nvSpPr>
        <p:spPr>
          <a:xfrm>
            <a:off x="6583680" y="49057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Equal specificity</a:t>
            </a:r>
            <a:endParaRPr lang="en-US" sz="1050" dirty="0"/>
          </a:p>
        </p:txBody>
      </p:sp>
      <p:sp>
        <p:nvSpPr>
          <p:cNvPr id="13" name="Shape 11"/>
          <p:cNvSpPr/>
          <p:nvPr/>
        </p:nvSpPr>
        <p:spPr>
          <a:xfrm>
            <a:off x="4114800" y="2103120"/>
            <a:ext cx="3931920" cy="548640"/>
          </a:xfrm>
          <a:prstGeom prst="rect">
            <a:avLst/>
          </a:prstGeom>
          <a:solidFill>
            <a:srgbClr val="1E1E4C"/>
          </a:solidFill>
          <a:ln/>
        </p:spPr>
        <p:txBody>
          <a:bodyPr/>
          <a:p/>
        </p:txBody>
      </p:sp>
      <p:sp>
        <p:nvSpPr>
          <p:cNvPr id="14" name="Text 12"/>
          <p:cNvSpPr txBox="1"/>
          <p:nvPr/>
        </p:nvSpPr>
        <p:spPr>
          <a:xfrm>
            <a:off x="4169664" y="2103120"/>
            <a:ext cx="3822192" cy="54864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Conflicting declarations</a:t>
            </a:r>
            <a:endParaRPr lang="en-US" sz="1250" dirty="0"/>
          </a:p>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on the same property</a:t>
            </a:r>
            <a:endParaRPr lang="en-US" sz="1250" dirty="0"/>
          </a:p>
        </p:txBody>
      </p:sp>
      <p:sp>
        <p:nvSpPr>
          <p:cNvPr id="15" name="Shape 13"/>
          <p:cNvSpPr/>
          <p:nvPr/>
        </p:nvSpPr>
        <p:spPr>
          <a:xfrm>
            <a:off x="4206240" y="2880360"/>
            <a:ext cx="3749040" cy="777240"/>
          </a:xfrm>
          <a:prstGeom prst="diamond">
            <a:avLst/>
          </a:prstGeom>
          <a:solidFill>
            <a:srgbClr val="FF8A3D"/>
          </a:solidFill>
          <a:ln/>
        </p:spPr>
        <p:txBody>
          <a:bodyPr/>
          <a:p/>
        </p:txBody>
      </p:sp>
      <p:sp>
        <p:nvSpPr>
          <p:cNvPr id="16" name="Text 14"/>
          <p:cNvSpPr txBox="1"/>
          <p:nvPr/>
        </p:nvSpPr>
        <p:spPr>
          <a:xfrm>
            <a:off x="4261104" y="2880360"/>
            <a:ext cx="3639312" cy="7772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Differ in</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!important status?</a:t>
            </a:r>
            <a:endParaRPr lang="en-US" sz="1150" dirty="0"/>
          </a:p>
        </p:txBody>
      </p:sp>
      <p:sp>
        <p:nvSpPr>
          <p:cNvPr id="17" name="Shape 15"/>
          <p:cNvSpPr/>
          <p:nvPr/>
        </p:nvSpPr>
        <p:spPr>
          <a:xfrm>
            <a:off x="822960" y="4160520"/>
            <a:ext cx="2926080" cy="548640"/>
          </a:xfrm>
          <a:prstGeom prst="rect">
            <a:avLst/>
          </a:prstGeom>
          <a:solidFill>
            <a:srgbClr val="3FA66B"/>
          </a:solidFill>
          <a:ln/>
        </p:spPr>
        <p:txBody>
          <a:bodyPr/>
          <a:p/>
        </p:txBody>
      </p:sp>
      <p:sp>
        <p:nvSpPr>
          <p:cNvPr id="18" name="Text 16"/>
          <p:cNvSpPr txBox="1"/>
          <p:nvPr/>
        </p:nvSpPr>
        <p:spPr>
          <a:xfrm>
            <a:off x="877824" y="4160520"/>
            <a:ext cx="2816352" cy="54864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The !important</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declaration wins</a:t>
            </a:r>
            <a:endParaRPr lang="en-US" sz="1200" dirty="0"/>
          </a:p>
        </p:txBody>
      </p:sp>
      <p:sp>
        <p:nvSpPr>
          <p:cNvPr id="19" name="Shape 17"/>
          <p:cNvSpPr/>
          <p:nvPr/>
        </p:nvSpPr>
        <p:spPr>
          <a:xfrm>
            <a:off x="4572000" y="4160520"/>
            <a:ext cx="3291840" cy="685800"/>
          </a:xfrm>
          <a:prstGeom prst="diamond">
            <a:avLst/>
          </a:prstGeom>
          <a:solidFill>
            <a:srgbClr val="FF8A3D"/>
          </a:solidFill>
          <a:ln/>
        </p:spPr>
        <p:txBody>
          <a:bodyPr/>
          <a:p/>
        </p:txBody>
      </p:sp>
      <p:sp>
        <p:nvSpPr>
          <p:cNvPr id="20" name="Text 18"/>
          <p:cNvSpPr txBox="1"/>
          <p:nvPr/>
        </p:nvSpPr>
        <p:spPr>
          <a:xfrm>
            <a:off x="4626864" y="4160520"/>
            <a:ext cx="3182112" cy="68580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Compare specificity</a:t>
            </a:r>
            <a:endParaRPr lang="en-US" sz="1150" dirty="0"/>
          </a:p>
        </p:txBody>
      </p:sp>
      <p:sp>
        <p:nvSpPr>
          <p:cNvPr id="21" name="Shape 19"/>
          <p:cNvSpPr/>
          <p:nvPr/>
        </p:nvSpPr>
        <p:spPr>
          <a:xfrm>
            <a:off x="3017520" y="5257800"/>
            <a:ext cx="2834640" cy="548640"/>
          </a:xfrm>
          <a:prstGeom prst="rect">
            <a:avLst/>
          </a:prstGeom>
          <a:solidFill>
            <a:srgbClr val="3FA66B"/>
          </a:solidFill>
          <a:ln/>
        </p:spPr>
        <p:txBody>
          <a:bodyPr/>
          <a:p/>
        </p:txBody>
      </p:sp>
      <p:sp>
        <p:nvSpPr>
          <p:cNvPr id="22" name="Text 20"/>
          <p:cNvSpPr txBox="1"/>
          <p:nvPr/>
        </p:nvSpPr>
        <p:spPr>
          <a:xfrm>
            <a:off x="3072384" y="5257800"/>
            <a:ext cx="2724912" cy="54864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More specific</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rule wins</a:t>
            </a:r>
            <a:endParaRPr lang="en-US" sz="1200" dirty="0"/>
          </a:p>
        </p:txBody>
      </p:sp>
      <p:sp>
        <p:nvSpPr>
          <p:cNvPr id="23" name="Shape 21"/>
          <p:cNvSpPr/>
          <p:nvPr/>
        </p:nvSpPr>
        <p:spPr>
          <a:xfrm>
            <a:off x="6583680" y="5257800"/>
            <a:ext cx="3291840" cy="548640"/>
          </a:xfrm>
          <a:prstGeom prst="rect">
            <a:avLst/>
          </a:prstGeom>
          <a:solidFill>
            <a:srgbClr val="3FA66B"/>
          </a:solidFill>
          <a:ln/>
        </p:spPr>
        <p:txBody>
          <a:bodyPr/>
          <a:p/>
        </p:txBody>
      </p:sp>
      <p:sp>
        <p:nvSpPr>
          <p:cNvPr id="24" name="Text 22"/>
          <p:cNvSpPr txBox="1"/>
          <p:nvPr/>
        </p:nvSpPr>
        <p:spPr>
          <a:xfrm>
            <a:off x="6638544" y="5257800"/>
            <a:ext cx="3182112" cy="5486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Rule written LATER wins</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(equal specificity)</a:t>
            </a:r>
            <a:endParaRPr lang="en-US" sz="1150" dirty="0"/>
          </a:p>
        </p:txBody>
      </p:sp>
      <p:sp>
        <p:nvSpPr>
          <p:cNvPr id="25" name="Text 23"/>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Every cascade conflict resolves through exactly these branches, in this order — importance first, then specificity, then source order.</a:t>
            </a:r>
            <a:endParaRPr lang="en-US" sz="1250" dirty="0"/>
          </a:p>
        </p:txBody>
      </p:sp>
      <p:sp>
        <p:nvSpPr>
          <p:cNvPr id="2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Case 5 in Code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&lt;p id="lead" style="color: purple;"&gt;...&lt;/p&gt;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blue; }              /* loses to inline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green !important; } /* beats inline   */</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Without the !important line, the paragraph is purple. With it, green — one of the few times !important is the right tool.</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REAL FORMULA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4-Part Specificity Score</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Column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Counts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1 if the style is inline, else 0</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ID selectors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Classes / attrs / pseudo-classes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Elements / pseudo-elements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#nav .item a:hover -&gt; (0,1,2,1)  beats  nav ul li a -&gt; (0,0,0,4) — one ID always outweighs any number of elements, no matter how long the other selector looks.</a:t>
            </a:r>
            <a:endParaRPr lang="en-US" sz="1150" dirty="0"/>
          </a:p>
        </p:txBody>
      </p:sp>
      <p:sp>
        <p:nvSpPr>
          <p:cNvPr id="2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REAL FORMULA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Specificity Is Calculated</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3108960"/>
                <a:gridCol w="4572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 of the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Category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Column It Counts Toward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#nav</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ID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IDs: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Class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Classes / attrs / pseudo-classes: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:hover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Classes / attrs / pseudo-classes: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Elements / pseudo-elements: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#nav .item a:hover totals to (0 inline, 1 ID, 2 classes/pseudo, 1 element) = (0,1,2,1). Every part of nav ul li a is a plain element, so it totals to (0,0,0,4). Compare column by column, left to right: the IDs column differs first (1 vs. 0), so #nav .item a:hover wins outright — the comparison never even reaches the Elements column.</a:t>
            </a:r>
            <a:endParaRPr lang="en-US" sz="1150" dirty="0"/>
          </a:p>
        </p:txBody>
      </p:sp>
      <p:sp>
        <p:nvSpPr>
          <p:cNvPr id="2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An Example Where Inheritance Does NOT Happen</a:t>
            </a:r>
            <a:endParaRPr lang="en-US" sz="3400" dirty="0"/>
          </a:p>
        </p:txBody>
      </p:sp>
      <p:sp>
        <p:nvSpPr>
          <p:cNvPr id="4" name="Shape 2"/>
          <p:cNvSpPr/>
          <p:nvPr/>
        </p:nvSpPr>
        <p:spPr>
          <a:xfrm>
            <a:off x="640080" y="1965960"/>
            <a:ext cx="10911535" cy="3215640"/>
          </a:xfrm>
          <a:prstGeom prst="roundRect">
            <a:avLst>
              <a:gd name="adj" fmla="val 2275"/>
            </a:avLst>
          </a:prstGeom>
          <a:solidFill>
            <a:srgbClr val="1E1E4C"/>
          </a:solidFill>
          <a:ln/>
        </p:spPr>
        <p:txBody>
          <a:bodyPr/>
          <a:p/>
        </p:txBody>
      </p:sp>
      <p:sp>
        <p:nvSpPr>
          <p:cNvPr id="5" name="Text 3"/>
          <p:cNvSpPr txBox="1"/>
          <p:nvPr/>
        </p:nvSpPr>
        <p:spPr>
          <a:xfrm>
            <a:off x="960120" y="2194560"/>
            <a:ext cx="10271455" cy="27584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.parent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border: 4px solid crimson;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20px;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 class="parent"&gt;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Parent text is dark 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&lt;p&gt;Child paragraph is dark blue too.&lt;/p&gt;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&lt;/div&gt;</a:t>
            </a:r>
            <a:endParaRPr lang="en-US" sz="1400" dirty="0"/>
          </a:p>
        </p:txBody>
      </p:sp>
      <p:sp>
        <p:nvSpPr>
          <p:cNvPr id="6" name="Text 4"/>
          <p:cNvSpPr txBox="1"/>
          <p:nvPr/>
        </p:nvSpPr>
        <p:spPr>
          <a:xfrm>
            <a:off x="640080" y="5410200"/>
            <a:ext cx="10911535" cy="8534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color inherits, so the &lt;p&gt; is dark blue too. border and padding do NOT inherit — only .parent itself gets the crimson outline and padding.</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Inherited vs. Not Inherited</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5303520"/>
                <a:gridCol w="566928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Not 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font-family, font-size, font-weight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padding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line-height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text-align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width, 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visibility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background / background-color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3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COLOUR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Five Ways to Write a Colour</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txBody>
          <a:bodyPr/>
          <a:p/>
        </p:txBody>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 { color: red; }                  /* named colour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.b { color: #ff0000; }              /* hex code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.c { color: rgb(255, 0, 0); }       /* red, green, blue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.d { color: rgba(255, 0, 0, 0.5); } /* rgb + alpha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.e { color: hsl(0, 100%, 50%); }    /* hue, sat, lightness */</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5/color-values.png">    </p:cNvPr>
          <p:cNvPicPr>
            <a:picLocks noChangeAspect="1"/>
          </p:cNvPicPr>
          <p:nvPr/>
        </p:nvPicPr>
        <p:blipFill>
          <a:blip r:embed="rId1"/>
          <a:stretch>
            <a:fillRect/>
          </a:stretch>
        </p:blipFill>
        <p:spPr>
          <a:xfrm>
            <a:off x="3781381" y="3979545"/>
            <a:ext cx="4628934" cy="2238375"/>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Font Properties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font-family (a fallback list), font-size, font-weight, font-style — combined via the font shorthand too.</a:t>
            </a:r>
            <a:endParaRPr lang="en-US" sz="1350" dirty="0"/>
          </a:p>
        </p:txBody>
      </p:sp>
      <p:sp>
        <p:nvSpPr>
          <p:cNvPr id="5" name="Shape 3"/>
          <p:cNvSpPr/>
          <p:nvPr/>
        </p:nvSpPr>
        <p:spPr>
          <a:xfrm>
            <a:off x="640080" y="2240280"/>
            <a:ext cx="10911535" cy="1977390"/>
          </a:xfrm>
          <a:prstGeom prst="roundRect">
            <a:avLst>
              <a:gd name="adj" fmla="val 3699"/>
            </a:avLst>
          </a:prstGeom>
          <a:solidFill>
            <a:srgbClr val="1E1E4C"/>
          </a:solidFill>
          <a:ln/>
        </p:spPr>
        <p:txBody>
          <a:bodyPr/>
          <a:p/>
        </p:txBody>
      </p:sp>
      <p:sp>
        <p:nvSpPr>
          <p:cNvPr id="6" name="Text 4"/>
          <p:cNvSpPr txBox="1"/>
          <p:nvPr/>
        </p:nvSpPr>
        <p:spPr>
          <a:xfrm>
            <a:off x="960120" y="2468880"/>
            <a:ext cx="10271455" cy="152019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font-family: "Helvetica Neue", Arial, sans-serif;</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font-size: 16px;</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font-weight: bold;</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font-style: italic;</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7" name="Shape 5"/>
          <p:cNvSpPr/>
          <p:nvPr/>
        </p:nvSpPr>
        <p:spPr>
          <a:xfrm>
            <a:off x="530352" y="4382262"/>
            <a:ext cx="11130991" cy="1945386"/>
          </a:xfrm>
          <a:prstGeom prst="roundRect">
            <a:avLst>
              <a:gd name="adj" fmla="val 2820"/>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8" name="Image 0" descr="D:/GitHub/mern-web-book/docs/assets/img/lecture-05/font-properties.png">    </p:cNvPr>
          <p:cNvPicPr>
            <a:picLocks noChangeAspect="1"/>
          </p:cNvPicPr>
          <p:nvPr/>
        </p:nvPicPr>
        <p:blipFill>
          <a:blip r:embed="rId1"/>
          <a:stretch>
            <a:fillRect/>
          </a:stretch>
        </p:blipFill>
        <p:spPr>
          <a:xfrm>
            <a:off x="640080" y="5049654"/>
            <a:ext cx="10911535" cy="610602"/>
          </a:xfrm>
          <a:prstGeom prst="rect">
            <a:avLst/>
          </a:prstGeom>
        </p:spPr>
      </p:pic>
      <p:sp>
        <p:nvSpPr>
          <p:cNvPr id="1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TEXT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Text Properties</a:t>
            </a:r>
            <a:endParaRPr lang="en-US" sz="3400" dirty="0"/>
          </a:p>
        </p:txBody>
      </p:sp>
      <p:sp>
        <p:nvSpPr>
          <p:cNvPr id="4" name="Shape 2"/>
          <p:cNvSpPr/>
          <p:nvPr/>
        </p:nvSpPr>
        <p:spPr>
          <a:xfrm>
            <a:off x="640080" y="1965960"/>
            <a:ext cx="10911535" cy="2215515"/>
          </a:xfrm>
          <a:prstGeom prst="roundRect">
            <a:avLst>
              <a:gd name="adj" fmla="val 3302"/>
            </a:avLst>
          </a:prstGeom>
          <a:solidFill>
            <a:srgbClr val="1E1E4C"/>
          </a:solidFill>
          <a:ln/>
        </p:spPr>
        <p:txBody>
          <a:bodyPr/>
          <a:p/>
        </p:txBody>
      </p:sp>
      <p:sp>
        <p:nvSpPr>
          <p:cNvPr id="5" name="Text 3"/>
          <p:cNvSpPr txBox="1"/>
          <p:nvPr/>
        </p:nvSpPr>
        <p:spPr>
          <a:xfrm>
            <a:off x="960120" y="2194560"/>
            <a:ext cx="10271455" cy="17583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text-align: center;</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text-decoration: underline;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text-transform: uppercase;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line-height: 1.6;</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letter-spacing: 0.5px;</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346067"/>
            <a:ext cx="11130991" cy="1981581"/>
          </a:xfrm>
          <a:prstGeom prst="roundRect">
            <a:avLst>
              <a:gd name="adj" fmla="val 276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5/text-properties.png">    </p:cNvPr>
          <p:cNvPicPr>
            <a:picLocks noChangeAspect="1"/>
          </p:cNvPicPr>
          <p:nvPr/>
        </p:nvPicPr>
        <p:blipFill>
          <a:blip r:embed="rId1"/>
          <a:stretch>
            <a:fillRect/>
          </a:stretch>
        </p:blipFill>
        <p:spPr>
          <a:xfrm>
            <a:off x="1700435" y="4455795"/>
            <a:ext cx="8790826" cy="1762125"/>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BACKGROUNDS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Background Properties</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txBody>
          <a:bodyPr/>
          <a:p/>
        </p:txBody>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.card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background-color: #f5f5f5;</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background-image: url("pattern.png");</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background-repeat: no-repeat;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background-position: center;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background-size: cover;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background shorthand combines several of these into one declaration, just like font does.</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5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CSS separates presentation from content; external style sheets are preferred for real projects.</a:t>
            </a:r>
            <a:endParaRPr lang="en-US" sz="1250" dirty="0"/>
          </a:p>
        </p:txBody>
      </p:sp>
      <p:sp>
        <p:nvSpPr>
          <p:cNvPr id="7" name="Shape 5"/>
          <p:cNvSpPr/>
          <p:nvPr/>
        </p:nvSpPr>
        <p:spPr>
          <a:xfrm>
            <a:off x="822960" y="2956560"/>
            <a:ext cx="438912" cy="438912"/>
          </a:xfrm>
          <a:prstGeom prst="ellipse">
            <a:avLst/>
          </a:prstGeom>
          <a:solidFill>
            <a:srgbClr val="FF8A3D"/>
          </a:solidFill>
          <a:ln/>
        </p:spPr>
        <p:txBody>
          <a:bodyPr/>
          <a:p/>
        </p:txBody>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Selectors decide what gets styled: element, class, id, attribute, grouping, descendant.</a:t>
            </a:r>
            <a:endParaRPr lang="en-US" sz="1250" dirty="0"/>
          </a:p>
        </p:txBody>
      </p:sp>
      <p:sp>
        <p:nvSpPr>
          <p:cNvPr id="10" name="Shape 8"/>
          <p:cNvSpPr/>
          <p:nvPr/>
        </p:nvSpPr>
        <p:spPr>
          <a:xfrm>
            <a:off x="822960" y="3627120"/>
            <a:ext cx="438912" cy="438912"/>
          </a:xfrm>
          <a:prstGeom prst="ellipse">
            <a:avLst/>
          </a:prstGeom>
          <a:solidFill>
            <a:srgbClr val="FF8A3D"/>
          </a:solidFill>
          <a:ln/>
        </p:spPr>
        <p:txBody>
          <a:bodyPr/>
          <a:p/>
        </p:txBody>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cascade resolves conflicts in order: importance, then specificity, then source order — every time.</a:t>
            </a:r>
            <a:endParaRPr lang="en-US" sz="1250" dirty="0"/>
          </a:p>
        </p:txBody>
      </p:sp>
      <p:sp>
        <p:nvSpPr>
          <p:cNvPr id="13" name="Shape 11"/>
          <p:cNvSpPr/>
          <p:nvPr/>
        </p:nvSpPr>
        <p:spPr>
          <a:xfrm>
            <a:off x="822960" y="4297680"/>
            <a:ext cx="438912" cy="438912"/>
          </a:xfrm>
          <a:prstGeom prst="ellipse">
            <a:avLst/>
          </a:prstGeom>
          <a:solidFill>
            <a:srgbClr val="FF8A3D"/>
          </a:solidFill>
          <a:ln/>
        </p:spPr>
        <p:txBody>
          <a:bodyPr/>
          <a:p/>
        </p:txBody>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Specificity is a 4-part score compared column by column; one ID beats any number of classes or elements.</a:t>
            </a:r>
            <a:endParaRPr lang="en-US" sz="1250" dirty="0"/>
          </a:p>
        </p:txBody>
      </p:sp>
      <p:sp>
        <p:nvSpPr>
          <p:cNvPr id="16" name="Shape 14"/>
          <p:cNvSpPr/>
          <p:nvPr/>
        </p:nvSpPr>
        <p:spPr>
          <a:xfrm>
            <a:off x="822960" y="4968240"/>
            <a:ext cx="438912" cy="438912"/>
          </a:xfrm>
          <a:prstGeom prst="ellipse">
            <a:avLst/>
          </a:prstGeom>
          <a:solidFill>
            <a:srgbClr val="FF8A3D"/>
          </a:solidFill>
          <a:ln/>
        </p:spPr>
        <p:txBody>
          <a:bodyPr/>
          <a:p/>
        </p:txBody>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!important should be a last resort — it breaks normal specificity reasoning.</a:t>
            </a:r>
            <a:endParaRPr lang="en-US" sz="1250" dirty="0"/>
          </a:p>
        </p:txBody>
      </p:sp>
      <p:sp>
        <p:nvSpPr>
          <p:cNvPr id="19" name="Shape 17"/>
          <p:cNvSpPr/>
          <p:nvPr/>
        </p:nvSpPr>
        <p:spPr>
          <a:xfrm>
            <a:off x="822960" y="5638800"/>
            <a:ext cx="438912" cy="438912"/>
          </a:xfrm>
          <a:prstGeom prst="ellipse">
            <a:avLst/>
          </a:prstGeom>
          <a:solidFill>
            <a:srgbClr val="FF8A3D"/>
          </a:solidFill>
          <a:ln/>
        </p:spPr>
        <p:txBody>
          <a:bodyPr/>
          <a:p/>
        </p:txBody>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Text properties like color inherit from parent to child; box properties like border and margin do not.</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Cascading Style Sheets (CSS) Fundamentals</dc:title>
  <dc:subject>CSC336 Web Technologies</dc:subject>
  <dc:creator>Usman Akram</dc:creator>
  <cp:lastModifiedBy>Usman Akram</cp:lastModifiedBy>
  <cp:revision>1</cp:revision>
  <dcterms:created xsi:type="dcterms:W3CDTF">2026-09-22T05:25:25Z</dcterms:created>
  <dcterms:modified xsi:type="dcterms:W3CDTF">2026-09-22T05:25:25Z</dcterms:modified>
</cp:coreProperties>
</file>
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388525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cuinotes.com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cuinotes.com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cuinotes.com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cuinotes.com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cuinotes.com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cuinotes.com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cuinotes.com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cuinotes.com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cuinotes.com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cuinotes.com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cuinotes.com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cuinotes.com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cuinotes.com" TargetMode="Externa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cuinotes.com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cuinotes.com" TargetMode="Externa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www.w3schools.com/css/tryit.asp?filename=trycss3_animation3" TargetMode="External"/><Relationship Id="rId4" Type="http://schemas.openxmlformats.org/officeDocument/2006/relationships/hyperlink" Target="https://cuinotes.com" TargetMode="Externa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cuinotes.com" TargetMode="Externa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cuinotes.com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cuinotes.com" TargetMode="Externa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cuinotes.com" TargetMode="Externa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cuinotes.com" TargetMode="Externa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cuinotes.com" TargetMode="Externa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cuinotes.com" TargetMode="Externa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cuinotes.com" TargetMode="Externa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cuinotes.com" TargetMode="Externa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2B7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9659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40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8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2377440"/>
            <a:ext cx="8686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CSS3</a:t>
            </a:r>
            <a:endParaRPr lang="en-US" sz="4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Features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389120"/>
            <a:ext cx="8961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9D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Rounded corners, gradients, shadows, transforms, and animation — visual polish with pure CSS.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5943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A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CSC336 Web Technologies</a:t>
            </a:r>
            <a:endParaRPr lang="en-US" sz="1200" dirty="0"/>
          </a:p>
        </p:txBody>
      </p:sp>
      <p:sp>
        <p:nvSpPr>
          <p:cNvPr id="8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30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This Lecture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196596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 txBox="1"/>
          <p:nvPr/>
        </p:nvSpPr>
        <p:spPr>
          <a:xfrm>
            <a:off x="68580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1892808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Rounded corners, gradients, shadows, and opacity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85800" y="278892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Text 6"/>
          <p:cNvSpPr txBox="1"/>
          <p:nvPr/>
        </p:nvSpPr>
        <p:spPr>
          <a:xfrm>
            <a:off x="685800" y="2788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2715768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2D/3D transforms, transitions, and keyframe animations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85800" y="361188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 txBox="1"/>
          <p:nvPr/>
        </p:nvSpPr>
        <p:spPr>
          <a:xfrm>
            <a:off x="685800" y="3611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3538728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fonts, icon fonts, and CSS custom properties (variables)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85800" y="443484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Text 12"/>
          <p:cNvSpPr txBox="1"/>
          <p:nvPr/>
        </p:nvSpPr>
        <p:spPr>
          <a:xfrm>
            <a:off x="685800" y="4434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371600" y="4361688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queries, feature queries, and cross-browser compatibility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85800" y="525780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5"/>
          <p:cNvSpPr txBox="1"/>
          <p:nvPr/>
        </p:nvSpPr>
        <p:spPr>
          <a:xfrm>
            <a:off x="685800" y="5257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371600" y="5184648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prefixes, and why compatibility still matters</a:t>
            </a:r>
            <a:endParaRPr lang="en-US" sz="1500" dirty="0"/>
          </a:p>
        </p:txBody>
      </p:sp>
      <p:sp>
        <p:nvSpPr>
          <p:cNvPr id="21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30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border-radius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11535" cy="1348740"/>
          </a:xfrm>
          <a:prstGeom prst="roundRect">
            <a:avLst>
              <a:gd name="adj" fmla="val 5424"/>
            </a:avLst>
          </a:prstGeom>
          <a:solidFill>
            <a:srgbClr val="F7F8F9"/>
          </a:solidFill>
          <a:ln w="9525">
            <a:solidFill>
              <a:srgbClr val="D0D5D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 txBox="1"/>
          <p:nvPr/>
        </p:nvSpPr>
        <p:spPr>
          <a:xfrm>
            <a:off x="960120" y="2194560"/>
            <a:ext cx="10271455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.card { border-radius: 12px; }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.avatar { border-radius: 50%; }  /* a perfect circle */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.bubble { border-radius: 20px 20px 20px 0; }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543300"/>
            <a:ext cx="10911535" cy="2720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pixel value rounds by a fixed amount; a percentage rounds relative to the element's own size.</a:t>
            </a:r>
            <a:endParaRPr lang="en-US" sz="1300" dirty="0"/>
          </a:p>
        </p:txBody>
      </p:sp>
      <p:sp>
        <p:nvSpPr>
          <p:cNvPr id="9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30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border-radius, Rendered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30352" y="1947672"/>
            <a:ext cx="11130991" cy="4334256"/>
          </a:xfrm>
          <a:prstGeom prst="roundRect">
            <a:avLst>
              <a:gd name="adj" fmla="val 1266"/>
            </a:avLst>
          </a:prstGeom>
          <a:solidFill>
            <a:srgbClr val="FFFFFF"/>
          </a:solidFill>
          <a:ln w="12700">
            <a:solidFill>
              <a:srgbClr val="E2E2EE"/>
            </a:solidFill>
            <a:prstDash val="solid"/>
          </a:ln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5" name="Image 0" descr="D:/GitHub/mern-web-book/docs/assets/img/lecture-08/border-radius-shap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380895"/>
            <a:ext cx="10911535" cy="3467810"/>
          </a:xfrm>
          <a:prstGeom prst="rect">
            <a:avLst/>
          </a:prstGeom>
        </p:spPr>
      </p:pic>
      <p:sp>
        <p:nvSpPr>
          <p:cNvPr id="8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4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30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Linear and Radial Gradients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11535" cy="1348740"/>
          </a:xfrm>
          <a:prstGeom prst="roundRect">
            <a:avLst>
              <a:gd name="adj" fmla="val 5424"/>
            </a:avLst>
          </a:prstGeom>
          <a:solidFill>
            <a:srgbClr val="F7F8F9"/>
          </a:solidFill>
          <a:ln w="9525">
            <a:solidFill>
              <a:srgbClr val="D0D5D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 txBox="1"/>
          <p:nvPr/>
        </p:nvSpPr>
        <p:spPr>
          <a:xfrm>
            <a:off x="960120" y="2194560"/>
            <a:ext cx="10271455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.banner    { background: linear-gradient(to right, #4facfe, #00f2fe); }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.spotlight { background: radial-gradient(circle, #fff, #333); }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.diagonal  { background: linear-gradient(45deg, orange, red); }</a:t>
            </a:r>
            <a:endParaRPr lang="en-US" sz="1400" dirty="0"/>
          </a:p>
        </p:txBody>
      </p:sp>
      <p:sp>
        <p:nvSpPr>
          <p:cNvPr id="8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30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Gradients, Rendered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30352" y="1947672"/>
            <a:ext cx="11130991" cy="4334256"/>
          </a:xfrm>
          <a:prstGeom prst="roundRect">
            <a:avLst>
              <a:gd name="adj" fmla="val 1266"/>
            </a:avLst>
          </a:prstGeom>
          <a:solidFill>
            <a:srgbClr val="FFFFFF"/>
          </a:solidFill>
          <a:ln w="12700">
            <a:solidFill>
              <a:srgbClr val="E2E2EE"/>
            </a:solidFill>
            <a:prstDash val="solid"/>
          </a:ln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5" name="Image 0" descr="D:/GitHub/mern-web-book/docs/assets/img/lecture-08/gradients-linear-radial-diagon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784957"/>
            <a:ext cx="10911535" cy="2659687"/>
          </a:xfrm>
          <a:prstGeom prst="rect">
            <a:avLst/>
          </a:prstGeom>
        </p:spPr>
      </p:pic>
      <p:sp>
        <p:nvSpPr>
          <p:cNvPr id="8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4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30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Multiple Color Stops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11535" cy="1977390"/>
          </a:xfrm>
          <a:prstGeom prst="roundRect">
            <a:avLst>
              <a:gd name="adj" fmla="val 3699"/>
            </a:avLst>
          </a:prstGeom>
          <a:solidFill>
            <a:srgbClr val="F7F8F9"/>
          </a:solidFill>
          <a:ln w="9525">
            <a:solidFill>
              <a:srgbClr val="D0D5D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 txBox="1"/>
          <p:nvPr/>
        </p:nvSpPr>
        <p:spPr>
          <a:xfrm>
            <a:off x="960120" y="2194560"/>
            <a:ext cx="10271455" cy="15201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.rainbow {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background: linear-gradient(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 right,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red 0%, yellow 25%, green 50%, blue 75%, violet 100%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30352" y="4107942"/>
            <a:ext cx="11130991" cy="2219706"/>
          </a:xfrm>
          <a:prstGeom prst="roundRect">
            <a:avLst>
              <a:gd name="adj" fmla="val 2472"/>
            </a:avLst>
          </a:prstGeom>
          <a:solidFill>
            <a:srgbClr val="FFFFFF"/>
          </a:solidFill>
          <a:ln w="12700">
            <a:solidFill>
              <a:srgbClr val="E2E2EE"/>
            </a:solidFill>
            <a:prstDash val="solid"/>
          </a:ln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7" name="Image 0" descr="D:/GitHub/mern-web-book/docs/assets/img/lecture-08/gradient-rainbow-stop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853" y="4217670"/>
            <a:ext cx="9447989" cy="2000250"/>
          </a:xfrm>
          <a:prstGeom prst="rect">
            <a:avLst/>
          </a:prstGeom>
        </p:spPr>
      </p:pic>
      <p:sp>
        <p:nvSpPr>
          <p:cNvPr id="10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4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30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SHADOWS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box-shadow on Hover — Live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91640"/>
            <a:ext cx="10911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D5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Genuinely live on the deployed page — shown here at both states.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240280"/>
            <a:ext cx="10911535" cy="1977390"/>
          </a:xfrm>
          <a:prstGeom prst="roundRect">
            <a:avLst>
              <a:gd name="adj" fmla="val 3699"/>
            </a:avLst>
          </a:prstGeom>
          <a:solidFill>
            <a:srgbClr val="F7F8F9"/>
          </a:solidFill>
          <a:ln w="9525">
            <a:solidFill>
              <a:srgbClr val="D0D5D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 txBox="1"/>
          <p:nvPr/>
        </p:nvSpPr>
        <p:spPr>
          <a:xfrm>
            <a:off x="960120" y="2468880"/>
            <a:ext cx="10271455" cy="15201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.card {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box-shadow: 0 4px 10px rgba(0, 0, 0, 0.2);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.card:hover {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box-shadow: 0 8px 20px rgba(0, 0, 0, 0.35);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30352" y="4382262"/>
            <a:ext cx="11130991" cy="1945386"/>
          </a:xfrm>
          <a:prstGeom prst="roundRect">
            <a:avLst>
              <a:gd name="adj" fmla="val 2820"/>
            </a:avLst>
          </a:prstGeom>
          <a:solidFill>
            <a:srgbClr val="FFFFFF"/>
          </a:solidFill>
          <a:ln w="12700">
            <a:solidFill>
              <a:srgbClr val="E2E2EE"/>
            </a:solidFill>
            <a:prstDash val="solid"/>
          </a:ln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8" name="Image 0" descr="D:/GitHub/mern-web-book/slides/assets/lecture-08/shadow-hov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1498" y="4491990"/>
            <a:ext cx="6768698" cy="1725930"/>
          </a:xfrm>
          <a:prstGeom prst="rect">
            <a:avLst/>
          </a:prstGeom>
        </p:spPr>
      </p:pic>
      <p:sp>
        <p:nvSpPr>
          <p:cNvPr id="11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4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30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SHADOWS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text-shadow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11535" cy="1263015"/>
          </a:xfrm>
          <a:prstGeom prst="roundRect">
            <a:avLst>
              <a:gd name="adj" fmla="val 5792"/>
            </a:avLst>
          </a:prstGeom>
          <a:solidFill>
            <a:srgbClr val="F7F8F9"/>
          </a:solidFill>
          <a:ln w="9525">
            <a:solidFill>
              <a:srgbClr val="D0D5D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 txBox="1"/>
          <p:nvPr/>
        </p:nvSpPr>
        <p:spPr>
          <a:xfrm>
            <a:off x="960120" y="2194560"/>
            <a:ext cx="10271455" cy="8058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h1 {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text-shadow: 2px 2px 4px rgba(0, 0, 0, 0.5);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30352" y="3393567"/>
            <a:ext cx="11130991" cy="2934081"/>
          </a:xfrm>
          <a:prstGeom prst="roundRect">
            <a:avLst>
              <a:gd name="adj" fmla="val 1870"/>
            </a:avLst>
          </a:prstGeom>
          <a:solidFill>
            <a:srgbClr val="FFFFFF"/>
          </a:solidFill>
          <a:ln w="12700">
            <a:solidFill>
              <a:srgbClr val="E2E2EE"/>
            </a:solidFill>
            <a:prstDash val="solid"/>
          </a:ln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7" name="Image 0" descr="D:/GitHub/mern-web-book/docs/assets/img/lecture-08/text-shadow-head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608" y="3877627"/>
            <a:ext cx="9936480" cy="1965960"/>
          </a:xfrm>
          <a:prstGeom prst="rect">
            <a:avLst/>
          </a:prstGeom>
        </p:spPr>
      </p:pic>
      <p:sp>
        <p:nvSpPr>
          <p:cNvPr id="10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4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30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SHADOWS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Multiple Shadows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11535" cy="1024890"/>
          </a:xfrm>
          <a:prstGeom prst="roundRect">
            <a:avLst>
              <a:gd name="adj" fmla="val 7138"/>
            </a:avLst>
          </a:prstGeom>
          <a:solidFill>
            <a:srgbClr val="F7F8F9"/>
          </a:solidFill>
          <a:ln w="9525">
            <a:solidFill>
              <a:srgbClr val="D0D5D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 txBox="1"/>
          <p:nvPr/>
        </p:nvSpPr>
        <p:spPr>
          <a:xfrm>
            <a:off x="960120" y="2194560"/>
            <a:ext cx="10271455" cy="567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box-shadow: 0 1px 2px #000, 0 0 20px gold;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stack shadows by separating them with commas */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30352" y="3155442"/>
            <a:ext cx="11130991" cy="3172206"/>
          </a:xfrm>
          <a:prstGeom prst="roundRect">
            <a:avLst>
              <a:gd name="adj" fmla="val 1730"/>
            </a:avLst>
          </a:prstGeom>
          <a:solidFill>
            <a:srgbClr val="FFFFFF"/>
          </a:solidFill>
          <a:ln w="12700">
            <a:solidFill>
              <a:srgbClr val="E2E2EE"/>
            </a:solidFill>
            <a:prstDash val="solid"/>
          </a:ln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7" name="Image 0" descr="D:/GitHub/mern-web-book/docs/assets/img/lecture-08/multiple-shadows-g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8964" y="3265170"/>
            <a:ext cx="3713768" cy="2952750"/>
          </a:xfrm>
          <a:prstGeom prst="rect">
            <a:avLst/>
          </a:prstGeom>
        </p:spPr>
      </p:pic>
      <p:sp>
        <p:nvSpPr>
          <p:cNvPr id="10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4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30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OPACITY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opacity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91640"/>
            <a:ext cx="10911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D5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opacity fades EVERYTHING inside, including text; use rgba() for a transparent background with solid text.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240280"/>
            <a:ext cx="10911535" cy="1263015"/>
          </a:xfrm>
          <a:prstGeom prst="roundRect">
            <a:avLst>
              <a:gd name="adj" fmla="val 5792"/>
            </a:avLst>
          </a:prstGeom>
          <a:solidFill>
            <a:srgbClr val="F7F8F9"/>
          </a:solidFill>
          <a:ln w="9525">
            <a:solidFill>
              <a:srgbClr val="D0D5D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 txBox="1"/>
          <p:nvPr/>
        </p:nvSpPr>
        <p:spPr>
          <a:xfrm>
            <a:off x="960120" y="2468880"/>
            <a:ext cx="10271455" cy="8058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.faded {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opacity: 0.5; /* 50% transparent */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30352" y="3667887"/>
            <a:ext cx="11130991" cy="2659761"/>
          </a:xfrm>
          <a:prstGeom prst="roundRect">
            <a:avLst>
              <a:gd name="adj" fmla="val 2063"/>
            </a:avLst>
          </a:prstGeom>
          <a:solidFill>
            <a:srgbClr val="FFFFFF"/>
          </a:solidFill>
          <a:ln w="12700">
            <a:solidFill>
              <a:srgbClr val="E2E2EE"/>
            </a:solidFill>
            <a:prstDash val="solid"/>
          </a:ln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8" name="Image 0" descr="D:/GitHub/mern-web-book/docs/assets/img/lecture-08/opacity-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4335" y="3777615"/>
            <a:ext cx="5383026" cy="2440305"/>
          </a:xfrm>
          <a:prstGeom prst="rect">
            <a:avLst/>
          </a:prstGeom>
        </p:spPr>
      </p:pic>
      <p:sp>
        <p:nvSpPr>
          <p:cNvPr id="11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4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30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2D and 3D Transform Functions</a:t>
            </a:r>
            <a:endParaRPr lang="en-US" sz="34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965960"/>
          <a:ext cx="10911535" cy="914400"/>
        </p:xfrm>
        <a:graphic>
          <a:graphicData uri="http://schemas.openxmlformats.org/drawingml/2006/table">
            <a:tbl>
              <a:tblPr/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5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B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Does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B7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translate(x, y) / translateZ(z)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Moves an element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rotate(deg) / rotateX/Y/Z(deg)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Spins an element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scale(n) / scaleX/Y/Z(n)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Resizes an element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skew(deg)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Slants an element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4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30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2D Transforms, Compared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11535" cy="1739265"/>
          </a:xfrm>
          <a:prstGeom prst="roundRect">
            <a:avLst>
              <a:gd name="adj" fmla="val 4206"/>
            </a:avLst>
          </a:prstGeom>
          <a:solidFill>
            <a:srgbClr val="F7F8F9"/>
          </a:solidFill>
          <a:ln w="9525">
            <a:solidFill>
              <a:srgbClr val="D0D5D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 txBox="1"/>
          <p:nvPr/>
        </p:nvSpPr>
        <p:spPr>
          <a:xfrm>
            <a:off x="960120" y="2194560"/>
            <a:ext cx="10271455" cy="12820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.box  { transform: rotate(15deg); }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.box2 { transform: scale(1.2); }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.box3 { transform: translate(50px, 20px); }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.box4 { transform: skew(10deg, 0deg); }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.box5 { transform: translate(20px, 0) rotate(10deg) scale(1.1); }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30352" y="3869817"/>
            <a:ext cx="11130991" cy="2457831"/>
          </a:xfrm>
          <a:prstGeom prst="roundRect">
            <a:avLst>
              <a:gd name="adj" fmla="val 2232"/>
            </a:avLst>
          </a:prstGeom>
          <a:solidFill>
            <a:srgbClr val="FFFFFF"/>
          </a:solidFill>
          <a:ln w="12700">
            <a:solidFill>
              <a:srgbClr val="E2E2EE"/>
            </a:solidFill>
            <a:prstDash val="solid"/>
          </a:ln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7" name="Image 0" descr="D:/GitHub/mern-web-book/docs/assets/img/lecture-08/transforms-2d-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9819" y="3979545"/>
            <a:ext cx="4612058" cy="2238375"/>
          </a:xfrm>
          <a:prstGeom prst="rect">
            <a:avLst/>
          </a:prstGeom>
        </p:spPr>
      </p:pic>
      <p:sp>
        <p:nvSpPr>
          <p:cNvPr id="10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4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30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3D Hover Flip — Live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11535" cy="2215515"/>
          </a:xfrm>
          <a:prstGeom prst="roundRect">
            <a:avLst>
              <a:gd name="adj" fmla="val 3302"/>
            </a:avLst>
          </a:prstGeom>
          <a:solidFill>
            <a:srgbClr val="F7F8F9"/>
          </a:solidFill>
          <a:ln w="9525">
            <a:solidFill>
              <a:srgbClr val="D0D5D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 txBox="1"/>
          <p:nvPr/>
        </p:nvSpPr>
        <p:spPr>
          <a:xfrm>
            <a:off x="960120" y="2194560"/>
            <a:ext cx="10271455" cy="1758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.scene { perspective: 800px; }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.card-3d {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transform: rotateY(25deg);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transition: transform 0.4s ease;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.card-3d:hover { transform: rotateY(0deg); }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30352" y="4346067"/>
            <a:ext cx="11130991" cy="1981581"/>
          </a:xfrm>
          <a:prstGeom prst="roundRect">
            <a:avLst>
              <a:gd name="adj" fmla="val 2769"/>
            </a:avLst>
          </a:prstGeom>
          <a:solidFill>
            <a:srgbClr val="FFFFFF"/>
          </a:solidFill>
          <a:ln w="12700">
            <a:solidFill>
              <a:srgbClr val="E2E2EE"/>
            </a:solidFill>
            <a:prstDash val="solid"/>
          </a:ln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7" name="Image 0" descr="D:/GitHub/mern-web-book/slides/assets/lecture-08/card3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3196" y="4455795"/>
            <a:ext cx="4805304" cy="1762125"/>
          </a:xfrm>
          <a:prstGeom prst="rect">
            <a:avLst/>
          </a:prstGeom>
        </p:spPr>
      </p:pic>
      <p:sp>
        <p:nvSpPr>
          <p:cNvPr id="10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4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30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TRANSITIONS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Smooth Hover Transition — Live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11535" cy="2453640"/>
          </a:xfrm>
          <a:prstGeom prst="roundRect">
            <a:avLst>
              <a:gd name="adj" fmla="val 2981"/>
            </a:avLst>
          </a:prstGeom>
          <a:solidFill>
            <a:srgbClr val="F7F8F9"/>
          </a:solidFill>
          <a:ln w="9525">
            <a:solidFill>
              <a:srgbClr val="D0D5D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 txBox="1"/>
          <p:nvPr/>
        </p:nvSpPr>
        <p:spPr>
          <a:xfrm>
            <a:off x="960120" y="2194560"/>
            <a:ext cx="10271455" cy="1996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button {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background-color: royalblue;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transition: background-color 0.3s ease, transform 0.3s ease;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button:hover {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background-color: darkblue;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transform: scale(1.05);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30352" y="4584192"/>
            <a:ext cx="11130991" cy="1743456"/>
          </a:xfrm>
          <a:prstGeom prst="roundRect">
            <a:avLst>
              <a:gd name="adj" fmla="val 3147"/>
            </a:avLst>
          </a:prstGeom>
          <a:solidFill>
            <a:srgbClr val="FFFFFF"/>
          </a:solidFill>
          <a:ln w="12700">
            <a:solidFill>
              <a:srgbClr val="E2E2EE"/>
            </a:solidFill>
            <a:prstDash val="solid"/>
          </a:ln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7" name="Image 0" descr="D:/GitHub/mern-web-book/slides/assets/lecture-08/transition-bt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5632" y="4693920"/>
            <a:ext cx="4980432" cy="1524000"/>
          </a:xfrm>
          <a:prstGeom prst="rect">
            <a:avLst/>
          </a:prstGeom>
        </p:spPr>
      </p:pic>
      <p:sp>
        <p:nvSpPr>
          <p:cNvPr id="10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4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30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KEYFRAME ANIMATIONS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@keyframes — Live and Looping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11535" cy="2215515"/>
          </a:xfrm>
          <a:prstGeom prst="roundRect">
            <a:avLst>
              <a:gd name="adj" fmla="val 3302"/>
            </a:avLst>
          </a:prstGeom>
          <a:solidFill>
            <a:srgbClr val="F7F8F9"/>
          </a:solidFill>
          <a:ln w="9525">
            <a:solidFill>
              <a:srgbClr val="D0D5D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 txBox="1"/>
          <p:nvPr/>
        </p:nvSpPr>
        <p:spPr>
          <a:xfrm>
            <a:off x="960120" y="2194560"/>
            <a:ext cx="10271455" cy="1758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@keyframes bounce {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0%   { transform: translateY(0); }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50%  { transform: translateY(-20px); }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100% { transform: translateY(0); }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.ball { animation: bounce 1s ease-in-out infinite; }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30352" y="4346067"/>
            <a:ext cx="11130991" cy="1981581"/>
          </a:xfrm>
          <a:prstGeom prst="roundRect">
            <a:avLst>
              <a:gd name="adj" fmla="val 2769"/>
            </a:avLst>
          </a:prstGeom>
          <a:solidFill>
            <a:srgbClr val="FFFFFF"/>
          </a:solidFill>
          <a:ln w="12700">
            <a:solidFill>
              <a:srgbClr val="E2E2EE"/>
            </a:solidFill>
            <a:prstDash val="solid"/>
          </a:ln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7" name="Image 0" descr="D:/GitHub/mern-web-book/slides/assets/lecture-08/bounce-fram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4601" y="4455795"/>
            <a:ext cx="5342494" cy="1762125"/>
          </a:xfrm>
          <a:prstGeom prst="rect">
            <a:avLst/>
          </a:prstGeom>
        </p:spPr>
      </p:pic>
      <p:sp>
        <p:nvSpPr>
          <p:cNvPr id="10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4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16</a:t>
            </a:r>
          </a:p>
        </p:txBody>
      </p:sp>
      <p:sp>
        <p:nvSpPr>
          <p:cNvPr id="11" name="Rounded Rectangle 10">
            <a:hlinkClick r:id="rId5"/>
          </p:cNvPr>
          <p:cNvSpPr/>
          <p:nvPr/>
        </p:nvSpPr>
        <p:spPr>
          <a:xfrm>
            <a:off x="8915400" y="4892040"/>
            <a:ext cx="2468880" cy="1097280"/>
          </a:xfrm>
          <a:prstGeom prst="roundRect">
            <a:avLst>
              <a:gd name="adj" fmla="val 12000"/>
            </a:avLst>
          </a:prstGeom>
          <a:solidFill>
            <a:srgbClr val="ECFBF7"/>
          </a:solidFill>
          <a:ln w="12700">
            <a:solidFill>
              <a:srgbClr val="2FB6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ctr"/>
            <a:r>
              <a:rPr sz="1300" b="1">
                <a:solidFill>
                  <a:srgbClr val="1F7A67"/>
                </a:solidFill>
                <a:latin typeface="Calibri"/>
              </a:rPr>
              <a:t>▶ Try it yourself</a:t>
            </a:r>
          </a:p>
          <a:p>
            <a:pPr algn="ctr"/>
            <a:r>
              <a:rPr sz="1100">
                <a:solidFill>
                  <a:srgbClr val="2FB69E"/>
                </a:solidFill>
                <a:latin typeface="Calibri"/>
                <a:hlinkClick r:id="rId5"/>
              </a:rPr>
              <a:t>on W3Schools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30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Timing Functions</a:t>
            </a:r>
            <a:endParaRPr lang="en-US" sz="34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965960"/>
          <a:ext cx="10911535" cy="91440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B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B7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Constant speed, start to finish — feels mechanical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ease (default)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Starts slow, speeds up, ends slow — the most natural-feeling default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ease-in / ease-out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Slow start only / slow finish only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cubic-bezier(...)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fully custom easing curve for a specific feel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9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30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transition vs. animation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11535" cy="3657600"/>
          </a:xfrm>
          <a:prstGeom prst="roundRect">
            <a:avLst>
              <a:gd name="adj" fmla="val 3529"/>
            </a:avLst>
          </a:prstGeom>
          <a:solidFill>
            <a:srgbClr val="E6F6EE"/>
          </a:solidFill>
          <a:ln w="12700">
            <a:solidFill>
              <a:srgbClr val="3FA66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 txBox="1"/>
          <p:nvPr/>
        </p:nvSpPr>
        <p:spPr>
          <a:xfrm>
            <a:off x="868680" y="2103120"/>
            <a:ext cx="10454335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200" dirty="0">
                <a:solidFill>
                  <a:srgbClr val="1F7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795960"/>
            <a:ext cx="10454335" cy="25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transition for simple state changes (hover, focus, a toggled class). Use a keyframe animation for anything that plays on its own, loops, or needs more than a start and end state.</a:t>
            </a:r>
            <a:endParaRPr lang="en-US" sz="2800" dirty="0"/>
          </a:p>
        </p:txBody>
      </p:sp>
      <p:sp>
        <p:nvSpPr>
          <p:cNvPr id="9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30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 Fonts and Icon Fonts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2185416"/>
            <a:ext cx="82296" cy="82296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 txBox="1"/>
          <p:nvPr/>
        </p:nvSpPr>
        <p:spPr>
          <a:xfrm>
            <a:off x="960120" y="1892808"/>
            <a:ext cx="105914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fonts (Google Fonts, or @font-face) let every visitor see the exact same typeface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85800" y="3008376"/>
            <a:ext cx="82296" cy="82296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 txBox="1"/>
          <p:nvPr/>
        </p:nvSpPr>
        <p:spPr>
          <a:xfrm>
            <a:off x="960120" y="2715768"/>
            <a:ext cx="105914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end a font-family list with a generic fallback: sans-serif, serif, monospace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85800" y="3831336"/>
            <a:ext cx="82296" cy="82296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 txBox="1"/>
          <p:nvPr/>
        </p:nvSpPr>
        <p:spPr>
          <a:xfrm>
            <a:off x="960120" y="3538728"/>
            <a:ext cx="105914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Icon fonts let you use icons like text — resizable, colorable — though many projects now prefer inline SVG</a:t>
            </a:r>
            <a:endParaRPr lang="en-US" sz="1500" dirty="0"/>
          </a:p>
        </p:txBody>
      </p:sp>
      <p:sp>
        <p:nvSpPr>
          <p:cNvPr id="12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30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PROPERTIES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CSS Variables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11535" cy="2948940"/>
          </a:xfrm>
          <a:prstGeom prst="roundRect">
            <a:avLst>
              <a:gd name="adj" fmla="val 2481"/>
            </a:avLst>
          </a:prstGeom>
          <a:solidFill>
            <a:srgbClr val="F7F8F9"/>
          </a:solidFill>
          <a:ln w="9525">
            <a:solidFill>
              <a:srgbClr val="D0D5D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 txBox="1"/>
          <p:nvPr/>
        </p:nvSpPr>
        <p:spPr>
          <a:xfrm>
            <a:off x="960120" y="2194560"/>
            <a:ext cx="10271455" cy="2491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:root {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--main-color: #6c5ce7;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--spacing-unit: 8px;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.button {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background-color: var(--main-color);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padding: calc(var(--spacing-unit) * 2);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5143500"/>
            <a:ext cx="10911535" cy="1120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live, real value in the browser — change it once in :root and every var(--main-color) usage updates instantly.</a:t>
            </a:r>
            <a:endParaRPr lang="en-US" sz="1300" dirty="0"/>
          </a:p>
        </p:txBody>
      </p:sp>
      <p:sp>
        <p:nvSpPr>
          <p:cNvPr id="9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30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PROPERTIES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Rule, Two Colors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91640"/>
            <a:ext cx="10911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D5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changed except the value of --main-color in scope — proof the variable controls the rendered color.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30352" y="2221992"/>
            <a:ext cx="11130991" cy="4059936"/>
          </a:xfrm>
          <a:prstGeom prst="roundRect">
            <a:avLst>
              <a:gd name="adj" fmla="val 1351"/>
            </a:avLst>
          </a:prstGeom>
          <a:solidFill>
            <a:srgbClr val="FFFFFF"/>
          </a:solidFill>
          <a:ln w="12700">
            <a:solidFill>
              <a:srgbClr val="E2E2EE"/>
            </a:solidFill>
            <a:prstDash val="solid"/>
          </a:ln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6" name="Image 0" descr="D:/GitHub/mern-web-book/docs/assets/img/lecture-08/custom-properties-dem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535539"/>
            <a:ext cx="10911535" cy="3432843"/>
          </a:xfrm>
          <a:prstGeom prst="rect">
            <a:avLst/>
          </a:prstGeom>
        </p:spPr>
      </p:pic>
      <p:sp>
        <p:nvSpPr>
          <p:cNvPr id="9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4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30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ADAPTING TO DEVICES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Media and Feature Queries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2185416"/>
            <a:ext cx="82296" cy="82296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 txBox="1"/>
          <p:nvPr/>
        </p:nvSpPr>
        <p:spPr>
          <a:xfrm>
            <a:off x="960120" y="1892808"/>
            <a:ext cx="105914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@media (min-width: 768px) { ... } adapts styles to screen size — the foundation of responsive design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85800" y="3008376"/>
            <a:ext cx="82296" cy="82296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 txBox="1"/>
          <p:nvPr/>
        </p:nvSpPr>
        <p:spPr>
          <a:xfrm>
            <a:off x="960120" y="2715768"/>
            <a:ext cx="105914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@supports (display: grid) { ... } applies CSS only if the browser actually supports a feature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85800" y="3831336"/>
            <a:ext cx="82296" cy="82296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 txBox="1"/>
          <p:nvPr/>
        </p:nvSpPr>
        <p:spPr>
          <a:xfrm>
            <a:off x="960120" y="3538728"/>
            <a:ext cx="105914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check something real about the current browser before applying their block</a:t>
            </a:r>
            <a:endParaRPr lang="en-US" sz="1500" dirty="0"/>
          </a:p>
        </p:txBody>
      </p:sp>
      <p:sp>
        <p:nvSpPr>
          <p:cNvPr id="12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30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COMPATIBILITY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Vendor Prefixes</a:t>
            </a:r>
            <a:endParaRPr lang="en-US" sz="34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965960"/>
          <a:ext cx="10911535" cy="914400"/>
        </p:xfrm>
        <a:graphic>
          <a:graphicData uri="http://schemas.openxmlformats.org/drawingml/2006/table">
            <a:tbl>
              <a:tblPr/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63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Prefix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B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Browser Engine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B7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-webkit-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Chrome, Safari, newer Edge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-moz-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Firefox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-ms-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old Internet Explorer / Edge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-o-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old Opera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640080" y="603504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D5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place the unprefixed, standard property LAST — Autoprefixer automates this in real projects.</a:t>
            </a:r>
            <a:endParaRPr lang="en-US" sz="1150" dirty="0"/>
          </a:p>
        </p:txBody>
      </p:sp>
      <p:sp>
        <p:nvSpPr>
          <p:cNvPr id="25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30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COMPATIBILITY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Vendor-Prefix Workflow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080760" y="2468880"/>
            <a:ext cx="9144" cy="137160"/>
          </a:xfrm>
          <a:prstGeom prst="line">
            <a:avLst/>
          </a:prstGeom>
          <a:noFill/>
          <a:ln w="25400">
            <a:solidFill>
              <a:srgbClr val="5D5D72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 flipH="1">
            <a:off x="2468880" y="3063240"/>
            <a:ext cx="2377440" cy="960120"/>
          </a:xfrm>
          <a:prstGeom prst="line">
            <a:avLst/>
          </a:prstGeom>
          <a:noFill/>
          <a:ln w="25400">
            <a:solidFill>
              <a:srgbClr val="5D5D72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 txBox="1"/>
          <p:nvPr/>
        </p:nvSpPr>
        <p:spPr>
          <a:xfrm>
            <a:off x="2743200" y="3396996"/>
            <a:ext cx="1828800" cy="29260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D5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Yes, experimental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7315200" y="3063240"/>
            <a:ext cx="2377440" cy="960120"/>
          </a:xfrm>
          <a:prstGeom prst="line">
            <a:avLst/>
          </a:prstGeom>
          <a:noFill/>
          <a:ln w="25400">
            <a:solidFill>
              <a:srgbClr val="5D5D72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 txBox="1"/>
          <p:nvPr/>
        </p:nvSpPr>
        <p:spPr>
          <a:xfrm>
            <a:off x="7589520" y="3396996"/>
            <a:ext cx="1828800" cy="29260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D5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No, well supported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468880" y="4709160"/>
            <a:ext cx="2560320" cy="365760"/>
          </a:xfrm>
          <a:prstGeom prst="line">
            <a:avLst/>
          </a:prstGeom>
          <a:noFill/>
          <a:ln w="25400">
            <a:solidFill>
              <a:srgbClr val="5D5D72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 flipH="1">
            <a:off x="7132320" y="4709160"/>
            <a:ext cx="2560320" cy="365760"/>
          </a:xfrm>
          <a:prstGeom prst="line">
            <a:avLst/>
          </a:prstGeom>
          <a:noFill/>
          <a:ln w="25400">
            <a:solidFill>
              <a:srgbClr val="5D5D72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6080760" y="5532120"/>
            <a:ext cx="9144" cy="228600"/>
          </a:xfrm>
          <a:prstGeom prst="line">
            <a:avLst/>
          </a:prstGeom>
          <a:noFill/>
          <a:ln w="25400">
            <a:solidFill>
              <a:srgbClr val="5D5D72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4251960" y="2011680"/>
            <a:ext cx="3657600" cy="457200"/>
          </a:xfrm>
          <a:prstGeom prst="rect">
            <a:avLst/>
          </a:prstGeom>
          <a:solidFill>
            <a:srgbClr val="1E1E4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 txBox="1"/>
          <p:nvPr/>
        </p:nvSpPr>
        <p:spPr>
          <a:xfrm>
            <a:off x="4306824" y="2011680"/>
            <a:ext cx="3547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write CSS3 code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251960" y="2606040"/>
            <a:ext cx="3657600" cy="685800"/>
          </a:xfrm>
          <a:prstGeom prst="diamond">
            <a:avLst/>
          </a:prstGeom>
          <a:solidFill>
            <a:srgbClr val="FF8A3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3"/>
          <p:cNvSpPr txBox="1"/>
          <p:nvPr/>
        </p:nvSpPr>
        <p:spPr>
          <a:xfrm>
            <a:off x="4306824" y="2606040"/>
            <a:ext cx="35478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/ experimental</a:t>
            </a:r>
            <a:endParaRPr lang="en-US" sz="11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feature?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22960" y="4023360"/>
            <a:ext cx="3291840" cy="685800"/>
          </a:xfrm>
          <a:prstGeom prst="rect">
            <a:avLst/>
          </a:prstGeom>
          <a:solidFill>
            <a:srgbClr val="2B2B7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5"/>
          <p:cNvSpPr txBox="1"/>
          <p:nvPr/>
        </p:nvSpPr>
        <p:spPr>
          <a:xfrm>
            <a:off x="877824" y="4023360"/>
            <a:ext cx="31821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vendor prefixes</a:t>
            </a:r>
            <a:endParaRPr lang="en-US" sz="11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(-webkit- -moz- -ms- -o-),</a:t>
            </a:r>
            <a:endParaRPr lang="en-US" sz="11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property last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046720" y="4023360"/>
            <a:ext cx="3291840" cy="685800"/>
          </a:xfrm>
          <a:prstGeom prst="rect">
            <a:avLst/>
          </a:prstGeom>
          <a:solidFill>
            <a:srgbClr val="2B2B7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Text 17"/>
          <p:cNvSpPr txBox="1"/>
          <p:nvPr/>
        </p:nvSpPr>
        <p:spPr>
          <a:xfrm>
            <a:off x="8101584" y="4023360"/>
            <a:ext cx="31821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standard</a:t>
            </a:r>
            <a:endParaRPr lang="en-US" sz="12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directly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480560" y="5074920"/>
            <a:ext cx="3200400" cy="457200"/>
          </a:xfrm>
          <a:prstGeom prst="rect">
            <a:avLst/>
          </a:prstGeom>
          <a:solidFill>
            <a:srgbClr val="2B2B7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9"/>
          <p:cNvSpPr txBox="1"/>
          <p:nvPr/>
        </p:nvSpPr>
        <p:spPr>
          <a:xfrm>
            <a:off x="4535424" y="5074920"/>
            <a:ext cx="3090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in multiple browsers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023360" y="5760720"/>
            <a:ext cx="4114800" cy="457200"/>
          </a:xfrm>
          <a:prstGeom prst="rect">
            <a:avLst/>
          </a:prstGeom>
          <a:solidFill>
            <a:srgbClr val="3FA66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" name="Text 21"/>
          <p:cNvSpPr txBox="1"/>
          <p:nvPr/>
        </p:nvSpPr>
        <p:spPr>
          <a:xfrm>
            <a:off x="4078224" y="5760720"/>
            <a:ext cx="4005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look across Chrome, Firefox, Safari, Edge</a:t>
            </a:r>
            <a:endParaRPr lang="en-US" sz="1100" dirty="0"/>
          </a:p>
        </p:txBody>
      </p:sp>
      <p:sp>
        <p:nvSpPr>
          <p:cNvPr id="26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2B2B7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7315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40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11887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Lecture 8 in Six Points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22960" y="2286000"/>
            <a:ext cx="438912" cy="438912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 txBox="1"/>
          <p:nvPr/>
        </p:nvSpPr>
        <p:spPr>
          <a:xfrm>
            <a:off x="822960" y="22860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463040" y="2194560"/>
            <a:ext cx="10058400" cy="624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9D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border-radius, gradients, box-shadow/text-shadow, and opacity build modern visual effects with no images.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822960" y="2956560"/>
            <a:ext cx="438912" cy="438912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Text 6"/>
          <p:cNvSpPr txBox="1"/>
          <p:nvPr/>
        </p:nvSpPr>
        <p:spPr>
          <a:xfrm>
            <a:off x="822960" y="29565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463040" y="2865120"/>
            <a:ext cx="10058400" cy="624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9D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 repositions/rotates/resizes without disturbing layout; 3D transforms need perspective on a parent.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22960" y="3627120"/>
            <a:ext cx="438912" cy="438912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 txBox="1"/>
          <p:nvPr/>
        </p:nvSpPr>
        <p:spPr>
          <a:xfrm>
            <a:off x="822960" y="36271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463040" y="3535680"/>
            <a:ext cx="10058400" cy="624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9D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transition animates between two states; @keyframes + animation define multi-step, looping animations.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22960" y="4297680"/>
            <a:ext cx="438912" cy="438912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Text 12"/>
          <p:cNvSpPr txBox="1"/>
          <p:nvPr/>
        </p:nvSpPr>
        <p:spPr>
          <a:xfrm>
            <a:off x="822960" y="42976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463040" y="4206240"/>
            <a:ext cx="10058400" cy="624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9D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custom properties (--name, read with var(--name)) power theming and dark mode from one place.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22960" y="4968240"/>
            <a:ext cx="438912" cy="438912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5"/>
          <p:cNvSpPr txBox="1"/>
          <p:nvPr/>
        </p:nvSpPr>
        <p:spPr>
          <a:xfrm>
            <a:off x="822960" y="49682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463040" y="4876800"/>
            <a:ext cx="10058400" cy="624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9D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queries adapt to screen size; feature queries (@supports) adapt to what the browser can render.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22960" y="5638800"/>
            <a:ext cx="438912" cy="438912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Text 18"/>
          <p:cNvSpPr txBox="1"/>
          <p:nvPr/>
        </p:nvSpPr>
        <p:spPr>
          <a:xfrm>
            <a:off x="822960" y="56388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1463040" y="5547360"/>
            <a:ext cx="10058400" cy="624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9D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prefixes exist for experimental features — always place the unprefixed property last.</a:t>
            </a:r>
            <a:endParaRPr lang="en-US" sz="1250" dirty="0"/>
          </a:p>
        </p:txBody>
      </p:sp>
      <p:sp>
        <p:nvSpPr>
          <p:cNvPr id="24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1337</Words>
  <Application>Microsoft Office PowerPoint</Application>
  <PresentationFormat>Widescreen</PresentationFormat>
  <Paragraphs>245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0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COMSATS University Islamabad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8: CSS3 Features</dc:title>
  <dc:subject>CSC336 Web Technologies</dc:subject>
  <dc:creator>Usman Akram</dc:creator>
  <cp:lastModifiedBy>M. Usman Akram</cp:lastModifiedBy>
  <cp:revision>2</cp:revision>
  <dcterms:created xsi:type="dcterms:W3CDTF">2026-09-22T05:27:47Z</dcterms:created>
  <dcterms:modified xsi:type="dcterms:W3CDTF">2026-09-29T04:23:34Z</dcterms:modified>
</cp:coreProperties>
</file>
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8852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w3schools.com/css/tryit.asp?filename=trycss3_animation3" TargetMode="External"/><Relationship Id="rId4" Type="http://schemas.openxmlformats.org/officeDocument/2006/relationships/hyperlink" Target="https://cuinotes.com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4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CSS3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transforms, and animation — visual polish with pure CSS.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and opacity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2D/3D transforms, transitions, and keyframe animations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fonts, icon fonts, and CSS custom properties (variables)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queries, feature queries, and cross-browser compatibility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prefixes, and why compatibility still matters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border-radius: 12px; }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.avatar { border-radius: 50%; }  /* a perfect circle */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.bubble { border-radius: 20px 20px 20px 0;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pixel value rounds by a fixed amount; a percentage rounds relative to the element's own size.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D:/GitHub/mern-web-book/docs/assets/img/lecture-08/border-radius-sha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80895"/>
            <a:ext cx="10911535" cy="346781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and Radial Gradients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.banner    { background: linear-gradient(to right, #4facfe, #00f2fe); }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.spotlight { background: radial-gradient(circle, #fff, #333); }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.diagonal  { background: linear-gradient(45deg, orange, red); 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D:/GitHub/mern-web-book/docs/assets/img/lecture-08/gradients-linear-radial-diag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84957"/>
            <a:ext cx="10911535" cy="2659687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Color Stops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.rainbow {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background: linear-gradient(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 right,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red 0%, yellow 25%, green 50%, blue 75%, violet 100%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D:/GitHub/mern-web-book/docs/assets/img/lecture-08/gradient-rainbow-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853" y="4217670"/>
            <a:ext cx="9447989" cy="200025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box-shadow on Hover — Live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live on the deployed page — shown here at both states.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4px 10px rgba(0, 0, 0, 0.2);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.card:hover {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8px 20px rgba(0, 0, 0, 0.35);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382262"/>
            <a:ext cx="11130991" cy="1945386"/>
          </a:xfrm>
          <a:prstGeom prst="roundRect">
            <a:avLst>
              <a:gd name="adj" fmla="val 282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0" descr="D:/GitHub/mern-web-book/slides/assets/lecture-08/shadow-h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1498" y="4491990"/>
            <a:ext cx="6768698" cy="1725930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text-shadow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 {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text-shadow: 2px 2px 4px rgba(0, 0, 0, 0.5);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D:/GitHub/mern-web-book/docs/assets/img/lecture-08/text-shadow-hea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608" y="3877627"/>
            <a:ext cx="9936480" cy="196596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Shadows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24890"/>
          </a:xfrm>
          <a:prstGeom prst="roundRect">
            <a:avLst>
              <a:gd name="adj" fmla="val 7138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567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box-shadow: 0 1px 2px #000, 0 0 20px gold;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stack shadows by separating them with commas */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155442"/>
            <a:ext cx="11130991" cy="3172206"/>
          </a:xfrm>
          <a:prstGeom prst="roundRect">
            <a:avLst>
              <a:gd name="adj" fmla="val 173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D:/GitHub/mern-web-book/docs/assets/img/lecture-08/multiple-shadows-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64" y="3265170"/>
            <a:ext cx="3713768" cy="295275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opacity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opacity fades EVERYTHING inside, including text; use rgba() for a transparent background with solid text.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.faded {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opacity: 0.5; /* 50% transparent */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667887"/>
            <a:ext cx="11130991" cy="2659761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0" descr="D:/GitHub/mern-web-book/docs/assets/img/lecture-08/opacity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4335" y="3777615"/>
            <a:ext cx="5383026" cy="2440305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and 3D Transform Functions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translate(x, y) / translateZ(z)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rotate(deg) / rotateX/Y/Z(deg)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scale(n) / scaleX/Y/Z(n)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Resizes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skew(deg)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Slants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Transforms,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 { transform: rotate(15deg); 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.box2 { transform: scale(1.2); 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.box3 { transform: translate(50px, 20px); 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.box4 { transform: skew(10deg, 0deg); 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.box5 { transform: translate(20px, 0) rotate(10deg) scale(1.1);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869817"/>
            <a:ext cx="11130991" cy="2457831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D:/GitHub/mern-web-book/docs/assets/img/lecture-08/transforms-2d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9819" y="3979545"/>
            <a:ext cx="4612058" cy="223837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3D Hover Flip —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15515"/>
          </a:xfrm>
          <a:prstGeom prst="roundRect">
            <a:avLst>
              <a:gd name="adj" fmla="val 3302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5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.scene { perspective: 800px; 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.card-3d {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transform: rotateY(25deg);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transition: transform 0.4s ease;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.card-3d:hover { transform: rotateY(0deg);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346067"/>
            <a:ext cx="11130991" cy="1981581"/>
          </a:xfrm>
          <a:prstGeom prst="roundRect">
            <a:avLst>
              <a:gd name="adj" fmla="val 276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D:/GitHub/mern-web-book/slides/assets/lecture-08/card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3196" y="4455795"/>
            <a:ext cx="4805304" cy="176212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Smooth Hover Transition —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3640"/>
          </a:xfrm>
          <a:prstGeom prst="roundRect">
            <a:avLst>
              <a:gd name="adj" fmla="val 2981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 {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royalblue;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transition: background-color 0.3s ease, transform 0.3s ease;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button:hover {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darkblue;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transform: scale(1.05);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584192"/>
            <a:ext cx="11130991" cy="1743456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D:/GitHub/mern-web-book/slides/assets/lecture-08/transition-bt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632" y="4693920"/>
            <a:ext cx="4980432" cy="152400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 ANIMATIONS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@keyframes — Live and Looping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15515"/>
          </a:xfrm>
          <a:prstGeom prst="roundRect">
            <a:avLst>
              <a:gd name="adj" fmla="val 3302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5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@keyframes bounce {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0%   { transform: translateY(0); 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50%  { transform: translateY(-20px); 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100% { transform: translateY(0); 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.ball { animation: bounce 1s ease-in-out infinite;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346067"/>
            <a:ext cx="11130991" cy="1981581"/>
          </a:xfrm>
          <a:prstGeom prst="roundRect">
            <a:avLst>
              <a:gd name="adj" fmla="val 276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D:/GitHub/mern-web-book/slides/assets/lecture-08/bounce-fra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4601" y="4455795"/>
            <a:ext cx="5342494" cy="176212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  <p:sp>
        <p:nvSpPr>
          <p:cNvPr id="11" name="Rounded Rectangle 10">
            <a:hlinkClick r:id="rId5"/>
          </p:cNvPr>
          <p:cNvSpPr/>
          <p:nvPr/>
        </p:nvSpPr>
        <p:spPr>
          <a:xfrm>
            <a:off x="8915400" y="4892040"/>
            <a:ext cx="2468880" cy="1097280"/>
          </a:xfrm>
          <a:prstGeom prst="roundRect">
            <a:avLst>
              <a:gd name="adj" fmla="val 12000"/>
            </a:avLst>
          </a:prstGeom>
          <a:solidFill>
            <a:srgbClr val="ECFBF7"/>
          </a:solidFill>
          <a:ln w="12700">
            <a:solidFill>
              <a:srgbClr val="2FB6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ctr"/>
          <a:lstStyle/>
          <a:p>
            <a:pPr algn="ctr"/>
            <a:r>
              <a:rPr sz="1300" b="1">
                <a:solidFill>
                  <a:srgbClr val="1F7A67"/>
                </a:solidFill>
                <a:latin typeface="Calibri"/>
              </a:rPr>
              <a:t>▶ Try it yourself</a:t>
            </a:r>
          </a:p>
          <a:p>
            <a:pPr algn="ctr"/>
            <a:r>
              <a:rPr sz="1100">
                <a:solidFill>
                  <a:srgbClr val="2FB69E"/>
                </a:solidFill>
                <a:latin typeface="Calibri"/>
                <a:hlinkClick r:id="rId5"/>
              </a:rPr>
              <a:t>on W3Schools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Functions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speed, start to finish — feels mechanical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slow, speeds up, ends slow — the most natural-feeling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ease-in / ease-out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 start only / slow finish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cubic-bezier(...)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fully custom easing curve for a specific feel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 vs. animation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transition for simple state changes (hover, focus, a toggled class). Use a keyframe animation for anything that plays on its own, loops, or needs more than a start and end state.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Fonts and Icon Fonts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 (Google Fonts, or @font-face) let every visitor see the exact same typeface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end a font-family list with a generic fallback: sans-serif, serif, monospace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fonts let you use icons like text — resizable, colorable — though many projects now prefer inline SVG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 Variables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:root {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--main-color: #6c5ce7;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--spacing-unit: 8px;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.button {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var(--main-color);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padding: calc(var(--spacing-unit) * 2);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real value in the browser — change it once in :root and every var(--main-color) usage updates instantly.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Rule, Two Colors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changed except the value of --main-color in scope — proof the variable controls the rendered color.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D:/GitHub/mern-web-book/docs/assets/img/lecture-08/custom-properties-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35539"/>
            <a:ext cx="10911535" cy="3432843"/>
          </a:xfrm>
          <a:prstGeom prst="rect">
            <a:avLst/>
          </a:prstGeom>
        </p:spPr>
      </p:pic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TO DEVICES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and Feature Queries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@media (min-width: 768px) { ... } adapts styles to screen size — the foundation of responsive design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@supports (display: grid) { ... } applies CSS only if the browser actually supports a feature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check something real about the current browser before applying their block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Prefixes</a:t>
            </a:r>
            <a:endParaRPr lang="en-US" sz="3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Engine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-webkit-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Chrome, Safari, newer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-moz-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Firefox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-ms-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Internet Explorer /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-o-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Opera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place the unprefixed, standard property LAST — Autoprefixer automates this in real projects.</a:t>
            </a:r>
            <a:endParaRPr lang="en-US" sz="1150" dirty="0"/>
          </a:p>
        </p:txBody>
      </p:sp>
      <p:sp>
        <p:nvSpPr>
          <p:cNvPr id="2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Vendor-Prefix Workflow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080760" y="2468880"/>
            <a:ext cx="9144" cy="1371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 flipH="1">
            <a:off x="2468880" y="3063240"/>
            <a:ext cx="237744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2743200" y="339699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experimental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0" y="3063240"/>
            <a:ext cx="237744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7589520" y="339699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well supported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68880" y="4709160"/>
            <a:ext cx="2560320" cy="3657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flipH="1">
            <a:off x="7132320" y="4709160"/>
            <a:ext cx="2560320" cy="3657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080760" y="5532120"/>
            <a:ext cx="9144" cy="2286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251960" y="2011680"/>
            <a:ext cx="3657600" cy="45720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4306824" y="2011680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CSS3 code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51960" y="2606040"/>
            <a:ext cx="3657600" cy="685800"/>
          </a:xfrm>
          <a:prstGeom prst="diamond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306824" y="2606040"/>
            <a:ext cx="3547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/ experimental</a:t>
            </a:r>
            <a:endParaRPr lang="en-US" sz="11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023360"/>
            <a:ext cx="3291840" cy="68580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877824" y="4023360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vendor prefixes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(-webkit- -moz- -ms- -o-),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property last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46720" y="4023360"/>
            <a:ext cx="3291840" cy="68580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01584" y="4023360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standard</a:t>
            </a:r>
            <a:endParaRPr lang="en-US" sz="12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directly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480560" y="5074920"/>
            <a:ext cx="3200400" cy="45720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4535424" y="507492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in multiple browsers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023360" y="5760720"/>
            <a:ext cx="4114800" cy="457200"/>
          </a:xfrm>
          <a:prstGeom prst="rect">
            <a:avLst/>
          </a:prstGeom>
          <a:solidFill>
            <a:srgbClr val="3FA6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4078224" y="576072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look across Chrome, Firefox, Safari, Edge</a:t>
            </a:r>
            <a:endParaRPr lang="en-US" sz="1100" dirty="0"/>
          </a:p>
        </p:txBody>
      </p:sp>
      <p:sp>
        <p:nvSpPr>
          <p:cNvPr id="26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2B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4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8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border-radius, gradients, box-shadow/text-shadow, and opacity build modern visual effects with no images.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repositions/rotates/resizes without disturbing layout; 3D transforms need perspective on a parent.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animates between two states; @keyframes + animation define multi-step, looping animations.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(--name, read with var(--name)) power theming and dark mode from one place.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adapt to screen size; feature queries (@supports) adapt to what the browser can render.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 exist for experimental features — always place the unprefixed property last.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1337</Words>
  <Application>Microsoft Office PowerPoint</Application>
  <PresentationFormat>Widescreen</PresentationFormat>
  <Paragraphs>245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8: CSS3 Features</dc:title>
  <dc:subject>CSC336 Web Technologies</dc:subject>
  <dc:creator>Usman Akram</dc:creator>
  <cp:lastModifiedBy>M. Usman Akram</cp:lastModifiedBy>
  <cp:revision>2</cp:revision>
  <dcterms:created xsi:type="dcterms:W3CDTF">2026-09-22T05:27:47Z</dcterms:created>
  <dcterms:modified xsi:type="dcterms:W3CDTF">2026-09-29T04:23:34Z</dcterms:modified>
</cp:coreProperties>
</file>
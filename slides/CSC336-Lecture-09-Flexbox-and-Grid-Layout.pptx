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4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4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uinotes.com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4" Type="http://schemas.openxmlformats.org/officeDocument/2006/relationships/hyperlink" Target="https://cuinotes.com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uinotes.com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4" Type="http://schemas.openxmlformats.org/officeDocument/2006/relationships/hyperlink" Target="https://cuinotes.com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uinotes.com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uinotes.com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cuinotes.com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4" Type="http://schemas.openxmlformats.org/officeDocument/2006/relationships/hyperlink" Target="https://cuinotes.com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 and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Layout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modern CSS layout systems — one-dimensional alignment, and two-dimensional page structure.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Flexbox: container, items, and the two axes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flex-direction, justify-content, align-items, flex-wrap, flex-grow/shrink/basis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Grid: rows, columns, and the fr unit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line placement, spanning multiple cells, and named grid areas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Flexbox vs. Grid — and using both together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and Items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15340"/>
          </a:xfrm>
          <a:prstGeom prst="roundRect">
            <a:avLst>
              <a:gd name="adj" fmla="val 897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{ display: flex;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09900"/>
            <a:ext cx="10911535" cy="325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declaration turns every direct child of .nav into a flex item, laid out in a single row by default.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Flex Nav Bar,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9/flex-nav-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516262"/>
            <a:ext cx="10911535" cy="1197077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Axis and the Cross Axis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axis runs in the flex direction (row, by default); the cross axis runs perpendicular to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1263015"/>
          </a:xfrm>
          <a:prstGeom prst="roundRect">
            <a:avLst>
              <a:gd name="adj" fmla="val 57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102714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.flex-row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 /* main axis: horizontal, left to right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" y="3667887"/>
            <a:ext cx="11130991" cy="2659761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8" name="Image 0" descr="D:/GitHub/mern-web-book/docs/assets/img/lecture-09/main-cross-ax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5860" y="3777615"/>
            <a:ext cx="5959976" cy="2440305"/>
          </a:xfrm>
          <a:prstGeom prst="rect">
            <a:avLst/>
          </a:prstGeom>
        </p:spPr>
      </p:pic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flex-direction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15340"/>
          </a:xfrm>
          <a:prstGeom prst="roundRect">
            <a:avLst>
              <a:gd name="adj" fmla="val 897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 flex-direction: row | row-reverse | column | column-reverse; 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flex-direction, Compared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03704"/>
            <a:ext cx="5084064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1F2429"/>
                </a:solidFill>
                <a:latin typeface="Calibri"/>
              </a:rPr>
              <a:t>flex-direction: row (default: left to right)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" y="2514600"/>
            <a:ext cx="5084064" cy="1472184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4984" y="3022092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3022092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9896" y="3022092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203704"/>
            <a:ext cx="5084064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1F2429"/>
                </a:solidFill>
                <a:latin typeface="Calibri"/>
              </a:rPr>
              <a:t>flex-direction: row-reverse (right to left)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514600"/>
            <a:ext cx="5084064" cy="1472184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14616" y="3022092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7072" y="3022092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39528" y="3022092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242816"/>
            <a:ext cx="5084064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1F2429"/>
                </a:solidFill>
                <a:latin typeface="Calibri"/>
              </a:rPr>
              <a:t>flex-direction: column (top to bottom)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" y="4553712"/>
            <a:ext cx="5084064" cy="1472184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4984" y="4663440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" y="5138928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" y="5614416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242816"/>
            <a:ext cx="5084064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1F2429"/>
                </a:solidFill>
                <a:latin typeface="Calibri"/>
              </a:rPr>
              <a:t>flex-direction: column-reverse (bottom to top)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4553712"/>
            <a:ext cx="5084064" cy="1472184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19088" y="4663440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5138928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5614416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justify-content (Main Axis)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082040"/>
          </a:xfrm>
          <a:prstGeom prst="roundRect">
            <a:avLst>
              <a:gd name="adj" fmla="val 676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 justify-content: flex-start | flex-end | center |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space-between | space-around | space-evenly; 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justify-content, Compared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48840"/>
            <a:ext cx="5152644" cy="237744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050" b="1">
                <a:solidFill>
                  <a:srgbClr val="1F2429"/>
                </a:solidFill>
                <a:latin typeface="Calibri"/>
              </a:rPr>
              <a:t>justify-content: flex-start (default: packed at the start)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441448"/>
            <a:ext cx="5152644" cy="883920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1832" y="2691384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691384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81528" y="2691384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1636" y="2148840"/>
            <a:ext cx="5152644" cy="237744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050" b="1">
                <a:solidFill>
                  <a:srgbClr val="1F2429"/>
                </a:solidFill>
                <a:latin typeface="Calibri"/>
              </a:rPr>
              <a:t>justify-content: flex-end (packed at the end)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2441448"/>
            <a:ext cx="5152644" cy="883920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47304" y="2691384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17152" y="2691384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2691384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526536"/>
            <a:ext cx="5152644" cy="237744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050" b="1">
                <a:solidFill>
                  <a:srgbClr val="1F2429"/>
                </a:solidFill>
                <a:latin typeface="Calibri"/>
              </a:rPr>
              <a:t>justify-content: center (packed in the center)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3819144"/>
            <a:ext cx="5152644" cy="883920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31086" y="4069080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00934" y="4069080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0782" y="4069080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1636" y="3526536"/>
            <a:ext cx="5152644" cy="237744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050" b="1">
                <a:solidFill>
                  <a:srgbClr val="1F2429"/>
                </a:solidFill>
                <a:latin typeface="Calibri"/>
              </a:rPr>
              <a:t>justify-content: space-between (equal gaps between items)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3819144"/>
            <a:ext cx="5152644" cy="883920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68796" y="4069080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7898" y="4069080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87000" y="4069080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904232"/>
            <a:ext cx="5152644" cy="237744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050" b="1">
                <a:solidFill>
                  <a:srgbClr val="1F2429"/>
                </a:solidFill>
                <a:latin typeface="Calibri"/>
              </a:rPr>
              <a:t>justify-content: space-around (equal space around each item)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" y="5196840"/>
            <a:ext cx="5152644" cy="883920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74826" y="5446776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00934" y="5446776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7042" y="5446776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1636" y="4904232"/>
            <a:ext cx="5152644" cy="237744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050" b="1">
                <a:solidFill>
                  <a:srgbClr val="1F2429"/>
                </a:solidFill>
                <a:latin typeface="Calibri"/>
              </a:rPr>
              <a:t>justify-content: space-evenly (perfectly equal gaps)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1636" y="5196840"/>
            <a:ext cx="5152644" cy="883920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68287" y="5446776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7898" y="5446776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7509" y="5446776"/>
            <a:ext cx="960120" cy="384048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align-items (Cross Axis)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15340"/>
          </a:xfrm>
          <a:prstGeom prst="roundRect">
            <a:avLst>
              <a:gd name="adj" fmla="val 897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 align-items: stretch | flex-start | flex-end | center; 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align-items, Compared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03704"/>
            <a:ext cx="5084064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1F2429"/>
                </a:solidFill>
                <a:latin typeface="Calibri"/>
              </a:rPr>
              <a:t>align-items: stretch (default: fill the cross axis)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" y="2514600"/>
            <a:ext cx="5084064" cy="1472184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4" y="2587752"/>
            <a:ext cx="1371600" cy="1325880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6624" y="2587752"/>
            <a:ext cx="1371600" cy="1325880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2587752"/>
            <a:ext cx="1371600" cy="1325880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203704"/>
            <a:ext cx="5084064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1F2429"/>
                </a:solidFill>
                <a:latin typeface="Calibri"/>
              </a:rPr>
              <a:t>align-items: flex-start (items align to the top)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514600"/>
            <a:ext cx="5084064" cy="1472184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6248" y="2587752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8" y="2587752"/>
            <a:ext cx="1371600" cy="822960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65208" y="2587752"/>
            <a:ext cx="1371600" cy="1280160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242816"/>
            <a:ext cx="5084064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1F2429"/>
                </a:solidFill>
                <a:latin typeface="Calibri"/>
              </a:rPr>
              <a:t>align-items: flex-end (items align to the bottom)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" y="4553712"/>
            <a:ext cx="5084064" cy="1472184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52144" y="5495544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06624" y="5129784"/>
            <a:ext cx="1371600" cy="822960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4" y="4672584"/>
            <a:ext cx="1371600" cy="1280160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242816"/>
            <a:ext cx="5084064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1F2429"/>
                </a:solidFill>
                <a:latin typeface="Calibri"/>
              </a:rPr>
              <a:t>align-items: center (items align to the vertical center)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4553712"/>
            <a:ext cx="5084064" cy="1472184"/>
          </a:xfrm>
          <a:prstGeom prst="rect">
            <a:avLst/>
          </a:prstGeom>
          <a:solidFill>
            <a:srgbClr val="F7F8F9"/>
          </a:solidFill>
          <a:ln w="12700">
            <a:solidFill>
              <a:srgbClr val="B8C0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56248" y="5061204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0728" y="4878324"/>
            <a:ext cx="1371600" cy="822960"/>
          </a:xfrm>
          <a:prstGeom prst="roundRect">
            <a:avLst>
              <a:gd name="adj" fmla="val 18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65208" y="4649724"/>
            <a:ext cx="1371600" cy="1280160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item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FAMOUS TRICK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 Centering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76700"/>
            <a:ext cx="10911535" cy="218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answer to "how do I center a div" — both axes at once.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FAMOUS TRICK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Centering,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9/centering-tr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8851" y="2057400"/>
            <a:ext cx="5773994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flex-wrap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15340"/>
          </a:xfrm>
          <a:prstGeom prst="roundRect">
            <a:avLst>
              <a:gd name="adj" fmla="val 897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 flex-wrap: nowrap | wrap;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09900"/>
            <a:ext cx="10911535" cy="325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nowrap squeezes everything onto one line, even past the container's edge; wrap breaks items onto multiple lines.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flex-wrap, Compared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9/flex-wrap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002" y="2057400"/>
            <a:ext cx="9909691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flex-grow, flex-shrink, flex-basis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 { flex-basis: 200px; }   /* starting size before growing/shrinking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 { flex: 1; }              /* grow to fill equally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 { flex-grow: 2; }         /* grow twice as fast as flex-grow: 1 */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and Shrinking,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9/flex-grow-shrink-ba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3791" y="2057400"/>
            <a:ext cx="8164112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 and Columns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200px 200px 200px;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grid-template-rows: 150px 150px;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10px;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Basic Grid,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9/grid-basic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048" y="2057400"/>
            <a:ext cx="8229600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 Unit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 1fr 1fr 1fr;      /* three equal columns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 2fr 1fr;          /* left column twice as wide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 250px 1fr;        /* fixed sidebar + flexible main */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43300"/>
            <a:ext cx="10911535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distributes remaining space as a FRACTION — it's Grid's equivalent of flex-grow.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 Unit, Compared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9/fr-unit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029" y="2057400"/>
            <a:ext cx="7571637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repeat(3, 1fr);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20px;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76700"/>
            <a:ext cx="10911535" cy="218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replaces the old margin-hack for spacing grid (and flex) items evenly, without extra space at the edges.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9/grid-gap-repeat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088" y="2057400"/>
            <a:ext cx="9875520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PLACEMENT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Placing Items on Grid Lines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082040"/>
          </a:xfrm>
          <a:prstGeom prst="roundRect">
            <a:avLst>
              <a:gd name="adj" fmla="val 676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.item-a { grid-column: 1 / 3; grid-row: 1;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.item-b { grid-column: 3; grid-row: 1;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76600"/>
            <a:ext cx="1091153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lines are numbered starting at 1 — an item can be placed at exact, specific cells.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PLACEMENT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Placement,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9/grid-line-plac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56" y="2057400"/>
            <a:ext cx="10124184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PLACEMENT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Spanning Multiple Cells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.featured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grid-column: span 2;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grid-row: span 2;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10000"/>
            <a:ext cx="10911535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photo-gallery-style layout: one featured cell occupies a 2x2 block while others fill in around it.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PLACEMENT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Spanning,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9/grid-span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8872" y="2057400"/>
            <a:ext cx="8813950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PLACEMENT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Grid Areas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grid-template-areas: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"header header"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"sidebar main"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"footer footer";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.header { grid-area: header;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0100"/>
            <a:ext cx="10911535" cy="165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areas makes a whole-page layout genuinely readable straight from the CSS.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PLACEMENT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Areas,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9/named-grid-are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2740" y="2057400"/>
            <a:ext cx="7026215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Flexbox vs. Grid</a:t>
            </a:r>
            <a:endParaRPr lang="en-US" sz="3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48056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One-dimensional (a row OR a column)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Two-dimensional (rows AND columns)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bars, button groups, aligning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Whole-page layouts, photo galleries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placement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flow in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placed at exact grid cells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 Rule of Thumb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Arranging things in ONE direction (a row of buttons, a horizontal menu)? Reach for Flexbox. Need to control rows AND columns together (an overall page layout, a gallery)? Reach for Grid. In real projects you'll use both together constantly.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BOTH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for Skeleton, Flexbox Inside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220px 1fr;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grid-template-areas: "sidebar main";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.header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BOTH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+ Flexbox,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9/flex-grid-toge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738" y="2057400"/>
            <a:ext cx="8660219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9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lays out items along a main axis and a cross axis, one dimension at a time.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80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aligns along the main axis; align-items aligns along the cross axis — together they center anything.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57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66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flex-grow/shrink/basis control how items expand, shrink, and start sized within the available space.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343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lays out rows AND columns together; the fr unit distributes remaining space as flexible fractions.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5029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937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items can be placed on exact lines, span multiple cells, or use named grid-template-areas for a readable layout.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715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715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623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Flexbox for one-dimensional alignment; use Grid for the overall page skeleton — and combine both in real projects.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9: Flexbox and Grid Layout</dc:title>
  <dc:subject>CSC336 Web Technologies</dc:subject>
  <dc:creator>Usman Akram</dc:creator>
  <cp:lastModifiedBy>Usman Akram</cp:lastModifiedBy>
  <cp:revision>1</cp:revision>
  <dcterms:created xsi:type="dcterms:W3CDTF">2026-09-13T18:33:15Z</dcterms:created>
  <dcterms:modified xsi:type="dcterms:W3CDTF">2026-09-13T18:33:15Z</dcterms:modified>
</cp:coreProperties>
</file>
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cuinotes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cuinotes.com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hyperlink" Target="https://cuinotes.com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4" Type="http://schemas.openxmlformats.org/officeDocument/2006/relationships/hyperlink" Target="https://cuinotes.co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hyperlink" Target="https://cuinotes.com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cuinotes.com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hyperlink" Target="https://cuinotes.com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cuinotes.com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hyperlink" Target="https://cuinotes.com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uinotes.com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hyperlink" Target="https://cuinotes.com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uinotes.com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hyperlink" Target="https://cuinotes.com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uinotes.com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Relationship Id="rId4" Type="http://schemas.openxmlformats.org/officeDocument/2006/relationships/hyperlink" Target="https://cuinotes.com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cuinotes.com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4" Type="http://schemas.openxmlformats.org/officeDocument/2006/relationships/hyperlink" Target="https://cuinotes.com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cuinotes.com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Relationship Id="rId4" Type="http://schemas.openxmlformats.org/officeDocument/2006/relationships/hyperlink" Target="https://cuinotes.com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uinotes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Relationship Id="rId4" Type="http://schemas.openxmlformats.org/officeDocument/2006/relationships/hyperlink" Target="https://cuinotes.com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cuinotes.com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Relationship Id="rId4" Type="http://schemas.openxmlformats.org/officeDocument/2006/relationships/hyperlink" Target="https://cuinotes.com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hyperlink" Target="https://cuinotes.com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Relationship Id="rId4" Type="http://schemas.openxmlformats.org/officeDocument/2006/relationships/hyperlink" Target="https://cuinotes.com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uinotes.com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4" Type="http://schemas.openxmlformats.org/officeDocument/2006/relationships/hyperlink" Target="https://cuinotes.com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cuinotes.com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Relationship Id="rId4" Type="http://schemas.openxmlformats.org/officeDocument/2006/relationships/hyperlink" Target="https://cuinotes.com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cuinotes.com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cuinotes.com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uinotes.com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Relationship Id="rId4" Type="http://schemas.openxmlformats.org/officeDocument/2006/relationships/hyperlink" Target="https://cuinotes.com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cuinotes.com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Flexbox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Layout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modern CSS layout systems — one-dimensional alignment, and two-dimensional page structure.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Flexbox: container, items, and the two axes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flex-direction, justify-content, align-items, flex-wrap, flex-grow/shrink/basis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Grid: rows, columns, and the fr unit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line placement, spanning multiple cells, and named grid areas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518464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Flexbox vs. Grid — and using both together</a:t>
            </a:r>
            <a:endParaRPr lang="en-US" sz="1500" dirty="0"/>
          </a:p>
        </p:txBody>
      </p:sp>
      <p:sp>
        <p:nvSpPr>
          <p:cNvPr id="2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Container and Items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.nav { display: flex;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 turns every direct child of .nav into a flex item, laid out in a single row by default.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Flex Nav Bar,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flex-nav-int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516262"/>
            <a:ext cx="10911535" cy="1197077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Main Axis and the Cross Axis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axis runs in the flex direction (row, by default); the cross axis runs perpendicular to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10911535" cy="1263015"/>
          </a:xfrm>
          <a:prstGeom prst="roundRect">
            <a:avLst>
              <a:gd name="adj" fmla="val 579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10271455" cy="8058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.flex-row {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 /* main axis: horizontal, left to right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30352" y="3667887"/>
            <a:ext cx="11130991" cy="2659761"/>
          </a:xfrm>
          <a:prstGeom prst="roundRect">
            <a:avLst>
              <a:gd name="adj" fmla="val 2063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8" name="Image 0" descr="D:/GitHub/mern-web-book/docs/assets/img/lecture-09/main-cross-ax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15860" y="3777615"/>
            <a:ext cx="5959976" cy="2440305"/>
          </a:xfrm>
          <a:prstGeom prst="rect">
            <a:avLst/>
          </a:prstGeom>
        </p:spPr>
      </p:pic>
      <p:sp>
        <p:nvSpPr>
          <p:cNvPr id="11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flex-direction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flex-direction: row | row-reverse | column | column-reverse;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flex-direction,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203704"/>
            <a:ext cx="5084064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100" b="1">
                <a:solidFill>
                  <a:srgbClr val="1F2429"/>
                </a:solidFill>
                <a:latin typeface="Calibri"/>
              </a:rPr>
              <a:t>flex-direction: row (default: left to right)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2514600"/>
            <a:ext cx="5084064" cy="1472184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14984" y="3022092"/>
            <a:ext cx="1234440" cy="457200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377440" y="3022092"/>
            <a:ext cx="1234440" cy="457200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739896" y="3022092"/>
            <a:ext cx="1234440" cy="457200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203704"/>
            <a:ext cx="5084064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100" b="1">
                <a:solidFill>
                  <a:srgbClr val="1F2429"/>
                </a:solidFill>
                <a:latin typeface="Calibri"/>
              </a:rPr>
              <a:t>flex-direction: row-reverse (right to left)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2514600"/>
            <a:ext cx="5084064" cy="1472184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214616" y="3022092"/>
            <a:ext cx="1234440" cy="457200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577072" y="3022092"/>
            <a:ext cx="1234440" cy="457200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39528" y="3022092"/>
            <a:ext cx="1234440" cy="457200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242816"/>
            <a:ext cx="5084064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100" b="1">
                <a:solidFill>
                  <a:srgbClr val="1F2429"/>
                </a:solidFill>
                <a:latin typeface="Calibri"/>
              </a:rPr>
              <a:t>flex-direction: column (top to bottom)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" y="4553712"/>
            <a:ext cx="5084064" cy="1472184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14984" y="4663440"/>
            <a:ext cx="1554480" cy="384048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14984" y="5138928"/>
            <a:ext cx="1554480" cy="384048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14984" y="5614416"/>
            <a:ext cx="1554480" cy="384048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4242816"/>
            <a:ext cx="5084064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100" b="1">
                <a:solidFill>
                  <a:srgbClr val="1F2429"/>
                </a:solidFill>
                <a:latin typeface="Calibri"/>
              </a:rPr>
              <a:t>flex-direction: column-reverse (bottom to top)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4496" y="4553712"/>
            <a:ext cx="5084064" cy="1472184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19088" y="4663440"/>
            <a:ext cx="1554480" cy="384048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19088" y="5138928"/>
            <a:ext cx="1554480" cy="384048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19088" y="5614416"/>
            <a:ext cx="1554480" cy="384048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justify-content (Main Axis)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justify-content: flex-start | flex-end | center |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space-between | space-around | space-evenly;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justify-content,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48840"/>
            <a:ext cx="5152644" cy="237744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050" b="1">
                <a:solidFill>
                  <a:srgbClr val="1F2429"/>
                </a:solidFill>
                <a:latin typeface="Calibri"/>
              </a:rPr>
              <a:t>justify-content: flex-start (default: packed at the start)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672" y="2441448"/>
            <a:ext cx="5152644" cy="883920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41832" y="2691384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2691384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81528" y="2691384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1636" y="2148840"/>
            <a:ext cx="5152644" cy="237744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050" b="1">
                <a:solidFill>
                  <a:srgbClr val="1F2429"/>
                </a:solidFill>
                <a:latin typeface="Calibri"/>
              </a:rPr>
              <a:t>justify-content: flex-end (packed at the end)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2441448"/>
            <a:ext cx="5152644" cy="883920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47304" y="2691384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17152" y="2691384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87000" y="2691384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526536"/>
            <a:ext cx="5152644" cy="237744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050" b="1">
                <a:solidFill>
                  <a:srgbClr val="1F2429"/>
                </a:solidFill>
                <a:latin typeface="Calibri"/>
              </a:rPr>
              <a:t>justify-content: center (packed in the center)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" y="3819144"/>
            <a:ext cx="5152644" cy="883920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831086" y="4069080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00934" y="4069080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970782" y="4069080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31636" y="3526536"/>
            <a:ext cx="5152644" cy="237744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050" b="1">
                <a:solidFill>
                  <a:srgbClr val="1F2429"/>
                </a:solidFill>
                <a:latin typeface="Calibri"/>
              </a:rPr>
              <a:t>justify-content: space-between (equal gaps between items)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3819144"/>
            <a:ext cx="5152644" cy="883920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68796" y="4069080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7898" y="4069080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87000" y="4069080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4904232"/>
            <a:ext cx="5152644" cy="237744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050" b="1">
                <a:solidFill>
                  <a:srgbClr val="1F2429"/>
                </a:solidFill>
                <a:latin typeface="Calibri"/>
              </a:rPr>
              <a:t>justify-content: space-around (equal space around each item)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" y="5196840"/>
            <a:ext cx="5152644" cy="883920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274826" y="5446776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900934" y="5446776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27042" y="5446776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31636" y="4904232"/>
            <a:ext cx="5152644" cy="237744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050" b="1">
                <a:solidFill>
                  <a:srgbClr val="1F2429"/>
                </a:solidFill>
                <a:latin typeface="Calibri"/>
              </a:rPr>
              <a:t>justify-content: space-evenly (perfectly equal gaps)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31636" y="5196840"/>
            <a:ext cx="5152644" cy="883920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868287" y="5446776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327898" y="5446776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87509" y="5446776"/>
            <a:ext cx="960120" cy="384048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align-items (Cross Axis)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align-items: stretch | flex-start | flex-end | center; 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align-items,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203704"/>
            <a:ext cx="5084064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100" b="1">
                <a:solidFill>
                  <a:srgbClr val="1F2429"/>
                </a:solidFill>
                <a:latin typeface="Calibri"/>
              </a:rPr>
              <a:t>align-items: stretch (default: fill the cross axis)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" y="2514600"/>
            <a:ext cx="5084064" cy="1472184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52144" y="2587752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06624" y="2587752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61104" y="2587752"/>
            <a:ext cx="1371600" cy="1325880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4496" y="2203704"/>
            <a:ext cx="5084064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100" b="1">
                <a:solidFill>
                  <a:srgbClr val="1F2429"/>
                </a:solidFill>
                <a:latin typeface="Calibri"/>
              </a:rPr>
              <a:t>align-items: flex-start (items align to the top)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54496" y="2514600"/>
            <a:ext cx="5084064" cy="1472184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6248" y="2587752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0728" y="2587752"/>
            <a:ext cx="1371600" cy="822960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65208" y="2587752"/>
            <a:ext cx="1371600" cy="1280160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0392" y="4242816"/>
            <a:ext cx="5084064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100" b="1">
                <a:solidFill>
                  <a:srgbClr val="1F2429"/>
                </a:solidFill>
                <a:latin typeface="Calibri"/>
              </a:rPr>
              <a:t>align-items: flex-end (items align to the bottom)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0392" y="4553712"/>
            <a:ext cx="5084064" cy="1472184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52144" y="5495544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706624" y="5129784"/>
            <a:ext cx="1371600" cy="822960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61104" y="4672584"/>
            <a:ext cx="1371600" cy="1280160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4496" y="4242816"/>
            <a:ext cx="5084064" cy="256032"/>
          </a:xfrm>
          <a:prstGeom prst="rect">
            <a:avLst/>
          </a:prstGeom>
          <a:noFill/>
        </p:spPr>
        <p:txBody>
          <a:bodyPr wrap="none" lIns="0" tIns="0" bIns="0" rIns="0">
            <a:spAutoFit/>
          </a:bodyPr>
          <a:lstStyle/>
          <a:p>
            <a:r>
              <a:rPr sz="1100" b="1">
                <a:solidFill>
                  <a:srgbClr val="1F2429"/>
                </a:solidFill>
                <a:latin typeface="Calibri"/>
              </a:rPr>
              <a:t>align-items: center (items align to the vertical center)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54496" y="4553712"/>
            <a:ext cx="5084064" cy="1472184"/>
          </a:xfrm>
          <a:prstGeom prst="rect">
            <a:avLst/>
          </a:prstGeom>
          <a:solidFill>
            <a:srgbClr val="F7F8F9"/>
          </a:solidFill>
          <a:ln w="12700">
            <a:solidFill>
              <a:srgbClr val="B8C0C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56248" y="5061204"/>
            <a:ext cx="1371600" cy="457200"/>
          </a:xfrm>
          <a:prstGeom prst="roundRect">
            <a:avLst>
              <a:gd name="adj" fmla="val 18000"/>
            </a:avLst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1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0728" y="4878324"/>
            <a:ext cx="1371600" cy="822960"/>
          </a:xfrm>
          <a:prstGeom prst="roundRect">
            <a:avLst>
              <a:gd name="adj" fmla="val 18000"/>
            </a:avLst>
          </a:prstGeom>
          <a:solidFill>
            <a:srgbClr val="6FCF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65208" y="4649724"/>
            <a:ext cx="1371600" cy="1280160"/>
          </a:xfrm>
          <a:prstGeom prst="roundRect">
            <a:avLst>
              <a:gd name="adj" fmla="val 18000"/>
            </a:avLst>
          </a:prstGeom>
          <a:solidFill>
            <a:srgbClr val="F29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item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TRICK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Perfect Centering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justify-content: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answer to "how do I center a div" — both axes at once.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TRICK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Centering,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centering-tri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8851" y="2057400"/>
            <a:ext cx="5773994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flex-wrap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815340"/>
          </a:xfrm>
          <a:prstGeom prst="roundRect">
            <a:avLst>
              <a:gd name="adj" fmla="val 8972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358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.container { flex-wrap: nowrap | wrap;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09900"/>
            <a:ext cx="10911535" cy="3253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nowrap squeezes everything onto one line, even past the container's edge; wrap breaks items onto multiple lines.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flex-wrap,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flex-wrap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1002" y="2057400"/>
            <a:ext cx="9909691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flex-grow, flex-shrink, flex-basis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flex-basis: 200px; }   /* starting size before growing/shrinking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flex: 1; }              /* grow to fill equally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 { flex-grow: 2; }         /* grow twice as fast as flex-grow: 1 */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PROPERTIES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Growing and Shrinking,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flex-grow-shrink-ba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791" y="2057400"/>
            <a:ext cx="8164112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Rows and Columns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148840"/>
          </a:xfrm>
          <a:prstGeom prst="roundRect">
            <a:avLst>
              <a:gd name="adj" fmla="val 340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.grid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200px 200px 200px;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grid-template-rows: 150px 150px;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10px;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Basic Grid,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grid-basic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048" y="2057400"/>
            <a:ext cx="8229600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 Unit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348740"/>
          </a:xfrm>
          <a:prstGeom prst="roundRect">
            <a:avLst>
              <a:gd name="adj" fmla="val 5424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891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1fr 1fr 1fr;      /* three equal columns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2fr 1fr;          /* left column twice as wide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grid-template-columns: 250px 1fr;        /* fixed sidebar + flexible main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43300"/>
            <a:ext cx="10911535" cy="2720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distributes remaining space as a FRACTION — it's Grid's equivalent of flex-grow.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 Unit,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fr-unit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0029" y="2057400"/>
            <a:ext cx="7571637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882140"/>
          </a:xfrm>
          <a:prstGeom prst="roundRect">
            <a:avLst>
              <a:gd name="adj" fmla="val 3887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424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.grid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repeat(3, 1fr);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gap: 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76700"/>
            <a:ext cx="10911535" cy="2186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replaces the old margin-hack for spacing grid (and flex) items evenly, without extra space at the edges.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gap,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grid-gap-repeat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8088" y="2057400"/>
            <a:ext cx="9875520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Placing Items on Grid Lines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.item-a { grid-column: 1 / 3; grid-row: 1;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.item-b { grid-column: 3; grid-row: 1;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lines are numbered starting at 1 — an item can be placed at exact, specific cells.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Placement,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grid-line-plac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756" y="2057400"/>
            <a:ext cx="10124184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Spanning Multiple Cells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615440"/>
          </a:xfrm>
          <a:prstGeom prst="roundRect">
            <a:avLst>
              <a:gd name="adj" fmla="val 45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.featured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grid-column: span 2;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grid-row: span 2;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10000"/>
            <a:ext cx="10911535" cy="2453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photo-gallery-style layout: one featured cell occupies a 2x2 block while others fill in around it.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Spanning,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grid-span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8872" y="2057400"/>
            <a:ext cx="8813950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Grid Areas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grid-template-areas: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"header header"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"sidebar main"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"footer footer";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.header { grid-area: header;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areas makes a whole-page layout genuinely readable straight from the CSS.</a:t>
            </a:r>
            <a:endParaRPr lang="en-US" sz="130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PLACEMENT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Named Areas,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named-grid-are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2740" y="2057400"/>
            <a:ext cx="7026215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TIME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Flexbox vs. Grid</a:t>
            </a:r>
            <a:endParaRPr lang="en-US" sz="34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6596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480560"/>
                <a:gridCol w="44805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Flexbox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2B7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One-dimensional (a row OR a column)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Two-dimensional (rows AND columns)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bars, button groups, aligning items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Whole-page layouts, photo galleries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 placement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flow in 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6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placed at exact grid cells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8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TIME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Simple Rule of Thumb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Arranging things in ONE direction (a row of buttons, a horizontal menu)? Reach for Flexbox. Need to control rows AND columns together (an overall page layout, a gallery)? Reach for Grid. In real projects you'll use both together constantly.</a:t>
            </a:r>
            <a:endParaRPr lang="en-US" sz="1250" dirty="0"/>
          </a:p>
        </p:txBody>
      </p:sp>
      <p:sp>
        <p:nvSpPr>
          <p:cNvPr id="9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BOTH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for Skeleton, Flexbox Inside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3215640"/>
          </a:xfrm>
          <a:prstGeom prst="roundRect">
            <a:avLst>
              <a:gd name="adj" fmla="val 2275"/>
            </a:avLst>
          </a:prstGeom>
          <a:solidFill>
            <a:srgbClr val="1E1E4C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2758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.page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grid;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grid-template-columns: 220px 1fr;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grid-template-areas: "sidebar main";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.header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flex;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justify-content: space-between;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align-items: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BOTH TOGETHER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Grid + Flexbox,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pic>
        <p:nvPicPr>
          <p:cNvPr id="5" name="Image 0" descr="D:/GitHub/mern-web-book/docs/assets/img/lecture-09/flex-grid-togeth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5738" y="2057400"/>
            <a:ext cx="8660219" cy="4114800"/>
          </a:xfrm>
          <a:prstGeom prst="rect">
            <a:avLst/>
          </a:prstGeom>
        </p:spPr>
      </p:pic>
      <p:sp>
        <p:nvSpPr>
          <p:cNvPr id="8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4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9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Flexbox lays out items along a main axis and a cross axis, one dimension at a time.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justify-content aligns along the main axis; align-items aligns along the cross axis — together they center anything.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flex-grow/shrink/basis control how items expand, shrink, and start sized within the available space.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Grid lays out rows AND columns together; the fr unit distributes remaining space as flexible fractions.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items can be placed on exact lines, span multiple cells, or use named grid-template-areas for a readable layout.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Flexbox for one-dimensional alignment; use Grid for the overall page skeleton — and combine both in real projects.</a:t>
            </a:r>
            <a:endParaRPr lang="en-US" sz="1250" dirty="0"/>
          </a:p>
        </p:txBody>
      </p:sp>
      <p:sp>
        <p:nvSpPr>
          <p:cNvPr id="24" name="cuinotes-footer-mark"/>
          <p:cNvSpPr txBox="1"/>
          <p:nvPr/>
        </p:nvSpPr>
        <p:spPr>
          <a:xfrm>
            <a:off x="9951720" y="6455664"/>
            <a:ext cx="2011680" cy="29260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/>
            <a:r>
              <a:rPr sz="1000">
                <a:solidFill>
                  <a:srgbClr val="8A939B"/>
                </a:solidFill>
                <a:hlinkClick r:id="rId3"/>
              </a:rPr>
              <a:t>cuinotes.com</a:t>
            </a:r>
            <a:r>
              <a:rPr sz="1000">
                <a:solidFill>
                  <a:srgbClr val="8A939B"/>
                </a:solidFill>
              </a:rPr>
              <a:t>  · 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9: Flexbox and Grid Layout</dc:title>
  <dc:subject>CSC336 Web Technologies</dc:subject>
  <dc:creator>Usman Akram</dc:creator>
  <cp:lastModifiedBy>Usman Akram</cp:lastModifiedBy>
  <cp:revision>1</cp:revision>
  <dcterms:created xsi:type="dcterms:W3CDTF">2026-09-13T18:33:15Z</dcterms:created>
  <dcterms:modified xsi:type="dcterms:W3CDTF">2026-09-13T18:33:15Z</dcterms:modified>
</cp:coreProperties>
</file>
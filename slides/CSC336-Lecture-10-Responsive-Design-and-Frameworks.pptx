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302" r:id="rId14"/>
    <p:sldId id="268" r:id="rId15"/>
    <p:sldId id="269" r:id="rId16"/>
    <p:sldId id="270" r:id="rId17"/>
    <p:sldId id="303" r:id="rId18"/>
    <p:sldId id="304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305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306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4428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uinotes.com" TargetMode="Externa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uinotes.com" TargetMode="Externa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uinotes.com" TargetMode="External"/><Relationship Id="rId4" Type="http://schemas.openxmlformats.org/officeDocument/2006/relationships/hyperlink" Target="https://www.w3schools.com/css/tryit.asp?filename=tryresponsive_breakpoints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uinotes.com" TargetMode="Externa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cuinotes.com" TargetMode="Externa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cuinotes.com" TargetMode="Externa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uinotes.com" TargetMode="Externa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uinotes.com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uinotes.com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uinotes.com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uinotes.com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cuinotes.com" TargetMode="Externa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uinotes.com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uinotes.com" TargetMode="External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uinotes.com" TargetMode="External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uinotes.com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uinotes.com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uinotes.com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uinotes.com" TargetMode="Externa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cuinotes.com" TargetMode="Externa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uinotes.com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cuinotes.com" TargetMode="External"/><Relationship Id="rId4" Type="http://schemas.openxmlformats.org/officeDocument/2006/relationships/image" Target="../media/image2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cuinotes.com" TargetMode="External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B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10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77440"/>
            <a:ext cx="8686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Design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Frameworks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89120"/>
            <a:ext cx="8961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one site that adapts to any screen — and the two major CSS frameworks that make it faster.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AA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CSC336 Web Technologies</a:t>
            </a:r>
            <a:endParaRPr lang="en-US" sz="12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This Lecture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design, the viewport meta tag, and fluid units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586446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85800" y="258644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513294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 and breakpoints — every combination, plus responsive images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206931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85800" y="3206931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133779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 (Bootstrap) vs. utility-first (Tailwind) frameworks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3827417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85800" y="3827417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371600" y="3754265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Bootstrap's grid system in depth: auto-layout, nesting, offsets, ordering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85800" y="4447903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685800" y="444790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4374751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Tailwind's utility classes, config file, and dark mode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85800" y="5068389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685800" y="5068389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995237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either framework with your own custom classes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85800" y="5688874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85800" y="568887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371600" y="5615722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preprocessors: Sass, SCSS, and LESS — and customizing Bootstrap with Sass</a:t>
            </a:r>
            <a:endParaRPr lang="en-US" sz="1500" dirty="0"/>
          </a:p>
        </p:txBody>
      </p:sp>
      <p:sp>
        <p:nvSpPr>
          <p:cNvPr id="2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 Design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6858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89280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base CSS for small screens FIRST, then add styling for larger screens with media queries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78892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85800" y="2788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71576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opposite of "desktop-first," where you design big and cram it onto a phone afterward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353872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traffic is the majority of web visits — adding complexity as space grows is easier than stripping it away</a:t>
            </a:r>
            <a:endParaRPr lang="en-US" sz="1500" dirty="0"/>
          </a:p>
        </p:txBody>
      </p:sp>
      <p:sp>
        <p:nvSpPr>
          <p:cNvPr id="1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VIEWPORT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Viewport Meta Tag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815340"/>
          </a:xfrm>
          <a:prstGeom prst="roundRect">
            <a:avLst>
              <a:gd name="adj" fmla="val 897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58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name="viewport" content="width=device-width, initial-scale=1.0"&gt;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09900"/>
            <a:ext cx="10911535" cy="3253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width=device-width uses the real device width; initial-scale=1.0 starts at 100% zoom.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VIEWPORT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Forget This Tag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657600"/>
          </a:xfrm>
          <a:prstGeom prst="roundRect">
            <a:avLst>
              <a:gd name="adj" fmla="val 3529"/>
            </a:avLst>
          </a:prstGeom>
          <a:solidFill>
            <a:srgbClr val="FDECE0"/>
          </a:solidFill>
          <a:ln w="12700">
            <a:solidFill>
              <a:srgbClr val="FF8A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10454335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8A3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95960"/>
            <a:ext cx="10454335" cy="2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viewport meta tag, none of your media queries will work correctly on a real phone — the browser will still pretend it has a much wider screen.</a:t>
            </a:r>
            <a:endParaRPr lang="en-US" sz="28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UNITS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Units That Scale, Not Fixed Pixels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size of the parent element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root (&lt;html&gt;) element's font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current element's own font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vw / vh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1% of the viewport's width / height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UNITS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Fluid Units in Practice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882140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.hero {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width: 100vw;   /* always fills the full screen width */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height: 60vh;   /* always 60% of the visible screen height */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 width: 90%; } /* always 90% of its parent, whatever that is */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UNITS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Page, Two Widths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2313432"/>
            <a:ext cx="5492344" cy="383133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D:/GitHub/mern-web-book/docs/assets/img/lecture-10/fluid-units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78579"/>
            <a:ext cx="5272888" cy="21010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78728" y="196596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69000" y="2313432"/>
            <a:ext cx="5492344" cy="383133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D:/GitHub/mern-web-book/docs/assets/img/lecture-10/fluid-units-n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2804" y="2423160"/>
            <a:ext cx="3904735" cy="3611880"/>
          </a:xfrm>
          <a:prstGeom prst="rect">
            <a:avLst/>
          </a:prstGeom>
        </p:spPr>
      </p:pic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5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Mobile-First Breakpoint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882140"/>
          </a:xfrm>
          <a:prstGeom prst="roundRect">
            <a:avLst>
              <a:gd name="adj" fmla="val 388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424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.container { display: flex; flex-direction: column; }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(min-width: 768px) {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.container { flex-direction: row; }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 Breakpoint Ladder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31520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styles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media query)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phones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420051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922971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3014411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min-width: 576px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phones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2942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5205862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5297302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min-width: 768px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985833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488753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7580193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min-width: 992px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268724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9771644" y="2514600"/>
            <a:ext cx="1779971" cy="1371600"/>
          </a:xfrm>
          <a:prstGeom prst="roundRect">
            <a:avLst>
              <a:gd name="adj" fmla="val 5333"/>
            </a:avLst>
          </a:prstGeom>
          <a:solidFill>
            <a:srgbClr val="E675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9863084" y="2624328"/>
            <a:ext cx="1597091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min-width: 1200px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34340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means the base (unqueried) styles target the smallest screen — each breakpoint only ADDS rules for wider viewports, never overrides them back down.</a:t>
            </a:r>
            <a:endParaRPr lang="en-US" sz="1300" dirty="0"/>
          </a:p>
        </p:txBody>
      </p:sp>
      <p:sp>
        <p:nvSpPr>
          <p:cNvPr id="2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Cards, Two Widths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(ROW)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2313432"/>
            <a:ext cx="5492344" cy="383133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D:/GitHub/mern-web-book/docs/assets/img/lecture-10/media-query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21687"/>
            <a:ext cx="5272888" cy="4148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78728" y="196596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(COLUMN)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69000" y="2313432"/>
            <a:ext cx="5492344" cy="383133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D:/GitHub/mern-web-book/docs/assets/img/lecture-10/media-query-n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8" y="2910878"/>
            <a:ext cx="5272888" cy="2636444"/>
          </a:xfrm>
          <a:prstGeom prst="rect">
            <a:avLst/>
          </a:prstGeom>
        </p:spPr>
      </p:pic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5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QUERY SYNTAX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and, Comma, and not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conditions — ALL must be 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(comma)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like OR — ANY one condition must be 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Inverts the entire media query (needs a media type)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orientation / prefers-color-scheme / print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Portrait vs. landscape / dark mode / printed page — same @media syntax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FF8A3D"/>
                </a:solidFill>
                <a:latin typeface="Calibri"/>
              </a:rPr>
              <a:t>MEDIA QUERIES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2B2B7A"/>
                </a:solidFill>
                <a:latin typeface="Cambria"/>
              </a:rPr>
              <a:t>min-width and max-width, for Responsiveness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74519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sz="1250" b="1">
                <a:solidFill>
                  <a:srgbClr val="26262F"/>
                </a:solidFill>
                <a:latin typeface="Calibri"/>
              </a:rPr>
              <a:t>On an element: </a:t>
            </a:r>
            <a:r>
              <a:rPr sz="1250" b="0">
                <a:solidFill>
                  <a:srgbClr val="26262F"/>
                </a:solidFill>
                <a:latin typeface="Calibri"/>
              </a:rPr>
              <a:t>min-width / max-width stop a box from shrinking or growing past a limit — a fluid container that is never too narrow or too wide.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sz="1250" b="1">
                <a:solidFill>
                  <a:srgbClr val="26262F"/>
                </a:solidFill>
                <a:latin typeface="Calibri"/>
              </a:rPr>
              <a:t>In a media query: </a:t>
            </a:r>
            <a:r>
              <a:rPr sz="1250" b="0">
                <a:solidFill>
                  <a:srgbClr val="26262F"/>
                </a:solidFill>
                <a:latin typeface="Calibri"/>
              </a:rPr>
              <a:t>@media (min-width: …) and @media (max-width: …) apply CSS conditionally based on the viewport's width — the mechanism behind every breakpoint.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743200"/>
            <a:ext cx="10853928" cy="1051560"/>
          </a:xfrm>
          <a:prstGeom prst="rect">
            <a:avLst/>
          </a:prstGeom>
          <a:solidFill>
            <a:srgbClr val="F7F8F9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907792"/>
            <a:ext cx="10396728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1F2429"/>
                </a:solidFill>
                <a:latin typeface="Courier New"/>
              </a:rPr>
              <a:t>.container { width: 100%; max-width: 1100px; min-width: 300px; margin: 0 auto; }</a:t>
            </a:r>
          </a:p>
          <a:p>
            <a:endParaRPr sz="1200">
              <a:solidFill>
                <a:srgbClr val="1F2429"/>
              </a:solidFill>
              <a:latin typeface="Courier New"/>
            </a:endParaRPr>
          </a:p>
          <a:p>
            <a:r>
              <a:rPr sz="1200">
                <a:solidFill>
                  <a:srgbClr val="1F2429"/>
                </a:solidFill>
                <a:latin typeface="Courier New"/>
              </a:rPr>
              <a:t>@media (min-width: 600px) { /* mobile-first: layer on rules as the screen grows */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sz="1100" b="1">
                <a:solidFill>
                  <a:srgbClr val="26262F"/>
                </a:solidFill>
                <a:latin typeface="Calibri"/>
              </a:rPr>
              <a:t>Wide </a:t>
            </a:r>
            <a:r>
              <a:rPr sz="1100" b="0">
                <a:solidFill>
                  <a:srgbClr val="26262F"/>
                </a:solidFill>
                <a:latin typeface="Calibri"/>
              </a:rPr>
              <a:t>— viewport ≥ 600px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3977639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sz="1100" b="1">
                <a:solidFill>
                  <a:srgbClr val="26262F"/>
                </a:solidFill>
                <a:latin typeface="Calibri"/>
              </a:rPr>
              <a:t>Narrow </a:t>
            </a:r>
            <a:r>
              <a:rPr sz="1100" b="0">
                <a:solidFill>
                  <a:srgbClr val="26262F"/>
                </a:solidFill>
                <a:latin typeface="Calibri"/>
              </a:rPr>
              <a:t>&lt; 600px</a:t>
            </a:r>
          </a:p>
        </p:txBody>
      </p:sp>
      <p:pic>
        <p:nvPicPr>
          <p:cNvPr id="9" name="Picture 8" descr="w3-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79392"/>
            <a:ext cx="3699709" cy="1874519"/>
          </a:xfrm>
          <a:prstGeom prst="rect">
            <a:avLst/>
          </a:prstGeom>
        </p:spPr>
      </p:pic>
      <p:pic>
        <p:nvPicPr>
          <p:cNvPr id="10" name="Picture 9" descr="w3-n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4279392"/>
            <a:ext cx="828276" cy="1874519"/>
          </a:xfrm>
          <a:prstGeom prst="rect">
            <a:avLst/>
          </a:prstGeom>
        </p:spPr>
      </p:pic>
      <p:sp>
        <p:nvSpPr>
          <p:cNvPr id="11" name="Rounded Rectangle 10">
            <a:hlinkClick r:id="rId4"/>
          </p:cNvPr>
          <p:cNvSpPr/>
          <p:nvPr/>
        </p:nvSpPr>
        <p:spPr>
          <a:xfrm>
            <a:off x="7818120" y="4279392"/>
            <a:ext cx="3063240" cy="1874519"/>
          </a:xfrm>
          <a:prstGeom prst="roundRect">
            <a:avLst>
              <a:gd name="adj" fmla="val 10000"/>
            </a:avLst>
          </a:prstGeom>
          <a:solidFill>
            <a:srgbClr val="ECFBF7"/>
          </a:solidFill>
          <a:ln w="12700">
            <a:solidFill>
              <a:srgbClr val="2FB6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1250" b="1">
                <a:solidFill>
                  <a:srgbClr val="1F7A67"/>
                </a:solidFill>
                <a:latin typeface="Calibri"/>
              </a:rPr>
              <a:t>▶ Try it yourself</a:t>
            </a:r>
          </a:p>
          <a:p>
            <a:pPr algn="ctr"/>
            <a:r>
              <a:rPr sz="1050">
                <a:solidFill>
                  <a:srgbClr val="2FB69E"/>
                </a:solidFill>
                <a:latin typeface="Calibri"/>
                <a:hlinkClick r:id="rId4"/>
              </a:rPr>
              <a:t>on W3Schools</a:t>
            </a:r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5D5D72"/>
                </a:solidFill>
                <a:hlinkClick r:id="rId5"/>
              </a:rPr>
              <a:t>cuinotes.com</a:t>
            </a:r>
            <a:r>
              <a:rPr sz="1000">
                <a:solidFill>
                  <a:srgbClr val="5D5D72"/>
                </a:solidFill>
              </a:rPr>
              <a:t>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IMAGES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Rule That Matters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615440"/>
          </a:xfrm>
          <a:prstGeom prst="roundRect">
            <a:avLst>
              <a:gd name="adj" fmla="val 45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img {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max-width: 100%;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height: auto;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10000"/>
            <a:ext cx="10911535" cy="2453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max-width: 100% keeps an image from ever growing wider than its container; height: auto preserves its aspect ratio.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IMAGES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Image, Two Widths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2313432"/>
            <a:ext cx="5492344" cy="383133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D:/GitHub/mern-web-book/docs/assets/img/lecture-10/responsive-image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25129"/>
            <a:ext cx="5272888" cy="300794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78728" y="196596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69000" y="2313432"/>
            <a:ext cx="5492344" cy="383133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D:/GitHub/mern-web-book/docs/assets/img/lecture-10/responsive-image-n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8" y="2942428"/>
            <a:ext cx="5272888" cy="2573345"/>
          </a:xfrm>
          <a:prstGeom prst="rect">
            <a:avLst/>
          </a:prstGeom>
        </p:spPr>
      </p:pic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5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Component-Based vs. Utility-First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1468" cy="4114800"/>
          </a:xfrm>
          <a:prstGeom prst="roundRect">
            <a:avLst>
              <a:gd name="adj" fmla="val 2000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96112" y="2194560"/>
            <a:ext cx="4829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2B2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(COMPONENT-BASED)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651760"/>
            <a:ext cx="48294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pre-styled, ready-to-use components (.btn, .card, .navbar)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get a decent-looking page up quickly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Overriding built-in styles can fight the framework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0148" y="1965960"/>
            <a:ext cx="5341468" cy="4114800"/>
          </a:xfrm>
          <a:prstGeom prst="roundRect">
            <a:avLst>
              <a:gd name="adj" fmla="val 2000"/>
            </a:avLst>
          </a:prstGeom>
          <a:solidFill>
            <a:srgbClr val="F1F1F8"/>
          </a:solidFill>
          <a:ln w="12700">
            <a:solidFill>
              <a:srgbClr val="E2E2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6466180" y="2194560"/>
            <a:ext cx="48294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(UTILITY-FIRST)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466180" y="2651760"/>
            <a:ext cx="4829404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hundreds of tiny, single-purpose utility classes (flex, p-4)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looks "designed" until you style it yourself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longer at first — many class names to learn</a:t>
            </a:r>
            <a:endParaRPr lang="en-US" sz="12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FF8A3D"/>
                </a:solidFill>
                <a:latin typeface="Calibri"/>
              </a:rPr>
              <a:t>BOOTSTRAP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2B2B7A"/>
                </a:solidFill>
                <a:latin typeface="Cambria"/>
              </a:rPr>
              <a:t>What Is Bootstrap, and Where Do You Get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3931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sz="1400" b="1">
                <a:solidFill>
                  <a:srgbClr val="26262F"/>
                </a:solidFill>
                <a:latin typeface="Calibri"/>
              </a:rPr>
              <a:t>The most widely used CSS framework </a:t>
            </a:r>
            <a:r>
              <a:rPr sz="1400" b="0">
                <a:solidFill>
                  <a:srgbClr val="26262F"/>
                </a:solidFill>
                <a:latin typeface="Calibri"/>
              </a:rPr>
              <a:t>— originally built at Twitter; the current version, Bootstrap 5, needs no jQuery.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sz="1400" b="1">
                <a:solidFill>
                  <a:srgbClr val="26262F"/>
                </a:solidFill>
                <a:latin typeface="Calibri"/>
              </a:rPr>
              <a:t>What it ships: </a:t>
            </a:r>
            <a:r>
              <a:rPr sz="1400" b="0">
                <a:solidFill>
                  <a:srgbClr val="26262F"/>
                </a:solidFill>
                <a:latin typeface="Calibri"/>
              </a:rPr>
              <a:t>a 12-column responsive grid, dozens of pre-styled components (buttons, cards, navbars, modals, forms, alerts), plus a small JS bundle for interactive behaviour.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sz="1400" b="1">
                <a:solidFill>
                  <a:srgbClr val="26262F"/>
                </a:solidFill>
                <a:latin typeface="Calibri"/>
              </a:rPr>
              <a:t>Where to get it: </a:t>
            </a:r>
            <a:r>
              <a:rPr sz="1400" b="0">
                <a:solidFill>
                  <a:srgbClr val="26262F"/>
                </a:solidFill>
                <a:latin typeface="Calibri"/>
              </a:rPr>
              <a:t>getbootstrap.com — full documentation, live examples, and the exact CDN links to copy.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sz="1400" b="1">
                <a:solidFill>
                  <a:srgbClr val="26262F"/>
                </a:solidFill>
                <a:latin typeface="Calibri"/>
              </a:rPr>
              <a:t>Also on npm </a:t>
            </a:r>
            <a:r>
              <a:rPr sz="1400" b="0">
                <a:solidFill>
                  <a:srgbClr val="26262F"/>
                </a:solidFill>
                <a:latin typeface="Calibri"/>
              </a:rPr>
              <a:t>as the “bootstrap” package, for projects that already use a build tool such as Vite or Webpack.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sz="1400" b="1">
                <a:solidFill>
                  <a:srgbClr val="26262F"/>
                </a:solidFill>
                <a:latin typeface="Calibri"/>
              </a:rPr>
              <a:t>Free and open source </a:t>
            </a:r>
            <a:r>
              <a:rPr sz="1400" b="0">
                <a:solidFill>
                  <a:srgbClr val="26262F"/>
                </a:solidFill>
                <a:latin typeface="Calibri"/>
              </a:rPr>
              <a:t>(MIT licensed) — no signup, no cost, use it in any project.</a:t>
            </a:r>
          </a:p>
        </p:txBody>
      </p:sp>
      <p:sp>
        <p:nvSpPr>
          <p:cNvPr id="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5D5D72"/>
                </a:solidFill>
                <a:hlinkClick r:id="rId2"/>
              </a:rPr>
              <a:t>cuinotes.com</a:t>
            </a:r>
            <a:r>
              <a:rPr sz="1000">
                <a:solidFill>
                  <a:srgbClr val="5D5D72"/>
                </a:solidFill>
              </a:rPr>
              <a:t>  ·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FF8A3D"/>
                </a:solidFill>
                <a:latin typeface="Calibri"/>
              </a:rPr>
              <a:t>BOOTSTRAP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2B2B7A"/>
                </a:solidFill>
                <a:latin typeface="Cambria"/>
              </a:rPr>
              <a:t>Setting Up Bootstrap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5341468" cy="3657600"/>
          </a:xfrm>
          <a:prstGeom prst="rect">
            <a:avLst/>
          </a:prstGeom>
          <a:solidFill>
            <a:srgbClr val="F1F1F8"/>
          </a:solidFill>
          <a:ln w="12700">
            <a:solidFill>
              <a:srgbClr val="E2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2194560"/>
            <a:ext cx="482940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1">
                <a:solidFill>
                  <a:srgbClr val="2B2B7A"/>
                </a:solidFill>
                <a:latin typeface="Calibri"/>
              </a:rPr>
              <a:t>CDN (FASTEST, ZERO BUILD STEP)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651760"/>
            <a:ext cx="4829404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96112" y="2606040"/>
            <a:ext cx="4829404" cy="1417320"/>
          </a:xfrm>
          <a:prstGeom prst="rect">
            <a:avLst/>
          </a:prstGeom>
          <a:solidFill>
            <a:srgbClr val="F7F8F9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24712" y="2770632"/>
            <a:ext cx="4372204" cy="10881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>
                <a:solidFill>
                  <a:srgbClr val="1F2429"/>
                </a:solidFill>
                <a:latin typeface="Courier New"/>
              </a:rPr>
              <a:t>&lt;link href="https://cdn.jsdelivr.net/npm/</a:t>
            </a:r>
          </a:p>
          <a:p>
            <a:r>
              <a:rPr sz="1050">
                <a:solidFill>
                  <a:srgbClr val="1F2429"/>
                </a:solidFill>
                <a:latin typeface="Courier New"/>
              </a:rPr>
              <a:t>  bootstrap@5.3.3/dist/css/bootstrap.min.css"</a:t>
            </a:r>
          </a:p>
          <a:p>
            <a:r>
              <a:rPr sz="1050">
                <a:solidFill>
                  <a:srgbClr val="1F2429"/>
                </a:solidFill>
                <a:latin typeface="Courier New"/>
              </a:rPr>
              <a:t>  rel="stylesheet"&gt;</a:t>
            </a:r>
          </a:p>
          <a:p>
            <a:r>
              <a:rPr sz="1050">
                <a:solidFill>
                  <a:srgbClr val="1F2429"/>
                </a:solidFill>
                <a:latin typeface="Courier New"/>
              </a:rPr>
              <a:t>&lt;script src="https://cdn.jsdelivr.net/npm/</a:t>
            </a:r>
          </a:p>
          <a:p>
            <a:r>
              <a:rPr sz="1050">
                <a:solidFill>
                  <a:srgbClr val="1F2429"/>
                </a:solidFill>
                <a:latin typeface="Courier New"/>
              </a:rPr>
              <a:t>  bootstrap@5.3.3/dist/js/bootstrap.bundle.min.js"&gt;</a:t>
            </a:r>
          </a:p>
          <a:p>
            <a:r>
              <a:rPr sz="1050">
                <a:solidFill>
                  <a:srgbClr val="1F2429"/>
                </a:solidFill>
                <a:latin typeface="Courier New"/>
              </a:rPr>
              <a:t>&lt;/script&gt;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4160520"/>
            <a:ext cx="4829404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sz="1100" b="0">
                <a:solidFill>
                  <a:srgbClr val="26262F"/>
                </a:solidFill>
                <a:latin typeface="Calibri"/>
              </a:rPr>
              <a:t>The CSS link goes in &lt;head&gt;; the JS bundle goes just before &lt;/body&gt;.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8" y="1965960"/>
            <a:ext cx="5341468" cy="3657600"/>
          </a:xfrm>
          <a:prstGeom prst="rect">
            <a:avLst/>
          </a:prstGeom>
          <a:solidFill>
            <a:srgbClr val="F1F1F8"/>
          </a:solidFill>
          <a:ln w="12700">
            <a:solidFill>
              <a:srgbClr val="E2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6180" y="2194560"/>
            <a:ext cx="482940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1">
                <a:solidFill>
                  <a:srgbClr val="E67528"/>
                </a:solidFill>
                <a:latin typeface="Calibri"/>
              </a:rPr>
              <a:t>NPM (FOR A BUNDLER-BASED PROJECT)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6180" y="2651760"/>
            <a:ext cx="4829404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466180" y="2606040"/>
            <a:ext cx="4829404" cy="1051560"/>
          </a:xfrm>
          <a:prstGeom prst="rect">
            <a:avLst/>
          </a:prstGeom>
          <a:solidFill>
            <a:srgbClr val="F7F8F9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94780" y="2770632"/>
            <a:ext cx="4372204" cy="722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>
                <a:solidFill>
                  <a:srgbClr val="1F2429"/>
                </a:solidFill>
                <a:latin typeface="Courier New"/>
              </a:rPr>
              <a:t>npm install bootstrap</a:t>
            </a:r>
          </a:p>
          <a:p>
            <a:r>
              <a:rPr sz="1100">
                <a:solidFill>
                  <a:srgbClr val="1F2429"/>
                </a:solidFill>
                <a:latin typeface="Courier New"/>
              </a:rPr>
              <a:t>@import "bootstrap/dist/css/bootstrap.min.css";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6180" y="3794760"/>
            <a:ext cx="4829404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sz="1100" b="0">
                <a:solidFill>
                  <a:srgbClr val="26262F"/>
                </a:solidFill>
                <a:latin typeface="Calibri"/>
              </a:rPr>
              <a:t>Import Bootstrap's JS in your entry file too, if you need dropdowns, modals, or other interactive components.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sz="1100" b="0">
                <a:solidFill>
                  <a:srgbClr val="26262F"/>
                </a:solidFill>
                <a:latin typeface="Calibri"/>
              </a:rPr>
              <a:t>Load Bootstrap's CSS before your own stylesheet, so your own rules win the cascade.</a:t>
            </a:r>
          </a:p>
        </p:txBody>
      </p:sp>
      <p:sp>
        <p:nvSpPr>
          <p:cNvPr id="16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5D5D72"/>
                </a:solidFill>
                <a:hlinkClick r:id="rId2"/>
              </a:rPr>
              <a:t>cuinotes.com</a:t>
            </a:r>
            <a:r>
              <a:rPr sz="1000">
                <a:solidFill>
                  <a:srgbClr val="5D5D72"/>
                </a:solidFill>
              </a:rPr>
              <a:t>  ·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12-Column Grid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148840"/>
          </a:xfrm>
          <a:prstGeom prst="roundRect">
            <a:avLst>
              <a:gd name="adj" fmla="val 340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class="container"&gt;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class="row"&gt;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class="col-md-8"&gt;Main content&lt;/div&gt;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class="col-md-4"&gt;Sidebar&lt;/div&gt;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Grid, Two Widths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(SIDE BY SIDE)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2313432"/>
            <a:ext cx="5492344" cy="383133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D:/GitHub/mern-web-book/docs/assets/img/lecture-10/bootstrap-grid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45093"/>
            <a:ext cx="5272888" cy="5680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78728" y="196596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(STACKED)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69000" y="2313432"/>
            <a:ext cx="5492344" cy="383133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D:/GitHub/mern-web-book/docs/assets/img/lecture-10/bootstrap-grid-n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8" y="3550603"/>
            <a:ext cx="5272888" cy="1356993"/>
          </a:xfrm>
          <a:prstGeom prst="rect">
            <a:avLst/>
          </a:prstGeom>
        </p:spPr>
      </p:pic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5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GRID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Modifier Classes</a:t>
            </a:r>
            <a:endParaRPr lang="en-US" sz="3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pattern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.col (no number)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Auto-layout: shares available width equally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.col-{n}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Exactly n of 12 columns, at all screen sizes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.col-{bp}-{n}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columns from that breakpoint up (mobile-first)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.offset-{bp}-{n}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Pushes the column right by n empty columns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.order-{n}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display order (0-5), independent of HTML order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.row-cols-{n}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Shorthand: every child column becomes 12/n wide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.g-{n} / .gx-{n} / .gy-{n}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Gutter size between columns — all / x / 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a thin wrapper around the Flexbox properties from Lecture 9 — .row is display:flex, .col is a flex item.</a:t>
            </a:r>
            <a:endParaRPr lang="en-US" sz="1150" dirty="0"/>
          </a:p>
        </p:txBody>
      </p:sp>
      <p:sp>
        <p:nvSpPr>
          <p:cNvPr id="2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GRID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Auto-Layout Columns and Nesting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3596640"/>
          </a:xfrm>
          <a:prstGeom prst="roundRect">
            <a:avLst>
              <a:gd name="adj" fmla="val 203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class="row"&gt;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class="col"&gt;col&lt;/div&gt;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class="col"&gt;col&lt;/div&gt;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class="col"&gt;col&lt;/div&gt;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class="row"&gt;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class="col-8"&gt;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col-8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 class="row"&gt;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&lt;div class="col-6"&gt;nested col-6&lt;/div&gt;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&lt;div class="col-6"&gt;nested col-6&lt;/div&gt;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&lt;/div&gt;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 class="col-4"&gt;col-4&lt;/div&gt;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5727192"/>
            <a:ext cx="11130991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D:/GitHub/mern-web-book/docs/assets/img/lecture-10/grid-autolayout-nest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753" y="5836920"/>
            <a:ext cx="1512189" cy="64008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GRID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Offsetting and Reordering Columns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offset-md-4 centers a 4-wide column; order-* rearranges visual order independent of HTML order.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11535" cy="1739265"/>
          </a:xfrm>
          <a:prstGeom prst="roundRect">
            <a:avLst>
              <a:gd name="adj" fmla="val 4206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10271455" cy="1282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class="col-4 offset-md-4"&gt;col-4 offset-md-4&lt;/div&gt;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class="order-3"&gt;First in HTML — order-3&lt;/div&gt;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class="order-1"&gt;Second in HTML — order-1&lt;/div&gt;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class="order-2"&gt;Third in HTML — order-2&lt;/div&gt;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0352" y="4144137"/>
            <a:ext cx="11130991" cy="2183511"/>
          </a:xfrm>
          <a:prstGeom prst="roundRect">
            <a:avLst>
              <a:gd name="adj" fmla="val 2513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D:/GitHub/mern-web-book/docs/assets/img/lecture-10/grid-offset-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7700" y="4253865"/>
            <a:ext cx="5176294" cy="1964055"/>
          </a:xfrm>
          <a:prstGeom prst="rect">
            <a:avLst/>
          </a:prstGeom>
        </p:spPr>
      </p:pic>
      <p:sp>
        <p:nvSpPr>
          <p:cNvPr id="1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Components, Rendered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lines of HTML, zero custom CSS.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11535" cy="2215515"/>
          </a:xfrm>
          <a:prstGeom prst="roundRect">
            <a:avLst>
              <a:gd name="adj" fmla="val 330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10271455" cy="17583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class="btn btn-primary"&gt;Save Changes&lt;/button&gt;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class="card"&gt;&lt;div class="card-body"&gt;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&lt;h5 class="card-title"&gt;Card Title&lt;/h5&gt;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&lt;/div&gt;&lt;/div&gt;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 class="navbar navbar-expand-lg navbar-light bg-light"&gt;...&lt;/nav&gt;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0352" y="4620387"/>
            <a:ext cx="11130991" cy="1707261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D:/GitHub/mern-web-book/docs/assets/img/lecture-10/bootstrap-compon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619" y="4730115"/>
            <a:ext cx="2264458" cy="1487805"/>
          </a:xfrm>
          <a:prstGeom prst="rect">
            <a:avLst/>
          </a:prstGeom>
        </p:spPr>
      </p:pic>
      <p:sp>
        <p:nvSpPr>
          <p:cNvPr id="1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Utilities,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263015"/>
          </a:xfrm>
          <a:prstGeom prst="roundRect">
            <a:avLst>
              <a:gd name="adj" fmla="val 579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class="d-flex justify-content-between p-3"&gt;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d-flex: display:flex; justify-content-between: space-between; p-3: padding --&gt;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3393567"/>
            <a:ext cx="11130991" cy="2934081"/>
          </a:xfrm>
          <a:prstGeom prst="roundRect">
            <a:avLst>
              <a:gd name="adj" fmla="val 1870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D:/GitHub/mern-web-book/docs/assets/img/lecture-10/bootstrap-utilit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75874"/>
            <a:ext cx="10911535" cy="1569467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FF8A3D"/>
                </a:solidFill>
                <a:latin typeface="Calibri"/>
              </a:rPr>
              <a:t>TAILWIND CSS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2B2B7A"/>
                </a:solidFill>
                <a:latin typeface="Cambria"/>
              </a:rPr>
              <a:t>What Is Tailwind CSS, and How Do You Set It Up?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sz="1350" b="1">
                <a:solidFill>
                  <a:srgbClr val="26262F"/>
                </a:solidFill>
                <a:latin typeface="Calibri"/>
              </a:rPr>
              <a:t>Utility-first: </a:t>
            </a:r>
            <a:r>
              <a:rPr sz="1350" b="0">
                <a:solidFill>
                  <a:srgbClr val="26262F"/>
                </a:solidFill>
                <a:latin typeface="Calibri"/>
              </a:rPr>
              <a:t>compose designs from small, single-purpose classes (flex, p-4, text-center) instead of writing custom CSS.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sz="1350" b="1">
                <a:solidFill>
                  <a:srgbClr val="26262F"/>
                </a:solidFill>
                <a:latin typeface="Calibri"/>
              </a:rPr>
              <a:t>Where to get it: </a:t>
            </a:r>
            <a:r>
              <a:rPr sz="1350" b="0">
                <a:solidFill>
                  <a:srgbClr val="26262F"/>
                </a:solidFill>
                <a:latin typeface="Calibri"/>
              </a:rPr>
              <a:t>tailwindcss.com — docs, plus an interactive Play CDN for instant prototyping.</a:t>
            </a:r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sz="1350" b="1">
                <a:solidFill>
                  <a:srgbClr val="26262F"/>
                </a:solidFill>
                <a:latin typeface="Calibri"/>
              </a:rPr>
              <a:t>Production setup: </a:t>
            </a:r>
            <a:r>
              <a:rPr sz="1350" b="0">
                <a:solidFill>
                  <a:srgbClr val="26262F"/>
                </a:solidFill>
                <a:latin typeface="Calibri"/>
              </a:rPr>
              <a:t>npm install -D tailwindcss, then build with the Tailwind CLI/PostCSS so unused classes are purged and the shipped CSS stays small.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3931920"/>
            <a:ext cx="10853928" cy="1554480"/>
          </a:xfrm>
          <a:prstGeom prst="rect">
            <a:avLst/>
          </a:prstGeom>
          <a:solidFill>
            <a:srgbClr val="F7F8F9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4096512"/>
            <a:ext cx="10396728" cy="12252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>
                <a:solidFill>
                  <a:srgbClr val="1F2429"/>
                </a:solidFill>
                <a:latin typeface="Courier New"/>
              </a:rPr>
              <a:t>&lt;!-- quick prototyping: one script tag, no build step --&gt;</a:t>
            </a:r>
          </a:p>
          <a:p>
            <a:r>
              <a:rPr sz="1200">
                <a:solidFill>
                  <a:srgbClr val="1F2429"/>
                </a:solidFill>
                <a:latin typeface="Courier New"/>
              </a:rPr>
              <a:t>&lt;script src="https://cdn.tailwindcss.com"&gt;&lt;/script&gt;</a:t>
            </a:r>
          </a:p>
          <a:p>
            <a:endParaRPr sz="1200">
              <a:solidFill>
                <a:srgbClr val="1F2429"/>
              </a:solidFill>
              <a:latin typeface="Courier New"/>
            </a:endParaRPr>
          </a:p>
          <a:p>
            <a:r>
              <a:rPr sz="1200">
                <a:solidFill>
                  <a:srgbClr val="1F2429"/>
                </a:solidFill>
                <a:latin typeface="Courier New"/>
              </a:rPr>
              <a:t># production build</a:t>
            </a:r>
          </a:p>
          <a:p>
            <a:r>
              <a:rPr sz="1200">
                <a:solidFill>
                  <a:srgbClr val="1F2429"/>
                </a:solidFill>
                <a:latin typeface="Courier New"/>
              </a:rPr>
              <a:t>npm install -D tailwindcss</a:t>
            </a:r>
          </a:p>
          <a:p>
            <a:r>
              <a:rPr sz="1200">
                <a:solidFill>
                  <a:srgbClr val="1F2429"/>
                </a:solidFill>
                <a:latin typeface="Courier New"/>
              </a:rPr>
              <a:t>npx tailwindcss -i input.css -o output.css --watch</a:t>
            </a:r>
          </a:p>
        </p:txBody>
      </p:sp>
      <p:sp>
        <p:nvSpPr>
          <p:cNvPr id="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5D5D72"/>
                </a:solidFill>
                <a:hlinkClick r:id="rId2"/>
              </a:rPr>
              <a:t>cuinotes.com</a:t>
            </a:r>
            <a:r>
              <a:rPr sz="1000">
                <a:solidFill>
                  <a:srgbClr val="5D5D72"/>
                </a:solidFill>
              </a:rPr>
              <a:t>  · 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Fully Styled Button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615440"/>
          </a:xfrm>
          <a:prstGeom prst="roundRect">
            <a:avLst>
              <a:gd name="adj" fmla="val 45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class="bg-blue-600 hover:bg-blue-700 text-white font-semibold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px-4 py-2 rounded-lg shadow"&gt;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Save Changes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Button,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D:/GitHub/mern-web-book/docs/assets/img/lecture-10/tailwind-butt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6968" y="3048000"/>
            <a:ext cx="4937760" cy="2133600"/>
          </a:xfrm>
          <a:prstGeom prst="rect">
            <a:avLst/>
          </a:prstGeom>
        </p:spPr>
      </p:pic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by Default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348740"/>
          </a:xfrm>
          <a:prstGeom prst="roundRect">
            <a:avLst>
              <a:gd name="adj" fmla="val 542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class="flex flex-col md:flex-row"&gt;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stacked by default, a row from md breakpoint up --&gt;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flex-col md:flex-row, Two Widths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(ROW)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2313432"/>
            <a:ext cx="5492344" cy="383133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D:/GitHub/mern-web-book/docs/assets/img/lecture-10/tailwind-flex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21435"/>
            <a:ext cx="5272888" cy="4153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78728" y="196596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(COLUMN)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69000" y="2313432"/>
            <a:ext cx="5492344" cy="383133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D:/GitHub/mern-web-book/docs/assets/img/lecture-10/tailwind-flex-n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8" y="2930851"/>
            <a:ext cx="5272888" cy="2596498"/>
          </a:xfrm>
          <a:prstGeom prst="rect">
            <a:avLst/>
          </a:prstGeom>
        </p:spPr>
      </p:pic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5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Width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348740"/>
          </a:xfrm>
          <a:prstGeom prst="roundRect">
            <a:avLst>
              <a:gd name="adj" fmla="val 542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class="w-full lg:w-1/3"&gt;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full width by default, one-third width from the "lg" breakpoint up --&gt;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w-full lg:w-1/3, Two Widths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(1/3)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2313432"/>
            <a:ext cx="5492344" cy="383133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D:/GitHub/mern-web-book/docs/assets/img/lecture-10/tailwind-width-w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25272"/>
            <a:ext cx="5272888" cy="6076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78728" y="196596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(FULL)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69000" y="2313432"/>
            <a:ext cx="5492344" cy="383133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D:/GitHub/mern-web-book/docs/assets/img/lecture-10/tailwind-width-narr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8" y="3675225"/>
            <a:ext cx="5272888" cy="1107749"/>
          </a:xfrm>
          <a:prstGeom prst="rect">
            <a:avLst/>
          </a:prstGeom>
        </p:spPr>
      </p:pic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5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Utility Categories</a:t>
            </a:r>
            <a:endParaRPr lang="en-US" sz="3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classes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flex, justify-center, items-center, gap-4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grid, grid-cols-3, col-span-2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w-1/2, h-screen, max-w-md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border, border-2, rounded-full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Typography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text-lg, font-bold, truncate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variants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hover:, focus:, active:, disabled: (prefix any utility)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spacing/color scale is numeric and consistent — p-4 = 1rem, blue-100 (near-white) through blue-900 (near-black).</a:t>
            </a:r>
            <a:endParaRPr lang="en-US" sz="1150" dirty="0"/>
          </a:p>
        </p:txBody>
      </p:sp>
      <p:sp>
        <p:nvSpPr>
          <p:cNvPr id="3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Configuring Tailwind: theme.extend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415540"/>
          </a:xfrm>
          <a:prstGeom prst="roundRect">
            <a:avLst>
              <a:gd name="adj" fmla="val 3028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958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{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theme: {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extend: {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colors: { brand: '#ff6b35' },  // usable as bg-brand, text-brand...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},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Custom Color, Rendered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theme.extend adds to Tailwind's defaults, so bg-brand works with every state-variant prefix, just like a built-in color.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11535" cy="1501140"/>
          </a:xfrm>
          <a:prstGeom prst="roundRect">
            <a:avLst>
              <a:gd name="adj" fmla="val 4873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10271455" cy="1043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class="bg-brand hover:bg-orange-700 text-white font-semibold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px-4 py-2 rounded-lg"&gt;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Save Changes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&lt;/button&gt;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0352" y="3906012"/>
            <a:ext cx="11130991" cy="2421636"/>
          </a:xfrm>
          <a:prstGeom prst="roundRect">
            <a:avLst>
              <a:gd name="adj" fmla="val 2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D:/GitHub/mern-web-book/docs/assets/img/lecture-10/tailwind-custom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50" y="4015740"/>
            <a:ext cx="10852795" cy="2202180"/>
          </a:xfrm>
          <a:prstGeom prst="rect">
            <a:avLst/>
          </a:prstGeom>
        </p:spPr>
      </p:pic>
      <p:sp>
        <p:nvSpPr>
          <p:cNvPr id="1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Dark Mode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11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D5D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darkMode: 'class' in the config activates dark: utilities for any element inside a .dark ancestor.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10911535" cy="1263015"/>
          </a:xfrm>
          <a:prstGeom prst="roundRect">
            <a:avLst>
              <a:gd name="adj" fmla="val 5792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960120" y="2468880"/>
            <a:ext cx="1027145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class="bg-white dark:bg-gray-800 text-black dark:text-white"&gt;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Card content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30352" y="3667887"/>
            <a:ext cx="11130991" cy="2659761"/>
          </a:xfrm>
          <a:prstGeom prst="roundRect">
            <a:avLst>
              <a:gd name="adj" fmla="val 2063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D:/GitHub/mern-web-book/docs/assets/img/lecture-10/tailwind-dark-m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792" y="3777615"/>
            <a:ext cx="10040112" cy="2440305"/>
          </a:xfrm>
          <a:prstGeom prst="rect">
            <a:avLst/>
          </a:prstGeom>
        </p:spPr>
      </p:pic>
      <p:sp>
        <p:nvSpPr>
          <p:cNvPr id="11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@apply Directive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148840"/>
          </a:xfrm>
          <a:prstGeom prst="roundRect">
            <a:avLst>
              <a:gd name="adj" fmla="val 340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.btn-primary {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@apply bg-blue-600 hover:bg-blue-700 text-white font-semibold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px-4 py-2 rounded-lg shadow;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class="btn-primary"&gt;Save Changes&lt;/button&gt;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43400"/>
            <a:ext cx="109115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the exact same button as writing all six utility classes by hand — @apply just names a repeated combination.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CLASSES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+ Your Own Class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348740"/>
          </a:xfrm>
          <a:prstGeom prst="roundRect">
            <a:avLst>
              <a:gd name="adj" fmla="val 542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&lt;button class="btn btn-primary my-cta-button"&gt;Get Started&lt;/button&gt;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.my-cta-button { text-transform: uppercase; letter-spacing: 1px; }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CLASSES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 + Custom,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D:/GitHub/mern-web-book/docs/assets/img/lecture-10/bootstrap-custom-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028" y="3169920"/>
            <a:ext cx="4739640" cy="1889760"/>
          </a:xfrm>
          <a:prstGeom prst="rect">
            <a:avLst/>
          </a:prstGeom>
        </p:spPr>
      </p:pic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CLASSES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Tailwind + Your Own Class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348740"/>
          </a:xfrm>
          <a:prstGeom prst="roundRect">
            <a:avLst>
              <a:gd name="adj" fmla="val 542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class="text-blue-600 font-bold brand-underline"&gt;New!&lt;/span&gt;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.brand-underline { text-decoration: underline wavy; text-underline-offset: 4px; }</a:t>
            </a:r>
            <a:endParaRPr lang="en-US" sz="1400" dirty="0"/>
          </a:p>
        </p:txBody>
      </p:sp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CLASSES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Tailwind + Custom, Rendered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30352" y="1947672"/>
            <a:ext cx="11130991" cy="4334256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5" name="Image 0" descr="D:/GitHub/mern-web-book/docs/assets/img/lecture-10/tailwind-custom-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928" y="3322320"/>
            <a:ext cx="2529840" cy="1584960"/>
          </a:xfrm>
          <a:prstGeom prst="rect">
            <a:avLst/>
          </a:prstGeom>
        </p:spPr>
      </p:pic>
      <p:sp>
        <p:nvSpPr>
          <p:cNvPr id="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PREPROCESSORS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CSS Preprocessor?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218541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189280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language that adds variables, nesting, and mixins on top of CSS, then COMPILES to plain CSS the browser reads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300837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960120" y="271576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Sass has two syntaxes: the indented .sass, and SCSS (.scss) — CSS-compatible braces/semicolons, by far the more common choice, including in Bootstrap's own source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3831336"/>
            <a:ext cx="82296" cy="82296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960120" y="3538728"/>
            <a:ext cx="10591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solves the same problems with a different syntax (@var instead of $var) — used by Bootstrap 3, before it switched to Sass</a:t>
            </a:r>
            <a:endParaRPr lang="en-US" sz="1500" dirty="0"/>
          </a:p>
        </p:txBody>
      </p:sp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300" b="1">
                <a:solidFill>
                  <a:srgbClr val="FF8A3D"/>
                </a:solidFill>
                <a:latin typeface="Calibri"/>
              </a:rPr>
              <a:t>CSS PREPROCESSORS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>
                <a:solidFill>
                  <a:srgbClr val="2B2B7A"/>
                </a:solidFill>
                <a:latin typeface="Cambria"/>
              </a:rPr>
              <a:t>Getting Sass and LESS Running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5341468" cy="3657600"/>
          </a:xfrm>
          <a:prstGeom prst="rect">
            <a:avLst/>
          </a:prstGeom>
          <a:solidFill>
            <a:srgbClr val="F1F1F8"/>
          </a:solidFill>
          <a:ln w="12700">
            <a:solidFill>
              <a:srgbClr val="E2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2194560"/>
            <a:ext cx="482940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1">
                <a:solidFill>
                  <a:srgbClr val="2B2B7A"/>
                </a:solidFill>
                <a:latin typeface="Calibri"/>
              </a:rPr>
              <a:t>SASS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651760"/>
            <a:ext cx="4829404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606040"/>
            <a:ext cx="48294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sz="1200" b="0">
                <a:solidFill>
                  <a:srgbClr val="26262F"/>
                </a:solidFill>
                <a:latin typeface="Calibri"/>
              </a:rPr>
              <a:t>sass-lang.com — official site and docs.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3246120"/>
            <a:ext cx="4829404" cy="1234440"/>
          </a:xfrm>
          <a:prstGeom prst="rect">
            <a:avLst/>
          </a:prstGeom>
          <a:solidFill>
            <a:srgbClr val="F7F8F9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24712" y="3410712"/>
            <a:ext cx="4372204" cy="9052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>
                <a:solidFill>
                  <a:srgbClr val="1F2429"/>
                </a:solidFill>
                <a:latin typeface="Courier New"/>
              </a:rPr>
              <a:t>npm install -D sass</a:t>
            </a:r>
          </a:p>
          <a:p>
            <a:r>
              <a:rPr sz="1150">
                <a:solidFill>
                  <a:srgbClr val="1F2429"/>
                </a:solidFill>
                <a:latin typeface="Courier New"/>
              </a:rPr>
              <a:t>sass styles.scss styles.css</a:t>
            </a:r>
          </a:p>
          <a:p>
            <a:r>
              <a:rPr sz="1150">
                <a:solidFill>
                  <a:srgbClr val="1F2429"/>
                </a:solidFill>
                <a:latin typeface="Courier New"/>
              </a:rPr>
              <a:t>sass --watch styles.scss:styles.css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8" y="1965960"/>
            <a:ext cx="5341468" cy="3657600"/>
          </a:xfrm>
          <a:prstGeom prst="rect">
            <a:avLst/>
          </a:prstGeom>
          <a:solidFill>
            <a:srgbClr val="F1F1F8"/>
          </a:solidFill>
          <a:ln w="12700">
            <a:solidFill>
              <a:srgbClr val="E2E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6180" y="2194560"/>
            <a:ext cx="4829404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1250" b="1">
                <a:solidFill>
                  <a:srgbClr val="E67528"/>
                </a:solidFill>
                <a:latin typeface="Calibri"/>
              </a:rPr>
              <a:t>LESS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6180" y="2651760"/>
            <a:ext cx="4829404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66180" y="2606040"/>
            <a:ext cx="4829404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sz="1200" b="0">
                <a:solidFill>
                  <a:srgbClr val="26262F"/>
                </a:solidFill>
                <a:latin typeface="Calibri"/>
              </a:rPr>
              <a:t>lesscss.org — official site and docs.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66180" y="3246120"/>
            <a:ext cx="4829404" cy="914400"/>
          </a:xfrm>
          <a:prstGeom prst="rect">
            <a:avLst/>
          </a:prstGeom>
          <a:solidFill>
            <a:srgbClr val="F7F8F9"/>
          </a:solidFill>
          <a:ln w="9525">
            <a:solidFill>
              <a:srgbClr val="D0D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94780" y="3410712"/>
            <a:ext cx="4372204" cy="585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>
                <a:solidFill>
                  <a:srgbClr val="1F2429"/>
                </a:solidFill>
                <a:latin typeface="Courier New"/>
              </a:rPr>
              <a:t>npm install -D less</a:t>
            </a:r>
          </a:p>
          <a:p>
            <a:r>
              <a:rPr sz="1150">
                <a:solidFill>
                  <a:srgbClr val="1F2429"/>
                </a:solidFill>
                <a:latin typeface="Courier New"/>
              </a:rPr>
              <a:t>lessc styles.less styles.css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sz="1100" b="0">
                <a:solidFill>
                  <a:srgbClr val="26262F"/>
                </a:solidFill>
                <a:latin typeface="Calibri"/>
              </a:rPr>
              <a:t>A real project usually doesn't run these commands by hand — Vite or Webpack compiles Sass/LESS automatically through a loader or plugin.</a:t>
            </a:r>
          </a:p>
        </p:txBody>
      </p:sp>
      <p:sp>
        <p:nvSpPr>
          <p:cNvPr id="17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5D5D72"/>
                </a:solidFill>
                <a:hlinkClick r:id="rId2"/>
              </a:rPr>
              <a:t>cuinotes.com</a:t>
            </a:r>
            <a:r>
              <a:rPr sz="1000">
                <a:solidFill>
                  <a:srgbClr val="5D5D72"/>
                </a:solidFill>
              </a:rPr>
              <a:t>  · 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PREPROCESSORS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vs. What the Browser Runs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731520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your-styles.scss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(Sass source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990774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3493694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3585134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(sass CLI /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844388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6347308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2B2B7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6438748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your-styles.css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(plain CSS)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98001" y="3200400"/>
            <a:ext cx="502920" cy="0"/>
          </a:xfrm>
          <a:prstGeom prst="line">
            <a:avLst/>
          </a:prstGeom>
          <a:noFill/>
          <a:ln w="25400">
            <a:solidFill>
              <a:srgbClr val="5D5D72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9200921" y="2514600"/>
            <a:ext cx="2350694" cy="1371600"/>
          </a:xfrm>
          <a:prstGeom prst="roundRect">
            <a:avLst>
              <a:gd name="adj" fmla="val 5333"/>
            </a:avLst>
          </a:prstGeom>
          <a:solidFill>
            <a:srgbClr val="E6752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9292361" y="2624328"/>
            <a:ext cx="216781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(links styles.css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normally)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343400"/>
            <a:ext cx="109115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never sees Sass or LESS directly — it only ever loads the compiled, plain .css output, the same "source vs. what ships" split as modern JavaScript that gets compiled/bundled before it runs.</a:t>
            </a:r>
            <a:endParaRPr lang="en-US" sz="1300" dirty="0"/>
          </a:p>
        </p:txBody>
      </p:sp>
      <p:sp>
        <p:nvSpPr>
          <p:cNvPr id="18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PREPROCESSORS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Sass Variables vs. CSS Custom Properties</a:t>
            </a:r>
            <a:endParaRPr lang="en-US" sz="34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Sass ($name)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CSS custom property (--name)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compile time — a fixed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runtime, in the browser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after load?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JS or media queries can update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a build step?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must compile the .scss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works in a plain &lt;style&gt; tag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SASS FUNDAMENTALS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Variables, Nesting, and Mixins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929890"/>
          </a:xfrm>
          <a:prstGeom prst="roundRect">
            <a:avLst>
              <a:gd name="adj" fmla="val 249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472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$primary-color: #6c5ce7;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1px solid $primary-color;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.title { color: $primary-color; 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&amp;:hover { box-shadow: 0 4px 10px rgba(0,0,0,0.2); 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@mixin flex-center { display: flex; justify-content: center; align-items: center; }</a:t>
            </a:r>
            <a:endParaRPr lang="en-US" sz="12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.banner { @include flex-center; background: $primary-color; 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30352" y="5060442"/>
            <a:ext cx="11130991" cy="1267206"/>
          </a:xfrm>
          <a:prstGeom prst="roundRect">
            <a:avLst>
              <a:gd name="adj" fmla="val 4330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D:/GitHub/mern-web-book/docs/assets/img/lecture-10/sass-fundamentals-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7079" y="5170170"/>
            <a:ext cx="1477537" cy="1047750"/>
          </a:xfrm>
          <a:prstGeom prst="rect">
            <a:avLst/>
          </a:prstGeom>
        </p:spPr>
      </p:pic>
      <p:sp>
        <p:nvSpPr>
          <p:cNvPr id="1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4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SASS FUNDAMENTALS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Partials and @use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148840"/>
          </a:xfrm>
          <a:prstGeom prst="roundRect">
            <a:avLst>
              <a:gd name="adj" fmla="val 3404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_variables.scss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$primary-color: #6c5ce7;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main.scss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@use 'variables' as v;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 { border: 1px solid v.$primary-color; }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43400"/>
            <a:ext cx="109115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filename starting with _ is a partial — Sass pulls it into whatever file imports it, instead of compiling it separately.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Sass (SCSS) vs. LESS</a:t>
            </a:r>
            <a:endParaRPr lang="en-US" sz="34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Sass (SCSS)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syntax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Mixin 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@mixin name { ... 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.name() { ... }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Mixin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@include name;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.name();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by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 4 and 5, most new projects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2626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 3, older codebases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8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5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CUSTOMIZING BOOTSTRAP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Override Variables Before Importing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2682240"/>
          </a:xfrm>
          <a:prstGeom prst="roundRect">
            <a:avLst>
              <a:gd name="adj" fmla="val 2727"/>
            </a:avLst>
          </a:prstGeom>
          <a:solidFill>
            <a:srgbClr val="F7F8F9"/>
          </a:solidFill>
          <a:ln w="9525">
            <a:solidFill>
              <a:srgbClr val="D0D5D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960120" y="2194560"/>
            <a:ext cx="10271455" cy="222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custom.scss — override BEFORE importing Bootstrap's source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$primary: #ff6b35;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$border-radius: 1rem;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$grid-gutter-width: 3rem;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@import "bootstrap/scss/bootstrap";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sass custom.scss custom.css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876800"/>
            <a:ext cx="1091153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reading these variables picks up the new values everywhere, automatically — no HTML changes at all.</a:t>
            </a:r>
            <a:endParaRPr lang="en-US" sz="1300" dirty="0"/>
          </a:p>
        </p:txBody>
      </p:sp>
      <p:sp>
        <p:nvSpPr>
          <p:cNvPr id="9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3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CUSTOMIZING BOOTSTRAP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2B2B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 vs. Sass-Customized Bootstrap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BOOTSTRAP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30352" y="2313432"/>
            <a:ext cx="5492344" cy="383133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6" name="Image 0" descr="D:/GitHub/mern-web-book/docs/assets/img/lecture-10/bootstrap-sass-bef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23991"/>
            <a:ext cx="5272888" cy="221021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78728" y="1965960"/>
            <a:ext cx="5272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E675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SASS-CUSTOMIZED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69000" y="2313432"/>
            <a:ext cx="5492344" cy="3831336"/>
          </a:xfrm>
          <a:prstGeom prst="roundRect">
            <a:avLst>
              <a:gd name="adj" fmla="val 1432"/>
            </a:avLst>
          </a:prstGeom>
          <a:solidFill>
            <a:srgbClr val="FFFFFF"/>
          </a:solidFill>
          <a:ln w="12700">
            <a:solidFill>
              <a:srgbClr val="E2E2EE"/>
            </a:solidFill>
            <a:prstDash val="solid"/>
          </a:ln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9" name="Image 1" descr="D:/GitHub/mern-web-book/docs/assets/img/lecture-10/bootstrap-sass-af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8728" y="3123991"/>
            <a:ext cx="5272888" cy="2210219"/>
          </a:xfrm>
          <a:prstGeom prst="rect">
            <a:avLst/>
          </a:prstGeom>
        </p:spPr>
      </p:pic>
      <p:sp>
        <p:nvSpPr>
          <p:cNvPr id="12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5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B2B7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31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10 in Eight Points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2860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21945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Mobile-first: base styles for small screens, then add complexity with min-width media queries.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78892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 txBox="1"/>
          <p:nvPr/>
        </p:nvSpPr>
        <p:spPr>
          <a:xfrm>
            <a:off x="822960" y="2788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697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viewport meta tag is required for media queries to work correctly on real phones.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822960" y="32918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Fluid units (%, rem, vw, vh) scale relative to something else, unlike fixed px.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79476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822960" y="37947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63040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Bootstrap's grid goes beyond col-md-*: auto-layout columns, nesting, offset-*, and order-* cover real layouts.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429768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822960" y="4297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gives finished components; Tailwind gives composable utilities, configured via tailwind.config.js and dark:.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480060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822960" y="48006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463040" y="4709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Sass/SCSS and LESS compile to plain CSS, adding variables (compile-time, unlike runtime CSS custom properties), nesting, and mixins.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" y="530352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822960" y="53035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Bootstrap's own source is Sass — overriding its variables before importing it recompiles the whole framework around your values.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22960" y="5806440"/>
            <a:ext cx="438912" cy="438912"/>
          </a:xfrm>
          <a:prstGeom prst="ellipse">
            <a:avLst/>
          </a:prstGeom>
          <a:solidFill>
            <a:srgbClr val="FF8A3D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822960" y="58064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715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D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frameworks expect your own custom CSS on top — they solve the common 80%, not the last 20% that makes a site unique.</a:t>
            </a:r>
            <a:endParaRPr lang="en-US" sz="1250" dirty="0"/>
          </a:p>
        </p:txBody>
      </p:sp>
      <p:sp>
        <p:nvSpPr>
          <p:cNvPr id="30" name="cuinotes-footer-mark"/>
          <p:cNvSpPr txBox="1"/>
          <p:nvPr/>
        </p:nvSpPr>
        <p:spPr>
          <a:xfrm>
            <a:off x="9951720" y="6455664"/>
            <a:ext cx="2011680" cy="29260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1000">
                <a:solidFill>
                  <a:srgbClr val="8A939B"/>
                </a:solidFill>
                <a:hlinkClick r:id="rId3"/>
              </a:rPr>
              <a:t>cuinotes.com</a:t>
            </a:r>
            <a:r>
              <a:rPr sz="1000">
                <a:solidFill>
                  <a:srgbClr val="8A939B"/>
                </a:solidFill>
              </a:rPr>
              <a:t>  ·  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3307</Words>
  <Application>Microsoft Office PowerPoint</Application>
  <PresentationFormat>Widescreen</PresentationFormat>
  <Paragraphs>534</Paragraphs>
  <Slides>51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COMSATS University Islamabad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10: Responsive Design and Framework Fundamentals</dc:title>
  <dc:subject>CSC336 Web Technologies</dc:subject>
  <dc:creator>Usman Akram</dc:creator>
  <cp:lastModifiedBy>M. Usman Akram</cp:lastModifiedBy>
  <cp:revision>2</cp:revision>
  <dcterms:created xsi:type="dcterms:W3CDTF">2026-09-22T05:25:26Z</dcterms:created>
  <dcterms:modified xsi:type="dcterms:W3CDTF">2026-09-29T04:23:35Z</dcterms:modified>
</cp:coreProperties>
</file>
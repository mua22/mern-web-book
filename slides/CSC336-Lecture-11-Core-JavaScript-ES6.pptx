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95" r:id="rId46"/>
    <p:sldId id="296" r:id="rId47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97" r:id="rId48"/>
    <p:sldId id="285" r:id="rId31"/>
    <p:sldId id="286" r:id="rId32"/>
    <p:sldId id="287" r:id="rId33"/>
    <p:sldId id="288" r:id="rId34"/>
    <p:sldId id="289" r:id="rId35"/>
    <p:sldId id="290" r:id="rId36"/>
    <p:sldId id="298" r:id="rId49"/>
    <p:sldId id="299" r:id="rId50"/>
    <p:sldId id="291" r:id="rId37"/>
    <p:sldId id="300" r:id="rId51"/>
    <p:sldId id="301" r:id="rId52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  <Relationship Id="rId46" Type="http://schemas.openxmlformats.org/officeDocument/2006/relationships/slide" Target="slides/slide40.xml"/>
  <Relationship Id="rId47" Type="http://schemas.openxmlformats.org/officeDocument/2006/relationships/slide" Target="slides/slide41.xml"/>
  <Relationship Id="rId48" Type="http://schemas.openxmlformats.org/officeDocument/2006/relationships/slide" Target="slides/slide42.xml"/>
  <Relationship Id="rId49" Type="http://schemas.openxmlformats.org/officeDocument/2006/relationships/slide" Target="slides/slide43.xml"/>
  <Relationship Id="rId50" Type="http://schemas.openxmlformats.org/officeDocument/2006/relationships/slide" Target="slides/slide44.xml"/>
  <Relationship Id="rId51" Type="http://schemas.openxmlformats.org/officeDocument/2006/relationships/slide" Target="slides/slide45.xml"/>
  <Relationship Id="rId52" Type="http://schemas.openxmlformats.org/officeDocument/2006/relationships/slide" Target="slides/slide46.xml"/>
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uinotes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uinotes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uinotes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uinotes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uinotes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uinotes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uinotes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uinotes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uinotes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uinotes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uinotes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cuinotes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cuinotes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cuinotes.com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cuinotes.com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cuinotes.com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cuinotes.com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cuinotes.com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cuinotes.com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cuinotes.com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cuinotes.com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cuinotes.com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cuinotes.com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cuinotes.com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cuinotes.com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cuinotes.com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cuinotes.com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cuinotes.com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cuinotes.com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cuinotes.com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cuinotes.com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cuinotes.com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cuinotes.com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cuinotes.com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cuinotes.com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cuinotes.com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cuinotes.com" TargetMode="External"/></Relationships>
</file>

<file path=ppt/slides/_rels/slide40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hyperlink" Target="https://cuinotes.com" TargetMode="External"/></Relationships>
</file>

<file path=ppt/slides/_rels/slide41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hyperlink" Target="https://cuinotes.com" TargetMode="External"/></Relationships>
</file>

<file path=ppt/slides/_rels/slide42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hyperlink" Target="https://cuinotes.com" TargetMode="External"/></Relationships>
</file>

<file path=ppt/slides/_rels/slide43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hyperlink" Target="https://cuinotes.com" TargetMode="External"/></Relationships>
</file>

<file path=ppt/slides/_rels/slide44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hyperlink" Target="https://cuinotes.com" TargetMode="External"/></Relationships>
</file>

<file path=ppt/slides/_rels/slide45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hyperlink" Target="https://cuinotes.com" TargetMode="External"/></Relationships>
</file>

<file path=ppt/slides/_rels/slide46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hyperlink" Target="https://cuinote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B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377440"/>
            <a:ext cx="8686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JavaScript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Concepts (ES6+)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8912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Functions, closures, and objects — the rules that make JavaScript feel different from every language you already know.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CSC336 Web Technologies</a:t>
            </a:r>
            <a:endParaRPr lang="en-US" sz="12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This Lecture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JavaScript's role on the web, and how to embed it in a page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508885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50888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435733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var, let, and const — plus primitive vs. reference types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05181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05181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97865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Operators, type coercion, and == vs. ===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3594735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85800" y="359473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21583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hoisting, and the temporal dead zone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41376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85800" y="4137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0645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write a function, and ES6 parameter/destructuring features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" y="4680585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85800" y="468058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607433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is determined, and controlling it with call, apply, bind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85800" y="522351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85800" y="522351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515035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Closures — what they are, why they matter, and common pitfalls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85800" y="5766435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685800" y="576643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5693283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Objects, arrays, template literals, and ES6 modules</a:t>
            </a:r>
            <a:endParaRPr lang="en-US" sz="1500" dirty="0"/>
          </a:p>
        </p:txBody>
      </p:sp>
      <p:sp>
        <p:nvSpPr>
          <p:cNvPr id="3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Layers of a Web Page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1153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6035040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content exists on the page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the content looks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JavaScript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the page reacts and changes over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60350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runs client-side, inside the browser, on the user's own computer — not on the server.</a:t>
            </a:r>
            <a:endParaRPr lang="en-US" sz="115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JS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Add JavaScript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215640"/>
          </a:xfrm>
          <a:prstGeom prst="roundRect">
            <a:avLst>
              <a:gd name="adj" fmla="val 2275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758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&lt;!-- 1. Inline: avoid -- hard to maintain --&gt;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onclick="alert('Hello!')"&gt;Click me&lt;/button&gt;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&lt;!-- 2. Internal: inside a &lt;script&gt; tag --&gt;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console.log("Hello from an internal script");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&lt;!-- 3. External: linked .js file -- the standard approach --&gt;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 src="app.js"&gt;&lt;/script&gt;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410200"/>
            <a:ext cx="10911535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scripts keep HTML and JS in separate files, and the browser can cache the .js file across page loads.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LOADING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defer vs. async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082040"/>
          </a:xfrm>
          <a:prstGeom prst="roundRect">
            <a:avLst>
              <a:gd name="adj" fmla="val 6761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 src="app.js" defer&gt;&lt;/script&gt;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 src="analytics.js" async&gt;&lt;/script&gt;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76600"/>
            <a:ext cx="10911535" cy="298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 a &lt;script&gt; tag stops HTML parsing, downloads, and runs immediately -- defer and async change that.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LOADING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defer: Downloads in the Background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2350694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31520" y="2624328"/>
            <a:ext cx="216781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meets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&lt;script defer&gt;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990774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93694" y="2514600"/>
            <a:ext cx="2350694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585134" y="2624328"/>
            <a:ext cx="216781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in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844388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347308" y="2514600"/>
            <a:ext cx="2350694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38748" y="2624328"/>
            <a:ext cx="216781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keeps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98001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9200921" y="2514600"/>
            <a:ext cx="2350694" cy="1371600"/>
          </a:xfrm>
          <a:prstGeom prst="roundRect">
            <a:avLst>
              <a:gd name="adj" fmla="val 5333"/>
            </a:avLst>
          </a:prstGeom>
          <a:solidFill>
            <a:srgbClr val="E67528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9292361" y="2624328"/>
            <a:ext cx="216781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after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finishes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343400"/>
            <a:ext cx="109115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defer scripts run in the order they appear. Use defer for scripts that need the DOM to exist -- most of the time.</a:t>
            </a:r>
            <a:endParaRPr lang="en-US" sz="1300" dirty="0"/>
          </a:p>
        </p:txBody>
      </p:sp>
      <p:sp>
        <p:nvSpPr>
          <p:cNvPr id="1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LOADING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async: Runs the Moment It Arrives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2350694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31520" y="2624328"/>
            <a:ext cx="216781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meets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&lt;script async&gt;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990774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93694" y="2514600"/>
            <a:ext cx="2350694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585134" y="2624328"/>
            <a:ext cx="216781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in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844388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347308" y="2514600"/>
            <a:ext cx="2350694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38748" y="2624328"/>
            <a:ext cx="216781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immediately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download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98001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9200921" y="2514600"/>
            <a:ext cx="2350694" cy="1371600"/>
          </a:xfrm>
          <a:prstGeom prst="roundRect">
            <a:avLst>
              <a:gd name="adj" fmla="val 5333"/>
            </a:avLst>
          </a:prstGeom>
          <a:solidFill>
            <a:srgbClr val="E67528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9292361" y="2624328"/>
            <a:ext cx="216781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interrupt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parsing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343400"/>
            <a:ext cx="109115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can run out of order. Use async only for independent scripts that don't touch the page, like analytics trackers.</a:t>
            </a:r>
            <a:endParaRPr lang="en-US" sz="1300" dirty="0"/>
          </a:p>
        </p:txBody>
      </p:sp>
      <p:sp>
        <p:nvSpPr>
          <p:cNvPr id="1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LOADING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of Thumb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529"/>
            </a:avLst>
          </a:prstGeom>
          <a:solidFill>
            <a:srgbClr val="E6F6EE"/>
          </a:solidFill>
          <a:ln w="12700">
            <a:solidFill>
              <a:srgbClr val="3FA66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1F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defer on almost every script you write. Reach for async only for scripts that do not depend on the DOM and do not need to run in a specific order.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var, let, and const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348740"/>
          </a:xfrm>
          <a:prstGeom prst="roundRect">
            <a:avLst>
              <a:gd name="adj" fmla="val 5424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oldStyle = "avoid me";   // function-scoped, redeclarable -- legacy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counter = 0;             // block-scoped, can be reassigned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PI = 3.14159;          // block-scoped, cannot be reassigned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543300"/>
            <a:ext cx="10911535" cy="2720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const by default. Use let when the value must change. Avoid var -- it predates modern JS and has confusing scoping rules.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 Does Not Mean "Unchangeable Value"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4000"/>
            </a:avLst>
          </a:prstGeom>
          <a:solidFill>
            <a:srgbClr val="FDECE0"/>
          </a:solidFill>
          <a:ln w="12700">
            <a:solidFill>
              <a:srgbClr val="FF8A3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8A3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only prevents reassigning the variable itself. If the value is an object or array, its contents can still be changed.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 Locks the Binding, Not the Contents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348740"/>
          </a:xfrm>
          <a:prstGeom prst="roundRect">
            <a:avLst>
              <a:gd name="adj" fmla="val 5424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person = { name: "Ali" };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person.name = "Sara"; // allowed -- we didn't reassign `person`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person = {};        // NOT allowed -- this would throw an error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Primitive vs. Reference Types</a:t>
            </a:r>
            <a:endParaRPr lang="en-US" sz="3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1153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572000"/>
                <a:gridCol w="4572000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Primitive types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types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string, number, boolean, undefined, null, symbol, bigint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object, array, function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 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actual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pointer to a location in memory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Copied by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(a real, independent copy)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(both point to the same data)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Copy by Value vs. Copy by Reference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291840"/>
          </a:xfrm>
          <a:prstGeom prst="roundRect">
            <a:avLst>
              <a:gd name="adj" fmla="val 2222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Primitives copy by value</a:t>
            </a:r>
            <a:endParaRPr lang="en-US" sz="130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 = 5;</a:t>
            </a:r>
            <a:endParaRPr lang="en-US" sz="130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 = a; // b gets its own copy of 5</a:t>
            </a:r>
            <a:endParaRPr lang="en-US" sz="130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10;</a:t>
            </a:r>
            <a:endParaRPr lang="en-US" sz="130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console.log(a); // 5 -- unaffected</a:t>
            </a:r>
            <a:endParaRPr lang="en-US" sz="1309" dirty="0"/>
          </a:p>
          <a:p>
            <a:pPr indent="0" marL="0">
              <a:lnSpc>
                <a:spcPct val="125000"/>
              </a:lnSpc>
              <a:buNone/>
            </a:pPr>
            <a:endParaRPr lang="en-US" sz="130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Objects copy by reference</a:t>
            </a:r>
            <a:endParaRPr lang="en-US" sz="130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obj1 = { value: 5 };</a:t>
            </a:r>
            <a:endParaRPr lang="en-US" sz="130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obj2 = obj1; // obj2 points to the SAME object as obj1</a:t>
            </a:r>
            <a:endParaRPr lang="en-US" sz="130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obj2.value = 10;</a:t>
            </a:r>
            <a:endParaRPr lang="en-US" sz="130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console.log(obj1.value); // 10 -- obj1 changed too!</a:t>
            </a:r>
            <a:endParaRPr lang="en-US" sz="1309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486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distinction explains a huge number of beginner bugs -- keep it in mind whenever you assign one variable to another.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Coercion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452116"/>
          </a:xfrm>
          <a:prstGeom prst="roundRect">
            <a:avLst>
              <a:gd name="adj" fmla="val 3887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994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console.log("5" + 3);        // "53"  -- number coerced to string, then joined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console.log("5" - 3);        // 2     -- string coerced to number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console.log(1 + true);       // 2     -- true coerced to 1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console.log(null + 1);       // 1     -- null coerces to 0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console.log(undefined + 1);  // NaN   -- undefined coerces to NaN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console.log("10" == 10);     // true  -- coercion happens before comparing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console.log("10" === 10);    // false -- no coercion, types differ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646676"/>
            <a:ext cx="10911535" cy="1658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(“loose equality”) converts both sides to a common type first. === (“strict equality”) compares value and type, with no conversion. null and undefined behave differently under coercion — that difference trips up beginners constantly.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Prefer === and !==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529"/>
            </a:avLst>
          </a:prstGeom>
          <a:solidFill>
            <a:srgbClr val="FDECE0"/>
          </a:solidFill>
          <a:ln w="12700">
            <a:solidFill>
              <a:srgbClr val="FF8A3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8A3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 equality produces surprising results ("" == 0 is true, null == undefined is true). Using strict equality by default avoids an entire category of bugs.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/ else and for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749040"/>
          </a:xfrm>
          <a:prstGeom prst="roundRect">
            <a:avLst>
              <a:gd name="adj" fmla="val 1951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hour = 14;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(hour &lt; 12)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console.log("Good morning");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(hour &lt; 18)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console.log("Good afternoon");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console.log("Good evening");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0; i &lt; 3; i++)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console.log("Iteration", i);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948940"/>
          </a:xfrm>
          <a:prstGeom prst="roundRect">
            <a:avLst>
              <a:gd name="adj" fmla="val 2481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491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day = "Mon";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(day)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"Sat":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"Sun":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console.log("Weekend");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console.log("Weekday");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143500"/>
            <a:ext cx="10911535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compares with === internally, and each case needs a break -- otherwise execution "falls through" into the next case.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Kinds of Scope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scope: declared outside any function or block; visible everywhere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scope: var is visible anywhere inside the function it was declared in, even inside nested blocks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scope: let and const are visible only inside the { } block where they were declared</a:t>
            </a:r>
            <a:endParaRPr lang="en-US" sz="15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 Leaks Out of a Block; let Does Not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682240"/>
          </a:xfrm>
          <a:prstGeom prst="roundRect">
            <a:avLst>
              <a:gd name="adj" fmla="val 2727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22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demo()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(true)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fnScoped = "I leak out of the if-block";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blockScoped = "I stay inside the if-block";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console.log(fnScoped);    // works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console.log(blockScoped); // ReferenceError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HOISTING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Hoisting and the Temporal Dead Zone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882140"/>
          </a:xfrm>
          <a:prstGeom prst="roundRect">
            <a:avLst>
              <a:gd name="adj" fmla="val 3887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424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console.log(x); // undefined -- not an error, it's "hoisted"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x = 5;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console.log(y); // ReferenceError: Cannot access 'y' before initialization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y = 5;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076700"/>
            <a:ext cx="10911535" cy="2186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is hoisted and initialized with undefined. let/const are hoisted but NOT initialized -- the gap is the temporal dead zone (TDZ).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HOISTING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TDZ Is a Good Thing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529"/>
            </a:avLst>
          </a:prstGeom>
          <a:solidFill>
            <a:srgbClr val="E9EDFB"/>
          </a:solidFill>
          <a:ln w="12700">
            <a:solidFill>
              <a:srgbClr val="6C7FD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334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TDZ turns a silent bug (accidentally using a variable before it has a real value) into a loud, immediate error, which makes mistakes far easier to catch.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Write a Function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931920"/>
          </a:xfrm>
          <a:prstGeom prst="roundRect">
            <a:avLst>
              <a:gd name="adj" fmla="val 1860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Function declaration -- hoisted, callable before it appears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add(a, b) {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 + b;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Function expression -- NOT hoisted the same way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subtract = function (a, b) {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 - b;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Arrow function -- shorter, ES6 (2015)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multiply = (a, b) =&gt; { return a * b; };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square = x =&gt; x * x; // single-expression shortcut</a:t>
            </a:r>
            <a:endParaRPr lang="en-US" sz="1366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One Should You Use?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529"/>
            </a:avLst>
          </a:prstGeom>
          <a:solidFill>
            <a:srgbClr val="E6F6EE"/>
          </a:solidFill>
          <a:ln w="12700">
            <a:solidFill>
              <a:srgbClr val="3FA66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1F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function declarations for top-level, named functions -- they are easy to read and are hoisted. Use arrow functions for short, inline callbacks.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ES6 PARAMETERS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and Rest Parameters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215640"/>
          </a:xfrm>
          <a:prstGeom prst="roundRect">
            <a:avLst>
              <a:gd name="adj" fmla="val 2275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758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greet(name = "Guest")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console.log(`Hello, ${name}!`);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greet();         // "Hello, Guest!"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greet("Ayesha"); // "Hello, Ayesha!"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sum(...numbers)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numbers.reduce((total, n) =&gt; total + n, 0);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sum(1, 2, 3, 4); // 10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ES6 PARAMETERS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Spread Operator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948940"/>
          </a:xfrm>
          <a:prstGeom prst="roundRect">
            <a:avLst>
              <a:gd name="adj" fmla="val 2481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491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nums = [1, 2, 3];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console.log(Math.max(...nums)); // same as Math.max(1, 2, 3)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arr1 = [1, 2];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arr2 = [3, 4];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combined = [...arr1, ...arr2]; // [1, 2, 3, 4]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defaults = { color: "blue", size: "M" };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custom = { ...defaults, size: "L" }; // { color: "blue", size: "L" }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ES6 PARAMETERS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vs. Spread -- Same Dots, Opposite Direction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529"/>
            </a:avLst>
          </a:prstGeom>
          <a:solidFill>
            <a:srgbClr val="E9EDFB"/>
          </a:solidFill>
          <a:ln w="12700">
            <a:solidFill>
              <a:srgbClr val="6C7FD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334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gathers many values into one array (used in a function's parameter list). Spread expands one array or object into many values (used when calling a function or building a new array/object).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DESTRUCTURING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Unpacking Arrays and Objects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215640"/>
          </a:xfrm>
          <a:prstGeom prst="roundRect">
            <a:avLst>
              <a:gd name="adj" fmla="val 2275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758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Array destructuring -- position matters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coordinates = [10, 20];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[x, y] = coordinates;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Object destructuring -- name matters, order doesn't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student = { name: "Bilal", age: 21 };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name, age } = student;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Renaming and default values while destructuring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name: studentName, gpa = 0 } = student;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BINDING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Depends on How You Call 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215640"/>
          </a:xfrm>
          <a:prstGeom prst="roundRect">
            <a:avLst>
              <a:gd name="adj" fmla="val 2275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758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car =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brand: "Toyota",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describe: function ()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console.log(`This is a ${this.brand}`);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car.describe(); // "This is a Toyota" -- called as car.describe()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detached = car.describe;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detached(); // "This is a undefined" -- `this` is no longer `car`!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BINDING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vs. apply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452116"/>
          </a:xfrm>
          <a:prstGeom prst="roundRect">
            <a:avLst>
              <a:gd name="adj" fmla="val 3887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994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introduce(greeting, punctuation)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console.log(`${greeting}, I'm ${this.name}${punctuation}`);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 = { name: "Ayesha" };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introduce.call(user, "Hi", "!");    // args listed one by one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introduce.apply(user, ["Hi", "!"]); // args passed as an array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646676"/>
            <a:ext cx="10911535" cy="1658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and apply both invoke the function immediately with a given this — they only differ in how you pass the arguments. Use apply when your arguments already live in an array.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BINDING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Arrow Functions and this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529"/>
            </a:avLst>
          </a:prstGeom>
          <a:solidFill>
            <a:srgbClr val="FDECE0"/>
          </a:solidFill>
          <a:ln w="12700">
            <a:solidFill>
              <a:srgbClr val="FF8A3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8A3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functions do not have their own this. Instead they use this from the surrounding ("lexical") scope where they were defined -- ideal for callbacks inside methods.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BINDING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Arrow Callbacks Are Ideal Here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948940"/>
          </a:xfrm>
          <a:prstGeom prst="roundRect">
            <a:avLst>
              <a:gd name="adj" fmla="val 2481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491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timer =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seconds: 0,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start: function ()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setInterval(() =&gt;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this.seconds++; // `this` is `timer`, inherited from `start`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console.log(this.seconds);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 1000);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143500"/>
            <a:ext cx="10911535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regular function() here would have its OWN this -- not timer -- and this.seconds++ would fail.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Function That Remembers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291840"/>
          </a:xfrm>
          <a:prstGeom prst="roundRect">
            <a:avLst>
              <a:gd name="adj" fmla="val 2222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2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makeCounter() {</a:t>
            </a:r>
            <a:endParaRPr lang="en-US" sz="102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count = 0; // "enclosed" by the returned function</a:t>
            </a:r>
            <a:endParaRPr lang="en-US" sz="102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function () {</a:t>
            </a:r>
            <a:endParaRPr lang="en-US" sz="102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count++;</a:t>
            </a:r>
            <a:endParaRPr lang="en-US" sz="102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count;</a:t>
            </a:r>
            <a:endParaRPr lang="en-US" sz="102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02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29" dirty="0"/>
          </a:p>
          <a:p>
            <a:pPr indent="0" marL="0">
              <a:lnSpc>
                <a:spcPct val="125000"/>
              </a:lnSpc>
              <a:buNone/>
            </a:pPr>
            <a:endParaRPr lang="en-US" sz="102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counter1 = makeCounter();</a:t>
            </a:r>
            <a:endParaRPr lang="en-US" sz="102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console.log(counter1()); // 1</a:t>
            </a:r>
            <a:endParaRPr lang="en-US" sz="102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console.log(counter1()); // 2</a:t>
            </a:r>
            <a:endParaRPr lang="en-US" sz="1029" dirty="0"/>
          </a:p>
          <a:p>
            <a:pPr indent="0" marL="0">
              <a:lnSpc>
                <a:spcPct val="125000"/>
              </a:lnSpc>
              <a:buNone/>
            </a:pPr>
            <a:endParaRPr lang="en-US" sz="102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counter2 = makeCounter(); // a completely separate `count`</a:t>
            </a:r>
            <a:endParaRPr lang="en-US" sz="102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console.log(counter2()); // 1</a:t>
            </a:r>
            <a:endParaRPr lang="en-US" sz="1029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486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call to makeCounter() creates a brand-new count and a brand-new inner function with a private reference to it.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Uses of Closures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privacy: count above cannot be accessed except through the returned function -- a simple form of encapsulation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factories: creating specialized functions, like makeCounter above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 that need context: event handlers and setTimeout callbacks often rely on closures to remember values</a:t>
            </a:r>
            <a:endParaRPr lang="en-US" sz="15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Classic Loop Pitfall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215640"/>
          </a:xfrm>
          <a:prstGeom prst="roundRect">
            <a:avLst>
              <a:gd name="adj" fmla="val 2275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758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BUGGY: prints 3, 3, 3 -- `var` is function-scoped, all three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callbacks share the SAME `i`, whose final value is 3.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(var i = 1; i &lt;= 3; i++)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setTimeout(() =&gt; console.log(i), 100);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FIXED: prints 1, 2, 3 -- `let` creates a NEW `i` per iteration.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j = 1; j &lt;= 3; j++)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setTimeout(() =&gt; console.log(j), 100);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410200"/>
            <a:ext cx="10911535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one of the strongest practical reasons to prefer let over var.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&amp; ARRAYS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and Updating Data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749040"/>
          </a:xfrm>
          <a:prstGeom prst="roundRect">
            <a:avLst>
              <a:gd name="adj" fmla="val 1951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book =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title: "Eloquent JavaScript",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year: 2024,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tags: ["javascript", "programming"],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console.log(book.title);      // dot notation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console.log(book["year"]);    // bracket notation -- for dynamic keys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book.pages = 472;             // add a new property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numbers = [10, 20, 30];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numbers.push(40);             // add to the end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console.log(numbers.length);  // 4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LITERALS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Backtick Strings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291840"/>
          </a:xfrm>
          <a:prstGeom prst="roundRect">
            <a:avLst>
              <a:gd name="adj" fmla="val 2222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name = "Hina";</a:t>
            </a:r>
            <a:endParaRPr lang="en-US" sz="130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score = 92;</a:t>
            </a:r>
            <a:endParaRPr lang="en-US" sz="1309" dirty="0"/>
          </a:p>
          <a:p>
            <a:pPr indent="0" marL="0">
              <a:lnSpc>
                <a:spcPct val="125000"/>
              </a:lnSpc>
              <a:buNone/>
            </a:pPr>
            <a:endParaRPr lang="en-US" sz="130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Old way</a:t>
            </a:r>
            <a:endParaRPr lang="en-US" sz="130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console.log("Hello " + name + ", your score is " + score + "%.");</a:t>
            </a:r>
            <a:endParaRPr lang="en-US" sz="1309" dirty="0"/>
          </a:p>
          <a:p>
            <a:pPr indent="0" marL="0">
              <a:lnSpc>
                <a:spcPct val="125000"/>
              </a:lnSpc>
              <a:buNone/>
            </a:pPr>
            <a:endParaRPr lang="en-US" sz="130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Template literal</a:t>
            </a:r>
            <a:endParaRPr lang="en-US" sz="130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console.log(`Hello ${name}, your score is ${score}%.`);</a:t>
            </a:r>
            <a:endParaRPr lang="en-US" sz="1309" dirty="0"/>
          </a:p>
          <a:p>
            <a:pPr indent="0" marL="0">
              <a:lnSpc>
                <a:spcPct val="125000"/>
              </a:lnSpc>
              <a:buNone/>
            </a:pPr>
            <a:endParaRPr lang="en-US" sz="130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multiLine = `Line one</a:t>
            </a:r>
            <a:endParaRPr lang="en-US" sz="130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two`;</a:t>
            </a:r>
            <a:endParaRPr lang="en-US" sz="1309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486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literals embed expressions with ${} and let strings span multiple lines without special characters.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B2B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31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11 in Seven Points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194560"/>
            <a:ext cx="10058400" cy="529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adds behavior to a page; use defer for scripts needing the DOM, async for independent ones.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860766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286076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769326"/>
            <a:ext cx="10058400" cy="529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const by default, let when reassignment is needed, and avoid var.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435531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22960" y="3435531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344091"/>
            <a:ext cx="10058400" cy="529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Primitives copy by value; objects and arrays copy by reference -- a frequent source of beginner bugs.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010297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22960" y="4010297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918857"/>
            <a:ext cx="10058400" cy="529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=== / !== instead of == / != to avoid unexpected type coercion.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585063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822960" y="4585063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493623"/>
            <a:ext cx="10058400" cy="529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let/const are block-scoped and sit in the temporal dead zone; var is function-scoped and hoisted as undefined.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5159829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822960" y="51598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068389"/>
            <a:ext cx="10058400" cy="529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depends on how a function is called; call/apply/bind control it explicitly, arrow functions inherit it lexically.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960" y="5734594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822960" y="573459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463040" y="5643154"/>
            <a:ext cx="10058400" cy="529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closure lets an inner function remember its outer function's variables after that function has returned.</a:t>
            </a:r>
            <a:endParaRPr lang="en-US" sz="1250" dirty="0"/>
          </a:p>
        </p:txBody>
      </p:sp>
      <p:sp>
        <p:nvSpPr>
          <p:cNvPr id="2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Coercion — Tricky Gotchas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452116"/>
          </a:xfrm>
          <a:prstGeom prst="roundRect">
            <a:avLst>
              <a:gd name="adj" fmla="val 3887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994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console.log([] + []);           // ""       -- both arrays coerce to "", then join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console.log([] + {});           // "[object Object]"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console.log([1,2] + [3,4]);     // "1,23,4"  -- arrays coerce via toString(), then join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console.log(1 + "2" + 3);       // "123"     -- left to right: 1+"2"="12", then +3="123"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console.log(1 + 2 + "3");       // "33"      -- left to right: 1+2=3, then 3+"3"="33"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console.log("" == 0);           // true      -- "" coerces to 0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console.log(null == undefined); // true      -- special case; null === undefined is false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646676"/>
            <a:ext cx="10911535" cy="1658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Coercion happens strictly left to right, one operation at a time — the ORDER of mixed operands changes the result. These are exactly the surprises === avoids.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Explicit Type Conversion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452116"/>
          </a:xfrm>
          <a:prstGeom prst="roundRect">
            <a:avLst>
              <a:gd name="adj" fmla="val 3887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994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console.log(Number("42"));      // 42     -- string to number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console.log(Number(""));        // 0      -- empty string converts to 0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console.log(Number("abc"));     // NaN    -- not a valid number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console.log(String(42));        // "42"   -- number to string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console.log(Boolean(0));        // false  -- falsy: 0, "", null, undefined, NaN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console.log(Boolean("hi"));     // true   -- any non-empty string is truthy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console.log(parseInt("42px"));  // 42     -- parses leading digits, ignores the rest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646676"/>
            <a:ext cx="10911535" cy="1658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Number(), String(), and Boolean() explicitly convert a value’s type — unlike coercion, the conversion is intentional and visible in the code. parseInt()/parseFloat() pull a leading number out of a string.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BINDING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bind — Locking in this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737104"/>
          </a:xfrm>
          <a:prstGeom prst="roundRect">
            <a:avLst>
              <a:gd name="adj" fmla="val 3887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279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 = { name: "Ayesha" };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greet(greeting)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console.log(`${greeting}, I'm ${this.name}`);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sayHi = greet.bind(user); // returns a NEW function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sayHi("Hi");                    // "Hi, I'm Ayesha"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setTimeout(sayHi, 100, "Hello"); // still bound when called later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931664"/>
            <a:ext cx="10911535" cy="137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does NOT call the function — it returns a new function with this permanently locked in, ready to pass as a callback or call later.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Serializing Data with JSON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022092"/>
          </a:xfrm>
          <a:prstGeom prst="roundRect">
            <a:avLst>
              <a:gd name="adj" fmla="val 3887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564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student = { name: "Bilal", gpa: 3.8, courses: ["CSC336", "CSC270"] };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Object -&gt; JSON string, for sending over HTTP or saving to a file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json = JSON.stringify(student);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console.log(json);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JSON string -&gt; object, for reading data you received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parsed = JSON.parse(json);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console.log(parsed.name); // "Bilal"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216652"/>
            <a:ext cx="10911535" cy="1089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(JavaScript Object Notation) is the standard format APIs use to send data. JSON.stringify() turns a JS value into JSON text; JSON.parse() turns it back.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&amp; ARRAYS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Grouping and Listing Data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307080"/>
          </a:xfrm>
          <a:prstGeom prst="roundRect">
            <a:avLst>
              <a:gd name="adj" fmla="val 3887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84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students = [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name: "Bilal", year: 2 }, { name: "Hina", year: 3 }, { name: "Ayesha", year: 2 },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byYear = students.reduce((g, s) =&gt; {          // GROUP by year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(!g[s.year]) g[s.year] = [];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g[s.year].push(s.name);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g;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{});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(const [year, names] of Object.entries(byYear)) // LIST each group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console.log(`Year ${year}: ${names.join(", ")}`);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501640"/>
            <a:ext cx="10911535" cy="804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groups the list; Object.entries() plus join() lists it back out — a pattern you’ll use constantly.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JavaScript Outside the Browser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737104"/>
          </a:xfrm>
          <a:prstGeom prst="roundRect">
            <a:avLst>
              <a:gd name="adj" fmla="val 3887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279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Browser: JS runs inside a page, with access to the DOM,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window, and document -- but no file system or network access.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Node.js: the SAME language, running directly on your computer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or a server -- with file system, network, and OS access.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node app.js     // run a JavaScript file directly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node            // or start an interactive REPL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931664"/>
            <a:ext cx="10911535" cy="137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takes the V8 engine (the same one inside Chrome) and runs it standalone — it's the “N” in the MERN stack you'll build on later in this course.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Modules: require vs. import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022092"/>
          </a:xfrm>
          <a:prstGeom prst="roundRect">
            <a:avLst>
              <a:gd name="adj" fmla="val 3887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564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CommonJS -- Node's original module system (default in .js files)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mathUtils.js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exports.add = (a, b) =&gt; a + b;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main.js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add } = require("./mathUtils");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ES Modules -- the same import/export syntax browsers use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add = (a, b) =&gt; a + b;        // mathUtils.js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add } from "./mathUtils.js";       // main.js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216652"/>
            <a:ext cx="10911535" cy="1089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supports both. CommonJS (require/exports) is the default in .js files; add “type”: “module” to package.json to use import/export instead.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COMSATS University Islamabad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11: Core JavaScript Concepts (ES6+)</dc:title>
  <dc:subject>CSC336 Web Technologies</dc:subject>
  <dc:creator>Usman Akram</dc:creator>
  <cp:lastModifiedBy>Usman Akram</cp:lastModifiedBy>
  <cp:revision>1</cp:revision>
  <dcterms:created xsi:type="dcterms:W3CDTF">2026-09-22T05:49:15Z</dcterms:created>
  <dcterms:modified xsi:type="dcterms:W3CDTF">2026-09-22T05:49:15Z</dcterms:modified>
</cp:coreProperties>
</file>
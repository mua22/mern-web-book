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13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 Manipulation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Event Handling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JavaScript reads, changes, and reacts to the structure of a web page — the engine behind every interactive site.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DOM tree, nodes, and the document object actually are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6898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6898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6167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Selecting elements with getElementById, querySelector, and querySelectorAll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4137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413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3406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Creating, updating, and removing elements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1376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1376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0645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with classList and inline styles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48615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5800" y="4861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7884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Handling events with addEventListener and the event object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85800" y="55854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5800" y="55854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55123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bubbling, capturing, delegation, preventDefault, and stopPropagation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Page, Before It Becomes a Tree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415540"/>
          </a:xfrm>
          <a:prstGeom prst="roundRect">
            <a:avLst>
              <a:gd name="adj" fmla="val 302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958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&lt;!DOCTYPE html&gt;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&lt;html&gt;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&lt;body&gt;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&lt;h1&gt;My Page&lt;/h1&gt;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&lt;p&gt;Hello &lt;strong&gt;world&lt;/strong&gt;&lt;/p&gt;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&lt;/body&gt;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&lt;/html&gt;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610100"/>
            <a:ext cx="10911535" cy="1653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 (Document Object Model) is a live, in-memory, tree-shaped representation of this HTML that the browser builds after parsing it.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Tag Becomes a Node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035040" y="2560320"/>
            <a:ext cx="9144" cy="32004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6035040" y="3383280"/>
            <a:ext cx="9144" cy="32004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 flipH="1">
            <a:off x="3566160" y="4206240"/>
            <a:ext cx="2286000" cy="32004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6309360" y="4206240"/>
            <a:ext cx="548640" cy="32004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 flipH="1">
            <a:off x="6263640" y="5029200"/>
            <a:ext cx="411480" cy="32004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6949440" y="5029200"/>
            <a:ext cx="2057400" cy="32004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937760" y="2057400"/>
            <a:ext cx="2194560" cy="502920"/>
          </a:xfrm>
          <a:prstGeom prst="rect">
            <a:avLst/>
          </a:prstGeom>
          <a:solidFill>
            <a:srgbClr val="1E1E4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992624" y="2057400"/>
            <a:ext cx="2084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937760" y="2880360"/>
            <a:ext cx="2194560" cy="502920"/>
          </a:xfrm>
          <a:prstGeom prst="rect">
            <a:avLst/>
          </a:prstGeom>
          <a:solidFill>
            <a:srgbClr val="2B2B7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992624" y="2880360"/>
            <a:ext cx="2084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937760" y="3703320"/>
            <a:ext cx="2194560" cy="502920"/>
          </a:xfrm>
          <a:prstGeom prst="rect">
            <a:avLst/>
          </a:prstGeom>
          <a:solidFill>
            <a:srgbClr val="2B2B7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992624" y="3703320"/>
            <a:ext cx="2084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2377440" y="4526280"/>
            <a:ext cx="2377440" cy="502920"/>
          </a:xfrm>
          <a:prstGeom prst="rect">
            <a:avLst/>
          </a:prstGeom>
          <a:solidFill>
            <a:srgbClr val="3A3A7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2432304" y="4526280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h1: 'My Page'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035040" y="4526280"/>
            <a:ext cx="1645920" cy="502920"/>
          </a:xfrm>
          <a:prstGeom prst="rect">
            <a:avLst/>
          </a:prstGeom>
          <a:solidFill>
            <a:srgbClr val="3A3A7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089904" y="4526280"/>
            <a:ext cx="1536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74920" y="5349240"/>
            <a:ext cx="2377440" cy="502920"/>
          </a:xfrm>
          <a:prstGeom prst="rect">
            <a:avLst/>
          </a:prstGeom>
          <a:solidFill>
            <a:srgbClr val="FF8A3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129784" y="5349240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E1E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Text: 'Hello '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818120" y="5349240"/>
            <a:ext cx="2377440" cy="502920"/>
          </a:xfrm>
          <a:prstGeom prst="rect">
            <a:avLst/>
          </a:prstGeom>
          <a:solidFill>
            <a:srgbClr val="FF8A3D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872984" y="5349240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E1E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strong: 'world'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598932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Node: any single item in the tree. Element: a node representing an HTML tag. body is the PARENT of h1 and p; h1 and p are SIBLINGS.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DOM Is Not the Same as Your HTML File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28800"/>
          </a:xfrm>
          <a:prstGeom prst="roundRect">
            <a:avLst>
              <a:gd name="adj" fmla="val 3000"/>
            </a:avLst>
          </a:prstGeom>
          <a:solidFill>
            <a:srgbClr val="E9EDFB"/>
          </a:solidFill>
          <a:ln w="12700">
            <a:solidFill>
              <a:srgbClr val="6C7F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345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 is what the browser builds from your HTML -- and JavaScript can change it after the fact. "View Page Source" shows the original file; "Inspect Element" (DevTools) shows the CURRENT DOM, which may look very different after scripts have run.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SELECTING ELEMENTS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getElementById and querySelector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948940"/>
          </a:xfrm>
          <a:prstGeom prst="roundRect">
            <a:avLst>
              <a:gd name="adj" fmla="val 2481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By id -- a single element, or null if not found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title = document.getElementById("main-title");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By CSS selector -- the FIRST matching element, or null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firstButton = document.querySelector(".btn");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firstInput = document.querySelector("input[type='email']");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By CSS selector -- ALL matching elements, as a NodeList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allButtons = document.querySelectorAll(".btn");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143500"/>
            <a:ext cx="10911535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querySelector/querySelectorAll accept ANY valid CSS selector -- by class, tag, attribute, or combinations -- far more flexible than getElementById.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SELECTING ELEMENTS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NodeList Supports forEach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815340"/>
          </a:xfrm>
          <a:prstGeom prst="roundRect">
            <a:avLst>
              <a:gd name="adj" fmla="val 8972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58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allButtons.forEach(btn =&gt; console.log(btn.textContent));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SELECTING ELEMENTS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NodeList Is Not an Array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NodeList supports forEach, but not map or filter directly. Convert it first if you need those: Array.from(allButtons) or [...allButtons].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CREATING NODES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Creating and Inserting Elements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625090"/>
            <a:ext cx="5272888" cy="3025140"/>
          </a:xfrm>
          <a:prstGeom prst="roundRect">
            <a:avLst>
              <a:gd name="adj" fmla="val 241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853690"/>
            <a:ext cx="4632808" cy="2567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newItem =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document.createElement("li");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newItem.textContent = "New task";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list =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document.querySelector("#task-list");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list.appendChild(newItem);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list.prepend(newItem);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list.insertBefore(newItem,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list.children[1]);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69000" y="1947672"/>
            <a:ext cx="5492344" cy="4379976"/>
          </a:xfrm>
          <a:prstGeom prst="roundRect">
            <a:avLst>
              <a:gd name="adj" fmla="val 1253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docs/assets/img/lecture-13/dom-insert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8728" y="3379467"/>
            <a:ext cx="5272888" cy="151638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UPDATING NODES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Updating Content and Attributes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682240"/>
          </a:xfrm>
          <a:prstGeom prst="roundRect">
            <a:avLst>
              <a:gd name="adj" fmla="val 2727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22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heading = document.querySelector("h1");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heading.textContent = "Updated Title";      // sets plain text (safe)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heading.innerHTML = "&lt;em&gt;Updated&lt;/em&gt; Title"; // parses the string AS HTML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link = document.querySelector("a");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link.setAttribute("href", "https://example.com");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console.log(link.getAttribute("href"));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link.removeAttribute("target");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UPDATING NODES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innerHTML and Security (XSS)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011680"/>
          </a:xfrm>
          <a:prstGeom prst="roundRect">
            <a:avLst>
              <a:gd name="adj" fmla="val 2727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innerHTML parses whatever string you give it as real HTML. If that string comes from user input and you insert it with innerHTML, a malicious user could inject a &lt;script&gt; tag -- this is Cross-Site Scripting (XSS). Prefer textContent unless you specifically need to insert markup.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REMOVING NODES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Removing an Element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82140"/>
          </a:xfrm>
          <a:prstGeom prst="roundRect">
            <a:avLst>
              <a:gd name="adj" fmla="val 3887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424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item = document.querySelector("#task-3");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item.remove(); // modern, simplest way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Older way, still seen in existing code: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item.parentNode.removeChild(item);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CLASSLIST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classList vs. Raw Style Strings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872740"/>
            <a:ext cx="5272888" cy="2529840"/>
          </a:xfrm>
          <a:prstGeom prst="roundRect">
            <a:avLst>
              <a:gd name="adj" fmla="val 2892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3101340"/>
            <a:ext cx="4632808" cy="207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box =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document.querySelector(".box");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box.classList.add("highlighted");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box.classList.remove("hidden");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box.classList.toggle("active");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box.classList.contains("active");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true or false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69000" y="1947672"/>
            <a:ext cx="5492344" cy="4379976"/>
          </a:xfrm>
          <a:prstGeom prst="roundRect">
            <a:avLst>
              <a:gd name="adj" fmla="val 1253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docs/assets/img/lecture-13/dom-classlist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8728" y="3418630"/>
            <a:ext cx="5272888" cy="14380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 STYLES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Setting Individual CSS Properties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348740"/>
          </a:xfrm>
          <a:prstGeom prst="roundRect">
            <a:avLst>
              <a:gd name="adj" fmla="val 5424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box.style.backgroundColor = "yellow";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box.style.display = "none";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box.style.fontSize = "18px";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543300"/>
            <a:ext cx="10911535" cy="2720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style property writes INLINE styles -- CSS applied directly on the element, with the highest priority.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 STYLES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Prefer classList Over style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7360"/>
          </a:xfrm>
          <a:prstGeom prst="roundRect">
            <a:avLst>
              <a:gd name="adj" fmla="val 3158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Toggling a class keeps "what it should look like" (CSS) separate from "when it should look that way" (JavaScript), and it's easier to change the look later without touching your script.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addEventListener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91840"/>
          </a:xfrm>
          <a:prstGeom prst="roundRect">
            <a:avLst>
              <a:gd name="adj" fmla="val 2222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button = document.querySelector("#save-btn");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button.addEventListener("click", function () {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console.log("Button was clicked!");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Arrow function version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button.addEventListener("click", () =&gt; console.log("Clicked!"));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handleClick() { console.log("Handled once"); }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button.addEventListener("click", handleClick);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button.removeEventListener("click", handleClick); // same function reference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486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addEventListener is preferred over onclick=... because it allows MULTIPLE listeners on the same event, and a specific one can be removed later.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Event Object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15640"/>
          </a:xfrm>
          <a:prstGeom prst="roundRect">
            <a:avLst>
              <a:gd name="adj" fmla="val 2275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75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document.querySelector("input").addEventListener("keydown", (event)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console.log(event.key);    // which key was pressed, e.g. "Enter"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console.log(event.target); // the exact element the event happened on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console.log(event.type);   // "keydown"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document.querySelector("form").addEventListener("submit", (event)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event.preventDefault(); // stop the page reload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console.log("Form data captured without reloading the page");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Events You Will Use Constantly</a:t>
            </a:r>
            <a:endParaRPr lang="en-US" sz="34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680960"/>
              </a:tblGrid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Mouse / pointer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click, mouseover, mouseout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Keyboard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keydown, keyup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submit, input, change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Page lifecycle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load, DOMContentLoaded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BUBBLING &amp; CAPTURING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Phases of Every Event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874520" y="3035808"/>
            <a:ext cx="182880" cy="9144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2834640" y="3035808"/>
            <a:ext cx="182880" cy="9144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3703320" y="3035808"/>
            <a:ext cx="182880" cy="9144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331720" y="5093208"/>
            <a:ext cx="182880" cy="9144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200400" y="5093208"/>
            <a:ext cx="182880" cy="9144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160520" y="5093208"/>
            <a:ext cx="182880" cy="9144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914400" y="2148840"/>
            <a:ext cx="4389120" cy="411480"/>
          </a:xfrm>
          <a:prstGeom prst="rect">
            <a:avLst/>
          </a:prstGeom>
          <a:solidFill>
            <a:srgbClr val="1E1E4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69264" y="2148840"/>
            <a:ext cx="4279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Capturing (top to bottom)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2743200"/>
            <a:ext cx="960120" cy="594360"/>
          </a:xfrm>
          <a:prstGeom prst="rect">
            <a:avLst/>
          </a:prstGeom>
          <a:solidFill>
            <a:srgbClr val="2B2B7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69264" y="2743200"/>
            <a:ext cx="8503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057400" y="2743200"/>
            <a:ext cx="777240" cy="594360"/>
          </a:xfrm>
          <a:prstGeom prst="rect">
            <a:avLst/>
          </a:prstGeom>
          <a:solidFill>
            <a:srgbClr val="2B2B7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112264" y="2743200"/>
            <a:ext cx="6675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017520" y="2743200"/>
            <a:ext cx="685800" cy="594360"/>
          </a:xfrm>
          <a:prstGeom prst="rect">
            <a:avLst/>
          </a:prstGeom>
          <a:solidFill>
            <a:srgbClr val="2B2B7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072384" y="2743200"/>
            <a:ext cx="5760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886200" y="2743200"/>
            <a:ext cx="1417320" cy="594360"/>
          </a:xfrm>
          <a:prstGeom prst="rect">
            <a:avLst/>
          </a:prstGeom>
          <a:solidFill>
            <a:srgbClr val="FF8A3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941064" y="2743200"/>
            <a:ext cx="13075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E1E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(target)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14400" y="4206240"/>
            <a:ext cx="4389120" cy="411480"/>
          </a:xfrm>
          <a:prstGeom prst="rect">
            <a:avLst/>
          </a:prstGeom>
          <a:solidFill>
            <a:srgbClr val="1E1E4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69264" y="4206240"/>
            <a:ext cx="4279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Bubbling (bottom to top)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14400" y="4800600"/>
            <a:ext cx="1417320" cy="594360"/>
          </a:xfrm>
          <a:prstGeom prst="rect">
            <a:avLst/>
          </a:prstGeom>
          <a:solidFill>
            <a:srgbClr val="FF8A3D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69264" y="4800600"/>
            <a:ext cx="13075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E1E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(target)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514600" y="4800600"/>
            <a:ext cx="685800" cy="594360"/>
          </a:xfrm>
          <a:prstGeom prst="rect">
            <a:avLst/>
          </a:prstGeom>
          <a:solidFill>
            <a:srgbClr val="2B2B7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2569464" y="4800600"/>
            <a:ext cx="5760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383280" y="4800600"/>
            <a:ext cx="777240" cy="594360"/>
          </a:xfrm>
          <a:prstGeom prst="rect">
            <a:avLst/>
          </a:prstGeom>
          <a:solidFill>
            <a:srgbClr val="2B2B7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438144" y="4800600"/>
            <a:ext cx="6675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343400" y="4800600"/>
            <a:ext cx="960120" cy="594360"/>
          </a:xfrm>
          <a:prstGeom prst="rect">
            <a:avLst/>
          </a:prstGeom>
          <a:solidFill>
            <a:srgbClr val="2B2B7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398264" y="4800600"/>
            <a:ext cx="8503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598932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default, addEventListener listens during the BUBBLING phase. Pass true as a third argument to listen during capturing instead.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DELEGATION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Listener, Many Children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682240"/>
          </a:xfrm>
          <a:prstGeom prst="roundRect">
            <a:avLst>
              <a:gd name="adj" fmla="val 2727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22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list = document.querySelector("#task-list");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One listener on the parent handles clicks on ANY current or future &lt;li&gt;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list.addEventListener("click", (event)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(event.target.tagName === "LI")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event.target.classList.toggle("done");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876800"/>
            <a:ext cx="10911535" cy="1386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event.target is the specific element clicked; event.currentTarget is the element the listener is attached to (list itself).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DELEGATION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 Delegation,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872740"/>
            <a:ext cx="5272888" cy="2529840"/>
          </a:xfrm>
          <a:prstGeom prst="roundRect">
            <a:avLst>
              <a:gd name="adj" fmla="val 2892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3101340"/>
            <a:ext cx="4632808" cy="207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list.addEventListener("click",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(event) =&gt; {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(event.target.tagName ===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"LI") {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event.target.classList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.toggle("done");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69000" y="1947672"/>
            <a:ext cx="5492344" cy="4379976"/>
          </a:xfrm>
          <a:prstGeom prst="roundRect">
            <a:avLst>
              <a:gd name="adj" fmla="val 1253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docs/assets/img/lecture-13/dom-delegation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8728" y="3192781"/>
            <a:ext cx="5272888" cy="1889759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DELEGATION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Event Delegation Matters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7360"/>
          </a:xfrm>
          <a:prstGeom prst="roundRect">
            <a:avLst>
              <a:gd name="adj" fmla="val 3158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add 100 new &lt;li&gt; items after the page loads, a delegated listener on the parent &lt;ul&gt; automatically handles clicks on all of them -- no need to attach or re-attach 100 separate listeners.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PREVENTDEFAULT / STOPPROPAGATION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Very Different Methods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415540"/>
          </a:xfrm>
          <a:prstGeom prst="roundRect">
            <a:avLst>
              <a:gd name="adj" fmla="val 302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958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document.querySelector("a.disabled-link").addEventListener("click", (event)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event.preventDefault(); // the link will NOT navigate anywhere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document.querySelector(".dropdown-toggle").addEventListener("click", (event)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event.stopPropagation(); // won't also trigger a parent's listener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610100"/>
            <a:ext cx="10911535" cy="1653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preventDefault() stops the browser's default behavior. stopPropagation() stops the event from continuing to bubble/capture.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PREVENTDEFAULT / STOPPROPAGATION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Don't Confuse the Two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7360"/>
          </a:xfrm>
          <a:prstGeom prst="roundRect">
            <a:avLst>
              <a:gd name="adj" fmla="val 3158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preventDefault() cancels what the browser would have done. stopPropagation() cancels the event from reaching other listeners further up (or down) the tree. A single handler can call both when needed.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13 in Seven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 is a live, tree-shaped, in-memory representation of the page; document is your entry point into it.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860766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86076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769326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getElementById selects by id; querySelector/querySelectorAll select by any CSS selector and are more flexible.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435531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435531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344091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textContent over innerHTML unless you specifically need to insert HTML, to avoid XSS security risks.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010297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010297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918857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classList.add/remove/toggle/contains is the preferred way to change appearance; reserve direct style for one-off values.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4585063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4585063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493623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addEventListener registers handlers and supports multiple listeners per event; every handler receives an event object.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159829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5159829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068389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bubble up (and can capture down) the DOM tree -- this enables event delegation, one listener for many children.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22960" y="5734594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22960" y="573459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463040" y="5643154"/>
            <a:ext cx="10058400" cy="52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preventDefault() stops the browser's default action; stopPropagation() stops the event reaching other listeners.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13: DOM Manipulation and Event Handling</dc:title>
  <dc:subject>CSC336 Web Technologies</dc:subject>
  <dc:creator>Usman Akram</dc:creator>
  <cp:lastModifiedBy>Usman Akram</cp:lastModifiedBy>
  <cp:revision>1</cp:revision>
  <dcterms:created xsi:type="dcterms:W3CDTF">2026-09-22T05:49:16Z</dcterms:created>
  <dcterms:modified xsi:type="dcterms:W3CDTF">2026-09-22T05:49:16Z</dcterms:modified>
</cp:coreProperties>
</file>
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81" r:id="rId32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82" r:id="rId33"/>
    <p:sldId id="283" r:id="rId34"/>
    <p:sldId id="271" r:id="rId17"/>
    <p:sldId id="272" r:id="rId18"/>
    <p:sldId id="284" r:id="rId35"/>
    <p:sldId id="285" r:id="rId36"/>
    <p:sldId id="274" r:id="rId20"/>
    <p:sldId id="286" r:id="rId37"/>
    <p:sldId id="275" r:id="rId21"/>
    <p:sldId id="287" r:id="rId38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  <Relationship Id="rId32" Type="http://schemas.openxmlformats.org/officeDocument/2006/relationships/slide" Target="slides/slide26.xml"/>
  <Relationship Id="rId33" Type="http://schemas.openxmlformats.org/officeDocument/2006/relationships/slide" Target="slides/slide27.xml"/>
  <Relationship Id="rId34" Type="http://schemas.openxmlformats.org/officeDocument/2006/relationships/slide" Target="slides/slide28.xml"/>
  <Relationship Id="rId35" Type="http://schemas.openxmlformats.org/officeDocument/2006/relationships/slide" Target="slides/slide29.xml"/>
  <Relationship Id="rId36" Type="http://schemas.openxmlformats.org/officeDocument/2006/relationships/slide" Target="slides/slide30.xml"/>
  <Relationship Id="rId37" Type="http://schemas.openxmlformats.org/officeDocument/2006/relationships/slide" Target="slides/slide31.xml"/>
  <Relationship Id="rId38" Type="http://schemas.openxmlformats.org/officeDocument/2006/relationships/slide" Target="slides/slide32.xml"/>
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uinotes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uinotes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uinotes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uinotes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uinotes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uinotes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uinotes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uinotes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hyperlink" Target="https://cuinotes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uinotes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uinotes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cuinotes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4" Type="http://schemas.openxmlformats.org/officeDocument/2006/relationships/hyperlink" Target="https://cuinotes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cuinotes.com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cuinotes.com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cuinotes.com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cuinotes.com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cuinotes.com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cuinotes.com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Relationship Id="rId4" Type="http://schemas.openxmlformats.org/officeDocument/2006/relationships/hyperlink" Target="https://cuinotes.com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cuinotes.com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cuinotes.com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cuinotes.com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cuinotes.com" TargetMode="External"/></Relationships>
</file>

<file path=ppt/slides/_rels/slide26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hyperlink" Target="https://cuinotes.com" TargetMode="External"/></Relationships>
</file>

<file path=ppt/slides/_rels/slide27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hyperlink" Target="https://cuinotes.com" TargetMode="External"/></Relationships>
</file>

<file path=ppt/slides/_rels/slide28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hyperlink" Target="https://cuinotes.com" TargetMode="External"/></Relationships>
</file>

<file path=ppt/slides/_rels/slide29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hyperlink" Target="https://cuinotes.com" TargetMode="External"/></Relationships>
</file>

<file path=ppt/slides/_rels/slide30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hyperlink" Target="https://cuinotes.com" TargetMode="External"/></Relationships>
</file>

<file path=ppt/slides/_rels/slide31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hyperlink" Target="https://cuinotes.com" TargetMode="External"/></Relationships>
</file>

<file path=ppt/slides/_rels/slide32.xml.rels><?xml version='1.0' encoding='UTF-8' standalone='yes'?>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hyperlink" Target="https://cuinote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B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13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377440"/>
            <a:ext cx="8686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 Manipulation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Event Handling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8912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JavaScript reads, changes, and reacts to the structure of a web page — the engine behind every interactive site.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CSC336 Web Technologies</a:t>
            </a:r>
            <a:endParaRPr lang="en-US" sz="12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This Lecture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DOM tree, nodes, and the document object actually are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6898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85800" y="26898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6167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elements with getElementById, querySelector, and querySelectorAll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4137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85800" y="3413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3406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Creating, updating, and removing elements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1376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85800" y="41376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0645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classList and inline styles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48615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85800" y="486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7884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events with addEventListener and the event object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" y="55854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85800" y="5585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55123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bubbling, capturing, delegation, preventDefault, and stopPropagation</a:t>
            </a:r>
            <a:endParaRPr lang="en-US" sz="1500" dirty="0"/>
          </a:p>
        </p:txBody>
      </p:sp>
      <p:sp>
        <p:nvSpPr>
          <p:cNvPr id="2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Page, Before It Becomes a Tree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415540"/>
          </a:xfrm>
          <a:prstGeom prst="roundRect">
            <a:avLst>
              <a:gd name="adj" fmla="val 3028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95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&lt;body&gt;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&lt;h1&gt;My Page&lt;/h1&gt;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&lt;p&gt;Hello &lt;strong&gt;world&lt;/strong&gt;&lt;/p&gt;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&lt;/body&gt;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610100"/>
            <a:ext cx="10911535" cy="165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 (Document Object Model) is a live, in-memory, tree-shaped representation of this HTML that the browser builds after parsing it.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Tag Becomes a Node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35040" y="2560320"/>
            <a:ext cx="9144" cy="32004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035040" y="3383280"/>
            <a:ext cx="9144" cy="32004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3566160" y="4206240"/>
            <a:ext cx="2286000" cy="32004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309360" y="4206240"/>
            <a:ext cx="548640" cy="32004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 flipH="1">
            <a:off x="6263640" y="5029200"/>
            <a:ext cx="411480" cy="32004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949440" y="5029200"/>
            <a:ext cx="2057400" cy="32004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937760" y="2057400"/>
            <a:ext cx="2194560" cy="502920"/>
          </a:xfrm>
          <a:prstGeom prst="rect">
            <a:avLst/>
          </a:prstGeom>
          <a:solidFill>
            <a:srgbClr val="1E1E4C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992624" y="205740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937760" y="2880360"/>
            <a:ext cx="2194560" cy="502920"/>
          </a:xfrm>
          <a:prstGeom prst="rect">
            <a:avLst/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4992624" y="288036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937760" y="3703320"/>
            <a:ext cx="2194560" cy="502920"/>
          </a:xfrm>
          <a:prstGeom prst="rect">
            <a:avLst/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4992624" y="370332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377440" y="4526280"/>
            <a:ext cx="2377440" cy="502920"/>
          </a:xfrm>
          <a:prstGeom prst="rect">
            <a:avLst/>
          </a:prstGeom>
          <a:solidFill>
            <a:srgbClr val="3A3A78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2432304" y="452628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h1: 'My Page'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35040" y="4526280"/>
            <a:ext cx="1645920" cy="502920"/>
          </a:xfrm>
          <a:prstGeom prst="rect">
            <a:avLst/>
          </a:prstGeom>
          <a:solidFill>
            <a:srgbClr val="3A3A78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6089904" y="452628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74920" y="5349240"/>
            <a:ext cx="2377440" cy="502920"/>
          </a:xfrm>
          <a:prstGeom prst="rect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5129784" y="534924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1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Text: 'Hello '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818120" y="5349240"/>
            <a:ext cx="2377440" cy="502920"/>
          </a:xfrm>
          <a:prstGeom prst="rect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7872984" y="534924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1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strong: 'world'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98932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 any single item in the tree. Element: a node representing an HTML tag. body is the PARENT of h1 and p; h1 and p are SIBLINGS.</a:t>
            </a:r>
            <a:endParaRPr lang="en-US" sz="1250" dirty="0"/>
          </a:p>
        </p:txBody>
      </p:sp>
      <p:sp>
        <p:nvSpPr>
          <p:cNvPr id="2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DOM Is Not the Same as Your HTML File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000"/>
            </a:avLst>
          </a:prstGeom>
          <a:solidFill>
            <a:srgbClr val="E9EDFB"/>
          </a:solidFill>
          <a:ln w="12700">
            <a:solidFill>
              <a:srgbClr val="6C7FD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334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8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 is what the browser builds from your HTML -- and JavaScript can change it after the fact. "View Page Source" shows the original file; "Inspect Element" (DevTools) shows the CURRENT DOM, which may look very different after scripts have run.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ELEMENTS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getElementById and querySelector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948940"/>
          </a:xfrm>
          <a:prstGeom prst="roundRect">
            <a:avLst>
              <a:gd name="adj" fmla="val 2481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491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By id -- a single element, or null if not found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title = document.getElementById("main-title");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By CSS selector -- the FIRST matching element, or null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firstButton = document.querySelector(".btn");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firstInput = document.querySelector("input[type='email']");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By CSS selector -- ALL matching elements, as a NodeList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allButtons = document.querySelectorAll(".btn");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143500"/>
            <a:ext cx="10911535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querySelector/querySelectorAll accept ANY valid CSS selector -- by class, tag, attribute, or combinations -- far more flexible than getElementById.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ELEMENTS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NodeList Supports forEach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815340"/>
          </a:xfrm>
          <a:prstGeom prst="roundRect">
            <a:avLst>
              <a:gd name="adj" fmla="val 8972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allButtons.forEach(btn =&gt; console.log(btn.textContent));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ELEMENTS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NodeList Is Not an Array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529"/>
            </a:avLst>
          </a:prstGeom>
          <a:solidFill>
            <a:srgbClr val="E6F6EE"/>
          </a:solidFill>
          <a:ln w="12700">
            <a:solidFill>
              <a:srgbClr val="3FA66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1F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8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NodeList supports forEach, but not map or filter directly. Convert it first if you need those: Array.from(allButtons) or [...allButtons].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NODES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and Inserting Elements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625090"/>
            <a:ext cx="5272888" cy="3025140"/>
          </a:xfrm>
          <a:prstGeom prst="roundRect">
            <a:avLst>
              <a:gd name="adj" fmla="val 2418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853690"/>
            <a:ext cx="4632808" cy="2567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newItem =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document.createElement("li");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newItem.textContent = "New task";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list =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document.querySelector("#task-list");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list.appendChild(newItem);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list.prepend(newItem);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list.insertBefore(newItem,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list.children[1]);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69000" y="1947672"/>
            <a:ext cx="5492344" cy="4379976"/>
          </a:xfrm>
          <a:prstGeom prst="roundRect">
            <a:avLst>
              <a:gd name="adj" fmla="val 1253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7" name="Image 0" descr="D:/GitHub/mern-web-book/docs/assets/img/lecture-13/dom-insert-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8728" y="3379467"/>
            <a:ext cx="5272888" cy="1516386"/>
          </a:xfrm>
          <a:prstGeom prst="rect">
            <a:avLst/>
          </a:prstGeom>
        </p:spPr>
      </p:pic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 NODES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Updating Content and Attributes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682240"/>
          </a:xfrm>
          <a:prstGeom prst="roundRect">
            <a:avLst>
              <a:gd name="adj" fmla="val 2727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22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heading = document.querySelector("h1");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heading.textContent = "Updated Title";      // sets plain text (safe)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heading.innerHTML = "&lt;em&gt;Updated&lt;/em&gt; Title"; // parses the string AS HTML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link = document.querySelector("a");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link.setAttribute("href", "https://example.com");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console.log(link.getAttribute("href"));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link.removeAttribute("target");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 NODES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innerHTML and Security (XSS)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2727"/>
            </a:avLst>
          </a:prstGeom>
          <a:solidFill>
            <a:srgbClr val="FDECE0"/>
          </a:solidFill>
          <a:ln w="12700">
            <a:solidFill>
              <a:srgbClr val="FF8A3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8A3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8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innerHTML parses whatever string you give it as real HTML. If that string comes from user input and you insert it with innerHTML, a malicious user could inject a &lt;script&gt; tag -- this is Cross-Site Scripting (XSS). Prefer textContent unless you specifically need to insert markup.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NODES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Removing an Element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882140"/>
          </a:xfrm>
          <a:prstGeom prst="roundRect">
            <a:avLst>
              <a:gd name="adj" fmla="val 3887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424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item = document.querySelector("#task-3");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item.remove(); // modern, simplest way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Older way, still seen in existing code: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item.parentNode.removeChild(item);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CLASSLIST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classList vs. Raw Style Strings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872740"/>
            <a:ext cx="5272888" cy="2529840"/>
          </a:xfrm>
          <a:prstGeom prst="roundRect">
            <a:avLst>
              <a:gd name="adj" fmla="val 2892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3101340"/>
            <a:ext cx="4632808" cy="2072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box =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document.querySelector(".box");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box.classList.add("highlighted");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box.classList.remove("hidden");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box.classList.toggle("active");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box.classList.contains("active");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 or false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69000" y="1947672"/>
            <a:ext cx="5492344" cy="4379976"/>
          </a:xfrm>
          <a:prstGeom prst="roundRect">
            <a:avLst>
              <a:gd name="adj" fmla="val 1253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7" name="Image 0" descr="D:/GitHub/mern-web-book/docs/assets/img/lecture-13/dom-classlist-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8728" y="3418630"/>
            <a:ext cx="5272888" cy="1438060"/>
          </a:xfrm>
          <a:prstGeom prst="rect">
            <a:avLst/>
          </a:prstGeom>
        </p:spPr>
      </p:pic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STYLES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Individual CSS Properties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348740"/>
          </a:xfrm>
          <a:prstGeom prst="roundRect">
            <a:avLst>
              <a:gd name="adj" fmla="val 5424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box.style.backgroundColor = "yellow";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box.style.display = "none";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box.style.fontSize = "18px";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543300"/>
            <a:ext cx="10911535" cy="2720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style property writes INLINE styles -- CSS applied directly on the element, with the highest priority.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STYLES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Prefer classList Over style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158"/>
            </a:avLst>
          </a:prstGeom>
          <a:solidFill>
            <a:srgbClr val="E6F6EE"/>
          </a:solidFill>
          <a:ln w="12700">
            <a:solidFill>
              <a:srgbClr val="3FA66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1F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71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Toggling a class keeps "what it should look like" (CSS) separate from "when it should look that way" (JavaScript), and it's easier to change the look later without touching your script.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addEventListener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291840"/>
          </a:xfrm>
          <a:prstGeom prst="roundRect">
            <a:avLst>
              <a:gd name="adj" fmla="val 2222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button = document.querySelector("#save-btn");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button.addEventListener("click", function ()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console.log("Button was clicked!");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Arrow function version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button.addEventListener("click", () =&gt; console.log("Clicked!"));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handleClick() { console.log("Handled once"); }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button.addEventListener("click", handleClick);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button.removeEventListener("click", handleClick); // same function reference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4864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addEventListener is preferred over onclick=... because it allows MULTIPLE listeners on the same event, and a specific one can be removed later.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Event Object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215640"/>
          </a:xfrm>
          <a:prstGeom prst="roundRect">
            <a:avLst>
              <a:gd name="adj" fmla="val 2275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758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document.querySelector("input").addEventListener("keydown", (event) =&gt;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console.log(event.key);    // which key was pressed, e.g. "Enter"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console.log(event.target); // the exact element the event happened on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console.log(event.type);   // "keydown"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document.querySelector("form").addEventListener("submit", (event) =&gt;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event.preventDefault(); // stop the page reload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console.log("Form data captured without reloading the page");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BUBBLING &amp; CAPTURING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Phases of Every Event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874520" y="3035808"/>
            <a:ext cx="182880" cy="9144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834640" y="3035808"/>
            <a:ext cx="182880" cy="9144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703320" y="3035808"/>
            <a:ext cx="182880" cy="9144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331720" y="5093208"/>
            <a:ext cx="182880" cy="9144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200400" y="5093208"/>
            <a:ext cx="182880" cy="9144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160520" y="5093208"/>
            <a:ext cx="182880" cy="9144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14400" y="2148840"/>
            <a:ext cx="4389120" cy="411480"/>
          </a:xfrm>
          <a:prstGeom prst="rect">
            <a:avLst/>
          </a:prstGeom>
          <a:solidFill>
            <a:srgbClr val="1E1E4C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969264" y="2148840"/>
            <a:ext cx="4279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Capturing (top to bottom)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2743200"/>
            <a:ext cx="960120" cy="594360"/>
          </a:xfrm>
          <a:prstGeom prst="rect">
            <a:avLst/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969264" y="2743200"/>
            <a:ext cx="850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057400" y="2743200"/>
            <a:ext cx="777240" cy="594360"/>
          </a:xfrm>
          <a:prstGeom prst="rect">
            <a:avLst/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2112264" y="2743200"/>
            <a:ext cx="667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017520" y="2743200"/>
            <a:ext cx="685800" cy="594360"/>
          </a:xfrm>
          <a:prstGeom prst="rect">
            <a:avLst/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3072384" y="2743200"/>
            <a:ext cx="576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86200" y="2743200"/>
            <a:ext cx="1417320" cy="594360"/>
          </a:xfrm>
          <a:prstGeom prst="rect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3941064" y="2743200"/>
            <a:ext cx="1307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1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(target)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14400" y="4206240"/>
            <a:ext cx="4389120" cy="411480"/>
          </a:xfrm>
          <a:prstGeom prst="rect">
            <a:avLst/>
          </a:prstGeom>
          <a:solidFill>
            <a:srgbClr val="1E1E4C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969264" y="4206240"/>
            <a:ext cx="4279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Bubbling (bottom to top)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4400" y="4800600"/>
            <a:ext cx="1417320" cy="594360"/>
          </a:xfrm>
          <a:prstGeom prst="rect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969264" y="4800600"/>
            <a:ext cx="1307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1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(target)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514600" y="4800600"/>
            <a:ext cx="685800" cy="594360"/>
          </a:xfrm>
          <a:prstGeom prst="rect">
            <a:avLst/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2569464" y="4800600"/>
            <a:ext cx="576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83280" y="4800600"/>
            <a:ext cx="777240" cy="594360"/>
          </a:xfrm>
          <a:prstGeom prst="rect">
            <a:avLst/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3438144" y="4800600"/>
            <a:ext cx="667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343400" y="4800600"/>
            <a:ext cx="960120" cy="594360"/>
          </a:xfrm>
          <a:prstGeom prst="rect">
            <a:avLst/>
          </a:prstGeom>
          <a:solidFill>
            <a:srgbClr val="2B2B7A"/>
          </a:solidFill>
          <a:ln/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4398264" y="4800600"/>
            <a:ext cx="850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598932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default, addEventListener listens during the BUBBLING phase. Pass true as a third argument to listen during capturing instead.</a:t>
            </a:r>
            <a:endParaRPr lang="en-US" sz="1250" dirty="0"/>
          </a:p>
        </p:txBody>
      </p:sp>
      <p:sp>
        <p:nvSpPr>
          <p:cNvPr id="33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DELEGATION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Listener, Many Children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682240"/>
          </a:xfrm>
          <a:prstGeom prst="roundRect">
            <a:avLst>
              <a:gd name="adj" fmla="val 2727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22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list = document.querySelector("#task-list");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One listener on the parent handles clicks on ANY current or future &lt;li&gt;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list.addEventListener("click", (event) =&gt;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(event.target.tagName === "LI")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event.target.classList.toggle("done");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876800"/>
            <a:ext cx="10911535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event.target is the specific element clicked; event.currentTarget is the element the listener is attached to (list itself).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DELEGATION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Delegation, Rendered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872740"/>
            <a:ext cx="5272888" cy="2529840"/>
          </a:xfrm>
          <a:prstGeom prst="roundRect">
            <a:avLst>
              <a:gd name="adj" fmla="val 2892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3101340"/>
            <a:ext cx="4632808" cy="2072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list.addEventListener("click",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(event) =&gt;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(event.target.tagName ===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"LI") 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event.target.classList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.toggle("done");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69000" y="1947672"/>
            <a:ext cx="5492344" cy="4379976"/>
          </a:xfrm>
          <a:prstGeom prst="roundRect">
            <a:avLst>
              <a:gd name="adj" fmla="val 1253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7" name="Image 0" descr="D:/GitHub/mern-web-book/docs/assets/img/lecture-13/dom-delegation-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8728" y="3192781"/>
            <a:ext cx="5272888" cy="1889759"/>
          </a:xfrm>
          <a:prstGeom prst="rect">
            <a:avLst/>
          </a:prstGeom>
        </p:spPr>
      </p:pic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DELEGATION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Event Delegation Matters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158"/>
            </a:avLst>
          </a:prstGeom>
          <a:solidFill>
            <a:srgbClr val="E6F6EE"/>
          </a:solidFill>
          <a:ln w="12700">
            <a:solidFill>
              <a:srgbClr val="3FA66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1F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77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add 100 new &lt;li&gt; items after the page loads, a delegated listener on the parent &lt;ul&gt; automatically handles clicks on all of them -- no need to attach or re-attach 100 separate listeners.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PREVENTDEFAULT / STOPPROPAGATION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Very Different Methods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415540"/>
          </a:xfrm>
          <a:prstGeom prst="roundRect">
            <a:avLst>
              <a:gd name="adj" fmla="val 3028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95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document.querySelector("a.disabled-link").addEventListener("click", (event) =&gt;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event.preventDefault(); // the link will NOT navigate anywhere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document.querySelector(".dropdown-toggle").addEventListener("click", (event) =&gt;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event.stopPropagation(); // won't also trigger a parent's listener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610100"/>
            <a:ext cx="10911535" cy="165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preventDefault() stops the browser's default behavior. stopPropagation() stops the event from continuing to bubble/capture.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PREVENTDEFAULT / STOPPROPAGATION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Confuse the Two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158"/>
            </a:avLst>
          </a:prstGeom>
          <a:solidFill>
            <a:srgbClr val="FDECE0"/>
          </a:solidFill>
          <a:ln w="12700">
            <a:solidFill>
              <a:srgbClr val="FF8A3D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8A3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7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preventDefault() cancels what the browser would have done. stopPropagation() cancels the event from reaching other listeners further up (or down) the tree. A single handler can call both when needed.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B2B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31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13 in Seven Points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194560"/>
            <a:ext cx="10058400" cy="529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 is a live, tree-shaped, in-memory representation of the page; document is your entry point into it.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860766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286076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769326"/>
            <a:ext cx="10058400" cy="529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getElementById selects by id; querySelector/querySelectorAll select by any CSS selector and are more flexible.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435531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22960" y="3435531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344091"/>
            <a:ext cx="10058400" cy="529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textContent over innerHTML unless you specifically need to insert HTML, to avoid XSS security risks.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010297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22960" y="4010297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918857"/>
            <a:ext cx="10058400" cy="529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classList.add/remove/toggle/contains is the preferred way to change appearance; reserve direct style for one-off values.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585063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822960" y="4585063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493623"/>
            <a:ext cx="10058400" cy="529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addEventListener registers handlers and supports multiple listeners per event; every handler receives an event object.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5159829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822960" y="5159829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068389"/>
            <a:ext cx="10058400" cy="529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bubble up (and can capture down) the DOM tree -- this enables event delegation, one listener for many children.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960" y="5734594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822960" y="573459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463040" y="5643154"/>
            <a:ext cx="10058400" cy="529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preventDefault() stops the browser's default action; stopPropagation() stops the event reaching other listeners.</a:t>
            </a:r>
            <a:endParaRPr lang="en-US" sz="1250" dirty="0"/>
          </a:p>
        </p:txBody>
      </p:sp>
      <p:sp>
        <p:nvSpPr>
          <p:cNvPr id="2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 vs. Element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022092"/>
          </a:xfrm>
          <a:prstGeom prst="roundRect">
            <a:avLst>
              <a:gd name="adj" fmla="val 3887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564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console.log(document.body.nodeType);  // 1 -- ELEMENT_NODE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console.log(document.body.nodeName);  // "BODY"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 = document.querySelector("p");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console.log(p.childNodes.length);     // includes TEXT nodes too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console.log(p.children.length);       // only ELEMENT children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console.log(p.firstChild);         // may be a text node (whitespace)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console.log(p.firstElementChild);  // always an element, or null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216652"/>
            <a:ext cx="10911535" cy="1089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is the general interface — elements, text, and comments are all nodes. Element is the subtype for tags. childNodes/firstChild include text nodes; children/firstElementChild count only elements.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 You Can Listen For</a:t>
            </a:r>
            <a:endParaRPr lang="en-US" sz="3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/>
        </p:nvGraphicFramePr>
        <p:xfrm>
          <a:off x="640080" y="1965960"/>
          <a:ext cx="10911535" cy="4267200"/>
        </p:xfrm>
        <a:graphic>
          <a:graphicData uri="http://schemas.openxmlformats.org/drawingml/2006/table">
            <a:tbl>
              <a:tblPr/>
              <a:tblGrid>
                <a:gridCol w="3291840"/>
                <a:gridCol w="7619695"/>
              </a:tblGrid>
              <a:tr h="609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Mouse / pointer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click, dblclick, mouseover, mouseout, mousedown, mouseup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keydown, keyup, keypress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submit, input, change, focus, blur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 / document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load, resize, scroll, DOMContentLoaded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Touch (mobile)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touchstart, touchmove, touchend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Drag and drop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dragstart, dragover, drop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onclick Attribute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452116"/>
          </a:xfrm>
          <a:prstGeom prst="roundRect">
            <a:avLst>
              <a:gd name="adj" fmla="val 3887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994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onclick="handleClick()"&gt;Save&lt;/button&gt;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function handleClick()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console.log("Button was clicked!");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646676"/>
            <a:ext cx="10911535" cy="1658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onclick=… mixes JavaScript directly into your HTML — it works, but allows only ONE handler per element and ties your markup to a specific function name. addEventListener (next) is the modern, preferred alternative.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Unobtrusive JavaScript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022092"/>
          </a:xfrm>
          <a:prstGeom prst="roundRect">
            <a:avLst>
              <a:gd name="adj" fmla="val 3887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564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Obtrusive -- JS logic mixed into the HTML --&gt;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onclick="save()"&gt;Save&lt;/button&gt;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Unobtrusive -- HTML stays clean, JS lives in its own file --&gt;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id="save-btn"&gt;Save&lt;/button&gt;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 src="app.js" defer&gt;&lt;/script&gt;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app.js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document.querySelector("#save-btn").addEventListener("click", save);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216652"/>
            <a:ext cx="10911535" cy="1089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Unobtrusive JavaScript keeps behavior (JS) separate from structure (HTML) — no onclick attributes, no inline &lt;script&gt; logic mixed into your markup.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Binding Before vs. After Page Load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307080"/>
          </a:xfrm>
          <a:prstGeom prst="roundRect">
            <a:avLst>
              <a:gd name="adj" fmla="val 3887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84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 &lt;head&gt;: FAILS -- the &lt;button&gt; doesn't exist in the DOM yet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document.querySelector("#save-btn").addEventListener("click", save);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Fix: wrap it in a DOMContentLoaded listener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document.addEventListener("DOMContentLoaded", () =&gt;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document.querySelector("#save-btn").addEventListener("click", save);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Or: add `defer`, or move &lt;script&gt; to the end of &lt;body&gt;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 src="app.js" defer&gt;&lt;/script&gt;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501640"/>
            <a:ext cx="10911535" cy="804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script in &lt;head&gt; runs BEFORE the DOM exists, so selecting elements returns null. DOMContentLoaded, defer, or a script at the end of &lt;body&gt; all wait until the page is ready.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BUBBLING &amp; CAPTURING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Propagation in Action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452116"/>
          </a:xfrm>
          <a:prstGeom prst="roundRect">
            <a:avLst>
              <a:gd name="adj" fmla="val 3887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994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outer.addEventListener("click", () =&gt; console.log("outer bubble"));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inner.addEventListener("click", () =&gt; console.log("inner bubble"));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outer.addEventListener("click", () =&gt; console.log("outer capture"), true);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inner.addEventListener("click", () =&gt; console.log("inner capture"), true);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Clicking #inner logs, in this order: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"outer capture" -&gt; "inner capture" -&gt; "inner bubble" -&gt; "outer bubble"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646676"/>
            <a:ext cx="10911535" cy="1658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listeners fire top-down first, then bubble listeners fire bottom-up. The target's own listeners still run in attachment order, regardless of phase.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DELEGATION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vs. currentTarget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597152"/>
          </a:xfrm>
          <a:prstGeom prst="roundRect">
            <a:avLst>
              <a:gd name="adj" fmla="val 3887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139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list.addEventListener("click", (event) =&gt; {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console.log(event.target);        // the &lt;li&gt; actually clicked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console.log(event.currentTarget); // always &lt;ul&gt; -- where the listener lives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791712"/>
            <a:ext cx="10911535" cy="2513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changes with every click -- it's whatever was actually clicked. currentTarget never changes -- it's always the element the listener is attached to. Delegation checks target while relying on currentTarget staying fixed.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COMSATS University Islamabad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13: DOM Manipulation and Event Handling</dc:title>
  <dc:subject>CSC336 Web Technologies</dc:subject>
  <dc:creator>Usman Akram</dc:creator>
  <cp:lastModifiedBy>Usman Akram</cp:lastModifiedBy>
  <cp:revision>1</cp:revision>
  <dcterms:created xsi:type="dcterms:W3CDTF">2026-09-22T05:49:16Z</dcterms:created>
  <dcterms:modified xsi:type="dcterms:W3CDTF">2026-09-22T05:49:16Z</dcterms:modified>
</cp:coreProperties>
</file>
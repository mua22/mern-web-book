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0" r:id="rId31"/>
    <p:sldId id="281" r:id="rId32"/>
    <p:sldId id="282" r:id="rId33"/>
    <p:sldId id="283" r:id="rId34"/>
    <p:sldId id="284" r:id="rId35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  <Relationship Id="rId31" Type="http://schemas.openxmlformats.org/officeDocument/2006/relationships/slide" Target="slides/slide25.xml"/>
  <Relationship Id="rId32" Type="http://schemas.openxmlformats.org/officeDocument/2006/relationships/slide" Target="slides/slide26.xml"/>
  <Relationship Id="rId33" Type="http://schemas.openxmlformats.org/officeDocument/2006/relationships/slide" Target="slides/slide27.xml"/>
  <Relationship Id="rId34" Type="http://schemas.openxmlformats.org/officeDocument/2006/relationships/slide" Target="slides/slide28.xml"/>
  <Relationship Id="rId35" Type="http://schemas.openxmlformats.org/officeDocument/2006/relationships/slide" Target="slides/slide29.xml"/>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inotes.com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uinotes.com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uinotes.co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uinotes.com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uinotes.co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cuinotes.com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uinotes.com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uinotes.com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uinotes.com" TargetMode="External"/></Relationships>
</file>

<file path=ppt/slides/_rels/slide25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uinotes.com" TargetMode="External"/></Relationships>
</file>

<file path=ppt/slides/_rels/slide26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uinotes.com" TargetMode="External"/></Relationships>
</file>

<file path=ppt/slides/_rels/slide27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uinotes.com" TargetMode="External"/></Relationships>
</file>

<file path=ppt/slides/_rels/slide28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uinotes.com" TargetMode="External"/></Relationships>
</file>

<file path=ppt/slides/_rels/slide29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14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 Expressions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JSON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that user input has the right shape, and exchanging structured data with a server — two skills every real project needs.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Lecture</a:t>
            </a:r>
            <a:endParaRPr lang="en-US" sz="3400" dirty="0"/>
          </a:p>
        </p:txBody>
      </p:sp>
      <p:sp>
        <p:nvSpPr>
          <p:cNvPr id="30" name="Shape 30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31" name="Text 31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2" name="Text 32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syntax: literals, character classes, quantifiers, and anchors</a:t>
            </a:r>
            <a:endParaRPr lang="en-US" sz="1500" dirty="0"/>
          </a:p>
        </p:txBody>
      </p:sp>
      <p:sp>
        <p:nvSpPr>
          <p:cNvPr id="33" name="Shape 33"/>
          <p:cNvSpPr/>
          <p:nvPr/>
        </p:nvSpPr>
        <p:spPr>
          <a:xfrm>
            <a:off x="685800" y="26037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34" name="Text 34"/>
          <p:cNvSpPr txBox="1"/>
          <p:nvPr/>
        </p:nvSpPr>
        <p:spPr>
          <a:xfrm>
            <a:off x="685800" y="2603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5" name="Text 35"/>
          <p:cNvSpPr txBox="1"/>
          <p:nvPr/>
        </p:nvSpPr>
        <p:spPr>
          <a:xfrm>
            <a:off x="1371600" y="25306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Groups, alternation, backreferences, and flags (g, i, m)</a:t>
            </a:r>
            <a:endParaRPr lang="en-US" sz="1500" dirty="0"/>
          </a:p>
        </p:txBody>
      </p:sp>
      <p:sp>
        <p:nvSpPr>
          <p:cNvPr id="36" name="Shape 36"/>
          <p:cNvSpPr/>
          <p:nvPr/>
        </p:nvSpPr>
        <p:spPr>
          <a:xfrm>
            <a:off x="685800" y="32415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37" name="Text 37"/>
          <p:cNvSpPr txBox="1"/>
          <p:nvPr/>
        </p:nvSpPr>
        <p:spPr>
          <a:xfrm>
            <a:off x="685800" y="324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8" name="Text 38"/>
          <p:cNvSpPr txBox="1"/>
          <p:nvPr/>
        </p:nvSpPr>
        <p:spPr>
          <a:xfrm>
            <a:off x="1371600" y="31684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JavaScript's regex methods: test, exec, match, replace, split</a:t>
            </a:r>
            <a:endParaRPr lang="en-US" sz="1500" dirty="0"/>
          </a:p>
        </p:txBody>
      </p:sp>
      <p:sp>
        <p:nvSpPr>
          <p:cNvPr id="39" name="Shape 39"/>
          <p:cNvSpPr/>
          <p:nvPr/>
        </p:nvSpPr>
        <p:spPr>
          <a:xfrm>
            <a:off x="685800" y="38793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40" name="Text 40"/>
          <p:cNvSpPr txBox="1"/>
          <p:nvPr/>
        </p:nvSpPr>
        <p:spPr>
          <a:xfrm>
            <a:off x="685800" y="3879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1" name="Text 41"/>
          <p:cNvSpPr txBox="1"/>
          <p:nvPr/>
        </p:nvSpPr>
        <p:spPr>
          <a:xfrm>
            <a:off x="1371600" y="38062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and parsing form data with regex</a:t>
            </a:r>
            <a:endParaRPr lang="en-US" sz="1500" dirty="0"/>
          </a:p>
        </p:txBody>
      </p:sp>
      <p:sp>
        <p:nvSpPr>
          <p:cNvPr id="42" name="Shape 42"/>
          <p:cNvSpPr/>
          <p:nvPr/>
        </p:nvSpPr>
        <p:spPr>
          <a:xfrm>
            <a:off x="685800" y="45171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43" name="Text 43"/>
          <p:cNvSpPr txBox="1"/>
          <p:nvPr/>
        </p:nvSpPr>
        <p:spPr>
          <a:xfrm>
            <a:off x="685800" y="4517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4" name="Text 44"/>
          <p:cNvSpPr txBox="1"/>
          <p:nvPr/>
        </p:nvSpPr>
        <p:spPr>
          <a:xfrm>
            <a:off x="1371600" y="44440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vs. server-side validation -- why only one can be trusted</a:t>
            </a:r>
            <a:endParaRPr lang="en-US" sz="1500" dirty="0"/>
          </a:p>
        </p:txBody>
      </p:sp>
      <p:sp>
        <p:nvSpPr>
          <p:cNvPr id="45" name="Shape 45"/>
          <p:cNvSpPr/>
          <p:nvPr/>
        </p:nvSpPr>
        <p:spPr>
          <a:xfrm>
            <a:off x="685800" y="5154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46" name="Text 46"/>
          <p:cNvSpPr txBox="1"/>
          <p:nvPr/>
        </p:nvSpPr>
        <p:spPr>
          <a:xfrm>
            <a:off x="685800" y="515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7" name="Text 47"/>
          <p:cNvSpPr txBox="1"/>
          <p:nvPr/>
        </p:nvSpPr>
        <p:spPr>
          <a:xfrm>
            <a:off x="1371600" y="5081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with Joi, instead of hand-written regex</a:t>
            </a:r>
            <a:endParaRPr lang="en-US" sz="1500" dirty="0"/>
          </a:p>
        </p:txBody>
      </p:sp>
      <p:sp>
        <p:nvSpPr>
          <p:cNvPr id="48" name="Shape 48"/>
          <p:cNvSpPr/>
          <p:nvPr/>
        </p:nvSpPr>
        <p:spPr>
          <a:xfrm>
            <a:off x="685800" y="57927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49" name="Text 49"/>
          <p:cNvSpPr txBox="1"/>
          <p:nvPr/>
        </p:nvSpPr>
        <p:spPr>
          <a:xfrm>
            <a:off x="685800" y="5792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50" name="Text 50"/>
          <p:cNvSpPr txBox="1"/>
          <p:nvPr/>
        </p:nvSpPr>
        <p:spPr>
          <a:xfrm>
            <a:off x="1371600" y="57196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syntax, and converting with JSON.stringify and JSON.parse</a:t>
            </a:r>
            <a:endParaRPr lang="en-US" sz="15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BASICS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Regular Expression?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15540"/>
          </a:xfrm>
          <a:prstGeom prst="roundRect">
            <a:avLst>
              <a:gd name="adj" fmla="val 30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5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pattern = /hello/;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console.log(pattern.test("hello world")); // true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console.log(pattern.test("goodbye"));      // false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Dynamic pattern from a variable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word = "hello";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dynamicPattern = new RegExp(word);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10100"/>
            <a:ext cx="10911535" cy="165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regex describes a set of strings -- use it to test a shape, find matches, or replace parts of a string.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SYNTAX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Literals and Character Classes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482340"/>
          </a:xfrm>
          <a:prstGeom prst="roundRect">
            <a:avLst>
              <a:gd name="adj" fmla="val 210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025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/cat/       // matches the exact text "cat"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/[abc]/     // a single "a", "b", or "c"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/[a-z]/     // any single lowercase letter (a range)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/[0-9]/     // any single digit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/[^0-9]/    // ^ inside [] means NOT a digit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/\d/  /\D/  // digit / non-digit       -- same as [0-9]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/\w/  /\W/  // word char / non-word    -- same as [A-Za-z0-9_]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/\s/  /\S/  // whitespace / non-whitespace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/./         // any character except a newline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SYNTAX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Quantifiers -- How Many Times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148840"/>
          </a:xfrm>
          <a:prstGeom prst="roundRect">
            <a:avLst>
              <a:gd name="adj" fmla="val 340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/a*/     // 0 or more "a"s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/a+/     // 1 or more "a"s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/a?/     // 0 or 1 "a" (optional)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/a{3}/   // exactly 3 "a"s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/a{2,4}/ // between 2 and 4 "a"s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/a{2,}/  // 2 or more "a"s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SYNTAX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Anchors -- Positions, Not Characters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615440"/>
          </a:xfrm>
          <a:prstGeom prst="roundRect">
            <a:avLst>
              <a:gd name="adj" fmla="val 45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/^Hello/       // ^ = "start of string"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/world$/       // $ = "end of string"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/^Hello world$/ // must match the ENTIRE string exactly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/\bcat\b/      // \b = word boundary -- matches "cat" not "concatenate"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&amp; ALTERNATION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Groups, Alternation, Backreferences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948940"/>
          </a:xfrm>
          <a:prstGeom prst="roundRect">
            <a:avLst>
              <a:gd name="adj" fmla="val 248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Groups -- apply a quantifier to more than one char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/(ab)+/.test("ababab"); // true -- "ab" repeated 1+ times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Alternation -- "or"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/cat|dog/.test("I have a dog"); // true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Backreference -- \1 refers back to group 1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/(\w+)\s\1/.test("hello hello"); // true -- repeated word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/(\w+)\s\1/.test("hello world"); // false -- different words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 Change How the Whole Regex Behaves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77824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-- find ALL matches, not just the first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Case-insensitive matching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Multiline -- ^ and $ match the start/end of each 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 in Practice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082040"/>
          </a:xfrm>
          <a:prstGeom prst="roundRect">
            <a:avLst>
              <a:gd name="adj" fmla="val 676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text = "Cat cat CAT";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console.log(text.match(/cat/gi)); // ["Cat", "cat", "CAT"]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METHODS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test() and exec()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948940"/>
          </a:xfrm>
          <a:prstGeom prst="roundRect">
            <a:avLst>
              <a:gd name="adj" fmla="val 248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test() -- returns true/false, called on the regex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hasDigit = /\d/;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console.log(hasDigit.test("abc123")); // true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exec() -- returns match details, called on the regex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dateRegex = /(\d{4})-(\d{2})-(\d{2})/;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result = dateRegex.exec("Event date: 2026-09-05");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console.log(result[0]); // "2026-09-05" -- full match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console.log(result[1]); // "2026" -- first group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METHODS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match() -- a String Method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348740"/>
          </a:xfrm>
          <a:prstGeom prst="roundRect">
            <a:avLst>
              <a:gd name="adj" fmla="val 542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text = "Call 123-456-7890 or 987-654-3210";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console.log(text.match(/\d{3}-\d{3}-\d{4}/g));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["123-456-7890", "987-654-3210"]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43300"/>
            <a:ext cx="10911535" cy="272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match() and matchAll() are called ON THE STRING, with the regex as the argument -- the opposite of test()/exec().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METHODS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replace() and split()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948940"/>
          </a:xfrm>
          <a:prstGeom prst="roundRect">
            <a:avLst>
              <a:gd name="adj" fmla="val 248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messy = "hello   world    there";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console.log(messy.replace(/\s+/g, " ")); // "hello world there"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Captured groups in the replacement, with $1, $2, ...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date = "2026-09-05";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console.log(date.replace(/(\d{4})-(\d{2})-(\d{2})/, "$3/$2/$1")); // "05/09/2026"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csvLine = "Ali, Sara,  Bilal";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console.log(csvLine.split(/,\s*/)); // ["Ali", "Sara", "Bilal"]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an Email and a Password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931920"/>
          </a:xfrm>
          <a:prstGeom prst="roundRect">
            <a:avLst>
              <a:gd name="adj" fmla="val 1860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isValidEmail(email) {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emailRegex = /^[\w.+-]+@[\w-]+\.[a-zA-Z]{2,}$/;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emailRegex.test(email);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isValidEmail("student@comsats.edu.pk"); // true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isValidEmail("not-an-email");           // false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isStrongPassword(password) {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8+ chars, one uppercase, one lowercase, one digit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strongRegex = /^(?=.*[a-z])(?=.*[A-Z])(?=.*\d).{8,}$/;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strongRegex.test(password);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isStrongPassword("Abcdefg1"); // true</a:t>
            </a:r>
            <a:endParaRPr lang="en-US" sz="1269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69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isStrongPassword("abcdefgh"); // false -- no uppercase, no digit</a:t>
            </a:r>
            <a:endParaRPr lang="en-US" sz="1269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Validating a Phone Number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882140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isValidPakPhone(phone)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e.g. 0300-1234567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/^03\d{2}-\d{7}$/.test(phone);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console.log(isValidPakPhone("0300-1234567")); // true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Regex Validates Shape, Not Truth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000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regex can confirm that student@comsats.edu.pk LOOKS LIKE an email address, but it cannot confirm the mailbox actually exists. Always pair client-side shape validation with real server-side verification for anything important.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Your Regex Interactively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750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65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regex101.com let you build and test a pattern against sample strings with live highlighting -- extremely useful while you're still learning the syntax.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Object Notation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682240"/>
          </a:xfrm>
          <a:prstGeom prst="roundRect">
            <a:avLst>
              <a:gd name="adj" fmla="val 272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22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"Ayesha",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"age": 22,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"isStudent": true,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"courses": ["Web Technologies", "Databases"],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"address": { "city": "Lahore", "zip": "54000" },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"graduationYear": null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76800"/>
            <a:ext cx="1091153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looks like a JS object literal, but is a strict, language-independent format for exchanging data between any two systems.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JSON's Stricter Syntax Rules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must be double-quoted strings -- "name", never name or 'name'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values must also use double quotes, not single quotes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value types: string, number, boolean, null, object, or array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trailing commas, and no comments are allowed anywhere in JSON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18464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functions, undefined, or dates -- JSON only represents plain data</a:t>
            </a:r>
            <a:endParaRPr lang="en-US" sz="15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&lt;-&gt; JSON Text, Round Trip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object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 memory)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90774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93694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585134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JSON.stringify()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text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44388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347308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38748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over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98001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200921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E67528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292361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JSON.parse()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object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3434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JSON.stringify turns a live JS value into a plain string for the network or a file; JSON.parse turns JSON text back into a usable JS value.</a:t>
            </a:r>
            <a:endParaRPr lang="en-US" sz="13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JSON.stringify() -- Object to JSON Text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749040"/>
          </a:xfrm>
          <a:prstGeom prst="roundRect">
            <a:avLst>
              <a:gd name="adj" fmla="val 195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student =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"Bilal",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21,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courses: ["Web Technologies", "OOP"],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jsonText = JSON.stringify(student);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console.log(jsonText);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'{"name":"Bilal","age":21,"courses":["Web Technologies","OOP"]}'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Pretty-print with indentation (useful for debugging)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console.log(JSON.stringify(student, null, 2));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JSON.parse() -- JSON Text to Object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615440"/>
          </a:xfrm>
          <a:prstGeom prst="roundRect">
            <a:avLst>
              <a:gd name="adj" fmla="val 45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jsonText = '{"name":"Bilal","age":21}';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obj = JSON.parse(jsonText);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console.log(obj.name);     // "Bilal"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console.log(obj.age + 1);  // 22 -- it's a real number, not a string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Invalid JSON Throws an Error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750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66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JSON.parse throws a SyntaxError if the string is not valid JSON (single quotes, a trailing comma, etc). Always wrap JSON.parse on external data in a try...catch block.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Bad JSON Safely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882140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JSON.parse(someText);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(error)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console.error("Invalid JSON:", error.message);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76700"/>
            <a:ext cx="10911535" cy="2186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use JSON.stringify/parse constantly once your JavaScript talks to a server through the Fetch API, starting next lecture.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14 in Nine Points</a:t>
            </a:r>
            <a:endParaRPr lang="en-US" sz="3400" dirty="0"/>
          </a:p>
        </p:txBody>
      </p:sp>
      <p:sp>
        <p:nvSpPr>
          <p:cNvPr id="40" name="Shape 40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41" name="Text 41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2" name="Text 42"/>
          <p:cNvSpPr txBox="1"/>
          <p:nvPr/>
        </p:nvSpPr>
        <p:spPr>
          <a:xfrm>
            <a:off x="1463040" y="2194560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regex describes text using literals, character classes (\d, \w, \s, [...]), quantifiers, and anchors (^, $, \b).</a:t>
            </a:r>
            <a:endParaRPr lang="en-US" sz="1250" dirty="0"/>
          </a:p>
        </p:txBody>
      </p:sp>
      <p:sp>
        <p:nvSpPr>
          <p:cNvPr id="43" name="Shape 43"/>
          <p:cNvSpPr/>
          <p:nvPr/>
        </p:nvSpPr>
        <p:spPr>
          <a:xfrm>
            <a:off x="822960" y="2726636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44" name="Text 44"/>
          <p:cNvSpPr txBox="1"/>
          <p:nvPr/>
        </p:nvSpPr>
        <p:spPr>
          <a:xfrm>
            <a:off x="822960" y="27266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5" name="Text 45"/>
          <p:cNvSpPr txBox="1"/>
          <p:nvPr/>
        </p:nvSpPr>
        <p:spPr>
          <a:xfrm>
            <a:off x="1463040" y="2635196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() capture parts of a match; | means alternation; backreferences (\1) refer back to an earlier group.</a:t>
            </a:r>
            <a:endParaRPr lang="en-US" sz="1250" dirty="0"/>
          </a:p>
        </p:txBody>
      </p:sp>
      <p:sp>
        <p:nvSpPr>
          <p:cNvPr id="46" name="Shape 46"/>
          <p:cNvSpPr/>
          <p:nvPr/>
        </p:nvSpPr>
        <p:spPr>
          <a:xfrm>
            <a:off x="822960" y="3167272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47" name="Text 47"/>
          <p:cNvSpPr txBox="1"/>
          <p:nvPr/>
        </p:nvSpPr>
        <p:spPr>
          <a:xfrm>
            <a:off x="822960" y="3167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8" name="Text 48"/>
          <p:cNvSpPr txBox="1"/>
          <p:nvPr/>
        </p:nvSpPr>
        <p:spPr>
          <a:xfrm>
            <a:off x="1463040" y="3075832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test() and exec() are regex methods; match(), matchAll(), replace(), and split() are string methods that accept a regex.</a:t>
            </a:r>
            <a:endParaRPr lang="en-US" sz="1250" dirty="0"/>
          </a:p>
        </p:txBody>
      </p:sp>
      <p:sp>
        <p:nvSpPr>
          <p:cNvPr id="49" name="Shape 49"/>
          <p:cNvSpPr/>
          <p:nvPr/>
        </p:nvSpPr>
        <p:spPr>
          <a:xfrm>
            <a:off x="822960" y="3607908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0" name="Text 50"/>
          <p:cNvSpPr txBox="1"/>
          <p:nvPr/>
        </p:nvSpPr>
        <p:spPr>
          <a:xfrm>
            <a:off x="822960" y="36079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51" name="Text 51"/>
          <p:cNvSpPr txBox="1"/>
          <p:nvPr/>
        </p:nvSpPr>
        <p:spPr>
          <a:xfrm>
            <a:off x="1463040" y="3516468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g, i, and m change global, case-insensitive, and multiline matching behavior.</a:t>
            </a:r>
            <a:endParaRPr lang="en-US" sz="1250" dirty="0"/>
          </a:p>
        </p:txBody>
      </p:sp>
      <p:sp>
        <p:nvSpPr>
          <p:cNvPr id="52" name="Shape 52"/>
          <p:cNvSpPr/>
          <p:nvPr/>
        </p:nvSpPr>
        <p:spPr>
          <a:xfrm>
            <a:off x="822960" y="4048544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3" name="Text 53"/>
          <p:cNvSpPr txBox="1"/>
          <p:nvPr/>
        </p:nvSpPr>
        <p:spPr>
          <a:xfrm>
            <a:off x="822960" y="4048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4" name="Text 54"/>
          <p:cNvSpPr txBox="1"/>
          <p:nvPr/>
        </p:nvSpPr>
        <p:spPr>
          <a:xfrm>
            <a:off x="1463040" y="3957104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validates the SHAPE of input (emails, phone numbers, passwords) but cannot confirm the data is actually true.</a:t>
            </a:r>
            <a:endParaRPr lang="en-US" sz="1250" dirty="0"/>
          </a:p>
        </p:txBody>
      </p:sp>
      <p:sp>
        <p:nvSpPr>
          <p:cNvPr id="55" name="Shape 55"/>
          <p:cNvSpPr/>
          <p:nvPr/>
        </p:nvSpPr>
        <p:spPr>
          <a:xfrm>
            <a:off x="822960" y="448918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6" name="Text 56"/>
          <p:cNvSpPr txBox="1"/>
          <p:nvPr/>
        </p:nvSpPr>
        <p:spPr>
          <a:xfrm>
            <a:off x="822960" y="44891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57" name="Text 57"/>
          <p:cNvSpPr txBox="1"/>
          <p:nvPr/>
        </p:nvSpPr>
        <p:spPr>
          <a:xfrm>
            <a:off x="1463040" y="4397740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validation is for instant UX feedback only -- it can be bypassed, so server-side validation is the only validation you can trust.</a:t>
            </a:r>
            <a:endParaRPr lang="en-US" sz="1250" dirty="0"/>
          </a:p>
        </p:txBody>
      </p:sp>
      <p:sp>
        <p:nvSpPr>
          <p:cNvPr id="58" name="Shape 58"/>
          <p:cNvSpPr/>
          <p:nvPr/>
        </p:nvSpPr>
        <p:spPr>
          <a:xfrm>
            <a:off x="822960" y="4929816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9" name="Text 59"/>
          <p:cNvSpPr txBox="1"/>
          <p:nvPr/>
        </p:nvSpPr>
        <p:spPr>
          <a:xfrm>
            <a:off x="822960" y="4929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60" name="Text 60"/>
          <p:cNvSpPr txBox="1"/>
          <p:nvPr/>
        </p:nvSpPr>
        <p:spPr>
          <a:xfrm>
            <a:off x="1463040" y="4838376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 lets you describe a valid object as a declarative schema, with built-in validators and structured errors, instead of hand-written regex.</a:t>
            </a:r>
            <a:endParaRPr lang="en-US" sz="1250" dirty="0"/>
          </a:p>
        </p:txBody>
      </p:sp>
      <p:sp>
        <p:nvSpPr>
          <p:cNvPr id="61" name="Shape 61"/>
          <p:cNvSpPr/>
          <p:nvPr/>
        </p:nvSpPr>
        <p:spPr>
          <a:xfrm>
            <a:off x="822960" y="5370452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62" name="Text 62"/>
          <p:cNvSpPr txBox="1"/>
          <p:nvPr/>
        </p:nvSpPr>
        <p:spPr>
          <a:xfrm>
            <a:off x="822960" y="53704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63" name="Text 63"/>
          <p:cNvSpPr txBox="1"/>
          <p:nvPr/>
        </p:nvSpPr>
        <p:spPr>
          <a:xfrm>
            <a:off x="1463040" y="5279012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is strict: double-quoted keys and strings only, no comments, no trailing commas, no functions.</a:t>
            </a:r>
            <a:endParaRPr lang="en-US" sz="1250" dirty="0"/>
          </a:p>
        </p:txBody>
      </p:sp>
      <p:sp>
        <p:nvSpPr>
          <p:cNvPr id="64" name="Shape 64"/>
          <p:cNvSpPr/>
          <p:nvPr/>
        </p:nvSpPr>
        <p:spPr>
          <a:xfrm>
            <a:off x="822960" y="5811088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65" name="Text 65"/>
          <p:cNvSpPr txBox="1"/>
          <p:nvPr/>
        </p:nvSpPr>
        <p:spPr>
          <a:xfrm>
            <a:off x="822960" y="5811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66" name="Text 66"/>
          <p:cNvSpPr txBox="1"/>
          <p:nvPr/>
        </p:nvSpPr>
        <p:spPr>
          <a:xfrm>
            <a:off x="1463040" y="5719648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JSON.stringify converts a JS value to JSON text; JSON.parse converts it back -- always inside a try...catch for external data.</a:t>
            </a:r>
            <a:endParaRPr lang="en-US" sz="1250" dirty="0"/>
          </a:p>
        </p:txBody>
      </p:sp>
      <p:sp>
        <p:nvSpPr>
          <p:cNvPr id="2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Client-Side vs. Server-Side Validation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3383280"/>
        </p:xfrm>
        <a:graphic>
          <a:graphicData uri="http://schemas.openxmlformats.org/drawingml/2006/table">
            <a:tbl>
              <a:tblPr/>
              <a:tblGrid>
                <a:gridCol w="2900000"/>
                <a:gridCol w="4005767"/>
                <a:gridCol w="4005768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/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Client-Side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feedback, better UX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actual gate -- decides what's allowed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It Be Bypassed?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-- disabled JS, DevTools, a direct 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-- it's your own server's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to Trust for Security?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-- the only validation you can trust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Trust the Client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000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data arriving at your server could have come from anywhere -- your own form, a modified copy of it, or a request built by hand with no browser involved at all. Client-side validation is a courtesy for UX. Server-side validation, re-checking the exact same rules independently, is what actually protects your data.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WITH JOI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Validation with Joi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682240"/>
          </a:xfrm>
          <a:prstGeom prst="roundRect">
            <a:avLst>
              <a:gd name="adj" fmla="val 272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22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Joi = require("joi");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schema = Joi.object({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Joi.string().required(),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Joi.string().email().required(),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password: Joi.string().min(8).required(),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76800"/>
            <a:ext cx="1091153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 (npm install joi) lets you describe a valid object as a schema, declaratively -- instead of hand-writing if statements and regex for every field.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WITH JOI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Joi Instead of Writing It All by Hand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-- Joi.string().email().required() says exactly what it checks, at a glance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schema, one source of truth -- the same schema validates a form, an API body, and a seed script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validators like .email(), .min()/.max(), and .integer() -- no regex to write or test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Detailed, structured errors -- error.details lists every rule that failed, not just true/false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18464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nested objects and arrays naturally -- unlike a tangle of hand-written if statements</a:t>
            </a:r>
            <a:endParaRPr lang="en-US" sz="15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WITH JOI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You'll Actually Use This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750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65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Joi's natural home is server-side, inside an Express route handler, validating req.body before any of it touches your database. You'll use it for real starting in Lecture 25: REST API Development and Authentication.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14: Regular Expressions and JSON</dc:title>
  <dc:subject>CSC336 Web Technologies</dc:subject>
  <dc:creator>Usman Akram</dc:creator>
  <cp:lastModifiedBy>Usman Akram</cp:lastModifiedBy>
  <cp:revision>1</cp:revision>
  <dcterms:created xsi:type="dcterms:W3CDTF">2026-09-22T05:49:16Z</dcterms:created>
  <dcterms:modified xsi:type="dcterms:W3CDTF">2026-09-22T05:49:16Z</dcterms:modified>
</cp:coreProperties>
</file>
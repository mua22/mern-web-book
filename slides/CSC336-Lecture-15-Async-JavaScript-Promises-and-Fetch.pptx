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15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Asynchronous JavaScript:</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Promises and Fetch</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JavaScript waits on things that take time — without ever freezing the page.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Synchronous vs. asynchronous execution, the event loop, task queue, and "callback hell"</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Promises: their three states, .then/.catch/.finally, chaining, and Promise.all</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async/await, and error handling with try...catch</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Making real network requests with the Fetch API: GET/POST, headers, response parsing, and CORS</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 Line at a Time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console.log("2");</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Always prints: 1, 2, 3 -- in that exact order, with no gaps</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instruction must finish before the next one starts. This is how almost all the code you've written so far behaves.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Some Things Happen "Later"</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setTimeout(() =&gt; console.log("2"), 1000); // scheduled, doesn't block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Prints: 1, 3, 2 -- "2" appears about a second later!</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JavaScript starts the operation, moves on immediately, and comes back to handle the result once it's ready.</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Code, Live</a:t>
            </a:r>
            <a:endParaRPr lang="en-US" sz="3400" dirty="0"/>
          </a:p>
        </p:txBody>
      </p:sp>
      <p:sp>
        <p:nvSpPr>
          <p:cNvPr id="4" name="Shape 2"/>
          <p:cNvSpPr/>
          <p:nvPr/>
        </p:nvSpPr>
        <p:spPr>
          <a:xfrm>
            <a:off x="640080" y="3368040"/>
            <a:ext cx="5272888" cy="1539240"/>
          </a:xfrm>
          <a:prstGeom prst="roundRect">
            <a:avLst>
              <a:gd name="adj" fmla="val 4752"/>
            </a:avLst>
          </a:prstGeom>
          <a:solidFill>
            <a:srgbClr val="1E1E4C"/>
          </a:solidFill>
          <a:ln/>
        </p:spPr>
      </p:sp>
      <p:sp>
        <p:nvSpPr>
          <p:cNvPr id="5" name="Text 3"/>
          <p:cNvSpPr txBox="1"/>
          <p:nvPr/>
        </p:nvSpPr>
        <p:spPr>
          <a:xfrm>
            <a:off x="960120" y="3596640"/>
            <a:ext cx="4632808" cy="10820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console.log("1");</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setTimeout(()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console.log("2"), 150);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console.log("3");</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15/sync-vs-async-live.png">    </p:cNvPr>
          <p:cNvPicPr>
            <a:picLocks noChangeAspect="1"/>
          </p:cNvPicPr>
          <p:nvPr/>
        </p:nvPicPr>
        <p:blipFill>
          <a:blip r:embed="rId1"/>
          <a:stretch>
            <a:fillRect/>
          </a:stretch>
        </p:blipFill>
        <p:spPr>
          <a:xfrm>
            <a:off x="6278728" y="3618876"/>
            <a:ext cx="5272888" cy="1037568"/>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THIS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JavaScript Is Single-Threaded</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browser can only do one thing at a time on that one thread</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blocking operation would freeze buttons, scrolling, and animations until it finished</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Timers, network requests, and file reads are handed off so the thread stays free to keep the page responsive</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setTimeout(fn, 1000) Actually Runs</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console.log("1")</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on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 stack</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sp>
      <p:sp>
        <p:nvSpPr>
          <p:cNvPr id="7" name="Shape 5"/>
          <p:cNvSpPr/>
          <p:nvPr/>
        </p:nvSpPr>
        <p:spPr>
          <a:xfrm>
            <a:off x="2922971" y="2514600"/>
            <a:ext cx="1779971" cy="1371600"/>
          </a:xfrm>
          <a:prstGeom prst="roundRect">
            <a:avLst>
              <a:gd name="adj" fmla="val 5333"/>
            </a:avLst>
          </a:prstGeom>
          <a:solidFill>
            <a:srgbClr val="2B2B7A"/>
          </a:solidFill>
          <a:ln/>
        </p:spPr>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setTimeout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handed off to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Web APIs</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sp>
      <p:sp>
        <p:nvSpPr>
          <p:cNvPr id="10" name="Shape 8"/>
          <p:cNvSpPr/>
          <p:nvPr/>
        </p:nvSpPr>
        <p:spPr>
          <a:xfrm>
            <a:off x="5205862" y="2514600"/>
            <a:ext cx="1779971" cy="1371600"/>
          </a:xfrm>
          <a:prstGeom prst="roundRect">
            <a:avLst>
              <a:gd name="adj" fmla="val 5333"/>
            </a:avLst>
          </a:prstGeom>
          <a:solidFill>
            <a:srgbClr val="2B2B7A"/>
          </a:solidFill>
          <a:ln/>
        </p:spPr>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console.log("3")</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 stack</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is now empty</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sp>
      <p:sp>
        <p:nvSpPr>
          <p:cNvPr id="13" name="Shape 11"/>
          <p:cNvSpPr/>
          <p:nvPr/>
        </p:nvSpPr>
        <p:spPr>
          <a:xfrm>
            <a:off x="7488753" y="2514600"/>
            <a:ext cx="1779971" cy="1371600"/>
          </a:xfrm>
          <a:prstGeom prst="roundRect">
            <a:avLst>
              <a:gd name="adj" fmla="val 5333"/>
            </a:avLst>
          </a:prstGeom>
          <a:solidFill>
            <a:srgbClr val="2B2B7A"/>
          </a:solidFill>
          <a:ln/>
        </p:spPr>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After 1000ms,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callback is placed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in the task queue</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sp>
      <p:sp>
        <p:nvSpPr>
          <p:cNvPr id="16" name="Shape 14"/>
          <p:cNvSpPr/>
          <p:nvPr/>
        </p:nvSpPr>
        <p:spPr>
          <a:xfrm>
            <a:off x="9771644" y="2514600"/>
            <a:ext cx="1779971" cy="1371600"/>
          </a:xfrm>
          <a:prstGeom prst="roundRect">
            <a:avLst>
              <a:gd name="adj" fmla="val 5333"/>
            </a:avLst>
          </a:prstGeom>
          <a:solidFill>
            <a:srgbClr val="E67528"/>
          </a:solidFill>
          <a:ln/>
        </p:spPr>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Event loop moves it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to the stack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logs "2"</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event loop constantly checks: is the call stack empty? If yes, it takes the next item from the queue and runs it.</a:t>
            </a:r>
            <a:endParaRPr lang="en-US" sz="13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Microtasks Run Before Macrotasks</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Promise callbacks (.then, async/await) go into a special microtask queue that the event loop always empties completely before it looks at the regular task queue (where setTimeout callbacks live). This is why Promise.resolve().then(...) scheduled after setTimeout(..., 0) usually still runs first.</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Callback Hell</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Before Promises existed, async code was handled with callbacks -- functions passed in to be called later</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one async step depends on the result of the previous one, callbacks nest deeper and deeper</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Nicknamed "callback hell" or the "pyramid of doom" -- hard to read, hard to maintain</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Pyramid of Doom</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getUser(userId, function (user)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getOrders(user.id, function (orders)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getOrderDetails(orders[0].id, function (details)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...and it keeps growing to the right with every extra step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handleError);</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 Promise?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 object representing a value that isn't available yet, but will be at some point -- either successfully, or with an error</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Think of it as a receipt for a value that's still being prepared</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States</a:t>
            </a:r>
            <a:endParaRPr lang="en-US" sz="3400" dirty="0"/>
          </a:p>
        </p:txBody>
      </p:sp>
      <p:sp>
        <p:nvSpPr>
          <p:cNvPr id="4" name="Shape 2"/>
          <p:cNvSpPr/>
          <p:nvPr/>
        </p:nvSpPr>
        <p:spPr>
          <a:xfrm flipH="1">
            <a:off x="2743200" y="2971800"/>
            <a:ext cx="2377440" cy="1234440"/>
          </a:xfrm>
          <a:prstGeom prst="line">
            <a:avLst/>
          </a:prstGeom>
          <a:noFill/>
          <a:ln w="25400">
            <a:solidFill>
              <a:srgbClr val="5D5D72"/>
            </a:solidFill>
            <a:prstDash val="solid"/>
            <a:tailEnd type="triangle"/>
          </a:ln>
        </p:spPr>
      </p:sp>
      <p:sp>
        <p:nvSpPr>
          <p:cNvPr id="5" name="Text 3"/>
          <p:cNvSpPr txBox="1"/>
          <p:nvPr/>
        </p:nvSpPr>
        <p:spPr>
          <a:xfrm>
            <a:off x="301752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succeeds</a:t>
            </a:r>
            <a:endParaRPr lang="en-US" sz="1050" dirty="0"/>
          </a:p>
        </p:txBody>
      </p:sp>
      <p:sp>
        <p:nvSpPr>
          <p:cNvPr id="6" name="Shape 4"/>
          <p:cNvSpPr/>
          <p:nvPr/>
        </p:nvSpPr>
        <p:spPr>
          <a:xfrm>
            <a:off x="6400800" y="2971800"/>
            <a:ext cx="2651760" cy="1234440"/>
          </a:xfrm>
          <a:prstGeom prst="line">
            <a:avLst/>
          </a:prstGeom>
          <a:noFill/>
          <a:ln w="25400">
            <a:solidFill>
              <a:srgbClr val="5D5D72"/>
            </a:solidFill>
            <a:prstDash val="solid"/>
            <a:tailEnd type="triangle"/>
          </a:ln>
        </p:spPr>
      </p:sp>
      <p:sp>
        <p:nvSpPr>
          <p:cNvPr id="7" name="Text 5"/>
          <p:cNvSpPr txBox="1"/>
          <p:nvPr/>
        </p:nvSpPr>
        <p:spPr>
          <a:xfrm>
            <a:off x="681228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fails</a:t>
            </a:r>
            <a:endParaRPr lang="en-US" sz="1050" dirty="0"/>
          </a:p>
        </p:txBody>
      </p:sp>
      <p:sp>
        <p:nvSpPr>
          <p:cNvPr id="8" name="Shape 6"/>
          <p:cNvSpPr/>
          <p:nvPr/>
        </p:nvSpPr>
        <p:spPr>
          <a:xfrm>
            <a:off x="4663440" y="2377440"/>
            <a:ext cx="2834640" cy="594360"/>
          </a:xfrm>
          <a:prstGeom prst="roundRect">
            <a:avLst>
              <a:gd name="adj" fmla="val 12308"/>
            </a:avLst>
          </a:prstGeom>
          <a:solidFill>
            <a:srgbClr val="5D5D72"/>
          </a:solidFill>
          <a:ln/>
        </p:spPr>
      </p:sp>
      <p:sp>
        <p:nvSpPr>
          <p:cNvPr id="9" name="Text 7"/>
          <p:cNvSpPr txBox="1"/>
          <p:nvPr/>
        </p:nvSpPr>
        <p:spPr>
          <a:xfrm>
            <a:off x="4718304" y="2377440"/>
            <a:ext cx="272491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Pending</a:t>
            </a:r>
            <a:endParaRPr lang="en-US" sz="1400" dirty="0"/>
          </a:p>
        </p:txBody>
      </p:sp>
      <p:sp>
        <p:nvSpPr>
          <p:cNvPr id="10" name="Shape 8"/>
          <p:cNvSpPr/>
          <p:nvPr/>
        </p:nvSpPr>
        <p:spPr>
          <a:xfrm>
            <a:off x="1188720" y="4206240"/>
            <a:ext cx="3108960" cy="594360"/>
          </a:xfrm>
          <a:prstGeom prst="roundRect">
            <a:avLst>
              <a:gd name="adj" fmla="val 12308"/>
            </a:avLst>
          </a:prstGeom>
          <a:solidFill>
            <a:srgbClr val="3FA66B"/>
          </a:solidFill>
          <a:ln/>
        </p:spPr>
      </p:sp>
      <p:sp>
        <p:nvSpPr>
          <p:cNvPr id="11" name="Text 9"/>
          <p:cNvSpPr txBox="1"/>
          <p:nvPr/>
        </p:nvSpPr>
        <p:spPr>
          <a:xfrm>
            <a:off x="124358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Fulfilled</a:t>
            </a:r>
            <a:endParaRPr lang="en-US" sz="1400" dirty="0"/>
          </a:p>
        </p:txBody>
      </p:sp>
      <p:sp>
        <p:nvSpPr>
          <p:cNvPr id="12" name="Shape 10"/>
          <p:cNvSpPr/>
          <p:nvPr/>
        </p:nvSpPr>
        <p:spPr>
          <a:xfrm>
            <a:off x="7498080" y="4206240"/>
            <a:ext cx="3108960" cy="594360"/>
          </a:xfrm>
          <a:prstGeom prst="roundRect">
            <a:avLst>
              <a:gd name="adj" fmla="val 12308"/>
            </a:avLst>
          </a:prstGeom>
          <a:solidFill>
            <a:srgbClr val="E67528"/>
          </a:solidFill>
          <a:ln/>
        </p:spPr>
      </p:sp>
      <p:sp>
        <p:nvSpPr>
          <p:cNvPr id="13" name="Text 11"/>
          <p:cNvSpPr txBox="1"/>
          <p:nvPr/>
        </p:nvSpPr>
        <p:spPr>
          <a:xfrm>
            <a:off x="755294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Rejected</a:t>
            </a:r>
            <a:endParaRPr lang="en-US" sz="1400" dirty="0"/>
          </a:p>
        </p:txBody>
      </p:sp>
      <p:sp>
        <p:nvSpPr>
          <p:cNvPr id="14" name="Text 12"/>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 promise is settled once it becomes fulfilled or rejected, and it can never change state again after that.</a:t>
            </a:r>
            <a:endParaRPr lang="en-US" sz="1250" dirty="0"/>
          </a:p>
        </p:txBody>
      </p:sp>
      <p:sp>
        <p:nvSpPr>
          <p:cNvPr id="15" name="Text 1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6" name="Text 1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and Using a Promise</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delay(ms)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new Promise((resolve, reject)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(ms &lt; 0) { reject(new Error("Delay cannot be negative")); return;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setTimeout(() =&gt; resolve(`Waited ${ms}ms`), 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delay(1000)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.then(result =&gt; console.log(result))    // fulfilled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.catch(error =&gt; console.error(error))   // rejected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.finally(() =&gt; console.log("Done, either way")); // always runs</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delay().then/.catch/.finally, Live</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delay(150)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.then(result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log(result))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.catch(error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log("ERROR: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.finally(()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log("Done, either way"));</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15/promise-then-catch-finally-live.png">    </p:cNvPr>
          <p:cNvPicPr>
            <a:picLocks noChangeAspect="1"/>
          </p:cNvPicPr>
          <p:nvPr/>
        </p:nvPicPr>
        <p:blipFill>
          <a:blip r:embed="rId1"/>
          <a:stretch>
            <a:fillRect/>
          </a:stretch>
        </p:blipFill>
        <p:spPr>
          <a:xfrm>
            <a:off x="6278728" y="3720932"/>
            <a:ext cx="5272888" cy="833456"/>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Promises</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getUser(userId)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.then(user =&gt; getOrders(user.id))              // after getUser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.then(orders =&gt; getOrderDetails(orders[0].id)) // after getOrders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.then(details =&gt; console.log(details))         // after getOrderDetails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.catch(error =&gt; console.error("Something failed:", error)); // catches ANY step</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.then() returns a NEW promise, which is what makes chaining possible -- one .catch() at the end catches an error from any step.</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promise1 = delay(1000).then(() =&gt; "First");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promise2 = delay(500).then(() =&gt; "Second");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promise3 = delay(1500).then(() =&gt; "Third");</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Promise.all([promise1, promise2, promise3]).then(results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console.log(results); // ["First","Second","Third"] -- after ~1500ms, not 3000ms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Fulfills only once ALL promises have fulfilled, or rejects immediately if any ONE of them rejects -- ideal for independent data loaded in parallel.</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 Live</a:t>
            </a:r>
            <a:endParaRPr lang="en-US" sz="3400" dirty="0"/>
          </a:p>
        </p:txBody>
      </p:sp>
      <p:sp>
        <p:nvSpPr>
          <p:cNvPr id="4" name="Shape 2"/>
          <p:cNvSpPr/>
          <p:nvPr/>
        </p:nvSpPr>
        <p:spPr>
          <a:xfrm>
            <a:off x="640080" y="2625090"/>
            <a:ext cx="5272888" cy="3025140"/>
          </a:xfrm>
          <a:prstGeom prst="roundRect">
            <a:avLst>
              <a:gd name="adj" fmla="val 2418"/>
            </a:avLst>
          </a:prstGeom>
          <a:solidFill>
            <a:srgbClr val="1E1E4C"/>
          </a:solidFill>
          <a:ln/>
        </p:spPr>
      </p:sp>
      <p:sp>
        <p:nvSpPr>
          <p:cNvPr id="5" name="Text 3"/>
          <p:cNvSpPr txBox="1"/>
          <p:nvPr/>
        </p:nvSpPr>
        <p:spPr>
          <a:xfrm>
            <a:off x="960120" y="2853690"/>
            <a:ext cx="4632808" cy="25679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promise1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delay(100).then(() =&gt; "First");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promise2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delay(50).then(() =&gt; "Second");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promise3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delay(150).then(() =&gt; "Third");</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Promise.all(</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[promise1, promise2, promise3]</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).then(results =&gt; { ... });</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15/promise-all-live.png">    </p:cNvPr>
          <p:cNvPicPr>
            <a:picLocks noChangeAspect="1"/>
          </p:cNvPicPr>
          <p:nvPr/>
        </p:nvPicPr>
        <p:blipFill>
          <a:blip r:embed="rId1"/>
          <a:stretch>
            <a:fillRect/>
          </a:stretch>
        </p:blipFill>
        <p:spPr>
          <a:xfrm>
            <a:off x="6278728" y="3631633"/>
            <a:ext cx="5272888" cy="1012054"/>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Rules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 before a function makes it always return a Promise, and allows await inside it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await pauses execution of THAT function (not the whole program) until the promise settles, then unwraps the resolved value -- or throws if it rejected</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Reads Like Synchronous Code</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 = await getUser(userId);       // "pause" until the promise settles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Error Handling with try...catch</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try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 = await getUser(userId);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catch (error)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console.error("Failed to load order details:", error.message);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throw error; // re-throw if the caller also needs to know</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try...catch, Live (getUser rejects)</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async function loadOrderDetails(id)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try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user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getUser(id);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user;</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catch (error)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log("caught: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throw error;</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15/async-await-trycatch-live.png">    </p:cNvPr>
          <p:cNvPicPr>
            <a:picLocks noChangeAspect="1"/>
          </p:cNvPicPr>
          <p:nvPr/>
        </p:nvPicPr>
        <p:blipFill>
          <a:blip r:embed="rId1"/>
          <a:stretch>
            <a:fillRect/>
          </a:stretch>
        </p:blipFill>
        <p:spPr>
          <a:xfrm>
            <a:off x="6278728" y="3631633"/>
            <a:ext cx="5272888" cy="1012054"/>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async/await vs. .then Chains</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They do the same job -- async/await is just easier to read, especially with multiple sequential steps and conditional logic. You will see both styles in real codebases, but prefer async/await for new code you write.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AJAX AND FETCH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AJAX?</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general technique of a web page requesting data from a server in the background, without a full page reload</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name is historical (Asynchronous JavaScript and XML) -- today it almost always means JSON, not XML</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modern, built-in tool for doing this is the Fetch API</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GET Request</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loadStudents()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fetch("https://api.example.com/students");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students = await response.json(); // parses the body as 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fetch(url) resolves with a Response once headers arrive -- it resolves even for 404s; it only REJECTS on a genuine network failure.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Always Check response.ok</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loadStudents()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fetch("https://api.example.com/students");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(!response.ok)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throw new Error(`Request failed with status ${response.status}`);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students = await response.json();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GET Code, Live</a:t>
            </a:r>
            <a:endParaRPr lang="en-US" sz="3400" dirty="0"/>
          </a:p>
        </p:txBody>
      </p:sp>
      <p:sp>
        <p:nvSpPr>
          <p:cNvPr id="4" name="Shape 2"/>
          <p:cNvSpPr/>
          <p:nvPr/>
        </p:nvSpPr>
        <p:spPr>
          <a:xfrm>
            <a:off x="640080" y="2996565"/>
            <a:ext cx="5272888" cy="2282190"/>
          </a:xfrm>
          <a:prstGeom prst="roundRect">
            <a:avLst>
              <a:gd name="adj" fmla="val 3205"/>
            </a:avLst>
          </a:prstGeom>
          <a:solidFill>
            <a:srgbClr val="1E1E4C"/>
          </a:solidFill>
          <a:ln/>
        </p:spPr>
      </p:sp>
      <p:sp>
        <p:nvSpPr>
          <p:cNvPr id="5" name="Text 3"/>
          <p:cNvSpPr txBox="1"/>
          <p:nvPr/>
        </p:nvSpPr>
        <p:spPr>
          <a:xfrm>
            <a:off x="960120" y="3225165"/>
            <a:ext cx="4632808" cy="18249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response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fetch(url);</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response.ok;</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response.status;</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students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response.json();</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15/fetch-get-live.png">    </p:cNvPr>
          <p:cNvPicPr>
            <a:picLocks noChangeAspect="1"/>
          </p:cNvPicPr>
          <p:nvPr/>
        </p:nvPicPr>
        <p:blipFill>
          <a:blip r:embed="rId1"/>
          <a:stretch>
            <a:fillRect/>
          </a:stretch>
        </p:blipFill>
        <p:spPr>
          <a:xfrm>
            <a:off x="6278728" y="2734392"/>
            <a:ext cx="5272888" cy="2806537"/>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POST Request with Headers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createStudent(newStudent)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fetch("https://api.example.com/students",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method: "POST",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headers: { "Content-Type": "application/json"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JSON.stringify(newStudent), // JS object -&gt; JSON text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(!response.ok) throw new Error(`Failed to create student: ${response.status}`);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response.json();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Content-Type: application/json tells the server "the body I'm sending is JSON text," so it knows how to parse it.</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Parsing Different Response Types</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Parses the body as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response.json()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JSON -- the most common 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Plain 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response.blob()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Raw binary data (e.g. an image)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You can only read a response body ONCE -- call one parsing method per response.</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Putting It Together with Promise.all</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async function fetchAllPages()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try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[usersRes, postsRes] = await Promise.all([</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fetch("https://api.example.com/users"),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fetch("https://api.example.com/posts"),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users = await usersRes.json();</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posts = await postsRes.json();</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console.log(users, posts);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 catch (error)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console.error("Network error:", error.message);</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t>
            </a:r>
            <a:endParaRPr lang="en-US" sz="1366"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Cross-Origin Resource Sharing</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browser security rule restricting JS on one origin (protocol + domain + port) from freely reading responses from a different origin</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server decides who is allowed, via an Access-Control-Allow-Origin response header</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CORS is enforced by the BROWSER, not your JavaScript -- you cannot "fix" a CORS error from the frontend</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Checks CORS</a:t>
            </a:r>
            <a:endParaRPr lang="en-US" sz="3400" dirty="0"/>
          </a:p>
        </p:txBody>
      </p:sp>
      <p:sp>
        <p:nvSpPr>
          <p:cNvPr id="4" name="Shape 2"/>
          <p:cNvSpPr/>
          <p:nvPr/>
        </p:nvSpPr>
        <p:spPr>
          <a:xfrm>
            <a:off x="4114800" y="2468880"/>
            <a:ext cx="4023360" cy="9144"/>
          </a:xfrm>
          <a:prstGeom prst="line">
            <a:avLst/>
          </a:prstGeom>
          <a:noFill/>
          <a:ln w="25400">
            <a:solidFill>
              <a:srgbClr val="5D5D72"/>
            </a:solidFill>
            <a:prstDash val="solid"/>
            <a:tailEnd type="triangle"/>
          </a:ln>
        </p:spPr>
      </p:sp>
      <p:sp>
        <p:nvSpPr>
          <p:cNvPr id="5" name="Text 3"/>
          <p:cNvSpPr txBox="1"/>
          <p:nvPr/>
        </p:nvSpPr>
        <p:spPr>
          <a:xfrm>
            <a:off x="5212080" y="23225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request</a:t>
            </a:r>
            <a:endParaRPr lang="en-US" sz="1050" dirty="0"/>
          </a:p>
        </p:txBody>
      </p:sp>
      <p:sp>
        <p:nvSpPr>
          <p:cNvPr id="6" name="Shape 4"/>
          <p:cNvSpPr/>
          <p:nvPr/>
        </p:nvSpPr>
        <p:spPr>
          <a:xfrm flipH="1">
            <a:off x="6080760" y="2743200"/>
            <a:ext cx="2606040" cy="640080"/>
          </a:xfrm>
          <a:prstGeom prst="line">
            <a:avLst/>
          </a:prstGeom>
          <a:noFill/>
          <a:ln w="25400">
            <a:solidFill>
              <a:srgbClr val="5D5D72"/>
            </a:solidFill>
            <a:prstDash val="solid"/>
            <a:tailEnd type="triangle"/>
          </a:ln>
        </p:spPr>
      </p:sp>
      <p:sp>
        <p:nvSpPr>
          <p:cNvPr id="7" name="Text 5"/>
          <p:cNvSpPr txBox="1"/>
          <p:nvPr/>
        </p:nvSpPr>
        <p:spPr>
          <a:xfrm>
            <a:off x="6469380" y="291693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response + header</a:t>
            </a:r>
            <a:endParaRPr lang="en-US" sz="1050" dirty="0"/>
          </a:p>
        </p:txBody>
      </p:sp>
      <p:sp>
        <p:nvSpPr>
          <p:cNvPr id="8" name="Shape 6"/>
          <p:cNvSpPr/>
          <p:nvPr/>
        </p:nvSpPr>
        <p:spPr>
          <a:xfrm flipH="1">
            <a:off x="2834640" y="4160520"/>
            <a:ext cx="2468880" cy="685800"/>
          </a:xfrm>
          <a:prstGeom prst="line">
            <a:avLst/>
          </a:prstGeom>
          <a:noFill/>
          <a:ln w="25400">
            <a:solidFill>
              <a:srgbClr val="5D5D72"/>
            </a:solidFill>
            <a:prstDash val="solid"/>
            <a:tailEnd type="triangle"/>
          </a:ln>
        </p:spPr>
      </p:sp>
      <p:sp>
        <p:nvSpPr>
          <p:cNvPr id="9" name="Text 7"/>
          <p:cNvSpPr txBox="1"/>
          <p:nvPr/>
        </p:nvSpPr>
        <p:spPr>
          <a:xfrm>
            <a:off x="3154680" y="43571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Yes</a:t>
            </a:r>
            <a:endParaRPr lang="en-US" sz="1050" dirty="0"/>
          </a:p>
        </p:txBody>
      </p:sp>
      <p:sp>
        <p:nvSpPr>
          <p:cNvPr id="10" name="Shape 8"/>
          <p:cNvSpPr/>
          <p:nvPr/>
        </p:nvSpPr>
        <p:spPr>
          <a:xfrm>
            <a:off x="6675120" y="3840480"/>
            <a:ext cx="2560320" cy="1005840"/>
          </a:xfrm>
          <a:prstGeom prst="line">
            <a:avLst/>
          </a:prstGeom>
          <a:noFill/>
          <a:ln w="25400">
            <a:solidFill>
              <a:srgbClr val="5D5D72"/>
            </a:solidFill>
            <a:prstDash val="solid"/>
            <a:tailEnd type="triangle"/>
          </a:ln>
        </p:spPr>
      </p:sp>
      <p:sp>
        <p:nvSpPr>
          <p:cNvPr id="11" name="Text 9"/>
          <p:cNvSpPr txBox="1"/>
          <p:nvPr/>
        </p:nvSpPr>
        <p:spPr>
          <a:xfrm>
            <a:off x="7040880" y="4197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a:t>
            </a:r>
            <a:endParaRPr lang="en-US" sz="1050" dirty="0"/>
          </a:p>
        </p:txBody>
      </p:sp>
      <p:sp>
        <p:nvSpPr>
          <p:cNvPr id="12" name="Shape 10"/>
          <p:cNvSpPr/>
          <p:nvPr/>
        </p:nvSpPr>
        <p:spPr>
          <a:xfrm>
            <a:off x="822960" y="2194560"/>
            <a:ext cx="3291840" cy="548640"/>
          </a:xfrm>
          <a:prstGeom prst="rect">
            <a:avLst/>
          </a:prstGeom>
          <a:solidFill>
            <a:srgbClr val="2B2B7A"/>
          </a:solidFill>
          <a:ln/>
        </p:spPr>
      </p:sp>
      <p:sp>
        <p:nvSpPr>
          <p:cNvPr id="13" name="Text 11"/>
          <p:cNvSpPr txBox="1"/>
          <p:nvPr/>
        </p:nvSpPr>
        <p:spPr>
          <a:xfrm>
            <a:off x="877824" y="2194560"/>
            <a:ext cx="3182112" cy="5486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Browser</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fetch("https://api.example.com/data")</a:t>
            </a:r>
            <a:endParaRPr lang="en-US" sz="1100" dirty="0"/>
          </a:p>
        </p:txBody>
      </p:sp>
      <p:sp>
        <p:nvSpPr>
          <p:cNvPr id="14" name="Shape 12"/>
          <p:cNvSpPr/>
          <p:nvPr/>
        </p:nvSpPr>
        <p:spPr>
          <a:xfrm>
            <a:off x="8138160" y="2194560"/>
            <a:ext cx="3200400" cy="548640"/>
          </a:xfrm>
          <a:prstGeom prst="rect">
            <a:avLst/>
          </a:prstGeom>
          <a:solidFill>
            <a:srgbClr val="2B2B7A"/>
          </a:solidFill>
          <a:ln/>
        </p:spPr>
      </p:sp>
      <p:sp>
        <p:nvSpPr>
          <p:cNvPr id="15" name="Text 13"/>
          <p:cNvSpPr txBox="1"/>
          <p:nvPr/>
        </p:nvSpPr>
        <p:spPr>
          <a:xfrm>
            <a:off x="8193024" y="2194560"/>
            <a:ext cx="309067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api.example.com</a:t>
            </a:r>
            <a:endParaRPr lang="en-US" sz="1250" dirty="0"/>
          </a:p>
        </p:txBody>
      </p:sp>
      <p:sp>
        <p:nvSpPr>
          <p:cNvPr id="16" name="Shape 14"/>
          <p:cNvSpPr/>
          <p:nvPr/>
        </p:nvSpPr>
        <p:spPr>
          <a:xfrm>
            <a:off x="4480560" y="3383280"/>
            <a:ext cx="3200400" cy="777240"/>
          </a:xfrm>
          <a:prstGeom prst="diamond">
            <a:avLst/>
          </a:prstGeom>
          <a:solidFill>
            <a:srgbClr val="FF8A3D"/>
          </a:solidFill>
          <a:ln/>
        </p:spPr>
      </p:sp>
      <p:sp>
        <p:nvSpPr>
          <p:cNvPr id="17" name="Text 15"/>
          <p:cNvSpPr txBox="1"/>
          <p:nvPr/>
        </p:nvSpPr>
        <p:spPr>
          <a:xfrm>
            <a:off x="4535424" y="3383280"/>
            <a:ext cx="3090672" cy="7772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Access-Control-</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Allow-Origin</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allows this origin?</a:t>
            </a:r>
            <a:endParaRPr lang="en-US" sz="1100" dirty="0"/>
          </a:p>
        </p:txBody>
      </p:sp>
      <p:sp>
        <p:nvSpPr>
          <p:cNvPr id="18" name="Shape 16"/>
          <p:cNvSpPr/>
          <p:nvPr/>
        </p:nvSpPr>
        <p:spPr>
          <a:xfrm>
            <a:off x="914400" y="4846320"/>
            <a:ext cx="3840480" cy="548640"/>
          </a:xfrm>
          <a:prstGeom prst="rect">
            <a:avLst/>
          </a:prstGeom>
          <a:solidFill>
            <a:srgbClr val="3FA66B"/>
          </a:solidFill>
          <a:ln/>
        </p:spPr>
      </p:sp>
      <p:sp>
        <p:nvSpPr>
          <p:cNvPr id="19" name="Text 17"/>
          <p:cNvSpPr txBox="1"/>
          <p:nvPr/>
        </p:nvSpPr>
        <p:spPr>
          <a:xfrm>
            <a:off x="969264" y="4846320"/>
            <a:ext cx="373075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JS can read the response</a:t>
            </a:r>
            <a:endParaRPr lang="en-US" sz="1250" dirty="0"/>
          </a:p>
        </p:txBody>
      </p:sp>
      <p:sp>
        <p:nvSpPr>
          <p:cNvPr id="20" name="Shape 18"/>
          <p:cNvSpPr/>
          <p:nvPr/>
        </p:nvSpPr>
        <p:spPr>
          <a:xfrm>
            <a:off x="7315200" y="4846320"/>
            <a:ext cx="3931920" cy="548640"/>
          </a:xfrm>
          <a:prstGeom prst="rect">
            <a:avLst/>
          </a:prstGeom>
          <a:solidFill>
            <a:srgbClr val="E67528"/>
          </a:solidFill>
          <a:ln/>
        </p:spPr>
      </p:sp>
      <p:sp>
        <p:nvSpPr>
          <p:cNvPr id="21" name="Text 19"/>
          <p:cNvSpPr txBox="1"/>
          <p:nvPr/>
        </p:nvSpPr>
        <p:spPr>
          <a:xfrm>
            <a:off x="7370064" y="4846320"/>
            <a:ext cx="382219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Browser BLOCKS the JS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from reading it (CORS error)</a:t>
            </a:r>
            <a:endParaRPr lang="en-US" sz="1200" dirty="0"/>
          </a:p>
        </p:txBody>
      </p:sp>
      <p:sp>
        <p:nvSpPr>
          <p:cNvPr id="22" name="Text 2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The network request may technically succeed either way -- CORS only controls whether your JavaScript is allowed to read the response.</a:t>
            </a:r>
            <a:endParaRPr lang="en-US" sz="1250" dirty="0"/>
          </a:p>
        </p:txBody>
      </p:sp>
      <p:sp>
        <p:nvSpPr>
          <p:cNvPr id="23" name="Text 2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4" name="Text 2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CORS Is Not Something You Can Bypass</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If you see a CORS error, the fix belongs on the server (adding the right Access-Control-Allow-Origin header), not in your fetch call. You'll work with server configuration, including CORS, starting in Unit 5.</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15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Synchronous code blocks the single JS thread; asynchronous code lets long operations happen in the background without freezing the page.</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event loop moves finished tasks from the queue onto the call stack whenever it's empty -- this is how setTimeout and Promise callbacks run.</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 Promise moves through pending, fulfilled, and rejected; chaining .then() calls replaces nested callback hell.</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Promise.all runs multiple promises in parallel and waits for all of them, or fails fast if any one rejects.</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async/await is Promise-based syntax that reads like synchronous code; errors are handled with ordinary try...catch.</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fetch() rejects only on true network failure, not on HTTP error codes -- always check response.ok; CORS is a browser rule enforced via response headers, fixable only on the server.</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Asynchronous JavaScript: Promises and Fetch API</dc:title>
  <dc:subject>CSC336 Web Technologies</dc:subject>
  <dc:creator>Usman Akram</dc:creator>
  <cp:lastModifiedBy>Usman Akram</cp:lastModifiedBy>
  <cp:revision>1</cp:revision>
  <dcterms:created xsi:type="dcterms:W3CDTF">2026-09-22T05:49:16Z</dcterms:created>
  <dcterms:modified xsi:type="dcterms:W3CDTF">2026-09-22T05:49:16Z</dcterms:modified>
</cp:coreProperties>
</file>
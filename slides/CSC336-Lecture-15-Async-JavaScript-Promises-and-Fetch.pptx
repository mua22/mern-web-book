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89" r:id="rId40"/>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90" r:id="rId41"/>
    <p:sldId id="283" r:id="rId29"/>
    <p:sldId id="284" r:id="rId30"/>
    <p:sldId id="291" r:id="rId42"/>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cuinotes.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cuinotes.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hyperlink" Target="https://cuinotes.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cuinotes.com" TargetMode="Externa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hyperlink" Target="https://cuinotes.com"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cuinotes.co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hyperlink" Target="https://cuinotes.co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hyperlink" Target="https://cuinotes.co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cuinotes.co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cuinote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cuinotes.co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cuinote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cuinotes.com" TargetMode="Externa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hyperlink" Target="https://cuinote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cuinote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cuinotes.com" TargetMode="Externa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 Id="rId4" Type="http://schemas.openxmlformats.org/officeDocument/2006/relationships/hyperlink" Target="https://cuinote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cuinotes.com"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cuinotes.co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hyperlink" Target="https://cuinotes.com" TargetMode="Externa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 Id="rId4" Type="http://schemas.openxmlformats.org/officeDocument/2006/relationships/hyperlink" Target="https://cuinotes.com"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cuinotes.com"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cuinote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cuinote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cuinotes.com" TargetMode="Externa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 Id="rId4" Type="http://schemas.openxmlformats.org/officeDocument/2006/relationships/hyperlink" Target="https://cuinotes.com"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hyperlink" Target="https://cuinotes.co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cuinotes.com"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cuinotes.com"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hyperlink" Target="https://cuinotes.com"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hyperlink" Target="https://cuinotes.com"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hyperlink" Target="https://cuinotes.com"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hyperlink" Target="https://cuinotes.com"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cuinotes.com"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cuinotes.com"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cuinotes.com" TargetMode="External"/><Relationship Id="rId10" Type="http://schemas.openxmlformats.org/officeDocument/2006/relationships/hyperlink" Target="https://usmanlive.com/fake-stories-restful-api/" TargetMode="External"/><Relationship Id="rId11" Type="http://schemas.openxmlformats.org/officeDocument/2006/relationships/hyperlink" Target="https://ajaxcrud.usmanlive.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15</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Asynchronous JavaScript:</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Promises and Fetch</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How JavaScript waits on things that take time — without ever freezing the page.</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Synchronous vs. asynchronous execution, the event loop, task queue, and "callback hell"</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Promises: their three states, .then/.catch/.finally, chaining, and Promise.all</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async/await, and error handling with try...catch</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Making real network requests with the Fetch API: GET/POST, headers, response parsing, and CORS</a:t>
            </a:r>
            <a:endParaRPr lang="en-US" sz="1500" dirty="0"/>
          </a:p>
        </p:txBody>
      </p:sp>
      <p:sp>
        <p:nvSpPr>
          <p:cNvPr id="1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SYNCHRONOUS EXECUTION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One Line at a Time</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txBody>
          <a:bodyPr/>
          <a:p/>
        </p:txBody>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console.log("1");</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console.log("2");</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console.log("3");</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Always prints: 1, 2, 3 -- in that exact order, with no gaps</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Each instruction must finish before the next one starts. This is how almost all the code you've written so far behaves.</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ASYNCHRONOUS EXECUTION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Some Things Happen "Later"</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txBody>
          <a:bodyPr/>
          <a:p/>
        </p:txBody>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console.log("1");</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setTimeout(() =&gt; console.log("2"), 1000); // scheduled, doesn't block</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console.log("3");</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Prints: 1, 3, 2 -- "2" appears about a second later!</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JavaScript starts the operation, moves on immediately, and comes back to handle the result once it's ready.</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ASYNCHRONOUS EXECUTION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Exact Code, Live</a:t>
            </a:r>
            <a:endParaRPr lang="en-US" sz="3400" dirty="0"/>
          </a:p>
        </p:txBody>
      </p:sp>
      <p:sp>
        <p:nvSpPr>
          <p:cNvPr id="4" name="Shape 2"/>
          <p:cNvSpPr/>
          <p:nvPr/>
        </p:nvSpPr>
        <p:spPr>
          <a:xfrm>
            <a:off x="640080" y="3368040"/>
            <a:ext cx="5272888" cy="1539240"/>
          </a:xfrm>
          <a:prstGeom prst="roundRect">
            <a:avLst>
              <a:gd name="adj" fmla="val 4752"/>
            </a:avLst>
          </a:prstGeom>
          <a:solidFill>
            <a:srgbClr val="1E1E4C"/>
          </a:solidFill>
          <a:ln/>
        </p:spPr>
        <p:txBody>
          <a:bodyPr/>
          <a:p/>
        </p:txBody>
      </p:sp>
      <p:sp>
        <p:nvSpPr>
          <p:cNvPr id="5" name="Text 3"/>
          <p:cNvSpPr txBox="1"/>
          <p:nvPr/>
        </p:nvSpPr>
        <p:spPr>
          <a:xfrm>
            <a:off x="960120" y="3596640"/>
            <a:ext cx="4632808" cy="10820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console.log("1");</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setTimeout(() =&gt;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console.log("2"), 150);</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console.log("3");</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15/sync-vs-async-live.png">    </p:cNvPr>
          <p:cNvPicPr>
            <a:picLocks noChangeAspect="1"/>
          </p:cNvPicPr>
          <p:nvPr/>
        </p:nvPicPr>
        <p:blipFill>
          <a:blip r:embed="rId1"/>
          <a:stretch>
            <a:fillRect/>
          </a:stretch>
        </p:blipFill>
        <p:spPr>
          <a:xfrm>
            <a:off x="6278728" y="3618876"/>
            <a:ext cx="5272888" cy="1037568"/>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THIS MATTERS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JavaScript Is Single-Threaded</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browser can only do one thing at a time on that one thread</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blocking operation would freeze buttons, scrolling, and animations until it finished</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Timers, network requests, and file reads are handed off so the thread stays free to keep the page responsive</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setTimeout(fn, 1000) Actually Runs</a:t>
            </a:r>
            <a:endParaRPr lang="en-US" sz="3400" dirty="0"/>
          </a:p>
        </p:txBody>
      </p:sp>
      <p:sp>
        <p:nvSpPr>
          <p:cNvPr id="4" name="Shape 2"/>
          <p:cNvSpPr/>
          <p:nvPr/>
        </p:nvSpPr>
        <p:spPr>
          <a:xfrm>
            <a:off x="640080" y="2514600"/>
            <a:ext cx="1779971" cy="1371600"/>
          </a:xfrm>
          <a:prstGeom prst="roundRect">
            <a:avLst>
              <a:gd name="adj" fmla="val 5333"/>
            </a:avLst>
          </a:prstGeom>
          <a:solidFill>
            <a:srgbClr val="2B2B7A"/>
          </a:solidFill>
          <a:ln/>
        </p:spPr>
        <p:txBody>
          <a:bodyPr/>
          <a:p/>
        </p:txBody>
      </p:sp>
      <p:sp>
        <p:nvSpPr>
          <p:cNvPr id="5" name="Text 3"/>
          <p:cNvSpPr txBox="1"/>
          <p:nvPr/>
        </p:nvSpPr>
        <p:spPr>
          <a:xfrm>
            <a:off x="731520"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console.log("1")</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runs on the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call stack</a:t>
            </a:r>
            <a:endParaRPr lang="en-US" sz="1250" dirty="0"/>
          </a:p>
        </p:txBody>
      </p:sp>
      <p:sp>
        <p:nvSpPr>
          <p:cNvPr id="6" name="Shape 4"/>
          <p:cNvSpPr/>
          <p:nvPr/>
        </p:nvSpPr>
        <p:spPr>
          <a:xfrm>
            <a:off x="2420051" y="3200400"/>
            <a:ext cx="502920" cy="0"/>
          </a:xfrm>
          <a:prstGeom prst="line">
            <a:avLst/>
          </a:prstGeom>
          <a:noFill/>
          <a:ln w="25400">
            <a:solidFill>
              <a:srgbClr val="5D5D72"/>
            </a:solidFill>
            <a:prstDash val="solid"/>
            <a:tailEnd type="triangle"/>
          </a:ln>
        </p:spPr>
        <p:txBody>
          <a:bodyPr/>
          <a:p/>
        </p:txBody>
      </p:sp>
      <p:sp>
        <p:nvSpPr>
          <p:cNvPr id="7" name="Shape 5"/>
          <p:cNvSpPr/>
          <p:nvPr/>
        </p:nvSpPr>
        <p:spPr>
          <a:xfrm>
            <a:off x="2922971" y="2514600"/>
            <a:ext cx="1779971" cy="1371600"/>
          </a:xfrm>
          <a:prstGeom prst="roundRect">
            <a:avLst>
              <a:gd name="adj" fmla="val 5333"/>
            </a:avLst>
          </a:prstGeom>
          <a:solidFill>
            <a:srgbClr val="2B2B7A"/>
          </a:solidFill>
          <a:ln/>
        </p:spPr>
        <p:txBody>
          <a:bodyPr/>
          <a:p/>
        </p:txBody>
      </p:sp>
      <p:sp>
        <p:nvSpPr>
          <p:cNvPr id="8" name="Text 6"/>
          <p:cNvSpPr txBox="1"/>
          <p:nvPr/>
        </p:nvSpPr>
        <p:spPr>
          <a:xfrm>
            <a:off x="3014411"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setTimeout</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handed off to the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Browser / Web APIs</a:t>
            </a:r>
            <a:endParaRPr lang="en-US" sz="1250" dirty="0"/>
          </a:p>
        </p:txBody>
      </p:sp>
      <p:sp>
        <p:nvSpPr>
          <p:cNvPr id="9" name="Shape 7"/>
          <p:cNvSpPr/>
          <p:nvPr/>
        </p:nvSpPr>
        <p:spPr>
          <a:xfrm>
            <a:off x="4702942" y="3200400"/>
            <a:ext cx="502920" cy="0"/>
          </a:xfrm>
          <a:prstGeom prst="line">
            <a:avLst/>
          </a:prstGeom>
          <a:noFill/>
          <a:ln w="25400">
            <a:solidFill>
              <a:srgbClr val="5D5D72"/>
            </a:solidFill>
            <a:prstDash val="solid"/>
            <a:tailEnd type="triangle"/>
          </a:ln>
        </p:spPr>
        <p:txBody>
          <a:bodyPr/>
          <a:p/>
        </p:txBody>
      </p:sp>
      <p:sp>
        <p:nvSpPr>
          <p:cNvPr id="10" name="Shape 8"/>
          <p:cNvSpPr/>
          <p:nvPr/>
        </p:nvSpPr>
        <p:spPr>
          <a:xfrm>
            <a:off x="5205862" y="2514600"/>
            <a:ext cx="1779971" cy="1371600"/>
          </a:xfrm>
          <a:prstGeom prst="roundRect">
            <a:avLst>
              <a:gd name="adj" fmla="val 5333"/>
            </a:avLst>
          </a:prstGeom>
          <a:solidFill>
            <a:srgbClr val="2B2B7A"/>
          </a:solidFill>
          <a:ln/>
        </p:spPr>
        <p:txBody>
          <a:bodyPr/>
          <a:p/>
        </p:txBody>
      </p:sp>
      <p:sp>
        <p:nvSpPr>
          <p:cNvPr id="11" name="Text 9"/>
          <p:cNvSpPr txBox="1"/>
          <p:nvPr/>
        </p:nvSpPr>
        <p:spPr>
          <a:xfrm>
            <a:off x="5297302"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console.log("3")</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runs -- stack</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is now empty</a:t>
            </a:r>
            <a:endParaRPr lang="en-US" sz="1250" dirty="0"/>
          </a:p>
        </p:txBody>
      </p:sp>
      <p:sp>
        <p:nvSpPr>
          <p:cNvPr id="12" name="Shape 10"/>
          <p:cNvSpPr/>
          <p:nvPr/>
        </p:nvSpPr>
        <p:spPr>
          <a:xfrm>
            <a:off x="6985833" y="3200400"/>
            <a:ext cx="502920" cy="0"/>
          </a:xfrm>
          <a:prstGeom prst="line">
            <a:avLst/>
          </a:prstGeom>
          <a:noFill/>
          <a:ln w="25400">
            <a:solidFill>
              <a:srgbClr val="5D5D72"/>
            </a:solidFill>
            <a:prstDash val="solid"/>
            <a:tailEnd type="triangle"/>
          </a:ln>
        </p:spPr>
        <p:txBody>
          <a:bodyPr/>
          <a:p/>
        </p:txBody>
      </p:sp>
      <p:sp>
        <p:nvSpPr>
          <p:cNvPr id="13" name="Shape 11"/>
          <p:cNvSpPr/>
          <p:nvPr/>
        </p:nvSpPr>
        <p:spPr>
          <a:xfrm>
            <a:off x="7488753" y="2514600"/>
            <a:ext cx="1779971" cy="1371600"/>
          </a:xfrm>
          <a:prstGeom prst="roundRect">
            <a:avLst>
              <a:gd name="adj" fmla="val 5333"/>
            </a:avLst>
          </a:prstGeom>
          <a:solidFill>
            <a:srgbClr val="2B2B7A"/>
          </a:solidFill>
          <a:ln/>
        </p:spPr>
        <p:txBody>
          <a:bodyPr/>
          <a:p/>
        </p:txBody>
      </p:sp>
      <p:sp>
        <p:nvSpPr>
          <p:cNvPr id="14" name="Text 12"/>
          <p:cNvSpPr txBox="1"/>
          <p:nvPr/>
        </p:nvSpPr>
        <p:spPr>
          <a:xfrm>
            <a:off x="7580193"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After 1000ms, the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callback is placed</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in the task queue</a:t>
            </a:r>
            <a:endParaRPr lang="en-US" sz="1250" dirty="0"/>
          </a:p>
        </p:txBody>
      </p:sp>
      <p:sp>
        <p:nvSpPr>
          <p:cNvPr id="15" name="Shape 13"/>
          <p:cNvSpPr/>
          <p:nvPr/>
        </p:nvSpPr>
        <p:spPr>
          <a:xfrm>
            <a:off x="9268724" y="3200400"/>
            <a:ext cx="502920" cy="0"/>
          </a:xfrm>
          <a:prstGeom prst="line">
            <a:avLst/>
          </a:prstGeom>
          <a:noFill/>
          <a:ln w="25400">
            <a:solidFill>
              <a:srgbClr val="5D5D72"/>
            </a:solidFill>
            <a:prstDash val="solid"/>
            <a:tailEnd type="triangle"/>
          </a:ln>
        </p:spPr>
        <p:txBody>
          <a:bodyPr/>
          <a:p/>
        </p:txBody>
      </p:sp>
      <p:sp>
        <p:nvSpPr>
          <p:cNvPr id="16" name="Shape 14"/>
          <p:cNvSpPr/>
          <p:nvPr/>
        </p:nvSpPr>
        <p:spPr>
          <a:xfrm>
            <a:off x="9771644" y="2514600"/>
            <a:ext cx="1779971" cy="1371600"/>
          </a:xfrm>
          <a:prstGeom prst="roundRect">
            <a:avLst>
              <a:gd name="adj" fmla="val 5333"/>
            </a:avLst>
          </a:prstGeom>
          <a:solidFill>
            <a:srgbClr val="E67528"/>
          </a:solidFill>
          <a:ln/>
        </p:spPr>
        <p:txBody>
          <a:bodyPr/>
          <a:p/>
        </p:txBody>
      </p:sp>
      <p:sp>
        <p:nvSpPr>
          <p:cNvPr id="17" name="Text 15"/>
          <p:cNvSpPr txBox="1"/>
          <p:nvPr/>
        </p:nvSpPr>
        <p:spPr>
          <a:xfrm>
            <a:off x="9863084"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Event loop moves it</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to the stack --</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logs "2"</a:t>
            </a:r>
            <a:endParaRPr lang="en-US" sz="1250" dirty="0"/>
          </a:p>
        </p:txBody>
      </p:sp>
      <p:sp>
        <p:nvSpPr>
          <p:cNvPr id="18" name="Text 16"/>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event loop constantly checks: is the call stack empty? If yes, it takes the next item from the queue and runs it.</a:t>
            </a:r>
            <a:endParaRPr lang="en-US" sz="1300" dirty="0"/>
          </a:p>
        </p:txBody>
      </p:sp>
      <p:sp>
        <p:nvSpPr>
          <p:cNvPr id="2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Microtasks Run Before Macrotasks</a:t>
            </a:r>
            <a:endParaRPr lang="en-US" sz="3400" dirty="0"/>
          </a:p>
        </p:txBody>
      </p:sp>
      <p:sp>
        <p:nvSpPr>
          <p:cNvPr id="4" name="Shape 2"/>
          <p:cNvSpPr/>
          <p:nvPr/>
        </p:nvSpPr>
        <p:spPr>
          <a:xfrm>
            <a:off x="640080" y="1965960"/>
            <a:ext cx="10911535" cy="1737360"/>
          </a:xfrm>
          <a:prstGeom prst="roundRect">
            <a:avLst>
              <a:gd name="adj" fmla="val 3158"/>
            </a:avLst>
          </a:prstGeom>
          <a:solidFill>
            <a:srgbClr val="E9EDFB"/>
          </a:solidFill>
          <a:ln w="12700">
            <a:solidFill>
              <a:srgbClr val="6C7FD6"/>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Promise callbacks (.then, async/await) go into a special microtask queue that the event loop always empties completely before it looks at the regular task queue (where setTimeout callbacks live). This is why Promise.resolve().then(...) scheduled after setTimeout(..., 0) usually still runs first.</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BEFORE 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Callback Hell</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Before Promises existed, async code was handled with callbacks -- functions passed in to be called later</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When one async step depends on the result of the previous one, callbacks nest deeper and deeper</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Nicknamed "callback hell" or the "pyramid of doom" -- hard to read, hard to maintain</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BEFORE 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Pyramid of Doom</a:t>
            </a:r>
            <a:endParaRPr lang="en-US" sz="3400" dirty="0"/>
          </a:p>
        </p:txBody>
      </p:sp>
      <p:sp>
        <p:nvSpPr>
          <p:cNvPr id="4" name="Shape 2"/>
          <p:cNvSpPr/>
          <p:nvPr/>
        </p:nvSpPr>
        <p:spPr>
          <a:xfrm>
            <a:off x="640080" y="1965960"/>
            <a:ext cx="10911535" cy="2682240"/>
          </a:xfrm>
          <a:prstGeom prst="roundRect">
            <a:avLst>
              <a:gd name="adj" fmla="val 2727"/>
            </a:avLst>
          </a:prstGeom>
          <a:solidFill>
            <a:srgbClr val="1E1E4C"/>
          </a:solidFill>
          <a:ln/>
        </p:spPr>
        <p:txBody>
          <a:bodyPr/>
          <a:p/>
        </p:txBody>
      </p:sp>
      <p:sp>
        <p:nvSpPr>
          <p:cNvPr id="5" name="Text 3"/>
          <p:cNvSpPr txBox="1"/>
          <p:nvPr/>
        </p:nvSpPr>
        <p:spPr>
          <a:xfrm>
            <a:off x="960120" y="2194560"/>
            <a:ext cx="10271455" cy="22250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getUser(userId, function (user)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getOrders(user.id, function (orders)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getOrderDetails(orders[0].id, function (details)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console.log(details);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...and it keeps growing to the right with every extra step</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handleError);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handleError);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handleError);</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a Promise?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An object representing a value that isn't available yet, but will be at some point -- either successfully, or with an error</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Think of it as a receipt for a value that's still being prepared</a:t>
            </a:r>
            <a:endParaRPr lang="en-US" sz="15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Three States</a:t>
            </a:r>
            <a:endParaRPr lang="en-US" sz="3400" dirty="0"/>
          </a:p>
        </p:txBody>
      </p:sp>
      <p:sp>
        <p:nvSpPr>
          <p:cNvPr id="4" name="Shape 2"/>
          <p:cNvSpPr/>
          <p:nvPr/>
        </p:nvSpPr>
        <p:spPr>
          <a:xfrm flipH="1">
            <a:off x="2743200" y="2971800"/>
            <a:ext cx="2377440" cy="1234440"/>
          </a:xfrm>
          <a:prstGeom prst="line">
            <a:avLst/>
          </a:prstGeom>
          <a:noFill/>
          <a:ln w="25400">
            <a:solidFill>
              <a:srgbClr val="5D5D72"/>
            </a:solidFill>
            <a:prstDash val="solid"/>
            <a:tailEnd type="triangle"/>
          </a:ln>
        </p:spPr>
        <p:txBody>
          <a:bodyPr/>
          <a:p/>
        </p:txBody>
      </p:sp>
      <p:sp>
        <p:nvSpPr>
          <p:cNvPr id="5" name="Text 3"/>
          <p:cNvSpPr txBox="1"/>
          <p:nvPr/>
        </p:nvSpPr>
        <p:spPr>
          <a:xfrm>
            <a:off x="3017520" y="34427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operation</a:t>
            </a:r>
            <a:endParaRPr lang="en-US" sz="1050" dirty="0"/>
          </a:p>
          <a:p>
            <a:pPr algn="ctr" indent="0" marL="0">
              <a:buNone/>
            </a:pPr>
            <a:r>
              <a:rPr lang="en-US" sz="1050" i="1" dirty="0">
                <a:solidFill>
                  <a:srgbClr val="5D5D72"/>
                </a:solidFill>
                <a:latin typeface="Calibri" pitchFamily="34" charset="0"/>
                <a:ea typeface="Calibri" pitchFamily="34" charset="-122"/>
                <a:cs typeface="Calibri" pitchFamily="34" charset="-120"/>
              </a:rPr>
              <a:t>succeeds</a:t>
            </a:r>
            <a:endParaRPr lang="en-US" sz="1050" dirty="0"/>
          </a:p>
        </p:txBody>
      </p:sp>
      <p:sp>
        <p:nvSpPr>
          <p:cNvPr id="6" name="Shape 4"/>
          <p:cNvSpPr/>
          <p:nvPr/>
        </p:nvSpPr>
        <p:spPr>
          <a:xfrm>
            <a:off x="6400800" y="2971800"/>
            <a:ext cx="2651760" cy="1234440"/>
          </a:xfrm>
          <a:prstGeom prst="line">
            <a:avLst/>
          </a:prstGeom>
          <a:noFill/>
          <a:ln w="25400">
            <a:solidFill>
              <a:srgbClr val="5D5D72"/>
            </a:solidFill>
            <a:prstDash val="solid"/>
            <a:tailEnd type="triangle"/>
          </a:ln>
        </p:spPr>
        <p:txBody>
          <a:bodyPr/>
          <a:p/>
        </p:txBody>
      </p:sp>
      <p:sp>
        <p:nvSpPr>
          <p:cNvPr id="7" name="Text 5"/>
          <p:cNvSpPr txBox="1"/>
          <p:nvPr/>
        </p:nvSpPr>
        <p:spPr>
          <a:xfrm>
            <a:off x="6812280" y="34427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operation</a:t>
            </a:r>
            <a:endParaRPr lang="en-US" sz="1050" dirty="0"/>
          </a:p>
          <a:p>
            <a:pPr algn="ctr" indent="0" marL="0">
              <a:buNone/>
            </a:pPr>
            <a:r>
              <a:rPr lang="en-US" sz="1050" i="1" dirty="0">
                <a:solidFill>
                  <a:srgbClr val="5D5D72"/>
                </a:solidFill>
                <a:latin typeface="Calibri" pitchFamily="34" charset="0"/>
                <a:ea typeface="Calibri" pitchFamily="34" charset="-122"/>
                <a:cs typeface="Calibri" pitchFamily="34" charset="-120"/>
              </a:rPr>
              <a:t>fails</a:t>
            </a:r>
            <a:endParaRPr lang="en-US" sz="1050" dirty="0"/>
          </a:p>
        </p:txBody>
      </p:sp>
      <p:sp>
        <p:nvSpPr>
          <p:cNvPr id="8" name="Shape 6"/>
          <p:cNvSpPr/>
          <p:nvPr/>
        </p:nvSpPr>
        <p:spPr>
          <a:xfrm>
            <a:off x="4663440" y="2377440"/>
            <a:ext cx="2834640" cy="594360"/>
          </a:xfrm>
          <a:prstGeom prst="roundRect">
            <a:avLst>
              <a:gd name="adj" fmla="val 12308"/>
            </a:avLst>
          </a:prstGeom>
          <a:solidFill>
            <a:srgbClr val="5D5D72"/>
          </a:solidFill>
          <a:ln/>
        </p:spPr>
        <p:txBody>
          <a:bodyPr/>
          <a:p/>
        </p:txBody>
      </p:sp>
      <p:sp>
        <p:nvSpPr>
          <p:cNvPr id="9" name="Text 7"/>
          <p:cNvSpPr txBox="1"/>
          <p:nvPr/>
        </p:nvSpPr>
        <p:spPr>
          <a:xfrm>
            <a:off x="4718304" y="2377440"/>
            <a:ext cx="2724912" cy="594360"/>
          </a:xfrm>
          <a:prstGeom prst="rect">
            <a:avLst/>
          </a:prstGeom>
          <a:noFill/>
          <a:ln/>
        </p:spPr>
        <p:txBody>
          <a:bodyPr wrap="square" lIns="0" tIns="0" rIns="0" bIns="0" rtlCol="0" anchor="ctr"/>
          <a:lstStyle/>
          <a:p>
            <a:pPr algn="ctr" indent="0" marL="0">
              <a:lnSpc>
                <a:spcPct val="105000"/>
              </a:lnSpc>
              <a:buNone/>
            </a:pPr>
            <a:r>
              <a:rPr lang="en-US" sz="1400" b="1" dirty="0">
                <a:solidFill>
                  <a:srgbClr val="FFFFFF"/>
                </a:solidFill>
                <a:latin typeface="Calibri" pitchFamily="34" charset="0"/>
                <a:ea typeface="Calibri" pitchFamily="34" charset="-122"/>
                <a:cs typeface="Calibri" pitchFamily="34" charset="-120"/>
              </a:rPr>
              <a:t>Pending</a:t>
            </a:r>
            <a:endParaRPr lang="en-US" sz="1400" dirty="0"/>
          </a:p>
        </p:txBody>
      </p:sp>
      <p:sp>
        <p:nvSpPr>
          <p:cNvPr id="10" name="Shape 8"/>
          <p:cNvSpPr/>
          <p:nvPr/>
        </p:nvSpPr>
        <p:spPr>
          <a:xfrm>
            <a:off x="1188720" y="4206240"/>
            <a:ext cx="3108960" cy="594360"/>
          </a:xfrm>
          <a:prstGeom prst="roundRect">
            <a:avLst>
              <a:gd name="adj" fmla="val 12308"/>
            </a:avLst>
          </a:prstGeom>
          <a:solidFill>
            <a:srgbClr val="3FA66B"/>
          </a:solidFill>
          <a:ln/>
        </p:spPr>
        <p:txBody>
          <a:bodyPr/>
          <a:p/>
        </p:txBody>
      </p:sp>
      <p:sp>
        <p:nvSpPr>
          <p:cNvPr id="11" name="Text 9"/>
          <p:cNvSpPr txBox="1"/>
          <p:nvPr/>
        </p:nvSpPr>
        <p:spPr>
          <a:xfrm>
            <a:off x="1243584" y="4206240"/>
            <a:ext cx="2999232" cy="594360"/>
          </a:xfrm>
          <a:prstGeom prst="rect">
            <a:avLst/>
          </a:prstGeom>
          <a:noFill/>
          <a:ln/>
        </p:spPr>
        <p:txBody>
          <a:bodyPr wrap="square" lIns="0" tIns="0" rIns="0" bIns="0" rtlCol="0" anchor="ctr"/>
          <a:lstStyle/>
          <a:p>
            <a:pPr algn="ctr" indent="0" marL="0">
              <a:lnSpc>
                <a:spcPct val="105000"/>
              </a:lnSpc>
              <a:buNone/>
            </a:pPr>
            <a:r>
              <a:rPr lang="en-US" sz="1400" b="1" dirty="0">
                <a:solidFill>
                  <a:srgbClr val="FFFFFF"/>
                </a:solidFill>
                <a:latin typeface="Calibri" pitchFamily="34" charset="0"/>
                <a:ea typeface="Calibri" pitchFamily="34" charset="-122"/>
                <a:cs typeface="Calibri" pitchFamily="34" charset="-120"/>
              </a:rPr>
              <a:t>Fulfilled</a:t>
            </a:r>
            <a:endParaRPr lang="en-US" sz="1400" dirty="0"/>
          </a:p>
        </p:txBody>
      </p:sp>
      <p:sp>
        <p:nvSpPr>
          <p:cNvPr id="12" name="Shape 10"/>
          <p:cNvSpPr/>
          <p:nvPr/>
        </p:nvSpPr>
        <p:spPr>
          <a:xfrm>
            <a:off x="7498080" y="4206240"/>
            <a:ext cx="3108960" cy="594360"/>
          </a:xfrm>
          <a:prstGeom prst="roundRect">
            <a:avLst>
              <a:gd name="adj" fmla="val 12308"/>
            </a:avLst>
          </a:prstGeom>
          <a:solidFill>
            <a:srgbClr val="E67528"/>
          </a:solidFill>
          <a:ln/>
        </p:spPr>
        <p:txBody>
          <a:bodyPr/>
          <a:p/>
        </p:txBody>
      </p:sp>
      <p:sp>
        <p:nvSpPr>
          <p:cNvPr id="13" name="Text 11"/>
          <p:cNvSpPr txBox="1"/>
          <p:nvPr/>
        </p:nvSpPr>
        <p:spPr>
          <a:xfrm>
            <a:off x="7552944" y="4206240"/>
            <a:ext cx="2999232" cy="594360"/>
          </a:xfrm>
          <a:prstGeom prst="rect">
            <a:avLst/>
          </a:prstGeom>
          <a:noFill/>
          <a:ln/>
        </p:spPr>
        <p:txBody>
          <a:bodyPr wrap="square" lIns="0" tIns="0" rIns="0" bIns="0" rtlCol="0" anchor="ctr"/>
          <a:lstStyle/>
          <a:p>
            <a:pPr algn="ctr" indent="0" marL="0">
              <a:lnSpc>
                <a:spcPct val="105000"/>
              </a:lnSpc>
              <a:buNone/>
            </a:pPr>
            <a:r>
              <a:rPr lang="en-US" sz="1400" b="1" dirty="0">
                <a:solidFill>
                  <a:srgbClr val="FFFFFF"/>
                </a:solidFill>
                <a:latin typeface="Calibri" pitchFamily="34" charset="0"/>
                <a:ea typeface="Calibri" pitchFamily="34" charset="-122"/>
                <a:cs typeface="Calibri" pitchFamily="34" charset="-120"/>
              </a:rPr>
              <a:t>Rejected</a:t>
            </a:r>
            <a:endParaRPr lang="en-US" sz="1400" dirty="0"/>
          </a:p>
        </p:txBody>
      </p:sp>
      <p:sp>
        <p:nvSpPr>
          <p:cNvPr id="14" name="Text 12"/>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A promise is settled once it becomes fulfilled or rejected, and it can never change state again after that.</a:t>
            </a:r>
            <a:endParaRPr lang="en-US" sz="1250" dirty="0"/>
          </a:p>
        </p:txBody>
      </p:sp>
      <p:sp>
        <p:nvSpPr>
          <p:cNvPr id="17"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Creating and Using a Promise</a:t>
            </a:r>
            <a:endParaRPr lang="en-US" sz="3400" dirty="0"/>
          </a:p>
        </p:txBody>
      </p:sp>
      <p:sp>
        <p:nvSpPr>
          <p:cNvPr id="4" name="Shape 2"/>
          <p:cNvSpPr/>
          <p:nvPr/>
        </p:nvSpPr>
        <p:spPr>
          <a:xfrm>
            <a:off x="640080" y="1965960"/>
            <a:ext cx="10911535" cy="3482340"/>
          </a:xfrm>
          <a:prstGeom prst="roundRect">
            <a:avLst>
              <a:gd name="adj" fmla="val 2101"/>
            </a:avLst>
          </a:prstGeom>
          <a:solidFill>
            <a:srgbClr val="1E1E4C"/>
          </a:solidFill>
          <a:ln/>
        </p:spPr>
        <p:txBody>
          <a:bodyPr/>
          <a:p/>
        </p:txBody>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function delay(ms)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new Promise((resolve, reject)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if (ms &lt; 0) { reject(new Error("Delay cannot be negative")); return;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setTimeout(() =&gt; resolve(`Waited ${ms}ms`), ms);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delay(1000)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.then(result =&gt; console.log(result))    // fulfilled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.catch(error =&gt; console.error(error))   // rejected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.finally(() =&gt; console.log("Done, either way")); // always runs</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delay().then/.catch/.finally, Live</a:t>
            </a:r>
            <a:endParaRPr lang="en-US" sz="3400" dirty="0"/>
          </a:p>
        </p:txBody>
      </p:sp>
      <p:sp>
        <p:nvSpPr>
          <p:cNvPr id="4" name="Shape 2"/>
          <p:cNvSpPr/>
          <p:nvPr/>
        </p:nvSpPr>
        <p:spPr>
          <a:xfrm>
            <a:off x="640080" y="2872740"/>
            <a:ext cx="5272888" cy="2529840"/>
          </a:xfrm>
          <a:prstGeom prst="roundRect">
            <a:avLst>
              <a:gd name="adj" fmla="val 2892"/>
            </a:avLst>
          </a:prstGeom>
          <a:solidFill>
            <a:srgbClr val="1E1E4C"/>
          </a:solidFill>
          <a:ln/>
        </p:spPr>
        <p:txBody>
          <a:bodyPr/>
          <a:p/>
        </p:txBody>
      </p:sp>
      <p:sp>
        <p:nvSpPr>
          <p:cNvPr id="5" name="Text 3"/>
          <p:cNvSpPr txBox="1"/>
          <p:nvPr/>
        </p:nvSpPr>
        <p:spPr>
          <a:xfrm>
            <a:off x="960120" y="3101340"/>
            <a:ext cx="4632808" cy="20726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delay(150)</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.then(result =&gt;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log(result))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.catch(error =&gt;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log("ERROR: "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error.message))</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.finally(() =&gt;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log("Done, either way"));</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15/promise-then-catch-finally-live.png">    </p:cNvPr>
          <p:cNvPicPr>
            <a:picLocks noChangeAspect="1"/>
          </p:cNvPicPr>
          <p:nvPr/>
        </p:nvPicPr>
        <p:blipFill>
          <a:blip r:embed="rId1"/>
          <a:stretch>
            <a:fillRect/>
          </a:stretch>
        </p:blipFill>
        <p:spPr>
          <a:xfrm>
            <a:off x="6278728" y="3720932"/>
            <a:ext cx="5272888" cy="833456"/>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Chaining Promises</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txBody>
          <a:bodyPr/>
          <a:p/>
        </p:txBody>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getUser(userId)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.then(user =&gt; getOrders(user.id))              // after getUser resolves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.then(orders =&gt; getOrderDetails(orders[0].id)) // after getOrders resolves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.then(details =&gt; console.log(details))         // after getOrderDetails resolves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.catch(error =&gt; console.error("Something failed:", error)); // catches ANY step</a:t>
            </a:r>
            <a:endParaRPr lang="en-US" sz="1400" dirty="0"/>
          </a:p>
        </p:txBody>
      </p:sp>
      <p:sp>
        <p:nvSpPr>
          <p:cNvPr id="6" name="Text 4"/>
          <p:cNvSpPr txBox="1"/>
          <p:nvPr/>
        </p:nvSpPr>
        <p:spPr>
          <a:xfrm>
            <a:off x="640080" y="4076700"/>
            <a:ext cx="10911535" cy="2186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Each .then() returns a NEW promise, which is what makes chaining possible -- one .catch() at the end catches an error from any step.</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Promise.all</a:t>
            </a:r>
            <a:endParaRPr lang="en-US" sz="3400" dirty="0"/>
          </a:p>
        </p:txBody>
      </p:sp>
      <p:sp>
        <p:nvSpPr>
          <p:cNvPr id="4" name="Shape 2"/>
          <p:cNvSpPr/>
          <p:nvPr/>
        </p:nvSpPr>
        <p:spPr>
          <a:xfrm>
            <a:off x="640080" y="1965960"/>
            <a:ext cx="10911535" cy="2415540"/>
          </a:xfrm>
          <a:prstGeom prst="roundRect">
            <a:avLst>
              <a:gd name="adj" fmla="val 3028"/>
            </a:avLst>
          </a:prstGeom>
          <a:solidFill>
            <a:srgbClr val="1E1E4C"/>
          </a:solidFill>
          <a:ln/>
        </p:spPr>
        <p:txBody>
          <a:bodyPr/>
          <a:p/>
        </p:txBody>
      </p:sp>
      <p:sp>
        <p:nvSpPr>
          <p:cNvPr id="5" name="Text 3"/>
          <p:cNvSpPr txBox="1"/>
          <p:nvPr/>
        </p:nvSpPr>
        <p:spPr>
          <a:xfrm>
            <a:off x="960120" y="2194560"/>
            <a:ext cx="10271455" cy="19583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promise1 = delay(1000).then(() =&gt; "First");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promise2 = delay(500).then(() =&gt; "Second");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promise3 = delay(1500).then(() =&gt; "Third");</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Promise.all([promise1, promise2, promise3]).then(results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console.log(results); // ["First","Second","Third"] -- after ~1500ms, not 3000ms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610100"/>
            <a:ext cx="10911535" cy="16535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Fulfills only once ALL promises have fulfilled, or rejects immediately if any ONE of them rejects -- ideal for independent data loaded in parallel.</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17</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Promise.all, Live</a:t>
            </a:r>
            <a:endParaRPr lang="en-US" sz="3400" dirty="0"/>
          </a:p>
        </p:txBody>
      </p:sp>
      <p:sp>
        <p:nvSpPr>
          <p:cNvPr id="4" name="Shape 2"/>
          <p:cNvSpPr/>
          <p:nvPr/>
        </p:nvSpPr>
        <p:spPr>
          <a:xfrm>
            <a:off x="640080" y="2625090"/>
            <a:ext cx="5272888" cy="3025140"/>
          </a:xfrm>
          <a:prstGeom prst="roundRect">
            <a:avLst>
              <a:gd name="adj" fmla="val 2418"/>
            </a:avLst>
          </a:prstGeom>
          <a:solidFill>
            <a:srgbClr val="1E1E4C"/>
          </a:solidFill>
          <a:ln/>
        </p:spPr>
        <p:txBody>
          <a:bodyPr/>
          <a:p/>
        </p:txBody>
      </p:sp>
      <p:sp>
        <p:nvSpPr>
          <p:cNvPr id="5" name="Text 3"/>
          <p:cNvSpPr txBox="1"/>
          <p:nvPr/>
        </p:nvSpPr>
        <p:spPr>
          <a:xfrm>
            <a:off x="960120" y="2853690"/>
            <a:ext cx="4632808" cy="25679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const promise1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delay(100).then(() =&gt; "First");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const promise2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delay(50).then(() =&gt; "Second");</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const promise3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delay(150).then(() =&gt; "Third");</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Promise.all(</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[promise1, promise2, promise3]</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).then(results =&gt; { ... });</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15/promise-all-live.png">    </p:cNvPr>
          <p:cNvPicPr>
            <a:picLocks noChangeAspect="1"/>
          </p:cNvPicPr>
          <p:nvPr/>
        </p:nvPicPr>
        <p:blipFill>
          <a:blip r:embed="rId1"/>
          <a:stretch>
            <a:fillRect/>
          </a:stretch>
        </p:blipFill>
        <p:spPr>
          <a:xfrm>
            <a:off x="6278728" y="3631633"/>
            <a:ext cx="5272888" cy="1012054"/>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18</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 Rules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async before a function makes it always return a Promise, and allows await inside it</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await pauses execution of THAT function (not the whole program) until the promise settles, then unwraps the resolved value -- or throws if it rejected</a:t>
            </a:r>
            <a:endParaRPr lang="en-US" sz="15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Reads Like Synchronous Code</a:t>
            </a:r>
            <a:endParaRPr lang="en-US" sz="3400" dirty="0"/>
          </a:p>
        </p:txBody>
      </p:sp>
      <p:sp>
        <p:nvSpPr>
          <p:cNvPr id="4" name="Shape 2"/>
          <p:cNvSpPr/>
          <p:nvPr/>
        </p:nvSpPr>
        <p:spPr>
          <a:xfrm>
            <a:off x="640080" y="1965960"/>
            <a:ext cx="10911535" cy="2148840"/>
          </a:xfrm>
          <a:prstGeom prst="roundRect">
            <a:avLst>
              <a:gd name="adj" fmla="val 3404"/>
            </a:avLst>
          </a:prstGeom>
          <a:solidFill>
            <a:srgbClr val="1E1E4C"/>
          </a:solidFill>
          <a:ln/>
        </p:spPr>
        <p:txBody>
          <a:bodyPr/>
          <a:p/>
        </p:txBody>
      </p:sp>
      <p:sp>
        <p:nvSpPr>
          <p:cNvPr id="5" name="Text 3"/>
          <p:cNvSpPr txBox="1"/>
          <p:nvPr/>
        </p:nvSpPr>
        <p:spPr>
          <a:xfrm>
            <a:off x="960120" y="2194560"/>
            <a:ext cx="10271455" cy="1691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loadOrderDetails(userId)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user = await getUser(userId);       // "pause" until the promise settles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orders = await getOrders(user.id);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details = await getOrderDetails(orders[0].id);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details;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Error Handling with try...catch</a:t>
            </a:r>
            <a:endParaRPr lang="en-US" sz="3400" dirty="0"/>
          </a:p>
        </p:txBody>
      </p:sp>
      <p:sp>
        <p:nvSpPr>
          <p:cNvPr id="4" name="Shape 2"/>
          <p:cNvSpPr/>
          <p:nvPr/>
        </p:nvSpPr>
        <p:spPr>
          <a:xfrm>
            <a:off x="640080" y="1965960"/>
            <a:ext cx="10911535" cy="3482340"/>
          </a:xfrm>
          <a:prstGeom prst="roundRect">
            <a:avLst>
              <a:gd name="adj" fmla="val 2101"/>
            </a:avLst>
          </a:prstGeom>
          <a:solidFill>
            <a:srgbClr val="1E1E4C"/>
          </a:solidFill>
          <a:ln/>
        </p:spPr>
        <p:txBody>
          <a:bodyPr/>
          <a:p/>
        </p:txBody>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loadOrderDetails(userId)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try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user = await getUser(userId);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orders = await getOrders(user.id);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details = await getOrderDetails(orders[0].id);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details;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catch (error)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console.error("Failed to load order details:", error.message);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throw error; // re-throw if the caller also needs to know</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try...catch, Live (getUser rejects)</a:t>
            </a:r>
            <a:endParaRPr lang="en-US" sz="3400" dirty="0"/>
          </a:p>
        </p:txBody>
      </p:sp>
      <p:sp>
        <p:nvSpPr>
          <p:cNvPr id="4" name="Shape 2"/>
          <p:cNvSpPr/>
          <p:nvPr/>
        </p:nvSpPr>
        <p:spPr>
          <a:xfrm>
            <a:off x="640080" y="2501265"/>
            <a:ext cx="5272888" cy="3272790"/>
          </a:xfrm>
          <a:prstGeom prst="roundRect">
            <a:avLst>
              <a:gd name="adj" fmla="val 2235"/>
            </a:avLst>
          </a:prstGeom>
          <a:solidFill>
            <a:srgbClr val="1E1E4C"/>
          </a:solidFill>
          <a:ln/>
        </p:spPr>
        <p:txBody>
          <a:bodyPr/>
          <a:p/>
        </p:txBody>
      </p:sp>
      <p:sp>
        <p:nvSpPr>
          <p:cNvPr id="5" name="Text 3"/>
          <p:cNvSpPr txBox="1"/>
          <p:nvPr/>
        </p:nvSpPr>
        <p:spPr>
          <a:xfrm>
            <a:off x="960120" y="2729865"/>
            <a:ext cx="4632808" cy="28155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async function loadOrderDetails(id)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try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const user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await getUser(id);</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return user;</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 catch (error)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log("caught: "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error.message);</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throw error;</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15/async-await-trycatch-live.png">    </p:cNvPr>
          <p:cNvPicPr>
            <a:picLocks noChangeAspect="1"/>
          </p:cNvPicPr>
          <p:nvPr/>
        </p:nvPicPr>
        <p:blipFill>
          <a:blip r:embed="rId1"/>
          <a:stretch>
            <a:fillRect/>
          </a:stretch>
        </p:blipFill>
        <p:spPr>
          <a:xfrm>
            <a:off x="6278728" y="3631633"/>
            <a:ext cx="5272888" cy="1012054"/>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22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async/await vs. .then Chains</a:t>
            </a:r>
            <a:endParaRPr lang="en-US" sz="3400" dirty="0"/>
          </a:p>
        </p:txBody>
      </p:sp>
      <p:sp>
        <p:nvSpPr>
          <p:cNvPr id="4" name="Shape 2"/>
          <p:cNvSpPr/>
          <p:nvPr/>
        </p:nvSpPr>
        <p:spPr>
          <a:xfrm>
            <a:off x="640080" y="1965960"/>
            <a:ext cx="10911535" cy="1554480"/>
          </a:xfrm>
          <a:prstGeom prst="roundRect">
            <a:avLst>
              <a:gd name="adj" fmla="val 3529"/>
            </a:avLst>
          </a:prstGeom>
          <a:solidFill>
            <a:srgbClr val="E6F6EE"/>
          </a:solidFill>
          <a:ln w="12700">
            <a:solidFill>
              <a:srgbClr val="3FA66B"/>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They do the same job -- async/await is just easier to read, especially with multiple sequential steps and conditional logic. You will see both styles in real codebases, but prefer async/await for new code you write.</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AJAX AND FETCH</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AJAX?</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general technique of a web page requesting data from a server in the background, without a full page reload</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name is historical (Asynchronous JavaScript and XML) -- today it almost always means JSON, not XML</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modern, built-in tool for doing this is the Fetch API</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24</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GET Request</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txBody>
          <a:bodyPr/>
          <a:p/>
        </p:txBody>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loadStories()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response = await fetch("https://usmanlive.com/wp-json/api/stories");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stories = await response.json(); // parses the body as JSON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console.log(stories);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076700"/>
            <a:ext cx="10911535" cy="2186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fetch(url) resolves with a Response once headers arrive -- it resolves even for 404s; it only REJECTS on a genuine network failure.</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25</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Always Check response.ok</a:t>
            </a:r>
            <a:endParaRPr lang="en-US" sz="3400" dirty="0"/>
          </a:p>
        </p:txBody>
      </p:sp>
      <p:sp>
        <p:nvSpPr>
          <p:cNvPr id="4" name="Shape 2"/>
          <p:cNvSpPr/>
          <p:nvPr/>
        </p:nvSpPr>
        <p:spPr>
          <a:xfrm>
            <a:off x="640080" y="1965960"/>
            <a:ext cx="10911535" cy="2682240"/>
          </a:xfrm>
          <a:prstGeom prst="roundRect">
            <a:avLst>
              <a:gd name="adj" fmla="val 2727"/>
            </a:avLst>
          </a:prstGeom>
          <a:solidFill>
            <a:srgbClr val="1E1E4C"/>
          </a:solidFill>
          <a:ln/>
        </p:spPr>
        <p:txBody>
          <a:bodyPr/>
          <a:p/>
        </p:txBody>
      </p:sp>
      <p:sp>
        <p:nvSpPr>
          <p:cNvPr id="5" name="Text 3"/>
          <p:cNvSpPr txBox="1"/>
          <p:nvPr/>
        </p:nvSpPr>
        <p:spPr>
          <a:xfrm>
            <a:off x="960120" y="2194560"/>
            <a:ext cx="10271455" cy="22250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loadStories()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response = await fetch("https://usmanlive.com/wp-json/api/stories");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if (!response.ok)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throw new Error(`Request failed with status ${response.status}`);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stories = await response.json();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stories;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Exact GET Code, Live</a:t>
            </a:r>
            <a:endParaRPr lang="en-US" sz="3400" dirty="0"/>
          </a:p>
        </p:txBody>
      </p:sp>
      <p:sp>
        <p:nvSpPr>
          <p:cNvPr id="4" name="Shape 2"/>
          <p:cNvSpPr/>
          <p:nvPr/>
        </p:nvSpPr>
        <p:spPr>
          <a:xfrm>
            <a:off x="640080" y="2996565"/>
            <a:ext cx="5272888" cy="2282190"/>
          </a:xfrm>
          <a:prstGeom prst="roundRect">
            <a:avLst>
              <a:gd name="adj" fmla="val 3205"/>
            </a:avLst>
          </a:prstGeom>
          <a:solidFill>
            <a:srgbClr val="1E1E4C"/>
          </a:solidFill>
          <a:ln/>
        </p:spPr>
        <p:txBody>
          <a:bodyPr/>
          <a:p/>
        </p:txBody>
      </p:sp>
      <p:sp>
        <p:nvSpPr>
          <p:cNvPr id="5" name="Text 3"/>
          <p:cNvSpPr txBox="1"/>
          <p:nvPr/>
        </p:nvSpPr>
        <p:spPr>
          <a:xfrm>
            <a:off x="960120" y="3225165"/>
            <a:ext cx="4632808" cy="18249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const response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await fetch(url);</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response.ok;</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response.status;</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const students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await response.json();</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15/fetch-get-live.png">    </p:cNvPr>
          <p:cNvPicPr>
            <a:picLocks noChangeAspect="1"/>
          </p:cNvPicPr>
          <p:nvPr/>
        </p:nvPicPr>
        <p:blipFill>
          <a:blip r:embed="rId1"/>
          <a:stretch>
            <a:fillRect/>
          </a:stretch>
        </p:blipFill>
        <p:spPr>
          <a:xfrm>
            <a:off x="6278728" y="2734392"/>
            <a:ext cx="5272888" cy="2806537"/>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27</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POST Request with Headers</a:t>
            </a:r>
            <a:endParaRPr lang="en-US" sz="3400" dirty="0"/>
          </a:p>
        </p:txBody>
      </p:sp>
      <p:sp>
        <p:nvSpPr>
          <p:cNvPr id="4" name="Shape 2"/>
          <p:cNvSpPr/>
          <p:nvPr/>
        </p:nvSpPr>
        <p:spPr>
          <a:xfrm>
            <a:off x="640080" y="1965960"/>
            <a:ext cx="10911535" cy="2948940"/>
          </a:xfrm>
          <a:prstGeom prst="roundRect">
            <a:avLst>
              <a:gd name="adj" fmla="val 2481"/>
            </a:avLst>
          </a:prstGeom>
          <a:solidFill>
            <a:srgbClr val="1E1E4C"/>
          </a:solidFill>
          <a:ln/>
        </p:spPr>
        <p:txBody>
          <a:bodyPr/>
          <a:p/>
        </p:txBody>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createStory(newStory)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response = await fetch("https://usmanlive.com/wp-json/api/stories",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method: "POST",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headers: { "Content-Type": "application/json"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body: JSON.stringify(newStory), // { title, content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if (!response.ok) throw new Error(`Failed to create story: ${response.status}`);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response.json();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143500"/>
            <a:ext cx="10911535" cy="11201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Content-Type: application/json tells the server "the body I'm sending is JSON text," so it knows how to parse it.</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Parsing Different Response Types</a:t>
            </a:r>
            <a:endParaRPr lang="en-US" sz="3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291840"/>
                <a:gridCol w="768096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Parses the body as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response.json()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JSON -- the most common case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response.text()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Plain text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response.blob()</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Raw binary data (e.g. an image)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You can only read a response body ONCE -- call one parsing method per response.</a:t>
            </a:r>
            <a:endParaRPr lang="en-US" sz="1150" dirty="0"/>
          </a:p>
        </p:txBody>
      </p:sp>
      <p:sp>
        <p:nvSpPr>
          <p:cNvPr id="3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30</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Putting It Together with Promise.all</a:t>
            </a:r>
            <a:endParaRPr lang="en-US" sz="3400" dirty="0"/>
          </a:p>
        </p:txBody>
      </p:sp>
      <p:sp>
        <p:nvSpPr>
          <p:cNvPr id="4" name="Shape 2"/>
          <p:cNvSpPr/>
          <p:nvPr/>
        </p:nvSpPr>
        <p:spPr>
          <a:xfrm>
            <a:off x="640080" y="1965960"/>
            <a:ext cx="10911535" cy="3931920"/>
          </a:xfrm>
          <a:prstGeom prst="roundRect">
            <a:avLst>
              <a:gd name="adj" fmla="val 1860"/>
            </a:avLst>
          </a:prstGeom>
          <a:solidFill>
            <a:srgbClr val="1E1E4C"/>
          </a:solidFill>
          <a:ln/>
        </p:spPr>
        <p:txBody>
          <a:bodyPr/>
          <a:p/>
        </p:txBody>
      </p:sp>
      <p:sp>
        <p:nvSpPr>
          <p:cNvPr id="5" name="Text 3"/>
          <p:cNvSpPr txBox="1"/>
          <p:nvPr/>
        </p:nvSpPr>
        <p:spPr>
          <a:xfrm>
            <a:off x="960120" y="2194560"/>
            <a:ext cx="10271455" cy="3474720"/>
          </a:xfrm>
          <a:prstGeom prst="rect">
            <a:avLst/>
          </a:prstGeom>
          <a:noFill/>
          <a:ln/>
        </p:spPr>
        <p:txBody>
          <a:bodyPr wrap="square" lIns="0" tIns="0" rIns="0" bIns="0" rtlCol="0" anchor="t"/>
          <a:lstStyle/>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async function fetchDashboardData()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try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const [storiesRes, countriesRes] = await Promise.all([</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fetch("https://usmanlive.com/wp-json/api/stories"),</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fetch("https://usmanlive.com/wp-json/api/countries?q=an"),</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const stories = await storiesRes.json();</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const countries = await countriesRes.json();</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console.log(stories, countries);</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 catch (error)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console.error("Network error:", error.message);</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a:t>
            </a:r>
            <a:endParaRPr lang="en-US" sz="1366"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31</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CORS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Cross-Origin Resource Sharing</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browser security rule restricting JS on one origin (protocol + domain + port) from freely reading responses from a different origin</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server decides who is allowed, via an Access-Control-Allow-Origin response header</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CORS is enforced by the BROWSER, not your JavaScript -- you cannot "fix" a CORS error from the frontend</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33</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CORS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the Browser Checks CORS</a:t>
            </a:r>
            <a:endParaRPr lang="en-US" sz="3400" dirty="0"/>
          </a:p>
        </p:txBody>
      </p:sp>
      <p:sp>
        <p:nvSpPr>
          <p:cNvPr id="4" name="Shape 2"/>
          <p:cNvSpPr/>
          <p:nvPr/>
        </p:nvSpPr>
        <p:spPr>
          <a:xfrm>
            <a:off x="4114800" y="2468880"/>
            <a:ext cx="4023360" cy="9144"/>
          </a:xfrm>
          <a:prstGeom prst="line">
            <a:avLst/>
          </a:prstGeom>
          <a:noFill/>
          <a:ln w="25400">
            <a:solidFill>
              <a:srgbClr val="5D5D72"/>
            </a:solidFill>
            <a:prstDash val="solid"/>
            <a:tailEnd type="triangle"/>
          </a:ln>
        </p:spPr>
        <p:txBody>
          <a:bodyPr/>
          <a:p/>
        </p:txBody>
      </p:sp>
      <p:sp>
        <p:nvSpPr>
          <p:cNvPr id="5" name="Text 3"/>
          <p:cNvSpPr txBox="1"/>
          <p:nvPr/>
        </p:nvSpPr>
        <p:spPr>
          <a:xfrm>
            <a:off x="5212080" y="232257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request</a:t>
            </a:r>
            <a:endParaRPr lang="en-US" sz="1050" dirty="0"/>
          </a:p>
        </p:txBody>
      </p:sp>
      <p:sp>
        <p:nvSpPr>
          <p:cNvPr id="6" name="Shape 4"/>
          <p:cNvSpPr/>
          <p:nvPr/>
        </p:nvSpPr>
        <p:spPr>
          <a:xfrm flipH="1">
            <a:off x="6080760" y="2743200"/>
            <a:ext cx="2606040" cy="640080"/>
          </a:xfrm>
          <a:prstGeom prst="line">
            <a:avLst/>
          </a:prstGeom>
          <a:noFill/>
          <a:ln w="25400">
            <a:solidFill>
              <a:srgbClr val="5D5D72"/>
            </a:solidFill>
            <a:prstDash val="solid"/>
            <a:tailEnd type="triangle"/>
          </a:ln>
        </p:spPr>
        <p:txBody>
          <a:bodyPr/>
          <a:p/>
        </p:txBody>
      </p:sp>
      <p:sp>
        <p:nvSpPr>
          <p:cNvPr id="7" name="Text 5"/>
          <p:cNvSpPr txBox="1"/>
          <p:nvPr/>
        </p:nvSpPr>
        <p:spPr>
          <a:xfrm>
            <a:off x="6469380" y="291693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response + header</a:t>
            </a:r>
            <a:endParaRPr lang="en-US" sz="1050" dirty="0"/>
          </a:p>
        </p:txBody>
      </p:sp>
      <p:sp>
        <p:nvSpPr>
          <p:cNvPr id="8" name="Shape 6"/>
          <p:cNvSpPr/>
          <p:nvPr/>
        </p:nvSpPr>
        <p:spPr>
          <a:xfrm flipH="1">
            <a:off x="2834640" y="4160520"/>
            <a:ext cx="2468880" cy="685800"/>
          </a:xfrm>
          <a:prstGeom prst="line">
            <a:avLst/>
          </a:prstGeom>
          <a:noFill/>
          <a:ln w="25400">
            <a:solidFill>
              <a:srgbClr val="5D5D72"/>
            </a:solidFill>
            <a:prstDash val="solid"/>
            <a:tailEnd type="triangle"/>
          </a:ln>
        </p:spPr>
        <p:txBody>
          <a:bodyPr/>
          <a:p/>
        </p:txBody>
      </p:sp>
      <p:sp>
        <p:nvSpPr>
          <p:cNvPr id="9" name="Text 7"/>
          <p:cNvSpPr txBox="1"/>
          <p:nvPr/>
        </p:nvSpPr>
        <p:spPr>
          <a:xfrm>
            <a:off x="3154680" y="43571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Yes</a:t>
            </a:r>
            <a:endParaRPr lang="en-US" sz="1050" dirty="0"/>
          </a:p>
        </p:txBody>
      </p:sp>
      <p:sp>
        <p:nvSpPr>
          <p:cNvPr id="10" name="Shape 8"/>
          <p:cNvSpPr/>
          <p:nvPr/>
        </p:nvSpPr>
        <p:spPr>
          <a:xfrm>
            <a:off x="6675120" y="3840480"/>
            <a:ext cx="2560320" cy="1005840"/>
          </a:xfrm>
          <a:prstGeom prst="line">
            <a:avLst/>
          </a:prstGeom>
          <a:noFill/>
          <a:ln w="25400">
            <a:solidFill>
              <a:srgbClr val="5D5D72"/>
            </a:solidFill>
            <a:prstDash val="solid"/>
            <a:tailEnd type="triangle"/>
          </a:ln>
        </p:spPr>
        <p:txBody>
          <a:bodyPr/>
          <a:p/>
        </p:txBody>
      </p:sp>
      <p:sp>
        <p:nvSpPr>
          <p:cNvPr id="11" name="Text 9"/>
          <p:cNvSpPr txBox="1"/>
          <p:nvPr/>
        </p:nvSpPr>
        <p:spPr>
          <a:xfrm>
            <a:off x="7040880" y="419709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No</a:t>
            </a:r>
            <a:endParaRPr lang="en-US" sz="1050" dirty="0"/>
          </a:p>
        </p:txBody>
      </p:sp>
      <p:sp>
        <p:nvSpPr>
          <p:cNvPr id="12" name="Shape 10"/>
          <p:cNvSpPr/>
          <p:nvPr/>
        </p:nvSpPr>
        <p:spPr>
          <a:xfrm>
            <a:off x="822960" y="2194560"/>
            <a:ext cx="3291840" cy="548640"/>
          </a:xfrm>
          <a:prstGeom prst="rect">
            <a:avLst/>
          </a:prstGeom>
          <a:solidFill>
            <a:srgbClr val="2B2B7A"/>
          </a:solidFill>
          <a:ln/>
        </p:spPr>
        <p:txBody>
          <a:bodyPr/>
          <a:p/>
        </p:txBody>
      </p:sp>
      <p:sp>
        <p:nvSpPr>
          <p:cNvPr id="13" name="Text 11"/>
          <p:cNvSpPr txBox="1"/>
          <p:nvPr/>
        </p:nvSpPr>
        <p:spPr>
          <a:xfrm>
            <a:off x="877824" y="2194560"/>
            <a:ext cx="3182112" cy="548640"/>
          </a:xfrm>
          <a:prstGeom prst="rect">
            <a:avLst/>
          </a:prstGeom>
          <a:noFill/>
          <a:ln/>
        </p:spPr>
        <p:txBody>
          <a:bodyPr wrap="square" lIns="0" tIns="0" rIns="0" bIns="0" rtlCol="0" anchor="ctr"/>
          <a:lstStyle/>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Browser</a:t>
            </a:r>
            <a:endParaRPr lang="en-US" sz="1100" dirty="0"/>
          </a:p>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fetch("https://api.example.com/data")</a:t>
            </a:r>
            <a:endParaRPr lang="en-US" sz="1100" dirty="0"/>
          </a:p>
        </p:txBody>
      </p:sp>
      <p:sp>
        <p:nvSpPr>
          <p:cNvPr id="14" name="Shape 12"/>
          <p:cNvSpPr/>
          <p:nvPr/>
        </p:nvSpPr>
        <p:spPr>
          <a:xfrm>
            <a:off x="8138160" y="2194560"/>
            <a:ext cx="3200400" cy="548640"/>
          </a:xfrm>
          <a:prstGeom prst="rect">
            <a:avLst/>
          </a:prstGeom>
          <a:solidFill>
            <a:srgbClr val="2B2B7A"/>
          </a:solidFill>
          <a:ln/>
        </p:spPr>
        <p:txBody>
          <a:bodyPr/>
          <a:p/>
        </p:txBody>
      </p:sp>
      <p:sp>
        <p:nvSpPr>
          <p:cNvPr id="15" name="Text 13"/>
          <p:cNvSpPr txBox="1"/>
          <p:nvPr/>
        </p:nvSpPr>
        <p:spPr>
          <a:xfrm>
            <a:off x="8193024" y="2194560"/>
            <a:ext cx="3090672" cy="54864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api.example.com</a:t>
            </a:r>
            <a:endParaRPr lang="en-US" sz="1250" dirty="0"/>
          </a:p>
        </p:txBody>
      </p:sp>
      <p:sp>
        <p:nvSpPr>
          <p:cNvPr id="16" name="Shape 14"/>
          <p:cNvSpPr/>
          <p:nvPr/>
        </p:nvSpPr>
        <p:spPr>
          <a:xfrm>
            <a:off x="4480560" y="3383280"/>
            <a:ext cx="3200400" cy="777240"/>
          </a:xfrm>
          <a:prstGeom prst="diamond">
            <a:avLst/>
          </a:prstGeom>
          <a:solidFill>
            <a:srgbClr val="FF8A3D"/>
          </a:solidFill>
          <a:ln/>
        </p:spPr>
        <p:txBody>
          <a:bodyPr/>
          <a:p/>
        </p:txBody>
      </p:sp>
      <p:sp>
        <p:nvSpPr>
          <p:cNvPr id="17" name="Text 15"/>
          <p:cNvSpPr txBox="1"/>
          <p:nvPr/>
        </p:nvSpPr>
        <p:spPr>
          <a:xfrm>
            <a:off x="4535424" y="3383280"/>
            <a:ext cx="3090672" cy="777240"/>
          </a:xfrm>
          <a:prstGeom prst="rect">
            <a:avLst/>
          </a:prstGeom>
          <a:noFill/>
          <a:ln/>
        </p:spPr>
        <p:txBody>
          <a:bodyPr wrap="square" lIns="0" tIns="0" rIns="0" bIns="0" rtlCol="0" anchor="ctr"/>
          <a:lstStyle/>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Access-Control-</a:t>
            </a:r>
            <a:endParaRPr lang="en-US" sz="1100" dirty="0"/>
          </a:p>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Allow-Origin</a:t>
            </a:r>
            <a:endParaRPr lang="en-US" sz="1100" dirty="0"/>
          </a:p>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allows this origin?</a:t>
            </a:r>
            <a:endParaRPr lang="en-US" sz="1100" dirty="0"/>
          </a:p>
        </p:txBody>
      </p:sp>
      <p:sp>
        <p:nvSpPr>
          <p:cNvPr id="18" name="Shape 16"/>
          <p:cNvSpPr/>
          <p:nvPr/>
        </p:nvSpPr>
        <p:spPr>
          <a:xfrm>
            <a:off x="914400" y="4846320"/>
            <a:ext cx="3840480" cy="548640"/>
          </a:xfrm>
          <a:prstGeom prst="rect">
            <a:avLst/>
          </a:prstGeom>
          <a:solidFill>
            <a:srgbClr val="3FA66B"/>
          </a:solidFill>
          <a:ln/>
        </p:spPr>
        <p:txBody>
          <a:bodyPr/>
          <a:p/>
        </p:txBody>
      </p:sp>
      <p:sp>
        <p:nvSpPr>
          <p:cNvPr id="19" name="Text 17"/>
          <p:cNvSpPr txBox="1"/>
          <p:nvPr/>
        </p:nvSpPr>
        <p:spPr>
          <a:xfrm>
            <a:off x="969264" y="4846320"/>
            <a:ext cx="3730752" cy="54864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JS can read the response</a:t>
            </a:r>
            <a:endParaRPr lang="en-US" sz="1250" dirty="0"/>
          </a:p>
        </p:txBody>
      </p:sp>
      <p:sp>
        <p:nvSpPr>
          <p:cNvPr id="20" name="Shape 18"/>
          <p:cNvSpPr/>
          <p:nvPr/>
        </p:nvSpPr>
        <p:spPr>
          <a:xfrm>
            <a:off x="7315200" y="4846320"/>
            <a:ext cx="3931920" cy="548640"/>
          </a:xfrm>
          <a:prstGeom prst="rect">
            <a:avLst/>
          </a:prstGeom>
          <a:solidFill>
            <a:srgbClr val="E67528"/>
          </a:solidFill>
          <a:ln/>
        </p:spPr>
        <p:txBody>
          <a:bodyPr/>
          <a:p/>
        </p:txBody>
      </p:sp>
      <p:sp>
        <p:nvSpPr>
          <p:cNvPr id="21" name="Text 19"/>
          <p:cNvSpPr txBox="1"/>
          <p:nvPr/>
        </p:nvSpPr>
        <p:spPr>
          <a:xfrm>
            <a:off x="7370064" y="4846320"/>
            <a:ext cx="3822192" cy="54864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Browser BLOCKS the JS</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from reading it (CORS error)</a:t>
            </a:r>
            <a:endParaRPr lang="en-US" sz="1200" dirty="0"/>
          </a:p>
        </p:txBody>
      </p:sp>
      <p:sp>
        <p:nvSpPr>
          <p:cNvPr id="22" name="Text 20"/>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The network request may technically succeed either way -- CORS only controls whether your JavaScript is allowed to read the response.</a:t>
            </a:r>
            <a:endParaRPr lang="en-US" sz="1250" dirty="0"/>
          </a:p>
        </p:txBody>
      </p:sp>
      <p:sp>
        <p:nvSpPr>
          <p:cNvPr id="2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34</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CORS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CORS Is Not Something You Can Bypass</a:t>
            </a:r>
            <a:endParaRPr lang="en-US" sz="3400" dirty="0"/>
          </a:p>
        </p:txBody>
      </p:sp>
      <p:sp>
        <p:nvSpPr>
          <p:cNvPr id="4" name="Shape 2"/>
          <p:cNvSpPr/>
          <p:nvPr/>
        </p:nvSpPr>
        <p:spPr>
          <a:xfrm>
            <a:off x="640080" y="1965960"/>
            <a:ext cx="10911535" cy="1737360"/>
          </a:xfrm>
          <a:prstGeom prst="roundRect">
            <a:avLst>
              <a:gd name="adj" fmla="val 3158"/>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If you see a CORS error, the fix belongs on the server (adding the right Access-Control-Allow-Origin header), not in your fetch call. You'll work with server configuration, including CORS, starting in Unit 5.</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35</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15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txBody>
          <a:bodyPr/>
          <a:p/>
        </p:txBody>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Synchronous code blocks the single JS thread; asynchronous code lets long operations happen in the background without freezing the page.</a:t>
            </a:r>
            <a:endParaRPr lang="en-US" sz="1250" dirty="0"/>
          </a:p>
        </p:txBody>
      </p:sp>
      <p:sp>
        <p:nvSpPr>
          <p:cNvPr id="7" name="Shape 5"/>
          <p:cNvSpPr/>
          <p:nvPr/>
        </p:nvSpPr>
        <p:spPr>
          <a:xfrm>
            <a:off x="822960" y="2956560"/>
            <a:ext cx="438912" cy="438912"/>
          </a:xfrm>
          <a:prstGeom prst="ellipse">
            <a:avLst/>
          </a:prstGeom>
          <a:solidFill>
            <a:srgbClr val="FF8A3D"/>
          </a:solidFill>
          <a:ln/>
        </p:spPr>
        <p:txBody>
          <a:bodyPr/>
          <a:p/>
        </p:txBody>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The event loop moves finished tasks from the queue onto the call stack whenever it's empty -- this is how setTimeout and Promise callbacks run.</a:t>
            </a:r>
            <a:endParaRPr lang="en-US" sz="1250" dirty="0"/>
          </a:p>
        </p:txBody>
      </p:sp>
      <p:sp>
        <p:nvSpPr>
          <p:cNvPr id="10" name="Shape 8"/>
          <p:cNvSpPr/>
          <p:nvPr/>
        </p:nvSpPr>
        <p:spPr>
          <a:xfrm>
            <a:off x="822960" y="3627120"/>
            <a:ext cx="438912" cy="438912"/>
          </a:xfrm>
          <a:prstGeom prst="ellipse">
            <a:avLst/>
          </a:prstGeom>
          <a:solidFill>
            <a:srgbClr val="FF8A3D"/>
          </a:solidFill>
          <a:ln/>
        </p:spPr>
        <p:txBody>
          <a:bodyPr/>
          <a:p/>
        </p:txBody>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 Promise moves through pending, fulfilled, and rejected; chaining .then() calls replaces nested callback hell.</a:t>
            </a:r>
            <a:endParaRPr lang="en-US" sz="1250" dirty="0"/>
          </a:p>
        </p:txBody>
      </p:sp>
      <p:sp>
        <p:nvSpPr>
          <p:cNvPr id="13" name="Shape 11"/>
          <p:cNvSpPr/>
          <p:nvPr/>
        </p:nvSpPr>
        <p:spPr>
          <a:xfrm>
            <a:off x="822960" y="4297680"/>
            <a:ext cx="438912" cy="438912"/>
          </a:xfrm>
          <a:prstGeom prst="ellipse">
            <a:avLst/>
          </a:prstGeom>
          <a:solidFill>
            <a:srgbClr val="FF8A3D"/>
          </a:solidFill>
          <a:ln/>
        </p:spPr>
        <p:txBody>
          <a:bodyPr/>
          <a:p/>
        </p:txBody>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Promise.all runs multiple promises in parallel and waits for all of them, or fails fast if any one rejects.</a:t>
            </a:r>
            <a:endParaRPr lang="en-US" sz="1250" dirty="0"/>
          </a:p>
        </p:txBody>
      </p:sp>
      <p:sp>
        <p:nvSpPr>
          <p:cNvPr id="16" name="Shape 14"/>
          <p:cNvSpPr/>
          <p:nvPr/>
        </p:nvSpPr>
        <p:spPr>
          <a:xfrm>
            <a:off x="822960" y="4968240"/>
            <a:ext cx="438912" cy="438912"/>
          </a:xfrm>
          <a:prstGeom prst="ellipse">
            <a:avLst/>
          </a:prstGeom>
          <a:solidFill>
            <a:srgbClr val="FF8A3D"/>
          </a:solidFill>
          <a:ln/>
        </p:spPr>
        <p:txBody>
          <a:bodyPr/>
          <a:p/>
        </p:txBody>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async/await is Promise-based syntax that reads like synchronous code; errors are handled with ordinary try...catch.</a:t>
            </a:r>
            <a:endParaRPr lang="en-US" sz="1250" dirty="0"/>
          </a:p>
        </p:txBody>
      </p:sp>
      <p:sp>
        <p:nvSpPr>
          <p:cNvPr id="19" name="Shape 17"/>
          <p:cNvSpPr/>
          <p:nvPr/>
        </p:nvSpPr>
        <p:spPr>
          <a:xfrm>
            <a:off x="822960" y="5638800"/>
            <a:ext cx="438912" cy="438912"/>
          </a:xfrm>
          <a:prstGeom prst="ellipse">
            <a:avLst/>
          </a:prstGeom>
          <a:solidFill>
            <a:srgbClr val="FF8A3D"/>
          </a:solidFill>
          <a:ln/>
        </p:spPr>
        <p:txBody>
          <a:bodyPr/>
          <a:p/>
        </p:txBody>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fetch() rejects only on true network failure, not on HTTP error codes -- always check response.ok; CORS is a browser rule enforced via response headers, fixable only on the server.</a:t>
            </a:r>
            <a:endParaRPr lang="en-US" sz="1250" dirty="0"/>
          </a:p>
        </p:txBody>
      </p:sp>
      <p:sp>
        <p:nvSpPr>
          <p:cNvPr id="2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36</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Moving Parts</a:t>
            </a:r>
            <a:endParaRPr lang="en-US" sz="3400" dirty="0"/>
          </a:p>
        </p:txBody>
      </p:sp>
      <p:sp>
        <p:nvSpPr>
          <p:cNvPr id="101" name="Shape 101"/>
          <p:cNvSpPr/>
          <p:nvPr/>
        </p:nvSpPr>
        <p:spPr>
          <a:xfrm>
            <a:off x="900000" y="2150000"/>
            <a:ext cx="2900000" cy="1300000"/>
          </a:xfrm>
          <a:prstGeom prst="roundRect">
            <a:avLst>
              <a:gd name="adj" fmla="val 5333"/>
            </a:avLst>
          </a:prstGeom>
          <a:solidFill>
            <a:srgbClr val="2B2B7A"/>
          </a:solidFill>
          <a:ln/>
        </p:spPr>
        <p:txBody>
          <a:bodyPr/>
          <a:p/>
        </p:txBody>
      </p:sp>
      <p:sp>
        <p:nvSpPr>
          <p:cNvPr id="102" name="Text 102"/>
          <p:cNvSpPr txBox="1"/>
          <p:nvPr/>
        </p:nvSpPr>
        <p:spPr>
          <a:xfrm>
            <a:off x="900000" y="2150000"/>
            <a:ext cx="2900000" cy="13000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Call Stack</a:t>
            </a:r>
            <a:endParaRPr lang="en-US" sz="1400" dirty="0"/>
          </a:p>
        </p:txBody>
      </p:sp>
      <p:sp>
        <p:nvSpPr>
          <p:cNvPr id="103" name="Shape 103"/>
          <p:cNvSpPr/>
          <p:nvPr/>
        </p:nvSpPr>
        <p:spPr>
          <a:xfrm>
            <a:off x="4750000" y="2150000"/>
            <a:ext cx="2900000" cy="1300000"/>
          </a:xfrm>
          <a:prstGeom prst="roundRect">
            <a:avLst>
              <a:gd name="adj" fmla="val 5333"/>
            </a:avLst>
          </a:prstGeom>
          <a:solidFill>
            <a:srgbClr val="1E1E4C"/>
          </a:solidFill>
          <a:ln/>
        </p:spPr>
        <p:txBody>
          <a:bodyPr/>
          <a:p/>
        </p:txBody>
      </p:sp>
      <p:sp>
        <p:nvSpPr>
          <p:cNvPr id="104" name="Text 104"/>
          <p:cNvSpPr txBox="1"/>
          <p:nvPr/>
        </p:nvSpPr>
        <p:spPr>
          <a:xfrm>
            <a:off x="4750000" y="2150000"/>
            <a:ext cx="2900000" cy="13000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Web APIs</a:t>
            </a:r>
            <a:endParaRPr lang="en-US" sz="1400" dirty="0"/>
          </a:p>
          <a:p>
            <a:pPr algn="ctr" indent="0" marL="0">
              <a:buNone/>
            </a:pPr>
            <a:r>
              <a:rPr lang="en-US" sz="1100" dirty="0">
                <a:solidFill>
                  <a:srgbClr val="C9D3F5"/>
                </a:solidFill>
                <a:latin typeface="Calibri" pitchFamily="34" charset="0"/>
                <a:ea typeface="Calibri" pitchFamily="34" charset="-122"/>
                <a:cs typeface="Calibri" pitchFamily="34" charset="-120"/>
              </a:rPr>
              <a:t>(Browser / Node)</a:t>
            </a:r>
            <a:endParaRPr lang="en-US" sz="1100" dirty="0"/>
          </a:p>
        </p:txBody>
      </p:sp>
      <p:sp>
        <p:nvSpPr>
          <p:cNvPr id="105" name="Shape 105"/>
          <p:cNvSpPr/>
          <p:nvPr/>
        </p:nvSpPr>
        <p:spPr>
          <a:xfrm>
            <a:off x="8600000" y="2150000"/>
            <a:ext cx="2650000" cy="1300000"/>
          </a:xfrm>
          <a:prstGeom prst="roundRect">
            <a:avLst>
              <a:gd name="adj" fmla="val 5333"/>
            </a:avLst>
          </a:prstGeom>
          <a:solidFill>
            <a:srgbClr val="FF8A3D"/>
          </a:solidFill>
          <a:ln/>
        </p:spPr>
        <p:txBody>
          <a:bodyPr/>
          <a:p/>
        </p:txBody>
      </p:sp>
      <p:sp>
        <p:nvSpPr>
          <p:cNvPr id="106" name="Text 106"/>
          <p:cNvSpPr txBox="1"/>
          <p:nvPr/>
        </p:nvSpPr>
        <p:spPr>
          <a:xfrm>
            <a:off x="8600000" y="2150000"/>
            <a:ext cx="2650000" cy="13000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Task Queues</a:t>
            </a:r>
            <a:endParaRPr lang="en-US" sz="1400" dirty="0"/>
          </a:p>
          <a:p>
            <a:pPr algn="ctr" indent="0" marL="0">
              <a:buNone/>
            </a:pPr>
            <a:r>
              <a:rPr lang="en-US" sz="1100" dirty="0">
                <a:solidFill>
                  <a:srgbClr val="C9D3F5"/>
                </a:solidFill>
                <a:latin typeface="Calibri" pitchFamily="34" charset="0"/>
                <a:ea typeface="Calibri" pitchFamily="34" charset="-122"/>
                <a:cs typeface="Calibri" pitchFamily="34" charset="-120"/>
              </a:rPr>
              <a:t>macro + micro</a:t>
            </a:r>
            <a:endParaRPr lang="en-US" sz="1100" dirty="0"/>
          </a:p>
        </p:txBody>
      </p:sp>
      <p:sp>
        <p:nvSpPr>
          <p:cNvPr id="107" name="Line 107"/>
          <p:cNvSpPr/>
          <p:nvPr/>
        </p:nvSpPr>
        <p:spPr>
          <a:xfrm>
            <a:off x="3800000" y="2800000"/>
            <a:ext cx="950000" cy="0"/>
          </a:xfrm>
          <a:prstGeom prst="line">
            <a:avLst/>
          </a:prstGeom>
          <a:noFill/>
          <a:ln w="25400">
            <a:solidFill>
              <a:srgbClr val="5D5D72"/>
            </a:solidFill>
            <a:prstDash val="solid"/>
            <a:headEnd type="none"/>
            <a:tailEnd type="triangle"/>
          </a:ln>
        </p:spPr>
        <p:txBody>
          <a:bodyPr/>
          <a:p/>
        </p:txBody>
      </p:sp>
      <p:sp>
        <p:nvSpPr>
          <p:cNvPr id="108" name="Line 108"/>
          <p:cNvSpPr/>
          <p:nvPr/>
        </p:nvSpPr>
        <p:spPr>
          <a:xfrm>
            <a:off x="7650000" y="2800000"/>
            <a:ext cx="950000" cy="0"/>
          </a:xfrm>
          <a:prstGeom prst="line">
            <a:avLst/>
          </a:prstGeom>
          <a:noFill/>
          <a:ln w="25400">
            <a:solidFill>
              <a:srgbClr val="5D5D72"/>
            </a:solidFill>
            <a:prstDash val="solid"/>
            <a:headEnd type="none"/>
            <a:tailEnd type="triangle"/>
          </a:ln>
        </p:spPr>
        <p:txBody>
          <a:bodyPr/>
          <a:p/>
        </p:txBody>
      </p:sp>
      <p:sp>
        <p:nvSpPr>
          <p:cNvPr id="109" name="Line 109"/>
          <p:cNvSpPr/>
          <p:nvPr/>
        </p:nvSpPr>
        <p:spPr>
          <a:xfrm>
            <a:off x="9925000" y="3450000"/>
            <a:ext cx="0" cy="1250000"/>
          </a:xfrm>
          <a:prstGeom prst="line">
            <a:avLst/>
          </a:prstGeom>
          <a:noFill/>
          <a:ln w="25400">
            <a:solidFill>
              <a:srgbClr val="5D5D72"/>
            </a:solidFill>
            <a:prstDash val="solid"/>
            <a:headEnd type="none"/>
            <a:tailEnd type="none"/>
          </a:ln>
        </p:spPr>
        <p:txBody>
          <a:bodyPr/>
          <a:p/>
        </p:txBody>
      </p:sp>
      <p:sp>
        <p:nvSpPr>
          <p:cNvPr id="110" name="Line 110"/>
          <p:cNvSpPr/>
          <p:nvPr/>
        </p:nvSpPr>
        <p:spPr>
          <a:xfrm>
            <a:off x="2350000" y="4700000"/>
            <a:ext cx="7575000" cy="0"/>
          </a:xfrm>
          <a:prstGeom prst="line">
            <a:avLst/>
          </a:prstGeom>
          <a:noFill/>
          <a:ln w="25400">
            <a:solidFill>
              <a:srgbClr val="5D5D72"/>
            </a:solidFill>
            <a:prstDash val="solid"/>
            <a:headEnd type="none"/>
            <a:tailEnd type="none"/>
          </a:ln>
        </p:spPr>
        <p:txBody>
          <a:bodyPr/>
          <a:p/>
        </p:txBody>
      </p:sp>
      <p:sp>
        <p:nvSpPr>
          <p:cNvPr id="111" name="Line 111"/>
          <p:cNvSpPr/>
          <p:nvPr/>
        </p:nvSpPr>
        <p:spPr>
          <a:xfrm>
            <a:off x="2350000" y="3450000"/>
            <a:ext cx="0" cy="1250000"/>
          </a:xfrm>
          <a:prstGeom prst="line">
            <a:avLst/>
          </a:prstGeom>
          <a:noFill/>
          <a:ln w="25400">
            <a:solidFill>
              <a:srgbClr val="5D5D72"/>
            </a:solidFill>
            <a:prstDash val="solid"/>
            <a:headEnd type="triangle"/>
            <a:tailEnd type="none"/>
          </a:ln>
        </p:spPr>
        <p:txBody>
          <a:bodyPr/>
          <a:p/>
        </p:txBody>
      </p:sp>
      <p:sp>
        <p:nvSpPr>
          <p:cNvPr id="112" name="Label 112"/>
          <p:cNvSpPr txBox="1"/>
          <p:nvPr/>
        </p:nvSpPr>
        <p:spPr>
          <a:xfrm>
            <a:off x="2320000" y="4220000"/>
            <a:ext cx="7635000" cy="400000"/>
          </a:xfrm>
          <a:prstGeom prst="rect">
            <a:avLst/>
          </a:prstGeom>
          <a:noFill/>
          <a:ln/>
        </p:spPr>
        <p:txBody>
          <a:bodyPr wrap="square" lIns="18000" tIns="0" rIns="18000" bIns="0" rtlCol="0" anchor="ctr"/>
          <a:lstStyle/>
          <a:p>
            <a:pPr algn="ctr" indent="0" marL="0">
              <a:buNone/>
            </a:pPr>
            <a:r>
              <a:rPr lang="en-US" sz="1200" b="1" dirty="0">
                <a:solidFill>
                  <a:srgbClr val="B9720E"/>
                </a:solidFill>
                <a:latin typeface="Calibri" pitchFamily="34" charset="0"/>
                <a:ea typeface="Calibri" pitchFamily="34" charset="-122"/>
                <a:cs typeface="Calibri" pitchFamily="34" charset="-120"/>
              </a:rPr>
              <a:t>EVENT LOOP — moves the next queued task onto the stack once it's empty</a:t>
            </a:r>
            <a:endParaRPr lang="en-US" sz="1200" dirty="0"/>
          </a:p>
        </p:txBody>
      </p:sp>
      <p:sp>
        <p:nvSpPr>
          <p:cNvPr id="6" name="Text 4"/>
          <p:cNvSpPr txBox="1"/>
          <p:nvPr/>
        </p:nvSpPr>
        <p:spPr>
          <a:xfrm>
            <a:off x="640080" y="5750000"/>
            <a:ext cx="10911535" cy="6000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Web APIs run async work (timers, fetch, DOM events) off the main thread. When it finishes, the result lands in a queue — the event loop only moves it onto the Call Stack once the stack is completely empty.</a:t>
            </a:r>
            <a:endParaRPr lang="en-US" sz="1300" dirty="0"/>
          </a:p>
        </p:txBody>
      </p:sp>
      <p:sp>
        <p:nvSpPr>
          <p:cNvPr id="9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7</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PUT and DELETE Requests</a:t>
            </a:r>
            <a:endParaRPr lang="en-US" sz="3400" dirty="0"/>
          </a:p>
        </p:txBody>
      </p:sp>
      <p:sp>
        <p:nvSpPr>
          <p:cNvPr id="4" name="Shape 2"/>
          <p:cNvSpPr/>
          <p:nvPr/>
        </p:nvSpPr>
        <p:spPr>
          <a:xfrm>
            <a:off x="640080" y="1965960"/>
            <a:ext cx="10911535" cy="3592068"/>
          </a:xfrm>
          <a:prstGeom prst="roundRect">
            <a:avLst>
              <a:gd name="adj" fmla="val 3887"/>
            </a:avLst>
          </a:prstGeom>
          <a:solidFill>
            <a:srgbClr val="1E1E4C"/>
          </a:solidFill>
          <a:ln/>
        </p:spPr>
        <p:txBody>
          <a:bodyPr/>
          <a:p/>
        </p:txBody>
      </p:sp>
      <p:sp>
        <p:nvSpPr>
          <p:cNvPr id="5" name="Text 3"/>
          <p:cNvSpPr txBox="1"/>
          <p:nvPr/>
        </p:nvSpPr>
        <p:spPr>
          <a:xfrm>
            <a:off x="960120" y="2194560"/>
            <a:ext cx="10271455" cy="3134868"/>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BASE = "https://usmanlive.com/wp-json/api/stories";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updateStory(id, updates)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fetch(`${BASE}/${id}`,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method: "PUT",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headers: { "Content-Type": "application/json"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body: JSON.stringify(updates), // { title, content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}).then(res =&gt; res.json());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deleteStory(id)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fetch(`${BASE}/${id}`, { method: "DELETE"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786628"/>
            <a:ext cx="10911535" cy="519036"/>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PUT updates an existing resource at its own URL; DELETE removes it. Both, like POST, need the resource's :id in the URL — GET and POST are only half of CRUD.</a:t>
            </a:r>
            <a:endParaRPr lang="en-US" sz="1300" dirty="0"/>
          </a:p>
        </p:txBody>
      </p:sp>
      <p:sp>
        <p:nvSpPr>
          <p:cNvPr id="9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Try the Full CRUD Example</a:t>
            </a:r>
            <a:endParaRPr lang="en-US" sz="3400" dirty="0"/>
          </a:p>
        </p:txBody>
      </p:sp>
      <p:sp>
        <p:nvSpPr>
          <p:cNvPr id="4" name="Shape 2"/>
          <p:cNvSpPr/>
          <p:nvPr/>
        </p:nvSpPr>
        <p:spPr>
          <a:xfrm>
            <a:off x="640080" y="1965960"/>
            <a:ext cx="10911535" cy="2606040"/>
          </a:xfrm>
          <a:prstGeom prst="roundRect">
            <a:avLst>
              <a:gd name="adj" fmla="val 3887"/>
            </a:avLst>
          </a:prstGeom>
          <a:solidFill>
            <a:srgbClr val="1E1E4C"/>
          </a:solidFill>
          <a:ln/>
        </p:spPr>
        <p:txBody>
          <a:bodyPr/>
          <a:p/>
        </p:txBody>
      </p:sp>
      <p:sp>
        <p:nvSpPr>
          <p:cNvPr id="2194560" name="Link2194560"/>
          <p:cNvSpPr txBox="1"/>
          <p:nvPr/>
        </p:nvSpPr>
        <p:spPr>
          <a:xfrm>
            <a:off x="960120" y="2194560"/>
            <a:ext cx="10271455" cy="70000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rPr>
              <a:t>API Documentation &amp; Endpoint Reference</a:t>
            </a:r>
          </a:p>
          <a:p>
            <a:pPr indent="0" marL="0">
              <a:buNone/>
            </a:pPr>
            <a:r>
              <a:rPr lang="en-US" sz="1400" u="sng" dirty="0">
                <a:solidFill>
                  <a:srgbClr val="35E7C4"/>
                </a:solidFill>
                <a:latin typeface="Courier New" pitchFamily="34" charset="0"/>
                <a:hlinkClick r:id="rId10"/>
              </a:rPr>
              <a:t>usmanlive.com/fake-stories-restful-api</a:t>
            </a:r>
          </a:p>
        </p:txBody>
      </p:sp>
      <p:sp>
        <p:nvSpPr>
          <p:cNvPr id="3200000" name="Link3200000"/>
          <p:cNvSpPr txBox="1"/>
          <p:nvPr/>
        </p:nvSpPr>
        <p:spPr>
          <a:xfrm>
            <a:off x="960120" y="3200000"/>
            <a:ext cx="10271455" cy="70000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rPr>
              <a:t>Live CRUD Demo (jQuery/Bootstrap, using this exact API)</a:t>
            </a:r>
          </a:p>
          <a:p>
            <a:pPr indent="0" marL="0">
              <a:buNone/>
            </a:pPr>
            <a:r>
              <a:rPr lang="en-US" sz="1400" u="sng" dirty="0">
                <a:solidFill>
                  <a:srgbClr val="35E7C4"/>
                </a:solidFill>
                <a:latin typeface="Courier New" pitchFamily="34" charset="0"/>
                <a:hlinkClick r:id="rId11"/>
              </a:rPr>
              <a:t>ajaxcrud.usmanlive.com</a:t>
            </a:r>
          </a:p>
        </p:txBody>
      </p:sp>
      <p:sp>
        <p:nvSpPr>
          <p:cNvPr id="6" name="Text 4"/>
          <p:cNvSpPr txBox="1"/>
          <p:nvPr/>
        </p:nvSpPr>
        <p:spPr>
          <a:xfrm>
            <a:off x="640080" y="4800000"/>
            <a:ext cx="10911535" cy="10000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rPr>
              <a:t>Every fetch example in this section talks to a real practice API built for this course — GET, POST, PUT, and DELETE all work against it.</a:t>
            </a:r>
            <a:endParaRPr lang="en-US" sz="1300" dirty="0"/>
          </a:p>
        </p:txBody>
      </p:sp>
      <p:sp>
        <p:nvSpPr>
          <p:cNvPr id="9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Asynchronous JavaScript: Promises and Fetch API</dc:title>
  <dc:subject>CSC336 Web Technologies</dc:subject>
  <dc:creator>Usman Akram</dc:creator>
  <cp:lastModifiedBy>Usman Akram</cp:lastModifiedBy>
  <cp:revision>1</cp:revision>
  <dcterms:created xsi:type="dcterms:W3CDTF">2026-09-22T05:49:16Z</dcterms:created>
  <dcterms:modified xsi:type="dcterms:W3CDTF">2026-09-22T05:49:16Z</dcterms:modified>
</cp:coreProperties>
</file>
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89" r:id="rId40"/>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92" r:id="rId43"/>
    <p:sldId id="293" r:id="rId44"/>
    <p:sldId id="294" r:id="rId45"/>
    <p:sldId id="279" r:id="rId25"/>
    <p:sldId id="280" r:id="rId26"/>
    <p:sldId id="281" r:id="rId27"/>
    <p:sldId id="282" r:id="rId28"/>
    <p:sldId id="290" r:id="rId41"/>
    <p:sldId id="283" r:id="rId29"/>
    <p:sldId id="284" r:id="rId30"/>
    <p:sldId id="291" r:id="rId42"/>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slide" Target="slides/slide39.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cuinotes.com"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hyperlink" Target="https://cuinotes.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hyperlink" Target="https://cuinotes.com"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cuinotes.com" TargetMode="Externa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 Id="rId4" Type="http://schemas.openxmlformats.org/officeDocument/2006/relationships/hyperlink" Target="https://cuinotes.com"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hyperlink" Target="https://cuinotes.com"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hyperlink" Target="https://cuinotes.com"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hyperlink" Target="https://cuinotes.co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hyperlink" Target="https://cuinotes.com"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hyperlink" Target="https://cuinotes.com"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hyperlink" Target="https://cuinotes.com"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hyperlink" Target="https://cuinotes.com"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hyperlink" Target="https://cuinotes.com" TargetMode="Externa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hyperlink" Target="https://cuinotes.com"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hyperlink" Target="https://cuinotes.com"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cuinotes.com" TargetMode="Externa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 Id="rId4" Type="http://schemas.openxmlformats.org/officeDocument/2006/relationships/hyperlink" Target="https://cuinotes.com"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hyperlink" Target="https://cuinotes.com"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cuinotes.com"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hyperlink" Target="https://cuinotes.com" TargetMode="Externa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 Id="rId4" Type="http://schemas.openxmlformats.org/officeDocument/2006/relationships/hyperlink" Target="https://cuinotes.com"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hyperlink" Target="https://cuinotes.com"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hyperlink" Target="https://cuinotes.com"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hyperlink" Target="https://cuinotes.com"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cuinotes.com" TargetMode="Externa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 Id="rId4" Type="http://schemas.openxmlformats.org/officeDocument/2006/relationships/hyperlink" Target="https://cuinotes.com"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hyperlink" Target="https://cuinotes.com"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cuinotes.com"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hyperlink" Target="https://cuinotes.com"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hyperlink" Target="https://cuinotes.com"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hyperlink" Target="https://cuinotes.com"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hyperlink" Target="https://cuinotes.com"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hyperlink" Target="https://cuinotes.com"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cuinotes.com"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cuinotes.com"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cuinotes.com" TargetMode="External"/><Relationship Id="rId10" Type="http://schemas.openxmlformats.org/officeDocument/2006/relationships/hyperlink" Target="https://usmanlive.com/fake-stories-restful-api/" TargetMode="External"/><Relationship Id="rId11" Type="http://schemas.openxmlformats.org/officeDocument/2006/relationships/hyperlink" Target="https://ajaxcrud.usmanlive.com/"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cuinotes.com"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cuinotes.com"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hyperlink" Target="https://cuinotes.com"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1965960"/>
            <a:ext cx="73152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LECTURE 15</a:t>
            </a:r>
            <a:endParaRPr lang="en-US" sz="1500" dirty="0"/>
          </a:p>
        </p:txBody>
      </p:sp>
      <p:sp>
        <p:nvSpPr>
          <p:cNvPr id="3" name="Text 1"/>
          <p:cNvSpPr txBox="1"/>
          <p:nvPr/>
        </p:nvSpPr>
        <p:spPr>
          <a:xfrm>
            <a:off x="777240" y="2377440"/>
            <a:ext cx="8686800" cy="1920240"/>
          </a:xfrm>
          <a:prstGeom prst="rect">
            <a:avLst/>
          </a:prstGeom>
          <a:noFill/>
          <a:ln/>
        </p:spPr>
        <p:txBody>
          <a:bodyPr wrap="square" lIns="0" tIns="0" rIns="0" bIns="0" rtlCol="0" anchor="ctr"/>
          <a:lstStyle/>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Asynchronous JavaScript:</a:t>
            </a:r>
            <a:endParaRPr lang="en-US" sz="4000" dirty="0"/>
          </a:p>
          <a:p>
            <a:pPr indent="0" marL="0">
              <a:lnSpc>
                <a:spcPct val="105000"/>
              </a:lnSpc>
              <a:buNone/>
            </a:pPr>
            <a:r>
              <a:rPr lang="en-US" sz="4000" b="1" dirty="0">
                <a:solidFill>
                  <a:srgbClr val="FFFFFF"/>
                </a:solidFill>
                <a:latin typeface="Cambria" pitchFamily="34" charset="0"/>
                <a:ea typeface="Cambria" pitchFamily="34" charset="-122"/>
                <a:cs typeface="Cambria" pitchFamily="34" charset="-120"/>
              </a:rPr>
              <a:t>Promises and Fetch</a:t>
            </a:r>
            <a:endParaRPr lang="en-US" sz="4000" dirty="0"/>
          </a:p>
        </p:txBody>
      </p:sp>
      <p:sp>
        <p:nvSpPr>
          <p:cNvPr id="4" name="Text 2"/>
          <p:cNvSpPr txBox="1"/>
          <p:nvPr/>
        </p:nvSpPr>
        <p:spPr>
          <a:xfrm>
            <a:off x="822960" y="4389120"/>
            <a:ext cx="8961120" cy="822960"/>
          </a:xfrm>
          <a:prstGeom prst="rect">
            <a:avLst/>
          </a:prstGeom>
          <a:noFill/>
          <a:ln/>
        </p:spPr>
        <p:txBody>
          <a:bodyPr wrap="square" lIns="0" tIns="0" rIns="0" bIns="0" rtlCol="0" anchor="ctr"/>
          <a:lstStyle/>
          <a:p>
            <a:pPr indent="0" marL="0">
              <a:buNone/>
            </a:pPr>
            <a:r>
              <a:rPr lang="en-US" sz="1500" dirty="0">
                <a:solidFill>
                  <a:srgbClr val="C9D3F5"/>
                </a:solidFill>
                <a:latin typeface="Calibri" pitchFamily="34" charset="0"/>
                <a:ea typeface="Calibri" pitchFamily="34" charset="-122"/>
                <a:cs typeface="Calibri" pitchFamily="34" charset="-120"/>
              </a:rPr>
              <a:t>How JavaScript waits on things that take time — without ever freezing the page.</a:t>
            </a:r>
            <a:endParaRPr lang="en-US" sz="1500" dirty="0"/>
          </a:p>
        </p:txBody>
      </p:sp>
      <p:sp>
        <p:nvSpPr>
          <p:cNvPr id="5" name="Text 3"/>
          <p:cNvSpPr txBox="1"/>
          <p:nvPr/>
        </p:nvSpPr>
        <p:spPr>
          <a:xfrm>
            <a:off x="822960" y="5943600"/>
            <a:ext cx="8229600" cy="365760"/>
          </a:xfrm>
          <a:prstGeom prst="rect">
            <a:avLst/>
          </a:prstGeom>
          <a:noFill/>
          <a:ln/>
        </p:spPr>
        <p:txBody>
          <a:bodyPr wrap="square" lIns="0" tIns="0" rIns="0" bIns="0" rtlCol="0" anchor="ctr"/>
          <a:lstStyle/>
          <a:p>
            <a:pPr indent="0" marL="0">
              <a:buNone/>
            </a:pPr>
            <a:r>
              <a:rPr lang="en-US" sz="1200" dirty="0">
                <a:solidFill>
                  <a:srgbClr val="9AA3D8"/>
                </a:solidFill>
                <a:latin typeface="Calibri" pitchFamily="34" charset="0"/>
                <a:ea typeface="Calibri" pitchFamily="34" charset="-122"/>
                <a:cs typeface="Calibri" pitchFamily="34" charset="-120"/>
              </a:rPr>
              <a:t>CSC336 Web Technologies</a:t>
            </a:r>
            <a:endParaRPr lang="en-US" sz="12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OVERVIEW</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In This Lecture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Synchronous vs. asynchronous execution, the event loop, task queue, and "callback hell"</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Promises: their three states, .then/.catch/.finally, chaining, and Promise.all</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async/await, and error handling with try...catch</a:t>
            </a:r>
            <a:endParaRPr lang="en-US" sz="1500" dirty="0"/>
          </a:p>
        </p:txBody>
      </p:sp>
      <p:sp>
        <p:nvSpPr>
          <p:cNvPr id="13" name="Shape 11"/>
          <p:cNvSpPr/>
          <p:nvPr/>
        </p:nvSpPr>
        <p:spPr>
          <a:xfrm>
            <a:off x="685800" y="4434840"/>
            <a:ext cx="457200" cy="457200"/>
          </a:xfrm>
          <a:prstGeom prst="ellipse">
            <a:avLst/>
          </a:prstGeom>
          <a:solidFill>
            <a:srgbClr val="FF8A3D"/>
          </a:solidFill>
          <a:ln/>
        </p:spPr>
        <p:txBody>
          <a:bodyPr/>
          <a:p/>
        </p:txBody>
      </p:sp>
      <p:sp>
        <p:nvSpPr>
          <p:cNvPr id="14" name="Text 12"/>
          <p:cNvSpPr txBox="1"/>
          <p:nvPr/>
        </p:nvSpPr>
        <p:spPr>
          <a:xfrm>
            <a:off x="685800" y="443484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5" name="Text 13"/>
          <p:cNvSpPr txBox="1"/>
          <p:nvPr/>
        </p:nvSpPr>
        <p:spPr>
          <a:xfrm>
            <a:off x="1371600" y="436168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REST APIs and HTTP methods (GET/POST/PUT/PATCH/DELETE), with a real example API</a:t>
            </a:r>
            <a:endParaRPr lang="en-US" sz="1500" dirty="0"/>
          </a:p>
        </p:txBody>
      </p:sp>
      <p:sp>
        <p:nvSpPr>
          <p:cNvPr id="30" name="Shape 30"/>
          <p:cNvSpPr/>
          <p:nvPr/>
        </p:nvSpPr>
        <p:spPr>
          <a:xfrm>
            <a:off x="685800" y="5257800"/>
            <a:ext cx="457200" cy="457200"/>
          </a:xfrm>
          <a:prstGeom prst="ellipse">
            <a:avLst/>
          </a:prstGeom>
          <a:solidFill>
            <a:srgbClr val="FF8A3D"/>
          </a:solidFill>
          <a:ln/>
        </p:spPr>
        <p:txBody>
          <a:bodyPr/>
          <a:p/>
        </p:txBody>
      </p:sp>
      <p:sp>
        <p:nvSpPr>
          <p:cNvPr id="31" name="Text 31"/>
          <p:cNvSpPr txBox="1"/>
          <p:nvPr/>
        </p:nvSpPr>
        <p:spPr>
          <a:xfrm>
            <a:off x="685800" y="525780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32" name="Text 32"/>
          <p:cNvSpPr txBox="1"/>
          <p:nvPr/>
        </p:nvSpPr>
        <p:spPr>
          <a:xfrm>
            <a:off x="1371600" y="518464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Making real network requests with the Fetch API: GET/POST, headers, response parsing, and CORS</a:t>
            </a:r>
            <a:endParaRPr lang="en-US" sz="1500" dirty="0"/>
          </a:p>
        </p:txBody>
      </p:sp>
      <p:sp>
        <p:nvSpPr>
          <p:cNvPr id="1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SYNCHRONOUS EXECUTION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One Line at a Time</a:t>
            </a:r>
            <a:endParaRPr lang="en-US" sz="3400" dirty="0"/>
          </a:p>
        </p:txBody>
      </p:sp>
      <p:sp>
        <p:nvSpPr>
          <p:cNvPr id="4" name="Shape 2"/>
          <p:cNvSpPr/>
          <p:nvPr/>
        </p:nvSpPr>
        <p:spPr>
          <a:xfrm>
            <a:off x="640080" y="1965960"/>
            <a:ext cx="10911535" cy="1615440"/>
          </a:xfrm>
          <a:prstGeom prst="roundRect">
            <a:avLst>
              <a:gd name="adj" fmla="val 4528"/>
            </a:avLst>
          </a:prstGeom>
          <a:solidFill>
            <a:srgbClr val="F7F8F9"/>
          </a:solidFill>
          <a:ln w="9525">
            <a:solidFill>
              <a:srgbClr val="D0D5DD"/>
            </a:solidFill>
          </a:ln>
        </p:spPr>
        <p:txBody>
          <a:bodyPr/>
          <a:p/>
        </p:txBody>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console.log("1");</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console.log("2");</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console.log("3");</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Always prints: 1, 2, 3 -- in that exact order, with no gaps</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Each instruction must finish before the next one starts. This is how almost all the code you've written so far behaves.</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ASYNCHRONOUS EXECUTION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Some Things Happen "Later"</a:t>
            </a:r>
            <a:endParaRPr lang="en-US" sz="3400" dirty="0"/>
          </a:p>
        </p:txBody>
      </p:sp>
      <p:sp>
        <p:nvSpPr>
          <p:cNvPr id="4" name="Shape 2"/>
          <p:cNvSpPr/>
          <p:nvPr/>
        </p:nvSpPr>
        <p:spPr>
          <a:xfrm>
            <a:off x="640080" y="1965960"/>
            <a:ext cx="10911535" cy="1615440"/>
          </a:xfrm>
          <a:prstGeom prst="roundRect">
            <a:avLst>
              <a:gd name="adj" fmla="val 4528"/>
            </a:avLst>
          </a:prstGeom>
          <a:solidFill>
            <a:srgbClr val="F7F8F9"/>
          </a:solidFill>
          <a:ln w="9525">
            <a:solidFill>
              <a:srgbClr val="D0D5DD"/>
            </a:solidFill>
          </a:ln>
        </p:spPr>
        <p:txBody>
          <a:bodyPr/>
          <a:p/>
        </p:txBody>
      </p:sp>
      <p:sp>
        <p:nvSpPr>
          <p:cNvPr id="5" name="Text 3"/>
          <p:cNvSpPr txBox="1"/>
          <p:nvPr/>
        </p:nvSpPr>
        <p:spPr>
          <a:xfrm>
            <a:off x="960120" y="2194560"/>
            <a:ext cx="10271455" cy="1158240"/>
          </a:xfrm>
          <a:prstGeom prst="rect">
            <a:avLst/>
          </a:prstGeom>
          <a:noFill/>
          <a:ln/>
        </p:spPr>
        <p:txBody>
          <a:bodyPr wrap="square" lIns="0" tIns="0" rIns="0" bIns="0" rtlCol="0" anchor="t"/>
          <a:lstStyle/>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console.log("1");</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setTimeout(() =&gt; console.log("2"), 1000); // scheduled, doesn't block</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console.log("3");</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Prints: 1, 3, 2 -- "2" appears about a second later!</a:t>
            </a:r>
            <a:endParaRPr lang="en-US" sz="1400" dirty="0"/>
          </a:p>
        </p:txBody>
      </p:sp>
      <p:sp>
        <p:nvSpPr>
          <p:cNvPr id="6" name="Text 4"/>
          <p:cNvSpPr txBox="1"/>
          <p:nvPr/>
        </p:nvSpPr>
        <p:spPr>
          <a:xfrm>
            <a:off x="640080" y="3810000"/>
            <a:ext cx="10911535" cy="24536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JavaScript starts the operation, moves on immediately, and comes back to handle the result once it's ready.</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ASYNCHRONOUS EXECUTION</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Exact Code, Live</a:t>
            </a:r>
            <a:endParaRPr lang="en-US" sz="3400" dirty="0"/>
          </a:p>
        </p:txBody>
      </p:sp>
      <p:sp>
        <p:nvSpPr>
          <p:cNvPr id="4" name="Shape 2"/>
          <p:cNvSpPr/>
          <p:nvPr/>
        </p:nvSpPr>
        <p:spPr>
          <a:xfrm>
            <a:off x="640080" y="3368040"/>
            <a:ext cx="5272888" cy="1539240"/>
          </a:xfrm>
          <a:prstGeom prst="roundRect">
            <a:avLst>
              <a:gd name="adj" fmla="val 4752"/>
            </a:avLst>
          </a:prstGeom>
          <a:solidFill>
            <a:srgbClr val="F7F8F9"/>
          </a:solidFill>
          <a:ln w="9525">
            <a:solidFill>
              <a:srgbClr val="D0D5DD"/>
            </a:solidFill>
          </a:ln>
        </p:spPr>
        <p:txBody>
          <a:bodyPr/>
          <a:p/>
        </p:txBody>
      </p:sp>
      <p:sp>
        <p:nvSpPr>
          <p:cNvPr id="5" name="Text 3"/>
          <p:cNvSpPr txBox="1"/>
          <p:nvPr/>
        </p:nvSpPr>
        <p:spPr>
          <a:xfrm>
            <a:off x="960120" y="3596640"/>
            <a:ext cx="4632808" cy="1082040"/>
          </a:xfrm>
          <a:prstGeom prst="rect">
            <a:avLst/>
          </a:prstGeom>
          <a:noFill/>
          <a:ln/>
        </p:spPr>
        <p:txBody>
          <a:bodyPr wrap="square" lIns="0" tIns="0" rIns="0" bIns="0" rtlCol="0" anchor="t"/>
          <a:lstStyle/>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console.log("1");</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setTimeout(() =&gt;</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console.log("2"), 150);</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console.log("3");</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15/sync-vs-async-live.png">    </p:cNvPr>
          <p:cNvPicPr>
            <a:picLocks noChangeAspect="1"/>
          </p:cNvPicPr>
          <p:nvPr/>
        </p:nvPicPr>
        <p:blipFill>
          <a:blip r:embed="rId1"/>
          <a:stretch>
            <a:fillRect/>
          </a:stretch>
        </p:blipFill>
        <p:spPr>
          <a:xfrm>
            <a:off x="6278728" y="3618876"/>
            <a:ext cx="5272888" cy="1037568"/>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WHY THIS MATTERS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JavaScript Is Single-Threaded</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browser can only do one thing at a time on that one thread</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blocking operation would freeze buttons, scrolling, and animations until it finished</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Timers, network requests, and file reads are handed off so the thread stays free to keep the page responsive</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setTimeout(fn, 1000) Actually Runs</a:t>
            </a:r>
            <a:endParaRPr lang="en-US" sz="3400" dirty="0"/>
          </a:p>
        </p:txBody>
      </p:sp>
      <p:sp>
        <p:nvSpPr>
          <p:cNvPr id="4" name="Shape 2"/>
          <p:cNvSpPr/>
          <p:nvPr/>
        </p:nvSpPr>
        <p:spPr>
          <a:xfrm>
            <a:off x="640080" y="2514600"/>
            <a:ext cx="1779971" cy="1371600"/>
          </a:xfrm>
          <a:prstGeom prst="roundRect">
            <a:avLst>
              <a:gd name="adj" fmla="val 5333"/>
            </a:avLst>
          </a:prstGeom>
          <a:solidFill>
            <a:srgbClr val="2B2B7A"/>
          </a:solidFill>
          <a:ln/>
        </p:spPr>
        <p:txBody>
          <a:bodyPr/>
          <a:p/>
        </p:txBody>
      </p:sp>
      <p:sp>
        <p:nvSpPr>
          <p:cNvPr id="5" name="Text 3"/>
          <p:cNvSpPr txBox="1"/>
          <p:nvPr/>
        </p:nvSpPr>
        <p:spPr>
          <a:xfrm>
            <a:off x="731520"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console.log("1")</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runs on the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call stack</a:t>
            </a:r>
            <a:endParaRPr lang="en-US" sz="1250" dirty="0"/>
          </a:p>
        </p:txBody>
      </p:sp>
      <p:sp>
        <p:nvSpPr>
          <p:cNvPr id="6" name="Shape 4"/>
          <p:cNvSpPr/>
          <p:nvPr/>
        </p:nvSpPr>
        <p:spPr>
          <a:xfrm>
            <a:off x="2420051" y="3200400"/>
            <a:ext cx="502920" cy="0"/>
          </a:xfrm>
          <a:prstGeom prst="line">
            <a:avLst/>
          </a:prstGeom>
          <a:noFill/>
          <a:ln w="25400">
            <a:solidFill>
              <a:srgbClr val="5D5D72"/>
            </a:solidFill>
            <a:prstDash val="solid"/>
            <a:tailEnd type="triangle"/>
          </a:ln>
        </p:spPr>
        <p:txBody>
          <a:bodyPr/>
          <a:p/>
        </p:txBody>
      </p:sp>
      <p:sp>
        <p:nvSpPr>
          <p:cNvPr id="7" name="Shape 5"/>
          <p:cNvSpPr/>
          <p:nvPr/>
        </p:nvSpPr>
        <p:spPr>
          <a:xfrm>
            <a:off x="2922971" y="2514600"/>
            <a:ext cx="1779971" cy="1371600"/>
          </a:xfrm>
          <a:prstGeom prst="roundRect">
            <a:avLst>
              <a:gd name="adj" fmla="val 5333"/>
            </a:avLst>
          </a:prstGeom>
          <a:solidFill>
            <a:srgbClr val="2B2B7A"/>
          </a:solidFill>
          <a:ln/>
        </p:spPr>
        <p:txBody>
          <a:bodyPr/>
          <a:p/>
        </p:txBody>
      </p:sp>
      <p:sp>
        <p:nvSpPr>
          <p:cNvPr id="8" name="Text 6"/>
          <p:cNvSpPr txBox="1"/>
          <p:nvPr/>
        </p:nvSpPr>
        <p:spPr>
          <a:xfrm>
            <a:off x="3014411"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setTimeout</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handed off to the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Browser / Web APIs</a:t>
            </a:r>
            <a:endParaRPr lang="en-US" sz="1250" dirty="0"/>
          </a:p>
        </p:txBody>
      </p:sp>
      <p:sp>
        <p:nvSpPr>
          <p:cNvPr id="9" name="Shape 7"/>
          <p:cNvSpPr/>
          <p:nvPr/>
        </p:nvSpPr>
        <p:spPr>
          <a:xfrm>
            <a:off x="4702942" y="3200400"/>
            <a:ext cx="502920" cy="0"/>
          </a:xfrm>
          <a:prstGeom prst="line">
            <a:avLst/>
          </a:prstGeom>
          <a:noFill/>
          <a:ln w="25400">
            <a:solidFill>
              <a:srgbClr val="5D5D72"/>
            </a:solidFill>
            <a:prstDash val="solid"/>
            <a:tailEnd type="triangle"/>
          </a:ln>
        </p:spPr>
        <p:txBody>
          <a:bodyPr/>
          <a:p/>
        </p:txBody>
      </p:sp>
      <p:sp>
        <p:nvSpPr>
          <p:cNvPr id="10" name="Shape 8"/>
          <p:cNvSpPr/>
          <p:nvPr/>
        </p:nvSpPr>
        <p:spPr>
          <a:xfrm>
            <a:off x="5205862" y="2514600"/>
            <a:ext cx="1779971" cy="1371600"/>
          </a:xfrm>
          <a:prstGeom prst="roundRect">
            <a:avLst>
              <a:gd name="adj" fmla="val 5333"/>
            </a:avLst>
          </a:prstGeom>
          <a:solidFill>
            <a:srgbClr val="2B2B7A"/>
          </a:solidFill>
          <a:ln/>
        </p:spPr>
        <p:txBody>
          <a:bodyPr/>
          <a:p/>
        </p:txBody>
      </p:sp>
      <p:sp>
        <p:nvSpPr>
          <p:cNvPr id="11" name="Text 9"/>
          <p:cNvSpPr txBox="1"/>
          <p:nvPr/>
        </p:nvSpPr>
        <p:spPr>
          <a:xfrm>
            <a:off x="5297302"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console.log("3")</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runs -- stack</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is now empty</a:t>
            </a:r>
            <a:endParaRPr lang="en-US" sz="1250" dirty="0"/>
          </a:p>
        </p:txBody>
      </p:sp>
      <p:sp>
        <p:nvSpPr>
          <p:cNvPr id="12" name="Shape 10"/>
          <p:cNvSpPr/>
          <p:nvPr/>
        </p:nvSpPr>
        <p:spPr>
          <a:xfrm>
            <a:off x="6985833" y="3200400"/>
            <a:ext cx="502920" cy="0"/>
          </a:xfrm>
          <a:prstGeom prst="line">
            <a:avLst/>
          </a:prstGeom>
          <a:noFill/>
          <a:ln w="25400">
            <a:solidFill>
              <a:srgbClr val="5D5D72"/>
            </a:solidFill>
            <a:prstDash val="solid"/>
            <a:tailEnd type="triangle"/>
          </a:ln>
        </p:spPr>
        <p:txBody>
          <a:bodyPr/>
          <a:p/>
        </p:txBody>
      </p:sp>
      <p:sp>
        <p:nvSpPr>
          <p:cNvPr id="13" name="Shape 11"/>
          <p:cNvSpPr/>
          <p:nvPr/>
        </p:nvSpPr>
        <p:spPr>
          <a:xfrm>
            <a:off x="7488753" y="2514600"/>
            <a:ext cx="1779971" cy="1371600"/>
          </a:xfrm>
          <a:prstGeom prst="roundRect">
            <a:avLst>
              <a:gd name="adj" fmla="val 5333"/>
            </a:avLst>
          </a:prstGeom>
          <a:solidFill>
            <a:srgbClr val="2B2B7A"/>
          </a:solidFill>
          <a:ln/>
        </p:spPr>
        <p:txBody>
          <a:bodyPr/>
          <a:p/>
        </p:txBody>
      </p:sp>
      <p:sp>
        <p:nvSpPr>
          <p:cNvPr id="14" name="Text 12"/>
          <p:cNvSpPr txBox="1"/>
          <p:nvPr/>
        </p:nvSpPr>
        <p:spPr>
          <a:xfrm>
            <a:off x="7580193"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After 1000ms, the</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callback is placed</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in the task queue</a:t>
            </a:r>
            <a:endParaRPr lang="en-US" sz="1250" dirty="0"/>
          </a:p>
        </p:txBody>
      </p:sp>
      <p:sp>
        <p:nvSpPr>
          <p:cNvPr id="15" name="Shape 13"/>
          <p:cNvSpPr/>
          <p:nvPr/>
        </p:nvSpPr>
        <p:spPr>
          <a:xfrm>
            <a:off x="9268724" y="3200400"/>
            <a:ext cx="502920" cy="0"/>
          </a:xfrm>
          <a:prstGeom prst="line">
            <a:avLst/>
          </a:prstGeom>
          <a:noFill/>
          <a:ln w="25400">
            <a:solidFill>
              <a:srgbClr val="5D5D72"/>
            </a:solidFill>
            <a:prstDash val="solid"/>
            <a:tailEnd type="triangle"/>
          </a:ln>
        </p:spPr>
        <p:txBody>
          <a:bodyPr/>
          <a:p/>
        </p:txBody>
      </p:sp>
      <p:sp>
        <p:nvSpPr>
          <p:cNvPr id="16" name="Shape 14"/>
          <p:cNvSpPr/>
          <p:nvPr/>
        </p:nvSpPr>
        <p:spPr>
          <a:xfrm>
            <a:off x="9771644" y="2514600"/>
            <a:ext cx="1779971" cy="1371600"/>
          </a:xfrm>
          <a:prstGeom prst="roundRect">
            <a:avLst>
              <a:gd name="adj" fmla="val 5333"/>
            </a:avLst>
          </a:prstGeom>
          <a:solidFill>
            <a:srgbClr val="E67528"/>
          </a:solidFill>
          <a:ln/>
        </p:spPr>
        <p:txBody>
          <a:bodyPr/>
          <a:p/>
        </p:txBody>
      </p:sp>
      <p:sp>
        <p:nvSpPr>
          <p:cNvPr id="17" name="Text 15"/>
          <p:cNvSpPr txBox="1"/>
          <p:nvPr/>
        </p:nvSpPr>
        <p:spPr>
          <a:xfrm>
            <a:off x="9863084" y="2624328"/>
            <a:ext cx="1597091" cy="1152144"/>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Event loop moves it</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to the stack --</a:t>
            </a:r>
            <a:endParaRPr lang="en-US" sz="1250" dirty="0"/>
          </a:p>
          <a:p>
            <a:pPr algn="ctr" indent="0" marL="0">
              <a:buNone/>
            </a:pPr>
            <a:r>
              <a:rPr lang="en-US" sz="1250" b="1" dirty="0">
                <a:solidFill>
                  <a:srgbClr val="FFFFFF"/>
                </a:solidFill>
                <a:latin typeface="Calibri" pitchFamily="34" charset="0"/>
                <a:ea typeface="Calibri" pitchFamily="34" charset="-122"/>
                <a:cs typeface="Calibri" pitchFamily="34" charset="-120"/>
              </a:rPr>
              <a:t>logs "2"</a:t>
            </a:r>
            <a:endParaRPr lang="en-US" sz="1250" dirty="0"/>
          </a:p>
        </p:txBody>
      </p:sp>
      <p:sp>
        <p:nvSpPr>
          <p:cNvPr id="18" name="Text 16"/>
          <p:cNvSpPr txBox="1"/>
          <p:nvPr/>
        </p:nvSpPr>
        <p:spPr>
          <a:xfrm>
            <a:off x="640080" y="4343400"/>
            <a:ext cx="10911535" cy="13716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The event loop constantly checks: is the call stack empty? If yes, it takes the next item from the queue and runs it.</a:t>
            </a:r>
            <a:endParaRPr lang="en-US" sz="1300" dirty="0"/>
          </a:p>
        </p:txBody>
      </p:sp>
      <p:sp>
        <p:nvSpPr>
          <p:cNvPr id="21"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8</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Microtasks Run Before Macrotasks</a:t>
            </a:r>
            <a:endParaRPr lang="en-US" sz="3400" dirty="0"/>
          </a:p>
        </p:txBody>
      </p:sp>
      <p:sp>
        <p:nvSpPr>
          <p:cNvPr id="4" name="Shape 2"/>
          <p:cNvSpPr/>
          <p:nvPr/>
        </p:nvSpPr>
        <p:spPr>
          <a:xfrm>
            <a:off x="640080" y="1965960"/>
            <a:ext cx="10911535" cy="3657600"/>
          </a:xfrm>
          <a:prstGeom prst="roundRect">
            <a:avLst>
              <a:gd name="adj" fmla="val 3158"/>
            </a:avLst>
          </a:prstGeom>
          <a:solidFill>
            <a:srgbClr val="E9EDFB"/>
          </a:solidFill>
          <a:ln w="12700">
            <a:solidFill>
              <a:srgbClr val="6C7FD6"/>
            </a:solidFill>
            <a:prstDash val="solid"/>
          </a:ln>
        </p:spPr>
        <p:txBody>
          <a:bodyPr/>
          <a:p/>
        </p:txBody>
      </p:sp>
      <p:sp>
        <p:nvSpPr>
          <p:cNvPr id="5" name="Text 3"/>
          <p:cNvSpPr txBox="1"/>
          <p:nvPr/>
        </p:nvSpPr>
        <p:spPr>
          <a:xfrm>
            <a:off x="868680" y="2103120"/>
            <a:ext cx="10454335" cy="400000"/>
          </a:xfrm>
          <a:prstGeom prst="rect">
            <a:avLst/>
          </a:prstGeom>
          <a:noFill/>
          <a:ln/>
        </p:spPr>
        <p:txBody>
          <a:bodyPr wrap="square" lIns="0" tIns="0" rIns="0" bIns="0" rtlCol="0" anchor="ctr"/>
          <a:lstStyle/>
          <a:p>
            <a:pPr indent="0" marL="0">
              <a:buNone/>
            </a:pPr>
            <a:r>
              <a:rPr lang="en-US" sz="1800" b="1" spc="200" kern="0" dirty="0">
                <a:solidFill>
                  <a:srgbClr val="33459E"/>
                </a:solidFill>
                <a:latin typeface="Calibri" pitchFamily="34" charset="0"/>
                <a:ea typeface="Calibri" pitchFamily="34" charset="-122"/>
                <a:cs typeface="Calibri" pitchFamily="34" charset="-120"/>
              </a:rPr>
              <a:t>NOTE</a:t>
            </a:r>
            <a:endParaRPr lang="en-US" sz="1800" dirty="0"/>
          </a:p>
        </p:txBody>
      </p:sp>
      <p:sp>
        <p:nvSpPr>
          <p:cNvPr id="6" name="Text 4"/>
          <p:cNvSpPr txBox="1"/>
          <p:nvPr/>
        </p:nvSpPr>
        <p:spPr>
          <a:xfrm>
            <a:off x="868680" y="2795960"/>
            <a:ext cx="10454335" cy="2800000"/>
          </a:xfrm>
          <a:prstGeom prst="rect">
            <a:avLst/>
          </a:prstGeom>
          <a:noFill/>
          <a:ln/>
        </p:spPr>
        <p:txBody>
          <a:bodyPr wrap="square" lIns="0" tIns="0" rIns="0" bIns="0" rtlCol="0" anchor="ctr"/>
          <a:lstStyle/>
          <a:p>
            <a:pPr indent="0" marL="0">
              <a:buNone/>
            </a:pPr>
            <a:r>
              <a:rPr lang="en-US" sz="2800" dirty="0">
                <a:solidFill>
                  <a:srgbClr val="26262F"/>
                </a:solidFill>
                <a:latin typeface="Calibri" pitchFamily="34" charset="0"/>
                <a:ea typeface="Calibri" pitchFamily="34" charset="-122"/>
                <a:cs typeface="Calibri" pitchFamily="34" charset="-120"/>
              </a:rPr>
              <a:t>Promise callbacks (.then, async/await) go into a special microtask queue that the event loop always empties completely before it looks at the regular task queue (where setTimeout callbacks live). This is why Promise.resolve().then(...) scheduled after setTimeout(..., 0) usually still runs first.</a:t>
            </a:r>
            <a:endParaRPr lang="en-US" sz="28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9</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BEFORE 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Callback Hell</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Before Promises existed, async code was handled with callbacks -- functions passed in to be called later</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When one async step depends on the result of the previous one, callbacks nest deeper and deeper</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Nicknamed "callback hell" or the "pyramid of doom" -- hard to read, hard to maintain</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BEFORE 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Pyramid of Doom</a:t>
            </a:r>
            <a:endParaRPr lang="en-US" sz="3400" dirty="0"/>
          </a:p>
        </p:txBody>
      </p:sp>
      <p:sp>
        <p:nvSpPr>
          <p:cNvPr id="4" name="Shape 2"/>
          <p:cNvSpPr/>
          <p:nvPr/>
        </p:nvSpPr>
        <p:spPr>
          <a:xfrm>
            <a:off x="640080" y="1965960"/>
            <a:ext cx="10911535" cy="2682240"/>
          </a:xfrm>
          <a:prstGeom prst="roundRect">
            <a:avLst>
              <a:gd name="adj" fmla="val 2727"/>
            </a:avLst>
          </a:prstGeom>
          <a:solidFill>
            <a:srgbClr val="F7F8F9"/>
          </a:solidFill>
          <a:ln w="9525">
            <a:solidFill>
              <a:srgbClr val="D0D5DD"/>
            </a:solidFill>
          </a:ln>
        </p:spPr>
        <p:txBody>
          <a:bodyPr/>
          <a:p/>
        </p:txBody>
      </p:sp>
      <p:sp>
        <p:nvSpPr>
          <p:cNvPr id="5" name="Text 3"/>
          <p:cNvSpPr txBox="1"/>
          <p:nvPr/>
        </p:nvSpPr>
        <p:spPr>
          <a:xfrm>
            <a:off x="960120" y="2194560"/>
            <a:ext cx="10271455" cy="2225040"/>
          </a:xfrm>
          <a:prstGeom prst="rect">
            <a:avLst/>
          </a:prstGeom>
          <a:noFill/>
          <a:ln/>
        </p:spPr>
        <p:txBody>
          <a:bodyPr wrap="square" lIns="0" tIns="0" rIns="0" bIns="0" rtlCol="0" anchor="t"/>
          <a:lstStyle/>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getUser(userId, function (user)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getOrders(user.id, function (orders)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getOrderDetails(orders[0].id, function (details)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console.log(details);</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 ...and it keeps growing to the right with every extra step</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 handleError);</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 handleError);</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handleError);</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11</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a Promise?</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An object representing a value that isn't available yet, but will be at some point -- either successfully, or with an error</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Think of it as a receipt for a value that's still being prepared</a:t>
            </a:r>
            <a:endParaRPr lang="en-US" sz="15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12</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Three States</a:t>
            </a:r>
            <a:endParaRPr lang="en-US" sz="3400" dirty="0"/>
          </a:p>
        </p:txBody>
      </p:sp>
      <p:sp>
        <p:nvSpPr>
          <p:cNvPr id="4" name="Shape 2"/>
          <p:cNvSpPr/>
          <p:nvPr/>
        </p:nvSpPr>
        <p:spPr>
          <a:xfrm flipH="1">
            <a:off x="2743200" y="2971800"/>
            <a:ext cx="2377440" cy="1234440"/>
          </a:xfrm>
          <a:prstGeom prst="line">
            <a:avLst/>
          </a:prstGeom>
          <a:noFill/>
          <a:ln w="25400">
            <a:solidFill>
              <a:srgbClr val="5D5D72"/>
            </a:solidFill>
            <a:prstDash val="solid"/>
            <a:tailEnd type="triangle"/>
          </a:ln>
        </p:spPr>
        <p:txBody>
          <a:bodyPr/>
          <a:p/>
        </p:txBody>
      </p:sp>
      <p:sp>
        <p:nvSpPr>
          <p:cNvPr id="5" name="Text 3"/>
          <p:cNvSpPr txBox="1"/>
          <p:nvPr/>
        </p:nvSpPr>
        <p:spPr>
          <a:xfrm>
            <a:off x="3017520" y="34427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operation</a:t>
            </a:r>
            <a:endParaRPr lang="en-US" sz="1050" dirty="0"/>
          </a:p>
          <a:p>
            <a:pPr algn="ctr" indent="0" marL="0">
              <a:buNone/>
            </a:pPr>
            <a:r>
              <a:rPr lang="en-US" sz="1050" i="1" dirty="0">
                <a:solidFill>
                  <a:srgbClr val="5D5D72"/>
                </a:solidFill>
                <a:latin typeface="Calibri" pitchFamily="34" charset="0"/>
                <a:ea typeface="Calibri" pitchFamily="34" charset="-122"/>
                <a:cs typeface="Calibri" pitchFamily="34" charset="-120"/>
              </a:rPr>
              <a:t>succeeds</a:t>
            </a:r>
            <a:endParaRPr lang="en-US" sz="1050" dirty="0"/>
          </a:p>
        </p:txBody>
      </p:sp>
      <p:sp>
        <p:nvSpPr>
          <p:cNvPr id="6" name="Shape 4"/>
          <p:cNvSpPr/>
          <p:nvPr/>
        </p:nvSpPr>
        <p:spPr>
          <a:xfrm>
            <a:off x="6400800" y="2971800"/>
            <a:ext cx="2651760" cy="1234440"/>
          </a:xfrm>
          <a:prstGeom prst="line">
            <a:avLst/>
          </a:prstGeom>
          <a:noFill/>
          <a:ln w="25400">
            <a:solidFill>
              <a:srgbClr val="5D5D72"/>
            </a:solidFill>
            <a:prstDash val="solid"/>
            <a:tailEnd type="triangle"/>
          </a:ln>
        </p:spPr>
        <p:txBody>
          <a:bodyPr/>
          <a:p/>
        </p:txBody>
      </p:sp>
      <p:sp>
        <p:nvSpPr>
          <p:cNvPr id="7" name="Text 5"/>
          <p:cNvSpPr txBox="1"/>
          <p:nvPr/>
        </p:nvSpPr>
        <p:spPr>
          <a:xfrm>
            <a:off x="6812280" y="34427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operation</a:t>
            </a:r>
            <a:endParaRPr lang="en-US" sz="1050" dirty="0"/>
          </a:p>
          <a:p>
            <a:pPr algn="ctr" indent="0" marL="0">
              <a:buNone/>
            </a:pPr>
            <a:r>
              <a:rPr lang="en-US" sz="1050" i="1" dirty="0">
                <a:solidFill>
                  <a:srgbClr val="5D5D72"/>
                </a:solidFill>
                <a:latin typeface="Calibri" pitchFamily="34" charset="0"/>
                <a:ea typeface="Calibri" pitchFamily="34" charset="-122"/>
                <a:cs typeface="Calibri" pitchFamily="34" charset="-120"/>
              </a:rPr>
              <a:t>fails</a:t>
            </a:r>
            <a:endParaRPr lang="en-US" sz="1050" dirty="0"/>
          </a:p>
        </p:txBody>
      </p:sp>
      <p:sp>
        <p:nvSpPr>
          <p:cNvPr id="8" name="Shape 6"/>
          <p:cNvSpPr/>
          <p:nvPr/>
        </p:nvSpPr>
        <p:spPr>
          <a:xfrm>
            <a:off x="4663440" y="2377440"/>
            <a:ext cx="2834640" cy="594360"/>
          </a:xfrm>
          <a:prstGeom prst="roundRect">
            <a:avLst>
              <a:gd name="adj" fmla="val 12308"/>
            </a:avLst>
          </a:prstGeom>
          <a:solidFill>
            <a:srgbClr val="5D5D72"/>
          </a:solidFill>
          <a:ln/>
        </p:spPr>
        <p:txBody>
          <a:bodyPr/>
          <a:p/>
        </p:txBody>
      </p:sp>
      <p:sp>
        <p:nvSpPr>
          <p:cNvPr id="9" name="Text 7"/>
          <p:cNvSpPr txBox="1"/>
          <p:nvPr/>
        </p:nvSpPr>
        <p:spPr>
          <a:xfrm>
            <a:off x="4718304" y="2377440"/>
            <a:ext cx="2724912" cy="594360"/>
          </a:xfrm>
          <a:prstGeom prst="rect">
            <a:avLst/>
          </a:prstGeom>
          <a:noFill/>
          <a:ln/>
        </p:spPr>
        <p:txBody>
          <a:bodyPr wrap="square" lIns="0" tIns="0" rIns="0" bIns="0" rtlCol="0" anchor="ctr"/>
          <a:lstStyle/>
          <a:p>
            <a:pPr algn="ctr" indent="0" marL="0">
              <a:lnSpc>
                <a:spcPct val="105000"/>
              </a:lnSpc>
              <a:buNone/>
            </a:pPr>
            <a:r>
              <a:rPr lang="en-US" sz="1400" b="1" dirty="0">
                <a:solidFill>
                  <a:srgbClr val="FFFFFF"/>
                </a:solidFill>
                <a:latin typeface="Calibri" pitchFamily="34" charset="0"/>
                <a:ea typeface="Calibri" pitchFamily="34" charset="-122"/>
                <a:cs typeface="Calibri" pitchFamily="34" charset="-120"/>
              </a:rPr>
              <a:t>Pending</a:t>
            </a:r>
            <a:endParaRPr lang="en-US" sz="1400" dirty="0"/>
          </a:p>
        </p:txBody>
      </p:sp>
      <p:sp>
        <p:nvSpPr>
          <p:cNvPr id="10" name="Shape 8"/>
          <p:cNvSpPr/>
          <p:nvPr/>
        </p:nvSpPr>
        <p:spPr>
          <a:xfrm>
            <a:off x="1188720" y="4206240"/>
            <a:ext cx="3108960" cy="594360"/>
          </a:xfrm>
          <a:prstGeom prst="roundRect">
            <a:avLst>
              <a:gd name="adj" fmla="val 12308"/>
            </a:avLst>
          </a:prstGeom>
          <a:solidFill>
            <a:srgbClr val="3FA66B"/>
          </a:solidFill>
          <a:ln/>
        </p:spPr>
        <p:txBody>
          <a:bodyPr/>
          <a:p/>
        </p:txBody>
      </p:sp>
      <p:sp>
        <p:nvSpPr>
          <p:cNvPr id="11" name="Text 9"/>
          <p:cNvSpPr txBox="1"/>
          <p:nvPr/>
        </p:nvSpPr>
        <p:spPr>
          <a:xfrm>
            <a:off x="1243584" y="4206240"/>
            <a:ext cx="2999232" cy="594360"/>
          </a:xfrm>
          <a:prstGeom prst="rect">
            <a:avLst/>
          </a:prstGeom>
          <a:noFill/>
          <a:ln/>
        </p:spPr>
        <p:txBody>
          <a:bodyPr wrap="square" lIns="0" tIns="0" rIns="0" bIns="0" rtlCol="0" anchor="ctr"/>
          <a:lstStyle/>
          <a:p>
            <a:pPr algn="ctr" indent="0" marL="0">
              <a:lnSpc>
                <a:spcPct val="105000"/>
              </a:lnSpc>
              <a:buNone/>
            </a:pPr>
            <a:r>
              <a:rPr lang="en-US" sz="1400" b="1" dirty="0">
                <a:solidFill>
                  <a:srgbClr val="FFFFFF"/>
                </a:solidFill>
                <a:latin typeface="Calibri" pitchFamily="34" charset="0"/>
                <a:ea typeface="Calibri" pitchFamily="34" charset="-122"/>
                <a:cs typeface="Calibri" pitchFamily="34" charset="-120"/>
              </a:rPr>
              <a:t>Fulfilled</a:t>
            </a:r>
            <a:endParaRPr lang="en-US" sz="1400" dirty="0"/>
          </a:p>
        </p:txBody>
      </p:sp>
      <p:sp>
        <p:nvSpPr>
          <p:cNvPr id="12" name="Shape 10"/>
          <p:cNvSpPr/>
          <p:nvPr/>
        </p:nvSpPr>
        <p:spPr>
          <a:xfrm>
            <a:off x="7498080" y="4206240"/>
            <a:ext cx="3108960" cy="594360"/>
          </a:xfrm>
          <a:prstGeom prst="roundRect">
            <a:avLst>
              <a:gd name="adj" fmla="val 12308"/>
            </a:avLst>
          </a:prstGeom>
          <a:solidFill>
            <a:srgbClr val="E67528"/>
          </a:solidFill>
          <a:ln/>
        </p:spPr>
        <p:txBody>
          <a:bodyPr/>
          <a:p/>
        </p:txBody>
      </p:sp>
      <p:sp>
        <p:nvSpPr>
          <p:cNvPr id="13" name="Text 11"/>
          <p:cNvSpPr txBox="1"/>
          <p:nvPr/>
        </p:nvSpPr>
        <p:spPr>
          <a:xfrm>
            <a:off x="7552944" y="4206240"/>
            <a:ext cx="2999232" cy="594360"/>
          </a:xfrm>
          <a:prstGeom prst="rect">
            <a:avLst/>
          </a:prstGeom>
          <a:noFill/>
          <a:ln/>
        </p:spPr>
        <p:txBody>
          <a:bodyPr wrap="square" lIns="0" tIns="0" rIns="0" bIns="0" rtlCol="0" anchor="ctr"/>
          <a:lstStyle/>
          <a:p>
            <a:pPr algn="ctr" indent="0" marL="0">
              <a:lnSpc>
                <a:spcPct val="105000"/>
              </a:lnSpc>
              <a:buNone/>
            </a:pPr>
            <a:r>
              <a:rPr lang="en-US" sz="1400" b="1" dirty="0">
                <a:solidFill>
                  <a:srgbClr val="FFFFFF"/>
                </a:solidFill>
                <a:latin typeface="Calibri" pitchFamily="34" charset="0"/>
                <a:ea typeface="Calibri" pitchFamily="34" charset="-122"/>
                <a:cs typeface="Calibri" pitchFamily="34" charset="-120"/>
              </a:rPr>
              <a:t>Rejected</a:t>
            </a:r>
            <a:endParaRPr lang="en-US" sz="1400" dirty="0"/>
          </a:p>
        </p:txBody>
      </p:sp>
      <p:sp>
        <p:nvSpPr>
          <p:cNvPr id="14" name="Text 12"/>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A promise is settled once it becomes fulfilled or rejected, and it can never change state again after that.</a:t>
            </a:r>
            <a:endParaRPr lang="en-US" sz="1250" dirty="0"/>
          </a:p>
        </p:txBody>
      </p:sp>
      <p:sp>
        <p:nvSpPr>
          <p:cNvPr id="17"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13</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Creating and Using a Promise</a:t>
            </a:r>
            <a:endParaRPr lang="en-US" sz="3400" dirty="0"/>
          </a:p>
        </p:txBody>
      </p:sp>
      <p:sp>
        <p:nvSpPr>
          <p:cNvPr id="4" name="Shape 2"/>
          <p:cNvSpPr/>
          <p:nvPr/>
        </p:nvSpPr>
        <p:spPr>
          <a:xfrm>
            <a:off x="640080" y="1965960"/>
            <a:ext cx="10911535" cy="3482340"/>
          </a:xfrm>
          <a:prstGeom prst="roundRect">
            <a:avLst>
              <a:gd name="adj" fmla="val 2101"/>
            </a:avLst>
          </a:prstGeom>
          <a:solidFill>
            <a:srgbClr val="F7F8F9"/>
          </a:solidFill>
          <a:ln w="9525">
            <a:solidFill>
              <a:srgbClr val="D0D5DD"/>
            </a:solidFill>
          </a:ln>
        </p:spPr>
        <p:txBody>
          <a:bodyPr/>
          <a:p/>
        </p:txBody>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function delay(ms)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return new Promise((resolve, reject) =&gt;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if (ms &lt; 0) { reject(new Error("Delay cannot be negative")); return;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setTimeout(() =&gt; resolve(`Waited ${ms}ms`), ms);</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a:t>
            </a:r>
            <a:endParaRPr lang="en-US" sz="1400" dirty="0"/>
          </a:p>
          <a:p>
            <a:pPr indent="0" marL="0">
              <a:lnSpc>
                <a:spcPct val="125000"/>
              </a:lnSpc>
              <a:buNone/>
            </a:pP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delay(1000)</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.then(result =&gt; console.log(result))    // fulfilled</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.catch(error =&gt; console.error(error))   // rejected</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.finally(() =&gt; console.log("Done, either way")); // always runs</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14</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delay().then/.catch/.finally, Live</a:t>
            </a:r>
            <a:endParaRPr lang="en-US" sz="3400" dirty="0"/>
          </a:p>
        </p:txBody>
      </p:sp>
      <p:sp>
        <p:nvSpPr>
          <p:cNvPr id="4" name="Shape 2"/>
          <p:cNvSpPr/>
          <p:nvPr/>
        </p:nvSpPr>
        <p:spPr>
          <a:xfrm>
            <a:off x="640080" y="2872740"/>
            <a:ext cx="5272888" cy="2529840"/>
          </a:xfrm>
          <a:prstGeom prst="roundRect">
            <a:avLst>
              <a:gd name="adj" fmla="val 2892"/>
            </a:avLst>
          </a:prstGeom>
          <a:solidFill>
            <a:srgbClr val="F7F8F9"/>
          </a:solidFill>
          <a:ln w="9525">
            <a:solidFill>
              <a:srgbClr val="D0D5DD"/>
            </a:solidFill>
          </a:ln>
        </p:spPr>
        <p:txBody>
          <a:bodyPr/>
          <a:p/>
        </p:txBody>
      </p:sp>
      <p:sp>
        <p:nvSpPr>
          <p:cNvPr id="5" name="Text 3"/>
          <p:cNvSpPr txBox="1"/>
          <p:nvPr/>
        </p:nvSpPr>
        <p:spPr>
          <a:xfrm>
            <a:off x="960120" y="3101340"/>
            <a:ext cx="4632808" cy="2072640"/>
          </a:xfrm>
          <a:prstGeom prst="rect">
            <a:avLst/>
          </a:prstGeom>
          <a:noFill/>
          <a:ln/>
        </p:spPr>
        <p:txBody>
          <a:bodyPr wrap="square" lIns="0" tIns="0" rIns="0" bIns="0" rtlCol="0" anchor="t"/>
          <a:lstStyle/>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delay(150)</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.then(result =&gt;</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log(result))</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.catch(error =&gt;</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log("ERROR: " +</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error.message))</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.finally(() =&gt;</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log("Done, either way"));</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15/promise-then-catch-finally-live.png">    </p:cNvPr>
          <p:cNvPicPr>
            <a:picLocks noChangeAspect="1"/>
          </p:cNvPicPr>
          <p:nvPr/>
        </p:nvPicPr>
        <p:blipFill>
          <a:blip r:embed="rId1"/>
          <a:stretch>
            <a:fillRect/>
          </a:stretch>
        </p:blipFill>
        <p:spPr>
          <a:xfrm>
            <a:off x="6278728" y="3720932"/>
            <a:ext cx="5272888" cy="833456"/>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Chaining Promises</a:t>
            </a:r>
            <a:endParaRPr lang="en-US" sz="3400" dirty="0"/>
          </a:p>
        </p:txBody>
      </p:sp>
      <p:sp>
        <p:nvSpPr>
          <p:cNvPr id="4" name="Shape 2"/>
          <p:cNvSpPr/>
          <p:nvPr/>
        </p:nvSpPr>
        <p:spPr>
          <a:xfrm>
            <a:off x="640080" y="1965960"/>
            <a:ext cx="10911535" cy="1882140"/>
          </a:xfrm>
          <a:prstGeom prst="roundRect">
            <a:avLst>
              <a:gd name="adj" fmla="val 3887"/>
            </a:avLst>
          </a:prstGeom>
          <a:solidFill>
            <a:srgbClr val="F7F8F9"/>
          </a:solidFill>
          <a:ln w="9525">
            <a:solidFill>
              <a:srgbClr val="D0D5DD"/>
            </a:solidFill>
          </a:ln>
        </p:spPr>
        <p:txBody>
          <a:bodyPr/>
          <a:p/>
        </p:txBody>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getUser(userId)</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.then(user =&gt; getOrders(user.id))              // after getUser resolves</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.then(orders =&gt; getOrderDetails(orders[0].id)) // after getOrders resolves</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.then(details =&gt; console.log(details))         // after getOrderDetails resolves</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.catch(error =&gt; console.error("Something failed:", error)); // catches ANY step</a:t>
            </a:r>
            <a:endParaRPr lang="en-US" sz="1400" dirty="0"/>
          </a:p>
        </p:txBody>
      </p:sp>
      <p:sp>
        <p:nvSpPr>
          <p:cNvPr id="6" name="Text 4"/>
          <p:cNvSpPr txBox="1"/>
          <p:nvPr/>
        </p:nvSpPr>
        <p:spPr>
          <a:xfrm>
            <a:off x="640080" y="4076700"/>
            <a:ext cx="10911535" cy="2186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Each .then() returns a NEW promise, which is what makes chaining possible -- one .catch() at the end catches an error from any step.</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16</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Promise.all</a:t>
            </a:r>
            <a:endParaRPr lang="en-US" sz="3400" dirty="0"/>
          </a:p>
        </p:txBody>
      </p:sp>
      <p:sp>
        <p:nvSpPr>
          <p:cNvPr id="4" name="Shape 2"/>
          <p:cNvSpPr/>
          <p:nvPr/>
        </p:nvSpPr>
        <p:spPr>
          <a:xfrm>
            <a:off x="640080" y="1965960"/>
            <a:ext cx="10911535" cy="2415540"/>
          </a:xfrm>
          <a:prstGeom prst="roundRect">
            <a:avLst>
              <a:gd name="adj" fmla="val 3028"/>
            </a:avLst>
          </a:prstGeom>
          <a:solidFill>
            <a:srgbClr val="F7F8F9"/>
          </a:solidFill>
          <a:ln w="9525">
            <a:solidFill>
              <a:srgbClr val="D0D5DD"/>
            </a:solidFill>
          </a:ln>
        </p:spPr>
        <p:txBody>
          <a:bodyPr/>
          <a:p/>
        </p:txBody>
      </p:sp>
      <p:sp>
        <p:nvSpPr>
          <p:cNvPr id="5" name="Text 3"/>
          <p:cNvSpPr txBox="1"/>
          <p:nvPr/>
        </p:nvSpPr>
        <p:spPr>
          <a:xfrm>
            <a:off x="960120" y="2194560"/>
            <a:ext cx="10271455" cy="1958340"/>
          </a:xfrm>
          <a:prstGeom prst="rect">
            <a:avLst/>
          </a:prstGeom>
          <a:noFill/>
          <a:ln/>
        </p:spPr>
        <p:txBody>
          <a:bodyPr wrap="square" lIns="0" tIns="0" rIns="0" bIns="0" rtlCol="0" anchor="t"/>
          <a:lstStyle/>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const promise1 = delay(1000).then(() =&gt; "First");</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const promise2 = delay(500).then(() =&gt; "Second");</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const promise3 = delay(1500).then(() =&gt; "Third");</a:t>
            </a:r>
            <a:endParaRPr lang="en-US" sz="1400" dirty="0"/>
          </a:p>
          <a:p>
            <a:pPr indent="0" marL="0">
              <a:lnSpc>
                <a:spcPct val="125000"/>
              </a:lnSpc>
              <a:buNone/>
            </a:pP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Promise.all([promise1, promise2, promise3]).then(results =&gt;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console.log(results); // ["First","Second","Third"] -- after ~1500ms, not 3000ms</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610100"/>
            <a:ext cx="10911535" cy="16535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Fulfills only once ALL promises have fulfilled, or rejects immediately if any ONE of them rejects -- ideal for independent data loaded in parallel.</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17</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PROMISES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Promise.all, Live</a:t>
            </a:r>
            <a:endParaRPr lang="en-US" sz="3400" dirty="0"/>
          </a:p>
        </p:txBody>
      </p:sp>
      <p:sp>
        <p:nvSpPr>
          <p:cNvPr id="4" name="Shape 2"/>
          <p:cNvSpPr/>
          <p:nvPr/>
        </p:nvSpPr>
        <p:spPr>
          <a:xfrm>
            <a:off x="640080" y="2625090"/>
            <a:ext cx="5272888" cy="3025140"/>
          </a:xfrm>
          <a:prstGeom prst="roundRect">
            <a:avLst>
              <a:gd name="adj" fmla="val 2418"/>
            </a:avLst>
          </a:prstGeom>
          <a:solidFill>
            <a:srgbClr val="F7F8F9"/>
          </a:solidFill>
          <a:ln w="9525">
            <a:solidFill>
              <a:srgbClr val="D0D5DD"/>
            </a:solidFill>
          </a:ln>
        </p:spPr>
        <p:txBody>
          <a:bodyPr/>
          <a:p/>
        </p:txBody>
      </p:sp>
      <p:sp>
        <p:nvSpPr>
          <p:cNvPr id="5" name="Text 3"/>
          <p:cNvSpPr txBox="1"/>
          <p:nvPr/>
        </p:nvSpPr>
        <p:spPr>
          <a:xfrm>
            <a:off x="960120" y="2853690"/>
            <a:ext cx="4632808" cy="2567940"/>
          </a:xfrm>
          <a:prstGeom prst="rect">
            <a:avLst/>
          </a:prstGeom>
          <a:noFill/>
          <a:ln/>
        </p:spPr>
        <p:txBody>
          <a:bodyPr wrap="square" lIns="0" tIns="0" rIns="0" bIns="0" rtlCol="0" anchor="t"/>
          <a:lstStyle/>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const promise1 =</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delay(100).then(() =&gt; "First");</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const promise2 =</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delay(50).then(() =&gt; "Second");</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const promise3 =</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delay(150).then(() =&gt; "Third");</a:t>
            </a:r>
            <a:endParaRPr lang="en-US" sz="1300" dirty="0"/>
          </a:p>
          <a:p>
            <a:pPr indent="0" marL="0">
              <a:lnSpc>
                <a:spcPct val="125000"/>
              </a:lnSpc>
              <a:buNone/>
            </a:pP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Promise.all(</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[promise1, promise2, promise3]</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).then(results =&gt; { ... });</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15/promise-all-live.png">    </p:cNvPr>
          <p:cNvPicPr>
            <a:picLocks noChangeAspect="1"/>
          </p:cNvPicPr>
          <p:nvPr/>
        </p:nvPicPr>
        <p:blipFill>
          <a:blip r:embed="rId1"/>
          <a:stretch>
            <a:fillRect/>
          </a:stretch>
        </p:blipFill>
        <p:spPr>
          <a:xfrm>
            <a:off x="6278728" y="3631633"/>
            <a:ext cx="5272888" cy="1012054"/>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18</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Two Rules</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async before a function makes it always return a Promise, and allows await inside it</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await pauses execution of THAT function (not the whole program) until the promise settles, then unwraps the resolved value -- or throws if it rejected</a:t>
            </a:r>
            <a:endParaRPr lang="en-US" sz="1500" dirty="0"/>
          </a:p>
        </p:txBody>
      </p:sp>
      <p:sp>
        <p:nvSpPr>
          <p:cNvPr id="12"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19</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Reads Like Synchronous Code</a:t>
            </a:r>
            <a:endParaRPr lang="en-US" sz="3400" dirty="0"/>
          </a:p>
        </p:txBody>
      </p:sp>
      <p:sp>
        <p:nvSpPr>
          <p:cNvPr id="4" name="Shape 2"/>
          <p:cNvSpPr/>
          <p:nvPr/>
        </p:nvSpPr>
        <p:spPr>
          <a:xfrm>
            <a:off x="640080" y="1965960"/>
            <a:ext cx="10911535" cy="2148840"/>
          </a:xfrm>
          <a:prstGeom prst="roundRect">
            <a:avLst>
              <a:gd name="adj" fmla="val 3404"/>
            </a:avLst>
          </a:prstGeom>
          <a:solidFill>
            <a:srgbClr val="F7F8F9"/>
          </a:solidFill>
          <a:ln w="9525">
            <a:solidFill>
              <a:srgbClr val="D0D5DD"/>
            </a:solidFill>
          </a:ln>
        </p:spPr>
        <p:txBody>
          <a:bodyPr/>
          <a:p/>
        </p:txBody>
      </p:sp>
      <p:sp>
        <p:nvSpPr>
          <p:cNvPr id="5" name="Text 3"/>
          <p:cNvSpPr txBox="1"/>
          <p:nvPr/>
        </p:nvSpPr>
        <p:spPr>
          <a:xfrm>
            <a:off x="960120" y="2194560"/>
            <a:ext cx="10271455" cy="1691640"/>
          </a:xfrm>
          <a:prstGeom prst="rect">
            <a:avLst/>
          </a:prstGeom>
          <a:noFill/>
          <a:ln/>
        </p:spPr>
        <p:txBody>
          <a:bodyPr wrap="square" lIns="0" tIns="0" rIns="0" bIns="0" rtlCol="0" anchor="t"/>
          <a:lstStyle/>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async function loadOrderDetails(userId)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const user = await getUser(userId);       // "pause" until the promise settles</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const orders = await getOrders(user.id);</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const details = await getOrderDetails(orders[0].id);</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return details;</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20</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Error Handling with try...catch</a:t>
            </a:r>
            <a:endParaRPr lang="en-US" sz="3400" dirty="0"/>
          </a:p>
        </p:txBody>
      </p:sp>
      <p:sp>
        <p:nvSpPr>
          <p:cNvPr id="4" name="Shape 2"/>
          <p:cNvSpPr/>
          <p:nvPr/>
        </p:nvSpPr>
        <p:spPr>
          <a:xfrm>
            <a:off x="640080" y="1965960"/>
            <a:ext cx="10911535" cy="3482340"/>
          </a:xfrm>
          <a:prstGeom prst="roundRect">
            <a:avLst>
              <a:gd name="adj" fmla="val 2101"/>
            </a:avLst>
          </a:prstGeom>
          <a:solidFill>
            <a:srgbClr val="F7F8F9"/>
          </a:solidFill>
          <a:ln w="9525">
            <a:solidFill>
              <a:srgbClr val="D0D5DD"/>
            </a:solidFill>
          </a:ln>
        </p:spPr>
        <p:txBody>
          <a:bodyPr/>
          <a:p/>
        </p:txBody>
      </p:sp>
      <p:sp>
        <p:nvSpPr>
          <p:cNvPr id="5" name="Text 3"/>
          <p:cNvSpPr txBox="1"/>
          <p:nvPr/>
        </p:nvSpPr>
        <p:spPr>
          <a:xfrm>
            <a:off x="960120" y="2194560"/>
            <a:ext cx="10271455" cy="3025140"/>
          </a:xfrm>
          <a:prstGeom prst="rect">
            <a:avLst/>
          </a:prstGeom>
          <a:noFill/>
          <a:ln/>
        </p:spPr>
        <p:txBody>
          <a:bodyPr wrap="square" lIns="0" tIns="0" rIns="0" bIns="0" rtlCol="0" anchor="t"/>
          <a:lstStyle/>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async function loadOrderDetails(userId)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try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const user = await getUser(userId);</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const orders = await getOrders(user.id);</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const details = await getOrderDetails(orders[0].id);</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return details;</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 catch (error)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console.error("Failed to load order details:", error.message);</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throw error; // re-throw if the caller also needs to know</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21</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try...catch, Live (getUser rejects)</a:t>
            </a:r>
            <a:endParaRPr lang="en-US" sz="3400" dirty="0"/>
          </a:p>
        </p:txBody>
      </p:sp>
      <p:sp>
        <p:nvSpPr>
          <p:cNvPr id="4" name="Shape 2"/>
          <p:cNvSpPr/>
          <p:nvPr/>
        </p:nvSpPr>
        <p:spPr>
          <a:xfrm>
            <a:off x="640080" y="2501265"/>
            <a:ext cx="5272888" cy="3272790"/>
          </a:xfrm>
          <a:prstGeom prst="roundRect">
            <a:avLst>
              <a:gd name="adj" fmla="val 2235"/>
            </a:avLst>
          </a:prstGeom>
          <a:solidFill>
            <a:srgbClr val="F7F8F9"/>
          </a:solidFill>
          <a:ln w="9525">
            <a:solidFill>
              <a:srgbClr val="D0D5DD"/>
            </a:solidFill>
          </a:ln>
        </p:spPr>
        <p:txBody>
          <a:bodyPr/>
          <a:p/>
        </p:txBody>
      </p:sp>
      <p:sp>
        <p:nvSpPr>
          <p:cNvPr id="5" name="Text 3"/>
          <p:cNvSpPr txBox="1"/>
          <p:nvPr/>
        </p:nvSpPr>
        <p:spPr>
          <a:xfrm>
            <a:off x="960120" y="2729865"/>
            <a:ext cx="4632808" cy="2815590"/>
          </a:xfrm>
          <a:prstGeom prst="rect">
            <a:avLst/>
          </a:prstGeom>
          <a:noFill/>
          <a:ln/>
        </p:spPr>
        <p:txBody>
          <a:bodyPr wrap="square" lIns="0" tIns="0" rIns="0" bIns="0" rtlCol="0" anchor="t"/>
          <a:lstStyle/>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async function loadOrderDetails(id) {</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try {</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const user =</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await getUser(id);</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return user;</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 catch (error) {</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log("caught: " +</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error.message);</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throw error;</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15/async-await-trycatch-live.png">    </p:cNvPr>
          <p:cNvPicPr>
            <a:picLocks noChangeAspect="1"/>
          </p:cNvPicPr>
          <p:nvPr/>
        </p:nvPicPr>
        <p:blipFill>
          <a:blip r:embed="rId1"/>
          <a:stretch>
            <a:fillRect/>
          </a:stretch>
        </p:blipFill>
        <p:spPr>
          <a:xfrm>
            <a:off x="6278728" y="3631633"/>
            <a:ext cx="5272888" cy="1012054"/>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22</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ASYNC/AWAIT</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async/await vs. .then Chains</a:t>
            </a:r>
            <a:endParaRPr lang="en-US" sz="3400" dirty="0"/>
          </a:p>
        </p:txBody>
      </p:sp>
      <p:sp>
        <p:nvSpPr>
          <p:cNvPr id="4" name="Shape 2"/>
          <p:cNvSpPr/>
          <p:nvPr/>
        </p:nvSpPr>
        <p:spPr>
          <a:xfrm>
            <a:off x="640080" y="1965960"/>
            <a:ext cx="10911535" cy="3657600"/>
          </a:xfrm>
          <a:prstGeom prst="roundRect">
            <a:avLst>
              <a:gd name="adj" fmla="val 3529"/>
            </a:avLst>
          </a:prstGeom>
          <a:solidFill>
            <a:srgbClr val="E6F6EE"/>
          </a:solidFill>
          <a:ln w="12700">
            <a:solidFill>
              <a:srgbClr val="3FA66B"/>
            </a:solidFill>
            <a:prstDash val="solid"/>
          </a:ln>
        </p:spPr>
        <p:txBody>
          <a:bodyPr/>
          <a:p/>
        </p:txBody>
      </p:sp>
      <p:sp>
        <p:nvSpPr>
          <p:cNvPr id="5" name="Text 3"/>
          <p:cNvSpPr txBox="1"/>
          <p:nvPr/>
        </p:nvSpPr>
        <p:spPr>
          <a:xfrm>
            <a:off x="868680" y="2103120"/>
            <a:ext cx="10454335" cy="400000"/>
          </a:xfrm>
          <a:prstGeom prst="rect">
            <a:avLst/>
          </a:prstGeom>
          <a:noFill/>
          <a:ln/>
        </p:spPr>
        <p:txBody>
          <a:bodyPr wrap="square" lIns="0" tIns="0" rIns="0" bIns="0" rtlCol="0" anchor="ctr"/>
          <a:lstStyle/>
          <a:p>
            <a:pPr indent="0" marL="0">
              <a:buNone/>
            </a:pPr>
            <a:r>
              <a:rPr lang="en-US" sz="1800" b="1" spc="200" kern="0" dirty="0">
                <a:solidFill>
                  <a:srgbClr val="1F7A46"/>
                </a:solidFill>
                <a:latin typeface="Calibri" pitchFamily="34" charset="0"/>
                <a:ea typeface="Calibri" pitchFamily="34" charset="-122"/>
                <a:cs typeface="Calibri" pitchFamily="34" charset="-120"/>
              </a:rPr>
              <a:t>TIP</a:t>
            </a:r>
            <a:endParaRPr lang="en-US" sz="1800" dirty="0"/>
          </a:p>
        </p:txBody>
      </p:sp>
      <p:sp>
        <p:nvSpPr>
          <p:cNvPr id="6" name="Text 4"/>
          <p:cNvSpPr txBox="1"/>
          <p:nvPr/>
        </p:nvSpPr>
        <p:spPr>
          <a:xfrm>
            <a:off x="868680" y="2795960"/>
            <a:ext cx="10454335" cy="2800000"/>
          </a:xfrm>
          <a:prstGeom prst="rect">
            <a:avLst/>
          </a:prstGeom>
          <a:noFill/>
          <a:ln/>
        </p:spPr>
        <p:txBody>
          <a:bodyPr wrap="square" lIns="0" tIns="0" rIns="0" bIns="0" rtlCol="0" anchor="ctr"/>
          <a:lstStyle/>
          <a:p>
            <a:pPr indent="0" marL="0">
              <a:buNone/>
            </a:pPr>
            <a:r>
              <a:rPr lang="en-US" sz="2800" dirty="0">
                <a:solidFill>
                  <a:srgbClr val="26262F"/>
                </a:solidFill>
                <a:latin typeface="Calibri" pitchFamily="34" charset="0"/>
                <a:ea typeface="Calibri" pitchFamily="34" charset="-122"/>
                <a:cs typeface="Calibri" pitchFamily="34" charset="-120"/>
              </a:rPr>
              <a:t>They do the same job -- async/await is just easier to read, especially with multiple sequential steps and conditional logic. You will see both styles in real codebases, but prefer async/await for new code you write.</a:t>
            </a:r>
            <a:endParaRPr lang="en-US" sz="28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23</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AJAX AND FETCH</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What Is AJAX?</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general technique of a web page requesting data from a server in the background, without a full page reload</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name is historical (Asynchronous JavaScript and XML) -- today it almost always means JSON, not XML</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modern, built-in tool for doing this is the Fetch API</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24</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GET Request</a:t>
            </a:r>
            <a:endParaRPr lang="en-US" sz="3400" dirty="0"/>
          </a:p>
        </p:txBody>
      </p:sp>
      <p:sp>
        <p:nvSpPr>
          <p:cNvPr id="4" name="Shape 2"/>
          <p:cNvSpPr/>
          <p:nvPr/>
        </p:nvSpPr>
        <p:spPr>
          <a:xfrm>
            <a:off x="640080" y="1965960"/>
            <a:ext cx="10911535" cy="1882140"/>
          </a:xfrm>
          <a:prstGeom prst="roundRect">
            <a:avLst>
              <a:gd name="adj" fmla="val 3887"/>
            </a:avLst>
          </a:prstGeom>
          <a:solidFill>
            <a:srgbClr val="F7F8F9"/>
          </a:solidFill>
          <a:ln w="9525">
            <a:solidFill>
              <a:srgbClr val="D0D5DD"/>
            </a:solidFill>
          </a:ln>
        </p:spPr>
        <p:txBody>
          <a:bodyPr/>
          <a:p/>
        </p:txBody>
      </p:sp>
      <p:sp>
        <p:nvSpPr>
          <p:cNvPr id="5" name="Text 3"/>
          <p:cNvSpPr txBox="1"/>
          <p:nvPr/>
        </p:nvSpPr>
        <p:spPr>
          <a:xfrm>
            <a:off x="960120" y="2194560"/>
            <a:ext cx="10271455" cy="1424940"/>
          </a:xfrm>
          <a:prstGeom prst="rect">
            <a:avLst/>
          </a:prstGeom>
          <a:noFill/>
          <a:ln/>
        </p:spPr>
        <p:txBody>
          <a:bodyPr wrap="square" lIns="0" tIns="0" rIns="0" bIns="0" rtlCol="0" anchor="t"/>
          <a:lstStyle/>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async function loadStories()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const response = await fetch("https://usmanlive.com/wp-json/api/stories");</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const stories = await response.json(); // parses the body as JSON</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console.log(stories);</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4076700"/>
            <a:ext cx="10911535" cy="21869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fetch(url) resolves with a Response once headers arrive -- it resolves even for 404s; it only REJECTS on a genuine network failure.</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28</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Always Check response.ok</a:t>
            </a:r>
            <a:endParaRPr lang="en-US" sz="3400" dirty="0"/>
          </a:p>
        </p:txBody>
      </p:sp>
      <p:sp>
        <p:nvSpPr>
          <p:cNvPr id="4" name="Shape 2"/>
          <p:cNvSpPr/>
          <p:nvPr/>
        </p:nvSpPr>
        <p:spPr>
          <a:xfrm>
            <a:off x="640080" y="1965960"/>
            <a:ext cx="10911535" cy="2682240"/>
          </a:xfrm>
          <a:prstGeom prst="roundRect">
            <a:avLst>
              <a:gd name="adj" fmla="val 2727"/>
            </a:avLst>
          </a:prstGeom>
          <a:solidFill>
            <a:srgbClr val="F7F8F9"/>
          </a:solidFill>
          <a:ln w="9525">
            <a:solidFill>
              <a:srgbClr val="D0D5DD"/>
            </a:solidFill>
          </a:ln>
        </p:spPr>
        <p:txBody>
          <a:bodyPr/>
          <a:p/>
        </p:txBody>
      </p:sp>
      <p:sp>
        <p:nvSpPr>
          <p:cNvPr id="5" name="Text 3"/>
          <p:cNvSpPr txBox="1"/>
          <p:nvPr/>
        </p:nvSpPr>
        <p:spPr>
          <a:xfrm>
            <a:off x="960120" y="2194560"/>
            <a:ext cx="10271455" cy="2225040"/>
          </a:xfrm>
          <a:prstGeom prst="rect">
            <a:avLst/>
          </a:prstGeom>
          <a:noFill/>
          <a:ln/>
        </p:spPr>
        <p:txBody>
          <a:bodyPr wrap="square" lIns="0" tIns="0" rIns="0" bIns="0" rtlCol="0" anchor="t"/>
          <a:lstStyle/>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async function loadStories()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const response = await fetch("https://usmanlive.com/wp-json/api/stories");</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if (!response.ok)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throw new Error(`Request failed with status ${response.status}`);</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const stories = await response.json();</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return stories;</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a:t>
            </a:r>
            <a:endParaRPr lang="en-US" sz="1400"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29</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Exact GET Code, Live</a:t>
            </a:r>
            <a:endParaRPr lang="en-US" sz="3400" dirty="0"/>
          </a:p>
        </p:txBody>
      </p:sp>
      <p:sp>
        <p:nvSpPr>
          <p:cNvPr id="4" name="Shape 2"/>
          <p:cNvSpPr/>
          <p:nvPr/>
        </p:nvSpPr>
        <p:spPr>
          <a:xfrm>
            <a:off x="640080" y="2996565"/>
            <a:ext cx="5272888" cy="2282190"/>
          </a:xfrm>
          <a:prstGeom prst="roundRect">
            <a:avLst>
              <a:gd name="adj" fmla="val 3205"/>
            </a:avLst>
          </a:prstGeom>
          <a:solidFill>
            <a:srgbClr val="F7F8F9"/>
          </a:solidFill>
          <a:ln w="9525">
            <a:solidFill>
              <a:srgbClr val="D0D5DD"/>
            </a:solidFill>
          </a:ln>
        </p:spPr>
        <p:txBody>
          <a:bodyPr/>
          <a:p/>
        </p:txBody>
      </p:sp>
      <p:sp>
        <p:nvSpPr>
          <p:cNvPr id="5" name="Text 3"/>
          <p:cNvSpPr txBox="1"/>
          <p:nvPr/>
        </p:nvSpPr>
        <p:spPr>
          <a:xfrm>
            <a:off x="960120" y="3225165"/>
            <a:ext cx="4632808" cy="1824990"/>
          </a:xfrm>
          <a:prstGeom prst="rect">
            <a:avLst/>
          </a:prstGeom>
          <a:noFill/>
          <a:ln/>
        </p:spPr>
        <p:txBody>
          <a:bodyPr wrap="square" lIns="0" tIns="0" rIns="0" bIns="0" rtlCol="0" anchor="t"/>
          <a:lstStyle/>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const response =</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await fetch(url);</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response.ok;</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response.status;</a:t>
            </a:r>
            <a:endParaRPr lang="en-US" sz="1300" dirty="0"/>
          </a:p>
          <a:p>
            <a:pPr indent="0" marL="0">
              <a:lnSpc>
                <a:spcPct val="125000"/>
              </a:lnSpc>
              <a:buNone/>
            </a:pP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const students =</a:t>
            </a:r>
            <a:endParaRPr lang="en-US" sz="1300" dirty="0"/>
          </a:p>
          <a:p>
            <a:pPr indent="0" marL="0">
              <a:lnSpc>
                <a:spcPct val="125000"/>
              </a:lnSpc>
              <a:buNone/>
            </a:pPr>
            <a:r>
              <a:rPr lang="en-US" sz="1300" dirty="0">
                <a:solidFill>
                  <a:srgbClr val="1F2429"/>
                </a:solidFill>
                <a:latin typeface="Courier New" pitchFamily="34" charset="0"/>
                <a:ea typeface="Courier New" pitchFamily="34" charset="-122"/>
                <a:cs typeface="Courier New" pitchFamily="34" charset="-120"/>
              </a:rPr>
              <a:t>  await response.json();</a:t>
            </a:r>
            <a:endParaRPr lang="en-US" sz="1300" dirty="0"/>
          </a:p>
        </p:txBody>
      </p:sp>
      <p:sp>
        <p:nvSpPr>
          <p:cNvPr id="6" name="Shape 4"/>
          <p:cNvSpPr/>
          <p:nvPr/>
        </p:nvSpPr>
        <p:spPr>
          <a:xfrm>
            <a:off x="6169000" y="1947672"/>
            <a:ext cx="5492344" cy="4379976"/>
          </a:xfrm>
          <a:prstGeom prst="roundRect">
            <a:avLst>
              <a:gd name="adj" fmla="val 1253"/>
            </a:avLst>
          </a:prstGeom>
          <a:solidFill>
            <a:srgbClr val="FFFFFF"/>
          </a:solidFill>
          <a:ln w="12700">
            <a:solidFill>
              <a:srgbClr val="E2E2EE"/>
            </a:solidFill>
            <a:prstDash val="solid"/>
          </a:ln>
          <a:effectLst>
            <a:outerShdw sx="100000" sy="100000" kx="0" ky="0" algn="bl" rotWithShape="0" blurRad="101600" dist="38100" dir="5400000">
              <a:srgbClr val="000000">
                <a:alpha val="12000"/>
              </a:srgbClr>
            </a:outerShdw>
          </a:effectLst>
        </p:spPr>
        <p:txBody>
          <a:bodyPr/>
          <a:p/>
        </p:txBody>
      </p:sp>
      <p:pic>
        <p:nvPicPr>
          <p:cNvPr id="7" name="Image 0" descr="D:/GitHub/mern-web-book/docs/assets/img/lecture-15/fetch-get-live.png">    </p:cNvPr>
          <p:cNvPicPr>
            <a:picLocks noChangeAspect="1"/>
          </p:cNvPicPr>
          <p:nvPr/>
        </p:nvPicPr>
        <p:blipFill>
          <a:blip r:embed="rId1"/>
          <a:stretch>
            <a:fillRect/>
          </a:stretch>
        </p:blipFill>
        <p:spPr>
          <a:xfrm>
            <a:off x="6278728" y="2734392"/>
            <a:ext cx="5272888" cy="2806537"/>
          </a:xfrm>
          <a:prstGeom prst="rect">
            <a:avLst/>
          </a:prstGeom>
        </p:spPr>
      </p:pic>
      <p:sp>
        <p:nvSpPr>
          <p:cNvPr id="1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4"/>
              </a:rPr>
              <a:t>cuinotes.com</a:t>
            </a:r>
            <a:r>
              <a:rPr sz="1000">
                <a:solidFill>
                  <a:srgbClr val="8A939B"/>
                </a:solidFill>
              </a:rPr>
              <a:t>  ·  30</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POST Request with Headers</a:t>
            </a:r>
            <a:endParaRPr lang="en-US" sz="3400" dirty="0"/>
          </a:p>
        </p:txBody>
      </p:sp>
      <p:sp>
        <p:nvSpPr>
          <p:cNvPr id="4" name="Shape 2"/>
          <p:cNvSpPr/>
          <p:nvPr/>
        </p:nvSpPr>
        <p:spPr>
          <a:xfrm>
            <a:off x="640080" y="1965960"/>
            <a:ext cx="10911535" cy="2948940"/>
          </a:xfrm>
          <a:prstGeom prst="roundRect">
            <a:avLst>
              <a:gd name="adj" fmla="val 2481"/>
            </a:avLst>
          </a:prstGeom>
          <a:solidFill>
            <a:srgbClr val="F7F8F9"/>
          </a:solidFill>
          <a:ln w="9525">
            <a:solidFill>
              <a:srgbClr val="D0D5DD"/>
            </a:solidFill>
          </a:ln>
        </p:spPr>
        <p:txBody>
          <a:bodyPr/>
          <a:p/>
        </p:txBody>
      </p:sp>
      <p:sp>
        <p:nvSpPr>
          <p:cNvPr id="5" name="Text 3"/>
          <p:cNvSpPr txBox="1"/>
          <p:nvPr/>
        </p:nvSpPr>
        <p:spPr>
          <a:xfrm>
            <a:off x="960120" y="2194560"/>
            <a:ext cx="10271455" cy="2491740"/>
          </a:xfrm>
          <a:prstGeom prst="rect">
            <a:avLst/>
          </a:prstGeom>
          <a:noFill/>
          <a:ln/>
        </p:spPr>
        <p:txBody>
          <a:bodyPr wrap="square" lIns="0" tIns="0" rIns="0" bIns="0" rtlCol="0" anchor="t"/>
          <a:lstStyle/>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async function createStory(newStory)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const response = await fetch("https://usmanlive.com/wp-json/api/stories",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method: "POST",</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headers: { "Content-Type": "application/json"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body: JSON.stringify(newStory), // { title, content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if (!response.ok) throw new Error(`Failed to create story: ${response.status}`);</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return response.json();</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143500"/>
            <a:ext cx="10911535" cy="112014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Content-Type: application/json tells the server "the body I'm sending is JSON text," so it knows how to parse it.</a:t>
            </a:r>
            <a:endParaRPr lang="en-US" sz="13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31</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Parsing Different Response Types</a:t>
            </a:r>
            <a:endParaRPr lang="en-US" sz="3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914400"/>
        </p:xfrm>
        <a:graphic>
          <a:graphicData uri="http://schemas.openxmlformats.org/drawingml/2006/table">
            <a:tbl>
              <a:tblPr/>
              <a:tblGrid>
                <a:gridCol w="3291840"/>
                <a:gridCol w="768096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Parses the body as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response.json()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JSON -- the most common case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response.text()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Plain text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l" indent="0" marL="0">
                        <a:buNone/>
                      </a:pPr>
                      <a:r>
                        <a:rPr lang="en-US" sz="1200" b="1" dirty="0">
                          <a:solidFill>
                            <a:srgbClr val="26262F"/>
                          </a:solidFill>
                          <a:latin typeface="Calibri" pitchFamily="34" charset="0"/>
                          <a:ea typeface="Calibri" pitchFamily="34" charset="-122"/>
                          <a:cs typeface="Calibri" pitchFamily="34" charset="-120"/>
                        </a:rPr>
                        <a:t>response.blob()</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Raw binary data (e.g. an image)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You can only read a response body ONCE -- call one parsing method per response.</a:t>
            </a:r>
            <a:endParaRPr lang="en-US" sz="1150" dirty="0"/>
          </a:p>
        </p:txBody>
      </p:sp>
      <p:sp>
        <p:nvSpPr>
          <p:cNvPr id="3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33</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Putting It Together with Promise.all</a:t>
            </a:r>
            <a:endParaRPr lang="en-US" sz="3400" dirty="0"/>
          </a:p>
        </p:txBody>
      </p:sp>
      <p:sp>
        <p:nvSpPr>
          <p:cNvPr id="4" name="Shape 2"/>
          <p:cNvSpPr/>
          <p:nvPr/>
        </p:nvSpPr>
        <p:spPr>
          <a:xfrm>
            <a:off x="640080" y="1965960"/>
            <a:ext cx="10911535" cy="3931920"/>
          </a:xfrm>
          <a:prstGeom prst="roundRect">
            <a:avLst>
              <a:gd name="adj" fmla="val 1860"/>
            </a:avLst>
          </a:prstGeom>
          <a:solidFill>
            <a:srgbClr val="F7F8F9"/>
          </a:solidFill>
          <a:ln w="9525">
            <a:solidFill>
              <a:srgbClr val="D0D5DD"/>
            </a:solidFill>
          </a:ln>
        </p:spPr>
        <p:txBody>
          <a:bodyPr/>
          <a:p/>
        </p:txBody>
      </p:sp>
      <p:sp>
        <p:nvSpPr>
          <p:cNvPr id="5" name="Text 3"/>
          <p:cNvSpPr txBox="1"/>
          <p:nvPr/>
        </p:nvSpPr>
        <p:spPr>
          <a:xfrm>
            <a:off x="960120" y="2194560"/>
            <a:ext cx="10271455" cy="3474720"/>
          </a:xfrm>
          <a:prstGeom prst="rect">
            <a:avLst/>
          </a:prstGeom>
          <a:noFill/>
          <a:ln/>
        </p:spPr>
        <p:txBody>
          <a:bodyPr wrap="square" lIns="0" tIns="0" rIns="0" bIns="0" rtlCol="0" anchor="t"/>
          <a:lstStyle/>
          <a:p>
            <a:pPr indent="0" marL="0">
              <a:lnSpc>
                <a:spcPct val="125000"/>
              </a:lnSpc>
              <a:buNone/>
            </a:pPr>
            <a:r>
              <a:rPr lang="en-US" sz="1366" dirty="0">
                <a:solidFill>
                  <a:srgbClr val="1F2429"/>
                </a:solidFill>
                <a:latin typeface="Courier New" pitchFamily="34" charset="0"/>
                <a:ea typeface="Courier New" pitchFamily="34" charset="-122"/>
                <a:cs typeface="Courier New" pitchFamily="34" charset="-120"/>
              </a:rPr>
              <a:t>async function fetchDashboardData() {</a:t>
            </a:r>
            <a:endParaRPr lang="en-US" sz="1366" dirty="0"/>
          </a:p>
          <a:p>
            <a:pPr indent="0" marL="0">
              <a:lnSpc>
                <a:spcPct val="125000"/>
              </a:lnSpc>
              <a:buNone/>
            </a:pPr>
            <a:r>
              <a:rPr lang="en-US" sz="1366" dirty="0">
                <a:solidFill>
                  <a:srgbClr val="1F2429"/>
                </a:solidFill>
                <a:latin typeface="Courier New" pitchFamily="34" charset="0"/>
                <a:ea typeface="Courier New" pitchFamily="34" charset="-122"/>
                <a:cs typeface="Courier New" pitchFamily="34" charset="-120"/>
              </a:rPr>
              <a:t>  try {</a:t>
            </a:r>
            <a:endParaRPr lang="en-US" sz="1366" dirty="0"/>
          </a:p>
          <a:p>
            <a:pPr indent="0" marL="0">
              <a:lnSpc>
                <a:spcPct val="125000"/>
              </a:lnSpc>
              <a:buNone/>
            </a:pPr>
            <a:r>
              <a:rPr lang="en-US" sz="1366" dirty="0">
                <a:solidFill>
                  <a:srgbClr val="1F2429"/>
                </a:solidFill>
                <a:latin typeface="Courier New" pitchFamily="34" charset="0"/>
                <a:ea typeface="Courier New" pitchFamily="34" charset="-122"/>
                <a:cs typeface="Courier New" pitchFamily="34" charset="-120"/>
              </a:rPr>
              <a:t>    const [storiesRes, countriesRes] = await Promise.all([</a:t>
            </a:r>
            <a:endParaRPr lang="en-US" sz="1366" dirty="0"/>
          </a:p>
          <a:p>
            <a:pPr indent="0" marL="0">
              <a:lnSpc>
                <a:spcPct val="125000"/>
              </a:lnSpc>
              <a:buNone/>
            </a:pPr>
            <a:r>
              <a:rPr lang="en-US" sz="1366" dirty="0">
                <a:solidFill>
                  <a:srgbClr val="1F2429"/>
                </a:solidFill>
                <a:latin typeface="Courier New" pitchFamily="34" charset="0"/>
                <a:ea typeface="Courier New" pitchFamily="34" charset="-122"/>
                <a:cs typeface="Courier New" pitchFamily="34" charset="-120"/>
              </a:rPr>
              <a:t>      fetch("https://usmanlive.com/wp-json/api/stories"),</a:t>
            </a:r>
            <a:endParaRPr lang="en-US" sz="1366" dirty="0"/>
          </a:p>
          <a:p>
            <a:pPr indent="0" marL="0">
              <a:lnSpc>
                <a:spcPct val="125000"/>
              </a:lnSpc>
              <a:buNone/>
            </a:pPr>
            <a:r>
              <a:rPr lang="en-US" sz="1366" dirty="0">
                <a:solidFill>
                  <a:srgbClr val="1F2429"/>
                </a:solidFill>
                <a:latin typeface="Courier New" pitchFamily="34" charset="0"/>
                <a:ea typeface="Courier New" pitchFamily="34" charset="-122"/>
                <a:cs typeface="Courier New" pitchFamily="34" charset="-120"/>
              </a:rPr>
              <a:t>      fetch("https://usmanlive.com/wp-json/api/countries?q=an"),</a:t>
            </a:r>
            <a:endParaRPr lang="en-US" sz="1366" dirty="0"/>
          </a:p>
          <a:p>
            <a:pPr indent="0" marL="0">
              <a:lnSpc>
                <a:spcPct val="125000"/>
              </a:lnSpc>
              <a:buNone/>
            </a:pPr>
            <a:r>
              <a:rPr lang="en-US" sz="1366" dirty="0">
                <a:solidFill>
                  <a:srgbClr val="1F2429"/>
                </a:solidFill>
                <a:latin typeface="Courier New" pitchFamily="34" charset="0"/>
                <a:ea typeface="Courier New" pitchFamily="34" charset="-122"/>
                <a:cs typeface="Courier New" pitchFamily="34" charset="-120"/>
              </a:rPr>
              <a:t>    ]);</a:t>
            </a:r>
            <a:endParaRPr lang="en-US" sz="1366" dirty="0"/>
          </a:p>
          <a:p>
            <a:pPr indent="0" marL="0">
              <a:lnSpc>
                <a:spcPct val="125000"/>
              </a:lnSpc>
              <a:buNone/>
            </a:pPr>
            <a:r>
              <a:rPr lang="en-US" sz="1366" dirty="0">
                <a:solidFill>
                  <a:srgbClr val="1F2429"/>
                </a:solidFill>
                <a:latin typeface="Courier New" pitchFamily="34" charset="0"/>
                <a:ea typeface="Courier New" pitchFamily="34" charset="-122"/>
                <a:cs typeface="Courier New" pitchFamily="34" charset="-120"/>
              </a:rPr>
              <a:t>    const stories = await storiesRes.json();</a:t>
            </a:r>
            <a:endParaRPr lang="en-US" sz="1366" dirty="0"/>
          </a:p>
          <a:p>
            <a:pPr indent="0" marL="0">
              <a:lnSpc>
                <a:spcPct val="125000"/>
              </a:lnSpc>
              <a:buNone/>
            </a:pPr>
            <a:r>
              <a:rPr lang="en-US" sz="1366" dirty="0">
                <a:solidFill>
                  <a:srgbClr val="1F2429"/>
                </a:solidFill>
                <a:latin typeface="Courier New" pitchFamily="34" charset="0"/>
                <a:ea typeface="Courier New" pitchFamily="34" charset="-122"/>
                <a:cs typeface="Courier New" pitchFamily="34" charset="-120"/>
              </a:rPr>
              <a:t>    const countries = await countriesRes.json();</a:t>
            </a:r>
            <a:endParaRPr lang="en-US" sz="1366" dirty="0"/>
          </a:p>
          <a:p>
            <a:pPr indent="0" marL="0">
              <a:lnSpc>
                <a:spcPct val="125000"/>
              </a:lnSpc>
              <a:buNone/>
            </a:pPr>
            <a:r>
              <a:rPr lang="en-US" sz="1366" dirty="0">
                <a:solidFill>
                  <a:srgbClr val="1F2429"/>
                </a:solidFill>
                <a:latin typeface="Courier New" pitchFamily="34" charset="0"/>
                <a:ea typeface="Courier New" pitchFamily="34" charset="-122"/>
                <a:cs typeface="Courier New" pitchFamily="34" charset="-120"/>
              </a:rPr>
              <a:t>    console.log(stories, countries);</a:t>
            </a:r>
            <a:endParaRPr lang="en-US" sz="1366" dirty="0"/>
          </a:p>
          <a:p>
            <a:pPr indent="0" marL="0">
              <a:lnSpc>
                <a:spcPct val="125000"/>
              </a:lnSpc>
              <a:buNone/>
            </a:pPr>
            <a:r>
              <a:rPr lang="en-US" sz="1366" dirty="0">
                <a:solidFill>
                  <a:srgbClr val="1F2429"/>
                </a:solidFill>
                <a:latin typeface="Courier New" pitchFamily="34" charset="0"/>
                <a:ea typeface="Courier New" pitchFamily="34" charset="-122"/>
                <a:cs typeface="Courier New" pitchFamily="34" charset="-120"/>
              </a:rPr>
              <a:t>  } catch (error) {</a:t>
            </a:r>
            <a:endParaRPr lang="en-US" sz="1366" dirty="0"/>
          </a:p>
          <a:p>
            <a:pPr indent="0" marL="0">
              <a:lnSpc>
                <a:spcPct val="125000"/>
              </a:lnSpc>
              <a:buNone/>
            </a:pPr>
            <a:r>
              <a:rPr lang="en-US" sz="1366" dirty="0">
                <a:solidFill>
                  <a:srgbClr val="1F2429"/>
                </a:solidFill>
                <a:latin typeface="Courier New" pitchFamily="34" charset="0"/>
                <a:ea typeface="Courier New" pitchFamily="34" charset="-122"/>
                <a:cs typeface="Courier New" pitchFamily="34" charset="-120"/>
              </a:rPr>
              <a:t>    console.error("Network error:", error.message);</a:t>
            </a:r>
            <a:endParaRPr lang="en-US" sz="1366" dirty="0"/>
          </a:p>
          <a:p>
            <a:pPr indent="0" marL="0">
              <a:lnSpc>
                <a:spcPct val="125000"/>
              </a:lnSpc>
              <a:buNone/>
            </a:pPr>
            <a:r>
              <a:rPr lang="en-US" sz="1366" dirty="0">
                <a:solidFill>
                  <a:srgbClr val="1F2429"/>
                </a:solidFill>
                <a:latin typeface="Courier New" pitchFamily="34" charset="0"/>
                <a:ea typeface="Courier New" pitchFamily="34" charset="-122"/>
                <a:cs typeface="Courier New" pitchFamily="34" charset="-120"/>
              </a:rPr>
              <a:t>  }</a:t>
            </a:r>
            <a:endParaRPr lang="en-US" sz="1366" dirty="0"/>
          </a:p>
          <a:p>
            <a:pPr indent="0" marL="0">
              <a:lnSpc>
                <a:spcPct val="125000"/>
              </a:lnSpc>
              <a:buNone/>
            </a:pPr>
            <a:r>
              <a:rPr lang="en-US" sz="1366" dirty="0">
                <a:solidFill>
                  <a:srgbClr val="1F2429"/>
                </a:solidFill>
                <a:latin typeface="Courier New" pitchFamily="34" charset="0"/>
                <a:ea typeface="Courier New" pitchFamily="34" charset="-122"/>
                <a:cs typeface="Courier New" pitchFamily="34" charset="-120"/>
              </a:rPr>
              <a:t>}</a:t>
            </a:r>
            <a:endParaRPr lang="en-US" sz="1366" dirty="0"/>
          </a:p>
        </p:txBody>
      </p:sp>
      <p:sp>
        <p:nvSpPr>
          <p:cNvPr id="8"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34</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CORS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Cross-Origin Resource Sharing</a:t>
            </a:r>
            <a:endParaRPr lang="en-US" sz="3400" dirty="0"/>
          </a:p>
        </p:txBody>
      </p:sp>
      <p:sp>
        <p:nvSpPr>
          <p:cNvPr id="4" name="Shape 2"/>
          <p:cNvSpPr/>
          <p:nvPr/>
        </p:nvSpPr>
        <p:spPr>
          <a:xfrm>
            <a:off x="685800" y="1965960"/>
            <a:ext cx="457200" cy="457200"/>
          </a:xfrm>
          <a:prstGeom prst="ellipse">
            <a:avLst/>
          </a:prstGeom>
          <a:solidFill>
            <a:srgbClr val="FF8A3D"/>
          </a:solidFill>
          <a:ln/>
        </p:spPr>
        <p:txBody>
          <a:bodyPr/>
          <a:p/>
        </p:txBody>
      </p:sp>
      <p:sp>
        <p:nvSpPr>
          <p:cNvPr id="5" name="Text 3"/>
          <p:cNvSpPr txBox="1"/>
          <p:nvPr/>
        </p:nvSpPr>
        <p:spPr>
          <a:xfrm>
            <a:off x="685800" y="196596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6" name="Text 4"/>
          <p:cNvSpPr txBox="1"/>
          <p:nvPr/>
        </p:nvSpPr>
        <p:spPr>
          <a:xfrm>
            <a:off x="1371600" y="189280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A browser security rule restricting JS on one origin (protocol + domain + port) from freely reading responses from a different origin</a:t>
            </a:r>
            <a:endParaRPr lang="en-US" sz="1500" dirty="0"/>
          </a:p>
        </p:txBody>
      </p:sp>
      <p:sp>
        <p:nvSpPr>
          <p:cNvPr id="7" name="Shape 5"/>
          <p:cNvSpPr/>
          <p:nvPr/>
        </p:nvSpPr>
        <p:spPr>
          <a:xfrm>
            <a:off x="685800" y="2788920"/>
            <a:ext cx="457200" cy="457200"/>
          </a:xfrm>
          <a:prstGeom prst="ellipse">
            <a:avLst/>
          </a:prstGeom>
          <a:solidFill>
            <a:srgbClr val="FF8A3D"/>
          </a:solidFill>
          <a:ln/>
        </p:spPr>
        <p:txBody>
          <a:bodyPr/>
          <a:p/>
        </p:txBody>
      </p:sp>
      <p:sp>
        <p:nvSpPr>
          <p:cNvPr id="8" name="Text 6"/>
          <p:cNvSpPr txBox="1"/>
          <p:nvPr/>
        </p:nvSpPr>
        <p:spPr>
          <a:xfrm>
            <a:off x="685800" y="27889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9" name="Text 7"/>
          <p:cNvSpPr txBox="1"/>
          <p:nvPr/>
        </p:nvSpPr>
        <p:spPr>
          <a:xfrm>
            <a:off x="1371600" y="271576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The server decides who is allowed, via an Access-Control-Allow-Origin response header</a:t>
            </a:r>
            <a:endParaRPr lang="en-US" sz="1500" dirty="0"/>
          </a:p>
        </p:txBody>
      </p:sp>
      <p:sp>
        <p:nvSpPr>
          <p:cNvPr id="10" name="Shape 8"/>
          <p:cNvSpPr/>
          <p:nvPr/>
        </p:nvSpPr>
        <p:spPr>
          <a:xfrm>
            <a:off x="685800" y="3611880"/>
            <a:ext cx="457200" cy="457200"/>
          </a:xfrm>
          <a:prstGeom prst="ellipse">
            <a:avLst/>
          </a:prstGeom>
          <a:solidFill>
            <a:srgbClr val="FF8A3D"/>
          </a:solidFill>
          <a:ln/>
        </p:spPr>
        <p:txBody>
          <a:bodyPr/>
          <a:p/>
        </p:txBody>
      </p:sp>
      <p:sp>
        <p:nvSpPr>
          <p:cNvPr id="11" name="Text 9"/>
          <p:cNvSpPr txBox="1"/>
          <p:nvPr/>
        </p:nvSpPr>
        <p:spPr>
          <a:xfrm>
            <a:off x="685800" y="361188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2" name="Text 10"/>
          <p:cNvSpPr txBox="1"/>
          <p:nvPr/>
        </p:nvSpPr>
        <p:spPr>
          <a:xfrm>
            <a:off x="1371600" y="3538728"/>
            <a:ext cx="10180015" cy="640080"/>
          </a:xfrm>
          <a:prstGeom prst="rect">
            <a:avLst/>
          </a:prstGeom>
          <a:noFill/>
          <a:ln/>
        </p:spPr>
        <p:txBody>
          <a:bodyPr wrap="square" lIns="0" tIns="0" rIns="0" bIns="0" rtlCol="0" anchor="ctr"/>
          <a:lstStyle/>
          <a:p>
            <a:pPr indent="0" marL="0">
              <a:buNone/>
            </a:pPr>
            <a:r>
              <a:rPr lang="en-US" sz="1500" dirty="0">
                <a:solidFill>
                  <a:srgbClr val="26262F"/>
                </a:solidFill>
                <a:latin typeface="Calibri" pitchFamily="34" charset="0"/>
                <a:ea typeface="Calibri" pitchFamily="34" charset="-122"/>
                <a:cs typeface="Calibri" pitchFamily="34" charset="-120"/>
              </a:rPr>
              <a:t>CORS is enforced by the BROWSER, not your JavaScript -- you cannot "fix" a CORS error from the frontend</a:t>
            </a:r>
            <a:endParaRPr lang="en-US" sz="1500" dirty="0"/>
          </a:p>
        </p:txBody>
      </p:sp>
      <p:sp>
        <p:nvSpPr>
          <p:cNvPr id="1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36</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CORS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How the Browser Checks CORS</a:t>
            </a:r>
            <a:endParaRPr lang="en-US" sz="3400" dirty="0"/>
          </a:p>
        </p:txBody>
      </p:sp>
      <p:sp>
        <p:nvSpPr>
          <p:cNvPr id="4" name="Shape 2"/>
          <p:cNvSpPr/>
          <p:nvPr/>
        </p:nvSpPr>
        <p:spPr>
          <a:xfrm>
            <a:off x="4114800" y="2468880"/>
            <a:ext cx="4023360" cy="9144"/>
          </a:xfrm>
          <a:prstGeom prst="line">
            <a:avLst/>
          </a:prstGeom>
          <a:noFill/>
          <a:ln w="25400">
            <a:solidFill>
              <a:srgbClr val="5D5D72"/>
            </a:solidFill>
            <a:prstDash val="solid"/>
            <a:tailEnd type="triangle"/>
          </a:ln>
        </p:spPr>
        <p:txBody>
          <a:bodyPr/>
          <a:p/>
        </p:txBody>
      </p:sp>
      <p:sp>
        <p:nvSpPr>
          <p:cNvPr id="5" name="Text 3"/>
          <p:cNvSpPr txBox="1"/>
          <p:nvPr/>
        </p:nvSpPr>
        <p:spPr>
          <a:xfrm>
            <a:off x="5212080" y="232257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request</a:t>
            </a:r>
            <a:endParaRPr lang="en-US" sz="1050" dirty="0"/>
          </a:p>
        </p:txBody>
      </p:sp>
      <p:sp>
        <p:nvSpPr>
          <p:cNvPr id="6" name="Shape 4"/>
          <p:cNvSpPr/>
          <p:nvPr/>
        </p:nvSpPr>
        <p:spPr>
          <a:xfrm flipH="1">
            <a:off x="6080760" y="2743200"/>
            <a:ext cx="2606040" cy="640080"/>
          </a:xfrm>
          <a:prstGeom prst="line">
            <a:avLst/>
          </a:prstGeom>
          <a:noFill/>
          <a:ln w="25400">
            <a:solidFill>
              <a:srgbClr val="5D5D72"/>
            </a:solidFill>
            <a:prstDash val="solid"/>
            <a:tailEnd type="triangle"/>
          </a:ln>
        </p:spPr>
        <p:txBody>
          <a:bodyPr/>
          <a:p/>
        </p:txBody>
      </p:sp>
      <p:sp>
        <p:nvSpPr>
          <p:cNvPr id="7" name="Text 5"/>
          <p:cNvSpPr txBox="1"/>
          <p:nvPr/>
        </p:nvSpPr>
        <p:spPr>
          <a:xfrm>
            <a:off x="6469380" y="291693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response + header</a:t>
            </a:r>
            <a:endParaRPr lang="en-US" sz="1050" dirty="0"/>
          </a:p>
        </p:txBody>
      </p:sp>
      <p:sp>
        <p:nvSpPr>
          <p:cNvPr id="8" name="Shape 6"/>
          <p:cNvSpPr/>
          <p:nvPr/>
        </p:nvSpPr>
        <p:spPr>
          <a:xfrm flipH="1">
            <a:off x="2834640" y="4160520"/>
            <a:ext cx="2468880" cy="685800"/>
          </a:xfrm>
          <a:prstGeom prst="line">
            <a:avLst/>
          </a:prstGeom>
          <a:noFill/>
          <a:ln w="25400">
            <a:solidFill>
              <a:srgbClr val="5D5D72"/>
            </a:solidFill>
            <a:prstDash val="solid"/>
            <a:tailEnd type="triangle"/>
          </a:ln>
        </p:spPr>
        <p:txBody>
          <a:bodyPr/>
          <a:p/>
        </p:txBody>
      </p:sp>
      <p:sp>
        <p:nvSpPr>
          <p:cNvPr id="9" name="Text 7"/>
          <p:cNvSpPr txBox="1"/>
          <p:nvPr/>
        </p:nvSpPr>
        <p:spPr>
          <a:xfrm>
            <a:off x="3154680" y="435711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Yes</a:t>
            </a:r>
            <a:endParaRPr lang="en-US" sz="1050" dirty="0"/>
          </a:p>
        </p:txBody>
      </p:sp>
      <p:sp>
        <p:nvSpPr>
          <p:cNvPr id="10" name="Shape 8"/>
          <p:cNvSpPr/>
          <p:nvPr/>
        </p:nvSpPr>
        <p:spPr>
          <a:xfrm>
            <a:off x="6675120" y="3840480"/>
            <a:ext cx="2560320" cy="1005840"/>
          </a:xfrm>
          <a:prstGeom prst="line">
            <a:avLst/>
          </a:prstGeom>
          <a:noFill/>
          <a:ln w="25400">
            <a:solidFill>
              <a:srgbClr val="5D5D72"/>
            </a:solidFill>
            <a:prstDash val="solid"/>
            <a:tailEnd type="triangle"/>
          </a:ln>
        </p:spPr>
        <p:txBody>
          <a:bodyPr/>
          <a:p/>
        </p:txBody>
      </p:sp>
      <p:sp>
        <p:nvSpPr>
          <p:cNvPr id="11" name="Text 9"/>
          <p:cNvSpPr txBox="1"/>
          <p:nvPr/>
        </p:nvSpPr>
        <p:spPr>
          <a:xfrm>
            <a:off x="7040880" y="4197096"/>
            <a:ext cx="1828800" cy="292608"/>
          </a:xfrm>
          <a:prstGeom prst="rect">
            <a:avLst/>
          </a:prstGeom>
          <a:solidFill>
            <a:srgbClr val="FFFFFF"/>
          </a:solidFill>
          <a:ln/>
        </p:spPr>
        <p:txBody>
          <a:bodyPr wrap="square" lIns="0" tIns="0" rIns="0" bIns="0" rtlCol="0" anchor="ctr"/>
          <a:lstStyle/>
          <a:p>
            <a:pPr algn="ctr" indent="0" marL="0">
              <a:buNone/>
            </a:pPr>
            <a:r>
              <a:rPr lang="en-US" sz="1050" i="1" dirty="0">
                <a:solidFill>
                  <a:srgbClr val="5D5D72"/>
                </a:solidFill>
                <a:latin typeface="Calibri" pitchFamily="34" charset="0"/>
                <a:ea typeface="Calibri" pitchFamily="34" charset="-122"/>
                <a:cs typeface="Calibri" pitchFamily="34" charset="-120"/>
              </a:rPr>
              <a:t>No</a:t>
            </a:r>
            <a:endParaRPr lang="en-US" sz="1050" dirty="0"/>
          </a:p>
        </p:txBody>
      </p:sp>
      <p:sp>
        <p:nvSpPr>
          <p:cNvPr id="12" name="Shape 10"/>
          <p:cNvSpPr/>
          <p:nvPr/>
        </p:nvSpPr>
        <p:spPr>
          <a:xfrm>
            <a:off x="822960" y="2194560"/>
            <a:ext cx="3291840" cy="548640"/>
          </a:xfrm>
          <a:prstGeom prst="rect">
            <a:avLst/>
          </a:prstGeom>
          <a:solidFill>
            <a:srgbClr val="2B2B7A"/>
          </a:solidFill>
          <a:ln/>
        </p:spPr>
        <p:txBody>
          <a:bodyPr/>
          <a:p/>
        </p:txBody>
      </p:sp>
      <p:sp>
        <p:nvSpPr>
          <p:cNvPr id="13" name="Text 11"/>
          <p:cNvSpPr txBox="1"/>
          <p:nvPr/>
        </p:nvSpPr>
        <p:spPr>
          <a:xfrm>
            <a:off x="877824" y="2194560"/>
            <a:ext cx="3182112" cy="548640"/>
          </a:xfrm>
          <a:prstGeom prst="rect">
            <a:avLst/>
          </a:prstGeom>
          <a:noFill/>
          <a:ln/>
        </p:spPr>
        <p:txBody>
          <a:bodyPr wrap="square" lIns="0" tIns="0" rIns="0" bIns="0" rtlCol="0" anchor="ctr"/>
          <a:lstStyle/>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Browser</a:t>
            </a:r>
            <a:endParaRPr lang="en-US" sz="1100" dirty="0"/>
          </a:p>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fetch("https://api.example.com/data")</a:t>
            </a:r>
            <a:endParaRPr lang="en-US" sz="1100" dirty="0"/>
          </a:p>
        </p:txBody>
      </p:sp>
      <p:sp>
        <p:nvSpPr>
          <p:cNvPr id="14" name="Shape 12"/>
          <p:cNvSpPr/>
          <p:nvPr/>
        </p:nvSpPr>
        <p:spPr>
          <a:xfrm>
            <a:off x="8138160" y="2194560"/>
            <a:ext cx="3200400" cy="548640"/>
          </a:xfrm>
          <a:prstGeom prst="rect">
            <a:avLst/>
          </a:prstGeom>
          <a:solidFill>
            <a:srgbClr val="2B2B7A"/>
          </a:solidFill>
          <a:ln/>
        </p:spPr>
        <p:txBody>
          <a:bodyPr/>
          <a:p/>
        </p:txBody>
      </p:sp>
      <p:sp>
        <p:nvSpPr>
          <p:cNvPr id="15" name="Text 13"/>
          <p:cNvSpPr txBox="1"/>
          <p:nvPr/>
        </p:nvSpPr>
        <p:spPr>
          <a:xfrm>
            <a:off x="8193024" y="2194560"/>
            <a:ext cx="3090672" cy="54864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api.example.com</a:t>
            </a:r>
            <a:endParaRPr lang="en-US" sz="1250" dirty="0"/>
          </a:p>
        </p:txBody>
      </p:sp>
      <p:sp>
        <p:nvSpPr>
          <p:cNvPr id="16" name="Shape 14"/>
          <p:cNvSpPr/>
          <p:nvPr/>
        </p:nvSpPr>
        <p:spPr>
          <a:xfrm>
            <a:off x="4480560" y="3383280"/>
            <a:ext cx="3200400" cy="777240"/>
          </a:xfrm>
          <a:prstGeom prst="diamond">
            <a:avLst/>
          </a:prstGeom>
          <a:solidFill>
            <a:srgbClr val="FF8A3D"/>
          </a:solidFill>
          <a:ln/>
        </p:spPr>
        <p:txBody>
          <a:bodyPr/>
          <a:p/>
        </p:txBody>
      </p:sp>
      <p:sp>
        <p:nvSpPr>
          <p:cNvPr id="17" name="Text 15"/>
          <p:cNvSpPr txBox="1"/>
          <p:nvPr/>
        </p:nvSpPr>
        <p:spPr>
          <a:xfrm>
            <a:off x="4535424" y="3383280"/>
            <a:ext cx="3090672" cy="777240"/>
          </a:xfrm>
          <a:prstGeom prst="rect">
            <a:avLst/>
          </a:prstGeom>
          <a:noFill/>
          <a:ln/>
        </p:spPr>
        <p:txBody>
          <a:bodyPr wrap="square" lIns="0" tIns="0" rIns="0" bIns="0" rtlCol="0" anchor="ctr"/>
          <a:lstStyle/>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Access-Control-</a:t>
            </a:r>
            <a:endParaRPr lang="en-US" sz="1100" dirty="0"/>
          </a:p>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Allow-Origin</a:t>
            </a:r>
            <a:endParaRPr lang="en-US" sz="1100" dirty="0"/>
          </a:p>
          <a:p>
            <a:pPr algn="ctr" indent="0" marL="0">
              <a:lnSpc>
                <a:spcPct val="105000"/>
              </a:lnSpc>
              <a:buNone/>
            </a:pPr>
            <a:r>
              <a:rPr lang="en-US" sz="1100" b="1" dirty="0">
                <a:solidFill>
                  <a:srgbClr val="FFFFFF"/>
                </a:solidFill>
                <a:latin typeface="Calibri" pitchFamily="34" charset="0"/>
                <a:ea typeface="Calibri" pitchFamily="34" charset="-122"/>
                <a:cs typeface="Calibri" pitchFamily="34" charset="-120"/>
              </a:rPr>
              <a:t>allows this origin?</a:t>
            </a:r>
            <a:endParaRPr lang="en-US" sz="1100" dirty="0"/>
          </a:p>
        </p:txBody>
      </p:sp>
      <p:sp>
        <p:nvSpPr>
          <p:cNvPr id="18" name="Shape 16"/>
          <p:cNvSpPr/>
          <p:nvPr/>
        </p:nvSpPr>
        <p:spPr>
          <a:xfrm>
            <a:off x="914400" y="4846320"/>
            <a:ext cx="3840480" cy="548640"/>
          </a:xfrm>
          <a:prstGeom prst="rect">
            <a:avLst/>
          </a:prstGeom>
          <a:solidFill>
            <a:srgbClr val="3FA66B"/>
          </a:solidFill>
          <a:ln/>
        </p:spPr>
        <p:txBody>
          <a:bodyPr/>
          <a:p/>
        </p:txBody>
      </p:sp>
      <p:sp>
        <p:nvSpPr>
          <p:cNvPr id="19" name="Text 17"/>
          <p:cNvSpPr txBox="1"/>
          <p:nvPr/>
        </p:nvSpPr>
        <p:spPr>
          <a:xfrm>
            <a:off x="969264" y="4846320"/>
            <a:ext cx="3730752" cy="548640"/>
          </a:xfrm>
          <a:prstGeom prst="rect">
            <a:avLst/>
          </a:prstGeom>
          <a:noFill/>
          <a:ln/>
        </p:spPr>
        <p:txBody>
          <a:bodyPr wrap="square" lIns="0" tIns="0" rIns="0" bIns="0" rtlCol="0" anchor="ctr"/>
          <a:lstStyle/>
          <a:p>
            <a:pPr algn="ctr" indent="0" marL="0">
              <a:lnSpc>
                <a:spcPct val="105000"/>
              </a:lnSpc>
              <a:buNone/>
            </a:pPr>
            <a:r>
              <a:rPr lang="en-US" sz="1250" b="1" dirty="0">
                <a:solidFill>
                  <a:srgbClr val="FFFFFF"/>
                </a:solidFill>
                <a:latin typeface="Calibri" pitchFamily="34" charset="0"/>
                <a:ea typeface="Calibri" pitchFamily="34" charset="-122"/>
                <a:cs typeface="Calibri" pitchFamily="34" charset="-120"/>
              </a:rPr>
              <a:t>JS can read the response</a:t>
            </a:r>
            <a:endParaRPr lang="en-US" sz="1250" dirty="0"/>
          </a:p>
        </p:txBody>
      </p:sp>
      <p:sp>
        <p:nvSpPr>
          <p:cNvPr id="20" name="Shape 18"/>
          <p:cNvSpPr/>
          <p:nvPr/>
        </p:nvSpPr>
        <p:spPr>
          <a:xfrm>
            <a:off x="7315200" y="4846320"/>
            <a:ext cx="3931920" cy="548640"/>
          </a:xfrm>
          <a:prstGeom prst="rect">
            <a:avLst/>
          </a:prstGeom>
          <a:solidFill>
            <a:srgbClr val="E67528"/>
          </a:solidFill>
          <a:ln/>
        </p:spPr>
        <p:txBody>
          <a:bodyPr/>
          <a:p/>
        </p:txBody>
      </p:sp>
      <p:sp>
        <p:nvSpPr>
          <p:cNvPr id="21" name="Text 19"/>
          <p:cNvSpPr txBox="1"/>
          <p:nvPr/>
        </p:nvSpPr>
        <p:spPr>
          <a:xfrm>
            <a:off x="7370064" y="4846320"/>
            <a:ext cx="3822192" cy="548640"/>
          </a:xfrm>
          <a:prstGeom prst="rect">
            <a:avLst/>
          </a:prstGeom>
          <a:noFill/>
          <a:ln/>
        </p:spPr>
        <p:txBody>
          <a:bodyPr wrap="square" lIns="0" tIns="0" rIns="0" bIns="0" rtlCol="0" anchor="ctr"/>
          <a:lstStyle/>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Browser BLOCKS the JS</a:t>
            </a:r>
            <a:endParaRPr lang="en-US" sz="1200" dirty="0"/>
          </a:p>
          <a:p>
            <a:pPr algn="ctr" indent="0" marL="0">
              <a:lnSpc>
                <a:spcPct val="105000"/>
              </a:lnSpc>
              <a:buNone/>
            </a:pPr>
            <a:r>
              <a:rPr lang="en-US" sz="1200" b="1" dirty="0">
                <a:solidFill>
                  <a:srgbClr val="FFFFFF"/>
                </a:solidFill>
                <a:latin typeface="Calibri" pitchFamily="34" charset="0"/>
                <a:ea typeface="Calibri" pitchFamily="34" charset="-122"/>
                <a:cs typeface="Calibri" pitchFamily="34" charset="-120"/>
              </a:rPr>
              <a:t>from reading it (CORS error)</a:t>
            </a:r>
            <a:endParaRPr lang="en-US" sz="1200" dirty="0"/>
          </a:p>
        </p:txBody>
      </p:sp>
      <p:sp>
        <p:nvSpPr>
          <p:cNvPr id="22" name="Text 20"/>
          <p:cNvSpPr txBox="1"/>
          <p:nvPr/>
        </p:nvSpPr>
        <p:spPr>
          <a:xfrm>
            <a:off x="640080" y="5989320"/>
            <a:ext cx="10911535" cy="411480"/>
          </a:xfrm>
          <a:prstGeom prst="rect">
            <a:avLst/>
          </a:prstGeom>
          <a:noFill/>
          <a:ln/>
        </p:spPr>
        <p:txBody>
          <a:bodyPr wrap="square" lIns="0" tIns="0" rIns="0" bIns="0" rtlCol="0" anchor="t"/>
          <a:lstStyle/>
          <a:p>
            <a:pPr indent="0" marL="0">
              <a:buNone/>
            </a:pPr>
            <a:r>
              <a:rPr lang="en-US" sz="1250" i="1" dirty="0">
                <a:solidFill>
                  <a:srgbClr val="5D5D72"/>
                </a:solidFill>
                <a:latin typeface="Calibri" pitchFamily="34" charset="0"/>
                <a:ea typeface="Calibri" pitchFamily="34" charset="-122"/>
                <a:cs typeface="Calibri" pitchFamily="34" charset="-120"/>
              </a:rPr>
              <a:t>The network request may technically succeed either way -- CORS only controls whether your JavaScript is allowed to read the response.</a:t>
            </a:r>
            <a:endParaRPr lang="en-US" sz="1250" dirty="0"/>
          </a:p>
        </p:txBody>
      </p:sp>
      <p:sp>
        <p:nvSpPr>
          <p:cNvPr id="25"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37</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CORS BASICS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CORS Is Not Something You Can Bypass</a:t>
            </a:r>
            <a:endParaRPr lang="en-US" sz="3400" dirty="0"/>
          </a:p>
        </p:txBody>
      </p:sp>
      <p:sp>
        <p:nvSpPr>
          <p:cNvPr id="4" name="Shape 2"/>
          <p:cNvSpPr/>
          <p:nvPr/>
        </p:nvSpPr>
        <p:spPr>
          <a:xfrm>
            <a:off x="640080" y="1965960"/>
            <a:ext cx="10911535" cy="3657600"/>
          </a:xfrm>
          <a:prstGeom prst="roundRect">
            <a:avLst>
              <a:gd name="adj" fmla="val 3158"/>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400000"/>
          </a:xfrm>
          <a:prstGeom prst="rect">
            <a:avLst/>
          </a:prstGeom>
          <a:noFill/>
          <a:ln/>
        </p:spPr>
        <p:txBody>
          <a:bodyPr wrap="square" lIns="0" tIns="0" rIns="0" bIns="0" rtlCol="0" anchor="ctr"/>
          <a:lstStyle/>
          <a:p>
            <a:pPr indent="0" marL="0">
              <a:buNone/>
            </a:pPr>
            <a:r>
              <a:rPr lang="en-US" sz="1800" b="1" spc="200" kern="0" dirty="0">
                <a:solidFill>
                  <a:srgbClr val="8A3A12"/>
                </a:solidFill>
                <a:latin typeface="Calibri" pitchFamily="34" charset="0"/>
                <a:ea typeface="Calibri" pitchFamily="34" charset="-122"/>
                <a:cs typeface="Calibri" pitchFamily="34" charset="-120"/>
              </a:rPr>
              <a:t>WARNING</a:t>
            </a:r>
            <a:endParaRPr lang="en-US" sz="1800" dirty="0"/>
          </a:p>
        </p:txBody>
      </p:sp>
      <p:sp>
        <p:nvSpPr>
          <p:cNvPr id="6" name="Text 4"/>
          <p:cNvSpPr txBox="1"/>
          <p:nvPr/>
        </p:nvSpPr>
        <p:spPr>
          <a:xfrm>
            <a:off x="868680" y="2795960"/>
            <a:ext cx="10454335" cy="2782400"/>
          </a:xfrm>
          <a:prstGeom prst="rect">
            <a:avLst/>
          </a:prstGeom>
          <a:noFill/>
          <a:ln/>
        </p:spPr>
        <p:txBody>
          <a:bodyPr wrap="square" lIns="0" tIns="0" rIns="0" bIns="0" rtlCol="0" anchor="ctr"/>
          <a:lstStyle/>
          <a:p>
            <a:pPr indent="0" marL="0">
              <a:buNone/>
            </a:pPr>
            <a:r>
              <a:rPr lang="en-US" sz="2800" dirty="0">
                <a:solidFill>
                  <a:srgbClr val="26262F"/>
                </a:solidFill>
                <a:latin typeface="Calibri" pitchFamily="34" charset="0"/>
                <a:ea typeface="Calibri" pitchFamily="34" charset="-122"/>
                <a:cs typeface="Calibri" pitchFamily="34" charset="-120"/>
              </a:rPr>
              <a:t>If you see a CORS error, the fix belongs on the server (adding the right Access-Control-Allow-Origin header), not in your fetch call. You'll work with server configuration, including CORS, starting in Unit 5.</a:t>
            </a:r>
            <a:endParaRPr lang="en-US" sz="28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38</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2B2B7A"/>
        </a:solidFill>
      </p:bgPr>
    </p:bg>
    <p:spTree>
      <p:nvGrpSpPr>
        <p:cNvPr id="1" name=""/>
        <p:cNvGrpSpPr/>
        <p:nvPr/>
      </p:nvGrpSpPr>
      <p:grpSpPr>
        <a:xfrm>
          <a:off x="0" y="0"/>
          <a:ext cx="0" cy="0"/>
          <a:chOff x="0" y="0"/>
          <a:chExt cx="0" cy="0"/>
        </a:xfrm>
      </p:grpSpPr>
      <p:sp>
        <p:nvSpPr>
          <p:cNvPr id="2" name="Text 0"/>
          <p:cNvSpPr txBox="1"/>
          <p:nvPr/>
        </p:nvSpPr>
        <p:spPr>
          <a:xfrm>
            <a:off x="822960" y="731520"/>
            <a:ext cx="9144000" cy="457200"/>
          </a:xfrm>
          <a:prstGeom prst="rect">
            <a:avLst/>
          </a:prstGeom>
          <a:noFill/>
          <a:ln/>
        </p:spPr>
        <p:txBody>
          <a:bodyPr wrap="square" lIns="0" tIns="0" rIns="0" bIns="0" rtlCol="0" anchor="ctr"/>
          <a:lstStyle/>
          <a:p>
            <a:pPr indent="0" marL="0">
              <a:buNone/>
            </a:pPr>
            <a:r>
              <a:rPr lang="en-US" sz="1500" b="1" spc="400" kern="0" dirty="0">
                <a:solidFill>
                  <a:srgbClr val="FF8A3D"/>
                </a:solidFill>
                <a:latin typeface="Calibri" pitchFamily="34" charset="0"/>
                <a:ea typeface="Calibri" pitchFamily="34" charset="-122"/>
                <a:cs typeface="Calibri" pitchFamily="34" charset="-120"/>
              </a:rPr>
              <a:t>KEY TAKEAWAYS</a:t>
            </a:r>
            <a:endParaRPr lang="en-US" sz="1500" dirty="0"/>
          </a:p>
        </p:txBody>
      </p:sp>
      <p:sp>
        <p:nvSpPr>
          <p:cNvPr id="3" name="Text 1"/>
          <p:cNvSpPr txBox="1"/>
          <p:nvPr/>
        </p:nvSpPr>
        <p:spPr>
          <a:xfrm>
            <a:off x="777240" y="1188720"/>
            <a:ext cx="1051560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Lecture 15 in Seven Points</a:t>
            </a:r>
            <a:endParaRPr lang="en-US" sz="3400" dirty="0"/>
          </a:p>
        </p:txBody>
      </p:sp>
      <p:sp>
        <p:nvSpPr>
          <p:cNvPr id="40" name="Shape 40"/>
          <p:cNvSpPr/>
          <p:nvPr/>
        </p:nvSpPr>
        <p:spPr>
          <a:xfrm>
            <a:off x="822960" y="2286000"/>
            <a:ext cx="438912" cy="438912"/>
          </a:xfrm>
          <a:prstGeom prst="ellipse">
            <a:avLst/>
          </a:prstGeom>
          <a:solidFill>
            <a:srgbClr val="FF8A3D"/>
          </a:solidFill>
          <a:ln/>
        </p:spPr>
        <p:txBody>
          <a:bodyPr/>
          <a:p/>
        </p:txBody>
      </p:sp>
      <p:sp>
        <p:nvSpPr>
          <p:cNvPr id="41" name="Text 41"/>
          <p:cNvSpPr txBox="1"/>
          <p:nvPr/>
        </p:nvSpPr>
        <p:spPr>
          <a:xfrm>
            <a:off x="822960" y="2286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2" name="Text 42"/>
          <p:cNvSpPr txBox="1"/>
          <p:nvPr/>
        </p:nvSpPr>
        <p:spPr>
          <a:xfrm>
            <a:off x="1463040" y="2194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Synchronous code blocks the single JS thread; asynchronous code lets long operations happen in the background without freezing the page.</a:t>
            </a:r>
            <a:endParaRPr lang="en-US" sz="1250" dirty="0"/>
          </a:p>
        </p:txBody>
      </p:sp>
      <p:sp>
        <p:nvSpPr>
          <p:cNvPr id="43" name="Shape 43"/>
          <p:cNvSpPr/>
          <p:nvPr/>
        </p:nvSpPr>
        <p:spPr>
          <a:xfrm>
            <a:off x="822960" y="2865200"/>
            <a:ext cx="438912" cy="438912"/>
          </a:xfrm>
          <a:prstGeom prst="ellipse">
            <a:avLst/>
          </a:prstGeom>
          <a:solidFill>
            <a:srgbClr val="FF8A3D"/>
          </a:solidFill>
          <a:ln/>
        </p:spPr>
        <p:txBody>
          <a:bodyPr/>
          <a:p/>
        </p:txBody>
      </p:sp>
      <p:sp>
        <p:nvSpPr>
          <p:cNvPr id="44" name="Text 44"/>
          <p:cNvSpPr txBox="1"/>
          <p:nvPr/>
        </p:nvSpPr>
        <p:spPr>
          <a:xfrm>
            <a:off x="822960" y="2865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45" name="Text 45"/>
          <p:cNvSpPr txBox="1"/>
          <p:nvPr/>
        </p:nvSpPr>
        <p:spPr>
          <a:xfrm>
            <a:off x="1463040" y="27737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The event loop moves finished tasks from the queue onto the call stack whenever it's empty -- this is how setTimeout and Promise callbacks run.</a:t>
            </a:r>
            <a:endParaRPr lang="en-US" sz="1250" dirty="0"/>
          </a:p>
        </p:txBody>
      </p:sp>
      <p:sp>
        <p:nvSpPr>
          <p:cNvPr id="46" name="Shape 46"/>
          <p:cNvSpPr/>
          <p:nvPr/>
        </p:nvSpPr>
        <p:spPr>
          <a:xfrm>
            <a:off x="822960" y="3444400"/>
            <a:ext cx="438912" cy="438912"/>
          </a:xfrm>
          <a:prstGeom prst="ellipse">
            <a:avLst/>
          </a:prstGeom>
          <a:solidFill>
            <a:srgbClr val="FF8A3D"/>
          </a:solidFill>
          <a:ln/>
        </p:spPr>
        <p:txBody>
          <a:bodyPr/>
          <a:p/>
        </p:txBody>
      </p:sp>
      <p:sp>
        <p:nvSpPr>
          <p:cNvPr id="47" name="Text 47"/>
          <p:cNvSpPr txBox="1"/>
          <p:nvPr/>
        </p:nvSpPr>
        <p:spPr>
          <a:xfrm>
            <a:off x="822960" y="34444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48" name="Text 48"/>
          <p:cNvSpPr txBox="1"/>
          <p:nvPr/>
        </p:nvSpPr>
        <p:spPr>
          <a:xfrm>
            <a:off x="1463040" y="33529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 Promise moves through pending, fulfilled, and rejected; chaining .then() calls replaces nested callback hell.</a:t>
            </a:r>
            <a:endParaRPr lang="en-US" sz="1250" dirty="0"/>
          </a:p>
        </p:txBody>
      </p:sp>
      <p:sp>
        <p:nvSpPr>
          <p:cNvPr id="49" name="Shape 49"/>
          <p:cNvSpPr/>
          <p:nvPr/>
        </p:nvSpPr>
        <p:spPr>
          <a:xfrm>
            <a:off x="822960" y="4023600"/>
            <a:ext cx="438912" cy="438912"/>
          </a:xfrm>
          <a:prstGeom prst="ellipse">
            <a:avLst/>
          </a:prstGeom>
          <a:solidFill>
            <a:srgbClr val="FF8A3D"/>
          </a:solidFill>
          <a:ln/>
        </p:spPr>
        <p:txBody>
          <a:bodyPr/>
          <a:p/>
        </p:txBody>
      </p:sp>
      <p:sp>
        <p:nvSpPr>
          <p:cNvPr id="50" name="Text 50"/>
          <p:cNvSpPr txBox="1"/>
          <p:nvPr/>
        </p:nvSpPr>
        <p:spPr>
          <a:xfrm>
            <a:off x="822960" y="40236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51" name="Text 51"/>
          <p:cNvSpPr txBox="1"/>
          <p:nvPr/>
        </p:nvSpPr>
        <p:spPr>
          <a:xfrm>
            <a:off x="1463040" y="39321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Promise.all runs multiple promises in parallel and waits for all of them, or fails fast if any one rejects.</a:t>
            </a:r>
            <a:endParaRPr lang="en-US" sz="1250" dirty="0"/>
          </a:p>
        </p:txBody>
      </p:sp>
      <p:sp>
        <p:nvSpPr>
          <p:cNvPr id="52" name="Shape 52"/>
          <p:cNvSpPr/>
          <p:nvPr/>
        </p:nvSpPr>
        <p:spPr>
          <a:xfrm>
            <a:off x="822960" y="4602800"/>
            <a:ext cx="438912" cy="438912"/>
          </a:xfrm>
          <a:prstGeom prst="ellipse">
            <a:avLst/>
          </a:prstGeom>
          <a:solidFill>
            <a:srgbClr val="FF8A3D"/>
          </a:solidFill>
          <a:ln/>
        </p:spPr>
        <p:txBody>
          <a:bodyPr/>
          <a:p/>
        </p:txBody>
      </p:sp>
      <p:sp>
        <p:nvSpPr>
          <p:cNvPr id="53" name="Text 53"/>
          <p:cNvSpPr txBox="1"/>
          <p:nvPr/>
        </p:nvSpPr>
        <p:spPr>
          <a:xfrm>
            <a:off x="822960" y="46028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54" name="Text 54"/>
          <p:cNvSpPr txBox="1"/>
          <p:nvPr/>
        </p:nvSpPr>
        <p:spPr>
          <a:xfrm>
            <a:off x="1463040" y="45113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async/await is Promise-based syntax that reads like synchronous code; errors are handled with ordinary try...catch.</a:t>
            </a:r>
            <a:endParaRPr lang="en-US" sz="1250" dirty="0"/>
          </a:p>
        </p:txBody>
      </p:sp>
      <p:sp>
        <p:nvSpPr>
          <p:cNvPr id="55" name="Shape 55"/>
          <p:cNvSpPr/>
          <p:nvPr/>
        </p:nvSpPr>
        <p:spPr>
          <a:xfrm>
            <a:off x="822960" y="5182000"/>
            <a:ext cx="438912" cy="438912"/>
          </a:xfrm>
          <a:prstGeom prst="ellipse">
            <a:avLst/>
          </a:prstGeom>
          <a:solidFill>
            <a:srgbClr val="FF8A3D"/>
          </a:solidFill>
          <a:ln/>
        </p:spPr>
        <p:txBody>
          <a:bodyPr/>
          <a:p/>
        </p:txBody>
      </p:sp>
      <p:sp>
        <p:nvSpPr>
          <p:cNvPr id="56" name="Text 56"/>
          <p:cNvSpPr txBox="1"/>
          <p:nvPr/>
        </p:nvSpPr>
        <p:spPr>
          <a:xfrm>
            <a:off x="822960" y="51820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57" name="Text 57"/>
          <p:cNvSpPr txBox="1"/>
          <p:nvPr/>
        </p:nvSpPr>
        <p:spPr>
          <a:xfrm>
            <a:off x="1463040" y="50905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A REST API uses the HTTP method, not the URL, to say what to do -- GET reads, POST creates, PUT/PATCH update, DELETE removes.</a:t>
            </a:r>
            <a:endParaRPr lang="en-US" sz="1250" dirty="0"/>
          </a:p>
        </p:txBody>
      </p:sp>
      <p:sp>
        <p:nvSpPr>
          <p:cNvPr id="58" name="Shape 58"/>
          <p:cNvSpPr/>
          <p:nvPr/>
        </p:nvSpPr>
        <p:spPr>
          <a:xfrm>
            <a:off x="822960" y="5761200"/>
            <a:ext cx="438912" cy="438912"/>
          </a:xfrm>
          <a:prstGeom prst="ellipse">
            <a:avLst/>
          </a:prstGeom>
          <a:solidFill>
            <a:srgbClr val="FF8A3D"/>
          </a:solidFill>
          <a:ln/>
        </p:spPr>
        <p:txBody>
          <a:bodyPr/>
          <a:p/>
        </p:txBody>
      </p:sp>
      <p:sp>
        <p:nvSpPr>
          <p:cNvPr id="59" name="Text 59"/>
          <p:cNvSpPr txBox="1"/>
          <p:nvPr/>
        </p:nvSpPr>
        <p:spPr>
          <a:xfrm>
            <a:off x="822960" y="5761200"/>
            <a:ext cx="438912" cy="438912"/>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7</a:t>
            </a:r>
            <a:endParaRPr lang="en-US" sz="1500" dirty="0"/>
          </a:p>
        </p:txBody>
      </p:sp>
      <p:sp>
        <p:nvSpPr>
          <p:cNvPr id="60" name="Text 60"/>
          <p:cNvSpPr txBox="1"/>
          <p:nvPr/>
        </p:nvSpPr>
        <p:spPr>
          <a:xfrm>
            <a:off x="1463040" y="5669760"/>
            <a:ext cx="10058400" cy="624840"/>
          </a:xfrm>
          <a:prstGeom prst="rect">
            <a:avLst/>
          </a:prstGeom>
          <a:noFill/>
          <a:ln/>
        </p:spPr>
        <p:txBody>
          <a:bodyPr wrap="square" lIns="0" tIns="0" rIns="0" bIns="0" rtlCol="0" anchor="ctr"/>
          <a:lstStyle/>
          <a:p>
            <a:pPr indent="0" marL="0">
              <a:buNone/>
            </a:pPr>
            <a:r>
              <a:rPr lang="en-US" sz="1250" dirty="0">
                <a:solidFill>
                  <a:srgbClr val="C9D3F5"/>
                </a:solidFill>
                <a:latin typeface="Calibri" pitchFamily="34" charset="0"/>
                <a:ea typeface="Calibri" pitchFamily="34" charset="-122"/>
                <a:cs typeface="Calibri" pitchFamily="34" charset="-120"/>
              </a:rPr>
              <a:t>fetch() rejects only on true network failure, not on HTTP error codes -- always check response.ok; CORS is a browser rule enforced via response headers, fixable only on the server.</a:t>
            </a:r>
            <a:endParaRPr lang="en-US" sz="1250" dirty="0"/>
          </a:p>
        </p:txBody>
      </p:sp>
      <p:sp>
        <p:nvSpPr>
          <p:cNvPr id="24"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39</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THE EVENT LOOP</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The Moving Parts</a:t>
            </a:r>
            <a:endParaRPr lang="en-US" sz="3400" dirty="0"/>
          </a:p>
        </p:txBody>
      </p:sp>
      <p:sp>
        <p:nvSpPr>
          <p:cNvPr id="101" name="Shape 101"/>
          <p:cNvSpPr/>
          <p:nvPr/>
        </p:nvSpPr>
        <p:spPr>
          <a:xfrm>
            <a:off x="900000" y="2150000"/>
            <a:ext cx="2900000" cy="1300000"/>
          </a:xfrm>
          <a:prstGeom prst="roundRect">
            <a:avLst>
              <a:gd name="adj" fmla="val 5333"/>
            </a:avLst>
          </a:prstGeom>
          <a:solidFill>
            <a:srgbClr val="2B2B7A"/>
          </a:solidFill>
          <a:ln/>
        </p:spPr>
        <p:txBody>
          <a:bodyPr/>
          <a:p/>
        </p:txBody>
      </p:sp>
      <p:sp>
        <p:nvSpPr>
          <p:cNvPr id="102" name="Text 102"/>
          <p:cNvSpPr txBox="1"/>
          <p:nvPr/>
        </p:nvSpPr>
        <p:spPr>
          <a:xfrm>
            <a:off x="900000" y="2150000"/>
            <a:ext cx="2900000" cy="13000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Call Stack</a:t>
            </a:r>
            <a:endParaRPr lang="en-US" sz="1400" dirty="0"/>
          </a:p>
        </p:txBody>
      </p:sp>
      <p:sp>
        <p:nvSpPr>
          <p:cNvPr id="103" name="Shape 103"/>
          <p:cNvSpPr/>
          <p:nvPr/>
        </p:nvSpPr>
        <p:spPr>
          <a:xfrm>
            <a:off x="4750000" y="2150000"/>
            <a:ext cx="2900000" cy="1300000"/>
          </a:xfrm>
          <a:prstGeom prst="roundRect">
            <a:avLst>
              <a:gd name="adj" fmla="val 5333"/>
            </a:avLst>
          </a:prstGeom>
          <a:solidFill>
            <a:srgbClr val="1E1E4C"/>
          </a:solidFill>
          <a:ln/>
        </p:spPr>
        <p:txBody>
          <a:bodyPr/>
          <a:p/>
        </p:txBody>
      </p:sp>
      <p:sp>
        <p:nvSpPr>
          <p:cNvPr id="104" name="Text 104"/>
          <p:cNvSpPr txBox="1"/>
          <p:nvPr/>
        </p:nvSpPr>
        <p:spPr>
          <a:xfrm>
            <a:off x="4750000" y="2150000"/>
            <a:ext cx="2900000" cy="13000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Web APIs</a:t>
            </a:r>
            <a:endParaRPr lang="en-US" sz="1400" dirty="0"/>
          </a:p>
          <a:p>
            <a:pPr algn="ctr" indent="0" marL="0">
              <a:buNone/>
            </a:pPr>
            <a:r>
              <a:rPr lang="en-US" sz="1100" dirty="0">
                <a:solidFill>
                  <a:srgbClr val="C9D3F5"/>
                </a:solidFill>
                <a:latin typeface="Calibri" pitchFamily="34" charset="0"/>
                <a:ea typeface="Calibri" pitchFamily="34" charset="-122"/>
                <a:cs typeface="Calibri" pitchFamily="34" charset="-120"/>
              </a:rPr>
              <a:t>(Browser / Node)</a:t>
            </a:r>
            <a:endParaRPr lang="en-US" sz="1100" dirty="0"/>
          </a:p>
        </p:txBody>
      </p:sp>
      <p:sp>
        <p:nvSpPr>
          <p:cNvPr id="105" name="Shape 105"/>
          <p:cNvSpPr/>
          <p:nvPr/>
        </p:nvSpPr>
        <p:spPr>
          <a:xfrm>
            <a:off x="8600000" y="2150000"/>
            <a:ext cx="2650000" cy="1300000"/>
          </a:xfrm>
          <a:prstGeom prst="roundRect">
            <a:avLst>
              <a:gd name="adj" fmla="val 5333"/>
            </a:avLst>
          </a:prstGeom>
          <a:solidFill>
            <a:srgbClr val="FF8A3D"/>
          </a:solidFill>
          <a:ln/>
        </p:spPr>
        <p:txBody>
          <a:bodyPr/>
          <a:p/>
        </p:txBody>
      </p:sp>
      <p:sp>
        <p:nvSpPr>
          <p:cNvPr id="106" name="Text 106"/>
          <p:cNvSpPr txBox="1"/>
          <p:nvPr/>
        </p:nvSpPr>
        <p:spPr>
          <a:xfrm>
            <a:off x="8600000" y="2150000"/>
            <a:ext cx="2650000" cy="13000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Task Queues</a:t>
            </a:r>
            <a:endParaRPr lang="en-US" sz="1400" dirty="0"/>
          </a:p>
          <a:p>
            <a:pPr algn="ctr" indent="0" marL="0">
              <a:buNone/>
            </a:pPr>
            <a:r>
              <a:rPr lang="en-US" sz="1100" dirty="0">
                <a:solidFill>
                  <a:srgbClr val="C9D3F5"/>
                </a:solidFill>
                <a:latin typeface="Calibri" pitchFamily="34" charset="0"/>
                <a:ea typeface="Calibri" pitchFamily="34" charset="-122"/>
                <a:cs typeface="Calibri" pitchFamily="34" charset="-120"/>
              </a:rPr>
              <a:t>macro + micro</a:t>
            </a:r>
            <a:endParaRPr lang="en-US" sz="1100" dirty="0"/>
          </a:p>
        </p:txBody>
      </p:sp>
      <p:sp>
        <p:nvSpPr>
          <p:cNvPr id="107" name="Line 107"/>
          <p:cNvSpPr/>
          <p:nvPr/>
        </p:nvSpPr>
        <p:spPr>
          <a:xfrm>
            <a:off x="3800000" y="2800000"/>
            <a:ext cx="950000" cy="0"/>
          </a:xfrm>
          <a:prstGeom prst="line">
            <a:avLst/>
          </a:prstGeom>
          <a:noFill/>
          <a:ln w="25400">
            <a:solidFill>
              <a:srgbClr val="5D5D72"/>
            </a:solidFill>
            <a:prstDash val="solid"/>
            <a:headEnd type="none"/>
            <a:tailEnd type="triangle"/>
          </a:ln>
        </p:spPr>
        <p:txBody>
          <a:bodyPr/>
          <a:p/>
        </p:txBody>
      </p:sp>
      <p:sp>
        <p:nvSpPr>
          <p:cNvPr id="108" name="Line 108"/>
          <p:cNvSpPr/>
          <p:nvPr/>
        </p:nvSpPr>
        <p:spPr>
          <a:xfrm>
            <a:off x="7650000" y="2800000"/>
            <a:ext cx="950000" cy="0"/>
          </a:xfrm>
          <a:prstGeom prst="line">
            <a:avLst/>
          </a:prstGeom>
          <a:noFill/>
          <a:ln w="25400">
            <a:solidFill>
              <a:srgbClr val="5D5D72"/>
            </a:solidFill>
            <a:prstDash val="solid"/>
            <a:headEnd type="none"/>
            <a:tailEnd type="triangle"/>
          </a:ln>
        </p:spPr>
        <p:txBody>
          <a:bodyPr/>
          <a:p/>
        </p:txBody>
      </p:sp>
      <p:sp>
        <p:nvSpPr>
          <p:cNvPr id="109" name="Line 109"/>
          <p:cNvSpPr/>
          <p:nvPr/>
        </p:nvSpPr>
        <p:spPr>
          <a:xfrm>
            <a:off x="9925000" y="3450000"/>
            <a:ext cx="0" cy="1250000"/>
          </a:xfrm>
          <a:prstGeom prst="line">
            <a:avLst/>
          </a:prstGeom>
          <a:noFill/>
          <a:ln w="25400">
            <a:solidFill>
              <a:srgbClr val="5D5D72"/>
            </a:solidFill>
            <a:prstDash val="solid"/>
            <a:headEnd type="none"/>
            <a:tailEnd type="none"/>
          </a:ln>
        </p:spPr>
        <p:txBody>
          <a:bodyPr/>
          <a:p/>
        </p:txBody>
      </p:sp>
      <p:sp>
        <p:nvSpPr>
          <p:cNvPr id="110" name="Line 110"/>
          <p:cNvSpPr/>
          <p:nvPr/>
        </p:nvSpPr>
        <p:spPr>
          <a:xfrm>
            <a:off x="2350000" y="4700000"/>
            <a:ext cx="7575000" cy="0"/>
          </a:xfrm>
          <a:prstGeom prst="line">
            <a:avLst/>
          </a:prstGeom>
          <a:noFill/>
          <a:ln w="25400">
            <a:solidFill>
              <a:srgbClr val="5D5D72"/>
            </a:solidFill>
            <a:prstDash val="solid"/>
            <a:headEnd type="none"/>
            <a:tailEnd type="none"/>
          </a:ln>
        </p:spPr>
        <p:txBody>
          <a:bodyPr/>
          <a:p/>
        </p:txBody>
      </p:sp>
      <p:sp>
        <p:nvSpPr>
          <p:cNvPr id="111" name="Line 111"/>
          <p:cNvSpPr/>
          <p:nvPr/>
        </p:nvSpPr>
        <p:spPr>
          <a:xfrm>
            <a:off x="2350000" y="3450000"/>
            <a:ext cx="0" cy="1250000"/>
          </a:xfrm>
          <a:prstGeom prst="line">
            <a:avLst/>
          </a:prstGeom>
          <a:noFill/>
          <a:ln w="25400">
            <a:solidFill>
              <a:srgbClr val="5D5D72"/>
            </a:solidFill>
            <a:prstDash val="solid"/>
            <a:headEnd type="triangle"/>
            <a:tailEnd type="none"/>
          </a:ln>
        </p:spPr>
        <p:txBody>
          <a:bodyPr/>
          <a:p/>
        </p:txBody>
      </p:sp>
      <p:sp>
        <p:nvSpPr>
          <p:cNvPr id="112" name="Label 112"/>
          <p:cNvSpPr txBox="1"/>
          <p:nvPr/>
        </p:nvSpPr>
        <p:spPr>
          <a:xfrm>
            <a:off x="2320000" y="4220000"/>
            <a:ext cx="7635000" cy="400000"/>
          </a:xfrm>
          <a:prstGeom prst="rect">
            <a:avLst/>
          </a:prstGeom>
          <a:noFill/>
          <a:ln/>
        </p:spPr>
        <p:txBody>
          <a:bodyPr wrap="square" lIns="18000" tIns="0" rIns="18000" bIns="0" rtlCol="0" anchor="ctr"/>
          <a:lstStyle/>
          <a:p>
            <a:pPr algn="ctr" indent="0" marL="0">
              <a:buNone/>
            </a:pPr>
            <a:r>
              <a:rPr lang="en-US" sz="1200" b="1" dirty="0">
                <a:solidFill>
                  <a:srgbClr val="B9720E"/>
                </a:solidFill>
                <a:latin typeface="Calibri" pitchFamily="34" charset="0"/>
                <a:ea typeface="Calibri" pitchFamily="34" charset="-122"/>
                <a:cs typeface="Calibri" pitchFamily="34" charset="-120"/>
              </a:rPr>
              <a:t>EVENT LOOP — moves the next queued task onto the stack once it's empty</a:t>
            </a:r>
            <a:endParaRPr lang="en-US" sz="1200" dirty="0"/>
          </a:p>
        </p:txBody>
      </p:sp>
      <p:sp>
        <p:nvSpPr>
          <p:cNvPr id="6" name="Text 4"/>
          <p:cNvSpPr txBox="1"/>
          <p:nvPr/>
        </p:nvSpPr>
        <p:spPr>
          <a:xfrm>
            <a:off x="640080" y="5750000"/>
            <a:ext cx="10911535" cy="6000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Web APIs run async work (timers, fetch, DOM events) off the main thread. When it finishes, the result lands in a queue — the event loop only moves it onto the Call Stack once the stack is completely empty.</a:t>
            </a:r>
            <a:endParaRPr lang="en-US" sz="1300" dirty="0"/>
          </a:p>
        </p:txBody>
      </p:sp>
      <p:sp>
        <p:nvSpPr>
          <p:cNvPr id="9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7</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PUT and DELETE Requests</a:t>
            </a:r>
            <a:endParaRPr lang="en-US" sz="3400" dirty="0"/>
          </a:p>
        </p:txBody>
      </p:sp>
      <p:sp>
        <p:nvSpPr>
          <p:cNvPr id="4" name="Shape 2"/>
          <p:cNvSpPr/>
          <p:nvPr/>
        </p:nvSpPr>
        <p:spPr>
          <a:xfrm>
            <a:off x="640080" y="1965960"/>
            <a:ext cx="10911535" cy="3592068"/>
          </a:xfrm>
          <a:prstGeom prst="roundRect">
            <a:avLst>
              <a:gd name="adj" fmla="val 3887"/>
            </a:avLst>
          </a:prstGeom>
          <a:solidFill>
            <a:srgbClr val="F7F8F9"/>
          </a:solidFill>
          <a:ln w="9525">
            <a:solidFill>
              <a:srgbClr val="D0D5DD"/>
            </a:solidFill>
          </a:ln>
        </p:spPr>
        <p:txBody>
          <a:bodyPr/>
          <a:p/>
        </p:txBody>
      </p:sp>
      <p:sp>
        <p:nvSpPr>
          <p:cNvPr id="5" name="Text 3"/>
          <p:cNvSpPr txBox="1"/>
          <p:nvPr/>
        </p:nvSpPr>
        <p:spPr>
          <a:xfrm>
            <a:off x="960120" y="2194560"/>
            <a:ext cx="10271455" cy="3134868"/>
          </a:xfrm>
          <a:prstGeom prst="rect">
            <a:avLst/>
          </a:prstGeom>
          <a:noFill/>
          <a:ln/>
        </p:spPr>
        <p:txBody>
          <a:bodyPr wrap="square" lIns="0" tIns="0" rIns="0" bIns="0" rtlCol="0" anchor="t"/>
          <a:lstStyle/>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const BASE = "https://usmanlive.com/wp-json/api/stories";</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async function updateStory(id, updates)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return fetch(`${BASE}/${id}`,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method: "PUT",</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headers: { "Content-Type": "application/json"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body: JSON.stringify(updates), // { title, content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}).then(res =&gt; res.json());</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async function deleteStory(id)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  return fetch(`${BASE}/${id}`, { method: "DELETE" });</a:t>
            </a:r>
            <a:endParaRPr lang="en-US" sz="1400" dirty="0"/>
          </a:p>
          <a:p>
            <a:pPr indent="0" marL="0">
              <a:lnSpc>
                <a:spcPct val="125000"/>
              </a:lnSpc>
              <a:buNone/>
            </a:pPr>
            <a:r>
              <a:rPr lang="en-US" sz="1400" dirty="0">
                <a:solidFill>
                  <a:srgbClr val="1F2429"/>
                </a:solidFill>
                <a:latin typeface="Courier New" pitchFamily="34" charset="0"/>
                <a:ea typeface="Courier New" pitchFamily="34" charset="-122"/>
                <a:cs typeface="Courier New" pitchFamily="34" charset="-120"/>
              </a:rPr>
              <a:t>}</a:t>
            </a:r>
            <a:endParaRPr lang="en-US" sz="1400" dirty="0"/>
          </a:p>
        </p:txBody>
      </p:sp>
      <p:sp>
        <p:nvSpPr>
          <p:cNvPr id="6" name="Text 4"/>
          <p:cNvSpPr txBox="1"/>
          <p:nvPr/>
        </p:nvSpPr>
        <p:spPr>
          <a:xfrm>
            <a:off x="640080" y="5786628"/>
            <a:ext cx="10911535" cy="519036"/>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ea typeface="Calibri" pitchFamily="34" charset="-122"/>
                <a:cs typeface="Calibri" pitchFamily="34" charset="-120"/>
              </a:rPr>
              <a:t>PUT updates an existing resource at its own URL; DELETE removes it. Both, like POST, need the resource's :id in the URL — GET and POST are only half of CRUD.</a:t>
            </a:r>
            <a:endParaRPr lang="en-US" sz="1300" dirty="0"/>
          </a:p>
        </p:txBody>
      </p:sp>
      <p:sp>
        <p:nvSpPr>
          <p:cNvPr id="9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32</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FETCH API</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Try the Full CRUD Example</a:t>
            </a:r>
            <a:endParaRPr lang="en-US" sz="3400" dirty="0"/>
          </a:p>
        </p:txBody>
      </p:sp>
      <p:sp>
        <p:nvSpPr>
          <p:cNvPr id="4" name="Shape 2"/>
          <p:cNvSpPr/>
          <p:nvPr/>
        </p:nvSpPr>
        <p:spPr>
          <a:xfrm>
            <a:off x="640080" y="1965960"/>
            <a:ext cx="10911535" cy="2606040"/>
          </a:xfrm>
          <a:prstGeom prst="roundRect">
            <a:avLst>
              <a:gd name="adj" fmla="val 3887"/>
            </a:avLst>
          </a:prstGeom>
          <a:solidFill>
            <a:srgbClr val="1E1E4C"/>
          </a:solidFill>
          <a:ln/>
        </p:spPr>
        <p:txBody>
          <a:bodyPr/>
          <a:p/>
        </p:txBody>
      </p:sp>
      <p:sp>
        <p:nvSpPr>
          <p:cNvPr id="2194560" name="Link2194560"/>
          <p:cNvSpPr txBox="1"/>
          <p:nvPr/>
        </p:nvSpPr>
        <p:spPr>
          <a:xfrm>
            <a:off x="960120" y="2194560"/>
            <a:ext cx="10271455" cy="70000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rPr>
              <a:t>API Documentation &amp; Endpoint Reference</a:t>
            </a:r>
          </a:p>
          <a:p>
            <a:pPr indent="0" marL="0">
              <a:buNone/>
            </a:pPr>
            <a:r>
              <a:rPr lang="en-US" sz="1400" u="sng" dirty="0">
                <a:solidFill>
                  <a:srgbClr val="35E7C4"/>
                </a:solidFill>
                <a:latin typeface="Courier New" pitchFamily="34" charset="0"/>
                <a:hlinkClick r:id="rId10"/>
              </a:rPr>
              <a:t>usmanlive.com/fake-stories-restful-api</a:t>
            </a:r>
          </a:p>
        </p:txBody>
      </p:sp>
      <p:sp>
        <p:nvSpPr>
          <p:cNvPr id="3200000" name="Link3200000"/>
          <p:cNvSpPr txBox="1"/>
          <p:nvPr/>
        </p:nvSpPr>
        <p:spPr>
          <a:xfrm>
            <a:off x="960120" y="3200000"/>
            <a:ext cx="10271455" cy="700000"/>
          </a:xfrm>
          <a:prstGeom prst="rect">
            <a:avLst/>
          </a:prstGeom>
          <a:noFill/>
          <a:ln/>
        </p:spPr>
        <p:txBody>
          <a:bodyPr wrap="square" lIns="0" tIns="0" rIns="0" bIns="0" rtlCol="0" anchor="t"/>
          <a:lstStyle/>
          <a:p>
            <a:pPr indent="0" marL="0">
              <a:buNone/>
            </a:pPr>
            <a:r>
              <a:rPr lang="en-US" sz="1500" b="1" dirty="0">
                <a:solidFill>
                  <a:srgbClr val="FFFFFF"/>
                </a:solidFill>
                <a:latin typeface="Calibri" pitchFamily="34" charset="0"/>
              </a:rPr>
              <a:t>Live CRUD Demo (jQuery/Bootstrap, using this exact API)</a:t>
            </a:r>
          </a:p>
          <a:p>
            <a:pPr indent="0" marL="0">
              <a:buNone/>
            </a:pPr>
            <a:r>
              <a:rPr lang="en-US" sz="1400" u="sng" dirty="0">
                <a:solidFill>
                  <a:srgbClr val="35E7C4"/>
                </a:solidFill>
                <a:latin typeface="Courier New" pitchFamily="34" charset="0"/>
                <a:hlinkClick r:id="rId11"/>
              </a:rPr>
              <a:t>ajaxcrud.usmanlive.com</a:t>
            </a:r>
          </a:p>
        </p:txBody>
      </p:sp>
      <p:sp>
        <p:nvSpPr>
          <p:cNvPr id="6" name="Text 4"/>
          <p:cNvSpPr txBox="1"/>
          <p:nvPr/>
        </p:nvSpPr>
        <p:spPr>
          <a:xfrm>
            <a:off x="640080" y="4800000"/>
            <a:ext cx="10911535" cy="1000000"/>
          </a:xfrm>
          <a:prstGeom prst="rect">
            <a:avLst/>
          </a:prstGeom>
          <a:noFill/>
          <a:ln/>
        </p:spPr>
        <p:txBody>
          <a:bodyPr wrap="square" lIns="0" tIns="0" rIns="0" bIns="0" rtlCol="0" anchor="t"/>
          <a:lstStyle/>
          <a:p>
            <a:pPr indent="0" marL="0">
              <a:buNone/>
            </a:pPr>
            <a:r>
              <a:rPr lang="en-US" sz="1300" dirty="0">
                <a:solidFill>
                  <a:srgbClr val="26262F"/>
                </a:solidFill>
                <a:latin typeface="Calibri" pitchFamily="34" charset="0"/>
              </a:rPr>
              <a:t>Every fetch example in this section talks to a real practice API built for this course — GET, POST, PUT, and DELETE all work against it.</a:t>
            </a:r>
            <a:endParaRPr lang="en-US" sz="1300" dirty="0"/>
          </a:p>
        </p:txBody>
      </p:sp>
      <p:sp>
        <p:nvSpPr>
          <p:cNvPr id="9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35</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REST APIS AND HTTP METHODS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HTTP Methods Map to CRUD</a:t>
            </a:r>
            <a:endParaRPr lang="en-US" sz="3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3401568"/>
        </p:xfrm>
        <a:graphic>
          <a:graphicData uri="http://schemas.openxmlformats.org/drawingml/2006/table">
            <a:tbl>
              <a:tblPr/>
              <a:tblGrid>
                <a:gridCol w="1800000"/>
                <a:gridCol w="1800000"/>
                <a:gridCol w="5811535"/>
                <a:gridCol w="150000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CRUD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Typical Use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Body?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ctr" indent="0" marL="0">
                        <a:buNone/>
                      </a:pPr>
                      <a:r>
                        <a:rPr lang="en-US" sz="1200" b="1" dirty="0">
                          <a:solidFill>
                            <a:srgbClr val="26262F"/>
                          </a:solidFill>
                          <a:latin typeface="Calibri" pitchFamily="34" charset="0"/>
                          <a:ea typeface="Calibri" pitchFamily="34" charset="-122"/>
                          <a:cs typeface="Calibri" pitchFamily="34" charset="-120"/>
                        </a:rPr>
                        <a:t>GET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Read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F"/>
                          </a:solidFill>
                          <a:latin typeface="Calibri" pitchFamily="34" charset="0"/>
                          <a:ea typeface="Calibri" pitchFamily="34" charset="-122"/>
                          <a:cs typeface="Calibri" pitchFamily="34" charset="-120"/>
                        </a:rPr>
                        <a:t>Fetch one resource or a whole collection</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b="1" dirty="0">
                          <a:solidFill>
                            <a:srgbClr val="26262F"/>
                          </a:solidFill>
                          <a:latin typeface="Calibri" pitchFamily="34" charset="0"/>
                          <a:ea typeface="Calibri" pitchFamily="34" charset="-122"/>
                          <a:cs typeface="Calibri" pitchFamily="34" charset="-120"/>
                        </a:rPr>
                        <a:t>POST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Create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F"/>
                          </a:solidFill>
                          <a:latin typeface="Calibri" pitchFamily="34" charset="0"/>
                          <a:ea typeface="Calibri" pitchFamily="34" charset="-122"/>
                          <a:cs typeface="Calibri" pitchFamily="34" charset="-120"/>
                        </a:rPr>
                        <a:t>Add a brand-new resource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b="1" dirty="0">
                          <a:solidFill>
                            <a:srgbClr val="26262F"/>
                          </a:solidFill>
                          <a:latin typeface="Calibri" pitchFamily="34" charset="0"/>
                          <a:ea typeface="Calibri" pitchFamily="34" charset="-122"/>
                          <a:cs typeface="Calibri" pitchFamily="34" charset="-120"/>
                        </a:rPr>
                        <a:t>PUT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Update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F"/>
                          </a:solidFill>
                          <a:latin typeface="Calibri" pitchFamily="34" charset="0"/>
                          <a:ea typeface="Calibri" pitchFamily="34" charset="-122"/>
                          <a:cs typeface="Calibri" pitchFamily="34" charset="-120"/>
                        </a:rPr>
                        <a:t>Replace a resource's fields entirely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b="1" dirty="0">
                          <a:solidFill>
                            <a:srgbClr val="26262F"/>
                          </a:solidFill>
                          <a:latin typeface="Calibri" pitchFamily="34" charset="0"/>
                          <a:ea typeface="Calibri" pitchFamily="34" charset="-122"/>
                          <a:cs typeface="Calibri" pitchFamily="34" charset="-120"/>
                        </a:rPr>
                        <a:t>PATCH</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Update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F"/>
                          </a:solidFill>
                          <a:latin typeface="Calibri" pitchFamily="34" charset="0"/>
                          <a:ea typeface="Calibri" pitchFamily="34" charset="-122"/>
                          <a:cs typeface="Calibri" pitchFamily="34" charset="-120"/>
                        </a:rPr>
                        <a:t>Change only some of a resource's fields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200" b="1" dirty="0">
                          <a:solidFill>
                            <a:srgbClr val="26262F"/>
                          </a:solidFill>
                          <a:latin typeface="Calibri" pitchFamily="34" charset="0"/>
                          <a:ea typeface="Calibri" pitchFamily="34" charset="-122"/>
                          <a:cs typeface="Calibri" pitchFamily="34" charset="-120"/>
                        </a:rPr>
                        <a:t>DELETE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Delete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6262F"/>
                          </a:solidFill>
                          <a:latin typeface="Calibri" pitchFamily="34" charset="0"/>
                          <a:ea typeface="Calibri" pitchFamily="34" charset="-122"/>
                          <a:cs typeface="Calibri" pitchFamily="34" charset="-120"/>
                        </a:rPr>
                        <a:t>Remove a resource</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26262F"/>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The same URL does something different depending on the method -- GET /stories/5 reads it, PUT /stories/5 replaces it, DELETE /stories/5 removes it.</a:t>
            </a:r>
            <a:endParaRPr lang="en-US" sz="1150" dirty="0"/>
          </a:p>
        </p:txBody>
      </p:sp>
      <p:sp>
        <p:nvSpPr>
          <p:cNvPr id="3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25</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REST APIS AND HTTP METHODS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A Real Example: the Fake Stories API</a:t>
            </a:r>
            <a:endParaRPr lang="en-US" sz="34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640080" y="1965960"/>
          <a:ext cx="10911535" cy="3401568"/>
        </p:xfrm>
        <a:graphic>
          <a:graphicData uri="http://schemas.openxmlformats.org/drawingml/2006/table">
            <a:tbl>
              <a:tblPr/>
              <a:tblGrid>
                <a:gridCol w="1400000"/>
                <a:gridCol w="2311535"/>
                <a:gridCol w="3200000"/>
                <a:gridCol w="4000000"/>
              </a:tblGrid>
              <a:tr h="56692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Method</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Endpoint</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Body</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Returns</a:t>
                      </a:r>
                      <a:endParaRPr lang="en-US" sz="12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2B2B7A"/>
                    </a:solidFill>
                  </a:tcPr>
                </a:tc>
              </a:tr>
              <a:tr h="566928">
                <a:tc>
                  <a:txBody>
                    <a:bodyPr/>
                    <a:lstStyle/>
                    <a:p>
                      <a:pPr algn="ctr" indent="0" marL="0">
                        <a:buNone/>
                      </a:pPr>
                      <a:r>
                        <a:rPr lang="en-US" sz="1150" b="1" dirty="0">
                          <a:solidFill>
                            <a:srgbClr val="26262F"/>
                          </a:solidFill>
                          <a:latin typeface="Calibri" pitchFamily="34" charset="0"/>
                          <a:ea typeface="Calibri" pitchFamily="34" charset="-122"/>
                          <a:cs typeface="Calibri" pitchFamily="34" charset="-120"/>
                        </a:rPr>
                        <a:t>GET</a:t>
                      </a:r>
                      <a:endParaRPr lang="en-US" sz="115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6262F"/>
                          </a:solidFill>
                          <a:latin typeface="Courier New" pitchFamily="34" charset="0"/>
                          <a:ea typeface="Courier New" pitchFamily="34" charset="-122"/>
                          <a:cs typeface="Courier New" pitchFamily="34" charset="-120"/>
                        </a:rPr>
                        <a:t>/stories</a:t>
                      </a:r>
                      <a:endParaRPr lang="en-US" sz="1150" dirty="0">
                        <a:latin typeface="Courier New" charset="0"/>
                        <a:ea typeface="Courier New" charset="0"/>
                        <a:cs typeface="Courier New"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6262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6262F"/>
                          </a:solidFill>
                          <a:latin typeface="Calibri" pitchFamily="34" charset="0"/>
                          <a:ea typeface="Calibri" pitchFamily="34" charset="-122"/>
                          <a:cs typeface="Calibri" pitchFamily="34" charset="-120"/>
                        </a:rPr>
                        <a:t>An array of every story</a:t>
                      </a:r>
                      <a:endParaRPr lang="en-US" sz="11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150" b="1" dirty="0">
                          <a:solidFill>
                            <a:srgbClr val="26262F"/>
                          </a:solidFill>
                          <a:latin typeface="Calibri" pitchFamily="34" charset="0"/>
                          <a:ea typeface="Calibri" pitchFamily="34" charset="-122"/>
                          <a:cs typeface="Calibri" pitchFamily="34" charset="-120"/>
                        </a:rPr>
                        <a:t>GET</a:t>
                      </a:r>
                      <a:endParaRPr lang="en-US" sz="115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6262F"/>
                          </a:solidFill>
                          <a:latin typeface="Courier New" pitchFamily="34" charset="0"/>
                          <a:ea typeface="Courier New" pitchFamily="34" charset="-122"/>
                          <a:cs typeface="Courier New" pitchFamily="34" charset="-120"/>
                        </a:rPr>
                        <a:t>/stories/:id</a:t>
                      </a:r>
                      <a:endParaRPr lang="en-US" sz="1150" dirty="0">
                        <a:latin typeface="Courier New" charset="0"/>
                        <a:ea typeface="Courier New" charset="0"/>
                        <a:cs typeface="Courier New"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6262F"/>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6262F"/>
                          </a:solidFill>
                          <a:latin typeface="Calibri" pitchFamily="34" charset="0"/>
                          <a:ea typeface="Calibri" pitchFamily="34" charset="-122"/>
                          <a:cs typeface="Calibri" pitchFamily="34" charset="-120"/>
                        </a:rPr>
                        <a:t>One story, or a 404 if it doesn't exist</a:t>
                      </a:r>
                      <a:endParaRPr lang="en-US" sz="110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150" b="1" dirty="0">
                          <a:solidFill>
                            <a:srgbClr val="26262F"/>
                          </a:solidFill>
                          <a:latin typeface="Calibri" pitchFamily="34" charset="0"/>
                          <a:ea typeface="Calibri" pitchFamily="34" charset="-122"/>
                          <a:cs typeface="Calibri" pitchFamily="34" charset="-120"/>
                        </a:rPr>
                        <a:t>POST</a:t>
                      </a:r>
                      <a:endParaRPr lang="en-US" sz="115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6262F"/>
                          </a:solidFill>
                          <a:latin typeface="Courier New" pitchFamily="34" charset="0"/>
                          <a:ea typeface="Courier New" pitchFamily="34" charset="-122"/>
                          <a:cs typeface="Courier New" pitchFamily="34" charset="-120"/>
                        </a:rPr>
                        <a:t>/stories</a:t>
                      </a:r>
                      <a:endParaRPr lang="en-US" sz="1150" dirty="0">
                        <a:latin typeface="Courier New" charset="0"/>
                        <a:ea typeface="Courier New" charset="0"/>
                        <a:cs typeface="Courier New"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6262F"/>
                          </a:solidFill>
                          <a:latin typeface="Courier New" pitchFamily="34" charset="0"/>
                          <a:ea typeface="Courier New" pitchFamily="34" charset="-122"/>
                          <a:cs typeface="Courier New" pitchFamily="34" charset="-120"/>
                        </a:rPr>
                        <a:t>{title, content}</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6262F"/>
                          </a:solidFill>
                          <a:latin typeface="Courier New" pitchFamily="34" charset="0"/>
                          <a:ea typeface="Courier New" pitchFamily="34" charset="-122"/>
                          <a:cs typeface="Courier New" pitchFamily="34" charset="-120"/>
                        </a:rPr>
                        <a:t>{message, story_id}</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150" b="1" dirty="0">
                          <a:solidFill>
                            <a:srgbClr val="26262F"/>
                          </a:solidFill>
                          <a:latin typeface="Calibri" pitchFamily="34" charset="0"/>
                          <a:ea typeface="Calibri" pitchFamily="34" charset="-122"/>
                          <a:cs typeface="Calibri" pitchFamily="34" charset="-120"/>
                        </a:rPr>
                        <a:t>PUT</a:t>
                      </a:r>
                      <a:endParaRPr lang="en-US" sz="115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6262F"/>
                          </a:solidFill>
                          <a:latin typeface="Courier New" pitchFamily="34" charset="0"/>
                          <a:ea typeface="Courier New" pitchFamily="34" charset="-122"/>
                          <a:cs typeface="Courier New" pitchFamily="34" charset="-120"/>
                        </a:rPr>
                        <a:t>/stories/:id</a:t>
                      </a:r>
                      <a:endParaRPr lang="en-US" sz="1150" dirty="0">
                        <a:latin typeface="Courier New" charset="0"/>
                        <a:ea typeface="Courier New" charset="0"/>
                        <a:cs typeface="Courier New"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6262F"/>
                          </a:solidFill>
                          <a:latin typeface="Courier New" pitchFamily="34" charset="0"/>
                          <a:ea typeface="Courier New" pitchFamily="34" charset="-122"/>
                          <a:cs typeface="Courier New" pitchFamily="34" charset="-120"/>
                        </a:rPr>
                        <a:t>{title, content}</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6262F"/>
                          </a:solidFill>
                          <a:latin typeface="Courier New" pitchFamily="34" charset="0"/>
                          <a:ea typeface="Courier New" pitchFamily="34" charset="-122"/>
                          <a:cs typeface="Courier New" pitchFamily="34" charset="-120"/>
                        </a:rPr>
                        <a:t>{message}</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r h="566928">
                <a:tc>
                  <a:txBody>
                    <a:bodyPr/>
                    <a:lstStyle/>
                    <a:p>
                      <a:pPr algn="ctr" indent="0" marL="0">
                        <a:buNone/>
                      </a:pPr>
                      <a:r>
                        <a:rPr lang="en-US" sz="1150" b="1" dirty="0">
                          <a:solidFill>
                            <a:srgbClr val="26262F"/>
                          </a:solidFill>
                          <a:latin typeface="Calibri" pitchFamily="34" charset="0"/>
                          <a:ea typeface="Calibri" pitchFamily="34" charset="-122"/>
                          <a:cs typeface="Calibri" pitchFamily="34" charset="-120"/>
                        </a:rPr>
                        <a:t>DELETE</a:t>
                      </a:r>
                      <a:endParaRPr lang="en-US" sz="1150" dirty="0">
                        <a:latin typeface="Calibri" charset="0"/>
                        <a:ea typeface="Calibri" charset="0"/>
                        <a:cs typeface="Calibri"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6262F"/>
                          </a:solidFill>
                          <a:latin typeface="Courier New" pitchFamily="34" charset="0"/>
                          <a:ea typeface="Courier New" pitchFamily="34" charset="-122"/>
                          <a:cs typeface="Courier New" pitchFamily="34" charset="-120"/>
                        </a:rPr>
                        <a:t>/stories/:id</a:t>
                      </a:r>
                      <a:endParaRPr lang="en-US" sz="1150" dirty="0">
                        <a:latin typeface="Courier New" charset="0"/>
                        <a:ea typeface="Courier New" charset="0"/>
                        <a:cs typeface="Courier New"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6262F"/>
                          </a:solidFill>
                          <a:latin typeface="Courier New" pitchFamily="34" charset="0"/>
                          <a:ea typeface="Courier New" pitchFamily="34" charset="-122"/>
                          <a:cs typeface="Courier New" pitchFamily="34" charset="-120"/>
                        </a:rPr>
                        <a:t>--</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6262F"/>
                          </a:solidFill>
                          <a:latin typeface="Courier New" pitchFamily="34" charset="0"/>
                          <a:ea typeface="Courier New" pitchFamily="34" charset="-122"/>
                          <a:cs typeface="Courier New" pitchFamily="34" charset="-120"/>
                        </a:rPr>
                        <a:t>{message}</a:t>
                      </a:r>
                      <a:endParaRPr lang="en-US" sz="1100" dirty="0">
                        <a:latin typeface="Courier New" charset="0"/>
                        <a:ea typeface="Courier New" charset="0"/>
                        <a:cs typeface="Courier New" charset="0"/>
                      </a:endParaRPr>
                    </a:p>
                  </a:txBody>
                  <a:tcPr marL="91440" marR="91440" marT="45720" marB="45720" anchor="ctr">
                    <a:lnL w="12700" cap="flat" cmpd="sng" algn="ctr">
                      <a:solidFill>
                        <a:srgbClr val="D8D8E6"/>
                      </a:solidFill>
                      <a:prstDash val="solid"/>
                      <a:round/>
                      <a:headEnd type="none" w="med" len="med"/>
                      <a:tailEnd type="none" w="med" len="med"/>
                    </a:lnL>
                    <a:lnR w="12700" cap="flat" cmpd="sng" algn="ctr">
                      <a:solidFill>
                        <a:srgbClr val="D8D8E6"/>
                      </a:solidFill>
                      <a:prstDash val="solid"/>
                      <a:round/>
                      <a:headEnd type="none" w="med" len="med"/>
                      <a:tailEnd type="none" w="med" len="med"/>
                    </a:lnR>
                    <a:lnT w="12700" cap="flat" cmpd="sng" algn="ctr">
                      <a:solidFill>
                        <a:srgbClr val="D8D8E6"/>
                      </a:solidFill>
                      <a:prstDash val="solid"/>
                      <a:round/>
                      <a:headEnd type="none" w="med" len="med"/>
                      <a:tailEnd type="none" w="med" len="med"/>
                    </a:lnT>
                    <a:lnB w="12700" cap="flat" cmpd="sng" algn="ctr">
                      <a:solidFill>
                        <a:srgbClr val="D8D8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640080" y="6035040"/>
            <a:ext cx="10911535" cy="365760"/>
          </a:xfrm>
          <a:prstGeom prst="rect">
            <a:avLst/>
          </a:prstGeom>
          <a:noFill/>
          <a:ln/>
        </p:spPr>
        <p:txBody>
          <a:bodyPr wrap="square" lIns="0" tIns="0" rIns="0" bIns="0" rtlCol="0" anchor="ctr"/>
          <a:lstStyle/>
          <a:p>
            <a:pPr indent="0" marL="0">
              <a:buNone/>
            </a:pPr>
            <a:r>
              <a:rPr lang="en-US" sz="1150" i="1" dirty="0">
                <a:solidFill>
                  <a:srgbClr val="5D5D72"/>
                </a:solidFill>
                <a:latin typeface="Calibri" pitchFamily="34" charset="0"/>
                <a:ea typeface="Calibri" pitchFamily="34" charset="-122"/>
                <a:cs typeface="Calibri" pitchFamily="34" charset="-120"/>
              </a:rPr>
              <a:t>Base URL: https://usmanlive.com/wp-json/api -- every story is just { id, title, content }. No sign-up required.</a:t>
            </a:r>
            <a:endParaRPr lang="en-US" sz="1150" dirty="0"/>
          </a:p>
        </p:txBody>
      </p:sp>
      <p:sp>
        <p:nvSpPr>
          <p:cNvPr id="30"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26</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57200"/>
            <a:ext cx="10058400" cy="365760"/>
          </a:xfrm>
          <a:prstGeom prst="rect">
            <a:avLst/>
          </a:prstGeom>
          <a:noFill/>
          <a:ln/>
        </p:spPr>
        <p:txBody>
          <a:bodyPr wrap="square" lIns="0" tIns="0" rIns="0" bIns="0" rtlCol="0" anchor="ctr"/>
          <a:lstStyle/>
          <a:p>
            <a:pPr algn="l" indent="0" marL="0">
              <a:buNone/>
            </a:pPr>
            <a:r>
              <a:rPr lang="en-US" sz="1300" b="1" spc="300" kern="0" dirty="0">
                <a:solidFill>
                  <a:srgbClr val="FF8A3D"/>
                </a:solidFill>
                <a:latin typeface="Calibri" pitchFamily="34" charset="0"/>
                <a:ea typeface="Calibri" pitchFamily="34" charset="-122"/>
                <a:cs typeface="Calibri" pitchFamily="34" charset="-120"/>
              </a:rPr>
              <a:t>REST APIS AND HTTP METHODS</a:t>
            </a:r>
            <a:endParaRPr lang="en-US" sz="1300" dirty="0"/>
          </a:p>
        </p:txBody>
      </p:sp>
      <p:sp>
        <p:nvSpPr>
          <p:cNvPr id="3" name="Text 1"/>
          <p:cNvSpPr txBox="1"/>
          <p:nvPr/>
        </p:nvSpPr>
        <p:spPr>
          <a:xfrm>
            <a:off x="640080" y="841248"/>
            <a:ext cx="10881360" cy="914400"/>
          </a:xfrm>
          <a:prstGeom prst="rect">
            <a:avLst/>
          </a:prstGeom>
          <a:noFill/>
          <a:ln/>
        </p:spPr>
        <p:txBody>
          <a:bodyPr wrap="square" lIns="0" tIns="0" rIns="0" bIns="0" rtlCol="0" anchor="ctr"/>
          <a:lstStyle/>
          <a:p>
            <a:pPr algn="l" indent="0" marL="0">
              <a:buNone/>
            </a:pPr>
            <a:r>
              <a:rPr lang="en-US" sz="3400" b="1" dirty="0">
                <a:solidFill>
                  <a:srgbClr val="2B2B7A"/>
                </a:solidFill>
                <a:latin typeface="Cambria" pitchFamily="34" charset="0"/>
                <a:ea typeface="Cambria" pitchFamily="34" charset="-122"/>
                <a:cs typeface="Cambria" pitchFamily="34" charset="-120"/>
              </a:rPr>
              <a:t>This API Does Not Validate Anything</a:t>
            </a:r>
            <a:endParaRPr lang="en-US" sz="3400" dirty="0"/>
          </a:p>
        </p:txBody>
      </p:sp>
      <p:sp>
        <p:nvSpPr>
          <p:cNvPr id="4" name="Shape 2"/>
          <p:cNvSpPr/>
          <p:nvPr/>
        </p:nvSpPr>
        <p:spPr>
          <a:xfrm>
            <a:off x="640080" y="1965960"/>
            <a:ext cx="10911535" cy="3657600"/>
          </a:xfrm>
          <a:prstGeom prst="roundRect">
            <a:avLst>
              <a:gd name="adj" fmla="val 3158"/>
            </a:avLst>
          </a:prstGeom>
          <a:solidFill>
            <a:srgbClr val="FDECE0"/>
          </a:solidFill>
          <a:ln w="12700">
            <a:solidFill>
              <a:srgbClr val="FF8A3D"/>
            </a:solidFill>
            <a:prstDash val="solid"/>
          </a:ln>
        </p:spPr>
        <p:txBody>
          <a:bodyPr/>
          <a:p/>
        </p:txBody>
      </p:sp>
      <p:sp>
        <p:nvSpPr>
          <p:cNvPr id="5" name="Text 3"/>
          <p:cNvSpPr txBox="1"/>
          <p:nvPr/>
        </p:nvSpPr>
        <p:spPr>
          <a:xfrm>
            <a:off x="868680" y="2103120"/>
            <a:ext cx="10454335" cy="400000"/>
          </a:xfrm>
          <a:prstGeom prst="rect">
            <a:avLst/>
          </a:prstGeom>
          <a:noFill/>
          <a:ln/>
        </p:spPr>
        <p:txBody>
          <a:bodyPr wrap="square" lIns="0" tIns="0" rIns="0" bIns="0" rtlCol="0" anchor="ctr"/>
          <a:lstStyle/>
          <a:p>
            <a:pPr indent="0" marL="0">
              <a:buNone/>
            </a:pPr>
            <a:r>
              <a:rPr lang="en-US" sz="1800" b="1" spc="200" kern="0" dirty="0">
                <a:solidFill>
                  <a:srgbClr val="8A3A12"/>
                </a:solidFill>
                <a:latin typeface="Calibri" pitchFamily="34" charset="0"/>
                <a:ea typeface="Calibri" pitchFamily="34" charset="-122"/>
                <a:cs typeface="Calibri" pitchFamily="34" charset="-120"/>
              </a:rPr>
              <a:t>WARNING</a:t>
            </a:r>
            <a:endParaRPr lang="en-US" sz="1800" dirty="0"/>
          </a:p>
        </p:txBody>
      </p:sp>
      <p:sp>
        <p:nvSpPr>
          <p:cNvPr id="6" name="Text 4"/>
          <p:cNvSpPr txBox="1"/>
          <p:nvPr/>
        </p:nvSpPr>
        <p:spPr>
          <a:xfrm>
            <a:off x="868680" y="2795960"/>
            <a:ext cx="10454335" cy="2782400"/>
          </a:xfrm>
          <a:prstGeom prst="rect">
            <a:avLst/>
          </a:prstGeom>
          <a:noFill/>
          <a:ln/>
        </p:spPr>
        <p:txBody>
          <a:bodyPr wrap="square" lIns="0" tIns="0" rIns="0" bIns="0" rtlCol="0" anchor="ctr"/>
          <a:lstStyle/>
          <a:p>
            <a:pPr indent="0" marL="0">
              <a:buNone/>
            </a:pPr>
            <a:r>
              <a:rPr lang="en-US" sz="2800" dirty="0">
                <a:solidFill>
                  <a:srgbClr val="26262F"/>
                </a:solidFill>
                <a:latin typeface="Calibri" pitchFamily="34" charset="0"/>
                <a:ea typeface="Calibri" pitchFamily="34" charset="-122"/>
                <a:cs typeface="Calibri" pitchFamily="34" charset="-120"/>
              </a:rPr>
              <a:t>POST /stories with an empty {} body is accepted and silently creates a story with blank fields -- the server trusts whatever you send. Your client-side form validation is the only thing protecting the data.</a:t>
            </a:r>
            <a:endParaRPr lang="en-US" sz="2800" dirty="0"/>
          </a:p>
        </p:txBody>
      </p:sp>
      <p:sp>
        <p:nvSpPr>
          <p:cNvPr id="9" name="cuinotes-footer-mark"/>
          <p:cNvSpPr txBox="1"/>
          <p:nvPr/>
        </p:nvSpPr>
        <p:spPr>
          <a:xfrm>
            <a:off x="9951720" y="6455664"/>
            <a:ext cx="2011680" cy="292608"/>
          </a:xfrm>
          <a:prstGeom prst="rect">
            <a:avLst/>
          </a:prstGeom>
          <a:noFill/>
        </p:spPr>
        <p:txBody>
          <a:bodyPr wrap="none" lIns="0" rIns="0" tIns="0" bIns="0">
            <a:spAutoFit/>
          </a:bodyPr>
          <a:lstStyle/>
          <a:p>
            <a:pPr algn="r"/>
            <a:r>
              <a:rPr sz="1000">
                <a:solidFill>
                  <a:srgbClr val="8A939B"/>
                </a:solidFill>
                <a:hlinkClick r:id="rId3"/>
              </a:rPr>
              <a:t>cuinotes.com</a:t>
            </a:r>
            <a:r>
              <a:rPr sz="1000">
                <a:solidFill>
                  <a:srgbClr val="8A939B"/>
                </a:solidFill>
              </a:rPr>
              <a:t>  ·  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COMSATS University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Asynchronous JavaScript: Promises and Fetch API</dc:title>
  <dc:subject>CSC336 Web Technologies</dc:subject>
  <dc:creator>Usman Akram</dc:creator>
  <cp:lastModifiedBy>Usman Akram</cp:lastModifiedBy>
  <cp:revision>1</cp:revision>
  <dcterms:created xsi:type="dcterms:W3CDTF">2026-09-22T05:49:16Z</dcterms:created>
  <dcterms:modified xsi:type="dcterms:W3CDTF">2026-09-22T05:49:16Z</dcterms:modified>
</cp:coreProperties>
</file>
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89" r:id="rId40"/>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90" r:id="rId41"/>
    <p:sldId id="283" r:id="rId29"/>
    <p:sldId id="284" r:id="rId30"/>
    <p:sldId id="291" r:id="rId42"/>
    <p:sldId id="285" r:id="rId31"/>
    <p:sldId id="286" r:id="rId32"/>
    <p:sldId id="287" r:id="rId33"/>
    <p:sldId id="288" r:id="rId34"/>
  </p:sldIdLst>
  <p:notesMasterIdLst>
    <p:notesMasterId r:id="rId3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notesMaster" Target="notesMasters/notesMaster1.xml"/><Relationship Id="rId36" Type="http://schemas.openxmlformats.org/officeDocument/2006/relationships/presProps" Target="presProps.xml"/><Relationship Id="rId37" Type="http://schemas.openxmlformats.org/officeDocument/2006/relationships/viewProps" Target="viewProps.xml"/><Relationship Id="rId38" Type="http://schemas.openxmlformats.org/officeDocument/2006/relationships/theme" Target="theme/theme1.xml"/><Relationship Id="rId39" Type="http://schemas.openxmlformats.org/officeDocument/2006/relationships/tableStyles" Target="tableStyles.xml"/>  <Relationship Id="rId40" Type="http://schemas.openxmlformats.org/officeDocument/2006/relationships/slide" Target="slides/slide34.xml"/>
  <Relationship Id="rId41" Type="http://schemas.openxmlformats.org/officeDocument/2006/relationships/slide" Target="slides/slide35.xml"/>
  <Relationship Id="rId42" Type="http://schemas.openxmlformats.org/officeDocument/2006/relationships/slide" Target="slides/slide36.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hyperlink" Target="https://cuinotes.com"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hyperlink" Target="https://cuinotes.com"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hyperlink" Target="https://cuinotes.com"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hyperlink" Target="https://cuinotes.com" TargetMode="Externa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 Id="rId4" Type="http://schemas.openxmlformats.org/officeDocument/2006/relationships/hyperlink" Target="https://cuinotes.com"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hyperlink" Target="https://cuinotes.com"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hyperlink" Target="https://cuinotes.com"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hyperlink" Target="https://cuinotes.com"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hyperlink" Target="https://cuinotes.com"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hyperlink" Target="https://cuinotes.com"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hyperlink" Target="https://cuinotes.com"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hyperlink" Target="https://cuinotes.com"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hyperlink" Target="https://cuinotes.com" TargetMode="Externa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 Id="rId4" Type="http://schemas.openxmlformats.org/officeDocument/2006/relationships/hyperlink" Target="https://cuinotes.com"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hyperlink" Target="https://cuinotes.com"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hyperlink" Target="https://cuinotes.com" TargetMode="Externa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 Id="rId4" Type="http://schemas.openxmlformats.org/officeDocument/2006/relationships/hyperlink" Target="https://cuinotes.com"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hyperlink" Target="https://cuinotes.com"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hyperlink" Target="https://cuinotes.com"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hyperlink" Target="https://cuinotes.com" TargetMode="Externa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 Id="rId4" Type="http://schemas.openxmlformats.org/officeDocument/2006/relationships/hyperlink" Target="https://cuinotes.com" TargetMode="Externa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hyperlink" Target="https://cuinotes.com" TargetMode="Externa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hyperlink" Target="https://cuinotes.com" TargetMode="Externa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hyperlink" Target="https://cuinotes.com" TargetMode="Externa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hyperlink" Target="https://cuinotes.com" TargetMode="Externa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1.xml"/><Relationship Id="rId3" Type="http://schemas.openxmlformats.org/officeDocument/2006/relationships/notesSlide" Target="../notesSlides/notesSlide26.xml"/><Relationship Id="rId4" Type="http://schemas.openxmlformats.org/officeDocument/2006/relationships/hyperlink" Target="https://cuinotes.com" TargetMode="Externa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hyperlink" Target="https://cuinotes.com" TargetMode="Externa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hyperlink" Target="https://cuinotes.com" TargetMode="Externa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hyperlink" Target="https://cuinotes.com" TargetMode="Externa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hyperlink" Target="https://cuinotes.com" TargetMode="Externa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hyperlink" Target="https://cuinotes.com" TargetMode="Externa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 Id="rId3" Type="http://schemas.openxmlformats.org/officeDocument/2006/relationships/hyperlink" Target="https://cuinotes.com" TargetMode="Externa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 Id="rId3" Type="http://schemas.openxmlformats.org/officeDocument/2006/relationships/hyperlink" Target="https://cuinotes.com" TargetMode="Externa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hyperlink" Target="https://cuinotes.com" TargetMode="Externa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hyperlink" Target="https://cuinotes.com" TargetMode="Externa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hyperlink" Target="https://cuinotes.com" TargetMode="External"/><Relationship Id="rId10" Type="http://schemas.openxmlformats.org/officeDocument/2006/relationships/hyperlink" Target="https://usmanlive.com/fake-stories-restful-api/" TargetMode="External"/><Relationship Id="rId11" Type="http://schemas.openxmlformats.org/officeDocument/2006/relationships/hyperlink" Target="https://ajaxcrud.usmanlive.com/" TargetMode="Externa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B2B7A"/>
        </a:solidFill>
      </p:bgPr>
    </p:bg>
    <p:spTree>
      <p:nvGrpSpPr>
        <p:cNvPr id="1" name=""/>
        <p:cNvGrpSpPr/>
        <p:nvPr/>
      </p:nvGrpSpPr>
      <p:grpSpPr>
        <a:xfrm>
          <a:off x="0" y="0"/>
          <a:ext cx="0" cy="0"/>
          <a:chOff x="0" y="0"/>
          <a:chExt cx="0" cy="0"/>
        </a:xfrm>
      </p:grpSpPr>
      <p:sp>
        <p:nvSpPr>
          <p:cNvPr id="2" name="Text 0"/>
          <p:cNvSpPr txBox="1"/>
          <p:nvPr/>
        </p:nvSpPr>
        <p:spPr>
          <a:xfrm>
            <a:off x="822960" y="1965960"/>
            <a:ext cx="7315200" cy="457200"/>
          </a:xfrm>
          <a:prstGeom prst="rect">
            <a:avLst/>
          </a:prstGeom>
          <a:noFill/>
          <a:ln/>
        </p:spPr>
        <p:txBody>
          <a:bodyPr wrap="square" lIns="0" tIns="0" rIns="0" bIns="0" rtlCol="0" anchor="ctr"/>
          <a:lstStyle/>
          <a:p>
            <a:pPr indent="0" marL="0">
              <a:buNone/>
            </a:pPr>
            <a:r>
              <a:rPr lang="en-US" sz="1500" b="1" spc="400" kern="0" dirty="0">
                <a:solidFill>
                  <a:srgbClr val="FF8A3D"/>
                </a:solidFill>
                <a:latin typeface="Calibri" pitchFamily="34" charset="0"/>
                <a:ea typeface="Calibri" pitchFamily="34" charset="-122"/>
                <a:cs typeface="Calibri" pitchFamily="34" charset="-120"/>
              </a:rPr>
              <a:t>LECTURE 15</a:t>
            </a:r>
            <a:endParaRPr lang="en-US" sz="1500" dirty="0"/>
          </a:p>
        </p:txBody>
      </p:sp>
      <p:sp>
        <p:nvSpPr>
          <p:cNvPr id="3" name="Text 1"/>
          <p:cNvSpPr txBox="1"/>
          <p:nvPr/>
        </p:nvSpPr>
        <p:spPr>
          <a:xfrm>
            <a:off x="777240" y="2377440"/>
            <a:ext cx="8686800" cy="1920240"/>
          </a:xfrm>
          <a:prstGeom prst="rect">
            <a:avLst/>
          </a:prstGeom>
          <a:noFill/>
          <a:ln/>
        </p:spPr>
        <p:txBody>
          <a:bodyPr wrap="square" lIns="0" tIns="0" rIns="0" bIns="0" rtlCol="0" anchor="ctr"/>
          <a:lstStyle/>
          <a:p>
            <a:pPr indent="0" marL="0">
              <a:lnSpc>
                <a:spcPct val="105000"/>
              </a:lnSpc>
              <a:buNone/>
            </a:pPr>
            <a:r>
              <a:rPr lang="en-US" sz="4000" b="1" dirty="0">
                <a:solidFill>
                  <a:srgbClr val="FFFFFF"/>
                </a:solidFill>
                <a:latin typeface="Cambria" pitchFamily="34" charset="0"/>
                <a:ea typeface="Cambria" pitchFamily="34" charset="-122"/>
                <a:cs typeface="Cambria" pitchFamily="34" charset="-120"/>
              </a:rPr>
              <a:t>Asynchronous JavaScript:</a:t>
            </a:r>
            <a:endParaRPr lang="en-US" sz="4000" dirty="0"/>
          </a:p>
          <a:p>
            <a:pPr indent="0" marL="0">
              <a:lnSpc>
                <a:spcPct val="105000"/>
              </a:lnSpc>
              <a:buNone/>
            </a:pPr>
            <a:r>
              <a:rPr lang="en-US" sz="4000" b="1" dirty="0">
                <a:solidFill>
                  <a:srgbClr val="FFFFFF"/>
                </a:solidFill>
                <a:latin typeface="Cambria" pitchFamily="34" charset="0"/>
                <a:ea typeface="Cambria" pitchFamily="34" charset="-122"/>
                <a:cs typeface="Cambria" pitchFamily="34" charset="-120"/>
              </a:rPr>
              <a:t>Promises and Fetch</a:t>
            </a:r>
            <a:endParaRPr lang="en-US" sz="4000" dirty="0"/>
          </a:p>
        </p:txBody>
      </p:sp>
      <p:sp>
        <p:nvSpPr>
          <p:cNvPr id="4" name="Text 2"/>
          <p:cNvSpPr txBox="1"/>
          <p:nvPr/>
        </p:nvSpPr>
        <p:spPr>
          <a:xfrm>
            <a:off x="822960" y="4389120"/>
            <a:ext cx="8961120" cy="822960"/>
          </a:xfrm>
          <a:prstGeom prst="rect">
            <a:avLst/>
          </a:prstGeom>
          <a:noFill/>
          <a:ln/>
        </p:spPr>
        <p:txBody>
          <a:bodyPr wrap="square" lIns="0" tIns="0" rIns="0" bIns="0" rtlCol="0" anchor="ctr"/>
          <a:lstStyle/>
          <a:p>
            <a:pPr indent="0" marL="0">
              <a:buNone/>
            </a:pPr>
            <a:r>
              <a:rPr lang="en-US" sz="1500" dirty="0">
                <a:solidFill>
                  <a:srgbClr val="C9D3F5"/>
                </a:solidFill>
                <a:latin typeface="Calibri" pitchFamily="34" charset="0"/>
                <a:ea typeface="Calibri" pitchFamily="34" charset="-122"/>
                <a:cs typeface="Calibri" pitchFamily="34" charset="-120"/>
              </a:rPr>
              <a:t>How JavaScript waits on things that take time — without ever freezing the page.</a:t>
            </a:r>
            <a:endParaRPr lang="en-US" sz="1500" dirty="0"/>
          </a:p>
        </p:txBody>
      </p:sp>
      <p:sp>
        <p:nvSpPr>
          <p:cNvPr id="5" name="Text 3"/>
          <p:cNvSpPr txBox="1"/>
          <p:nvPr/>
        </p:nvSpPr>
        <p:spPr>
          <a:xfrm>
            <a:off x="822960" y="5943600"/>
            <a:ext cx="8229600" cy="365760"/>
          </a:xfrm>
          <a:prstGeom prst="rect">
            <a:avLst/>
          </a:prstGeom>
          <a:noFill/>
          <a:ln/>
        </p:spPr>
        <p:txBody>
          <a:bodyPr wrap="square" lIns="0" tIns="0" rIns="0" bIns="0" rtlCol="0" anchor="ctr"/>
          <a:lstStyle/>
          <a:p>
            <a:pPr indent="0" marL="0">
              <a:buNone/>
            </a:pPr>
            <a:r>
              <a:rPr lang="en-US" sz="1200" dirty="0">
                <a:solidFill>
                  <a:srgbClr val="9AA3D8"/>
                </a:solidFill>
                <a:latin typeface="Calibri" pitchFamily="34" charset="0"/>
                <a:ea typeface="Calibri" pitchFamily="34" charset="-122"/>
                <a:cs typeface="Calibri" pitchFamily="34" charset="-120"/>
              </a:rPr>
              <a:t>CSC336 Web Technologies</a:t>
            </a:r>
            <a:endParaRPr lang="en-US" sz="1200" dirty="0"/>
          </a:p>
        </p:txBody>
      </p:sp>
      <p:sp>
        <p:nvSpPr>
          <p:cNvPr id="8" name="cuinotes-footer-mark"/>
          <p:cNvSpPr txBox="1"/>
          <p:nvPr/>
        </p:nvSpPr>
        <p:spPr>
          <a:xfrm>
            <a:off x="9951720" y="6455664"/>
            <a:ext cx="2011680" cy="292608"/>
          </a:xfrm>
          <a:prstGeom prst="rect">
            <a:avLst/>
          </a:prstGeom>
          <a:noFill/>
        </p:spPr>
        <p:txBody>
          <a:bodyPr wrap="none" lIns="0" rIns="0" tIns="0" bIns="0">
            <a:spAutoFit/>
          </a:bodyPr>
          <a:lstStyle/>
          <a:p>
            <a:pPr algn="r"/>
            <a:r>
              <a:rPr sz="1000">
                <a:solidFill>
                  <a:srgbClr val="8A939B"/>
                </a:solidFill>
                <a:hlinkClick r:id="rId3"/>
              </a:rPr>
              <a:t>cuinotes.com</a:t>
            </a:r>
            <a:r>
              <a:rPr sz="1000">
                <a:solidFill>
                  <a:srgbClr val="8A939B"/>
                </a:solidFill>
              </a:rPr>
              <a:t>  ·  1</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10058400" cy="365760"/>
          </a:xfrm>
          <a:prstGeom prst="rect">
            <a:avLst/>
          </a:prstGeom>
          <a:noFill/>
          <a:ln/>
        </p:spPr>
        <p:txBody>
          <a:bodyPr wrap="square" lIns="0" tIns="0" rIns="0" bIns="0" rtlCol="0" anchor="ctr"/>
          <a:lstStyle/>
          <a:p>
            <a:pPr algn="l" indent="0" marL="0">
              <a:buNone/>
            </a:pPr>
            <a:r>
              <a:rPr lang="en-US" sz="1300" b="1" spc="300" kern="0" dirty="0">
                <a:solidFill>
                  <a:srgbClr val="FF8A3D"/>
                </a:solidFill>
                <a:latin typeface="Calibri" pitchFamily="34" charset="0"/>
                <a:ea typeface="Calibri" pitchFamily="34" charset="-122"/>
                <a:cs typeface="Calibri" pitchFamily="34" charset="-120"/>
              </a:rPr>
              <a:t>OVERVIEW</a:t>
            </a:r>
            <a:endParaRPr lang="en-US" sz="1300" dirty="0"/>
          </a:p>
        </p:txBody>
      </p:sp>
      <p:sp>
        <p:nvSpPr>
          <p:cNvPr id="3" name="Text 1"/>
          <p:cNvSpPr txBox="1"/>
          <p:nvPr/>
        </p:nvSpPr>
        <p:spPr>
          <a:xfrm>
            <a:off x="640080" y="841248"/>
            <a:ext cx="10881360" cy="914400"/>
          </a:xfrm>
          <a:prstGeom prst="rect">
            <a:avLst/>
          </a:prstGeom>
          <a:noFill/>
          <a:ln/>
        </p:spPr>
        <p:txBody>
          <a:bodyPr wrap="square" lIns="0" tIns="0" rIns="0" bIns="0" rtlCol="0" anchor="ctr"/>
          <a:lstStyle/>
          <a:p>
            <a:pPr algn="l" indent="0" marL="0">
              <a:buNone/>
            </a:pPr>
            <a:r>
              <a:rPr lang="en-US" sz="3400" b="1" dirty="0">
                <a:solidFill>
                  <a:srgbClr val="2B2B7A"/>
                </a:solidFill>
                <a:latin typeface="Cambria" pitchFamily="34" charset="0"/>
                <a:ea typeface="Cambria" pitchFamily="34" charset="-122"/>
                <a:cs typeface="Cambria" pitchFamily="34" charset="-120"/>
              </a:rPr>
              <a:t>In This Lecture</a:t>
            </a:r>
            <a:endParaRPr lang="en-US" sz="3400" dirty="0"/>
          </a:p>
        </p:txBody>
      </p:sp>
      <p:sp>
        <p:nvSpPr>
          <p:cNvPr id="4" name="Shape 2"/>
          <p:cNvSpPr/>
          <p:nvPr/>
        </p:nvSpPr>
        <p:spPr>
          <a:xfrm>
            <a:off x="685800" y="1965960"/>
            <a:ext cx="457200" cy="457200"/>
          </a:xfrm>
          <a:prstGeom prst="ellipse">
            <a:avLst/>
          </a:prstGeom>
          <a:solidFill>
            <a:srgbClr val="FF8A3D"/>
          </a:solidFill>
          <a:ln/>
        </p:spPr>
        <p:txBody>
          <a:bodyPr/>
          <a:p/>
        </p:txBody>
      </p:sp>
      <p:sp>
        <p:nvSpPr>
          <p:cNvPr id="5" name="Text 3"/>
          <p:cNvSpPr txBox="1"/>
          <p:nvPr/>
        </p:nvSpPr>
        <p:spPr>
          <a:xfrm>
            <a:off x="685800" y="196596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6" name="Text 4"/>
          <p:cNvSpPr txBox="1"/>
          <p:nvPr/>
        </p:nvSpPr>
        <p:spPr>
          <a:xfrm>
            <a:off x="1371600" y="1892808"/>
            <a:ext cx="10180015" cy="640080"/>
          </a:xfrm>
          <a:prstGeom prst="rect">
            <a:avLst/>
          </a:prstGeom>
          <a:noFill/>
          <a:ln/>
        </p:spPr>
        <p:txBody>
          <a:bodyPr wrap="square" lIns="0" tIns="0" rIns="0" bIns="0" rtlCol="0" anchor="ctr"/>
          <a:lstStyle/>
          <a:p>
            <a:pPr indent="0" marL="0">
              <a:buNone/>
            </a:pPr>
            <a:r>
              <a:rPr lang="en-US" sz="1500" dirty="0">
                <a:solidFill>
                  <a:srgbClr val="26262F"/>
                </a:solidFill>
                <a:latin typeface="Calibri" pitchFamily="34" charset="0"/>
                <a:ea typeface="Calibri" pitchFamily="34" charset="-122"/>
                <a:cs typeface="Calibri" pitchFamily="34" charset="-120"/>
              </a:rPr>
              <a:t>Synchronous vs. asynchronous execution, the event loop, task queue, and "callback hell"</a:t>
            </a:r>
            <a:endParaRPr lang="en-US" sz="1500" dirty="0"/>
          </a:p>
        </p:txBody>
      </p:sp>
      <p:sp>
        <p:nvSpPr>
          <p:cNvPr id="7" name="Shape 5"/>
          <p:cNvSpPr/>
          <p:nvPr/>
        </p:nvSpPr>
        <p:spPr>
          <a:xfrm>
            <a:off x="685800" y="2788920"/>
            <a:ext cx="457200" cy="457200"/>
          </a:xfrm>
          <a:prstGeom prst="ellipse">
            <a:avLst/>
          </a:prstGeom>
          <a:solidFill>
            <a:srgbClr val="FF8A3D"/>
          </a:solidFill>
          <a:ln/>
        </p:spPr>
        <p:txBody>
          <a:bodyPr/>
          <a:p/>
        </p:txBody>
      </p:sp>
      <p:sp>
        <p:nvSpPr>
          <p:cNvPr id="8" name="Text 6"/>
          <p:cNvSpPr txBox="1"/>
          <p:nvPr/>
        </p:nvSpPr>
        <p:spPr>
          <a:xfrm>
            <a:off x="685800" y="278892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9" name="Text 7"/>
          <p:cNvSpPr txBox="1"/>
          <p:nvPr/>
        </p:nvSpPr>
        <p:spPr>
          <a:xfrm>
            <a:off x="1371600" y="2715768"/>
            <a:ext cx="10180015" cy="640080"/>
          </a:xfrm>
          <a:prstGeom prst="rect">
            <a:avLst/>
          </a:prstGeom>
          <a:noFill/>
          <a:ln/>
        </p:spPr>
        <p:txBody>
          <a:bodyPr wrap="square" lIns="0" tIns="0" rIns="0" bIns="0" rtlCol="0" anchor="ctr"/>
          <a:lstStyle/>
          <a:p>
            <a:pPr indent="0" marL="0">
              <a:buNone/>
            </a:pPr>
            <a:r>
              <a:rPr lang="en-US" sz="1500" dirty="0">
                <a:solidFill>
                  <a:srgbClr val="26262F"/>
                </a:solidFill>
                <a:latin typeface="Calibri" pitchFamily="34" charset="0"/>
                <a:ea typeface="Calibri" pitchFamily="34" charset="-122"/>
                <a:cs typeface="Calibri" pitchFamily="34" charset="-120"/>
              </a:rPr>
              <a:t>Promises: their three states, .then/.catch/.finally, chaining, and Promise.all</a:t>
            </a:r>
            <a:endParaRPr lang="en-US" sz="1500" dirty="0"/>
          </a:p>
        </p:txBody>
      </p:sp>
      <p:sp>
        <p:nvSpPr>
          <p:cNvPr id="10" name="Shape 8"/>
          <p:cNvSpPr/>
          <p:nvPr/>
        </p:nvSpPr>
        <p:spPr>
          <a:xfrm>
            <a:off x="685800" y="3611880"/>
            <a:ext cx="457200" cy="457200"/>
          </a:xfrm>
          <a:prstGeom prst="ellipse">
            <a:avLst/>
          </a:prstGeom>
          <a:solidFill>
            <a:srgbClr val="FF8A3D"/>
          </a:solidFill>
          <a:ln/>
        </p:spPr>
        <p:txBody>
          <a:bodyPr/>
          <a:p/>
        </p:txBody>
      </p:sp>
      <p:sp>
        <p:nvSpPr>
          <p:cNvPr id="11" name="Text 9"/>
          <p:cNvSpPr txBox="1"/>
          <p:nvPr/>
        </p:nvSpPr>
        <p:spPr>
          <a:xfrm>
            <a:off x="685800" y="361188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2" name="Text 10"/>
          <p:cNvSpPr txBox="1"/>
          <p:nvPr/>
        </p:nvSpPr>
        <p:spPr>
          <a:xfrm>
            <a:off x="1371600" y="3538728"/>
            <a:ext cx="10180015" cy="640080"/>
          </a:xfrm>
          <a:prstGeom prst="rect">
            <a:avLst/>
          </a:prstGeom>
          <a:noFill/>
          <a:ln/>
        </p:spPr>
        <p:txBody>
          <a:bodyPr wrap="square" lIns="0" tIns="0" rIns="0" bIns="0" rtlCol="0" anchor="ctr"/>
          <a:lstStyle/>
          <a:p>
            <a:pPr indent="0" marL="0">
              <a:buNone/>
            </a:pPr>
            <a:r>
              <a:rPr lang="en-US" sz="1500" dirty="0">
                <a:solidFill>
                  <a:srgbClr val="26262F"/>
                </a:solidFill>
                <a:latin typeface="Calibri" pitchFamily="34" charset="0"/>
                <a:ea typeface="Calibri" pitchFamily="34" charset="-122"/>
                <a:cs typeface="Calibri" pitchFamily="34" charset="-120"/>
              </a:rPr>
              <a:t>async/await, and error handling with try...catch</a:t>
            </a:r>
            <a:endParaRPr lang="en-US" sz="1500" dirty="0"/>
          </a:p>
        </p:txBody>
      </p:sp>
      <p:sp>
        <p:nvSpPr>
          <p:cNvPr id="13" name="Shape 11"/>
          <p:cNvSpPr/>
          <p:nvPr/>
        </p:nvSpPr>
        <p:spPr>
          <a:xfrm>
            <a:off x="685800" y="4434840"/>
            <a:ext cx="457200" cy="457200"/>
          </a:xfrm>
          <a:prstGeom prst="ellipse">
            <a:avLst/>
          </a:prstGeom>
          <a:solidFill>
            <a:srgbClr val="FF8A3D"/>
          </a:solidFill>
          <a:ln/>
        </p:spPr>
        <p:txBody>
          <a:bodyPr/>
          <a:p/>
        </p:txBody>
      </p:sp>
      <p:sp>
        <p:nvSpPr>
          <p:cNvPr id="14" name="Text 12"/>
          <p:cNvSpPr txBox="1"/>
          <p:nvPr/>
        </p:nvSpPr>
        <p:spPr>
          <a:xfrm>
            <a:off x="685800" y="443484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15" name="Text 13"/>
          <p:cNvSpPr txBox="1"/>
          <p:nvPr/>
        </p:nvSpPr>
        <p:spPr>
          <a:xfrm>
            <a:off x="1371600" y="4361688"/>
            <a:ext cx="10180015" cy="640080"/>
          </a:xfrm>
          <a:prstGeom prst="rect">
            <a:avLst/>
          </a:prstGeom>
          <a:noFill/>
          <a:ln/>
        </p:spPr>
        <p:txBody>
          <a:bodyPr wrap="square" lIns="0" tIns="0" rIns="0" bIns="0" rtlCol="0" anchor="ctr"/>
          <a:lstStyle/>
          <a:p>
            <a:pPr indent="0" marL="0">
              <a:buNone/>
            </a:pPr>
            <a:r>
              <a:rPr lang="en-US" sz="1500" dirty="0">
                <a:solidFill>
                  <a:srgbClr val="26262F"/>
                </a:solidFill>
                <a:latin typeface="Calibri" pitchFamily="34" charset="0"/>
                <a:ea typeface="Calibri" pitchFamily="34" charset="-122"/>
                <a:cs typeface="Calibri" pitchFamily="34" charset="-120"/>
              </a:rPr>
              <a:t>Making real network requests with the Fetch API: GET/POST, headers, response parsing, and CORS</a:t>
            </a:r>
            <a:endParaRPr lang="en-US" sz="1500" dirty="0"/>
          </a:p>
        </p:txBody>
      </p:sp>
      <p:sp>
        <p:nvSpPr>
          <p:cNvPr id="18" name="cuinotes-footer-mark"/>
          <p:cNvSpPr txBox="1"/>
          <p:nvPr/>
        </p:nvSpPr>
        <p:spPr>
          <a:xfrm>
            <a:off x="9951720" y="6455664"/>
            <a:ext cx="2011680" cy="292608"/>
          </a:xfrm>
          <a:prstGeom prst="rect">
            <a:avLst/>
          </a:prstGeom>
          <a:noFill/>
        </p:spPr>
        <p:txBody>
          <a:bodyPr wrap="none" lIns="0" rIns="0" tIns="0" bIns="0">
            <a:spAutoFit/>
          </a:bodyPr>
          <a:lstStyle/>
          <a:p>
            <a:pPr algn="r"/>
            <a:r>
              <a:rPr sz="1000">
                <a:solidFill>
                  <a:srgbClr val="8A939B"/>
                </a:solidFill>
                <a:hlinkClick r:id="rId3"/>
              </a:rPr>
              <a:t>cuinotes.com</a:t>
            </a:r>
            <a:r>
              <a:rPr sz="1000">
                <a:solidFill>
                  <a:srgbClr val="8A939B"/>
                </a:solidFill>
              </a:rPr>
              <a:t>  ·  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10058400" cy="365760"/>
          </a:xfrm>
          <a:prstGeom prst="rect">
            <a:avLst/>
          </a:prstGeom>
          <a:noFill/>
          <a:ln/>
        </p:spPr>
        <p:txBody>
          <a:bodyPr wrap="square" lIns="0" tIns="0" rIns="0" bIns="0" rtlCol="0" anchor="ctr"/>
          <a:lstStyle/>
          <a:p>
            <a:pPr algn="l" indent="0" marL="0">
              <a:buNone/>
            </a:pPr>
            <a:r>
              <a:rPr lang="en-US" sz="1300" b="1" spc="300" kern="0" dirty="0">
                <a:solidFill>
                  <a:srgbClr val="FF8A3D"/>
                </a:solidFill>
                <a:latin typeface="Calibri" pitchFamily="34" charset="0"/>
                <a:ea typeface="Calibri" pitchFamily="34" charset="-122"/>
                <a:cs typeface="Calibri" pitchFamily="34" charset="-120"/>
              </a:rPr>
              <a:t>SYNCHRONOUS EXECUTION</a:t>
            </a:r>
            <a:endParaRPr lang="en-US" sz="1300" dirty="0"/>
          </a:p>
        </p:txBody>
      </p:sp>
      <p:sp>
        <p:nvSpPr>
          <p:cNvPr id="3" name="Text 1"/>
          <p:cNvSpPr txBox="1"/>
          <p:nvPr/>
        </p:nvSpPr>
        <p:spPr>
          <a:xfrm>
            <a:off x="640080" y="841248"/>
            <a:ext cx="10881360" cy="914400"/>
          </a:xfrm>
          <a:prstGeom prst="rect">
            <a:avLst/>
          </a:prstGeom>
          <a:noFill/>
          <a:ln/>
        </p:spPr>
        <p:txBody>
          <a:bodyPr wrap="square" lIns="0" tIns="0" rIns="0" bIns="0" rtlCol="0" anchor="ctr"/>
          <a:lstStyle/>
          <a:p>
            <a:pPr algn="l" indent="0" marL="0">
              <a:buNone/>
            </a:pPr>
            <a:r>
              <a:rPr lang="en-US" sz="3400" b="1" dirty="0">
                <a:solidFill>
                  <a:srgbClr val="2B2B7A"/>
                </a:solidFill>
                <a:latin typeface="Cambria" pitchFamily="34" charset="0"/>
                <a:ea typeface="Cambria" pitchFamily="34" charset="-122"/>
                <a:cs typeface="Cambria" pitchFamily="34" charset="-120"/>
              </a:rPr>
              <a:t>One Line at a Time</a:t>
            </a:r>
            <a:endParaRPr lang="en-US" sz="3400" dirty="0"/>
          </a:p>
        </p:txBody>
      </p:sp>
      <p:sp>
        <p:nvSpPr>
          <p:cNvPr id="4" name="Shape 2"/>
          <p:cNvSpPr/>
          <p:nvPr/>
        </p:nvSpPr>
        <p:spPr>
          <a:xfrm>
            <a:off x="640080" y="1965960"/>
            <a:ext cx="10911535" cy="1615440"/>
          </a:xfrm>
          <a:prstGeom prst="roundRect">
            <a:avLst>
              <a:gd name="adj" fmla="val 4528"/>
            </a:avLst>
          </a:prstGeom>
          <a:solidFill>
            <a:srgbClr val="F7F8F9"/>
          </a:solidFill>
          <a:ln w="9525">
            <a:solidFill>
              <a:srgbClr val="D0D5DD"/>
            </a:solidFill>
          </a:ln>
        </p:spPr>
        <p:txBody>
          <a:bodyPr/>
          <a:p/>
        </p:txBody>
      </p:sp>
      <p:sp>
        <p:nvSpPr>
          <p:cNvPr id="5" name="Text 3"/>
          <p:cNvSpPr txBox="1"/>
          <p:nvPr/>
        </p:nvSpPr>
        <p:spPr>
          <a:xfrm>
            <a:off x="960120" y="2194560"/>
            <a:ext cx="10271455" cy="1158240"/>
          </a:xfrm>
          <a:prstGeom prst="rect">
            <a:avLst/>
          </a:prstGeom>
          <a:noFill/>
          <a:ln/>
        </p:spPr>
        <p:txBody>
          <a:bodyPr wrap="square" lIns="0" tIns="0" rIns="0" bIns="0" rtlCol="0" anchor="t"/>
          <a:lstStyle/>
          <a:p>
            <a:pPr indent="0" marL="0">
              <a:lnSpc>
                <a:spcPct val="125000"/>
              </a:lnSpc>
              <a:buNone/>
            </a:pPr>
            <a:r>
              <a:rPr lang="en-US" sz="1400" dirty="0">
                <a:solidFill>
                  <a:srgbClr val="1F2429"/>
                </a:solidFill>
                <a:latin typeface="Courier New" pitchFamily="34" charset="0"/>
                <a:ea typeface="Courier New" pitchFamily="34" charset="-122"/>
                <a:cs typeface="Courier New" pitchFamily="34" charset="-120"/>
              </a:rPr>
              <a:t>console.log("1");</a:t>
            </a:r>
            <a:endParaRPr lang="en-US" sz="1400" dirty="0"/>
          </a:p>
          <a:p>
            <a:pPr indent="0" marL="0">
              <a:lnSpc>
                <a:spcPct val="125000"/>
              </a:lnSpc>
              <a:buNone/>
            </a:pPr>
            <a:r>
              <a:rPr lang="en-US" sz="1400" dirty="0">
                <a:solidFill>
                  <a:srgbClr val="1F2429"/>
                </a:solidFill>
                <a:latin typeface="Courier New" pitchFamily="34" charset="0"/>
                <a:ea typeface="Courier New" pitchFamily="34" charset="-122"/>
                <a:cs typeface="Courier New" pitchFamily="34" charset="-120"/>
              </a:rPr>
              <a:t>console.log("2");</a:t>
            </a:r>
            <a:endParaRPr lang="en-US" sz="1400" dirty="0"/>
          </a:p>
          <a:p>
            <a:pPr indent="0" marL="0">
              <a:lnSpc>
                <a:spcPct val="125000"/>
              </a:lnSpc>
              <a:buNone/>
            </a:pPr>
            <a:r>
              <a:rPr lang="en-US" sz="1400" dirty="0">
                <a:solidFill>
                  <a:srgbClr val="1F2429"/>
                </a:solidFill>
                <a:latin typeface="Courier New" pitchFamily="34" charset="0"/>
                <a:ea typeface="Courier New" pitchFamily="34" charset="-122"/>
                <a:cs typeface="Courier New" pitchFamily="34" charset="-120"/>
              </a:rPr>
              <a:t>console.log("3");</a:t>
            </a:r>
            <a:endParaRPr lang="en-US" sz="1400" dirty="0"/>
          </a:p>
          <a:p>
            <a:pPr indent="0" marL="0">
              <a:lnSpc>
                <a:spcPct val="125000"/>
              </a:lnSpc>
              <a:buNone/>
            </a:pPr>
            <a:r>
              <a:rPr lang="en-US" sz="1400" dirty="0">
                <a:solidFill>
                  <a:srgbClr val="1F2429"/>
                </a:solidFill>
                <a:latin typeface="Courier New" pitchFamily="34" charset="0"/>
                <a:ea typeface="Courier New" pitchFamily="34" charset="-122"/>
                <a:cs typeface="Courier New" pitchFamily="34" charset="-120"/>
              </a:rPr>
              <a:t>// Always prints: 1, 2, 3 -- in that exact order, with no gaps</a:t>
            </a:r>
            <a:endParaRPr lang="en-US" sz="1400" dirty="0"/>
          </a:p>
        </p:txBody>
      </p:sp>
      <p:sp>
        <p:nvSpPr>
          <p:cNvPr id="6" name="Text 4"/>
          <p:cNvSpPr txBox="1"/>
          <p:nvPr/>
        </p:nvSpPr>
        <p:spPr>
          <a:xfrm>
            <a:off x="640080" y="3810000"/>
            <a:ext cx="10911535" cy="2453640"/>
          </a:xfrm>
          <a:prstGeom prst="rect">
            <a:avLst/>
          </a:prstGeom>
          <a:noFill/>
          <a:ln/>
        </p:spPr>
        <p:txBody>
          <a:bodyPr wrap="square" lIns="0" tIns="0" rIns="0" bIns="0" rtlCol="0" anchor="t"/>
          <a:lstStyle/>
          <a:p>
            <a:pPr indent="0" marL="0">
              <a:buNone/>
            </a:pPr>
            <a:r>
              <a:rPr lang="en-US" sz="1300" dirty="0">
                <a:solidFill>
                  <a:srgbClr val="26262F"/>
                </a:solidFill>
                <a:latin typeface="Calibri" pitchFamily="34" charset="0"/>
                <a:ea typeface="Calibri" pitchFamily="34" charset="-122"/>
                <a:cs typeface="Calibri" pitchFamily="34" charset="-120"/>
              </a:rPr>
              <a:t>Each instruction must finish before the next one starts. This is how almost all the code you've written so far behaves.</a:t>
            </a:r>
            <a:endParaRPr lang="en-US" sz="1300" dirty="0"/>
          </a:p>
        </p:txBody>
      </p:sp>
      <p:sp>
        <p:nvSpPr>
          <p:cNvPr id="9" name="cuinotes-footer-mark"/>
          <p:cNvSpPr txBox="1"/>
          <p:nvPr/>
        </p:nvSpPr>
        <p:spPr>
          <a:xfrm>
            <a:off x="9951720" y="6455664"/>
            <a:ext cx="2011680" cy="292608"/>
          </a:xfrm>
          <a:prstGeom prst="rect">
            <a:avLst/>
          </a:prstGeom>
          <a:noFill/>
        </p:spPr>
        <p:txBody>
          <a:bodyPr wrap="none" lIns="0" rIns="0" tIns="0" bIns="0">
            <a:spAutoFit/>
          </a:bodyPr>
          <a:lstStyle/>
          <a:p>
            <a:pPr algn="r"/>
            <a:r>
              <a:rPr sz="1000">
                <a:solidFill>
                  <a:srgbClr val="8A939B"/>
                </a:solidFill>
                <a:hlinkClick r:id="rId3"/>
              </a:rPr>
              <a:t>cuinotes.com</a:t>
            </a:r>
            <a:r>
              <a:rPr sz="1000">
                <a:solidFill>
                  <a:srgbClr val="8A939B"/>
                </a:solidFill>
              </a:rPr>
              <a:t>  ·  3</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10058400" cy="365760"/>
          </a:xfrm>
          <a:prstGeom prst="rect">
            <a:avLst/>
          </a:prstGeom>
          <a:noFill/>
          <a:ln/>
        </p:spPr>
        <p:txBody>
          <a:bodyPr wrap="square" lIns="0" tIns="0" rIns="0" bIns="0" rtlCol="0" anchor="ctr"/>
          <a:lstStyle/>
          <a:p>
            <a:pPr algn="l" indent="0" marL="0">
              <a:buNone/>
            </a:pPr>
            <a:r>
              <a:rPr lang="en-US" sz="1300" b="1" spc="300" kern="0" dirty="0">
                <a:solidFill>
                  <a:srgbClr val="FF8A3D"/>
                </a:solidFill>
                <a:latin typeface="Calibri" pitchFamily="34" charset="0"/>
                <a:ea typeface="Calibri" pitchFamily="34" charset="-122"/>
                <a:cs typeface="Calibri" pitchFamily="34" charset="-120"/>
              </a:rPr>
              <a:t>ASYNCHRONOUS EXECUTION</a:t>
            </a:r>
            <a:endParaRPr lang="en-US" sz="1300" dirty="0"/>
          </a:p>
        </p:txBody>
      </p:sp>
      <p:sp>
        <p:nvSpPr>
          <p:cNvPr id="3" name="Text 1"/>
          <p:cNvSpPr txBox="1"/>
          <p:nvPr/>
        </p:nvSpPr>
        <p:spPr>
          <a:xfrm>
            <a:off x="640080" y="841248"/>
            <a:ext cx="10881360" cy="914400"/>
          </a:xfrm>
          <a:prstGeom prst="rect">
            <a:avLst/>
          </a:prstGeom>
          <a:noFill/>
          <a:ln/>
        </p:spPr>
        <p:txBody>
          <a:bodyPr wrap="square" lIns="0" tIns="0" rIns="0" bIns="0" rtlCol="0" anchor="ctr"/>
          <a:lstStyle/>
          <a:p>
            <a:pPr algn="l" indent="0" marL="0">
              <a:buNone/>
            </a:pPr>
            <a:r>
              <a:rPr lang="en-US" sz="3400" b="1" dirty="0">
                <a:solidFill>
                  <a:srgbClr val="2B2B7A"/>
                </a:solidFill>
                <a:latin typeface="Cambria" pitchFamily="34" charset="0"/>
                <a:ea typeface="Cambria" pitchFamily="34" charset="-122"/>
                <a:cs typeface="Cambria" pitchFamily="34" charset="-120"/>
              </a:rPr>
              <a:t>Some Things Happen "Later"</a:t>
            </a:r>
            <a:endParaRPr lang="en-US" sz="3400" dirty="0"/>
          </a:p>
        </p:txBody>
      </p:sp>
      <p:sp>
        <p:nvSpPr>
          <p:cNvPr id="4" name="Shape 2"/>
          <p:cNvSpPr/>
          <p:nvPr/>
        </p:nvSpPr>
        <p:spPr>
          <a:xfrm>
            <a:off x="640080" y="1965960"/>
            <a:ext cx="10911535" cy="1615440"/>
          </a:xfrm>
          <a:prstGeom prst="roundRect">
            <a:avLst>
              <a:gd name="adj" fmla="val 4528"/>
            </a:avLst>
          </a:prstGeom>
          <a:solidFill>
            <a:srgbClr val="F7F8F9"/>
          </a:solidFill>
          <a:ln w="9525">
            <a:solidFill>
              <a:srgbClr val="D0D5DD"/>
            </a:solidFill>
          </a:ln>
        </p:spPr>
        <p:txBody>
          <a:bodyPr/>
          <a:p/>
        </p:txBody>
      </p:sp>
      <p:sp>
        <p:nvSpPr>
          <p:cNvPr id="5" name="Text 3"/>
          <p:cNvSpPr txBox="1"/>
          <p:nvPr/>
        </p:nvSpPr>
        <p:spPr>
          <a:xfrm>
            <a:off x="960120" y="2194560"/>
            <a:ext cx="10271455" cy="1158240"/>
          </a:xfrm>
          <a:prstGeom prst="rect">
            <a:avLst/>
          </a:prstGeom>
          <a:noFill/>
          <a:ln/>
        </p:spPr>
        <p:txBody>
          <a:bodyPr wrap="square" lIns="0" tIns="0" rIns="0" bIns="0" rtlCol="0" anchor="t"/>
          <a:lstStyle/>
          <a:p>
            <a:pPr indent="0" marL="0">
              <a:lnSpc>
                <a:spcPct val="125000"/>
              </a:lnSpc>
              <a:buNone/>
            </a:pPr>
            <a:r>
              <a:rPr lang="en-US" sz="1400" dirty="0">
                <a:solidFill>
                  <a:srgbClr val="1F2429"/>
                </a:solidFill>
                <a:latin typeface="Courier New" pitchFamily="34" charset="0"/>
                <a:ea typeface="Courier New" pitchFamily="34" charset="-122"/>
                <a:cs typeface="Courier New" pitchFamily="34" charset="-120"/>
              </a:rPr>
              <a:t>console.log("1");</a:t>
            </a:r>
            <a:endParaRPr lang="en-US" sz="1400" dirty="0"/>
          </a:p>
          <a:p>
            <a:pPr indent="0" marL="0">
              <a:lnSpc>
                <a:spcPct val="125000"/>
              </a:lnSpc>
              <a:buNone/>
            </a:pPr>
            <a:r>
              <a:rPr lang="en-US" sz="1400" dirty="0">
                <a:solidFill>
                  <a:srgbClr val="1F2429"/>
                </a:solidFill>
                <a:latin typeface="Courier New" pitchFamily="34" charset="0"/>
                <a:ea typeface="Courier New" pitchFamily="34" charset="-122"/>
                <a:cs typeface="Courier New" pitchFamily="34" charset="-120"/>
              </a:rPr>
              <a:t>setTimeout(() =&gt; console.log("2"), 1000); // scheduled, doesn't block</a:t>
            </a:r>
            <a:endParaRPr lang="en-US" sz="1400" dirty="0"/>
          </a:p>
          <a:p>
            <a:pPr indent="0" marL="0">
              <a:lnSpc>
                <a:spcPct val="125000"/>
              </a:lnSpc>
              <a:buNone/>
            </a:pPr>
            <a:r>
              <a:rPr lang="en-US" sz="1400" dirty="0">
                <a:solidFill>
                  <a:srgbClr val="1F2429"/>
                </a:solidFill>
                <a:latin typeface="Courier New" pitchFamily="34" charset="0"/>
                <a:ea typeface="Courier New" pitchFamily="34" charset="-122"/>
                <a:cs typeface="Courier New" pitchFamily="34" charset="-120"/>
              </a:rPr>
              <a:t>console.log("3");</a:t>
            </a:r>
            <a:endParaRPr lang="en-US" sz="1400" dirty="0"/>
          </a:p>
          <a:p>
            <a:pPr indent="0" marL="0">
              <a:lnSpc>
                <a:spcPct val="125000"/>
              </a:lnSpc>
              <a:buNone/>
            </a:pPr>
            <a:r>
              <a:rPr lang="en-US" sz="1400" dirty="0">
                <a:solidFill>
                  <a:srgbClr val="1F2429"/>
                </a:solidFill>
                <a:latin typeface="Courier New" pitchFamily="34" charset="0"/>
                <a:ea typeface="Courier New" pitchFamily="34" charset="-122"/>
                <a:cs typeface="Courier New" pitchFamily="34" charset="-120"/>
              </a:rPr>
              <a:t>// Prints: 1, 3, 2 -- "2" appears about a second later!</a:t>
            </a:r>
            <a:endParaRPr lang="en-US" sz="1400" dirty="0"/>
          </a:p>
        </p:txBody>
      </p:sp>
      <p:sp>
        <p:nvSpPr>
          <p:cNvPr id="6" name="Text 4"/>
          <p:cNvSpPr txBox="1"/>
          <p:nvPr/>
        </p:nvSpPr>
        <p:spPr>
          <a:xfrm>
            <a:off x="640080" y="3810000"/>
            <a:ext cx="10911535" cy="2453640"/>
          </a:xfrm>
          <a:prstGeom prst="rect">
            <a:avLst/>
          </a:prstGeom>
          <a:noFill/>
          <a:ln/>
        </p:spPr>
        <p:txBody>
          <a:bodyPr wrap="square" lIns="0" tIns="0" rIns="0" bIns="0" rtlCol="0" anchor="t"/>
          <a:lstStyle/>
          <a:p>
            <a:pPr indent="0" marL="0">
              <a:buNone/>
            </a:pPr>
            <a:r>
              <a:rPr lang="en-US" sz="1300" dirty="0">
                <a:solidFill>
                  <a:srgbClr val="26262F"/>
                </a:solidFill>
                <a:latin typeface="Calibri" pitchFamily="34" charset="0"/>
                <a:ea typeface="Calibri" pitchFamily="34" charset="-122"/>
                <a:cs typeface="Calibri" pitchFamily="34" charset="-120"/>
              </a:rPr>
              <a:t>JavaScript starts the operation, moves on immediately, and comes back to handle the result once it's ready.</a:t>
            </a:r>
            <a:endParaRPr lang="en-US" sz="1300" dirty="0"/>
          </a:p>
        </p:txBody>
      </p:sp>
      <p:sp>
        <p:nvSpPr>
          <p:cNvPr id="9" name="cuinotes-footer-mark"/>
          <p:cNvSpPr txBox="1"/>
          <p:nvPr/>
        </p:nvSpPr>
        <p:spPr>
          <a:xfrm>
            <a:off x="9951720" y="6455664"/>
            <a:ext cx="2011680" cy="292608"/>
          </a:xfrm>
          <a:prstGeom prst="rect">
            <a:avLst/>
          </a:prstGeom>
          <a:noFill/>
        </p:spPr>
        <p:txBody>
          <a:bodyPr wrap="none" lIns="0" rIns="0" tIns="0" bIns="0">
            <a:spAutoFit/>
          </a:bodyPr>
          <a:lstStyle/>
          <a:p>
            <a:pPr algn="r"/>
            <a:r>
              <a:rPr sz="1000">
                <a:solidFill>
                  <a:srgbClr val="8A939B"/>
                </a:solidFill>
                <a:hlinkClick r:id="rId3"/>
              </a:rPr>
              <a:t>cuinotes.com</a:t>
            </a:r>
            <a:r>
              <a:rPr sz="1000">
                <a:solidFill>
                  <a:srgbClr val="8A939B"/>
                </a:solidFill>
              </a:rPr>
              <a:t>  ·  4</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10058400" cy="365760"/>
          </a:xfrm>
          <a:prstGeom prst="rect">
            <a:avLst/>
          </a:prstGeom>
          <a:noFill/>
          <a:ln/>
        </p:spPr>
        <p:txBody>
          <a:bodyPr wrap="square" lIns="0" tIns="0" rIns="0" bIns="0" rtlCol="0" anchor="ctr"/>
          <a:lstStyle/>
          <a:p>
            <a:pPr algn="l" indent="0" marL="0">
              <a:buNone/>
            </a:pPr>
            <a:r>
              <a:rPr lang="en-US" sz="1300" b="1" spc="300" kern="0" dirty="0">
                <a:solidFill>
                  <a:srgbClr val="FF8A3D"/>
                </a:solidFill>
                <a:latin typeface="Calibri" pitchFamily="34" charset="0"/>
                <a:ea typeface="Calibri" pitchFamily="34" charset="-122"/>
                <a:cs typeface="Calibri" pitchFamily="34" charset="-120"/>
              </a:rPr>
              <a:t>ASYNCHRONOUS EXECUTION</a:t>
            </a:r>
            <a:endParaRPr lang="en-US" sz="1300" dirty="0"/>
          </a:p>
        </p:txBody>
      </p:sp>
      <p:sp>
        <p:nvSpPr>
          <p:cNvPr id="3" name="Text 1"/>
          <p:cNvSpPr txBox="1"/>
          <p:nvPr/>
        </p:nvSpPr>
        <p:spPr>
          <a:xfrm>
            <a:off x="640080" y="841248"/>
            <a:ext cx="10881360" cy="914400"/>
          </a:xfrm>
          <a:prstGeom prst="rect">
            <a:avLst/>
          </a:prstGeom>
          <a:noFill/>
          <a:ln/>
        </p:spPr>
        <p:txBody>
          <a:bodyPr wrap="square" lIns="0" tIns="0" rIns="0" bIns="0" rtlCol="0" anchor="ctr"/>
          <a:lstStyle/>
          <a:p>
            <a:pPr algn="l" indent="0" marL="0">
              <a:buNone/>
            </a:pPr>
            <a:r>
              <a:rPr lang="en-US" sz="3400" b="1" dirty="0">
                <a:solidFill>
                  <a:srgbClr val="2B2B7A"/>
                </a:solidFill>
                <a:latin typeface="Cambria" pitchFamily="34" charset="0"/>
                <a:ea typeface="Cambria" pitchFamily="34" charset="-122"/>
                <a:cs typeface="Cambria" pitchFamily="34" charset="-120"/>
              </a:rPr>
              <a:t>The Exact Code, Live</a:t>
            </a:r>
            <a:endParaRPr lang="en-US" sz="3400" dirty="0"/>
          </a:p>
        </p:txBody>
      </p:sp>
      <p:sp>
        <p:nvSpPr>
          <p:cNvPr id="4" name="Shape 2"/>
          <p:cNvSpPr/>
          <p:nvPr/>
        </p:nvSpPr>
        <p:spPr>
          <a:xfrm>
            <a:off x="640080" y="3368040"/>
            <a:ext cx="5272888" cy="1539240"/>
          </a:xfrm>
          <a:prstGeom prst="roundRect">
            <a:avLst>
              <a:gd name="adj" fmla="val 4752"/>
            </a:avLst>
          </a:prstGeom>
          <a:solidFill>
            <a:srgbClr val="F7F8F9"/>
          </a:solidFill>
          <a:ln w="9525">
            <a:solidFill>
              <a:srgbClr val="D0D5DD"/>
            </a:solidFill>
          </a:ln>
        </p:spPr>
        <p:txBody>
          <a:bodyPr/>
          <a:p/>
        </p:txBody>
      </p:sp>
      <p:sp>
        <p:nvSpPr>
          <p:cNvPr id="5" name="Text 3"/>
          <p:cNvSpPr txBox="1"/>
          <p:nvPr/>
        </p:nvSpPr>
        <p:spPr>
          <a:xfrm>
            <a:off x="960120" y="3596640"/>
            <a:ext cx="4632808" cy="1082040"/>
          </a:xfrm>
          <a:prstGeom prst="rect">
            <a:avLst/>
          </a:prstGeom>
          <a:noFill/>
          <a:ln/>
        </p:spPr>
        <p:txBody>
          <a:bodyPr wrap="square" lIns="0" tIns="0" rIns="0" bIns="0" rtlCol="0" anchor="t"/>
          <a:lstStyle/>
          <a:p>
            <a:pPr indent="0" marL="0">
              <a:lnSpc>
                <a:spcPct val="125000"/>
              </a:lnSpc>
              <a:buNone/>
            </a:pPr>
            <a:r>
              <a:rPr lang="en-US" sz="1300" dirty="0">
                <a:solidFill>
                  <a:srgbClr val="1F2429"/>
                </a:solidFill>
                <a:latin typeface="Courier New" pitchFamily="34" charset="0"/>
                <a:ea typeface="Courier New" pitchFamily="34" charset="-122"/>
                <a:cs typeface="Courier New" pitchFamily="34" charset="-120"/>
              </a:rPr>
              <a:t>console.log("1");</a:t>
            </a:r>
            <a:endParaRPr lang="en-US" sz="1300" dirty="0"/>
          </a:p>
          <a:p>
            <a:pPr indent="0" marL="0">
              <a:lnSpc>
                <a:spcPct val="125000"/>
              </a:lnSpc>
              <a:buNone/>
            </a:pPr>
            <a:r>
              <a:rPr lang="en-US" sz="1300" dirty="0">
                <a:solidFill>
                  <a:srgbClr val="1F2429"/>
                </a:solidFill>
                <a:latin typeface="Courier New" pitchFamily="34" charset="0"/>
                <a:ea typeface="Courier New" pitchFamily="34" charset="-122"/>
                <a:cs typeface="Courier New" pitchFamily="34" charset="-120"/>
              </a:rPr>
              <a:t>setTimeout(() =&gt;</a:t>
            </a:r>
            <a:endParaRPr lang="en-US" sz="1300" dirty="0"/>
          </a:p>
          <a:p>
            <a:pPr indent="0" marL="0">
              <a:lnSpc>
                <a:spcPct val="125000"/>
              </a:lnSpc>
              <a:buNone/>
            </a:pPr>
            <a:r>
              <a:rPr lang="en-US" sz="1300" dirty="0">
                <a:solidFill>
                  <a:srgbClr val="1F2429"/>
                </a:solidFill>
                <a:latin typeface="Courier New" pitchFamily="34" charset="0"/>
                <a:ea typeface="Courier New" pitchFamily="34" charset="-122"/>
                <a:cs typeface="Courier New" pitchFamily="34" charset="-120"/>
              </a:rPr>
              <a:t>  console.log("2"), 150);</a:t>
            </a:r>
            <a:endParaRPr lang="en-US" sz="1300" dirty="0"/>
          </a:p>
          <a:p>
            <a:pPr indent="0" marL="0">
              <a:lnSpc>
                <a:spcPct val="125000"/>
              </a:lnSpc>
              <a:buNone/>
            </a:pPr>
            <a:r>
              <a:rPr lang="en-US" sz="1300" dirty="0">
                <a:solidFill>
                  <a:srgbClr val="1F2429"/>
                </a:solidFill>
                <a:latin typeface="Courier New" pitchFamily="34" charset="0"/>
                <a:ea typeface="Courier New" pitchFamily="34" charset="-122"/>
                <a:cs typeface="Courier New" pitchFamily="34" charset="-120"/>
              </a:rPr>
              <a:t>console.log("3");</a:t>
            </a:r>
            <a:endParaRPr lang="en-US" sz="1300" dirty="0"/>
          </a:p>
        </p:txBody>
      </p:sp>
      <p:sp>
        <p:nvSpPr>
          <p:cNvPr id="6" name="Shape 4"/>
          <p:cNvSpPr/>
          <p:nvPr/>
        </p:nvSpPr>
        <p:spPr>
          <a:xfrm>
            <a:off x="6169000" y="1947672"/>
            <a:ext cx="5492344" cy="4379976"/>
          </a:xfrm>
          <a:prstGeom prst="roundRect">
            <a:avLst>
              <a:gd name="adj" fmla="val 1253"/>
            </a:avLst>
          </a:prstGeom>
          <a:solidFill>
            <a:srgbClr val="FFFFFF"/>
          </a:solidFill>
          <a:ln w="12700">
            <a:solidFill>
              <a:srgbClr val="E2E2EE"/>
            </a:solidFill>
            <a:prstDash val="solid"/>
          </a:ln>
          <a:effectLst>
            <a:outerShdw sx="100000" sy="100000" kx="0" ky="0" algn="bl" rotWithShape="0" blurRad="101600" dist="38100" dir="5400000">
              <a:srgbClr val="000000">
                <a:alpha val="12000"/>
              </a:srgbClr>
            </a:outerShdw>
          </a:effectLst>
        </p:spPr>
        <p:txBody>
          <a:bodyPr/>
          <a:p/>
        </p:txBody>
      </p:sp>
      <p:pic>
        <p:nvPicPr>
          <p:cNvPr id="7" name="Image 0" descr="D:/GitHub/mern-web-book/docs/assets/img/lecture-15/sync-vs-async-live.png">    </p:cNvPr>
          <p:cNvPicPr>
            <a:picLocks noChangeAspect="1"/>
          </p:cNvPicPr>
          <p:nvPr/>
        </p:nvPicPr>
        <p:blipFill>
          <a:blip r:embed="rId1"/>
          <a:stretch>
            <a:fillRect/>
          </a:stretch>
        </p:blipFill>
        <p:spPr>
          <a:xfrm>
            <a:off x="6278728" y="3618876"/>
            <a:ext cx="5272888" cy="1037568"/>
          </a:xfrm>
          <a:prstGeom prst="rect">
            <a:avLst/>
          </a:prstGeom>
        </p:spPr>
      </p:pic>
      <p:sp>
        <p:nvSpPr>
          <p:cNvPr id="10" name="cuinotes-footer-mark"/>
          <p:cNvSpPr txBox="1"/>
          <p:nvPr/>
        </p:nvSpPr>
        <p:spPr>
          <a:xfrm>
            <a:off x="9951720" y="6455664"/>
            <a:ext cx="2011680" cy="292608"/>
          </a:xfrm>
          <a:prstGeom prst="rect">
            <a:avLst/>
          </a:prstGeom>
          <a:noFill/>
        </p:spPr>
        <p:txBody>
          <a:bodyPr wrap="none" lIns="0" rIns="0" tIns="0" bIns="0">
            <a:spAutoFit/>
          </a:bodyPr>
          <a:lstStyle/>
          <a:p>
            <a:pPr algn="r"/>
            <a:r>
              <a:rPr sz="1000">
                <a:solidFill>
                  <a:srgbClr val="8A939B"/>
                </a:solidFill>
                <a:hlinkClick r:id="rId4"/>
              </a:rPr>
              <a:t>cuinotes.com</a:t>
            </a:r>
            <a:r>
              <a:rPr sz="1000">
                <a:solidFill>
                  <a:srgbClr val="8A939B"/>
                </a:solidFill>
              </a:rPr>
              <a:t>  ·  5</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10058400" cy="365760"/>
          </a:xfrm>
          <a:prstGeom prst="rect">
            <a:avLst/>
          </a:prstGeom>
          <a:noFill/>
          <a:ln/>
        </p:spPr>
        <p:txBody>
          <a:bodyPr wrap="square" lIns="0" tIns="0" rIns="0" bIns="0" rtlCol="0" anchor="ctr"/>
          <a:lstStyle/>
          <a:p>
            <a:pPr algn="l" indent="0" marL="0">
              <a:buNone/>
            </a:pPr>
            <a:r>
              <a:rPr lang="en-US" sz="1300" b="1" spc="300" kern="0" dirty="0">
                <a:solidFill>
                  <a:srgbClr val="FF8A3D"/>
                </a:solidFill>
                <a:latin typeface="Calibri" pitchFamily="34" charset="0"/>
                <a:ea typeface="Calibri" pitchFamily="34" charset="-122"/>
                <a:cs typeface="Calibri" pitchFamily="34" charset="-120"/>
              </a:rPr>
              <a:t>WHY THIS MATTERS</a:t>
            </a:r>
            <a:endParaRPr lang="en-US" sz="1300" dirty="0"/>
          </a:p>
        </p:txBody>
      </p:sp>
      <p:sp>
        <p:nvSpPr>
          <p:cNvPr id="3" name="Text 1"/>
          <p:cNvSpPr txBox="1"/>
          <p:nvPr/>
        </p:nvSpPr>
        <p:spPr>
          <a:xfrm>
            <a:off x="640080" y="841248"/>
            <a:ext cx="10881360" cy="914400"/>
          </a:xfrm>
          <a:prstGeom prst="rect">
            <a:avLst/>
          </a:prstGeom>
          <a:noFill/>
          <a:ln/>
        </p:spPr>
        <p:txBody>
          <a:bodyPr wrap="square" lIns="0" tIns="0" rIns="0" bIns="0" rtlCol="0" anchor="ctr"/>
          <a:lstStyle/>
          <a:p>
            <a:pPr algn="l" indent="0" marL="0">
              <a:buNone/>
            </a:pPr>
            <a:r>
              <a:rPr lang="en-US" sz="3400" b="1" dirty="0">
                <a:solidFill>
                  <a:srgbClr val="2B2B7A"/>
                </a:solidFill>
                <a:latin typeface="Cambria" pitchFamily="34" charset="0"/>
                <a:ea typeface="Cambria" pitchFamily="34" charset="-122"/>
                <a:cs typeface="Cambria" pitchFamily="34" charset="-120"/>
              </a:rPr>
              <a:t>JavaScript Is Single-Threaded</a:t>
            </a:r>
            <a:endParaRPr lang="en-US" sz="3400" dirty="0"/>
          </a:p>
        </p:txBody>
      </p:sp>
      <p:sp>
        <p:nvSpPr>
          <p:cNvPr id="4" name="Shape 2"/>
          <p:cNvSpPr/>
          <p:nvPr/>
        </p:nvSpPr>
        <p:spPr>
          <a:xfrm>
            <a:off x="685800" y="1965960"/>
            <a:ext cx="457200" cy="457200"/>
          </a:xfrm>
          <a:prstGeom prst="ellipse">
            <a:avLst/>
          </a:prstGeom>
          <a:solidFill>
            <a:srgbClr val="FF8A3D"/>
          </a:solidFill>
          <a:ln/>
        </p:spPr>
        <p:txBody>
          <a:bodyPr/>
          <a:p/>
        </p:txBody>
      </p:sp>
      <p:sp>
        <p:nvSpPr>
          <p:cNvPr id="5" name="Text 3"/>
          <p:cNvSpPr txBox="1"/>
          <p:nvPr/>
        </p:nvSpPr>
        <p:spPr>
          <a:xfrm>
            <a:off x="685800" y="196596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6" name="Text 4"/>
          <p:cNvSpPr txBox="1"/>
          <p:nvPr/>
        </p:nvSpPr>
        <p:spPr>
          <a:xfrm>
            <a:off x="1371600" y="1892808"/>
            <a:ext cx="10180015" cy="640080"/>
          </a:xfrm>
          <a:prstGeom prst="rect">
            <a:avLst/>
          </a:prstGeom>
          <a:noFill/>
          <a:ln/>
        </p:spPr>
        <p:txBody>
          <a:bodyPr wrap="square" lIns="0" tIns="0" rIns="0" bIns="0" rtlCol="0" anchor="ctr"/>
          <a:lstStyle/>
          <a:p>
            <a:pPr indent="0" marL="0">
              <a:buNone/>
            </a:pPr>
            <a:r>
              <a:rPr lang="en-US" sz="1500" dirty="0">
                <a:solidFill>
                  <a:srgbClr val="26262F"/>
                </a:solidFill>
                <a:latin typeface="Calibri" pitchFamily="34" charset="0"/>
                <a:ea typeface="Calibri" pitchFamily="34" charset="-122"/>
                <a:cs typeface="Calibri" pitchFamily="34" charset="-120"/>
              </a:rPr>
              <a:t>The browser can only do one thing at a time on that one thread</a:t>
            </a:r>
            <a:endParaRPr lang="en-US" sz="1500" dirty="0"/>
          </a:p>
        </p:txBody>
      </p:sp>
      <p:sp>
        <p:nvSpPr>
          <p:cNvPr id="7" name="Shape 5"/>
          <p:cNvSpPr/>
          <p:nvPr/>
        </p:nvSpPr>
        <p:spPr>
          <a:xfrm>
            <a:off x="685800" y="2788920"/>
            <a:ext cx="457200" cy="457200"/>
          </a:xfrm>
          <a:prstGeom prst="ellipse">
            <a:avLst/>
          </a:prstGeom>
          <a:solidFill>
            <a:srgbClr val="FF8A3D"/>
          </a:solidFill>
          <a:ln/>
        </p:spPr>
        <p:txBody>
          <a:bodyPr/>
          <a:p/>
        </p:txBody>
      </p:sp>
      <p:sp>
        <p:nvSpPr>
          <p:cNvPr id="8" name="Text 6"/>
          <p:cNvSpPr txBox="1"/>
          <p:nvPr/>
        </p:nvSpPr>
        <p:spPr>
          <a:xfrm>
            <a:off x="685800" y="278892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9" name="Text 7"/>
          <p:cNvSpPr txBox="1"/>
          <p:nvPr/>
        </p:nvSpPr>
        <p:spPr>
          <a:xfrm>
            <a:off x="1371600" y="2715768"/>
            <a:ext cx="10180015" cy="640080"/>
          </a:xfrm>
          <a:prstGeom prst="rect">
            <a:avLst/>
          </a:prstGeom>
          <a:noFill/>
          <a:ln/>
        </p:spPr>
        <p:txBody>
          <a:bodyPr wrap="square" lIns="0" tIns="0" rIns="0" bIns="0" rtlCol="0" anchor="ctr"/>
          <a:lstStyle/>
          <a:p>
            <a:pPr indent="0" marL="0">
              <a:buNone/>
            </a:pPr>
            <a:r>
              <a:rPr lang="en-US" sz="1500" dirty="0">
                <a:solidFill>
                  <a:srgbClr val="26262F"/>
                </a:solidFill>
                <a:latin typeface="Calibri" pitchFamily="34" charset="0"/>
                <a:ea typeface="Calibri" pitchFamily="34" charset="-122"/>
                <a:cs typeface="Calibri" pitchFamily="34" charset="-120"/>
              </a:rPr>
              <a:t>A blocking operation would freeze buttons, scrolling, and animations until it finished</a:t>
            </a:r>
            <a:endParaRPr lang="en-US" sz="1500" dirty="0"/>
          </a:p>
        </p:txBody>
      </p:sp>
      <p:sp>
        <p:nvSpPr>
          <p:cNvPr id="10" name="Shape 8"/>
          <p:cNvSpPr/>
          <p:nvPr/>
        </p:nvSpPr>
        <p:spPr>
          <a:xfrm>
            <a:off x="685800" y="3611880"/>
            <a:ext cx="457200" cy="457200"/>
          </a:xfrm>
          <a:prstGeom prst="ellipse">
            <a:avLst/>
          </a:prstGeom>
          <a:solidFill>
            <a:srgbClr val="FF8A3D"/>
          </a:solidFill>
          <a:ln/>
        </p:spPr>
        <p:txBody>
          <a:bodyPr/>
          <a:p/>
        </p:txBody>
      </p:sp>
      <p:sp>
        <p:nvSpPr>
          <p:cNvPr id="11" name="Text 9"/>
          <p:cNvSpPr txBox="1"/>
          <p:nvPr/>
        </p:nvSpPr>
        <p:spPr>
          <a:xfrm>
            <a:off x="685800" y="361188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2" name="Text 10"/>
          <p:cNvSpPr txBox="1"/>
          <p:nvPr/>
        </p:nvSpPr>
        <p:spPr>
          <a:xfrm>
            <a:off x="1371600" y="3538728"/>
            <a:ext cx="10180015" cy="640080"/>
          </a:xfrm>
          <a:prstGeom prst="rect">
            <a:avLst/>
          </a:prstGeom>
          <a:noFill/>
          <a:ln/>
        </p:spPr>
        <p:txBody>
          <a:bodyPr wrap="square" lIns="0" tIns="0" rIns="0" bIns="0" rtlCol="0" anchor="ctr"/>
          <a:lstStyle/>
          <a:p>
            <a:pPr indent="0" marL="0">
              <a:buNone/>
            </a:pPr>
            <a:r>
              <a:rPr lang="en-US" sz="1500" dirty="0">
                <a:solidFill>
                  <a:srgbClr val="26262F"/>
                </a:solidFill>
                <a:latin typeface="Calibri" pitchFamily="34" charset="0"/>
                <a:ea typeface="Calibri" pitchFamily="34" charset="-122"/>
                <a:cs typeface="Calibri" pitchFamily="34" charset="-120"/>
              </a:rPr>
              <a:t>Timers, network requests, and file reads are handed off so the thread stays free to keep the page responsive</a:t>
            </a:r>
            <a:endParaRPr lang="en-US" sz="1500" dirty="0"/>
          </a:p>
        </p:txBody>
      </p:sp>
      <p:sp>
        <p:nvSpPr>
          <p:cNvPr id="15" name="cuinotes-footer-mark"/>
          <p:cNvSpPr txBox="1"/>
          <p:nvPr/>
        </p:nvSpPr>
        <p:spPr>
          <a:xfrm>
            <a:off x="9951720" y="6455664"/>
            <a:ext cx="2011680" cy="292608"/>
          </a:xfrm>
          <a:prstGeom prst="rect">
            <a:avLst/>
          </a:prstGeom>
          <a:noFill/>
        </p:spPr>
        <p:txBody>
          <a:bodyPr wrap="none" lIns="0" rIns="0" tIns="0" bIns="0">
            <a:spAutoFit/>
          </a:bodyPr>
          <a:lstStyle/>
          <a:p>
            <a:pPr algn="r"/>
            <a:r>
              <a:rPr sz="1000">
                <a:solidFill>
                  <a:srgbClr val="8A939B"/>
                </a:solidFill>
                <a:hlinkClick r:id="rId3"/>
              </a:rPr>
              <a:t>cuinotes.com</a:t>
            </a:r>
            <a:r>
              <a:rPr sz="1000">
                <a:solidFill>
                  <a:srgbClr val="8A939B"/>
                </a:solidFill>
              </a:rPr>
              <a:t>  ·  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10058400" cy="365760"/>
          </a:xfrm>
          <a:prstGeom prst="rect">
            <a:avLst/>
          </a:prstGeom>
          <a:noFill/>
          <a:ln/>
        </p:spPr>
        <p:txBody>
          <a:bodyPr wrap="square" lIns="0" tIns="0" rIns="0" bIns="0" rtlCol="0" anchor="ctr"/>
          <a:lstStyle/>
          <a:p>
            <a:pPr algn="l" indent="0" marL="0">
              <a:buNone/>
            </a:pPr>
            <a:r>
              <a:rPr lang="en-US" sz="1300" b="1" spc="300" kern="0" dirty="0">
                <a:solidFill>
                  <a:srgbClr val="FF8A3D"/>
                </a:solidFill>
                <a:latin typeface="Calibri" pitchFamily="34" charset="0"/>
                <a:ea typeface="Calibri" pitchFamily="34" charset="-122"/>
                <a:cs typeface="Calibri" pitchFamily="34" charset="-120"/>
              </a:rPr>
              <a:t>THE EVENT LOOP</a:t>
            </a:r>
            <a:endParaRPr lang="en-US" sz="1300" dirty="0"/>
          </a:p>
        </p:txBody>
      </p:sp>
      <p:sp>
        <p:nvSpPr>
          <p:cNvPr id="3" name="Text 1"/>
          <p:cNvSpPr txBox="1"/>
          <p:nvPr/>
        </p:nvSpPr>
        <p:spPr>
          <a:xfrm>
            <a:off x="640080" y="841248"/>
            <a:ext cx="10881360" cy="914400"/>
          </a:xfrm>
          <a:prstGeom prst="rect">
            <a:avLst/>
          </a:prstGeom>
          <a:noFill/>
          <a:ln/>
        </p:spPr>
        <p:txBody>
          <a:bodyPr wrap="square" lIns="0" tIns="0" rIns="0" bIns="0" rtlCol="0" anchor="ctr"/>
          <a:lstStyle/>
          <a:p>
            <a:pPr algn="l" indent="0" marL="0">
              <a:buNone/>
            </a:pPr>
            <a:r>
              <a:rPr lang="en-US" sz="3400" b="1" dirty="0">
                <a:solidFill>
                  <a:srgbClr val="2B2B7A"/>
                </a:solidFill>
                <a:latin typeface="Cambria" pitchFamily="34" charset="0"/>
                <a:ea typeface="Cambria" pitchFamily="34" charset="-122"/>
                <a:cs typeface="Cambria" pitchFamily="34" charset="-120"/>
              </a:rPr>
              <a:t>How setTimeout(fn, 1000) Actually Runs</a:t>
            </a:r>
            <a:endParaRPr lang="en-US" sz="3400" dirty="0"/>
          </a:p>
        </p:txBody>
      </p:sp>
      <p:sp>
        <p:nvSpPr>
          <p:cNvPr id="4" name="Shape 2"/>
          <p:cNvSpPr/>
          <p:nvPr/>
        </p:nvSpPr>
        <p:spPr>
          <a:xfrm>
            <a:off x="640080" y="2514600"/>
            <a:ext cx="1779971" cy="1371600"/>
          </a:xfrm>
          <a:prstGeom prst="roundRect">
            <a:avLst>
              <a:gd name="adj" fmla="val 5333"/>
            </a:avLst>
          </a:prstGeom>
          <a:solidFill>
            <a:srgbClr val="2B2B7A"/>
          </a:solidFill>
          <a:ln/>
        </p:spPr>
        <p:txBody>
          <a:bodyPr/>
          <a:p/>
        </p:txBody>
      </p:sp>
      <p:sp>
        <p:nvSpPr>
          <p:cNvPr id="5" name="Text 3"/>
          <p:cNvSpPr txBox="1"/>
          <p:nvPr/>
        </p:nvSpPr>
        <p:spPr>
          <a:xfrm>
            <a:off x="731520" y="2624328"/>
            <a:ext cx="1597091" cy="1152144"/>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console.log("1")</a:t>
            </a:r>
            <a:endParaRPr lang="en-US" sz="1250" dirty="0"/>
          </a:p>
          <a:p>
            <a:pPr algn="ctr" indent="0" marL="0">
              <a:buNone/>
            </a:pPr>
            <a:r>
              <a:rPr lang="en-US" sz="1250" b="1" dirty="0">
                <a:solidFill>
                  <a:srgbClr val="FFFFFF"/>
                </a:solidFill>
                <a:latin typeface="Calibri" pitchFamily="34" charset="0"/>
                <a:ea typeface="Calibri" pitchFamily="34" charset="-122"/>
                <a:cs typeface="Calibri" pitchFamily="34" charset="-120"/>
              </a:rPr>
              <a:t>runs on the</a:t>
            </a:r>
            <a:endParaRPr lang="en-US" sz="1250" dirty="0"/>
          </a:p>
          <a:p>
            <a:pPr algn="ctr" indent="0" marL="0">
              <a:buNone/>
            </a:pPr>
            <a:r>
              <a:rPr lang="en-US" sz="1250" b="1" dirty="0">
                <a:solidFill>
                  <a:srgbClr val="FFFFFF"/>
                </a:solidFill>
                <a:latin typeface="Calibri" pitchFamily="34" charset="0"/>
                <a:ea typeface="Calibri" pitchFamily="34" charset="-122"/>
                <a:cs typeface="Calibri" pitchFamily="34" charset="-120"/>
              </a:rPr>
              <a:t>call stack</a:t>
            </a:r>
            <a:endParaRPr lang="en-US" sz="1250" dirty="0"/>
          </a:p>
        </p:txBody>
      </p:sp>
      <p:sp>
        <p:nvSpPr>
          <p:cNvPr id="6" name="Shape 4"/>
          <p:cNvSpPr/>
          <p:nvPr/>
        </p:nvSpPr>
        <p:spPr>
          <a:xfrm>
            <a:off x="2420051" y="3200400"/>
            <a:ext cx="502920" cy="0"/>
          </a:xfrm>
          <a:prstGeom prst="line">
            <a:avLst/>
          </a:prstGeom>
          <a:noFill/>
          <a:ln w="25400">
            <a:solidFill>
              <a:srgbClr val="5D5D72"/>
            </a:solidFill>
            <a:prstDash val="solid"/>
            <a:tailEnd type="triangle"/>
          </a:ln>
        </p:spPr>
        <p:txBody>
          <a:bodyPr/>
          <a:p/>
        </p:txBody>
      </p:sp>
      <p:sp>
        <p:nvSpPr>
          <p:cNvPr id="7" name="Shape 5"/>
          <p:cNvSpPr/>
          <p:nvPr/>
        </p:nvSpPr>
        <p:spPr>
          <a:xfrm>
            <a:off x="2922971" y="2514600"/>
            <a:ext cx="1779971" cy="1371600"/>
          </a:xfrm>
          <a:prstGeom prst="roundRect">
            <a:avLst>
              <a:gd name="adj" fmla="val 5333"/>
            </a:avLst>
          </a:prstGeom>
          <a:solidFill>
            <a:srgbClr val="2B2B7A"/>
          </a:solidFill>
          <a:ln/>
        </p:spPr>
        <p:txBody>
          <a:bodyPr/>
          <a:p/>
        </p:txBody>
      </p:sp>
      <p:sp>
        <p:nvSpPr>
          <p:cNvPr id="8" name="Text 6"/>
          <p:cNvSpPr txBox="1"/>
          <p:nvPr/>
        </p:nvSpPr>
        <p:spPr>
          <a:xfrm>
            <a:off x="3014411" y="2624328"/>
            <a:ext cx="1597091" cy="1152144"/>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setTimeout</a:t>
            </a:r>
            <a:endParaRPr lang="en-US" sz="1250" dirty="0"/>
          </a:p>
          <a:p>
            <a:pPr algn="ctr" indent="0" marL="0">
              <a:buNone/>
            </a:pPr>
            <a:r>
              <a:rPr lang="en-US" sz="1250" b="1" dirty="0">
                <a:solidFill>
                  <a:srgbClr val="FFFFFF"/>
                </a:solidFill>
                <a:latin typeface="Calibri" pitchFamily="34" charset="0"/>
                <a:ea typeface="Calibri" pitchFamily="34" charset="-122"/>
                <a:cs typeface="Calibri" pitchFamily="34" charset="-120"/>
              </a:rPr>
              <a:t>handed off to the</a:t>
            </a:r>
            <a:endParaRPr lang="en-US" sz="1250" dirty="0"/>
          </a:p>
          <a:p>
            <a:pPr algn="ctr" indent="0" marL="0">
              <a:buNone/>
            </a:pPr>
            <a:r>
              <a:rPr lang="en-US" sz="1250" b="1" dirty="0">
                <a:solidFill>
                  <a:srgbClr val="FFFFFF"/>
                </a:solidFill>
                <a:latin typeface="Calibri" pitchFamily="34" charset="0"/>
                <a:ea typeface="Calibri" pitchFamily="34" charset="-122"/>
                <a:cs typeface="Calibri" pitchFamily="34" charset="-120"/>
              </a:rPr>
              <a:t>Browser / Web APIs</a:t>
            </a:r>
            <a:endParaRPr lang="en-US" sz="1250" dirty="0"/>
          </a:p>
        </p:txBody>
      </p:sp>
      <p:sp>
        <p:nvSpPr>
          <p:cNvPr id="9" name="Shape 7"/>
          <p:cNvSpPr/>
          <p:nvPr/>
        </p:nvSpPr>
        <p:spPr>
          <a:xfrm>
            <a:off x="4702942" y="3200400"/>
            <a:ext cx="502920" cy="0"/>
          </a:xfrm>
          <a:prstGeom prst="line">
            <a:avLst/>
          </a:prstGeom>
          <a:noFill/>
          <a:ln w="25400">
            <a:solidFill>
              <a:srgbClr val="5D5D72"/>
            </a:solidFill>
            <a:prstDash val="solid"/>
            <a:tailEnd type="triangle"/>
          </a:ln>
        </p:spPr>
        <p:txBody>
          <a:bodyPr/>
          <a:p/>
        </p:txBody>
      </p:sp>
      <p:sp>
        <p:nvSpPr>
          <p:cNvPr id="10" name="Shape 8"/>
          <p:cNvSpPr/>
          <p:nvPr/>
        </p:nvSpPr>
        <p:spPr>
          <a:xfrm>
            <a:off x="5205862" y="2514600"/>
            <a:ext cx="1779971" cy="1371600"/>
          </a:xfrm>
          <a:prstGeom prst="roundRect">
            <a:avLst>
              <a:gd name="adj" fmla="val 5333"/>
            </a:avLst>
          </a:prstGeom>
          <a:solidFill>
            <a:srgbClr val="2B2B7A"/>
          </a:solidFill>
          <a:ln/>
        </p:spPr>
        <p:txBody>
          <a:bodyPr/>
          <a:p/>
        </p:txBody>
      </p:sp>
      <p:sp>
        <p:nvSpPr>
          <p:cNvPr id="11" name="Text 9"/>
          <p:cNvSpPr txBox="1"/>
          <p:nvPr/>
        </p:nvSpPr>
        <p:spPr>
          <a:xfrm>
            <a:off x="5297302" y="2624328"/>
            <a:ext cx="1597091" cy="1152144"/>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console.log("3")</a:t>
            </a:r>
            <a:endParaRPr lang="en-US" sz="1250" dirty="0"/>
          </a:p>
          <a:p>
            <a:pPr algn="ctr" indent="0" marL="0">
              <a:buNone/>
            </a:pPr>
            <a:r>
              <a:rPr lang="en-US" sz="1250" b="1" dirty="0">
                <a:solidFill>
                  <a:srgbClr val="FFFFFF"/>
                </a:solidFill>
                <a:latin typeface="Calibri" pitchFamily="34" charset="0"/>
                <a:ea typeface="Calibri" pitchFamily="34" charset="-122"/>
                <a:cs typeface="Calibri" pitchFamily="34" charset="-120"/>
              </a:rPr>
              <a:t>runs -- stack</a:t>
            </a:r>
            <a:endParaRPr lang="en-US" sz="1250" dirty="0"/>
          </a:p>
          <a:p>
            <a:pPr algn="ctr" indent="0" marL="0">
              <a:buNone/>
            </a:pPr>
            <a:r>
              <a:rPr lang="en-US" sz="1250" b="1" dirty="0">
                <a:solidFill>
                  <a:srgbClr val="FFFFFF"/>
                </a:solidFill>
                <a:latin typeface="Calibri" pitchFamily="34" charset="0"/>
                <a:ea typeface="Calibri" pitchFamily="34" charset="-122"/>
                <a:cs typeface="Calibri" pitchFamily="34" charset="-120"/>
              </a:rPr>
              <a:t>is now empty</a:t>
            </a:r>
            <a:endParaRPr lang="en-US" sz="1250" dirty="0"/>
          </a:p>
        </p:txBody>
      </p:sp>
      <p:sp>
        <p:nvSpPr>
          <p:cNvPr id="12" name="Shape 10"/>
          <p:cNvSpPr/>
          <p:nvPr/>
        </p:nvSpPr>
        <p:spPr>
          <a:xfrm>
            <a:off x="6985833" y="3200400"/>
            <a:ext cx="502920" cy="0"/>
          </a:xfrm>
          <a:prstGeom prst="line">
            <a:avLst/>
          </a:prstGeom>
          <a:noFill/>
          <a:ln w="25400">
            <a:solidFill>
              <a:srgbClr val="5D5D72"/>
            </a:solidFill>
            <a:prstDash val="solid"/>
            <a:tailEnd type="triangle"/>
          </a:ln>
        </p:spPr>
        <p:txBody>
          <a:bodyPr/>
          <a:p/>
        </p:txBody>
      </p:sp>
      <p:sp>
        <p:nvSpPr>
          <p:cNvPr id="13" name="Shape 11"/>
          <p:cNvSpPr/>
          <p:nvPr/>
        </p:nvSpPr>
        <p:spPr>
          <a:xfrm>
            <a:off x="7488753" y="2514600"/>
            <a:ext cx="1779971" cy="1371600"/>
          </a:xfrm>
          <a:prstGeom prst="roundRect">
            <a:avLst>
              <a:gd name="adj" fmla="val 5333"/>
            </a:avLst>
          </a:prstGeom>
          <a:solidFill>
            <a:srgbClr val="2B2B7A"/>
          </a:solidFill>
          <a:ln/>
        </p:spPr>
        <p:txBody>
          <a:bodyPr/>
          <a:p/>
        </p:txBody>
      </p:sp>
      <p:sp>
        <p:nvSpPr>
          <p:cNvPr id="14" name="Text 12"/>
          <p:cNvSpPr txBox="1"/>
          <p:nvPr/>
        </p:nvSpPr>
        <p:spPr>
          <a:xfrm>
            <a:off x="7580193" y="2624328"/>
            <a:ext cx="1597091" cy="1152144"/>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After 1000ms, the</a:t>
            </a:r>
            <a:endParaRPr lang="en-US" sz="1250" dirty="0"/>
          </a:p>
          <a:p>
            <a:pPr algn="ctr" indent="0" marL="0">
              <a:buNone/>
            </a:pPr>
            <a:r>
              <a:rPr lang="en-US" sz="1250" b="1" dirty="0">
                <a:solidFill>
                  <a:srgbClr val="FFFFFF"/>
                </a:solidFill>
                <a:latin typeface="Calibri" pitchFamily="34" charset="0"/>
                <a:ea typeface="Calibri" pitchFamily="34" charset="-122"/>
                <a:cs typeface="Calibri" pitchFamily="34" charset="-120"/>
              </a:rPr>
              <a:t>callback is placed</a:t>
            </a:r>
            <a:endParaRPr lang="en-US" sz="1250" dirty="0"/>
          </a:p>
          <a:p>
            <a:pPr algn="ctr" indent="0" marL="0">
              <a:buNone/>
            </a:pPr>
            <a:r>
              <a:rPr lang="en-US" sz="1250" b="1" dirty="0">
                <a:solidFill>
                  <a:srgbClr val="FFFFFF"/>
                </a:solidFill>
                <a:latin typeface="Calibri" pitchFamily="34" charset="0"/>
                <a:ea typeface="Calibri" pitchFamily="34" charset="-122"/>
                <a:cs typeface="Calibri" pitchFamily="34" charset="-120"/>
              </a:rPr>
              <a:t>in the task queue</a:t>
            </a:r>
            <a:endParaRPr lang="en-US" sz="1250" dirty="0"/>
          </a:p>
        </p:txBody>
      </p:sp>
      <p:sp>
        <p:nvSpPr>
          <p:cNvPr id="15" name="Shape 13"/>
          <p:cNvSpPr/>
          <p:nvPr/>
        </p:nvSpPr>
        <p:spPr>
          <a:xfrm>
            <a:off x="9268724" y="3200400"/>
            <a:ext cx="502920" cy="0"/>
          </a:xfrm>
          <a:prstGeom prst="line">
            <a:avLst/>
          </a:prstGeom>
          <a:noFill/>
          <a:ln w="25400">
            <a:solidFill>
              <a:srgbClr val="5D5D72"/>
            </a:solidFill>
            <a:prstDash val="solid"/>
            <a:tailEnd type="triangle"/>
          </a:ln>
        </p:spPr>
        <p:txBody>
          <a:bodyPr/>
          <a:p/>
        </p:txBody>
      </p:sp>
      <p:sp>
        <p:nvSpPr>
          <p:cNvPr id="16" name="Shape 14"/>
          <p:cNvSpPr/>
          <p:nvPr/>
        </p:nvSpPr>
        <p:spPr>
          <a:xfrm>
            <a:off x="9771644" y="2514600"/>
            <a:ext cx="1779971" cy="1371600"/>
          </a:xfrm>
          <a:prstGeom prst="roundRect">
            <a:avLst>
              <a:gd name="adj" fmla="val 5333"/>
            </a:avLst>
          </a:prstGeom>
          <a:solidFill>
            <a:srgbClr val="E67528"/>
          </a:solidFill>
          <a:ln/>
        </p:spPr>
        <p:txBody>
          <a:bodyPr/>
          <a:p/>
        </p:txBody>
      </p:sp>
      <p:sp>
        <p:nvSpPr>
          <p:cNvPr id="17" name="Text 15"/>
          <p:cNvSpPr txBox="1"/>
          <p:nvPr/>
        </p:nvSpPr>
        <p:spPr>
          <a:xfrm>
            <a:off x="9863084" y="2624328"/>
            <a:ext cx="1597091" cy="1152144"/>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Event loop moves it</a:t>
            </a:r>
            <a:endParaRPr lang="en-US" sz="1250" dirty="0"/>
          </a:p>
          <a:p>
            <a:pPr algn="ctr" indent="0" marL="0">
              <a:buNone/>
            </a:pPr>
            <a:r>
              <a:rPr lang="en-US" sz="1250" b="1" dirty="0">
                <a:solidFill>
                  <a:srgbClr val="FFFFFF"/>
                </a:solidFill>
                <a:latin typeface="Calibri" pitchFamily="34" charset="0"/>
                <a:ea typeface="Calibri" pitchFamily="34" charset="-122"/>
                <a:cs typeface="Calibri" pitchFamily="34" charset="-120"/>
              </a:rPr>
              <a:t>to the stack --</a:t>
            </a:r>
            <a:endParaRPr lang="en-US" sz="1250" dirty="0"/>
          </a:p>
          <a:p>
            <a:pPr algn="ctr" indent="0" marL="0">
              <a:buNone/>
            </a:pPr>
            <a:r>
              <a:rPr lang="en-US" sz="1250" b="1" dirty="0">
                <a:solidFill>
                  <a:srgbClr val="FFFFFF"/>
                </a:solidFill>
                <a:latin typeface="Calibri" pitchFamily="34" charset="0"/>
                <a:ea typeface="Calibri" pitchFamily="34" charset="-122"/>
                <a:cs typeface="Calibri" pitchFamily="34" charset="-120"/>
              </a:rPr>
              <a:t>logs "2"</a:t>
            </a:r>
            <a:endParaRPr lang="en-US" sz="1250" dirty="0"/>
          </a:p>
        </p:txBody>
      </p:sp>
      <p:sp>
        <p:nvSpPr>
          <p:cNvPr id="18" name="Text 16"/>
          <p:cNvSpPr txBox="1"/>
          <p:nvPr/>
        </p:nvSpPr>
        <p:spPr>
          <a:xfrm>
            <a:off x="640080" y="4343400"/>
            <a:ext cx="10911535" cy="1371600"/>
          </a:xfrm>
          <a:prstGeom prst="rect">
            <a:avLst/>
          </a:prstGeom>
          <a:noFill/>
          <a:ln/>
        </p:spPr>
        <p:txBody>
          <a:bodyPr wrap="square" lIns="0" tIns="0" rIns="0" bIns="0" rtlCol="0" anchor="t"/>
          <a:lstStyle/>
          <a:p>
            <a:pPr indent="0" marL="0">
              <a:buNone/>
            </a:pPr>
            <a:r>
              <a:rPr lang="en-US" sz="1300" dirty="0">
                <a:solidFill>
                  <a:srgbClr val="26262F"/>
                </a:solidFill>
                <a:latin typeface="Calibri" pitchFamily="34" charset="0"/>
                <a:ea typeface="Calibri" pitchFamily="34" charset="-122"/>
                <a:cs typeface="Calibri" pitchFamily="34" charset="-120"/>
              </a:rPr>
              <a:t>The event loop constantly checks: is the call stack empty? If yes, it takes the next item from the queue and runs it.</a:t>
            </a:r>
            <a:endParaRPr lang="en-US" sz="1300" dirty="0"/>
          </a:p>
        </p:txBody>
      </p:sp>
      <p:sp>
        <p:nvSpPr>
          <p:cNvPr id="21" name="cuinotes-footer-mark"/>
          <p:cNvSpPr txBox="1"/>
          <p:nvPr/>
        </p:nvSpPr>
        <p:spPr>
          <a:xfrm>
            <a:off x="9951720" y="6455664"/>
            <a:ext cx="2011680" cy="292608"/>
          </a:xfrm>
          <a:prstGeom prst="rect">
            <a:avLst/>
          </a:prstGeom>
          <a:noFill/>
        </p:spPr>
        <p:txBody>
          <a:bodyPr wrap="none" lIns="0" rIns="0" tIns="0" bIns="0">
            <a:spAutoFit/>
          </a:bodyPr>
          <a:lstStyle/>
          <a:p>
            <a:pPr algn="r"/>
            <a:r>
              <a:rPr sz="1000">
                <a:solidFill>
                  <a:srgbClr val="8A939B"/>
                </a:solidFill>
                <a:hlinkClick r:id="rId3"/>
              </a:rPr>
              <a:t>cuinotes.com</a:t>
            </a:r>
            <a:r>
              <a:rPr sz="1000">
                <a:solidFill>
                  <a:srgbClr val="8A939B"/>
                </a:solidFill>
              </a:rPr>
              <a:t>  ·  8</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10058400" cy="365760"/>
          </a:xfrm>
          <a:prstGeom prst="rect">
            <a:avLst/>
          </a:prstGeom>
          <a:noFill/>
          <a:ln/>
        </p:spPr>
        <p:txBody>
          <a:bodyPr wrap="square" lIns="0" tIns="0" rIns="0" bIns="0" rtlCol="0" anchor="ctr"/>
          <a:lstStyle/>
          <a:p>
            <a:pPr algn="l" indent="0" marL="0">
              <a:buNone/>
            </a:pPr>
            <a:r>
              <a:rPr lang="en-US" sz="1300" b="1" spc="300" kern="0" dirty="0">
                <a:solidFill>
                  <a:srgbClr val="FF8A3D"/>
                </a:solidFill>
                <a:latin typeface="Calibri" pitchFamily="34" charset="0"/>
                <a:ea typeface="Calibri" pitchFamily="34" charset="-122"/>
                <a:cs typeface="Calibri" pitchFamily="34" charset="-120"/>
              </a:rPr>
              <a:t>THE EVENT LOOP</a:t>
            </a:r>
            <a:endParaRPr lang="en-US" sz="1300" dirty="0"/>
          </a:p>
        </p:txBody>
      </p:sp>
      <p:sp>
        <p:nvSpPr>
          <p:cNvPr id="3" name="Text 1"/>
          <p:cNvSpPr txBox="1"/>
          <p:nvPr/>
        </p:nvSpPr>
        <p:spPr>
          <a:xfrm>
            <a:off x="640080" y="841248"/>
            <a:ext cx="10881360" cy="914400"/>
          </a:xfrm>
          <a:prstGeom prst="rect">
            <a:avLst/>
          </a:prstGeom>
          <a:noFill/>
          <a:ln/>
        </p:spPr>
        <p:txBody>
          <a:bodyPr wrap="square" lIns="0" tIns="0" rIns="0" bIns="0" rtlCol="0" anchor="ctr"/>
          <a:lstStyle/>
          <a:p>
            <a:pPr algn="l" indent="0" marL="0">
              <a:buNone/>
            </a:pPr>
            <a:r>
              <a:rPr lang="en-US" sz="3400" b="1" dirty="0">
                <a:solidFill>
                  <a:srgbClr val="2B2B7A"/>
                </a:solidFill>
                <a:latin typeface="Cambria" pitchFamily="34" charset="0"/>
                <a:ea typeface="Cambria" pitchFamily="34" charset="-122"/>
                <a:cs typeface="Cambria" pitchFamily="34" charset="-120"/>
              </a:rPr>
              <a:t>Microtasks Run Before Macrotasks</a:t>
            </a:r>
            <a:endParaRPr lang="en-US" sz="3400" dirty="0"/>
          </a:p>
        </p:txBody>
      </p:sp>
      <p:sp>
        <p:nvSpPr>
          <p:cNvPr id="4" name="Shape 2"/>
          <p:cNvSpPr/>
          <p:nvPr/>
        </p:nvSpPr>
        <p:spPr>
          <a:xfrm>
            <a:off x="640080" y="1965960"/>
            <a:ext cx="10911535" cy="3657600"/>
          </a:xfrm>
          <a:prstGeom prst="roundRect">
            <a:avLst>
              <a:gd name="adj" fmla="val 3158"/>
            </a:avLst>
          </a:prstGeom>
          <a:solidFill>
            <a:srgbClr val="E9EDFB"/>
          </a:solidFill>
          <a:ln w="12700">
            <a:solidFill>
              <a:srgbClr val="6C7FD6"/>
            </a:solidFill>
            <a:prstDash val="solid"/>
          </a:ln>
        </p:spPr>
        <p:txBody>
          <a:bodyPr/>
          <a:p/>
        </p:txBody>
      </p:sp>
      <p:sp>
        <p:nvSpPr>
          <p:cNvPr id="5" name="Text 3"/>
          <p:cNvSpPr txBox="1"/>
          <p:nvPr/>
        </p:nvSpPr>
        <p:spPr>
          <a:xfrm>
            <a:off x="868680" y="2103120"/>
            <a:ext cx="10454335" cy="400000"/>
          </a:xfrm>
          <a:prstGeom prst="rect">
            <a:avLst/>
          </a:prstGeom>
          <a:noFill/>
          <a:ln/>
        </p:spPr>
        <p:txBody>
          <a:bodyPr wrap="square" lIns="0" tIns="0" rIns="0" bIns="0" rtlCol="0" anchor="ctr"/>
          <a:lstStyle/>
          <a:p>
            <a:pPr indent="0" marL="0">
              <a:buNone/>
            </a:pPr>
            <a:r>
              <a:rPr lang="en-US" sz="1800" b="1" spc="200" kern="0" dirty="0">
                <a:solidFill>
                  <a:srgbClr val="33459E"/>
                </a:solidFill>
                <a:latin typeface="Calibri" pitchFamily="34" charset="0"/>
                <a:ea typeface="Calibri" pitchFamily="34" charset="-122"/>
                <a:cs typeface="Calibri" pitchFamily="34" charset="-120"/>
              </a:rPr>
              <a:t>NOTE</a:t>
            </a:r>
            <a:endParaRPr lang="en-US" sz="1800" dirty="0"/>
          </a:p>
        </p:txBody>
      </p:sp>
      <p:sp>
        <p:nvSpPr>
          <p:cNvPr id="6" name="Text 4"/>
          <p:cNvSpPr txBox="1"/>
          <p:nvPr/>
        </p:nvSpPr>
        <p:spPr>
          <a:xfrm>
            <a:off x="868680" y="2795960"/>
            <a:ext cx="10454335" cy="2800000"/>
          </a:xfrm>
          <a:prstGeom prst="rect">
            <a:avLst/>
          </a:prstGeom>
          <a:noFill/>
          <a:ln/>
        </p:spPr>
        <p:txBody>
          <a:bodyPr wrap="square" lIns="0" tIns="0" rIns="0" bIns="0" rtlCol="0" anchor="ctr"/>
          <a:lstStyle/>
          <a:p>
            <a:pPr indent="0" marL="0">
              <a:buNone/>
            </a:pPr>
            <a:r>
              <a:rPr lang="en-US" sz="2800" dirty="0">
                <a:solidFill>
                  <a:srgbClr val="26262F"/>
                </a:solidFill>
                <a:latin typeface="Calibri" pitchFamily="34" charset="0"/>
                <a:ea typeface="Calibri" pitchFamily="34" charset="-122"/>
                <a:cs typeface="Calibri" pitchFamily="34" charset="-120"/>
              </a:rPr>
              <a:t>Promise callbacks (.then, async/await) go into a special microtask queue that the event loop always empties completely before it looks at the regular task queue (where setTimeout callbacks live). This is why Promise.resolve().then(...) scheduled after setTimeout(..., 0) usually still runs first.</a:t>
            </a:r>
            <a:endParaRPr lang="en-US" sz="2800" dirty="0"/>
          </a:p>
        </p:txBody>
      </p:sp>
      <p:sp>
        <p:nvSpPr>
          <p:cNvPr id="9" name="cuinotes-footer-mark"/>
          <p:cNvSpPr txBox="1"/>
          <p:nvPr/>
        </p:nvSpPr>
        <p:spPr>
          <a:xfrm>
            <a:off x="9951720" y="6455664"/>
            <a:ext cx="2011680" cy="292608"/>
          </a:xfrm>
          <a:prstGeom prst="rect">
            <a:avLst/>
          </a:prstGeom>
          <a:noFill/>
        </p:spPr>
        <p:txBody>
          <a:bodyPr wrap="none" lIns="0" rIns="0" tIns="0" bIns="0">
            <a:spAutoFit/>
          </a:bodyPr>
          <a:lstStyle/>
          <a:p>
            <a:pPr algn="r"/>
            <a:r>
              <a:rPr sz="1000">
                <a:solidFill>
                  <a:srgbClr val="8A939B"/>
                </a:solidFill>
                <a:hlinkClick r:id="rId3"/>
              </a:rPr>
              <a:t>cuinotes.com</a:t>
            </a:r>
            <a:r>
              <a:rPr sz="1000">
                <a:solidFill>
                  <a:srgbClr val="8A939B"/>
                </a:solidFill>
              </a:rPr>
              <a:t>  ·  9</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10058400" cy="365760"/>
          </a:xfrm>
          <a:prstGeom prst="rect">
            <a:avLst/>
          </a:prstGeom>
          <a:noFill/>
          <a:ln/>
        </p:spPr>
        <p:txBody>
          <a:bodyPr wrap="square" lIns="0" tIns="0" rIns="0" bIns="0" rtlCol="0" anchor="ctr"/>
          <a:lstStyle/>
          <a:p>
            <a:pPr algn="l" indent="0" marL="0">
              <a:buNone/>
            </a:pPr>
            <a:r>
              <a:rPr lang="en-US" sz="1300" b="1" spc="300" kern="0" dirty="0">
                <a:solidFill>
                  <a:srgbClr val="FF8A3D"/>
                </a:solidFill>
                <a:latin typeface="Calibri" pitchFamily="34" charset="0"/>
                <a:ea typeface="Calibri" pitchFamily="34" charset="-122"/>
                <a:cs typeface="Calibri" pitchFamily="34" charset="-120"/>
              </a:rPr>
              <a:t>BEFORE PROMISES</a:t>
            </a:r>
            <a:endParaRPr lang="en-US" sz="1300" dirty="0"/>
          </a:p>
        </p:txBody>
      </p:sp>
      <p:sp>
        <p:nvSpPr>
          <p:cNvPr id="3" name="Text 1"/>
          <p:cNvSpPr txBox="1"/>
          <p:nvPr/>
        </p:nvSpPr>
        <p:spPr>
          <a:xfrm>
            <a:off x="640080" y="841248"/>
            <a:ext cx="10881360" cy="914400"/>
          </a:xfrm>
          <a:prstGeom prst="rect">
            <a:avLst/>
          </a:prstGeom>
          <a:noFill/>
          <a:ln/>
        </p:spPr>
        <p:txBody>
          <a:bodyPr wrap="square" lIns="0" tIns="0" rIns="0" bIns="0" rtlCol="0" anchor="ctr"/>
          <a:lstStyle/>
          <a:p>
            <a:pPr algn="l" indent="0" marL="0">
              <a:buNone/>
            </a:pPr>
            <a:r>
              <a:rPr lang="en-US" sz="3400" b="1" dirty="0">
                <a:solidFill>
                  <a:srgbClr val="2B2B7A"/>
                </a:solidFill>
                <a:latin typeface="Cambria" pitchFamily="34" charset="0"/>
                <a:ea typeface="Cambria" pitchFamily="34" charset="-122"/>
                <a:cs typeface="Cambria" pitchFamily="34" charset="-120"/>
              </a:rPr>
              <a:t>Callback Hell</a:t>
            </a:r>
            <a:endParaRPr lang="en-US" sz="3400" dirty="0"/>
          </a:p>
        </p:txBody>
      </p:sp>
      <p:sp>
        <p:nvSpPr>
          <p:cNvPr id="4" name="Shape 2"/>
          <p:cNvSpPr/>
          <p:nvPr/>
        </p:nvSpPr>
        <p:spPr>
          <a:xfrm>
            <a:off x="685800" y="1965960"/>
            <a:ext cx="457200" cy="457200"/>
          </a:xfrm>
          <a:prstGeom prst="ellipse">
            <a:avLst/>
          </a:prstGeom>
          <a:solidFill>
            <a:srgbClr val="FF8A3D"/>
          </a:solidFill>
          <a:ln/>
        </p:spPr>
        <p:txBody>
          <a:bodyPr/>
          <a:p/>
        </p:txBody>
      </p:sp>
      <p:sp>
        <p:nvSpPr>
          <p:cNvPr id="5" name="Text 3"/>
          <p:cNvSpPr txBox="1"/>
          <p:nvPr/>
        </p:nvSpPr>
        <p:spPr>
          <a:xfrm>
            <a:off x="685800" y="196596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6" name="Text 4"/>
          <p:cNvSpPr txBox="1"/>
          <p:nvPr/>
        </p:nvSpPr>
        <p:spPr>
          <a:xfrm>
            <a:off x="1371600" y="1892808"/>
            <a:ext cx="10180015" cy="640080"/>
          </a:xfrm>
          <a:prstGeom prst="rect">
            <a:avLst/>
          </a:prstGeom>
          <a:noFill/>
          <a:ln/>
        </p:spPr>
        <p:txBody>
          <a:bodyPr wrap="square" lIns="0" tIns="0" rIns="0" bIns="0" rtlCol="0" anchor="ctr"/>
          <a:lstStyle/>
          <a:p>
            <a:pPr indent="0" marL="0">
              <a:buNone/>
            </a:pPr>
            <a:r>
              <a:rPr lang="en-US" sz="1500" dirty="0">
                <a:solidFill>
                  <a:srgbClr val="26262F"/>
                </a:solidFill>
                <a:latin typeface="Calibri" pitchFamily="34" charset="0"/>
                <a:ea typeface="Calibri" pitchFamily="34" charset="-122"/>
                <a:cs typeface="Calibri" pitchFamily="34" charset="-120"/>
              </a:rPr>
              <a:t>Before Promises existed, async code was handled with callbacks -- functions passed in to be called later</a:t>
            </a:r>
            <a:endParaRPr lang="en-US" sz="1500" dirty="0"/>
          </a:p>
        </p:txBody>
      </p:sp>
      <p:sp>
        <p:nvSpPr>
          <p:cNvPr id="7" name="Shape 5"/>
          <p:cNvSpPr/>
          <p:nvPr/>
        </p:nvSpPr>
        <p:spPr>
          <a:xfrm>
            <a:off x="685800" y="2788920"/>
            <a:ext cx="457200" cy="457200"/>
          </a:xfrm>
          <a:prstGeom prst="ellipse">
            <a:avLst/>
          </a:prstGeom>
          <a:solidFill>
            <a:srgbClr val="FF8A3D"/>
          </a:solidFill>
          <a:ln/>
        </p:spPr>
        <p:txBody>
          <a:bodyPr/>
          <a:p/>
        </p:txBody>
      </p:sp>
      <p:sp>
        <p:nvSpPr>
          <p:cNvPr id="8" name="Text 6"/>
          <p:cNvSpPr txBox="1"/>
          <p:nvPr/>
        </p:nvSpPr>
        <p:spPr>
          <a:xfrm>
            <a:off x="685800" y="278892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9" name="Text 7"/>
          <p:cNvSpPr txBox="1"/>
          <p:nvPr/>
        </p:nvSpPr>
        <p:spPr>
          <a:xfrm>
            <a:off x="1371600" y="2715768"/>
            <a:ext cx="10180015" cy="640080"/>
          </a:xfrm>
          <a:prstGeom prst="rect">
            <a:avLst/>
          </a:prstGeom>
          <a:noFill/>
          <a:ln/>
        </p:spPr>
        <p:txBody>
          <a:bodyPr wrap="square" lIns="0" tIns="0" rIns="0" bIns="0" rtlCol="0" anchor="ctr"/>
          <a:lstStyle/>
          <a:p>
            <a:pPr indent="0" marL="0">
              <a:buNone/>
            </a:pPr>
            <a:r>
              <a:rPr lang="en-US" sz="1500" dirty="0">
                <a:solidFill>
                  <a:srgbClr val="26262F"/>
                </a:solidFill>
                <a:latin typeface="Calibri" pitchFamily="34" charset="0"/>
                <a:ea typeface="Calibri" pitchFamily="34" charset="-122"/>
                <a:cs typeface="Calibri" pitchFamily="34" charset="-120"/>
              </a:rPr>
              <a:t>When one async step depends on the result of the previous one, callbacks nest deeper and deeper</a:t>
            </a:r>
            <a:endParaRPr lang="en-US" sz="1500" dirty="0"/>
          </a:p>
        </p:txBody>
      </p:sp>
      <p:sp>
        <p:nvSpPr>
          <p:cNvPr id="10" name="Shape 8"/>
          <p:cNvSpPr/>
          <p:nvPr/>
        </p:nvSpPr>
        <p:spPr>
          <a:xfrm>
            <a:off x="685800" y="3611880"/>
            <a:ext cx="457200" cy="457200"/>
          </a:xfrm>
          <a:prstGeom prst="ellipse">
            <a:avLst/>
          </a:prstGeom>
          <a:solidFill>
            <a:srgbClr val="FF8A3D"/>
          </a:solidFill>
          <a:ln/>
        </p:spPr>
        <p:txBody>
          <a:bodyPr/>
          <a:p/>
        </p:txBody>
      </p:sp>
      <p:sp>
        <p:nvSpPr>
          <p:cNvPr id="11" name="Text 9"/>
          <p:cNvSpPr txBox="1"/>
          <p:nvPr/>
        </p:nvSpPr>
        <p:spPr>
          <a:xfrm>
            <a:off x="685800" y="361188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2" name="Text 10"/>
          <p:cNvSpPr txBox="1"/>
          <p:nvPr/>
        </p:nvSpPr>
        <p:spPr>
          <a:xfrm>
            <a:off x="1371600" y="3538728"/>
            <a:ext cx="10180015" cy="640080"/>
          </a:xfrm>
          <a:prstGeom prst="rect">
            <a:avLst/>
          </a:prstGeom>
          <a:noFill/>
          <a:ln/>
        </p:spPr>
        <p:txBody>
          <a:bodyPr wrap="square" lIns="0" tIns="0" rIns="0" bIns="0" rtlCol="0" anchor="ctr"/>
          <a:lstStyle/>
          <a:p>
            <a:pPr indent="0" marL="0">
              <a:buNone/>
            </a:pPr>
            <a:r>
              <a:rPr lang="en-US" sz="1500" dirty="0">
                <a:solidFill>
                  <a:srgbClr val="26262F"/>
                </a:solidFill>
                <a:latin typeface="Calibri" pitchFamily="34" charset="0"/>
                <a:ea typeface="Calibri" pitchFamily="34" charset="-122"/>
                <a:cs typeface="Calibri" pitchFamily="34" charset="-120"/>
              </a:rPr>
              <a:t>Nicknamed "callback hell" or the "pyramid of doom" -- hard to read, hard to maintain</a:t>
            </a:r>
            <a:endParaRPr lang="en-US" sz="1500" dirty="0"/>
          </a:p>
        </p:txBody>
      </p:sp>
      <p:sp>
        <p:nvSpPr>
          <p:cNvPr id="15" name="cuinotes-footer-mark"/>
          <p:cNvSpPr txBox="1"/>
          <p:nvPr/>
        </p:nvSpPr>
        <p:spPr>
          <a:xfrm>
            <a:off x="9951720" y="6455664"/>
            <a:ext cx="2011680" cy="292608"/>
          </a:xfrm>
          <a:prstGeom prst="rect">
            <a:avLst/>
          </a:prstGeom>
          <a:noFill/>
        </p:spPr>
        <p:txBody>
          <a:bodyPr wrap="none" lIns="0" rIns="0" tIns="0" bIns="0">
            <a:spAutoFit/>
          </a:bodyPr>
          <a:lstStyle/>
          <a:p>
            <a:pPr algn="r"/>
            <a:r>
              <a:rPr sz="1000">
                <a:solidFill>
                  <a:srgbClr val="8A939B"/>
                </a:solidFill>
                <a:hlinkClick r:id="rId3"/>
              </a:rPr>
              <a:t>cuinotes.com</a:t>
            </a:r>
            <a:r>
              <a:rPr sz="1000">
                <a:solidFill>
                  <a:srgbClr val="8A939B"/>
                </a:solidFill>
              </a:rPr>
              <a:t>  ·  10</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10058400" cy="365760"/>
          </a:xfrm>
          <a:prstGeom prst="rect">
            <a:avLst/>
          </a:prstGeom>
          <a:noFill/>
          <a:ln/>
        </p:spPr>
        <p:txBody>
          <a:bodyPr wrap="square" lIns="0" tIns="0" rIns="0" bIns="0" rtlCol="0" anchor="ctr"/>
          <a:lstStyle/>
          <a:p>
            <a:pPr algn="l" indent="0" marL="0">
              <a:buNone/>
            </a:pPr>
            <a:r>
              <a:rPr lang="en-US" sz="1300" b="1" spc="300" kern="0" dirty="0">
                <a:solidFill>
                  <a:srgbClr val="FF8A3D"/>
                </a:solidFill>
                <a:latin typeface="Calibri" pitchFamily="34" charset="0"/>
                <a:ea typeface="Calibri" pitchFamily="34" charset="-122"/>
                <a:cs typeface="Calibri" pitchFamily="34" charset="-120"/>
              </a:rPr>
              <a:t>BEFORE PROMISES</a:t>
            </a:r>
            <a:endParaRPr lang="en-US" sz="1300" dirty="0"/>
          </a:p>
        </p:txBody>
      </p:sp>
      <p:sp>
        <p:nvSpPr>
          <p:cNvPr id="3" name="Text 1"/>
          <p:cNvSpPr txBox="1"/>
          <p:nvPr/>
        </p:nvSpPr>
        <p:spPr>
          <a:xfrm>
            <a:off x="640080" y="841248"/>
            <a:ext cx="10881360" cy="914400"/>
          </a:xfrm>
          <a:prstGeom prst="rect">
            <a:avLst/>
          </a:prstGeom>
          <a:noFill/>
          <a:ln/>
        </p:spPr>
        <p:txBody>
          <a:bodyPr wrap="square" lIns="0" tIns="0" rIns="0" bIns="0" rtlCol="0" anchor="ctr"/>
          <a:lstStyle/>
          <a:p>
            <a:pPr algn="l" indent="0" marL="0">
              <a:buNone/>
            </a:pPr>
            <a:r>
              <a:rPr lang="en-US" sz="3400" b="1" dirty="0">
                <a:solidFill>
                  <a:srgbClr val="2B2B7A"/>
                </a:solidFill>
                <a:latin typeface="Cambria" pitchFamily="34" charset="0"/>
                <a:ea typeface="Cambria" pitchFamily="34" charset="-122"/>
                <a:cs typeface="Cambria" pitchFamily="34" charset="-120"/>
              </a:rPr>
              <a:t>The Pyramid of Doom</a:t>
            </a:r>
            <a:endParaRPr lang="en-US" sz="3400" dirty="0"/>
          </a:p>
        </p:txBody>
      </p:sp>
      <p:sp>
        <p:nvSpPr>
          <p:cNvPr id="4" name="Shape 2"/>
          <p:cNvSpPr/>
          <p:nvPr/>
        </p:nvSpPr>
        <p:spPr>
          <a:xfrm>
            <a:off x="640080" y="1965960"/>
            <a:ext cx="10911535" cy="2682240"/>
          </a:xfrm>
          <a:prstGeom prst="roundRect">
            <a:avLst>
              <a:gd name="adj" fmla="val 2727"/>
            </a:avLst>
          </a:prstGeom>
          <a:solidFill>
            <a:srgbClr val="F7F8F9"/>
          </a:solidFill>
          <a:ln w="9525">
            <a:solidFill>
              <a:srgbClr val="D0D5DD"/>
            </a:solidFill>
          </a:ln>
        </p:spPr>
        <p:txBody>
          <a:bodyPr/>
          <a:p/>
        </p:txBody>
      </p:sp>
      <p:sp>
        <p:nvSpPr>
          <p:cNvPr id="5" name="Text 3"/>
          <p:cNvSpPr txBox="1"/>
          <p:nvPr/>
        </p:nvSpPr>
        <p:spPr>
          <a:xfrm>
            <a:off x="960120" y="2194560"/>
            <a:ext cx="10271455" cy="2225040"/>
          </a:xfrm>
          <a:prstGeom prst="rect">
            <a:avLst/>
          </a:prstGeom>
          <a:noFill/>
          <a:ln/>
        </p:spPr>
        <p:txBody>
          <a:bodyPr wrap="square" lIns="0" tIns="0" rIns="0" bIns="0" rtlCol="0" anchor="t"/>
          <a:lstStyle/>
          <a:p>
            <a:pPr indent="0" marL="0">
              <a:lnSpc>
                <a:spcPct val="125000"/>
              </a:lnSpc>
              <a:buNone/>
            </a:pPr>
            <a:r>
              <a:rPr lang="en-US" sz="1400" dirty="0">
                <a:solidFill>
                  <a:srgbClr val="1F2429"/>
                </a:solidFill>
                <a:latin typeface="Courier New" pitchFamily="34" charset="0"/>
                <a:ea typeface="Courier New" pitchFamily="34" charset="-122"/>
                <a:cs typeface="Courier New" pitchFamily="34" charset="-120"/>
              </a:rPr>
              <a:t>getUser(userId, function (user) {</a:t>
            </a:r>
            <a:endParaRPr lang="en-US" sz="1400" dirty="0"/>
          </a:p>
          <a:p>
            <a:pPr indent="0" marL="0">
              <a:lnSpc>
                <a:spcPct val="125000"/>
              </a:lnSpc>
              <a:buNone/>
            </a:pPr>
            <a:r>
              <a:rPr lang="en-US" sz="1400" dirty="0">
                <a:solidFill>
                  <a:srgbClr val="1F2429"/>
                </a:solidFill>
                <a:latin typeface="Courier New" pitchFamily="34" charset="0"/>
                <a:ea typeface="Courier New" pitchFamily="34" charset="-122"/>
                <a:cs typeface="Courier New" pitchFamily="34" charset="-120"/>
              </a:rPr>
              <a:t>  getOrders(user.id, function (orders) {</a:t>
            </a:r>
            <a:endParaRPr lang="en-US" sz="1400" dirty="0"/>
          </a:p>
          <a:p>
            <a:pPr indent="0" marL="0">
              <a:lnSpc>
                <a:spcPct val="125000"/>
              </a:lnSpc>
              <a:buNone/>
            </a:pPr>
            <a:r>
              <a:rPr lang="en-US" sz="1400" dirty="0">
                <a:solidFill>
                  <a:srgbClr val="1F2429"/>
                </a:solidFill>
                <a:latin typeface="Courier New" pitchFamily="34" charset="0"/>
                <a:ea typeface="Courier New" pitchFamily="34" charset="-122"/>
                <a:cs typeface="Courier New" pitchFamily="34" charset="-120"/>
              </a:rPr>
              <a:t>    getOrderDetails(orders[0].id, function (details) {</a:t>
            </a:r>
            <a:endParaRPr lang="en-US" sz="1400" dirty="0"/>
          </a:p>
          <a:p>
            <a:pPr indent="0" marL="0">
              <a:lnSpc>
                <a:spcPct val="125000"/>
              </a:lnSpc>
              <a:buNone/>
            </a:pPr>
            <a:r>
              <a:rPr lang="en-US" sz="1400" dirty="0">
                <a:solidFill>
                  <a:srgbClr val="1F2429"/>
                </a:solidFill>
                <a:latin typeface="Courier New" pitchFamily="34" charset="0"/>
                <a:ea typeface="Courier New" pitchFamily="34" charset="-122"/>
                <a:cs typeface="Courier New" pitchFamily="34" charset="-120"/>
              </a:rPr>
              <a:t>      console.log(details);</a:t>
            </a:r>
            <a:endParaRPr lang="en-US" sz="1400" dirty="0"/>
          </a:p>
          <a:p>
            <a:pPr indent="0" marL="0">
              <a:lnSpc>
                <a:spcPct val="125000"/>
              </a:lnSpc>
              <a:buNone/>
            </a:pPr>
            <a:r>
              <a:rPr lang="en-US" sz="1400" dirty="0">
                <a:solidFill>
                  <a:srgbClr val="1F2429"/>
                </a:solidFill>
                <a:latin typeface="Courier New" pitchFamily="34" charset="0"/>
                <a:ea typeface="Courier New" pitchFamily="34" charset="-122"/>
                <a:cs typeface="Courier New" pitchFamily="34" charset="-120"/>
              </a:rPr>
              <a:t>      // ...and it keeps growing to the right with every extra step</a:t>
            </a:r>
            <a:endParaRPr lang="en-US" sz="1400" dirty="0"/>
          </a:p>
          <a:p>
            <a:pPr indent="0" marL="0">
              <a:lnSpc>
                <a:spcPct val="125000"/>
              </a:lnSpc>
              <a:buNone/>
            </a:pPr>
            <a:r>
              <a:rPr lang="en-US" sz="1400" dirty="0">
                <a:solidFill>
                  <a:srgbClr val="1F2429"/>
                </a:solidFill>
                <a:latin typeface="Courier New" pitchFamily="34" charset="0"/>
                <a:ea typeface="Courier New" pitchFamily="34" charset="-122"/>
                <a:cs typeface="Courier New" pitchFamily="34" charset="-120"/>
              </a:rPr>
              <a:t>    }, handleError);</a:t>
            </a:r>
            <a:endParaRPr lang="en-US" sz="1400" dirty="0"/>
          </a:p>
          <a:p>
            <a:pPr indent="0" marL="0">
              <a:lnSpc>
                <a:spcPct val="125000"/>
              </a:lnSpc>
              <a:buNone/>
            </a:pPr>
            <a:r>
              <a:rPr lang="en-US" sz="1400" dirty="0">
                <a:solidFill>
                  <a:srgbClr val="1F2429"/>
                </a:solidFill>
                <a:latin typeface="Courier New" pitchFamily="34" charset="0"/>
                <a:ea typeface="Courier New" pitchFamily="34" charset="-122"/>
                <a:cs typeface="Courier New" pitchFamily="34" charset="-120"/>
              </a:rPr>
              <a:t>  }, handleError);</a:t>
            </a:r>
            <a:endParaRPr lang="en-US" sz="1400" dirty="0"/>
          </a:p>
          <a:p>
            <a:pPr indent="0" marL="0">
              <a:lnSpc>
                <a:spcPct val="125000"/>
              </a:lnSpc>
              <a:buNone/>
            </a:pPr>
            <a:r>
              <a:rPr lang="en-US" sz="1400" dirty="0">
                <a:solidFill>
                  <a:srgbClr val="1F2429"/>
                </a:solidFill>
                <a:latin typeface="Courier New" pitchFamily="34" charset="0"/>
                <a:ea typeface="Courier New" pitchFamily="34" charset="-122"/>
                <a:cs typeface="Courier New" pitchFamily="34" charset="-120"/>
              </a:rPr>
              <a:t>}, handleError);</a:t>
            </a:r>
            <a:endParaRPr lang="en-US" sz="1400" dirty="0"/>
          </a:p>
        </p:txBody>
      </p:sp>
      <p:sp>
        <p:nvSpPr>
          <p:cNvPr id="8" name="cuinotes-footer-mark"/>
          <p:cNvSpPr txBox="1"/>
          <p:nvPr/>
        </p:nvSpPr>
        <p:spPr>
          <a:xfrm>
            <a:off x="9951720" y="6455664"/>
            <a:ext cx="2011680" cy="292608"/>
          </a:xfrm>
          <a:prstGeom prst="rect">
            <a:avLst/>
          </a:prstGeom>
          <a:noFill/>
        </p:spPr>
        <p:txBody>
          <a:bodyPr wrap="none" lIns="0" rIns="0" tIns="0" bIns="0">
            <a:spAutoFit/>
          </a:bodyPr>
          <a:lstStyle/>
          <a:p>
            <a:pPr algn="r"/>
            <a:r>
              <a:rPr sz="1000">
                <a:solidFill>
                  <a:srgbClr val="8A939B"/>
                </a:solidFill>
                <a:hlinkClick r:id="rId3"/>
              </a:rPr>
              <a:t>cuinotes.com</a:t>
            </a:r>
            <a:r>
              <a:rPr sz="1000">
                <a:solidFill>
                  <a:srgbClr val="8A939B"/>
                </a:solidFill>
              </a:rPr>
              <a:t>  ·  11</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10058400" cy="365760"/>
          </a:xfrm>
          <a:prstGeom prst="rect">
            <a:avLst/>
          </a:prstGeom>
          <a:noFill/>
          <a:ln/>
        </p:spPr>
        <p:txBody>
          <a:bodyPr wrap="square" lIns="0" tIns="0" rIns="0" bIns="0" rtlCol="0" anchor="ctr"/>
          <a:lstStyle/>
          <a:p>
            <a:pPr algn="l" indent="0" marL="0">
              <a:buNone/>
            </a:pPr>
            <a:r>
              <a:rPr lang="en-US" sz="1300" b="1" spc="300" kern="0" dirty="0">
                <a:solidFill>
                  <a:srgbClr val="FF8A3D"/>
                </a:solidFill>
                <a:latin typeface="Calibri" pitchFamily="34" charset="0"/>
                <a:ea typeface="Calibri" pitchFamily="34" charset="-122"/>
                <a:cs typeface="Calibri" pitchFamily="34" charset="-120"/>
              </a:rPr>
              <a:t>PROMISES</a:t>
            </a:r>
            <a:endParaRPr lang="en-US" sz="1300" dirty="0"/>
          </a:p>
        </p:txBody>
      </p:sp>
      <p:sp>
        <p:nvSpPr>
          <p:cNvPr id="3" name="Text 1"/>
          <p:cNvSpPr txBox="1"/>
          <p:nvPr/>
        </p:nvSpPr>
        <p:spPr>
          <a:xfrm>
            <a:off x="640080" y="841248"/>
            <a:ext cx="10881360" cy="914400"/>
          </a:xfrm>
          <a:prstGeom prst="rect">
            <a:avLst/>
          </a:prstGeom>
          <a:noFill/>
          <a:ln/>
        </p:spPr>
        <p:txBody>
          <a:bodyPr wrap="square" lIns="0" tIns="0" rIns="0" bIns="0" rtlCol="0" anchor="ctr"/>
          <a:lstStyle/>
          <a:p>
            <a:pPr algn="l" indent="0" marL="0">
              <a:buNone/>
            </a:pPr>
            <a:r>
              <a:rPr lang="en-US" sz="3400" b="1" dirty="0">
                <a:solidFill>
                  <a:srgbClr val="2B2B7A"/>
                </a:solidFill>
                <a:latin typeface="Cambria" pitchFamily="34" charset="0"/>
                <a:ea typeface="Cambria" pitchFamily="34" charset="-122"/>
                <a:cs typeface="Cambria" pitchFamily="34" charset="-120"/>
              </a:rPr>
              <a:t>What Is a Promise?</a:t>
            </a:r>
            <a:endParaRPr lang="en-US" sz="3400" dirty="0"/>
          </a:p>
        </p:txBody>
      </p:sp>
      <p:sp>
        <p:nvSpPr>
          <p:cNvPr id="4" name="Shape 2"/>
          <p:cNvSpPr/>
          <p:nvPr/>
        </p:nvSpPr>
        <p:spPr>
          <a:xfrm>
            <a:off x="685800" y="1965960"/>
            <a:ext cx="457200" cy="457200"/>
          </a:xfrm>
          <a:prstGeom prst="ellipse">
            <a:avLst/>
          </a:prstGeom>
          <a:solidFill>
            <a:srgbClr val="FF8A3D"/>
          </a:solidFill>
          <a:ln/>
        </p:spPr>
        <p:txBody>
          <a:bodyPr/>
          <a:p/>
        </p:txBody>
      </p:sp>
      <p:sp>
        <p:nvSpPr>
          <p:cNvPr id="5" name="Text 3"/>
          <p:cNvSpPr txBox="1"/>
          <p:nvPr/>
        </p:nvSpPr>
        <p:spPr>
          <a:xfrm>
            <a:off x="685800" y="196596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6" name="Text 4"/>
          <p:cNvSpPr txBox="1"/>
          <p:nvPr/>
        </p:nvSpPr>
        <p:spPr>
          <a:xfrm>
            <a:off x="1371600" y="1892808"/>
            <a:ext cx="10180015" cy="640080"/>
          </a:xfrm>
          <a:prstGeom prst="rect">
            <a:avLst/>
          </a:prstGeom>
          <a:noFill/>
          <a:ln/>
        </p:spPr>
        <p:txBody>
          <a:bodyPr wrap="square" lIns="0" tIns="0" rIns="0" bIns="0" rtlCol="0" anchor="ctr"/>
          <a:lstStyle/>
          <a:p>
            <a:pPr indent="0" marL="0">
              <a:buNone/>
            </a:pPr>
            <a:r>
              <a:rPr lang="en-US" sz="1500" dirty="0">
                <a:solidFill>
                  <a:srgbClr val="26262F"/>
                </a:solidFill>
                <a:latin typeface="Calibri" pitchFamily="34" charset="0"/>
                <a:ea typeface="Calibri" pitchFamily="34" charset="-122"/>
                <a:cs typeface="Calibri" pitchFamily="34" charset="-120"/>
              </a:rPr>
              <a:t>An object representing a value that isn't available yet, but will be at some point -- either successfully, or with an error</a:t>
            </a:r>
            <a:endParaRPr lang="en-US" sz="1500" dirty="0"/>
          </a:p>
        </p:txBody>
      </p:sp>
      <p:sp>
        <p:nvSpPr>
          <p:cNvPr id="7" name="Shape 5"/>
          <p:cNvSpPr/>
          <p:nvPr/>
        </p:nvSpPr>
        <p:spPr>
          <a:xfrm>
            <a:off x="685800" y="2788920"/>
            <a:ext cx="457200" cy="457200"/>
          </a:xfrm>
          <a:prstGeom prst="ellipse">
            <a:avLst/>
          </a:prstGeom>
          <a:solidFill>
            <a:srgbClr val="FF8A3D"/>
          </a:solidFill>
          <a:ln/>
        </p:spPr>
        <p:txBody>
          <a:bodyPr/>
          <a:p/>
        </p:txBody>
      </p:sp>
      <p:sp>
        <p:nvSpPr>
          <p:cNvPr id="8" name="Text 6"/>
          <p:cNvSpPr txBox="1"/>
          <p:nvPr/>
        </p:nvSpPr>
        <p:spPr>
          <a:xfrm>
            <a:off x="685800" y="278892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9" name="Text 7"/>
          <p:cNvSpPr txBox="1"/>
          <p:nvPr/>
        </p:nvSpPr>
        <p:spPr>
          <a:xfrm>
            <a:off x="1371600" y="2715768"/>
            <a:ext cx="10180015" cy="640080"/>
          </a:xfrm>
          <a:prstGeom prst="rect">
            <a:avLst/>
          </a:prstGeom>
          <a:noFill/>
          <a:ln/>
        </p:spPr>
        <p:txBody>
          <a:bodyPr wrap="square" lIns="0" tIns="0" rIns="0" bIns="0" rtlCol="0" anchor="ctr"/>
          <a:lstStyle/>
          <a:p>
            <a:pPr indent="0" marL="0">
              <a:buNone/>
            </a:pPr>
            <a:r>
              <a:rPr lang="en-US" sz="1500" dirty="0">
                <a:solidFill>
                  <a:srgbClr val="26262F"/>
                </a:solidFill>
                <a:latin typeface="Calibri" pitchFamily="34" charset="0"/>
                <a:ea typeface="Calibri" pitchFamily="34" charset="-122"/>
                <a:cs typeface="Calibri" pitchFamily="34" charset="-120"/>
              </a:rPr>
              <a:t>Think of it as a receipt for a value that's still being prepared</a:t>
            </a:r>
            <a:endParaRPr lang="en-US" sz="1500" dirty="0"/>
          </a:p>
        </p:txBody>
      </p:sp>
      <p:sp>
        <p:nvSpPr>
          <p:cNvPr id="12" name="cuinotes-footer-mark"/>
          <p:cNvSpPr txBox="1"/>
          <p:nvPr/>
        </p:nvSpPr>
        <p:spPr>
          <a:xfrm>
            <a:off x="9951720" y="6455664"/>
            <a:ext cx="2011680" cy="292608"/>
          </a:xfrm>
          <a:prstGeom prst="rect">
            <a:avLst/>
          </a:prstGeom>
          <a:noFill/>
        </p:spPr>
        <p:txBody>
          <a:bodyPr wrap="none" lIns="0" rIns="0" tIns="0" bIns="0">
            <a:spAutoFit/>
          </a:bodyPr>
          <a:lstStyle/>
          <a:p>
            <a:pPr algn="r"/>
            <a:r>
              <a:rPr sz="1000">
                <a:solidFill>
                  <a:srgbClr val="8A939B"/>
                </a:solidFill>
                <a:hlinkClick r:id="rId3"/>
              </a:rPr>
              <a:t>cuinotes.com</a:t>
            </a:r>
            <a:r>
              <a:rPr sz="1000">
                <a:solidFill>
                  <a:srgbClr val="8A939B"/>
                </a:solidFill>
              </a:rPr>
              <a:t>  ·  12</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10058400" cy="365760"/>
          </a:xfrm>
          <a:prstGeom prst="rect">
            <a:avLst/>
          </a:prstGeom>
          <a:noFill/>
          <a:ln/>
        </p:spPr>
        <p:txBody>
          <a:bodyPr wrap="square" lIns="0" tIns="0" rIns="0" bIns="0" rtlCol="0" anchor="ctr"/>
          <a:lstStyle/>
          <a:p>
            <a:pPr algn="l" indent="0" marL="0">
              <a:buNone/>
            </a:pPr>
            <a:r>
              <a:rPr lang="en-US" sz="1300" b="1" spc="300" kern="0" dirty="0">
                <a:solidFill>
                  <a:srgbClr val="FF8A3D"/>
                </a:solidFill>
                <a:latin typeface="Calibri" pitchFamily="34" charset="0"/>
                <a:ea typeface="Calibri" pitchFamily="34" charset="-122"/>
                <a:cs typeface="Calibri" pitchFamily="34" charset="-120"/>
              </a:rPr>
              <a:t>PROMISES</a:t>
            </a:r>
            <a:endParaRPr lang="en-US" sz="1300" dirty="0"/>
          </a:p>
        </p:txBody>
      </p:sp>
      <p:sp>
        <p:nvSpPr>
          <p:cNvPr id="3" name="Text 1"/>
          <p:cNvSpPr txBox="1"/>
          <p:nvPr/>
        </p:nvSpPr>
        <p:spPr>
          <a:xfrm>
            <a:off x="640080" y="841248"/>
            <a:ext cx="10881360" cy="914400"/>
          </a:xfrm>
          <a:prstGeom prst="rect">
            <a:avLst/>
          </a:prstGeom>
          <a:noFill/>
          <a:ln/>
        </p:spPr>
        <p:txBody>
          <a:bodyPr wrap="square" lIns="0" tIns="0" rIns="0" bIns="0" rtlCol="0" anchor="ctr"/>
          <a:lstStyle/>
          <a:p>
            <a:pPr algn="l" indent="0" marL="0">
              <a:buNone/>
            </a:pPr>
            <a:r>
              <a:rPr lang="en-US" sz="3400" b="1" dirty="0">
                <a:solidFill>
                  <a:srgbClr val="2B2B7A"/>
                </a:solidFill>
                <a:latin typeface="Cambria" pitchFamily="34" charset="0"/>
                <a:ea typeface="Cambria" pitchFamily="34" charset="-122"/>
                <a:cs typeface="Cambria" pitchFamily="34" charset="-120"/>
              </a:rPr>
              <a:t>The Three States</a:t>
            </a:r>
            <a:endParaRPr lang="en-US" sz="3400" dirty="0"/>
          </a:p>
        </p:txBody>
      </p:sp>
      <p:sp>
        <p:nvSpPr>
          <p:cNvPr id="4" name="Shape 2"/>
          <p:cNvSpPr/>
          <p:nvPr/>
        </p:nvSpPr>
        <p:spPr>
          <a:xfrm flipH="1">
            <a:off x="2743200" y="2971800"/>
            <a:ext cx="2377440" cy="1234440"/>
          </a:xfrm>
          <a:prstGeom prst="line">
            <a:avLst/>
          </a:prstGeom>
          <a:noFill/>
          <a:ln w="25400">
            <a:solidFill>
              <a:srgbClr val="5D5D72"/>
            </a:solidFill>
            <a:prstDash val="solid"/>
            <a:tailEnd type="triangle"/>
          </a:ln>
        </p:spPr>
        <p:txBody>
          <a:bodyPr/>
          <a:p/>
        </p:txBody>
      </p:sp>
      <p:sp>
        <p:nvSpPr>
          <p:cNvPr id="5" name="Text 3"/>
          <p:cNvSpPr txBox="1"/>
          <p:nvPr/>
        </p:nvSpPr>
        <p:spPr>
          <a:xfrm>
            <a:off x="3017520" y="3442716"/>
            <a:ext cx="1828800" cy="292608"/>
          </a:xfrm>
          <a:prstGeom prst="rect">
            <a:avLst/>
          </a:prstGeom>
          <a:solidFill>
            <a:srgbClr val="FFFFFF"/>
          </a:solidFill>
          <a:ln/>
        </p:spPr>
        <p:txBody>
          <a:bodyPr wrap="square" lIns="0" tIns="0" rIns="0" bIns="0" rtlCol="0" anchor="ctr"/>
          <a:lstStyle/>
          <a:p>
            <a:pPr algn="ctr" indent="0" marL="0">
              <a:buNone/>
            </a:pPr>
            <a:r>
              <a:rPr lang="en-US" sz="1050" i="1" dirty="0">
                <a:solidFill>
                  <a:srgbClr val="5D5D72"/>
                </a:solidFill>
                <a:latin typeface="Calibri" pitchFamily="34" charset="0"/>
                <a:ea typeface="Calibri" pitchFamily="34" charset="-122"/>
                <a:cs typeface="Calibri" pitchFamily="34" charset="-120"/>
              </a:rPr>
              <a:t>operation</a:t>
            </a:r>
            <a:endParaRPr lang="en-US" sz="1050" dirty="0"/>
          </a:p>
          <a:p>
            <a:pPr algn="ctr" indent="0" marL="0">
              <a:buNone/>
            </a:pPr>
            <a:r>
              <a:rPr lang="en-US" sz="1050" i="1" dirty="0">
                <a:solidFill>
                  <a:srgbClr val="5D5D72"/>
                </a:solidFill>
                <a:latin typeface="Calibri" pitchFamily="34" charset="0"/>
                <a:ea typeface="Calibri" pitchFamily="34" charset="-122"/>
                <a:cs typeface="Calibri" pitchFamily="34" charset="-120"/>
              </a:rPr>
              <a:t>succeeds</a:t>
            </a:r>
            <a:endParaRPr lang="en-US" sz="1050" dirty="0"/>
          </a:p>
        </p:txBody>
      </p:sp>
      <p:sp>
        <p:nvSpPr>
          <p:cNvPr id="6" name="Shape 4"/>
          <p:cNvSpPr/>
          <p:nvPr/>
        </p:nvSpPr>
        <p:spPr>
          <a:xfrm>
            <a:off x="6400800" y="2971800"/>
            <a:ext cx="2651760" cy="1234440"/>
          </a:xfrm>
          <a:prstGeom prst="line">
            <a:avLst/>
          </a:prstGeom>
          <a:noFill/>
          <a:ln w="25400">
            <a:solidFill>
              <a:srgbClr val="5D5D72"/>
            </a:solidFill>
            <a:prstDash val="solid"/>
            <a:tailEnd type="triangle"/>
          </a:ln>
        </p:spPr>
        <p:txBody>
          <a:bodyPr/>
          <a:p/>
        </p:txBody>
      </p:sp>
      <p:sp>
        <p:nvSpPr>
          <p:cNvPr id="7" name="Text 5"/>
          <p:cNvSpPr txBox="1"/>
          <p:nvPr/>
        </p:nvSpPr>
        <p:spPr>
          <a:xfrm>
            <a:off x="6812280" y="3442716"/>
            <a:ext cx="1828800" cy="292608"/>
          </a:xfrm>
          <a:prstGeom prst="rect">
            <a:avLst/>
          </a:prstGeom>
          <a:solidFill>
            <a:srgbClr val="FFFFFF"/>
          </a:solidFill>
          <a:ln/>
        </p:spPr>
        <p:txBody>
          <a:bodyPr wrap="square" lIns="0" tIns="0" rIns="0" bIns="0" rtlCol="0" anchor="ctr"/>
          <a:lstStyle/>
          <a:p>
            <a:pPr algn="ctr" indent="0" marL="0">
              <a:buNone/>
            </a:pPr>
            <a:r>
              <a:rPr lang="en-US" sz="1050" i="1" dirty="0">
                <a:solidFill>
                  <a:srgbClr val="5D5D72"/>
                </a:solidFill>
                <a:latin typeface="Calibri" pitchFamily="34" charset="0"/>
                <a:ea typeface="Calibri" pitchFamily="34" charset="-122"/>
                <a:cs typeface="Calibri" pitchFamily="34" charset="-120"/>
              </a:rPr>
              <a:t>operation</a:t>
            </a:r>
            <a:endParaRPr lang="en-US" sz="1050" dirty="0"/>
          </a:p>
          <a:p>
            <a:pPr algn="ctr" indent="0" marL="0">
              <a:buNone/>
            </a:pPr>
            <a:r>
              <a:rPr lang="en-US" sz="1050" i="1" dirty="0">
                <a:solidFill>
                  <a:srgbClr val="5D5D72"/>
                </a:solidFill>
                <a:latin typeface="Calibri" pitchFamily="34" charset="0"/>
                <a:ea typeface="Calibri" pitchFamily="34" charset="-122"/>
                <a:cs typeface="Calibri" pitchFamily="34" charset="-120"/>
              </a:rPr>
              <a:t>fails</a:t>
            </a:r>
            <a:endParaRPr lang="en-US" sz="1050" dirty="0"/>
          </a:p>
        </p:txBody>
      </p:sp>
      <p:sp>
        <p:nvSpPr>
          <p:cNvPr id="8" name="Shape 6"/>
          <p:cNvSpPr/>
          <p:nvPr/>
        </p:nvSpPr>
        <p:spPr>
          <a:xfrm>
            <a:off x="4663440" y="2377440"/>
            <a:ext cx="2834640" cy="594360"/>
          </a:xfrm>
          <a:prstGeom prst="roundRect">
            <a:avLst>
              <a:gd name="adj" fmla="val 12308"/>
            </a:avLst>
          </a:prstGeom>
          <a:solidFill>
            <a:srgbClr val="5D5D72"/>
          </a:solidFill>
          <a:ln/>
        </p:spPr>
        <p:txBody>
          <a:bodyPr/>
          <a:p/>
        </p:txBody>
      </p:sp>
      <p:sp>
        <p:nvSpPr>
          <p:cNvPr id="9" name="Text 7"/>
          <p:cNvSpPr txBox="1"/>
          <p:nvPr/>
        </p:nvSpPr>
        <p:spPr>
          <a:xfrm>
            <a:off x="4718304" y="2377440"/>
            <a:ext cx="2724912" cy="594360"/>
          </a:xfrm>
          <a:prstGeom prst="rect">
            <a:avLst/>
          </a:prstGeom>
          <a:noFill/>
          <a:ln/>
        </p:spPr>
        <p:txBody>
          <a:bodyPr wrap="square" lIns="0" tIns="0" rIns="0" bIns="0" rtlCol="0" anchor="ctr"/>
          <a:lstStyle/>
          <a:p>
            <a:pPr algn="ctr" indent="0" marL="0">
              <a:lnSpc>
                <a:spcPct val="105000"/>
              </a:lnSpc>
              <a:buNone/>
            </a:pPr>
            <a:r>
              <a:rPr lang="en-US" sz="1400" b="1" dirty="0">
                <a:solidFill>
                  <a:srgbClr val="FFFFFF"/>
                </a:solidFill>
                <a:latin typeface="Calibri" pitchFamily="34" charset="0"/>
                <a:ea typeface="Calibri" pitchFamily="34" charset="-122"/>
                <a:cs typeface="Calibri" pitchFamily="34" charset="-120"/>
              </a:rPr>
              <a:t>Pending</a:t>
            </a:r>
            <a:endParaRPr lang="en-US" sz="1400" dirty="0"/>
          </a:p>
        </p:txBody>
      </p:sp>
      <p:sp>
        <p:nvSpPr>
          <p:cNvPr id="10" name="Shape 8"/>
          <p:cNvSpPr/>
          <p:nvPr/>
        </p:nvSpPr>
        <p:spPr>
          <a:xfrm>
            <a:off x="1188720" y="4206240"/>
            <a:ext cx="3108960" cy="594360"/>
          </a:xfrm>
          <a:prstGeom prst="roundRect">
            <a:avLst>
              <a:gd name="adj" fmla="val 12308"/>
            </a:avLst>
          </a:prstGeom>
          <a:solidFill>
            <a:srgbClr val="3FA66B"/>
          </a:solidFill>
          <a:ln/>
        </p:spPr>
        <p:txBody>
          <a:bodyPr/>
          <a:p/>
        </p:txBody>
      </p:sp>
      <p:sp>
        <p:nvSpPr>
          <p:cNvPr id="11" name="Text 9"/>
          <p:cNvSpPr txBox="1"/>
          <p:nvPr/>
        </p:nvSpPr>
        <p:spPr>
          <a:xfrm>
            <a:off x="1243584" y="4206240"/>
            <a:ext cx="2999232" cy="594360"/>
          </a:xfrm>
          <a:prstGeom prst="rect">
            <a:avLst/>
          </a:prstGeom>
          <a:noFill/>
          <a:ln/>
        </p:spPr>
        <p:txBody>
          <a:bodyPr wrap="square" lIns="0" tIns="0" rIns="0" bIns="0" rtlCol="0" anchor="ctr"/>
          <a:lstStyle/>
          <a:p>
            <a:pPr algn="ctr" indent="0" marL="0">
              <a:lnSpc>
                <a:spcPct val="105000"/>
              </a:lnSpc>
              <a:buNone/>
            </a:pPr>
            <a:r>
              <a:rPr lang="en-US" sz="1400" b="1" dirty="0">
                <a:solidFill>
                  <a:srgbClr val="FFFFFF"/>
                </a:solidFill>
                <a:latin typeface="Calibri" pitchFamily="34" charset="0"/>
                <a:ea typeface="Calibri" pitchFamily="34" charset="-122"/>
                <a:cs typeface="Calibri" pitchFamily="34" charset="-120"/>
              </a:rPr>
              <a:t>Fulfilled</a:t>
            </a:r>
            <a:endParaRPr lang="en-US" sz="1400" dirty="0"/>
          </a:p>
        </p:txBody>
      </p:sp>
      <p:sp>
        <p:nvSpPr>
          <p:cNvPr id="12" name="Shape 10"/>
          <p:cNvSpPr/>
          <p:nvPr/>
        </p:nvSpPr>
        <p:spPr>
          <a:xfrm>
            <a:off x="7498080" y="4206240"/>
            <a:ext cx="3108960" cy="594360"/>
          </a:xfrm>
          <a:prstGeom prst="roundRect">
            <a:avLst>
              <a:gd name="adj" fmla="val 12308"/>
            </a:avLst>
          </a:prstGeom>
          <a:solidFill>
            <a:srgbClr val="E67528"/>
          </a:solidFill>
          <a:ln/>
        </p:spPr>
        <p:txBody>
          <a:bodyPr/>
          <a:p/>
        </p:txBody>
      </p:sp>
      <p:sp>
        <p:nvSpPr>
          <p:cNvPr id="13" name="Text 11"/>
          <p:cNvSpPr txBox="1"/>
          <p:nvPr/>
        </p:nvSpPr>
        <p:spPr>
          <a:xfrm>
            <a:off x="7552944" y="4206240"/>
            <a:ext cx="2999232" cy="594360"/>
          </a:xfrm>
          <a:prstGeom prst="rect">
            <a:avLst/>
          </a:prstGeom>
          <a:noFill/>
          <a:ln/>
        </p:spPr>
        <p:txBody>
          <a:bodyPr wrap="square" lIns="0" tIns="0" rIns="0" bIns="0" rtlCol="0" anchor="ctr"/>
          <a:lstStyle/>
          <a:p>
            <a:pPr algn="ctr" indent="0" marL="0">
              <a:lnSpc>
                <a:spcPct val="105000"/>
              </a:lnSpc>
              <a:buNone/>
            </a:pPr>
            <a:r>
              <a:rPr lang="en-US" sz="1400" b="1" dirty="0">
                <a:solidFill>
                  <a:srgbClr val="FFFFFF"/>
                </a:solidFill>
                <a:latin typeface="Calibri" pitchFamily="34" charset="0"/>
                <a:ea typeface="Calibri" pitchFamily="34" charset="-122"/>
                <a:cs typeface="Calibri" pitchFamily="34" charset="-120"/>
              </a:rPr>
              <a:t>Rejected</a:t>
            </a:r>
            <a:endParaRPr lang="en-US" sz="1400" dirty="0"/>
          </a:p>
        </p:txBody>
      </p:sp>
      <p:sp>
        <p:nvSpPr>
          <p:cNvPr id="14" name="Text 12"/>
          <p:cNvSpPr txBox="1"/>
          <p:nvPr/>
        </p:nvSpPr>
        <p:spPr>
          <a:xfrm>
            <a:off x="640080" y="5989320"/>
            <a:ext cx="10911535" cy="411480"/>
          </a:xfrm>
          <a:prstGeom prst="rect">
            <a:avLst/>
          </a:prstGeom>
          <a:noFill/>
          <a:ln/>
        </p:spPr>
        <p:txBody>
          <a:bodyPr wrap="square" lIns="0" tIns="0" rIns="0" bIns="0" rtlCol="0" anchor="t"/>
          <a:lstStyle/>
          <a:p>
            <a:pPr indent="0" marL="0">
              <a:buNone/>
            </a:pPr>
            <a:r>
              <a:rPr lang="en-US" sz="1250" i="1" dirty="0">
                <a:solidFill>
                  <a:srgbClr val="5D5D72"/>
                </a:solidFill>
                <a:latin typeface="Calibri" pitchFamily="34" charset="0"/>
                <a:ea typeface="Calibri" pitchFamily="34" charset="-122"/>
                <a:cs typeface="Calibri" pitchFamily="34" charset="-120"/>
              </a:rPr>
              <a:t>A promise is settled once it becomes fulfilled or rejected, and it can never change state again after that.</a:t>
            </a:r>
            <a:endParaRPr lang="en-US" sz="1250" dirty="0"/>
          </a:p>
        </p:txBody>
      </p:sp>
      <p:sp>
        <p:nvSpPr>
          <p:cNvPr id="17" name="cuinotes-footer-mark"/>
          <p:cNvSpPr txBox="1"/>
          <p:nvPr/>
        </p:nvSpPr>
        <p:spPr>
          <a:xfrm>
            <a:off x="9951720" y="6455664"/>
            <a:ext cx="2011680" cy="292608"/>
          </a:xfrm>
          <a:prstGeom prst="rect">
            <a:avLst/>
          </a:prstGeom>
          <a:noFill/>
        </p:spPr>
        <p:txBody>
          <a:bodyPr wrap="none" lIns="0" rIns="0" tIns="0" bIns="0">
            <a:spAutoFit/>
          </a:bodyPr>
          <a:lstStyle/>
          <a:p>
            <a:pPr algn="r"/>
            <a:r>
              <a:rPr sz="1000">
                <a:solidFill>
                  <a:srgbClr val="8A939B"/>
                </a:solidFill>
                <a:hlinkClick r:id="rId3"/>
              </a:rPr>
              <a:t>cuinotes.com</a:t>
            </a:r>
            <a:r>
              <a:rPr sz="1000">
                <a:solidFill>
                  <a:srgbClr val="8A939B"/>
                </a:solidFill>
              </a:rPr>
              <a:t>  ·  13</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10058400" cy="365760"/>
          </a:xfrm>
          <a:prstGeom prst="rect">
            <a:avLst/>
          </a:prstGeom>
          <a:noFill/>
          <a:ln/>
        </p:spPr>
        <p:txBody>
          <a:bodyPr wrap="square" lIns="0" tIns="0" rIns="0" bIns="0" rtlCol="0" anchor="ctr"/>
          <a:lstStyle/>
          <a:p>
            <a:pPr algn="l" indent="0" marL="0">
              <a:buNone/>
            </a:pPr>
            <a:r>
              <a:rPr lang="en-US" sz="1300" b="1" spc="300" kern="0" dirty="0">
                <a:solidFill>
                  <a:srgbClr val="FF8A3D"/>
                </a:solidFill>
                <a:latin typeface="Calibri" pitchFamily="34" charset="0"/>
                <a:ea typeface="Calibri" pitchFamily="34" charset="-122"/>
                <a:cs typeface="Calibri" pitchFamily="34" charset="-120"/>
              </a:rPr>
              <a:t>PROMISES</a:t>
            </a:r>
            <a:endParaRPr lang="en-US" sz="1300" dirty="0"/>
          </a:p>
        </p:txBody>
      </p:sp>
      <p:sp>
        <p:nvSpPr>
          <p:cNvPr id="3" name="Text 1"/>
          <p:cNvSpPr txBox="1"/>
          <p:nvPr/>
        </p:nvSpPr>
        <p:spPr>
          <a:xfrm>
            <a:off x="640080" y="841248"/>
            <a:ext cx="10881360" cy="914400"/>
          </a:xfrm>
          <a:prstGeom prst="rect">
            <a:avLst/>
          </a:prstGeom>
          <a:noFill/>
          <a:ln/>
        </p:spPr>
        <p:txBody>
          <a:bodyPr wrap="square" lIns="0" tIns="0" rIns="0" bIns="0" rtlCol="0" anchor="ctr"/>
          <a:lstStyle/>
          <a:p>
            <a:pPr algn="l" indent="0" marL="0">
              <a:buNone/>
            </a:pPr>
            <a:r>
              <a:rPr lang="en-US" sz="3400" b="1" dirty="0">
                <a:solidFill>
                  <a:srgbClr val="2B2B7A"/>
                </a:solidFill>
                <a:latin typeface="Cambria" pitchFamily="34" charset="0"/>
                <a:ea typeface="Cambria" pitchFamily="34" charset="-122"/>
                <a:cs typeface="Cambria" pitchFamily="34" charset="-120"/>
              </a:rPr>
              <a:t>Creating and Using a Promise</a:t>
            </a:r>
            <a:endParaRPr lang="en-US" sz="3400" dirty="0"/>
          </a:p>
        </p:txBody>
      </p:sp>
      <p:sp>
        <p:nvSpPr>
          <p:cNvPr id="4" name="Shape 2"/>
          <p:cNvSpPr/>
          <p:nvPr/>
        </p:nvSpPr>
        <p:spPr>
          <a:xfrm>
            <a:off x="640080" y="1965960"/>
            <a:ext cx="10911535" cy="3482340"/>
          </a:xfrm>
          <a:prstGeom prst="roundRect">
            <a:avLst>
              <a:gd name="adj" fmla="val 2101"/>
            </a:avLst>
          </a:prstGeom>
          <a:solidFill>
            <a:srgbClr val="F7F8F9"/>
          </a:solidFill>
          <a:ln w="9525">
            <a:solidFill>
              <a:srgbClr val="D0D5DD"/>
            </a:solidFill>
          </a:ln>
        </p:spPr>
        <p:txBody>
          <a:bodyPr/>
          <a:p/>
        </p:txBody>
      </p:sp>
      <p:sp>
        <p:nvSpPr>
          <p:cNvPr id="5" name="Text 3"/>
          <p:cNvSpPr txBox="1"/>
          <p:nvPr/>
        </p:nvSpPr>
        <p:spPr>
          <a:xfrm>
            <a:off x="960120" y="2194560"/>
            <a:ext cx="10271455" cy="3025140"/>
          </a:xfrm>
          <a:prstGeom prst="rect">
            <a:avLst/>
          </a:prstGeom>
          <a:noFill/>
          <a:ln/>
        </p:spPr>
        <p:txBody>
          <a:bodyPr wrap="square" lIns="0" tIns="0" rIns="0" bIns="0" rtlCol="0" anchor="t"/>
          <a:lstStyle/>
          <a:p>
            <a:pPr indent="0" marL="0">
              <a:lnSpc>
                <a:spcPct val="125000"/>
              </a:lnSpc>
              <a:buNone/>
            </a:pPr>
            <a:r>
              <a:rPr lang="en-US" sz="1400" dirty="0">
                <a:solidFill>
                  <a:srgbClr val="1F2429"/>
                </a:solidFill>
                <a:latin typeface="Courier New" pitchFamily="34" charset="0"/>
                <a:ea typeface="Courier New" pitchFamily="34" charset="-122"/>
                <a:cs typeface="Courier New" pitchFamily="34" charset="-120"/>
              </a:rPr>
              <a:t>function delay(ms) {</a:t>
            </a:r>
            <a:endParaRPr lang="en-US" sz="1400" dirty="0"/>
          </a:p>
          <a:p>
            <a:pPr indent="0" marL="0">
              <a:lnSpc>
                <a:spcPct val="125000"/>
              </a:lnSpc>
              <a:buNone/>
            </a:pPr>
            <a:r>
              <a:rPr lang="en-US" sz="1400" dirty="0">
                <a:solidFill>
                  <a:srgbClr val="1F2429"/>
                </a:solidFill>
                <a:latin typeface="Courier New" pitchFamily="34" charset="0"/>
                <a:ea typeface="Courier New" pitchFamily="34" charset="-122"/>
                <a:cs typeface="Courier New" pitchFamily="34" charset="-120"/>
              </a:rPr>
              <a:t>  return new Promise((resolve, reject) =&gt; {</a:t>
            </a:r>
            <a:endParaRPr lang="en-US" sz="1400" dirty="0"/>
          </a:p>
          <a:p>
            <a:pPr indent="0" marL="0">
              <a:lnSpc>
                <a:spcPct val="125000"/>
              </a:lnSpc>
              <a:buNone/>
            </a:pPr>
            <a:r>
              <a:rPr lang="en-US" sz="1400" dirty="0">
                <a:solidFill>
                  <a:srgbClr val="1F2429"/>
                </a:solidFill>
                <a:latin typeface="Courier New" pitchFamily="34" charset="0"/>
                <a:ea typeface="Courier New" pitchFamily="34" charset="-122"/>
                <a:cs typeface="Courier New" pitchFamily="34" charset="-120"/>
              </a:rPr>
              <a:t>    if (ms &lt; 0) { reject(new Error("Delay cannot be negative")); return; }</a:t>
            </a:r>
            <a:endParaRPr lang="en-US" sz="1400" dirty="0"/>
          </a:p>
          <a:p>
            <a:pPr indent="0" marL="0">
              <a:lnSpc>
                <a:spcPct val="125000"/>
              </a:lnSpc>
              <a:buNone/>
            </a:pPr>
            <a:r>
              <a:rPr lang="en-US" sz="1400" dirty="0">
                <a:solidFill>
                  <a:srgbClr val="1F2429"/>
                </a:solidFill>
                <a:latin typeface="Courier New" pitchFamily="34" charset="0"/>
                <a:ea typeface="Courier New" pitchFamily="34" charset="-122"/>
                <a:cs typeface="Courier New" pitchFamily="34" charset="-120"/>
              </a:rPr>
              <a:t>    setTimeout(() =&gt; resolve(`Waited ${ms}ms`), ms);</a:t>
            </a:r>
            <a:endParaRPr lang="en-US" sz="1400" dirty="0"/>
          </a:p>
          <a:p>
            <a:pPr indent="0" marL="0">
              <a:lnSpc>
                <a:spcPct val="125000"/>
              </a:lnSpc>
              <a:buNone/>
            </a:pPr>
            <a:r>
              <a:rPr lang="en-US" sz="1400" dirty="0">
                <a:solidFill>
                  <a:srgbClr val="1F2429"/>
                </a:solidFill>
                <a:latin typeface="Courier New" pitchFamily="34" charset="0"/>
                <a:ea typeface="Courier New" pitchFamily="34" charset="-122"/>
                <a:cs typeface="Courier New" pitchFamily="34" charset="-120"/>
              </a:rPr>
              <a:t>  });</a:t>
            </a:r>
            <a:endParaRPr lang="en-US" sz="1400" dirty="0"/>
          </a:p>
          <a:p>
            <a:pPr indent="0" marL="0">
              <a:lnSpc>
                <a:spcPct val="125000"/>
              </a:lnSpc>
              <a:buNone/>
            </a:pPr>
            <a:r>
              <a:rPr lang="en-US" sz="1400" dirty="0">
                <a:solidFill>
                  <a:srgbClr val="1F2429"/>
                </a:solidFill>
                <a:latin typeface="Courier New" pitchFamily="34" charset="0"/>
                <a:ea typeface="Courier New" pitchFamily="34" charset="-122"/>
                <a:cs typeface="Courier New" pitchFamily="34" charset="-120"/>
              </a:rPr>
              <a:t>}</a:t>
            </a:r>
            <a:endParaRPr lang="en-US" sz="1400" dirty="0"/>
          </a:p>
          <a:p>
            <a:pPr indent="0" marL="0">
              <a:lnSpc>
                <a:spcPct val="125000"/>
              </a:lnSpc>
              <a:buNone/>
            </a:pPr>
            <a:endParaRPr lang="en-US" sz="1400" dirty="0"/>
          </a:p>
          <a:p>
            <a:pPr indent="0" marL="0">
              <a:lnSpc>
                <a:spcPct val="125000"/>
              </a:lnSpc>
              <a:buNone/>
            </a:pPr>
            <a:r>
              <a:rPr lang="en-US" sz="1400" dirty="0">
                <a:solidFill>
                  <a:srgbClr val="1F2429"/>
                </a:solidFill>
                <a:latin typeface="Courier New" pitchFamily="34" charset="0"/>
                <a:ea typeface="Courier New" pitchFamily="34" charset="-122"/>
                <a:cs typeface="Courier New" pitchFamily="34" charset="-120"/>
              </a:rPr>
              <a:t>delay(1000)</a:t>
            </a:r>
            <a:endParaRPr lang="en-US" sz="1400" dirty="0"/>
          </a:p>
          <a:p>
            <a:pPr indent="0" marL="0">
              <a:lnSpc>
                <a:spcPct val="125000"/>
              </a:lnSpc>
              <a:buNone/>
            </a:pPr>
            <a:r>
              <a:rPr lang="en-US" sz="1400" dirty="0">
                <a:solidFill>
                  <a:srgbClr val="1F2429"/>
                </a:solidFill>
                <a:latin typeface="Courier New" pitchFamily="34" charset="0"/>
                <a:ea typeface="Courier New" pitchFamily="34" charset="-122"/>
                <a:cs typeface="Courier New" pitchFamily="34" charset="-120"/>
              </a:rPr>
              <a:t>  .then(result =&gt; console.log(result))    // fulfilled</a:t>
            </a:r>
            <a:endParaRPr lang="en-US" sz="1400" dirty="0"/>
          </a:p>
          <a:p>
            <a:pPr indent="0" marL="0">
              <a:lnSpc>
                <a:spcPct val="125000"/>
              </a:lnSpc>
              <a:buNone/>
            </a:pPr>
            <a:r>
              <a:rPr lang="en-US" sz="1400" dirty="0">
                <a:solidFill>
                  <a:srgbClr val="1F2429"/>
                </a:solidFill>
                <a:latin typeface="Courier New" pitchFamily="34" charset="0"/>
                <a:ea typeface="Courier New" pitchFamily="34" charset="-122"/>
                <a:cs typeface="Courier New" pitchFamily="34" charset="-120"/>
              </a:rPr>
              <a:t>  .catch(error =&gt; console.error(error))   // rejected</a:t>
            </a:r>
            <a:endParaRPr lang="en-US" sz="1400" dirty="0"/>
          </a:p>
          <a:p>
            <a:pPr indent="0" marL="0">
              <a:lnSpc>
                <a:spcPct val="125000"/>
              </a:lnSpc>
              <a:buNone/>
            </a:pPr>
            <a:r>
              <a:rPr lang="en-US" sz="1400" dirty="0">
                <a:solidFill>
                  <a:srgbClr val="1F2429"/>
                </a:solidFill>
                <a:latin typeface="Courier New" pitchFamily="34" charset="0"/>
                <a:ea typeface="Courier New" pitchFamily="34" charset="-122"/>
                <a:cs typeface="Courier New" pitchFamily="34" charset="-120"/>
              </a:rPr>
              <a:t>  .finally(() =&gt; console.log("Done, either way")); // always runs</a:t>
            </a:r>
            <a:endParaRPr lang="en-US" sz="1400" dirty="0"/>
          </a:p>
        </p:txBody>
      </p:sp>
      <p:sp>
        <p:nvSpPr>
          <p:cNvPr id="8" name="cuinotes-footer-mark"/>
          <p:cNvSpPr txBox="1"/>
          <p:nvPr/>
        </p:nvSpPr>
        <p:spPr>
          <a:xfrm>
            <a:off x="9951720" y="6455664"/>
            <a:ext cx="2011680" cy="292608"/>
          </a:xfrm>
          <a:prstGeom prst="rect">
            <a:avLst/>
          </a:prstGeom>
          <a:noFill/>
        </p:spPr>
        <p:txBody>
          <a:bodyPr wrap="none" lIns="0" rIns="0" tIns="0" bIns="0">
            <a:spAutoFit/>
          </a:bodyPr>
          <a:lstStyle/>
          <a:p>
            <a:pPr algn="r"/>
            <a:r>
              <a:rPr sz="1000">
                <a:solidFill>
                  <a:srgbClr val="8A939B"/>
                </a:solidFill>
                <a:hlinkClick r:id="rId3"/>
              </a:rPr>
              <a:t>cuinotes.com</a:t>
            </a:r>
            <a:r>
              <a:rPr sz="1000">
                <a:solidFill>
                  <a:srgbClr val="8A939B"/>
                </a:solidFill>
              </a:rPr>
              <a:t>  ·  14</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10058400" cy="365760"/>
          </a:xfrm>
          <a:prstGeom prst="rect">
            <a:avLst/>
          </a:prstGeom>
          <a:noFill/>
          <a:ln/>
        </p:spPr>
        <p:txBody>
          <a:bodyPr wrap="square" lIns="0" tIns="0" rIns="0" bIns="0" rtlCol="0" anchor="ctr"/>
          <a:lstStyle/>
          <a:p>
            <a:pPr algn="l" indent="0" marL="0">
              <a:buNone/>
            </a:pPr>
            <a:r>
              <a:rPr lang="en-US" sz="1300" b="1" spc="300" kern="0" dirty="0">
                <a:solidFill>
                  <a:srgbClr val="FF8A3D"/>
                </a:solidFill>
                <a:latin typeface="Calibri" pitchFamily="34" charset="0"/>
                <a:ea typeface="Calibri" pitchFamily="34" charset="-122"/>
                <a:cs typeface="Calibri" pitchFamily="34" charset="-120"/>
              </a:rPr>
              <a:t>PROMISES</a:t>
            </a:r>
            <a:endParaRPr lang="en-US" sz="1300" dirty="0"/>
          </a:p>
        </p:txBody>
      </p:sp>
      <p:sp>
        <p:nvSpPr>
          <p:cNvPr id="3" name="Text 1"/>
          <p:cNvSpPr txBox="1"/>
          <p:nvPr/>
        </p:nvSpPr>
        <p:spPr>
          <a:xfrm>
            <a:off x="640080" y="841248"/>
            <a:ext cx="10881360" cy="914400"/>
          </a:xfrm>
          <a:prstGeom prst="rect">
            <a:avLst/>
          </a:prstGeom>
          <a:noFill/>
          <a:ln/>
        </p:spPr>
        <p:txBody>
          <a:bodyPr wrap="square" lIns="0" tIns="0" rIns="0" bIns="0" rtlCol="0" anchor="ctr"/>
          <a:lstStyle/>
          <a:p>
            <a:pPr algn="l" indent="0" marL="0">
              <a:buNone/>
            </a:pPr>
            <a:r>
              <a:rPr lang="en-US" sz="3400" b="1" dirty="0">
                <a:solidFill>
                  <a:srgbClr val="2B2B7A"/>
                </a:solidFill>
                <a:latin typeface="Cambria" pitchFamily="34" charset="0"/>
                <a:ea typeface="Cambria" pitchFamily="34" charset="-122"/>
                <a:cs typeface="Cambria" pitchFamily="34" charset="-120"/>
              </a:rPr>
              <a:t>delay().then/.catch/.finally, Live</a:t>
            </a:r>
            <a:endParaRPr lang="en-US" sz="3400" dirty="0"/>
          </a:p>
        </p:txBody>
      </p:sp>
      <p:sp>
        <p:nvSpPr>
          <p:cNvPr id="4" name="Shape 2"/>
          <p:cNvSpPr/>
          <p:nvPr/>
        </p:nvSpPr>
        <p:spPr>
          <a:xfrm>
            <a:off x="640080" y="2872740"/>
            <a:ext cx="5272888" cy="2529840"/>
          </a:xfrm>
          <a:prstGeom prst="roundRect">
            <a:avLst>
              <a:gd name="adj" fmla="val 2892"/>
            </a:avLst>
          </a:prstGeom>
          <a:solidFill>
            <a:srgbClr val="F7F8F9"/>
          </a:solidFill>
          <a:ln w="9525">
            <a:solidFill>
              <a:srgbClr val="D0D5DD"/>
            </a:solidFill>
          </a:ln>
        </p:spPr>
        <p:txBody>
          <a:bodyPr/>
          <a:p/>
        </p:txBody>
      </p:sp>
      <p:sp>
        <p:nvSpPr>
          <p:cNvPr id="5" name="Text 3"/>
          <p:cNvSpPr txBox="1"/>
          <p:nvPr/>
        </p:nvSpPr>
        <p:spPr>
          <a:xfrm>
            <a:off x="960120" y="3101340"/>
            <a:ext cx="4632808" cy="2072640"/>
          </a:xfrm>
          <a:prstGeom prst="rect">
            <a:avLst/>
          </a:prstGeom>
          <a:noFill/>
          <a:ln/>
        </p:spPr>
        <p:txBody>
          <a:bodyPr wrap="square" lIns="0" tIns="0" rIns="0" bIns="0" rtlCol="0" anchor="t"/>
          <a:lstStyle/>
          <a:p>
            <a:pPr indent="0" marL="0">
              <a:lnSpc>
                <a:spcPct val="125000"/>
              </a:lnSpc>
              <a:buNone/>
            </a:pPr>
            <a:r>
              <a:rPr lang="en-US" sz="1300" dirty="0">
                <a:solidFill>
                  <a:srgbClr val="1F2429"/>
                </a:solidFill>
                <a:latin typeface="Courier New" pitchFamily="34" charset="0"/>
                <a:ea typeface="Courier New" pitchFamily="34" charset="-122"/>
                <a:cs typeface="Courier New" pitchFamily="34" charset="-120"/>
              </a:rPr>
              <a:t>delay(150)</a:t>
            </a:r>
            <a:endParaRPr lang="en-US" sz="1300" dirty="0"/>
          </a:p>
          <a:p>
            <a:pPr indent="0" marL="0">
              <a:lnSpc>
                <a:spcPct val="125000"/>
              </a:lnSpc>
              <a:buNone/>
            </a:pPr>
            <a:r>
              <a:rPr lang="en-US" sz="1300" dirty="0">
                <a:solidFill>
                  <a:srgbClr val="1F2429"/>
                </a:solidFill>
                <a:latin typeface="Courier New" pitchFamily="34" charset="0"/>
                <a:ea typeface="Courier New" pitchFamily="34" charset="-122"/>
                <a:cs typeface="Courier New" pitchFamily="34" charset="-120"/>
              </a:rPr>
              <a:t>  .then(result =&gt;</a:t>
            </a:r>
            <a:endParaRPr lang="en-US" sz="1300" dirty="0"/>
          </a:p>
          <a:p>
            <a:pPr indent="0" marL="0">
              <a:lnSpc>
                <a:spcPct val="125000"/>
              </a:lnSpc>
              <a:buNone/>
            </a:pPr>
            <a:r>
              <a:rPr lang="en-US" sz="1300" dirty="0">
                <a:solidFill>
                  <a:srgbClr val="1F2429"/>
                </a:solidFill>
                <a:latin typeface="Courier New" pitchFamily="34" charset="0"/>
                <a:ea typeface="Courier New" pitchFamily="34" charset="-122"/>
                <a:cs typeface="Courier New" pitchFamily="34" charset="-120"/>
              </a:rPr>
              <a:t>    log(result))</a:t>
            </a:r>
            <a:endParaRPr lang="en-US" sz="1300" dirty="0"/>
          </a:p>
          <a:p>
            <a:pPr indent="0" marL="0">
              <a:lnSpc>
                <a:spcPct val="125000"/>
              </a:lnSpc>
              <a:buNone/>
            </a:pPr>
            <a:r>
              <a:rPr lang="en-US" sz="1300" dirty="0">
                <a:solidFill>
                  <a:srgbClr val="1F2429"/>
                </a:solidFill>
                <a:latin typeface="Courier New" pitchFamily="34" charset="0"/>
                <a:ea typeface="Courier New" pitchFamily="34" charset="-122"/>
                <a:cs typeface="Courier New" pitchFamily="34" charset="-120"/>
              </a:rPr>
              <a:t>  .catch(error =&gt;</a:t>
            </a:r>
            <a:endParaRPr lang="en-US" sz="1300" dirty="0"/>
          </a:p>
          <a:p>
            <a:pPr indent="0" marL="0">
              <a:lnSpc>
                <a:spcPct val="125000"/>
              </a:lnSpc>
              <a:buNone/>
            </a:pPr>
            <a:r>
              <a:rPr lang="en-US" sz="1300" dirty="0">
                <a:solidFill>
                  <a:srgbClr val="1F2429"/>
                </a:solidFill>
                <a:latin typeface="Courier New" pitchFamily="34" charset="0"/>
                <a:ea typeface="Courier New" pitchFamily="34" charset="-122"/>
                <a:cs typeface="Courier New" pitchFamily="34" charset="-120"/>
              </a:rPr>
              <a:t>    log("ERROR: " +</a:t>
            </a:r>
            <a:endParaRPr lang="en-US" sz="1300" dirty="0"/>
          </a:p>
          <a:p>
            <a:pPr indent="0" marL="0">
              <a:lnSpc>
                <a:spcPct val="125000"/>
              </a:lnSpc>
              <a:buNone/>
            </a:pPr>
            <a:r>
              <a:rPr lang="en-US" sz="1300" dirty="0">
                <a:solidFill>
                  <a:srgbClr val="1F2429"/>
                </a:solidFill>
                <a:latin typeface="Courier New" pitchFamily="34" charset="0"/>
                <a:ea typeface="Courier New" pitchFamily="34" charset="-122"/>
                <a:cs typeface="Courier New" pitchFamily="34" charset="-120"/>
              </a:rPr>
              <a:t>      error.message))</a:t>
            </a:r>
            <a:endParaRPr lang="en-US" sz="1300" dirty="0"/>
          </a:p>
          <a:p>
            <a:pPr indent="0" marL="0">
              <a:lnSpc>
                <a:spcPct val="125000"/>
              </a:lnSpc>
              <a:buNone/>
            </a:pPr>
            <a:r>
              <a:rPr lang="en-US" sz="1300" dirty="0">
                <a:solidFill>
                  <a:srgbClr val="1F2429"/>
                </a:solidFill>
                <a:latin typeface="Courier New" pitchFamily="34" charset="0"/>
                <a:ea typeface="Courier New" pitchFamily="34" charset="-122"/>
                <a:cs typeface="Courier New" pitchFamily="34" charset="-120"/>
              </a:rPr>
              <a:t>  .finally(() =&gt;</a:t>
            </a:r>
            <a:endParaRPr lang="en-US" sz="1300" dirty="0"/>
          </a:p>
          <a:p>
            <a:pPr indent="0" marL="0">
              <a:lnSpc>
                <a:spcPct val="125000"/>
              </a:lnSpc>
              <a:buNone/>
            </a:pPr>
            <a:r>
              <a:rPr lang="en-US" sz="1300" dirty="0">
                <a:solidFill>
                  <a:srgbClr val="1F2429"/>
                </a:solidFill>
                <a:latin typeface="Courier New" pitchFamily="34" charset="0"/>
                <a:ea typeface="Courier New" pitchFamily="34" charset="-122"/>
                <a:cs typeface="Courier New" pitchFamily="34" charset="-120"/>
              </a:rPr>
              <a:t>    log("Done, either way"));</a:t>
            </a:r>
            <a:endParaRPr lang="en-US" sz="1300" dirty="0"/>
          </a:p>
        </p:txBody>
      </p:sp>
      <p:sp>
        <p:nvSpPr>
          <p:cNvPr id="6" name="Shape 4"/>
          <p:cNvSpPr/>
          <p:nvPr/>
        </p:nvSpPr>
        <p:spPr>
          <a:xfrm>
            <a:off x="6169000" y="1947672"/>
            <a:ext cx="5492344" cy="4379976"/>
          </a:xfrm>
          <a:prstGeom prst="roundRect">
            <a:avLst>
              <a:gd name="adj" fmla="val 1253"/>
            </a:avLst>
          </a:prstGeom>
          <a:solidFill>
            <a:srgbClr val="FFFFFF"/>
          </a:solidFill>
          <a:ln w="12700">
            <a:solidFill>
              <a:srgbClr val="E2E2EE"/>
            </a:solidFill>
            <a:prstDash val="solid"/>
          </a:ln>
          <a:effectLst>
            <a:outerShdw sx="100000" sy="100000" kx="0" ky="0" algn="bl" rotWithShape="0" blurRad="101600" dist="38100" dir="5400000">
              <a:srgbClr val="000000">
                <a:alpha val="12000"/>
              </a:srgbClr>
            </a:outerShdw>
          </a:effectLst>
        </p:spPr>
        <p:txBody>
          <a:bodyPr/>
          <a:p/>
        </p:txBody>
      </p:sp>
      <p:pic>
        <p:nvPicPr>
          <p:cNvPr id="7" name="Image 0" descr="D:/GitHub/mern-web-book/docs/assets/img/lecture-15/promise-then-catch-finally-live.png">    </p:cNvPr>
          <p:cNvPicPr>
            <a:picLocks noChangeAspect="1"/>
          </p:cNvPicPr>
          <p:nvPr/>
        </p:nvPicPr>
        <p:blipFill>
          <a:blip r:embed="rId1"/>
          <a:stretch>
            <a:fillRect/>
          </a:stretch>
        </p:blipFill>
        <p:spPr>
          <a:xfrm>
            <a:off x="6278728" y="3720932"/>
            <a:ext cx="5272888" cy="833456"/>
          </a:xfrm>
          <a:prstGeom prst="rect">
            <a:avLst/>
          </a:prstGeom>
        </p:spPr>
      </p:pic>
      <p:sp>
        <p:nvSpPr>
          <p:cNvPr id="10" name="cuinotes-footer-mark"/>
          <p:cNvSpPr txBox="1"/>
          <p:nvPr/>
        </p:nvSpPr>
        <p:spPr>
          <a:xfrm>
            <a:off x="9951720" y="6455664"/>
            <a:ext cx="2011680" cy="292608"/>
          </a:xfrm>
          <a:prstGeom prst="rect">
            <a:avLst/>
          </a:prstGeom>
          <a:noFill/>
        </p:spPr>
        <p:txBody>
          <a:bodyPr wrap="none" lIns="0" rIns="0" tIns="0" bIns="0">
            <a:spAutoFit/>
          </a:bodyPr>
          <a:lstStyle/>
          <a:p>
            <a:pPr algn="r"/>
            <a:r>
              <a:rPr sz="1000">
                <a:solidFill>
                  <a:srgbClr val="8A939B"/>
                </a:solidFill>
                <a:hlinkClick r:id="rId4"/>
              </a:rPr>
              <a:t>cuinotes.com</a:t>
            </a:r>
            <a:r>
              <a:rPr sz="1000">
                <a:solidFill>
                  <a:srgbClr val="8A939B"/>
                </a:solidFill>
              </a:rPr>
              <a:t>  ·  15</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10058400" cy="365760"/>
          </a:xfrm>
          <a:prstGeom prst="rect">
            <a:avLst/>
          </a:prstGeom>
          <a:noFill/>
          <a:ln/>
        </p:spPr>
        <p:txBody>
          <a:bodyPr wrap="square" lIns="0" tIns="0" rIns="0" bIns="0" rtlCol="0" anchor="ctr"/>
          <a:lstStyle/>
          <a:p>
            <a:pPr algn="l" indent="0" marL="0">
              <a:buNone/>
            </a:pPr>
            <a:r>
              <a:rPr lang="en-US" sz="1300" b="1" spc="300" kern="0" dirty="0">
                <a:solidFill>
                  <a:srgbClr val="FF8A3D"/>
                </a:solidFill>
                <a:latin typeface="Calibri" pitchFamily="34" charset="0"/>
                <a:ea typeface="Calibri" pitchFamily="34" charset="-122"/>
                <a:cs typeface="Calibri" pitchFamily="34" charset="-120"/>
              </a:rPr>
              <a:t>PROMISES</a:t>
            </a:r>
            <a:endParaRPr lang="en-US" sz="1300" dirty="0"/>
          </a:p>
        </p:txBody>
      </p:sp>
      <p:sp>
        <p:nvSpPr>
          <p:cNvPr id="3" name="Text 1"/>
          <p:cNvSpPr txBox="1"/>
          <p:nvPr/>
        </p:nvSpPr>
        <p:spPr>
          <a:xfrm>
            <a:off x="640080" y="841248"/>
            <a:ext cx="10881360" cy="914400"/>
          </a:xfrm>
          <a:prstGeom prst="rect">
            <a:avLst/>
          </a:prstGeom>
          <a:noFill/>
          <a:ln/>
        </p:spPr>
        <p:txBody>
          <a:bodyPr wrap="square" lIns="0" tIns="0" rIns="0" bIns="0" rtlCol="0" anchor="ctr"/>
          <a:lstStyle/>
          <a:p>
            <a:pPr algn="l" indent="0" marL="0">
              <a:buNone/>
            </a:pPr>
            <a:r>
              <a:rPr lang="en-US" sz="3400" b="1" dirty="0">
                <a:solidFill>
                  <a:srgbClr val="2B2B7A"/>
                </a:solidFill>
                <a:latin typeface="Cambria" pitchFamily="34" charset="0"/>
                <a:ea typeface="Cambria" pitchFamily="34" charset="-122"/>
                <a:cs typeface="Cambria" pitchFamily="34" charset="-120"/>
              </a:rPr>
              <a:t>Chaining Promises</a:t>
            </a:r>
            <a:endParaRPr lang="en-US" sz="3400" dirty="0"/>
          </a:p>
        </p:txBody>
      </p:sp>
      <p:sp>
        <p:nvSpPr>
          <p:cNvPr id="4" name="Shape 2"/>
          <p:cNvSpPr/>
          <p:nvPr/>
        </p:nvSpPr>
        <p:spPr>
          <a:xfrm>
            <a:off x="640080" y="1965960"/>
            <a:ext cx="10911535" cy="1882140"/>
          </a:xfrm>
          <a:prstGeom prst="roundRect">
            <a:avLst>
              <a:gd name="adj" fmla="val 3887"/>
            </a:avLst>
          </a:prstGeom>
          <a:solidFill>
            <a:srgbClr val="F7F8F9"/>
          </a:solidFill>
          <a:ln w="9525">
            <a:solidFill>
              <a:srgbClr val="D0D5DD"/>
            </a:solidFill>
          </a:ln>
        </p:spPr>
        <p:txBody>
          <a:bodyPr/>
          <a:p/>
        </p:txBody>
      </p:sp>
      <p:sp>
        <p:nvSpPr>
          <p:cNvPr id="5" name="Text 3"/>
          <p:cNvSpPr txBox="1"/>
          <p:nvPr/>
        </p:nvSpPr>
        <p:spPr>
          <a:xfrm>
            <a:off x="960120" y="2194560"/>
            <a:ext cx="10271455" cy="1424940"/>
          </a:xfrm>
          <a:prstGeom prst="rect">
            <a:avLst/>
          </a:prstGeom>
          <a:noFill/>
          <a:ln/>
        </p:spPr>
        <p:txBody>
          <a:bodyPr wrap="square" lIns="0" tIns="0" rIns="0" bIns="0" rtlCol="0" anchor="t"/>
          <a:lstStyle/>
          <a:p>
            <a:pPr indent="0" marL="0">
              <a:lnSpc>
                <a:spcPct val="125000"/>
              </a:lnSpc>
              <a:buNone/>
            </a:pPr>
            <a:r>
              <a:rPr lang="en-US" sz="1400" dirty="0">
                <a:solidFill>
                  <a:srgbClr val="1F2429"/>
                </a:solidFill>
                <a:latin typeface="Courier New" pitchFamily="34" charset="0"/>
                <a:ea typeface="Courier New" pitchFamily="34" charset="-122"/>
                <a:cs typeface="Courier New" pitchFamily="34" charset="-120"/>
              </a:rPr>
              <a:t>getUser(userId)</a:t>
            </a:r>
            <a:endParaRPr lang="en-US" sz="1400" dirty="0"/>
          </a:p>
          <a:p>
            <a:pPr indent="0" marL="0">
              <a:lnSpc>
                <a:spcPct val="125000"/>
              </a:lnSpc>
              <a:buNone/>
            </a:pPr>
            <a:r>
              <a:rPr lang="en-US" sz="1400" dirty="0">
                <a:solidFill>
                  <a:srgbClr val="1F2429"/>
                </a:solidFill>
                <a:latin typeface="Courier New" pitchFamily="34" charset="0"/>
                <a:ea typeface="Courier New" pitchFamily="34" charset="-122"/>
                <a:cs typeface="Courier New" pitchFamily="34" charset="-120"/>
              </a:rPr>
              <a:t>  .then(user =&gt; getOrders(user.id))              // after getUser resolves</a:t>
            </a:r>
            <a:endParaRPr lang="en-US" sz="1400" dirty="0"/>
          </a:p>
          <a:p>
            <a:pPr indent="0" marL="0">
              <a:lnSpc>
                <a:spcPct val="125000"/>
              </a:lnSpc>
              <a:buNone/>
            </a:pPr>
            <a:r>
              <a:rPr lang="en-US" sz="1400" dirty="0">
                <a:solidFill>
                  <a:srgbClr val="1F2429"/>
                </a:solidFill>
                <a:latin typeface="Courier New" pitchFamily="34" charset="0"/>
                <a:ea typeface="Courier New" pitchFamily="34" charset="-122"/>
                <a:cs typeface="Courier New" pitchFamily="34" charset="-120"/>
              </a:rPr>
              <a:t>  .then(orders =&gt; getOrderDetails(orders[0].id)) // after getOrders resolves</a:t>
            </a:r>
            <a:endParaRPr lang="en-US" sz="1400" dirty="0"/>
          </a:p>
          <a:p>
            <a:pPr indent="0" marL="0">
              <a:lnSpc>
                <a:spcPct val="125000"/>
              </a:lnSpc>
              <a:buNone/>
            </a:pPr>
            <a:r>
              <a:rPr lang="en-US" sz="1400" dirty="0">
                <a:solidFill>
                  <a:srgbClr val="1F2429"/>
                </a:solidFill>
                <a:latin typeface="Courier New" pitchFamily="34" charset="0"/>
                <a:ea typeface="Courier New" pitchFamily="34" charset="-122"/>
                <a:cs typeface="Courier New" pitchFamily="34" charset="-120"/>
              </a:rPr>
              <a:t>  .then(details =&gt; console.log(details))         // after getOrderDetails resolves</a:t>
            </a:r>
            <a:endParaRPr lang="en-US" sz="1400" dirty="0"/>
          </a:p>
          <a:p>
            <a:pPr indent="0" marL="0">
              <a:lnSpc>
                <a:spcPct val="125000"/>
              </a:lnSpc>
              <a:buNone/>
            </a:pPr>
            <a:r>
              <a:rPr lang="en-US" sz="1400" dirty="0">
                <a:solidFill>
                  <a:srgbClr val="1F2429"/>
                </a:solidFill>
                <a:latin typeface="Courier New" pitchFamily="34" charset="0"/>
                <a:ea typeface="Courier New" pitchFamily="34" charset="-122"/>
                <a:cs typeface="Courier New" pitchFamily="34" charset="-120"/>
              </a:rPr>
              <a:t>  .catch(error =&gt; console.error("Something failed:", error)); // catches ANY step</a:t>
            </a:r>
            <a:endParaRPr lang="en-US" sz="1400" dirty="0"/>
          </a:p>
        </p:txBody>
      </p:sp>
      <p:sp>
        <p:nvSpPr>
          <p:cNvPr id="6" name="Text 4"/>
          <p:cNvSpPr txBox="1"/>
          <p:nvPr/>
        </p:nvSpPr>
        <p:spPr>
          <a:xfrm>
            <a:off x="640080" y="4076700"/>
            <a:ext cx="10911535" cy="2186940"/>
          </a:xfrm>
          <a:prstGeom prst="rect">
            <a:avLst/>
          </a:prstGeom>
          <a:noFill/>
          <a:ln/>
        </p:spPr>
        <p:txBody>
          <a:bodyPr wrap="square" lIns="0" tIns="0" rIns="0" bIns="0" rtlCol="0" anchor="t"/>
          <a:lstStyle/>
          <a:p>
            <a:pPr indent="0" marL="0">
              <a:buNone/>
            </a:pPr>
            <a:r>
              <a:rPr lang="en-US" sz="1300" dirty="0">
                <a:solidFill>
                  <a:srgbClr val="26262F"/>
                </a:solidFill>
                <a:latin typeface="Calibri" pitchFamily="34" charset="0"/>
                <a:ea typeface="Calibri" pitchFamily="34" charset="-122"/>
                <a:cs typeface="Calibri" pitchFamily="34" charset="-120"/>
              </a:rPr>
              <a:t>Each .then() returns a NEW promise, which is what makes chaining possible -- one .catch() at the end catches an error from any step.</a:t>
            </a:r>
            <a:endParaRPr lang="en-US" sz="1300" dirty="0"/>
          </a:p>
        </p:txBody>
      </p:sp>
      <p:sp>
        <p:nvSpPr>
          <p:cNvPr id="9" name="cuinotes-footer-mark"/>
          <p:cNvSpPr txBox="1"/>
          <p:nvPr/>
        </p:nvSpPr>
        <p:spPr>
          <a:xfrm>
            <a:off x="9951720" y="6455664"/>
            <a:ext cx="2011680" cy="292608"/>
          </a:xfrm>
          <a:prstGeom prst="rect">
            <a:avLst/>
          </a:prstGeom>
          <a:noFill/>
        </p:spPr>
        <p:txBody>
          <a:bodyPr wrap="none" lIns="0" rIns="0" tIns="0" bIns="0">
            <a:spAutoFit/>
          </a:bodyPr>
          <a:lstStyle/>
          <a:p>
            <a:pPr algn="r"/>
            <a:r>
              <a:rPr sz="1000">
                <a:solidFill>
                  <a:srgbClr val="8A939B"/>
                </a:solidFill>
                <a:hlinkClick r:id="rId3"/>
              </a:rPr>
              <a:t>cuinotes.com</a:t>
            </a:r>
            <a:r>
              <a:rPr sz="1000">
                <a:solidFill>
                  <a:srgbClr val="8A939B"/>
                </a:solidFill>
              </a:rPr>
              <a:t>  ·  16</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10058400" cy="365760"/>
          </a:xfrm>
          <a:prstGeom prst="rect">
            <a:avLst/>
          </a:prstGeom>
          <a:noFill/>
          <a:ln/>
        </p:spPr>
        <p:txBody>
          <a:bodyPr wrap="square" lIns="0" tIns="0" rIns="0" bIns="0" rtlCol="0" anchor="ctr"/>
          <a:lstStyle/>
          <a:p>
            <a:pPr algn="l" indent="0" marL="0">
              <a:buNone/>
            </a:pPr>
            <a:r>
              <a:rPr lang="en-US" sz="1300" b="1" spc="300" kern="0" dirty="0">
                <a:solidFill>
                  <a:srgbClr val="FF8A3D"/>
                </a:solidFill>
                <a:latin typeface="Calibri" pitchFamily="34" charset="0"/>
                <a:ea typeface="Calibri" pitchFamily="34" charset="-122"/>
                <a:cs typeface="Calibri" pitchFamily="34" charset="-120"/>
              </a:rPr>
              <a:t>PROMISES</a:t>
            </a:r>
            <a:endParaRPr lang="en-US" sz="1300" dirty="0"/>
          </a:p>
        </p:txBody>
      </p:sp>
      <p:sp>
        <p:nvSpPr>
          <p:cNvPr id="3" name="Text 1"/>
          <p:cNvSpPr txBox="1"/>
          <p:nvPr/>
        </p:nvSpPr>
        <p:spPr>
          <a:xfrm>
            <a:off x="640080" y="841248"/>
            <a:ext cx="10881360" cy="914400"/>
          </a:xfrm>
          <a:prstGeom prst="rect">
            <a:avLst/>
          </a:prstGeom>
          <a:noFill/>
          <a:ln/>
        </p:spPr>
        <p:txBody>
          <a:bodyPr wrap="square" lIns="0" tIns="0" rIns="0" bIns="0" rtlCol="0" anchor="ctr"/>
          <a:lstStyle/>
          <a:p>
            <a:pPr algn="l" indent="0" marL="0">
              <a:buNone/>
            </a:pPr>
            <a:r>
              <a:rPr lang="en-US" sz="3400" b="1" dirty="0">
                <a:solidFill>
                  <a:srgbClr val="2B2B7A"/>
                </a:solidFill>
                <a:latin typeface="Cambria" pitchFamily="34" charset="0"/>
                <a:ea typeface="Cambria" pitchFamily="34" charset="-122"/>
                <a:cs typeface="Cambria" pitchFamily="34" charset="-120"/>
              </a:rPr>
              <a:t>Promise.all</a:t>
            </a:r>
            <a:endParaRPr lang="en-US" sz="3400" dirty="0"/>
          </a:p>
        </p:txBody>
      </p:sp>
      <p:sp>
        <p:nvSpPr>
          <p:cNvPr id="4" name="Shape 2"/>
          <p:cNvSpPr/>
          <p:nvPr/>
        </p:nvSpPr>
        <p:spPr>
          <a:xfrm>
            <a:off x="640080" y="1965960"/>
            <a:ext cx="10911535" cy="2415540"/>
          </a:xfrm>
          <a:prstGeom prst="roundRect">
            <a:avLst>
              <a:gd name="adj" fmla="val 3028"/>
            </a:avLst>
          </a:prstGeom>
          <a:solidFill>
            <a:srgbClr val="F7F8F9"/>
          </a:solidFill>
          <a:ln w="9525">
            <a:solidFill>
              <a:srgbClr val="D0D5DD"/>
            </a:solidFill>
          </a:ln>
        </p:spPr>
        <p:txBody>
          <a:bodyPr/>
          <a:p/>
        </p:txBody>
      </p:sp>
      <p:sp>
        <p:nvSpPr>
          <p:cNvPr id="5" name="Text 3"/>
          <p:cNvSpPr txBox="1"/>
          <p:nvPr/>
        </p:nvSpPr>
        <p:spPr>
          <a:xfrm>
            <a:off x="960120" y="2194560"/>
            <a:ext cx="10271455" cy="1958340"/>
          </a:xfrm>
          <a:prstGeom prst="rect">
            <a:avLst/>
          </a:prstGeom>
          <a:noFill/>
          <a:ln/>
        </p:spPr>
        <p:txBody>
          <a:bodyPr wrap="square" lIns="0" tIns="0" rIns="0" bIns="0" rtlCol="0" anchor="t"/>
          <a:lstStyle/>
          <a:p>
            <a:pPr indent="0" marL="0">
              <a:lnSpc>
                <a:spcPct val="125000"/>
              </a:lnSpc>
              <a:buNone/>
            </a:pPr>
            <a:r>
              <a:rPr lang="en-US" sz="1400" dirty="0">
                <a:solidFill>
                  <a:srgbClr val="1F2429"/>
                </a:solidFill>
                <a:latin typeface="Courier New" pitchFamily="34" charset="0"/>
                <a:ea typeface="Courier New" pitchFamily="34" charset="-122"/>
                <a:cs typeface="Courier New" pitchFamily="34" charset="-120"/>
              </a:rPr>
              <a:t>const promise1 = delay(1000).then(() =&gt; "First");</a:t>
            </a:r>
            <a:endParaRPr lang="en-US" sz="1400" dirty="0"/>
          </a:p>
          <a:p>
            <a:pPr indent="0" marL="0">
              <a:lnSpc>
                <a:spcPct val="125000"/>
              </a:lnSpc>
              <a:buNone/>
            </a:pPr>
            <a:r>
              <a:rPr lang="en-US" sz="1400" dirty="0">
                <a:solidFill>
                  <a:srgbClr val="1F2429"/>
                </a:solidFill>
                <a:latin typeface="Courier New" pitchFamily="34" charset="0"/>
                <a:ea typeface="Courier New" pitchFamily="34" charset="-122"/>
                <a:cs typeface="Courier New" pitchFamily="34" charset="-120"/>
              </a:rPr>
              <a:t>const promise2 = delay(500).then(() =&gt; "Second");</a:t>
            </a:r>
            <a:endParaRPr lang="en-US" sz="1400" dirty="0"/>
          </a:p>
          <a:p>
            <a:pPr indent="0" marL="0">
              <a:lnSpc>
                <a:spcPct val="125000"/>
              </a:lnSpc>
              <a:buNone/>
            </a:pPr>
            <a:r>
              <a:rPr lang="en-US" sz="1400" dirty="0">
                <a:solidFill>
                  <a:srgbClr val="1F2429"/>
                </a:solidFill>
                <a:latin typeface="Courier New" pitchFamily="34" charset="0"/>
                <a:ea typeface="Courier New" pitchFamily="34" charset="-122"/>
                <a:cs typeface="Courier New" pitchFamily="34" charset="-120"/>
              </a:rPr>
              <a:t>const promise3 = delay(1500).then(() =&gt; "Third");</a:t>
            </a:r>
            <a:endParaRPr lang="en-US" sz="1400" dirty="0"/>
          </a:p>
          <a:p>
            <a:pPr indent="0" marL="0">
              <a:lnSpc>
                <a:spcPct val="125000"/>
              </a:lnSpc>
              <a:buNone/>
            </a:pPr>
            <a:endParaRPr lang="en-US" sz="1400" dirty="0"/>
          </a:p>
          <a:p>
            <a:pPr indent="0" marL="0">
              <a:lnSpc>
                <a:spcPct val="125000"/>
              </a:lnSpc>
              <a:buNone/>
            </a:pPr>
            <a:r>
              <a:rPr lang="en-US" sz="1400" dirty="0">
                <a:solidFill>
                  <a:srgbClr val="1F2429"/>
                </a:solidFill>
                <a:latin typeface="Courier New" pitchFamily="34" charset="0"/>
                <a:ea typeface="Courier New" pitchFamily="34" charset="-122"/>
                <a:cs typeface="Courier New" pitchFamily="34" charset="-120"/>
              </a:rPr>
              <a:t>Promise.all([promise1, promise2, promise3]).then(results =&gt; {</a:t>
            </a:r>
            <a:endParaRPr lang="en-US" sz="1400" dirty="0"/>
          </a:p>
          <a:p>
            <a:pPr indent="0" marL="0">
              <a:lnSpc>
                <a:spcPct val="125000"/>
              </a:lnSpc>
              <a:buNone/>
            </a:pPr>
            <a:r>
              <a:rPr lang="en-US" sz="1400" dirty="0">
                <a:solidFill>
                  <a:srgbClr val="1F2429"/>
                </a:solidFill>
                <a:latin typeface="Courier New" pitchFamily="34" charset="0"/>
                <a:ea typeface="Courier New" pitchFamily="34" charset="-122"/>
                <a:cs typeface="Courier New" pitchFamily="34" charset="-120"/>
              </a:rPr>
              <a:t>  console.log(results); // ["First","Second","Third"] -- after ~1500ms, not 3000ms</a:t>
            </a:r>
            <a:endParaRPr lang="en-US" sz="1400" dirty="0"/>
          </a:p>
          <a:p>
            <a:pPr indent="0" marL="0">
              <a:lnSpc>
                <a:spcPct val="125000"/>
              </a:lnSpc>
              <a:buNone/>
            </a:pPr>
            <a:r>
              <a:rPr lang="en-US" sz="1400" dirty="0">
                <a:solidFill>
                  <a:srgbClr val="1F2429"/>
                </a:solidFill>
                <a:latin typeface="Courier New" pitchFamily="34" charset="0"/>
                <a:ea typeface="Courier New" pitchFamily="34" charset="-122"/>
                <a:cs typeface="Courier New" pitchFamily="34" charset="-120"/>
              </a:rPr>
              <a:t>});</a:t>
            </a:r>
            <a:endParaRPr lang="en-US" sz="1400" dirty="0"/>
          </a:p>
        </p:txBody>
      </p:sp>
      <p:sp>
        <p:nvSpPr>
          <p:cNvPr id="6" name="Text 4"/>
          <p:cNvSpPr txBox="1"/>
          <p:nvPr/>
        </p:nvSpPr>
        <p:spPr>
          <a:xfrm>
            <a:off x="640080" y="4610100"/>
            <a:ext cx="10911535" cy="1653540"/>
          </a:xfrm>
          <a:prstGeom prst="rect">
            <a:avLst/>
          </a:prstGeom>
          <a:noFill/>
          <a:ln/>
        </p:spPr>
        <p:txBody>
          <a:bodyPr wrap="square" lIns="0" tIns="0" rIns="0" bIns="0" rtlCol="0" anchor="t"/>
          <a:lstStyle/>
          <a:p>
            <a:pPr indent="0" marL="0">
              <a:buNone/>
            </a:pPr>
            <a:r>
              <a:rPr lang="en-US" sz="1300" dirty="0">
                <a:solidFill>
                  <a:srgbClr val="26262F"/>
                </a:solidFill>
                <a:latin typeface="Calibri" pitchFamily="34" charset="0"/>
                <a:ea typeface="Calibri" pitchFamily="34" charset="-122"/>
                <a:cs typeface="Calibri" pitchFamily="34" charset="-120"/>
              </a:rPr>
              <a:t>Fulfills only once ALL promises have fulfilled, or rejects immediately if any ONE of them rejects -- ideal for independent data loaded in parallel.</a:t>
            </a:r>
            <a:endParaRPr lang="en-US" sz="1300" dirty="0"/>
          </a:p>
        </p:txBody>
      </p:sp>
      <p:sp>
        <p:nvSpPr>
          <p:cNvPr id="9" name="cuinotes-footer-mark"/>
          <p:cNvSpPr txBox="1"/>
          <p:nvPr/>
        </p:nvSpPr>
        <p:spPr>
          <a:xfrm>
            <a:off x="9951720" y="6455664"/>
            <a:ext cx="2011680" cy="292608"/>
          </a:xfrm>
          <a:prstGeom prst="rect">
            <a:avLst/>
          </a:prstGeom>
          <a:noFill/>
        </p:spPr>
        <p:txBody>
          <a:bodyPr wrap="none" lIns="0" rIns="0" tIns="0" bIns="0">
            <a:spAutoFit/>
          </a:bodyPr>
          <a:lstStyle/>
          <a:p>
            <a:pPr algn="r"/>
            <a:r>
              <a:rPr sz="1000">
                <a:solidFill>
                  <a:srgbClr val="8A939B"/>
                </a:solidFill>
                <a:hlinkClick r:id="rId3"/>
              </a:rPr>
              <a:t>cuinotes.com</a:t>
            </a:r>
            <a:r>
              <a:rPr sz="1000">
                <a:solidFill>
                  <a:srgbClr val="8A939B"/>
                </a:solidFill>
              </a:rPr>
              <a:t>  ·  17</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10058400" cy="365760"/>
          </a:xfrm>
          <a:prstGeom prst="rect">
            <a:avLst/>
          </a:prstGeom>
          <a:noFill/>
          <a:ln/>
        </p:spPr>
        <p:txBody>
          <a:bodyPr wrap="square" lIns="0" tIns="0" rIns="0" bIns="0" rtlCol="0" anchor="ctr"/>
          <a:lstStyle/>
          <a:p>
            <a:pPr algn="l" indent="0" marL="0">
              <a:buNone/>
            </a:pPr>
            <a:r>
              <a:rPr lang="en-US" sz="1300" b="1" spc="300" kern="0" dirty="0">
                <a:solidFill>
                  <a:srgbClr val="FF8A3D"/>
                </a:solidFill>
                <a:latin typeface="Calibri" pitchFamily="34" charset="0"/>
                <a:ea typeface="Calibri" pitchFamily="34" charset="-122"/>
                <a:cs typeface="Calibri" pitchFamily="34" charset="-120"/>
              </a:rPr>
              <a:t>PROMISES</a:t>
            </a:r>
            <a:endParaRPr lang="en-US" sz="1300" dirty="0"/>
          </a:p>
        </p:txBody>
      </p:sp>
      <p:sp>
        <p:nvSpPr>
          <p:cNvPr id="3" name="Text 1"/>
          <p:cNvSpPr txBox="1"/>
          <p:nvPr/>
        </p:nvSpPr>
        <p:spPr>
          <a:xfrm>
            <a:off x="640080" y="841248"/>
            <a:ext cx="10881360" cy="914400"/>
          </a:xfrm>
          <a:prstGeom prst="rect">
            <a:avLst/>
          </a:prstGeom>
          <a:noFill/>
          <a:ln/>
        </p:spPr>
        <p:txBody>
          <a:bodyPr wrap="square" lIns="0" tIns="0" rIns="0" bIns="0" rtlCol="0" anchor="ctr"/>
          <a:lstStyle/>
          <a:p>
            <a:pPr algn="l" indent="0" marL="0">
              <a:buNone/>
            </a:pPr>
            <a:r>
              <a:rPr lang="en-US" sz="3400" b="1" dirty="0">
                <a:solidFill>
                  <a:srgbClr val="2B2B7A"/>
                </a:solidFill>
                <a:latin typeface="Cambria" pitchFamily="34" charset="0"/>
                <a:ea typeface="Cambria" pitchFamily="34" charset="-122"/>
                <a:cs typeface="Cambria" pitchFamily="34" charset="-120"/>
              </a:rPr>
              <a:t>Promise.all, Live</a:t>
            </a:r>
            <a:endParaRPr lang="en-US" sz="3400" dirty="0"/>
          </a:p>
        </p:txBody>
      </p:sp>
      <p:sp>
        <p:nvSpPr>
          <p:cNvPr id="4" name="Shape 2"/>
          <p:cNvSpPr/>
          <p:nvPr/>
        </p:nvSpPr>
        <p:spPr>
          <a:xfrm>
            <a:off x="640080" y="2625090"/>
            <a:ext cx="5272888" cy="3025140"/>
          </a:xfrm>
          <a:prstGeom prst="roundRect">
            <a:avLst>
              <a:gd name="adj" fmla="val 2418"/>
            </a:avLst>
          </a:prstGeom>
          <a:solidFill>
            <a:srgbClr val="F7F8F9"/>
          </a:solidFill>
          <a:ln w="9525">
            <a:solidFill>
              <a:srgbClr val="D0D5DD"/>
            </a:solidFill>
          </a:ln>
        </p:spPr>
        <p:txBody>
          <a:bodyPr/>
          <a:p/>
        </p:txBody>
      </p:sp>
      <p:sp>
        <p:nvSpPr>
          <p:cNvPr id="5" name="Text 3"/>
          <p:cNvSpPr txBox="1"/>
          <p:nvPr/>
        </p:nvSpPr>
        <p:spPr>
          <a:xfrm>
            <a:off x="960120" y="2853690"/>
            <a:ext cx="4632808" cy="2567940"/>
          </a:xfrm>
          <a:prstGeom prst="rect">
            <a:avLst/>
          </a:prstGeom>
          <a:noFill/>
          <a:ln/>
        </p:spPr>
        <p:txBody>
          <a:bodyPr wrap="square" lIns="0" tIns="0" rIns="0" bIns="0" rtlCol="0" anchor="t"/>
          <a:lstStyle/>
          <a:p>
            <a:pPr indent="0" marL="0">
              <a:lnSpc>
                <a:spcPct val="125000"/>
              </a:lnSpc>
              <a:buNone/>
            </a:pPr>
            <a:r>
              <a:rPr lang="en-US" sz="1300" dirty="0">
                <a:solidFill>
                  <a:srgbClr val="1F2429"/>
                </a:solidFill>
                <a:latin typeface="Courier New" pitchFamily="34" charset="0"/>
                <a:ea typeface="Courier New" pitchFamily="34" charset="-122"/>
                <a:cs typeface="Courier New" pitchFamily="34" charset="-120"/>
              </a:rPr>
              <a:t>const promise1 =</a:t>
            </a:r>
            <a:endParaRPr lang="en-US" sz="1300" dirty="0"/>
          </a:p>
          <a:p>
            <a:pPr indent="0" marL="0">
              <a:lnSpc>
                <a:spcPct val="125000"/>
              </a:lnSpc>
              <a:buNone/>
            </a:pPr>
            <a:r>
              <a:rPr lang="en-US" sz="1300" dirty="0">
                <a:solidFill>
                  <a:srgbClr val="1F2429"/>
                </a:solidFill>
                <a:latin typeface="Courier New" pitchFamily="34" charset="0"/>
                <a:ea typeface="Courier New" pitchFamily="34" charset="-122"/>
                <a:cs typeface="Courier New" pitchFamily="34" charset="-120"/>
              </a:rPr>
              <a:t>  delay(100).then(() =&gt; "First");</a:t>
            </a:r>
            <a:endParaRPr lang="en-US" sz="1300" dirty="0"/>
          </a:p>
          <a:p>
            <a:pPr indent="0" marL="0">
              <a:lnSpc>
                <a:spcPct val="125000"/>
              </a:lnSpc>
              <a:buNone/>
            </a:pPr>
            <a:r>
              <a:rPr lang="en-US" sz="1300" dirty="0">
                <a:solidFill>
                  <a:srgbClr val="1F2429"/>
                </a:solidFill>
                <a:latin typeface="Courier New" pitchFamily="34" charset="0"/>
                <a:ea typeface="Courier New" pitchFamily="34" charset="-122"/>
                <a:cs typeface="Courier New" pitchFamily="34" charset="-120"/>
              </a:rPr>
              <a:t>const promise2 =</a:t>
            </a:r>
            <a:endParaRPr lang="en-US" sz="1300" dirty="0"/>
          </a:p>
          <a:p>
            <a:pPr indent="0" marL="0">
              <a:lnSpc>
                <a:spcPct val="125000"/>
              </a:lnSpc>
              <a:buNone/>
            </a:pPr>
            <a:r>
              <a:rPr lang="en-US" sz="1300" dirty="0">
                <a:solidFill>
                  <a:srgbClr val="1F2429"/>
                </a:solidFill>
                <a:latin typeface="Courier New" pitchFamily="34" charset="0"/>
                <a:ea typeface="Courier New" pitchFamily="34" charset="-122"/>
                <a:cs typeface="Courier New" pitchFamily="34" charset="-120"/>
              </a:rPr>
              <a:t>  delay(50).then(() =&gt; "Second");</a:t>
            </a:r>
            <a:endParaRPr lang="en-US" sz="1300" dirty="0"/>
          </a:p>
          <a:p>
            <a:pPr indent="0" marL="0">
              <a:lnSpc>
                <a:spcPct val="125000"/>
              </a:lnSpc>
              <a:buNone/>
            </a:pPr>
            <a:r>
              <a:rPr lang="en-US" sz="1300" dirty="0">
                <a:solidFill>
                  <a:srgbClr val="1F2429"/>
                </a:solidFill>
                <a:latin typeface="Courier New" pitchFamily="34" charset="0"/>
                <a:ea typeface="Courier New" pitchFamily="34" charset="-122"/>
                <a:cs typeface="Courier New" pitchFamily="34" charset="-120"/>
              </a:rPr>
              <a:t>const promise3 =</a:t>
            </a:r>
            <a:endParaRPr lang="en-US" sz="1300" dirty="0"/>
          </a:p>
          <a:p>
            <a:pPr indent="0" marL="0">
              <a:lnSpc>
                <a:spcPct val="125000"/>
              </a:lnSpc>
              <a:buNone/>
            </a:pPr>
            <a:r>
              <a:rPr lang="en-US" sz="1300" dirty="0">
                <a:solidFill>
                  <a:srgbClr val="1F2429"/>
                </a:solidFill>
                <a:latin typeface="Courier New" pitchFamily="34" charset="0"/>
                <a:ea typeface="Courier New" pitchFamily="34" charset="-122"/>
                <a:cs typeface="Courier New" pitchFamily="34" charset="-120"/>
              </a:rPr>
              <a:t>  delay(150).then(() =&gt; "Third");</a:t>
            </a:r>
            <a:endParaRPr lang="en-US" sz="1300" dirty="0"/>
          </a:p>
          <a:p>
            <a:pPr indent="0" marL="0">
              <a:lnSpc>
                <a:spcPct val="125000"/>
              </a:lnSpc>
              <a:buNone/>
            </a:pPr>
            <a:endParaRPr lang="en-US" sz="1300" dirty="0"/>
          </a:p>
          <a:p>
            <a:pPr indent="0" marL="0">
              <a:lnSpc>
                <a:spcPct val="125000"/>
              </a:lnSpc>
              <a:buNone/>
            </a:pPr>
            <a:r>
              <a:rPr lang="en-US" sz="1300" dirty="0">
                <a:solidFill>
                  <a:srgbClr val="1F2429"/>
                </a:solidFill>
                <a:latin typeface="Courier New" pitchFamily="34" charset="0"/>
                <a:ea typeface="Courier New" pitchFamily="34" charset="-122"/>
                <a:cs typeface="Courier New" pitchFamily="34" charset="-120"/>
              </a:rPr>
              <a:t>Promise.all(</a:t>
            </a:r>
            <a:endParaRPr lang="en-US" sz="1300" dirty="0"/>
          </a:p>
          <a:p>
            <a:pPr indent="0" marL="0">
              <a:lnSpc>
                <a:spcPct val="125000"/>
              </a:lnSpc>
              <a:buNone/>
            </a:pPr>
            <a:r>
              <a:rPr lang="en-US" sz="1300" dirty="0">
                <a:solidFill>
                  <a:srgbClr val="1F2429"/>
                </a:solidFill>
                <a:latin typeface="Courier New" pitchFamily="34" charset="0"/>
                <a:ea typeface="Courier New" pitchFamily="34" charset="-122"/>
                <a:cs typeface="Courier New" pitchFamily="34" charset="-120"/>
              </a:rPr>
              <a:t>  [promise1, promise2, promise3]</a:t>
            </a:r>
            <a:endParaRPr lang="en-US" sz="1300" dirty="0"/>
          </a:p>
          <a:p>
            <a:pPr indent="0" marL="0">
              <a:lnSpc>
                <a:spcPct val="125000"/>
              </a:lnSpc>
              <a:buNone/>
            </a:pPr>
            <a:r>
              <a:rPr lang="en-US" sz="1300" dirty="0">
                <a:solidFill>
                  <a:srgbClr val="1F2429"/>
                </a:solidFill>
                <a:latin typeface="Courier New" pitchFamily="34" charset="0"/>
                <a:ea typeface="Courier New" pitchFamily="34" charset="-122"/>
                <a:cs typeface="Courier New" pitchFamily="34" charset="-120"/>
              </a:rPr>
              <a:t>).then(results =&gt; { ... });</a:t>
            </a:r>
            <a:endParaRPr lang="en-US" sz="1300" dirty="0"/>
          </a:p>
        </p:txBody>
      </p:sp>
      <p:sp>
        <p:nvSpPr>
          <p:cNvPr id="6" name="Shape 4"/>
          <p:cNvSpPr/>
          <p:nvPr/>
        </p:nvSpPr>
        <p:spPr>
          <a:xfrm>
            <a:off x="6169000" y="1947672"/>
            <a:ext cx="5492344" cy="4379976"/>
          </a:xfrm>
          <a:prstGeom prst="roundRect">
            <a:avLst>
              <a:gd name="adj" fmla="val 1253"/>
            </a:avLst>
          </a:prstGeom>
          <a:solidFill>
            <a:srgbClr val="FFFFFF"/>
          </a:solidFill>
          <a:ln w="12700">
            <a:solidFill>
              <a:srgbClr val="E2E2EE"/>
            </a:solidFill>
            <a:prstDash val="solid"/>
          </a:ln>
          <a:effectLst>
            <a:outerShdw sx="100000" sy="100000" kx="0" ky="0" algn="bl" rotWithShape="0" blurRad="101600" dist="38100" dir="5400000">
              <a:srgbClr val="000000">
                <a:alpha val="12000"/>
              </a:srgbClr>
            </a:outerShdw>
          </a:effectLst>
        </p:spPr>
        <p:txBody>
          <a:bodyPr/>
          <a:p/>
        </p:txBody>
      </p:sp>
      <p:pic>
        <p:nvPicPr>
          <p:cNvPr id="7" name="Image 0" descr="D:/GitHub/mern-web-book/docs/assets/img/lecture-15/promise-all-live.png">    </p:cNvPr>
          <p:cNvPicPr>
            <a:picLocks noChangeAspect="1"/>
          </p:cNvPicPr>
          <p:nvPr/>
        </p:nvPicPr>
        <p:blipFill>
          <a:blip r:embed="rId1"/>
          <a:stretch>
            <a:fillRect/>
          </a:stretch>
        </p:blipFill>
        <p:spPr>
          <a:xfrm>
            <a:off x="6278728" y="3631633"/>
            <a:ext cx="5272888" cy="1012054"/>
          </a:xfrm>
          <a:prstGeom prst="rect">
            <a:avLst/>
          </a:prstGeom>
        </p:spPr>
      </p:pic>
      <p:sp>
        <p:nvSpPr>
          <p:cNvPr id="10" name="cuinotes-footer-mark"/>
          <p:cNvSpPr txBox="1"/>
          <p:nvPr/>
        </p:nvSpPr>
        <p:spPr>
          <a:xfrm>
            <a:off x="9951720" y="6455664"/>
            <a:ext cx="2011680" cy="292608"/>
          </a:xfrm>
          <a:prstGeom prst="rect">
            <a:avLst/>
          </a:prstGeom>
          <a:noFill/>
        </p:spPr>
        <p:txBody>
          <a:bodyPr wrap="none" lIns="0" rIns="0" tIns="0" bIns="0">
            <a:spAutoFit/>
          </a:bodyPr>
          <a:lstStyle/>
          <a:p>
            <a:pPr algn="r"/>
            <a:r>
              <a:rPr sz="1000">
                <a:solidFill>
                  <a:srgbClr val="8A939B"/>
                </a:solidFill>
                <a:hlinkClick r:id="rId4"/>
              </a:rPr>
              <a:t>cuinotes.com</a:t>
            </a:r>
            <a:r>
              <a:rPr sz="1000">
                <a:solidFill>
                  <a:srgbClr val="8A939B"/>
                </a:solidFill>
              </a:rPr>
              <a:t>  ·  18</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10058400" cy="365760"/>
          </a:xfrm>
          <a:prstGeom prst="rect">
            <a:avLst/>
          </a:prstGeom>
          <a:noFill/>
          <a:ln/>
        </p:spPr>
        <p:txBody>
          <a:bodyPr wrap="square" lIns="0" tIns="0" rIns="0" bIns="0" rtlCol="0" anchor="ctr"/>
          <a:lstStyle/>
          <a:p>
            <a:pPr algn="l" indent="0" marL="0">
              <a:buNone/>
            </a:pPr>
            <a:r>
              <a:rPr lang="en-US" sz="1300" b="1" spc="300" kern="0" dirty="0">
                <a:solidFill>
                  <a:srgbClr val="FF8A3D"/>
                </a:solidFill>
                <a:latin typeface="Calibri" pitchFamily="34" charset="0"/>
                <a:ea typeface="Calibri" pitchFamily="34" charset="-122"/>
                <a:cs typeface="Calibri" pitchFamily="34" charset="-120"/>
              </a:rPr>
              <a:t>ASYNC/AWAIT</a:t>
            </a:r>
            <a:endParaRPr lang="en-US" sz="1300" dirty="0"/>
          </a:p>
        </p:txBody>
      </p:sp>
      <p:sp>
        <p:nvSpPr>
          <p:cNvPr id="3" name="Text 1"/>
          <p:cNvSpPr txBox="1"/>
          <p:nvPr/>
        </p:nvSpPr>
        <p:spPr>
          <a:xfrm>
            <a:off x="640080" y="841248"/>
            <a:ext cx="10881360" cy="914400"/>
          </a:xfrm>
          <a:prstGeom prst="rect">
            <a:avLst/>
          </a:prstGeom>
          <a:noFill/>
          <a:ln/>
        </p:spPr>
        <p:txBody>
          <a:bodyPr wrap="square" lIns="0" tIns="0" rIns="0" bIns="0" rtlCol="0" anchor="ctr"/>
          <a:lstStyle/>
          <a:p>
            <a:pPr algn="l" indent="0" marL="0">
              <a:buNone/>
            </a:pPr>
            <a:r>
              <a:rPr lang="en-US" sz="3400" b="1" dirty="0">
                <a:solidFill>
                  <a:srgbClr val="2B2B7A"/>
                </a:solidFill>
                <a:latin typeface="Cambria" pitchFamily="34" charset="0"/>
                <a:ea typeface="Cambria" pitchFamily="34" charset="-122"/>
                <a:cs typeface="Cambria" pitchFamily="34" charset="-120"/>
              </a:rPr>
              <a:t>Two Rules</a:t>
            </a:r>
            <a:endParaRPr lang="en-US" sz="3400" dirty="0"/>
          </a:p>
        </p:txBody>
      </p:sp>
      <p:sp>
        <p:nvSpPr>
          <p:cNvPr id="4" name="Shape 2"/>
          <p:cNvSpPr/>
          <p:nvPr/>
        </p:nvSpPr>
        <p:spPr>
          <a:xfrm>
            <a:off x="685800" y="1965960"/>
            <a:ext cx="457200" cy="457200"/>
          </a:xfrm>
          <a:prstGeom prst="ellipse">
            <a:avLst/>
          </a:prstGeom>
          <a:solidFill>
            <a:srgbClr val="FF8A3D"/>
          </a:solidFill>
          <a:ln/>
        </p:spPr>
        <p:txBody>
          <a:bodyPr/>
          <a:p/>
        </p:txBody>
      </p:sp>
      <p:sp>
        <p:nvSpPr>
          <p:cNvPr id="5" name="Text 3"/>
          <p:cNvSpPr txBox="1"/>
          <p:nvPr/>
        </p:nvSpPr>
        <p:spPr>
          <a:xfrm>
            <a:off x="685800" y="196596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6" name="Text 4"/>
          <p:cNvSpPr txBox="1"/>
          <p:nvPr/>
        </p:nvSpPr>
        <p:spPr>
          <a:xfrm>
            <a:off x="1371600" y="1892808"/>
            <a:ext cx="10180015" cy="640080"/>
          </a:xfrm>
          <a:prstGeom prst="rect">
            <a:avLst/>
          </a:prstGeom>
          <a:noFill/>
          <a:ln/>
        </p:spPr>
        <p:txBody>
          <a:bodyPr wrap="square" lIns="0" tIns="0" rIns="0" bIns="0" rtlCol="0" anchor="ctr"/>
          <a:lstStyle/>
          <a:p>
            <a:pPr indent="0" marL="0">
              <a:buNone/>
            </a:pPr>
            <a:r>
              <a:rPr lang="en-US" sz="1500" dirty="0">
                <a:solidFill>
                  <a:srgbClr val="26262F"/>
                </a:solidFill>
                <a:latin typeface="Calibri" pitchFamily="34" charset="0"/>
                <a:ea typeface="Calibri" pitchFamily="34" charset="-122"/>
                <a:cs typeface="Calibri" pitchFamily="34" charset="-120"/>
              </a:rPr>
              <a:t>async before a function makes it always return a Promise, and allows await inside it</a:t>
            </a:r>
            <a:endParaRPr lang="en-US" sz="1500" dirty="0"/>
          </a:p>
        </p:txBody>
      </p:sp>
      <p:sp>
        <p:nvSpPr>
          <p:cNvPr id="7" name="Shape 5"/>
          <p:cNvSpPr/>
          <p:nvPr/>
        </p:nvSpPr>
        <p:spPr>
          <a:xfrm>
            <a:off x="685800" y="2788920"/>
            <a:ext cx="457200" cy="457200"/>
          </a:xfrm>
          <a:prstGeom prst="ellipse">
            <a:avLst/>
          </a:prstGeom>
          <a:solidFill>
            <a:srgbClr val="FF8A3D"/>
          </a:solidFill>
          <a:ln/>
        </p:spPr>
        <p:txBody>
          <a:bodyPr/>
          <a:p/>
        </p:txBody>
      </p:sp>
      <p:sp>
        <p:nvSpPr>
          <p:cNvPr id="8" name="Text 6"/>
          <p:cNvSpPr txBox="1"/>
          <p:nvPr/>
        </p:nvSpPr>
        <p:spPr>
          <a:xfrm>
            <a:off x="685800" y="278892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9" name="Text 7"/>
          <p:cNvSpPr txBox="1"/>
          <p:nvPr/>
        </p:nvSpPr>
        <p:spPr>
          <a:xfrm>
            <a:off x="1371600" y="2715768"/>
            <a:ext cx="10180015" cy="640080"/>
          </a:xfrm>
          <a:prstGeom prst="rect">
            <a:avLst/>
          </a:prstGeom>
          <a:noFill/>
          <a:ln/>
        </p:spPr>
        <p:txBody>
          <a:bodyPr wrap="square" lIns="0" tIns="0" rIns="0" bIns="0" rtlCol="0" anchor="ctr"/>
          <a:lstStyle/>
          <a:p>
            <a:pPr indent="0" marL="0">
              <a:buNone/>
            </a:pPr>
            <a:r>
              <a:rPr lang="en-US" sz="1500" dirty="0">
                <a:solidFill>
                  <a:srgbClr val="26262F"/>
                </a:solidFill>
                <a:latin typeface="Calibri" pitchFamily="34" charset="0"/>
                <a:ea typeface="Calibri" pitchFamily="34" charset="-122"/>
                <a:cs typeface="Calibri" pitchFamily="34" charset="-120"/>
              </a:rPr>
              <a:t>await pauses execution of THAT function (not the whole program) until the promise settles, then unwraps the resolved value -- or throws if it rejected</a:t>
            </a:r>
            <a:endParaRPr lang="en-US" sz="1500" dirty="0"/>
          </a:p>
        </p:txBody>
      </p:sp>
      <p:sp>
        <p:nvSpPr>
          <p:cNvPr id="12" name="cuinotes-footer-mark"/>
          <p:cNvSpPr txBox="1"/>
          <p:nvPr/>
        </p:nvSpPr>
        <p:spPr>
          <a:xfrm>
            <a:off x="9951720" y="6455664"/>
            <a:ext cx="2011680" cy="292608"/>
          </a:xfrm>
          <a:prstGeom prst="rect">
            <a:avLst/>
          </a:prstGeom>
          <a:noFill/>
        </p:spPr>
        <p:txBody>
          <a:bodyPr wrap="none" lIns="0" rIns="0" tIns="0" bIns="0">
            <a:spAutoFit/>
          </a:bodyPr>
          <a:lstStyle/>
          <a:p>
            <a:pPr algn="r"/>
            <a:r>
              <a:rPr sz="1000">
                <a:solidFill>
                  <a:srgbClr val="8A939B"/>
                </a:solidFill>
                <a:hlinkClick r:id="rId3"/>
              </a:rPr>
              <a:t>cuinotes.com</a:t>
            </a:r>
            <a:r>
              <a:rPr sz="1000">
                <a:solidFill>
                  <a:srgbClr val="8A939B"/>
                </a:solidFill>
              </a:rPr>
              <a:t>  ·  19</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10058400" cy="365760"/>
          </a:xfrm>
          <a:prstGeom prst="rect">
            <a:avLst/>
          </a:prstGeom>
          <a:noFill/>
          <a:ln/>
        </p:spPr>
        <p:txBody>
          <a:bodyPr wrap="square" lIns="0" tIns="0" rIns="0" bIns="0" rtlCol="0" anchor="ctr"/>
          <a:lstStyle/>
          <a:p>
            <a:pPr algn="l" indent="0" marL="0">
              <a:buNone/>
            </a:pPr>
            <a:r>
              <a:rPr lang="en-US" sz="1300" b="1" spc="300" kern="0" dirty="0">
                <a:solidFill>
                  <a:srgbClr val="FF8A3D"/>
                </a:solidFill>
                <a:latin typeface="Calibri" pitchFamily="34" charset="0"/>
                <a:ea typeface="Calibri" pitchFamily="34" charset="-122"/>
                <a:cs typeface="Calibri" pitchFamily="34" charset="-120"/>
              </a:rPr>
              <a:t>ASYNC/AWAIT</a:t>
            </a:r>
            <a:endParaRPr lang="en-US" sz="1300" dirty="0"/>
          </a:p>
        </p:txBody>
      </p:sp>
      <p:sp>
        <p:nvSpPr>
          <p:cNvPr id="3" name="Text 1"/>
          <p:cNvSpPr txBox="1"/>
          <p:nvPr/>
        </p:nvSpPr>
        <p:spPr>
          <a:xfrm>
            <a:off x="640080" y="841248"/>
            <a:ext cx="10881360" cy="914400"/>
          </a:xfrm>
          <a:prstGeom prst="rect">
            <a:avLst/>
          </a:prstGeom>
          <a:noFill/>
          <a:ln/>
        </p:spPr>
        <p:txBody>
          <a:bodyPr wrap="square" lIns="0" tIns="0" rIns="0" bIns="0" rtlCol="0" anchor="ctr"/>
          <a:lstStyle/>
          <a:p>
            <a:pPr algn="l" indent="0" marL="0">
              <a:buNone/>
            </a:pPr>
            <a:r>
              <a:rPr lang="en-US" sz="3400" b="1" dirty="0">
                <a:solidFill>
                  <a:srgbClr val="2B2B7A"/>
                </a:solidFill>
                <a:latin typeface="Cambria" pitchFamily="34" charset="0"/>
                <a:ea typeface="Cambria" pitchFamily="34" charset="-122"/>
                <a:cs typeface="Cambria" pitchFamily="34" charset="-120"/>
              </a:rPr>
              <a:t>Reads Like Synchronous Code</a:t>
            </a:r>
            <a:endParaRPr lang="en-US" sz="3400" dirty="0"/>
          </a:p>
        </p:txBody>
      </p:sp>
      <p:sp>
        <p:nvSpPr>
          <p:cNvPr id="4" name="Shape 2"/>
          <p:cNvSpPr/>
          <p:nvPr/>
        </p:nvSpPr>
        <p:spPr>
          <a:xfrm>
            <a:off x="640080" y="1965960"/>
            <a:ext cx="10911535" cy="2148840"/>
          </a:xfrm>
          <a:prstGeom prst="roundRect">
            <a:avLst>
              <a:gd name="adj" fmla="val 3404"/>
            </a:avLst>
          </a:prstGeom>
          <a:solidFill>
            <a:srgbClr val="F7F8F9"/>
          </a:solidFill>
          <a:ln w="9525">
            <a:solidFill>
              <a:srgbClr val="D0D5DD"/>
            </a:solidFill>
          </a:ln>
        </p:spPr>
        <p:txBody>
          <a:bodyPr/>
          <a:p/>
        </p:txBody>
      </p:sp>
      <p:sp>
        <p:nvSpPr>
          <p:cNvPr id="5" name="Text 3"/>
          <p:cNvSpPr txBox="1"/>
          <p:nvPr/>
        </p:nvSpPr>
        <p:spPr>
          <a:xfrm>
            <a:off x="960120" y="2194560"/>
            <a:ext cx="10271455" cy="1691640"/>
          </a:xfrm>
          <a:prstGeom prst="rect">
            <a:avLst/>
          </a:prstGeom>
          <a:noFill/>
          <a:ln/>
        </p:spPr>
        <p:txBody>
          <a:bodyPr wrap="square" lIns="0" tIns="0" rIns="0" bIns="0" rtlCol="0" anchor="t"/>
          <a:lstStyle/>
          <a:p>
            <a:pPr indent="0" marL="0">
              <a:lnSpc>
                <a:spcPct val="125000"/>
              </a:lnSpc>
              <a:buNone/>
            </a:pPr>
            <a:r>
              <a:rPr lang="en-US" sz="1400" dirty="0">
                <a:solidFill>
                  <a:srgbClr val="1F2429"/>
                </a:solidFill>
                <a:latin typeface="Courier New" pitchFamily="34" charset="0"/>
                <a:ea typeface="Courier New" pitchFamily="34" charset="-122"/>
                <a:cs typeface="Courier New" pitchFamily="34" charset="-120"/>
              </a:rPr>
              <a:t>async function loadOrderDetails(userId) {</a:t>
            </a:r>
            <a:endParaRPr lang="en-US" sz="1400" dirty="0"/>
          </a:p>
          <a:p>
            <a:pPr indent="0" marL="0">
              <a:lnSpc>
                <a:spcPct val="125000"/>
              </a:lnSpc>
              <a:buNone/>
            </a:pPr>
            <a:r>
              <a:rPr lang="en-US" sz="1400" dirty="0">
                <a:solidFill>
                  <a:srgbClr val="1F2429"/>
                </a:solidFill>
                <a:latin typeface="Courier New" pitchFamily="34" charset="0"/>
                <a:ea typeface="Courier New" pitchFamily="34" charset="-122"/>
                <a:cs typeface="Courier New" pitchFamily="34" charset="-120"/>
              </a:rPr>
              <a:t>  const user = await getUser(userId);       // "pause" until the promise settles</a:t>
            </a:r>
            <a:endParaRPr lang="en-US" sz="1400" dirty="0"/>
          </a:p>
          <a:p>
            <a:pPr indent="0" marL="0">
              <a:lnSpc>
                <a:spcPct val="125000"/>
              </a:lnSpc>
              <a:buNone/>
            </a:pPr>
            <a:r>
              <a:rPr lang="en-US" sz="1400" dirty="0">
                <a:solidFill>
                  <a:srgbClr val="1F2429"/>
                </a:solidFill>
                <a:latin typeface="Courier New" pitchFamily="34" charset="0"/>
                <a:ea typeface="Courier New" pitchFamily="34" charset="-122"/>
                <a:cs typeface="Courier New" pitchFamily="34" charset="-120"/>
              </a:rPr>
              <a:t>  const orders = await getOrders(user.id);</a:t>
            </a:r>
            <a:endParaRPr lang="en-US" sz="1400" dirty="0"/>
          </a:p>
          <a:p>
            <a:pPr indent="0" marL="0">
              <a:lnSpc>
                <a:spcPct val="125000"/>
              </a:lnSpc>
              <a:buNone/>
            </a:pPr>
            <a:r>
              <a:rPr lang="en-US" sz="1400" dirty="0">
                <a:solidFill>
                  <a:srgbClr val="1F2429"/>
                </a:solidFill>
                <a:latin typeface="Courier New" pitchFamily="34" charset="0"/>
                <a:ea typeface="Courier New" pitchFamily="34" charset="-122"/>
                <a:cs typeface="Courier New" pitchFamily="34" charset="-120"/>
              </a:rPr>
              <a:t>  const details = await getOrderDetails(orders[0].id);</a:t>
            </a:r>
            <a:endParaRPr lang="en-US" sz="1400" dirty="0"/>
          </a:p>
          <a:p>
            <a:pPr indent="0" marL="0">
              <a:lnSpc>
                <a:spcPct val="125000"/>
              </a:lnSpc>
              <a:buNone/>
            </a:pPr>
            <a:r>
              <a:rPr lang="en-US" sz="1400" dirty="0">
                <a:solidFill>
                  <a:srgbClr val="1F2429"/>
                </a:solidFill>
                <a:latin typeface="Courier New" pitchFamily="34" charset="0"/>
                <a:ea typeface="Courier New" pitchFamily="34" charset="-122"/>
                <a:cs typeface="Courier New" pitchFamily="34" charset="-120"/>
              </a:rPr>
              <a:t>  return details;</a:t>
            </a:r>
            <a:endParaRPr lang="en-US" sz="1400" dirty="0"/>
          </a:p>
          <a:p>
            <a:pPr indent="0" marL="0">
              <a:lnSpc>
                <a:spcPct val="125000"/>
              </a:lnSpc>
              <a:buNone/>
            </a:pPr>
            <a:r>
              <a:rPr lang="en-US" sz="1400" dirty="0">
                <a:solidFill>
                  <a:srgbClr val="1F2429"/>
                </a:solidFill>
                <a:latin typeface="Courier New" pitchFamily="34" charset="0"/>
                <a:ea typeface="Courier New" pitchFamily="34" charset="-122"/>
                <a:cs typeface="Courier New" pitchFamily="34" charset="-120"/>
              </a:rPr>
              <a:t>}</a:t>
            </a:r>
            <a:endParaRPr lang="en-US" sz="1400" dirty="0"/>
          </a:p>
        </p:txBody>
      </p:sp>
      <p:sp>
        <p:nvSpPr>
          <p:cNvPr id="8" name="cuinotes-footer-mark"/>
          <p:cNvSpPr txBox="1"/>
          <p:nvPr/>
        </p:nvSpPr>
        <p:spPr>
          <a:xfrm>
            <a:off x="9951720" y="6455664"/>
            <a:ext cx="2011680" cy="292608"/>
          </a:xfrm>
          <a:prstGeom prst="rect">
            <a:avLst/>
          </a:prstGeom>
          <a:noFill/>
        </p:spPr>
        <p:txBody>
          <a:bodyPr wrap="none" lIns="0" rIns="0" tIns="0" bIns="0">
            <a:spAutoFit/>
          </a:bodyPr>
          <a:lstStyle/>
          <a:p>
            <a:pPr algn="r"/>
            <a:r>
              <a:rPr sz="1000">
                <a:solidFill>
                  <a:srgbClr val="8A939B"/>
                </a:solidFill>
                <a:hlinkClick r:id="rId3"/>
              </a:rPr>
              <a:t>cuinotes.com</a:t>
            </a:r>
            <a:r>
              <a:rPr sz="1000">
                <a:solidFill>
                  <a:srgbClr val="8A939B"/>
                </a:solidFill>
              </a:rPr>
              <a:t>  ·  20</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10058400" cy="365760"/>
          </a:xfrm>
          <a:prstGeom prst="rect">
            <a:avLst/>
          </a:prstGeom>
          <a:noFill/>
          <a:ln/>
        </p:spPr>
        <p:txBody>
          <a:bodyPr wrap="square" lIns="0" tIns="0" rIns="0" bIns="0" rtlCol="0" anchor="ctr"/>
          <a:lstStyle/>
          <a:p>
            <a:pPr algn="l" indent="0" marL="0">
              <a:buNone/>
            </a:pPr>
            <a:r>
              <a:rPr lang="en-US" sz="1300" b="1" spc="300" kern="0" dirty="0">
                <a:solidFill>
                  <a:srgbClr val="FF8A3D"/>
                </a:solidFill>
                <a:latin typeface="Calibri" pitchFamily="34" charset="0"/>
                <a:ea typeface="Calibri" pitchFamily="34" charset="-122"/>
                <a:cs typeface="Calibri" pitchFamily="34" charset="-120"/>
              </a:rPr>
              <a:t>ASYNC/AWAIT</a:t>
            </a:r>
            <a:endParaRPr lang="en-US" sz="1300" dirty="0"/>
          </a:p>
        </p:txBody>
      </p:sp>
      <p:sp>
        <p:nvSpPr>
          <p:cNvPr id="3" name="Text 1"/>
          <p:cNvSpPr txBox="1"/>
          <p:nvPr/>
        </p:nvSpPr>
        <p:spPr>
          <a:xfrm>
            <a:off x="640080" y="841248"/>
            <a:ext cx="10881360" cy="914400"/>
          </a:xfrm>
          <a:prstGeom prst="rect">
            <a:avLst/>
          </a:prstGeom>
          <a:noFill/>
          <a:ln/>
        </p:spPr>
        <p:txBody>
          <a:bodyPr wrap="square" lIns="0" tIns="0" rIns="0" bIns="0" rtlCol="0" anchor="ctr"/>
          <a:lstStyle/>
          <a:p>
            <a:pPr algn="l" indent="0" marL="0">
              <a:buNone/>
            </a:pPr>
            <a:r>
              <a:rPr lang="en-US" sz="3400" b="1" dirty="0">
                <a:solidFill>
                  <a:srgbClr val="2B2B7A"/>
                </a:solidFill>
                <a:latin typeface="Cambria" pitchFamily="34" charset="0"/>
                <a:ea typeface="Cambria" pitchFamily="34" charset="-122"/>
                <a:cs typeface="Cambria" pitchFamily="34" charset="-120"/>
              </a:rPr>
              <a:t>Error Handling with try...catch</a:t>
            </a:r>
            <a:endParaRPr lang="en-US" sz="3400" dirty="0"/>
          </a:p>
        </p:txBody>
      </p:sp>
      <p:sp>
        <p:nvSpPr>
          <p:cNvPr id="4" name="Shape 2"/>
          <p:cNvSpPr/>
          <p:nvPr/>
        </p:nvSpPr>
        <p:spPr>
          <a:xfrm>
            <a:off x="640080" y="1965960"/>
            <a:ext cx="10911535" cy="3482340"/>
          </a:xfrm>
          <a:prstGeom prst="roundRect">
            <a:avLst>
              <a:gd name="adj" fmla="val 2101"/>
            </a:avLst>
          </a:prstGeom>
          <a:solidFill>
            <a:srgbClr val="F7F8F9"/>
          </a:solidFill>
          <a:ln w="9525">
            <a:solidFill>
              <a:srgbClr val="D0D5DD"/>
            </a:solidFill>
          </a:ln>
        </p:spPr>
        <p:txBody>
          <a:bodyPr/>
          <a:p/>
        </p:txBody>
      </p:sp>
      <p:sp>
        <p:nvSpPr>
          <p:cNvPr id="5" name="Text 3"/>
          <p:cNvSpPr txBox="1"/>
          <p:nvPr/>
        </p:nvSpPr>
        <p:spPr>
          <a:xfrm>
            <a:off x="960120" y="2194560"/>
            <a:ext cx="10271455" cy="3025140"/>
          </a:xfrm>
          <a:prstGeom prst="rect">
            <a:avLst/>
          </a:prstGeom>
          <a:noFill/>
          <a:ln/>
        </p:spPr>
        <p:txBody>
          <a:bodyPr wrap="square" lIns="0" tIns="0" rIns="0" bIns="0" rtlCol="0" anchor="t"/>
          <a:lstStyle/>
          <a:p>
            <a:pPr indent="0" marL="0">
              <a:lnSpc>
                <a:spcPct val="125000"/>
              </a:lnSpc>
              <a:buNone/>
            </a:pPr>
            <a:r>
              <a:rPr lang="en-US" sz="1400" dirty="0">
                <a:solidFill>
                  <a:srgbClr val="1F2429"/>
                </a:solidFill>
                <a:latin typeface="Courier New" pitchFamily="34" charset="0"/>
                <a:ea typeface="Courier New" pitchFamily="34" charset="-122"/>
                <a:cs typeface="Courier New" pitchFamily="34" charset="-120"/>
              </a:rPr>
              <a:t>async function loadOrderDetails(userId) {</a:t>
            </a:r>
            <a:endParaRPr lang="en-US" sz="1400" dirty="0"/>
          </a:p>
          <a:p>
            <a:pPr indent="0" marL="0">
              <a:lnSpc>
                <a:spcPct val="125000"/>
              </a:lnSpc>
              <a:buNone/>
            </a:pPr>
            <a:r>
              <a:rPr lang="en-US" sz="1400" dirty="0">
                <a:solidFill>
                  <a:srgbClr val="1F2429"/>
                </a:solidFill>
                <a:latin typeface="Courier New" pitchFamily="34" charset="0"/>
                <a:ea typeface="Courier New" pitchFamily="34" charset="-122"/>
                <a:cs typeface="Courier New" pitchFamily="34" charset="-120"/>
              </a:rPr>
              <a:t>  try {</a:t>
            </a:r>
            <a:endParaRPr lang="en-US" sz="1400" dirty="0"/>
          </a:p>
          <a:p>
            <a:pPr indent="0" marL="0">
              <a:lnSpc>
                <a:spcPct val="125000"/>
              </a:lnSpc>
              <a:buNone/>
            </a:pPr>
            <a:r>
              <a:rPr lang="en-US" sz="1400" dirty="0">
                <a:solidFill>
                  <a:srgbClr val="1F2429"/>
                </a:solidFill>
                <a:latin typeface="Courier New" pitchFamily="34" charset="0"/>
                <a:ea typeface="Courier New" pitchFamily="34" charset="-122"/>
                <a:cs typeface="Courier New" pitchFamily="34" charset="-120"/>
              </a:rPr>
              <a:t>    const user = await getUser(userId);</a:t>
            </a:r>
            <a:endParaRPr lang="en-US" sz="1400" dirty="0"/>
          </a:p>
          <a:p>
            <a:pPr indent="0" marL="0">
              <a:lnSpc>
                <a:spcPct val="125000"/>
              </a:lnSpc>
              <a:buNone/>
            </a:pPr>
            <a:r>
              <a:rPr lang="en-US" sz="1400" dirty="0">
                <a:solidFill>
                  <a:srgbClr val="1F2429"/>
                </a:solidFill>
                <a:latin typeface="Courier New" pitchFamily="34" charset="0"/>
                <a:ea typeface="Courier New" pitchFamily="34" charset="-122"/>
                <a:cs typeface="Courier New" pitchFamily="34" charset="-120"/>
              </a:rPr>
              <a:t>    const orders = await getOrders(user.id);</a:t>
            </a:r>
            <a:endParaRPr lang="en-US" sz="1400" dirty="0"/>
          </a:p>
          <a:p>
            <a:pPr indent="0" marL="0">
              <a:lnSpc>
                <a:spcPct val="125000"/>
              </a:lnSpc>
              <a:buNone/>
            </a:pPr>
            <a:r>
              <a:rPr lang="en-US" sz="1400" dirty="0">
                <a:solidFill>
                  <a:srgbClr val="1F2429"/>
                </a:solidFill>
                <a:latin typeface="Courier New" pitchFamily="34" charset="0"/>
                <a:ea typeface="Courier New" pitchFamily="34" charset="-122"/>
                <a:cs typeface="Courier New" pitchFamily="34" charset="-120"/>
              </a:rPr>
              <a:t>    const details = await getOrderDetails(orders[0].id);</a:t>
            </a:r>
            <a:endParaRPr lang="en-US" sz="1400" dirty="0"/>
          </a:p>
          <a:p>
            <a:pPr indent="0" marL="0">
              <a:lnSpc>
                <a:spcPct val="125000"/>
              </a:lnSpc>
              <a:buNone/>
            </a:pPr>
            <a:r>
              <a:rPr lang="en-US" sz="1400" dirty="0">
                <a:solidFill>
                  <a:srgbClr val="1F2429"/>
                </a:solidFill>
                <a:latin typeface="Courier New" pitchFamily="34" charset="0"/>
                <a:ea typeface="Courier New" pitchFamily="34" charset="-122"/>
                <a:cs typeface="Courier New" pitchFamily="34" charset="-120"/>
              </a:rPr>
              <a:t>    return details;</a:t>
            </a:r>
            <a:endParaRPr lang="en-US" sz="1400" dirty="0"/>
          </a:p>
          <a:p>
            <a:pPr indent="0" marL="0">
              <a:lnSpc>
                <a:spcPct val="125000"/>
              </a:lnSpc>
              <a:buNone/>
            </a:pPr>
            <a:r>
              <a:rPr lang="en-US" sz="1400" dirty="0">
                <a:solidFill>
                  <a:srgbClr val="1F2429"/>
                </a:solidFill>
                <a:latin typeface="Courier New" pitchFamily="34" charset="0"/>
                <a:ea typeface="Courier New" pitchFamily="34" charset="-122"/>
                <a:cs typeface="Courier New" pitchFamily="34" charset="-120"/>
              </a:rPr>
              <a:t>  } catch (error) {</a:t>
            </a:r>
            <a:endParaRPr lang="en-US" sz="1400" dirty="0"/>
          </a:p>
          <a:p>
            <a:pPr indent="0" marL="0">
              <a:lnSpc>
                <a:spcPct val="125000"/>
              </a:lnSpc>
              <a:buNone/>
            </a:pPr>
            <a:r>
              <a:rPr lang="en-US" sz="1400" dirty="0">
                <a:solidFill>
                  <a:srgbClr val="1F2429"/>
                </a:solidFill>
                <a:latin typeface="Courier New" pitchFamily="34" charset="0"/>
                <a:ea typeface="Courier New" pitchFamily="34" charset="-122"/>
                <a:cs typeface="Courier New" pitchFamily="34" charset="-120"/>
              </a:rPr>
              <a:t>    console.error("Failed to load order details:", error.message);</a:t>
            </a:r>
            <a:endParaRPr lang="en-US" sz="1400" dirty="0"/>
          </a:p>
          <a:p>
            <a:pPr indent="0" marL="0">
              <a:lnSpc>
                <a:spcPct val="125000"/>
              </a:lnSpc>
              <a:buNone/>
            </a:pPr>
            <a:r>
              <a:rPr lang="en-US" sz="1400" dirty="0">
                <a:solidFill>
                  <a:srgbClr val="1F2429"/>
                </a:solidFill>
                <a:latin typeface="Courier New" pitchFamily="34" charset="0"/>
                <a:ea typeface="Courier New" pitchFamily="34" charset="-122"/>
                <a:cs typeface="Courier New" pitchFamily="34" charset="-120"/>
              </a:rPr>
              <a:t>    throw error; // re-throw if the caller also needs to know</a:t>
            </a:r>
            <a:endParaRPr lang="en-US" sz="1400" dirty="0"/>
          </a:p>
          <a:p>
            <a:pPr indent="0" marL="0">
              <a:lnSpc>
                <a:spcPct val="125000"/>
              </a:lnSpc>
              <a:buNone/>
            </a:pPr>
            <a:r>
              <a:rPr lang="en-US" sz="1400" dirty="0">
                <a:solidFill>
                  <a:srgbClr val="1F2429"/>
                </a:solidFill>
                <a:latin typeface="Courier New" pitchFamily="34" charset="0"/>
                <a:ea typeface="Courier New" pitchFamily="34" charset="-122"/>
                <a:cs typeface="Courier New" pitchFamily="34" charset="-120"/>
              </a:rPr>
              <a:t>  }</a:t>
            </a:r>
            <a:endParaRPr lang="en-US" sz="1400" dirty="0"/>
          </a:p>
          <a:p>
            <a:pPr indent="0" marL="0">
              <a:lnSpc>
                <a:spcPct val="125000"/>
              </a:lnSpc>
              <a:buNone/>
            </a:pPr>
            <a:r>
              <a:rPr lang="en-US" sz="1400" dirty="0">
                <a:solidFill>
                  <a:srgbClr val="1F2429"/>
                </a:solidFill>
                <a:latin typeface="Courier New" pitchFamily="34" charset="0"/>
                <a:ea typeface="Courier New" pitchFamily="34" charset="-122"/>
                <a:cs typeface="Courier New" pitchFamily="34" charset="-120"/>
              </a:rPr>
              <a:t>}</a:t>
            </a:r>
            <a:endParaRPr lang="en-US" sz="1400" dirty="0"/>
          </a:p>
        </p:txBody>
      </p:sp>
      <p:sp>
        <p:nvSpPr>
          <p:cNvPr id="8" name="cuinotes-footer-mark"/>
          <p:cNvSpPr txBox="1"/>
          <p:nvPr/>
        </p:nvSpPr>
        <p:spPr>
          <a:xfrm>
            <a:off x="9951720" y="6455664"/>
            <a:ext cx="2011680" cy="292608"/>
          </a:xfrm>
          <a:prstGeom prst="rect">
            <a:avLst/>
          </a:prstGeom>
          <a:noFill/>
        </p:spPr>
        <p:txBody>
          <a:bodyPr wrap="none" lIns="0" rIns="0" tIns="0" bIns="0">
            <a:spAutoFit/>
          </a:bodyPr>
          <a:lstStyle/>
          <a:p>
            <a:pPr algn="r"/>
            <a:r>
              <a:rPr sz="1000">
                <a:solidFill>
                  <a:srgbClr val="8A939B"/>
                </a:solidFill>
                <a:hlinkClick r:id="rId3"/>
              </a:rPr>
              <a:t>cuinotes.com</a:t>
            </a:r>
            <a:r>
              <a:rPr sz="1000">
                <a:solidFill>
                  <a:srgbClr val="8A939B"/>
                </a:solidFill>
              </a:rPr>
              <a:t>  ·  21</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10058400" cy="365760"/>
          </a:xfrm>
          <a:prstGeom prst="rect">
            <a:avLst/>
          </a:prstGeom>
          <a:noFill/>
          <a:ln/>
        </p:spPr>
        <p:txBody>
          <a:bodyPr wrap="square" lIns="0" tIns="0" rIns="0" bIns="0" rtlCol="0" anchor="ctr"/>
          <a:lstStyle/>
          <a:p>
            <a:pPr algn="l" indent="0" marL="0">
              <a:buNone/>
            </a:pPr>
            <a:r>
              <a:rPr lang="en-US" sz="1300" b="1" spc="300" kern="0" dirty="0">
                <a:solidFill>
                  <a:srgbClr val="FF8A3D"/>
                </a:solidFill>
                <a:latin typeface="Calibri" pitchFamily="34" charset="0"/>
                <a:ea typeface="Calibri" pitchFamily="34" charset="-122"/>
                <a:cs typeface="Calibri" pitchFamily="34" charset="-120"/>
              </a:rPr>
              <a:t>ASYNC/AWAIT</a:t>
            </a:r>
            <a:endParaRPr lang="en-US" sz="1300" dirty="0"/>
          </a:p>
        </p:txBody>
      </p:sp>
      <p:sp>
        <p:nvSpPr>
          <p:cNvPr id="3" name="Text 1"/>
          <p:cNvSpPr txBox="1"/>
          <p:nvPr/>
        </p:nvSpPr>
        <p:spPr>
          <a:xfrm>
            <a:off x="640080" y="841248"/>
            <a:ext cx="10881360" cy="914400"/>
          </a:xfrm>
          <a:prstGeom prst="rect">
            <a:avLst/>
          </a:prstGeom>
          <a:noFill/>
          <a:ln/>
        </p:spPr>
        <p:txBody>
          <a:bodyPr wrap="square" lIns="0" tIns="0" rIns="0" bIns="0" rtlCol="0" anchor="ctr"/>
          <a:lstStyle/>
          <a:p>
            <a:pPr algn="l" indent="0" marL="0">
              <a:buNone/>
            </a:pPr>
            <a:r>
              <a:rPr lang="en-US" sz="3400" b="1" dirty="0">
                <a:solidFill>
                  <a:srgbClr val="2B2B7A"/>
                </a:solidFill>
                <a:latin typeface="Cambria" pitchFamily="34" charset="0"/>
                <a:ea typeface="Cambria" pitchFamily="34" charset="-122"/>
                <a:cs typeface="Cambria" pitchFamily="34" charset="-120"/>
              </a:rPr>
              <a:t>try...catch, Live (getUser rejects)</a:t>
            </a:r>
            <a:endParaRPr lang="en-US" sz="3400" dirty="0"/>
          </a:p>
        </p:txBody>
      </p:sp>
      <p:sp>
        <p:nvSpPr>
          <p:cNvPr id="4" name="Shape 2"/>
          <p:cNvSpPr/>
          <p:nvPr/>
        </p:nvSpPr>
        <p:spPr>
          <a:xfrm>
            <a:off x="640080" y="2501265"/>
            <a:ext cx="5272888" cy="3272790"/>
          </a:xfrm>
          <a:prstGeom prst="roundRect">
            <a:avLst>
              <a:gd name="adj" fmla="val 2235"/>
            </a:avLst>
          </a:prstGeom>
          <a:solidFill>
            <a:srgbClr val="F7F8F9"/>
          </a:solidFill>
          <a:ln w="9525">
            <a:solidFill>
              <a:srgbClr val="D0D5DD"/>
            </a:solidFill>
          </a:ln>
        </p:spPr>
        <p:txBody>
          <a:bodyPr/>
          <a:p/>
        </p:txBody>
      </p:sp>
      <p:sp>
        <p:nvSpPr>
          <p:cNvPr id="5" name="Text 3"/>
          <p:cNvSpPr txBox="1"/>
          <p:nvPr/>
        </p:nvSpPr>
        <p:spPr>
          <a:xfrm>
            <a:off x="960120" y="2729865"/>
            <a:ext cx="4632808" cy="2815590"/>
          </a:xfrm>
          <a:prstGeom prst="rect">
            <a:avLst/>
          </a:prstGeom>
          <a:noFill/>
          <a:ln/>
        </p:spPr>
        <p:txBody>
          <a:bodyPr wrap="square" lIns="0" tIns="0" rIns="0" bIns="0" rtlCol="0" anchor="t"/>
          <a:lstStyle/>
          <a:p>
            <a:pPr indent="0" marL="0">
              <a:lnSpc>
                <a:spcPct val="125000"/>
              </a:lnSpc>
              <a:buNone/>
            </a:pPr>
            <a:r>
              <a:rPr lang="en-US" sz="1300" dirty="0">
                <a:solidFill>
                  <a:srgbClr val="1F2429"/>
                </a:solidFill>
                <a:latin typeface="Courier New" pitchFamily="34" charset="0"/>
                <a:ea typeface="Courier New" pitchFamily="34" charset="-122"/>
                <a:cs typeface="Courier New" pitchFamily="34" charset="-120"/>
              </a:rPr>
              <a:t>async function loadOrderDetails(id) {</a:t>
            </a:r>
            <a:endParaRPr lang="en-US" sz="1300" dirty="0"/>
          </a:p>
          <a:p>
            <a:pPr indent="0" marL="0">
              <a:lnSpc>
                <a:spcPct val="125000"/>
              </a:lnSpc>
              <a:buNone/>
            </a:pPr>
            <a:r>
              <a:rPr lang="en-US" sz="1300" dirty="0">
                <a:solidFill>
                  <a:srgbClr val="1F2429"/>
                </a:solidFill>
                <a:latin typeface="Courier New" pitchFamily="34" charset="0"/>
                <a:ea typeface="Courier New" pitchFamily="34" charset="-122"/>
                <a:cs typeface="Courier New" pitchFamily="34" charset="-120"/>
              </a:rPr>
              <a:t>  try {</a:t>
            </a:r>
            <a:endParaRPr lang="en-US" sz="1300" dirty="0"/>
          </a:p>
          <a:p>
            <a:pPr indent="0" marL="0">
              <a:lnSpc>
                <a:spcPct val="125000"/>
              </a:lnSpc>
              <a:buNone/>
            </a:pPr>
            <a:r>
              <a:rPr lang="en-US" sz="1300" dirty="0">
                <a:solidFill>
                  <a:srgbClr val="1F2429"/>
                </a:solidFill>
                <a:latin typeface="Courier New" pitchFamily="34" charset="0"/>
                <a:ea typeface="Courier New" pitchFamily="34" charset="-122"/>
                <a:cs typeface="Courier New" pitchFamily="34" charset="-120"/>
              </a:rPr>
              <a:t>    const user =</a:t>
            </a:r>
            <a:endParaRPr lang="en-US" sz="1300" dirty="0"/>
          </a:p>
          <a:p>
            <a:pPr indent="0" marL="0">
              <a:lnSpc>
                <a:spcPct val="125000"/>
              </a:lnSpc>
              <a:buNone/>
            </a:pPr>
            <a:r>
              <a:rPr lang="en-US" sz="1300" dirty="0">
                <a:solidFill>
                  <a:srgbClr val="1F2429"/>
                </a:solidFill>
                <a:latin typeface="Courier New" pitchFamily="34" charset="0"/>
                <a:ea typeface="Courier New" pitchFamily="34" charset="-122"/>
                <a:cs typeface="Courier New" pitchFamily="34" charset="-120"/>
              </a:rPr>
              <a:t>      await getUser(id);</a:t>
            </a:r>
            <a:endParaRPr lang="en-US" sz="1300" dirty="0"/>
          </a:p>
          <a:p>
            <a:pPr indent="0" marL="0">
              <a:lnSpc>
                <a:spcPct val="125000"/>
              </a:lnSpc>
              <a:buNone/>
            </a:pPr>
            <a:r>
              <a:rPr lang="en-US" sz="1300" dirty="0">
                <a:solidFill>
                  <a:srgbClr val="1F2429"/>
                </a:solidFill>
                <a:latin typeface="Courier New" pitchFamily="34" charset="0"/>
                <a:ea typeface="Courier New" pitchFamily="34" charset="-122"/>
                <a:cs typeface="Courier New" pitchFamily="34" charset="-120"/>
              </a:rPr>
              <a:t>    return user;</a:t>
            </a:r>
            <a:endParaRPr lang="en-US" sz="1300" dirty="0"/>
          </a:p>
          <a:p>
            <a:pPr indent="0" marL="0">
              <a:lnSpc>
                <a:spcPct val="125000"/>
              </a:lnSpc>
              <a:buNone/>
            </a:pPr>
            <a:r>
              <a:rPr lang="en-US" sz="1300" dirty="0">
                <a:solidFill>
                  <a:srgbClr val="1F2429"/>
                </a:solidFill>
                <a:latin typeface="Courier New" pitchFamily="34" charset="0"/>
                <a:ea typeface="Courier New" pitchFamily="34" charset="-122"/>
                <a:cs typeface="Courier New" pitchFamily="34" charset="-120"/>
              </a:rPr>
              <a:t>  } catch (error) {</a:t>
            </a:r>
            <a:endParaRPr lang="en-US" sz="1300" dirty="0"/>
          </a:p>
          <a:p>
            <a:pPr indent="0" marL="0">
              <a:lnSpc>
                <a:spcPct val="125000"/>
              </a:lnSpc>
              <a:buNone/>
            </a:pPr>
            <a:r>
              <a:rPr lang="en-US" sz="1300" dirty="0">
                <a:solidFill>
                  <a:srgbClr val="1F2429"/>
                </a:solidFill>
                <a:latin typeface="Courier New" pitchFamily="34" charset="0"/>
                <a:ea typeface="Courier New" pitchFamily="34" charset="-122"/>
                <a:cs typeface="Courier New" pitchFamily="34" charset="-120"/>
              </a:rPr>
              <a:t>    log("caught: " +</a:t>
            </a:r>
            <a:endParaRPr lang="en-US" sz="1300" dirty="0"/>
          </a:p>
          <a:p>
            <a:pPr indent="0" marL="0">
              <a:lnSpc>
                <a:spcPct val="125000"/>
              </a:lnSpc>
              <a:buNone/>
            </a:pPr>
            <a:r>
              <a:rPr lang="en-US" sz="1300" dirty="0">
                <a:solidFill>
                  <a:srgbClr val="1F2429"/>
                </a:solidFill>
                <a:latin typeface="Courier New" pitchFamily="34" charset="0"/>
                <a:ea typeface="Courier New" pitchFamily="34" charset="-122"/>
                <a:cs typeface="Courier New" pitchFamily="34" charset="-120"/>
              </a:rPr>
              <a:t>      error.message);</a:t>
            </a:r>
            <a:endParaRPr lang="en-US" sz="1300" dirty="0"/>
          </a:p>
          <a:p>
            <a:pPr indent="0" marL="0">
              <a:lnSpc>
                <a:spcPct val="125000"/>
              </a:lnSpc>
              <a:buNone/>
            </a:pPr>
            <a:r>
              <a:rPr lang="en-US" sz="1300" dirty="0">
                <a:solidFill>
                  <a:srgbClr val="1F2429"/>
                </a:solidFill>
                <a:latin typeface="Courier New" pitchFamily="34" charset="0"/>
                <a:ea typeface="Courier New" pitchFamily="34" charset="-122"/>
                <a:cs typeface="Courier New" pitchFamily="34" charset="-120"/>
              </a:rPr>
              <a:t>    throw error;</a:t>
            </a:r>
            <a:endParaRPr lang="en-US" sz="1300" dirty="0"/>
          </a:p>
          <a:p>
            <a:pPr indent="0" marL="0">
              <a:lnSpc>
                <a:spcPct val="125000"/>
              </a:lnSpc>
              <a:buNone/>
            </a:pPr>
            <a:r>
              <a:rPr lang="en-US" sz="1300" dirty="0">
                <a:solidFill>
                  <a:srgbClr val="1F2429"/>
                </a:solidFill>
                <a:latin typeface="Courier New" pitchFamily="34" charset="0"/>
                <a:ea typeface="Courier New" pitchFamily="34" charset="-122"/>
                <a:cs typeface="Courier New" pitchFamily="34" charset="-120"/>
              </a:rPr>
              <a:t>  }</a:t>
            </a:r>
            <a:endParaRPr lang="en-US" sz="1300" dirty="0"/>
          </a:p>
          <a:p>
            <a:pPr indent="0" marL="0">
              <a:lnSpc>
                <a:spcPct val="125000"/>
              </a:lnSpc>
              <a:buNone/>
            </a:pPr>
            <a:r>
              <a:rPr lang="en-US" sz="1300" dirty="0">
                <a:solidFill>
                  <a:srgbClr val="1F2429"/>
                </a:solidFill>
                <a:latin typeface="Courier New" pitchFamily="34" charset="0"/>
                <a:ea typeface="Courier New" pitchFamily="34" charset="-122"/>
                <a:cs typeface="Courier New" pitchFamily="34" charset="-120"/>
              </a:rPr>
              <a:t>}</a:t>
            </a:r>
            <a:endParaRPr lang="en-US" sz="1300" dirty="0"/>
          </a:p>
        </p:txBody>
      </p:sp>
      <p:sp>
        <p:nvSpPr>
          <p:cNvPr id="6" name="Shape 4"/>
          <p:cNvSpPr/>
          <p:nvPr/>
        </p:nvSpPr>
        <p:spPr>
          <a:xfrm>
            <a:off x="6169000" y="1947672"/>
            <a:ext cx="5492344" cy="4379976"/>
          </a:xfrm>
          <a:prstGeom prst="roundRect">
            <a:avLst>
              <a:gd name="adj" fmla="val 1253"/>
            </a:avLst>
          </a:prstGeom>
          <a:solidFill>
            <a:srgbClr val="FFFFFF"/>
          </a:solidFill>
          <a:ln w="12700">
            <a:solidFill>
              <a:srgbClr val="E2E2EE"/>
            </a:solidFill>
            <a:prstDash val="solid"/>
          </a:ln>
          <a:effectLst>
            <a:outerShdw sx="100000" sy="100000" kx="0" ky="0" algn="bl" rotWithShape="0" blurRad="101600" dist="38100" dir="5400000">
              <a:srgbClr val="000000">
                <a:alpha val="12000"/>
              </a:srgbClr>
            </a:outerShdw>
          </a:effectLst>
        </p:spPr>
        <p:txBody>
          <a:bodyPr/>
          <a:p/>
        </p:txBody>
      </p:sp>
      <p:pic>
        <p:nvPicPr>
          <p:cNvPr id="7" name="Image 0" descr="D:/GitHub/mern-web-book/docs/assets/img/lecture-15/async-await-trycatch-live.png">    </p:cNvPr>
          <p:cNvPicPr>
            <a:picLocks noChangeAspect="1"/>
          </p:cNvPicPr>
          <p:nvPr/>
        </p:nvPicPr>
        <p:blipFill>
          <a:blip r:embed="rId1"/>
          <a:stretch>
            <a:fillRect/>
          </a:stretch>
        </p:blipFill>
        <p:spPr>
          <a:xfrm>
            <a:off x="6278728" y="3631633"/>
            <a:ext cx="5272888" cy="1012054"/>
          </a:xfrm>
          <a:prstGeom prst="rect">
            <a:avLst/>
          </a:prstGeom>
        </p:spPr>
      </p:pic>
      <p:sp>
        <p:nvSpPr>
          <p:cNvPr id="10" name="cuinotes-footer-mark"/>
          <p:cNvSpPr txBox="1"/>
          <p:nvPr/>
        </p:nvSpPr>
        <p:spPr>
          <a:xfrm>
            <a:off x="9951720" y="6455664"/>
            <a:ext cx="2011680" cy="292608"/>
          </a:xfrm>
          <a:prstGeom prst="rect">
            <a:avLst/>
          </a:prstGeom>
          <a:noFill/>
        </p:spPr>
        <p:txBody>
          <a:bodyPr wrap="none" lIns="0" rIns="0" tIns="0" bIns="0">
            <a:spAutoFit/>
          </a:bodyPr>
          <a:lstStyle/>
          <a:p>
            <a:pPr algn="r"/>
            <a:r>
              <a:rPr sz="1000">
                <a:solidFill>
                  <a:srgbClr val="8A939B"/>
                </a:solidFill>
                <a:hlinkClick r:id="rId4"/>
              </a:rPr>
              <a:t>cuinotes.com</a:t>
            </a:r>
            <a:r>
              <a:rPr sz="1000">
                <a:solidFill>
                  <a:srgbClr val="8A939B"/>
                </a:solidFill>
              </a:rPr>
              <a:t>  ·  22</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10058400" cy="365760"/>
          </a:xfrm>
          <a:prstGeom prst="rect">
            <a:avLst/>
          </a:prstGeom>
          <a:noFill/>
          <a:ln/>
        </p:spPr>
        <p:txBody>
          <a:bodyPr wrap="square" lIns="0" tIns="0" rIns="0" bIns="0" rtlCol="0" anchor="ctr"/>
          <a:lstStyle/>
          <a:p>
            <a:pPr algn="l" indent="0" marL="0">
              <a:buNone/>
            </a:pPr>
            <a:r>
              <a:rPr lang="en-US" sz="1300" b="1" spc="300" kern="0" dirty="0">
                <a:solidFill>
                  <a:srgbClr val="FF8A3D"/>
                </a:solidFill>
                <a:latin typeface="Calibri" pitchFamily="34" charset="0"/>
                <a:ea typeface="Calibri" pitchFamily="34" charset="-122"/>
                <a:cs typeface="Calibri" pitchFamily="34" charset="-120"/>
              </a:rPr>
              <a:t>ASYNC/AWAIT</a:t>
            </a:r>
            <a:endParaRPr lang="en-US" sz="1300" dirty="0"/>
          </a:p>
        </p:txBody>
      </p:sp>
      <p:sp>
        <p:nvSpPr>
          <p:cNvPr id="3" name="Text 1"/>
          <p:cNvSpPr txBox="1"/>
          <p:nvPr/>
        </p:nvSpPr>
        <p:spPr>
          <a:xfrm>
            <a:off x="640080" y="841248"/>
            <a:ext cx="10881360" cy="914400"/>
          </a:xfrm>
          <a:prstGeom prst="rect">
            <a:avLst/>
          </a:prstGeom>
          <a:noFill/>
          <a:ln/>
        </p:spPr>
        <p:txBody>
          <a:bodyPr wrap="square" lIns="0" tIns="0" rIns="0" bIns="0" rtlCol="0" anchor="ctr"/>
          <a:lstStyle/>
          <a:p>
            <a:pPr algn="l" indent="0" marL="0">
              <a:buNone/>
            </a:pPr>
            <a:r>
              <a:rPr lang="en-US" sz="3400" b="1" dirty="0">
                <a:solidFill>
                  <a:srgbClr val="2B2B7A"/>
                </a:solidFill>
                <a:latin typeface="Cambria" pitchFamily="34" charset="0"/>
                <a:ea typeface="Cambria" pitchFamily="34" charset="-122"/>
                <a:cs typeface="Cambria" pitchFamily="34" charset="-120"/>
              </a:rPr>
              <a:t>async/await vs. .then Chains</a:t>
            </a:r>
            <a:endParaRPr lang="en-US" sz="3400" dirty="0"/>
          </a:p>
        </p:txBody>
      </p:sp>
      <p:sp>
        <p:nvSpPr>
          <p:cNvPr id="4" name="Shape 2"/>
          <p:cNvSpPr/>
          <p:nvPr/>
        </p:nvSpPr>
        <p:spPr>
          <a:xfrm>
            <a:off x="640080" y="1965960"/>
            <a:ext cx="10911535" cy="3657600"/>
          </a:xfrm>
          <a:prstGeom prst="roundRect">
            <a:avLst>
              <a:gd name="adj" fmla="val 3529"/>
            </a:avLst>
          </a:prstGeom>
          <a:solidFill>
            <a:srgbClr val="E6F6EE"/>
          </a:solidFill>
          <a:ln w="12700">
            <a:solidFill>
              <a:srgbClr val="3FA66B"/>
            </a:solidFill>
            <a:prstDash val="solid"/>
          </a:ln>
        </p:spPr>
        <p:txBody>
          <a:bodyPr/>
          <a:p/>
        </p:txBody>
      </p:sp>
      <p:sp>
        <p:nvSpPr>
          <p:cNvPr id="5" name="Text 3"/>
          <p:cNvSpPr txBox="1"/>
          <p:nvPr/>
        </p:nvSpPr>
        <p:spPr>
          <a:xfrm>
            <a:off x="868680" y="2103120"/>
            <a:ext cx="10454335" cy="400000"/>
          </a:xfrm>
          <a:prstGeom prst="rect">
            <a:avLst/>
          </a:prstGeom>
          <a:noFill/>
          <a:ln/>
        </p:spPr>
        <p:txBody>
          <a:bodyPr wrap="square" lIns="0" tIns="0" rIns="0" bIns="0" rtlCol="0" anchor="ctr"/>
          <a:lstStyle/>
          <a:p>
            <a:pPr indent="0" marL="0">
              <a:buNone/>
            </a:pPr>
            <a:r>
              <a:rPr lang="en-US" sz="1800" b="1" spc="200" kern="0" dirty="0">
                <a:solidFill>
                  <a:srgbClr val="1F7A46"/>
                </a:solidFill>
                <a:latin typeface="Calibri" pitchFamily="34" charset="0"/>
                <a:ea typeface="Calibri" pitchFamily="34" charset="-122"/>
                <a:cs typeface="Calibri" pitchFamily="34" charset="-120"/>
              </a:rPr>
              <a:t>TIP</a:t>
            </a:r>
            <a:endParaRPr lang="en-US" sz="1800" dirty="0"/>
          </a:p>
        </p:txBody>
      </p:sp>
      <p:sp>
        <p:nvSpPr>
          <p:cNvPr id="6" name="Text 4"/>
          <p:cNvSpPr txBox="1"/>
          <p:nvPr/>
        </p:nvSpPr>
        <p:spPr>
          <a:xfrm>
            <a:off x="868680" y="2795960"/>
            <a:ext cx="10454335" cy="2800000"/>
          </a:xfrm>
          <a:prstGeom prst="rect">
            <a:avLst/>
          </a:prstGeom>
          <a:noFill/>
          <a:ln/>
        </p:spPr>
        <p:txBody>
          <a:bodyPr wrap="square" lIns="0" tIns="0" rIns="0" bIns="0" rtlCol="0" anchor="ctr"/>
          <a:lstStyle/>
          <a:p>
            <a:pPr indent="0" marL="0">
              <a:buNone/>
            </a:pPr>
            <a:r>
              <a:rPr lang="en-US" sz="2800" dirty="0">
                <a:solidFill>
                  <a:srgbClr val="26262F"/>
                </a:solidFill>
                <a:latin typeface="Calibri" pitchFamily="34" charset="0"/>
                <a:ea typeface="Calibri" pitchFamily="34" charset="-122"/>
                <a:cs typeface="Calibri" pitchFamily="34" charset="-120"/>
              </a:rPr>
              <a:t>They do the same job -- async/await is just easier to read, especially with multiple sequential steps and conditional logic. You will see both styles in real codebases, but prefer async/await for new code you write.</a:t>
            </a:r>
            <a:endParaRPr lang="en-US" sz="2800" dirty="0"/>
          </a:p>
        </p:txBody>
      </p:sp>
      <p:sp>
        <p:nvSpPr>
          <p:cNvPr id="9" name="cuinotes-footer-mark"/>
          <p:cNvSpPr txBox="1"/>
          <p:nvPr/>
        </p:nvSpPr>
        <p:spPr>
          <a:xfrm>
            <a:off x="9951720" y="6455664"/>
            <a:ext cx="2011680" cy="292608"/>
          </a:xfrm>
          <a:prstGeom prst="rect">
            <a:avLst/>
          </a:prstGeom>
          <a:noFill/>
        </p:spPr>
        <p:txBody>
          <a:bodyPr wrap="none" lIns="0" rIns="0" tIns="0" bIns="0">
            <a:spAutoFit/>
          </a:bodyPr>
          <a:lstStyle/>
          <a:p>
            <a:pPr algn="r"/>
            <a:r>
              <a:rPr sz="1000">
                <a:solidFill>
                  <a:srgbClr val="8A939B"/>
                </a:solidFill>
                <a:hlinkClick r:id="rId3"/>
              </a:rPr>
              <a:t>cuinotes.com</a:t>
            </a:r>
            <a:r>
              <a:rPr sz="1000">
                <a:solidFill>
                  <a:srgbClr val="8A939B"/>
                </a:solidFill>
              </a:rPr>
              <a:t>  ·  23</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10058400" cy="365760"/>
          </a:xfrm>
          <a:prstGeom prst="rect">
            <a:avLst/>
          </a:prstGeom>
          <a:noFill/>
          <a:ln/>
        </p:spPr>
        <p:txBody>
          <a:bodyPr wrap="square" lIns="0" tIns="0" rIns="0" bIns="0" rtlCol="0" anchor="ctr"/>
          <a:lstStyle/>
          <a:p>
            <a:pPr algn="l" indent="0" marL="0">
              <a:buNone/>
            </a:pPr>
            <a:r>
              <a:rPr lang="en-US" sz="1300" b="1" spc="300" kern="0" dirty="0">
                <a:solidFill>
                  <a:srgbClr val="FF8A3D"/>
                </a:solidFill>
                <a:latin typeface="Calibri" pitchFamily="34" charset="0"/>
                <a:ea typeface="Calibri" pitchFamily="34" charset="-122"/>
                <a:cs typeface="Calibri" pitchFamily="34" charset="-120"/>
              </a:rPr>
              <a:t>AJAX AND FETCH</a:t>
            </a:r>
            <a:endParaRPr lang="en-US" sz="1300" dirty="0"/>
          </a:p>
        </p:txBody>
      </p:sp>
      <p:sp>
        <p:nvSpPr>
          <p:cNvPr id="3" name="Text 1"/>
          <p:cNvSpPr txBox="1"/>
          <p:nvPr/>
        </p:nvSpPr>
        <p:spPr>
          <a:xfrm>
            <a:off x="640080" y="841248"/>
            <a:ext cx="10881360" cy="914400"/>
          </a:xfrm>
          <a:prstGeom prst="rect">
            <a:avLst/>
          </a:prstGeom>
          <a:noFill/>
          <a:ln/>
        </p:spPr>
        <p:txBody>
          <a:bodyPr wrap="square" lIns="0" tIns="0" rIns="0" bIns="0" rtlCol="0" anchor="ctr"/>
          <a:lstStyle/>
          <a:p>
            <a:pPr algn="l" indent="0" marL="0">
              <a:buNone/>
            </a:pPr>
            <a:r>
              <a:rPr lang="en-US" sz="3400" b="1" dirty="0">
                <a:solidFill>
                  <a:srgbClr val="2B2B7A"/>
                </a:solidFill>
                <a:latin typeface="Cambria" pitchFamily="34" charset="0"/>
                <a:ea typeface="Cambria" pitchFamily="34" charset="-122"/>
                <a:cs typeface="Cambria" pitchFamily="34" charset="-120"/>
              </a:rPr>
              <a:t>What Is AJAX?</a:t>
            </a:r>
            <a:endParaRPr lang="en-US" sz="3400" dirty="0"/>
          </a:p>
        </p:txBody>
      </p:sp>
      <p:sp>
        <p:nvSpPr>
          <p:cNvPr id="4" name="Shape 2"/>
          <p:cNvSpPr/>
          <p:nvPr/>
        </p:nvSpPr>
        <p:spPr>
          <a:xfrm>
            <a:off x="685800" y="1965960"/>
            <a:ext cx="457200" cy="457200"/>
          </a:xfrm>
          <a:prstGeom prst="ellipse">
            <a:avLst/>
          </a:prstGeom>
          <a:solidFill>
            <a:srgbClr val="FF8A3D"/>
          </a:solidFill>
          <a:ln/>
        </p:spPr>
        <p:txBody>
          <a:bodyPr/>
          <a:p/>
        </p:txBody>
      </p:sp>
      <p:sp>
        <p:nvSpPr>
          <p:cNvPr id="5" name="Text 3"/>
          <p:cNvSpPr txBox="1"/>
          <p:nvPr/>
        </p:nvSpPr>
        <p:spPr>
          <a:xfrm>
            <a:off x="685800" y="196596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6" name="Text 4"/>
          <p:cNvSpPr txBox="1"/>
          <p:nvPr/>
        </p:nvSpPr>
        <p:spPr>
          <a:xfrm>
            <a:off x="1371600" y="1892808"/>
            <a:ext cx="10180015" cy="640080"/>
          </a:xfrm>
          <a:prstGeom prst="rect">
            <a:avLst/>
          </a:prstGeom>
          <a:noFill/>
          <a:ln/>
        </p:spPr>
        <p:txBody>
          <a:bodyPr wrap="square" lIns="0" tIns="0" rIns="0" bIns="0" rtlCol="0" anchor="ctr"/>
          <a:lstStyle/>
          <a:p>
            <a:pPr indent="0" marL="0">
              <a:buNone/>
            </a:pPr>
            <a:r>
              <a:rPr lang="en-US" sz="1500" dirty="0">
                <a:solidFill>
                  <a:srgbClr val="26262F"/>
                </a:solidFill>
                <a:latin typeface="Calibri" pitchFamily="34" charset="0"/>
                <a:ea typeface="Calibri" pitchFamily="34" charset="-122"/>
                <a:cs typeface="Calibri" pitchFamily="34" charset="-120"/>
              </a:rPr>
              <a:t>The general technique of a web page requesting data from a server in the background, without a full page reload</a:t>
            </a:r>
            <a:endParaRPr lang="en-US" sz="1500" dirty="0"/>
          </a:p>
        </p:txBody>
      </p:sp>
      <p:sp>
        <p:nvSpPr>
          <p:cNvPr id="7" name="Shape 5"/>
          <p:cNvSpPr/>
          <p:nvPr/>
        </p:nvSpPr>
        <p:spPr>
          <a:xfrm>
            <a:off x="685800" y="2788920"/>
            <a:ext cx="457200" cy="457200"/>
          </a:xfrm>
          <a:prstGeom prst="ellipse">
            <a:avLst/>
          </a:prstGeom>
          <a:solidFill>
            <a:srgbClr val="FF8A3D"/>
          </a:solidFill>
          <a:ln/>
        </p:spPr>
        <p:txBody>
          <a:bodyPr/>
          <a:p/>
        </p:txBody>
      </p:sp>
      <p:sp>
        <p:nvSpPr>
          <p:cNvPr id="8" name="Text 6"/>
          <p:cNvSpPr txBox="1"/>
          <p:nvPr/>
        </p:nvSpPr>
        <p:spPr>
          <a:xfrm>
            <a:off x="685800" y="278892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9" name="Text 7"/>
          <p:cNvSpPr txBox="1"/>
          <p:nvPr/>
        </p:nvSpPr>
        <p:spPr>
          <a:xfrm>
            <a:off x="1371600" y="2715768"/>
            <a:ext cx="10180015" cy="640080"/>
          </a:xfrm>
          <a:prstGeom prst="rect">
            <a:avLst/>
          </a:prstGeom>
          <a:noFill/>
          <a:ln/>
        </p:spPr>
        <p:txBody>
          <a:bodyPr wrap="square" lIns="0" tIns="0" rIns="0" bIns="0" rtlCol="0" anchor="ctr"/>
          <a:lstStyle/>
          <a:p>
            <a:pPr indent="0" marL="0">
              <a:buNone/>
            </a:pPr>
            <a:r>
              <a:rPr lang="en-US" sz="1500" dirty="0">
                <a:solidFill>
                  <a:srgbClr val="26262F"/>
                </a:solidFill>
                <a:latin typeface="Calibri" pitchFamily="34" charset="0"/>
                <a:ea typeface="Calibri" pitchFamily="34" charset="-122"/>
                <a:cs typeface="Calibri" pitchFamily="34" charset="-120"/>
              </a:rPr>
              <a:t>The name is historical (Asynchronous JavaScript and XML) -- today it almost always means JSON, not XML</a:t>
            </a:r>
            <a:endParaRPr lang="en-US" sz="1500" dirty="0"/>
          </a:p>
        </p:txBody>
      </p:sp>
      <p:sp>
        <p:nvSpPr>
          <p:cNvPr id="10" name="Shape 8"/>
          <p:cNvSpPr/>
          <p:nvPr/>
        </p:nvSpPr>
        <p:spPr>
          <a:xfrm>
            <a:off x="685800" y="3611880"/>
            <a:ext cx="457200" cy="457200"/>
          </a:xfrm>
          <a:prstGeom prst="ellipse">
            <a:avLst/>
          </a:prstGeom>
          <a:solidFill>
            <a:srgbClr val="FF8A3D"/>
          </a:solidFill>
          <a:ln/>
        </p:spPr>
        <p:txBody>
          <a:bodyPr/>
          <a:p/>
        </p:txBody>
      </p:sp>
      <p:sp>
        <p:nvSpPr>
          <p:cNvPr id="11" name="Text 9"/>
          <p:cNvSpPr txBox="1"/>
          <p:nvPr/>
        </p:nvSpPr>
        <p:spPr>
          <a:xfrm>
            <a:off x="685800" y="361188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2" name="Text 10"/>
          <p:cNvSpPr txBox="1"/>
          <p:nvPr/>
        </p:nvSpPr>
        <p:spPr>
          <a:xfrm>
            <a:off x="1371600" y="3538728"/>
            <a:ext cx="10180015" cy="640080"/>
          </a:xfrm>
          <a:prstGeom prst="rect">
            <a:avLst/>
          </a:prstGeom>
          <a:noFill/>
          <a:ln/>
        </p:spPr>
        <p:txBody>
          <a:bodyPr wrap="square" lIns="0" tIns="0" rIns="0" bIns="0" rtlCol="0" anchor="ctr"/>
          <a:lstStyle/>
          <a:p>
            <a:pPr indent="0" marL="0">
              <a:buNone/>
            </a:pPr>
            <a:r>
              <a:rPr lang="en-US" sz="1500" dirty="0">
                <a:solidFill>
                  <a:srgbClr val="26262F"/>
                </a:solidFill>
                <a:latin typeface="Calibri" pitchFamily="34" charset="0"/>
                <a:ea typeface="Calibri" pitchFamily="34" charset="-122"/>
                <a:cs typeface="Calibri" pitchFamily="34" charset="-120"/>
              </a:rPr>
              <a:t>The modern, built-in tool for doing this is the Fetch API</a:t>
            </a:r>
            <a:endParaRPr lang="en-US" sz="1500" dirty="0"/>
          </a:p>
        </p:txBody>
      </p:sp>
      <p:sp>
        <p:nvSpPr>
          <p:cNvPr id="15" name="cuinotes-footer-mark"/>
          <p:cNvSpPr txBox="1"/>
          <p:nvPr/>
        </p:nvSpPr>
        <p:spPr>
          <a:xfrm>
            <a:off x="9951720" y="6455664"/>
            <a:ext cx="2011680" cy="292608"/>
          </a:xfrm>
          <a:prstGeom prst="rect">
            <a:avLst/>
          </a:prstGeom>
          <a:noFill/>
        </p:spPr>
        <p:txBody>
          <a:bodyPr wrap="none" lIns="0" rIns="0" tIns="0" bIns="0">
            <a:spAutoFit/>
          </a:bodyPr>
          <a:lstStyle/>
          <a:p>
            <a:pPr algn="r"/>
            <a:r>
              <a:rPr sz="1000">
                <a:solidFill>
                  <a:srgbClr val="8A939B"/>
                </a:solidFill>
                <a:hlinkClick r:id="rId3"/>
              </a:rPr>
              <a:t>cuinotes.com</a:t>
            </a:r>
            <a:r>
              <a:rPr sz="1000">
                <a:solidFill>
                  <a:srgbClr val="8A939B"/>
                </a:solidFill>
              </a:rPr>
              <a:t>  ·  24</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10058400" cy="365760"/>
          </a:xfrm>
          <a:prstGeom prst="rect">
            <a:avLst/>
          </a:prstGeom>
          <a:noFill/>
          <a:ln/>
        </p:spPr>
        <p:txBody>
          <a:bodyPr wrap="square" lIns="0" tIns="0" rIns="0" bIns="0" rtlCol="0" anchor="ctr"/>
          <a:lstStyle/>
          <a:p>
            <a:pPr algn="l" indent="0" marL="0">
              <a:buNone/>
            </a:pPr>
            <a:r>
              <a:rPr lang="en-US" sz="1300" b="1" spc="300" kern="0" dirty="0">
                <a:solidFill>
                  <a:srgbClr val="FF8A3D"/>
                </a:solidFill>
                <a:latin typeface="Calibri" pitchFamily="34" charset="0"/>
                <a:ea typeface="Calibri" pitchFamily="34" charset="-122"/>
                <a:cs typeface="Calibri" pitchFamily="34" charset="-120"/>
              </a:rPr>
              <a:t>FETCH API</a:t>
            </a:r>
            <a:endParaRPr lang="en-US" sz="1300" dirty="0"/>
          </a:p>
        </p:txBody>
      </p:sp>
      <p:sp>
        <p:nvSpPr>
          <p:cNvPr id="3" name="Text 1"/>
          <p:cNvSpPr txBox="1"/>
          <p:nvPr/>
        </p:nvSpPr>
        <p:spPr>
          <a:xfrm>
            <a:off x="640080" y="841248"/>
            <a:ext cx="10881360" cy="914400"/>
          </a:xfrm>
          <a:prstGeom prst="rect">
            <a:avLst/>
          </a:prstGeom>
          <a:noFill/>
          <a:ln/>
        </p:spPr>
        <p:txBody>
          <a:bodyPr wrap="square" lIns="0" tIns="0" rIns="0" bIns="0" rtlCol="0" anchor="ctr"/>
          <a:lstStyle/>
          <a:p>
            <a:pPr algn="l" indent="0" marL="0">
              <a:buNone/>
            </a:pPr>
            <a:r>
              <a:rPr lang="en-US" sz="3400" b="1" dirty="0">
                <a:solidFill>
                  <a:srgbClr val="2B2B7A"/>
                </a:solidFill>
                <a:latin typeface="Cambria" pitchFamily="34" charset="0"/>
                <a:ea typeface="Cambria" pitchFamily="34" charset="-122"/>
                <a:cs typeface="Cambria" pitchFamily="34" charset="-120"/>
              </a:rPr>
              <a:t>A GET Request</a:t>
            </a:r>
            <a:endParaRPr lang="en-US" sz="3400" dirty="0"/>
          </a:p>
        </p:txBody>
      </p:sp>
      <p:sp>
        <p:nvSpPr>
          <p:cNvPr id="4" name="Shape 2"/>
          <p:cNvSpPr/>
          <p:nvPr/>
        </p:nvSpPr>
        <p:spPr>
          <a:xfrm>
            <a:off x="640080" y="1965960"/>
            <a:ext cx="10911535" cy="1882140"/>
          </a:xfrm>
          <a:prstGeom prst="roundRect">
            <a:avLst>
              <a:gd name="adj" fmla="val 3887"/>
            </a:avLst>
          </a:prstGeom>
          <a:solidFill>
            <a:srgbClr val="F7F8F9"/>
          </a:solidFill>
          <a:ln w="9525">
            <a:solidFill>
              <a:srgbClr val="D0D5DD"/>
            </a:solidFill>
          </a:ln>
        </p:spPr>
        <p:txBody>
          <a:bodyPr/>
          <a:p/>
        </p:txBody>
      </p:sp>
      <p:sp>
        <p:nvSpPr>
          <p:cNvPr id="5" name="Text 3"/>
          <p:cNvSpPr txBox="1"/>
          <p:nvPr/>
        </p:nvSpPr>
        <p:spPr>
          <a:xfrm>
            <a:off x="960120" y="2194560"/>
            <a:ext cx="10271455" cy="1424940"/>
          </a:xfrm>
          <a:prstGeom prst="rect">
            <a:avLst/>
          </a:prstGeom>
          <a:noFill/>
          <a:ln/>
        </p:spPr>
        <p:txBody>
          <a:bodyPr wrap="square" lIns="0" tIns="0" rIns="0" bIns="0" rtlCol="0" anchor="t"/>
          <a:lstStyle/>
          <a:p>
            <a:pPr indent="0" marL="0">
              <a:lnSpc>
                <a:spcPct val="125000"/>
              </a:lnSpc>
              <a:buNone/>
            </a:pPr>
            <a:r>
              <a:rPr lang="en-US" sz="1400" dirty="0">
                <a:solidFill>
                  <a:srgbClr val="1F2429"/>
                </a:solidFill>
                <a:latin typeface="Courier New" pitchFamily="34" charset="0"/>
                <a:ea typeface="Courier New" pitchFamily="34" charset="-122"/>
                <a:cs typeface="Courier New" pitchFamily="34" charset="-120"/>
              </a:rPr>
              <a:t>async function loadStories() {</a:t>
            </a:r>
            <a:endParaRPr lang="en-US" sz="1400" dirty="0"/>
          </a:p>
          <a:p>
            <a:pPr indent="0" marL="0">
              <a:lnSpc>
                <a:spcPct val="125000"/>
              </a:lnSpc>
              <a:buNone/>
            </a:pPr>
            <a:r>
              <a:rPr lang="en-US" sz="1400" dirty="0">
                <a:solidFill>
                  <a:srgbClr val="1F2429"/>
                </a:solidFill>
                <a:latin typeface="Courier New" pitchFamily="34" charset="0"/>
                <a:ea typeface="Courier New" pitchFamily="34" charset="-122"/>
                <a:cs typeface="Courier New" pitchFamily="34" charset="-120"/>
              </a:rPr>
              <a:t>  const response = await fetch("https://usmanlive.com/wp-json/api/stories");</a:t>
            </a:r>
            <a:endParaRPr lang="en-US" sz="1400" dirty="0"/>
          </a:p>
          <a:p>
            <a:pPr indent="0" marL="0">
              <a:lnSpc>
                <a:spcPct val="125000"/>
              </a:lnSpc>
              <a:buNone/>
            </a:pPr>
            <a:r>
              <a:rPr lang="en-US" sz="1400" dirty="0">
                <a:solidFill>
                  <a:srgbClr val="1F2429"/>
                </a:solidFill>
                <a:latin typeface="Courier New" pitchFamily="34" charset="0"/>
                <a:ea typeface="Courier New" pitchFamily="34" charset="-122"/>
                <a:cs typeface="Courier New" pitchFamily="34" charset="-120"/>
              </a:rPr>
              <a:t>  const stories = await response.json(); // parses the body as JSON</a:t>
            </a:r>
            <a:endParaRPr lang="en-US" sz="1400" dirty="0"/>
          </a:p>
          <a:p>
            <a:pPr indent="0" marL="0">
              <a:lnSpc>
                <a:spcPct val="125000"/>
              </a:lnSpc>
              <a:buNone/>
            </a:pPr>
            <a:r>
              <a:rPr lang="en-US" sz="1400" dirty="0">
                <a:solidFill>
                  <a:srgbClr val="1F2429"/>
                </a:solidFill>
                <a:latin typeface="Courier New" pitchFamily="34" charset="0"/>
                <a:ea typeface="Courier New" pitchFamily="34" charset="-122"/>
                <a:cs typeface="Courier New" pitchFamily="34" charset="-120"/>
              </a:rPr>
              <a:t>  console.log(stories);</a:t>
            </a:r>
            <a:endParaRPr lang="en-US" sz="1400" dirty="0"/>
          </a:p>
          <a:p>
            <a:pPr indent="0" marL="0">
              <a:lnSpc>
                <a:spcPct val="125000"/>
              </a:lnSpc>
              <a:buNone/>
            </a:pPr>
            <a:r>
              <a:rPr lang="en-US" sz="1400" dirty="0">
                <a:solidFill>
                  <a:srgbClr val="1F2429"/>
                </a:solidFill>
                <a:latin typeface="Courier New" pitchFamily="34" charset="0"/>
                <a:ea typeface="Courier New" pitchFamily="34" charset="-122"/>
                <a:cs typeface="Courier New" pitchFamily="34" charset="-120"/>
              </a:rPr>
              <a:t>}</a:t>
            </a:r>
            <a:endParaRPr lang="en-US" sz="1400" dirty="0"/>
          </a:p>
        </p:txBody>
      </p:sp>
      <p:sp>
        <p:nvSpPr>
          <p:cNvPr id="6" name="Text 4"/>
          <p:cNvSpPr txBox="1"/>
          <p:nvPr/>
        </p:nvSpPr>
        <p:spPr>
          <a:xfrm>
            <a:off x="640080" y="4076700"/>
            <a:ext cx="10911535" cy="2186940"/>
          </a:xfrm>
          <a:prstGeom prst="rect">
            <a:avLst/>
          </a:prstGeom>
          <a:noFill/>
          <a:ln/>
        </p:spPr>
        <p:txBody>
          <a:bodyPr wrap="square" lIns="0" tIns="0" rIns="0" bIns="0" rtlCol="0" anchor="t"/>
          <a:lstStyle/>
          <a:p>
            <a:pPr indent="0" marL="0">
              <a:buNone/>
            </a:pPr>
            <a:r>
              <a:rPr lang="en-US" sz="1300" dirty="0">
                <a:solidFill>
                  <a:srgbClr val="26262F"/>
                </a:solidFill>
                <a:latin typeface="Calibri" pitchFamily="34" charset="0"/>
                <a:ea typeface="Calibri" pitchFamily="34" charset="-122"/>
                <a:cs typeface="Calibri" pitchFamily="34" charset="-120"/>
              </a:rPr>
              <a:t>fetch(url) resolves with a Response once headers arrive -- it resolves even for 404s; it only REJECTS on a genuine network failure.</a:t>
            </a:r>
            <a:endParaRPr lang="en-US" sz="1300" dirty="0"/>
          </a:p>
        </p:txBody>
      </p:sp>
      <p:sp>
        <p:nvSpPr>
          <p:cNvPr id="9" name="cuinotes-footer-mark"/>
          <p:cNvSpPr txBox="1"/>
          <p:nvPr/>
        </p:nvSpPr>
        <p:spPr>
          <a:xfrm>
            <a:off x="9951720" y="6455664"/>
            <a:ext cx="2011680" cy="292608"/>
          </a:xfrm>
          <a:prstGeom prst="rect">
            <a:avLst/>
          </a:prstGeom>
          <a:noFill/>
        </p:spPr>
        <p:txBody>
          <a:bodyPr wrap="none" lIns="0" rIns="0" tIns="0" bIns="0">
            <a:spAutoFit/>
          </a:bodyPr>
          <a:lstStyle/>
          <a:p>
            <a:pPr algn="r"/>
            <a:r>
              <a:rPr sz="1000">
                <a:solidFill>
                  <a:srgbClr val="8A939B"/>
                </a:solidFill>
                <a:hlinkClick r:id="rId3"/>
              </a:rPr>
              <a:t>cuinotes.com</a:t>
            </a:r>
            <a:r>
              <a:rPr sz="1000">
                <a:solidFill>
                  <a:srgbClr val="8A939B"/>
                </a:solidFill>
              </a:rPr>
              <a:t>  ·  25</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10058400" cy="365760"/>
          </a:xfrm>
          <a:prstGeom prst="rect">
            <a:avLst/>
          </a:prstGeom>
          <a:noFill/>
          <a:ln/>
        </p:spPr>
        <p:txBody>
          <a:bodyPr wrap="square" lIns="0" tIns="0" rIns="0" bIns="0" rtlCol="0" anchor="ctr"/>
          <a:lstStyle/>
          <a:p>
            <a:pPr algn="l" indent="0" marL="0">
              <a:buNone/>
            </a:pPr>
            <a:r>
              <a:rPr lang="en-US" sz="1300" b="1" spc="300" kern="0" dirty="0">
                <a:solidFill>
                  <a:srgbClr val="FF8A3D"/>
                </a:solidFill>
                <a:latin typeface="Calibri" pitchFamily="34" charset="0"/>
                <a:ea typeface="Calibri" pitchFamily="34" charset="-122"/>
                <a:cs typeface="Calibri" pitchFamily="34" charset="-120"/>
              </a:rPr>
              <a:t>FETCH API</a:t>
            </a:r>
            <a:endParaRPr lang="en-US" sz="1300" dirty="0"/>
          </a:p>
        </p:txBody>
      </p:sp>
      <p:sp>
        <p:nvSpPr>
          <p:cNvPr id="3" name="Text 1"/>
          <p:cNvSpPr txBox="1"/>
          <p:nvPr/>
        </p:nvSpPr>
        <p:spPr>
          <a:xfrm>
            <a:off x="640080" y="841248"/>
            <a:ext cx="10881360" cy="914400"/>
          </a:xfrm>
          <a:prstGeom prst="rect">
            <a:avLst/>
          </a:prstGeom>
          <a:noFill/>
          <a:ln/>
        </p:spPr>
        <p:txBody>
          <a:bodyPr wrap="square" lIns="0" tIns="0" rIns="0" bIns="0" rtlCol="0" anchor="ctr"/>
          <a:lstStyle/>
          <a:p>
            <a:pPr algn="l" indent="0" marL="0">
              <a:buNone/>
            </a:pPr>
            <a:r>
              <a:rPr lang="en-US" sz="3400" b="1" dirty="0">
                <a:solidFill>
                  <a:srgbClr val="2B2B7A"/>
                </a:solidFill>
                <a:latin typeface="Cambria" pitchFamily="34" charset="0"/>
                <a:ea typeface="Cambria" pitchFamily="34" charset="-122"/>
                <a:cs typeface="Cambria" pitchFamily="34" charset="-120"/>
              </a:rPr>
              <a:t>Always Check response.ok</a:t>
            </a:r>
            <a:endParaRPr lang="en-US" sz="3400" dirty="0"/>
          </a:p>
        </p:txBody>
      </p:sp>
      <p:sp>
        <p:nvSpPr>
          <p:cNvPr id="4" name="Shape 2"/>
          <p:cNvSpPr/>
          <p:nvPr/>
        </p:nvSpPr>
        <p:spPr>
          <a:xfrm>
            <a:off x="640080" y="1965960"/>
            <a:ext cx="10911535" cy="2682240"/>
          </a:xfrm>
          <a:prstGeom prst="roundRect">
            <a:avLst>
              <a:gd name="adj" fmla="val 2727"/>
            </a:avLst>
          </a:prstGeom>
          <a:solidFill>
            <a:srgbClr val="F7F8F9"/>
          </a:solidFill>
          <a:ln w="9525">
            <a:solidFill>
              <a:srgbClr val="D0D5DD"/>
            </a:solidFill>
          </a:ln>
        </p:spPr>
        <p:txBody>
          <a:bodyPr/>
          <a:p/>
        </p:txBody>
      </p:sp>
      <p:sp>
        <p:nvSpPr>
          <p:cNvPr id="5" name="Text 3"/>
          <p:cNvSpPr txBox="1"/>
          <p:nvPr/>
        </p:nvSpPr>
        <p:spPr>
          <a:xfrm>
            <a:off x="960120" y="2194560"/>
            <a:ext cx="10271455" cy="2225040"/>
          </a:xfrm>
          <a:prstGeom prst="rect">
            <a:avLst/>
          </a:prstGeom>
          <a:noFill/>
          <a:ln/>
        </p:spPr>
        <p:txBody>
          <a:bodyPr wrap="square" lIns="0" tIns="0" rIns="0" bIns="0" rtlCol="0" anchor="t"/>
          <a:lstStyle/>
          <a:p>
            <a:pPr indent="0" marL="0">
              <a:lnSpc>
                <a:spcPct val="125000"/>
              </a:lnSpc>
              <a:buNone/>
            </a:pPr>
            <a:r>
              <a:rPr lang="en-US" sz="1400" dirty="0">
                <a:solidFill>
                  <a:srgbClr val="1F2429"/>
                </a:solidFill>
                <a:latin typeface="Courier New" pitchFamily="34" charset="0"/>
                <a:ea typeface="Courier New" pitchFamily="34" charset="-122"/>
                <a:cs typeface="Courier New" pitchFamily="34" charset="-120"/>
              </a:rPr>
              <a:t>async function loadStories() {</a:t>
            </a:r>
            <a:endParaRPr lang="en-US" sz="1400" dirty="0"/>
          </a:p>
          <a:p>
            <a:pPr indent="0" marL="0">
              <a:lnSpc>
                <a:spcPct val="125000"/>
              </a:lnSpc>
              <a:buNone/>
            </a:pPr>
            <a:r>
              <a:rPr lang="en-US" sz="1400" dirty="0">
                <a:solidFill>
                  <a:srgbClr val="1F2429"/>
                </a:solidFill>
                <a:latin typeface="Courier New" pitchFamily="34" charset="0"/>
                <a:ea typeface="Courier New" pitchFamily="34" charset="-122"/>
                <a:cs typeface="Courier New" pitchFamily="34" charset="-120"/>
              </a:rPr>
              <a:t>  const response = await fetch("https://usmanlive.com/wp-json/api/stories");</a:t>
            </a:r>
            <a:endParaRPr lang="en-US" sz="1400" dirty="0"/>
          </a:p>
          <a:p>
            <a:pPr indent="0" marL="0">
              <a:lnSpc>
                <a:spcPct val="125000"/>
              </a:lnSpc>
              <a:buNone/>
            </a:pPr>
            <a:r>
              <a:rPr lang="en-US" sz="1400" dirty="0">
                <a:solidFill>
                  <a:srgbClr val="1F2429"/>
                </a:solidFill>
                <a:latin typeface="Courier New" pitchFamily="34" charset="0"/>
                <a:ea typeface="Courier New" pitchFamily="34" charset="-122"/>
                <a:cs typeface="Courier New" pitchFamily="34" charset="-120"/>
              </a:rPr>
              <a:t>  if (!response.ok) {</a:t>
            </a:r>
            <a:endParaRPr lang="en-US" sz="1400" dirty="0"/>
          </a:p>
          <a:p>
            <a:pPr indent="0" marL="0">
              <a:lnSpc>
                <a:spcPct val="125000"/>
              </a:lnSpc>
              <a:buNone/>
            </a:pPr>
            <a:r>
              <a:rPr lang="en-US" sz="1400" dirty="0">
                <a:solidFill>
                  <a:srgbClr val="1F2429"/>
                </a:solidFill>
                <a:latin typeface="Courier New" pitchFamily="34" charset="0"/>
                <a:ea typeface="Courier New" pitchFamily="34" charset="-122"/>
                <a:cs typeface="Courier New" pitchFamily="34" charset="-120"/>
              </a:rPr>
              <a:t>    throw new Error(`Request failed with status ${response.status}`);</a:t>
            </a:r>
            <a:endParaRPr lang="en-US" sz="1400" dirty="0"/>
          </a:p>
          <a:p>
            <a:pPr indent="0" marL="0">
              <a:lnSpc>
                <a:spcPct val="125000"/>
              </a:lnSpc>
              <a:buNone/>
            </a:pPr>
            <a:r>
              <a:rPr lang="en-US" sz="1400" dirty="0">
                <a:solidFill>
                  <a:srgbClr val="1F2429"/>
                </a:solidFill>
                <a:latin typeface="Courier New" pitchFamily="34" charset="0"/>
                <a:ea typeface="Courier New" pitchFamily="34" charset="-122"/>
                <a:cs typeface="Courier New" pitchFamily="34" charset="-120"/>
              </a:rPr>
              <a:t>  }</a:t>
            </a:r>
            <a:endParaRPr lang="en-US" sz="1400" dirty="0"/>
          </a:p>
          <a:p>
            <a:pPr indent="0" marL="0">
              <a:lnSpc>
                <a:spcPct val="125000"/>
              </a:lnSpc>
              <a:buNone/>
            </a:pPr>
            <a:r>
              <a:rPr lang="en-US" sz="1400" dirty="0">
                <a:solidFill>
                  <a:srgbClr val="1F2429"/>
                </a:solidFill>
                <a:latin typeface="Courier New" pitchFamily="34" charset="0"/>
                <a:ea typeface="Courier New" pitchFamily="34" charset="-122"/>
                <a:cs typeface="Courier New" pitchFamily="34" charset="-120"/>
              </a:rPr>
              <a:t>  const stories = await response.json();</a:t>
            </a:r>
            <a:endParaRPr lang="en-US" sz="1400" dirty="0"/>
          </a:p>
          <a:p>
            <a:pPr indent="0" marL="0">
              <a:lnSpc>
                <a:spcPct val="125000"/>
              </a:lnSpc>
              <a:buNone/>
            </a:pPr>
            <a:r>
              <a:rPr lang="en-US" sz="1400" dirty="0">
                <a:solidFill>
                  <a:srgbClr val="1F2429"/>
                </a:solidFill>
                <a:latin typeface="Courier New" pitchFamily="34" charset="0"/>
                <a:ea typeface="Courier New" pitchFamily="34" charset="-122"/>
                <a:cs typeface="Courier New" pitchFamily="34" charset="-120"/>
              </a:rPr>
              <a:t>  return stories;</a:t>
            </a:r>
            <a:endParaRPr lang="en-US" sz="1400" dirty="0"/>
          </a:p>
          <a:p>
            <a:pPr indent="0" marL="0">
              <a:lnSpc>
                <a:spcPct val="125000"/>
              </a:lnSpc>
              <a:buNone/>
            </a:pPr>
            <a:r>
              <a:rPr lang="en-US" sz="1400" dirty="0">
                <a:solidFill>
                  <a:srgbClr val="1F2429"/>
                </a:solidFill>
                <a:latin typeface="Courier New" pitchFamily="34" charset="0"/>
                <a:ea typeface="Courier New" pitchFamily="34" charset="-122"/>
                <a:cs typeface="Courier New" pitchFamily="34" charset="-120"/>
              </a:rPr>
              <a:t>}</a:t>
            </a:r>
            <a:endParaRPr lang="en-US" sz="1400" dirty="0"/>
          </a:p>
        </p:txBody>
      </p:sp>
      <p:sp>
        <p:nvSpPr>
          <p:cNvPr id="8" name="cuinotes-footer-mark"/>
          <p:cNvSpPr txBox="1"/>
          <p:nvPr/>
        </p:nvSpPr>
        <p:spPr>
          <a:xfrm>
            <a:off x="9951720" y="6455664"/>
            <a:ext cx="2011680" cy="292608"/>
          </a:xfrm>
          <a:prstGeom prst="rect">
            <a:avLst/>
          </a:prstGeom>
          <a:noFill/>
        </p:spPr>
        <p:txBody>
          <a:bodyPr wrap="none" lIns="0" rIns="0" tIns="0" bIns="0">
            <a:spAutoFit/>
          </a:bodyPr>
          <a:lstStyle/>
          <a:p>
            <a:pPr algn="r"/>
            <a:r>
              <a:rPr sz="1000">
                <a:solidFill>
                  <a:srgbClr val="8A939B"/>
                </a:solidFill>
                <a:hlinkClick r:id="rId3"/>
              </a:rPr>
              <a:t>cuinotes.com</a:t>
            </a:r>
            <a:r>
              <a:rPr sz="1000">
                <a:solidFill>
                  <a:srgbClr val="8A939B"/>
                </a:solidFill>
              </a:rPr>
              <a:t>  ·  26</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10058400" cy="365760"/>
          </a:xfrm>
          <a:prstGeom prst="rect">
            <a:avLst/>
          </a:prstGeom>
          <a:noFill/>
          <a:ln/>
        </p:spPr>
        <p:txBody>
          <a:bodyPr wrap="square" lIns="0" tIns="0" rIns="0" bIns="0" rtlCol="0" anchor="ctr"/>
          <a:lstStyle/>
          <a:p>
            <a:pPr algn="l" indent="0" marL="0">
              <a:buNone/>
            </a:pPr>
            <a:r>
              <a:rPr lang="en-US" sz="1300" b="1" spc="300" kern="0" dirty="0">
                <a:solidFill>
                  <a:srgbClr val="FF8A3D"/>
                </a:solidFill>
                <a:latin typeface="Calibri" pitchFamily="34" charset="0"/>
                <a:ea typeface="Calibri" pitchFamily="34" charset="-122"/>
                <a:cs typeface="Calibri" pitchFamily="34" charset="-120"/>
              </a:rPr>
              <a:t>FETCH API</a:t>
            </a:r>
            <a:endParaRPr lang="en-US" sz="1300" dirty="0"/>
          </a:p>
        </p:txBody>
      </p:sp>
      <p:sp>
        <p:nvSpPr>
          <p:cNvPr id="3" name="Text 1"/>
          <p:cNvSpPr txBox="1"/>
          <p:nvPr/>
        </p:nvSpPr>
        <p:spPr>
          <a:xfrm>
            <a:off x="640080" y="841248"/>
            <a:ext cx="10881360" cy="914400"/>
          </a:xfrm>
          <a:prstGeom prst="rect">
            <a:avLst/>
          </a:prstGeom>
          <a:noFill/>
          <a:ln/>
        </p:spPr>
        <p:txBody>
          <a:bodyPr wrap="square" lIns="0" tIns="0" rIns="0" bIns="0" rtlCol="0" anchor="ctr"/>
          <a:lstStyle/>
          <a:p>
            <a:pPr algn="l" indent="0" marL="0">
              <a:buNone/>
            </a:pPr>
            <a:r>
              <a:rPr lang="en-US" sz="3400" b="1" dirty="0">
                <a:solidFill>
                  <a:srgbClr val="2B2B7A"/>
                </a:solidFill>
                <a:latin typeface="Cambria" pitchFamily="34" charset="0"/>
                <a:ea typeface="Cambria" pitchFamily="34" charset="-122"/>
                <a:cs typeface="Cambria" pitchFamily="34" charset="-120"/>
              </a:rPr>
              <a:t>The Exact GET Code, Live</a:t>
            </a:r>
            <a:endParaRPr lang="en-US" sz="3400" dirty="0"/>
          </a:p>
        </p:txBody>
      </p:sp>
      <p:sp>
        <p:nvSpPr>
          <p:cNvPr id="4" name="Shape 2"/>
          <p:cNvSpPr/>
          <p:nvPr/>
        </p:nvSpPr>
        <p:spPr>
          <a:xfrm>
            <a:off x="640080" y="2996565"/>
            <a:ext cx="5272888" cy="2282190"/>
          </a:xfrm>
          <a:prstGeom prst="roundRect">
            <a:avLst>
              <a:gd name="adj" fmla="val 3205"/>
            </a:avLst>
          </a:prstGeom>
          <a:solidFill>
            <a:srgbClr val="F7F8F9"/>
          </a:solidFill>
          <a:ln w="9525">
            <a:solidFill>
              <a:srgbClr val="D0D5DD"/>
            </a:solidFill>
          </a:ln>
        </p:spPr>
        <p:txBody>
          <a:bodyPr/>
          <a:p/>
        </p:txBody>
      </p:sp>
      <p:sp>
        <p:nvSpPr>
          <p:cNvPr id="5" name="Text 3"/>
          <p:cNvSpPr txBox="1"/>
          <p:nvPr/>
        </p:nvSpPr>
        <p:spPr>
          <a:xfrm>
            <a:off x="960120" y="3225165"/>
            <a:ext cx="4632808" cy="1824990"/>
          </a:xfrm>
          <a:prstGeom prst="rect">
            <a:avLst/>
          </a:prstGeom>
          <a:noFill/>
          <a:ln/>
        </p:spPr>
        <p:txBody>
          <a:bodyPr wrap="square" lIns="0" tIns="0" rIns="0" bIns="0" rtlCol="0" anchor="t"/>
          <a:lstStyle/>
          <a:p>
            <a:pPr indent="0" marL="0">
              <a:lnSpc>
                <a:spcPct val="125000"/>
              </a:lnSpc>
              <a:buNone/>
            </a:pPr>
            <a:r>
              <a:rPr lang="en-US" sz="1300" dirty="0">
                <a:solidFill>
                  <a:srgbClr val="1F2429"/>
                </a:solidFill>
                <a:latin typeface="Courier New" pitchFamily="34" charset="0"/>
                <a:ea typeface="Courier New" pitchFamily="34" charset="-122"/>
                <a:cs typeface="Courier New" pitchFamily="34" charset="-120"/>
              </a:rPr>
              <a:t>const response =</a:t>
            </a:r>
            <a:endParaRPr lang="en-US" sz="1300" dirty="0"/>
          </a:p>
          <a:p>
            <a:pPr indent="0" marL="0">
              <a:lnSpc>
                <a:spcPct val="125000"/>
              </a:lnSpc>
              <a:buNone/>
            </a:pPr>
            <a:r>
              <a:rPr lang="en-US" sz="1300" dirty="0">
                <a:solidFill>
                  <a:srgbClr val="1F2429"/>
                </a:solidFill>
                <a:latin typeface="Courier New" pitchFamily="34" charset="0"/>
                <a:ea typeface="Courier New" pitchFamily="34" charset="-122"/>
                <a:cs typeface="Courier New" pitchFamily="34" charset="-120"/>
              </a:rPr>
              <a:t>  await fetch(url);</a:t>
            </a:r>
            <a:endParaRPr lang="en-US" sz="1300" dirty="0"/>
          </a:p>
          <a:p>
            <a:pPr indent="0" marL="0">
              <a:lnSpc>
                <a:spcPct val="125000"/>
              </a:lnSpc>
              <a:buNone/>
            </a:pPr>
            <a:r>
              <a:rPr lang="en-US" sz="1300" dirty="0">
                <a:solidFill>
                  <a:srgbClr val="1F2429"/>
                </a:solidFill>
                <a:latin typeface="Courier New" pitchFamily="34" charset="0"/>
                <a:ea typeface="Courier New" pitchFamily="34" charset="-122"/>
                <a:cs typeface="Courier New" pitchFamily="34" charset="-120"/>
              </a:rPr>
              <a:t>response.ok;</a:t>
            </a:r>
            <a:endParaRPr lang="en-US" sz="1300" dirty="0"/>
          </a:p>
          <a:p>
            <a:pPr indent="0" marL="0">
              <a:lnSpc>
                <a:spcPct val="125000"/>
              </a:lnSpc>
              <a:buNone/>
            </a:pPr>
            <a:r>
              <a:rPr lang="en-US" sz="1300" dirty="0">
                <a:solidFill>
                  <a:srgbClr val="1F2429"/>
                </a:solidFill>
                <a:latin typeface="Courier New" pitchFamily="34" charset="0"/>
                <a:ea typeface="Courier New" pitchFamily="34" charset="-122"/>
                <a:cs typeface="Courier New" pitchFamily="34" charset="-120"/>
              </a:rPr>
              <a:t>response.status;</a:t>
            </a:r>
            <a:endParaRPr lang="en-US" sz="1300" dirty="0"/>
          </a:p>
          <a:p>
            <a:pPr indent="0" marL="0">
              <a:lnSpc>
                <a:spcPct val="125000"/>
              </a:lnSpc>
              <a:buNone/>
            </a:pPr>
            <a:endParaRPr lang="en-US" sz="1300" dirty="0"/>
          </a:p>
          <a:p>
            <a:pPr indent="0" marL="0">
              <a:lnSpc>
                <a:spcPct val="125000"/>
              </a:lnSpc>
              <a:buNone/>
            </a:pPr>
            <a:r>
              <a:rPr lang="en-US" sz="1300" dirty="0">
                <a:solidFill>
                  <a:srgbClr val="1F2429"/>
                </a:solidFill>
                <a:latin typeface="Courier New" pitchFamily="34" charset="0"/>
                <a:ea typeface="Courier New" pitchFamily="34" charset="-122"/>
                <a:cs typeface="Courier New" pitchFamily="34" charset="-120"/>
              </a:rPr>
              <a:t>const students =</a:t>
            </a:r>
            <a:endParaRPr lang="en-US" sz="1300" dirty="0"/>
          </a:p>
          <a:p>
            <a:pPr indent="0" marL="0">
              <a:lnSpc>
                <a:spcPct val="125000"/>
              </a:lnSpc>
              <a:buNone/>
            </a:pPr>
            <a:r>
              <a:rPr lang="en-US" sz="1300" dirty="0">
                <a:solidFill>
                  <a:srgbClr val="1F2429"/>
                </a:solidFill>
                <a:latin typeface="Courier New" pitchFamily="34" charset="0"/>
                <a:ea typeface="Courier New" pitchFamily="34" charset="-122"/>
                <a:cs typeface="Courier New" pitchFamily="34" charset="-120"/>
              </a:rPr>
              <a:t>  await response.json();</a:t>
            </a:r>
            <a:endParaRPr lang="en-US" sz="1300" dirty="0"/>
          </a:p>
        </p:txBody>
      </p:sp>
      <p:sp>
        <p:nvSpPr>
          <p:cNvPr id="6" name="Shape 4"/>
          <p:cNvSpPr/>
          <p:nvPr/>
        </p:nvSpPr>
        <p:spPr>
          <a:xfrm>
            <a:off x="6169000" y="1947672"/>
            <a:ext cx="5492344" cy="4379976"/>
          </a:xfrm>
          <a:prstGeom prst="roundRect">
            <a:avLst>
              <a:gd name="adj" fmla="val 1253"/>
            </a:avLst>
          </a:prstGeom>
          <a:solidFill>
            <a:srgbClr val="FFFFFF"/>
          </a:solidFill>
          <a:ln w="12700">
            <a:solidFill>
              <a:srgbClr val="E2E2EE"/>
            </a:solidFill>
            <a:prstDash val="solid"/>
          </a:ln>
          <a:effectLst>
            <a:outerShdw sx="100000" sy="100000" kx="0" ky="0" algn="bl" rotWithShape="0" blurRad="101600" dist="38100" dir="5400000">
              <a:srgbClr val="000000">
                <a:alpha val="12000"/>
              </a:srgbClr>
            </a:outerShdw>
          </a:effectLst>
        </p:spPr>
        <p:txBody>
          <a:bodyPr/>
          <a:p/>
        </p:txBody>
      </p:sp>
      <p:pic>
        <p:nvPicPr>
          <p:cNvPr id="7" name="Image 0" descr="D:/GitHub/mern-web-book/docs/assets/img/lecture-15/fetch-get-live.png">    </p:cNvPr>
          <p:cNvPicPr>
            <a:picLocks noChangeAspect="1"/>
          </p:cNvPicPr>
          <p:nvPr/>
        </p:nvPicPr>
        <p:blipFill>
          <a:blip r:embed="rId1"/>
          <a:stretch>
            <a:fillRect/>
          </a:stretch>
        </p:blipFill>
        <p:spPr>
          <a:xfrm>
            <a:off x="6278728" y="2734392"/>
            <a:ext cx="5272888" cy="2806537"/>
          </a:xfrm>
          <a:prstGeom prst="rect">
            <a:avLst/>
          </a:prstGeom>
        </p:spPr>
      </p:pic>
      <p:sp>
        <p:nvSpPr>
          <p:cNvPr id="10" name="cuinotes-footer-mark"/>
          <p:cNvSpPr txBox="1"/>
          <p:nvPr/>
        </p:nvSpPr>
        <p:spPr>
          <a:xfrm>
            <a:off x="9951720" y="6455664"/>
            <a:ext cx="2011680" cy="292608"/>
          </a:xfrm>
          <a:prstGeom prst="rect">
            <a:avLst/>
          </a:prstGeom>
          <a:noFill/>
        </p:spPr>
        <p:txBody>
          <a:bodyPr wrap="none" lIns="0" rIns="0" tIns="0" bIns="0">
            <a:spAutoFit/>
          </a:bodyPr>
          <a:lstStyle/>
          <a:p>
            <a:pPr algn="r"/>
            <a:r>
              <a:rPr sz="1000">
                <a:solidFill>
                  <a:srgbClr val="8A939B"/>
                </a:solidFill>
                <a:hlinkClick r:id="rId4"/>
              </a:rPr>
              <a:t>cuinotes.com</a:t>
            </a:r>
            <a:r>
              <a:rPr sz="1000">
                <a:solidFill>
                  <a:srgbClr val="8A939B"/>
                </a:solidFill>
              </a:rPr>
              <a:t>  ·  27</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10058400" cy="365760"/>
          </a:xfrm>
          <a:prstGeom prst="rect">
            <a:avLst/>
          </a:prstGeom>
          <a:noFill/>
          <a:ln/>
        </p:spPr>
        <p:txBody>
          <a:bodyPr wrap="square" lIns="0" tIns="0" rIns="0" bIns="0" rtlCol="0" anchor="ctr"/>
          <a:lstStyle/>
          <a:p>
            <a:pPr algn="l" indent="0" marL="0">
              <a:buNone/>
            </a:pPr>
            <a:r>
              <a:rPr lang="en-US" sz="1300" b="1" spc="300" kern="0" dirty="0">
                <a:solidFill>
                  <a:srgbClr val="FF8A3D"/>
                </a:solidFill>
                <a:latin typeface="Calibri" pitchFamily="34" charset="0"/>
                <a:ea typeface="Calibri" pitchFamily="34" charset="-122"/>
                <a:cs typeface="Calibri" pitchFamily="34" charset="-120"/>
              </a:rPr>
              <a:t>FETCH API</a:t>
            </a:r>
            <a:endParaRPr lang="en-US" sz="1300" dirty="0"/>
          </a:p>
        </p:txBody>
      </p:sp>
      <p:sp>
        <p:nvSpPr>
          <p:cNvPr id="3" name="Text 1"/>
          <p:cNvSpPr txBox="1"/>
          <p:nvPr/>
        </p:nvSpPr>
        <p:spPr>
          <a:xfrm>
            <a:off x="640080" y="841248"/>
            <a:ext cx="10881360" cy="914400"/>
          </a:xfrm>
          <a:prstGeom prst="rect">
            <a:avLst/>
          </a:prstGeom>
          <a:noFill/>
          <a:ln/>
        </p:spPr>
        <p:txBody>
          <a:bodyPr wrap="square" lIns="0" tIns="0" rIns="0" bIns="0" rtlCol="0" anchor="ctr"/>
          <a:lstStyle/>
          <a:p>
            <a:pPr algn="l" indent="0" marL="0">
              <a:buNone/>
            </a:pPr>
            <a:r>
              <a:rPr lang="en-US" sz="3400" b="1" dirty="0">
                <a:solidFill>
                  <a:srgbClr val="2B2B7A"/>
                </a:solidFill>
                <a:latin typeface="Cambria" pitchFamily="34" charset="0"/>
                <a:ea typeface="Cambria" pitchFamily="34" charset="-122"/>
                <a:cs typeface="Cambria" pitchFamily="34" charset="-120"/>
              </a:rPr>
              <a:t>A POST Request with Headers</a:t>
            </a:r>
            <a:endParaRPr lang="en-US" sz="3400" dirty="0"/>
          </a:p>
        </p:txBody>
      </p:sp>
      <p:sp>
        <p:nvSpPr>
          <p:cNvPr id="4" name="Shape 2"/>
          <p:cNvSpPr/>
          <p:nvPr/>
        </p:nvSpPr>
        <p:spPr>
          <a:xfrm>
            <a:off x="640080" y="1965960"/>
            <a:ext cx="10911535" cy="2948940"/>
          </a:xfrm>
          <a:prstGeom prst="roundRect">
            <a:avLst>
              <a:gd name="adj" fmla="val 2481"/>
            </a:avLst>
          </a:prstGeom>
          <a:solidFill>
            <a:srgbClr val="F7F8F9"/>
          </a:solidFill>
          <a:ln w="9525">
            <a:solidFill>
              <a:srgbClr val="D0D5DD"/>
            </a:solidFill>
          </a:ln>
        </p:spPr>
        <p:txBody>
          <a:bodyPr/>
          <a:p/>
        </p:txBody>
      </p:sp>
      <p:sp>
        <p:nvSpPr>
          <p:cNvPr id="5" name="Text 3"/>
          <p:cNvSpPr txBox="1"/>
          <p:nvPr/>
        </p:nvSpPr>
        <p:spPr>
          <a:xfrm>
            <a:off x="960120" y="2194560"/>
            <a:ext cx="10271455" cy="2491740"/>
          </a:xfrm>
          <a:prstGeom prst="rect">
            <a:avLst/>
          </a:prstGeom>
          <a:noFill/>
          <a:ln/>
        </p:spPr>
        <p:txBody>
          <a:bodyPr wrap="square" lIns="0" tIns="0" rIns="0" bIns="0" rtlCol="0" anchor="t"/>
          <a:lstStyle/>
          <a:p>
            <a:pPr indent="0" marL="0">
              <a:lnSpc>
                <a:spcPct val="125000"/>
              </a:lnSpc>
              <a:buNone/>
            </a:pPr>
            <a:r>
              <a:rPr lang="en-US" sz="1400" dirty="0">
                <a:solidFill>
                  <a:srgbClr val="1F2429"/>
                </a:solidFill>
                <a:latin typeface="Courier New" pitchFamily="34" charset="0"/>
                <a:ea typeface="Courier New" pitchFamily="34" charset="-122"/>
                <a:cs typeface="Courier New" pitchFamily="34" charset="-120"/>
              </a:rPr>
              <a:t>async function createStory(newStory) {</a:t>
            </a:r>
            <a:endParaRPr lang="en-US" sz="1400" dirty="0"/>
          </a:p>
          <a:p>
            <a:pPr indent="0" marL="0">
              <a:lnSpc>
                <a:spcPct val="125000"/>
              </a:lnSpc>
              <a:buNone/>
            </a:pPr>
            <a:r>
              <a:rPr lang="en-US" sz="1400" dirty="0">
                <a:solidFill>
                  <a:srgbClr val="1F2429"/>
                </a:solidFill>
                <a:latin typeface="Courier New" pitchFamily="34" charset="0"/>
                <a:ea typeface="Courier New" pitchFamily="34" charset="-122"/>
                <a:cs typeface="Courier New" pitchFamily="34" charset="-120"/>
              </a:rPr>
              <a:t>  const response = await fetch("https://usmanlive.com/wp-json/api/stories", {</a:t>
            </a:r>
            <a:endParaRPr lang="en-US" sz="1400" dirty="0"/>
          </a:p>
          <a:p>
            <a:pPr indent="0" marL="0">
              <a:lnSpc>
                <a:spcPct val="125000"/>
              </a:lnSpc>
              <a:buNone/>
            </a:pPr>
            <a:r>
              <a:rPr lang="en-US" sz="1400" dirty="0">
                <a:solidFill>
                  <a:srgbClr val="1F2429"/>
                </a:solidFill>
                <a:latin typeface="Courier New" pitchFamily="34" charset="0"/>
                <a:ea typeface="Courier New" pitchFamily="34" charset="-122"/>
                <a:cs typeface="Courier New" pitchFamily="34" charset="-120"/>
              </a:rPr>
              <a:t>    method: "POST",</a:t>
            </a:r>
            <a:endParaRPr lang="en-US" sz="1400" dirty="0"/>
          </a:p>
          <a:p>
            <a:pPr indent="0" marL="0">
              <a:lnSpc>
                <a:spcPct val="125000"/>
              </a:lnSpc>
              <a:buNone/>
            </a:pPr>
            <a:r>
              <a:rPr lang="en-US" sz="1400" dirty="0">
                <a:solidFill>
                  <a:srgbClr val="1F2429"/>
                </a:solidFill>
                <a:latin typeface="Courier New" pitchFamily="34" charset="0"/>
                <a:ea typeface="Courier New" pitchFamily="34" charset="-122"/>
                <a:cs typeface="Courier New" pitchFamily="34" charset="-120"/>
              </a:rPr>
              <a:t>    headers: { "Content-Type": "application/json" },</a:t>
            </a:r>
            <a:endParaRPr lang="en-US" sz="1400" dirty="0"/>
          </a:p>
          <a:p>
            <a:pPr indent="0" marL="0">
              <a:lnSpc>
                <a:spcPct val="125000"/>
              </a:lnSpc>
              <a:buNone/>
            </a:pPr>
            <a:r>
              <a:rPr lang="en-US" sz="1400" dirty="0">
                <a:solidFill>
                  <a:srgbClr val="1F2429"/>
                </a:solidFill>
                <a:latin typeface="Courier New" pitchFamily="34" charset="0"/>
                <a:ea typeface="Courier New" pitchFamily="34" charset="-122"/>
                <a:cs typeface="Courier New" pitchFamily="34" charset="-120"/>
              </a:rPr>
              <a:t>    body: JSON.stringify(newStory), // { title, content }</a:t>
            </a:r>
            <a:endParaRPr lang="en-US" sz="1400" dirty="0"/>
          </a:p>
          <a:p>
            <a:pPr indent="0" marL="0">
              <a:lnSpc>
                <a:spcPct val="125000"/>
              </a:lnSpc>
              <a:buNone/>
            </a:pPr>
            <a:r>
              <a:rPr lang="en-US" sz="1400" dirty="0">
                <a:solidFill>
                  <a:srgbClr val="1F2429"/>
                </a:solidFill>
                <a:latin typeface="Courier New" pitchFamily="34" charset="0"/>
                <a:ea typeface="Courier New" pitchFamily="34" charset="-122"/>
                <a:cs typeface="Courier New" pitchFamily="34" charset="-120"/>
              </a:rPr>
              <a:t>  });</a:t>
            </a:r>
            <a:endParaRPr lang="en-US" sz="1400" dirty="0"/>
          </a:p>
          <a:p>
            <a:pPr indent="0" marL="0">
              <a:lnSpc>
                <a:spcPct val="125000"/>
              </a:lnSpc>
              <a:buNone/>
            </a:pPr>
            <a:r>
              <a:rPr lang="en-US" sz="1400" dirty="0">
                <a:solidFill>
                  <a:srgbClr val="1F2429"/>
                </a:solidFill>
                <a:latin typeface="Courier New" pitchFamily="34" charset="0"/>
                <a:ea typeface="Courier New" pitchFamily="34" charset="-122"/>
                <a:cs typeface="Courier New" pitchFamily="34" charset="-120"/>
              </a:rPr>
              <a:t>  if (!response.ok) throw new Error(`Failed to create story: ${response.status}`);</a:t>
            </a:r>
            <a:endParaRPr lang="en-US" sz="1400" dirty="0"/>
          </a:p>
          <a:p>
            <a:pPr indent="0" marL="0">
              <a:lnSpc>
                <a:spcPct val="125000"/>
              </a:lnSpc>
              <a:buNone/>
            </a:pPr>
            <a:r>
              <a:rPr lang="en-US" sz="1400" dirty="0">
                <a:solidFill>
                  <a:srgbClr val="1F2429"/>
                </a:solidFill>
                <a:latin typeface="Courier New" pitchFamily="34" charset="0"/>
                <a:ea typeface="Courier New" pitchFamily="34" charset="-122"/>
                <a:cs typeface="Courier New" pitchFamily="34" charset="-120"/>
              </a:rPr>
              <a:t>  return response.json();</a:t>
            </a:r>
            <a:endParaRPr lang="en-US" sz="1400" dirty="0"/>
          </a:p>
          <a:p>
            <a:pPr indent="0" marL="0">
              <a:lnSpc>
                <a:spcPct val="125000"/>
              </a:lnSpc>
              <a:buNone/>
            </a:pPr>
            <a:r>
              <a:rPr lang="en-US" sz="1400" dirty="0">
                <a:solidFill>
                  <a:srgbClr val="1F2429"/>
                </a:solidFill>
                <a:latin typeface="Courier New" pitchFamily="34" charset="0"/>
                <a:ea typeface="Courier New" pitchFamily="34" charset="-122"/>
                <a:cs typeface="Courier New" pitchFamily="34" charset="-120"/>
              </a:rPr>
              <a:t>}</a:t>
            </a:r>
            <a:endParaRPr lang="en-US" sz="1400" dirty="0"/>
          </a:p>
        </p:txBody>
      </p:sp>
      <p:sp>
        <p:nvSpPr>
          <p:cNvPr id="6" name="Text 4"/>
          <p:cNvSpPr txBox="1"/>
          <p:nvPr/>
        </p:nvSpPr>
        <p:spPr>
          <a:xfrm>
            <a:off x="640080" y="5143500"/>
            <a:ext cx="10911535" cy="1120140"/>
          </a:xfrm>
          <a:prstGeom prst="rect">
            <a:avLst/>
          </a:prstGeom>
          <a:noFill/>
          <a:ln/>
        </p:spPr>
        <p:txBody>
          <a:bodyPr wrap="square" lIns="0" tIns="0" rIns="0" bIns="0" rtlCol="0" anchor="t"/>
          <a:lstStyle/>
          <a:p>
            <a:pPr indent="0" marL="0">
              <a:buNone/>
            </a:pPr>
            <a:r>
              <a:rPr lang="en-US" sz="1300" dirty="0">
                <a:solidFill>
                  <a:srgbClr val="26262F"/>
                </a:solidFill>
                <a:latin typeface="Calibri" pitchFamily="34" charset="0"/>
                <a:ea typeface="Calibri" pitchFamily="34" charset="-122"/>
                <a:cs typeface="Calibri" pitchFamily="34" charset="-120"/>
              </a:rPr>
              <a:t>Content-Type: application/json tells the server "the body I'm sending is JSON text," so it knows how to parse it.</a:t>
            </a:r>
            <a:endParaRPr lang="en-US" sz="1300" dirty="0"/>
          </a:p>
        </p:txBody>
      </p:sp>
      <p:sp>
        <p:nvSpPr>
          <p:cNvPr id="9" name="cuinotes-footer-mark"/>
          <p:cNvSpPr txBox="1"/>
          <p:nvPr/>
        </p:nvSpPr>
        <p:spPr>
          <a:xfrm>
            <a:off x="9951720" y="6455664"/>
            <a:ext cx="2011680" cy="292608"/>
          </a:xfrm>
          <a:prstGeom prst="rect">
            <a:avLst/>
          </a:prstGeom>
          <a:noFill/>
        </p:spPr>
        <p:txBody>
          <a:bodyPr wrap="none" lIns="0" rIns="0" tIns="0" bIns="0">
            <a:spAutoFit/>
          </a:bodyPr>
          <a:lstStyle/>
          <a:p>
            <a:pPr algn="r"/>
            <a:r>
              <a:rPr sz="1000">
                <a:solidFill>
                  <a:srgbClr val="8A939B"/>
                </a:solidFill>
                <a:hlinkClick r:id="rId3"/>
              </a:rPr>
              <a:t>cuinotes.com</a:t>
            </a:r>
            <a:r>
              <a:rPr sz="1000">
                <a:solidFill>
                  <a:srgbClr val="8A939B"/>
                </a:solidFill>
              </a:rPr>
              <a:t>  ·  28</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10058400" cy="365760"/>
          </a:xfrm>
          <a:prstGeom prst="rect">
            <a:avLst/>
          </a:prstGeom>
          <a:noFill/>
          <a:ln/>
        </p:spPr>
        <p:txBody>
          <a:bodyPr wrap="square" lIns="0" tIns="0" rIns="0" bIns="0" rtlCol="0" anchor="ctr"/>
          <a:lstStyle/>
          <a:p>
            <a:pPr algn="l" indent="0" marL="0">
              <a:buNone/>
            </a:pPr>
            <a:r>
              <a:rPr lang="en-US" sz="1300" b="1" spc="300" kern="0" dirty="0">
                <a:solidFill>
                  <a:srgbClr val="FF8A3D"/>
                </a:solidFill>
                <a:latin typeface="Calibri" pitchFamily="34" charset="0"/>
                <a:ea typeface="Calibri" pitchFamily="34" charset="-122"/>
                <a:cs typeface="Calibri" pitchFamily="34" charset="-120"/>
              </a:rPr>
              <a:t>FETCH API</a:t>
            </a:r>
            <a:endParaRPr lang="en-US" sz="1300" dirty="0"/>
          </a:p>
        </p:txBody>
      </p:sp>
      <p:sp>
        <p:nvSpPr>
          <p:cNvPr id="3" name="Text 1"/>
          <p:cNvSpPr txBox="1"/>
          <p:nvPr/>
        </p:nvSpPr>
        <p:spPr>
          <a:xfrm>
            <a:off x="640080" y="841248"/>
            <a:ext cx="10881360" cy="914400"/>
          </a:xfrm>
          <a:prstGeom prst="rect">
            <a:avLst/>
          </a:prstGeom>
          <a:noFill/>
          <a:ln/>
        </p:spPr>
        <p:txBody>
          <a:bodyPr wrap="square" lIns="0" tIns="0" rIns="0" bIns="0" rtlCol="0" anchor="ctr"/>
          <a:lstStyle/>
          <a:p>
            <a:pPr algn="l" indent="0" marL="0">
              <a:buNone/>
            </a:pPr>
            <a:r>
              <a:rPr lang="en-US" sz="3400" b="1" dirty="0">
                <a:solidFill>
                  <a:srgbClr val="2B2B7A"/>
                </a:solidFill>
                <a:latin typeface="Cambria" pitchFamily="34" charset="0"/>
                <a:ea typeface="Cambria" pitchFamily="34" charset="-122"/>
                <a:cs typeface="Cambria" pitchFamily="34" charset="-120"/>
              </a:rPr>
              <a:t>Parsing Different Response Types</a:t>
            </a:r>
            <a:endParaRPr lang="en-US" sz="3400" dirty="0"/>
          </a:p>
        </p:txBody>
      </p:sp>
      <p:graphicFrame>
        <p:nvGraphicFramePr>
          <p:cNvPr id="29" name="Table 0"/>
          <p:cNvGraphicFramePr>
            <a:graphicFrameLocks noGrp="1"/>
          </p:cNvGraphicFramePr>
          <p:nvPr>
            <p:extLst>
              <p:ext uri="{D42A27DB-BD31-4B8C-83A1-F6EECF244321}">
                <p14:modId xmlns:p14="http://schemas.microsoft.com/office/powerpoint/2010/main" val="1579011935"/>
              </p:ext>
            </p:extLst>
          </p:nvPr>
        </p:nvGraphicFramePr>
        <p:xfrm>
          <a:off x="640080" y="1965960"/>
          <a:ext cx="10911535" cy="914400"/>
        </p:xfrm>
        <a:graphic>
          <a:graphicData uri="http://schemas.openxmlformats.org/drawingml/2006/table">
            <a:tbl>
              <a:tblPr/>
              <a:tblGrid>
                <a:gridCol w="3291840"/>
                <a:gridCol w="7680960"/>
              </a:tblGrid>
              <a:tr h="566928">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Method</a:t>
                      </a:r>
                      <a:endParaRPr lang="en-US" sz="1200" dirty="0">
                        <a:latin typeface="Calibri" charset="0"/>
                        <a:ea typeface="Calibri" charset="0"/>
                        <a:cs typeface="Calibri" charset="0"/>
                      </a:endParaRPr>
                    </a:p>
                  </a:txBody>
                  <a:tcPr marL="91440" marR="91440" marT="45720" marB="45720" anchor="ctr">
                    <a:lnL w="12700" cap="flat" cmpd="sng" algn="ctr">
                      <a:solidFill>
                        <a:srgbClr val="D8D8E6"/>
                      </a:solidFill>
                      <a:prstDash val="solid"/>
                      <a:round/>
                      <a:headEnd type="none" w="med" len="med"/>
                      <a:tailEnd type="none" w="med" len="med"/>
                    </a:lnL>
                    <a:lnR w="12700" cap="flat" cmpd="sng" algn="ctr">
                      <a:solidFill>
                        <a:srgbClr val="D8D8E6"/>
                      </a:solidFill>
                      <a:prstDash val="solid"/>
                      <a:round/>
                      <a:headEnd type="none" w="med" len="med"/>
                      <a:tailEnd type="none" w="med" len="med"/>
                    </a:lnR>
                    <a:lnT w="12700" cap="flat" cmpd="sng" algn="ctr">
                      <a:solidFill>
                        <a:srgbClr val="D8D8E6"/>
                      </a:solidFill>
                      <a:prstDash val="solid"/>
                      <a:round/>
                      <a:headEnd type="none" w="med" len="med"/>
                      <a:tailEnd type="none" w="med" len="med"/>
                    </a:lnT>
                    <a:lnB w="12700" cap="flat" cmpd="sng" algn="ctr">
                      <a:solidFill>
                        <a:srgbClr val="D8D8E6"/>
                      </a:solidFill>
                      <a:prstDash val="solid"/>
                      <a:round/>
                      <a:headEnd type="none" w="med" len="med"/>
                      <a:tailEnd type="none" w="med" len="med"/>
                    </a:lnB>
                    <a:solidFill>
                      <a:srgbClr val="2B2B7A"/>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Parses the body as</a:t>
                      </a:r>
                      <a:endParaRPr lang="en-US" sz="1200" dirty="0">
                        <a:latin typeface="Calibri" charset="0"/>
                        <a:ea typeface="Calibri" charset="0"/>
                        <a:cs typeface="Calibri" charset="0"/>
                      </a:endParaRPr>
                    </a:p>
                  </a:txBody>
                  <a:tcPr marL="91440" marR="91440" marT="45720" marB="45720" anchor="ctr">
                    <a:lnL w="12700" cap="flat" cmpd="sng" algn="ctr">
                      <a:solidFill>
                        <a:srgbClr val="D8D8E6"/>
                      </a:solidFill>
                      <a:prstDash val="solid"/>
                      <a:round/>
                      <a:headEnd type="none" w="med" len="med"/>
                      <a:tailEnd type="none" w="med" len="med"/>
                    </a:lnL>
                    <a:lnR w="12700" cap="flat" cmpd="sng" algn="ctr">
                      <a:solidFill>
                        <a:srgbClr val="D8D8E6"/>
                      </a:solidFill>
                      <a:prstDash val="solid"/>
                      <a:round/>
                      <a:headEnd type="none" w="med" len="med"/>
                      <a:tailEnd type="none" w="med" len="med"/>
                    </a:lnR>
                    <a:lnT w="12700" cap="flat" cmpd="sng" algn="ctr">
                      <a:solidFill>
                        <a:srgbClr val="D8D8E6"/>
                      </a:solidFill>
                      <a:prstDash val="solid"/>
                      <a:round/>
                      <a:headEnd type="none" w="med" len="med"/>
                      <a:tailEnd type="none" w="med" len="med"/>
                    </a:lnT>
                    <a:lnB w="12700" cap="flat" cmpd="sng" algn="ctr">
                      <a:solidFill>
                        <a:srgbClr val="D8D8E6"/>
                      </a:solidFill>
                      <a:prstDash val="solid"/>
                      <a:round/>
                      <a:headEnd type="none" w="med" len="med"/>
                      <a:tailEnd type="none" w="med" len="med"/>
                    </a:lnB>
                    <a:solidFill>
                      <a:srgbClr val="2B2B7A"/>
                    </a:solidFill>
                  </a:tcPr>
                </a:tc>
              </a:tr>
              <a:tr h="566928">
                <a:tc>
                  <a:txBody>
                    <a:bodyPr/>
                    <a:lstStyle/>
                    <a:p>
                      <a:pPr algn="l" indent="0" marL="0">
                        <a:buNone/>
                      </a:pPr>
                      <a:r>
                        <a:rPr lang="en-US" sz="1200" b="1" dirty="0">
                          <a:solidFill>
                            <a:srgbClr val="26262F"/>
                          </a:solidFill>
                          <a:latin typeface="Calibri" pitchFamily="34" charset="0"/>
                          <a:ea typeface="Calibri" pitchFamily="34" charset="-122"/>
                          <a:cs typeface="Calibri" pitchFamily="34" charset="-120"/>
                        </a:rPr>
                        <a:t>response.json()</a:t>
                      </a:r>
                      <a:endParaRPr lang="en-US" sz="1200" dirty="0">
                        <a:latin typeface="Calibri" charset="0"/>
                        <a:ea typeface="Calibri" charset="0"/>
                        <a:cs typeface="Calibri" charset="0"/>
                      </a:endParaRPr>
                    </a:p>
                  </a:txBody>
                  <a:tcPr marL="91440" marR="91440" marT="45720" marB="45720" anchor="ctr">
                    <a:lnL w="12700" cap="flat" cmpd="sng" algn="ctr">
                      <a:solidFill>
                        <a:srgbClr val="D8D8E6"/>
                      </a:solidFill>
                      <a:prstDash val="solid"/>
                      <a:round/>
                      <a:headEnd type="none" w="med" len="med"/>
                      <a:tailEnd type="none" w="med" len="med"/>
                    </a:lnL>
                    <a:lnR w="12700" cap="flat" cmpd="sng" algn="ctr">
                      <a:solidFill>
                        <a:srgbClr val="D8D8E6"/>
                      </a:solidFill>
                      <a:prstDash val="solid"/>
                      <a:round/>
                      <a:headEnd type="none" w="med" len="med"/>
                      <a:tailEnd type="none" w="med" len="med"/>
                    </a:lnR>
                    <a:lnT w="12700" cap="flat" cmpd="sng" algn="ctr">
                      <a:solidFill>
                        <a:srgbClr val="D8D8E6"/>
                      </a:solidFill>
                      <a:prstDash val="solid"/>
                      <a:round/>
                      <a:headEnd type="none" w="med" len="med"/>
                      <a:tailEnd type="none" w="med" len="med"/>
                    </a:lnT>
                    <a:lnB w="12700" cap="flat" cmpd="sng" algn="ctr">
                      <a:solidFill>
                        <a:srgbClr val="D8D8E6"/>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6262F"/>
                          </a:solidFill>
                          <a:latin typeface="Calibri" pitchFamily="34" charset="0"/>
                          <a:ea typeface="Calibri" pitchFamily="34" charset="-122"/>
                          <a:cs typeface="Calibri" pitchFamily="34" charset="-120"/>
                        </a:rPr>
                        <a:t>JSON -- the most common case</a:t>
                      </a:r>
                      <a:endParaRPr lang="en-US" sz="1200" dirty="0">
                        <a:latin typeface="Calibri" charset="0"/>
                        <a:ea typeface="Calibri" charset="0"/>
                        <a:cs typeface="Calibri" charset="0"/>
                      </a:endParaRPr>
                    </a:p>
                  </a:txBody>
                  <a:tcPr marL="91440" marR="91440" marT="45720" marB="45720" anchor="ctr">
                    <a:lnL w="12700" cap="flat" cmpd="sng" algn="ctr">
                      <a:solidFill>
                        <a:srgbClr val="D8D8E6"/>
                      </a:solidFill>
                      <a:prstDash val="solid"/>
                      <a:round/>
                      <a:headEnd type="none" w="med" len="med"/>
                      <a:tailEnd type="none" w="med" len="med"/>
                    </a:lnL>
                    <a:lnR w="12700" cap="flat" cmpd="sng" algn="ctr">
                      <a:solidFill>
                        <a:srgbClr val="D8D8E6"/>
                      </a:solidFill>
                      <a:prstDash val="solid"/>
                      <a:round/>
                      <a:headEnd type="none" w="med" len="med"/>
                      <a:tailEnd type="none" w="med" len="med"/>
                    </a:lnR>
                    <a:lnT w="12700" cap="flat" cmpd="sng" algn="ctr">
                      <a:solidFill>
                        <a:srgbClr val="D8D8E6"/>
                      </a:solidFill>
                      <a:prstDash val="solid"/>
                      <a:round/>
                      <a:headEnd type="none" w="med" len="med"/>
                      <a:tailEnd type="none" w="med" len="med"/>
                    </a:lnT>
                    <a:lnB w="12700" cap="flat" cmpd="sng" algn="ctr">
                      <a:solidFill>
                        <a:srgbClr val="D8D8E6"/>
                      </a:solidFill>
                      <a:prstDash val="solid"/>
                      <a:round/>
                      <a:headEnd type="none" w="med" len="med"/>
                      <a:tailEnd type="none" w="med" len="med"/>
                    </a:lnB>
                    <a:solidFill>
                      <a:srgbClr val="FFFFFF"/>
                    </a:solidFill>
                  </a:tcPr>
                </a:tc>
              </a:tr>
              <a:tr h="566928">
                <a:tc>
                  <a:txBody>
                    <a:bodyPr/>
                    <a:lstStyle/>
                    <a:p>
                      <a:pPr algn="l" indent="0" marL="0">
                        <a:buNone/>
                      </a:pPr>
                      <a:r>
                        <a:rPr lang="en-US" sz="1200" b="1" dirty="0">
                          <a:solidFill>
                            <a:srgbClr val="26262F"/>
                          </a:solidFill>
                          <a:latin typeface="Calibri" pitchFamily="34" charset="0"/>
                          <a:ea typeface="Calibri" pitchFamily="34" charset="-122"/>
                          <a:cs typeface="Calibri" pitchFamily="34" charset="-120"/>
                        </a:rPr>
                        <a:t>response.text()</a:t>
                      </a:r>
                      <a:endParaRPr lang="en-US" sz="1200" dirty="0">
                        <a:latin typeface="Calibri" charset="0"/>
                        <a:ea typeface="Calibri" charset="0"/>
                        <a:cs typeface="Calibri" charset="0"/>
                      </a:endParaRPr>
                    </a:p>
                  </a:txBody>
                  <a:tcPr marL="91440" marR="91440" marT="45720" marB="45720" anchor="ctr">
                    <a:lnL w="12700" cap="flat" cmpd="sng" algn="ctr">
                      <a:solidFill>
                        <a:srgbClr val="D8D8E6"/>
                      </a:solidFill>
                      <a:prstDash val="solid"/>
                      <a:round/>
                      <a:headEnd type="none" w="med" len="med"/>
                      <a:tailEnd type="none" w="med" len="med"/>
                    </a:lnL>
                    <a:lnR w="12700" cap="flat" cmpd="sng" algn="ctr">
                      <a:solidFill>
                        <a:srgbClr val="D8D8E6"/>
                      </a:solidFill>
                      <a:prstDash val="solid"/>
                      <a:round/>
                      <a:headEnd type="none" w="med" len="med"/>
                      <a:tailEnd type="none" w="med" len="med"/>
                    </a:lnR>
                    <a:lnT w="12700" cap="flat" cmpd="sng" algn="ctr">
                      <a:solidFill>
                        <a:srgbClr val="D8D8E6"/>
                      </a:solidFill>
                      <a:prstDash val="solid"/>
                      <a:round/>
                      <a:headEnd type="none" w="med" len="med"/>
                      <a:tailEnd type="none" w="med" len="med"/>
                    </a:lnT>
                    <a:lnB w="12700" cap="flat" cmpd="sng" algn="ctr">
                      <a:solidFill>
                        <a:srgbClr val="D8D8E6"/>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6262F"/>
                          </a:solidFill>
                          <a:latin typeface="Calibri" pitchFamily="34" charset="0"/>
                          <a:ea typeface="Calibri" pitchFamily="34" charset="-122"/>
                          <a:cs typeface="Calibri" pitchFamily="34" charset="-120"/>
                        </a:rPr>
                        <a:t>Plain text</a:t>
                      </a:r>
                      <a:endParaRPr lang="en-US" sz="1200" dirty="0">
                        <a:latin typeface="Calibri" charset="0"/>
                        <a:ea typeface="Calibri" charset="0"/>
                        <a:cs typeface="Calibri" charset="0"/>
                      </a:endParaRPr>
                    </a:p>
                  </a:txBody>
                  <a:tcPr marL="91440" marR="91440" marT="45720" marB="45720" anchor="ctr">
                    <a:lnL w="12700" cap="flat" cmpd="sng" algn="ctr">
                      <a:solidFill>
                        <a:srgbClr val="D8D8E6"/>
                      </a:solidFill>
                      <a:prstDash val="solid"/>
                      <a:round/>
                      <a:headEnd type="none" w="med" len="med"/>
                      <a:tailEnd type="none" w="med" len="med"/>
                    </a:lnL>
                    <a:lnR w="12700" cap="flat" cmpd="sng" algn="ctr">
                      <a:solidFill>
                        <a:srgbClr val="D8D8E6"/>
                      </a:solidFill>
                      <a:prstDash val="solid"/>
                      <a:round/>
                      <a:headEnd type="none" w="med" len="med"/>
                      <a:tailEnd type="none" w="med" len="med"/>
                    </a:lnR>
                    <a:lnT w="12700" cap="flat" cmpd="sng" algn="ctr">
                      <a:solidFill>
                        <a:srgbClr val="D8D8E6"/>
                      </a:solidFill>
                      <a:prstDash val="solid"/>
                      <a:round/>
                      <a:headEnd type="none" w="med" len="med"/>
                      <a:tailEnd type="none" w="med" len="med"/>
                    </a:lnT>
                    <a:lnB w="12700" cap="flat" cmpd="sng" algn="ctr">
                      <a:solidFill>
                        <a:srgbClr val="D8D8E6"/>
                      </a:solidFill>
                      <a:prstDash val="solid"/>
                      <a:round/>
                      <a:headEnd type="none" w="med" len="med"/>
                      <a:tailEnd type="none" w="med" len="med"/>
                    </a:lnB>
                    <a:solidFill>
                      <a:srgbClr val="FFFFFF"/>
                    </a:solidFill>
                  </a:tcPr>
                </a:tc>
              </a:tr>
              <a:tr h="566928">
                <a:tc>
                  <a:txBody>
                    <a:bodyPr/>
                    <a:lstStyle/>
                    <a:p>
                      <a:pPr algn="l" indent="0" marL="0">
                        <a:buNone/>
                      </a:pPr>
                      <a:r>
                        <a:rPr lang="en-US" sz="1200" b="1" dirty="0">
                          <a:solidFill>
                            <a:srgbClr val="26262F"/>
                          </a:solidFill>
                          <a:latin typeface="Calibri" pitchFamily="34" charset="0"/>
                          <a:ea typeface="Calibri" pitchFamily="34" charset="-122"/>
                          <a:cs typeface="Calibri" pitchFamily="34" charset="-120"/>
                        </a:rPr>
                        <a:t>response.blob()</a:t>
                      </a:r>
                      <a:endParaRPr lang="en-US" sz="1200" dirty="0">
                        <a:latin typeface="Calibri" charset="0"/>
                        <a:ea typeface="Calibri" charset="0"/>
                        <a:cs typeface="Calibri" charset="0"/>
                      </a:endParaRPr>
                    </a:p>
                  </a:txBody>
                  <a:tcPr marL="91440" marR="91440" marT="45720" marB="45720" anchor="ctr">
                    <a:lnL w="12700" cap="flat" cmpd="sng" algn="ctr">
                      <a:solidFill>
                        <a:srgbClr val="D8D8E6"/>
                      </a:solidFill>
                      <a:prstDash val="solid"/>
                      <a:round/>
                      <a:headEnd type="none" w="med" len="med"/>
                      <a:tailEnd type="none" w="med" len="med"/>
                    </a:lnL>
                    <a:lnR w="12700" cap="flat" cmpd="sng" algn="ctr">
                      <a:solidFill>
                        <a:srgbClr val="D8D8E6"/>
                      </a:solidFill>
                      <a:prstDash val="solid"/>
                      <a:round/>
                      <a:headEnd type="none" w="med" len="med"/>
                      <a:tailEnd type="none" w="med" len="med"/>
                    </a:lnR>
                    <a:lnT w="12700" cap="flat" cmpd="sng" algn="ctr">
                      <a:solidFill>
                        <a:srgbClr val="D8D8E6"/>
                      </a:solidFill>
                      <a:prstDash val="solid"/>
                      <a:round/>
                      <a:headEnd type="none" w="med" len="med"/>
                      <a:tailEnd type="none" w="med" len="med"/>
                    </a:lnT>
                    <a:lnB w="12700" cap="flat" cmpd="sng" algn="ctr">
                      <a:solidFill>
                        <a:srgbClr val="D8D8E6"/>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6262F"/>
                          </a:solidFill>
                          <a:latin typeface="Calibri" pitchFamily="34" charset="0"/>
                          <a:ea typeface="Calibri" pitchFamily="34" charset="-122"/>
                          <a:cs typeface="Calibri" pitchFamily="34" charset="-120"/>
                        </a:rPr>
                        <a:t>Raw binary data (e.g. an image)</a:t>
                      </a:r>
                      <a:endParaRPr lang="en-US" sz="1200" dirty="0">
                        <a:latin typeface="Calibri" charset="0"/>
                        <a:ea typeface="Calibri" charset="0"/>
                        <a:cs typeface="Calibri" charset="0"/>
                      </a:endParaRPr>
                    </a:p>
                  </a:txBody>
                  <a:tcPr marL="91440" marR="91440" marT="45720" marB="45720" anchor="ctr">
                    <a:lnL w="12700" cap="flat" cmpd="sng" algn="ctr">
                      <a:solidFill>
                        <a:srgbClr val="D8D8E6"/>
                      </a:solidFill>
                      <a:prstDash val="solid"/>
                      <a:round/>
                      <a:headEnd type="none" w="med" len="med"/>
                      <a:tailEnd type="none" w="med" len="med"/>
                    </a:lnL>
                    <a:lnR w="12700" cap="flat" cmpd="sng" algn="ctr">
                      <a:solidFill>
                        <a:srgbClr val="D8D8E6"/>
                      </a:solidFill>
                      <a:prstDash val="solid"/>
                      <a:round/>
                      <a:headEnd type="none" w="med" len="med"/>
                      <a:tailEnd type="none" w="med" len="med"/>
                    </a:lnR>
                    <a:lnT w="12700" cap="flat" cmpd="sng" algn="ctr">
                      <a:solidFill>
                        <a:srgbClr val="D8D8E6"/>
                      </a:solidFill>
                      <a:prstDash val="solid"/>
                      <a:round/>
                      <a:headEnd type="none" w="med" len="med"/>
                      <a:tailEnd type="none" w="med" len="med"/>
                    </a:lnT>
                    <a:lnB w="12700" cap="flat" cmpd="sng" algn="ctr">
                      <a:solidFill>
                        <a:srgbClr val="D8D8E6"/>
                      </a:solidFill>
                      <a:prstDash val="solid"/>
                      <a:round/>
                      <a:headEnd type="none" w="med" len="med"/>
                      <a:tailEnd type="none" w="med" len="med"/>
                    </a:lnB>
                    <a:solidFill>
                      <a:srgbClr val="FFFFFF"/>
                    </a:solidFill>
                  </a:tcPr>
                </a:tc>
              </a:tr>
            </a:tbl>
          </a:graphicData>
        </a:graphic>
      </p:graphicFrame>
      <p:sp>
        <p:nvSpPr>
          <p:cNvPr id="5" name="Text 2"/>
          <p:cNvSpPr txBox="1"/>
          <p:nvPr/>
        </p:nvSpPr>
        <p:spPr>
          <a:xfrm>
            <a:off x="640080" y="6035040"/>
            <a:ext cx="10911535" cy="365760"/>
          </a:xfrm>
          <a:prstGeom prst="rect">
            <a:avLst/>
          </a:prstGeom>
          <a:noFill/>
          <a:ln/>
        </p:spPr>
        <p:txBody>
          <a:bodyPr wrap="square" lIns="0" tIns="0" rIns="0" bIns="0" rtlCol="0" anchor="ctr"/>
          <a:lstStyle/>
          <a:p>
            <a:pPr indent="0" marL="0">
              <a:buNone/>
            </a:pPr>
            <a:r>
              <a:rPr lang="en-US" sz="1150" i="1" dirty="0">
                <a:solidFill>
                  <a:srgbClr val="5D5D72"/>
                </a:solidFill>
                <a:latin typeface="Calibri" pitchFamily="34" charset="0"/>
                <a:ea typeface="Calibri" pitchFamily="34" charset="-122"/>
                <a:cs typeface="Calibri" pitchFamily="34" charset="-120"/>
              </a:rPr>
              <a:t>You can only read a response body ONCE -- call one parsing method per response.</a:t>
            </a:r>
            <a:endParaRPr lang="en-US" sz="1150" dirty="0"/>
          </a:p>
        </p:txBody>
      </p:sp>
      <p:sp>
        <p:nvSpPr>
          <p:cNvPr id="30" name="cuinotes-footer-mark"/>
          <p:cNvSpPr txBox="1"/>
          <p:nvPr/>
        </p:nvSpPr>
        <p:spPr>
          <a:xfrm>
            <a:off x="9951720" y="6455664"/>
            <a:ext cx="2011680" cy="292608"/>
          </a:xfrm>
          <a:prstGeom prst="rect">
            <a:avLst/>
          </a:prstGeom>
          <a:noFill/>
        </p:spPr>
        <p:txBody>
          <a:bodyPr wrap="none" lIns="0" rIns="0" tIns="0" bIns="0">
            <a:spAutoFit/>
          </a:bodyPr>
          <a:lstStyle/>
          <a:p>
            <a:pPr algn="r"/>
            <a:r>
              <a:rPr sz="1000">
                <a:solidFill>
                  <a:srgbClr val="8A939B"/>
                </a:solidFill>
                <a:hlinkClick r:id="rId3"/>
              </a:rPr>
              <a:t>cuinotes.com</a:t>
            </a:r>
            <a:r>
              <a:rPr sz="1000">
                <a:solidFill>
                  <a:srgbClr val="8A939B"/>
                </a:solidFill>
              </a:rPr>
              <a:t>  ·  30</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10058400" cy="365760"/>
          </a:xfrm>
          <a:prstGeom prst="rect">
            <a:avLst/>
          </a:prstGeom>
          <a:noFill/>
          <a:ln/>
        </p:spPr>
        <p:txBody>
          <a:bodyPr wrap="square" lIns="0" tIns="0" rIns="0" bIns="0" rtlCol="0" anchor="ctr"/>
          <a:lstStyle/>
          <a:p>
            <a:pPr algn="l" indent="0" marL="0">
              <a:buNone/>
            </a:pPr>
            <a:r>
              <a:rPr lang="en-US" sz="1300" b="1" spc="300" kern="0" dirty="0">
                <a:solidFill>
                  <a:srgbClr val="FF8A3D"/>
                </a:solidFill>
                <a:latin typeface="Calibri" pitchFamily="34" charset="0"/>
                <a:ea typeface="Calibri" pitchFamily="34" charset="-122"/>
                <a:cs typeface="Calibri" pitchFamily="34" charset="-120"/>
              </a:rPr>
              <a:t>FETCH API</a:t>
            </a:r>
            <a:endParaRPr lang="en-US" sz="1300" dirty="0"/>
          </a:p>
        </p:txBody>
      </p:sp>
      <p:sp>
        <p:nvSpPr>
          <p:cNvPr id="3" name="Text 1"/>
          <p:cNvSpPr txBox="1"/>
          <p:nvPr/>
        </p:nvSpPr>
        <p:spPr>
          <a:xfrm>
            <a:off x="640080" y="841248"/>
            <a:ext cx="10881360" cy="914400"/>
          </a:xfrm>
          <a:prstGeom prst="rect">
            <a:avLst/>
          </a:prstGeom>
          <a:noFill/>
          <a:ln/>
        </p:spPr>
        <p:txBody>
          <a:bodyPr wrap="square" lIns="0" tIns="0" rIns="0" bIns="0" rtlCol="0" anchor="ctr"/>
          <a:lstStyle/>
          <a:p>
            <a:pPr algn="l" indent="0" marL="0">
              <a:buNone/>
            </a:pPr>
            <a:r>
              <a:rPr lang="en-US" sz="3400" b="1" dirty="0">
                <a:solidFill>
                  <a:srgbClr val="2B2B7A"/>
                </a:solidFill>
                <a:latin typeface="Cambria" pitchFamily="34" charset="0"/>
                <a:ea typeface="Cambria" pitchFamily="34" charset="-122"/>
                <a:cs typeface="Cambria" pitchFamily="34" charset="-120"/>
              </a:rPr>
              <a:t>Putting It Together with Promise.all</a:t>
            </a:r>
            <a:endParaRPr lang="en-US" sz="3400" dirty="0"/>
          </a:p>
        </p:txBody>
      </p:sp>
      <p:sp>
        <p:nvSpPr>
          <p:cNvPr id="4" name="Shape 2"/>
          <p:cNvSpPr/>
          <p:nvPr/>
        </p:nvSpPr>
        <p:spPr>
          <a:xfrm>
            <a:off x="640080" y="1965960"/>
            <a:ext cx="10911535" cy="3931920"/>
          </a:xfrm>
          <a:prstGeom prst="roundRect">
            <a:avLst>
              <a:gd name="adj" fmla="val 1860"/>
            </a:avLst>
          </a:prstGeom>
          <a:solidFill>
            <a:srgbClr val="F7F8F9"/>
          </a:solidFill>
          <a:ln w="9525">
            <a:solidFill>
              <a:srgbClr val="D0D5DD"/>
            </a:solidFill>
          </a:ln>
        </p:spPr>
        <p:txBody>
          <a:bodyPr/>
          <a:p/>
        </p:txBody>
      </p:sp>
      <p:sp>
        <p:nvSpPr>
          <p:cNvPr id="5" name="Text 3"/>
          <p:cNvSpPr txBox="1"/>
          <p:nvPr/>
        </p:nvSpPr>
        <p:spPr>
          <a:xfrm>
            <a:off x="960120" y="2194560"/>
            <a:ext cx="10271455" cy="3474720"/>
          </a:xfrm>
          <a:prstGeom prst="rect">
            <a:avLst/>
          </a:prstGeom>
          <a:noFill/>
          <a:ln/>
        </p:spPr>
        <p:txBody>
          <a:bodyPr wrap="square" lIns="0" tIns="0" rIns="0" bIns="0" rtlCol="0" anchor="t"/>
          <a:lstStyle/>
          <a:p>
            <a:pPr indent="0" marL="0">
              <a:lnSpc>
                <a:spcPct val="125000"/>
              </a:lnSpc>
              <a:buNone/>
            </a:pPr>
            <a:r>
              <a:rPr lang="en-US" sz="1366" dirty="0">
                <a:solidFill>
                  <a:srgbClr val="1F2429"/>
                </a:solidFill>
                <a:latin typeface="Courier New" pitchFamily="34" charset="0"/>
                <a:ea typeface="Courier New" pitchFamily="34" charset="-122"/>
                <a:cs typeface="Courier New" pitchFamily="34" charset="-120"/>
              </a:rPr>
              <a:t>async function fetchDashboardData() {</a:t>
            </a:r>
            <a:endParaRPr lang="en-US" sz="1366" dirty="0"/>
          </a:p>
          <a:p>
            <a:pPr indent="0" marL="0">
              <a:lnSpc>
                <a:spcPct val="125000"/>
              </a:lnSpc>
              <a:buNone/>
            </a:pPr>
            <a:r>
              <a:rPr lang="en-US" sz="1366" dirty="0">
                <a:solidFill>
                  <a:srgbClr val="1F2429"/>
                </a:solidFill>
                <a:latin typeface="Courier New" pitchFamily="34" charset="0"/>
                <a:ea typeface="Courier New" pitchFamily="34" charset="-122"/>
                <a:cs typeface="Courier New" pitchFamily="34" charset="-120"/>
              </a:rPr>
              <a:t>  try {</a:t>
            </a:r>
            <a:endParaRPr lang="en-US" sz="1366" dirty="0"/>
          </a:p>
          <a:p>
            <a:pPr indent="0" marL="0">
              <a:lnSpc>
                <a:spcPct val="125000"/>
              </a:lnSpc>
              <a:buNone/>
            </a:pPr>
            <a:r>
              <a:rPr lang="en-US" sz="1366" dirty="0">
                <a:solidFill>
                  <a:srgbClr val="1F2429"/>
                </a:solidFill>
                <a:latin typeface="Courier New" pitchFamily="34" charset="0"/>
                <a:ea typeface="Courier New" pitchFamily="34" charset="-122"/>
                <a:cs typeface="Courier New" pitchFamily="34" charset="-120"/>
              </a:rPr>
              <a:t>    const [storiesRes, countriesRes] = await Promise.all([</a:t>
            </a:r>
            <a:endParaRPr lang="en-US" sz="1366" dirty="0"/>
          </a:p>
          <a:p>
            <a:pPr indent="0" marL="0">
              <a:lnSpc>
                <a:spcPct val="125000"/>
              </a:lnSpc>
              <a:buNone/>
            </a:pPr>
            <a:r>
              <a:rPr lang="en-US" sz="1366" dirty="0">
                <a:solidFill>
                  <a:srgbClr val="1F2429"/>
                </a:solidFill>
                <a:latin typeface="Courier New" pitchFamily="34" charset="0"/>
                <a:ea typeface="Courier New" pitchFamily="34" charset="-122"/>
                <a:cs typeface="Courier New" pitchFamily="34" charset="-120"/>
              </a:rPr>
              <a:t>      fetch("https://usmanlive.com/wp-json/api/stories"),</a:t>
            </a:r>
            <a:endParaRPr lang="en-US" sz="1366" dirty="0"/>
          </a:p>
          <a:p>
            <a:pPr indent="0" marL="0">
              <a:lnSpc>
                <a:spcPct val="125000"/>
              </a:lnSpc>
              <a:buNone/>
            </a:pPr>
            <a:r>
              <a:rPr lang="en-US" sz="1366" dirty="0">
                <a:solidFill>
                  <a:srgbClr val="1F2429"/>
                </a:solidFill>
                <a:latin typeface="Courier New" pitchFamily="34" charset="0"/>
                <a:ea typeface="Courier New" pitchFamily="34" charset="-122"/>
                <a:cs typeface="Courier New" pitchFamily="34" charset="-120"/>
              </a:rPr>
              <a:t>      fetch("https://usmanlive.com/wp-json/api/countries?q=an"),</a:t>
            </a:r>
            <a:endParaRPr lang="en-US" sz="1366" dirty="0"/>
          </a:p>
          <a:p>
            <a:pPr indent="0" marL="0">
              <a:lnSpc>
                <a:spcPct val="125000"/>
              </a:lnSpc>
              <a:buNone/>
            </a:pPr>
            <a:r>
              <a:rPr lang="en-US" sz="1366" dirty="0">
                <a:solidFill>
                  <a:srgbClr val="1F2429"/>
                </a:solidFill>
                <a:latin typeface="Courier New" pitchFamily="34" charset="0"/>
                <a:ea typeface="Courier New" pitchFamily="34" charset="-122"/>
                <a:cs typeface="Courier New" pitchFamily="34" charset="-120"/>
              </a:rPr>
              <a:t>    ]);</a:t>
            </a:r>
            <a:endParaRPr lang="en-US" sz="1366" dirty="0"/>
          </a:p>
          <a:p>
            <a:pPr indent="0" marL="0">
              <a:lnSpc>
                <a:spcPct val="125000"/>
              </a:lnSpc>
              <a:buNone/>
            </a:pPr>
            <a:r>
              <a:rPr lang="en-US" sz="1366" dirty="0">
                <a:solidFill>
                  <a:srgbClr val="1F2429"/>
                </a:solidFill>
                <a:latin typeface="Courier New" pitchFamily="34" charset="0"/>
                <a:ea typeface="Courier New" pitchFamily="34" charset="-122"/>
                <a:cs typeface="Courier New" pitchFamily="34" charset="-120"/>
              </a:rPr>
              <a:t>    const stories = await storiesRes.json();</a:t>
            </a:r>
            <a:endParaRPr lang="en-US" sz="1366" dirty="0"/>
          </a:p>
          <a:p>
            <a:pPr indent="0" marL="0">
              <a:lnSpc>
                <a:spcPct val="125000"/>
              </a:lnSpc>
              <a:buNone/>
            </a:pPr>
            <a:r>
              <a:rPr lang="en-US" sz="1366" dirty="0">
                <a:solidFill>
                  <a:srgbClr val="1F2429"/>
                </a:solidFill>
                <a:latin typeface="Courier New" pitchFamily="34" charset="0"/>
                <a:ea typeface="Courier New" pitchFamily="34" charset="-122"/>
                <a:cs typeface="Courier New" pitchFamily="34" charset="-120"/>
              </a:rPr>
              <a:t>    const countries = await countriesRes.json();</a:t>
            </a:r>
            <a:endParaRPr lang="en-US" sz="1366" dirty="0"/>
          </a:p>
          <a:p>
            <a:pPr indent="0" marL="0">
              <a:lnSpc>
                <a:spcPct val="125000"/>
              </a:lnSpc>
              <a:buNone/>
            </a:pPr>
            <a:r>
              <a:rPr lang="en-US" sz="1366" dirty="0">
                <a:solidFill>
                  <a:srgbClr val="1F2429"/>
                </a:solidFill>
                <a:latin typeface="Courier New" pitchFamily="34" charset="0"/>
                <a:ea typeface="Courier New" pitchFamily="34" charset="-122"/>
                <a:cs typeface="Courier New" pitchFamily="34" charset="-120"/>
              </a:rPr>
              <a:t>    console.log(stories, countries);</a:t>
            </a:r>
            <a:endParaRPr lang="en-US" sz="1366" dirty="0"/>
          </a:p>
          <a:p>
            <a:pPr indent="0" marL="0">
              <a:lnSpc>
                <a:spcPct val="125000"/>
              </a:lnSpc>
              <a:buNone/>
            </a:pPr>
            <a:r>
              <a:rPr lang="en-US" sz="1366" dirty="0">
                <a:solidFill>
                  <a:srgbClr val="1F2429"/>
                </a:solidFill>
                <a:latin typeface="Courier New" pitchFamily="34" charset="0"/>
                <a:ea typeface="Courier New" pitchFamily="34" charset="-122"/>
                <a:cs typeface="Courier New" pitchFamily="34" charset="-120"/>
              </a:rPr>
              <a:t>  } catch (error) {</a:t>
            </a:r>
            <a:endParaRPr lang="en-US" sz="1366" dirty="0"/>
          </a:p>
          <a:p>
            <a:pPr indent="0" marL="0">
              <a:lnSpc>
                <a:spcPct val="125000"/>
              </a:lnSpc>
              <a:buNone/>
            </a:pPr>
            <a:r>
              <a:rPr lang="en-US" sz="1366" dirty="0">
                <a:solidFill>
                  <a:srgbClr val="1F2429"/>
                </a:solidFill>
                <a:latin typeface="Courier New" pitchFamily="34" charset="0"/>
                <a:ea typeface="Courier New" pitchFamily="34" charset="-122"/>
                <a:cs typeface="Courier New" pitchFamily="34" charset="-120"/>
              </a:rPr>
              <a:t>    console.error("Network error:", error.message);</a:t>
            </a:r>
            <a:endParaRPr lang="en-US" sz="1366" dirty="0"/>
          </a:p>
          <a:p>
            <a:pPr indent="0" marL="0">
              <a:lnSpc>
                <a:spcPct val="125000"/>
              </a:lnSpc>
              <a:buNone/>
            </a:pPr>
            <a:r>
              <a:rPr lang="en-US" sz="1366" dirty="0">
                <a:solidFill>
                  <a:srgbClr val="1F2429"/>
                </a:solidFill>
                <a:latin typeface="Courier New" pitchFamily="34" charset="0"/>
                <a:ea typeface="Courier New" pitchFamily="34" charset="-122"/>
                <a:cs typeface="Courier New" pitchFamily="34" charset="-120"/>
              </a:rPr>
              <a:t>  }</a:t>
            </a:r>
            <a:endParaRPr lang="en-US" sz="1366" dirty="0"/>
          </a:p>
          <a:p>
            <a:pPr indent="0" marL="0">
              <a:lnSpc>
                <a:spcPct val="125000"/>
              </a:lnSpc>
              <a:buNone/>
            </a:pPr>
            <a:r>
              <a:rPr lang="en-US" sz="1366" dirty="0">
                <a:solidFill>
                  <a:srgbClr val="1F2429"/>
                </a:solidFill>
                <a:latin typeface="Courier New" pitchFamily="34" charset="0"/>
                <a:ea typeface="Courier New" pitchFamily="34" charset="-122"/>
                <a:cs typeface="Courier New" pitchFamily="34" charset="-120"/>
              </a:rPr>
              <a:t>}</a:t>
            </a:r>
            <a:endParaRPr lang="en-US" sz="1366" dirty="0"/>
          </a:p>
        </p:txBody>
      </p:sp>
      <p:sp>
        <p:nvSpPr>
          <p:cNvPr id="8" name="cuinotes-footer-mark"/>
          <p:cNvSpPr txBox="1"/>
          <p:nvPr/>
        </p:nvSpPr>
        <p:spPr>
          <a:xfrm>
            <a:off x="9951720" y="6455664"/>
            <a:ext cx="2011680" cy="292608"/>
          </a:xfrm>
          <a:prstGeom prst="rect">
            <a:avLst/>
          </a:prstGeom>
          <a:noFill/>
        </p:spPr>
        <p:txBody>
          <a:bodyPr wrap="none" lIns="0" rIns="0" tIns="0" bIns="0">
            <a:spAutoFit/>
          </a:bodyPr>
          <a:lstStyle/>
          <a:p>
            <a:pPr algn="r"/>
            <a:r>
              <a:rPr sz="1000">
                <a:solidFill>
                  <a:srgbClr val="8A939B"/>
                </a:solidFill>
                <a:hlinkClick r:id="rId3"/>
              </a:rPr>
              <a:t>cuinotes.com</a:t>
            </a:r>
            <a:r>
              <a:rPr sz="1000">
                <a:solidFill>
                  <a:srgbClr val="8A939B"/>
                </a:solidFill>
              </a:rPr>
              <a:t>  ·  31</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10058400" cy="365760"/>
          </a:xfrm>
          <a:prstGeom prst="rect">
            <a:avLst/>
          </a:prstGeom>
          <a:noFill/>
          <a:ln/>
        </p:spPr>
        <p:txBody>
          <a:bodyPr wrap="square" lIns="0" tIns="0" rIns="0" bIns="0" rtlCol="0" anchor="ctr"/>
          <a:lstStyle/>
          <a:p>
            <a:pPr algn="l" indent="0" marL="0">
              <a:buNone/>
            </a:pPr>
            <a:r>
              <a:rPr lang="en-US" sz="1300" b="1" spc="300" kern="0" dirty="0">
                <a:solidFill>
                  <a:srgbClr val="FF8A3D"/>
                </a:solidFill>
                <a:latin typeface="Calibri" pitchFamily="34" charset="0"/>
                <a:ea typeface="Calibri" pitchFamily="34" charset="-122"/>
                <a:cs typeface="Calibri" pitchFamily="34" charset="-120"/>
              </a:rPr>
              <a:t>CORS BASICS</a:t>
            </a:r>
            <a:endParaRPr lang="en-US" sz="1300" dirty="0"/>
          </a:p>
        </p:txBody>
      </p:sp>
      <p:sp>
        <p:nvSpPr>
          <p:cNvPr id="3" name="Text 1"/>
          <p:cNvSpPr txBox="1"/>
          <p:nvPr/>
        </p:nvSpPr>
        <p:spPr>
          <a:xfrm>
            <a:off x="640080" y="841248"/>
            <a:ext cx="10881360" cy="914400"/>
          </a:xfrm>
          <a:prstGeom prst="rect">
            <a:avLst/>
          </a:prstGeom>
          <a:noFill/>
          <a:ln/>
        </p:spPr>
        <p:txBody>
          <a:bodyPr wrap="square" lIns="0" tIns="0" rIns="0" bIns="0" rtlCol="0" anchor="ctr"/>
          <a:lstStyle/>
          <a:p>
            <a:pPr algn="l" indent="0" marL="0">
              <a:buNone/>
            </a:pPr>
            <a:r>
              <a:rPr lang="en-US" sz="3400" b="1" dirty="0">
                <a:solidFill>
                  <a:srgbClr val="2B2B7A"/>
                </a:solidFill>
                <a:latin typeface="Cambria" pitchFamily="34" charset="0"/>
                <a:ea typeface="Cambria" pitchFamily="34" charset="-122"/>
                <a:cs typeface="Cambria" pitchFamily="34" charset="-120"/>
              </a:rPr>
              <a:t>Cross-Origin Resource Sharing</a:t>
            </a:r>
            <a:endParaRPr lang="en-US" sz="3400" dirty="0"/>
          </a:p>
        </p:txBody>
      </p:sp>
      <p:sp>
        <p:nvSpPr>
          <p:cNvPr id="4" name="Shape 2"/>
          <p:cNvSpPr/>
          <p:nvPr/>
        </p:nvSpPr>
        <p:spPr>
          <a:xfrm>
            <a:off x="685800" y="1965960"/>
            <a:ext cx="457200" cy="457200"/>
          </a:xfrm>
          <a:prstGeom prst="ellipse">
            <a:avLst/>
          </a:prstGeom>
          <a:solidFill>
            <a:srgbClr val="FF8A3D"/>
          </a:solidFill>
          <a:ln/>
        </p:spPr>
        <p:txBody>
          <a:bodyPr/>
          <a:p/>
        </p:txBody>
      </p:sp>
      <p:sp>
        <p:nvSpPr>
          <p:cNvPr id="5" name="Text 3"/>
          <p:cNvSpPr txBox="1"/>
          <p:nvPr/>
        </p:nvSpPr>
        <p:spPr>
          <a:xfrm>
            <a:off x="685800" y="196596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6" name="Text 4"/>
          <p:cNvSpPr txBox="1"/>
          <p:nvPr/>
        </p:nvSpPr>
        <p:spPr>
          <a:xfrm>
            <a:off x="1371600" y="1892808"/>
            <a:ext cx="10180015" cy="640080"/>
          </a:xfrm>
          <a:prstGeom prst="rect">
            <a:avLst/>
          </a:prstGeom>
          <a:noFill/>
          <a:ln/>
        </p:spPr>
        <p:txBody>
          <a:bodyPr wrap="square" lIns="0" tIns="0" rIns="0" bIns="0" rtlCol="0" anchor="ctr"/>
          <a:lstStyle/>
          <a:p>
            <a:pPr indent="0" marL="0">
              <a:buNone/>
            </a:pPr>
            <a:r>
              <a:rPr lang="en-US" sz="1500" dirty="0">
                <a:solidFill>
                  <a:srgbClr val="26262F"/>
                </a:solidFill>
                <a:latin typeface="Calibri" pitchFamily="34" charset="0"/>
                <a:ea typeface="Calibri" pitchFamily="34" charset="-122"/>
                <a:cs typeface="Calibri" pitchFamily="34" charset="-120"/>
              </a:rPr>
              <a:t>A browser security rule restricting JS on one origin (protocol + domain + port) from freely reading responses from a different origin</a:t>
            </a:r>
            <a:endParaRPr lang="en-US" sz="1500" dirty="0"/>
          </a:p>
        </p:txBody>
      </p:sp>
      <p:sp>
        <p:nvSpPr>
          <p:cNvPr id="7" name="Shape 5"/>
          <p:cNvSpPr/>
          <p:nvPr/>
        </p:nvSpPr>
        <p:spPr>
          <a:xfrm>
            <a:off x="685800" y="2788920"/>
            <a:ext cx="457200" cy="457200"/>
          </a:xfrm>
          <a:prstGeom prst="ellipse">
            <a:avLst/>
          </a:prstGeom>
          <a:solidFill>
            <a:srgbClr val="FF8A3D"/>
          </a:solidFill>
          <a:ln/>
        </p:spPr>
        <p:txBody>
          <a:bodyPr/>
          <a:p/>
        </p:txBody>
      </p:sp>
      <p:sp>
        <p:nvSpPr>
          <p:cNvPr id="8" name="Text 6"/>
          <p:cNvSpPr txBox="1"/>
          <p:nvPr/>
        </p:nvSpPr>
        <p:spPr>
          <a:xfrm>
            <a:off x="685800" y="278892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9" name="Text 7"/>
          <p:cNvSpPr txBox="1"/>
          <p:nvPr/>
        </p:nvSpPr>
        <p:spPr>
          <a:xfrm>
            <a:off x="1371600" y="2715768"/>
            <a:ext cx="10180015" cy="640080"/>
          </a:xfrm>
          <a:prstGeom prst="rect">
            <a:avLst/>
          </a:prstGeom>
          <a:noFill/>
          <a:ln/>
        </p:spPr>
        <p:txBody>
          <a:bodyPr wrap="square" lIns="0" tIns="0" rIns="0" bIns="0" rtlCol="0" anchor="ctr"/>
          <a:lstStyle/>
          <a:p>
            <a:pPr indent="0" marL="0">
              <a:buNone/>
            </a:pPr>
            <a:r>
              <a:rPr lang="en-US" sz="1500" dirty="0">
                <a:solidFill>
                  <a:srgbClr val="26262F"/>
                </a:solidFill>
                <a:latin typeface="Calibri" pitchFamily="34" charset="0"/>
                <a:ea typeface="Calibri" pitchFamily="34" charset="-122"/>
                <a:cs typeface="Calibri" pitchFamily="34" charset="-120"/>
              </a:rPr>
              <a:t>The server decides who is allowed, via an Access-Control-Allow-Origin response header</a:t>
            </a:r>
            <a:endParaRPr lang="en-US" sz="1500" dirty="0"/>
          </a:p>
        </p:txBody>
      </p:sp>
      <p:sp>
        <p:nvSpPr>
          <p:cNvPr id="10" name="Shape 8"/>
          <p:cNvSpPr/>
          <p:nvPr/>
        </p:nvSpPr>
        <p:spPr>
          <a:xfrm>
            <a:off x="685800" y="3611880"/>
            <a:ext cx="457200" cy="457200"/>
          </a:xfrm>
          <a:prstGeom prst="ellipse">
            <a:avLst/>
          </a:prstGeom>
          <a:solidFill>
            <a:srgbClr val="FF8A3D"/>
          </a:solidFill>
          <a:ln/>
        </p:spPr>
        <p:txBody>
          <a:bodyPr/>
          <a:p/>
        </p:txBody>
      </p:sp>
      <p:sp>
        <p:nvSpPr>
          <p:cNvPr id="11" name="Text 9"/>
          <p:cNvSpPr txBox="1"/>
          <p:nvPr/>
        </p:nvSpPr>
        <p:spPr>
          <a:xfrm>
            <a:off x="685800" y="361188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2" name="Text 10"/>
          <p:cNvSpPr txBox="1"/>
          <p:nvPr/>
        </p:nvSpPr>
        <p:spPr>
          <a:xfrm>
            <a:off x="1371600" y="3538728"/>
            <a:ext cx="10180015" cy="640080"/>
          </a:xfrm>
          <a:prstGeom prst="rect">
            <a:avLst/>
          </a:prstGeom>
          <a:noFill/>
          <a:ln/>
        </p:spPr>
        <p:txBody>
          <a:bodyPr wrap="square" lIns="0" tIns="0" rIns="0" bIns="0" rtlCol="0" anchor="ctr"/>
          <a:lstStyle/>
          <a:p>
            <a:pPr indent="0" marL="0">
              <a:buNone/>
            </a:pPr>
            <a:r>
              <a:rPr lang="en-US" sz="1500" dirty="0">
                <a:solidFill>
                  <a:srgbClr val="26262F"/>
                </a:solidFill>
                <a:latin typeface="Calibri" pitchFamily="34" charset="0"/>
                <a:ea typeface="Calibri" pitchFamily="34" charset="-122"/>
                <a:cs typeface="Calibri" pitchFamily="34" charset="-120"/>
              </a:rPr>
              <a:t>CORS is enforced by the BROWSER, not your JavaScript -- you cannot "fix" a CORS error from the frontend</a:t>
            </a:r>
            <a:endParaRPr lang="en-US" sz="1500" dirty="0"/>
          </a:p>
        </p:txBody>
      </p:sp>
      <p:sp>
        <p:nvSpPr>
          <p:cNvPr id="15" name="cuinotes-footer-mark"/>
          <p:cNvSpPr txBox="1"/>
          <p:nvPr/>
        </p:nvSpPr>
        <p:spPr>
          <a:xfrm>
            <a:off x="9951720" y="6455664"/>
            <a:ext cx="2011680" cy="292608"/>
          </a:xfrm>
          <a:prstGeom prst="rect">
            <a:avLst/>
          </a:prstGeom>
          <a:noFill/>
        </p:spPr>
        <p:txBody>
          <a:bodyPr wrap="none" lIns="0" rIns="0" tIns="0" bIns="0">
            <a:spAutoFit/>
          </a:bodyPr>
          <a:lstStyle/>
          <a:p>
            <a:pPr algn="r"/>
            <a:r>
              <a:rPr sz="1000">
                <a:solidFill>
                  <a:srgbClr val="8A939B"/>
                </a:solidFill>
                <a:hlinkClick r:id="rId3"/>
              </a:rPr>
              <a:t>cuinotes.com</a:t>
            </a:r>
            <a:r>
              <a:rPr sz="1000">
                <a:solidFill>
                  <a:srgbClr val="8A939B"/>
                </a:solidFill>
              </a:rPr>
              <a:t>  ·  33</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10058400" cy="365760"/>
          </a:xfrm>
          <a:prstGeom prst="rect">
            <a:avLst/>
          </a:prstGeom>
          <a:noFill/>
          <a:ln/>
        </p:spPr>
        <p:txBody>
          <a:bodyPr wrap="square" lIns="0" tIns="0" rIns="0" bIns="0" rtlCol="0" anchor="ctr"/>
          <a:lstStyle/>
          <a:p>
            <a:pPr algn="l" indent="0" marL="0">
              <a:buNone/>
            </a:pPr>
            <a:r>
              <a:rPr lang="en-US" sz="1300" b="1" spc="300" kern="0" dirty="0">
                <a:solidFill>
                  <a:srgbClr val="FF8A3D"/>
                </a:solidFill>
                <a:latin typeface="Calibri" pitchFamily="34" charset="0"/>
                <a:ea typeface="Calibri" pitchFamily="34" charset="-122"/>
                <a:cs typeface="Calibri" pitchFamily="34" charset="-120"/>
              </a:rPr>
              <a:t>CORS BASICS</a:t>
            </a:r>
            <a:endParaRPr lang="en-US" sz="1300" dirty="0"/>
          </a:p>
        </p:txBody>
      </p:sp>
      <p:sp>
        <p:nvSpPr>
          <p:cNvPr id="3" name="Text 1"/>
          <p:cNvSpPr txBox="1"/>
          <p:nvPr/>
        </p:nvSpPr>
        <p:spPr>
          <a:xfrm>
            <a:off x="640080" y="841248"/>
            <a:ext cx="10881360" cy="914400"/>
          </a:xfrm>
          <a:prstGeom prst="rect">
            <a:avLst/>
          </a:prstGeom>
          <a:noFill/>
          <a:ln/>
        </p:spPr>
        <p:txBody>
          <a:bodyPr wrap="square" lIns="0" tIns="0" rIns="0" bIns="0" rtlCol="0" anchor="ctr"/>
          <a:lstStyle/>
          <a:p>
            <a:pPr algn="l" indent="0" marL="0">
              <a:buNone/>
            </a:pPr>
            <a:r>
              <a:rPr lang="en-US" sz="3400" b="1" dirty="0">
                <a:solidFill>
                  <a:srgbClr val="2B2B7A"/>
                </a:solidFill>
                <a:latin typeface="Cambria" pitchFamily="34" charset="0"/>
                <a:ea typeface="Cambria" pitchFamily="34" charset="-122"/>
                <a:cs typeface="Cambria" pitchFamily="34" charset="-120"/>
              </a:rPr>
              <a:t>How the Browser Checks CORS</a:t>
            </a:r>
            <a:endParaRPr lang="en-US" sz="3400" dirty="0"/>
          </a:p>
        </p:txBody>
      </p:sp>
      <p:sp>
        <p:nvSpPr>
          <p:cNvPr id="4" name="Shape 2"/>
          <p:cNvSpPr/>
          <p:nvPr/>
        </p:nvSpPr>
        <p:spPr>
          <a:xfrm>
            <a:off x="4114800" y="2468880"/>
            <a:ext cx="4023360" cy="9144"/>
          </a:xfrm>
          <a:prstGeom prst="line">
            <a:avLst/>
          </a:prstGeom>
          <a:noFill/>
          <a:ln w="25400">
            <a:solidFill>
              <a:srgbClr val="5D5D72"/>
            </a:solidFill>
            <a:prstDash val="solid"/>
            <a:tailEnd type="triangle"/>
          </a:ln>
        </p:spPr>
        <p:txBody>
          <a:bodyPr/>
          <a:p/>
        </p:txBody>
      </p:sp>
      <p:sp>
        <p:nvSpPr>
          <p:cNvPr id="5" name="Text 3"/>
          <p:cNvSpPr txBox="1"/>
          <p:nvPr/>
        </p:nvSpPr>
        <p:spPr>
          <a:xfrm>
            <a:off x="5212080" y="2322576"/>
            <a:ext cx="1828800" cy="292608"/>
          </a:xfrm>
          <a:prstGeom prst="rect">
            <a:avLst/>
          </a:prstGeom>
          <a:solidFill>
            <a:srgbClr val="FFFFFF"/>
          </a:solidFill>
          <a:ln/>
        </p:spPr>
        <p:txBody>
          <a:bodyPr wrap="square" lIns="0" tIns="0" rIns="0" bIns="0" rtlCol="0" anchor="ctr"/>
          <a:lstStyle/>
          <a:p>
            <a:pPr algn="ctr" indent="0" marL="0">
              <a:buNone/>
            </a:pPr>
            <a:r>
              <a:rPr lang="en-US" sz="1050" i="1" dirty="0">
                <a:solidFill>
                  <a:srgbClr val="5D5D72"/>
                </a:solidFill>
                <a:latin typeface="Calibri" pitchFamily="34" charset="0"/>
                <a:ea typeface="Calibri" pitchFamily="34" charset="-122"/>
                <a:cs typeface="Calibri" pitchFamily="34" charset="-120"/>
              </a:rPr>
              <a:t>request</a:t>
            </a:r>
            <a:endParaRPr lang="en-US" sz="1050" dirty="0"/>
          </a:p>
        </p:txBody>
      </p:sp>
      <p:sp>
        <p:nvSpPr>
          <p:cNvPr id="6" name="Shape 4"/>
          <p:cNvSpPr/>
          <p:nvPr/>
        </p:nvSpPr>
        <p:spPr>
          <a:xfrm flipH="1">
            <a:off x="6080760" y="2743200"/>
            <a:ext cx="2606040" cy="640080"/>
          </a:xfrm>
          <a:prstGeom prst="line">
            <a:avLst/>
          </a:prstGeom>
          <a:noFill/>
          <a:ln w="25400">
            <a:solidFill>
              <a:srgbClr val="5D5D72"/>
            </a:solidFill>
            <a:prstDash val="solid"/>
            <a:tailEnd type="triangle"/>
          </a:ln>
        </p:spPr>
        <p:txBody>
          <a:bodyPr/>
          <a:p/>
        </p:txBody>
      </p:sp>
      <p:sp>
        <p:nvSpPr>
          <p:cNvPr id="7" name="Text 5"/>
          <p:cNvSpPr txBox="1"/>
          <p:nvPr/>
        </p:nvSpPr>
        <p:spPr>
          <a:xfrm>
            <a:off x="6469380" y="2916936"/>
            <a:ext cx="1828800" cy="292608"/>
          </a:xfrm>
          <a:prstGeom prst="rect">
            <a:avLst/>
          </a:prstGeom>
          <a:solidFill>
            <a:srgbClr val="FFFFFF"/>
          </a:solidFill>
          <a:ln/>
        </p:spPr>
        <p:txBody>
          <a:bodyPr wrap="square" lIns="0" tIns="0" rIns="0" bIns="0" rtlCol="0" anchor="ctr"/>
          <a:lstStyle/>
          <a:p>
            <a:pPr algn="ctr" indent="0" marL="0">
              <a:buNone/>
            </a:pPr>
            <a:r>
              <a:rPr lang="en-US" sz="1050" i="1" dirty="0">
                <a:solidFill>
                  <a:srgbClr val="5D5D72"/>
                </a:solidFill>
                <a:latin typeface="Calibri" pitchFamily="34" charset="0"/>
                <a:ea typeface="Calibri" pitchFamily="34" charset="-122"/>
                <a:cs typeface="Calibri" pitchFamily="34" charset="-120"/>
              </a:rPr>
              <a:t>response + header</a:t>
            </a:r>
            <a:endParaRPr lang="en-US" sz="1050" dirty="0"/>
          </a:p>
        </p:txBody>
      </p:sp>
      <p:sp>
        <p:nvSpPr>
          <p:cNvPr id="8" name="Shape 6"/>
          <p:cNvSpPr/>
          <p:nvPr/>
        </p:nvSpPr>
        <p:spPr>
          <a:xfrm flipH="1">
            <a:off x="2834640" y="4160520"/>
            <a:ext cx="2468880" cy="685800"/>
          </a:xfrm>
          <a:prstGeom prst="line">
            <a:avLst/>
          </a:prstGeom>
          <a:noFill/>
          <a:ln w="25400">
            <a:solidFill>
              <a:srgbClr val="5D5D72"/>
            </a:solidFill>
            <a:prstDash val="solid"/>
            <a:tailEnd type="triangle"/>
          </a:ln>
        </p:spPr>
        <p:txBody>
          <a:bodyPr/>
          <a:p/>
        </p:txBody>
      </p:sp>
      <p:sp>
        <p:nvSpPr>
          <p:cNvPr id="9" name="Text 7"/>
          <p:cNvSpPr txBox="1"/>
          <p:nvPr/>
        </p:nvSpPr>
        <p:spPr>
          <a:xfrm>
            <a:off x="3154680" y="4357116"/>
            <a:ext cx="1828800" cy="292608"/>
          </a:xfrm>
          <a:prstGeom prst="rect">
            <a:avLst/>
          </a:prstGeom>
          <a:solidFill>
            <a:srgbClr val="FFFFFF"/>
          </a:solidFill>
          <a:ln/>
        </p:spPr>
        <p:txBody>
          <a:bodyPr wrap="square" lIns="0" tIns="0" rIns="0" bIns="0" rtlCol="0" anchor="ctr"/>
          <a:lstStyle/>
          <a:p>
            <a:pPr algn="ctr" indent="0" marL="0">
              <a:buNone/>
            </a:pPr>
            <a:r>
              <a:rPr lang="en-US" sz="1050" i="1" dirty="0">
                <a:solidFill>
                  <a:srgbClr val="5D5D72"/>
                </a:solidFill>
                <a:latin typeface="Calibri" pitchFamily="34" charset="0"/>
                <a:ea typeface="Calibri" pitchFamily="34" charset="-122"/>
                <a:cs typeface="Calibri" pitchFamily="34" charset="-120"/>
              </a:rPr>
              <a:t>Yes</a:t>
            </a:r>
            <a:endParaRPr lang="en-US" sz="1050" dirty="0"/>
          </a:p>
        </p:txBody>
      </p:sp>
      <p:sp>
        <p:nvSpPr>
          <p:cNvPr id="10" name="Shape 8"/>
          <p:cNvSpPr/>
          <p:nvPr/>
        </p:nvSpPr>
        <p:spPr>
          <a:xfrm>
            <a:off x="6675120" y="3840480"/>
            <a:ext cx="2560320" cy="1005840"/>
          </a:xfrm>
          <a:prstGeom prst="line">
            <a:avLst/>
          </a:prstGeom>
          <a:noFill/>
          <a:ln w="25400">
            <a:solidFill>
              <a:srgbClr val="5D5D72"/>
            </a:solidFill>
            <a:prstDash val="solid"/>
            <a:tailEnd type="triangle"/>
          </a:ln>
        </p:spPr>
        <p:txBody>
          <a:bodyPr/>
          <a:p/>
        </p:txBody>
      </p:sp>
      <p:sp>
        <p:nvSpPr>
          <p:cNvPr id="11" name="Text 9"/>
          <p:cNvSpPr txBox="1"/>
          <p:nvPr/>
        </p:nvSpPr>
        <p:spPr>
          <a:xfrm>
            <a:off x="7040880" y="4197096"/>
            <a:ext cx="1828800" cy="292608"/>
          </a:xfrm>
          <a:prstGeom prst="rect">
            <a:avLst/>
          </a:prstGeom>
          <a:solidFill>
            <a:srgbClr val="FFFFFF"/>
          </a:solidFill>
          <a:ln/>
        </p:spPr>
        <p:txBody>
          <a:bodyPr wrap="square" lIns="0" tIns="0" rIns="0" bIns="0" rtlCol="0" anchor="ctr"/>
          <a:lstStyle/>
          <a:p>
            <a:pPr algn="ctr" indent="0" marL="0">
              <a:buNone/>
            </a:pPr>
            <a:r>
              <a:rPr lang="en-US" sz="1050" i="1" dirty="0">
                <a:solidFill>
                  <a:srgbClr val="5D5D72"/>
                </a:solidFill>
                <a:latin typeface="Calibri" pitchFamily="34" charset="0"/>
                <a:ea typeface="Calibri" pitchFamily="34" charset="-122"/>
                <a:cs typeface="Calibri" pitchFamily="34" charset="-120"/>
              </a:rPr>
              <a:t>No</a:t>
            </a:r>
            <a:endParaRPr lang="en-US" sz="1050" dirty="0"/>
          </a:p>
        </p:txBody>
      </p:sp>
      <p:sp>
        <p:nvSpPr>
          <p:cNvPr id="12" name="Shape 10"/>
          <p:cNvSpPr/>
          <p:nvPr/>
        </p:nvSpPr>
        <p:spPr>
          <a:xfrm>
            <a:off x="822960" y="2194560"/>
            <a:ext cx="3291840" cy="548640"/>
          </a:xfrm>
          <a:prstGeom prst="rect">
            <a:avLst/>
          </a:prstGeom>
          <a:solidFill>
            <a:srgbClr val="2B2B7A"/>
          </a:solidFill>
          <a:ln/>
        </p:spPr>
        <p:txBody>
          <a:bodyPr/>
          <a:p/>
        </p:txBody>
      </p:sp>
      <p:sp>
        <p:nvSpPr>
          <p:cNvPr id="13" name="Text 11"/>
          <p:cNvSpPr txBox="1"/>
          <p:nvPr/>
        </p:nvSpPr>
        <p:spPr>
          <a:xfrm>
            <a:off x="877824" y="2194560"/>
            <a:ext cx="3182112" cy="548640"/>
          </a:xfrm>
          <a:prstGeom prst="rect">
            <a:avLst/>
          </a:prstGeom>
          <a:noFill/>
          <a:ln/>
        </p:spPr>
        <p:txBody>
          <a:bodyPr wrap="square" lIns="0" tIns="0" rIns="0" bIns="0" rtlCol="0" anchor="ctr"/>
          <a:lstStyle/>
          <a:p>
            <a:pPr algn="ctr" indent="0" marL="0">
              <a:lnSpc>
                <a:spcPct val="105000"/>
              </a:lnSpc>
              <a:buNone/>
            </a:pPr>
            <a:r>
              <a:rPr lang="en-US" sz="1100" b="1" dirty="0">
                <a:solidFill>
                  <a:srgbClr val="FFFFFF"/>
                </a:solidFill>
                <a:latin typeface="Calibri" pitchFamily="34" charset="0"/>
                <a:ea typeface="Calibri" pitchFamily="34" charset="-122"/>
                <a:cs typeface="Calibri" pitchFamily="34" charset="-120"/>
              </a:rPr>
              <a:t>Browser</a:t>
            </a:r>
            <a:endParaRPr lang="en-US" sz="1100" dirty="0"/>
          </a:p>
          <a:p>
            <a:pPr algn="ctr" indent="0" marL="0">
              <a:lnSpc>
                <a:spcPct val="105000"/>
              </a:lnSpc>
              <a:buNone/>
            </a:pPr>
            <a:r>
              <a:rPr lang="en-US" sz="1100" b="1" dirty="0">
                <a:solidFill>
                  <a:srgbClr val="FFFFFF"/>
                </a:solidFill>
                <a:latin typeface="Calibri" pitchFamily="34" charset="0"/>
                <a:ea typeface="Calibri" pitchFamily="34" charset="-122"/>
                <a:cs typeface="Calibri" pitchFamily="34" charset="-120"/>
              </a:rPr>
              <a:t>fetch("https://api.example.com/data")</a:t>
            </a:r>
            <a:endParaRPr lang="en-US" sz="1100" dirty="0"/>
          </a:p>
        </p:txBody>
      </p:sp>
      <p:sp>
        <p:nvSpPr>
          <p:cNvPr id="14" name="Shape 12"/>
          <p:cNvSpPr/>
          <p:nvPr/>
        </p:nvSpPr>
        <p:spPr>
          <a:xfrm>
            <a:off x="8138160" y="2194560"/>
            <a:ext cx="3200400" cy="548640"/>
          </a:xfrm>
          <a:prstGeom prst="rect">
            <a:avLst/>
          </a:prstGeom>
          <a:solidFill>
            <a:srgbClr val="2B2B7A"/>
          </a:solidFill>
          <a:ln/>
        </p:spPr>
        <p:txBody>
          <a:bodyPr/>
          <a:p/>
        </p:txBody>
      </p:sp>
      <p:sp>
        <p:nvSpPr>
          <p:cNvPr id="15" name="Text 13"/>
          <p:cNvSpPr txBox="1"/>
          <p:nvPr/>
        </p:nvSpPr>
        <p:spPr>
          <a:xfrm>
            <a:off x="8193024" y="2194560"/>
            <a:ext cx="3090672" cy="548640"/>
          </a:xfrm>
          <a:prstGeom prst="rect">
            <a:avLst/>
          </a:prstGeom>
          <a:noFill/>
          <a:ln/>
        </p:spPr>
        <p:txBody>
          <a:bodyPr wrap="square" lIns="0" tIns="0" rIns="0" bIns="0" rtlCol="0" anchor="ctr"/>
          <a:lstStyle/>
          <a:p>
            <a:pPr algn="ctr" indent="0" marL="0">
              <a:lnSpc>
                <a:spcPct val="105000"/>
              </a:lnSpc>
              <a:buNone/>
            </a:pPr>
            <a:r>
              <a:rPr lang="en-US" sz="1250" b="1" dirty="0">
                <a:solidFill>
                  <a:srgbClr val="FFFFFF"/>
                </a:solidFill>
                <a:latin typeface="Calibri" pitchFamily="34" charset="0"/>
                <a:ea typeface="Calibri" pitchFamily="34" charset="-122"/>
                <a:cs typeface="Calibri" pitchFamily="34" charset="-120"/>
              </a:rPr>
              <a:t>api.example.com</a:t>
            </a:r>
            <a:endParaRPr lang="en-US" sz="1250" dirty="0"/>
          </a:p>
        </p:txBody>
      </p:sp>
      <p:sp>
        <p:nvSpPr>
          <p:cNvPr id="16" name="Shape 14"/>
          <p:cNvSpPr/>
          <p:nvPr/>
        </p:nvSpPr>
        <p:spPr>
          <a:xfrm>
            <a:off x="4480560" y="3383280"/>
            <a:ext cx="3200400" cy="777240"/>
          </a:xfrm>
          <a:prstGeom prst="diamond">
            <a:avLst/>
          </a:prstGeom>
          <a:solidFill>
            <a:srgbClr val="FF8A3D"/>
          </a:solidFill>
          <a:ln/>
        </p:spPr>
        <p:txBody>
          <a:bodyPr/>
          <a:p/>
        </p:txBody>
      </p:sp>
      <p:sp>
        <p:nvSpPr>
          <p:cNvPr id="17" name="Text 15"/>
          <p:cNvSpPr txBox="1"/>
          <p:nvPr/>
        </p:nvSpPr>
        <p:spPr>
          <a:xfrm>
            <a:off x="4535424" y="3383280"/>
            <a:ext cx="3090672" cy="777240"/>
          </a:xfrm>
          <a:prstGeom prst="rect">
            <a:avLst/>
          </a:prstGeom>
          <a:noFill/>
          <a:ln/>
        </p:spPr>
        <p:txBody>
          <a:bodyPr wrap="square" lIns="0" tIns="0" rIns="0" bIns="0" rtlCol="0" anchor="ctr"/>
          <a:lstStyle/>
          <a:p>
            <a:pPr algn="ctr" indent="0" marL="0">
              <a:lnSpc>
                <a:spcPct val="105000"/>
              </a:lnSpc>
              <a:buNone/>
            </a:pPr>
            <a:r>
              <a:rPr lang="en-US" sz="1100" b="1" dirty="0">
                <a:solidFill>
                  <a:srgbClr val="FFFFFF"/>
                </a:solidFill>
                <a:latin typeface="Calibri" pitchFamily="34" charset="0"/>
                <a:ea typeface="Calibri" pitchFamily="34" charset="-122"/>
                <a:cs typeface="Calibri" pitchFamily="34" charset="-120"/>
              </a:rPr>
              <a:t>Access-Control-</a:t>
            </a:r>
            <a:endParaRPr lang="en-US" sz="1100" dirty="0"/>
          </a:p>
          <a:p>
            <a:pPr algn="ctr" indent="0" marL="0">
              <a:lnSpc>
                <a:spcPct val="105000"/>
              </a:lnSpc>
              <a:buNone/>
            </a:pPr>
            <a:r>
              <a:rPr lang="en-US" sz="1100" b="1" dirty="0">
                <a:solidFill>
                  <a:srgbClr val="FFFFFF"/>
                </a:solidFill>
                <a:latin typeface="Calibri" pitchFamily="34" charset="0"/>
                <a:ea typeface="Calibri" pitchFamily="34" charset="-122"/>
                <a:cs typeface="Calibri" pitchFamily="34" charset="-120"/>
              </a:rPr>
              <a:t>Allow-Origin</a:t>
            </a:r>
            <a:endParaRPr lang="en-US" sz="1100" dirty="0"/>
          </a:p>
          <a:p>
            <a:pPr algn="ctr" indent="0" marL="0">
              <a:lnSpc>
                <a:spcPct val="105000"/>
              </a:lnSpc>
              <a:buNone/>
            </a:pPr>
            <a:r>
              <a:rPr lang="en-US" sz="1100" b="1" dirty="0">
                <a:solidFill>
                  <a:srgbClr val="FFFFFF"/>
                </a:solidFill>
                <a:latin typeface="Calibri" pitchFamily="34" charset="0"/>
                <a:ea typeface="Calibri" pitchFamily="34" charset="-122"/>
                <a:cs typeface="Calibri" pitchFamily="34" charset="-120"/>
              </a:rPr>
              <a:t>allows this origin?</a:t>
            </a:r>
            <a:endParaRPr lang="en-US" sz="1100" dirty="0"/>
          </a:p>
        </p:txBody>
      </p:sp>
      <p:sp>
        <p:nvSpPr>
          <p:cNvPr id="18" name="Shape 16"/>
          <p:cNvSpPr/>
          <p:nvPr/>
        </p:nvSpPr>
        <p:spPr>
          <a:xfrm>
            <a:off x="914400" y="4846320"/>
            <a:ext cx="3840480" cy="548640"/>
          </a:xfrm>
          <a:prstGeom prst="rect">
            <a:avLst/>
          </a:prstGeom>
          <a:solidFill>
            <a:srgbClr val="3FA66B"/>
          </a:solidFill>
          <a:ln/>
        </p:spPr>
        <p:txBody>
          <a:bodyPr/>
          <a:p/>
        </p:txBody>
      </p:sp>
      <p:sp>
        <p:nvSpPr>
          <p:cNvPr id="19" name="Text 17"/>
          <p:cNvSpPr txBox="1"/>
          <p:nvPr/>
        </p:nvSpPr>
        <p:spPr>
          <a:xfrm>
            <a:off x="969264" y="4846320"/>
            <a:ext cx="3730752" cy="548640"/>
          </a:xfrm>
          <a:prstGeom prst="rect">
            <a:avLst/>
          </a:prstGeom>
          <a:noFill/>
          <a:ln/>
        </p:spPr>
        <p:txBody>
          <a:bodyPr wrap="square" lIns="0" tIns="0" rIns="0" bIns="0" rtlCol="0" anchor="ctr"/>
          <a:lstStyle/>
          <a:p>
            <a:pPr algn="ctr" indent="0" marL="0">
              <a:lnSpc>
                <a:spcPct val="105000"/>
              </a:lnSpc>
              <a:buNone/>
            </a:pPr>
            <a:r>
              <a:rPr lang="en-US" sz="1250" b="1" dirty="0">
                <a:solidFill>
                  <a:srgbClr val="FFFFFF"/>
                </a:solidFill>
                <a:latin typeface="Calibri" pitchFamily="34" charset="0"/>
                <a:ea typeface="Calibri" pitchFamily="34" charset="-122"/>
                <a:cs typeface="Calibri" pitchFamily="34" charset="-120"/>
              </a:rPr>
              <a:t>JS can read the response</a:t>
            </a:r>
            <a:endParaRPr lang="en-US" sz="1250" dirty="0"/>
          </a:p>
        </p:txBody>
      </p:sp>
      <p:sp>
        <p:nvSpPr>
          <p:cNvPr id="20" name="Shape 18"/>
          <p:cNvSpPr/>
          <p:nvPr/>
        </p:nvSpPr>
        <p:spPr>
          <a:xfrm>
            <a:off x="7315200" y="4846320"/>
            <a:ext cx="3931920" cy="548640"/>
          </a:xfrm>
          <a:prstGeom prst="rect">
            <a:avLst/>
          </a:prstGeom>
          <a:solidFill>
            <a:srgbClr val="E67528"/>
          </a:solidFill>
          <a:ln/>
        </p:spPr>
        <p:txBody>
          <a:bodyPr/>
          <a:p/>
        </p:txBody>
      </p:sp>
      <p:sp>
        <p:nvSpPr>
          <p:cNvPr id="21" name="Text 19"/>
          <p:cNvSpPr txBox="1"/>
          <p:nvPr/>
        </p:nvSpPr>
        <p:spPr>
          <a:xfrm>
            <a:off x="7370064" y="4846320"/>
            <a:ext cx="3822192" cy="548640"/>
          </a:xfrm>
          <a:prstGeom prst="rect">
            <a:avLst/>
          </a:prstGeom>
          <a:noFill/>
          <a:ln/>
        </p:spPr>
        <p:txBody>
          <a:bodyPr wrap="square" lIns="0" tIns="0" rIns="0" bIns="0" rtlCol="0" anchor="ctr"/>
          <a:lstStyle/>
          <a:p>
            <a:pPr algn="ctr" indent="0" marL="0">
              <a:lnSpc>
                <a:spcPct val="105000"/>
              </a:lnSpc>
              <a:buNone/>
            </a:pPr>
            <a:r>
              <a:rPr lang="en-US" sz="1200" b="1" dirty="0">
                <a:solidFill>
                  <a:srgbClr val="FFFFFF"/>
                </a:solidFill>
                <a:latin typeface="Calibri" pitchFamily="34" charset="0"/>
                <a:ea typeface="Calibri" pitchFamily="34" charset="-122"/>
                <a:cs typeface="Calibri" pitchFamily="34" charset="-120"/>
              </a:rPr>
              <a:t>Browser BLOCKS the JS</a:t>
            </a:r>
            <a:endParaRPr lang="en-US" sz="1200" dirty="0"/>
          </a:p>
          <a:p>
            <a:pPr algn="ctr" indent="0" marL="0">
              <a:lnSpc>
                <a:spcPct val="105000"/>
              </a:lnSpc>
              <a:buNone/>
            </a:pPr>
            <a:r>
              <a:rPr lang="en-US" sz="1200" b="1" dirty="0">
                <a:solidFill>
                  <a:srgbClr val="FFFFFF"/>
                </a:solidFill>
                <a:latin typeface="Calibri" pitchFamily="34" charset="0"/>
                <a:ea typeface="Calibri" pitchFamily="34" charset="-122"/>
                <a:cs typeface="Calibri" pitchFamily="34" charset="-120"/>
              </a:rPr>
              <a:t>from reading it (CORS error)</a:t>
            </a:r>
            <a:endParaRPr lang="en-US" sz="1200" dirty="0"/>
          </a:p>
        </p:txBody>
      </p:sp>
      <p:sp>
        <p:nvSpPr>
          <p:cNvPr id="22" name="Text 20"/>
          <p:cNvSpPr txBox="1"/>
          <p:nvPr/>
        </p:nvSpPr>
        <p:spPr>
          <a:xfrm>
            <a:off x="640080" y="5989320"/>
            <a:ext cx="10911535" cy="411480"/>
          </a:xfrm>
          <a:prstGeom prst="rect">
            <a:avLst/>
          </a:prstGeom>
          <a:noFill/>
          <a:ln/>
        </p:spPr>
        <p:txBody>
          <a:bodyPr wrap="square" lIns="0" tIns="0" rIns="0" bIns="0" rtlCol="0" anchor="t"/>
          <a:lstStyle/>
          <a:p>
            <a:pPr indent="0" marL="0">
              <a:buNone/>
            </a:pPr>
            <a:r>
              <a:rPr lang="en-US" sz="1250" i="1" dirty="0">
                <a:solidFill>
                  <a:srgbClr val="5D5D72"/>
                </a:solidFill>
                <a:latin typeface="Calibri" pitchFamily="34" charset="0"/>
                <a:ea typeface="Calibri" pitchFamily="34" charset="-122"/>
                <a:cs typeface="Calibri" pitchFamily="34" charset="-120"/>
              </a:rPr>
              <a:t>The network request may technically succeed either way -- CORS only controls whether your JavaScript is allowed to read the response.</a:t>
            </a:r>
            <a:endParaRPr lang="en-US" sz="1250" dirty="0"/>
          </a:p>
        </p:txBody>
      </p:sp>
      <p:sp>
        <p:nvSpPr>
          <p:cNvPr id="25" name="cuinotes-footer-mark"/>
          <p:cNvSpPr txBox="1"/>
          <p:nvPr/>
        </p:nvSpPr>
        <p:spPr>
          <a:xfrm>
            <a:off x="9951720" y="6455664"/>
            <a:ext cx="2011680" cy="292608"/>
          </a:xfrm>
          <a:prstGeom prst="rect">
            <a:avLst/>
          </a:prstGeom>
          <a:noFill/>
        </p:spPr>
        <p:txBody>
          <a:bodyPr wrap="none" lIns="0" rIns="0" tIns="0" bIns="0">
            <a:spAutoFit/>
          </a:bodyPr>
          <a:lstStyle/>
          <a:p>
            <a:pPr algn="r"/>
            <a:r>
              <a:rPr sz="1000">
                <a:solidFill>
                  <a:srgbClr val="8A939B"/>
                </a:solidFill>
                <a:hlinkClick r:id="rId3"/>
              </a:rPr>
              <a:t>cuinotes.com</a:t>
            </a:r>
            <a:r>
              <a:rPr sz="1000">
                <a:solidFill>
                  <a:srgbClr val="8A939B"/>
                </a:solidFill>
              </a:rPr>
              <a:t>  ·  34</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10058400" cy="365760"/>
          </a:xfrm>
          <a:prstGeom prst="rect">
            <a:avLst/>
          </a:prstGeom>
          <a:noFill/>
          <a:ln/>
        </p:spPr>
        <p:txBody>
          <a:bodyPr wrap="square" lIns="0" tIns="0" rIns="0" bIns="0" rtlCol="0" anchor="ctr"/>
          <a:lstStyle/>
          <a:p>
            <a:pPr algn="l" indent="0" marL="0">
              <a:buNone/>
            </a:pPr>
            <a:r>
              <a:rPr lang="en-US" sz="1300" b="1" spc="300" kern="0" dirty="0">
                <a:solidFill>
                  <a:srgbClr val="FF8A3D"/>
                </a:solidFill>
                <a:latin typeface="Calibri" pitchFamily="34" charset="0"/>
                <a:ea typeface="Calibri" pitchFamily="34" charset="-122"/>
                <a:cs typeface="Calibri" pitchFamily="34" charset="-120"/>
              </a:rPr>
              <a:t>CORS BASICS</a:t>
            </a:r>
            <a:endParaRPr lang="en-US" sz="1300" dirty="0"/>
          </a:p>
        </p:txBody>
      </p:sp>
      <p:sp>
        <p:nvSpPr>
          <p:cNvPr id="3" name="Text 1"/>
          <p:cNvSpPr txBox="1"/>
          <p:nvPr/>
        </p:nvSpPr>
        <p:spPr>
          <a:xfrm>
            <a:off x="640080" y="841248"/>
            <a:ext cx="10881360" cy="914400"/>
          </a:xfrm>
          <a:prstGeom prst="rect">
            <a:avLst/>
          </a:prstGeom>
          <a:noFill/>
          <a:ln/>
        </p:spPr>
        <p:txBody>
          <a:bodyPr wrap="square" lIns="0" tIns="0" rIns="0" bIns="0" rtlCol="0" anchor="ctr"/>
          <a:lstStyle/>
          <a:p>
            <a:pPr algn="l" indent="0" marL="0">
              <a:buNone/>
            </a:pPr>
            <a:r>
              <a:rPr lang="en-US" sz="3400" b="1" dirty="0">
                <a:solidFill>
                  <a:srgbClr val="2B2B7A"/>
                </a:solidFill>
                <a:latin typeface="Cambria" pitchFamily="34" charset="0"/>
                <a:ea typeface="Cambria" pitchFamily="34" charset="-122"/>
                <a:cs typeface="Cambria" pitchFamily="34" charset="-120"/>
              </a:rPr>
              <a:t>CORS Is Not Something You Can Bypass</a:t>
            </a:r>
            <a:endParaRPr lang="en-US" sz="3400" dirty="0"/>
          </a:p>
        </p:txBody>
      </p:sp>
      <p:sp>
        <p:nvSpPr>
          <p:cNvPr id="4" name="Shape 2"/>
          <p:cNvSpPr/>
          <p:nvPr/>
        </p:nvSpPr>
        <p:spPr>
          <a:xfrm>
            <a:off x="640080" y="1965960"/>
            <a:ext cx="10911535" cy="3657600"/>
          </a:xfrm>
          <a:prstGeom prst="roundRect">
            <a:avLst>
              <a:gd name="adj" fmla="val 3158"/>
            </a:avLst>
          </a:prstGeom>
          <a:solidFill>
            <a:srgbClr val="FDECE0"/>
          </a:solidFill>
          <a:ln w="12700">
            <a:solidFill>
              <a:srgbClr val="FF8A3D"/>
            </a:solidFill>
            <a:prstDash val="solid"/>
          </a:ln>
        </p:spPr>
        <p:txBody>
          <a:bodyPr/>
          <a:p/>
        </p:txBody>
      </p:sp>
      <p:sp>
        <p:nvSpPr>
          <p:cNvPr id="5" name="Text 3"/>
          <p:cNvSpPr txBox="1"/>
          <p:nvPr/>
        </p:nvSpPr>
        <p:spPr>
          <a:xfrm>
            <a:off x="868680" y="2103120"/>
            <a:ext cx="10454335" cy="400000"/>
          </a:xfrm>
          <a:prstGeom prst="rect">
            <a:avLst/>
          </a:prstGeom>
          <a:noFill/>
          <a:ln/>
        </p:spPr>
        <p:txBody>
          <a:bodyPr wrap="square" lIns="0" tIns="0" rIns="0" bIns="0" rtlCol="0" anchor="ctr"/>
          <a:lstStyle/>
          <a:p>
            <a:pPr indent="0" marL="0">
              <a:buNone/>
            </a:pPr>
            <a:r>
              <a:rPr lang="en-US" sz="1800" b="1" spc="200" kern="0" dirty="0">
                <a:solidFill>
                  <a:srgbClr val="8A3A12"/>
                </a:solidFill>
                <a:latin typeface="Calibri" pitchFamily="34" charset="0"/>
                <a:ea typeface="Calibri" pitchFamily="34" charset="-122"/>
                <a:cs typeface="Calibri" pitchFamily="34" charset="-120"/>
              </a:rPr>
              <a:t>WARNING</a:t>
            </a:r>
            <a:endParaRPr lang="en-US" sz="1800" dirty="0"/>
          </a:p>
        </p:txBody>
      </p:sp>
      <p:sp>
        <p:nvSpPr>
          <p:cNvPr id="6" name="Text 4"/>
          <p:cNvSpPr txBox="1"/>
          <p:nvPr/>
        </p:nvSpPr>
        <p:spPr>
          <a:xfrm>
            <a:off x="868680" y="2795960"/>
            <a:ext cx="10454335" cy="2782400"/>
          </a:xfrm>
          <a:prstGeom prst="rect">
            <a:avLst/>
          </a:prstGeom>
          <a:noFill/>
          <a:ln/>
        </p:spPr>
        <p:txBody>
          <a:bodyPr wrap="square" lIns="0" tIns="0" rIns="0" bIns="0" rtlCol="0" anchor="ctr"/>
          <a:lstStyle/>
          <a:p>
            <a:pPr indent="0" marL="0">
              <a:buNone/>
            </a:pPr>
            <a:r>
              <a:rPr lang="en-US" sz="2800" dirty="0">
                <a:solidFill>
                  <a:srgbClr val="26262F"/>
                </a:solidFill>
                <a:latin typeface="Calibri" pitchFamily="34" charset="0"/>
                <a:ea typeface="Calibri" pitchFamily="34" charset="-122"/>
                <a:cs typeface="Calibri" pitchFamily="34" charset="-120"/>
              </a:rPr>
              <a:t>If you see a CORS error, the fix belongs on the server (adding the right Access-Control-Allow-Origin header), not in your fetch call. You'll work with server configuration, including CORS, starting in Unit 5.</a:t>
            </a:r>
            <a:endParaRPr lang="en-US" sz="2800" dirty="0"/>
          </a:p>
        </p:txBody>
      </p:sp>
      <p:sp>
        <p:nvSpPr>
          <p:cNvPr id="9" name="cuinotes-footer-mark"/>
          <p:cNvSpPr txBox="1"/>
          <p:nvPr/>
        </p:nvSpPr>
        <p:spPr>
          <a:xfrm>
            <a:off x="9951720" y="6455664"/>
            <a:ext cx="2011680" cy="292608"/>
          </a:xfrm>
          <a:prstGeom prst="rect">
            <a:avLst/>
          </a:prstGeom>
          <a:noFill/>
        </p:spPr>
        <p:txBody>
          <a:bodyPr wrap="none" lIns="0" rIns="0" tIns="0" bIns="0">
            <a:spAutoFit/>
          </a:bodyPr>
          <a:lstStyle/>
          <a:p>
            <a:pPr algn="r"/>
            <a:r>
              <a:rPr sz="1000">
                <a:solidFill>
                  <a:srgbClr val="8A939B"/>
                </a:solidFill>
                <a:hlinkClick r:id="rId3"/>
              </a:rPr>
              <a:t>cuinotes.com</a:t>
            </a:r>
            <a:r>
              <a:rPr sz="1000">
                <a:solidFill>
                  <a:srgbClr val="8A939B"/>
                </a:solidFill>
              </a:rPr>
              <a:t>  ·  35</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2B2B7A"/>
        </a:solidFill>
      </p:bgPr>
    </p:bg>
    <p:spTree>
      <p:nvGrpSpPr>
        <p:cNvPr id="1" name=""/>
        <p:cNvGrpSpPr/>
        <p:nvPr/>
      </p:nvGrpSpPr>
      <p:grpSpPr>
        <a:xfrm>
          <a:off x="0" y="0"/>
          <a:ext cx="0" cy="0"/>
          <a:chOff x="0" y="0"/>
          <a:chExt cx="0" cy="0"/>
        </a:xfrm>
      </p:grpSpPr>
      <p:sp>
        <p:nvSpPr>
          <p:cNvPr id="2" name="Text 0"/>
          <p:cNvSpPr txBox="1"/>
          <p:nvPr/>
        </p:nvSpPr>
        <p:spPr>
          <a:xfrm>
            <a:off x="822960" y="731520"/>
            <a:ext cx="9144000" cy="457200"/>
          </a:xfrm>
          <a:prstGeom prst="rect">
            <a:avLst/>
          </a:prstGeom>
          <a:noFill/>
          <a:ln/>
        </p:spPr>
        <p:txBody>
          <a:bodyPr wrap="square" lIns="0" tIns="0" rIns="0" bIns="0" rtlCol="0" anchor="ctr"/>
          <a:lstStyle/>
          <a:p>
            <a:pPr indent="0" marL="0">
              <a:buNone/>
            </a:pPr>
            <a:r>
              <a:rPr lang="en-US" sz="1500" b="1" spc="400" kern="0" dirty="0">
                <a:solidFill>
                  <a:srgbClr val="FF8A3D"/>
                </a:solidFill>
                <a:latin typeface="Calibri" pitchFamily="34" charset="0"/>
                <a:ea typeface="Calibri" pitchFamily="34" charset="-122"/>
                <a:cs typeface="Calibri" pitchFamily="34" charset="-120"/>
              </a:rPr>
              <a:t>KEY TAKEAWAYS</a:t>
            </a:r>
            <a:endParaRPr lang="en-US" sz="1500" dirty="0"/>
          </a:p>
        </p:txBody>
      </p:sp>
      <p:sp>
        <p:nvSpPr>
          <p:cNvPr id="3" name="Text 1"/>
          <p:cNvSpPr txBox="1"/>
          <p:nvPr/>
        </p:nvSpPr>
        <p:spPr>
          <a:xfrm>
            <a:off x="777240" y="1188720"/>
            <a:ext cx="10515600" cy="82296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Lecture 15 in Six Points</a:t>
            </a:r>
            <a:endParaRPr lang="en-US" sz="3400" dirty="0"/>
          </a:p>
        </p:txBody>
      </p:sp>
      <p:sp>
        <p:nvSpPr>
          <p:cNvPr id="4" name="Shape 2"/>
          <p:cNvSpPr/>
          <p:nvPr/>
        </p:nvSpPr>
        <p:spPr>
          <a:xfrm>
            <a:off x="822960" y="2286000"/>
            <a:ext cx="438912" cy="438912"/>
          </a:xfrm>
          <a:prstGeom prst="ellipse">
            <a:avLst/>
          </a:prstGeom>
          <a:solidFill>
            <a:srgbClr val="FF8A3D"/>
          </a:solidFill>
          <a:ln/>
        </p:spPr>
        <p:txBody>
          <a:bodyPr/>
          <a:p/>
        </p:txBody>
      </p:sp>
      <p:sp>
        <p:nvSpPr>
          <p:cNvPr id="5" name="Text 3"/>
          <p:cNvSpPr txBox="1"/>
          <p:nvPr/>
        </p:nvSpPr>
        <p:spPr>
          <a:xfrm>
            <a:off x="822960" y="2286000"/>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6" name="Text 4"/>
          <p:cNvSpPr txBox="1"/>
          <p:nvPr/>
        </p:nvSpPr>
        <p:spPr>
          <a:xfrm>
            <a:off x="1463040" y="2194560"/>
            <a:ext cx="10058400" cy="624840"/>
          </a:xfrm>
          <a:prstGeom prst="rect">
            <a:avLst/>
          </a:prstGeom>
          <a:noFill/>
          <a:ln/>
        </p:spPr>
        <p:txBody>
          <a:bodyPr wrap="square" lIns="0" tIns="0" rIns="0" bIns="0" rtlCol="0" anchor="ctr"/>
          <a:lstStyle/>
          <a:p>
            <a:pPr indent="0" marL="0">
              <a:buNone/>
            </a:pPr>
            <a:r>
              <a:rPr lang="en-US" sz="1250" dirty="0">
                <a:solidFill>
                  <a:srgbClr val="C9D3F5"/>
                </a:solidFill>
                <a:latin typeface="Calibri" pitchFamily="34" charset="0"/>
                <a:ea typeface="Calibri" pitchFamily="34" charset="-122"/>
                <a:cs typeface="Calibri" pitchFamily="34" charset="-120"/>
              </a:rPr>
              <a:t>Synchronous code blocks the single JS thread; asynchronous code lets long operations happen in the background without freezing the page.</a:t>
            </a:r>
            <a:endParaRPr lang="en-US" sz="1250" dirty="0"/>
          </a:p>
        </p:txBody>
      </p:sp>
      <p:sp>
        <p:nvSpPr>
          <p:cNvPr id="7" name="Shape 5"/>
          <p:cNvSpPr/>
          <p:nvPr/>
        </p:nvSpPr>
        <p:spPr>
          <a:xfrm>
            <a:off x="822960" y="2956560"/>
            <a:ext cx="438912" cy="438912"/>
          </a:xfrm>
          <a:prstGeom prst="ellipse">
            <a:avLst/>
          </a:prstGeom>
          <a:solidFill>
            <a:srgbClr val="FF8A3D"/>
          </a:solidFill>
          <a:ln/>
        </p:spPr>
        <p:txBody>
          <a:bodyPr/>
          <a:p/>
        </p:txBody>
      </p:sp>
      <p:sp>
        <p:nvSpPr>
          <p:cNvPr id="8" name="Text 6"/>
          <p:cNvSpPr txBox="1"/>
          <p:nvPr/>
        </p:nvSpPr>
        <p:spPr>
          <a:xfrm>
            <a:off x="822960" y="2956560"/>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9" name="Text 7"/>
          <p:cNvSpPr txBox="1"/>
          <p:nvPr/>
        </p:nvSpPr>
        <p:spPr>
          <a:xfrm>
            <a:off x="1463040" y="2865120"/>
            <a:ext cx="10058400" cy="624840"/>
          </a:xfrm>
          <a:prstGeom prst="rect">
            <a:avLst/>
          </a:prstGeom>
          <a:noFill/>
          <a:ln/>
        </p:spPr>
        <p:txBody>
          <a:bodyPr wrap="square" lIns="0" tIns="0" rIns="0" bIns="0" rtlCol="0" anchor="ctr"/>
          <a:lstStyle/>
          <a:p>
            <a:pPr indent="0" marL="0">
              <a:buNone/>
            </a:pPr>
            <a:r>
              <a:rPr lang="en-US" sz="1250" dirty="0">
                <a:solidFill>
                  <a:srgbClr val="C9D3F5"/>
                </a:solidFill>
                <a:latin typeface="Calibri" pitchFamily="34" charset="0"/>
                <a:ea typeface="Calibri" pitchFamily="34" charset="-122"/>
                <a:cs typeface="Calibri" pitchFamily="34" charset="-120"/>
              </a:rPr>
              <a:t>The event loop moves finished tasks from the queue onto the call stack whenever it's empty -- this is how setTimeout and Promise callbacks run.</a:t>
            </a:r>
            <a:endParaRPr lang="en-US" sz="1250" dirty="0"/>
          </a:p>
        </p:txBody>
      </p:sp>
      <p:sp>
        <p:nvSpPr>
          <p:cNvPr id="10" name="Shape 8"/>
          <p:cNvSpPr/>
          <p:nvPr/>
        </p:nvSpPr>
        <p:spPr>
          <a:xfrm>
            <a:off x="822960" y="3627120"/>
            <a:ext cx="438912" cy="438912"/>
          </a:xfrm>
          <a:prstGeom prst="ellipse">
            <a:avLst/>
          </a:prstGeom>
          <a:solidFill>
            <a:srgbClr val="FF8A3D"/>
          </a:solidFill>
          <a:ln/>
        </p:spPr>
        <p:txBody>
          <a:bodyPr/>
          <a:p/>
        </p:txBody>
      </p:sp>
      <p:sp>
        <p:nvSpPr>
          <p:cNvPr id="11" name="Text 9"/>
          <p:cNvSpPr txBox="1"/>
          <p:nvPr/>
        </p:nvSpPr>
        <p:spPr>
          <a:xfrm>
            <a:off x="822960" y="3627120"/>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2" name="Text 10"/>
          <p:cNvSpPr txBox="1"/>
          <p:nvPr/>
        </p:nvSpPr>
        <p:spPr>
          <a:xfrm>
            <a:off x="1463040" y="3535680"/>
            <a:ext cx="10058400" cy="624840"/>
          </a:xfrm>
          <a:prstGeom prst="rect">
            <a:avLst/>
          </a:prstGeom>
          <a:noFill/>
          <a:ln/>
        </p:spPr>
        <p:txBody>
          <a:bodyPr wrap="square" lIns="0" tIns="0" rIns="0" bIns="0" rtlCol="0" anchor="ctr"/>
          <a:lstStyle/>
          <a:p>
            <a:pPr indent="0" marL="0">
              <a:buNone/>
            </a:pPr>
            <a:r>
              <a:rPr lang="en-US" sz="1250" dirty="0">
                <a:solidFill>
                  <a:srgbClr val="C9D3F5"/>
                </a:solidFill>
                <a:latin typeface="Calibri" pitchFamily="34" charset="0"/>
                <a:ea typeface="Calibri" pitchFamily="34" charset="-122"/>
                <a:cs typeface="Calibri" pitchFamily="34" charset="-120"/>
              </a:rPr>
              <a:t>A Promise moves through pending, fulfilled, and rejected; chaining .then() calls replaces nested callback hell.</a:t>
            </a:r>
            <a:endParaRPr lang="en-US" sz="1250" dirty="0"/>
          </a:p>
        </p:txBody>
      </p:sp>
      <p:sp>
        <p:nvSpPr>
          <p:cNvPr id="13" name="Shape 11"/>
          <p:cNvSpPr/>
          <p:nvPr/>
        </p:nvSpPr>
        <p:spPr>
          <a:xfrm>
            <a:off x="822960" y="4297680"/>
            <a:ext cx="438912" cy="438912"/>
          </a:xfrm>
          <a:prstGeom prst="ellipse">
            <a:avLst/>
          </a:prstGeom>
          <a:solidFill>
            <a:srgbClr val="FF8A3D"/>
          </a:solidFill>
          <a:ln/>
        </p:spPr>
        <p:txBody>
          <a:bodyPr/>
          <a:p/>
        </p:txBody>
      </p:sp>
      <p:sp>
        <p:nvSpPr>
          <p:cNvPr id="14" name="Text 12"/>
          <p:cNvSpPr txBox="1"/>
          <p:nvPr/>
        </p:nvSpPr>
        <p:spPr>
          <a:xfrm>
            <a:off x="822960" y="4297680"/>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15" name="Text 13"/>
          <p:cNvSpPr txBox="1"/>
          <p:nvPr/>
        </p:nvSpPr>
        <p:spPr>
          <a:xfrm>
            <a:off x="1463040" y="4206240"/>
            <a:ext cx="10058400" cy="624840"/>
          </a:xfrm>
          <a:prstGeom prst="rect">
            <a:avLst/>
          </a:prstGeom>
          <a:noFill/>
          <a:ln/>
        </p:spPr>
        <p:txBody>
          <a:bodyPr wrap="square" lIns="0" tIns="0" rIns="0" bIns="0" rtlCol="0" anchor="ctr"/>
          <a:lstStyle/>
          <a:p>
            <a:pPr indent="0" marL="0">
              <a:buNone/>
            </a:pPr>
            <a:r>
              <a:rPr lang="en-US" sz="1250" dirty="0">
                <a:solidFill>
                  <a:srgbClr val="C9D3F5"/>
                </a:solidFill>
                <a:latin typeface="Calibri" pitchFamily="34" charset="0"/>
                <a:ea typeface="Calibri" pitchFamily="34" charset="-122"/>
                <a:cs typeface="Calibri" pitchFamily="34" charset="-120"/>
              </a:rPr>
              <a:t>Promise.all runs multiple promises in parallel and waits for all of them, or fails fast if any one rejects.</a:t>
            </a:r>
            <a:endParaRPr lang="en-US" sz="1250" dirty="0"/>
          </a:p>
        </p:txBody>
      </p:sp>
      <p:sp>
        <p:nvSpPr>
          <p:cNvPr id="16" name="Shape 14"/>
          <p:cNvSpPr/>
          <p:nvPr/>
        </p:nvSpPr>
        <p:spPr>
          <a:xfrm>
            <a:off x="822960" y="4968240"/>
            <a:ext cx="438912" cy="438912"/>
          </a:xfrm>
          <a:prstGeom prst="ellipse">
            <a:avLst/>
          </a:prstGeom>
          <a:solidFill>
            <a:srgbClr val="FF8A3D"/>
          </a:solidFill>
          <a:ln/>
        </p:spPr>
        <p:txBody>
          <a:bodyPr/>
          <a:p/>
        </p:txBody>
      </p:sp>
      <p:sp>
        <p:nvSpPr>
          <p:cNvPr id="17" name="Text 15"/>
          <p:cNvSpPr txBox="1"/>
          <p:nvPr/>
        </p:nvSpPr>
        <p:spPr>
          <a:xfrm>
            <a:off x="822960" y="4968240"/>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18" name="Text 16"/>
          <p:cNvSpPr txBox="1"/>
          <p:nvPr/>
        </p:nvSpPr>
        <p:spPr>
          <a:xfrm>
            <a:off x="1463040" y="4876800"/>
            <a:ext cx="10058400" cy="624840"/>
          </a:xfrm>
          <a:prstGeom prst="rect">
            <a:avLst/>
          </a:prstGeom>
          <a:noFill/>
          <a:ln/>
        </p:spPr>
        <p:txBody>
          <a:bodyPr wrap="square" lIns="0" tIns="0" rIns="0" bIns="0" rtlCol="0" anchor="ctr"/>
          <a:lstStyle/>
          <a:p>
            <a:pPr indent="0" marL="0">
              <a:buNone/>
            </a:pPr>
            <a:r>
              <a:rPr lang="en-US" sz="1250" dirty="0">
                <a:solidFill>
                  <a:srgbClr val="C9D3F5"/>
                </a:solidFill>
                <a:latin typeface="Calibri" pitchFamily="34" charset="0"/>
                <a:ea typeface="Calibri" pitchFamily="34" charset="-122"/>
                <a:cs typeface="Calibri" pitchFamily="34" charset="-120"/>
              </a:rPr>
              <a:t>async/await is Promise-based syntax that reads like synchronous code; errors are handled with ordinary try...catch.</a:t>
            </a:r>
            <a:endParaRPr lang="en-US" sz="1250" dirty="0"/>
          </a:p>
        </p:txBody>
      </p:sp>
      <p:sp>
        <p:nvSpPr>
          <p:cNvPr id="19" name="Shape 17"/>
          <p:cNvSpPr/>
          <p:nvPr/>
        </p:nvSpPr>
        <p:spPr>
          <a:xfrm>
            <a:off x="822960" y="5638800"/>
            <a:ext cx="438912" cy="438912"/>
          </a:xfrm>
          <a:prstGeom prst="ellipse">
            <a:avLst/>
          </a:prstGeom>
          <a:solidFill>
            <a:srgbClr val="FF8A3D"/>
          </a:solidFill>
          <a:ln/>
        </p:spPr>
        <p:txBody>
          <a:bodyPr/>
          <a:p/>
        </p:txBody>
      </p:sp>
      <p:sp>
        <p:nvSpPr>
          <p:cNvPr id="20" name="Text 18"/>
          <p:cNvSpPr txBox="1"/>
          <p:nvPr/>
        </p:nvSpPr>
        <p:spPr>
          <a:xfrm>
            <a:off x="822960" y="5638800"/>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6</a:t>
            </a:r>
            <a:endParaRPr lang="en-US" sz="1500" dirty="0"/>
          </a:p>
        </p:txBody>
      </p:sp>
      <p:sp>
        <p:nvSpPr>
          <p:cNvPr id="21" name="Text 19"/>
          <p:cNvSpPr txBox="1"/>
          <p:nvPr/>
        </p:nvSpPr>
        <p:spPr>
          <a:xfrm>
            <a:off x="1463040" y="5547360"/>
            <a:ext cx="10058400" cy="624840"/>
          </a:xfrm>
          <a:prstGeom prst="rect">
            <a:avLst/>
          </a:prstGeom>
          <a:noFill/>
          <a:ln/>
        </p:spPr>
        <p:txBody>
          <a:bodyPr wrap="square" lIns="0" tIns="0" rIns="0" bIns="0" rtlCol="0" anchor="ctr"/>
          <a:lstStyle/>
          <a:p>
            <a:pPr indent="0" marL="0">
              <a:buNone/>
            </a:pPr>
            <a:r>
              <a:rPr lang="en-US" sz="1250" dirty="0">
                <a:solidFill>
                  <a:srgbClr val="C9D3F5"/>
                </a:solidFill>
                <a:latin typeface="Calibri" pitchFamily="34" charset="0"/>
                <a:ea typeface="Calibri" pitchFamily="34" charset="-122"/>
                <a:cs typeface="Calibri" pitchFamily="34" charset="-120"/>
              </a:rPr>
              <a:t>fetch() rejects only on true network failure, not on HTTP error codes -- always check response.ok; CORS is a browser rule enforced via response headers, fixable only on the server.</a:t>
            </a:r>
            <a:endParaRPr lang="en-US" sz="1250" dirty="0"/>
          </a:p>
        </p:txBody>
      </p:sp>
      <p:sp>
        <p:nvSpPr>
          <p:cNvPr id="24" name="cuinotes-footer-mark"/>
          <p:cNvSpPr txBox="1"/>
          <p:nvPr/>
        </p:nvSpPr>
        <p:spPr>
          <a:xfrm>
            <a:off x="9951720" y="6455664"/>
            <a:ext cx="2011680" cy="292608"/>
          </a:xfrm>
          <a:prstGeom prst="rect">
            <a:avLst/>
          </a:prstGeom>
          <a:noFill/>
        </p:spPr>
        <p:txBody>
          <a:bodyPr wrap="none" lIns="0" rIns="0" tIns="0" bIns="0">
            <a:spAutoFit/>
          </a:bodyPr>
          <a:lstStyle/>
          <a:p>
            <a:pPr algn="r"/>
            <a:r>
              <a:rPr sz="1000">
                <a:solidFill>
                  <a:srgbClr val="8A939B"/>
                </a:solidFill>
                <a:hlinkClick r:id="rId3"/>
              </a:rPr>
              <a:t>cuinotes.com</a:t>
            </a:r>
            <a:r>
              <a:rPr sz="1000">
                <a:solidFill>
                  <a:srgbClr val="8A939B"/>
                </a:solidFill>
              </a:rPr>
              <a:t>  ·  36</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10058400" cy="365760"/>
          </a:xfrm>
          <a:prstGeom prst="rect">
            <a:avLst/>
          </a:prstGeom>
          <a:noFill/>
          <a:ln/>
        </p:spPr>
        <p:txBody>
          <a:bodyPr wrap="square" lIns="0" tIns="0" rIns="0" bIns="0" rtlCol="0" anchor="ctr"/>
          <a:lstStyle/>
          <a:p>
            <a:pPr algn="l" indent="0" marL="0">
              <a:buNone/>
            </a:pPr>
            <a:r>
              <a:rPr lang="en-US" sz="1300" b="1" spc="300" kern="0" dirty="0">
                <a:solidFill>
                  <a:srgbClr val="FF8A3D"/>
                </a:solidFill>
                <a:latin typeface="Calibri" pitchFamily="34" charset="0"/>
                <a:ea typeface="Calibri" pitchFamily="34" charset="-122"/>
                <a:cs typeface="Calibri" pitchFamily="34" charset="-120"/>
              </a:rPr>
              <a:t>THE EVENT LOOP</a:t>
            </a:r>
            <a:endParaRPr lang="en-US" sz="1300" dirty="0"/>
          </a:p>
        </p:txBody>
      </p:sp>
      <p:sp>
        <p:nvSpPr>
          <p:cNvPr id="3" name="Text 1"/>
          <p:cNvSpPr txBox="1"/>
          <p:nvPr/>
        </p:nvSpPr>
        <p:spPr>
          <a:xfrm>
            <a:off x="640080" y="841248"/>
            <a:ext cx="10881360" cy="914400"/>
          </a:xfrm>
          <a:prstGeom prst="rect">
            <a:avLst/>
          </a:prstGeom>
          <a:noFill/>
          <a:ln/>
        </p:spPr>
        <p:txBody>
          <a:bodyPr wrap="square" lIns="0" tIns="0" rIns="0" bIns="0" rtlCol="0" anchor="ctr"/>
          <a:lstStyle/>
          <a:p>
            <a:pPr algn="l" indent="0" marL="0">
              <a:buNone/>
            </a:pPr>
            <a:r>
              <a:rPr lang="en-US" sz="3400" b="1" dirty="0">
                <a:solidFill>
                  <a:srgbClr val="2B2B7A"/>
                </a:solidFill>
                <a:latin typeface="Cambria" pitchFamily="34" charset="0"/>
                <a:ea typeface="Cambria" pitchFamily="34" charset="-122"/>
                <a:cs typeface="Cambria" pitchFamily="34" charset="-120"/>
              </a:rPr>
              <a:t>The Moving Parts</a:t>
            </a:r>
            <a:endParaRPr lang="en-US" sz="3400" dirty="0"/>
          </a:p>
        </p:txBody>
      </p:sp>
      <p:sp>
        <p:nvSpPr>
          <p:cNvPr id="101" name="Shape 101"/>
          <p:cNvSpPr/>
          <p:nvPr/>
        </p:nvSpPr>
        <p:spPr>
          <a:xfrm>
            <a:off x="900000" y="2150000"/>
            <a:ext cx="2900000" cy="1300000"/>
          </a:xfrm>
          <a:prstGeom prst="roundRect">
            <a:avLst>
              <a:gd name="adj" fmla="val 5333"/>
            </a:avLst>
          </a:prstGeom>
          <a:solidFill>
            <a:srgbClr val="2B2B7A"/>
          </a:solidFill>
          <a:ln/>
        </p:spPr>
        <p:txBody>
          <a:bodyPr/>
          <a:p/>
        </p:txBody>
      </p:sp>
      <p:sp>
        <p:nvSpPr>
          <p:cNvPr id="102" name="Text 102"/>
          <p:cNvSpPr txBox="1"/>
          <p:nvPr/>
        </p:nvSpPr>
        <p:spPr>
          <a:xfrm>
            <a:off x="900000" y="2150000"/>
            <a:ext cx="2900000" cy="13000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Call Stack</a:t>
            </a:r>
            <a:endParaRPr lang="en-US" sz="1400" dirty="0"/>
          </a:p>
        </p:txBody>
      </p:sp>
      <p:sp>
        <p:nvSpPr>
          <p:cNvPr id="103" name="Shape 103"/>
          <p:cNvSpPr/>
          <p:nvPr/>
        </p:nvSpPr>
        <p:spPr>
          <a:xfrm>
            <a:off x="4750000" y="2150000"/>
            <a:ext cx="2900000" cy="1300000"/>
          </a:xfrm>
          <a:prstGeom prst="roundRect">
            <a:avLst>
              <a:gd name="adj" fmla="val 5333"/>
            </a:avLst>
          </a:prstGeom>
          <a:solidFill>
            <a:srgbClr val="1E1E4C"/>
          </a:solidFill>
          <a:ln/>
        </p:spPr>
        <p:txBody>
          <a:bodyPr/>
          <a:p/>
        </p:txBody>
      </p:sp>
      <p:sp>
        <p:nvSpPr>
          <p:cNvPr id="104" name="Text 104"/>
          <p:cNvSpPr txBox="1"/>
          <p:nvPr/>
        </p:nvSpPr>
        <p:spPr>
          <a:xfrm>
            <a:off x="4750000" y="2150000"/>
            <a:ext cx="2900000" cy="13000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Web APIs</a:t>
            </a:r>
            <a:endParaRPr lang="en-US" sz="1400" dirty="0"/>
          </a:p>
          <a:p>
            <a:pPr algn="ctr" indent="0" marL="0">
              <a:buNone/>
            </a:pPr>
            <a:r>
              <a:rPr lang="en-US" sz="1100" dirty="0">
                <a:solidFill>
                  <a:srgbClr val="C9D3F5"/>
                </a:solidFill>
                <a:latin typeface="Calibri" pitchFamily="34" charset="0"/>
                <a:ea typeface="Calibri" pitchFamily="34" charset="-122"/>
                <a:cs typeface="Calibri" pitchFamily="34" charset="-120"/>
              </a:rPr>
              <a:t>(Browser / Node)</a:t>
            </a:r>
            <a:endParaRPr lang="en-US" sz="1100" dirty="0"/>
          </a:p>
        </p:txBody>
      </p:sp>
      <p:sp>
        <p:nvSpPr>
          <p:cNvPr id="105" name="Shape 105"/>
          <p:cNvSpPr/>
          <p:nvPr/>
        </p:nvSpPr>
        <p:spPr>
          <a:xfrm>
            <a:off x="8600000" y="2150000"/>
            <a:ext cx="2650000" cy="1300000"/>
          </a:xfrm>
          <a:prstGeom prst="roundRect">
            <a:avLst>
              <a:gd name="adj" fmla="val 5333"/>
            </a:avLst>
          </a:prstGeom>
          <a:solidFill>
            <a:srgbClr val="FF8A3D"/>
          </a:solidFill>
          <a:ln/>
        </p:spPr>
        <p:txBody>
          <a:bodyPr/>
          <a:p/>
        </p:txBody>
      </p:sp>
      <p:sp>
        <p:nvSpPr>
          <p:cNvPr id="106" name="Text 106"/>
          <p:cNvSpPr txBox="1"/>
          <p:nvPr/>
        </p:nvSpPr>
        <p:spPr>
          <a:xfrm>
            <a:off x="8600000" y="2150000"/>
            <a:ext cx="2650000" cy="13000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Task Queues</a:t>
            </a:r>
            <a:endParaRPr lang="en-US" sz="1400" dirty="0"/>
          </a:p>
          <a:p>
            <a:pPr algn="ctr" indent="0" marL="0">
              <a:buNone/>
            </a:pPr>
            <a:r>
              <a:rPr lang="en-US" sz="1100" dirty="0">
                <a:solidFill>
                  <a:srgbClr val="C9D3F5"/>
                </a:solidFill>
                <a:latin typeface="Calibri" pitchFamily="34" charset="0"/>
                <a:ea typeface="Calibri" pitchFamily="34" charset="-122"/>
                <a:cs typeface="Calibri" pitchFamily="34" charset="-120"/>
              </a:rPr>
              <a:t>macro + micro</a:t>
            </a:r>
            <a:endParaRPr lang="en-US" sz="1100" dirty="0"/>
          </a:p>
        </p:txBody>
      </p:sp>
      <p:sp>
        <p:nvSpPr>
          <p:cNvPr id="107" name="Line 107"/>
          <p:cNvSpPr/>
          <p:nvPr/>
        </p:nvSpPr>
        <p:spPr>
          <a:xfrm>
            <a:off x="3800000" y="2800000"/>
            <a:ext cx="950000" cy="0"/>
          </a:xfrm>
          <a:prstGeom prst="line">
            <a:avLst/>
          </a:prstGeom>
          <a:noFill/>
          <a:ln w="25400">
            <a:solidFill>
              <a:srgbClr val="5D5D72"/>
            </a:solidFill>
            <a:prstDash val="solid"/>
            <a:headEnd type="none"/>
            <a:tailEnd type="triangle"/>
          </a:ln>
        </p:spPr>
        <p:txBody>
          <a:bodyPr/>
          <a:p/>
        </p:txBody>
      </p:sp>
      <p:sp>
        <p:nvSpPr>
          <p:cNvPr id="108" name="Line 108"/>
          <p:cNvSpPr/>
          <p:nvPr/>
        </p:nvSpPr>
        <p:spPr>
          <a:xfrm>
            <a:off x="7650000" y="2800000"/>
            <a:ext cx="950000" cy="0"/>
          </a:xfrm>
          <a:prstGeom prst="line">
            <a:avLst/>
          </a:prstGeom>
          <a:noFill/>
          <a:ln w="25400">
            <a:solidFill>
              <a:srgbClr val="5D5D72"/>
            </a:solidFill>
            <a:prstDash val="solid"/>
            <a:headEnd type="none"/>
            <a:tailEnd type="triangle"/>
          </a:ln>
        </p:spPr>
        <p:txBody>
          <a:bodyPr/>
          <a:p/>
        </p:txBody>
      </p:sp>
      <p:sp>
        <p:nvSpPr>
          <p:cNvPr id="109" name="Line 109"/>
          <p:cNvSpPr/>
          <p:nvPr/>
        </p:nvSpPr>
        <p:spPr>
          <a:xfrm>
            <a:off x="9925000" y="3450000"/>
            <a:ext cx="0" cy="1250000"/>
          </a:xfrm>
          <a:prstGeom prst="line">
            <a:avLst/>
          </a:prstGeom>
          <a:noFill/>
          <a:ln w="25400">
            <a:solidFill>
              <a:srgbClr val="5D5D72"/>
            </a:solidFill>
            <a:prstDash val="solid"/>
            <a:headEnd type="none"/>
            <a:tailEnd type="none"/>
          </a:ln>
        </p:spPr>
        <p:txBody>
          <a:bodyPr/>
          <a:p/>
        </p:txBody>
      </p:sp>
      <p:sp>
        <p:nvSpPr>
          <p:cNvPr id="110" name="Line 110"/>
          <p:cNvSpPr/>
          <p:nvPr/>
        </p:nvSpPr>
        <p:spPr>
          <a:xfrm>
            <a:off x="2350000" y="4700000"/>
            <a:ext cx="7575000" cy="0"/>
          </a:xfrm>
          <a:prstGeom prst="line">
            <a:avLst/>
          </a:prstGeom>
          <a:noFill/>
          <a:ln w="25400">
            <a:solidFill>
              <a:srgbClr val="5D5D72"/>
            </a:solidFill>
            <a:prstDash val="solid"/>
            <a:headEnd type="none"/>
            <a:tailEnd type="none"/>
          </a:ln>
        </p:spPr>
        <p:txBody>
          <a:bodyPr/>
          <a:p/>
        </p:txBody>
      </p:sp>
      <p:sp>
        <p:nvSpPr>
          <p:cNvPr id="111" name="Line 111"/>
          <p:cNvSpPr/>
          <p:nvPr/>
        </p:nvSpPr>
        <p:spPr>
          <a:xfrm>
            <a:off x="2350000" y="3450000"/>
            <a:ext cx="0" cy="1250000"/>
          </a:xfrm>
          <a:prstGeom prst="line">
            <a:avLst/>
          </a:prstGeom>
          <a:noFill/>
          <a:ln w="25400">
            <a:solidFill>
              <a:srgbClr val="5D5D72"/>
            </a:solidFill>
            <a:prstDash val="solid"/>
            <a:headEnd type="triangle"/>
            <a:tailEnd type="none"/>
          </a:ln>
        </p:spPr>
        <p:txBody>
          <a:bodyPr/>
          <a:p/>
        </p:txBody>
      </p:sp>
      <p:sp>
        <p:nvSpPr>
          <p:cNvPr id="112" name="Label 112"/>
          <p:cNvSpPr txBox="1"/>
          <p:nvPr/>
        </p:nvSpPr>
        <p:spPr>
          <a:xfrm>
            <a:off x="2320000" y="4220000"/>
            <a:ext cx="7635000" cy="400000"/>
          </a:xfrm>
          <a:prstGeom prst="rect">
            <a:avLst/>
          </a:prstGeom>
          <a:noFill/>
          <a:ln/>
        </p:spPr>
        <p:txBody>
          <a:bodyPr wrap="square" lIns="18000" tIns="0" rIns="18000" bIns="0" rtlCol="0" anchor="ctr"/>
          <a:lstStyle/>
          <a:p>
            <a:pPr algn="ctr" indent="0" marL="0">
              <a:buNone/>
            </a:pPr>
            <a:r>
              <a:rPr lang="en-US" sz="1200" b="1" dirty="0">
                <a:solidFill>
                  <a:srgbClr val="B9720E"/>
                </a:solidFill>
                <a:latin typeface="Calibri" pitchFamily="34" charset="0"/>
                <a:ea typeface="Calibri" pitchFamily="34" charset="-122"/>
                <a:cs typeface="Calibri" pitchFamily="34" charset="-120"/>
              </a:rPr>
              <a:t>EVENT LOOP — moves the next queued task onto the stack once it's empty</a:t>
            </a:r>
            <a:endParaRPr lang="en-US" sz="1200" dirty="0"/>
          </a:p>
        </p:txBody>
      </p:sp>
      <p:sp>
        <p:nvSpPr>
          <p:cNvPr id="6" name="Text 4"/>
          <p:cNvSpPr txBox="1"/>
          <p:nvPr/>
        </p:nvSpPr>
        <p:spPr>
          <a:xfrm>
            <a:off x="640080" y="5750000"/>
            <a:ext cx="10911535" cy="600000"/>
          </a:xfrm>
          <a:prstGeom prst="rect">
            <a:avLst/>
          </a:prstGeom>
          <a:noFill/>
          <a:ln/>
        </p:spPr>
        <p:txBody>
          <a:bodyPr wrap="square" lIns="0" tIns="0" rIns="0" bIns="0" rtlCol="0" anchor="t"/>
          <a:lstStyle/>
          <a:p>
            <a:pPr indent="0" marL="0">
              <a:buNone/>
            </a:pPr>
            <a:r>
              <a:rPr lang="en-US" sz="1300" dirty="0">
                <a:solidFill>
                  <a:srgbClr val="26262F"/>
                </a:solidFill>
                <a:latin typeface="Calibri" pitchFamily="34" charset="0"/>
                <a:ea typeface="Calibri" pitchFamily="34" charset="-122"/>
                <a:cs typeface="Calibri" pitchFamily="34" charset="-120"/>
              </a:rPr>
              <a:t>Web APIs run async work (timers, fetch, DOM events) off the main thread. When it finishes, the result lands in a queue — the event loop only moves it onto the Call Stack once the stack is completely empty.</a:t>
            </a:r>
            <a:endParaRPr lang="en-US" sz="1300" dirty="0"/>
          </a:p>
        </p:txBody>
      </p:sp>
      <p:sp>
        <p:nvSpPr>
          <p:cNvPr id="90" name="cuinotes-footer-mark"/>
          <p:cNvSpPr txBox="1"/>
          <p:nvPr/>
        </p:nvSpPr>
        <p:spPr>
          <a:xfrm>
            <a:off x="9951720" y="6455664"/>
            <a:ext cx="2011680" cy="292608"/>
          </a:xfrm>
          <a:prstGeom prst="rect">
            <a:avLst/>
          </a:prstGeom>
          <a:noFill/>
        </p:spPr>
        <p:txBody>
          <a:bodyPr wrap="none" lIns="0" rIns="0" tIns="0" bIns="0">
            <a:spAutoFit/>
          </a:bodyPr>
          <a:lstStyle/>
          <a:p>
            <a:pPr algn="r"/>
            <a:r>
              <a:rPr sz="1000">
                <a:solidFill>
                  <a:srgbClr val="8A939B"/>
                </a:solidFill>
                <a:hlinkClick r:id="rId3"/>
              </a:rPr>
              <a:t>cuinotes.com</a:t>
            </a:r>
            <a:r>
              <a:rPr sz="1000">
                <a:solidFill>
                  <a:srgbClr val="8A939B"/>
                </a:solidFill>
              </a:rPr>
              <a:t>  ·  7</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10058400" cy="365760"/>
          </a:xfrm>
          <a:prstGeom prst="rect">
            <a:avLst/>
          </a:prstGeom>
          <a:noFill/>
          <a:ln/>
        </p:spPr>
        <p:txBody>
          <a:bodyPr wrap="square" lIns="0" tIns="0" rIns="0" bIns="0" rtlCol="0" anchor="ctr"/>
          <a:lstStyle/>
          <a:p>
            <a:pPr algn="l" indent="0" marL="0">
              <a:buNone/>
            </a:pPr>
            <a:r>
              <a:rPr lang="en-US" sz="1300" b="1" spc="300" kern="0" dirty="0">
                <a:solidFill>
                  <a:srgbClr val="FF8A3D"/>
                </a:solidFill>
                <a:latin typeface="Calibri" pitchFamily="34" charset="0"/>
                <a:ea typeface="Calibri" pitchFamily="34" charset="-122"/>
                <a:cs typeface="Calibri" pitchFamily="34" charset="-120"/>
              </a:rPr>
              <a:t>FETCH API</a:t>
            </a:r>
            <a:endParaRPr lang="en-US" sz="1300" dirty="0"/>
          </a:p>
        </p:txBody>
      </p:sp>
      <p:sp>
        <p:nvSpPr>
          <p:cNvPr id="3" name="Text 1"/>
          <p:cNvSpPr txBox="1"/>
          <p:nvPr/>
        </p:nvSpPr>
        <p:spPr>
          <a:xfrm>
            <a:off x="640080" y="841248"/>
            <a:ext cx="10881360" cy="914400"/>
          </a:xfrm>
          <a:prstGeom prst="rect">
            <a:avLst/>
          </a:prstGeom>
          <a:noFill/>
          <a:ln/>
        </p:spPr>
        <p:txBody>
          <a:bodyPr wrap="square" lIns="0" tIns="0" rIns="0" bIns="0" rtlCol="0" anchor="ctr"/>
          <a:lstStyle/>
          <a:p>
            <a:pPr algn="l" indent="0" marL="0">
              <a:buNone/>
            </a:pPr>
            <a:r>
              <a:rPr lang="en-US" sz="3400" b="1" dirty="0">
                <a:solidFill>
                  <a:srgbClr val="2B2B7A"/>
                </a:solidFill>
                <a:latin typeface="Cambria" pitchFamily="34" charset="0"/>
                <a:ea typeface="Cambria" pitchFamily="34" charset="-122"/>
                <a:cs typeface="Cambria" pitchFamily="34" charset="-120"/>
              </a:rPr>
              <a:t>PUT and DELETE Requests</a:t>
            </a:r>
            <a:endParaRPr lang="en-US" sz="3400" dirty="0"/>
          </a:p>
        </p:txBody>
      </p:sp>
      <p:sp>
        <p:nvSpPr>
          <p:cNvPr id="4" name="Shape 2"/>
          <p:cNvSpPr/>
          <p:nvPr/>
        </p:nvSpPr>
        <p:spPr>
          <a:xfrm>
            <a:off x="640080" y="1965960"/>
            <a:ext cx="10911535" cy="3592068"/>
          </a:xfrm>
          <a:prstGeom prst="roundRect">
            <a:avLst>
              <a:gd name="adj" fmla="val 3887"/>
            </a:avLst>
          </a:prstGeom>
          <a:solidFill>
            <a:srgbClr val="F7F8F9"/>
          </a:solidFill>
          <a:ln w="9525">
            <a:solidFill>
              <a:srgbClr val="D0D5DD"/>
            </a:solidFill>
          </a:ln>
        </p:spPr>
        <p:txBody>
          <a:bodyPr/>
          <a:p/>
        </p:txBody>
      </p:sp>
      <p:sp>
        <p:nvSpPr>
          <p:cNvPr id="5" name="Text 3"/>
          <p:cNvSpPr txBox="1"/>
          <p:nvPr/>
        </p:nvSpPr>
        <p:spPr>
          <a:xfrm>
            <a:off x="960120" y="2194560"/>
            <a:ext cx="10271455" cy="3134868"/>
          </a:xfrm>
          <a:prstGeom prst="rect">
            <a:avLst/>
          </a:prstGeom>
          <a:noFill/>
          <a:ln/>
        </p:spPr>
        <p:txBody>
          <a:bodyPr wrap="square" lIns="0" tIns="0" rIns="0" bIns="0" rtlCol="0" anchor="t"/>
          <a:lstStyle/>
          <a:p>
            <a:pPr indent="0" marL="0">
              <a:lnSpc>
                <a:spcPct val="125000"/>
              </a:lnSpc>
              <a:buNone/>
            </a:pPr>
            <a:r>
              <a:rPr lang="en-US" sz="1400" dirty="0">
                <a:solidFill>
                  <a:srgbClr val="1F2429"/>
                </a:solidFill>
                <a:latin typeface="Courier New" pitchFamily="34" charset="0"/>
                <a:ea typeface="Courier New" pitchFamily="34" charset="-122"/>
                <a:cs typeface="Courier New" pitchFamily="34" charset="-120"/>
              </a:rPr>
              <a:t>const BASE = "https://usmanlive.com/wp-json/api/stories";</a:t>
            </a:r>
            <a:endParaRPr lang="en-US" sz="1400" dirty="0"/>
          </a:p>
          <a:p>
            <a:pPr indent="0" marL="0">
              <a:lnSpc>
                <a:spcPct val="125000"/>
              </a:lnSpc>
              <a:buNone/>
            </a:pPr>
            <a:r>
              <a:rPr lang="en-US" sz="1400" dirty="0">
                <a:solidFill>
                  <a:srgbClr val="1F2429"/>
                </a:solidFill>
                <a:latin typeface="Courier New" pitchFamily="34" charset="0"/>
                <a:ea typeface="Courier New" pitchFamily="34" charset="-122"/>
                <a:cs typeface="Courier New" pitchFamily="34" charset="-120"/>
              </a:rPr>
              <a:t>async function updateStory(id, updates) {</a:t>
            </a:r>
            <a:endParaRPr lang="en-US" sz="1400" dirty="0"/>
          </a:p>
          <a:p>
            <a:pPr indent="0" marL="0">
              <a:lnSpc>
                <a:spcPct val="125000"/>
              </a:lnSpc>
              <a:buNone/>
            </a:pPr>
            <a:r>
              <a:rPr lang="en-US" sz="1400" dirty="0">
                <a:solidFill>
                  <a:srgbClr val="1F2429"/>
                </a:solidFill>
                <a:latin typeface="Courier New" pitchFamily="34" charset="0"/>
                <a:ea typeface="Courier New" pitchFamily="34" charset="-122"/>
                <a:cs typeface="Courier New" pitchFamily="34" charset="-120"/>
              </a:rPr>
              <a:t>  return fetch(`${BASE}/${id}`, {</a:t>
            </a:r>
            <a:endParaRPr lang="en-US" sz="1400" dirty="0"/>
          </a:p>
          <a:p>
            <a:pPr indent="0" marL="0">
              <a:lnSpc>
                <a:spcPct val="125000"/>
              </a:lnSpc>
              <a:buNone/>
            </a:pPr>
            <a:r>
              <a:rPr lang="en-US" sz="1400" dirty="0">
                <a:solidFill>
                  <a:srgbClr val="1F2429"/>
                </a:solidFill>
                <a:latin typeface="Courier New" pitchFamily="34" charset="0"/>
                <a:ea typeface="Courier New" pitchFamily="34" charset="-122"/>
                <a:cs typeface="Courier New" pitchFamily="34" charset="-120"/>
              </a:rPr>
              <a:t>    method: "PUT",</a:t>
            </a:r>
            <a:endParaRPr lang="en-US" sz="1400" dirty="0"/>
          </a:p>
          <a:p>
            <a:pPr indent="0" marL="0">
              <a:lnSpc>
                <a:spcPct val="125000"/>
              </a:lnSpc>
              <a:buNone/>
            </a:pPr>
            <a:r>
              <a:rPr lang="en-US" sz="1400" dirty="0">
                <a:solidFill>
                  <a:srgbClr val="1F2429"/>
                </a:solidFill>
                <a:latin typeface="Courier New" pitchFamily="34" charset="0"/>
                <a:ea typeface="Courier New" pitchFamily="34" charset="-122"/>
                <a:cs typeface="Courier New" pitchFamily="34" charset="-120"/>
              </a:rPr>
              <a:t>    headers: { "Content-Type": "application/json" },</a:t>
            </a:r>
            <a:endParaRPr lang="en-US" sz="1400" dirty="0"/>
          </a:p>
          <a:p>
            <a:pPr indent="0" marL="0">
              <a:lnSpc>
                <a:spcPct val="125000"/>
              </a:lnSpc>
              <a:buNone/>
            </a:pPr>
            <a:r>
              <a:rPr lang="en-US" sz="1400" dirty="0">
                <a:solidFill>
                  <a:srgbClr val="1F2429"/>
                </a:solidFill>
                <a:latin typeface="Courier New" pitchFamily="34" charset="0"/>
                <a:ea typeface="Courier New" pitchFamily="34" charset="-122"/>
                <a:cs typeface="Courier New" pitchFamily="34" charset="-120"/>
              </a:rPr>
              <a:t>    body: JSON.stringify(updates), // { title, content }</a:t>
            </a:r>
            <a:endParaRPr lang="en-US" sz="1400" dirty="0"/>
          </a:p>
          <a:p>
            <a:pPr indent="0" marL="0">
              <a:lnSpc>
                <a:spcPct val="125000"/>
              </a:lnSpc>
              <a:buNone/>
            </a:pPr>
            <a:r>
              <a:rPr lang="en-US" sz="1400" dirty="0">
                <a:solidFill>
                  <a:srgbClr val="1F2429"/>
                </a:solidFill>
                <a:latin typeface="Courier New" pitchFamily="34" charset="0"/>
                <a:ea typeface="Courier New" pitchFamily="34" charset="-122"/>
                <a:cs typeface="Courier New" pitchFamily="34" charset="-120"/>
              </a:rPr>
              <a:t>  }).then(res =&gt; res.json());</a:t>
            </a:r>
            <a:endParaRPr lang="en-US" sz="1400" dirty="0"/>
          </a:p>
          <a:p>
            <a:pPr indent="0" marL="0">
              <a:lnSpc>
                <a:spcPct val="125000"/>
              </a:lnSpc>
              <a:buNone/>
            </a:pPr>
            <a:r>
              <a:rPr lang="en-US" sz="1400" dirty="0">
                <a:solidFill>
                  <a:srgbClr val="1F2429"/>
                </a:solidFill>
                <a:latin typeface="Courier New" pitchFamily="34" charset="0"/>
                <a:ea typeface="Courier New" pitchFamily="34" charset="-122"/>
                <a:cs typeface="Courier New" pitchFamily="34" charset="-120"/>
              </a:rPr>
              <a:t>}</a:t>
            </a:r>
            <a:endParaRPr lang="en-US" sz="1400" dirty="0"/>
          </a:p>
          <a:p>
            <a:pPr indent="0" marL="0">
              <a:lnSpc>
                <a:spcPct val="125000"/>
              </a:lnSpc>
              <a:buNone/>
            </a:pPr>
            <a:r>
              <a:rPr lang="en-US" sz="1400" dirty="0">
                <a:solidFill>
                  <a:srgbClr val="1F2429"/>
                </a:solidFill>
                <a:latin typeface="Courier New" pitchFamily="34" charset="0"/>
                <a:ea typeface="Courier New" pitchFamily="34" charset="-122"/>
                <a:cs typeface="Courier New" pitchFamily="34" charset="-120"/>
              </a:rPr>
              <a:t>async function deleteStory(id) {</a:t>
            </a:r>
            <a:endParaRPr lang="en-US" sz="1400" dirty="0"/>
          </a:p>
          <a:p>
            <a:pPr indent="0" marL="0">
              <a:lnSpc>
                <a:spcPct val="125000"/>
              </a:lnSpc>
              <a:buNone/>
            </a:pPr>
            <a:r>
              <a:rPr lang="en-US" sz="1400" dirty="0">
                <a:solidFill>
                  <a:srgbClr val="1F2429"/>
                </a:solidFill>
                <a:latin typeface="Courier New" pitchFamily="34" charset="0"/>
                <a:ea typeface="Courier New" pitchFamily="34" charset="-122"/>
                <a:cs typeface="Courier New" pitchFamily="34" charset="-120"/>
              </a:rPr>
              <a:t>  return fetch(`${BASE}/${id}`, { method: "DELETE" });</a:t>
            </a:r>
            <a:endParaRPr lang="en-US" sz="1400" dirty="0"/>
          </a:p>
          <a:p>
            <a:pPr indent="0" marL="0">
              <a:lnSpc>
                <a:spcPct val="125000"/>
              </a:lnSpc>
              <a:buNone/>
            </a:pPr>
            <a:r>
              <a:rPr lang="en-US" sz="1400" dirty="0">
                <a:solidFill>
                  <a:srgbClr val="1F2429"/>
                </a:solidFill>
                <a:latin typeface="Courier New" pitchFamily="34" charset="0"/>
                <a:ea typeface="Courier New" pitchFamily="34" charset="-122"/>
                <a:cs typeface="Courier New" pitchFamily="34" charset="-120"/>
              </a:rPr>
              <a:t>}</a:t>
            </a:r>
            <a:endParaRPr lang="en-US" sz="1400" dirty="0"/>
          </a:p>
        </p:txBody>
      </p:sp>
      <p:sp>
        <p:nvSpPr>
          <p:cNvPr id="6" name="Text 4"/>
          <p:cNvSpPr txBox="1"/>
          <p:nvPr/>
        </p:nvSpPr>
        <p:spPr>
          <a:xfrm>
            <a:off x="640080" y="5786628"/>
            <a:ext cx="10911535" cy="519036"/>
          </a:xfrm>
          <a:prstGeom prst="rect">
            <a:avLst/>
          </a:prstGeom>
          <a:noFill/>
          <a:ln/>
        </p:spPr>
        <p:txBody>
          <a:bodyPr wrap="square" lIns="0" tIns="0" rIns="0" bIns="0" rtlCol="0" anchor="t"/>
          <a:lstStyle/>
          <a:p>
            <a:pPr indent="0" marL="0">
              <a:buNone/>
            </a:pPr>
            <a:r>
              <a:rPr lang="en-US" sz="1300" dirty="0">
                <a:solidFill>
                  <a:srgbClr val="26262F"/>
                </a:solidFill>
                <a:latin typeface="Calibri" pitchFamily="34" charset="0"/>
                <a:ea typeface="Calibri" pitchFamily="34" charset="-122"/>
                <a:cs typeface="Calibri" pitchFamily="34" charset="-120"/>
              </a:rPr>
              <a:t>PUT updates an existing resource at its own URL; DELETE removes it. Both, like POST, need the resource's :id in the URL — GET and POST are only half of CRUD.</a:t>
            </a:r>
            <a:endParaRPr lang="en-US" sz="1300" dirty="0"/>
          </a:p>
        </p:txBody>
      </p:sp>
      <p:sp>
        <p:nvSpPr>
          <p:cNvPr id="90" name="cuinotes-footer-mark"/>
          <p:cNvSpPr txBox="1"/>
          <p:nvPr/>
        </p:nvSpPr>
        <p:spPr>
          <a:xfrm>
            <a:off x="9951720" y="6455664"/>
            <a:ext cx="2011680" cy="292608"/>
          </a:xfrm>
          <a:prstGeom prst="rect">
            <a:avLst/>
          </a:prstGeom>
          <a:noFill/>
        </p:spPr>
        <p:txBody>
          <a:bodyPr wrap="none" lIns="0" rIns="0" tIns="0" bIns="0">
            <a:spAutoFit/>
          </a:bodyPr>
          <a:lstStyle/>
          <a:p>
            <a:pPr algn="r"/>
            <a:r>
              <a:rPr sz="1000">
                <a:solidFill>
                  <a:srgbClr val="8A939B"/>
                </a:solidFill>
                <a:hlinkClick r:id="rId3"/>
              </a:rPr>
              <a:t>cuinotes.com</a:t>
            </a:r>
            <a:r>
              <a:rPr sz="1000">
                <a:solidFill>
                  <a:srgbClr val="8A939B"/>
                </a:solidFill>
              </a:rPr>
              <a:t>  ·  29</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10058400" cy="365760"/>
          </a:xfrm>
          <a:prstGeom prst="rect">
            <a:avLst/>
          </a:prstGeom>
          <a:noFill/>
          <a:ln/>
        </p:spPr>
        <p:txBody>
          <a:bodyPr wrap="square" lIns="0" tIns="0" rIns="0" bIns="0" rtlCol="0" anchor="ctr"/>
          <a:lstStyle/>
          <a:p>
            <a:pPr algn="l" indent="0" marL="0">
              <a:buNone/>
            </a:pPr>
            <a:r>
              <a:rPr lang="en-US" sz="1300" b="1" spc="300" kern="0" dirty="0">
                <a:solidFill>
                  <a:srgbClr val="FF8A3D"/>
                </a:solidFill>
                <a:latin typeface="Calibri" pitchFamily="34" charset="0"/>
                <a:ea typeface="Calibri" pitchFamily="34" charset="-122"/>
                <a:cs typeface="Calibri" pitchFamily="34" charset="-120"/>
              </a:rPr>
              <a:t>FETCH API</a:t>
            </a:r>
            <a:endParaRPr lang="en-US" sz="1300" dirty="0"/>
          </a:p>
        </p:txBody>
      </p:sp>
      <p:sp>
        <p:nvSpPr>
          <p:cNvPr id="3" name="Text 1"/>
          <p:cNvSpPr txBox="1"/>
          <p:nvPr/>
        </p:nvSpPr>
        <p:spPr>
          <a:xfrm>
            <a:off x="640080" y="841248"/>
            <a:ext cx="10881360" cy="914400"/>
          </a:xfrm>
          <a:prstGeom prst="rect">
            <a:avLst/>
          </a:prstGeom>
          <a:noFill/>
          <a:ln/>
        </p:spPr>
        <p:txBody>
          <a:bodyPr wrap="square" lIns="0" tIns="0" rIns="0" bIns="0" rtlCol="0" anchor="ctr"/>
          <a:lstStyle/>
          <a:p>
            <a:pPr algn="l" indent="0" marL="0">
              <a:buNone/>
            </a:pPr>
            <a:r>
              <a:rPr lang="en-US" sz="3400" b="1" dirty="0">
                <a:solidFill>
                  <a:srgbClr val="2B2B7A"/>
                </a:solidFill>
                <a:latin typeface="Cambria" pitchFamily="34" charset="0"/>
                <a:ea typeface="Cambria" pitchFamily="34" charset="-122"/>
                <a:cs typeface="Cambria" pitchFamily="34" charset="-120"/>
              </a:rPr>
              <a:t>Try the Full CRUD Example</a:t>
            </a:r>
            <a:endParaRPr lang="en-US" sz="3400" dirty="0"/>
          </a:p>
        </p:txBody>
      </p:sp>
      <p:sp>
        <p:nvSpPr>
          <p:cNvPr id="4" name="Shape 2"/>
          <p:cNvSpPr/>
          <p:nvPr/>
        </p:nvSpPr>
        <p:spPr>
          <a:xfrm>
            <a:off x="640080" y="1965960"/>
            <a:ext cx="10911535" cy="2606040"/>
          </a:xfrm>
          <a:prstGeom prst="roundRect">
            <a:avLst>
              <a:gd name="adj" fmla="val 3887"/>
            </a:avLst>
          </a:prstGeom>
          <a:solidFill>
            <a:srgbClr val="1E1E4C"/>
          </a:solidFill>
          <a:ln/>
        </p:spPr>
        <p:txBody>
          <a:bodyPr/>
          <a:p/>
        </p:txBody>
      </p:sp>
      <p:sp>
        <p:nvSpPr>
          <p:cNvPr id="2194560" name="Link2194560"/>
          <p:cNvSpPr txBox="1"/>
          <p:nvPr/>
        </p:nvSpPr>
        <p:spPr>
          <a:xfrm>
            <a:off x="960120" y="2194560"/>
            <a:ext cx="10271455" cy="700000"/>
          </a:xfrm>
          <a:prstGeom prst="rect">
            <a:avLst/>
          </a:prstGeom>
          <a:noFill/>
          <a:ln/>
        </p:spPr>
        <p:txBody>
          <a:bodyPr wrap="square" lIns="0" tIns="0" rIns="0" bIns="0" rtlCol="0" anchor="t"/>
          <a:lstStyle/>
          <a:p>
            <a:pPr indent="0" marL="0">
              <a:buNone/>
            </a:pPr>
            <a:r>
              <a:rPr lang="en-US" sz="1500" b="1" dirty="0">
                <a:solidFill>
                  <a:srgbClr val="FFFFFF"/>
                </a:solidFill>
                <a:latin typeface="Calibri" pitchFamily="34" charset="0"/>
              </a:rPr>
              <a:t>API Documentation &amp; Endpoint Reference</a:t>
            </a:r>
          </a:p>
          <a:p>
            <a:pPr indent="0" marL="0">
              <a:buNone/>
            </a:pPr>
            <a:r>
              <a:rPr lang="en-US" sz="1400" u="sng" dirty="0">
                <a:solidFill>
                  <a:srgbClr val="35E7C4"/>
                </a:solidFill>
                <a:latin typeface="Courier New" pitchFamily="34" charset="0"/>
                <a:hlinkClick r:id="rId10"/>
              </a:rPr>
              <a:t>usmanlive.com/fake-stories-restful-api</a:t>
            </a:r>
          </a:p>
        </p:txBody>
      </p:sp>
      <p:sp>
        <p:nvSpPr>
          <p:cNvPr id="3200000" name="Link3200000"/>
          <p:cNvSpPr txBox="1"/>
          <p:nvPr/>
        </p:nvSpPr>
        <p:spPr>
          <a:xfrm>
            <a:off x="960120" y="3200000"/>
            <a:ext cx="10271455" cy="700000"/>
          </a:xfrm>
          <a:prstGeom prst="rect">
            <a:avLst/>
          </a:prstGeom>
          <a:noFill/>
          <a:ln/>
        </p:spPr>
        <p:txBody>
          <a:bodyPr wrap="square" lIns="0" tIns="0" rIns="0" bIns="0" rtlCol="0" anchor="t"/>
          <a:lstStyle/>
          <a:p>
            <a:pPr indent="0" marL="0">
              <a:buNone/>
            </a:pPr>
            <a:r>
              <a:rPr lang="en-US" sz="1500" b="1" dirty="0">
                <a:solidFill>
                  <a:srgbClr val="FFFFFF"/>
                </a:solidFill>
                <a:latin typeface="Calibri" pitchFamily="34" charset="0"/>
              </a:rPr>
              <a:t>Live CRUD Demo (jQuery/Bootstrap, using this exact API)</a:t>
            </a:r>
          </a:p>
          <a:p>
            <a:pPr indent="0" marL="0">
              <a:buNone/>
            </a:pPr>
            <a:r>
              <a:rPr lang="en-US" sz="1400" u="sng" dirty="0">
                <a:solidFill>
                  <a:srgbClr val="35E7C4"/>
                </a:solidFill>
                <a:latin typeface="Courier New" pitchFamily="34" charset="0"/>
                <a:hlinkClick r:id="rId11"/>
              </a:rPr>
              <a:t>ajaxcrud.usmanlive.com</a:t>
            </a:r>
          </a:p>
        </p:txBody>
      </p:sp>
      <p:sp>
        <p:nvSpPr>
          <p:cNvPr id="6" name="Text 4"/>
          <p:cNvSpPr txBox="1"/>
          <p:nvPr/>
        </p:nvSpPr>
        <p:spPr>
          <a:xfrm>
            <a:off x="640080" y="4800000"/>
            <a:ext cx="10911535" cy="1000000"/>
          </a:xfrm>
          <a:prstGeom prst="rect">
            <a:avLst/>
          </a:prstGeom>
          <a:noFill/>
          <a:ln/>
        </p:spPr>
        <p:txBody>
          <a:bodyPr wrap="square" lIns="0" tIns="0" rIns="0" bIns="0" rtlCol="0" anchor="t"/>
          <a:lstStyle/>
          <a:p>
            <a:pPr indent="0" marL="0">
              <a:buNone/>
            </a:pPr>
            <a:r>
              <a:rPr lang="en-US" sz="1300" dirty="0">
                <a:solidFill>
                  <a:srgbClr val="26262F"/>
                </a:solidFill>
                <a:latin typeface="Calibri" pitchFamily="34" charset="0"/>
              </a:rPr>
              <a:t>Every fetch example in this section talks to a real practice API built for this course — GET, POST, PUT, and DELETE all work against it.</a:t>
            </a:r>
            <a:endParaRPr lang="en-US" sz="1300" dirty="0"/>
          </a:p>
        </p:txBody>
      </p:sp>
      <p:sp>
        <p:nvSpPr>
          <p:cNvPr id="90" name="cuinotes-footer-mark"/>
          <p:cNvSpPr txBox="1"/>
          <p:nvPr/>
        </p:nvSpPr>
        <p:spPr>
          <a:xfrm>
            <a:off x="9951720" y="6455664"/>
            <a:ext cx="2011680" cy="292608"/>
          </a:xfrm>
          <a:prstGeom prst="rect">
            <a:avLst/>
          </a:prstGeom>
          <a:noFill/>
        </p:spPr>
        <p:txBody>
          <a:bodyPr wrap="none" lIns="0" rIns="0" tIns="0" bIns="0">
            <a:spAutoFit/>
          </a:bodyPr>
          <a:lstStyle/>
          <a:p>
            <a:pPr algn="r"/>
            <a:r>
              <a:rPr sz="1000">
                <a:solidFill>
                  <a:srgbClr val="8A939B"/>
                </a:solidFill>
                <a:hlinkClick r:id="rId3"/>
              </a:rPr>
              <a:t>cuinotes.com</a:t>
            </a:r>
            <a:r>
              <a:rPr sz="1000">
                <a:solidFill>
                  <a:srgbClr val="8A939B"/>
                </a:solidFill>
              </a:rPr>
              <a:t>  ·  32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33</Slides>
  <Notes>33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33</vt:i4>
      </vt:variant>
    </vt:vector>
  </HeadingPairs>
  <TitlesOfParts>
    <vt:vector size="3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vector>
  </TitlesOfParts>
  <Company>COMSATS University Islamabad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Lecture 15: Asynchronous JavaScript: Promises and Fetch API</dc:title>
  <dc:subject>CSC336 Web Technologies</dc:subject>
  <dc:creator>Usman Akram</dc:creator>
  <cp:lastModifiedBy>Usman Akram</cp:lastModifiedBy>
  <cp:revision>1</cp:revision>
  <dcterms:created xsi:type="dcterms:W3CDTF">2026-09-22T05:49:16Z</dcterms:created>
  <dcterms:modified xsi:type="dcterms:W3CDTF">2026-09-22T05:49:16Z</dcterms:modified>
</cp:coreProperties>
</file>
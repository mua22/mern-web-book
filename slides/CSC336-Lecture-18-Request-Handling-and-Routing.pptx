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cuinotes.com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cuinotes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cuinotes.com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cuinotes.co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cuinotes.com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cuinotes.co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cuinotes.co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cuinotes.co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cuinotes.com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cuinotes.com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Relationship Id="rId4" Type="http://schemas.openxmlformats.org/officeDocument/2006/relationships/hyperlink" Target="https://cuinotes.com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cuinotes.com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cuinotes.com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cuinotes.com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cuinotes.com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cuinotes.com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cuinotes.com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cuinotes.com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cuinotes.com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cuinotes.com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cuinotes.com" TargetMode="Externa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cuinotes.com" TargetMode="Externa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cuinotes.com" TargetMode="Externa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cuinotes.com" TargetMode="Externa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cuinotes.com" TargetMode="Externa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cuinotes.com" TargetMode="Externa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cuinotes.com" TargetMode="Externa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s://cuinotes.com" TargetMode="Externa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s://cuinotes.com" TargetMode="Externa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s://cuinotes.com" TargetMode="Externa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hyperlink" Target="https://cuinotes.com" TargetMode="Externa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hyperlink" Target="https://cuinotes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B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65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18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2377440"/>
            <a:ext cx="8686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Request Handling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Routing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389120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one route to dozens: reading a request fully, and organizing a growing Express project.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943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CSC336 Web Technologies</a:t>
            </a:r>
            <a:endParaRPr lang="en-US" sz="1200" dirty="0"/>
          </a:p>
        </p:txBody>
      </p:sp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This Lecture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858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89280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anatomy of an HTTP request: method, URL, headers, and body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68986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85800" y="26898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61670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for GET, POST, PUT, PATCH, and DELETE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341376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85800" y="3413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334060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parameters and query strings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85800" y="413766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685800" y="41376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406450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 a JSON request body with express.json()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85800" y="486156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685800" y="4861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478840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 static files, and organizing routes with express.Router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85800" y="558546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685800" y="55854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551230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unmatched routes (404) and centralizing error handling</a:t>
            </a:r>
            <a:endParaRPr lang="en-US" sz="1500" dirty="0"/>
          </a:p>
        </p:txBody>
      </p:sp>
      <p:sp>
        <p:nvSpPr>
          <p:cNvPr id="24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OF A REQUEST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HTTP Request Has Four Parts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2148840"/>
          </a:xfrm>
          <a:prstGeom prst="roundRect">
            <a:avLst>
              <a:gd name="adj" fmla="val 3404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/api/books HTTP/1.1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Host: localhost:3000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Content-Type: application/json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Accept: application/json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{"title": "Clean Code", "author": "Robert C. Martin"}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343400"/>
            <a:ext cx="1091153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(POST), URL/path (/api/books), headers (Content-Type, Accept), and body (the JSON payload).</a:t>
            </a:r>
            <a:endParaRPr lang="en-US" sz="13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OF A REQUEST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to Find Each Part in Express</a:t>
            </a:r>
            <a:endParaRPr lang="en-US" sz="3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65960"/>
          <a:ext cx="10911535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68096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 part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to find 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7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req.method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req.path (or req.url, which includes the query string)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req.headers (e.g. req.headers['content-type'])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Body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req.body (requires middleware)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 parameters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req.params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Query string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req.query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Routing?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858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89280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an incoming request's method and path to the code that should handle it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78892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8580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71576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gives you one method per HTTP verb, each taking a path and a handler function</a:t>
            </a:r>
            <a:endParaRPr lang="en-US" sz="1500" dirty="0"/>
          </a:p>
        </p:txBody>
      </p:sp>
      <p:sp>
        <p:nvSpPr>
          <p:cNvPr id="12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Five Methods You'll Use Constantly</a:t>
            </a:r>
            <a:endParaRPr lang="en-US" sz="3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65960"/>
          <a:ext cx="10911535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846320"/>
                <a:gridCol w="393192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purpose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7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Read/fetch data -- should never change anything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Fetch a list of books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something new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a new book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Replace an existing resource entirely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Overwrite a book's full record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Partially update an existing resource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only a book's price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 a resource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 a book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app.METHOD() per Verb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2948940"/>
          </a:xfrm>
          <a:prstGeom prst="roundRect">
            <a:avLst>
              <a:gd name="adj" fmla="val 2481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2491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app.get('/api/books', (req, res) =&gt; res.send('All books'));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app.post('/api/books', (req, res) =&gt; res.send('A new book was created'));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app.put('/api/books/:id', (req, res) =&gt;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res.send(`Book ${req.params.id} was fully replaced`));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app.patch('/api/books/:id', (req, res) =&gt;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res.send(`Book ${req.params.id} was partially updated`));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app.delete('/api/books/:id', (req, res) =&gt;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res.send(`Book ${req.params.id} was deleted`));</a:t>
            </a:r>
            <a:endParaRPr lang="en-US" sz="1400" dirty="0"/>
          </a:p>
        </p:txBody>
      </p:sp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 + Path = Endpoint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3657600"/>
          </a:xfrm>
          <a:prstGeom prst="roundRect">
            <a:avLst>
              <a:gd name="adj" fmla="val 3529"/>
            </a:avLst>
          </a:prstGeom>
          <a:solidFill>
            <a:srgbClr val="E9EDFB"/>
          </a:solidFill>
          <a:ln w="12700">
            <a:solidFill>
              <a:srgbClr val="6C7FD6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68680" y="2103120"/>
            <a:ext cx="10454335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3345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795960"/>
            <a:ext cx="10454335" cy="2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path (/api/books/:id) can have completely different handlers depending on the method. Express matches on the combination of method AND path together, not the path alone -- this pairing is often called an endpoint.</a:t>
            </a:r>
            <a:endParaRPr lang="en-US" sz="28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Requests Should Be Safe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3657600"/>
          </a:xfrm>
          <a:prstGeom prst="roundRect">
            <a:avLst>
              <a:gd name="adj" fmla="val 3158"/>
            </a:avLst>
          </a:prstGeom>
          <a:solidFill>
            <a:srgbClr val="E6F6EE"/>
          </a:solidFill>
          <a:ln w="12700">
            <a:solidFill>
              <a:srgbClr val="3FA66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68680" y="2103120"/>
            <a:ext cx="10454335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1F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795960"/>
            <a:ext cx="10454335" cy="2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Calling a GET request should never change data on the server. This isn't enforced by the language -- it's a convention other developers, browsers, and tools all rely on. Breaking it can cause surprising bugs, since browsers may pre-fetch or cache GET requests.</a:t>
            </a:r>
            <a:endParaRPr lang="en-US" sz="28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EXTRACTING DATA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 Parameters vs. Query Strings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858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89280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different ways of getting extra information out of a URL -- important not to confuse them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78892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8580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71576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parameters: named placeholders built into the path itself, marked with a colon (:) -- identify WHICH resource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361188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8580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353872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strings: optional ?key=value pairs at the end of a URL -- filter or modify a request</a:t>
            </a:r>
            <a:endParaRPr lang="en-US" sz="1500" dirty="0"/>
          </a:p>
        </p:txBody>
      </p:sp>
      <p:sp>
        <p:nvSpPr>
          <p:cNvPr id="15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PARAMETERS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Exact Code, Live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625090"/>
            <a:ext cx="5272888" cy="3025140"/>
          </a:xfrm>
          <a:prstGeom prst="roundRect">
            <a:avLst>
              <a:gd name="adj" fmla="val 2418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853690"/>
            <a:ext cx="4632808" cy="2567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URL: /api/books/42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app.get('/api/books/:id',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(req, res) =&gt; {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console.log(req.params.id);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"42"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res.send(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`You asked for book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number ${req.params.id}`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169000" y="1947672"/>
            <a:ext cx="5492344" cy="4379976"/>
          </a:xfrm>
          <a:prstGeom prst="roundRect">
            <a:avLst>
              <a:gd name="adj" fmla="val 1253"/>
            </a:avLst>
          </a:prstGeom>
          <a:solidFill>
            <a:srgbClr val="FFFFFF"/>
          </a:solidFill>
          <a:ln w="12700">
            <a:solidFill>
              <a:srgbClr val="E2E2E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7" name="Image 0" descr="D:/GitHub/mern-web-book/docs/assets/img/lecture-18/route-param-brows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8728" y="3536706"/>
            <a:ext cx="5272888" cy="1201908"/>
          </a:xfrm>
          <a:prstGeom prst="rect">
            <a:avLst/>
          </a:prstGeom>
        </p:spPr>
      </p:pic>
      <p:sp>
        <p:nvSpPr>
          <p:cNvPr id="10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4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PARAMETERS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Than One Parameter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1882140"/>
          </a:xfrm>
          <a:prstGeom prst="roundRect">
            <a:avLst>
              <a:gd name="adj" fmla="val 3887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1424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URL: /api/authors/12/books/42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app.get('/api/authors/:authorId/books/:bookId', (req, res) =&gt; 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console.log(req.params.authorId); // "12"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console.log(req.params.bookId);   // "42"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400" dirty="0"/>
          </a:p>
        </p:txBody>
      </p:sp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STRINGS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Filtering, Sorting, Pagination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2415540"/>
          </a:xfrm>
          <a:prstGeom prst="roundRect">
            <a:avLst>
              <a:gd name="adj" fmla="val 3028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1958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URL: /api/books?genre=fiction&amp;sort=title&amp;page=2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app.get('/api/books', (req, res) =&gt; 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console.log(req.query.genre); // "fiction"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console.log(req.query.sort);  // "title"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console.log(req.query.page);  // "2" (always a string!)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res.send('Filtered book list');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400" dirty="0"/>
          </a:p>
        </p:txBody>
      </p:sp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STRINGS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Arrives as a String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3657600"/>
          </a:xfrm>
          <a:prstGeom prst="roundRect">
            <a:avLst>
              <a:gd name="adj" fmla="val 3158"/>
            </a:avLst>
          </a:prstGeom>
          <a:solidFill>
            <a:srgbClr val="FDECE0"/>
          </a:solidFill>
          <a:ln w="12700">
            <a:solidFill>
              <a:srgbClr val="FF8A3D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68680" y="2103120"/>
            <a:ext cx="10454335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8A3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795960"/>
            <a:ext cx="10454335" cy="2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req.params and req.query always arrive as strings, even if they look like a number. req.query.page is "2", not 2. If you need a number, convert it explicitly: Number(req.query.page) or parseInt(req.query.page, 10).</a:t>
            </a:r>
            <a:endParaRPr lang="en-US" sz="28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EXTRACTING DATA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 Parameter vs. Query String</a:t>
            </a:r>
            <a:endParaRPr lang="en-US" sz="3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65960"/>
          <a:ext cx="10911535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4297680"/>
                <a:gridCol w="4114800"/>
              </a:tblGrid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 parameter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Query string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7A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Syntax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/books/:id  -&gt;  /books/42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/books?genre=fiction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Identifies a specific resource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Filters/modifies a request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Usually required to match the route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Usually optional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 in Express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req.params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req.query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Middleware?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858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89280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 that runs DURING the request-response cycle, before your route handler, typically to inspect or transform the request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78892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8580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71576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default, Express does NOT automatically parse a JSON body -- req.body would be undefined without extra setup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361188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8580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353872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express.json() is a built-in middleware that parses an incoming body as JSON and attaches it to req.body</a:t>
            </a:r>
            <a:endParaRPr lang="en-US" sz="1500" dirty="0"/>
          </a:p>
        </p:txBody>
      </p:sp>
      <p:sp>
        <p:nvSpPr>
          <p:cNvPr id="15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Registering express.json()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2948940"/>
          </a:xfrm>
          <a:prstGeom prst="roundRect">
            <a:avLst>
              <a:gd name="adj" fmla="val 2481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2491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express = require('express');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app = express();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app.use(express.json()); // apply to every incoming request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app.post('/api/books', (req, res) =&gt; 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{ title, author } = req.body;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res.status(201).send(`Created "${title}" by ${author}`);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143500"/>
            <a:ext cx="10911535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app.use(express.json()) must be called BEFORE any route handler that expects to read req.body.</a:t>
            </a:r>
            <a:endParaRPr lang="en-US" sz="13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Middleware Fits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514600"/>
            <a:ext cx="2350694" cy="1371600"/>
          </a:xfrm>
          <a:prstGeom prst="roundRect">
            <a:avLst>
              <a:gd name="adj" fmla="val 5333"/>
            </a:avLst>
          </a:prstGeom>
          <a:solidFill>
            <a:srgbClr val="2B2B7A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731520" y="2624328"/>
            <a:ext cx="216781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Incoming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990774" y="3200400"/>
            <a:ext cx="502920" cy="0"/>
          </a:xfrm>
          <a:prstGeom prst="line">
            <a:avLst/>
          </a:prstGeom>
          <a:noFill/>
          <a:ln w="25400">
            <a:solidFill>
              <a:srgbClr val="5D5D7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3493694" y="2514600"/>
            <a:ext cx="2350694" cy="1371600"/>
          </a:xfrm>
          <a:prstGeom prst="roundRect">
            <a:avLst>
              <a:gd name="adj" fmla="val 5333"/>
            </a:avLst>
          </a:prstGeom>
          <a:solidFill>
            <a:srgbClr val="2B2B7A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3585134" y="2624328"/>
            <a:ext cx="216781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express.json()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body into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req.body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844388" y="3200400"/>
            <a:ext cx="502920" cy="0"/>
          </a:xfrm>
          <a:prstGeom prst="line">
            <a:avLst/>
          </a:prstGeom>
          <a:noFill/>
          <a:ln w="25400">
            <a:solidFill>
              <a:srgbClr val="5D5D7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347308" y="2514600"/>
            <a:ext cx="2350694" cy="1371600"/>
          </a:xfrm>
          <a:prstGeom prst="roundRect">
            <a:avLst>
              <a:gd name="adj" fmla="val 5333"/>
            </a:avLst>
          </a:prstGeom>
          <a:solidFill>
            <a:srgbClr val="2B2B7A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438748" y="2624328"/>
            <a:ext cx="216781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matching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(method + path)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698001" y="3200400"/>
            <a:ext cx="502920" cy="0"/>
          </a:xfrm>
          <a:prstGeom prst="line">
            <a:avLst/>
          </a:prstGeom>
          <a:noFill/>
          <a:ln w="25400">
            <a:solidFill>
              <a:srgbClr val="5D5D7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9200921" y="2514600"/>
            <a:ext cx="2350694" cy="1371600"/>
          </a:xfrm>
          <a:prstGeom prst="roundRect">
            <a:avLst>
              <a:gd name="adj" fmla="val 5333"/>
            </a:avLst>
          </a:prstGeom>
          <a:solidFill>
            <a:srgbClr val="E67528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9292361" y="2624328"/>
            <a:ext cx="216781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route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handler runs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4343400"/>
            <a:ext cx="1091153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app.use(...) registers middleware that runs for (by default) every incoming request, before Express tries to match it to a route.</a:t>
            </a:r>
            <a:endParaRPr lang="en-US" sz="1300" dirty="0"/>
          </a:p>
        </p:txBody>
      </p:sp>
      <p:sp>
        <p:nvSpPr>
          <p:cNvPr id="1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#1 Beginner Mistake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3657600"/>
          </a:xfrm>
          <a:prstGeom prst="roundRect">
            <a:avLst>
              <a:gd name="adj" fmla="val 3000"/>
            </a:avLst>
          </a:prstGeom>
          <a:solidFill>
            <a:srgbClr val="FDECE0"/>
          </a:solidFill>
          <a:ln w="12700">
            <a:solidFill>
              <a:srgbClr val="FF8A3D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68680" y="2103120"/>
            <a:ext cx="10454335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8A3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795960"/>
            <a:ext cx="10454335" cy="2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forget app.use(express.json()) and the client sends a JSON body, req.body will be undefined, and destructuring it (const { title } = req.body) will throw an error. If req.body seems empty, check this first.</a:t>
            </a:r>
            <a:endParaRPr lang="en-US" sz="28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FILES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Files That Don't Change Per-Request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858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89280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Images, CSS stylesheets, client-side JavaScript bundles, and so 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78892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8580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71576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express.static() is a built-in middleware that serves an entire folder of files automatically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361188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8580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353872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need to write a route yourself -- Express matches the URL to the file</a:t>
            </a:r>
            <a:endParaRPr lang="en-US" sz="1500" dirty="0"/>
          </a:p>
        </p:txBody>
      </p:sp>
      <p:sp>
        <p:nvSpPr>
          <p:cNvPr id="15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FILES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express.static('public')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2948940"/>
          </a:xfrm>
          <a:prstGeom prst="roundRect">
            <a:avLst>
              <a:gd name="adj" fmla="val 2481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2491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app.use(express.static('public'));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my-project/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|-- index.js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`-- public/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  |-- logo.png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  `-- style.css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 request to /logo.png is served from public/logo.png automatically.</a:t>
            </a:r>
            <a:endParaRPr lang="en-US" sz="1400" dirty="0"/>
          </a:p>
        </p:txBody>
      </p:sp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ORGANIZING ROUTES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Routers and Controllers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858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89280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every route in one file becomes hard to manage as an app grows past a handful of routes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78892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8580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71576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express.Router() -- a mini, standalone Express app you define in a separate file and plug into your main app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361188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8580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353872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file: defines URL paths and methods; Controller file: contains the actual handler logic</a:t>
            </a:r>
            <a:endParaRPr lang="en-US" sz="1500" dirty="0"/>
          </a:p>
        </p:txBody>
      </p:sp>
      <p:sp>
        <p:nvSpPr>
          <p:cNvPr id="15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ORGANIZING ROUTES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routes/books.js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2948940"/>
          </a:xfrm>
          <a:prstGeom prst="roundRect">
            <a:avLst>
              <a:gd name="adj" fmla="val 2481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2491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express = require('express');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router = express.Router();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booksController = require('../controllers/booksController');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router.get('/', booksController.getAllBooks);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router.get('/:id', booksController.getBookById);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router.post('/', booksController.createBook);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module.exports = router;</a:t>
            </a:r>
            <a:endParaRPr lang="en-US" sz="1400" dirty="0"/>
          </a:p>
        </p:txBody>
      </p:sp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ORGANIZING ROUTES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controllers/booksController.js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3482340"/>
          </a:xfrm>
          <a:prstGeom prst="roundRect">
            <a:avLst>
              <a:gd name="adj" fmla="val 2101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3025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exports.getAllBooks = (req, res) =&gt; 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res.send('List of all books');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exports.getBookById = (req, res) =&gt; 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res.send(`Book with id ${req.params.id}`);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exports.createBook = (req, res) =&gt; 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res.status(201).send(`Created book: ${req.body.title}`);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400" dirty="0"/>
          </a:p>
        </p:txBody>
      </p:sp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ORGANIZING ROUTES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index.js -- Mounting the Router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2682240"/>
          </a:xfrm>
          <a:prstGeom prst="roundRect">
            <a:avLst>
              <a:gd name="adj" fmla="val 2727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2225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express = require('express');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app = express();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booksRouter = require('./routes/books');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app.use(express.json());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app.use('/api/books', booksRouter); // mount at this path prefix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app.listen(3000);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876800"/>
            <a:ext cx="10911535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router.get('/:id', ...) inside routes/books.js therefore actually handles GET /api/books/:id -- the prefix is added automatically.</a:t>
            </a:r>
            <a:endParaRPr lang="en-US" sz="13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404 HANDLING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Happens With No Matching Route?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858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89280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needs to be told explicitly what to do, or it sends a generic, unhelpful default response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78892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8580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71576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a catch-all handler AFTER all your other routes -- Express checks routes in the order they're defined</a:t>
            </a:r>
            <a:endParaRPr lang="en-US" sz="1500" dirty="0"/>
          </a:p>
        </p:txBody>
      </p:sp>
      <p:sp>
        <p:nvSpPr>
          <p:cNvPr id="12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404 HANDLING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Catch-All 404 Handler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1882140"/>
          </a:xfrm>
          <a:prstGeom prst="roundRect">
            <a:avLst>
              <a:gd name="adj" fmla="val 3887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1424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...all your real routes go above this...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app.use((req, res) =&gt; 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res.status(404).send('Sorry, that page was not found.');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400" dirty="0"/>
          </a:p>
        </p:txBody>
      </p:sp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Centralized Error-Handling Middleware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858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89280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try/catch and custom error responses in every route, Express supports error-handling middleware in one place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78892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8580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71576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recognize it because it takes FOUR parameters instead of the usual two or three, with err first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361188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8580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353872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next(err) skips all remaining normal routes/middleware and jumps straight to the nearest error handler</a:t>
            </a:r>
            <a:endParaRPr lang="en-US" sz="1500" dirty="0"/>
          </a:p>
        </p:txBody>
      </p:sp>
      <p:sp>
        <p:nvSpPr>
          <p:cNvPr id="15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next(err) and the 4-Parameter Handler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3931920"/>
          </a:xfrm>
          <a:prstGeom prst="roundRect">
            <a:avLst>
              <a:gd name="adj" fmla="val 1860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66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app.get('/api/books/:id', (req, res, next) =&gt; {</a:t>
            </a:r>
            <a:endParaRPr lang="en-US" sz="1366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66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try {</a:t>
            </a:r>
            <a:endParaRPr lang="en-US" sz="1366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66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(req.params.id === '0') throw new Error('Invalid book id');</a:t>
            </a:r>
            <a:endParaRPr lang="en-US" sz="1366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66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res.send(`Book ${req.params.id}`);</a:t>
            </a:r>
            <a:endParaRPr lang="en-US" sz="1366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66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catch (err) {</a:t>
            </a:r>
            <a:endParaRPr lang="en-US" sz="1366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66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next(err); // pass along to the error-handling middleware</a:t>
            </a:r>
            <a:endParaRPr lang="en-US" sz="1366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66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366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66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366" dirty="0"/>
          </a:p>
          <a:p>
            <a:pPr indent="0" marL="0">
              <a:lnSpc>
                <a:spcPct val="125000"/>
              </a:lnSpc>
              <a:buNone/>
            </a:pPr>
            <a:endParaRPr lang="en-US" sz="1366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66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app.use((err, req, res, next) =&gt; {</a:t>
            </a:r>
            <a:endParaRPr lang="en-US" sz="1366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66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console.error(err.stack);</a:t>
            </a:r>
            <a:endParaRPr lang="en-US" sz="1366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66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res.status(500).send('Something went wrong on our end.');</a:t>
            </a:r>
            <a:endParaRPr lang="en-US" sz="1366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66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366" dirty="0"/>
          </a:p>
        </p:txBody>
      </p:sp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TOGETHER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Request Lifecycle: Match, Handle, or 404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035040" y="2468880"/>
            <a:ext cx="9144" cy="137160"/>
          </a:xfrm>
          <a:prstGeom prst="line">
            <a:avLst/>
          </a:prstGeom>
          <a:noFill/>
          <a:ln w="25400">
            <a:solidFill>
              <a:srgbClr val="5D5D7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035040" y="3063240"/>
            <a:ext cx="9144" cy="137160"/>
          </a:xfrm>
          <a:prstGeom prst="line">
            <a:avLst/>
          </a:prstGeom>
          <a:noFill/>
          <a:ln w="25400">
            <a:solidFill>
              <a:srgbClr val="5D5D7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 flipH="1">
            <a:off x="2468880" y="3749040"/>
            <a:ext cx="2286000" cy="365760"/>
          </a:xfrm>
          <a:prstGeom prst="line">
            <a:avLst/>
          </a:prstGeom>
          <a:noFill/>
          <a:ln w="25400">
            <a:solidFill>
              <a:srgbClr val="5D5D7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2697480" y="3785616"/>
            <a:ext cx="182880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D5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315200" y="3749040"/>
            <a:ext cx="1280160" cy="365760"/>
          </a:xfrm>
          <a:prstGeom prst="line">
            <a:avLst/>
          </a:prstGeom>
          <a:noFill/>
          <a:ln w="25400">
            <a:solidFill>
              <a:srgbClr val="5D5D7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7040880" y="3785616"/>
            <a:ext cx="182880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D5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595360" y="4617720"/>
            <a:ext cx="9144" cy="182880"/>
          </a:xfrm>
          <a:prstGeom prst="line">
            <a:avLst/>
          </a:prstGeom>
          <a:noFill/>
          <a:ln w="25400">
            <a:solidFill>
              <a:srgbClr val="5D5D7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 flipH="1">
            <a:off x="6355080" y="5486400"/>
            <a:ext cx="1325880" cy="182880"/>
          </a:xfrm>
          <a:prstGeom prst="line">
            <a:avLst/>
          </a:prstGeom>
          <a:noFill/>
          <a:ln w="25400">
            <a:solidFill>
              <a:srgbClr val="5D5D7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6103620" y="5431536"/>
            <a:ext cx="182880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D5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509760" y="5486400"/>
            <a:ext cx="365760" cy="182880"/>
          </a:xfrm>
          <a:prstGeom prst="line">
            <a:avLst/>
          </a:prstGeom>
          <a:noFill/>
          <a:ln w="25400">
            <a:solidFill>
              <a:srgbClr val="5D5D7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8778240" y="5431536"/>
            <a:ext cx="182880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D5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480560" y="2011680"/>
            <a:ext cx="3108960" cy="457200"/>
          </a:xfrm>
          <a:prstGeom prst="rect">
            <a:avLst/>
          </a:prstGeom>
          <a:solidFill>
            <a:srgbClr val="2B2B7A"/>
          </a:solidFill>
          <a:ln/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4535424" y="2011680"/>
            <a:ext cx="2999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arrives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206240" y="2606040"/>
            <a:ext cx="3657600" cy="457200"/>
          </a:xfrm>
          <a:prstGeom prst="rect">
            <a:avLst/>
          </a:prstGeom>
          <a:solidFill>
            <a:srgbClr val="2B2B7A"/>
          </a:solidFill>
          <a:ln/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4261104" y="2606040"/>
            <a:ext cx="3547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express.json() middleware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480560" y="3200400"/>
            <a:ext cx="3108960" cy="731520"/>
          </a:xfrm>
          <a:prstGeom prst="diamond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4535424" y="3200400"/>
            <a:ext cx="2999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a defined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route?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22960" y="4114800"/>
            <a:ext cx="3291840" cy="502920"/>
          </a:xfrm>
          <a:prstGeom prst="rect">
            <a:avLst/>
          </a:prstGeom>
          <a:solidFill>
            <a:srgbClr val="5D5D72"/>
          </a:solidFill>
          <a:ln/>
        </p:spPr>
        <p:txBody>
          <a:bodyPr/>
          <a:p/>
        </p:txBody>
      </p:sp>
      <p:sp>
        <p:nvSpPr>
          <p:cNvPr id="22" name="Text 20"/>
          <p:cNvSpPr txBox="1"/>
          <p:nvPr/>
        </p:nvSpPr>
        <p:spPr>
          <a:xfrm>
            <a:off x="877824" y="4114800"/>
            <a:ext cx="3182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Catch-all 404 handler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404 response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766560" y="4114800"/>
            <a:ext cx="3657600" cy="502920"/>
          </a:xfrm>
          <a:prstGeom prst="rect">
            <a:avLst/>
          </a:prstGeom>
          <a:solidFill>
            <a:srgbClr val="2B2B7A"/>
          </a:solidFill>
          <a:ln/>
        </p:spPr>
        <p:txBody>
          <a:bodyPr/>
          <a:p/>
        </p:txBody>
      </p:sp>
      <p:sp>
        <p:nvSpPr>
          <p:cNvPr id="24" name="Text 22"/>
          <p:cNvSpPr txBox="1"/>
          <p:nvPr/>
        </p:nvSpPr>
        <p:spPr>
          <a:xfrm>
            <a:off x="6821424" y="4114800"/>
            <a:ext cx="3547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handler runs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949440" y="4800600"/>
            <a:ext cx="3291840" cy="685800"/>
          </a:xfrm>
          <a:prstGeom prst="diamond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26" name="Text 24"/>
          <p:cNvSpPr txBox="1"/>
          <p:nvPr/>
        </p:nvSpPr>
        <p:spPr>
          <a:xfrm>
            <a:off x="7004304" y="4800600"/>
            <a:ext cx="3182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thrown or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next(err) called?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46320" y="5669280"/>
            <a:ext cx="3017520" cy="502920"/>
          </a:xfrm>
          <a:prstGeom prst="rect">
            <a:avLst/>
          </a:prstGeom>
          <a:solidFill>
            <a:srgbClr val="3FA66B"/>
          </a:solidFill>
          <a:ln/>
        </p:spPr>
        <p:txBody>
          <a:bodyPr/>
          <a:p/>
        </p:txBody>
      </p:sp>
      <p:sp>
        <p:nvSpPr>
          <p:cNvPr id="28" name="Text 26"/>
          <p:cNvSpPr txBox="1"/>
          <p:nvPr/>
        </p:nvSpPr>
        <p:spPr>
          <a:xfrm>
            <a:off x="4901184" y="5669280"/>
            <a:ext cx="2907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response sent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321040" y="5669280"/>
            <a:ext cx="3108960" cy="502920"/>
          </a:xfrm>
          <a:prstGeom prst="rect">
            <a:avLst/>
          </a:prstGeom>
          <a:solidFill>
            <a:srgbClr val="E67528"/>
          </a:solidFill>
          <a:ln/>
        </p:spPr>
        <p:txBody>
          <a:bodyPr/>
          <a:p/>
        </p:txBody>
      </p:sp>
      <p:sp>
        <p:nvSpPr>
          <p:cNvPr id="30" name="Text 28"/>
          <p:cNvSpPr txBox="1"/>
          <p:nvPr/>
        </p:nvSpPr>
        <p:spPr>
          <a:xfrm>
            <a:off x="8375904" y="5669280"/>
            <a:ext cx="2999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Error-handling middleware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500 response</a:t>
            </a:r>
            <a:endParaRPr lang="en-US" sz="1050" dirty="0"/>
          </a:p>
        </p:txBody>
      </p:sp>
      <p:sp>
        <p:nvSpPr>
          <p:cNvPr id="33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TOGETHER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 Matters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3657600"/>
          </a:xfrm>
          <a:prstGeom prst="roundRect">
            <a:avLst>
              <a:gd name="adj" fmla="val 3529"/>
            </a:avLst>
          </a:prstGeom>
          <a:solidFill>
            <a:srgbClr val="E6F6EE"/>
          </a:solidFill>
          <a:ln w="12700">
            <a:solidFill>
              <a:srgbClr val="3FA66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68680" y="2103120"/>
            <a:ext cx="10454335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1F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795960"/>
            <a:ext cx="10454335" cy="2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and routes are checked top-to-bottom in the order you register them with app.use()/app.get()/etc. Your 404 handler and error-handling middleware must always come LAST, or they'll swallow requests meant for routes defined below them.</a:t>
            </a:r>
            <a:endParaRPr lang="en-US" sz="28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2B2B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7315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1887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Lecture 18 in Six Points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2286000"/>
            <a:ext cx="438912" cy="438912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22960" y="2286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2194560"/>
            <a:ext cx="1005840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HTTP request has a method, URL/path, headers, and optionally a body -- Express exposes all of these on req.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22960" y="2956560"/>
            <a:ext cx="438912" cy="438912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822960" y="29565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2865120"/>
            <a:ext cx="1005840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provides one method per HTTP verb (get/post/put/patch/delete); routing matches on method AND path together.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3627120"/>
            <a:ext cx="438912" cy="438912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822960" y="36271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3535680"/>
            <a:ext cx="1005840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parameters (req.params, from :name) identify a specific resource; query strings (req.query, from ?key=value) filter or modify a request -- both always arrive as strings.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4297680"/>
            <a:ext cx="438912" cy="438912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822960" y="42976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4206240"/>
            <a:ext cx="1005840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express.json() middleware must be registered with app.use() before your routes can read a JSON body via req.body.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" y="4968240"/>
            <a:ext cx="438912" cy="438912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822960" y="49682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4876800"/>
            <a:ext cx="1005840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express.static('folder') serves static files directly, without individual routes; express.Router() splits routes into separate files, typically paired with controllers.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22960" y="5638800"/>
            <a:ext cx="438912" cy="438912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822960" y="56388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463040" y="5547360"/>
            <a:ext cx="1005840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 catch-all 404 handler and a 4-argument error-handling middleware LAST, after all your real routes.</a:t>
            </a:r>
            <a:endParaRPr lang="en-US" sz="1250" dirty="0"/>
          </a:p>
        </p:txBody>
      </p:sp>
      <p:sp>
        <p:nvSpPr>
          <p:cNvPr id="24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32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COMSATS University Islamabad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18: Request Handling and Routing</dc:title>
  <dc:subject>CSC336 Web Technologies</dc:subject>
  <dc:creator>Usman Akram</dc:creator>
  <cp:lastModifiedBy>Usman Akram</cp:lastModifiedBy>
  <cp:revision>1</cp:revision>
  <dcterms:created xsi:type="dcterms:W3CDTF">2026-09-22T05:49:17Z</dcterms:created>
  <dcterms:modified xsi:type="dcterms:W3CDTF">2026-09-22T05:49:17Z</dcterms:modified>
</cp:coreProperties>
</file>
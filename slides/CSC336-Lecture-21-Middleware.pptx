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21</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Middleware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functions that sit between a request and its final response — logging, parsing, authentication, all in one pipeline.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the middleware concept and how requests flow through a pipeline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(req, res, next) function signature every middleware follows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application-level, router-level, and error-handling middleware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 built-in Express middleware (express.json, express.static) and popular third-party middleware (morgan, cors)</a:t>
            </a:r>
            <a:endParaRPr lang="en-US" sz="1500" dirty="0"/>
          </a:p>
        </p:txBody>
      </p:sp>
      <p:sp>
        <p:nvSpPr>
          <p:cNvPr id="16" name="Shape 14"/>
          <p:cNvSpPr/>
          <p:nvPr/>
        </p:nvSpPr>
        <p:spPr>
          <a:xfrm>
            <a:off x="685800" y="5257800"/>
            <a:ext cx="457200" cy="457200"/>
          </a:xfrm>
          <a:prstGeom prst="ellipse">
            <a:avLst/>
          </a:prstGeom>
          <a:solidFill>
            <a:srgbClr val="FF8A3D"/>
          </a:solidFill>
          <a:ln/>
        </p:spPr>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Write your own custom middleware function</a:t>
            </a:r>
            <a:endParaRPr lang="en-US" sz="15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Middleware?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function that sits in the middle of the request and the final response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runs a chain of these functions, one after another, for every incoming request</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Each one can run code, change req/res, end the cycle by sending a response, or pass control to the next function</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Airport Security Analogy</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Your bag doesn't go straight from check-in to the plane — it passes through several stations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Ticket check, X-ray scanner, manual inspection — each one either lets it through or stops it there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middleware works the same way: every request passes through a chain of stations before it reaches its final handler</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PIPELINE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Request/Response Pipeline</a:t>
            </a:r>
            <a:endParaRPr lang="en-US" sz="3400" dirty="0"/>
          </a:p>
        </p:txBody>
      </p:sp>
      <p:sp>
        <p:nvSpPr>
          <p:cNvPr id="4" name="Shape 2"/>
          <p:cNvSpPr/>
          <p:nvPr/>
        </p:nvSpPr>
        <p:spPr>
          <a:xfrm>
            <a:off x="2377440" y="2514600"/>
            <a:ext cx="228600" cy="9144"/>
          </a:xfrm>
          <a:prstGeom prst="line">
            <a:avLst/>
          </a:prstGeom>
          <a:noFill/>
          <a:ln w="25400">
            <a:solidFill>
              <a:srgbClr val="5D5D72"/>
            </a:solidFill>
            <a:prstDash val="solid"/>
            <a:tailEnd type="triangle"/>
          </a:ln>
        </p:spPr>
      </p:sp>
      <p:sp>
        <p:nvSpPr>
          <p:cNvPr id="5" name="Shape 3"/>
          <p:cNvSpPr/>
          <p:nvPr/>
        </p:nvSpPr>
        <p:spPr>
          <a:xfrm>
            <a:off x="4480560" y="2514600"/>
            <a:ext cx="228600" cy="9144"/>
          </a:xfrm>
          <a:prstGeom prst="line">
            <a:avLst/>
          </a:prstGeom>
          <a:noFill/>
          <a:ln w="25400">
            <a:solidFill>
              <a:srgbClr val="5D5D72"/>
            </a:solidFill>
            <a:prstDash val="solid"/>
            <a:tailEnd type="triangle"/>
          </a:ln>
        </p:spPr>
      </p:sp>
      <p:sp>
        <p:nvSpPr>
          <p:cNvPr id="6" name="Shape 4"/>
          <p:cNvSpPr/>
          <p:nvPr/>
        </p:nvSpPr>
        <p:spPr>
          <a:xfrm>
            <a:off x="6583680" y="2514600"/>
            <a:ext cx="228600" cy="9144"/>
          </a:xfrm>
          <a:prstGeom prst="line">
            <a:avLst/>
          </a:prstGeom>
          <a:noFill/>
          <a:ln w="25400">
            <a:solidFill>
              <a:srgbClr val="5D5D72"/>
            </a:solidFill>
            <a:prstDash val="solid"/>
            <a:tailEnd type="triangle"/>
          </a:ln>
        </p:spPr>
      </p:sp>
      <p:sp>
        <p:nvSpPr>
          <p:cNvPr id="7" name="Shape 5"/>
          <p:cNvSpPr/>
          <p:nvPr/>
        </p:nvSpPr>
        <p:spPr>
          <a:xfrm>
            <a:off x="8686800" y="2514600"/>
            <a:ext cx="228600" cy="9144"/>
          </a:xfrm>
          <a:prstGeom prst="line">
            <a:avLst/>
          </a:prstGeom>
          <a:noFill/>
          <a:ln w="25400">
            <a:solidFill>
              <a:srgbClr val="5D5D72"/>
            </a:solidFill>
            <a:prstDash val="solid"/>
            <a:tailEnd type="triangle"/>
          </a:ln>
        </p:spPr>
      </p:sp>
      <p:sp>
        <p:nvSpPr>
          <p:cNvPr id="8" name="Shape 6"/>
          <p:cNvSpPr/>
          <p:nvPr/>
        </p:nvSpPr>
        <p:spPr>
          <a:xfrm>
            <a:off x="3543300" y="2834640"/>
            <a:ext cx="1943100" cy="1280160"/>
          </a:xfrm>
          <a:prstGeom prst="line">
            <a:avLst/>
          </a:prstGeom>
          <a:noFill/>
          <a:ln w="25400">
            <a:solidFill>
              <a:srgbClr val="5D5D72"/>
            </a:solidFill>
            <a:prstDash val="dash"/>
            <a:tailEnd type="triangle"/>
          </a:ln>
        </p:spPr>
      </p:sp>
      <p:sp>
        <p:nvSpPr>
          <p:cNvPr id="9" name="Text 7"/>
          <p:cNvSpPr txBox="1"/>
          <p:nvPr/>
        </p:nvSpPr>
        <p:spPr>
          <a:xfrm>
            <a:off x="3600450" y="33284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error</a:t>
            </a:r>
            <a:endParaRPr lang="en-US" sz="1050" dirty="0"/>
          </a:p>
        </p:txBody>
      </p:sp>
      <p:sp>
        <p:nvSpPr>
          <p:cNvPr id="10" name="Shape 8"/>
          <p:cNvSpPr/>
          <p:nvPr/>
        </p:nvSpPr>
        <p:spPr>
          <a:xfrm>
            <a:off x="5646420" y="2834640"/>
            <a:ext cx="114300" cy="1280160"/>
          </a:xfrm>
          <a:prstGeom prst="line">
            <a:avLst/>
          </a:prstGeom>
          <a:noFill/>
          <a:ln w="25400">
            <a:solidFill>
              <a:srgbClr val="5D5D72"/>
            </a:solidFill>
            <a:prstDash val="dash"/>
            <a:tailEnd type="triangle"/>
          </a:ln>
        </p:spPr>
      </p:sp>
      <p:sp>
        <p:nvSpPr>
          <p:cNvPr id="11" name="Shape 9"/>
          <p:cNvSpPr/>
          <p:nvPr/>
        </p:nvSpPr>
        <p:spPr>
          <a:xfrm flipH="1">
            <a:off x="6035040" y="2834640"/>
            <a:ext cx="1714500" cy="1280160"/>
          </a:xfrm>
          <a:prstGeom prst="line">
            <a:avLst/>
          </a:prstGeom>
          <a:noFill/>
          <a:ln w="25400">
            <a:solidFill>
              <a:srgbClr val="5D5D72"/>
            </a:solidFill>
            <a:prstDash val="dash"/>
            <a:tailEnd type="triangle"/>
          </a:ln>
        </p:spPr>
      </p:sp>
      <p:sp>
        <p:nvSpPr>
          <p:cNvPr id="12" name="Shape 10"/>
          <p:cNvSpPr/>
          <p:nvPr/>
        </p:nvSpPr>
        <p:spPr>
          <a:xfrm>
            <a:off x="640080" y="2194560"/>
            <a:ext cx="1737360" cy="640080"/>
          </a:xfrm>
          <a:prstGeom prst="rect">
            <a:avLst/>
          </a:prstGeom>
          <a:solidFill>
            <a:srgbClr val="1E1E4C"/>
          </a:solidFill>
          <a:ln/>
        </p:spPr>
      </p:sp>
      <p:sp>
        <p:nvSpPr>
          <p:cNvPr id="13" name="Text 11"/>
          <p:cNvSpPr txBox="1"/>
          <p:nvPr/>
        </p:nvSpPr>
        <p:spPr>
          <a:xfrm>
            <a:off x="694944" y="2194560"/>
            <a:ext cx="162763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Incoming</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Request</a:t>
            </a:r>
            <a:endParaRPr lang="en-US" sz="1150" dirty="0"/>
          </a:p>
        </p:txBody>
      </p:sp>
      <p:sp>
        <p:nvSpPr>
          <p:cNvPr id="14" name="Shape 12"/>
          <p:cNvSpPr/>
          <p:nvPr/>
        </p:nvSpPr>
        <p:spPr>
          <a:xfrm>
            <a:off x="2606040" y="2194560"/>
            <a:ext cx="1874520" cy="640080"/>
          </a:xfrm>
          <a:prstGeom prst="rect">
            <a:avLst/>
          </a:prstGeom>
          <a:solidFill>
            <a:srgbClr val="2B2B7A"/>
          </a:solidFill>
          <a:ln/>
        </p:spPr>
      </p:sp>
      <p:sp>
        <p:nvSpPr>
          <p:cNvPr id="15" name="Text 13"/>
          <p:cNvSpPr txBox="1"/>
          <p:nvPr/>
        </p:nvSpPr>
        <p:spPr>
          <a:xfrm>
            <a:off x="2660904" y="2194560"/>
            <a:ext cx="176479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Middleware 1</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(logging)</a:t>
            </a:r>
            <a:endParaRPr lang="en-US" sz="1150" dirty="0"/>
          </a:p>
        </p:txBody>
      </p:sp>
      <p:sp>
        <p:nvSpPr>
          <p:cNvPr id="16" name="Shape 14"/>
          <p:cNvSpPr/>
          <p:nvPr/>
        </p:nvSpPr>
        <p:spPr>
          <a:xfrm>
            <a:off x="4709160" y="2194560"/>
            <a:ext cx="1874520" cy="640080"/>
          </a:xfrm>
          <a:prstGeom prst="rect">
            <a:avLst/>
          </a:prstGeom>
          <a:solidFill>
            <a:srgbClr val="2B2B7A"/>
          </a:solidFill>
          <a:ln/>
        </p:spPr>
      </p:sp>
      <p:sp>
        <p:nvSpPr>
          <p:cNvPr id="17" name="Text 15"/>
          <p:cNvSpPr txBox="1"/>
          <p:nvPr/>
        </p:nvSpPr>
        <p:spPr>
          <a:xfrm>
            <a:off x="4764024" y="2194560"/>
            <a:ext cx="176479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Middleware 2</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(parse JSON)</a:t>
            </a:r>
            <a:endParaRPr lang="en-US" sz="1150" dirty="0"/>
          </a:p>
        </p:txBody>
      </p:sp>
      <p:sp>
        <p:nvSpPr>
          <p:cNvPr id="18" name="Shape 16"/>
          <p:cNvSpPr/>
          <p:nvPr/>
        </p:nvSpPr>
        <p:spPr>
          <a:xfrm>
            <a:off x="6812280" y="2194560"/>
            <a:ext cx="1874520" cy="640080"/>
          </a:xfrm>
          <a:prstGeom prst="rect">
            <a:avLst/>
          </a:prstGeom>
          <a:solidFill>
            <a:srgbClr val="2B2B7A"/>
          </a:solidFill>
          <a:ln/>
        </p:spPr>
      </p:sp>
      <p:sp>
        <p:nvSpPr>
          <p:cNvPr id="19" name="Text 17"/>
          <p:cNvSpPr txBox="1"/>
          <p:nvPr/>
        </p:nvSpPr>
        <p:spPr>
          <a:xfrm>
            <a:off x="6867144" y="2194560"/>
            <a:ext cx="1764792" cy="64008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Middleware 3</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(check auth)</a:t>
            </a:r>
            <a:endParaRPr lang="en-US" sz="1150" dirty="0"/>
          </a:p>
        </p:txBody>
      </p:sp>
      <p:sp>
        <p:nvSpPr>
          <p:cNvPr id="20" name="Shape 18"/>
          <p:cNvSpPr/>
          <p:nvPr/>
        </p:nvSpPr>
        <p:spPr>
          <a:xfrm>
            <a:off x="8915400" y="2194560"/>
            <a:ext cx="1965960" cy="640080"/>
          </a:xfrm>
          <a:prstGeom prst="rect">
            <a:avLst/>
          </a:prstGeom>
          <a:solidFill>
            <a:srgbClr val="E67528"/>
          </a:solidFill>
          <a:ln/>
        </p:spPr>
      </p:sp>
      <p:sp>
        <p:nvSpPr>
          <p:cNvPr id="21" name="Text 19"/>
          <p:cNvSpPr txBox="1"/>
          <p:nvPr/>
        </p:nvSpPr>
        <p:spPr>
          <a:xfrm>
            <a:off x="8970264" y="2194560"/>
            <a:ext cx="1856232" cy="64008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Route Handler</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(sends response)</a:t>
            </a:r>
            <a:endParaRPr lang="en-US" sz="1100" dirty="0"/>
          </a:p>
        </p:txBody>
      </p:sp>
      <p:sp>
        <p:nvSpPr>
          <p:cNvPr id="22" name="Shape 20"/>
          <p:cNvSpPr/>
          <p:nvPr/>
        </p:nvSpPr>
        <p:spPr>
          <a:xfrm>
            <a:off x="4572000" y="4114800"/>
            <a:ext cx="2377440" cy="731520"/>
          </a:xfrm>
          <a:prstGeom prst="rect">
            <a:avLst/>
          </a:prstGeom>
          <a:solidFill>
            <a:srgbClr val="B3261E"/>
          </a:solidFill>
          <a:ln/>
        </p:spPr>
      </p:sp>
      <p:sp>
        <p:nvSpPr>
          <p:cNvPr id="23" name="Text 21"/>
          <p:cNvSpPr txBox="1"/>
          <p:nvPr/>
        </p:nvSpPr>
        <p:spPr>
          <a:xfrm>
            <a:off x="4626864" y="4114800"/>
            <a:ext cx="2267712" cy="73152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Error-Handling</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Middleware</a:t>
            </a:r>
            <a:endParaRPr lang="en-US" sz="1200" dirty="0"/>
          </a:p>
        </p:txBody>
      </p:sp>
      <p:sp>
        <p:nvSpPr>
          <p:cNvPr id="24" name="Text 22"/>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Often called the request/response pipeline. Any middleware can call next(err) to skip straight to the nearest error-handling middleware, registered last, after every other app.use() and route.</a:t>
            </a:r>
            <a:endParaRPr lang="en-US" sz="1250" dirty="0"/>
          </a:p>
        </p:txBody>
      </p:sp>
      <p:sp>
        <p:nvSpPr>
          <p:cNvPr id="25" name="Text 2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6" name="Text 2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Middleware Gets (req, res, next)</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myMiddleware(req, res, next)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req, res, and next -- the standard trio</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console.log(`${req.method} ${req.url}`);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next(); // move on to the next middleware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Forgetting next() — without also sending a response — makes the client hang forever waiting for a reply.</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Always Call next() or End the Response</a:t>
            </a:r>
            <a:endParaRPr lang="en-US" sz="3400" dirty="0"/>
          </a:p>
        </p:txBody>
      </p:sp>
      <p:sp>
        <p:nvSpPr>
          <p:cNvPr id="4" name="Shape 2"/>
          <p:cNvSpPr/>
          <p:nvPr/>
        </p:nvSpPr>
        <p:spPr>
          <a:xfrm>
            <a:off x="640080" y="1965960"/>
            <a:ext cx="10911535" cy="1920240"/>
          </a:xfrm>
          <a:prstGeom prst="roundRect">
            <a:avLst>
              <a:gd name="adj" fmla="val 2857"/>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32588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middleware function must always either call next() or end the response (with res.send(), res.json(), res.end(), etc.). Doing neither is one of the most common bugs beginners hit with Express — the request just times out.</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Registering Middleware with app.use()</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const express = require("express");</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const app = express();</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app.use(function (req, res, next)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console.log(`${req.method} ${req.url}`);</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next();</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app.get("/", (req, res) =&gt; {</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  res.send("Home page");</a:t>
            </a: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t>
            </a:r>
            <a:endParaRPr lang="en-US" sz="1108" dirty="0"/>
          </a:p>
          <a:p>
            <a:pPr indent="0" marL="0">
              <a:lnSpc>
                <a:spcPct val="125000"/>
              </a:lnSpc>
              <a:buNone/>
            </a:pPr>
            <a:endParaRPr lang="en-US" sz="1108" dirty="0"/>
          </a:p>
          <a:p>
            <a:pPr indent="0" marL="0">
              <a:lnSpc>
                <a:spcPct val="125000"/>
              </a:lnSpc>
              <a:buNone/>
            </a:pPr>
            <a:r>
              <a:rPr lang="en-US" sz="1108" dirty="0">
                <a:solidFill>
                  <a:srgbClr val="C9D3F5"/>
                </a:solidFill>
                <a:latin typeface="Courier New" pitchFamily="34" charset="0"/>
                <a:ea typeface="Courier New" pitchFamily="34" charset="-122"/>
                <a:cs typeface="Courier New" pitchFamily="34" charset="-120"/>
              </a:rPr>
              <a:t>app.listen(3000);</a:t>
            </a:r>
            <a:endParaRPr lang="en-US" sz="1108"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Every request — whichever route it eventually matches — passes through the logging middleware first, since it was registered before the routes.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(REQ, RES, NEXT) SIGNATURE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Order Matters</a:t>
            </a:r>
            <a:endParaRPr lang="en-US" sz="3400" dirty="0"/>
          </a:p>
        </p:txBody>
      </p:sp>
      <p:sp>
        <p:nvSpPr>
          <p:cNvPr id="4" name="Shape 2"/>
          <p:cNvSpPr/>
          <p:nvPr/>
        </p:nvSpPr>
        <p:spPr>
          <a:xfrm>
            <a:off x="640080" y="1965960"/>
            <a:ext cx="10911535" cy="1828800"/>
          </a:xfrm>
          <a:prstGeom prst="roundRect">
            <a:avLst>
              <a:gd name="adj" fmla="val 30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Express runs middleware in the exact order you register it. A middleware registered after your routes will never run for requests an earlier route already handled.</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APPLICATION-LEVEL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Global vs. Path-Scoped vs. Route-Scoped</a:t>
            </a:r>
            <a:endParaRPr lang="en-US" sz="3400" dirty="0"/>
          </a:p>
        </p:txBody>
      </p:sp>
      <p:sp>
        <p:nvSpPr>
          <p:cNvPr id="4" name="Shape 2"/>
          <p:cNvSpPr/>
          <p:nvPr/>
        </p:nvSpPr>
        <p:spPr>
          <a:xfrm>
            <a:off x="640080" y="1965960"/>
            <a:ext cx="10911535" cy="3406140"/>
          </a:xfrm>
          <a:prstGeom prst="roundRect">
            <a:avLst>
              <a:gd name="adj" fmla="val 2148"/>
            </a:avLst>
          </a:prstGeom>
          <a:solidFill>
            <a:srgbClr val="1E1E4C"/>
          </a:solidFill>
          <a:ln/>
        </p:spPr>
      </p:sp>
      <p:sp>
        <p:nvSpPr>
          <p:cNvPr id="5" name="Text 3"/>
          <p:cNvSpPr txBox="1"/>
          <p:nvPr/>
        </p:nvSpPr>
        <p:spPr>
          <a:xfrm>
            <a:off x="960120" y="2194560"/>
            <a:ext cx="10271455" cy="2948940"/>
          </a:xfrm>
          <a:prstGeom prst="rect">
            <a:avLst/>
          </a:prstGeom>
          <a:noFill/>
          <a:ln/>
        </p:spPr>
        <p:txBody>
          <a:bodyPr wrap="square" lIns="0" tIns="0" rIns="0" bIns="0" rtlCol="0" anchor="t"/>
          <a:lstStyle/>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app.use((req, res, next) =&gt; {  // every request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req.requestTime = Date.now();</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app.use("/admin", (req, res, next) =&gt; { // /admin only</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console.log("Someone hit the admin area");</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app.get("/profile", (req, res, next)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(req, res)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res.send("Profile page");</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40080" y="5600700"/>
            <a:ext cx="10911535" cy="662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route can have multiple handler functions — each must call next() except the last, which usually sends the response.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ROUTER-LEVEL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routes/users.js</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const express = require("express");</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const router = express.Router();</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router.use((req, res, next)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console.log("Time:", Date.now());</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next();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router.get("/", (req, res)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res.send("List of users");</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router.get("/:id", (req, res)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res.send(`User with id ${req.params.id}`);</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module.exports = router;</a:t>
            </a:r>
            <a:endParaRPr lang="en-US" sz="1045"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ROUTER-LEVEL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Mounting the Router</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usersRouter = require("./routes/users");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app.use("/users", usersRouter);</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Now the logging middleware inside users.js only fires for requests under /users/* — never for, say, /products.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Four Parameters, Not Three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Error-handling middleware looks almost the same, but takes FOUR parameters: (err, req, res, next)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recognizes it as an error handler purely because of that fourth parameter</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Must be registered LAST, after all other app.use() and route calls</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Error Handler</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app.use((err, req, res, next)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console.error(err.stack);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res.status(500).json({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error: "Something went wrong on the 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343400"/>
            <a:ext cx="10911535" cy="1920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Express recognizes this as an error handler purely because it takes four parameters, not three.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Reaching It with next(err)</a:t>
            </a:r>
            <a:endParaRPr lang="en-US" sz="3400" dirty="0"/>
          </a:p>
        </p:txBody>
      </p:sp>
      <p:sp>
        <p:nvSpPr>
          <p:cNvPr id="4" name="Shape 2"/>
          <p:cNvSpPr/>
          <p:nvPr/>
        </p:nvSpPr>
        <p:spPr>
          <a:xfrm>
            <a:off x="640080" y="1965960"/>
            <a:ext cx="10911535" cy="3406140"/>
          </a:xfrm>
          <a:prstGeom prst="roundRect">
            <a:avLst>
              <a:gd name="adj" fmla="val 2148"/>
            </a:avLst>
          </a:prstGeom>
          <a:solidFill>
            <a:srgbClr val="1E1E4C"/>
          </a:solidFill>
          <a:ln/>
        </p:spPr>
      </p:sp>
      <p:sp>
        <p:nvSpPr>
          <p:cNvPr id="5" name="Text 3"/>
          <p:cNvSpPr txBox="1"/>
          <p:nvPr/>
        </p:nvSpPr>
        <p:spPr>
          <a:xfrm>
            <a:off x="960120" y="2194560"/>
            <a:ext cx="10271455" cy="2948940"/>
          </a:xfrm>
          <a:prstGeom prst="rect">
            <a:avLst/>
          </a:prstGeom>
          <a:noFill/>
          <a:ln/>
        </p:spPr>
        <p:txBody>
          <a:bodyPr wrap="square" lIns="0" tIns="0" rIns="0" bIns="0" rtlCol="0" anchor="t"/>
          <a:lstStyle/>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app.get("/risky", (req, res, next)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try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doSomethingThatMightFail();</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res.send("It worked!");</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 catch (err)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next(err); // hand off to the error handler</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 other routes ...</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app.use((err, req, res, next)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console.error(err.message);</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res.status(500).send("Internal Server Error");</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40080" y="5600700"/>
            <a:ext cx="10911535" cy="662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next(err) skips every remaining regular middleware and jumps straight to the nearest error handler.</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ERROR-HANDLING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Error Handlers</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can have multiple error-handling middleware functions — one that logs and calls next(err) again, and a final one that sends the response. The same chain idea applies to errors too.</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BUILT-IN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 Ships With a Few Built In</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express.json() — parses JSON request bodies into req.body</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express.urlencoded() — parses traditional HTML &lt;form&gt; submissions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express.static() — serves static files (HTML, CSS, images, JS) directly from a folder</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BUILT-IN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express.json()</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app.use(express.json());</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app.post("/api/notes", (req, res)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console.log(req.body); // parsed JSON body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res.status(201).json({ message: "Note created"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343400"/>
            <a:ext cx="10911535" cy="1920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express.json(), req.body would be undefined for JSON requests.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BUILT-IN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express.static()</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app.use(express.static("public"));</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GET /logo.png now automatically serves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public/logo.png -- no route needed</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Express matches the request path directly to a file in the folder.</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You'll Use Constantly</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MORGAN — REQUEST LOGGING</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Logs every incoming request: method, path, status code, response time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npm install morgan</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app.use(morgan("dev"))</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Invaluable while developing and debugging</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CORS — CROSS-ORIGIN REQUESTS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Browsers block a page on one origin from calling an API on another (same-origin policy)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npm install cors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app.use(cors()) adds the headers needed to explicitly allow it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Restrict the allowed origin before production</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morgan in Practice</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 morgan</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morgan = require("morgan");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app.use(morgan("dev"));</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logs: GET /users 200 12.345 ms</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cors in Practice</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 cors</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cors = require("cors");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app.use(cors()); // any origin -- fine for dev</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Production: restrict it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app.use(cors({ origin: "https://myapp.com" }));</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THIRD-PARTY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Lock Down cors() Before Production</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cors() with no options allows ANY website to call your API from the browser. That's convenient during development but should usually be locked down to specific origins before you deploy to production.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Custom Authentication Check</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function requireLogin(req, res, next)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if (!req.session || !req.session.userId)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return res.status(401).json({</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error: "You must be logged in."</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next();</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a:t>
            </a:r>
            <a:endParaRPr lang="en-US" sz="1200" dirty="0"/>
          </a:p>
          <a:p>
            <a:pPr indent="0" marL="0">
              <a:lnSpc>
                <a:spcPct val="125000"/>
              </a:lnSpc>
              <a:buNone/>
            </a:pP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app.get("/dashboard", requireLogin, (req, res) =&gt; {</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  res.send("Welcome to your dashboard!");</a:t>
            </a:r>
            <a:endParaRPr lang="en-US" sz="1200" dirty="0"/>
          </a:p>
          <a:p>
            <a:pPr indent="0" marL="0">
              <a:lnSpc>
                <a:spcPct val="125000"/>
              </a:lnSpc>
              <a:buNone/>
            </a:pPr>
            <a:r>
              <a:rPr lang="en-US" sz="1200" dirty="0">
                <a:solidFill>
                  <a:srgbClr val="C9D3F5"/>
                </a:solidFill>
                <a:latin typeface="Courier New" pitchFamily="34" charset="0"/>
                <a:ea typeface="Courier New" pitchFamily="34" charset="-122"/>
                <a:cs typeface="Courier New" pitchFamily="34" charset="-120"/>
              </a:rPr>
              <a:t>});</a:t>
            </a:r>
            <a:endParaRPr lang="en-US" sz="12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If the check fails, requireLogin sends 401 and does NOT call next() — the /dashboard handler never runs.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MIDDLEWARE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Several Small Middleware</a:t>
            </a:r>
            <a:endParaRPr lang="en-US" sz="3400" dirty="0"/>
          </a:p>
        </p:txBody>
      </p:sp>
      <p:sp>
        <p:nvSpPr>
          <p:cNvPr id="4" name="Shape 2"/>
          <p:cNvSpPr/>
          <p:nvPr/>
        </p:nvSpPr>
        <p:spPr>
          <a:xfrm>
            <a:off x="640080" y="1965960"/>
            <a:ext cx="10911535" cy="3406140"/>
          </a:xfrm>
          <a:prstGeom prst="roundRect">
            <a:avLst>
              <a:gd name="adj" fmla="val 2148"/>
            </a:avLst>
          </a:prstGeom>
          <a:solidFill>
            <a:srgbClr val="1E1E4C"/>
          </a:solidFill>
          <a:ln/>
        </p:spPr>
      </p:sp>
      <p:sp>
        <p:nvSpPr>
          <p:cNvPr id="5" name="Text 3"/>
          <p:cNvSpPr txBox="1"/>
          <p:nvPr/>
        </p:nvSpPr>
        <p:spPr>
          <a:xfrm>
            <a:off x="960120" y="2194560"/>
            <a:ext cx="10271455" cy="2948940"/>
          </a:xfrm>
          <a:prstGeom prst="rect">
            <a:avLst/>
          </a:prstGeom>
          <a:noFill/>
          <a:ln/>
        </p:spPr>
        <p:txBody>
          <a:bodyPr wrap="square" lIns="0" tIns="0" rIns="0" bIns="0" rtlCol="0" anchor="t"/>
          <a:lstStyle/>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function logRequest(req, res, next)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console.log(`${req.method} ${req.url}`);</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function validateNoteBody(req, res, next)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if (!req.body.title)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return res.status(400).json({ error: "Title required."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next();</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a:p>
            <a:pPr indent="0" marL="0">
              <a:lnSpc>
                <a:spcPct val="125000"/>
              </a:lnSpc>
              <a:buNone/>
            </a:pP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app.post("/api/notes", logRequest, validateNoteBody, (req, res) =&gt;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  res.status(201).json({ message: "Note created" });</a:t>
            </a:r>
            <a:endParaRPr lang="en-US" sz="1000" dirty="0"/>
          </a:p>
          <a:p>
            <a:pPr indent="0" marL="0">
              <a:lnSpc>
                <a:spcPct val="125000"/>
              </a:lnSpc>
              <a:buNone/>
            </a:pPr>
            <a:r>
              <a:rPr lang="en-US" sz="1000" dirty="0">
                <a:solidFill>
                  <a:srgbClr val="C9D3F5"/>
                </a:solidFill>
                <a:latin typeface="Courier New" pitchFamily="34" charset="0"/>
                <a:ea typeface="Courier New" pitchFamily="34" charset="-122"/>
                <a:cs typeface="Courier New" pitchFamily="34" charset="-120"/>
              </a:rPr>
              <a:t>});</a:t>
            </a:r>
            <a:endParaRPr lang="en-US" sz="1000" dirty="0"/>
          </a:p>
        </p:txBody>
      </p:sp>
      <p:sp>
        <p:nvSpPr>
          <p:cNvPr id="6" name="Text 4"/>
          <p:cNvSpPr txBox="1"/>
          <p:nvPr/>
        </p:nvSpPr>
        <p:spPr>
          <a:xfrm>
            <a:off x="640080" y="5600700"/>
            <a:ext cx="10911535" cy="662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Small, single-purpose middleware chained together is one of the biggest reasons Express apps stay readable as they grow.</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21 in Seven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Middleware functions run in a chain (the request/response pipeline) for each incoming request, in the order they are registered.</a:t>
            </a:r>
            <a:endParaRPr lang="en-US" sz="1250" dirty="0"/>
          </a:p>
        </p:txBody>
      </p:sp>
      <p:sp>
        <p:nvSpPr>
          <p:cNvPr id="7" name="Shape 5"/>
          <p:cNvSpPr/>
          <p:nvPr/>
        </p:nvSpPr>
        <p:spPr>
          <a:xfrm>
            <a:off x="822960" y="2860766"/>
            <a:ext cx="438912" cy="438912"/>
          </a:xfrm>
          <a:prstGeom prst="ellipse">
            <a:avLst/>
          </a:prstGeom>
          <a:solidFill>
            <a:srgbClr val="FF8A3D"/>
          </a:solidFill>
          <a:ln/>
        </p:spPr>
      </p:sp>
      <p:sp>
        <p:nvSpPr>
          <p:cNvPr id="8" name="Text 6"/>
          <p:cNvSpPr txBox="1"/>
          <p:nvPr/>
        </p:nvSpPr>
        <p:spPr>
          <a:xfrm>
            <a:off x="822960" y="286076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769326"/>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Every middleware function receives (req, res, next); it must call next() or end the response, or the request will hang.</a:t>
            </a:r>
            <a:endParaRPr lang="en-US" sz="1250" dirty="0"/>
          </a:p>
        </p:txBody>
      </p:sp>
      <p:sp>
        <p:nvSpPr>
          <p:cNvPr id="10" name="Shape 8"/>
          <p:cNvSpPr/>
          <p:nvPr/>
        </p:nvSpPr>
        <p:spPr>
          <a:xfrm>
            <a:off x="822960" y="3435531"/>
            <a:ext cx="438912" cy="438912"/>
          </a:xfrm>
          <a:prstGeom prst="ellipse">
            <a:avLst/>
          </a:prstGeom>
          <a:solidFill>
            <a:srgbClr val="FF8A3D"/>
          </a:solidFill>
          <a:ln/>
        </p:spPr>
      </p:sp>
      <p:sp>
        <p:nvSpPr>
          <p:cNvPr id="11" name="Text 9"/>
          <p:cNvSpPr txBox="1"/>
          <p:nvPr/>
        </p:nvSpPr>
        <p:spPr>
          <a:xfrm>
            <a:off x="822960" y="3435531"/>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344091"/>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Application-level middleware (app.use()) applies globally or to a path prefix; router-level middleware applies only within an express.Router().</a:t>
            </a:r>
            <a:endParaRPr lang="en-US" sz="1250" dirty="0"/>
          </a:p>
        </p:txBody>
      </p:sp>
      <p:sp>
        <p:nvSpPr>
          <p:cNvPr id="13" name="Shape 11"/>
          <p:cNvSpPr/>
          <p:nvPr/>
        </p:nvSpPr>
        <p:spPr>
          <a:xfrm>
            <a:off x="822960" y="4010297"/>
            <a:ext cx="438912" cy="438912"/>
          </a:xfrm>
          <a:prstGeom prst="ellipse">
            <a:avLst/>
          </a:prstGeom>
          <a:solidFill>
            <a:srgbClr val="FF8A3D"/>
          </a:solidFill>
          <a:ln/>
        </p:spPr>
      </p:sp>
      <p:sp>
        <p:nvSpPr>
          <p:cNvPr id="14" name="Text 12"/>
          <p:cNvSpPr txBox="1"/>
          <p:nvPr/>
        </p:nvSpPr>
        <p:spPr>
          <a:xfrm>
            <a:off x="822960" y="4010297"/>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3918857"/>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Error-handling middleware has four parameters, (err, req, res, next), must be registered last, and is reached via next(err).</a:t>
            </a:r>
            <a:endParaRPr lang="en-US" sz="1250" dirty="0"/>
          </a:p>
        </p:txBody>
      </p:sp>
      <p:sp>
        <p:nvSpPr>
          <p:cNvPr id="16" name="Shape 14"/>
          <p:cNvSpPr/>
          <p:nvPr/>
        </p:nvSpPr>
        <p:spPr>
          <a:xfrm>
            <a:off x="822960" y="4585063"/>
            <a:ext cx="438912" cy="438912"/>
          </a:xfrm>
          <a:prstGeom prst="ellipse">
            <a:avLst/>
          </a:prstGeom>
          <a:solidFill>
            <a:srgbClr val="FF8A3D"/>
          </a:solidFill>
          <a:ln/>
        </p:spPr>
      </p:sp>
      <p:sp>
        <p:nvSpPr>
          <p:cNvPr id="17" name="Text 15"/>
          <p:cNvSpPr txBox="1"/>
          <p:nvPr/>
        </p:nvSpPr>
        <p:spPr>
          <a:xfrm>
            <a:off x="822960" y="4585063"/>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493623"/>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Express ships with built-in middleware like express.json(), express.urlencoded(), and express.static().</a:t>
            </a:r>
            <a:endParaRPr lang="en-US" sz="1250" dirty="0"/>
          </a:p>
        </p:txBody>
      </p:sp>
      <p:sp>
        <p:nvSpPr>
          <p:cNvPr id="19" name="Shape 17"/>
          <p:cNvSpPr/>
          <p:nvPr/>
        </p:nvSpPr>
        <p:spPr>
          <a:xfrm>
            <a:off x="822960" y="5159829"/>
            <a:ext cx="438912" cy="438912"/>
          </a:xfrm>
          <a:prstGeom prst="ellipse">
            <a:avLst/>
          </a:prstGeom>
          <a:solidFill>
            <a:srgbClr val="FF8A3D"/>
          </a:solidFill>
          <a:ln/>
        </p:spPr>
      </p:sp>
      <p:sp>
        <p:nvSpPr>
          <p:cNvPr id="20" name="Text 18"/>
          <p:cNvSpPr txBox="1"/>
          <p:nvPr/>
        </p:nvSpPr>
        <p:spPr>
          <a:xfrm>
            <a:off x="822960" y="5159829"/>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068389"/>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Third-party middleware such as morgan (logging) and cors (cross-origin requests) are installed from npm and plugged in the same way.</a:t>
            </a:r>
            <a:endParaRPr lang="en-US" sz="1250" dirty="0"/>
          </a:p>
        </p:txBody>
      </p:sp>
      <p:sp>
        <p:nvSpPr>
          <p:cNvPr id="22" name="Shape 20"/>
          <p:cNvSpPr/>
          <p:nvPr/>
        </p:nvSpPr>
        <p:spPr>
          <a:xfrm>
            <a:off x="822960" y="5734594"/>
            <a:ext cx="438912" cy="438912"/>
          </a:xfrm>
          <a:prstGeom prst="ellipse">
            <a:avLst/>
          </a:prstGeom>
          <a:solidFill>
            <a:srgbClr val="FF8A3D"/>
          </a:solidFill>
          <a:ln/>
        </p:spPr>
      </p:sp>
      <p:sp>
        <p:nvSpPr>
          <p:cNvPr id="23" name="Text 21"/>
          <p:cNvSpPr txBox="1"/>
          <p:nvPr/>
        </p:nvSpPr>
        <p:spPr>
          <a:xfrm>
            <a:off x="822960" y="573459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Text 22"/>
          <p:cNvSpPr txBox="1"/>
          <p:nvPr/>
        </p:nvSpPr>
        <p:spPr>
          <a:xfrm>
            <a:off x="1463040" y="5643154"/>
            <a:ext cx="10058400" cy="529046"/>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Writing your own middleware — for logging, validation, or authentication — is one of the most common and powerful patterns in Express development.</a:t>
            </a:r>
            <a:endParaRPr lang="en-US" sz="1250" dirty="0"/>
          </a:p>
        </p:txBody>
      </p:sp>
      <p:sp>
        <p:nvSpPr>
          <p:cNvPr id="25" name="Text 2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6" name="Text 2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21: Middleware</dc:title>
  <dc:subject>CSC336 Web Technologies</dc:subject>
  <dc:creator>Usman Akram</dc:creator>
  <cp:lastModifiedBy>Usman Akram</cp:lastModifiedBy>
  <cp:revision>1</cp:revision>
  <dcterms:created xsi:type="dcterms:W3CDTF">2026-09-22T05:49:18Z</dcterms:created>
  <dcterms:modified xsi:type="dcterms:W3CDTF">2026-09-22T05:49:18Z</dcterms:modified>
</cp:coreProperties>
</file>
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21</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Middleware</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The functions that sit between a request and its final response — logging, parsing, authentication, all in one pipeline.</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Understand the middleware concept and how requests flow through a pipeline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Learn the (req, res, next) function signature every middleware follows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Distinguish application-level, router-level, and error-handling middleware</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Use built-in Express middleware (express.json, express.static) and popular third-party middleware (morgan, cors)</a:t>
            </a:r>
            <a:endParaRPr lang="en-US" sz="1500" dirty="0"/>
          </a:p>
        </p:txBody>
      </p:sp>
      <p:sp>
        <p:nvSpPr>
          <p:cNvPr id="16" name="Shape 14"/>
          <p:cNvSpPr/>
          <p:nvPr/>
        </p:nvSpPr>
        <p:spPr>
          <a:xfrm>
            <a:off x="685800" y="5257800"/>
            <a:ext cx="457200" cy="457200"/>
          </a:xfrm>
          <a:prstGeom prst="ellipse">
            <a:avLst/>
          </a:prstGeom>
          <a:solidFill>
            <a:srgbClr val="FF8A3D"/>
          </a:solidFill>
          <a:ln/>
        </p:spPr>
        <p:txBody>
          <a:bodyPr/>
          <a:p/>
        </p:txBody>
      </p:sp>
      <p:sp>
        <p:nvSpPr>
          <p:cNvPr id="17" name="Text 15"/>
          <p:cNvSpPr txBox="1"/>
          <p:nvPr/>
        </p:nvSpPr>
        <p:spPr>
          <a:xfrm>
            <a:off x="685800" y="5257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518464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Write your own custom middleware function</a:t>
            </a:r>
            <a:endParaRPr lang="en-US" sz="15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Is Middleware?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function that sits in the middle of the request and the final response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Express runs a chain of these functions, one after another, for every incoming request</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Each one can run code, change req/res, end the cycle by sending a response, or pass control to the next function</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Airport Security Analogy</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Your bag doesn't go straight from check-in to the plane — it passes through several stations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Ticket check, X-ray scanner, manual inspection — each one either lets it through or stops it there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Express middleware works the same way: every request passes through a chain of stations before it reaches its final handler</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PIPELINE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Request/Response Pipeline</a:t>
            </a:r>
            <a:endParaRPr lang="en-US" sz="3400" dirty="0"/>
          </a:p>
        </p:txBody>
      </p:sp>
      <p:sp>
        <p:nvSpPr>
          <p:cNvPr id="4" name="Shape 2"/>
          <p:cNvSpPr/>
          <p:nvPr/>
        </p:nvSpPr>
        <p:spPr>
          <a:xfrm>
            <a:off x="2377440" y="2514600"/>
            <a:ext cx="228600" cy="9144"/>
          </a:xfrm>
          <a:prstGeom prst="line">
            <a:avLst/>
          </a:prstGeom>
          <a:noFill/>
          <a:ln w="25400">
            <a:solidFill>
              <a:srgbClr val="5D5D72"/>
            </a:solidFill>
            <a:prstDash val="solid"/>
            <a:tailEnd type="triangle"/>
          </a:ln>
        </p:spPr>
        <p:txBody>
          <a:bodyPr/>
          <a:p/>
        </p:txBody>
      </p:sp>
      <p:sp>
        <p:nvSpPr>
          <p:cNvPr id="5" name="Shape 3"/>
          <p:cNvSpPr/>
          <p:nvPr/>
        </p:nvSpPr>
        <p:spPr>
          <a:xfrm>
            <a:off x="4480560" y="2514600"/>
            <a:ext cx="228600" cy="9144"/>
          </a:xfrm>
          <a:prstGeom prst="line">
            <a:avLst/>
          </a:prstGeom>
          <a:noFill/>
          <a:ln w="25400">
            <a:solidFill>
              <a:srgbClr val="5D5D72"/>
            </a:solidFill>
            <a:prstDash val="solid"/>
            <a:tailEnd type="triangle"/>
          </a:ln>
        </p:spPr>
        <p:txBody>
          <a:bodyPr/>
          <a:p/>
        </p:txBody>
      </p:sp>
      <p:sp>
        <p:nvSpPr>
          <p:cNvPr id="6" name="Shape 4"/>
          <p:cNvSpPr/>
          <p:nvPr/>
        </p:nvSpPr>
        <p:spPr>
          <a:xfrm>
            <a:off x="6583680" y="2514600"/>
            <a:ext cx="228600" cy="9144"/>
          </a:xfrm>
          <a:prstGeom prst="line">
            <a:avLst/>
          </a:prstGeom>
          <a:noFill/>
          <a:ln w="25400">
            <a:solidFill>
              <a:srgbClr val="5D5D72"/>
            </a:solidFill>
            <a:prstDash val="solid"/>
            <a:tailEnd type="triangle"/>
          </a:ln>
        </p:spPr>
        <p:txBody>
          <a:bodyPr/>
          <a:p/>
        </p:txBody>
      </p:sp>
      <p:sp>
        <p:nvSpPr>
          <p:cNvPr id="7" name="Shape 5"/>
          <p:cNvSpPr/>
          <p:nvPr/>
        </p:nvSpPr>
        <p:spPr>
          <a:xfrm>
            <a:off x="8686800" y="2514600"/>
            <a:ext cx="228600" cy="9144"/>
          </a:xfrm>
          <a:prstGeom prst="line">
            <a:avLst/>
          </a:prstGeom>
          <a:noFill/>
          <a:ln w="25400">
            <a:solidFill>
              <a:srgbClr val="5D5D72"/>
            </a:solidFill>
            <a:prstDash val="solid"/>
            <a:tailEnd type="triangle"/>
          </a:ln>
        </p:spPr>
        <p:txBody>
          <a:bodyPr/>
          <a:p/>
        </p:txBody>
      </p:sp>
      <p:sp>
        <p:nvSpPr>
          <p:cNvPr id="8" name="Shape 6"/>
          <p:cNvSpPr/>
          <p:nvPr/>
        </p:nvSpPr>
        <p:spPr>
          <a:xfrm>
            <a:off x="3543300" y="2834640"/>
            <a:ext cx="1943100" cy="1280160"/>
          </a:xfrm>
          <a:prstGeom prst="line">
            <a:avLst/>
          </a:prstGeom>
          <a:noFill/>
          <a:ln w="25400">
            <a:solidFill>
              <a:srgbClr val="5D5D72"/>
            </a:solidFill>
            <a:prstDash val="dash"/>
            <a:tailEnd type="triangle"/>
          </a:ln>
        </p:spPr>
        <p:txBody>
          <a:bodyPr/>
          <a:p/>
        </p:txBody>
      </p:sp>
      <p:sp>
        <p:nvSpPr>
          <p:cNvPr id="9" name="Text 7"/>
          <p:cNvSpPr txBox="1"/>
          <p:nvPr/>
        </p:nvSpPr>
        <p:spPr>
          <a:xfrm>
            <a:off x="3600450" y="332841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error</a:t>
            </a:r>
            <a:endParaRPr lang="en-US" sz="1050" dirty="0"/>
          </a:p>
        </p:txBody>
      </p:sp>
      <p:sp>
        <p:nvSpPr>
          <p:cNvPr id="10" name="Shape 8"/>
          <p:cNvSpPr/>
          <p:nvPr/>
        </p:nvSpPr>
        <p:spPr>
          <a:xfrm>
            <a:off x="5646420" y="2834640"/>
            <a:ext cx="114300" cy="1280160"/>
          </a:xfrm>
          <a:prstGeom prst="line">
            <a:avLst/>
          </a:prstGeom>
          <a:noFill/>
          <a:ln w="25400">
            <a:solidFill>
              <a:srgbClr val="5D5D72"/>
            </a:solidFill>
            <a:prstDash val="dash"/>
            <a:tailEnd type="triangle"/>
          </a:ln>
        </p:spPr>
        <p:txBody>
          <a:bodyPr/>
          <a:p/>
        </p:txBody>
      </p:sp>
      <p:sp>
        <p:nvSpPr>
          <p:cNvPr id="11" name="Shape 9"/>
          <p:cNvSpPr/>
          <p:nvPr/>
        </p:nvSpPr>
        <p:spPr>
          <a:xfrm flipH="1">
            <a:off x="6035040" y="2834640"/>
            <a:ext cx="1714500" cy="1280160"/>
          </a:xfrm>
          <a:prstGeom prst="line">
            <a:avLst/>
          </a:prstGeom>
          <a:noFill/>
          <a:ln w="25400">
            <a:solidFill>
              <a:srgbClr val="5D5D72"/>
            </a:solidFill>
            <a:prstDash val="dash"/>
            <a:tailEnd type="triangle"/>
          </a:ln>
        </p:spPr>
        <p:txBody>
          <a:bodyPr/>
          <a:p/>
        </p:txBody>
      </p:sp>
      <p:sp>
        <p:nvSpPr>
          <p:cNvPr id="12" name="Shape 10"/>
          <p:cNvSpPr/>
          <p:nvPr/>
        </p:nvSpPr>
        <p:spPr>
          <a:xfrm>
            <a:off x="640080" y="2194560"/>
            <a:ext cx="1737360" cy="640080"/>
          </a:xfrm>
          <a:prstGeom prst="rect">
            <a:avLst/>
          </a:prstGeom>
          <a:solidFill>
            <a:srgbClr val="1E1E4C"/>
          </a:solidFill>
          <a:ln/>
        </p:spPr>
        <p:txBody>
          <a:bodyPr/>
          <a:p/>
        </p:txBody>
      </p:sp>
      <p:sp>
        <p:nvSpPr>
          <p:cNvPr id="13" name="Text 11"/>
          <p:cNvSpPr txBox="1"/>
          <p:nvPr/>
        </p:nvSpPr>
        <p:spPr>
          <a:xfrm>
            <a:off x="694944" y="2194560"/>
            <a:ext cx="1627632" cy="64008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Incoming</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Request</a:t>
            </a:r>
            <a:endParaRPr lang="en-US" sz="1150" dirty="0"/>
          </a:p>
        </p:txBody>
      </p:sp>
      <p:sp>
        <p:nvSpPr>
          <p:cNvPr id="14" name="Shape 12"/>
          <p:cNvSpPr/>
          <p:nvPr/>
        </p:nvSpPr>
        <p:spPr>
          <a:xfrm>
            <a:off x="2606040" y="2194560"/>
            <a:ext cx="1874520" cy="640080"/>
          </a:xfrm>
          <a:prstGeom prst="rect">
            <a:avLst/>
          </a:prstGeom>
          <a:solidFill>
            <a:srgbClr val="2B2B7A"/>
          </a:solidFill>
          <a:ln/>
        </p:spPr>
        <p:txBody>
          <a:bodyPr/>
          <a:p/>
        </p:txBody>
      </p:sp>
      <p:sp>
        <p:nvSpPr>
          <p:cNvPr id="15" name="Text 13"/>
          <p:cNvSpPr txBox="1"/>
          <p:nvPr/>
        </p:nvSpPr>
        <p:spPr>
          <a:xfrm>
            <a:off x="2660904" y="2194560"/>
            <a:ext cx="1764792" cy="64008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Middleware 1</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(logging)</a:t>
            </a:r>
            <a:endParaRPr lang="en-US" sz="1150" dirty="0"/>
          </a:p>
        </p:txBody>
      </p:sp>
      <p:sp>
        <p:nvSpPr>
          <p:cNvPr id="16" name="Shape 14"/>
          <p:cNvSpPr/>
          <p:nvPr/>
        </p:nvSpPr>
        <p:spPr>
          <a:xfrm>
            <a:off x="4709160" y="2194560"/>
            <a:ext cx="1874520" cy="640080"/>
          </a:xfrm>
          <a:prstGeom prst="rect">
            <a:avLst/>
          </a:prstGeom>
          <a:solidFill>
            <a:srgbClr val="2B2B7A"/>
          </a:solidFill>
          <a:ln/>
        </p:spPr>
        <p:txBody>
          <a:bodyPr/>
          <a:p/>
        </p:txBody>
      </p:sp>
      <p:sp>
        <p:nvSpPr>
          <p:cNvPr id="17" name="Text 15"/>
          <p:cNvSpPr txBox="1"/>
          <p:nvPr/>
        </p:nvSpPr>
        <p:spPr>
          <a:xfrm>
            <a:off x="4764024" y="2194560"/>
            <a:ext cx="1764792" cy="64008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Middleware 2</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(parse JSON)</a:t>
            </a:r>
            <a:endParaRPr lang="en-US" sz="1150" dirty="0"/>
          </a:p>
        </p:txBody>
      </p:sp>
      <p:sp>
        <p:nvSpPr>
          <p:cNvPr id="18" name="Shape 16"/>
          <p:cNvSpPr/>
          <p:nvPr/>
        </p:nvSpPr>
        <p:spPr>
          <a:xfrm>
            <a:off x="6812280" y="2194560"/>
            <a:ext cx="1874520" cy="640080"/>
          </a:xfrm>
          <a:prstGeom prst="rect">
            <a:avLst/>
          </a:prstGeom>
          <a:solidFill>
            <a:srgbClr val="2B2B7A"/>
          </a:solidFill>
          <a:ln/>
        </p:spPr>
        <p:txBody>
          <a:bodyPr/>
          <a:p/>
        </p:txBody>
      </p:sp>
      <p:sp>
        <p:nvSpPr>
          <p:cNvPr id="19" name="Text 17"/>
          <p:cNvSpPr txBox="1"/>
          <p:nvPr/>
        </p:nvSpPr>
        <p:spPr>
          <a:xfrm>
            <a:off x="6867144" y="2194560"/>
            <a:ext cx="1764792" cy="64008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Middleware 3</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(check auth)</a:t>
            </a:r>
            <a:endParaRPr lang="en-US" sz="1150" dirty="0"/>
          </a:p>
        </p:txBody>
      </p:sp>
      <p:sp>
        <p:nvSpPr>
          <p:cNvPr id="20" name="Shape 18"/>
          <p:cNvSpPr/>
          <p:nvPr/>
        </p:nvSpPr>
        <p:spPr>
          <a:xfrm>
            <a:off x="8915400" y="2194560"/>
            <a:ext cx="1965960" cy="640080"/>
          </a:xfrm>
          <a:prstGeom prst="rect">
            <a:avLst/>
          </a:prstGeom>
          <a:solidFill>
            <a:srgbClr val="E67528"/>
          </a:solidFill>
          <a:ln/>
        </p:spPr>
        <p:txBody>
          <a:bodyPr/>
          <a:p/>
        </p:txBody>
      </p:sp>
      <p:sp>
        <p:nvSpPr>
          <p:cNvPr id="21" name="Text 19"/>
          <p:cNvSpPr txBox="1"/>
          <p:nvPr/>
        </p:nvSpPr>
        <p:spPr>
          <a:xfrm>
            <a:off x="8970264" y="2194560"/>
            <a:ext cx="1856232" cy="64008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Route Handler</a:t>
            </a:r>
            <a:endParaRPr lang="en-US" sz="1100" dirty="0"/>
          </a:p>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(sends response)</a:t>
            </a:r>
            <a:endParaRPr lang="en-US" sz="1100" dirty="0"/>
          </a:p>
        </p:txBody>
      </p:sp>
      <p:sp>
        <p:nvSpPr>
          <p:cNvPr id="22" name="Shape 20"/>
          <p:cNvSpPr/>
          <p:nvPr/>
        </p:nvSpPr>
        <p:spPr>
          <a:xfrm>
            <a:off x="4572000" y="4114800"/>
            <a:ext cx="2377440" cy="731520"/>
          </a:xfrm>
          <a:prstGeom prst="rect">
            <a:avLst/>
          </a:prstGeom>
          <a:solidFill>
            <a:srgbClr val="B3261E"/>
          </a:solidFill>
          <a:ln/>
        </p:spPr>
        <p:txBody>
          <a:bodyPr/>
          <a:p/>
        </p:txBody>
      </p:sp>
      <p:sp>
        <p:nvSpPr>
          <p:cNvPr id="23" name="Text 21"/>
          <p:cNvSpPr txBox="1"/>
          <p:nvPr/>
        </p:nvSpPr>
        <p:spPr>
          <a:xfrm>
            <a:off x="4626864" y="4114800"/>
            <a:ext cx="2267712" cy="73152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Error-Handling</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Middleware</a:t>
            </a:r>
            <a:endParaRPr lang="en-US" sz="1200" dirty="0"/>
          </a:p>
        </p:txBody>
      </p:sp>
      <p:sp>
        <p:nvSpPr>
          <p:cNvPr id="24" name="Text 22"/>
          <p:cNvSpPr txBox="1"/>
          <p:nvPr/>
        </p:nvSpPr>
        <p:spPr>
          <a:xfrm>
            <a:off x="640080" y="5989320"/>
            <a:ext cx="10911535" cy="411480"/>
          </a:xfrm>
          <a:prstGeom prst="rect">
            <a:avLst/>
          </a:prstGeom>
          <a:noFill/>
          <a:ln/>
        </p:spPr>
        <p:txBody>
          <a:bodyPr wrap="square" lIns="0" tIns="0" rIns="0" bIns="0" rtlCol="0" anchor="t"/>
          <a:lstStyle/>
          <a:p>
            <a:pPr indent="0" marL="0">
              <a:buNone/>
            </a:pPr>
            <a:r>
              <a:rPr lang="en-US" sz="1250" i="1" dirty="0">
                <a:solidFill>
                  <a:srgbClr val="5D5D72"/>
                </a:solidFill>
                <a:latin typeface="Calibri" pitchFamily="34" charset="0"/>
                <a:ea typeface="Calibri" pitchFamily="34" charset="-122"/>
                <a:cs typeface="Calibri" pitchFamily="34" charset="-120"/>
              </a:rPr>
              <a:t>Often called the request/response pipeline. Any middleware can call next(err) to skip straight to the nearest error-handling middleware, registered last, after every other app.use() and route.</a:t>
            </a:r>
            <a:endParaRPr lang="en-US" sz="1250" dirty="0"/>
          </a:p>
        </p:txBody>
      </p:sp>
      <p:sp>
        <p:nvSpPr>
          <p:cNvPr id="27"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(REQ, RES, NEXT) SIGNATURE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Every Middleware Gets (req, res, next)</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function myMiddleware(req, res, next)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req, res, and next -- the standard trio</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console.log(`${req.method} ${req.url}`);</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next(); // move on to the next middleware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076700"/>
            <a:ext cx="10911535" cy="2186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Forgetting next() — without also sending a response — makes the client hang forever waiting for a reply.</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(REQ, RES, NEXT) SIGNATURE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Always Call next() or End the Response</a:t>
            </a:r>
            <a:endParaRPr lang="en-US" sz="3400" dirty="0"/>
          </a:p>
        </p:txBody>
      </p:sp>
      <p:sp>
        <p:nvSpPr>
          <p:cNvPr id="4" name="Shape 2"/>
          <p:cNvSpPr/>
          <p:nvPr/>
        </p:nvSpPr>
        <p:spPr>
          <a:xfrm>
            <a:off x="640080" y="1965960"/>
            <a:ext cx="10911535" cy="3980000"/>
          </a:xfrm>
          <a:prstGeom prst="roundRect">
            <a:avLst>
              <a:gd name="adj" fmla="val 2857"/>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30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A middleware function must always either call next() or end the response (with res.send(), res.json(), res.end(), etc.). Doing neither is one of the most common bugs beginners hit with Express — the request just times out.</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(REQ, RES, NEXT) SIGNATURE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Registering Middleware with app.use()</a:t>
            </a:r>
            <a:endParaRPr lang="en-US" sz="3400" dirty="0"/>
          </a:p>
        </p:txBody>
      </p:sp>
      <p:sp>
        <p:nvSpPr>
          <p:cNvPr id="4" name="Shape 2"/>
          <p:cNvSpPr/>
          <p:nvPr/>
        </p:nvSpPr>
        <p:spPr>
          <a:xfrm>
            <a:off x="640080" y="1965960"/>
            <a:ext cx="10911535" cy="3291840"/>
          </a:xfrm>
          <a:prstGeom prst="roundRect">
            <a:avLst>
              <a:gd name="adj" fmla="val 2222"/>
            </a:avLst>
          </a:prstGeom>
          <a:solidFill>
            <a:srgbClr val="F7F8F9"/>
          </a:solidFill>
          <a:ln w="9525">
            <a:solidFill>
              <a:srgbClr val="D0D5DD"/>
            </a:solidFill>
          </a:ln>
        </p:spPr>
        <p:txBody>
          <a:bodyPr/>
          <a:p/>
        </p:txBody>
      </p:sp>
      <p:sp>
        <p:nvSpPr>
          <p:cNvPr id="5" name="Text 3"/>
          <p:cNvSpPr txBox="1"/>
          <p:nvPr/>
        </p:nvSpPr>
        <p:spPr>
          <a:xfrm>
            <a:off x="960120" y="2194560"/>
            <a:ext cx="10271455" cy="2834640"/>
          </a:xfrm>
          <a:prstGeom prst="rect">
            <a:avLst/>
          </a:prstGeom>
          <a:noFill/>
          <a:ln/>
        </p:spPr>
        <p:txBody>
          <a:bodyPr wrap="square" lIns="0" tIns="0" rIns="0" bIns="0" rtlCol="0" anchor="t"/>
          <a:lstStyle/>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const express = require("express");</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const app = express();</a:t>
            </a:r>
            <a:endParaRPr lang="en-US" sz="1108" dirty="0"/>
          </a:p>
          <a:p>
            <a:pPr indent="0" marL="0">
              <a:lnSpc>
                <a:spcPct val="125000"/>
              </a:lnSpc>
              <a:buNone/>
            </a:pP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app.use(function (req, res, next) {</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console.log(`${req.method} ${req.url}`);</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next();</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a:t>
            </a:r>
            <a:endParaRPr lang="en-US" sz="1108" dirty="0"/>
          </a:p>
          <a:p>
            <a:pPr indent="0" marL="0">
              <a:lnSpc>
                <a:spcPct val="125000"/>
              </a:lnSpc>
              <a:buNone/>
            </a:pP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app.get("/", (req, res) =&gt; {</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res.send("Home page");</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a:t>
            </a:r>
            <a:endParaRPr lang="en-US" sz="1108" dirty="0"/>
          </a:p>
          <a:p>
            <a:pPr indent="0" marL="0">
              <a:lnSpc>
                <a:spcPct val="125000"/>
              </a:lnSpc>
              <a:buNone/>
            </a:pP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app.listen(3000);</a:t>
            </a:r>
            <a:endParaRPr lang="en-US" sz="1108" dirty="0"/>
          </a:p>
        </p:txBody>
      </p:sp>
      <p:sp>
        <p:nvSpPr>
          <p:cNvPr id="6" name="Text 4"/>
          <p:cNvSpPr txBox="1"/>
          <p:nvPr/>
        </p:nvSpPr>
        <p:spPr>
          <a:xfrm>
            <a:off x="640080" y="5486400"/>
            <a:ext cx="10911535" cy="7772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Every request — whichever route it eventually matches — passes through the logging middleware first, since it was registered before the routes.</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(REQ, RES, NEXT) SIGNATURE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Order Matters</a:t>
            </a:r>
            <a:endParaRPr lang="en-US" sz="3400" dirty="0"/>
          </a:p>
        </p:txBody>
      </p:sp>
      <p:sp>
        <p:nvSpPr>
          <p:cNvPr id="4" name="Shape 2"/>
          <p:cNvSpPr/>
          <p:nvPr/>
        </p:nvSpPr>
        <p:spPr>
          <a:xfrm>
            <a:off x="640080" y="1965960"/>
            <a:ext cx="10911535" cy="3657600"/>
          </a:xfrm>
          <a:prstGeom prst="roundRect">
            <a:avLst>
              <a:gd name="adj" fmla="val 3000"/>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Express runs middleware in the exact order you register it. A middleware registered after your routes will never run for requests an earlier route already handled.</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APPLICATION-LEVEL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Global vs. Path-Scoped vs. Route-Scoped</a:t>
            </a:r>
            <a:endParaRPr lang="en-US" sz="3400" dirty="0"/>
          </a:p>
        </p:txBody>
      </p:sp>
      <p:sp>
        <p:nvSpPr>
          <p:cNvPr id="4" name="Shape 2"/>
          <p:cNvSpPr/>
          <p:nvPr/>
        </p:nvSpPr>
        <p:spPr>
          <a:xfrm>
            <a:off x="640080" y="1965960"/>
            <a:ext cx="10911535" cy="3406140"/>
          </a:xfrm>
          <a:prstGeom prst="roundRect">
            <a:avLst>
              <a:gd name="adj" fmla="val 2148"/>
            </a:avLst>
          </a:prstGeom>
          <a:solidFill>
            <a:srgbClr val="F7F8F9"/>
          </a:solidFill>
          <a:ln w="9525">
            <a:solidFill>
              <a:srgbClr val="D0D5DD"/>
            </a:solidFill>
          </a:ln>
        </p:spPr>
        <p:txBody>
          <a:bodyPr/>
          <a:p/>
        </p:txBody>
      </p:sp>
      <p:sp>
        <p:nvSpPr>
          <p:cNvPr id="5" name="Text 3"/>
          <p:cNvSpPr txBox="1"/>
          <p:nvPr/>
        </p:nvSpPr>
        <p:spPr>
          <a:xfrm>
            <a:off x="960120" y="2194560"/>
            <a:ext cx="10271455" cy="2948940"/>
          </a:xfrm>
          <a:prstGeom prst="rect">
            <a:avLst/>
          </a:prstGeom>
          <a:noFill/>
          <a:ln/>
        </p:spPr>
        <p:txBody>
          <a:bodyPr wrap="square" lIns="0" tIns="0" rIns="0" bIns="0" rtlCol="0" anchor="t"/>
          <a:lstStyle/>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app.use((req, res, next) =&gt; {  // every request</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req.requestTime = Date.now();</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next();</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app.use("/admin", (req, res, next) =&gt; { // /admin only</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console.log("Someone hit the admin area");</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next();</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app.get("/profile", (req, res, next) =&gt;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next();</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(req, res) =&gt;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res.send("Profile page");</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640080" y="5600700"/>
            <a:ext cx="10911535" cy="662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A route can have multiple handler functions — each must call next() except the last, which usually sends the response.</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ROUTER-LEVEL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routes/users.js</a:t>
            </a:r>
            <a:endParaRPr lang="en-US" sz="3400" dirty="0"/>
          </a:p>
        </p:txBody>
      </p:sp>
      <p:sp>
        <p:nvSpPr>
          <p:cNvPr id="4" name="Shape 2"/>
          <p:cNvSpPr/>
          <p:nvPr/>
        </p:nvSpPr>
        <p:spPr>
          <a:xfrm>
            <a:off x="640080" y="1965960"/>
            <a:ext cx="10911535" cy="3931920"/>
          </a:xfrm>
          <a:prstGeom prst="roundRect">
            <a:avLst>
              <a:gd name="adj" fmla="val 1860"/>
            </a:avLst>
          </a:prstGeom>
          <a:solidFill>
            <a:srgbClr val="F7F8F9"/>
          </a:solidFill>
          <a:ln w="9525">
            <a:solidFill>
              <a:srgbClr val="D0D5DD"/>
            </a:solidFill>
          </a:ln>
        </p:spPr>
        <p:txBody>
          <a:bodyPr/>
          <a:p/>
        </p:txBody>
      </p:sp>
      <p:sp>
        <p:nvSpPr>
          <p:cNvPr id="5" name="Text 3"/>
          <p:cNvSpPr txBox="1"/>
          <p:nvPr/>
        </p:nvSpPr>
        <p:spPr>
          <a:xfrm>
            <a:off x="960120" y="2194560"/>
            <a:ext cx="10271455" cy="3474720"/>
          </a:xfrm>
          <a:prstGeom prst="rect">
            <a:avLst/>
          </a:prstGeom>
          <a:noFill/>
          <a:ln/>
        </p:spPr>
        <p:txBody>
          <a:bodyPr wrap="square" lIns="0" tIns="0" rIns="0" bIns="0" rtlCol="0" anchor="t"/>
          <a:lstStyle/>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const express = require("express");</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const router = express.Router();</a:t>
            </a:r>
            <a:endParaRPr lang="en-US" sz="1045" dirty="0"/>
          </a:p>
          <a:p>
            <a:pPr indent="0" marL="0">
              <a:lnSpc>
                <a:spcPct val="125000"/>
              </a:lnSpc>
              <a:buNone/>
            </a:pP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router.use((req, res, next) =&gt;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console.log("Time:", Date.now());</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next();</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a:t>
            </a:r>
            <a:endParaRPr lang="en-US" sz="1045" dirty="0"/>
          </a:p>
          <a:p>
            <a:pPr indent="0" marL="0">
              <a:lnSpc>
                <a:spcPct val="125000"/>
              </a:lnSpc>
              <a:buNone/>
            </a:pP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router.get("/", (req, res) =&gt;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res.send("List of users");</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a:t>
            </a:r>
            <a:endParaRPr lang="en-US" sz="1045" dirty="0"/>
          </a:p>
          <a:p>
            <a:pPr indent="0" marL="0">
              <a:lnSpc>
                <a:spcPct val="125000"/>
              </a:lnSpc>
              <a:buNone/>
            </a:pP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router.get("/:id", (req, res) =&gt; {</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  res.send(`User with id ${req.params.id}`);</a:t>
            </a: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a:t>
            </a:r>
            <a:endParaRPr lang="en-US" sz="1045" dirty="0"/>
          </a:p>
          <a:p>
            <a:pPr indent="0" marL="0">
              <a:lnSpc>
                <a:spcPct val="125000"/>
              </a:lnSpc>
              <a:buNone/>
            </a:pPr>
            <a:endParaRPr lang="en-US" sz="1045" dirty="0"/>
          </a:p>
          <a:p>
            <a:pPr indent="0" marL="0">
              <a:lnSpc>
                <a:spcPct val="125000"/>
              </a:lnSpc>
              <a:buNone/>
            </a:pPr>
            <a:r>
              <a:rPr lang="en-US" sz="1045" dirty="0">
                <a:solidFill>
                  <a:srgbClr val="1F2429"/>
                </a:solidFill>
                <a:latin typeface="Courier New" pitchFamily="34" charset="0"/>
                <a:ea typeface="Courier New" pitchFamily="34" charset="-122"/>
                <a:cs typeface="Courier New" pitchFamily="34" charset="-120"/>
              </a:rPr>
              <a:t>module.exports = router;</a:t>
            </a:r>
            <a:endParaRPr lang="en-US" sz="1045"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ROUTER-LEVEL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Mounting the Router</a:t>
            </a:r>
            <a:endParaRPr lang="en-US" sz="3400" dirty="0"/>
          </a:p>
        </p:txBody>
      </p:sp>
      <p:sp>
        <p:nvSpPr>
          <p:cNvPr id="4" name="Shape 2"/>
          <p:cNvSpPr/>
          <p:nvPr/>
        </p:nvSpPr>
        <p:spPr>
          <a:xfrm>
            <a:off x="640080" y="1965960"/>
            <a:ext cx="10911535" cy="1348740"/>
          </a:xfrm>
          <a:prstGeom prst="roundRect">
            <a:avLst>
              <a:gd name="adj" fmla="val 5424"/>
            </a:avLst>
          </a:prstGeom>
          <a:solidFill>
            <a:srgbClr val="F7F8F9"/>
          </a:solidFill>
          <a:ln w="9525">
            <a:solidFill>
              <a:srgbClr val="D0D5DD"/>
            </a:solidFill>
          </a:ln>
        </p:spPr>
        <p:txBody>
          <a:bodyPr/>
          <a:p/>
        </p:txBody>
      </p:sp>
      <p:sp>
        <p:nvSpPr>
          <p:cNvPr id="5" name="Text 3"/>
          <p:cNvSpPr txBox="1"/>
          <p:nvPr/>
        </p:nvSpPr>
        <p:spPr>
          <a:xfrm>
            <a:off x="960120" y="2194560"/>
            <a:ext cx="10271455" cy="8915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app.js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usersRouter = require("./routes/users");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app.use("/users", usersRouter);</a:t>
            </a:r>
            <a:endParaRPr lang="en-US" sz="1400" dirty="0"/>
          </a:p>
        </p:txBody>
      </p:sp>
      <p:sp>
        <p:nvSpPr>
          <p:cNvPr id="6" name="Text 4"/>
          <p:cNvSpPr txBox="1"/>
          <p:nvPr/>
        </p:nvSpPr>
        <p:spPr>
          <a:xfrm>
            <a:off x="640080" y="3543300"/>
            <a:ext cx="10911535" cy="27203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Now the logging middleware inside users.js only fires for requests under /users/* — never for, say, /products.</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ERROR-HANDLING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Four Parameters, Not Three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Error-handling middleware looks almost the same, but takes FOUR parameters: (err, req, res, next)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Express recognizes it as an error handler purely because of that fourth parameter</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Must be registered LAST, after all other app.use() and route calls</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ERROR-HANDLING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Basic Error Handler</a:t>
            </a:r>
            <a:endParaRPr lang="en-US" sz="3400" dirty="0"/>
          </a:p>
        </p:txBody>
      </p:sp>
      <p:sp>
        <p:nvSpPr>
          <p:cNvPr id="4" name="Shape 2"/>
          <p:cNvSpPr/>
          <p:nvPr/>
        </p:nvSpPr>
        <p:spPr>
          <a:xfrm>
            <a:off x="640080" y="1965960"/>
            <a:ext cx="10911535" cy="2148840"/>
          </a:xfrm>
          <a:prstGeom prst="roundRect">
            <a:avLst>
              <a:gd name="adj" fmla="val 3404"/>
            </a:avLst>
          </a:prstGeom>
          <a:solidFill>
            <a:srgbClr val="F7F8F9"/>
          </a:solidFill>
          <a:ln w="9525">
            <a:solidFill>
              <a:srgbClr val="D0D5DD"/>
            </a:solidFill>
          </a:ln>
        </p:spPr>
        <p:txBody>
          <a:bodyPr/>
          <a:p/>
        </p:txBody>
      </p:sp>
      <p:sp>
        <p:nvSpPr>
          <p:cNvPr id="5" name="Text 3"/>
          <p:cNvSpPr txBox="1"/>
          <p:nvPr/>
        </p:nvSpPr>
        <p:spPr>
          <a:xfrm>
            <a:off x="960120" y="2194560"/>
            <a:ext cx="10271455" cy="16916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app.use((err, req, res, next)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console.error(err.stack);</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res.status(500).json({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error: "Something went wrong on the server."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343400"/>
            <a:ext cx="10911535" cy="19202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Express recognizes this as an error handler purely because it takes four parameters, not three.</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ERROR-HANDLING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Reaching It with next(err)</a:t>
            </a:r>
            <a:endParaRPr lang="en-US" sz="3400" dirty="0"/>
          </a:p>
        </p:txBody>
      </p:sp>
      <p:sp>
        <p:nvSpPr>
          <p:cNvPr id="4" name="Shape 2"/>
          <p:cNvSpPr/>
          <p:nvPr/>
        </p:nvSpPr>
        <p:spPr>
          <a:xfrm>
            <a:off x="640080" y="1965960"/>
            <a:ext cx="10911535" cy="3406140"/>
          </a:xfrm>
          <a:prstGeom prst="roundRect">
            <a:avLst>
              <a:gd name="adj" fmla="val 2148"/>
            </a:avLst>
          </a:prstGeom>
          <a:solidFill>
            <a:srgbClr val="F7F8F9"/>
          </a:solidFill>
          <a:ln w="9525">
            <a:solidFill>
              <a:srgbClr val="D0D5DD"/>
            </a:solidFill>
          </a:ln>
        </p:spPr>
        <p:txBody>
          <a:bodyPr/>
          <a:p/>
        </p:txBody>
      </p:sp>
      <p:sp>
        <p:nvSpPr>
          <p:cNvPr id="5" name="Text 3"/>
          <p:cNvSpPr txBox="1"/>
          <p:nvPr/>
        </p:nvSpPr>
        <p:spPr>
          <a:xfrm>
            <a:off x="960120" y="2194560"/>
            <a:ext cx="10271455" cy="2948940"/>
          </a:xfrm>
          <a:prstGeom prst="rect">
            <a:avLst/>
          </a:prstGeom>
          <a:noFill/>
          <a:ln/>
        </p:spPr>
        <p:txBody>
          <a:bodyPr wrap="square" lIns="0" tIns="0" rIns="0" bIns="0" rtlCol="0" anchor="t"/>
          <a:lstStyle/>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app.get("/risky", (req, res, next) =&gt;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try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doSomethingThatMightFail();</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res.send("It worked!");</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 catch (err)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next(err); // hand off to the error handler</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 other routes ...</a:t>
            </a:r>
            <a:endParaRPr lang="en-US" sz="1000" dirty="0"/>
          </a:p>
          <a:p>
            <a:pPr indent="0" marL="0">
              <a:lnSpc>
                <a:spcPct val="125000"/>
              </a:lnSpc>
              <a:buNone/>
            </a:pP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app.use((err, req, res, next) =&gt;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console.error(err.message);</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res.status(500).send("Internal Server Error");</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640080" y="5600700"/>
            <a:ext cx="10911535" cy="662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next(err) skips every remaining regular middleware and jumps straight to the nearest error handler.</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ERROR-HANDLING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Chaining Error Handlers</a:t>
            </a:r>
            <a:endParaRPr lang="en-US" sz="3400" dirty="0"/>
          </a:p>
        </p:txBody>
      </p:sp>
      <p:sp>
        <p:nvSpPr>
          <p:cNvPr id="4" name="Shape 2"/>
          <p:cNvSpPr/>
          <p:nvPr/>
        </p:nvSpPr>
        <p:spPr>
          <a:xfrm>
            <a:off x="640080" y="1965960"/>
            <a:ext cx="10911535" cy="3657600"/>
          </a:xfrm>
          <a:prstGeom prst="roundRect">
            <a:avLst>
              <a:gd name="adj" fmla="val 3158"/>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You can have multiple error-handling middleware functions — one that logs and calls next(err) again, and a final one that sends the response. The same chain idea applies to errors too.</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BUILT-IN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Express Ships With a Few Built In</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express.json() — parses JSON request bodies into req.body</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express.urlencoded() — parses traditional HTML &lt;form&gt; submissions</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express.static() — serves static files (HTML, CSS, images, JS) directly from a folder</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BUILT-IN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express.json()</a:t>
            </a:r>
            <a:endParaRPr lang="en-US" sz="3400" dirty="0"/>
          </a:p>
        </p:txBody>
      </p:sp>
      <p:sp>
        <p:nvSpPr>
          <p:cNvPr id="4" name="Shape 2"/>
          <p:cNvSpPr/>
          <p:nvPr/>
        </p:nvSpPr>
        <p:spPr>
          <a:xfrm>
            <a:off x="640080" y="1965960"/>
            <a:ext cx="10911535" cy="2148840"/>
          </a:xfrm>
          <a:prstGeom prst="roundRect">
            <a:avLst>
              <a:gd name="adj" fmla="val 3404"/>
            </a:avLst>
          </a:prstGeom>
          <a:solidFill>
            <a:srgbClr val="F7F8F9"/>
          </a:solidFill>
          <a:ln w="9525">
            <a:solidFill>
              <a:srgbClr val="D0D5DD"/>
            </a:solidFill>
          </a:ln>
        </p:spPr>
        <p:txBody>
          <a:bodyPr/>
          <a:p/>
        </p:txBody>
      </p:sp>
      <p:sp>
        <p:nvSpPr>
          <p:cNvPr id="5" name="Text 3"/>
          <p:cNvSpPr txBox="1"/>
          <p:nvPr/>
        </p:nvSpPr>
        <p:spPr>
          <a:xfrm>
            <a:off x="960120" y="2194560"/>
            <a:ext cx="10271455" cy="16916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app.use(express.json());</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app.post("/api/notes", (req, res) =&gt;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console.log(req.body); // parsed JSON body</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res.status(201).json({ message: "Note created" });</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4343400"/>
            <a:ext cx="10911535" cy="19202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Without express.json(), req.body would be undefined for JSON requests.</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BUILT-IN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express.static()</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app.use(express.static("public"));</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GET /logo.png now automatically serves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public/logo.png -- no route needed</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Express matches the request path directly to a file in the folder.</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THIRD-PARTY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Two You'll Use Constantly</a:t>
            </a:r>
            <a:endParaRPr lang="en-US" sz="3400" dirty="0"/>
          </a:p>
        </p:txBody>
      </p:sp>
      <p:sp>
        <p:nvSpPr>
          <p:cNvPr id="4" name="Shape 2"/>
          <p:cNvSpPr/>
          <p:nvPr/>
        </p:nvSpPr>
        <p:spPr>
          <a:xfrm>
            <a:off x="640080"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5" name="Text 3"/>
          <p:cNvSpPr txBox="1"/>
          <p:nvPr/>
        </p:nvSpPr>
        <p:spPr>
          <a:xfrm>
            <a:off x="896112" y="2194560"/>
            <a:ext cx="4829404" cy="365760"/>
          </a:xfrm>
          <a:prstGeom prst="rect">
            <a:avLst/>
          </a:prstGeom>
          <a:noFill/>
          <a:ln/>
        </p:spPr>
        <p:txBody>
          <a:bodyPr wrap="square" lIns="0" tIns="0" rIns="0" bIns="0" rtlCol="0" anchor="ctr"/>
          <a:lstStyle/>
          <a:p>
            <a:pPr indent="0" marL="0">
              <a:buNone/>
            </a:pPr>
            <a:r>
              <a:rPr lang="en-US" sz="1250" b="1" spc="150" kern="0" dirty="0">
                <a:solidFill>
                  <a:srgbClr val="2B2B7A"/>
                </a:solidFill>
                <a:latin typeface="Calibri" pitchFamily="34" charset="0"/>
                <a:ea typeface="Calibri" pitchFamily="34" charset="-122"/>
                <a:cs typeface="Calibri" pitchFamily="34" charset="-120"/>
              </a:rPr>
              <a:t>MORGAN — REQUEST LOGGING</a:t>
            </a:r>
            <a:endParaRPr lang="en-US" sz="1250" dirty="0"/>
          </a:p>
        </p:txBody>
      </p:sp>
      <p:sp>
        <p:nvSpPr>
          <p:cNvPr id="6" name="Text 4"/>
          <p:cNvSpPr txBox="1"/>
          <p:nvPr/>
        </p:nvSpPr>
        <p:spPr>
          <a:xfrm>
            <a:off x="896112"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Logs every incoming request: method, path, status code, response time</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npm install morgan</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app.use(morgan("dev"))</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Invaluable while developing and debugging</a:t>
            </a:r>
            <a:endParaRPr lang="en-US" sz="1200" dirty="0"/>
          </a:p>
        </p:txBody>
      </p:sp>
      <p:sp>
        <p:nvSpPr>
          <p:cNvPr id="7" name="Shape 5"/>
          <p:cNvSpPr/>
          <p:nvPr/>
        </p:nvSpPr>
        <p:spPr>
          <a:xfrm>
            <a:off x="6210148" y="1965960"/>
            <a:ext cx="5341468" cy="4114800"/>
          </a:xfrm>
          <a:prstGeom prst="roundRect">
            <a:avLst>
              <a:gd name="adj" fmla="val 2000"/>
            </a:avLst>
          </a:prstGeom>
          <a:solidFill>
            <a:srgbClr val="F1F1F8"/>
          </a:solidFill>
          <a:ln w="12700">
            <a:solidFill>
              <a:srgbClr val="E2E2EE"/>
            </a:solidFill>
            <a:prstDash val="solid"/>
          </a:ln>
        </p:spPr>
        <p:txBody>
          <a:bodyPr/>
          <a:p/>
        </p:txBody>
      </p:sp>
      <p:sp>
        <p:nvSpPr>
          <p:cNvPr id="8" name="Text 6"/>
          <p:cNvSpPr txBox="1"/>
          <p:nvPr/>
        </p:nvSpPr>
        <p:spPr>
          <a:xfrm>
            <a:off x="6466180" y="2194560"/>
            <a:ext cx="4829404" cy="365760"/>
          </a:xfrm>
          <a:prstGeom prst="rect">
            <a:avLst/>
          </a:prstGeom>
          <a:noFill/>
          <a:ln/>
        </p:spPr>
        <p:txBody>
          <a:bodyPr wrap="square" lIns="0" tIns="0" rIns="0" bIns="0" rtlCol="0" anchor="ctr"/>
          <a:lstStyle/>
          <a:p>
            <a:pPr indent="0" marL="0">
              <a:buNone/>
            </a:pPr>
            <a:r>
              <a:rPr lang="en-US" sz="1250" b="1" spc="150" kern="0" dirty="0">
                <a:solidFill>
                  <a:srgbClr val="E67528"/>
                </a:solidFill>
                <a:latin typeface="Calibri" pitchFamily="34" charset="0"/>
                <a:ea typeface="Calibri" pitchFamily="34" charset="-122"/>
                <a:cs typeface="Calibri" pitchFamily="34" charset="-120"/>
              </a:rPr>
              <a:t>CORS — CROSS-ORIGIN REQUESTS</a:t>
            </a:r>
            <a:endParaRPr lang="en-US" sz="1250" dirty="0"/>
          </a:p>
        </p:txBody>
      </p:sp>
      <p:sp>
        <p:nvSpPr>
          <p:cNvPr id="9" name="Text 7"/>
          <p:cNvSpPr txBox="1"/>
          <p:nvPr/>
        </p:nvSpPr>
        <p:spPr>
          <a:xfrm>
            <a:off x="6466180" y="2651760"/>
            <a:ext cx="4829404"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Browsers block a page on one origin from calling an API on another (same-origin policy)</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npm install cors</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app.use(cors()) adds the headers needed to explicitly allow it</a:t>
            </a:r>
            <a:endParaRPr lang="en-US" sz="1200" dirty="0"/>
          </a:p>
          <a:p>
            <a:pPr marL="342900" indent="-342900">
              <a:spcAft>
                <a:spcPts val="600"/>
              </a:spcAft>
              <a:buSzPct val="100000"/>
              <a:buChar char="•"/>
            </a:pPr>
            <a:r>
              <a:rPr lang="en-US" sz="1200" dirty="0">
                <a:solidFill>
                  <a:srgbClr val="26262F"/>
                </a:solidFill>
                <a:latin typeface="Calibri" pitchFamily="34" charset="0"/>
                <a:ea typeface="Calibri" pitchFamily="34" charset="-122"/>
                <a:cs typeface="Calibri" pitchFamily="34" charset="-120"/>
              </a:rPr>
              <a:t>Restrict the allowed origin before production</a:t>
            </a:r>
            <a:endParaRPr lang="en-US" sz="1200" dirty="0"/>
          </a:p>
        </p:txBody>
      </p:sp>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THIRD-PARTY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morgan in Practice</a:t>
            </a:r>
            <a:endParaRPr lang="en-US" sz="3400" dirty="0"/>
          </a:p>
        </p:txBody>
      </p:sp>
      <p:sp>
        <p:nvSpPr>
          <p:cNvPr id="4" name="Shape 2"/>
          <p:cNvSpPr/>
          <p:nvPr/>
        </p:nvSpPr>
        <p:spPr>
          <a:xfrm>
            <a:off x="640080" y="1965960"/>
            <a:ext cx="10911535" cy="1882140"/>
          </a:xfrm>
          <a:prstGeom prst="roundRect">
            <a:avLst>
              <a:gd name="adj" fmla="val 3887"/>
            </a:avLst>
          </a:prstGeom>
          <a:solidFill>
            <a:srgbClr val="F7F8F9"/>
          </a:solidFill>
          <a:ln w="9525">
            <a:solidFill>
              <a:srgbClr val="D0D5DD"/>
            </a:solidFill>
          </a:ln>
        </p:spPr>
        <p:txBody>
          <a:bodyPr/>
          <a:p/>
        </p:txBody>
      </p:sp>
      <p:sp>
        <p:nvSpPr>
          <p:cNvPr id="5" name="Text 3"/>
          <p:cNvSpPr txBox="1"/>
          <p:nvPr/>
        </p:nvSpPr>
        <p:spPr>
          <a:xfrm>
            <a:off x="960120" y="2194560"/>
            <a:ext cx="10271455" cy="14249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install morgan</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morgan = require("morgan");</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app.use(morgan("dev"));</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logs: GET /users 200 12.345 ms</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THIRD-PARTY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cors in Practice</a:t>
            </a:r>
            <a:endParaRPr lang="en-US" sz="3400" dirty="0"/>
          </a:p>
        </p:txBody>
      </p:sp>
      <p:sp>
        <p:nvSpPr>
          <p:cNvPr id="4" name="Shape 2"/>
          <p:cNvSpPr/>
          <p:nvPr/>
        </p:nvSpPr>
        <p:spPr>
          <a:xfrm>
            <a:off x="640080" y="1965960"/>
            <a:ext cx="10911535" cy="2415540"/>
          </a:xfrm>
          <a:prstGeom prst="roundRect">
            <a:avLst>
              <a:gd name="adj" fmla="val 3028"/>
            </a:avLst>
          </a:prstGeom>
          <a:solidFill>
            <a:srgbClr val="F7F8F9"/>
          </a:solidFill>
          <a:ln w="9525">
            <a:solidFill>
              <a:srgbClr val="D0D5DD"/>
            </a:solidFill>
          </a:ln>
        </p:spPr>
        <p:txBody>
          <a:bodyPr/>
          <a:p/>
        </p:txBody>
      </p:sp>
      <p:sp>
        <p:nvSpPr>
          <p:cNvPr id="5" name="Text 3"/>
          <p:cNvSpPr txBox="1"/>
          <p:nvPr/>
        </p:nvSpPr>
        <p:spPr>
          <a:xfrm>
            <a:off x="960120" y="2194560"/>
            <a:ext cx="10271455" cy="19583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install cors</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cors = require("cors");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app.use(cors()); // any origin -- fine for dev</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Production: restrict it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app.use(cors({ origin: "https://myapp.com" }));</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THIRD-PARTY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Lock Down cors() Before Production</a:t>
            </a:r>
            <a:endParaRPr lang="en-US" sz="3400" dirty="0"/>
          </a:p>
        </p:txBody>
      </p:sp>
      <p:sp>
        <p:nvSpPr>
          <p:cNvPr id="4" name="Shape 2"/>
          <p:cNvSpPr/>
          <p:nvPr/>
        </p:nvSpPr>
        <p:spPr>
          <a:xfrm>
            <a:off x="640080" y="1965960"/>
            <a:ext cx="10911535" cy="3657600"/>
          </a:xfrm>
          <a:prstGeom prst="roundRect">
            <a:avLst>
              <a:gd name="adj" fmla="val 3000"/>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cors() with no options allows ANY website to call your API from the browser. That's convenient during development but should usually be locked down to specific origins before you deploy to production.</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CUSTOM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Custom Authentication Check</a:t>
            </a:r>
            <a:endParaRPr lang="en-US" sz="3400" dirty="0"/>
          </a:p>
        </p:txBody>
      </p:sp>
      <p:sp>
        <p:nvSpPr>
          <p:cNvPr id="4" name="Shape 2"/>
          <p:cNvSpPr/>
          <p:nvPr/>
        </p:nvSpPr>
        <p:spPr>
          <a:xfrm>
            <a:off x="640080" y="1965960"/>
            <a:ext cx="10911535" cy="3291840"/>
          </a:xfrm>
          <a:prstGeom prst="roundRect">
            <a:avLst>
              <a:gd name="adj" fmla="val 2222"/>
            </a:avLst>
          </a:prstGeom>
          <a:solidFill>
            <a:srgbClr val="F7F8F9"/>
          </a:solidFill>
          <a:ln w="9525">
            <a:solidFill>
              <a:srgbClr val="D0D5DD"/>
            </a:solidFill>
          </a:ln>
        </p:spPr>
        <p:txBody>
          <a:bodyPr/>
          <a:p/>
        </p:txBody>
      </p:sp>
      <p:sp>
        <p:nvSpPr>
          <p:cNvPr id="5" name="Text 3"/>
          <p:cNvSpPr txBox="1"/>
          <p:nvPr/>
        </p:nvSpPr>
        <p:spPr>
          <a:xfrm>
            <a:off x="960120" y="2194560"/>
            <a:ext cx="10271455" cy="2834640"/>
          </a:xfrm>
          <a:prstGeom prst="rect">
            <a:avLst/>
          </a:prstGeom>
          <a:noFill/>
          <a:ln/>
        </p:spPr>
        <p:txBody>
          <a:bodyPr wrap="square" lIns="0" tIns="0" rIns="0" bIns="0" rtlCol="0" anchor="t"/>
          <a:lstStyle/>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function requireLogin(req, res, next) {</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  if (!req.session || !req.session.userId) {</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    return res.status(401).json({</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      error: "You must be logged in."</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    });</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  }</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  next();</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a:t>
            </a:r>
            <a:endParaRPr lang="en-US" sz="1200" dirty="0"/>
          </a:p>
          <a:p>
            <a:pPr indent="0" marL="0">
              <a:lnSpc>
                <a:spcPct val="125000"/>
              </a:lnSpc>
              <a:buNone/>
            </a:pP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app.get("/dashboard", requireLogin, (req, res) =&gt; {</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  res.send("Welcome to your dashboard!");</a:t>
            </a:r>
            <a:endParaRPr lang="en-US" sz="1200" dirty="0"/>
          </a:p>
          <a:p>
            <a:pPr indent="0" marL="0">
              <a:lnSpc>
                <a:spcPct val="125000"/>
              </a:lnSpc>
              <a:buNone/>
            </a:pPr>
            <a:r>
              <a:rPr lang="en-US" sz="1200" dirty="0">
                <a:solidFill>
                  <a:srgbClr val="1F2429"/>
                </a:solidFill>
                <a:latin typeface="Courier New" pitchFamily="34" charset="0"/>
                <a:ea typeface="Courier New" pitchFamily="34" charset="-122"/>
                <a:cs typeface="Courier New" pitchFamily="34" charset="-120"/>
              </a:rPr>
              <a:t>});</a:t>
            </a:r>
            <a:endParaRPr lang="en-US" sz="1200" dirty="0"/>
          </a:p>
        </p:txBody>
      </p:sp>
      <p:sp>
        <p:nvSpPr>
          <p:cNvPr id="6" name="Text 4"/>
          <p:cNvSpPr txBox="1"/>
          <p:nvPr/>
        </p:nvSpPr>
        <p:spPr>
          <a:xfrm>
            <a:off x="640080" y="5486400"/>
            <a:ext cx="10911535" cy="7772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If the check fails, requireLogin sends 401 and does NOT call next() — the /dashboard handler never runs.</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CUSTOM MIDDLEWARE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Chaining Several Small Middleware</a:t>
            </a:r>
            <a:endParaRPr lang="en-US" sz="3400" dirty="0"/>
          </a:p>
        </p:txBody>
      </p:sp>
      <p:sp>
        <p:nvSpPr>
          <p:cNvPr id="4" name="Shape 2"/>
          <p:cNvSpPr/>
          <p:nvPr/>
        </p:nvSpPr>
        <p:spPr>
          <a:xfrm>
            <a:off x="640080" y="1965960"/>
            <a:ext cx="10911535" cy="3406140"/>
          </a:xfrm>
          <a:prstGeom prst="roundRect">
            <a:avLst>
              <a:gd name="adj" fmla="val 2148"/>
            </a:avLst>
          </a:prstGeom>
          <a:solidFill>
            <a:srgbClr val="F7F8F9"/>
          </a:solidFill>
          <a:ln w="9525">
            <a:solidFill>
              <a:srgbClr val="D0D5DD"/>
            </a:solidFill>
          </a:ln>
        </p:spPr>
        <p:txBody>
          <a:bodyPr/>
          <a:p/>
        </p:txBody>
      </p:sp>
      <p:sp>
        <p:nvSpPr>
          <p:cNvPr id="5" name="Text 3"/>
          <p:cNvSpPr txBox="1"/>
          <p:nvPr/>
        </p:nvSpPr>
        <p:spPr>
          <a:xfrm>
            <a:off x="960120" y="2194560"/>
            <a:ext cx="10271455" cy="2948940"/>
          </a:xfrm>
          <a:prstGeom prst="rect">
            <a:avLst/>
          </a:prstGeom>
          <a:noFill/>
          <a:ln/>
        </p:spPr>
        <p:txBody>
          <a:bodyPr wrap="square" lIns="0" tIns="0" rIns="0" bIns="0" rtlCol="0" anchor="t"/>
          <a:lstStyle/>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function logRequest(req, res, next)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console.log(`${req.method} ${req.url}`);</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next();</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function validateNoteBody(req, res, next)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if (!req.body.title)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return res.status(400).json({ error: "Title required."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next();</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a:p>
            <a:pPr indent="0" marL="0">
              <a:lnSpc>
                <a:spcPct val="125000"/>
              </a:lnSpc>
              <a:buNone/>
            </a:pP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app.post("/api/notes", logRequest, validateNoteBody, (req, res) =&gt;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  res.status(201).json({ message: "Note created" });</a:t>
            </a:r>
            <a:endParaRPr lang="en-US" sz="1000" dirty="0"/>
          </a:p>
          <a:p>
            <a:pPr indent="0" marL="0">
              <a:lnSpc>
                <a:spcPct val="125000"/>
              </a:lnSpc>
              <a:buNone/>
            </a:pPr>
            <a:r>
              <a:rPr lang="en-US" sz="1000" dirty="0">
                <a:solidFill>
                  <a:srgbClr val="1F2429"/>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640080" y="5600700"/>
            <a:ext cx="10911535" cy="6629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Small, single-purpose middleware chained together is one of the biggest reasons Express apps stay readable as they grow.</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21 in Seven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529046"/>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Middleware functions run in a chain (the request/response pipeline) for each incoming request, in the order they are registered.</a:t>
            </a:r>
            <a:endParaRPr lang="en-US" sz="1250" dirty="0"/>
          </a:p>
        </p:txBody>
      </p:sp>
      <p:sp>
        <p:nvSpPr>
          <p:cNvPr id="7" name="Shape 5"/>
          <p:cNvSpPr/>
          <p:nvPr/>
        </p:nvSpPr>
        <p:spPr>
          <a:xfrm>
            <a:off x="822960" y="2860766"/>
            <a:ext cx="438912" cy="438912"/>
          </a:xfrm>
          <a:prstGeom prst="ellipse">
            <a:avLst/>
          </a:prstGeom>
          <a:solidFill>
            <a:srgbClr val="FF8A3D"/>
          </a:solidFill>
          <a:ln/>
        </p:spPr>
        <p:txBody>
          <a:bodyPr/>
          <a:p/>
        </p:txBody>
      </p:sp>
      <p:sp>
        <p:nvSpPr>
          <p:cNvPr id="8" name="Text 6"/>
          <p:cNvSpPr txBox="1"/>
          <p:nvPr/>
        </p:nvSpPr>
        <p:spPr>
          <a:xfrm>
            <a:off x="822960" y="286076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769326"/>
            <a:ext cx="10058400" cy="529046"/>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Every middleware function receives (req, res, next); it must call next() or end the response, or the request will hang.</a:t>
            </a:r>
            <a:endParaRPr lang="en-US" sz="1250" dirty="0"/>
          </a:p>
        </p:txBody>
      </p:sp>
      <p:sp>
        <p:nvSpPr>
          <p:cNvPr id="10" name="Shape 8"/>
          <p:cNvSpPr/>
          <p:nvPr/>
        </p:nvSpPr>
        <p:spPr>
          <a:xfrm>
            <a:off x="822960" y="3435531"/>
            <a:ext cx="438912" cy="438912"/>
          </a:xfrm>
          <a:prstGeom prst="ellipse">
            <a:avLst/>
          </a:prstGeom>
          <a:solidFill>
            <a:srgbClr val="FF8A3D"/>
          </a:solidFill>
          <a:ln/>
        </p:spPr>
        <p:txBody>
          <a:bodyPr/>
          <a:p/>
        </p:txBody>
      </p:sp>
      <p:sp>
        <p:nvSpPr>
          <p:cNvPr id="11" name="Text 9"/>
          <p:cNvSpPr txBox="1"/>
          <p:nvPr/>
        </p:nvSpPr>
        <p:spPr>
          <a:xfrm>
            <a:off x="822960" y="3435531"/>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344091"/>
            <a:ext cx="10058400" cy="529046"/>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Application-level middleware (app.use()) applies globally or to a path prefix; router-level middleware applies only within an express.Router().</a:t>
            </a:r>
            <a:endParaRPr lang="en-US" sz="1250" dirty="0"/>
          </a:p>
        </p:txBody>
      </p:sp>
      <p:sp>
        <p:nvSpPr>
          <p:cNvPr id="13" name="Shape 11"/>
          <p:cNvSpPr/>
          <p:nvPr/>
        </p:nvSpPr>
        <p:spPr>
          <a:xfrm>
            <a:off x="822960" y="4010297"/>
            <a:ext cx="438912" cy="438912"/>
          </a:xfrm>
          <a:prstGeom prst="ellipse">
            <a:avLst/>
          </a:prstGeom>
          <a:solidFill>
            <a:srgbClr val="FF8A3D"/>
          </a:solidFill>
          <a:ln/>
        </p:spPr>
        <p:txBody>
          <a:bodyPr/>
          <a:p/>
        </p:txBody>
      </p:sp>
      <p:sp>
        <p:nvSpPr>
          <p:cNvPr id="14" name="Text 12"/>
          <p:cNvSpPr txBox="1"/>
          <p:nvPr/>
        </p:nvSpPr>
        <p:spPr>
          <a:xfrm>
            <a:off x="822960" y="4010297"/>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3918857"/>
            <a:ext cx="10058400" cy="529046"/>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Error-handling middleware has four parameters, (err, req, res, next), must be registered last, and is reached via next(err).</a:t>
            </a:r>
            <a:endParaRPr lang="en-US" sz="1250" dirty="0"/>
          </a:p>
        </p:txBody>
      </p:sp>
      <p:sp>
        <p:nvSpPr>
          <p:cNvPr id="16" name="Shape 14"/>
          <p:cNvSpPr/>
          <p:nvPr/>
        </p:nvSpPr>
        <p:spPr>
          <a:xfrm>
            <a:off x="822960" y="4585063"/>
            <a:ext cx="438912" cy="438912"/>
          </a:xfrm>
          <a:prstGeom prst="ellipse">
            <a:avLst/>
          </a:prstGeom>
          <a:solidFill>
            <a:srgbClr val="FF8A3D"/>
          </a:solidFill>
          <a:ln/>
        </p:spPr>
        <p:txBody>
          <a:bodyPr/>
          <a:p/>
        </p:txBody>
      </p:sp>
      <p:sp>
        <p:nvSpPr>
          <p:cNvPr id="17" name="Text 15"/>
          <p:cNvSpPr txBox="1"/>
          <p:nvPr/>
        </p:nvSpPr>
        <p:spPr>
          <a:xfrm>
            <a:off x="822960" y="4585063"/>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493623"/>
            <a:ext cx="10058400" cy="529046"/>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Express ships with built-in middleware like express.json(), express.urlencoded(), and express.static().</a:t>
            </a:r>
            <a:endParaRPr lang="en-US" sz="1250" dirty="0"/>
          </a:p>
        </p:txBody>
      </p:sp>
      <p:sp>
        <p:nvSpPr>
          <p:cNvPr id="19" name="Shape 17"/>
          <p:cNvSpPr/>
          <p:nvPr/>
        </p:nvSpPr>
        <p:spPr>
          <a:xfrm>
            <a:off x="822960" y="5159829"/>
            <a:ext cx="438912" cy="438912"/>
          </a:xfrm>
          <a:prstGeom prst="ellipse">
            <a:avLst/>
          </a:prstGeom>
          <a:solidFill>
            <a:srgbClr val="FF8A3D"/>
          </a:solidFill>
          <a:ln/>
        </p:spPr>
        <p:txBody>
          <a:bodyPr/>
          <a:p/>
        </p:txBody>
      </p:sp>
      <p:sp>
        <p:nvSpPr>
          <p:cNvPr id="20" name="Text 18"/>
          <p:cNvSpPr txBox="1"/>
          <p:nvPr/>
        </p:nvSpPr>
        <p:spPr>
          <a:xfrm>
            <a:off x="822960" y="5159829"/>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068389"/>
            <a:ext cx="10058400" cy="529046"/>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Third-party middleware such as morgan (logging) and cors (cross-origin requests) are installed from npm and plugged in the same way.</a:t>
            </a:r>
            <a:endParaRPr lang="en-US" sz="1250" dirty="0"/>
          </a:p>
        </p:txBody>
      </p:sp>
      <p:sp>
        <p:nvSpPr>
          <p:cNvPr id="22" name="Shape 20"/>
          <p:cNvSpPr/>
          <p:nvPr/>
        </p:nvSpPr>
        <p:spPr>
          <a:xfrm>
            <a:off x="822960" y="5734594"/>
            <a:ext cx="438912" cy="438912"/>
          </a:xfrm>
          <a:prstGeom prst="ellipse">
            <a:avLst/>
          </a:prstGeom>
          <a:solidFill>
            <a:srgbClr val="FF8A3D"/>
          </a:solidFill>
          <a:ln/>
        </p:spPr>
        <p:txBody>
          <a:bodyPr/>
          <a:p/>
        </p:txBody>
      </p:sp>
      <p:sp>
        <p:nvSpPr>
          <p:cNvPr id="23" name="Text 21"/>
          <p:cNvSpPr txBox="1"/>
          <p:nvPr/>
        </p:nvSpPr>
        <p:spPr>
          <a:xfrm>
            <a:off x="822960" y="573459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4" name="Text 22"/>
          <p:cNvSpPr txBox="1"/>
          <p:nvPr/>
        </p:nvSpPr>
        <p:spPr>
          <a:xfrm>
            <a:off x="1463040" y="5643154"/>
            <a:ext cx="10058400" cy="529046"/>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Writing your own middleware — for logging, validation, or authentication — is one of the most common and powerful patterns in Express development.</a:t>
            </a:r>
            <a:endParaRPr lang="en-US" sz="1250" dirty="0"/>
          </a:p>
        </p:txBody>
      </p:sp>
      <p:sp>
        <p:nvSpPr>
          <p:cNvPr id="27"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21: Middleware</dc:title>
  <dc:subject>CSC336 Web Technologies</dc:subject>
  <dc:creator>Usman Akram</dc:creator>
  <cp:lastModifiedBy>Usman Akram</cp:lastModifiedBy>
  <cp:revision>1</cp:revision>
  <dcterms:created xsi:type="dcterms:W3CDTF">2026-09-22T05:49:18Z</dcterms:created>
  <dcterms:modified xsi:type="dcterms:W3CDTF">2026-09-22T05:49:18Z</dcterms:modified>
</cp:coreProperties>
</file>
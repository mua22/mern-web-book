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uinotes.co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uinotes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uinotes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uinotes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uinotes.co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uinotes.co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uinotes.com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uinotes.com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uinotes.com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cuinotes.com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cuinotes.com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uinotes.com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cuinotes.com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 Node/Express app to PostgreSQL and MongoDB — and choosing the right shape for your data.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relational (PostgreSQL) and document (MongoDB) data models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898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689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6167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to choose the right database for a given project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4137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413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3406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database connection, understand connection strings, and connection pooling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1376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137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645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CRUD operations from server-side code in both MongoDB and PostgreSQL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8615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486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7884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collections/schemas and add basic validation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5854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5800" y="5585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5123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environment variables safely and handle database errors properly</a:t>
            </a:r>
            <a:endParaRPr lang="en-US" sz="150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Database?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dedicated to storing, organizing, and retrieving data reliably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 the data survives — "persists" — beyond the life of the program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you'll meet constantly: relational (PostgreSQL, MySQL) and document (MongoDB)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PostgreSQL: Tables and Foreign Keys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91840"/>
          </a:xfrm>
          <a:prstGeom prst="roundRect">
            <a:avLst>
              <a:gd name="adj" fmla="val 222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users table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id | name    | email             |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|----|---------|-------------------|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1  | Ayesha  | ayesha@email.com  |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2  | Bilal   | bilal@email.com   |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orders table (references users via user_id)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id | user_id | total |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|----|---------|-------|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1  | 1       | 45.00 |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2  | 1       | 12.50 |</a:t>
            </a:r>
            <a:endParaRPr lang="en-US" sz="1309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86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matches rows across tables using the foreign key — here, orders.user_id points back to users.id.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MongoDB: Flexible JSON-Like Documents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15640"/>
          </a:xfrm>
          <a:prstGeom prst="roundRect">
            <a:avLst>
              <a:gd name="adj" fmla="val 2275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document in the "users" collection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"_id": "64f1a2b3c4d5e6f7a8b9c0d1",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"Ayesha",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"ayesha@email.com",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"orders": [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"total": 45.00, "date": "2024-01-15"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"total": 12.50, "date": "2024-02-02"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10200"/>
            <a:ext cx="10911535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Ayesha's orders live inside her own document — no separate table, no JOIN needed to read them together.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VS. DOCUMENT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Very Different Shapes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154680" y="3246120"/>
            <a:ext cx="9144" cy="54864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2240280" y="337413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/ JOIN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48056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9264" y="1965960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(PostgreSQL)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965960"/>
            <a:ext cx="4599432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364224" y="1965960"/>
            <a:ext cx="4489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(MongoDB)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423160"/>
            <a:ext cx="4480560" cy="82296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9264" y="2423160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| name | email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794760"/>
            <a:ext cx="4480560" cy="82296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69264" y="3794760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table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| user_id | total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423160"/>
            <a:ext cx="4599432" cy="2194560"/>
          </a:xfrm>
          <a:prstGeom prst="rect">
            <a:avLst/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364224" y="2423160"/>
            <a:ext cx="44897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collection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name, email,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orders: [ {...}, {...} ] }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(orders embedded directly)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89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lives in separate tables joined by foreign keys; document data is often embedded directly inside the parent document — no join needed.</a:t>
            </a:r>
            <a:endParaRPr lang="en-US" sz="1250" dirty="0"/>
          </a:p>
        </p:txBody>
      </p:sp>
      <p:sp>
        <p:nvSpPr>
          <p:cNvPr id="1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TWO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vs. Document, Side by Side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389120"/>
                <a:gridCol w="4419295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(PostgreSQL)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(MongoDB)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 with fixed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 of flexible JSON-like documents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— defined up front, enforced by the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— documents in the same collection can differ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keys + JOINs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(nested data) or manual references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structure, strong consistency (banking, inventory)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Naturally nested, evolving data (profiles, catalogs)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Query Language (JS-like methods)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 style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Traditionally scales up; modern versions scale out too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 from the start to scale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TWO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Terminology: SQL vs. NoSQL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E9EDFB"/>
          </a:solidFill>
          <a:ln w="12700">
            <a:solidFill>
              <a:srgbClr val="6C7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PostgreSQL/MySQL are often called SQL databases, after their query language. MongoDB is called a NoSQL database — "not only SQL" — a broad category that includes document, key-value, and other non-relational databases.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DATABASE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There's No Universal "Best"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1468" cy="4114800"/>
          </a:xfrm>
          <a:prstGeom prst="roundRect">
            <a:avLst>
              <a:gd name="adj" fmla="val 2000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96112" y="2194560"/>
            <a:ext cx="4829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POSTGRESQL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51760"/>
            <a:ext cx="48294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has a clear, stable structure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entities matter a lot — orders belong to customers, who belong to a store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strong consistency guarantees, e.g. financial transactions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0148" y="1965960"/>
            <a:ext cx="5341468" cy="4114800"/>
          </a:xfrm>
          <a:prstGeom prst="roundRect">
            <a:avLst>
              <a:gd name="adj" fmla="val 2000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66180" y="2194560"/>
            <a:ext cx="4829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MONGODB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66180" y="2651760"/>
            <a:ext cx="48294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naturally nested or hierarchical — a blog post with embedded comments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is likely to evolve quickly during early development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mostly read/write whole "documents" at once — a user profile with all its settings</a:t>
            </a:r>
            <a:endParaRPr lang="en-US" sz="12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DATABASE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Real Systems Use Both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80000"/>
          </a:xfrm>
          <a:prstGeom prst="roundRect">
            <a:avLst>
              <a:gd name="adj" fmla="val 3000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3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for structured, transactional data (like payments), and a document database for flexible content (like product catalogs or activity logs). Choosing a database is a design decision per use case, not a one-time choice for the whole company.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Drivers and Connection Strings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 is a library that knows how to speak a database's network protocol — mongodb (or mongoose) for MongoDB, pg for PostgreSQL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connection string (URI) packs together protocol, host, port, database name, and credentials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server passes this string to the driver once, at startup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 String Formats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348740"/>
          </a:xfrm>
          <a:prstGeom prst="roundRect">
            <a:avLst>
              <a:gd name="adj" fmla="val 542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mongodb://username:password@localhost:27017/myAppDB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postgresql://username:password@localhost:5432/myAppDB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Hard-Code Credentials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80000"/>
          </a:xfrm>
          <a:prstGeom prst="roundRect">
            <a:avLst>
              <a:gd name="adj" fmla="val 2609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3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sees your source code — including everyone on GitHub, if the repo is public — sees the password too. Always add .env to your .gitignore file; committing real credentials to Git, even a private repo, is one of the most common causes of security breaches in student and professional projects alike.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.env File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615440"/>
          </a:xfrm>
          <a:prstGeom prst="roundRect">
            <a:avLst>
              <a:gd name="adj" fmla="val 45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 (never commit this file to Git)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MONGO_URI=mongodb://localhost:27017/myAppDB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PG_CONNECTION_STRING=postgresql://user:pass@localhost:5432/myAppDB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PORT=3000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Environment Variables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615440"/>
          </a:xfrm>
          <a:prstGeom prst="roundRect">
            <a:avLst>
              <a:gd name="adj" fmla="val 45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 the very top of your entry file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require("dotenv").config();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console.log(process.env.MONGO_URI);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10000"/>
            <a:ext cx="10911535" cy="245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dotenv first — it reads .env into process.env at runtime.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MONGODB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MongoClient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MongoClient } = require("mongodb");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require("dotenv").config();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client = new MongoClient(process.env.MONGO_URI);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main() {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client.connect();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console.log("Connected to MongoDB");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db = client.db("myAppDB");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db;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main().catch(console.error);</a:t>
            </a:r>
            <a:endParaRPr lang="en-US" sz="1366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PostgreSQL: Pool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91840"/>
          </a:xfrm>
          <a:prstGeom prst="roundRect">
            <a:avLst>
              <a:gd name="adj" fmla="val 222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Pool } = require("pg");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require("dotenv").config();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pool = new Pool({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connectionString: process.env.PG_CONNECTION_STRING,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max: 10, // max connections kept in the pool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getUsers()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result = await pool.query("SELECT * FROM users");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result.rows;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86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new connection per query is slow; both drivers reuse a pool of already-open connections instead.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Pools Too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80000"/>
          </a:xfrm>
          <a:prstGeom prst="roundRect">
            <a:avLst>
              <a:gd name="adj" fmla="val 3529"/>
            </a:avLst>
          </a:prstGeom>
          <a:solidFill>
            <a:srgbClr val="E9EDFB"/>
          </a:solidFill>
          <a:ln w="12700">
            <a:solidFill>
              <a:srgbClr val="6C7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3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MongoDB's driver also manages a connection pool internally — by default, up to 100 connections — even though you only call client.connect() once. You rarely need to configure this yourself outside a high-traffic production app.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Borrowing a Connection from the Pool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requests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20051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922971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014411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hands out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existing one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2942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205862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297302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runs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85833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88753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580193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returns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68724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771644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863084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releases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back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343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pool is a set of already-open connections, reused across many queries instead of opened fresh each time.</a:t>
            </a:r>
            <a:endParaRPr lang="en-US" sz="13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MONGODB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and Read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91840"/>
          </a:xfrm>
          <a:prstGeom prst="roundRect">
            <a:avLst>
              <a:gd name="adj" fmla="val 222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users = db.collection("users");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result = await users.insertOne({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"Ayesha", email: "ayesha@email.com", age: 21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oneUser = await users.findOne({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"ayesha@email.com"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adults = await users.find({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{ $gte: 18 }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}).toArray();</a:t>
            </a:r>
            <a:endParaRPr lang="en-US" sz="1029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86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insertedId comes back on the result; find() returns a cursor — toArray() collects every match.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MONGODB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and Delete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15640"/>
          </a:xfrm>
          <a:prstGeom prst="roundRect">
            <a:avLst>
              <a:gd name="adj" fmla="val 2275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users.updateOne(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email: "ayesha@email.com"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$set: { age: 22 }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users.deleteOne({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"ayesha@email.com"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10200"/>
            <a:ext cx="10911535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$set only touches the fields you list — every other field on the document is left alone.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POSTGRESQL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and Read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91840"/>
          </a:xfrm>
          <a:prstGeom prst="roundRect">
            <a:avLst>
              <a:gd name="adj" fmla="val 222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result = await pool.query(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"INSERT INTO users (name, email, age)" +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 VALUES ($1, $2, $3) RETURNING id",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["Ayesha", "ayesha@email.com", 21]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oneUser = await pool.query(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"SELECT * FROM users WHERE email = $1",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["ayesha@email.com"]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86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 $2, $3 are placeholders — the driver safely substitutes the array values.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POSTGRESQL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and Delete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482340"/>
          </a:xfrm>
          <a:prstGeom prst="roundRect">
            <a:avLst>
              <a:gd name="adj" fmla="val 210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025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pool.query(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"UPDATE users SET age = $1 WHERE email = $2",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[22, "ayesha@email.com"]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pool.query(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"DELETE FROM users WHERE email = $1",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["ayesha@email.com"]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IN POSTGRESQL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Use Parameterized Queries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80000"/>
          </a:xfrm>
          <a:prstGeom prst="roundRect">
            <a:avLst>
              <a:gd name="adj" fmla="val 2609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3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queries by concatenating strings opens the door to SQL injection, letting an attacker smuggle their own SQL commands through user input. The MongoDB driver's object-based query syntax is naturally safer the same way, as long as you don't build queries from raw, unvalidated strings yourself.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Your Structure Deliberately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doesn't force a rigid schema, but you should still decide what fields exist, their types, and whether related data is embedded or referenced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also supports optional schema validation at the database level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enforces structure automatically, through the table definition itself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Schema Validation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482340"/>
          </a:xfrm>
          <a:prstGeom prst="roundRect">
            <a:avLst>
              <a:gd name="adj" fmla="val 210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025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db.createCollection("users",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validator: { $jsonSchema: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bsonType: "object",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required: ["name", "email"],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properties: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name: { bsonType: "string"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email: { bsonType: "string", pattern: "^.+@.+$"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age: { bsonType: "int", minimum: 0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Table Definition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148840"/>
          </a:xfrm>
          <a:prstGeom prst="roundRect">
            <a:avLst>
              <a:gd name="adj" fmla="val 340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users (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SERIAL PRIMARY KEY,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VARCHAR(100) NOT NULL,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VARCHAR(150) UNIQUE NOT NULL,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 INTEGER CHECK (age &gt;= 0)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Wrap Database Calls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15640"/>
          </a:xfrm>
          <a:prstGeom prst="roundRect">
            <a:avLst>
              <a:gd name="adj" fmla="val 2275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app.post("/api/users", async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result = await usersCollection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.insertOne(req.body);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res.status(201).json({ id: result.insertedId 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console.error("Database error:", err.message);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res.status(500).json({ error: "Could not create user." 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10200"/>
            <a:ext cx="10911535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assume a database call succeeds — the network can drop, a constraint can fail, or the server can be down.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Leak Raw Errors to the Client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000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database error messages can leak details about your schema or internal setup. Log the full error on the server, and send the client a short, generic message instead.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22 in Six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 (PostgreSQL) use tables, fixed schemas, and JOINs; document databases (MongoDB) use flexible, JSON-like documents, often embedding related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5656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956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6512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based on your data's shape and your app's needs — structured/relational data favors PostgreSQL, nested/evolving data favors MongoDB.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2712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627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3568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connection string tells your driver how to reach the database; a connection pool reuses connections instead of opening a new one per query.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0624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credentials out of your source code — use environment variables and a .env file, never committed to Git.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96824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968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7680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look different in MongoDB (insertOne, find) versus PostgreSQL (SQL via pool.query), but the underlying goal is the same.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6388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63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5473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parameterized queries to prevent SQL injection, and always wrap database calls in try/catch with sensible error responses.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22: Database Connectivity with PostgreSQL / MongoDB</dc:title>
  <dc:subject>CSC336 Web Technologies</dc:subject>
  <dc:creator>Usman Akram</dc:creator>
  <cp:lastModifiedBy>Usman Akram</cp:lastModifiedBy>
  <cp:revision>1</cp:revision>
  <dcterms:created xsi:type="dcterms:W3CDTF">2026-09-22T05:49:18Z</dcterms:created>
  <dcterms:modified xsi:type="dcterms:W3CDTF">2026-09-22T05:49:18Z</dcterms:modified>
</cp:coreProperties>
</file>
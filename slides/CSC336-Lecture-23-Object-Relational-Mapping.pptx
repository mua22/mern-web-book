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23</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Object Relational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Mapping (ORM / ODM)</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Trading raw driver calls for objects and methods — Mongoose, schemas, and the queries that write themselves.</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What "object-relational mapping" means and why ORMs/ODMs exist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Defining models, schemas, fields, and data types with Mongoose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CRUD through an ORM/ODM: queries, filtering, projection, pagination</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Associations: population in Mongoose, joins/associations in SQL ORMs</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Migrations, seeding, and the trade-offs of using an ORM/ODM</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an ORM/ODM?</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ORM (Object-Relational Mapping): interact with a relational database using objects and methods instead of raw SQL</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ODM (Object-Document Mapper): the same idea for document databases like MongoDB</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Write User.find(...) instead of hand-rolled driver calls</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Mongoose is the most widely used ODM for MongoDB in Node.js; Sequelize and Prisma are popular SQL ORMs</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Where the ORM/ODM Sits</a:t>
            </a:r>
            <a:endParaRPr lang="en-US" sz="3400" dirty="0"/>
          </a:p>
        </p:txBody>
      </p:sp>
      <p:sp>
        <p:nvSpPr>
          <p:cNvPr id="4" name="Shape 2"/>
          <p:cNvSpPr/>
          <p:nvPr/>
        </p:nvSpPr>
        <p:spPr>
          <a:xfrm>
            <a:off x="640080" y="2514600"/>
            <a:ext cx="2350694" cy="1371600"/>
          </a:xfrm>
          <a:prstGeom prst="roundRect">
            <a:avLst>
              <a:gd name="adj" fmla="val 5333"/>
            </a:avLst>
          </a:prstGeom>
          <a:solidFill>
            <a:srgbClr val="2B2B7A"/>
          </a:solidFill>
          <a:ln/>
        </p:spPr>
      </p:sp>
      <p:sp>
        <p:nvSpPr>
          <p:cNvPr id="5" name="Text 3"/>
          <p:cNvSpPr txBox="1"/>
          <p:nvPr/>
        </p:nvSpPr>
        <p:spPr>
          <a:xfrm>
            <a:off x="731520"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Your JS Code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User.find(),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post.save()</a:t>
            </a:r>
            <a:endParaRPr lang="en-US" sz="1250" dirty="0"/>
          </a:p>
        </p:txBody>
      </p:sp>
      <p:sp>
        <p:nvSpPr>
          <p:cNvPr id="6" name="Shape 4"/>
          <p:cNvSpPr/>
          <p:nvPr/>
        </p:nvSpPr>
        <p:spPr>
          <a:xfrm>
            <a:off x="2990774" y="3200400"/>
            <a:ext cx="502920" cy="0"/>
          </a:xfrm>
          <a:prstGeom prst="line">
            <a:avLst/>
          </a:prstGeom>
          <a:noFill/>
          <a:ln w="25400">
            <a:solidFill>
              <a:srgbClr val="5D5D72"/>
            </a:solidFill>
            <a:prstDash val="solid"/>
            <a:tailEnd type="triangle"/>
          </a:ln>
        </p:spPr>
      </p:sp>
      <p:sp>
        <p:nvSpPr>
          <p:cNvPr id="7" name="Shape 5"/>
          <p:cNvSpPr/>
          <p:nvPr/>
        </p:nvSpPr>
        <p:spPr>
          <a:xfrm>
            <a:off x="3493694" y="2514600"/>
            <a:ext cx="2350694" cy="1371600"/>
          </a:xfrm>
          <a:prstGeom prst="roundRect">
            <a:avLst>
              <a:gd name="adj" fmla="val 5333"/>
            </a:avLst>
          </a:prstGeom>
          <a:solidFill>
            <a:srgbClr val="2B2B7A"/>
          </a:solidFill>
          <a:ln/>
        </p:spPr>
      </p:sp>
      <p:sp>
        <p:nvSpPr>
          <p:cNvPr id="8" name="Text 6"/>
          <p:cNvSpPr txBox="1"/>
          <p:nvPr/>
        </p:nvSpPr>
        <p:spPr>
          <a:xfrm>
            <a:off x="3585134"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ORM / ODM</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e.g. Mongoose,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Sequelize</a:t>
            </a:r>
            <a:endParaRPr lang="en-US" sz="1250" dirty="0"/>
          </a:p>
        </p:txBody>
      </p:sp>
      <p:sp>
        <p:nvSpPr>
          <p:cNvPr id="9" name="Shape 7"/>
          <p:cNvSpPr/>
          <p:nvPr/>
        </p:nvSpPr>
        <p:spPr>
          <a:xfrm>
            <a:off x="5844388" y="3200400"/>
            <a:ext cx="502920" cy="0"/>
          </a:xfrm>
          <a:prstGeom prst="line">
            <a:avLst/>
          </a:prstGeom>
          <a:noFill/>
          <a:ln w="25400">
            <a:solidFill>
              <a:srgbClr val="5D5D72"/>
            </a:solidFill>
            <a:prstDash val="solid"/>
            <a:tailEnd type="triangle"/>
          </a:ln>
        </p:spPr>
      </p:sp>
      <p:sp>
        <p:nvSpPr>
          <p:cNvPr id="10" name="Shape 8"/>
          <p:cNvSpPr/>
          <p:nvPr/>
        </p:nvSpPr>
        <p:spPr>
          <a:xfrm>
            <a:off x="6347308" y="2514600"/>
            <a:ext cx="2350694" cy="1371600"/>
          </a:xfrm>
          <a:prstGeom prst="roundRect">
            <a:avLst>
              <a:gd name="adj" fmla="val 5333"/>
            </a:avLst>
          </a:prstGeom>
          <a:solidFill>
            <a:srgbClr val="2B2B7A"/>
          </a:solidFill>
          <a:ln/>
        </p:spPr>
      </p:sp>
      <p:sp>
        <p:nvSpPr>
          <p:cNvPr id="11" name="Text 9"/>
          <p:cNvSpPr txBox="1"/>
          <p:nvPr/>
        </p:nvSpPr>
        <p:spPr>
          <a:xfrm>
            <a:off x="6438748"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Driver</a:t>
            </a:r>
            <a:endParaRPr lang="en-US" sz="1250" dirty="0"/>
          </a:p>
        </p:txBody>
      </p:sp>
      <p:sp>
        <p:nvSpPr>
          <p:cNvPr id="12" name="Shape 10"/>
          <p:cNvSpPr/>
          <p:nvPr/>
        </p:nvSpPr>
        <p:spPr>
          <a:xfrm>
            <a:off x="8698001" y="3200400"/>
            <a:ext cx="502920" cy="0"/>
          </a:xfrm>
          <a:prstGeom prst="line">
            <a:avLst/>
          </a:prstGeom>
          <a:noFill/>
          <a:ln w="25400">
            <a:solidFill>
              <a:srgbClr val="5D5D72"/>
            </a:solidFill>
            <a:prstDash val="solid"/>
            <a:tailEnd type="triangle"/>
          </a:ln>
        </p:spPr>
      </p:sp>
      <p:sp>
        <p:nvSpPr>
          <p:cNvPr id="13" name="Shape 11"/>
          <p:cNvSpPr/>
          <p:nvPr/>
        </p:nvSpPr>
        <p:spPr>
          <a:xfrm>
            <a:off x="9200921" y="2514600"/>
            <a:ext cx="2350694" cy="1371600"/>
          </a:xfrm>
          <a:prstGeom prst="roundRect">
            <a:avLst>
              <a:gd name="adj" fmla="val 5333"/>
            </a:avLst>
          </a:prstGeom>
          <a:solidFill>
            <a:srgbClr val="E67528"/>
          </a:solidFill>
          <a:ln/>
        </p:spPr>
      </p:sp>
      <p:sp>
        <p:nvSpPr>
          <p:cNvPr id="14" name="Text 12"/>
          <p:cNvSpPr txBox="1"/>
          <p:nvPr/>
        </p:nvSpPr>
        <p:spPr>
          <a:xfrm>
            <a:off x="9292361"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MongoDB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PostgreSQL</a:t>
            </a:r>
            <a:endParaRPr lang="en-US" sz="1250" dirty="0"/>
          </a:p>
        </p:txBody>
      </p:sp>
      <p:sp>
        <p:nvSpPr>
          <p:cNvPr id="15" name="Text 13"/>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ORM/ODM sits between your application code and the raw database driver, translating object method calls into the queries the driver actually sends.</a:t>
            </a:r>
            <a:endParaRPr lang="en-US" sz="13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Bother With the Extra Layer?</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LESS CODE, MORE STRUCTURE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Common operations (find, save, update, delete) become one-line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Data validation built into the model definition, checked automatically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schema structure even for MongoDB, which enforces none itself</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RELATIONSHIPS &amp; PORTABILITY</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Relationships are easier to define and query (population, associations)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consistent API means switching databases needs smaller code changes</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TERMINOLOGY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"ORM" vs. "ODM"</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"Object-relational mapping" comes from the relational-database world. When people say "ORM" loosely today, they often mean any object-mapping tool, including document-database ODMs like Mongoose. This course uses "ORM/ODM" to be precise, but expect to see "ORM" used for both.</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Schema In, Model Out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schema describes what fields a document should have and what type each field is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 compile a schema into a model — the object you actually use to query and save data</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install mongoose to get started</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Connecting Mongoose</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mongoose = require("mongoose");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require("dotenv").config();</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mongoose.connect(process.env.MONGO_URI)</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 =&gt; console.log("Connected to MongoDB via Mongoose"))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 =&gt; console.error("Connection error:", err));</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Defining a Schema and Model</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 Schema, model } = require("mongoose");</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userSchema = new Schema({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 type: String, required: true, trim: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 type: String, required: true, unique: true, lowercase: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 type: Number, min: 0, max: 120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role: { type: String, enum: ["student", "instructor", "admin"], default: "student"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createdAt: { type: Date, default: Date.now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model("User", userSchema);</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Each Field Defines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type — the data type (String, Number, Boolean, Date, Array, Schema.Types.ObjectId, ...)</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Validation rules — required, min/max, enum (a fixed list of allowed values), or a custom validate function</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Defaults — a value used automatically if none is provided</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Validation Runs Automatically</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Mongoose checks these rules every time you save() or create() a document, and throws a ValidationError if something doesn't match — free validation, no if statements needed for every field.</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COMPARISON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Same Idea in Sequelize (SQL ORM)</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 DataTypes } = require("sequelize");</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sequelize.define("User",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 type: DataTypes.STRING, allowNull: false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 type: DataTypes.STRING, allowNull: false, unique: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 type: DataTypes.INTEGER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concepts map closely: a Mongoose "schema" is roughly Sequelize's "model definition" — both compile down to an object you use to run queries.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CREATE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 Document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newUser = await User.create({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"Bilal",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"bilal@email.com",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20,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Queries and Filtering</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all users matching a filter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students = await User.find({ role: "student"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one user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await User.findOne({ email: "bilal@email.com"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by ID (Mongoose's built-in shortcut for _id)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oneUser = await User.findById("64f1a2b3c4d5e6f7a8b9c0d1");</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Filtering with operators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adults = await User.find({ age: { $gte: 18 } });</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Projection: Choosing Fields</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Only return name and email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emailsOnly = await User.find({}, "name email");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or: User.find().select("name email")</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Projection asks the database to return only specific fields — good for performance, and for avoiding sending sensitive fields (like a hashed password) to the client by accident.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Pagination</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getUsersPage(pageNumber, pageSize = 10)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skip = (pageNumber - 1) * pageSize;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users = await User.find()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.sort({ createdAt: -1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.skip(skip)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.limit(pageSize);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total = await User.countDocuments();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 users, total, page: pageNumber, totalPages: Math.ceil(total / pageSize)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.skip() jumps over already-seen documents; .limit() caps how many come back — together they fetch page 2, page 3, and so 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UPDATE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Updating Documents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Update one document and get the updated version back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updated = await User.findByIdAndUpdate(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"64f1a2b3c4d5e6f7a8b9c0d1",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age: 23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new: true, runValidators: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Update many at once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User.updateMany({ role: "student" }, { $set: { active: true } });</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UPDATE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Validators Are Opt-In on Update</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By default, findByIdAndUpdate does NOT run your schema's validation rules. Always pass { runValidators: true } if you want Mongoose to check required or enum fields during an update, not just during creation.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DELETE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Deleting Documents</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User.findByIdAndDelete("64f1a2b3c4d5e6f7a8b9c0d1");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User.deleteMany({ role: "guest" });</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Population in Mongoose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MongoDB documents can embed related data directly — but a Post shouldn't embed a full copy of its author</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Instead, reference another document by its _id, then populate that reference to pull in the full related document</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Conceptually similar to a SQL JOIN, though implemented as a separate query behind the scenes</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Referencing and Populating</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postSchema = new Schema({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title: { type: String, required: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content: String,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author: { type: Schema.Types.ObjectId, ref: "User"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 = model("Post", postSchema);</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Fetch the post WITH the full author document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 = await Post.findOne({ title: "Learning Mongoose"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.populate("author");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console.log(post.author.name); // "Bilal"</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User Referenced by Many Posts</a:t>
            </a:r>
            <a:endParaRPr lang="en-US" sz="3400" dirty="0"/>
          </a:p>
        </p:txBody>
      </p:sp>
      <p:sp>
        <p:nvSpPr>
          <p:cNvPr id="4" name="Shape 2"/>
          <p:cNvSpPr/>
          <p:nvPr/>
        </p:nvSpPr>
        <p:spPr>
          <a:xfrm>
            <a:off x="4663440" y="3474720"/>
            <a:ext cx="2834640" cy="9144"/>
          </a:xfrm>
          <a:prstGeom prst="line">
            <a:avLst/>
          </a:prstGeom>
          <a:noFill/>
          <a:ln w="25400">
            <a:solidFill>
              <a:srgbClr val="5D5D72"/>
            </a:solidFill>
            <a:prstDash val="solid"/>
            <a:tailEnd type="triangle"/>
          </a:ln>
        </p:spPr>
      </p:sp>
      <p:sp>
        <p:nvSpPr>
          <p:cNvPr id="5" name="Text 3"/>
          <p:cNvSpPr txBox="1"/>
          <p:nvPr/>
        </p:nvSpPr>
        <p:spPr>
          <a:xfrm>
            <a:off x="5166360" y="33284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author of</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(1 : many)</a:t>
            </a:r>
            <a:endParaRPr lang="en-US" sz="1050" dirty="0"/>
          </a:p>
        </p:txBody>
      </p:sp>
      <p:sp>
        <p:nvSpPr>
          <p:cNvPr id="6" name="Shape 4"/>
          <p:cNvSpPr/>
          <p:nvPr/>
        </p:nvSpPr>
        <p:spPr>
          <a:xfrm>
            <a:off x="1371600" y="2377440"/>
            <a:ext cx="3291840" cy="2194560"/>
          </a:xfrm>
          <a:prstGeom prst="rect">
            <a:avLst/>
          </a:prstGeom>
          <a:solidFill>
            <a:srgbClr val="2B2B7A"/>
          </a:solidFill>
          <a:ln/>
        </p:spPr>
      </p:sp>
      <p:sp>
        <p:nvSpPr>
          <p:cNvPr id="7" name="Text 5"/>
          <p:cNvSpPr txBox="1"/>
          <p:nvPr/>
        </p:nvSpPr>
        <p:spPr>
          <a:xfrm>
            <a:off x="1426464" y="2377440"/>
            <a:ext cx="3182112" cy="219456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USER</a:t>
            </a:r>
            <a:endParaRPr lang="en-US" sz="1300" dirty="0"/>
          </a:p>
          <a:p>
            <a:pPr algn="ctr" indent="0" marL="0">
              <a:lnSpc>
                <a:spcPct val="105000"/>
              </a:lnSpc>
              <a:buNone/>
            </a:pP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_id: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name: String</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email: String</a:t>
            </a:r>
            <a:endParaRPr lang="en-US" sz="1300" dirty="0"/>
          </a:p>
        </p:txBody>
      </p:sp>
      <p:sp>
        <p:nvSpPr>
          <p:cNvPr id="8" name="Shape 6"/>
          <p:cNvSpPr/>
          <p:nvPr/>
        </p:nvSpPr>
        <p:spPr>
          <a:xfrm>
            <a:off x="7498080" y="2377440"/>
            <a:ext cx="3291840" cy="2194560"/>
          </a:xfrm>
          <a:prstGeom prst="rect">
            <a:avLst/>
          </a:prstGeom>
          <a:solidFill>
            <a:srgbClr val="E67528"/>
          </a:solidFill>
          <a:ln/>
        </p:spPr>
      </p:sp>
      <p:sp>
        <p:nvSpPr>
          <p:cNvPr id="9" name="Text 7"/>
          <p:cNvSpPr txBox="1"/>
          <p:nvPr/>
        </p:nvSpPr>
        <p:spPr>
          <a:xfrm>
            <a:off x="7552944" y="2377440"/>
            <a:ext cx="3182112" cy="219456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POST</a:t>
            </a:r>
            <a:endParaRPr lang="en-US" sz="1300" dirty="0"/>
          </a:p>
          <a:p>
            <a:pPr algn="ctr" indent="0" marL="0">
              <a:lnSpc>
                <a:spcPct val="105000"/>
              </a:lnSpc>
              <a:buNone/>
            </a:pP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_id: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title: String</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author: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(references User._id)</a:t>
            </a:r>
            <a:endParaRPr lang="en-US" sz="1300" dirty="0"/>
          </a:p>
        </p:txBody>
      </p:sp>
      <p:sp>
        <p:nvSpPr>
          <p:cNvPr id="10" name="Text 8"/>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post.author stores just a User's ObjectId. .populate("author") runs a second query and swaps that ID for the full User document.</a:t>
            </a:r>
            <a:endParaRPr lang="en-US" sz="125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SQL Equivalent: Associations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In a SQL ORM like Sequelize, the equivalent idea is called an association (User.hasMany(Post), Post.belongsTo(User)), and behind the scenes it generates actual SQL JOIN queries.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Migrations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migration is a versioned, scripted change to your database's structure (adding a column, renaming a table)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Migrations can be applied — and ideally reversed — so every environment stays in sync over time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Central to SQL ORMs like Sequelize; MongoDB's flexible documents mean Mongoose doesn't require them formally</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Larger MongoDB projects often still use a dedicated tool (like migrate-mongo) for one-off schema-evolution scripts</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Running a Sequelize Migration</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npx sequelize-cli migration:generate --name add-age-to-users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npx sequelize-cli db:migrate</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Seeding: Loading Sample Data</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seed.js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seed()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mongoose.connect(process.env.MONGO_URI);</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User.deleteMany({}); // clear existing data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User.insertMany([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name: "Ayesha", email: "ayesha@email.com", role: "admin"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name: "Bilal", email: "bilal@email.com", role: "student"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console.log("Database seeded!");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mongoose.disconnect();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seed();</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Convenience vs. Control</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94960"/>
                <a:gridCol w="539496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Benefit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Less boilerplate, faster development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extra layer to learn, on top of the database itself</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Built-in validation and structure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Generated queries can be less efficient for complex cases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Easier to reason about relationships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"Magic" behavior can hide what's really happening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Consistent patterns across a codebase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Sometimes you still need raw queries the ORM doesn't expose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Don't Have to Pick One Approach</a:t>
            </a:r>
            <a:endParaRPr lang="en-US" sz="3400" dirty="0"/>
          </a:p>
        </p:txBody>
      </p:sp>
      <p:sp>
        <p:nvSpPr>
          <p:cNvPr id="4" name="Shape 2"/>
          <p:cNvSpPr/>
          <p:nvPr/>
        </p:nvSpPr>
        <p:spPr>
          <a:xfrm>
            <a:off x="640080" y="1965960"/>
            <a:ext cx="10911535" cy="1737360"/>
          </a:xfrm>
          <a:prstGeom prst="roundRect">
            <a:avLst>
              <a:gd name="adj" fmla="val 3158"/>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Most ORMs/ODMs, including Mongoose, let you drop to raw queries when you need to (.aggregate() for MongoDB's pipeline, for example). Use the ORM for everyday CRUD and drop to raw queries for the rare complex case.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23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An ORM (relational) or ODM (document, e.g. Mongoose) maps your database's data onto objects and methods, cutting repetitive query-writing.</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Mongoose schemas define fields, data types, validation rules, and defaults; a model compiled from a schema is what you actually query with.</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CRUD through Mongoose uses create, find, findByIdAndUpdate, and findByIdAndDelete, plus filtering, projection, and pagination.</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Population (.populate()) resolves a referenced ObjectId into the full related document — Mongoose's answer to SQL joins.</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Migrations version your database structure over time (central to SQL ORMs like Sequelize); seeding loads initial or sample data.</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ORMs/ODMs trade some control and query efficiency for convenience, validation, and consistency — and you can still write raw queries when needed.</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23: Object Relational Mapping (ORM / ODM)</dc:title>
  <dc:subject>CSC336 Web Technologies</dc:subject>
  <dc:creator>Usman Akram</dc:creator>
  <cp:lastModifiedBy>Usman Akram</cp:lastModifiedBy>
  <cp:revision>1</cp:revision>
  <dcterms:created xsi:type="dcterms:W3CDTF">2026-09-22T05:49:18Z</dcterms:created>
  <dcterms:modified xsi:type="dcterms:W3CDTF">2026-09-22T05:49:18Z</dcterms:modified>
</cp:coreProperties>
</file>
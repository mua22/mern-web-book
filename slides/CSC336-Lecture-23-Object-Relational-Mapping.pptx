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cuinotes.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cuinotes.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hyperlink" Target="https://cuinotes.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cuinotes.com"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cuinotes.com"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cuinotes.co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hyperlink" Target="https://cuinotes.co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hyperlink" Target="https://cuinotes.co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cuinotes.co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cuinote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cuinotes.co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cuinote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cuinote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cuinote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cuinote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cuinote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cuinote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cuinotes.com"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cuinotes.co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hyperlink" Target="https://cuinotes.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hyperlink" Target="https://cuinotes.com"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cuinotes.com"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cuinote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cuinote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cuinotes.com"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cuinotes.com"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hyperlink" Target="https://cuinotes.co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cuinotes.com"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cuinotes.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23</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Object Relational</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Mapping (ORM / ODM)</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Trading raw driver calls for objects and methods — Mongoose, schemas, and the queries that write themselves.</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What "object-relational mapping" means and why ORMs/ODMs exist</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Defining models, schemas, fields, and data types with Mongoose</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CRUD through an ORM/ODM: queries, filtering, projection, pagination</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Associations: population in Mongoose, joins/associations in SQL ORMs</a:t>
            </a:r>
            <a:endParaRPr lang="en-US" sz="1500" dirty="0"/>
          </a:p>
        </p:txBody>
      </p:sp>
      <p:sp>
        <p:nvSpPr>
          <p:cNvPr id="16" name="Shape 14"/>
          <p:cNvSpPr/>
          <p:nvPr/>
        </p:nvSpPr>
        <p:spPr>
          <a:xfrm>
            <a:off x="685800" y="5257800"/>
            <a:ext cx="457200" cy="457200"/>
          </a:xfrm>
          <a:prstGeom prst="ellipse">
            <a:avLst/>
          </a:prstGeom>
          <a:solidFill>
            <a:srgbClr val="FF8A3D"/>
          </a:solidFill>
          <a:ln/>
        </p:spPr>
        <p:txBody>
          <a:bodyPr/>
          <a:p/>
        </p:txBody>
      </p:sp>
      <p:sp>
        <p:nvSpPr>
          <p:cNvPr id="17" name="Text 15"/>
          <p:cNvSpPr txBox="1"/>
          <p:nvPr/>
        </p:nvSpPr>
        <p:spPr>
          <a:xfrm>
            <a:off x="685800" y="5257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518464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Migrations, seeding, and the trade-offs of using an ORM/ODM</a:t>
            </a:r>
            <a:endParaRPr lang="en-US" sz="1500" dirty="0"/>
          </a:p>
        </p:txBody>
      </p:sp>
      <p:sp>
        <p:nvSpPr>
          <p:cNvPr id="2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BIG IDEA</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an ORM/ODM?</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ORM (Object-Relational Mapping): interact with a relational database using objects and methods instead of raw SQL</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ODM (Object-Document Mapper): the same idea for document databases like MongoDB</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Write User.find(...) instead of hand-rolled driver calls</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Mongoose is the most widely used ODM for MongoDB in Node.js; Sequelize and Prisma are popular SQL ORMs</a:t>
            </a:r>
            <a:endParaRPr lang="en-US" sz="1500" dirty="0"/>
          </a:p>
        </p:txBody>
      </p:sp>
      <p:sp>
        <p:nvSpPr>
          <p:cNvPr id="1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BIG IDEA</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Where the ORM/ODM Sits</a:t>
            </a:r>
            <a:endParaRPr lang="en-US" sz="3400" dirty="0"/>
          </a:p>
        </p:txBody>
      </p:sp>
      <p:sp>
        <p:nvSpPr>
          <p:cNvPr id="4" name="Shape 2"/>
          <p:cNvSpPr/>
          <p:nvPr/>
        </p:nvSpPr>
        <p:spPr>
          <a:xfrm>
            <a:off x="640080" y="2514600"/>
            <a:ext cx="2350694" cy="1371600"/>
          </a:xfrm>
          <a:prstGeom prst="roundRect">
            <a:avLst>
              <a:gd name="adj" fmla="val 5333"/>
            </a:avLst>
          </a:prstGeom>
          <a:solidFill>
            <a:srgbClr val="2B2B7A"/>
          </a:solidFill>
          <a:ln/>
        </p:spPr>
        <p:txBody>
          <a:bodyPr/>
          <a:p/>
        </p:txBody>
      </p:sp>
      <p:sp>
        <p:nvSpPr>
          <p:cNvPr id="5" name="Text 3"/>
          <p:cNvSpPr txBox="1"/>
          <p:nvPr/>
        </p:nvSpPr>
        <p:spPr>
          <a:xfrm>
            <a:off x="731520" y="2624328"/>
            <a:ext cx="2167814"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Your JS Code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User.find(),</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post.save()</a:t>
            </a:r>
            <a:endParaRPr lang="en-US" sz="1250" dirty="0"/>
          </a:p>
        </p:txBody>
      </p:sp>
      <p:sp>
        <p:nvSpPr>
          <p:cNvPr id="6" name="Shape 4"/>
          <p:cNvSpPr/>
          <p:nvPr/>
        </p:nvSpPr>
        <p:spPr>
          <a:xfrm>
            <a:off x="2990774" y="3200400"/>
            <a:ext cx="502920" cy="0"/>
          </a:xfrm>
          <a:prstGeom prst="line">
            <a:avLst/>
          </a:prstGeom>
          <a:noFill/>
          <a:ln w="25400">
            <a:solidFill>
              <a:srgbClr val="5D5D72"/>
            </a:solidFill>
            <a:prstDash val="solid"/>
            <a:tailEnd type="triangle"/>
          </a:ln>
        </p:spPr>
        <p:txBody>
          <a:bodyPr/>
          <a:p/>
        </p:txBody>
      </p:sp>
      <p:sp>
        <p:nvSpPr>
          <p:cNvPr id="7" name="Shape 5"/>
          <p:cNvSpPr/>
          <p:nvPr/>
        </p:nvSpPr>
        <p:spPr>
          <a:xfrm>
            <a:off x="3493694" y="2514600"/>
            <a:ext cx="2350694" cy="1371600"/>
          </a:xfrm>
          <a:prstGeom prst="roundRect">
            <a:avLst>
              <a:gd name="adj" fmla="val 5333"/>
            </a:avLst>
          </a:prstGeom>
          <a:solidFill>
            <a:srgbClr val="2B2B7A"/>
          </a:solidFill>
          <a:ln/>
        </p:spPr>
        <p:txBody>
          <a:bodyPr/>
          <a:p/>
        </p:txBody>
      </p:sp>
      <p:sp>
        <p:nvSpPr>
          <p:cNvPr id="8" name="Text 6"/>
          <p:cNvSpPr txBox="1"/>
          <p:nvPr/>
        </p:nvSpPr>
        <p:spPr>
          <a:xfrm>
            <a:off x="3585134" y="2624328"/>
            <a:ext cx="2167814"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ORM / ODM</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e.g. Mongoose,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Sequelize</a:t>
            </a:r>
            <a:endParaRPr lang="en-US" sz="1250" dirty="0"/>
          </a:p>
        </p:txBody>
      </p:sp>
      <p:sp>
        <p:nvSpPr>
          <p:cNvPr id="9" name="Shape 7"/>
          <p:cNvSpPr/>
          <p:nvPr/>
        </p:nvSpPr>
        <p:spPr>
          <a:xfrm>
            <a:off x="5844388" y="3200400"/>
            <a:ext cx="502920" cy="0"/>
          </a:xfrm>
          <a:prstGeom prst="line">
            <a:avLst/>
          </a:prstGeom>
          <a:noFill/>
          <a:ln w="25400">
            <a:solidFill>
              <a:srgbClr val="5D5D72"/>
            </a:solidFill>
            <a:prstDash val="solid"/>
            <a:tailEnd type="triangle"/>
          </a:ln>
        </p:spPr>
        <p:txBody>
          <a:bodyPr/>
          <a:p/>
        </p:txBody>
      </p:sp>
      <p:sp>
        <p:nvSpPr>
          <p:cNvPr id="10" name="Shape 8"/>
          <p:cNvSpPr/>
          <p:nvPr/>
        </p:nvSpPr>
        <p:spPr>
          <a:xfrm>
            <a:off x="6347308" y="2514600"/>
            <a:ext cx="2350694" cy="1371600"/>
          </a:xfrm>
          <a:prstGeom prst="roundRect">
            <a:avLst>
              <a:gd name="adj" fmla="val 5333"/>
            </a:avLst>
          </a:prstGeom>
          <a:solidFill>
            <a:srgbClr val="2B2B7A"/>
          </a:solidFill>
          <a:ln/>
        </p:spPr>
        <p:txBody>
          <a:bodyPr/>
          <a:p/>
        </p:txBody>
      </p:sp>
      <p:sp>
        <p:nvSpPr>
          <p:cNvPr id="11" name="Text 9"/>
          <p:cNvSpPr txBox="1"/>
          <p:nvPr/>
        </p:nvSpPr>
        <p:spPr>
          <a:xfrm>
            <a:off x="6438748" y="2624328"/>
            <a:ext cx="2167814"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Database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Driver</a:t>
            </a:r>
            <a:endParaRPr lang="en-US" sz="1250" dirty="0"/>
          </a:p>
        </p:txBody>
      </p:sp>
      <p:sp>
        <p:nvSpPr>
          <p:cNvPr id="12" name="Shape 10"/>
          <p:cNvSpPr/>
          <p:nvPr/>
        </p:nvSpPr>
        <p:spPr>
          <a:xfrm>
            <a:off x="8698001" y="3200400"/>
            <a:ext cx="502920" cy="0"/>
          </a:xfrm>
          <a:prstGeom prst="line">
            <a:avLst/>
          </a:prstGeom>
          <a:noFill/>
          <a:ln w="25400">
            <a:solidFill>
              <a:srgbClr val="5D5D72"/>
            </a:solidFill>
            <a:prstDash val="solid"/>
            <a:tailEnd type="triangle"/>
          </a:ln>
        </p:spPr>
        <p:txBody>
          <a:bodyPr/>
          <a:p/>
        </p:txBody>
      </p:sp>
      <p:sp>
        <p:nvSpPr>
          <p:cNvPr id="13" name="Shape 11"/>
          <p:cNvSpPr/>
          <p:nvPr/>
        </p:nvSpPr>
        <p:spPr>
          <a:xfrm>
            <a:off x="9200921" y="2514600"/>
            <a:ext cx="2350694" cy="1371600"/>
          </a:xfrm>
          <a:prstGeom prst="roundRect">
            <a:avLst>
              <a:gd name="adj" fmla="val 5333"/>
            </a:avLst>
          </a:prstGeom>
          <a:solidFill>
            <a:srgbClr val="E67528"/>
          </a:solidFill>
          <a:ln/>
        </p:spPr>
        <p:txBody>
          <a:bodyPr/>
          <a:p/>
        </p:txBody>
      </p:sp>
      <p:sp>
        <p:nvSpPr>
          <p:cNvPr id="14" name="Text 12"/>
          <p:cNvSpPr txBox="1"/>
          <p:nvPr/>
        </p:nvSpPr>
        <p:spPr>
          <a:xfrm>
            <a:off x="9292361" y="2624328"/>
            <a:ext cx="2167814"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Database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MongoDB /</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PostgreSQL</a:t>
            </a:r>
            <a:endParaRPr lang="en-US" sz="1250" dirty="0"/>
          </a:p>
        </p:txBody>
      </p:sp>
      <p:sp>
        <p:nvSpPr>
          <p:cNvPr id="15" name="Text 13"/>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ORM/ODM sits between your application code and the raw database driver, translating object method calls into the queries the driver actually sends.</a:t>
            </a:r>
            <a:endParaRPr lang="en-US" sz="1300" dirty="0"/>
          </a:p>
        </p:txBody>
      </p:sp>
      <p:sp>
        <p:nvSpPr>
          <p:cNvPr id="1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BIG IDEA</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Why Bother With the Extra Layer?</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txBody>
          <a:bodyPr/>
          <a:p/>
        </p:txBody>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LESS CODE, MORE STRUCTURE</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Common operations (find, save, update, delete) become one-line calls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Data validation built into the model definition, checked automatically</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schema structure even for MongoDB, which enforces none itself</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txBody>
          <a:bodyPr/>
          <a:p/>
        </p:txBody>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RELATIONSHIPS &amp; PORTABILITY</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Relationships are easier to define and query (population, associations)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consistent API means switching databases needs smaller code changes</a:t>
            </a:r>
            <a:endParaRPr lang="en-US" sz="12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TERMINOLOGY</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"ORM" vs. "ODM"</a:t>
            </a:r>
            <a:endParaRPr lang="en-US" sz="3400" dirty="0"/>
          </a:p>
        </p:txBody>
      </p:sp>
      <p:sp>
        <p:nvSpPr>
          <p:cNvPr id="4" name="Shape 2"/>
          <p:cNvSpPr/>
          <p:nvPr/>
        </p:nvSpPr>
        <p:spPr>
          <a:xfrm>
            <a:off x="640080" y="1965960"/>
            <a:ext cx="10911535" cy="1737360"/>
          </a:xfrm>
          <a:prstGeom prst="roundRect">
            <a:avLst>
              <a:gd name="adj" fmla="val 3158"/>
            </a:avLst>
          </a:prstGeom>
          <a:solidFill>
            <a:srgbClr val="E9EDFB"/>
          </a:solidFill>
          <a:ln w="12700">
            <a:solidFill>
              <a:srgbClr val="6C7FD6"/>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"Object-relational mapping" comes from the relational-database world. When people say "ORM" loosely today, they often mean any object-mapping tool, including document-database ODMs like Mongoose. This course uses "ORM/ODM" to be precise, but expect to see "ORM" used for both.</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SCHEMAS &amp; MODELS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Schema In, Model Out</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schema describes what fields a document should have and what type each field is</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You compile a schema into a model — the object you actually use to query and save data</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npm install mongoose to get started</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SCHEMAS &amp; MODELS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Connecting Mongoose</a:t>
            </a:r>
            <a:endParaRPr lang="en-US" sz="3400" dirty="0"/>
          </a:p>
        </p:txBody>
      </p:sp>
      <p:sp>
        <p:nvSpPr>
          <p:cNvPr id="4" name="Shape 2"/>
          <p:cNvSpPr/>
          <p:nvPr/>
        </p:nvSpPr>
        <p:spPr>
          <a:xfrm>
            <a:off x="640080" y="1965960"/>
            <a:ext cx="10911535" cy="2148840"/>
          </a:xfrm>
          <a:prstGeom prst="roundRect">
            <a:avLst>
              <a:gd name="adj" fmla="val 3404"/>
            </a:avLst>
          </a:prstGeom>
          <a:solidFill>
            <a:srgbClr val="1E1E4C"/>
          </a:solidFill>
          <a:ln/>
        </p:spPr>
        <p:txBody>
          <a:bodyPr/>
          <a:p/>
        </p:txBody>
      </p:sp>
      <p:sp>
        <p:nvSpPr>
          <p:cNvPr id="5" name="Text 3"/>
          <p:cNvSpPr txBox="1"/>
          <p:nvPr/>
        </p:nvSpPr>
        <p:spPr>
          <a:xfrm>
            <a:off x="960120" y="2194560"/>
            <a:ext cx="10271455" cy="1691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mongoose = require("mongoose");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require("dotenv").config();</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mongoose.connect(process.env.MONGO_URI)</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.then(() =&gt; console.log("Connected to MongoDB via Mongoose"))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.catch((err) =&gt; console.error("Connection error:", err));</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SCHEMAS &amp; MODELS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Defining a Schema and Model</a:t>
            </a:r>
            <a:endParaRPr lang="en-US" sz="3400" dirty="0"/>
          </a:p>
        </p:txBody>
      </p:sp>
      <p:sp>
        <p:nvSpPr>
          <p:cNvPr id="4" name="Shape 2"/>
          <p:cNvSpPr/>
          <p:nvPr/>
        </p:nvSpPr>
        <p:spPr>
          <a:xfrm>
            <a:off x="640080" y="1965960"/>
            <a:ext cx="10911535" cy="3482340"/>
          </a:xfrm>
          <a:prstGeom prst="roundRect">
            <a:avLst>
              <a:gd name="adj" fmla="val 2101"/>
            </a:avLst>
          </a:prstGeom>
          <a:solidFill>
            <a:srgbClr val="1E1E4C"/>
          </a:solidFill>
          <a:ln/>
        </p:spPr>
        <p:txBody>
          <a:bodyPr/>
          <a:p/>
        </p:txBody>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 Schema, model } = require("mongoose");</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userSchema = new Schema({</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name: { type: String, required: true, trim: true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email: { type: String, required: true, unique: true, lowercase: true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age: { type: Number, min: 0, max: 120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role: { type: String, enum: ["student", "instructor", "admin"], default: "student"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createdAt: { type: Date, default: Date.now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User = model("User", userSchema);</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SCHEMAS &amp; MODELS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Each Field Defines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type — the data type (String, Number, Boolean, Date, Array, Schema.Types.ObjectId, ...)</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Validation rules — required, min/max, enum (a fixed list of allowed values), or a custom validate function</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Defaults — a value used automatically if none is provided</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SCHEMAS &amp; MODELS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Validation Runs Automatically</a:t>
            </a:r>
            <a:endParaRPr lang="en-US" sz="3400" dirty="0"/>
          </a:p>
        </p:txBody>
      </p:sp>
      <p:sp>
        <p:nvSpPr>
          <p:cNvPr id="4" name="Shape 2"/>
          <p:cNvSpPr/>
          <p:nvPr/>
        </p:nvSpPr>
        <p:spPr>
          <a:xfrm>
            <a:off x="640080" y="1965960"/>
            <a:ext cx="10911535" cy="1554480"/>
          </a:xfrm>
          <a:prstGeom prst="roundRect">
            <a:avLst>
              <a:gd name="adj" fmla="val 3529"/>
            </a:avLst>
          </a:prstGeom>
          <a:solidFill>
            <a:srgbClr val="E6F6EE"/>
          </a:solidFill>
          <a:ln w="12700">
            <a:solidFill>
              <a:srgbClr val="3FA66B"/>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Mongoose checks these rules every time you save() or create() a document, and throws a ValidationError if something doesn't match — free validation, no if statements needed for every field.</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COMPARISON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Same Idea in Sequelize (SQL ORM)</a:t>
            </a:r>
            <a:endParaRPr lang="en-US" sz="3400" dirty="0"/>
          </a:p>
        </p:txBody>
      </p:sp>
      <p:sp>
        <p:nvSpPr>
          <p:cNvPr id="4" name="Shape 2"/>
          <p:cNvSpPr/>
          <p:nvPr/>
        </p:nvSpPr>
        <p:spPr>
          <a:xfrm>
            <a:off x="640080" y="1965960"/>
            <a:ext cx="10911535" cy="2415540"/>
          </a:xfrm>
          <a:prstGeom prst="roundRect">
            <a:avLst>
              <a:gd name="adj" fmla="val 3028"/>
            </a:avLst>
          </a:prstGeom>
          <a:solidFill>
            <a:srgbClr val="1E1E4C"/>
          </a:solidFill>
          <a:ln/>
        </p:spPr>
        <p:txBody>
          <a:bodyPr/>
          <a:p/>
        </p:txBody>
      </p:sp>
      <p:sp>
        <p:nvSpPr>
          <p:cNvPr id="5" name="Text 3"/>
          <p:cNvSpPr txBox="1"/>
          <p:nvPr/>
        </p:nvSpPr>
        <p:spPr>
          <a:xfrm>
            <a:off x="960120" y="2194560"/>
            <a:ext cx="10271455" cy="19583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 DataTypes } = require("sequelize");</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User = sequelize.define("User",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name: { type: DataTypes.STRING, allowNull: false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email: { type: DataTypes.STRING, allowNull: false, unique: true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age: { type: DataTypes.INTEGER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610100"/>
            <a:ext cx="10911535" cy="16535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concepts map closely: a Mongoose "schema" is roughly Sequelize's "model definition" — both compile down to an object you use to run queries.</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CRUD: CREATE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Creating a Document</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txBody>
          <a:bodyPr/>
          <a:p/>
        </p:txBody>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newUser = await User.create({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name: "Bilal",</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email: "bilal@email.com",</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age: 20,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CRUD: READ</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Queries and Filtering</a:t>
            </a:r>
            <a:endParaRPr lang="en-US" sz="3400" dirty="0"/>
          </a:p>
        </p:txBody>
      </p:sp>
      <p:sp>
        <p:nvSpPr>
          <p:cNvPr id="4" name="Shape 2"/>
          <p:cNvSpPr/>
          <p:nvPr/>
        </p:nvSpPr>
        <p:spPr>
          <a:xfrm>
            <a:off x="640080" y="1965960"/>
            <a:ext cx="10911535" cy="3482340"/>
          </a:xfrm>
          <a:prstGeom prst="roundRect">
            <a:avLst>
              <a:gd name="adj" fmla="val 2101"/>
            </a:avLst>
          </a:prstGeom>
          <a:solidFill>
            <a:srgbClr val="1E1E4C"/>
          </a:solidFill>
          <a:ln/>
        </p:spPr>
        <p:txBody>
          <a:bodyPr/>
          <a:p/>
        </p:txBody>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Find all users matching a filter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students = await User.find({ role: "student" });</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Find one user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user = await User.findOne({ email: "bilal@email.com" });</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Find by ID (Mongoose's built-in shortcut for _id)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oneUser = await User.findById("64f1a2b3c4d5e6f7a8b9c0d1");</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Filtering with operators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adults = await User.find({ age: { $gte: 18 } });</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CRUD: READ</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Projection: Choosing Fields</a:t>
            </a:r>
            <a:endParaRPr lang="en-US" sz="3400" dirty="0"/>
          </a:p>
        </p:txBody>
      </p:sp>
      <p:sp>
        <p:nvSpPr>
          <p:cNvPr id="4" name="Shape 2"/>
          <p:cNvSpPr/>
          <p:nvPr/>
        </p:nvSpPr>
        <p:spPr>
          <a:xfrm>
            <a:off x="640080" y="1965960"/>
            <a:ext cx="10911535" cy="1348740"/>
          </a:xfrm>
          <a:prstGeom prst="roundRect">
            <a:avLst>
              <a:gd name="adj" fmla="val 5424"/>
            </a:avLst>
          </a:prstGeom>
          <a:solidFill>
            <a:srgbClr val="1E1E4C"/>
          </a:solidFill>
          <a:ln/>
        </p:spPr>
        <p:txBody>
          <a:bodyPr/>
          <a:p/>
        </p:txBody>
      </p:sp>
      <p:sp>
        <p:nvSpPr>
          <p:cNvPr id="5" name="Text 3"/>
          <p:cNvSpPr txBox="1"/>
          <p:nvPr/>
        </p:nvSpPr>
        <p:spPr>
          <a:xfrm>
            <a:off x="960120" y="2194560"/>
            <a:ext cx="10271455" cy="8915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Only return name and email</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emailsOnly = await User.find({}, "name email");</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or: User.find().select("name email")</a:t>
            </a:r>
            <a:endParaRPr lang="en-US" sz="1400" dirty="0"/>
          </a:p>
        </p:txBody>
      </p:sp>
      <p:sp>
        <p:nvSpPr>
          <p:cNvPr id="6" name="Text 4"/>
          <p:cNvSpPr txBox="1"/>
          <p:nvPr/>
        </p:nvSpPr>
        <p:spPr>
          <a:xfrm>
            <a:off x="640080" y="3543300"/>
            <a:ext cx="10911535" cy="27203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Projection asks the database to return only specific fields — good for performance, and for avoiding sending sensitive fields (like a hashed password) to the client by accident.</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CRUD: READ</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Pagination</a:t>
            </a:r>
            <a:endParaRPr lang="en-US" sz="3400" dirty="0"/>
          </a:p>
        </p:txBody>
      </p:sp>
      <p:sp>
        <p:nvSpPr>
          <p:cNvPr id="4" name="Shape 2"/>
          <p:cNvSpPr/>
          <p:nvPr/>
        </p:nvSpPr>
        <p:spPr>
          <a:xfrm>
            <a:off x="640080" y="1965960"/>
            <a:ext cx="10911535" cy="2948940"/>
          </a:xfrm>
          <a:prstGeom prst="roundRect">
            <a:avLst>
              <a:gd name="adj" fmla="val 2481"/>
            </a:avLst>
          </a:prstGeom>
          <a:solidFill>
            <a:srgbClr val="1E1E4C"/>
          </a:solidFill>
          <a:ln/>
        </p:spPr>
        <p:txBody>
          <a:bodyPr/>
          <a:p/>
        </p:txBody>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getUsersPage(pageNumber, pageSize = 10)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skip = (pageNumber - 1) * pageSize;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users = await User.find()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.sort({ createdAt: -1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.skip(skip)</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.limit(pageSize);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total = await User.countDocuments();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 users, total, page: pageNumber, totalPages: Math.ceil(total / pageSize)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143500"/>
            <a:ext cx="10911535" cy="11201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.skip() jumps over already-seen documents; .limit() caps how many come back — together they fetch page 2, page 3, and so on.</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CRUD: UPDATE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Updating Documents</a:t>
            </a:r>
            <a:endParaRPr lang="en-US" sz="3400" dirty="0"/>
          </a:p>
        </p:txBody>
      </p:sp>
      <p:sp>
        <p:nvSpPr>
          <p:cNvPr id="4" name="Shape 2"/>
          <p:cNvSpPr/>
          <p:nvPr/>
        </p:nvSpPr>
        <p:spPr>
          <a:xfrm>
            <a:off x="640080" y="1965960"/>
            <a:ext cx="10911535" cy="2948940"/>
          </a:xfrm>
          <a:prstGeom prst="roundRect">
            <a:avLst>
              <a:gd name="adj" fmla="val 2481"/>
            </a:avLst>
          </a:prstGeom>
          <a:solidFill>
            <a:srgbClr val="1E1E4C"/>
          </a:solidFill>
          <a:ln/>
        </p:spPr>
        <p:txBody>
          <a:bodyPr/>
          <a:p/>
        </p:txBody>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Update one document and get the updated version back</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updated = await User.findByIdAndUpdate(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"64f1a2b3c4d5e6f7a8b9c0d1",</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age: 23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new: true, runValidators: true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Update many at once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await User.updateMany({ role: "student" }, { $set: { active: true } });</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CRUD: UPDATE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Validators Are Opt-In on Update</a:t>
            </a:r>
            <a:endParaRPr lang="en-US" sz="3400" dirty="0"/>
          </a:p>
        </p:txBody>
      </p:sp>
      <p:sp>
        <p:nvSpPr>
          <p:cNvPr id="4" name="Shape 2"/>
          <p:cNvSpPr/>
          <p:nvPr/>
        </p:nvSpPr>
        <p:spPr>
          <a:xfrm>
            <a:off x="640080" y="1965960"/>
            <a:ext cx="10911535" cy="1737360"/>
          </a:xfrm>
          <a:prstGeom prst="roundRect">
            <a:avLst>
              <a:gd name="adj" fmla="val 3158"/>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By default, findByIdAndUpdate does NOT run your schema's validation rules. Always pass { runValidators: true } if you want Mongoose to check required or enum fields during an update, not just during creation.</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CRUD: DELETE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Deleting Documents</a:t>
            </a:r>
            <a:endParaRPr lang="en-US" sz="3400" dirty="0"/>
          </a:p>
        </p:txBody>
      </p:sp>
      <p:sp>
        <p:nvSpPr>
          <p:cNvPr id="4" name="Shape 2"/>
          <p:cNvSpPr/>
          <p:nvPr/>
        </p:nvSpPr>
        <p:spPr>
          <a:xfrm>
            <a:off x="640080" y="1965960"/>
            <a:ext cx="10911535" cy="1082040"/>
          </a:xfrm>
          <a:prstGeom prst="roundRect">
            <a:avLst>
              <a:gd name="adj" fmla="val 6761"/>
            </a:avLst>
          </a:prstGeom>
          <a:solidFill>
            <a:srgbClr val="1E1E4C"/>
          </a:solidFill>
          <a:ln/>
        </p:spPr>
        <p:txBody>
          <a:bodyPr/>
          <a:p/>
        </p:txBody>
      </p:sp>
      <p:sp>
        <p:nvSpPr>
          <p:cNvPr id="5" name="Text 3"/>
          <p:cNvSpPr txBox="1"/>
          <p:nvPr/>
        </p:nvSpPr>
        <p:spPr>
          <a:xfrm>
            <a:off x="960120" y="2194560"/>
            <a:ext cx="10271455" cy="624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await User.findByIdAndDelete("64f1a2b3c4d5e6f7a8b9c0d1");</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await User.deleteMany({ role: "guest" });</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ASSOCIATIONS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Population in Mongoose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MongoDB documents can embed related data directly — but a Post shouldn't embed a full copy of its author</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Instead, reference another document by its _id, then populate that reference to pull in the full related document</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Conceptually similar to a SQL JOIN, though implemented as a separate query behind the scenes</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ASSOCIATIONS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Referencing and Populating</a:t>
            </a:r>
            <a:endParaRPr lang="en-US" sz="3400" dirty="0"/>
          </a:p>
        </p:txBody>
      </p:sp>
      <p:sp>
        <p:nvSpPr>
          <p:cNvPr id="4" name="Shape 2"/>
          <p:cNvSpPr/>
          <p:nvPr/>
        </p:nvSpPr>
        <p:spPr>
          <a:xfrm>
            <a:off x="640080" y="1965960"/>
            <a:ext cx="10911535" cy="3482340"/>
          </a:xfrm>
          <a:prstGeom prst="roundRect">
            <a:avLst>
              <a:gd name="adj" fmla="val 2101"/>
            </a:avLst>
          </a:prstGeom>
          <a:solidFill>
            <a:srgbClr val="1E1E4C"/>
          </a:solidFill>
          <a:ln/>
        </p:spPr>
        <p:txBody>
          <a:bodyPr/>
          <a:p/>
        </p:txBody>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postSchema = new Schema({</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title: { type: String, required: true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content: String,</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author: { type: Schema.Types.ObjectId, ref: "User"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Post = model("Post", postSchema);</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Fetch the post WITH the full author document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post = await Post.findOne({ title: "Learning Mongoose"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.populate("author");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console.log(post.author.name); // "Bilal"</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ASSOCIATIONS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User Referenced by Many Posts</a:t>
            </a:r>
            <a:endParaRPr lang="en-US" sz="3400" dirty="0"/>
          </a:p>
        </p:txBody>
      </p:sp>
      <p:sp>
        <p:nvSpPr>
          <p:cNvPr id="4" name="Shape 2"/>
          <p:cNvSpPr/>
          <p:nvPr/>
        </p:nvSpPr>
        <p:spPr>
          <a:xfrm>
            <a:off x="4663440" y="3474720"/>
            <a:ext cx="2834640" cy="9144"/>
          </a:xfrm>
          <a:prstGeom prst="line">
            <a:avLst/>
          </a:prstGeom>
          <a:noFill/>
          <a:ln w="25400">
            <a:solidFill>
              <a:srgbClr val="5D5D72"/>
            </a:solidFill>
            <a:prstDash val="solid"/>
            <a:tailEnd type="triangle"/>
          </a:ln>
        </p:spPr>
        <p:txBody>
          <a:bodyPr/>
          <a:p/>
        </p:txBody>
      </p:sp>
      <p:sp>
        <p:nvSpPr>
          <p:cNvPr id="5" name="Text 3"/>
          <p:cNvSpPr txBox="1"/>
          <p:nvPr/>
        </p:nvSpPr>
        <p:spPr>
          <a:xfrm>
            <a:off x="5166360" y="33284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author of</a:t>
            </a:r>
            <a:endParaRPr lang="en-US" sz="1050" dirty="0"/>
          </a:p>
          <a:p>
            <a:pPr algn="ctr" indent="0" marL="0">
              <a:buNone/>
            </a:pPr>
            <a:r>
              <a:rPr lang="en-US" sz="1050" i="1" dirty="0">
                <a:solidFill>
                  <a:srgbClr val="5D5D72"/>
                </a:solidFill>
                <a:latin typeface="Calibri" pitchFamily="34" charset="0"/>
                <a:ea typeface="Calibri" pitchFamily="34" charset="-122"/>
                <a:cs typeface="Calibri" pitchFamily="34" charset="-120"/>
              </a:rPr>
              <a:t>(1 : many)</a:t>
            </a:r>
            <a:endParaRPr lang="en-US" sz="1050" dirty="0"/>
          </a:p>
        </p:txBody>
      </p:sp>
      <p:sp>
        <p:nvSpPr>
          <p:cNvPr id="6" name="Shape 4"/>
          <p:cNvSpPr/>
          <p:nvPr/>
        </p:nvSpPr>
        <p:spPr>
          <a:xfrm>
            <a:off x="1371600" y="2377440"/>
            <a:ext cx="3291840" cy="2194560"/>
          </a:xfrm>
          <a:prstGeom prst="rect">
            <a:avLst/>
          </a:prstGeom>
          <a:solidFill>
            <a:srgbClr val="2B2B7A"/>
          </a:solidFill>
          <a:ln/>
        </p:spPr>
        <p:txBody>
          <a:bodyPr/>
          <a:p/>
        </p:txBody>
      </p:sp>
      <p:sp>
        <p:nvSpPr>
          <p:cNvPr id="7" name="Text 5"/>
          <p:cNvSpPr txBox="1"/>
          <p:nvPr/>
        </p:nvSpPr>
        <p:spPr>
          <a:xfrm>
            <a:off x="1426464" y="2377440"/>
            <a:ext cx="3182112" cy="2194560"/>
          </a:xfrm>
          <a:prstGeom prst="rect">
            <a:avLst/>
          </a:prstGeom>
          <a:noFill/>
          <a:ln/>
        </p:spPr>
        <p:txBody>
          <a:bodyPr wrap="square" lIns="0" tIns="0" rIns="0" bIns="0" rtlCol="0" anchor="ctr"/>
          <a:lstStyle/>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USER</a:t>
            </a:r>
            <a:endParaRPr lang="en-US" sz="1300" dirty="0"/>
          </a:p>
          <a:p>
            <a:pPr algn="ctr" indent="0" marL="0">
              <a:lnSpc>
                <a:spcPct val="105000"/>
              </a:lnSpc>
              <a:buNone/>
            </a:pPr>
            <a:endParaRPr lang="en-US" sz="1300" dirty="0"/>
          </a:p>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_id: ObjectId</a:t>
            </a:r>
            <a:endParaRPr lang="en-US" sz="1300" dirty="0"/>
          </a:p>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name: String</a:t>
            </a:r>
            <a:endParaRPr lang="en-US" sz="1300" dirty="0"/>
          </a:p>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email: String</a:t>
            </a:r>
            <a:endParaRPr lang="en-US" sz="1300" dirty="0"/>
          </a:p>
        </p:txBody>
      </p:sp>
      <p:sp>
        <p:nvSpPr>
          <p:cNvPr id="8" name="Shape 6"/>
          <p:cNvSpPr/>
          <p:nvPr/>
        </p:nvSpPr>
        <p:spPr>
          <a:xfrm>
            <a:off x="7498080" y="2377440"/>
            <a:ext cx="3291840" cy="2194560"/>
          </a:xfrm>
          <a:prstGeom prst="rect">
            <a:avLst/>
          </a:prstGeom>
          <a:solidFill>
            <a:srgbClr val="E67528"/>
          </a:solidFill>
          <a:ln/>
        </p:spPr>
        <p:txBody>
          <a:bodyPr/>
          <a:p/>
        </p:txBody>
      </p:sp>
      <p:sp>
        <p:nvSpPr>
          <p:cNvPr id="9" name="Text 7"/>
          <p:cNvSpPr txBox="1"/>
          <p:nvPr/>
        </p:nvSpPr>
        <p:spPr>
          <a:xfrm>
            <a:off x="7552944" y="2377440"/>
            <a:ext cx="3182112" cy="2194560"/>
          </a:xfrm>
          <a:prstGeom prst="rect">
            <a:avLst/>
          </a:prstGeom>
          <a:noFill/>
          <a:ln/>
        </p:spPr>
        <p:txBody>
          <a:bodyPr wrap="square" lIns="0" tIns="0" rIns="0" bIns="0" rtlCol="0" anchor="ctr"/>
          <a:lstStyle/>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POST</a:t>
            </a:r>
            <a:endParaRPr lang="en-US" sz="1300" dirty="0"/>
          </a:p>
          <a:p>
            <a:pPr algn="ctr" indent="0" marL="0">
              <a:lnSpc>
                <a:spcPct val="105000"/>
              </a:lnSpc>
              <a:buNone/>
            </a:pPr>
            <a:endParaRPr lang="en-US" sz="1300" dirty="0"/>
          </a:p>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_id: ObjectId</a:t>
            </a:r>
            <a:endParaRPr lang="en-US" sz="1300" dirty="0"/>
          </a:p>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title: String</a:t>
            </a:r>
            <a:endParaRPr lang="en-US" sz="1300" dirty="0"/>
          </a:p>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author: ObjectId</a:t>
            </a:r>
            <a:endParaRPr lang="en-US" sz="1300" dirty="0"/>
          </a:p>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(references User._id)</a:t>
            </a:r>
            <a:endParaRPr lang="en-US" sz="1300" dirty="0"/>
          </a:p>
        </p:txBody>
      </p:sp>
      <p:sp>
        <p:nvSpPr>
          <p:cNvPr id="10" name="Text 8"/>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post.author stores just a User's ObjectId. .populate("author") runs a second query and swaps that ID for the full User document.</a:t>
            </a:r>
            <a:endParaRPr lang="en-US" sz="1250" dirty="0"/>
          </a:p>
        </p:txBody>
      </p:sp>
      <p:sp>
        <p:nvSpPr>
          <p:cNvPr id="13"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ASSOCIATIONS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SQL Equivalent: Associations</a:t>
            </a:r>
            <a:endParaRPr lang="en-US" sz="3400" dirty="0"/>
          </a:p>
        </p:txBody>
      </p:sp>
      <p:sp>
        <p:nvSpPr>
          <p:cNvPr id="4" name="Shape 2"/>
          <p:cNvSpPr/>
          <p:nvPr/>
        </p:nvSpPr>
        <p:spPr>
          <a:xfrm>
            <a:off x="640080" y="1965960"/>
            <a:ext cx="10911535" cy="1737360"/>
          </a:xfrm>
          <a:prstGeom prst="roundRect">
            <a:avLst>
              <a:gd name="adj" fmla="val 3158"/>
            </a:avLst>
          </a:prstGeom>
          <a:solidFill>
            <a:srgbClr val="E9EDFB"/>
          </a:solidFill>
          <a:ln w="12700">
            <a:solidFill>
              <a:srgbClr val="6C7FD6"/>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In a SQL ORM like Sequelize, the equivalent idea is called an association (User.hasMany(Post), Post.belongsTo(User)), and behind the scenes it generates actual SQL JOIN queries.</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MIGRATIONS &amp; SEEDING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Migrations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migration is a versioned, scripted change to your database's structure (adding a column, renaming a table)</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Migrations can be applied — and ideally reversed — so every environment stays in sync over time</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Central to SQL ORMs like Sequelize; MongoDB's flexible documents mean Mongoose doesn't require them formally</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Larger MongoDB projects often still use a dedicated tool (like migrate-mongo) for one-off schema-evolution scripts</a:t>
            </a:r>
            <a:endParaRPr lang="en-US" sz="1500" dirty="0"/>
          </a:p>
        </p:txBody>
      </p:sp>
      <p:sp>
        <p:nvSpPr>
          <p:cNvPr id="1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MIGRATIONS &amp; SEEDING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Running a Sequelize Migration</a:t>
            </a:r>
            <a:endParaRPr lang="en-US" sz="3400" dirty="0"/>
          </a:p>
        </p:txBody>
      </p:sp>
      <p:sp>
        <p:nvSpPr>
          <p:cNvPr id="4" name="Shape 2"/>
          <p:cNvSpPr/>
          <p:nvPr/>
        </p:nvSpPr>
        <p:spPr>
          <a:xfrm>
            <a:off x="640080" y="1965960"/>
            <a:ext cx="10911535" cy="1082040"/>
          </a:xfrm>
          <a:prstGeom prst="roundRect">
            <a:avLst>
              <a:gd name="adj" fmla="val 6761"/>
            </a:avLst>
          </a:prstGeom>
          <a:solidFill>
            <a:srgbClr val="1E1E4C"/>
          </a:solidFill>
          <a:ln/>
        </p:spPr>
        <p:txBody>
          <a:bodyPr/>
          <a:p/>
        </p:txBody>
      </p:sp>
      <p:sp>
        <p:nvSpPr>
          <p:cNvPr id="5" name="Text 3"/>
          <p:cNvSpPr txBox="1"/>
          <p:nvPr/>
        </p:nvSpPr>
        <p:spPr>
          <a:xfrm>
            <a:off x="960120" y="2194560"/>
            <a:ext cx="10271455" cy="624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npx sequelize-cli migration:generate --name add-age-to-users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npx sequelize-cli db:migrate</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MIGRATIONS &amp; SEEDING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Seeding: Loading Sample Data</a:t>
            </a:r>
            <a:endParaRPr lang="en-US" sz="3400" dirty="0"/>
          </a:p>
        </p:txBody>
      </p:sp>
      <p:sp>
        <p:nvSpPr>
          <p:cNvPr id="4" name="Shape 2"/>
          <p:cNvSpPr/>
          <p:nvPr/>
        </p:nvSpPr>
        <p:spPr>
          <a:xfrm>
            <a:off x="640080" y="1965960"/>
            <a:ext cx="10911535" cy="3749040"/>
          </a:xfrm>
          <a:prstGeom prst="roundRect">
            <a:avLst>
              <a:gd name="adj" fmla="val 1951"/>
            </a:avLst>
          </a:prstGeom>
          <a:solidFill>
            <a:srgbClr val="1E1E4C"/>
          </a:solidFill>
          <a:ln/>
        </p:spPr>
        <p:txBody>
          <a:bodyPr/>
          <a:p/>
        </p:txBody>
      </p:sp>
      <p:sp>
        <p:nvSpPr>
          <p:cNvPr id="5" name="Text 3"/>
          <p:cNvSpPr txBox="1"/>
          <p:nvPr/>
        </p:nvSpPr>
        <p:spPr>
          <a:xfrm>
            <a:off x="960120" y="2194560"/>
            <a:ext cx="10271455" cy="3291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seed.js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async function seed()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await mongoose.connect(process.env.MONGO_URI);</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await User.deleteMany({}); // clear existing data</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await User.insertMany([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name: "Ayesha", email: "ayesha@email.com", role: "admin"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name: "Bilal", email: "bilal@email.com", role: "student"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console.log("Database seeded!");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await mongoose.disconnect();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seed();</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TRADE-OFFS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Convenience vs. Control</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5394960"/>
                <a:gridCol w="5394960"/>
              </a:tblGrid>
              <a:tr h="77724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Benefit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77240">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Less boilerplate, faster development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An extra layer to learn, on top of the database itself</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Built-in validation and structure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Generated queries can be less efficient for complex cases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Easier to reason about relationships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"Magic" behavior can hide what's really happening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Consistent patterns across a codebase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Sometimes you still need raw queries the ORM doesn't expose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2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TRADE-OFFS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You Don't Have to Pick One Approach</a:t>
            </a:r>
            <a:endParaRPr lang="en-US" sz="3400" dirty="0"/>
          </a:p>
        </p:txBody>
      </p:sp>
      <p:sp>
        <p:nvSpPr>
          <p:cNvPr id="4" name="Shape 2"/>
          <p:cNvSpPr/>
          <p:nvPr/>
        </p:nvSpPr>
        <p:spPr>
          <a:xfrm>
            <a:off x="640080" y="1965960"/>
            <a:ext cx="10911535" cy="1737360"/>
          </a:xfrm>
          <a:prstGeom prst="roundRect">
            <a:avLst>
              <a:gd name="adj" fmla="val 3158"/>
            </a:avLst>
          </a:prstGeom>
          <a:solidFill>
            <a:srgbClr val="E6F6EE"/>
          </a:solidFill>
          <a:ln w="12700">
            <a:solidFill>
              <a:srgbClr val="3FA66B"/>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Most ORMs/ODMs, including Mongoose, let you drop to raw queries when you need to (.aggregate() for MongoDB's pipeline, for example). Use the ORM for everyday CRUD and drop to raw queries for the rare complex case.</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23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txBody>
          <a:bodyPr/>
          <a:p/>
        </p:txBody>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An ORM (relational) or ODM (document, e.g. Mongoose) maps your database's data onto objects and methods, cutting repetitive query-writing.</a:t>
            </a:r>
            <a:endParaRPr lang="en-US" sz="1250" dirty="0"/>
          </a:p>
        </p:txBody>
      </p:sp>
      <p:sp>
        <p:nvSpPr>
          <p:cNvPr id="7" name="Shape 5"/>
          <p:cNvSpPr/>
          <p:nvPr/>
        </p:nvSpPr>
        <p:spPr>
          <a:xfrm>
            <a:off x="822960" y="2956560"/>
            <a:ext cx="438912" cy="438912"/>
          </a:xfrm>
          <a:prstGeom prst="ellipse">
            <a:avLst/>
          </a:prstGeom>
          <a:solidFill>
            <a:srgbClr val="FF8A3D"/>
          </a:solidFill>
          <a:ln/>
        </p:spPr>
        <p:txBody>
          <a:bodyPr/>
          <a:p/>
        </p:txBody>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Mongoose schemas define fields, data types, validation rules, and defaults; a model compiled from a schema is what you actually query with.</a:t>
            </a:r>
            <a:endParaRPr lang="en-US" sz="1250" dirty="0"/>
          </a:p>
        </p:txBody>
      </p:sp>
      <p:sp>
        <p:nvSpPr>
          <p:cNvPr id="10" name="Shape 8"/>
          <p:cNvSpPr/>
          <p:nvPr/>
        </p:nvSpPr>
        <p:spPr>
          <a:xfrm>
            <a:off x="822960" y="3627120"/>
            <a:ext cx="438912" cy="438912"/>
          </a:xfrm>
          <a:prstGeom prst="ellipse">
            <a:avLst/>
          </a:prstGeom>
          <a:solidFill>
            <a:srgbClr val="FF8A3D"/>
          </a:solidFill>
          <a:ln/>
        </p:spPr>
        <p:txBody>
          <a:bodyPr/>
          <a:p/>
        </p:txBody>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CRUD through Mongoose uses create, find, findByIdAndUpdate, and findByIdAndDelete, plus filtering, projection, and pagination.</a:t>
            </a:r>
            <a:endParaRPr lang="en-US" sz="1250" dirty="0"/>
          </a:p>
        </p:txBody>
      </p:sp>
      <p:sp>
        <p:nvSpPr>
          <p:cNvPr id="13" name="Shape 11"/>
          <p:cNvSpPr/>
          <p:nvPr/>
        </p:nvSpPr>
        <p:spPr>
          <a:xfrm>
            <a:off x="822960" y="4297680"/>
            <a:ext cx="438912" cy="438912"/>
          </a:xfrm>
          <a:prstGeom prst="ellipse">
            <a:avLst/>
          </a:prstGeom>
          <a:solidFill>
            <a:srgbClr val="FF8A3D"/>
          </a:solidFill>
          <a:ln/>
        </p:spPr>
        <p:txBody>
          <a:bodyPr/>
          <a:p/>
        </p:txBody>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Population (.populate()) resolves a referenced ObjectId into the full related document — Mongoose's answer to SQL joins.</a:t>
            </a:r>
            <a:endParaRPr lang="en-US" sz="1250" dirty="0"/>
          </a:p>
        </p:txBody>
      </p:sp>
      <p:sp>
        <p:nvSpPr>
          <p:cNvPr id="16" name="Shape 14"/>
          <p:cNvSpPr/>
          <p:nvPr/>
        </p:nvSpPr>
        <p:spPr>
          <a:xfrm>
            <a:off x="822960" y="4968240"/>
            <a:ext cx="438912" cy="438912"/>
          </a:xfrm>
          <a:prstGeom prst="ellipse">
            <a:avLst/>
          </a:prstGeom>
          <a:solidFill>
            <a:srgbClr val="FF8A3D"/>
          </a:solidFill>
          <a:ln/>
        </p:spPr>
        <p:txBody>
          <a:bodyPr/>
          <a:p/>
        </p:txBody>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Migrations version your database structure over time (central to SQL ORMs like Sequelize); seeding loads initial or sample data.</a:t>
            </a:r>
            <a:endParaRPr lang="en-US" sz="1250" dirty="0"/>
          </a:p>
        </p:txBody>
      </p:sp>
      <p:sp>
        <p:nvSpPr>
          <p:cNvPr id="19" name="Shape 17"/>
          <p:cNvSpPr/>
          <p:nvPr/>
        </p:nvSpPr>
        <p:spPr>
          <a:xfrm>
            <a:off x="822960" y="5638800"/>
            <a:ext cx="438912" cy="438912"/>
          </a:xfrm>
          <a:prstGeom prst="ellipse">
            <a:avLst/>
          </a:prstGeom>
          <a:solidFill>
            <a:srgbClr val="FF8A3D"/>
          </a:solidFill>
          <a:ln/>
        </p:spPr>
        <p:txBody>
          <a:bodyPr/>
          <a:p/>
        </p:txBody>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ORMs/ODMs trade some control and query efficiency for convenience, validation, and consistency — and you can still write raw queries when needed.</a:t>
            </a:r>
            <a:endParaRPr lang="en-US" sz="1250" dirty="0"/>
          </a:p>
        </p:txBody>
      </p:sp>
      <p:sp>
        <p:nvSpPr>
          <p:cNvPr id="2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23: Object Relational Mapping (ORM / ODM)</dc:title>
  <dc:subject>CSC336 Web Technologies</dc:subject>
  <dc:creator>Usman Akram</dc:creator>
  <cp:lastModifiedBy>Usman Akram</cp:lastModifiedBy>
  <cp:revision>1</cp:revision>
  <dcterms:created xsi:type="dcterms:W3CDTF">2026-09-22T05:49:18Z</dcterms:created>
  <dcterms:modified xsi:type="dcterms:W3CDTF">2026-09-22T05:49:18Z</dcterms:modified>
</cp:coreProperties>
</file>
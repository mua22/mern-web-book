
<file path=[Content_Types].xml><?xml version="1.0" encoding="utf-8"?>
<Types xmlns="http://schemas.openxmlformats.org/package/2006/content-types">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notesMasters/notesMaster1.xml" ContentType="application/vnd.openxmlformats-officedocument.presentationml.notesMaster+xml"/>
  <Override PartName="/ppt/notesSlides/notesSlide1.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ppt/notesSlides/notesSlide22.xml" ContentType="application/vnd.openxmlformats-officedocument.presentationml.notesSlide+xml"/>
  <Override PartName="/ppt/notesSlides/notesSlide23.xml" ContentType="application/vnd.openxmlformats-officedocument.presentationml.notesSlide+xml"/>
  <Override PartName="/ppt/notesSlides/notesSlide24.xml" ContentType="application/vnd.openxmlformats-officedocument.presentationml.notesSlide+xml"/>
  <Override PartName="/ppt/notesSlides/notesSlide25.xml" ContentType="application/vnd.openxmlformats-officedocument.presentationml.notesSlide+xml"/>
  <Override PartName="/ppt/notesSlides/notesSlide26.xml" ContentType="application/vnd.openxmlformats-officedocument.presentationml.notesSlide+xml"/>
  <Override PartName="/ppt/notesSlides/notesSlide27.xml" ContentType="application/vnd.openxmlformats-officedocument.presentationml.notesSlide+xml"/>
  <Override PartName="/ppt/notesSlides/notesSlide28.xml" ContentType="application/vnd.openxmlformats-officedocument.presentationml.notesSlide+xml"/>
  <Override PartName="/ppt/notesSlides/notesSlide29.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extended-properties" Target="docProps/app.xml"/><Relationship Id="rId2" Type="http://schemas.openxmlformats.org/package/2006/relationships/metadata/core-properties" Target="docProps/core.xml"/><Relationship Id="rId3"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2"/>
    <p:sldId id="257" r:id="rId3"/>
    <p:sldId id="258" r:id="rId4"/>
    <p:sldId id="259" r:id="rId5"/>
    <p:sldId id="260" r:id="rId6"/>
    <p:sldId id="261" r:id="rId7"/>
    <p:sldId id="262" r:id="rId8"/>
    <p:sldId id="263" r:id="rId9"/>
    <p:sldId id="264" r:id="rId10"/>
    <p:sldId id="265" r:id="rId11"/>
    <p:sldId id="266" r:id="rId12"/>
    <p:sldId id="267" r:id="rId13"/>
    <p:sldId id="268" r:id="rId14"/>
    <p:sldId id="269" r:id="rId15"/>
    <p:sldId id="270" r:id="rId16"/>
    <p:sldId id="271" r:id="rId17"/>
    <p:sldId id="272" r:id="rId18"/>
    <p:sldId id="273" r:id="rId19"/>
    <p:sldId id="274" r:id="rId20"/>
    <p:sldId id="275" r:id="rId21"/>
    <p:sldId id="276" r:id="rId22"/>
    <p:sldId id="277" r:id="rId23"/>
    <p:sldId id="278" r:id="rId24"/>
    <p:sldId id="279" r:id="rId25"/>
    <p:sldId id="280" r:id="rId26"/>
    <p:sldId id="281" r:id="rId27"/>
    <p:sldId id="282" r:id="rId28"/>
    <p:sldId id="283" r:id="rId29"/>
    <p:sldId id="284" r:id="rId30"/>
  </p:sldIdLst>
  <p:notesMasterIdLst>
    <p:notesMasterId r:id="rId31"/>
  </p:notesMasterIdLst>
  <p:sldSz cx="12192000" cy="6858000"/>
  <p:notesSz cx="6858000" cy="12192000"/>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11"/>
    <p:restoredTop sz="94610"/>
  </p:normalViewPr>
  <p:slideViewPr>
    <p:cSldViewPr snapToGrid="0" snapToObjects="1">
      <p:cViewPr varScale="1">
        <p:scale>
          <a:sx n="136" d="100"/>
          <a:sy n="136" d="100"/>
        </p:scale>
        <p:origin x="216" y="31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slide" Target="slides/slide1.xml"/><Relationship Id="rId3" Type="http://schemas.openxmlformats.org/officeDocument/2006/relationships/slide" Target="slides/slide2.xml"/><Relationship Id="rId4" Type="http://schemas.openxmlformats.org/officeDocument/2006/relationships/slide" Target="slides/slide3.xml"/><Relationship Id="rId5" Type="http://schemas.openxmlformats.org/officeDocument/2006/relationships/slide" Target="slides/slide4.xml"/><Relationship Id="rId6" Type="http://schemas.openxmlformats.org/officeDocument/2006/relationships/slide" Target="slides/slide5.xml"/><Relationship Id="rId7" Type="http://schemas.openxmlformats.org/officeDocument/2006/relationships/slide" Target="slides/slide6.xml"/><Relationship Id="rId8" Type="http://schemas.openxmlformats.org/officeDocument/2006/relationships/slide" Target="slides/slide7.xml"/><Relationship Id="rId9" Type="http://schemas.openxmlformats.org/officeDocument/2006/relationships/slide" Target="slides/slide8.xml"/><Relationship Id="rId10" Type="http://schemas.openxmlformats.org/officeDocument/2006/relationships/slide" Target="slides/slide9.xml"/><Relationship Id="rId11" Type="http://schemas.openxmlformats.org/officeDocument/2006/relationships/slide" Target="slides/slide10.xml"/><Relationship Id="rId12" Type="http://schemas.openxmlformats.org/officeDocument/2006/relationships/slide" Target="slides/slide11.xml"/><Relationship Id="rId13" Type="http://schemas.openxmlformats.org/officeDocument/2006/relationships/slide" Target="slides/slide12.xml"/><Relationship Id="rId14" Type="http://schemas.openxmlformats.org/officeDocument/2006/relationships/slide" Target="slides/slide13.xml"/><Relationship Id="rId15" Type="http://schemas.openxmlformats.org/officeDocument/2006/relationships/slide" Target="slides/slide14.xml"/><Relationship Id="rId16" Type="http://schemas.openxmlformats.org/officeDocument/2006/relationships/slide" Target="slides/slide15.xml"/><Relationship Id="rId17" Type="http://schemas.openxmlformats.org/officeDocument/2006/relationships/slide" Target="slides/slide16.xml"/><Relationship Id="rId18" Type="http://schemas.openxmlformats.org/officeDocument/2006/relationships/slide" Target="slides/slide17.xml"/><Relationship Id="rId19" Type="http://schemas.openxmlformats.org/officeDocument/2006/relationships/slide" Target="slides/slide18.xml"/><Relationship Id="rId20" Type="http://schemas.openxmlformats.org/officeDocument/2006/relationships/slide" Target="slides/slide19.xml"/><Relationship Id="rId21" Type="http://schemas.openxmlformats.org/officeDocument/2006/relationships/slide" Target="slides/slide20.xml"/><Relationship Id="rId22" Type="http://schemas.openxmlformats.org/officeDocument/2006/relationships/slide" Target="slides/slide21.xml"/><Relationship Id="rId23" Type="http://schemas.openxmlformats.org/officeDocument/2006/relationships/slide" Target="slides/slide22.xml"/><Relationship Id="rId24" Type="http://schemas.openxmlformats.org/officeDocument/2006/relationships/slide" Target="slides/slide23.xml"/><Relationship Id="rId25" Type="http://schemas.openxmlformats.org/officeDocument/2006/relationships/slide" Target="slides/slide24.xml"/><Relationship Id="rId26" Type="http://schemas.openxmlformats.org/officeDocument/2006/relationships/slide" Target="slides/slide25.xml"/><Relationship Id="rId27" Type="http://schemas.openxmlformats.org/officeDocument/2006/relationships/slide" Target="slides/slide26.xml"/><Relationship Id="rId28" Type="http://schemas.openxmlformats.org/officeDocument/2006/relationships/slide" Target="slides/slide27.xml"/><Relationship Id="rId29" Type="http://schemas.openxmlformats.org/officeDocument/2006/relationships/slide" Target="slides/slide28.xml"/><Relationship Id="rId30" Type="http://schemas.openxmlformats.org/officeDocument/2006/relationships/slide" Target="slides/slide29.xml"/><Relationship Id="rId31" Type="http://schemas.openxmlformats.org/officeDocument/2006/relationships/notesMaster" Target="notesMasters/notesMaster1.xml"/><Relationship Id="rId32" Type="http://schemas.openxmlformats.org/officeDocument/2006/relationships/presProps" Target="presProps.xml"/><Relationship Id="rId33" Type="http://schemas.openxmlformats.org/officeDocument/2006/relationships/viewProps" Target="viewProps.xml"/><Relationship Id="rId34" Type="http://schemas.openxmlformats.org/officeDocument/2006/relationships/theme" Target="theme/theme1.xml"/><Relationship Id="rId35" Type="http://schemas.openxmlformats.org/officeDocument/2006/relationships/tableStyles" Target="tableStyles.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1.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5282F153-3F37-0F45-9E97-73ACFA13230C}" type="datetimeFigureOut">
              <a:rPr lang="en-US"/>
              <a:t>7/23/19</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CE5E9CC1-C706-0F49-92D6-E571CC5EEA8F}" type="slidenum">
              <a:rPr lang="en-US"/>
              <a:t>‹#›</a:t>
            </a:fld>
            <a:endParaRPr lang="en-US"/>
          </a:p>
        </p:txBody>
      </p:sp>
    </p:spTree>
    <p:extLst>
      <p:ext uri="{BB962C8B-B14F-4D97-AF65-F5344CB8AC3E}">
        <p14:creationId xmlns:p14="http://schemas.microsoft.com/office/powerpoint/2010/main" val="1024086991"/>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7.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8.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9.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0.xml"/></Relationships>
</file>

<file path=ppt/notesSlides/_rels/notesSlide1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1.xml"/></Relationships>
</file>

<file path=ppt/notesSlides/_rels/notesSlide1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2.xml"/></Relationships>
</file>

<file path=ppt/notesSlides/_rels/notesSlide1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3.xml"/></Relationships>
</file>

<file path=ppt/notesSlides/_rels/notesSlide1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4.xml"/></Relationships>
</file>

<file path=ppt/notesSlides/_rels/notesSlide1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5.xml"/></Relationships>
</file>

<file path=ppt/notesSlides/_rels/notesSlide1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6.xml"/></Relationships>
</file>

<file path=ppt/notesSlides/_rels/notesSlide1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7.xml"/></Relationships>
</file>

<file path=ppt/notesSlides/_rels/notesSlide1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8.xml"/></Relationships>
</file>

<file path=ppt/notesSlides/_rels/notesSlide1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9.xml"/></Relationships>
</file>

<file path=ppt/notesSlides/_rels/notesSlide2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0.xml"/></Relationships>
</file>

<file path=ppt/notesSlides/_rels/notesSlide2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1.xml"/></Relationships>
</file>

<file path=ppt/notesSlides/_rels/notesSlide2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2.xml"/></Relationships>
</file>

<file path=ppt/notesSlides/_rels/notesSlide2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3.xml"/></Relationships>
</file>

<file path=ppt/notesSlides/_rels/notesSlide2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4.xml"/></Relationships>
</file>

<file path=ppt/notesSlides/_rels/notesSlide2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5.xml"/></Relationships>
</file>

<file path=ppt/notesSlides/_rels/notesSlide2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6.xml"/></Relationships>
</file>

<file path=ppt/notesSlides/_rels/notesSlide2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7.xml"/></Relationships>
</file>

<file path=ppt/notesSlides/_rels/notesSlide2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8.xml"/></Relationships>
</file>

<file path=ppt/notesSlides/_rels/notesSlide2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9.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29</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Tree>
  </p:cSld>
  <p:clrMap bg1="lt1" tx1="dk1" bg2="lt2" tx2="dk2" accent1="accent1" accent2="accent2" accent3="accent3" accent4="accent4" accent5="accent5" accent6="accent6" hlink="hlink" folHlink="folHlink"/>
  <p:sldLayoutIdLst>
    <p:sldLayoutId id="2147483649" r:id="rId1"/>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xml"/><Relationship Id="rId3" Type="http://schemas.openxmlformats.org/officeDocument/2006/relationships/hyperlink" Target="https://cuinotes.com" TargetMode="Externa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xml"/><Relationship Id="rId3" Type="http://schemas.openxmlformats.org/officeDocument/2006/relationships/hyperlink" Target="https://cuinotes.com" TargetMode="Externa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xml"/><Relationship Id="rId3" Type="http://schemas.openxmlformats.org/officeDocument/2006/relationships/hyperlink" Target="https://cuinotes.com" TargetMode="Externa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4.xml"/><Relationship Id="rId3" Type="http://schemas.openxmlformats.org/officeDocument/2006/relationships/hyperlink" Target="https://cuinotes.com" TargetMode="Externa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5.xml"/><Relationship Id="rId3" Type="http://schemas.openxmlformats.org/officeDocument/2006/relationships/hyperlink" Target="https://cuinotes.com" TargetMode="Externa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6.xml"/><Relationship Id="rId3" Type="http://schemas.openxmlformats.org/officeDocument/2006/relationships/hyperlink" Target="https://cuinotes.com" TargetMode="Externa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7.xml"/><Relationship Id="rId3" Type="http://schemas.openxmlformats.org/officeDocument/2006/relationships/hyperlink" Target="https://cuinotes.com" TargetMode="Externa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8.xml"/><Relationship Id="rId3" Type="http://schemas.openxmlformats.org/officeDocument/2006/relationships/hyperlink" Target="https://cuinotes.com" TargetMode="Externa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9.xml"/><Relationship Id="rId3" Type="http://schemas.openxmlformats.org/officeDocument/2006/relationships/hyperlink" Target="https://cuinotes.com" TargetMode="Externa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0.xml"/><Relationship Id="rId3" Type="http://schemas.openxmlformats.org/officeDocument/2006/relationships/hyperlink" Target="https://cuinotes.com" TargetMode="Externa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1.xml"/><Relationship Id="rId3" Type="http://schemas.openxmlformats.org/officeDocument/2006/relationships/hyperlink" Target="https://cuinotes.com" TargetMode="Externa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2.xml"/><Relationship Id="rId3" Type="http://schemas.openxmlformats.org/officeDocument/2006/relationships/hyperlink" Target="https://cuinotes.com" TargetMode="Externa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3.xml"/><Relationship Id="rId3" Type="http://schemas.openxmlformats.org/officeDocument/2006/relationships/hyperlink" Target="https://cuinotes.com" TargetMode="Externa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4.xml"/><Relationship Id="rId3" Type="http://schemas.openxmlformats.org/officeDocument/2006/relationships/hyperlink" Target="https://cuinotes.com" TargetMode="Externa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5.xml"/><Relationship Id="rId3" Type="http://schemas.openxmlformats.org/officeDocument/2006/relationships/hyperlink" Target="https://cuinotes.com" TargetMode="Externa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6.xml"/><Relationship Id="rId3" Type="http://schemas.openxmlformats.org/officeDocument/2006/relationships/hyperlink" Target="https://cuinotes.com" TargetMode="Externa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7.xml"/><Relationship Id="rId3" Type="http://schemas.openxmlformats.org/officeDocument/2006/relationships/hyperlink" Target="https://cuinotes.com" TargetMode="Externa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8.xml"/><Relationship Id="rId3" Type="http://schemas.openxmlformats.org/officeDocument/2006/relationships/hyperlink" Target="https://cuinotes.com" TargetMode="Externa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9.xml"/><Relationship Id="rId3" Type="http://schemas.openxmlformats.org/officeDocument/2006/relationships/hyperlink" Target="https://cuinotes.com" TargetMode="External"/></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0.xml"/><Relationship Id="rId3" Type="http://schemas.openxmlformats.org/officeDocument/2006/relationships/hyperlink" Target="https://cuinotes.com" TargetMode="External"/></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1.xml"/><Relationship Id="rId3" Type="http://schemas.openxmlformats.org/officeDocument/2006/relationships/hyperlink" Target="https://cuinotes.com" TargetMode="External"/></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2.xml"/><Relationship Id="rId3" Type="http://schemas.openxmlformats.org/officeDocument/2006/relationships/hyperlink" Target="https://cuinotes.com" TargetMode="External"/></Relationships>
</file>

<file path=ppt/slides/_rels/slide2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3.xml"/><Relationship Id="rId3" Type="http://schemas.openxmlformats.org/officeDocument/2006/relationships/hyperlink" Target="https://cuinotes.com" TargetMode="External"/></Relationships>
</file>

<file path=ppt/slides/_rels/slide2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4.xml"/><Relationship Id="rId3" Type="http://schemas.openxmlformats.org/officeDocument/2006/relationships/hyperlink" Target="https://cuinotes.com" TargetMode="External"/></Relationships>
</file>

<file path=ppt/slides/_rels/slide2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5.xml"/><Relationship Id="rId3" Type="http://schemas.openxmlformats.org/officeDocument/2006/relationships/hyperlink" Target="https://cuinotes.com" TargetMode="External"/></Relationships>
</file>

<file path=ppt/slides/_rels/slide26.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6.xml"/><Relationship Id="rId3" Type="http://schemas.openxmlformats.org/officeDocument/2006/relationships/hyperlink" Target="https://cuinotes.com" TargetMode="External"/></Relationships>
</file>

<file path=ppt/slides/_rels/slide27.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7.xml"/><Relationship Id="rId3" Type="http://schemas.openxmlformats.org/officeDocument/2006/relationships/hyperlink" Target="https://cuinotes.com" TargetMode="External"/></Relationships>
</file>

<file path=ppt/slides/_rels/slide28.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8.xml"/><Relationship Id="rId3" Type="http://schemas.openxmlformats.org/officeDocument/2006/relationships/hyperlink" Target="https://cuinotes.com" TargetMode="External"/></Relationships>
</file>

<file path=ppt/slides/_rels/slide29.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9.xml"/><Relationship Id="rId3" Type="http://schemas.openxmlformats.org/officeDocument/2006/relationships/hyperlink" Target="https://cuinotes.com" TargetMode="External"/></Relationships>
</file>

<file path=ppt/slides/slide1.xml><?xml version="1.0" encoding="utf-8"?>
<p:sld xmlns:a="http://schemas.openxmlformats.org/drawingml/2006/main" xmlns:r="http://schemas.openxmlformats.org/officeDocument/2006/relationships" xmlns:p="http://schemas.openxmlformats.org/presentationml/2006/main">
  <p:cSld name="Slide 1">
    <p:bg>
      <p:bgPr>
        <a:solidFill>
          <a:srgbClr val="2B2B7A"/>
        </a:solidFill>
      </p:bgPr>
    </p:bg>
    <p:spTree>
      <p:nvGrpSpPr>
        <p:cNvPr id="1" name=""/>
        <p:cNvGrpSpPr/>
        <p:nvPr/>
      </p:nvGrpSpPr>
      <p:grpSpPr>
        <a:xfrm>
          <a:off x="0" y="0"/>
          <a:ext cx="0" cy="0"/>
          <a:chOff x="0" y="0"/>
          <a:chExt cx="0" cy="0"/>
        </a:xfrm>
      </p:grpSpPr>
      <p:sp>
        <p:nvSpPr>
          <p:cNvPr id="2" name="Text 0"/>
          <p:cNvSpPr txBox="1"/>
          <p:nvPr/>
        </p:nvSpPr>
        <p:spPr>
          <a:xfrm>
            <a:off x="822960" y="1965960"/>
            <a:ext cx="7315200" cy="457200"/>
          </a:xfrm>
          <a:prstGeom prst="rect">
            <a:avLst/>
          </a:prstGeom>
          <a:noFill/>
          <a:ln/>
        </p:spPr>
        <p:txBody>
          <a:bodyPr wrap="square" lIns="0" tIns="0" rIns="0" bIns="0" rtlCol="0" anchor="ctr"/>
          <a:lstStyle/>
          <a:p>
            <a:pPr indent="0" marL="0">
              <a:buNone/>
            </a:pPr>
            <a:r>
              <a:rPr lang="en-US" sz="1500" b="1" spc="400" kern="0" dirty="0">
                <a:solidFill>
                  <a:srgbClr val="FF8A3D"/>
                </a:solidFill>
                <a:latin typeface="Calibri" pitchFamily="34" charset="0"/>
                <a:ea typeface="Calibri" pitchFamily="34" charset="-122"/>
                <a:cs typeface="Calibri" pitchFamily="34" charset="-120"/>
              </a:rPr>
              <a:t>LECTURE 23</a:t>
            </a:r>
            <a:endParaRPr lang="en-US" sz="1500" dirty="0"/>
          </a:p>
        </p:txBody>
      </p:sp>
      <p:sp>
        <p:nvSpPr>
          <p:cNvPr id="3" name="Text 1"/>
          <p:cNvSpPr txBox="1"/>
          <p:nvPr/>
        </p:nvSpPr>
        <p:spPr>
          <a:xfrm>
            <a:off x="777240" y="2377440"/>
            <a:ext cx="8686800" cy="1920240"/>
          </a:xfrm>
          <a:prstGeom prst="rect">
            <a:avLst/>
          </a:prstGeom>
          <a:noFill/>
          <a:ln/>
        </p:spPr>
        <p:txBody>
          <a:bodyPr wrap="square" lIns="0" tIns="0" rIns="0" bIns="0" rtlCol="0" anchor="ctr"/>
          <a:lstStyle/>
          <a:p>
            <a:pPr indent="0" marL="0">
              <a:lnSpc>
                <a:spcPct val="105000"/>
              </a:lnSpc>
              <a:buNone/>
            </a:pPr>
            <a:r>
              <a:rPr lang="en-US" sz="4000" b="1" dirty="0">
                <a:solidFill>
                  <a:srgbClr val="FFFFFF"/>
                </a:solidFill>
                <a:latin typeface="Cambria" pitchFamily="34" charset="0"/>
                <a:ea typeface="Cambria" pitchFamily="34" charset="-122"/>
                <a:cs typeface="Cambria" pitchFamily="34" charset="-120"/>
              </a:rPr>
              <a:t>Object Relational</a:t>
            </a:r>
            <a:endParaRPr lang="en-US" sz="4000" dirty="0"/>
          </a:p>
          <a:p>
            <a:pPr indent="0" marL="0">
              <a:lnSpc>
                <a:spcPct val="105000"/>
              </a:lnSpc>
              <a:buNone/>
            </a:pPr>
            <a:r>
              <a:rPr lang="en-US" sz="4000" b="1" dirty="0">
                <a:solidFill>
                  <a:srgbClr val="FFFFFF"/>
                </a:solidFill>
                <a:latin typeface="Cambria" pitchFamily="34" charset="0"/>
                <a:ea typeface="Cambria" pitchFamily="34" charset="-122"/>
                <a:cs typeface="Cambria" pitchFamily="34" charset="-120"/>
              </a:rPr>
              <a:t>Mapping (ORM / ODM)</a:t>
            </a:r>
            <a:endParaRPr lang="en-US" sz="4000" dirty="0"/>
          </a:p>
        </p:txBody>
      </p:sp>
      <p:sp>
        <p:nvSpPr>
          <p:cNvPr id="4" name="Text 2"/>
          <p:cNvSpPr txBox="1"/>
          <p:nvPr/>
        </p:nvSpPr>
        <p:spPr>
          <a:xfrm>
            <a:off x="822960" y="4389120"/>
            <a:ext cx="8961120" cy="822960"/>
          </a:xfrm>
          <a:prstGeom prst="rect">
            <a:avLst/>
          </a:prstGeom>
          <a:noFill/>
          <a:ln/>
        </p:spPr>
        <p:txBody>
          <a:bodyPr wrap="square" lIns="0" tIns="0" rIns="0" bIns="0" rtlCol="0" anchor="ctr"/>
          <a:lstStyle/>
          <a:p>
            <a:pPr indent="0" marL="0">
              <a:buNone/>
            </a:pPr>
            <a:r>
              <a:rPr lang="en-US" sz="1500" dirty="0">
                <a:solidFill>
                  <a:srgbClr val="C9D3F5"/>
                </a:solidFill>
                <a:latin typeface="Calibri" pitchFamily="34" charset="0"/>
                <a:ea typeface="Calibri" pitchFamily="34" charset="-122"/>
                <a:cs typeface="Calibri" pitchFamily="34" charset="-120"/>
              </a:rPr>
              <a:t>Trading raw driver calls for objects and methods — Mongoose, schemas, and the queries that write themselves.</a:t>
            </a:r>
            <a:endParaRPr lang="en-US" sz="1500" dirty="0"/>
          </a:p>
        </p:txBody>
      </p:sp>
      <p:sp>
        <p:nvSpPr>
          <p:cNvPr id="5" name="Text 3"/>
          <p:cNvSpPr txBox="1"/>
          <p:nvPr/>
        </p:nvSpPr>
        <p:spPr>
          <a:xfrm>
            <a:off x="822960" y="5943600"/>
            <a:ext cx="8229600" cy="365760"/>
          </a:xfrm>
          <a:prstGeom prst="rect">
            <a:avLst/>
          </a:prstGeom>
          <a:noFill/>
          <a:ln/>
        </p:spPr>
        <p:txBody>
          <a:bodyPr wrap="square" lIns="0" tIns="0" rIns="0" bIns="0" rtlCol="0" anchor="ctr"/>
          <a:lstStyle/>
          <a:p>
            <a:pPr indent="0" marL="0">
              <a:buNone/>
            </a:pPr>
            <a:r>
              <a:rPr lang="en-US" sz="1200" dirty="0">
                <a:solidFill>
                  <a:srgbClr val="9AA3D8"/>
                </a:solidFill>
                <a:latin typeface="Calibri" pitchFamily="34" charset="0"/>
                <a:ea typeface="Calibri" pitchFamily="34" charset="-122"/>
                <a:cs typeface="Calibri" pitchFamily="34" charset="-120"/>
              </a:rPr>
              <a:t>CSC336 Web Technologies</a:t>
            </a:r>
            <a:endParaRPr lang="en-US" sz="1200" dirty="0"/>
          </a:p>
        </p:txBody>
      </p:sp>
      <p:sp>
        <p:nvSpPr>
          <p:cNvPr id="8" name="cuinotes-footer-mark"/>
          <p:cNvSpPr txBox="1"/>
          <p:nvPr/>
        </p:nvSpPr>
        <p:spPr>
          <a:xfrm>
            <a:off x="9951720" y="6455664"/>
            <a:ext cx="2011680" cy="292608"/>
          </a:xfrm>
          <a:prstGeom prst="rect">
            <a:avLst/>
          </a:prstGeom>
          <a:noFill/>
        </p:spPr>
        <p:txBody>
          <a:bodyPr wrap="none" lIns="0" rIns="0" tIns="0" bIns="0">
            <a:spAutoFit/>
          </a:bodyPr>
          <a:lstStyle/>
          <a:p>
            <a:pPr algn="r"/>
            <a:r>
              <a:rPr sz="1000">
                <a:solidFill>
                  <a:srgbClr val="8A939B"/>
                </a:solidFill>
                <a:hlinkClick r:id="rId3"/>
              </a:rPr>
              <a:t>cuinotes.com</a:t>
            </a:r>
            <a:r>
              <a:rPr sz="1000">
                <a:solidFill>
                  <a:srgbClr val="8A939B"/>
                </a:solidFill>
              </a:rPr>
              <a:t>  ·  1</a:t>
            </a:r>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bg>
      <p:bgPr>
        <a:solidFill>
          <a:srgbClr val="FFFFFF"/>
        </a:solidFill>
      </p:bgPr>
    </p:bg>
    <p:spTree>
      <p:nvGrpSpPr>
        <p:cNvPr id="1" name=""/>
        <p:cNvGrpSpPr/>
        <p:nvPr/>
      </p:nvGrpSpPr>
      <p:grpSpPr>
        <a:xfrm>
          <a:off x="0" y="0"/>
          <a:ext cx="0" cy="0"/>
          <a:chOff x="0" y="0"/>
          <a:chExt cx="0" cy="0"/>
        </a:xfrm>
      </p:grpSpPr>
      <p:sp>
        <p:nvSpPr>
          <p:cNvPr id="2" name="Text 0"/>
          <p:cNvSpPr txBox="1"/>
          <p:nvPr/>
        </p:nvSpPr>
        <p:spPr>
          <a:xfrm>
            <a:off x="640080" y="457200"/>
            <a:ext cx="10058400" cy="365760"/>
          </a:xfrm>
          <a:prstGeom prst="rect">
            <a:avLst/>
          </a:prstGeom>
          <a:noFill/>
          <a:ln/>
        </p:spPr>
        <p:txBody>
          <a:bodyPr wrap="square" lIns="0" tIns="0" rIns="0" bIns="0" rtlCol="0" anchor="ctr"/>
          <a:lstStyle/>
          <a:p>
            <a:pPr algn="l" indent="0" marL="0">
              <a:buNone/>
            </a:pPr>
            <a:r>
              <a:rPr lang="en-US" sz="1300" b="1" spc="300" kern="0" dirty="0">
                <a:solidFill>
                  <a:srgbClr val="FF8A3D"/>
                </a:solidFill>
                <a:latin typeface="Calibri" pitchFamily="34" charset="0"/>
                <a:ea typeface="Calibri" pitchFamily="34" charset="-122"/>
                <a:cs typeface="Calibri" pitchFamily="34" charset="-120"/>
              </a:rPr>
              <a:t>OVERVIEW</a:t>
            </a:r>
            <a:endParaRPr lang="en-US" sz="1300" dirty="0"/>
          </a:p>
        </p:txBody>
      </p:sp>
      <p:sp>
        <p:nvSpPr>
          <p:cNvPr id="3" name="Text 1"/>
          <p:cNvSpPr txBox="1"/>
          <p:nvPr/>
        </p:nvSpPr>
        <p:spPr>
          <a:xfrm>
            <a:off x="640080" y="841248"/>
            <a:ext cx="10881360" cy="914400"/>
          </a:xfrm>
          <a:prstGeom prst="rect">
            <a:avLst/>
          </a:prstGeom>
          <a:noFill/>
          <a:ln/>
        </p:spPr>
        <p:txBody>
          <a:bodyPr wrap="square" lIns="0" tIns="0" rIns="0" bIns="0" rtlCol="0" anchor="ctr"/>
          <a:lstStyle/>
          <a:p>
            <a:pPr algn="l" indent="0" marL="0">
              <a:buNone/>
            </a:pPr>
            <a:r>
              <a:rPr lang="en-US" sz="3400" b="1" dirty="0">
                <a:solidFill>
                  <a:srgbClr val="2B2B7A"/>
                </a:solidFill>
                <a:latin typeface="Cambria" pitchFamily="34" charset="0"/>
                <a:ea typeface="Cambria" pitchFamily="34" charset="-122"/>
                <a:cs typeface="Cambria" pitchFamily="34" charset="-120"/>
              </a:rPr>
              <a:t>In This Lecture</a:t>
            </a:r>
            <a:endParaRPr lang="en-US" sz="3400" dirty="0"/>
          </a:p>
        </p:txBody>
      </p:sp>
      <p:sp>
        <p:nvSpPr>
          <p:cNvPr id="4" name="Shape 2"/>
          <p:cNvSpPr/>
          <p:nvPr/>
        </p:nvSpPr>
        <p:spPr>
          <a:xfrm>
            <a:off x="685800" y="1965960"/>
            <a:ext cx="457200" cy="457200"/>
          </a:xfrm>
          <a:prstGeom prst="ellipse">
            <a:avLst/>
          </a:prstGeom>
          <a:solidFill>
            <a:srgbClr val="FF8A3D"/>
          </a:solidFill>
          <a:ln/>
        </p:spPr>
        <p:txBody>
          <a:bodyPr/>
          <a:p/>
        </p:txBody>
      </p:sp>
      <p:sp>
        <p:nvSpPr>
          <p:cNvPr id="5" name="Text 3"/>
          <p:cNvSpPr txBox="1"/>
          <p:nvPr/>
        </p:nvSpPr>
        <p:spPr>
          <a:xfrm>
            <a:off x="685800" y="1965960"/>
            <a:ext cx="457200" cy="457200"/>
          </a:xfrm>
          <a:prstGeom prst="rect">
            <a:avLst/>
          </a:prstGeom>
          <a:noFill/>
          <a:ln/>
        </p:spPr>
        <p:txBody>
          <a:bodyPr wrap="square" lIns="0" tIns="0" rIns="0" bIns="0" rtlCol="0" anchor="ctr"/>
          <a:lstStyle/>
          <a:p>
            <a:pPr algn="ctr" indent="0" marL="0">
              <a:buNone/>
            </a:pPr>
            <a:r>
              <a:rPr lang="en-US" sz="1500" b="1" dirty="0">
                <a:solidFill>
                  <a:srgbClr val="FFFFFF"/>
                </a:solidFill>
                <a:latin typeface="Calibri" pitchFamily="34" charset="0"/>
                <a:ea typeface="Calibri" pitchFamily="34" charset="-122"/>
                <a:cs typeface="Calibri" pitchFamily="34" charset="-120"/>
              </a:rPr>
              <a:t>1</a:t>
            </a:r>
            <a:endParaRPr lang="en-US" sz="1500" dirty="0"/>
          </a:p>
        </p:txBody>
      </p:sp>
      <p:sp>
        <p:nvSpPr>
          <p:cNvPr id="6" name="Text 4"/>
          <p:cNvSpPr txBox="1"/>
          <p:nvPr/>
        </p:nvSpPr>
        <p:spPr>
          <a:xfrm>
            <a:off x="1371600" y="1892808"/>
            <a:ext cx="10180015" cy="640080"/>
          </a:xfrm>
          <a:prstGeom prst="rect">
            <a:avLst/>
          </a:prstGeom>
          <a:noFill/>
          <a:ln/>
        </p:spPr>
        <p:txBody>
          <a:bodyPr wrap="square" lIns="0" tIns="0" rIns="0" bIns="0" rtlCol="0" anchor="ctr"/>
          <a:lstStyle/>
          <a:p>
            <a:pPr indent="0" marL="0">
              <a:buNone/>
            </a:pPr>
            <a:r>
              <a:rPr lang="en-US" sz="1500" dirty="0">
                <a:solidFill>
                  <a:srgbClr val="26262F"/>
                </a:solidFill>
                <a:latin typeface="Calibri" pitchFamily="34" charset="0"/>
                <a:ea typeface="Calibri" pitchFamily="34" charset="-122"/>
                <a:cs typeface="Calibri" pitchFamily="34" charset="-120"/>
              </a:rPr>
              <a:t>What "object-relational mapping" means and why ORMs/ODMs exist</a:t>
            </a:r>
            <a:endParaRPr lang="en-US" sz="1500" dirty="0"/>
          </a:p>
        </p:txBody>
      </p:sp>
      <p:sp>
        <p:nvSpPr>
          <p:cNvPr id="7" name="Shape 5"/>
          <p:cNvSpPr/>
          <p:nvPr/>
        </p:nvSpPr>
        <p:spPr>
          <a:xfrm>
            <a:off x="685800" y="2788920"/>
            <a:ext cx="457200" cy="457200"/>
          </a:xfrm>
          <a:prstGeom prst="ellipse">
            <a:avLst/>
          </a:prstGeom>
          <a:solidFill>
            <a:srgbClr val="FF8A3D"/>
          </a:solidFill>
          <a:ln/>
        </p:spPr>
        <p:txBody>
          <a:bodyPr/>
          <a:p/>
        </p:txBody>
      </p:sp>
      <p:sp>
        <p:nvSpPr>
          <p:cNvPr id="8" name="Text 6"/>
          <p:cNvSpPr txBox="1"/>
          <p:nvPr/>
        </p:nvSpPr>
        <p:spPr>
          <a:xfrm>
            <a:off x="685800" y="2788920"/>
            <a:ext cx="457200" cy="457200"/>
          </a:xfrm>
          <a:prstGeom prst="rect">
            <a:avLst/>
          </a:prstGeom>
          <a:noFill/>
          <a:ln/>
        </p:spPr>
        <p:txBody>
          <a:bodyPr wrap="square" lIns="0" tIns="0" rIns="0" bIns="0" rtlCol="0" anchor="ctr"/>
          <a:lstStyle/>
          <a:p>
            <a:pPr algn="ctr" indent="0" marL="0">
              <a:buNone/>
            </a:pPr>
            <a:r>
              <a:rPr lang="en-US" sz="1500" b="1" dirty="0">
                <a:solidFill>
                  <a:srgbClr val="FFFFFF"/>
                </a:solidFill>
                <a:latin typeface="Calibri" pitchFamily="34" charset="0"/>
                <a:ea typeface="Calibri" pitchFamily="34" charset="-122"/>
                <a:cs typeface="Calibri" pitchFamily="34" charset="-120"/>
              </a:rPr>
              <a:t>2</a:t>
            </a:r>
            <a:endParaRPr lang="en-US" sz="1500" dirty="0"/>
          </a:p>
        </p:txBody>
      </p:sp>
      <p:sp>
        <p:nvSpPr>
          <p:cNvPr id="9" name="Text 7"/>
          <p:cNvSpPr txBox="1"/>
          <p:nvPr/>
        </p:nvSpPr>
        <p:spPr>
          <a:xfrm>
            <a:off x="1371600" y="2715768"/>
            <a:ext cx="10180015" cy="640080"/>
          </a:xfrm>
          <a:prstGeom prst="rect">
            <a:avLst/>
          </a:prstGeom>
          <a:noFill/>
          <a:ln/>
        </p:spPr>
        <p:txBody>
          <a:bodyPr wrap="square" lIns="0" tIns="0" rIns="0" bIns="0" rtlCol="0" anchor="ctr"/>
          <a:lstStyle/>
          <a:p>
            <a:pPr indent="0" marL="0">
              <a:buNone/>
            </a:pPr>
            <a:r>
              <a:rPr lang="en-US" sz="1500" dirty="0">
                <a:solidFill>
                  <a:srgbClr val="26262F"/>
                </a:solidFill>
                <a:latin typeface="Calibri" pitchFamily="34" charset="0"/>
                <a:ea typeface="Calibri" pitchFamily="34" charset="-122"/>
                <a:cs typeface="Calibri" pitchFamily="34" charset="-120"/>
              </a:rPr>
              <a:t>Defining models, schemas, fields, and data types with Mongoose</a:t>
            </a:r>
            <a:endParaRPr lang="en-US" sz="1500" dirty="0"/>
          </a:p>
        </p:txBody>
      </p:sp>
      <p:sp>
        <p:nvSpPr>
          <p:cNvPr id="10" name="Shape 8"/>
          <p:cNvSpPr/>
          <p:nvPr/>
        </p:nvSpPr>
        <p:spPr>
          <a:xfrm>
            <a:off x="685800" y="3611880"/>
            <a:ext cx="457200" cy="457200"/>
          </a:xfrm>
          <a:prstGeom prst="ellipse">
            <a:avLst/>
          </a:prstGeom>
          <a:solidFill>
            <a:srgbClr val="FF8A3D"/>
          </a:solidFill>
          <a:ln/>
        </p:spPr>
        <p:txBody>
          <a:bodyPr/>
          <a:p/>
        </p:txBody>
      </p:sp>
      <p:sp>
        <p:nvSpPr>
          <p:cNvPr id="11" name="Text 9"/>
          <p:cNvSpPr txBox="1"/>
          <p:nvPr/>
        </p:nvSpPr>
        <p:spPr>
          <a:xfrm>
            <a:off x="685800" y="3611880"/>
            <a:ext cx="457200" cy="457200"/>
          </a:xfrm>
          <a:prstGeom prst="rect">
            <a:avLst/>
          </a:prstGeom>
          <a:noFill/>
          <a:ln/>
        </p:spPr>
        <p:txBody>
          <a:bodyPr wrap="square" lIns="0" tIns="0" rIns="0" bIns="0" rtlCol="0" anchor="ctr"/>
          <a:lstStyle/>
          <a:p>
            <a:pPr algn="ctr" indent="0" marL="0">
              <a:buNone/>
            </a:pPr>
            <a:r>
              <a:rPr lang="en-US" sz="1500" b="1" dirty="0">
                <a:solidFill>
                  <a:srgbClr val="FFFFFF"/>
                </a:solidFill>
                <a:latin typeface="Calibri" pitchFamily="34" charset="0"/>
                <a:ea typeface="Calibri" pitchFamily="34" charset="-122"/>
                <a:cs typeface="Calibri" pitchFamily="34" charset="-120"/>
              </a:rPr>
              <a:t>3</a:t>
            </a:r>
            <a:endParaRPr lang="en-US" sz="1500" dirty="0"/>
          </a:p>
        </p:txBody>
      </p:sp>
      <p:sp>
        <p:nvSpPr>
          <p:cNvPr id="12" name="Text 10"/>
          <p:cNvSpPr txBox="1"/>
          <p:nvPr/>
        </p:nvSpPr>
        <p:spPr>
          <a:xfrm>
            <a:off x="1371600" y="3538728"/>
            <a:ext cx="10180015" cy="640080"/>
          </a:xfrm>
          <a:prstGeom prst="rect">
            <a:avLst/>
          </a:prstGeom>
          <a:noFill/>
          <a:ln/>
        </p:spPr>
        <p:txBody>
          <a:bodyPr wrap="square" lIns="0" tIns="0" rIns="0" bIns="0" rtlCol="0" anchor="ctr"/>
          <a:lstStyle/>
          <a:p>
            <a:pPr indent="0" marL="0">
              <a:buNone/>
            </a:pPr>
            <a:r>
              <a:rPr lang="en-US" sz="1500" dirty="0">
                <a:solidFill>
                  <a:srgbClr val="26262F"/>
                </a:solidFill>
                <a:latin typeface="Calibri" pitchFamily="34" charset="0"/>
                <a:ea typeface="Calibri" pitchFamily="34" charset="-122"/>
                <a:cs typeface="Calibri" pitchFamily="34" charset="-120"/>
              </a:rPr>
              <a:t>CRUD through an ORM/ODM: queries, filtering, projection, pagination</a:t>
            </a:r>
            <a:endParaRPr lang="en-US" sz="1500" dirty="0"/>
          </a:p>
        </p:txBody>
      </p:sp>
      <p:sp>
        <p:nvSpPr>
          <p:cNvPr id="13" name="Shape 11"/>
          <p:cNvSpPr/>
          <p:nvPr/>
        </p:nvSpPr>
        <p:spPr>
          <a:xfrm>
            <a:off x="685800" y="4434840"/>
            <a:ext cx="457200" cy="457200"/>
          </a:xfrm>
          <a:prstGeom prst="ellipse">
            <a:avLst/>
          </a:prstGeom>
          <a:solidFill>
            <a:srgbClr val="FF8A3D"/>
          </a:solidFill>
          <a:ln/>
        </p:spPr>
        <p:txBody>
          <a:bodyPr/>
          <a:p/>
        </p:txBody>
      </p:sp>
      <p:sp>
        <p:nvSpPr>
          <p:cNvPr id="14" name="Text 12"/>
          <p:cNvSpPr txBox="1"/>
          <p:nvPr/>
        </p:nvSpPr>
        <p:spPr>
          <a:xfrm>
            <a:off x="685800" y="4434840"/>
            <a:ext cx="457200" cy="457200"/>
          </a:xfrm>
          <a:prstGeom prst="rect">
            <a:avLst/>
          </a:prstGeom>
          <a:noFill/>
          <a:ln/>
        </p:spPr>
        <p:txBody>
          <a:bodyPr wrap="square" lIns="0" tIns="0" rIns="0" bIns="0" rtlCol="0" anchor="ctr"/>
          <a:lstStyle/>
          <a:p>
            <a:pPr algn="ctr" indent="0" marL="0">
              <a:buNone/>
            </a:pPr>
            <a:r>
              <a:rPr lang="en-US" sz="1500" b="1" dirty="0">
                <a:solidFill>
                  <a:srgbClr val="FFFFFF"/>
                </a:solidFill>
                <a:latin typeface="Calibri" pitchFamily="34" charset="0"/>
                <a:ea typeface="Calibri" pitchFamily="34" charset="-122"/>
                <a:cs typeface="Calibri" pitchFamily="34" charset="-120"/>
              </a:rPr>
              <a:t>4</a:t>
            </a:r>
            <a:endParaRPr lang="en-US" sz="1500" dirty="0"/>
          </a:p>
        </p:txBody>
      </p:sp>
      <p:sp>
        <p:nvSpPr>
          <p:cNvPr id="15" name="Text 13"/>
          <p:cNvSpPr txBox="1"/>
          <p:nvPr/>
        </p:nvSpPr>
        <p:spPr>
          <a:xfrm>
            <a:off x="1371600" y="4361688"/>
            <a:ext cx="10180015" cy="640080"/>
          </a:xfrm>
          <a:prstGeom prst="rect">
            <a:avLst/>
          </a:prstGeom>
          <a:noFill/>
          <a:ln/>
        </p:spPr>
        <p:txBody>
          <a:bodyPr wrap="square" lIns="0" tIns="0" rIns="0" bIns="0" rtlCol="0" anchor="ctr"/>
          <a:lstStyle/>
          <a:p>
            <a:pPr indent="0" marL="0">
              <a:buNone/>
            </a:pPr>
            <a:r>
              <a:rPr lang="en-US" sz="1500" dirty="0">
                <a:solidFill>
                  <a:srgbClr val="26262F"/>
                </a:solidFill>
                <a:latin typeface="Calibri" pitchFamily="34" charset="0"/>
                <a:ea typeface="Calibri" pitchFamily="34" charset="-122"/>
                <a:cs typeface="Calibri" pitchFamily="34" charset="-120"/>
              </a:rPr>
              <a:t>Associations: population in Mongoose, joins/associations in SQL ORMs</a:t>
            </a:r>
            <a:endParaRPr lang="en-US" sz="1500" dirty="0"/>
          </a:p>
        </p:txBody>
      </p:sp>
      <p:sp>
        <p:nvSpPr>
          <p:cNvPr id="16" name="Shape 14"/>
          <p:cNvSpPr/>
          <p:nvPr/>
        </p:nvSpPr>
        <p:spPr>
          <a:xfrm>
            <a:off x="685800" y="5257800"/>
            <a:ext cx="457200" cy="457200"/>
          </a:xfrm>
          <a:prstGeom prst="ellipse">
            <a:avLst/>
          </a:prstGeom>
          <a:solidFill>
            <a:srgbClr val="FF8A3D"/>
          </a:solidFill>
          <a:ln/>
        </p:spPr>
        <p:txBody>
          <a:bodyPr/>
          <a:p/>
        </p:txBody>
      </p:sp>
      <p:sp>
        <p:nvSpPr>
          <p:cNvPr id="17" name="Text 15"/>
          <p:cNvSpPr txBox="1"/>
          <p:nvPr/>
        </p:nvSpPr>
        <p:spPr>
          <a:xfrm>
            <a:off x="685800" y="5257800"/>
            <a:ext cx="457200" cy="457200"/>
          </a:xfrm>
          <a:prstGeom prst="rect">
            <a:avLst/>
          </a:prstGeom>
          <a:noFill/>
          <a:ln/>
        </p:spPr>
        <p:txBody>
          <a:bodyPr wrap="square" lIns="0" tIns="0" rIns="0" bIns="0" rtlCol="0" anchor="ctr"/>
          <a:lstStyle/>
          <a:p>
            <a:pPr algn="ctr" indent="0" marL="0">
              <a:buNone/>
            </a:pPr>
            <a:r>
              <a:rPr lang="en-US" sz="1500" b="1" dirty="0">
                <a:solidFill>
                  <a:srgbClr val="FFFFFF"/>
                </a:solidFill>
                <a:latin typeface="Calibri" pitchFamily="34" charset="0"/>
                <a:ea typeface="Calibri" pitchFamily="34" charset="-122"/>
                <a:cs typeface="Calibri" pitchFamily="34" charset="-120"/>
              </a:rPr>
              <a:t>5</a:t>
            </a:r>
            <a:endParaRPr lang="en-US" sz="1500" dirty="0"/>
          </a:p>
        </p:txBody>
      </p:sp>
      <p:sp>
        <p:nvSpPr>
          <p:cNvPr id="18" name="Text 16"/>
          <p:cNvSpPr txBox="1"/>
          <p:nvPr/>
        </p:nvSpPr>
        <p:spPr>
          <a:xfrm>
            <a:off x="1371600" y="5184648"/>
            <a:ext cx="10180015" cy="640080"/>
          </a:xfrm>
          <a:prstGeom prst="rect">
            <a:avLst/>
          </a:prstGeom>
          <a:noFill/>
          <a:ln/>
        </p:spPr>
        <p:txBody>
          <a:bodyPr wrap="square" lIns="0" tIns="0" rIns="0" bIns="0" rtlCol="0" anchor="ctr"/>
          <a:lstStyle/>
          <a:p>
            <a:pPr indent="0" marL="0">
              <a:buNone/>
            </a:pPr>
            <a:r>
              <a:rPr lang="en-US" sz="1500" dirty="0">
                <a:solidFill>
                  <a:srgbClr val="26262F"/>
                </a:solidFill>
                <a:latin typeface="Calibri" pitchFamily="34" charset="0"/>
                <a:ea typeface="Calibri" pitchFamily="34" charset="-122"/>
                <a:cs typeface="Calibri" pitchFamily="34" charset="-120"/>
              </a:rPr>
              <a:t>Migrations, seeding, and the trade-offs of using an ORM/ODM</a:t>
            </a:r>
            <a:endParaRPr lang="en-US" sz="1500" dirty="0"/>
          </a:p>
        </p:txBody>
      </p:sp>
      <p:sp>
        <p:nvSpPr>
          <p:cNvPr id="21" name="cuinotes-footer-mark"/>
          <p:cNvSpPr txBox="1"/>
          <p:nvPr/>
        </p:nvSpPr>
        <p:spPr>
          <a:xfrm>
            <a:off x="9951720" y="6455664"/>
            <a:ext cx="2011680" cy="292608"/>
          </a:xfrm>
          <a:prstGeom prst="rect">
            <a:avLst/>
          </a:prstGeom>
          <a:noFill/>
        </p:spPr>
        <p:txBody>
          <a:bodyPr wrap="none" lIns="0" rIns="0" tIns="0" bIns="0">
            <a:spAutoFit/>
          </a:bodyPr>
          <a:lstStyle/>
          <a:p>
            <a:pPr algn="r"/>
            <a:r>
              <a:rPr sz="1000">
                <a:solidFill>
                  <a:srgbClr val="8A939B"/>
                </a:solidFill>
                <a:hlinkClick r:id="rId3"/>
              </a:rPr>
              <a:t>cuinotes.com</a:t>
            </a:r>
            <a:r>
              <a:rPr sz="1000">
                <a:solidFill>
                  <a:srgbClr val="8A939B"/>
                </a:solidFill>
              </a:rPr>
              <a:t>  ·  2</a:t>
            </a:r>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bg>
      <p:bgPr>
        <a:solidFill>
          <a:srgbClr val="FFFFFF"/>
        </a:solidFill>
      </p:bgPr>
    </p:bg>
    <p:spTree>
      <p:nvGrpSpPr>
        <p:cNvPr id="1" name=""/>
        <p:cNvGrpSpPr/>
        <p:nvPr/>
      </p:nvGrpSpPr>
      <p:grpSpPr>
        <a:xfrm>
          <a:off x="0" y="0"/>
          <a:ext cx="0" cy="0"/>
          <a:chOff x="0" y="0"/>
          <a:chExt cx="0" cy="0"/>
        </a:xfrm>
      </p:grpSpPr>
      <p:sp>
        <p:nvSpPr>
          <p:cNvPr id="2" name="Text 0"/>
          <p:cNvSpPr txBox="1"/>
          <p:nvPr/>
        </p:nvSpPr>
        <p:spPr>
          <a:xfrm>
            <a:off x="640080" y="457200"/>
            <a:ext cx="10058400" cy="365760"/>
          </a:xfrm>
          <a:prstGeom prst="rect">
            <a:avLst/>
          </a:prstGeom>
          <a:noFill/>
          <a:ln/>
        </p:spPr>
        <p:txBody>
          <a:bodyPr wrap="square" lIns="0" tIns="0" rIns="0" bIns="0" rtlCol="0" anchor="ctr"/>
          <a:lstStyle/>
          <a:p>
            <a:pPr algn="l" indent="0" marL="0">
              <a:buNone/>
            </a:pPr>
            <a:r>
              <a:rPr lang="en-US" sz="1300" b="1" spc="300" kern="0" dirty="0">
                <a:solidFill>
                  <a:srgbClr val="FF8A3D"/>
                </a:solidFill>
                <a:latin typeface="Calibri" pitchFamily="34" charset="0"/>
                <a:ea typeface="Calibri" pitchFamily="34" charset="-122"/>
                <a:cs typeface="Calibri" pitchFamily="34" charset="-120"/>
              </a:rPr>
              <a:t>THE BIG IDEA</a:t>
            </a:r>
            <a:endParaRPr lang="en-US" sz="1300" dirty="0"/>
          </a:p>
        </p:txBody>
      </p:sp>
      <p:sp>
        <p:nvSpPr>
          <p:cNvPr id="3" name="Text 1"/>
          <p:cNvSpPr txBox="1"/>
          <p:nvPr/>
        </p:nvSpPr>
        <p:spPr>
          <a:xfrm>
            <a:off x="640080" y="841248"/>
            <a:ext cx="10881360" cy="914400"/>
          </a:xfrm>
          <a:prstGeom prst="rect">
            <a:avLst/>
          </a:prstGeom>
          <a:noFill/>
          <a:ln/>
        </p:spPr>
        <p:txBody>
          <a:bodyPr wrap="square" lIns="0" tIns="0" rIns="0" bIns="0" rtlCol="0" anchor="ctr"/>
          <a:lstStyle/>
          <a:p>
            <a:pPr algn="l" indent="0" marL="0">
              <a:buNone/>
            </a:pPr>
            <a:r>
              <a:rPr lang="en-US" sz="3400" b="1" dirty="0">
                <a:solidFill>
                  <a:srgbClr val="2B2B7A"/>
                </a:solidFill>
                <a:latin typeface="Cambria" pitchFamily="34" charset="0"/>
                <a:ea typeface="Cambria" pitchFamily="34" charset="-122"/>
                <a:cs typeface="Cambria" pitchFamily="34" charset="-120"/>
              </a:rPr>
              <a:t>What Is an ORM/ODM?</a:t>
            </a:r>
            <a:endParaRPr lang="en-US" sz="3400" dirty="0"/>
          </a:p>
        </p:txBody>
      </p:sp>
      <p:sp>
        <p:nvSpPr>
          <p:cNvPr id="4" name="Shape 2"/>
          <p:cNvSpPr/>
          <p:nvPr/>
        </p:nvSpPr>
        <p:spPr>
          <a:xfrm>
            <a:off x="685800" y="1965960"/>
            <a:ext cx="457200" cy="457200"/>
          </a:xfrm>
          <a:prstGeom prst="ellipse">
            <a:avLst/>
          </a:prstGeom>
          <a:solidFill>
            <a:srgbClr val="FF8A3D"/>
          </a:solidFill>
          <a:ln/>
        </p:spPr>
        <p:txBody>
          <a:bodyPr/>
          <a:p/>
        </p:txBody>
      </p:sp>
      <p:sp>
        <p:nvSpPr>
          <p:cNvPr id="5" name="Text 3"/>
          <p:cNvSpPr txBox="1"/>
          <p:nvPr/>
        </p:nvSpPr>
        <p:spPr>
          <a:xfrm>
            <a:off x="685800" y="1965960"/>
            <a:ext cx="457200" cy="457200"/>
          </a:xfrm>
          <a:prstGeom prst="rect">
            <a:avLst/>
          </a:prstGeom>
          <a:noFill/>
          <a:ln/>
        </p:spPr>
        <p:txBody>
          <a:bodyPr wrap="square" lIns="0" tIns="0" rIns="0" bIns="0" rtlCol="0" anchor="ctr"/>
          <a:lstStyle/>
          <a:p>
            <a:pPr algn="ctr" indent="0" marL="0">
              <a:buNone/>
            </a:pPr>
            <a:r>
              <a:rPr lang="en-US" sz="1500" b="1" dirty="0">
                <a:solidFill>
                  <a:srgbClr val="FFFFFF"/>
                </a:solidFill>
                <a:latin typeface="Calibri" pitchFamily="34" charset="0"/>
                <a:ea typeface="Calibri" pitchFamily="34" charset="-122"/>
                <a:cs typeface="Calibri" pitchFamily="34" charset="-120"/>
              </a:rPr>
              <a:t>1</a:t>
            </a:r>
            <a:endParaRPr lang="en-US" sz="1500" dirty="0"/>
          </a:p>
        </p:txBody>
      </p:sp>
      <p:sp>
        <p:nvSpPr>
          <p:cNvPr id="6" name="Text 4"/>
          <p:cNvSpPr txBox="1"/>
          <p:nvPr/>
        </p:nvSpPr>
        <p:spPr>
          <a:xfrm>
            <a:off x="1371600" y="1892808"/>
            <a:ext cx="10180015" cy="640080"/>
          </a:xfrm>
          <a:prstGeom prst="rect">
            <a:avLst/>
          </a:prstGeom>
          <a:noFill/>
          <a:ln/>
        </p:spPr>
        <p:txBody>
          <a:bodyPr wrap="square" lIns="0" tIns="0" rIns="0" bIns="0" rtlCol="0" anchor="ctr"/>
          <a:lstStyle/>
          <a:p>
            <a:pPr indent="0" marL="0">
              <a:buNone/>
            </a:pPr>
            <a:r>
              <a:rPr lang="en-US" sz="1500" dirty="0">
                <a:solidFill>
                  <a:srgbClr val="26262F"/>
                </a:solidFill>
                <a:latin typeface="Calibri" pitchFamily="34" charset="0"/>
                <a:ea typeface="Calibri" pitchFamily="34" charset="-122"/>
                <a:cs typeface="Calibri" pitchFamily="34" charset="-120"/>
              </a:rPr>
              <a:t>ORM (Object-Relational Mapping): interact with a relational database using objects and methods instead of raw SQL</a:t>
            </a:r>
            <a:endParaRPr lang="en-US" sz="1500" dirty="0"/>
          </a:p>
        </p:txBody>
      </p:sp>
      <p:sp>
        <p:nvSpPr>
          <p:cNvPr id="7" name="Shape 5"/>
          <p:cNvSpPr/>
          <p:nvPr/>
        </p:nvSpPr>
        <p:spPr>
          <a:xfrm>
            <a:off x="685800" y="2788920"/>
            <a:ext cx="457200" cy="457200"/>
          </a:xfrm>
          <a:prstGeom prst="ellipse">
            <a:avLst/>
          </a:prstGeom>
          <a:solidFill>
            <a:srgbClr val="FF8A3D"/>
          </a:solidFill>
          <a:ln/>
        </p:spPr>
        <p:txBody>
          <a:bodyPr/>
          <a:p/>
        </p:txBody>
      </p:sp>
      <p:sp>
        <p:nvSpPr>
          <p:cNvPr id="8" name="Text 6"/>
          <p:cNvSpPr txBox="1"/>
          <p:nvPr/>
        </p:nvSpPr>
        <p:spPr>
          <a:xfrm>
            <a:off x="685800" y="2788920"/>
            <a:ext cx="457200" cy="457200"/>
          </a:xfrm>
          <a:prstGeom prst="rect">
            <a:avLst/>
          </a:prstGeom>
          <a:noFill/>
          <a:ln/>
        </p:spPr>
        <p:txBody>
          <a:bodyPr wrap="square" lIns="0" tIns="0" rIns="0" bIns="0" rtlCol="0" anchor="ctr"/>
          <a:lstStyle/>
          <a:p>
            <a:pPr algn="ctr" indent="0" marL="0">
              <a:buNone/>
            </a:pPr>
            <a:r>
              <a:rPr lang="en-US" sz="1500" b="1" dirty="0">
                <a:solidFill>
                  <a:srgbClr val="FFFFFF"/>
                </a:solidFill>
                <a:latin typeface="Calibri" pitchFamily="34" charset="0"/>
                <a:ea typeface="Calibri" pitchFamily="34" charset="-122"/>
                <a:cs typeface="Calibri" pitchFamily="34" charset="-120"/>
              </a:rPr>
              <a:t>2</a:t>
            </a:r>
            <a:endParaRPr lang="en-US" sz="1500" dirty="0"/>
          </a:p>
        </p:txBody>
      </p:sp>
      <p:sp>
        <p:nvSpPr>
          <p:cNvPr id="9" name="Text 7"/>
          <p:cNvSpPr txBox="1"/>
          <p:nvPr/>
        </p:nvSpPr>
        <p:spPr>
          <a:xfrm>
            <a:off x="1371600" y="2715768"/>
            <a:ext cx="10180015" cy="640080"/>
          </a:xfrm>
          <a:prstGeom prst="rect">
            <a:avLst/>
          </a:prstGeom>
          <a:noFill/>
          <a:ln/>
        </p:spPr>
        <p:txBody>
          <a:bodyPr wrap="square" lIns="0" tIns="0" rIns="0" bIns="0" rtlCol="0" anchor="ctr"/>
          <a:lstStyle/>
          <a:p>
            <a:pPr indent="0" marL="0">
              <a:buNone/>
            </a:pPr>
            <a:r>
              <a:rPr lang="en-US" sz="1500" dirty="0">
                <a:solidFill>
                  <a:srgbClr val="26262F"/>
                </a:solidFill>
                <a:latin typeface="Calibri" pitchFamily="34" charset="0"/>
                <a:ea typeface="Calibri" pitchFamily="34" charset="-122"/>
                <a:cs typeface="Calibri" pitchFamily="34" charset="-120"/>
              </a:rPr>
              <a:t>ODM (Object-Document Mapper): the same idea for document databases like MongoDB</a:t>
            </a:r>
            <a:endParaRPr lang="en-US" sz="1500" dirty="0"/>
          </a:p>
        </p:txBody>
      </p:sp>
      <p:sp>
        <p:nvSpPr>
          <p:cNvPr id="10" name="Shape 8"/>
          <p:cNvSpPr/>
          <p:nvPr/>
        </p:nvSpPr>
        <p:spPr>
          <a:xfrm>
            <a:off x="685800" y="3611880"/>
            <a:ext cx="457200" cy="457200"/>
          </a:xfrm>
          <a:prstGeom prst="ellipse">
            <a:avLst/>
          </a:prstGeom>
          <a:solidFill>
            <a:srgbClr val="FF8A3D"/>
          </a:solidFill>
          <a:ln/>
        </p:spPr>
        <p:txBody>
          <a:bodyPr/>
          <a:p/>
        </p:txBody>
      </p:sp>
      <p:sp>
        <p:nvSpPr>
          <p:cNvPr id="11" name="Text 9"/>
          <p:cNvSpPr txBox="1"/>
          <p:nvPr/>
        </p:nvSpPr>
        <p:spPr>
          <a:xfrm>
            <a:off x="685800" y="3611880"/>
            <a:ext cx="457200" cy="457200"/>
          </a:xfrm>
          <a:prstGeom prst="rect">
            <a:avLst/>
          </a:prstGeom>
          <a:noFill/>
          <a:ln/>
        </p:spPr>
        <p:txBody>
          <a:bodyPr wrap="square" lIns="0" tIns="0" rIns="0" bIns="0" rtlCol="0" anchor="ctr"/>
          <a:lstStyle/>
          <a:p>
            <a:pPr algn="ctr" indent="0" marL="0">
              <a:buNone/>
            </a:pPr>
            <a:r>
              <a:rPr lang="en-US" sz="1500" b="1" dirty="0">
                <a:solidFill>
                  <a:srgbClr val="FFFFFF"/>
                </a:solidFill>
                <a:latin typeface="Calibri" pitchFamily="34" charset="0"/>
                <a:ea typeface="Calibri" pitchFamily="34" charset="-122"/>
                <a:cs typeface="Calibri" pitchFamily="34" charset="-120"/>
              </a:rPr>
              <a:t>3</a:t>
            </a:r>
            <a:endParaRPr lang="en-US" sz="1500" dirty="0"/>
          </a:p>
        </p:txBody>
      </p:sp>
      <p:sp>
        <p:nvSpPr>
          <p:cNvPr id="12" name="Text 10"/>
          <p:cNvSpPr txBox="1"/>
          <p:nvPr/>
        </p:nvSpPr>
        <p:spPr>
          <a:xfrm>
            <a:off x="1371600" y="3538728"/>
            <a:ext cx="10180015" cy="640080"/>
          </a:xfrm>
          <a:prstGeom prst="rect">
            <a:avLst/>
          </a:prstGeom>
          <a:noFill/>
          <a:ln/>
        </p:spPr>
        <p:txBody>
          <a:bodyPr wrap="square" lIns="0" tIns="0" rIns="0" bIns="0" rtlCol="0" anchor="ctr"/>
          <a:lstStyle/>
          <a:p>
            <a:pPr indent="0" marL="0">
              <a:buNone/>
            </a:pPr>
            <a:r>
              <a:rPr lang="en-US" sz="1500" dirty="0">
                <a:solidFill>
                  <a:srgbClr val="26262F"/>
                </a:solidFill>
                <a:latin typeface="Calibri" pitchFamily="34" charset="0"/>
                <a:ea typeface="Calibri" pitchFamily="34" charset="-122"/>
                <a:cs typeface="Calibri" pitchFamily="34" charset="-120"/>
              </a:rPr>
              <a:t>Write User.find(...) instead of hand-rolled driver calls</a:t>
            </a:r>
            <a:endParaRPr lang="en-US" sz="1500" dirty="0"/>
          </a:p>
        </p:txBody>
      </p:sp>
      <p:sp>
        <p:nvSpPr>
          <p:cNvPr id="13" name="Shape 11"/>
          <p:cNvSpPr/>
          <p:nvPr/>
        </p:nvSpPr>
        <p:spPr>
          <a:xfrm>
            <a:off x="685800" y="4434840"/>
            <a:ext cx="457200" cy="457200"/>
          </a:xfrm>
          <a:prstGeom prst="ellipse">
            <a:avLst/>
          </a:prstGeom>
          <a:solidFill>
            <a:srgbClr val="FF8A3D"/>
          </a:solidFill>
          <a:ln/>
        </p:spPr>
        <p:txBody>
          <a:bodyPr/>
          <a:p/>
        </p:txBody>
      </p:sp>
      <p:sp>
        <p:nvSpPr>
          <p:cNvPr id="14" name="Text 12"/>
          <p:cNvSpPr txBox="1"/>
          <p:nvPr/>
        </p:nvSpPr>
        <p:spPr>
          <a:xfrm>
            <a:off x="685800" y="4434840"/>
            <a:ext cx="457200" cy="457200"/>
          </a:xfrm>
          <a:prstGeom prst="rect">
            <a:avLst/>
          </a:prstGeom>
          <a:noFill/>
          <a:ln/>
        </p:spPr>
        <p:txBody>
          <a:bodyPr wrap="square" lIns="0" tIns="0" rIns="0" bIns="0" rtlCol="0" anchor="ctr"/>
          <a:lstStyle/>
          <a:p>
            <a:pPr algn="ctr" indent="0" marL="0">
              <a:buNone/>
            </a:pPr>
            <a:r>
              <a:rPr lang="en-US" sz="1500" b="1" dirty="0">
                <a:solidFill>
                  <a:srgbClr val="FFFFFF"/>
                </a:solidFill>
                <a:latin typeface="Calibri" pitchFamily="34" charset="0"/>
                <a:ea typeface="Calibri" pitchFamily="34" charset="-122"/>
                <a:cs typeface="Calibri" pitchFamily="34" charset="-120"/>
              </a:rPr>
              <a:t>4</a:t>
            </a:r>
            <a:endParaRPr lang="en-US" sz="1500" dirty="0"/>
          </a:p>
        </p:txBody>
      </p:sp>
      <p:sp>
        <p:nvSpPr>
          <p:cNvPr id="15" name="Text 13"/>
          <p:cNvSpPr txBox="1"/>
          <p:nvPr/>
        </p:nvSpPr>
        <p:spPr>
          <a:xfrm>
            <a:off x="1371600" y="4361688"/>
            <a:ext cx="10180015" cy="640080"/>
          </a:xfrm>
          <a:prstGeom prst="rect">
            <a:avLst/>
          </a:prstGeom>
          <a:noFill/>
          <a:ln/>
        </p:spPr>
        <p:txBody>
          <a:bodyPr wrap="square" lIns="0" tIns="0" rIns="0" bIns="0" rtlCol="0" anchor="ctr"/>
          <a:lstStyle/>
          <a:p>
            <a:pPr indent="0" marL="0">
              <a:buNone/>
            </a:pPr>
            <a:r>
              <a:rPr lang="en-US" sz="1500" dirty="0">
                <a:solidFill>
                  <a:srgbClr val="26262F"/>
                </a:solidFill>
                <a:latin typeface="Calibri" pitchFamily="34" charset="0"/>
                <a:ea typeface="Calibri" pitchFamily="34" charset="-122"/>
                <a:cs typeface="Calibri" pitchFamily="34" charset="-120"/>
              </a:rPr>
              <a:t>Mongoose is the most widely used ODM for MongoDB in Node.js; Sequelize and Prisma are popular SQL ORMs</a:t>
            </a:r>
            <a:endParaRPr lang="en-US" sz="1500" dirty="0"/>
          </a:p>
        </p:txBody>
      </p:sp>
      <p:sp>
        <p:nvSpPr>
          <p:cNvPr id="18" name="cuinotes-footer-mark"/>
          <p:cNvSpPr txBox="1"/>
          <p:nvPr/>
        </p:nvSpPr>
        <p:spPr>
          <a:xfrm>
            <a:off x="9951720" y="6455664"/>
            <a:ext cx="2011680" cy="292608"/>
          </a:xfrm>
          <a:prstGeom prst="rect">
            <a:avLst/>
          </a:prstGeom>
          <a:noFill/>
        </p:spPr>
        <p:txBody>
          <a:bodyPr wrap="none" lIns="0" rIns="0" tIns="0" bIns="0">
            <a:spAutoFit/>
          </a:bodyPr>
          <a:lstStyle/>
          <a:p>
            <a:pPr algn="r"/>
            <a:r>
              <a:rPr sz="1000">
                <a:solidFill>
                  <a:srgbClr val="8A939B"/>
                </a:solidFill>
                <a:hlinkClick r:id="rId3"/>
              </a:rPr>
              <a:t>cuinotes.com</a:t>
            </a:r>
            <a:r>
              <a:rPr sz="1000">
                <a:solidFill>
                  <a:srgbClr val="8A939B"/>
                </a:solidFill>
              </a:rPr>
              <a:t>  ·  3</a:t>
            </a:r>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4">
    <p:bg>
      <p:bgPr>
        <a:solidFill>
          <a:srgbClr val="FFFFFF"/>
        </a:solidFill>
      </p:bgPr>
    </p:bg>
    <p:spTree>
      <p:nvGrpSpPr>
        <p:cNvPr id="1" name=""/>
        <p:cNvGrpSpPr/>
        <p:nvPr/>
      </p:nvGrpSpPr>
      <p:grpSpPr>
        <a:xfrm>
          <a:off x="0" y="0"/>
          <a:ext cx="0" cy="0"/>
          <a:chOff x="0" y="0"/>
          <a:chExt cx="0" cy="0"/>
        </a:xfrm>
      </p:grpSpPr>
      <p:sp>
        <p:nvSpPr>
          <p:cNvPr id="2" name="Text 0"/>
          <p:cNvSpPr txBox="1"/>
          <p:nvPr/>
        </p:nvSpPr>
        <p:spPr>
          <a:xfrm>
            <a:off x="640080" y="457200"/>
            <a:ext cx="10058400" cy="365760"/>
          </a:xfrm>
          <a:prstGeom prst="rect">
            <a:avLst/>
          </a:prstGeom>
          <a:noFill/>
          <a:ln/>
        </p:spPr>
        <p:txBody>
          <a:bodyPr wrap="square" lIns="0" tIns="0" rIns="0" bIns="0" rtlCol="0" anchor="ctr"/>
          <a:lstStyle/>
          <a:p>
            <a:pPr algn="l" indent="0" marL="0">
              <a:buNone/>
            </a:pPr>
            <a:r>
              <a:rPr lang="en-US" sz="1300" b="1" spc="300" kern="0" dirty="0">
                <a:solidFill>
                  <a:srgbClr val="FF8A3D"/>
                </a:solidFill>
                <a:latin typeface="Calibri" pitchFamily="34" charset="0"/>
                <a:ea typeface="Calibri" pitchFamily="34" charset="-122"/>
                <a:cs typeface="Calibri" pitchFamily="34" charset="-120"/>
              </a:rPr>
              <a:t>THE BIG IDEA</a:t>
            </a:r>
            <a:endParaRPr lang="en-US" sz="1300" dirty="0"/>
          </a:p>
        </p:txBody>
      </p:sp>
      <p:sp>
        <p:nvSpPr>
          <p:cNvPr id="3" name="Text 1"/>
          <p:cNvSpPr txBox="1"/>
          <p:nvPr/>
        </p:nvSpPr>
        <p:spPr>
          <a:xfrm>
            <a:off x="640080" y="841248"/>
            <a:ext cx="10881360" cy="914400"/>
          </a:xfrm>
          <a:prstGeom prst="rect">
            <a:avLst/>
          </a:prstGeom>
          <a:noFill/>
          <a:ln/>
        </p:spPr>
        <p:txBody>
          <a:bodyPr wrap="square" lIns="0" tIns="0" rIns="0" bIns="0" rtlCol="0" anchor="ctr"/>
          <a:lstStyle/>
          <a:p>
            <a:pPr algn="l" indent="0" marL="0">
              <a:buNone/>
            </a:pPr>
            <a:r>
              <a:rPr lang="en-US" sz="3400" b="1" dirty="0">
                <a:solidFill>
                  <a:srgbClr val="2B2B7A"/>
                </a:solidFill>
                <a:latin typeface="Cambria" pitchFamily="34" charset="0"/>
                <a:ea typeface="Cambria" pitchFamily="34" charset="-122"/>
                <a:cs typeface="Cambria" pitchFamily="34" charset="-120"/>
              </a:rPr>
              <a:t>Where the ORM/ODM Sits</a:t>
            </a:r>
            <a:endParaRPr lang="en-US" sz="3400" dirty="0"/>
          </a:p>
        </p:txBody>
      </p:sp>
      <p:sp>
        <p:nvSpPr>
          <p:cNvPr id="4" name="Shape 2"/>
          <p:cNvSpPr/>
          <p:nvPr/>
        </p:nvSpPr>
        <p:spPr>
          <a:xfrm>
            <a:off x="640080" y="2514600"/>
            <a:ext cx="2350694" cy="1371600"/>
          </a:xfrm>
          <a:prstGeom prst="roundRect">
            <a:avLst>
              <a:gd name="adj" fmla="val 5333"/>
            </a:avLst>
          </a:prstGeom>
          <a:solidFill>
            <a:srgbClr val="2B2B7A"/>
          </a:solidFill>
          <a:ln/>
        </p:spPr>
        <p:txBody>
          <a:bodyPr/>
          <a:p/>
        </p:txBody>
      </p:sp>
      <p:sp>
        <p:nvSpPr>
          <p:cNvPr id="5" name="Text 3"/>
          <p:cNvSpPr txBox="1"/>
          <p:nvPr/>
        </p:nvSpPr>
        <p:spPr>
          <a:xfrm>
            <a:off x="731520" y="2624328"/>
            <a:ext cx="2167814" cy="1152144"/>
          </a:xfrm>
          <a:prstGeom prst="rect">
            <a:avLst/>
          </a:prstGeom>
          <a:noFill/>
          <a:ln/>
        </p:spPr>
        <p:txBody>
          <a:bodyPr wrap="square" lIns="0" tIns="0" rIns="0" bIns="0" rtlCol="0" anchor="ctr"/>
          <a:lstStyle/>
          <a:p>
            <a:pPr algn="ctr" indent="0" marL="0">
              <a:buNone/>
            </a:pPr>
            <a:r>
              <a:rPr lang="en-US" sz="1250" b="1" dirty="0">
                <a:solidFill>
                  <a:srgbClr val="FFFFFF"/>
                </a:solidFill>
                <a:latin typeface="Calibri" pitchFamily="34" charset="0"/>
                <a:ea typeface="Calibri" pitchFamily="34" charset="-122"/>
                <a:cs typeface="Calibri" pitchFamily="34" charset="-120"/>
              </a:rPr>
              <a:t>Your JS Code</a:t>
            </a:r>
            <a:endParaRPr lang="en-US" sz="1250" dirty="0"/>
          </a:p>
          <a:p>
            <a:pPr algn="ctr" indent="0" marL="0">
              <a:buNone/>
            </a:pPr>
            <a:r>
              <a:rPr lang="en-US" sz="1250" b="1" dirty="0">
                <a:solidFill>
                  <a:srgbClr val="FFFFFF"/>
                </a:solidFill>
                <a:latin typeface="Calibri" pitchFamily="34" charset="0"/>
                <a:ea typeface="Calibri" pitchFamily="34" charset="-122"/>
                <a:cs typeface="Calibri" pitchFamily="34" charset="-120"/>
              </a:rPr>
              <a:t>User.find(),</a:t>
            </a:r>
            <a:endParaRPr lang="en-US" sz="1250" dirty="0"/>
          </a:p>
          <a:p>
            <a:pPr algn="ctr" indent="0" marL="0">
              <a:buNone/>
            </a:pPr>
            <a:r>
              <a:rPr lang="en-US" sz="1250" b="1" dirty="0">
                <a:solidFill>
                  <a:srgbClr val="FFFFFF"/>
                </a:solidFill>
                <a:latin typeface="Calibri" pitchFamily="34" charset="0"/>
                <a:ea typeface="Calibri" pitchFamily="34" charset="-122"/>
                <a:cs typeface="Calibri" pitchFamily="34" charset="-120"/>
              </a:rPr>
              <a:t>post.save()</a:t>
            </a:r>
            <a:endParaRPr lang="en-US" sz="1250" dirty="0"/>
          </a:p>
        </p:txBody>
      </p:sp>
      <p:sp>
        <p:nvSpPr>
          <p:cNvPr id="6" name="Shape 4"/>
          <p:cNvSpPr/>
          <p:nvPr/>
        </p:nvSpPr>
        <p:spPr>
          <a:xfrm>
            <a:off x="2990774" y="3200400"/>
            <a:ext cx="502920" cy="0"/>
          </a:xfrm>
          <a:prstGeom prst="line">
            <a:avLst/>
          </a:prstGeom>
          <a:noFill/>
          <a:ln w="25400">
            <a:solidFill>
              <a:srgbClr val="5D5D72"/>
            </a:solidFill>
            <a:prstDash val="solid"/>
            <a:tailEnd type="triangle"/>
          </a:ln>
        </p:spPr>
        <p:txBody>
          <a:bodyPr/>
          <a:p/>
        </p:txBody>
      </p:sp>
      <p:sp>
        <p:nvSpPr>
          <p:cNvPr id="7" name="Shape 5"/>
          <p:cNvSpPr/>
          <p:nvPr/>
        </p:nvSpPr>
        <p:spPr>
          <a:xfrm>
            <a:off x="3493694" y="2514600"/>
            <a:ext cx="2350694" cy="1371600"/>
          </a:xfrm>
          <a:prstGeom prst="roundRect">
            <a:avLst>
              <a:gd name="adj" fmla="val 5333"/>
            </a:avLst>
          </a:prstGeom>
          <a:solidFill>
            <a:srgbClr val="2B2B7A"/>
          </a:solidFill>
          <a:ln/>
        </p:spPr>
        <p:txBody>
          <a:bodyPr/>
          <a:p/>
        </p:txBody>
      </p:sp>
      <p:sp>
        <p:nvSpPr>
          <p:cNvPr id="8" name="Text 6"/>
          <p:cNvSpPr txBox="1"/>
          <p:nvPr/>
        </p:nvSpPr>
        <p:spPr>
          <a:xfrm>
            <a:off x="3585134" y="2624328"/>
            <a:ext cx="2167814" cy="1152144"/>
          </a:xfrm>
          <a:prstGeom prst="rect">
            <a:avLst/>
          </a:prstGeom>
          <a:noFill/>
          <a:ln/>
        </p:spPr>
        <p:txBody>
          <a:bodyPr wrap="square" lIns="0" tIns="0" rIns="0" bIns="0" rtlCol="0" anchor="ctr"/>
          <a:lstStyle/>
          <a:p>
            <a:pPr algn="ctr" indent="0" marL="0">
              <a:buNone/>
            </a:pPr>
            <a:r>
              <a:rPr lang="en-US" sz="1250" b="1" dirty="0">
                <a:solidFill>
                  <a:srgbClr val="FFFFFF"/>
                </a:solidFill>
                <a:latin typeface="Calibri" pitchFamily="34" charset="0"/>
                <a:ea typeface="Calibri" pitchFamily="34" charset="-122"/>
                <a:cs typeface="Calibri" pitchFamily="34" charset="-120"/>
              </a:rPr>
              <a:t>ORM / ODM</a:t>
            </a:r>
            <a:endParaRPr lang="en-US" sz="1250" dirty="0"/>
          </a:p>
          <a:p>
            <a:pPr algn="ctr" indent="0" marL="0">
              <a:buNone/>
            </a:pPr>
            <a:r>
              <a:rPr lang="en-US" sz="1250" b="1" dirty="0">
                <a:solidFill>
                  <a:srgbClr val="FFFFFF"/>
                </a:solidFill>
                <a:latin typeface="Calibri" pitchFamily="34" charset="0"/>
                <a:ea typeface="Calibri" pitchFamily="34" charset="-122"/>
                <a:cs typeface="Calibri" pitchFamily="34" charset="-120"/>
              </a:rPr>
              <a:t>e.g. Mongoose,</a:t>
            </a:r>
            <a:endParaRPr lang="en-US" sz="1250" dirty="0"/>
          </a:p>
          <a:p>
            <a:pPr algn="ctr" indent="0" marL="0">
              <a:buNone/>
            </a:pPr>
            <a:r>
              <a:rPr lang="en-US" sz="1250" b="1" dirty="0">
                <a:solidFill>
                  <a:srgbClr val="FFFFFF"/>
                </a:solidFill>
                <a:latin typeface="Calibri" pitchFamily="34" charset="0"/>
                <a:ea typeface="Calibri" pitchFamily="34" charset="-122"/>
                <a:cs typeface="Calibri" pitchFamily="34" charset="-120"/>
              </a:rPr>
              <a:t>Sequelize</a:t>
            </a:r>
            <a:endParaRPr lang="en-US" sz="1250" dirty="0"/>
          </a:p>
        </p:txBody>
      </p:sp>
      <p:sp>
        <p:nvSpPr>
          <p:cNvPr id="9" name="Shape 7"/>
          <p:cNvSpPr/>
          <p:nvPr/>
        </p:nvSpPr>
        <p:spPr>
          <a:xfrm>
            <a:off x="5844388" y="3200400"/>
            <a:ext cx="502920" cy="0"/>
          </a:xfrm>
          <a:prstGeom prst="line">
            <a:avLst/>
          </a:prstGeom>
          <a:noFill/>
          <a:ln w="25400">
            <a:solidFill>
              <a:srgbClr val="5D5D72"/>
            </a:solidFill>
            <a:prstDash val="solid"/>
            <a:tailEnd type="triangle"/>
          </a:ln>
        </p:spPr>
        <p:txBody>
          <a:bodyPr/>
          <a:p/>
        </p:txBody>
      </p:sp>
      <p:sp>
        <p:nvSpPr>
          <p:cNvPr id="10" name="Shape 8"/>
          <p:cNvSpPr/>
          <p:nvPr/>
        </p:nvSpPr>
        <p:spPr>
          <a:xfrm>
            <a:off x="6347308" y="2514600"/>
            <a:ext cx="2350694" cy="1371600"/>
          </a:xfrm>
          <a:prstGeom prst="roundRect">
            <a:avLst>
              <a:gd name="adj" fmla="val 5333"/>
            </a:avLst>
          </a:prstGeom>
          <a:solidFill>
            <a:srgbClr val="2B2B7A"/>
          </a:solidFill>
          <a:ln/>
        </p:spPr>
        <p:txBody>
          <a:bodyPr/>
          <a:p/>
        </p:txBody>
      </p:sp>
      <p:sp>
        <p:nvSpPr>
          <p:cNvPr id="11" name="Text 9"/>
          <p:cNvSpPr txBox="1"/>
          <p:nvPr/>
        </p:nvSpPr>
        <p:spPr>
          <a:xfrm>
            <a:off x="6438748" y="2624328"/>
            <a:ext cx="2167814" cy="1152144"/>
          </a:xfrm>
          <a:prstGeom prst="rect">
            <a:avLst/>
          </a:prstGeom>
          <a:noFill/>
          <a:ln/>
        </p:spPr>
        <p:txBody>
          <a:bodyPr wrap="square" lIns="0" tIns="0" rIns="0" bIns="0" rtlCol="0" anchor="ctr"/>
          <a:lstStyle/>
          <a:p>
            <a:pPr algn="ctr" indent="0" marL="0">
              <a:buNone/>
            </a:pPr>
            <a:r>
              <a:rPr lang="en-US" sz="1250" b="1" dirty="0">
                <a:solidFill>
                  <a:srgbClr val="FFFFFF"/>
                </a:solidFill>
                <a:latin typeface="Calibri" pitchFamily="34" charset="0"/>
                <a:ea typeface="Calibri" pitchFamily="34" charset="-122"/>
                <a:cs typeface="Calibri" pitchFamily="34" charset="-120"/>
              </a:rPr>
              <a:t>Database</a:t>
            </a:r>
            <a:endParaRPr lang="en-US" sz="1250" dirty="0"/>
          </a:p>
          <a:p>
            <a:pPr algn="ctr" indent="0" marL="0">
              <a:buNone/>
            </a:pPr>
            <a:r>
              <a:rPr lang="en-US" sz="1250" b="1" dirty="0">
                <a:solidFill>
                  <a:srgbClr val="FFFFFF"/>
                </a:solidFill>
                <a:latin typeface="Calibri" pitchFamily="34" charset="0"/>
                <a:ea typeface="Calibri" pitchFamily="34" charset="-122"/>
                <a:cs typeface="Calibri" pitchFamily="34" charset="-120"/>
              </a:rPr>
              <a:t>Driver</a:t>
            </a:r>
            <a:endParaRPr lang="en-US" sz="1250" dirty="0"/>
          </a:p>
        </p:txBody>
      </p:sp>
      <p:sp>
        <p:nvSpPr>
          <p:cNvPr id="12" name="Shape 10"/>
          <p:cNvSpPr/>
          <p:nvPr/>
        </p:nvSpPr>
        <p:spPr>
          <a:xfrm>
            <a:off x="8698001" y="3200400"/>
            <a:ext cx="502920" cy="0"/>
          </a:xfrm>
          <a:prstGeom prst="line">
            <a:avLst/>
          </a:prstGeom>
          <a:noFill/>
          <a:ln w="25400">
            <a:solidFill>
              <a:srgbClr val="5D5D72"/>
            </a:solidFill>
            <a:prstDash val="solid"/>
            <a:tailEnd type="triangle"/>
          </a:ln>
        </p:spPr>
        <p:txBody>
          <a:bodyPr/>
          <a:p/>
        </p:txBody>
      </p:sp>
      <p:sp>
        <p:nvSpPr>
          <p:cNvPr id="13" name="Shape 11"/>
          <p:cNvSpPr/>
          <p:nvPr/>
        </p:nvSpPr>
        <p:spPr>
          <a:xfrm>
            <a:off x="9200921" y="2514600"/>
            <a:ext cx="2350694" cy="1371600"/>
          </a:xfrm>
          <a:prstGeom prst="roundRect">
            <a:avLst>
              <a:gd name="adj" fmla="val 5333"/>
            </a:avLst>
          </a:prstGeom>
          <a:solidFill>
            <a:srgbClr val="E67528"/>
          </a:solidFill>
          <a:ln/>
        </p:spPr>
        <p:txBody>
          <a:bodyPr/>
          <a:p/>
        </p:txBody>
      </p:sp>
      <p:sp>
        <p:nvSpPr>
          <p:cNvPr id="14" name="Text 12"/>
          <p:cNvSpPr txBox="1"/>
          <p:nvPr/>
        </p:nvSpPr>
        <p:spPr>
          <a:xfrm>
            <a:off x="9292361" y="2624328"/>
            <a:ext cx="2167814" cy="1152144"/>
          </a:xfrm>
          <a:prstGeom prst="rect">
            <a:avLst/>
          </a:prstGeom>
          <a:noFill/>
          <a:ln/>
        </p:spPr>
        <p:txBody>
          <a:bodyPr wrap="square" lIns="0" tIns="0" rIns="0" bIns="0" rtlCol="0" anchor="ctr"/>
          <a:lstStyle/>
          <a:p>
            <a:pPr algn="ctr" indent="0" marL="0">
              <a:buNone/>
            </a:pPr>
            <a:r>
              <a:rPr lang="en-US" sz="1250" b="1" dirty="0">
                <a:solidFill>
                  <a:srgbClr val="FFFFFF"/>
                </a:solidFill>
                <a:latin typeface="Calibri" pitchFamily="34" charset="0"/>
                <a:ea typeface="Calibri" pitchFamily="34" charset="-122"/>
                <a:cs typeface="Calibri" pitchFamily="34" charset="-120"/>
              </a:rPr>
              <a:t>Database</a:t>
            </a:r>
            <a:endParaRPr lang="en-US" sz="1250" dirty="0"/>
          </a:p>
          <a:p>
            <a:pPr algn="ctr" indent="0" marL="0">
              <a:buNone/>
            </a:pPr>
            <a:r>
              <a:rPr lang="en-US" sz="1250" b="1" dirty="0">
                <a:solidFill>
                  <a:srgbClr val="FFFFFF"/>
                </a:solidFill>
                <a:latin typeface="Calibri" pitchFamily="34" charset="0"/>
                <a:ea typeface="Calibri" pitchFamily="34" charset="-122"/>
                <a:cs typeface="Calibri" pitchFamily="34" charset="-120"/>
              </a:rPr>
              <a:t>MongoDB /</a:t>
            </a:r>
            <a:endParaRPr lang="en-US" sz="1250" dirty="0"/>
          </a:p>
          <a:p>
            <a:pPr algn="ctr" indent="0" marL="0">
              <a:buNone/>
            </a:pPr>
            <a:r>
              <a:rPr lang="en-US" sz="1250" b="1" dirty="0">
                <a:solidFill>
                  <a:srgbClr val="FFFFFF"/>
                </a:solidFill>
                <a:latin typeface="Calibri" pitchFamily="34" charset="0"/>
                <a:ea typeface="Calibri" pitchFamily="34" charset="-122"/>
                <a:cs typeface="Calibri" pitchFamily="34" charset="-120"/>
              </a:rPr>
              <a:t>PostgreSQL</a:t>
            </a:r>
            <a:endParaRPr lang="en-US" sz="1250" dirty="0"/>
          </a:p>
        </p:txBody>
      </p:sp>
      <p:sp>
        <p:nvSpPr>
          <p:cNvPr id="15" name="Text 13"/>
          <p:cNvSpPr txBox="1"/>
          <p:nvPr/>
        </p:nvSpPr>
        <p:spPr>
          <a:xfrm>
            <a:off x="640080" y="4343400"/>
            <a:ext cx="10911535" cy="1371600"/>
          </a:xfrm>
          <a:prstGeom prst="rect">
            <a:avLst/>
          </a:prstGeom>
          <a:noFill/>
          <a:ln/>
        </p:spPr>
        <p:txBody>
          <a:bodyPr wrap="square" lIns="0" tIns="0" rIns="0" bIns="0" rtlCol="0" anchor="t"/>
          <a:lstStyle/>
          <a:p>
            <a:pPr indent="0" marL="0">
              <a:buNone/>
            </a:pPr>
            <a:r>
              <a:rPr lang="en-US" sz="1300" dirty="0">
                <a:solidFill>
                  <a:srgbClr val="26262F"/>
                </a:solidFill>
                <a:latin typeface="Calibri" pitchFamily="34" charset="0"/>
                <a:ea typeface="Calibri" pitchFamily="34" charset="-122"/>
                <a:cs typeface="Calibri" pitchFamily="34" charset="-120"/>
              </a:rPr>
              <a:t>The ORM/ODM sits between your application code and the raw database driver, translating object method calls into the queries the driver actually sends.</a:t>
            </a:r>
            <a:endParaRPr lang="en-US" sz="1300" dirty="0"/>
          </a:p>
        </p:txBody>
      </p:sp>
      <p:sp>
        <p:nvSpPr>
          <p:cNvPr id="18" name="cuinotes-footer-mark"/>
          <p:cNvSpPr txBox="1"/>
          <p:nvPr/>
        </p:nvSpPr>
        <p:spPr>
          <a:xfrm>
            <a:off x="9951720" y="6455664"/>
            <a:ext cx="2011680" cy="292608"/>
          </a:xfrm>
          <a:prstGeom prst="rect">
            <a:avLst/>
          </a:prstGeom>
          <a:noFill/>
        </p:spPr>
        <p:txBody>
          <a:bodyPr wrap="none" lIns="0" rIns="0" tIns="0" bIns="0">
            <a:spAutoFit/>
          </a:bodyPr>
          <a:lstStyle/>
          <a:p>
            <a:pPr algn="r"/>
            <a:r>
              <a:rPr sz="1000">
                <a:solidFill>
                  <a:srgbClr val="8A939B"/>
                </a:solidFill>
                <a:hlinkClick r:id="rId3"/>
              </a:rPr>
              <a:t>cuinotes.com</a:t>
            </a:r>
            <a:r>
              <a:rPr sz="1000">
                <a:solidFill>
                  <a:srgbClr val="8A939B"/>
                </a:solidFill>
              </a:rPr>
              <a:t>  ·  4</a:t>
            </a:r>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5">
    <p:bg>
      <p:bgPr>
        <a:solidFill>
          <a:srgbClr val="FFFFFF"/>
        </a:solidFill>
      </p:bgPr>
    </p:bg>
    <p:spTree>
      <p:nvGrpSpPr>
        <p:cNvPr id="1" name=""/>
        <p:cNvGrpSpPr/>
        <p:nvPr/>
      </p:nvGrpSpPr>
      <p:grpSpPr>
        <a:xfrm>
          <a:off x="0" y="0"/>
          <a:ext cx="0" cy="0"/>
          <a:chOff x="0" y="0"/>
          <a:chExt cx="0" cy="0"/>
        </a:xfrm>
      </p:grpSpPr>
      <p:sp>
        <p:nvSpPr>
          <p:cNvPr id="2" name="Text 0"/>
          <p:cNvSpPr txBox="1"/>
          <p:nvPr/>
        </p:nvSpPr>
        <p:spPr>
          <a:xfrm>
            <a:off x="640080" y="457200"/>
            <a:ext cx="10058400" cy="365760"/>
          </a:xfrm>
          <a:prstGeom prst="rect">
            <a:avLst/>
          </a:prstGeom>
          <a:noFill/>
          <a:ln/>
        </p:spPr>
        <p:txBody>
          <a:bodyPr wrap="square" lIns="0" tIns="0" rIns="0" bIns="0" rtlCol="0" anchor="ctr"/>
          <a:lstStyle/>
          <a:p>
            <a:pPr algn="l" indent="0" marL="0">
              <a:buNone/>
            </a:pPr>
            <a:r>
              <a:rPr lang="en-US" sz="1300" b="1" spc="300" kern="0" dirty="0">
                <a:solidFill>
                  <a:srgbClr val="FF8A3D"/>
                </a:solidFill>
                <a:latin typeface="Calibri" pitchFamily="34" charset="0"/>
                <a:ea typeface="Calibri" pitchFamily="34" charset="-122"/>
                <a:cs typeface="Calibri" pitchFamily="34" charset="-120"/>
              </a:rPr>
              <a:t>THE BIG IDEA</a:t>
            </a:r>
            <a:endParaRPr lang="en-US" sz="1300" dirty="0"/>
          </a:p>
        </p:txBody>
      </p:sp>
      <p:sp>
        <p:nvSpPr>
          <p:cNvPr id="3" name="Text 1"/>
          <p:cNvSpPr txBox="1"/>
          <p:nvPr/>
        </p:nvSpPr>
        <p:spPr>
          <a:xfrm>
            <a:off x="640080" y="841248"/>
            <a:ext cx="10881360" cy="914400"/>
          </a:xfrm>
          <a:prstGeom prst="rect">
            <a:avLst/>
          </a:prstGeom>
          <a:noFill/>
          <a:ln/>
        </p:spPr>
        <p:txBody>
          <a:bodyPr wrap="square" lIns="0" tIns="0" rIns="0" bIns="0" rtlCol="0" anchor="ctr"/>
          <a:lstStyle/>
          <a:p>
            <a:pPr algn="l" indent="0" marL="0">
              <a:buNone/>
            </a:pPr>
            <a:r>
              <a:rPr lang="en-US" sz="3400" b="1" dirty="0">
                <a:solidFill>
                  <a:srgbClr val="2B2B7A"/>
                </a:solidFill>
                <a:latin typeface="Cambria" pitchFamily="34" charset="0"/>
                <a:ea typeface="Cambria" pitchFamily="34" charset="-122"/>
                <a:cs typeface="Cambria" pitchFamily="34" charset="-120"/>
              </a:rPr>
              <a:t>Why Bother With the Extra Layer?</a:t>
            </a:r>
            <a:endParaRPr lang="en-US" sz="3400" dirty="0"/>
          </a:p>
        </p:txBody>
      </p:sp>
      <p:sp>
        <p:nvSpPr>
          <p:cNvPr id="4" name="Shape 2"/>
          <p:cNvSpPr/>
          <p:nvPr/>
        </p:nvSpPr>
        <p:spPr>
          <a:xfrm>
            <a:off x="640080" y="1965960"/>
            <a:ext cx="5341468" cy="4114800"/>
          </a:xfrm>
          <a:prstGeom prst="roundRect">
            <a:avLst>
              <a:gd name="adj" fmla="val 2000"/>
            </a:avLst>
          </a:prstGeom>
          <a:solidFill>
            <a:srgbClr val="F1F1F8"/>
          </a:solidFill>
          <a:ln w="12700">
            <a:solidFill>
              <a:srgbClr val="E2E2EE"/>
            </a:solidFill>
            <a:prstDash val="solid"/>
          </a:ln>
        </p:spPr>
        <p:txBody>
          <a:bodyPr/>
          <a:p/>
        </p:txBody>
      </p:sp>
      <p:sp>
        <p:nvSpPr>
          <p:cNvPr id="5" name="Text 3"/>
          <p:cNvSpPr txBox="1"/>
          <p:nvPr/>
        </p:nvSpPr>
        <p:spPr>
          <a:xfrm>
            <a:off x="896112" y="2194560"/>
            <a:ext cx="4829404" cy="365760"/>
          </a:xfrm>
          <a:prstGeom prst="rect">
            <a:avLst/>
          </a:prstGeom>
          <a:noFill/>
          <a:ln/>
        </p:spPr>
        <p:txBody>
          <a:bodyPr wrap="square" lIns="0" tIns="0" rIns="0" bIns="0" rtlCol="0" anchor="ctr"/>
          <a:lstStyle/>
          <a:p>
            <a:pPr indent="0" marL="0">
              <a:buNone/>
            </a:pPr>
            <a:r>
              <a:rPr lang="en-US" sz="1250" b="1" spc="150" kern="0" dirty="0">
                <a:solidFill>
                  <a:srgbClr val="2B2B7A"/>
                </a:solidFill>
                <a:latin typeface="Calibri" pitchFamily="34" charset="0"/>
                <a:ea typeface="Calibri" pitchFamily="34" charset="-122"/>
                <a:cs typeface="Calibri" pitchFamily="34" charset="-120"/>
              </a:rPr>
              <a:t>LESS CODE, MORE STRUCTURE</a:t>
            </a:r>
            <a:endParaRPr lang="en-US" sz="1250" dirty="0"/>
          </a:p>
        </p:txBody>
      </p:sp>
      <p:sp>
        <p:nvSpPr>
          <p:cNvPr id="6" name="Text 4"/>
          <p:cNvSpPr txBox="1"/>
          <p:nvPr/>
        </p:nvSpPr>
        <p:spPr>
          <a:xfrm>
            <a:off x="896112" y="2651760"/>
            <a:ext cx="4829404" cy="3200400"/>
          </a:xfrm>
          <a:prstGeom prst="rect">
            <a:avLst/>
          </a:prstGeom>
          <a:noFill/>
          <a:ln/>
        </p:spPr>
        <p:txBody>
          <a:bodyPr wrap="square" lIns="0" tIns="0" rIns="0" bIns="0" rtlCol="0" anchor="t"/>
          <a:lstStyle/>
          <a:p>
            <a:pPr marL="342900" indent="-342900">
              <a:spcAft>
                <a:spcPts val="600"/>
              </a:spcAft>
              <a:buSzPct val="100000"/>
              <a:buChar char="•"/>
            </a:pPr>
            <a:r>
              <a:rPr lang="en-US" sz="1200" dirty="0">
                <a:solidFill>
                  <a:srgbClr val="26262F"/>
                </a:solidFill>
                <a:latin typeface="Calibri" pitchFamily="34" charset="0"/>
                <a:ea typeface="Calibri" pitchFamily="34" charset="-122"/>
                <a:cs typeface="Calibri" pitchFamily="34" charset="-120"/>
              </a:rPr>
              <a:t>Common operations (find, save, update, delete) become one-line calls</a:t>
            </a:r>
            <a:endParaRPr lang="en-US" sz="1200" dirty="0"/>
          </a:p>
          <a:p>
            <a:pPr marL="342900" indent="-342900">
              <a:spcAft>
                <a:spcPts val="600"/>
              </a:spcAft>
              <a:buSzPct val="100000"/>
              <a:buChar char="•"/>
            </a:pPr>
            <a:r>
              <a:rPr lang="en-US" sz="1200" dirty="0">
                <a:solidFill>
                  <a:srgbClr val="26262F"/>
                </a:solidFill>
                <a:latin typeface="Calibri" pitchFamily="34" charset="0"/>
                <a:ea typeface="Calibri" pitchFamily="34" charset="-122"/>
                <a:cs typeface="Calibri" pitchFamily="34" charset="-120"/>
              </a:rPr>
              <a:t>Data validation built into the model definition, checked automatically</a:t>
            </a:r>
            <a:endParaRPr lang="en-US" sz="1200" dirty="0"/>
          </a:p>
          <a:p>
            <a:pPr marL="342900" indent="-342900">
              <a:spcAft>
                <a:spcPts val="600"/>
              </a:spcAft>
              <a:buSzPct val="100000"/>
              <a:buChar char="•"/>
            </a:pPr>
            <a:r>
              <a:rPr lang="en-US" sz="1200" dirty="0">
                <a:solidFill>
                  <a:srgbClr val="26262F"/>
                </a:solidFill>
                <a:latin typeface="Calibri" pitchFamily="34" charset="0"/>
                <a:ea typeface="Calibri" pitchFamily="34" charset="-122"/>
                <a:cs typeface="Calibri" pitchFamily="34" charset="-120"/>
              </a:rPr>
              <a:t>A schema structure even for MongoDB, which enforces none itself</a:t>
            </a:r>
            <a:endParaRPr lang="en-US" sz="1200" dirty="0"/>
          </a:p>
        </p:txBody>
      </p:sp>
      <p:sp>
        <p:nvSpPr>
          <p:cNvPr id="7" name="Shape 5"/>
          <p:cNvSpPr/>
          <p:nvPr/>
        </p:nvSpPr>
        <p:spPr>
          <a:xfrm>
            <a:off x="6210148" y="1965960"/>
            <a:ext cx="5341468" cy="4114800"/>
          </a:xfrm>
          <a:prstGeom prst="roundRect">
            <a:avLst>
              <a:gd name="adj" fmla="val 2000"/>
            </a:avLst>
          </a:prstGeom>
          <a:solidFill>
            <a:srgbClr val="F1F1F8"/>
          </a:solidFill>
          <a:ln w="12700">
            <a:solidFill>
              <a:srgbClr val="E2E2EE"/>
            </a:solidFill>
            <a:prstDash val="solid"/>
          </a:ln>
        </p:spPr>
        <p:txBody>
          <a:bodyPr/>
          <a:p/>
        </p:txBody>
      </p:sp>
      <p:sp>
        <p:nvSpPr>
          <p:cNvPr id="8" name="Text 6"/>
          <p:cNvSpPr txBox="1"/>
          <p:nvPr/>
        </p:nvSpPr>
        <p:spPr>
          <a:xfrm>
            <a:off x="6466180" y="2194560"/>
            <a:ext cx="4829404" cy="365760"/>
          </a:xfrm>
          <a:prstGeom prst="rect">
            <a:avLst/>
          </a:prstGeom>
          <a:noFill/>
          <a:ln/>
        </p:spPr>
        <p:txBody>
          <a:bodyPr wrap="square" lIns="0" tIns="0" rIns="0" bIns="0" rtlCol="0" anchor="ctr"/>
          <a:lstStyle/>
          <a:p>
            <a:pPr indent="0" marL="0">
              <a:buNone/>
            </a:pPr>
            <a:r>
              <a:rPr lang="en-US" sz="1250" b="1" spc="150" kern="0" dirty="0">
                <a:solidFill>
                  <a:srgbClr val="E67528"/>
                </a:solidFill>
                <a:latin typeface="Calibri" pitchFamily="34" charset="0"/>
                <a:ea typeface="Calibri" pitchFamily="34" charset="-122"/>
                <a:cs typeface="Calibri" pitchFamily="34" charset="-120"/>
              </a:rPr>
              <a:t>RELATIONSHIPS &amp; PORTABILITY</a:t>
            </a:r>
            <a:endParaRPr lang="en-US" sz="1250" dirty="0"/>
          </a:p>
        </p:txBody>
      </p:sp>
      <p:sp>
        <p:nvSpPr>
          <p:cNvPr id="9" name="Text 7"/>
          <p:cNvSpPr txBox="1"/>
          <p:nvPr/>
        </p:nvSpPr>
        <p:spPr>
          <a:xfrm>
            <a:off x="6466180" y="2651760"/>
            <a:ext cx="4829404" cy="3200400"/>
          </a:xfrm>
          <a:prstGeom prst="rect">
            <a:avLst/>
          </a:prstGeom>
          <a:noFill/>
          <a:ln/>
        </p:spPr>
        <p:txBody>
          <a:bodyPr wrap="square" lIns="0" tIns="0" rIns="0" bIns="0" rtlCol="0" anchor="t"/>
          <a:lstStyle/>
          <a:p>
            <a:pPr marL="342900" indent="-342900">
              <a:spcAft>
                <a:spcPts val="600"/>
              </a:spcAft>
              <a:buSzPct val="100000"/>
              <a:buChar char="•"/>
            </a:pPr>
            <a:r>
              <a:rPr lang="en-US" sz="1200" dirty="0">
                <a:solidFill>
                  <a:srgbClr val="26262F"/>
                </a:solidFill>
                <a:latin typeface="Calibri" pitchFamily="34" charset="0"/>
                <a:ea typeface="Calibri" pitchFamily="34" charset="-122"/>
                <a:cs typeface="Calibri" pitchFamily="34" charset="-120"/>
              </a:rPr>
              <a:t>Relationships are easier to define and query (population, associations)</a:t>
            </a:r>
            <a:endParaRPr lang="en-US" sz="1200" dirty="0"/>
          </a:p>
          <a:p>
            <a:pPr marL="342900" indent="-342900">
              <a:spcAft>
                <a:spcPts val="600"/>
              </a:spcAft>
              <a:buSzPct val="100000"/>
              <a:buChar char="•"/>
            </a:pPr>
            <a:r>
              <a:rPr lang="en-US" sz="1200" dirty="0">
                <a:solidFill>
                  <a:srgbClr val="26262F"/>
                </a:solidFill>
                <a:latin typeface="Calibri" pitchFamily="34" charset="0"/>
                <a:ea typeface="Calibri" pitchFamily="34" charset="-122"/>
                <a:cs typeface="Calibri" pitchFamily="34" charset="-120"/>
              </a:rPr>
              <a:t>A consistent API means switching databases needs smaller code changes</a:t>
            </a:r>
            <a:endParaRPr lang="en-US" sz="1200" dirty="0"/>
          </a:p>
        </p:txBody>
      </p:sp>
      <p:sp>
        <p:nvSpPr>
          <p:cNvPr id="12" name="cuinotes-footer-mark"/>
          <p:cNvSpPr txBox="1"/>
          <p:nvPr/>
        </p:nvSpPr>
        <p:spPr>
          <a:xfrm>
            <a:off x="9951720" y="6455664"/>
            <a:ext cx="2011680" cy="292608"/>
          </a:xfrm>
          <a:prstGeom prst="rect">
            <a:avLst/>
          </a:prstGeom>
          <a:noFill/>
        </p:spPr>
        <p:txBody>
          <a:bodyPr wrap="none" lIns="0" rIns="0" tIns="0" bIns="0">
            <a:spAutoFit/>
          </a:bodyPr>
          <a:lstStyle/>
          <a:p>
            <a:pPr algn="r"/>
            <a:r>
              <a:rPr sz="1000">
                <a:solidFill>
                  <a:srgbClr val="8A939B"/>
                </a:solidFill>
                <a:hlinkClick r:id="rId3"/>
              </a:rPr>
              <a:t>cuinotes.com</a:t>
            </a:r>
            <a:r>
              <a:rPr sz="1000">
                <a:solidFill>
                  <a:srgbClr val="8A939B"/>
                </a:solidFill>
              </a:rPr>
              <a:t>  ·  5</a:t>
            </a:r>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name="Slide 6">
    <p:bg>
      <p:bgPr>
        <a:solidFill>
          <a:srgbClr val="FFFFFF"/>
        </a:solidFill>
      </p:bgPr>
    </p:bg>
    <p:spTree>
      <p:nvGrpSpPr>
        <p:cNvPr id="1" name=""/>
        <p:cNvGrpSpPr/>
        <p:nvPr/>
      </p:nvGrpSpPr>
      <p:grpSpPr>
        <a:xfrm>
          <a:off x="0" y="0"/>
          <a:ext cx="0" cy="0"/>
          <a:chOff x="0" y="0"/>
          <a:chExt cx="0" cy="0"/>
        </a:xfrm>
      </p:grpSpPr>
      <p:sp>
        <p:nvSpPr>
          <p:cNvPr id="2" name="Text 0"/>
          <p:cNvSpPr txBox="1"/>
          <p:nvPr/>
        </p:nvSpPr>
        <p:spPr>
          <a:xfrm>
            <a:off x="640080" y="457200"/>
            <a:ext cx="10058400" cy="365760"/>
          </a:xfrm>
          <a:prstGeom prst="rect">
            <a:avLst/>
          </a:prstGeom>
          <a:noFill/>
          <a:ln/>
        </p:spPr>
        <p:txBody>
          <a:bodyPr wrap="square" lIns="0" tIns="0" rIns="0" bIns="0" rtlCol="0" anchor="ctr"/>
          <a:lstStyle/>
          <a:p>
            <a:pPr algn="l" indent="0" marL="0">
              <a:buNone/>
            </a:pPr>
            <a:r>
              <a:rPr lang="en-US" sz="1300" b="1" spc="300" kern="0" dirty="0">
                <a:solidFill>
                  <a:srgbClr val="FF8A3D"/>
                </a:solidFill>
                <a:latin typeface="Calibri" pitchFamily="34" charset="0"/>
                <a:ea typeface="Calibri" pitchFamily="34" charset="-122"/>
                <a:cs typeface="Calibri" pitchFamily="34" charset="-120"/>
              </a:rPr>
              <a:t>TERMINOLOGY</a:t>
            </a:r>
            <a:endParaRPr lang="en-US" sz="1300" dirty="0"/>
          </a:p>
        </p:txBody>
      </p:sp>
      <p:sp>
        <p:nvSpPr>
          <p:cNvPr id="3" name="Text 1"/>
          <p:cNvSpPr txBox="1"/>
          <p:nvPr/>
        </p:nvSpPr>
        <p:spPr>
          <a:xfrm>
            <a:off x="640080" y="841248"/>
            <a:ext cx="10881360" cy="914400"/>
          </a:xfrm>
          <a:prstGeom prst="rect">
            <a:avLst/>
          </a:prstGeom>
          <a:noFill/>
          <a:ln/>
        </p:spPr>
        <p:txBody>
          <a:bodyPr wrap="square" lIns="0" tIns="0" rIns="0" bIns="0" rtlCol="0" anchor="ctr"/>
          <a:lstStyle/>
          <a:p>
            <a:pPr algn="l" indent="0" marL="0">
              <a:buNone/>
            </a:pPr>
            <a:r>
              <a:rPr lang="en-US" sz="3400" b="1" dirty="0">
                <a:solidFill>
                  <a:srgbClr val="2B2B7A"/>
                </a:solidFill>
                <a:latin typeface="Cambria" pitchFamily="34" charset="0"/>
                <a:ea typeface="Cambria" pitchFamily="34" charset="-122"/>
                <a:cs typeface="Cambria" pitchFamily="34" charset="-120"/>
              </a:rPr>
              <a:t>"ORM" vs. "ODM"</a:t>
            </a:r>
            <a:endParaRPr lang="en-US" sz="3400" dirty="0"/>
          </a:p>
        </p:txBody>
      </p:sp>
      <p:sp>
        <p:nvSpPr>
          <p:cNvPr id="4" name="Shape 2"/>
          <p:cNvSpPr/>
          <p:nvPr/>
        </p:nvSpPr>
        <p:spPr>
          <a:xfrm>
            <a:off x="640080" y="1965960"/>
            <a:ext cx="10911535" cy="3980000"/>
          </a:xfrm>
          <a:prstGeom prst="roundRect">
            <a:avLst>
              <a:gd name="adj" fmla="val 3158"/>
            </a:avLst>
          </a:prstGeom>
          <a:solidFill>
            <a:srgbClr val="E9EDFB"/>
          </a:solidFill>
          <a:ln w="12700">
            <a:solidFill>
              <a:srgbClr val="6C7FD6"/>
            </a:solidFill>
            <a:prstDash val="solid"/>
          </a:ln>
        </p:spPr>
        <p:txBody>
          <a:bodyPr/>
          <a:p/>
        </p:txBody>
      </p:sp>
      <p:sp>
        <p:nvSpPr>
          <p:cNvPr id="5" name="Text 3"/>
          <p:cNvSpPr txBox="1"/>
          <p:nvPr/>
        </p:nvSpPr>
        <p:spPr>
          <a:xfrm>
            <a:off x="868680" y="2103120"/>
            <a:ext cx="10454335" cy="400000"/>
          </a:xfrm>
          <a:prstGeom prst="rect">
            <a:avLst/>
          </a:prstGeom>
          <a:noFill/>
          <a:ln/>
        </p:spPr>
        <p:txBody>
          <a:bodyPr wrap="square" lIns="0" tIns="0" rIns="0" bIns="0" rtlCol="0" anchor="ctr"/>
          <a:lstStyle/>
          <a:p>
            <a:pPr indent="0" marL="0">
              <a:buNone/>
            </a:pPr>
            <a:r>
              <a:rPr lang="en-US" sz="1800" b="1" spc="200" kern="0" dirty="0">
                <a:solidFill>
                  <a:srgbClr val="33459E"/>
                </a:solidFill>
                <a:latin typeface="Calibri" pitchFamily="34" charset="0"/>
                <a:ea typeface="Calibri" pitchFamily="34" charset="-122"/>
                <a:cs typeface="Calibri" pitchFamily="34" charset="-120"/>
              </a:rPr>
              <a:t>NOTE</a:t>
            </a:r>
            <a:endParaRPr lang="en-US" sz="1800" dirty="0"/>
          </a:p>
        </p:txBody>
      </p:sp>
      <p:sp>
        <p:nvSpPr>
          <p:cNvPr id="6" name="Text 4"/>
          <p:cNvSpPr txBox="1"/>
          <p:nvPr/>
        </p:nvSpPr>
        <p:spPr>
          <a:xfrm>
            <a:off x="868680" y="2795960"/>
            <a:ext cx="10454335" cy="3000000"/>
          </a:xfrm>
          <a:prstGeom prst="rect">
            <a:avLst/>
          </a:prstGeom>
          <a:noFill/>
          <a:ln/>
        </p:spPr>
        <p:txBody>
          <a:bodyPr wrap="square" lIns="0" tIns="0" rIns="0" bIns="0" rtlCol="0" anchor="ctr"/>
          <a:lstStyle/>
          <a:p>
            <a:pPr indent="0" marL="0">
              <a:buNone/>
            </a:pPr>
            <a:r>
              <a:rPr lang="en-US" sz="2800" dirty="0">
                <a:solidFill>
                  <a:srgbClr val="26262F"/>
                </a:solidFill>
                <a:latin typeface="Calibri" pitchFamily="34" charset="0"/>
                <a:ea typeface="Calibri" pitchFamily="34" charset="-122"/>
                <a:cs typeface="Calibri" pitchFamily="34" charset="-120"/>
              </a:rPr>
              <a:t>"Object-relational mapping" comes from the relational-database world. When people say "ORM" loosely today, they often mean any object-mapping tool, including document-database ODMs like Mongoose. This course uses "ORM/ODM" to be precise, but expect to see "ORM" used for both.</a:t>
            </a:r>
            <a:endParaRPr lang="en-US" sz="2800" dirty="0"/>
          </a:p>
        </p:txBody>
      </p:sp>
      <p:sp>
        <p:nvSpPr>
          <p:cNvPr id="9" name="cuinotes-footer-mark"/>
          <p:cNvSpPr txBox="1"/>
          <p:nvPr/>
        </p:nvSpPr>
        <p:spPr>
          <a:xfrm>
            <a:off x="9951720" y="6455664"/>
            <a:ext cx="2011680" cy="292608"/>
          </a:xfrm>
          <a:prstGeom prst="rect">
            <a:avLst/>
          </a:prstGeom>
          <a:noFill/>
        </p:spPr>
        <p:txBody>
          <a:bodyPr wrap="none" lIns="0" rIns="0" tIns="0" bIns="0">
            <a:spAutoFit/>
          </a:bodyPr>
          <a:lstStyle/>
          <a:p>
            <a:pPr algn="r"/>
            <a:r>
              <a:rPr sz="1000">
                <a:solidFill>
                  <a:srgbClr val="8A939B"/>
                </a:solidFill>
                <a:hlinkClick r:id="rId3"/>
              </a:rPr>
              <a:t>cuinotes.com</a:t>
            </a:r>
            <a:r>
              <a:rPr sz="1000">
                <a:solidFill>
                  <a:srgbClr val="8A939B"/>
                </a:solidFill>
              </a:rPr>
              <a:t>  ·  6</a:t>
            </a:r>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name="Slide 7">
    <p:bg>
      <p:bgPr>
        <a:solidFill>
          <a:srgbClr val="FFFFFF"/>
        </a:solidFill>
      </p:bgPr>
    </p:bg>
    <p:spTree>
      <p:nvGrpSpPr>
        <p:cNvPr id="1" name=""/>
        <p:cNvGrpSpPr/>
        <p:nvPr/>
      </p:nvGrpSpPr>
      <p:grpSpPr>
        <a:xfrm>
          <a:off x="0" y="0"/>
          <a:ext cx="0" cy="0"/>
          <a:chOff x="0" y="0"/>
          <a:chExt cx="0" cy="0"/>
        </a:xfrm>
      </p:grpSpPr>
      <p:sp>
        <p:nvSpPr>
          <p:cNvPr id="2" name="Text 0"/>
          <p:cNvSpPr txBox="1"/>
          <p:nvPr/>
        </p:nvSpPr>
        <p:spPr>
          <a:xfrm>
            <a:off x="640080" y="457200"/>
            <a:ext cx="10058400" cy="365760"/>
          </a:xfrm>
          <a:prstGeom prst="rect">
            <a:avLst/>
          </a:prstGeom>
          <a:noFill/>
          <a:ln/>
        </p:spPr>
        <p:txBody>
          <a:bodyPr wrap="square" lIns="0" tIns="0" rIns="0" bIns="0" rtlCol="0" anchor="ctr"/>
          <a:lstStyle/>
          <a:p>
            <a:pPr algn="l" indent="0" marL="0">
              <a:buNone/>
            </a:pPr>
            <a:r>
              <a:rPr lang="en-US" sz="1300" b="1" spc="300" kern="0" dirty="0">
                <a:solidFill>
                  <a:srgbClr val="FF8A3D"/>
                </a:solidFill>
                <a:latin typeface="Calibri" pitchFamily="34" charset="0"/>
                <a:ea typeface="Calibri" pitchFamily="34" charset="-122"/>
                <a:cs typeface="Calibri" pitchFamily="34" charset="-120"/>
              </a:rPr>
              <a:t>SCHEMAS &amp; MODELS</a:t>
            </a:r>
            <a:endParaRPr lang="en-US" sz="1300" dirty="0"/>
          </a:p>
        </p:txBody>
      </p:sp>
      <p:sp>
        <p:nvSpPr>
          <p:cNvPr id="3" name="Text 1"/>
          <p:cNvSpPr txBox="1"/>
          <p:nvPr/>
        </p:nvSpPr>
        <p:spPr>
          <a:xfrm>
            <a:off x="640080" y="841248"/>
            <a:ext cx="10881360" cy="914400"/>
          </a:xfrm>
          <a:prstGeom prst="rect">
            <a:avLst/>
          </a:prstGeom>
          <a:noFill/>
          <a:ln/>
        </p:spPr>
        <p:txBody>
          <a:bodyPr wrap="square" lIns="0" tIns="0" rIns="0" bIns="0" rtlCol="0" anchor="ctr"/>
          <a:lstStyle/>
          <a:p>
            <a:pPr algn="l" indent="0" marL="0">
              <a:buNone/>
            </a:pPr>
            <a:r>
              <a:rPr lang="en-US" sz="3400" b="1" dirty="0">
                <a:solidFill>
                  <a:srgbClr val="2B2B7A"/>
                </a:solidFill>
                <a:latin typeface="Cambria" pitchFamily="34" charset="0"/>
                <a:ea typeface="Cambria" pitchFamily="34" charset="-122"/>
                <a:cs typeface="Cambria" pitchFamily="34" charset="-120"/>
              </a:rPr>
              <a:t>Schema In, Model Out</a:t>
            </a:r>
            <a:endParaRPr lang="en-US" sz="3400" dirty="0"/>
          </a:p>
        </p:txBody>
      </p:sp>
      <p:sp>
        <p:nvSpPr>
          <p:cNvPr id="4" name="Shape 2"/>
          <p:cNvSpPr/>
          <p:nvPr/>
        </p:nvSpPr>
        <p:spPr>
          <a:xfrm>
            <a:off x="685800" y="1965960"/>
            <a:ext cx="457200" cy="457200"/>
          </a:xfrm>
          <a:prstGeom prst="ellipse">
            <a:avLst/>
          </a:prstGeom>
          <a:solidFill>
            <a:srgbClr val="FF8A3D"/>
          </a:solidFill>
          <a:ln/>
        </p:spPr>
        <p:txBody>
          <a:bodyPr/>
          <a:p/>
        </p:txBody>
      </p:sp>
      <p:sp>
        <p:nvSpPr>
          <p:cNvPr id="5" name="Text 3"/>
          <p:cNvSpPr txBox="1"/>
          <p:nvPr/>
        </p:nvSpPr>
        <p:spPr>
          <a:xfrm>
            <a:off x="685800" y="1965960"/>
            <a:ext cx="457200" cy="457200"/>
          </a:xfrm>
          <a:prstGeom prst="rect">
            <a:avLst/>
          </a:prstGeom>
          <a:noFill/>
          <a:ln/>
        </p:spPr>
        <p:txBody>
          <a:bodyPr wrap="square" lIns="0" tIns="0" rIns="0" bIns="0" rtlCol="0" anchor="ctr"/>
          <a:lstStyle/>
          <a:p>
            <a:pPr algn="ctr" indent="0" marL="0">
              <a:buNone/>
            </a:pPr>
            <a:r>
              <a:rPr lang="en-US" sz="1500" b="1" dirty="0">
                <a:solidFill>
                  <a:srgbClr val="FFFFFF"/>
                </a:solidFill>
                <a:latin typeface="Calibri" pitchFamily="34" charset="0"/>
                <a:ea typeface="Calibri" pitchFamily="34" charset="-122"/>
                <a:cs typeface="Calibri" pitchFamily="34" charset="-120"/>
              </a:rPr>
              <a:t>1</a:t>
            </a:r>
            <a:endParaRPr lang="en-US" sz="1500" dirty="0"/>
          </a:p>
        </p:txBody>
      </p:sp>
      <p:sp>
        <p:nvSpPr>
          <p:cNvPr id="6" name="Text 4"/>
          <p:cNvSpPr txBox="1"/>
          <p:nvPr/>
        </p:nvSpPr>
        <p:spPr>
          <a:xfrm>
            <a:off x="1371600" y="1892808"/>
            <a:ext cx="10180015" cy="640080"/>
          </a:xfrm>
          <a:prstGeom prst="rect">
            <a:avLst/>
          </a:prstGeom>
          <a:noFill/>
          <a:ln/>
        </p:spPr>
        <p:txBody>
          <a:bodyPr wrap="square" lIns="0" tIns="0" rIns="0" bIns="0" rtlCol="0" anchor="ctr"/>
          <a:lstStyle/>
          <a:p>
            <a:pPr indent="0" marL="0">
              <a:buNone/>
            </a:pPr>
            <a:r>
              <a:rPr lang="en-US" sz="1500" dirty="0">
                <a:solidFill>
                  <a:srgbClr val="26262F"/>
                </a:solidFill>
                <a:latin typeface="Calibri" pitchFamily="34" charset="0"/>
                <a:ea typeface="Calibri" pitchFamily="34" charset="-122"/>
                <a:cs typeface="Calibri" pitchFamily="34" charset="-120"/>
              </a:rPr>
              <a:t>A schema describes what fields a document should have and what type each field is</a:t>
            </a:r>
            <a:endParaRPr lang="en-US" sz="1500" dirty="0"/>
          </a:p>
        </p:txBody>
      </p:sp>
      <p:sp>
        <p:nvSpPr>
          <p:cNvPr id="7" name="Shape 5"/>
          <p:cNvSpPr/>
          <p:nvPr/>
        </p:nvSpPr>
        <p:spPr>
          <a:xfrm>
            <a:off x="685800" y="2788920"/>
            <a:ext cx="457200" cy="457200"/>
          </a:xfrm>
          <a:prstGeom prst="ellipse">
            <a:avLst/>
          </a:prstGeom>
          <a:solidFill>
            <a:srgbClr val="FF8A3D"/>
          </a:solidFill>
          <a:ln/>
        </p:spPr>
        <p:txBody>
          <a:bodyPr/>
          <a:p/>
        </p:txBody>
      </p:sp>
      <p:sp>
        <p:nvSpPr>
          <p:cNvPr id="8" name="Text 6"/>
          <p:cNvSpPr txBox="1"/>
          <p:nvPr/>
        </p:nvSpPr>
        <p:spPr>
          <a:xfrm>
            <a:off x="685800" y="2788920"/>
            <a:ext cx="457200" cy="457200"/>
          </a:xfrm>
          <a:prstGeom prst="rect">
            <a:avLst/>
          </a:prstGeom>
          <a:noFill/>
          <a:ln/>
        </p:spPr>
        <p:txBody>
          <a:bodyPr wrap="square" lIns="0" tIns="0" rIns="0" bIns="0" rtlCol="0" anchor="ctr"/>
          <a:lstStyle/>
          <a:p>
            <a:pPr algn="ctr" indent="0" marL="0">
              <a:buNone/>
            </a:pPr>
            <a:r>
              <a:rPr lang="en-US" sz="1500" b="1" dirty="0">
                <a:solidFill>
                  <a:srgbClr val="FFFFFF"/>
                </a:solidFill>
                <a:latin typeface="Calibri" pitchFamily="34" charset="0"/>
                <a:ea typeface="Calibri" pitchFamily="34" charset="-122"/>
                <a:cs typeface="Calibri" pitchFamily="34" charset="-120"/>
              </a:rPr>
              <a:t>2</a:t>
            </a:r>
            <a:endParaRPr lang="en-US" sz="1500" dirty="0"/>
          </a:p>
        </p:txBody>
      </p:sp>
      <p:sp>
        <p:nvSpPr>
          <p:cNvPr id="9" name="Text 7"/>
          <p:cNvSpPr txBox="1"/>
          <p:nvPr/>
        </p:nvSpPr>
        <p:spPr>
          <a:xfrm>
            <a:off x="1371600" y="2715768"/>
            <a:ext cx="10180015" cy="640080"/>
          </a:xfrm>
          <a:prstGeom prst="rect">
            <a:avLst/>
          </a:prstGeom>
          <a:noFill/>
          <a:ln/>
        </p:spPr>
        <p:txBody>
          <a:bodyPr wrap="square" lIns="0" tIns="0" rIns="0" bIns="0" rtlCol="0" anchor="ctr"/>
          <a:lstStyle/>
          <a:p>
            <a:pPr indent="0" marL="0">
              <a:buNone/>
            </a:pPr>
            <a:r>
              <a:rPr lang="en-US" sz="1500" dirty="0">
                <a:solidFill>
                  <a:srgbClr val="26262F"/>
                </a:solidFill>
                <a:latin typeface="Calibri" pitchFamily="34" charset="0"/>
                <a:ea typeface="Calibri" pitchFamily="34" charset="-122"/>
                <a:cs typeface="Calibri" pitchFamily="34" charset="-120"/>
              </a:rPr>
              <a:t>You compile a schema into a model — the object you actually use to query and save data</a:t>
            </a:r>
            <a:endParaRPr lang="en-US" sz="1500" dirty="0"/>
          </a:p>
        </p:txBody>
      </p:sp>
      <p:sp>
        <p:nvSpPr>
          <p:cNvPr id="10" name="Shape 8"/>
          <p:cNvSpPr/>
          <p:nvPr/>
        </p:nvSpPr>
        <p:spPr>
          <a:xfrm>
            <a:off x="685800" y="3611880"/>
            <a:ext cx="457200" cy="457200"/>
          </a:xfrm>
          <a:prstGeom prst="ellipse">
            <a:avLst/>
          </a:prstGeom>
          <a:solidFill>
            <a:srgbClr val="FF8A3D"/>
          </a:solidFill>
          <a:ln/>
        </p:spPr>
        <p:txBody>
          <a:bodyPr/>
          <a:p/>
        </p:txBody>
      </p:sp>
      <p:sp>
        <p:nvSpPr>
          <p:cNvPr id="11" name="Text 9"/>
          <p:cNvSpPr txBox="1"/>
          <p:nvPr/>
        </p:nvSpPr>
        <p:spPr>
          <a:xfrm>
            <a:off x="685800" y="3611880"/>
            <a:ext cx="457200" cy="457200"/>
          </a:xfrm>
          <a:prstGeom prst="rect">
            <a:avLst/>
          </a:prstGeom>
          <a:noFill/>
          <a:ln/>
        </p:spPr>
        <p:txBody>
          <a:bodyPr wrap="square" lIns="0" tIns="0" rIns="0" bIns="0" rtlCol="0" anchor="ctr"/>
          <a:lstStyle/>
          <a:p>
            <a:pPr algn="ctr" indent="0" marL="0">
              <a:buNone/>
            </a:pPr>
            <a:r>
              <a:rPr lang="en-US" sz="1500" b="1" dirty="0">
                <a:solidFill>
                  <a:srgbClr val="FFFFFF"/>
                </a:solidFill>
                <a:latin typeface="Calibri" pitchFamily="34" charset="0"/>
                <a:ea typeface="Calibri" pitchFamily="34" charset="-122"/>
                <a:cs typeface="Calibri" pitchFamily="34" charset="-120"/>
              </a:rPr>
              <a:t>3</a:t>
            </a:r>
            <a:endParaRPr lang="en-US" sz="1500" dirty="0"/>
          </a:p>
        </p:txBody>
      </p:sp>
      <p:sp>
        <p:nvSpPr>
          <p:cNvPr id="12" name="Text 10"/>
          <p:cNvSpPr txBox="1"/>
          <p:nvPr/>
        </p:nvSpPr>
        <p:spPr>
          <a:xfrm>
            <a:off x="1371600" y="3538728"/>
            <a:ext cx="10180015" cy="640080"/>
          </a:xfrm>
          <a:prstGeom prst="rect">
            <a:avLst/>
          </a:prstGeom>
          <a:noFill/>
          <a:ln/>
        </p:spPr>
        <p:txBody>
          <a:bodyPr wrap="square" lIns="0" tIns="0" rIns="0" bIns="0" rtlCol="0" anchor="ctr"/>
          <a:lstStyle/>
          <a:p>
            <a:pPr indent="0" marL="0">
              <a:buNone/>
            </a:pPr>
            <a:r>
              <a:rPr lang="en-US" sz="1500" dirty="0">
                <a:solidFill>
                  <a:srgbClr val="26262F"/>
                </a:solidFill>
                <a:latin typeface="Calibri" pitchFamily="34" charset="0"/>
                <a:ea typeface="Calibri" pitchFamily="34" charset="-122"/>
                <a:cs typeface="Calibri" pitchFamily="34" charset="-120"/>
              </a:rPr>
              <a:t>npm install mongoose to get started</a:t>
            </a:r>
            <a:endParaRPr lang="en-US" sz="1500" dirty="0"/>
          </a:p>
        </p:txBody>
      </p:sp>
      <p:sp>
        <p:nvSpPr>
          <p:cNvPr id="15" name="cuinotes-footer-mark"/>
          <p:cNvSpPr txBox="1"/>
          <p:nvPr/>
        </p:nvSpPr>
        <p:spPr>
          <a:xfrm>
            <a:off x="9951720" y="6455664"/>
            <a:ext cx="2011680" cy="292608"/>
          </a:xfrm>
          <a:prstGeom prst="rect">
            <a:avLst/>
          </a:prstGeom>
          <a:noFill/>
        </p:spPr>
        <p:txBody>
          <a:bodyPr wrap="none" lIns="0" rIns="0" tIns="0" bIns="0">
            <a:spAutoFit/>
          </a:bodyPr>
          <a:lstStyle/>
          <a:p>
            <a:pPr algn="r"/>
            <a:r>
              <a:rPr sz="1000">
                <a:solidFill>
                  <a:srgbClr val="8A939B"/>
                </a:solidFill>
                <a:hlinkClick r:id="rId3"/>
              </a:rPr>
              <a:t>cuinotes.com</a:t>
            </a:r>
            <a:r>
              <a:rPr sz="1000">
                <a:solidFill>
                  <a:srgbClr val="8A939B"/>
                </a:solidFill>
              </a:rPr>
              <a:t>  ·  7</a:t>
            </a:r>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name="Slide 8">
    <p:bg>
      <p:bgPr>
        <a:solidFill>
          <a:srgbClr val="FFFFFF"/>
        </a:solidFill>
      </p:bgPr>
    </p:bg>
    <p:spTree>
      <p:nvGrpSpPr>
        <p:cNvPr id="1" name=""/>
        <p:cNvGrpSpPr/>
        <p:nvPr/>
      </p:nvGrpSpPr>
      <p:grpSpPr>
        <a:xfrm>
          <a:off x="0" y="0"/>
          <a:ext cx="0" cy="0"/>
          <a:chOff x="0" y="0"/>
          <a:chExt cx="0" cy="0"/>
        </a:xfrm>
      </p:grpSpPr>
      <p:sp>
        <p:nvSpPr>
          <p:cNvPr id="2" name="Text 0"/>
          <p:cNvSpPr txBox="1"/>
          <p:nvPr/>
        </p:nvSpPr>
        <p:spPr>
          <a:xfrm>
            <a:off x="640080" y="457200"/>
            <a:ext cx="10058400" cy="365760"/>
          </a:xfrm>
          <a:prstGeom prst="rect">
            <a:avLst/>
          </a:prstGeom>
          <a:noFill/>
          <a:ln/>
        </p:spPr>
        <p:txBody>
          <a:bodyPr wrap="square" lIns="0" tIns="0" rIns="0" bIns="0" rtlCol="0" anchor="ctr"/>
          <a:lstStyle/>
          <a:p>
            <a:pPr algn="l" indent="0" marL="0">
              <a:buNone/>
            </a:pPr>
            <a:r>
              <a:rPr lang="en-US" sz="1300" b="1" spc="300" kern="0" dirty="0">
                <a:solidFill>
                  <a:srgbClr val="FF8A3D"/>
                </a:solidFill>
                <a:latin typeface="Calibri" pitchFamily="34" charset="0"/>
                <a:ea typeface="Calibri" pitchFamily="34" charset="-122"/>
                <a:cs typeface="Calibri" pitchFamily="34" charset="-120"/>
              </a:rPr>
              <a:t>SCHEMAS &amp; MODELS</a:t>
            </a:r>
            <a:endParaRPr lang="en-US" sz="1300" dirty="0"/>
          </a:p>
        </p:txBody>
      </p:sp>
      <p:sp>
        <p:nvSpPr>
          <p:cNvPr id="3" name="Text 1"/>
          <p:cNvSpPr txBox="1"/>
          <p:nvPr/>
        </p:nvSpPr>
        <p:spPr>
          <a:xfrm>
            <a:off x="640080" y="841248"/>
            <a:ext cx="10881360" cy="914400"/>
          </a:xfrm>
          <a:prstGeom prst="rect">
            <a:avLst/>
          </a:prstGeom>
          <a:noFill/>
          <a:ln/>
        </p:spPr>
        <p:txBody>
          <a:bodyPr wrap="square" lIns="0" tIns="0" rIns="0" bIns="0" rtlCol="0" anchor="ctr"/>
          <a:lstStyle/>
          <a:p>
            <a:pPr algn="l" indent="0" marL="0">
              <a:buNone/>
            </a:pPr>
            <a:r>
              <a:rPr lang="en-US" sz="3400" b="1" dirty="0">
                <a:solidFill>
                  <a:srgbClr val="2B2B7A"/>
                </a:solidFill>
                <a:latin typeface="Cambria" pitchFamily="34" charset="0"/>
                <a:ea typeface="Cambria" pitchFamily="34" charset="-122"/>
                <a:cs typeface="Cambria" pitchFamily="34" charset="-120"/>
              </a:rPr>
              <a:t>Connecting Mongoose</a:t>
            </a:r>
            <a:endParaRPr lang="en-US" sz="3400" dirty="0"/>
          </a:p>
        </p:txBody>
      </p:sp>
      <p:sp>
        <p:nvSpPr>
          <p:cNvPr id="4" name="Shape 2"/>
          <p:cNvSpPr/>
          <p:nvPr/>
        </p:nvSpPr>
        <p:spPr>
          <a:xfrm>
            <a:off x="640080" y="1965960"/>
            <a:ext cx="10911535" cy="2148840"/>
          </a:xfrm>
          <a:prstGeom prst="roundRect">
            <a:avLst>
              <a:gd name="adj" fmla="val 3404"/>
            </a:avLst>
          </a:prstGeom>
          <a:solidFill>
            <a:srgbClr val="F7F8F9"/>
          </a:solidFill>
          <a:ln w="9525">
            <a:solidFill>
              <a:srgbClr val="D0D5DD"/>
            </a:solidFill>
          </a:ln>
        </p:spPr>
        <p:txBody>
          <a:bodyPr/>
          <a:p/>
        </p:txBody>
      </p:sp>
      <p:sp>
        <p:nvSpPr>
          <p:cNvPr id="5" name="Text 3"/>
          <p:cNvSpPr txBox="1"/>
          <p:nvPr/>
        </p:nvSpPr>
        <p:spPr>
          <a:xfrm>
            <a:off x="960120" y="2194560"/>
            <a:ext cx="10271455" cy="1691640"/>
          </a:xfrm>
          <a:prstGeom prst="rect">
            <a:avLst/>
          </a:prstGeom>
          <a:noFill/>
          <a:ln/>
        </p:spPr>
        <p:txBody>
          <a:bodyPr wrap="square" lIns="0" tIns="0" rIns="0" bIns="0" rtlCol="0" anchor="t"/>
          <a:lstStyle/>
          <a:p>
            <a:pPr indent="0" marL="0">
              <a:lnSpc>
                <a:spcPct val="125000"/>
              </a:lnSpc>
              <a:buNone/>
            </a:pPr>
            <a:r>
              <a:rPr lang="en-US" sz="1400" dirty="0">
                <a:solidFill>
                  <a:srgbClr val="1F2429"/>
                </a:solidFill>
                <a:latin typeface="Courier New" pitchFamily="34" charset="0"/>
                <a:ea typeface="Courier New" pitchFamily="34" charset="-122"/>
                <a:cs typeface="Courier New" pitchFamily="34" charset="-120"/>
              </a:rPr>
              <a:t>const mongoose = require("mongoose");</a:t>
            </a:r>
            <a:endParaRPr lang="en-US" sz="1400" dirty="0"/>
          </a:p>
          <a:p>
            <a:pPr indent="0" marL="0">
              <a:lnSpc>
                <a:spcPct val="125000"/>
              </a:lnSpc>
              <a:buNone/>
            </a:pPr>
            <a:r>
              <a:rPr lang="en-US" sz="1400" dirty="0">
                <a:solidFill>
                  <a:srgbClr val="1F2429"/>
                </a:solidFill>
                <a:latin typeface="Courier New" pitchFamily="34" charset="0"/>
                <a:ea typeface="Courier New" pitchFamily="34" charset="-122"/>
                <a:cs typeface="Courier New" pitchFamily="34" charset="-120"/>
              </a:rPr>
              <a:t>require("dotenv").config();</a:t>
            </a:r>
            <a:endParaRPr lang="en-US" sz="1400" dirty="0"/>
          </a:p>
          <a:p>
            <a:pPr indent="0" marL="0">
              <a:lnSpc>
                <a:spcPct val="125000"/>
              </a:lnSpc>
              <a:buNone/>
            </a:pPr>
            <a:endParaRPr lang="en-US" sz="1400" dirty="0"/>
          </a:p>
          <a:p>
            <a:pPr indent="0" marL="0">
              <a:lnSpc>
                <a:spcPct val="125000"/>
              </a:lnSpc>
              <a:buNone/>
            </a:pPr>
            <a:r>
              <a:rPr lang="en-US" sz="1400" dirty="0">
                <a:solidFill>
                  <a:srgbClr val="1F2429"/>
                </a:solidFill>
                <a:latin typeface="Courier New" pitchFamily="34" charset="0"/>
                <a:ea typeface="Courier New" pitchFamily="34" charset="-122"/>
                <a:cs typeface="Courier New" pitchFamily="34" charset="-120"/>
              </a:rPr>
              <a:t>mongoose.connect(process.env.MONGO_URI)</a:t>
            </a:r>
            <a:endParaRPr lang="en-US" sz="1400" dirty="0"/>
          </a:p>
          <a:p>
            <a:pPr indent="0" marL="0">
              <a:lnSpc>
                <a:spcPct val="125000"/>
              </a:lnSpc>
              <a:buNone/>
            </a:pPr>
            <a:r>
              <a:rPr lang="en-US" sz="1400" dirty="0">
                <a:solidFill>
                  <a:srgbClr val="1F2429"/>
                </a:solidFill>
                <a:latin typeface="Courier New" pitchFamily="34" charset="0"/>
                <a:ea typeface="Courier New" pitchFamily="34" charset="-122"/>
                <a:cs typeface="Courier New" pitchFamily="34" charset="-120"/>
              </a:rPr>
              <a:t>  .then(() =&gt; console.log("Connected to MongoDB via Mongoose"))</a:t>
            </a:r>
            <a:endParaRPr lang="en-US" sz="1400" dirty="0"/>
          </a:p>
          <a:p>
            <a:pPr indent="0" marL="0">
              <a:lnSpc>
                <a:spcPct val="125000"/>
              </a:lnSpc>
              <a:buNone/>
            </a:pPr>
            <a:r>
              <a:rPr lang="en-US" sz="1400" dirty="0">
                <a:solidFill>
                  <a:srgbClr val="1F2429"/>
                </a:solidFill>
                <a:latin typeface="Courier New" pitchFamily="34" charset="0"/>
                <a:ea typeface="Courier New" pitchFamily="34" charset="-122"/>
                <a:cs typeface="Courier New" pitchFamily="34" charset="-120"/>
              </a:rPr>
              <a:t>  .catch((err) =&gt; console.error("Connection error:", err));</a:t>
            </a:r>
            <a:endParaRPr lang="en-US" sz="1400" dirty="0"/>
          </a:p>
        </p:txBody>
      </p:sp>
      <p:sp>
        <p:nvSpPr>
          <p:cNvPr id="8" name="cuinotes-footer-mark"/>
          <p:cNvSpPr txBox="1"/>
          <p:nvPr/>
        </p:nvSpPr>
        <p:spPr>
          <a:xfrm>
            <a:off x="9951720" y="6455664"/>
            <a:ext cx="2011680" cy="292608"/>
          </a:xfrm>
          <a:prstGeom prst="rect">
            <a:avLst/>
          </a:prstGeom>
          <a:noFill/>
        </p:spPr>
        <p:txBody>
          <a:bodyPr wrap="none" lIns="0" rIns="0" tIns="0" bIns="0">
            <a:spAutoFit/>
          </a:bodyPr>
          <a:lstStyle/>
          <a:p>
            <a:pPr algn="r"/>
            <a:r>
              <a:rPr sz="1000">
                <a:solidFill>
                  <a:srgbClr val="8A939B"/>
                </a:solidFill>
                <a:hlinkClick r:id="rId3"/>
              </a:rPr>
              <a:t>cuinotes.com</a:t>
            </a:r>
            <a:r>
              <a:rPr sz="1000">
                <a:solidFill>
                  <a:srgbClr val="8A939B"/>
                </a:solidFill>
              </a:rPr>
              <a:t>  ·  8</a:t>
            </a:r>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name="Slide 9">
    <p:bg>
      <p:bgPr>
        <a:solidFill>
          <a:srgbClr val="FFFFFF"/>
        </a:solidFill>
      </p:bgPr>
    </p:bg>
    <p:spTree>
      <p:nvGrpSpPr>
        <p:cNvPr id="1" name=""/>
        <p:cNvGrpSpPr/>
        <p:nvPr/>
      </p:nvGrpSpPr>
      <p:grpSpPr>
        <a:xfrm>
          <a:off x="0" y="0"/>
          <a:ext cx="0" cy="0"/>
          <a:chOff x="0" y="0"/>
          <a:chExt cx="0" cy="0"/>
        </a:xfrm>
      </p:grpSpPr>
      <p:sp>
        <p:nvSpPr>
          <p:cNvPr id="2" name="Text 0"/>
          <p:cNvSpPr txBox="1"/>
          <p:nvPr/>
        </p:nvSpPr>
        <p:spPr>
          <a:xfrm>
            <a:off x="640080" y="457200"/>
            <a:ext cx="10058400" cy="365760"/>
          </a:xfrm>
          <a:prstGeom prst="rect">
            <a:avLst/>
          </a:prstGeom>
          <a:noFill/>
          <a:ln/>
        </p:spPr>
        <p:txBody>
          <a:bodyPr wrap="square" lIns="0" tIns="0" rIns="0" bIns="0" rtlCol="0" anchor="ctr"/>
          <a:lstStyle/>
          <a:p>
            <a:pPr algn="l" indent="0" marL="0">
              <a:buNone/>
            </a:pPr>
            <a:r>
              <a:rPr lang="en-US" sz="1300" b="1" spc="300" kern="0" dirty="0">
                <a:solidFill>
                  <a:srgbClr val="FF8A3D"/>
                </a:solidFill>
                <a:latin typeface="Calibri" pitchFamily="34" charset="0"/>
                <a:ea typeface="Calibri" pitchFamily="34" charset="-122"/>
                <a:cs typeface="Calibri" pitchFamily="34" charset="-120"/>
              </a:rPr>
              <a:t>SCHEMAS &amp; MODELS</a:t>
            </a:r>
            <a:endParaRPr lang="en-US" sz="1300" dirty="0"/>
          </a:p>
        </p:txBody>
      </p:sp>
      <p:sp>
        <p:nvSpPr>
          <p:cNvPr id="3" name="Text 1"/>
          <p:cNvSpPr txBox="1"/>
          <p:nvPr/>
        </p:nvSpPr>
        <p:spPr>
          <a:xfrm>
            <a:off x="640080" y="841248"/>
            <a:ext cx="10881360" cy="914400"/>
          </a:xfrm>
          <a:prstGeom prst="rect">
            <a:avLst/>
          </a:prstGeom>
          <a:noFill/>
          <a:ln/>
        </p:spPr>
        <p:txBody>
          <a:bodyPr wrap="square" lIns="0" tIns="0" rIns="0" bIns="0" rtlCol="0" anchor="ctr"/>
          <a:lstStyle/>
          <a:p>
            <a:pPr algn="l" indent="0" marL="0">
              <a:buNone/>
            </a:pPr>
            <a:r>
              <a:rPr lang="en-US" sz="3400" b="1" dirty="0">
                <a:solidFill>
                  <a:srgbClr val="2B2B7A"/>
                </a:solidFill>
                <a:latin typeface="Cambria" pitchFamily="34" charset="0"/>
                <a:ea typeface="Cambria" pitchFamily="34" charset="-122"/>
                <a:cs typeface="Cambria" pitchFamily="34" charset="-120"/>
              </a:rPr>
              <a:t>Defining a Schema and Model</a:t>
            </a:r>
            <a:endParaRPr lang="en-US" sz="3400" dirty="0"/>
          </a:p>
        </p:txBody>
      </p:sp>
      <p:sp>
        <p:nvSpPr>
          <p:cNvPr id="4" name="Shape 2"/>
          <p:cNvSpPr/>
          <p:nvPr/>
        </p:nvSpPr>
        <p:spPr>
          <a:xfrm>
            <a:off x="640080" y="1965960"/>
            <a:ext cx="10911535" cy="3482340"/>
          </a:xfrm>
          <a:prstGeom prst="roundRect">
            <a:avLst>
              <a:gd name="adj" fmla="val 2101"/>
            </a:avLst>
          </a:prstGeom>
          <a:solidFill>
            <a:srgbClr val="F7F8F9"/>
          </a:solidFill>
          <a:ln w="9525">
            <a:solidFill>
              <a:srgbClr val="D0D5DD"/>
            </a:solidFill>
          </a:ln>
        </p:spPr>
        <p:txBody>
          <a:bodyPr/>
          <a:p/>
        </p:txBody>
      </p:sp>
      <p:sp>
        <p:nvSpPr>
          <p:cNvPr id="5" name="Text 3"/>
          <p:cNvSpPr txBox="1"/>
          <p:nvPr/>
        </p:nvSpPr>
        <p:spPr>
          <a:xfrm>
            <a:off x="960120" y="2194560"/>
            <a:ext cx="10271455" cy="3025140"/>
          </a:xfrm>
          <a:prstGeom prst="rect">
            <a:avLst/>
          </a:prstGeom>
          <a:noFill/>
          <a:ln/>
        </p:spPr>
        <p:txBody>
          <a:bodyPr wrap="square" lIns="0" tIns="0" rIns="0" bIns="0" rtlCol="0" anchor="t"/>
          <a:lstStyle/>
          <a:p>
            <a:pPr indent="0" marL="0">
              <a:lnSpc>
                <a:spcPct val="125000"/>
              </a:lnSpc>
              <a:buNone/>
            </a:pPr>
            <a:r>
              <a:rPr lang="en-US" sz="1400" dirty="0">
                <a:solidFill>
                  <a:srgbClr val="1F2429"/>
                </a:solidFill>
                <a:latin typeface="Courier New" pitchFamily="34" charset="0"/>
                <a:ea typeface="Courier New" pitchFamily="34" charset="-122"/>
                <a:cs typeface="Courier New" pitchFamily="34" charset="-120"/>
              </a:rPr>
              <a:t>const { Schema, model } = require("mongoose");</a:t>
            </a:r>
            <a:endParaRPr lang="en-US" sz="1400" dirty="0"/>
          </a:p>
          <a:p>
            <a:pPr indent="0" marL="0">
              <a:lnSpc>
                <a:spcPct val="125000"/>
              </a:lnSpc>
              <a:buNone/>
            </a:pPr>
            <a:endParaRPr lang="en-US" sz="1400" dirty="0"/>
          </a:p>
          <a:p>
            <a:pPr indent="0" marL="0">
              <a:lnSpc>
                <a:spcPct val="125000"/>
              </a:lnSpc>
              <a:buNone/>
            </a:pPr>
            <a:r>
              <a:rPr lang="en-US" sz="1400" dirty="0">
                <a:solidFill>
                  <a:srgbClr val="1F2429"/>
                </a:solidFill>
                <a:latin typeface="Courier New" pitchFamily="34" charset="0"/>
                <a:ea typeface="Courier New" pitchFamily="34" charset="-122"/>
                <a:cs typeface="Courier New" pitchFamily="34" charset="-120"/>
              </a:rPr>
              <a:t>const userSchema = new Schema({</a:t>
            </a:r>
            <a:endParaRPr lang="en-US" sz="1400" dirty="0"/>
          </a:p>
          <a:p>
            <a:pPr indent="0" marL="0">
              <a:lnSpc>
                <a:spcPct val="125000"/>
              </a:lnSpc>
              <a:buNone/>
            </a:pPr>
            <a:r>
              <a:rPr lang="en-US" sz="1400" dirty="0">
                <a:solidFill>
                  <a:srgbClr val="1F2429"/>
                </a:solidFill>
                <a:latin typeface="Courier New" pitchFamily="34" charset="0"/>
                <a:ea typeface="Courier New" pitchFamily="34" charset="-122"/>
                <a:cs typeface="Courier New" pitchFamily="34" charset="-120"/>
              </a:rPr>
              <a:t>  name: { type: String, required: true, trim: true },</a:t>
            </a:r>
            <a:endParaRPr lang="en-US" sz="1400" dirty="0"/>
          </a:p>
          <a:p>
            <a:pPr indent="0" marL="0">
              <a:lnSpc>
                <a:spcPct val="125000"/>
              </a:lnSpc>
              <a:buNone/>
            </a:pPr>
            <a:r>
              <a:rPr lang="en-US" sz="1400" dirty="0">
                <a:solidFill>
                  <a:srgbClr val="1F2429"/>
                </a:solidFill>
                <a:latin typeface="Courier New" pitchFamily="34" charset="0"/>
                <a:ea typeface="Courier New" pitchFamily="34" charset="-122"/>
                <a:cs typeface="Courier New" pitchFamily="34" charset="-120"/>
              </a:rPr>
              <a:t>  email: { type: String, required: true, unique: true, lowercase: true },</a:t>
            </a:r>
            <a:endParaRPr lang="en-US" sz="1400" dirty="0"/>
          </a:p>
          <a:p>
            <a:pPr indent="0" marL="0">
              <a:lnSpc>
                <a:spcPct val="125000"/>
              </a:lnSpc>
              <a:buNone/>
            </a:pPr>
            <a:r>
              <a:rPr lang="en-US" sz="1400" dirty="0">
                <a:solidFill>
                  <a:srgbClr val="1F2429"/>
                </a:solidFill>
                <a:latin typeface="Courier New" pitchFamily="34" charset="0"/>
                <a:ea typeface="Courier New" pitchFamily="34" charset="-122"/>
                <a:cs typeface="Courier New" pitchFamily="34" charset="-120"/>
              </a:rPr>
              <a:t>  age: { type: Number, min: 0, max: 120 },</a:t>
            </a:r>
            <a:endParaRPr lang="en-US" sz="1400" dirty="0"/>
          </a:p>
          <a:p>
            <a:pPr indent="0" marL="0">
              <a:lnSpc>
                <a:spcPct val="125000"/>
              </a:lnSpc>
              <a:buNone/>
            </a:pPr>
            <a:r>
              <a:rPr lang="en-US" sz="1400" dirty="0">
                <a:solidFill>
                  <a:srgbClr val="1F2429"/>
                </a:solidFill>
                <a:latin typeface="Courier New" pitchFamily="34" charset="0"/>
                <a:ea typeface="Courier New" pitchFamily="34" charset="-122"/>
                <a:cs typeface="Courier New" pitchFamily="34" charset="-120"/>
              </a:rPr>
              <a:t>  role: { type: String, enum: ["student", "instructor", "admin"], default: "student" },</a:t>
            </a:r>
            <a:endParaRPr lang="en-US" sz="1400" dirty="0"/>
          </a:p>
          <a:p>
            <a:pPr indent="0" marL="0">
              <a:lnSpc>
                <a:spcPct val="125000"/>
              </a:lnSpc>
              <a:buNone/>
            </a:pPr>
            <a:r>
              <a:rPr lang="en-US" sz="1400" dirty="0">
                <a:solidFill>
                  <a:srgbClr val="1F2429"/>
                </a:solidFill>
                <a:latin typeface="Courier New" pitchFamily="34" charset="0"/>
                <a:ea typeface="Courier New" pitchFamily="34" charset="-122"/>
                <a:cs typeface="Courier New" pitchFamily="34" charset="-120"/>
              </a:rPr>
              <a:t>  createdAt: { type: Date, default: Date.now },</a:t>
            </a:r>
            <a:endParaRPr lang="en-US" sz="1400" dirty="0"/>
          </a:p>
          <a:p>
            <a:pPr indent="0" marL="0">
              <a:lnSpc>
                <a:spcPct val="125000"/>
              </a:lnSpc>
              <a:buNone/>
            </a:pPr>
            <a:r>
              <a:rPr lang="en-US" sz="1400" dirty="0">
                <a:solidFill>
                  <a:srgbClr val="1F2429"/>
                </a:solidFill>
                <a:latin typeface="Courier New" pitchFamily="34" charset="0"/>
                <a:ea typeface="Courier New" pitchFamily="34" charset="-122"/>
                <a:cs typeface="Courier New" pitchFamily="34" charset="-120"/>
              </a:rPr>
              <a:t>});</a:t>
            </a:r>
            <a:endParaRPr lang="en-US" sz="1400" dirty="0"/>
          </a:p>
          <a:p>
            <a:pPr indent="0" marL="0">
              <a:lnSpc>
                <a:spcPct val="125000"/>
              </a:lnSpc>
              <a:buNone/>
            </a:pPr>
            <a:endParaRPr lang="en-US" sz="1400" dirty="0"/>
          </a:p>
          <a:p>
            <a:pPr indent="0" marL="0">
              <a:lnSpc>
                <a:spcPct val="125000"/>
              </a:lnSpc>
              <a:buNone/>
            </a:pPr>
            <a:r>
              <a:rPr lang="en-US" sz="1400" dirty="0">
                <a:solidFill>
                  <a:srgbClr val="1F2429"/>
                </a:solidFill>
                <a:latin typeface="Courier New" pitchFamily="34" charset="0"/>
                <a:ea typeface="Courier New" pitchFamily="34" charset="-122"/>
                <a:cs typeface="Courier New" pitchFamily="34" charset="-120"/>
              </a:rPr>
              <a:t>const User = model("User", userSchema);</a:t>
            </a:r>
            <a:endParaRPr lang="en-US" sz="1400" dirty="0"/>
          </a:p>
        </p:txBody>
      </p:sp>
      <p:sp>
        <p:nvSpPr>
          <p:cNvPr id="8" name="cuinotes-footer-mark"/>
          <p:cNvSpPr txBox="1"/>
          <p:nvPr/>
        </p:nvSpPr>
        <p:spPr>
          <a:xfrm>
            <a:off x="9951720" y="6455664"/>
            <a:ext cx="2011680" cy="292608"/>
          </a:xfrm>
          <a:prstGeom prst="rect">
            <a:avLst/>
          </a:prstGeom>
          <a:noFill/>
        </p:spPr>
        <p:txBody>
          <a:bodyPr wrap="none" lIns="0" rIns="0" tIns="0" bIns="0">
            <a:spAutoFit/>
          </a:bodyPr>
          <a:lstStyle/>
          <a:p>
            <a:pPr algn="r"/>
            <a:r>
              <a:rPr sz="1000">
                <a:solidFill>
                  <a:srgbClr val="8A939B"/>
                </a:solidFill>
                <a:hlinkClick r:id="rId3"/>
              </a:rPr>
              <a:t>cuinotes.com</a:t>
            </a:r>
            <a:r>
              <a:rPr sz="1000">
                <a:solidFill>
                  <a:srgbClr val="8A939B"/>
                </a:solidFill>
              </a:rPr>
              <a:t>  ·  9</a:t>
            </a:r>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name="Slide 10">
    <p:bg>
      <p:bgPr>
        <a:solidFill>
          <a:srgbClr val="FFFFFF"/>
        </a:solidFill>
      </p:bgPr>
    </p:bg>
    <p:spTree>
      <p:nvGrpSpPr>
        <p:cNvPr id="1" name=""/>
        <p:cNvGrpSpPr/>
        <p:nvPr/>
      </p:nvGrpSpPr>
      <p:grpSpPr>
        <a:xfrm>
          <a:off x="0" y="0"/>
          <a:ext cx="0" cy="0"/>
          <a:chOff x="0" y="0"/>
          <a:chExt cx="0" cy="0"/>
        </a:xfrm>
      </p:grpSpPr>
      <p:sp>
        <p:nvSpPr>
          <p:cNvPr id="2" name="Text 0"/>
          <p:cNvSpPr txBox="1"/>
          <p:nvPr/>
        </p:nvSpPr>
        <p:spPr>
          <a:xfrm>
            <a:off x="640080" y="457200"/>
            <a:ext cx="10058400" cy="365760"/>
          </a:xfrm>
          <a:prstGeom prst="rect">
            <a:avLst/>
          </a:prstGeom>
          <a:noFill/>
          <a:ln/>
        </p:spPr>
        <p:txBody>
          <a:bodyPr wrap="square" lIns="0" tIns="0" rIns="0" bIns="0" rtlCol="0" anchor="ctr"/>
          <a:lstStyle/>
          <a:p>
            <a:pPr algn="l" indent="0" marL="0">
              <a:buNone/>
            </a:pPr>
            <a:r>
              <a:rPr lang="en-US" sz="1300" b="1" spc="300" kern="0" dirty="0">
                <a:solidFill>
                  <a:srgbClr val="FF8A3D"/>
                </a:solidFill>
                <a:latin typeface="Calibri" pitchFamily="34" charset="0"/>
                <a:ea typeface="Calibri" pitchFamily="34" charset="-122"/>
                <a:cs typeface="Calibri" pitchFamily="34" charset="-120"/>
              </a:rPr>
              <a:t>SCHEMAS &amp; MODELS</a:t>
            </a:r>
            <a:endParaRPr lang="en-US" sz="1300" dirty="0"/>
          </a:p>
        </p:txBody>
      </p:sp>
      <p:sp>
        <p:nvSpPr>
          <p:cNvPr id="3" name="Text 1"/>
          <p:cNvSpPr txBox="1"/>
          <p:nvPr/>
        </p:nvSpPr>
        <p:spPr>
          <a:xfrm>
            <a:off x="640080" y="841248"/>
            <a:ext cx="10881360" cy="914400"/>
          </a:xfrm>
          <a:prstGeom prst="rect">
            <a:avLst/>
          </a:prstGeom>
          <a:noFill/>
          <a:ln/>
        </p:spPr>
        <p:txBody>
          <a:bodyPr wrap="square" lIns="0" tIns="0" rIns="0" bIns="0" rtlCol="0" anchor="ctr"/>
          <a:lstStyle/>
          <a:p>
            <a:pPr algn="l" indent="0" marL="0">
              <a:buNone/>
            </a:pPr>
            <a:r>
              <a:rPr lang="en-US" sz="3400" b="1" dirty="0">
                <a:solidFill>
                  <a:srgbClr val="2B2B7A"/>
                </a:solidFill>
                <a:latin typeface="Cambria" pitchFamily="34" charset="0"/>
                <a:ea typeface="Cambria" pitchFamily="34" charset="-122"/>
                <a:cs typeface="Cambria" pitchFamily="34" charset="-120"/>
              </a:rPr>
              <a:t>What Each Field Defines</a:t>
            </a:r>
            <a:endParaRPr lang="en-US" sz="3400" dirty="0"/>
          </a:p>
        </p:txBody>
      </p:sp>
      <p:sp>
        <p:nvSpPr>
          <p:cNvPr id="4" name="Shape 2"/>
          <p:cNvSpPr/>
          <p:nvPr/>
        </p:nvSpPr>
        <p:spPr>
          <a:xfrm>
            <a:off x="685800" y="1965960"/>
            <a:ext cx="457200" cy="457200"/>
          </a:xfrm>
          <a:prstGeom prst="ellipse">
            <a:avLst/>
          </a:prstGeom>
          <a:solidFill>
            <a:srgbClr val="FF8A3D"/>
          </a:solidFill>
          <a:ln/>
        </p:spPr>
        <p:txBody>
          <a:bodyPr/>
          <a:p/>
        </p:txBody>
      </p:sp>
      <p:sp>
        <p:nvSpPr>
          <p:cNvPr id="5" name="Text 3"/>
          <p:cNvSpPr txBox="1"/>
          <p:nvPr/>
        </p:nvSpPr>
        <p:spPr>
          <a:xfrm>
            <a:off x="685800" y="1965960"/>
            <a:ext cx="457200" cy="457200"/>
          </a:xfrm>
          <a:prstGeom prst="rect">
            <a:avLst/>
          </a:prstGeom>
          <a:noFill/>
          <a:ln/>
        </p:spPr>
        <p:txBody>
          <a:bodyPr wrap="square" lIns="0" tIns="0" rIns="0" bIns="0" rtlCol="0" anchor="ctr"/>
          <a:lstStyle/>
          <a:p>
            <a:pPr algn="ctr" indent="0" marL="0">
              <a:buNone/>
            </a:pPr>
            <a:r>
              <a:rPr lang="en-US" sz="1500" b="1" dirty="0">
                <a:solidFill>
                  <a:srgbClr val="FFFFFF"/>
                </a:solidFill>
                <a:latin typeface="Calibri" pitchFamily="34" charset="0"/>
                <a:ea typeface="Calibri" pitchFamily="34" charset="-122"/>
                <a:cs typeface="Calibri" pitchFamily="34" charset="-120"/>
              </a:rPr>
              <a:t>1</a:t>
            </a:r>
            <a:endParaRPr lang="en-US" sz="1500" dirty="0"/>
          </a:p>
        </p:txBody>
      </p:sp>
      <p:sp>
        <p:nvSpPr>
          <p:cNvPr id="6" name="Text 4"/>
          <p:cNvSpPr txBox="1"/>
          <p:nvPr/>
        </p:nvSpPr>
        <p:spPr>
          <a:xfrm>
            <a:off x="1371600" y="1892808"/>
            <a:ext cx="10180015" cy="640080"/>
          </a:xfrm>
          <a:prstGeom prst="rect">
            <a:avLst/>
          </a:prstGeom>
          <a:noFill/>
          <a:ln/>
        </p:spPr>
        <p:txBody>
          <a:bodyPr wrap="square" lIns="0" tIns="0" rIns="0" bIns="0" rtlCol="0" anchor="ctr"/>
          <a:lstStyle/>
          <a:p>
            <a:pPr indent="0" marL="0">
              <a:buNone/>
            </a:pPr>
            <a:r>
              <a:rPr lang="en-US" sz="1500" dirty="0">
                <a:solidFill>
                  <a:srgbClr val="26262F"/>
                </a:solidFill>
                <a:latin typeface="Calibri" pitchFamily="34" charset="0"/>
                <a:ea typeface="Calibri" pitchFamily="34" charset="-122"/>
                <a:cs typeface="Calibri" pitchFamily="34" charset="-120"/>
              </a:rPr>
              <a:t>type — the data type (String, Number, Boolean, Date, Array, Schema.Types.ObjectId, ...)</a:t>
            </a:r>
            <a:endParaRPr lang="en-US" sz="1500" dirty="0"/>
          </a:p>
        </p:txBody>
      </p:sp>
      <p:sp>
        <p:nvSpPr>
          <p:cNvPr id="7" name="Shape 5"/>
          <p:cNvSpPr/>
          <p:nvPr/>
        </p:nvSpPr>
        <p:spPr>
          <a:xfrm>
            <a:off x="685800" y="2788920"/>
            <a:ext cx="457200" cy="457200"/>
          </a:xfrm>
          <a:prstGeom prst="ellipse">
            <a:avLst/>
          </a:prstGeom>
          <a:solidFill>
            <a:srgbClr val="FF8A3D"/>
          </a:solidFill>
          <a:ln/>
        </p:spPr>
        <p:txBody>
          <a:bodyPr/>
          <a:p/>
        </p:txBody>
      </p:sp>
      <p:sp>
        <p:nvSpPr>
          <p:cNvPr id="8" name="Text 6"/>
          <p:cNvSpPr txBox="1"/>
          <p:nvPr/>
        </p:nvSpPr>
        <p:spPr>
          <a:xfrm>
            <a:off x="685800" y="2788920"/>
            <a:ext cx="457200" cy="457200"/>
          </a:xfrm>
          <a:prstGeom prst="rect">
            <a:avLst/>
          </a:prstGeom>
          <a:noFill/>
          <a:ln/>
        </p:spPr>
        <p:txBody>
          <a:bodyPr wrap="square" lIns="0" tIns="0" rIns="0" bIns="0" rtlCol="0" anchor="ctr"/>
          <a:lstStyle/>
          <a:p>
            <a:pPr algn="ctr" indent="0" marL="0">
              <a:buNone/>
            </a:pPr>
            <a:r>
              <a:rPr lang="en-US" sz="1500" b="1" dirty="0">
                <a:solidFill>
                  <a:srgbClr val="FFFFFF"/>
                </a:solidFill>
                <a:latin typeface="Calibri" pitchFamily="34" charset="0"/>
                <a:ea typeface="Calibri" pitchFamily="34" charset="-122"/>
                <a:cs typeface="Calibri" pitchFamily="34" charset="-120"/>
              </a:rPr>
              <a:t>2</a:t>
            </a:r>
            <a:endParaRPr lang="en-US" sz="1500" dirty="0"/>
          </a:p>
        </p:txBody>
      </p:sp>
      <p:sp>
        <p:nvSpPr>
          <p:cNvPr id="9" name="Text 7"/>
          <p:cNvSpPr txBox="1"/>
          <p:nvPr/>
        </p:nvSpPr>
        <p:spPr>
          <a:xfrm>
            <a:off x="1371600" y="2715768"/>
            <a:ext cx="10180015" cy="640080"/>
          </a:xfrm>
          <a:prstGeom prst="rect">
            <a:avLst/>
          </a:prstGeom>
          <a:noFill/>
          <a:ln/>
        </p:spPr>
        <p:txBody>
          <a:bodyPr wrap="square" lIns="0" tIns="0" rIns="0" bIns="0" rtlCol="0" anchor="ctr"/>
          <a:lstStyle/>
          <a:p>
            <a:pPr indent="0" marL="0">
              <a:buNone/>
            </a:pPr>
            <a:r>
              <a:rPr lang="en-US" sz="1500" dirty="0">
                <a:solidFill>
                  <a:srgbClr val="26262F"/>
                </a:solidFill>
                <a:latin typeface="Calibri" pitchFamily="34" charset="0"/>
                <a:ea typeface="Calibri" pitchFamily="34" charset="-122"/>
                <a:cs typeface="Calibri" pitchFamily="34" charset="-120"/>
              </a:rPr>
              <a:t>Validation rules — required, min/max, enum (a fixed list of allowed values), or a custom validate function</a:t>
            </a:r>
            <a:endParaRPr lang="en-US" sz="1500" dirty="0"/>
          </a:p>
        </p:txBody>
      </p:sp>
      <p:sp>
        <p:nvSpPr>
          <p:cNvPr id="10" name="Shape 8"/>
          <p:cNvSpPr/>
          <p:nvPr/>
        </p:nvSpPr>
        <p:spPr>
          <a:xfrm>
            <a:off x="685800" y="3611880"/>
            <a:ext cx="457200" cy="457200"/>
          </a:xfrm>
          <a:prstGeom prst="ellipse">
            <a:avLst/>
          </a:prstGeom>
          <a:solidFill>
            <a:srgbClr val="FF8A3D"/>
          </a:solidFill>
          <a:ln/>
        </p:spPr>
        <p:txBody>
          <a:bodyPr/>
          <a:p/>
        </p:txBody>
      </p:sp>
      <p:sp>
        <p:nvSpPr>
          <p:cNvPr id="11" name="Text 9"/>
          <p:cNvSpPr txBox="1"/>
          <p:nvPr/>
        </p:nvSpPr>
        <p:spPr>
          <a:xfrm>
            <a:off x="685800" y="3611880"/>
            <a:ext cx="457200" cy="457200"/>
          </a:xfrm>
          <a:prstGeom prst="rect">
            <a:avLst/>
          </a:prstGeom>
          <a:noFill/>
          <a:ln/>
        </p:spPr>
        <p:txBody>
          <a:bodyPr wrap="square" lIns="0" tIns="0" rIns="0" bIns="0" rtlCol="0" anchor="ctr"/>
          <a:lstStyle/>
          <a:p>
            <a:pPr algn="ctr" indent="0" marL="0">
              <a:buNone/>
            </a:pPr>
            <a:r>
              <a:rPr lang="en-US" sz="1500" b="1" dirty="0">
                <a:solidFill>
                  <a:srgbClr val="FFFFFF"/>
                </a:solidFill>
                <a:latin typeface="Calibri" pitchFamily="34" charset="0"/>
                <a:ea typeface="Calibri" pitchFamily="34" charset="-122"/>
                <a:cs typeface="Calibri" pitchFamily="34" charset="-120"/>
              </a:rPr>
              <a:t>3</a:t>
            </a:r>
            <a:endParaRPr lang="en-US" sz="1500" dirty="0"/>
          </a:p>
        </p:txBody>
      </p:sp>
      <p:sp>
        <p:nvSpPr>
          <p:cNvPr id="12" name="Text 10"/>
          <p:cNvSpPr txBox="1"/>
          <p:nvPr/>
        </p:nvSpPr>
        <p:spPr>
          <a:xfrm>
            <a:off x="1371600" y="3538728"/>
            <a:ext cx="10180015" cy="640080"/>
          </a:xfrm>
          <a:prstGeom prst="rect">
            <a:avLst/>
          </a:prstGeom>
          <a:noFill/>
          <a:ln/>
        </p:spPr>
        <p:txBody>
          <a:bodyPr wrap="square" lIns="0" tIns="0" rIns="0" bIns="0" rtlCol="0" anchor="ctr"/>
          <a:lstStyle/>
          <a:p>
            <a:pPr indent="0" marL="0">
              <a:buNone/>
            </a:pPr>
            <a:r>
              <a:rPr lang="en-US" sz="1500" dirty="0">
                <a:solidFill>
                  <a:srgbClr val="26262F"/>
                </a:solidFill>
                <a:latin typeface="Calibri" pitchFamily="34" charset="0"/>
                <a:ea typeface="Calibri" pitchFamily="34" charset="-122"/>
                <a:cs typeface="Calibri" pitchFamily="34" charset="-120"/>
              </a:rPr>
              <a:t>Defaults — a value used automatically if none is provided</a:t>
            </a:r>
            <a:endParaRPr lang="en-US" sz="1500" dirty="0"/>
          </a:p>
        </p:txBody>
      </p:sp>
      <p:sp>
        <p:nvSpPr>
          <p:cNvPr id="15" name="cuinotes-footer-mark"/>
          <p:cNvSpPr txBox="1"/>
          <p:nvPr/>
        </p:nvSpPr>
        <p:spPr>
          <a:xfrm>
            <a:off x="9951720" y="6455664"/>
            <a:ext cx="2011680" cy="292608"/>
          </a:xfrm>
          <a:prstGeom prst="rect">
            <a:avLst/>
          </a:prstGeom>
          <a:noFill/>
        </p:spPr>
        <p:txBody>
          <a:bodyPr wrap="none" lIns="0" rIns="0" tIns="0" bIns="0">
            <a:spAutoFit/>
          </a:bodyPr>
          <a:lstStyle/>
          <a:p>
            <a:pPr algn="r"/>
            <a:r>
              <a:rPr sz="1000">
                <a:solidFill>
                  <a:srgbClr val="8A939B"/>
                </a:solidFill>
                <a:hlinkClick r:id="rId3"/>
              </a:rPr>
              <a:t>cuinotes.com</a:t>
            </a:r>
            <a:r>
              <a:rPr sz="1000">
                <a:solidFill>
                  <a:srgbClr val="8A939B"/>
                </a:solidFill>
              </a:rPr>
              <a:t>  ·  10</a:t>
            </a:r>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name="Slide 11">
    <p:bg>
      <p:bgPr>
        <a:solidFill>
          <a:srgbClr val="FFFFFF"/>
        </a:solidFill>
      </p:bgPr>
    </p:bg>
    <p:spTree>
      <p:nvGrpSpPr>
        <p:cNvPr id="1" name=""/>
        <p:cNvGrpSpPr/>
        <p:nvPr/>
      </p:nvGrpSpPr>
      <p:grpSpPr>
        <a:xfrm>
          <a:off x="0" y="0"/>
          <a:ext cx="0" cy="0"/>
          <a:chOff x="0" y="0"/>
          <a:chExt cx="0" cy="0"/>
        </a:xfrm>
      </p:grpSpPr>
      <p:sp>
        <p:nvSpPr>
          <p:cNvPr id="2" name="Text 0"/>
          <p:cNvSpPr txBox="1"/>
          <p:nvPr/>
        </p:nvSpPr>
        <p:spPr>
          <a:xfrm>
            <a:off x="640080" y="457200"/>
            <a:ext cx="10058400" cy="365760"/>
          </a:xfrm>
          <a:prstGeom prst="rect">
            <a:avLst/>
          </a:prstGeom>
          <a:noFill/>
          <a:ln/>
        </p:spPr>
        <p:txBody>
          <a:bodyPr wrap="square" lIns="0" tIns="0" rIns="0" bIns="0" rtlCol="0" anchor="ctr"/>
          <a:lstStyle/>
          <a:p>
            <a:pPr algn="l" indent="0" marL="0">
              <a:buNone/>
            </a:pPr>
            <a:r>
              <a:rPr lang="en-US" sz="1300" b="1" spc="300" kern="0" dirty="0">
                <a:solidFill>
                  <a:srgbClr val="FF8A3D"/>
                </a:solidFill>
                <a:latin typeface="Calibri" pitchFamily="34" charset="0"/>
                <a:ea typeface="Calibri" pitchFamily="34" charset="-122"/>
                <a:cs typeface="Calibri" pitchFamily="34" charset="-120"/>
              </a:rPr>
              <a:t>SCHEMAS &amp; MODELS</a:t>
            </a:r>
            <a:endParaRPr lang="en-US" sz="1300" dirty="0"/>
          </a:p>
        </p:txBody>
      </p:sp>
      <p:sp>
        <p:nvSpPr>
          <p:cNvPr id="3" name="Text 1"/>
          <p:cNvSpPr txBox="1"/>
          <p:nvPr/>
        </p:nvSpPr>
        <p:spPr>
          <a:xfrm>
            <a:off x="640080" y="841248"/>
            <a:ext cx="10881360" cy="914400"/>
          </a:xfrm>
          <a:prstGeom prst="rect">
            <a:avLst/>
          </a:prstGeom>
          <a:noFill/>
          <a:ln/>
        </p:spPr>
        <p:txBody>
          <a:bodyPr wrap="square" lIns="0" tIns="0" rIns="0" bIns="0" rtlCol="0" anchor="ctr"/>
          <a:lstStyle/>
          <a:p>
            <a:pPr algn="l" indent="0" marL="0">
              <a:buNone/>
            </a:pPr>
            <a:r>
              <a:rPr lang="en-US" sz="3400" b="1" dirty="0">
                <a:solidFill>
                  <a:srgbClr val="2B2B7A"/>
                </a:solidFill>
                <a:latin typeface="Cambria" pitchFamily="34" charset="0"/>
                <a:ea typeface="Cambria" pitchFamily="34" charset="-122"/>
                <a:cs typeface="Cambria" pitchFamily="34" charset="-120"/>
              </a:rPr>
              <a:t>Validation Runs Automatically</a:t>
            </a:r>
            <a:endParaRPr lang="en-US" sz="3400" dirty="0"/>
          </a:p>
        </p:txBody>
      </p:sp>
      <p:sp>
        <p:nvSpPr>
          <p:cNvPr id="4" name="Shape 2"/>
          <p:cNvSpPr/>
          <p:nvPr/>
        </p:nvSpPr>
        <p:spPr>
          <a:xfrm>
            <a:off x="640080" y="1965960"/>
            <a:ext cx="10911535" cy="3657600"/>
          </a:xfrm>
          <a:prstGeom prst="roundRect">
            <a:avLst>
              <a:gd name="adj" fmla="val 3529"/>
            </a:avLst>
          </a:prstGeom>
          <a:solidFill>
            <a:srgbClr val="E6F6EE"/>
          </a:solidFill>
          <a:ln w="12700">
            <a:solidFill>
              <a:srgbClr val="3FA66B"/>
            </a:solidFill>
            <a:prstDash val="solid"/>
          </a:ln>
        </p:spPr>
        <p:txBody>
          <a:bodyPr/>
          <a:p/>
        </p:txBody>
      </p:sp>
      <p:sp>
        <p:nvSpPr>
          <p:cNvPr id="5" name="Text 3"/>
          <p:cNvSpPr txBox="1"/>
          <p:nvPr/>
        </p:nvSpPr>
        <p:spPr>
          <a:xfrm>
            <a:off x="868680" y="2103120"/>
            <a:ext cx="10454335" cy="400000"/>
          </a:xfrm>
          <a:prstGeom prst="rect">
            <a:avLst/>
          </a:prstGeom>
          <a:noFill/>
          <a:ln/>
        </p:spPr>
        <p:txBody>
          <a:bodyPr wrap="square" lIns="0" tIns="0" rIns="0" bIns="0" rtlCol="0" anchor="ctr"/>
          <a:lstStyle/>
          <a:p>
            <a:pPr indent="0" marL="0">
              <a:buNone/>
            </a:pPr>
            <a:r>
              <a:rPr lang="en-US" sz="1800" b="1" spc="200" kern="0" dirty="0">
                <a:solidFill>
                  <a:srgbClr val="1F7A46"/>
                </a:solidFill>
                <a:latin typeface="Calibri" pitchFamily="34" charset="0"/>
                <a:ea typeface="Calibri" pitchFamily="34" charset="-122"/>
                <a:cs typeface="Calibri" pitchFamily="34" charset="-120"/>
              </a:rPr>
              <a:t>TIP</a:t>
            </a:r>
            <a:endParaRPr lang="en-US" sz="1800" dirty="0"/>
          </a:p>
        </p:txBody>
      </p:sp>
      <p:sp>
        <p:nvSpPr>
          <p:cNvPr id="6" name="Text 4"/>
          <p:cNvSpPr txBox="1"/>
          <p:nvPr/>
        </p:nvSpPr>
        <p:spPr>
          <a:xfrm>
            <a:off x="868680" y="2795960"/>
            <a:ext cx="10454335" cy="2500000"/>
          </a:xfrm>
          <a:prstGeom prst="rect">
            <a:avLst/>
          </a:prstGeom>
          <a:noFill/>
          <a:ln/>
        </p:spPr>
        <p:txBody>
          <a:bodyPr wrap="square" lIns="0" tIns="0" rIns="0" bIns="0" rtlCol="0" anchor="ctr"/>
          <a:lstStyle/>
          <a:p>
            <a:pPr indent="0" marL="0">
              <a:buNone/>
            </a:pPr>
            <a:r>
              <a:rPr lang="en-US" sz="2800" dirty="0">
                <a:solidFill>
                  <a:srgbClr val="26262F"/>
                </a:solidFill>
                <a:latin typeface="Calibri" pitchFamily="34" charset="0"/>
                <a:ea typeface="Calibri" pitchFamily="34" charset="-122"/>
                <a:cs typeface="Calibri" pitchFamily="34" charset="-120"/>
              </a:rPr>
              <a:t>Mongoose checks these rules every time you save() or create() a document, and throws a ValidationError if something doesn't match — free validation, no if statements needed for every field.</a:t>
            </a:r>
            <a:endParaRPr lang="en-US" sz="2800" dirty="0"/>
          </a:p>
        </p:txBody>
      </p:sp>
      <p:sp>
        <p:nvSpPr>
          <p:cNvPr id="9" name="cuinotes-footer-mark"/>
          <p:cNvSpPr txBox="1"/>
          <p:nvPr/>
        </p:nvSpPr>
        <p:spPr>
          <a:xfrm>
            <a:off x="9951720" y="6455664"/>
            <a:ext cx="2011680" cy="292608"/>
          </a:xfrm>
          <a:prstGeom prst="rect">
            <a:avLst/>
          </a:prstGeom>
          <a:noFill/>
        </p:spPr>
        <p:txBody>
          <a:bodyPr wrap="none" lIns="0" rIns="0" tIns="0" bIns="0">
            <a:spAutoFit/>
          </a:bodyPr>
          <a:lstStyle/>
          <a:p>
            <a:pPr algn="r"/>
            <a:r>
              <a:rPr sz="1000">
                <a:solidFill>
                  <a:srgbClr val="8A939B"/>
                </a:solidFill>
                <a:hlinkClick r:id="rId3"/>
              </a:rPr>
              <a:t>cuinotes.com</a:t>
            </a:r>
            <a:r>
              <a:rPr sz="1000">
                <a:solidFill>
                  <a:srgbClr val="8A939B"/>
                </a:solidFill>
              </a:rPr>
              <a:t>  ·  11</a:t>
            </a:r>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name="Slide 12">
    <p:bg>
      <p:bgPr>
        <a:solidFill>
          <a:srgbClr val="FFFFFF"/>
        </a:solidFill>
      </p:bgPr>
    </p:bg>
    <p:spTree>
      <p:nvGrpSpPr>
        <p:cNvPr id="1" name=""/>
        <p:cNvGrpSpPr/>
        <p:nvPr/>
      </p:nvGrpSpPr>
      <p:grpSpPr>
        <a:xfrm>
          <a:off x="0" y="0"/>
          <a:ext cx="0" cy="0"/>
          <a:chOff x="0" y="0"/>
          <a:chExt cx="0" cy="0"/>
        </a:xfrm>
      </p:grpSpPr>
      <p:sp>
        <p:nvSpPr>
          <p:cNvPr id="2" name="Text 0"/>
          <p:cNvSpPr txBox="1"/>
          <p:nvPr/>
        </p:nvSpPr>
        <p:spPr>
          <a:xfrm>
            <a:off x="640080" y="457200"/>
            <a:ext cx="10058400" cy="365760"/>
          </a:xfrm>
          <a:prstGeom prst="rect">
            <a:avLst/>
          </a:prstGeom>
          <a:noFill/>
          <a:ln/>
        </p:spPr>
        <p:txBody>
          <a:bodyPr wrap="square" lIns="0" tIns="0" rIns="0" bIns="0" rtlCol="0" anchor="ctr"/>
          <a:lstStyle/>
          <a:p>
            <a:pPr algn="l" indent="0" marL="0">
              <a:buNone/>
            </a:pPr>
            <a:r>
              <a:rPr lang="en-US" sz="1300" b="1" spc="300" kern="0" dirty="0">
                <a:solidFill>
                  <a:srgbClr val="FF8A3D"/>
                </a:solidFill>
                <a:latin typeface="Calibri" pitchFamily="34" charset="0"/>
                <a:ea typeface="Calibri" pitchFamily="34" charset="-122"/>
                <a:cs typeface="Calibri" pitchFamily="34" charset="-120"/>
              </a:rPr>
              <a:t>COMPARISON</a:t>
            </a:r>
            <a:endParaRPr lang="en-US" sz="1300" dirty="0"/>
          </a:p>
        </p:txBody>
      </p:sp>
      <p:sp>
        <p:nvSpPr>
          <p:cNvPr id="3" name="Text 1"/>
          <p:cNvSpPr txBox="1"/>
          <p:nvPr/>
        </p:nvSpPr>
        <p:spPr>
          <a:xfrm>
            <a:off x="640080" y="841248"/>
            <a:ext cx="10881360" cy="914400"/>
          </a:xfrm>
          <a:prstGeom prst="rect">
            <a:avLst/>
          </a:prstGeom>
          <a:noFill/>
          <a:ln/>
        </p:spPr>
        <p:txBody>
          <a:bodyPr wrap="square" lIns="0" tIns="0" rIns="0" bIns="0" rtlCol="0" anchor="ctr"/>
          <a:lstStyle/>
          <a:p>
            <a:pPr algn="l" indent="0" marL="0">
              <a:buNone/>
            </a:pPr>
            <a:r>
              <a:rPr lang="en-US" sz="3400" b="1" dirty="0">
                <a:solidFill>
                  <a:srgbClr val="2B2B7A"/>
                </a:solidFill>
                <a:latin typeface="Cambria" pitchFamily="34" charset="0"/>
                <a:ea typeface="Cambria" pitchFamily="34" charset="-122"/>
                <a:cs typeface="Cambria" pitchFamily="34" charset="-120"/>
              </a:rPr>
              <a:t>The Same Idea in Sequelize (SQL ORM)</a:t>
            </a:r>
            <a:endParaRPr lang="en-US" sz="3400" dirty="0"/>
          </a:p>
        </p:txBody>
      </p:sp>
      <p:sp>
        <p:nvSpPr>
          <p:cNvPr id="4" name="Shape 2"/>
          <p:cNvSpPr/>
          <p:nvPr/>
        </p:nvSpPr>
        <p:spPr>
          <a:xfrm>
            <a:off x="640080" y="1965960"/>
            <a:ext cx="10911535" cy="2415540"/>
          </a:xfrm>
          <a:prstGeom prst="roundRect">
            <a:avLst>
              <a:gd name="adj" fmla="val 3028"/>
            </a:avLst>
          </a:prstGeom>
          <a:solidFill>
            <a:srgbClr val="F7F8F9"/>
          </a:solidFill>
          <a:ln w="9525">
            <a:solidFill>
              <a:srgbClr val="D0D5DD"/>
            </a:solidFill>
          </a:ln>
        </p:spPr>
        <p:txBody>
          <a:bodyPr/>
          <a:p/>
        </p:txBody>
      </p:sp>
      <p:sp>
        <p:nvSpPr>
          <p:cNvPr id="5" name="Text 3"/>
          <p:cNvSpPr txBox="1"/>
          <p:nvPr/>
        </p:nvSpPr>
        <p:spPr>
          <a:xfrm>
            <a:off x="960120" y="2194560"/>
            <a:ext cx="10271455" cy="1958340"/>
          </a:xfrm>
          <a:prstGeom prst="rect">
            <a:avLst/>
          </a:prstGeom>
          <a:noFill/>
          <a:ln/>
        </p:spPr>
        <p:txBody>
          <a:bodyPr wrap="square" lIns="0" tIns="0" rIns="0" bIns="0" rtlCol="0" anchor="t"/>
          <a:lstStyle/>
          <a:p>
            <a:pPr indent="0" marL="0">
              <a:lnSpc>
                <a:spcPct val="125000"/>
              </a:lnSpc>
              <a:buNone/>
            </a:pPr>
            <a:r>
              <a:rPr lang="en-US" sz="1400" dirty="0">
                <a:solidFill>
                  <a:srgbClr val="1F2429"/>
                </a:solidFill>
                <a:latin typeface="Courier New" pitchFamily="34" charset="0"/>
                <a:ea typeface="Courier New" pitchFamily="34" charset="-122"/>
                <a:cs typeface="Courier New" pitchFamily="34" charset="-120"/>
              </a:rPr>
              <a:t>const { DataTypes } = require("sequelize");</a:t>
            </a:r>
            <a:endParaRPr lang="en-US" sz="1400" dirty="0"/>
          </a:p>
          <a:p>
            <a:pPr indent="0" marL="0">
              <a:lnSpc>
                <a:spcPct val="125000"/>
              </a:lnSpc>
              <a:buNone/>
            </a:pPr>
            <a:endParaRPr lang="en-US" sz="1400" dirty="0"/>
          </a:p>
          <a:p>
            <a:pPr indent="0" marL="0">
              <a:lnSpc>
                <a:spcPct val="125000"/>
              </a:lnSpc>
              <a:buNone/>
            </a:pPr>
            <a:r>
              <a:rPr lang="en-US" sz="1400" dirty="0">
                <a:solidFill>
                  <a:srgbClr val="1F2429"/>
                </a:solidFill>
                <a:latin typeface="Courier New" pitchFamily="34" charset="0"/>
                <a:ea typeface="Courier New" pitchFamily="34" charset="-122"/>
                <a:cs typeface="Courier New" pitchFamily="34" charset="-120"/>
              </a:rPr>
              <a:t>const User = sequelize.define("User", {</a:t>
            </a:r>
            <a:endParaRPr lang="en-US" sz="1400" dirty="0"/>
          </a:p>
          <a:p>
            <a:pPr indent="0" marL="0">
              <a:lnSpc>
                <a:spcPct val="125000"/>
              </a:lnSpc>
              <a:buNone/>
            </a:pPr>
            <a:r>
              <a:rPr lang="en-US" sz="1400" dirty="0">
                <a:solidFill>
                  <a:srgbClr val="1F2429"/>
                </a:solidFill>
                <a:latin typeface="Courier New" pitchFamily="34" charset="0"/>
                <a:ea typeface="Courier New" pitchFamily="34" charset="-122"/>
                <a:cs typeface="Courier New" pitchFamily="34" charset="-120"/>
              </a:rPr>
              <a:t>  name: { type: DataTypes.STRING, allowNull: false },</a:t>
            </a:r>
            <a:endParaRPr lang="en-US" sz="1400" dirty="0"/>
          </a:p>
          <a:p>
            <a:pPr indent="0" marL="0">
              <a:lnSpc>
                <a:spcPct val="125000"/>
              </a:lnSpc>
              <a:buNone/>
            </a:pPr>
            <a:r>
              <a:rPr lang="en-US" sz="1400" dirty="0">
                <a:solidFill>
                  <a:srgbClr val="1F2429"/>
                </a:solidFill>
                <a:latin typeface="Courier New" pitchFamily="34" charset="0"/>
                <a:ea typeface="Courier New" pitchFamily="34" charset="-122"/>
                <a:cs typeface="Courier New" pitchFamily="34" charset="-120"/>
              </a:rPr>
              <a:t>  email: { type: DataTypes.STRING, allowNull: false, unique: true },</a:t>
            </a:r>
            <a:endParaRPr lang="en-US" sz="1400" dirty="0"/>
          </a:p>
          <a:p>
            <a:pPr indent="0" marL="0">
              <a:lnSpc>
                <a:spcPct val="125000"/>
              </a:lnSpc>
              <a:buNone/>
            </a:pPr>
            <a:r>
              <a:rPr lang="en-US" sz="1400" dirty="0">
                <a:solidFill>
                  <a:srgbClr val="1F2429"/>
                </a:solidFill>
                <a:latin typeface="Courier New" pitchFamily="34" charset="0"/>
                <a:ea typeface="Courier New" pitchFamily="34" charset="-122"/>
                <a:cs typeface="Courier New" pitchFamily="34" charset="-120"/>
              </a:rPr>
              <a:t>  age: { type: DataTypes.INTEGER },</a:t>
            </a:r>
            <a:endParaRPr lang="en-US" sz="1400" dirty="0"/>
          </a:p>
          <a:p>
            <a:pPr indent="0" marL="0">
              <a:lnSpc>
                <a:spcPct val="125000"/>
              </a:lnSpc>
              <a:buNone/>
            </a:pPr>
            <a:r>
              <a:rPr lang="en-US" sz="1400" dirty="0">
                <a:solidFill>
                  <a:srgbClr val="1F2429"/>
                </a:solidFill>
                <a:latin typeface="Courier New" pitchFamily="34" charset="0"/>
                <a:ea typeface="Courier New" pitchFamily="34" charset="-122"/>
                <a:cs typeface="Courier New" pitchFamily="34" charset="-120"/>
              </a:rPr>
              <a:t>});</a:t>
            </a:r>
            <a:endParaRPr lang="en-US" sz="1400" dirty="0"/>
          </a:p>
        </p:txBody>
      </p:sp>
      <p:sp>
        <p:nvSpPr>
          <p:cNvPr id="6" name="Text 4"/>
          <p:cNvSpPr txBox="1"/>
          <p:nvPr/>
        </p:nvSpPr>
        <p:spPr>
          <a:xfrm>
            <a:off x="640080" y="4610100"/>
            <a:ext cx="10911535" cy="1653540"/>
          </a:xfrm>
          <a:prstGeom prst="rect">
            <a:avLst/>
          </a:prstGeom>
          <a:noFill/>
          <a:ln/>
        </p:spPr>
        <p:txBody>
          <a:bodyPr wrap="square" lIns="0" tIns="0" rIns="0" bIns="0" rtlCol="0" anchor="t"/>
          <a:lstStyle/>
          <a:p>
            <a:pPr indent="0" marL="0">
              <a:buNone/>
            </a:pPr>
            <a:r>
              <a:rPr lang="en-US" sz="1300" dirty="0">
                <a:solidFill>
                  <a:srgbClr val="26262F"/>
                </a:solidFill>
                <a:latin typeface="Calibri" pitchFamily="34" charset="0"/>
                <a:ea typeface="Calibri" pitchFamily="34" charset="-122"/>
                <a:cs typeface="Calibri" pitchFamily="34" charset="-120"/>
              </a:rPr>
              <a:t>The concepts map closely: a Mongoose "schema" is roughly Sequelize's "model definition" — both compile down to an object you use to run queries.</a:t>
            </a:r>
            <a:endParaRPr lang="en-US" sz="1300" dirty="0"/>
          </a:p>
        </p:txBody>
      </p:sp>
      <p:sp>
        <p:nvSpPr>
          <p:cNvPr id="9" name="cuinotes-footer-mark"/>
          <p:cNvSpPr txBox="1"/>
          <p:nvPr/>
        </p:nvSpPr>
        <p:spPr>
          <a:xfrm>
            <a:off x="9951720" y="6455664"/>
            <a:ext cx="2011680" cy="292608"/>
          </a:xfrm>
          <a:prstGeom prst="rect">
            <a:avLst/>
          </a:prstGeom>
          <a:noFill/>
        </p:spPr>
        <p:txBody>
          <a:bodyPr wrap="none" lIns="0" rIns="0" tIns="0" bIns="0">
            <a:spAutoFit/>
          </a:bodyPr>
          <a:lstStyle/>
          <a:p>
            <a:pPr algn="r"/>
            <a:r>
              <a:rPr sz="1000">
                <a:solidFill>
                  <a:srgbClr val="8A939B"/>
                </a:solidFill>
                <a:hlinkClick r:id="rId3"/>
              </a:rPr>
              <a:t>cuinotes.com</a:t>
            </a:r>
            <a:r>
              <a:rPr sz="1000">
                <a:solidFill>
                  <a:srgbClr val="8A939B"/>
                </a:solidFill>
              </a:rPr>
              <a:t>  ·  12</a:t>
            </a:r>
          </a:p>
        </p:txBody>
      </p:sp>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name="Slide 13">
    <p:bg>
      <p:bgPr>
        <a:solidFill>
          <a:srgbClr val="FFFFFF"/>
        </a:solidFill>
      </p:bgPr>
    </p:bg>
    <p:spTree>
      <p:nvGrpSpPr>
        <p:cNvPr id="1" name=""/>
        <p:cNvGrpSpPr/>
        <p:nvPr/>
      </p:nvGrpSpPr>
      <p:grpSpPr>
        <a:xfrm>
          <a:off x="0" y="0"/>
          <a:ext cx="0" cy="0"/>
          <a:chOff x="0" y="0"/>
          <a:chExt cx="0" cy="0"/>
        </a:xfrm>
      </p:grpSpPr>
      <p:sp>
        <p:nvSpPr>
          <p:cNvPr id="2" name="Text 0"/>
          <p:cNvSpPr txBox="1"/>
          <p:nvPr/>
        </p:nvSpPr>
        <p:spPr>
          <a:xfrm>
            <a:off x="640080" y="457200"/>
            <a:ext cx="10058400" cy="365760"/>
          </a:xfrm>
          <a:prstGeom prst="rect">
            <a:avLst/>
          </a:prstGeom>
          <a:noFill/>
          <a:ln/>
        </p:spPr>
        <p:txBody>
          <a:bodyPr wrap="square" lIns="0" tIns="0" rIns="0" bIns="0" rtlCol="0" anchor="ctr"/>
          <a:lstStyle/>
          <a:p>
            <a:pPr algn="l" indent="0" marL="0">
              <a:buNone/>
            </a:pPr>
            <a:r>
              <a:rPr lang="en-US" sz="1300" b="1" spc="300" kern="0" dirty="0">
                <a:solidFill>
                  <a:srgbClr val="FF8A3D"/>
                </a:solidFill>
                <a:latin typeface="Calibri" pitchFamily="34" charset="0"/>
                <a:ea typeface="Calibri" pitchFamily="34" charset="-122"/>
                <a:cs typeface="Calibri" pitchFamily="34" charset="-120"/>
              </a:rPr>
              <a:t>CRUD: CREATE</a:t>
            </a:r>
            <a:endParaRPr lang="en-US" sz="1300" dirty="0"/>
          </a:p>
        </p:txBody>
      </p:sp>
      <p:sp>
        <p:nvSpPr>
          <p:cNvPr id="3" name="Text 1"/>
          <p:cNvSpPr txBox="1"/>
          <p:nvPr/>
        </p:nvSpPr>
        <p:spPr>
          <a:xfrm>
            <a:off x="640080" y="841248"/>
            <a:ext cx="10881360" cy="914400"/>
          </a:xfrm>
          <a:prstGeom prst="rect">
            <a:avLst/>
          </a:prstGeom>
          <a:noFill/>
          <a:ln/>
        </p:spPr>
        <p:txBody>
          <a:bodyPr wrap="square" lIns="0" tIns="0" rIns="0" bIns="0" rtlCol="0" anchor="ctr"/>
          <a:lstStyle/>
          <a:p>
            <a:pPr algn="l" indent="0" marL="0">
              <a:buNone/>
            </a:pPr>
            <a:r>
              <a:rPr lang="en-US" sz="3400" b="1" dirty="0">
                <a:solidFill>
                  <a:srgbClr val="2B2B7A"/>
                </a:solidFill>
                <a:latin typeface="Cambria" pitchFamily="34" charset="0"/>
                <a:ea typeface="Cambria" pitchFamily="34" charset="-122"/>
                <a:cs typeface="Cambria" pitchFamily="34" charset="-120"/>
              </a:rPr>
              <a:t>Creating a Document</a:t>
            </a:r>
            <a:endParaRPr lang="en-US" sz="3400" dirty="0"/>
          </a:p>
        </p:txBody>
      </p:sp>
      <p:sp>
        <p:nvSpPr>
          <p:cNvPr id="4" name="Shape 2"/>
          <p:cNvSpPr/>
          <p:nvPr/>
        </p:nvSpPr>
        <p:spPr>
          <a:xfrm>
            <a:off x="640080" y="1965960"/>
            <a:ext cx="10911535" cy="1882140"/>
          </a:xfrm>
          <a:prstGeom prst="roundRect">
            <a:avLst>
              <a:gd name="adj" fmla="val 3887"/>
            </a:avLst>
          </a:prstGeom>
          <a:solidFill>
            <a:srgbClr val="F7F8F9"/>
          </a:solidFill>
          <a:ln w="9525">
            <a:solidFill>
              <a:srgbClr val="D0D5DD"/>
            </a:solidFill>
          </a:ln>
        </p:spPr>
        <p:txBody>
          <a:bodyPr/>
          <a:p/>
        </p:txBody>
      </p:sp>
      <p:sp>
        <p:nvSpPr>
          <p:cNvPr id="5" name="Text 3"/>
          <p:cNvSpPr txBox="1"/>
          <p:nvPr/>
        </p:nvSpPr>
        <p:spPr>
          <a:xfrm>
            <a:off x="960120" y="2194560"/>
            <a:ext cx="10271455" cy="1424940"/>
          </a:xfrm>
          <a:prstGeom prst="rect">
            <a:avLst/>
          </a:prstGeom>
          <a:noFill/>
          <a:ln/>
        </p:spPr>
        <p:txBody>
          <a:bodyPr wrap="square" lIns="0" tIns="0" rIns="0" bIns="0" rtlCol="0" anchor="t"/>
          <a:lstStyle/>
          <a:p>
            <a:pPr indent="0" marL="0">
              <a:lnSpc>
                <a:spcPct val="125000"/>
              </a:lnSpc>
              <a:buNone/>
            </a:pPr>
            <a:r>
              <a:rPr lang="en-US" sz="1400" dirty="0">
                <a:solidFill>
                  <a:srgbClr val="1F2429"/>
                </a:solidFill>
                <a:latin typeface="Courier New" pitchFamily="34" charset="0"/>
                <a:ea typeface="Courier New" pitchFamily="34" charset="-122"/>
                <a:cs typeface="Courier New" pitchFamily="34" charset="-120"/>
              </a:rPr>
              <a:t>const newUser = await User.create({</a:t>
            </a:r>
            <a:endParaRPr lang="en-US" sz="1400" dirty="0"/>
          </a:p>
          <a:p>
            <a:pPr indent="0" marL="0">
              <a:lnSpc>
                <a:spcPct val="125000"/>
              </a:lnSpc>
              <a:buNone/>
            </a:pPr>
            <a:r>
              <a:rPr lang="en-US" sz="1400" dirty="0">
                <a:solidFill>
                  <a:srgbClr val="1F2429"/>
                </a:solidFill>
                <a:latin typeface="Courier New" pitchFamily="34" charset="0"/>
                <a:ea typeface="Courier New" pitchFamily="34" charset="-122"/>
                <a:cs typeface="Courier New" pitchFamily="34" charset="-120"/>
              </a:rPr>
              <a:t>  name: "Bilal",</a:t>
            </a:r>
            <a:endParaRPr lang="en-US" sz="1400" dirty="0"/>
          </a:p>
          <a:p>
            <a:pPr indent="0" marL="0">
              <a:lnSpc>
                <a:spcPct val="125000"/>
              </a:lnSpc>
              <a:buNone/>
            </a:pPr>
            <a:r>
              <a:rPr lang="en-US" sz="1400" dirty="0">
                <a:solidFill>
                  <a:srgbClr val="1F2429"/>
                </a:solidFill>
                <a:latin typeface="Courier New" pitchFamily="34" charset="0"/>
                <a:ea typeface="Courier New" pitchFamily="34" charset="-122"/>
                <a:cs typeface="Courier New" pitchFamily="34" charset="-120"/>
              </a:rPr>
              <a:t>  email: "bilal@email.com",</a:t>
            </a:r>
            <a:endParaRPr lang="en-US" sz="1400" dirty="0"/>
          </a:p>
          <a:p>
            <a:pPr indent="0" marL="0">
              <a:lnSpc>
                <a:spcPct val="125000"/>
              </a:lnSpc>
              <a:buNone/>
            </a:pPr>
            <a:r>
              <a:rPr lang="en-US" sz="1400" dirty="0">
                <a:solidFill>
                  <a:srgbClr val="1F2429"/>
                </a:solidFill>
                <a:latin typeface="Courier New" pitchFamily="34" charset="0"/>
                <a:ea typeface="Courier New" pitchFamily="34" charset="-122"/>
                <a:cs typeface="Courier New" pitchFamily="34" charset="-120"/>
              </a:rPr>
              <a:t>  age: 20,</a:t>
            </a:r>
            <a:endParaRPr lang="en-US" sz="1400" dirty="0"/>
          </a:p>
          <a:p>
            <a:pPr indent="0" marL="0">
              <a:lnSpc>
                <a:spcPct val="125000"/>
              </a:lnSpc>
              <a:buNone/>
            </a:pPr>
            <a:r>
              <a:rPr lang="en-US" sz="1400" dirty="0">
                <a:solidFill>
                  <a:srgbClr val="1F2429"/>
                </a:solidFill>
                <a:latin typeface="Courier New" pitchFamily="34" charset="0"/>
                <a:ea typeface="Courier New" pitchFamily="34" charset="-122"/>
                <a:cs typeface="Courier New" pitchFamily="34" charset="-120"/>
              </a:rPr>
              <a:t>});</a:t>
            </a:r>
            <a:endParaRPr lang="en-US" sz="1400" dirty="0"/>
          </a:p>
        </p:txBody>
      </p:sp>
      <p:sp>
        <p:nvSpPr>
          <p:cNvPr id="8" name="cuinotes-footer-mark"/>
          <p:cNvSpPr txBox="1"/>
          <p:nvPr/>
        </p:nvSpPr>
        <p:spPr>
          <a:xfrm>
            <a:off x="9951720" y="6455664"/>
            <a:ext cx="2011680" cy="292608"/>
          </a:xfrm>
          <a:prstGeom prst="rect">
            <a:avLst/>
          </a:prstGeom>
          <a:noFill/>
        </p:spPr>
        <p:txBody>
          <a:bodyPr wrap="none" lIns="0" rIns="0" tIns="0" bIns="0">
            <a:spAutoFit/>
          </a:bodyPr>
          <a:lstStyle/>
          <a:p>
            <a:pPr algn="r"/>
            <a:r>
              <a:rPr sz="1000">
                <a:solidFill>
                  <a:srgbClr val="8A939B"/>
                </a:solidFill>
                <a:hlinkClick r:id="rId3"/>
              </a:rPr>
              <a:t>cuinotes.com</a:t>
            </a:r>
            <a:r>
              <a:rPr sz="1000">
                <a:solidFill>
                  <a:srgbClr val="8A939B"/>
                </a:solidFill>
              </a:rPr>
              <a:t>  ·  13</a:t>
            </a:r>
          </a:p>
        </p:txBody>
      </p:sp>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name="Slide 14">
    <p:bg>
      <p:bgPr>
        <a:solidFill>
          <a:srgbClr val="FFFFFF"/>
        </a:solidFill>
      </p:bgPr>
    </p:bg>
    <p:spTree>
      <p:nvGrpSpPr>
        <p:cNvPr id="1" name=""/>
        <p:cNvGrpSpPr/>
        <p:nvPr/>
      </p:nvGrpSpPr>
      <p:grpSpPr>
        <a:xfrm>
          <a:off x="0" y="0"/>
          <a:ext cx="0" cy="0"/>
          <a:chOff x="0" y="0"/>
          <a:chExt cx="0" cy="0"/>
        </a:xfrm>
      </p:grpSpPr>
      <p:sp>
        <p:nvSpPr>
          <p:cNvPr id="2" name="Text 0"/>
          <p:cNvSpPr txBox="1"/>
          <p:nvPr/>
        </p:nvSpPr>
        <p:spPr>
          <a:xfrm>
            <a:off x="640080" y="457200"/>
            <a:ext cx="10058400" cy="365760"/>
          </a:xfrm>
          <a:prstGeom prst="rect">
            <a:avLst/>
          </a:prstGeom>
          <a:noFill/>
          <a:ln/>
        </p:spPr>
        <p:txBody>
          <a:bodyPr wrap="square" lIns="0" tIns="0" rIns="0" bIns="0" rtlCol="0" anchor="ctr"/>
          <a:lstStyle/>
          <a:p>
            <a:pPr algn="l" indent="0" marL="0">
              <a:buNone/>
            </a:pPr>
            <a:r>
              <a:rPr lang="en-US" sz="1300" b="1" spc="300" kern="0" dirty="0">
                <a:solidFill>
                  <a:srgbClr val="FF8A3D"/>
                </a:solidFill>
                <a:latin typeface="Calibri" pitchFamily="34" charset="0"/>
                <a:ea typeface="Calibri" pitchFamily="34" charset="-122"/>
                <a:cs typeface="Calibri" pitchFamily="34" charset="-120"/>
              </a:rPr>
              <a:t>CRUD: READ</a:t>
            </a:r>
            <a:endParaRPr lang="en-US" sz="1300" dirty="0"/>
          </a:p>
        </p:txBody>
      </p:sp>
      <p:sp>
        <p:nvSpPr>
          <p:cNvPr id="3" name="Text 1"/>
          <p:cNvSpPr txBox="1"/>
          <p:nvPr/>
        </p:nvSpPr>
        <p:spPr>
          <a:xfrm>
            <a:off x="640080" y="841248"/>
            <a:ext cx="10881360" cy="914400"/>
          </a:xfrm>
          <a:prstGeom prst="rect">
            <a:avLst/>
          </a:prstGeom>
          <a:noFill/>
          <a:ln/>
        </p:spPr>
        <p:txBody>
          <a:bodyPr wrap="square" lIns="0" tIns="0" rIns="0" bIns="0" rtlCol="0" anchor="ctr"/>
          <a:lstStyle/>
          <a:p>
            <a:pPr algn="l" indent="0" marL="0">
              <a:buNone/>
            </a:pPr>
            <a:r>
              <a:rPr lang="en-US" sz="3400" b="1" dirty="0">
                <a:solidFill>
                  <a:srgbClr val="2B2B7A"/>
                </a:solidFill>
                <a:latin typeface="Cambria" pitchFamily="34" charset="0"/>
                <a:ea typeface="Cambria" pitchFamily="34" charset="-122"/>
                <a:cs typeface="Cambria" pitchFamily="34" charset="-120"/>
              </a:rPr>
              <a:t>Queries and Filtering</a:t>
            </a:r>
            <a:endParaRPr lang="en-US" sz="3400" dirty="0"/>
          </a:p>
        </p:txBody>
      </p:sp>
      <p:sp>
        <p:nvSpPr>
          <p:cNvPr id="4" name="Shape 2"/>
          <p:cNvSpPr/>
          <p:nvPr/>
        </p:nvSpPr>
        <p:spPr>
          <a:xfrm>
            <a:off x="640080" y="1965960"/>
            <a:ext cx="10911535" cy="3482340"/>
          </a:xfrm>
          <a:prstGeom prst="roundRect">
            <a:avLst>
              <a:gd name="adj" fmla="val 2101"/>
            </a:avLst>
          </a:prstGeom>
          <a:solidFill>
            <a:srgbClr val="F7F8F9"/>
          </a:solidFill>
          <a:ln w="9525">
            <a:solidFill>
              <a:srgbClr val="D0D5DD"/>
            </a:solidFill>
          </a:ln>
        </p:spPr>
        <p:txBody>
          <a:bodyPr/>
          <a:p/>
        </p:txBody>
      </p:sp>
      <p:sp>
        <p:nvSpPr>
          <p:cNvPr id="5" name="Text 3"/>
          <p:cNvSpPr txBox="1"/>
          <p:nvPr/>
        </p:nvSpPr>
        <p:spPr>
          <a:xfrm>
            <a:off x="960120" y="2194560"/>
            <a:ext cx="10271455" cy="3025140"/>
          </a:xfrm>
          <a:prstGeom prst="rect">
            <a:avLst/>
          </a:prstGeom>
          <a:noFill/>
          <a:ln/>
        </p:spPr>
        <p:txBody>
          <a:bodyPr wrap="square" lIns="0" tIns="0" rIns="0" bIns="0" rtlCol="0" anchor="t"/>
          <a:lstStyle/>
          <a:p>
            <a:pPr indent="0" marL="0">
              <a:lnSpc>
                <a:spcPct val="125000"/>
              </a:lnSpc>
              <a:buNone/>
            </a:pPr>
            <a:r>
              <a:rPr lang="en-US" sz="1400" dirty="0">
                <a:solidFill>
                  <a:srgbClr val="1F2429"/>
                </a:solidFill>
                <a:latin typeface="Courier New" pitchFamily="34" charset="0"/>
                <a:ea typeface="Courier New" pitchFamily="34" charset="-122"/>
                <a:cs typeface="Courier New" pitchFamily="34" charset="-120"/>
              </a:rPr>
              <a:t>// Find all users matching a filter</a:t>
            </a:r>
            <a:endParaRPr lang="en-US" sz="1400" dirty="0"/>
          </a:p>
          <a:p>
            <a:pPr indent="0" marL="0">
              <a:lnSpc>
                <a:spcPct val="125000"/>
              </a:lnSpc>
              <a:buNone/>
            </a:pPr>
            <a:r>
              <a:rPr lang="en-US" sz="1400" dirty="0">
                <a:solidFill>
                  <a:srgbClr val="1F2429"/>
                </a:solidFill>
                <a:latin typeface="Courier New" pitchFamily="34" charset="0"/>
                <a:ea typeface="Courier New" pitchFamily="34" charset="-122"/>
                <a:cs typeface="Courier New" pitchFamily="34" charset="-120"/>
              </a:rPr>
              <a:t>const students = await User.find({ role: "student" });</a:t>
            </a:r>
            <a:endParaRPr lang="en-US" sz="1400" dirty="0"/>
          </a:p>
          <a:p>
            <a:pPr indent="0" marL="0">
              <a:lnSpc>
                <a:spcPct val="125000"/>
              </a:lnSpc>
              <a:buNone/>
            </a:pPr>
            <a:endParaRPr lang="en-US" sz="1400" dirty="0"/>
          </a:p>
          <a:p>
            <a:pPr indent="0" marL="0">
              <a:lnSpc>
                <a:spcPct val="125000"/>
              </a:lnSpc>
              <a:buNone/>
            </a:pPr>
            <a:r>
              <a:rPr lang="en-US" sz="1400" dirty="0">
                <a:solidFill>
                  <a:srgbClr val="1F2429"/>
                </a:solidFill>
                <a:latin typeface="Courier New" pitchFamily="34" charset="0"/>
                <a:ea typeface="Courier New" pitchFamily="34" charset="-122"/>
                <a:cs typeface="Courier New" pitchFamily="34" charset="-120"/>
              </a:rPr>
              <a:t>// Find one user</a:t>
            </a:r>
            <a:endParaRPr lang="en-US" sz="1400" dirty="0"/>
          </a:p>
          <a:p>
            <a:pPr indent="0" marL="0">
              <a:lnSpc>
                <a:spcPct val="125000"/>
              </a:lnSpc>
              <a:buNone/>
            </a:pPr>
            <a:r>
              <a:rPr lang="en-US" sz="1400" dirty="0">
                <a:solidFill>
                  <a:srgbClr val="1F2429"/>
                </a:solidFill>
                <a:latin typeface="Courier New" pitchFamily="34" charset="0"/>
                <a:ea typeface="Courier New" pitchFamily="34" charset="-122"/>
                <a:cs typeface="Courier New" pitchFamily="34" charset="-120"/>
              </a:rPr>
              <a:t>const user = await User.findOne({ email: "bilal@email.com" });</a:t>
            </a:r>
            <a:endParaRPr lang="en-US" sz="1400" dirty="0"/>
          </a:p>
          <a:p>
            <a:pPr indent="0" marL="0">
              <a:lnSpc>
                <a:spcPct val="125000"/>
              </a:lnSpc>
              <a:buNone/>
            </a:pPr>
            <a:endParaRPr lang="en-US" sz="1400" dirty="0"/>
          </a:p>
          <a:p>
            <a:pPr indent="0" marL="0">
              <a:lnSpc>
                <a:spcPct val="125000"/>
              </a:lnSpc>
              <a:buNone/>
            </a:pPr>
            <a:r>
              <a:rPr lang="en-US" sz="1400" dirty="0">
                <a:solidFill>
                  <a:srgbClr val="1F2429"/>
                </a:solidFill>
                <a:latin typeface="Courier New" pitchFamily="34" charset="0"/>
                <a:ea typeface="Courier New" pitchFamily="34" charset="-122"/>
                <a:cs typeface="Courier New" pitchFamily="34" charset="-120"/>
              </a:rPr>
              <a:t>// Find by ID (Mongoose's built-in shortcut for _id)</a:t>
            </a:r>
            <a:endParaRPr lang="en-US" sz="1400" dirty="0"/>
          </a:p>
          <a:p>
            <a:pPr indent="0" marL="0">
              <a:lnSpc>
                <a:spcPct val="125000"/>
              </a:lnSpc>
              <a:buNone/>
            </a:pPr>
            <a:r>
              <a:rPr lang="en-US" sz="1400" dirty="0">
                <a:solidFill>
                  <a:srgbClr val="1F2429"/>
                </a:solidFill>
                <a:latin typeface="Courier New" pitchFamily="34" charset="0"/>
                <a:ea typeface="Courier New" pitchFamily="34" charset="-122"/>
                <a:cs typeface="Courier New" pitchFamily="34" charset="-120"/>
              </a:rPr>
              <a:t>const oneUser = await User.findById("64f1a2b3c4d5e6f7a8b9c0d1");</a:t>
            </a:r>
            <a:endParaRPr lang="en-US" sz="1400" dirty="0"/>
          </a:p>
          <a:p>
            <a:pPr indent="0" marL="0">
              <a:lnSpc>
                <a:spcPct val="125000"/>
              </a:lnSpc>
              <a:buNone/>
            </a:pPr>
            <a:endParaRPr lang="en-US" sz="1400" dirty="0"/>
          </a:p>
          <a:p>
            <a:pPr indent="0" marL="0">
              <a:lnSpc>
                <a:spcPct val="125000"/>
              </a:lnSpc>
              <a:buNone/>
            </a:pPr>
            <a:r>
              <a:rPr lang="en-US" sz="1400" dirty="0">
                <a:solidFill>
                  <a:srgbClr val="1F2429"/>
                </a:solidFill>
                <a:latin typeface="Courier New" pitchFamily="34" charset="0"/>
                <a:ea typeface="Courier New" pitchFamily="34" charset="-122"/>
                <a:cs typeface="Courier New" pitchFamily="34" charset="-120"/>
              </a:rPr>
              <a:t>// Filtering with operators</a:t>
            </a:r>
            <a:endParaRPr lang="en-US" sz="1400" dirty="0"/>
          </a:p>
          <a:p>
            <a:pPr indent="0" marL="0">
              <a:lnSpc>
                <a:spcPct val="125000"/>
              </a:lnSpc>
              <a:buNone/>
            </a:pPr>
            <a:r>
              <a:rPr lang="en-US" sz="1400" dirty="0">
                <a:solidFill>
                  <a:srgbClr val="1F2429"/>
                </a:solidFill>
                <a:latin typeface="Courier New" pitchFamily="34" charset="0"/>
                <a:ea typeface="Courier New" pitchFamily="34" charset="-122"/>
                <a:cs typeface="Courier New" pitchFamily="34" charset="-120"/>
              </a:rPr>
              <a:t>const adults = await User.find({ age: { $gte: 18 } });</a:t>
            </a:r>
            <a:endParaRPr lang="en-US" sz="1400" dirty="0"/>
          </a:p>
        </p:txBody>
      </p:sp>
      <p:sp>
        <p:nvSpPr>
          <p:cNvPr id="8" name="cuinotes-footer-mark"/>
          <p:cNvSpPr txBox="1"/>
          <p:nvPr/>
        </p:nvSpPr>
        <p:spPr>
          <a:xfrm>
            <a:off x="9951720" y="6455664"/>
            <a:ext cx="2011680" cy="292608"/>
          </a:xfrm>
          <a:prstGeom prst="rect">
            <a:avLst/>
          </a:prstGeom>
          <a:noFill/>
        </p:spPr>
        <p:txBody>
          <a:bodyPr wrap="none" lIns="0" rIns="0" tIns="0" bIns="0">
            <a:spAutoFit/>
          </a:bodyPr>
          <a:lstStyle/>
          <a:p>
            <a:pPr algn="r"/>
            <a:r>
              <a:rPr sz="1000">
                <a:solidFill>
                  <a:srgbClr val="8A939B"/>
                </a:solidFill>
                <a:hlinkClick r:id="rId3"/>
              </a:rPr>
              <a:t>cuinotes.com</a:t>
            </a:r>
            <a:r>
              <a:rPr sz="1000">
                <a:solidFill>
                  <a:srgbClr val="8A939B"/>
                </a:solidFill>
              </a:rPr>
              <a:t>  ·  14</a:t>
            </a:r>
          </a:p>
        </p:txBody>
      </p:sp>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name="Slide 15">
    <p:bg>
      <p:bgPr>
        <a:solidFill>
          <a:srgbClr val="FFFFFF"/>
        </a:solidFill>
      </p:bgPr>
    </p:bg>
    <p:spTree>
      <p:nvGrpSpPr>
        <p:cNvPr id="1" name=""/>
        <p:cNvGrpSpPr/>
        <p:nvPr/>
      </p:nvGrpSpPr>
      <p:grpSpPr>
        <a:xfrm>
          <a:off x="0" y="0"/>
          <a:ext cx="0" cy="0"/>
          <a:chOff x="0" y="0"/>
          <a:chExt cx="0" cy="0"/>
        </a:xfrm>
      </p:grpSpPr>
      <p:sp>
        <p:nvSpPr>
          <p:cNvPr id="2" name="Text 0"/>
          <p:cNvSpPr txBox="1"/>
          <p:nvPr/>
        </p:nvSpPr>
        <p:spPr>
          <a:xfrm>
            <a:off x="640080" y="457200"/>
            <a:ext cx="10058400" cy="365760"/>
          </a:xfrm>
          <a:prstGeom prst="rect">
            <a:avLst/>
          </a:prstGeom>
          <a:noFill/>
          <a:ln/>
        </p:spPr>
        <p:txBody>
          <a:bodyPr wrap="square" lIns="0" tIns="0" rIns="0" bIns="0" rtlCol="0" anchor="ctr"/>
          <a:lstStyle/>
          <a:p>
            <a:pPr algn="l" indent="0" marL="0">
              <a:buNone/>
            </a:pPr>
            <a:r>
              <a:rPr lang="en-US" sz="1300" b="1" spc="300" kern="0" dirty="0">
                <a:solidFill>
                  <a:srgbClr val="FF8A3D"/>
                </a:solidFill>
                <a:latin typeface="Calibri" pitchFamily="34" charset="0"/>
                <a:ea typeface="Calibri" pitchFamily="34" charset="-122"/>
                <a:cs typeface="Calibri" pitchFamily="34" charset="-120"/>
              </a:rPr>
              <a:t>CRUD: READ</a:t>
            </a:r>
            <a:endParaRPr lang="en-US" sz="1300" dirty="0"/>
          </a:p>
        </p:txBody>
      </p:sp>
      <p:sp>
        <p:nvSpPr>
          <p:cNvPr id="3" name="Text 1"/>
          <p:cNvSpPr txBox="1"/>
          <p:nvPr/>
        </p:nvSpPr>
        <p:spPr>
          <a:xfrm>
            <a:off x="640080" y="841248"/>
            <a:ext cx="10881360" cy="914400"/>
          </a:xfrm>
          <a:prstGeom prst="rect">
            <a:avLst/>
          </a:prstGeom>
          <a:noFill/>
          <a:ln/>
        </p:spPr>
        <p:txBody>
          <a:bodyPr wrap="square" lIns="0" tIns="0" rIns="0" bIns="0" rtlCol="0" anchor="ctr"/>
          <a:lstStyle/>
          <a:p>
            <a:pPr algn="l" indent="0" marL="0">
              <a:buNone/>
            </a:pPr>
            <a:r>
              <a:rPr lang="en-US" sz="3400" b="1" dirty="0">
                <a:solidFill>
                  <a:srgbClr val="2B2B7A"/>
                </a:solidFill>
                <a:latin typeface="Cambria" pitchFamily="34" charset="0"/>
                <a:ea typeface="Cambria" pitchFamily="34" charset="-122"/>
                <a:cs typeface="Cambria" pitchFamily="34" charset="-120"/>
              </a:rPr>
              <a:t>Projection: Choosing Fields</a:t>
            </a:r>
            <a:endParaRPr lang="en-US" sz="3400" dirty="0"/>
          </a:p>
        </p:txBody>
      </p:sp>
      <p:sp>
        <p:nvSpPr>
          <p:cNvPr id="4" name="Shape 2"/>
          <p:cNvSpPr/>
          <p:nvPr/>
        </p:nvSpPr>
        <p:spPr>
          <a:xfrm>
            <a:off x="640080" y="1965960"/>
            <a:ext cx="10911535" cy="1348740"/>
          </a:xfrm>
          <a:prstGeom prst="roundRect">
            <a:avLst>
              <a:gd name="adj" fmla="val 5424"/>
            </a:avLst>
          </a:prstGeom>
          <a:solidFill>
            <a:srgbClr val="F7F8F9"/>
          </a:solidFill>
          <a:ln w="9525">
            <a:solidFill>
              <a:srgbClr val="D0D5DD"/>
            </a:solidFill>
          </a:ln>
        </p:spPr>
        <p:txBody>
          <a:bodyPr/>
          <a:p/>
        </p:txBody>
      </p:sp>
      <p:sp>
        <p:nvSpPr>
          <p:cNvPr id="5" name="Text 3"/>
          <p:cNvSpPr txBox="1"/>
          <p:nvPr/>
        </p:nvSpPr>
        <p:spPr>
          <a:xfrm>
            <a:off x="960120" y="2194560"/>
            <a:ext cx="10271455" cy="891540"/>
          </a:xfrm>
          <a:prstGeom prst="rect">
            <a:avLst/>
          </a:prstGeom>
          <a:noFill/>
          <a:ln/>
        </p:spPr>
        <p:txBody>
          <a:bodyPr wrap="square" lIns="0" tIns="0" rIns="0" bIns="0" rtlCol="0" anchor="t"/>
          <a:lstStyle/>
          <a:p>
            <a:pPr indent="0" marL="0">
              <a:lnSpc>
                <a:spcPct val="125000"/>
              </a:lnSpc>
              <a:buNone/>
            </a:pPr>
            <a:r>
              <a:rPr lang="en-US" sz="1400" dirty="0">
                <a:solidFill>
                  <a:srgbClr val="1F2429"/>
                </a:solidFill>
                <a:latin typeface="Courier New" pitchFamily="34" charset="0"/>
                <a:ea typeface="Courier New" pitchFamily="34" charset="-122"/>
                <a:cs typeface="Courier New" pitchFamily="34" charset="-120"/>
              </a:rPr>
              <a:t>// Only return name and email</a:t>
            </a:r>
            <a:endParaRPr lang="en-US" sz="1400" dirty="0"/>
          </a:p>
          <a:p>
            <a:pPr indent="0" marL="0">
              <a:lnSpc>
                <a:spcPct val="125000"/>
              </a:lnSpc>
              <a:buNone/>
            </a:pPr>
            <a:r>
              <a:rPr lang="en-US" sz="1400" dirty="0">
                <a:solidFill>
                  <a:srgbClr val="1F2429"/>
                </a:solidFill>
                <a:latin typeface="Courier New" pitchFamily="34" charset="0"/>
                <a:ea typeface="Courier New" pitchFamily="34" charset="-122"/>
                <a:cs typeface="Courier New" pitchFamily="34" charset="-120"/>
              </a:rPr>
              <a:t>const emailsOnly = await User.find({}, "name email");</a:t>
            </a:r>
            <a:endParaRPr lang="en-US" sz="1400" dirty="0"/>
          </a:p>
          <a:p>
            <a:pPr indent="0" marL="0">
              <a:lnSpc>
                <a:spcPct val="125000"/>
              </a:lnSpc>
              <a:buNone/>
            </a:pPr>
            <a:r>
              <a:rPr lang="en-US" sz="1400" dirty="0">
                <a:solidFill>
                  <a:srgbClr val="1F2429"/>
                </a:solidFill>
                <a:latin typeface="Courier New" pitchFamily="34" charset="0"/>
                <a:ea typeface="Courier New" pitchFamily="34" charset="-122"/>
                <a:cs typeface="Courier New" pitchFamily="34" charset="-120"/>
              </a:rPr>
              <a:t>// or: User.find().select("name email")</a:t>
            </a:r>
            <a:endParaRPr lang="en-US" sz="1400" dirty="0"/>
          </a:p>
        </p:txBody>
      </p:sp>
      <p:sp>
        <p:nvSpPr>
          <p:cNvPr id="6" name="Text 4"/>
          <p:cNvSpPr txBox="1"/>
          <p:nvPr/>
        </p:nvSpPr>
        <p:spPr>
          <a:xfrm>
            <a:off x="640080" y="3543300"/>
            <a:ext cx="10911535" cy="2720340"/>
          </a:xfrm>
          <a:prstGeom prst="rect">
            <a:avLst/>
          </a:prstGeom>
          <a:noFill/>
          <a:ln/>
        </p:spPr>
        <p:txBody>
          <a:bodyPr wrap="square" lIns="0" tIns="0" rIns="0" bIns="0" rtlCol="0" anchor="t"/>
          <a:lstStyle/>
          <a:p>
            <a:pPr indent="0" marL="0">
              <a:buNone/>
            </a:pPr>
            <a:r>
              <a:rPr lang="en-US" sz="1300" dirty="0">
                <a:solidFill>
                  <a:srgbClr val="26262F"/>
                </a:solidFill>
                <a:latin typeface="Calibri" pitchFamily="34" charset="0"/>
                <a:ea typeface="Calibri" pitchFamily="34" charset="-122"/>
                <a:cs typeface="Calibri" pitchFamily="34" charset="-120"/>
              </a:rPr>
              <a:t>Projection asks the database to return only specific fields — good for performance, and for avoiding sending sensitive fields (like a hashed password) to the client by accident.</a:t>
            </a:r>
            <a:endParaRPr lang="en-US" sz="1300" dirty="0"/>
          </a:p>
        </p:txBody>
      </p:sp>
      <p:sp>
        <p:nvSpPr>
          <p:cNvPr id="9" name="cuinotes-footer-mark"/>
          <p:cNvSpPr txBox="1"/>
          <p:nvPr/>
        </p:nvSpPr>
        <p:spPr>
          <a:xfrm>
            <a:off x="9951720" y="6455664"/>
            <a:ext cx="2011680" cy="292608"/>
          </a:xfrm>
          <a:prstGeom prst="rect">
            <a:avLst/>
          </a:prstGeom>
          <a:noFill/>
        </p:spPr>
        <p:txBody>
          <a:bodyPr wrap="none" lIns="0" rIns="0" tIns="0" bIns="0">
            <a:spAutoFit/>
          </a:bodyPr>
          <a:lstStyle/>
          <a:p>
            <a:pPr algn="r"/>
            <a:r>
              <a:rPr sz="1000">
                <a:solidFill>
                  <a:srgbClr val="8A939B"/>
                </a:solidFill>
                <a:hlinkClick r:id="rId3"/>
              </a:rPr>
              <a:t>cuinotes.com</a:t>
            </a:r>
            <a:r>
              <a:rPr sz="1000">
                <a:solidFill>
                  <a:srgbClr val="8A939B"/>
                </a:solidFill>
              </a:rPr>
              <a:t>  ·  15</a:t>
            </a:r>
          </a:p>
        </p:txBody>
      </p:sp>
    </p:spTree>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name="Slide 16">
    <p:bg>
      <p:bgPr>
        <a:solidFill>
          <a:srgbClr val="FFFFFF"/>
        </a:solidFill>
      </p:bgPr>
    </p:bg>
    <p:spTree>
      <p:nvGrpSpPr>
        <p:cNvPr id="1" name=""/>
        <p:cNvGrpSpPr/>
        <p:nvPr/>
      </p:nvGrpSpPr>
      <p:grpSpPr>
        <a:xfrm>
          <a:off x="0" y="0"/>
          <a:ext cx="0" cy="0"/>
          <a:chOff x="0" y="0"/>
          <a:chExt cx="0" cy="0"/>
        </a:xfrm>
      </p:grpSpPr>
      <p:sp>
        <p:nvSpPr>
          <p:cNvPr id="2" name="Text 0"/>
          <p:cNvSpPr txBox="1"/>
          <p:nvPr/>
        </p:nvSpPr>
        <p:spPr>
          <a:xfrm>
            <a:off x="640080" y="457200"/>
            <a:ext cx="10058400" cy="365760"/>
          </a:xfrm>
          <a:prstGeom prst="rect">
            <a:avLst/>
          </a:prstGeom>
          <a:noFill/>
          <a:ln/>
        </p:spPr>
        <p:txBody>
          <a:bodyPr wrap="square" lIns="0" tIns="0" rIns="0" bIns="0" rtlCol="0" anchor="ctr"/>
          <a:lstStyle/>
          <a:p>
            <a:pPr algn="l" indent="0" marL="0">
              <a:buNone/>
            </a:pPr>
            <a:r>
              <a:rPr lang="en-US" sz="1300" b="1" spc="300" kern="0" dirty="0">
                <a:solidFill>
                  <a:srgbClr val="FF8A3D"/>
                </a:solidFill>
                <a:latin typeface="Calibri" pitchFamily="34" charset="0"/>
                <a:ea typeface="Calibri" pitchFamily="34" charset="-122"/>
                <a:cs typeface="Calibri" pitchFamily="34" charset="-120"/>
              </a:rPr>
              <a:t>CRUD: READ</a:t>
            </a:r>
            <a:endParaRPr lang="en-US" sz="1300" dirty="0"/>
          </a:p>
        </p:txBody>
      </p:sp>
      <p:sp>
        <p:nvSpPr>
          <p:cNvPr id="3" name="Text 1"/>
          <p:cNvSpPr txBox="1"/>
          <p:nvPr/>
        </p:nvSpPr>
        <p:spPr>
          <a:xfrm>
            <a:off x="640080" y="841248"/>
            <a:ext cx="10881360" cy="914400"/>
          </a:xfrm>
          <a:prstGeom prst="rect">
            <a:avLst/>
          </a:prstGeom>
          <a:noFill/>
          <a:ln/>
        </p:spPr>
        <p:txBody>
          <a:bodyPr wrap="square" lIns="0" tIns="0" rIns="0" bIns="0" rtlCol="0" anchor="ctr"/>
          <a:lstStyle/>
          <a:p>
            <a:pPr algn="l" indent="0" marL="0">
              <a:buNone/>
            </a:pPr>
            <a:r>
              <a:rPr lang="en-US" sz="3400" b="1" dirty="0">
                <a:solidFill>
                  <a:srgbClr val="2B2B7A"/>
                </a:solidFill>
                <a:latin typeface="Cambria" pitchFamily="34" charset="0"/>
                <a:ea typeface="Cambria" pitchFamily="34" charset="-122"/>
                <a:cs typeface="Cambria" pitchFamily="34" charset="-120"/>
              </a:rPr>
              <a:t>Pagination</a:t>
            </a:r>
            <a:endParaRPr lang="en-US" sz="3400" dirty="0"/>
          </a:p>
        </p:txBody>
      </p:sp>
      <p:sp>
        <p:nvSpPr>
          <p:cNvPr id="4" name="Shape 2"/>
          <p:cNvSpPr/>
          <p:nvPr/>
        </p:nvSpPr>
        <p:spPr>
          <a:xfrm>
            <a:off x="640080" y="1965960"/>
            <a:ext cx="10911535" cy="2948940"/>
          </a:xfrm>
          <a:prstGeom prst="roundRect">
            <a:avLst>
              <a:gd name="adj" fmla="val 2481"/>
            </a:avLst>
          </a:prstGeom>
          <a:solidFill>
            <a:srgbClr val="F7F8F9"/>
          </a:solidFill>
          <a:ln w="9525">
            <a:solidFill>
              <a:srgbClr val="D0D5DD"/>
            </a:solidFill>
          </a:ln>
        </p:spPr>
        <p:txBody>
          <a:bodyPr/>
          <a:p/>
        </p:txBody>
      </p:sp>
      <p:sp>
        <p:nvSpPr>
          <p:cNvPr id="5" name="Text 3"/>
          <p:cNvSpPr txBox="1"/>
          <p:nvPr/>
        </p:nvSpPr>
        <p:spPr>
          <a:xfrm>
            <a:off x="960120" y="2194560"/>
            <a:ext cx="10271455" cy="2491740"/>
          </a:xfrm>
          <a:prstGeom prst="rect">
            <a:avLst/>
          </a:prstGeom>
          <a:noFill/>
          <a:ln/>
        </p:spPr>
        <p:txBody>
          <a:bodyPr wrap="square" lIns="0" tIns="0" rIns="0" bIns="0" rtlCol="0" anchor="t"/>
          <a:lstStyle/>
          <a:p>
            <a:pPr indent="0" marL="0">
              <a:lnSpc>
                <a:spcPct val="125000"/>
              </a:lnSpc>
              <a:buNone/>
            </a:pPr>
            <a:r>
              <a:rPr lang="en-US" sz="1400" dirty="0">
                <a:solidFill>
                  <a:srgbClr val="1F2429"/>
                </a:solidFill>
                <a:latin typeface="Courier New" pitchFamily="34" charset="0"/>
                <a:ea typeface="Courier New" pitchFamily="34" charset="-122"/>
                <a:cs typeface="Courier New" pitchFamily="34" charset="-120"/>
              </a:rPr>
              <a:t>async function getUsersPage(pageNumber, pageSize = 10) {</a:t>
            </a:r>
            <a:endParaRPr lang="en-US" sz="1400" dirty="0"/>
          </a:p>
          <a:p>
            <a:pPr indent="0" marL="0">
              <a:lnSpc>
                <a:spcPct val="125000"/>
              </a:lnSpc>
              <a:buNone/>
            </a:pPr>
            <a:r>
              <a:rPr lang="en-US" sz="1400" dirty="0">
                <a:solidFill>
                  <a:srgbClr val="1F2429"/>
                </a:solidFill>
                <a:latin typeface="Courier New" pitchFamily="34" charset="0"/>
                <a:ea typeface="Courier New" pitchFamily="34" charset="-122"/>
                <a:cs typeface="Courier New" pitchFamily="34" charset="-120"/>
              </a:rPr>
              <a:t>  const skip = (pageNumber - 1) * pageSize;</a:t>
            </a:r>
            <a:endParaRPr lang="en-US" sz="1400" dirty="0"/>
          </a:p>
          <a:p>
            <a:pPr indent="0" marL="0">
              <a:lnSpc>
                <a:spcPct val="125000"/>
              </a:lnSpc>
              <a:buNone/>
            </a:pPr>
            <a:r>
              <a:rPr lang="en-US" sz="1400" dirty="0">
                <a:solidFill>
                  <a:srgbClr val="1F2429"/>
                </a:solidFill>
                <a:latin typeface="Courier New" pitchFamily="34" charset="0"/>
                <a:ea typeface="Courier New" pitchFamily="34" charset="-122"/>
                <a:cs typeface="Courier New" pitchFamily="34" charset="-120"/>
              </a:rPr>
              <a:t>  const users = await User.find()</a:t>
            </a:r>
            <a:endParaRPr lang="en-US" sz="1400" dirty="0"/>
          </a:p>
          <a:p>
            <a:pPr indent="0" marL="0">
              <a:lnSpc>
                <a:spcPct val="125000"/>
              </a:lnSpc>
              <a:buNone/>
            </a:pPr>
            <a:r>
              <a:rPr lang="en-US" sz="1400" dirty="0">
                <a:solidFill>
                  <a:srgbClr val="1F2429"/>
                </a:solidFill>
                <a:latin typeface="Courier New" pitchFamily="34" charset="0"/>
                <a:ea typeface="Courier New" pitchFamily="34" charset="-122"/>
                <a:cs typeface="Courier New" pitchFamily="34" charset="-120"/>
              </a:rPr>
              <a:t>    .sort({ createdAt: -1 })</a:t>
            </a:r>
            <a:endParaRPr lang="en-US" sz="1400" dirty="0"/>
          </a:p>
          <a:p>
            <a:pPr indent="0" marL="0">
              <a:lnSpc>
                <a:spcPct val="125000"/>
              </a:lnSpc>
              <a:buNone/>
            </a:pPr>
            <a:r>
              <a:rPr lang="en-US" sz="1400" dirty="0">
                <a:solidFill>
                  <a:srgbClr val="1F2429"/>
                </a:solidFill>
                <a:latin typeface="Courier New" pitchFamily="34" charset="0"/>
                <a:ea typeface="Courier New" pitchFamily="34" charset="-122"/>
                <a:cs typeface="Courier New" pitchFamily="34" charset="-120"/>
              </a:rPr>
              <a:t>    .skip(skip)</a:t>
            </a:r>
            <a:endParaRPr lang="en-US" sz="1400" dirty="0"/>
          </a:p>
          <a:p>
            <a:pPr indent="0" marL="0">
              <a:lnSpc>
                <a:spcPct val="125000"/>
              </a:lnSpc>
              <a:buNone/>
            </a:pPr>
            <a:r>
              <a:rPr lang="en-US" sz="1400" dirty="0">
                <a:solidFill>
                  <a:srgbClr val="1F2429"/>
                </a:solidFill>
                <a:latin typeface="Courier New" pitchFamily="34" charset="0"/>
                <a:ea typeface="Courier New" pitchFamily="34" charset="-122"/>
                <a:cs typeface="Courier New" pitchFamily="34" charset="-120"/>
              </a:rPr>
              <a:t>    .limit(pageSize);</a:t>
            </a:r>
            <a:endParaRPr lang="en-US" sz="1400" dirty="0"/>
          </a:p>
          <a:p>
            <a:pPr indent="0" marL="0">
              <a:lnSpc>
                <a:spcPct val="125000"/>
              </a:lnSpc>
              <a:buNone/>
            </a:pPr>
            <a:r>
              <a:rPr lang="en-US" sz="1400" dirty="0">
                <a:solidFill>
                  <a:srgbClr val="1F2429"/>
                </a:solidFill>
                <a:latin typeface="Courier New" pitchFamily="34" charset="0"/>
                <a:ea typeface="Courier New" pitchFamily="34" charset="-122"/>
                <a:cs typeface="Courier New" pitchFamily="34" charset="-120"/>
              </a:rPr>
              <a:t>  const total = await User.countDocuments();</a:t>
            </a:r>
            <a:endParaRPr lang="en-US" sz="1400" dirty="0"/>
          </a:p>
          <a:p>
            <a:pPr indent="0" marL="0">
              <a:lnSpc>
                <a:spcPct val="125000"/>
              </a:lnSpc>
              <a:buNone/>
            </a:pPr>
            <a:r>
              <a:rPr lang="en-US" sz="1400" dirty="0">
                <a:solidFill>
                  <a:srgbClr val="1F2429"/>
                </a:solidFill>
                <a:latin typeface="Courier New" pitchFamily="34" charset="0"/>
                <a:ea typeface="Courier New" pitchFamily="34" charset="-122"/>
                <a:cs typeface="Courier New" pitchFamily="34" charset="-120"/>
              </a:rPr>
              <a:t>  return { users, total, page: pageNumber, totalPages: Math.ceil(total / pageSize) };</a:t>
            </a:r>
            <a:endParaRPr lang="en-US" sz="1400" dirty="0"/>
          </a:p>
          <a:p>
            <a:pPr indent="0" marL="0">
              <a:lnSpc>
                <a:spcPct val="125000"/>
              </a:lnSpc>
              <a:buNone/>
            </a:pPr>
            <a:r>
              <a:rPr lang="en-US" sz="1400" dirty="0">
                <a:solidFill>
                  <a:srgbClr val="1F2429"/>
                </a:solidFill>
                <a:latin typeface="Courier New" pitchFamily="34" charset="0"/>
                <a:ea typeface="Courier New" pitchFamily="34" charset="-122"/>
                <a:cs typeface="Courier New" pitchFamily="34" charset="-120"/>
              </a:rPr>
              <a:t>}</a:t>
            </a:r>
            <a:endParaRPr lang="en-US" sz="1400" dirty="0"/>
          </a:p>
        </p:txBody>
      </p:sp>
      <p:sp>
        <p:nvSpPr>
          <p:cNvPr id="6" name="Text 4"/>
          <p:cNvSpPr txBox="1"/>
          <p:nvPr/>
        </p:nvSpPr>
        <p:spPr>
          <a:xfrm>
            <a:off x="640080" y="5143500"/>
            <a:ext cx="10911535" cy="1120140"/>
          </a:xfrm>
          <a:prstGeom prst="rect">
            <a:avLst/>
          </a:prstGeom>
          <a:noFill/>
          <a:ln/>
        </p:spPr>
        <p:txBody>
          <a:bodyPr wrap="square" lIns="0" tIns="0" rIns="0" bIns="0" rtlCol="0" anchor="t"/>
          <a:lstStyle/>
          <a:p>
            <a:pPr indent="0" marL="0">
              <a:buNone/>
            </a:pPr>
            <a:r>
              <a:rPr lang="en-US" sz="1300" dirty="0">
                <a:solidFill>
                  <a:srgbClr val="26262F"/>
                </a:solidFill>
                <a:latin typeface="Calibri" pitchFamily="34" charset="0"/>
                <a:ea typeface="Calibri" pitchFamily="34" charset="-122"/>
                <a:cs typeface="Calibri" pitchFamily="34" charset="-120"/>
              </a:rPr>
              <a:t>.skip() jumps over already-seen documents; .limit() caps how many come back — together they fetch page 2, page 3, and so on.</a:t>
            </a:r>
            <a:endParaRPr lang="en-US" sz="1300" dirty="0"/>
          </a:p>
        </p:txBody>
      </p:sp>
      <p:sp>
        <p:nvSpPr>
          <p:cNvPr id="9" name="cuinotes-footer-mark"/>
          <p:cNvSpPr txBox="1"/>
          <p:nvPr/>
        </p:nvSpPr>
        <p:spPr>
          <a:xfrm>
            <a:off x="9951720" y="6455664"/>
            <a:ext cx="2011680" cy="292608"/>
          </a:xfrm>
          <a:prstGeom prst="rect">
            <a:avLst/>
          </a:prstGeom>
          <a:noFill/>
        </p:spPr>
        <p:txBody>
          <a:bodyPr wrap="none" lIns="0" rIns="0" tIns="0" bIns="0">
            <a:spAutoFit/>
          </a:bodyPr>
          <a:lstStyle/>
          <a:p>
            <a:pPr algn="r"/>
            <a:r>
              <a:rPr sz="1000">
                <a:solidFill>
                  <a:srgbClr val="8A939B"/>
                </a:solidFill>
                <a:hlinkClick r:id="rId3"/>
              </a:rPr>
              <a:t>cuinotes.com</a:t>
            </a:r>
            <a:r>
              <a:rPr sz="1000">
                <a:solidFill>
                  <a:srgbClr val="8A939B"/>
                </a:solidFill>
              </a:rPr>
              <a:t>  ·  16</a:t>
            </a:r>
          </a:p>
        </p:txBody>
      </p:sp>
    </p:spTree>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name="Slide 17">
    <p:bg>
      <p:bgPr>
        <a:solidFill>
          <a:srgbClr val="FFFFFF"/>
        </a:solidFill>
      </p:bgPr>
    </p:bg>
    <p:spTree>
      <p:nvGrpSpPr>
        <p:cNvPr id="1" name=""/>
        <p:cNvGrpSpPr/>
        <p:nvPr/>
      </p:nvGrpSpPr>
      <p:grpSpPr>
        <a:xfrm>
          <a:off x="0" y="0"/>
          <a:ext cx="0" cy="0"/>
          <a:chOff x="0" y="0"/>
          <a:chExt cx="0" cy="0"/>
        </a:xfrm>
      </p:grpSpPr>
      <p:sp>
        <p:nvSpPr>
          <p:cNvPr id="2" name="Text 0"/>
          <p:cNvSpPr txBox="1"/>
          <p:nvPr/>
        </p:nvSpPr>
        <p:spPr>
          <a:xfrm>
            <a:off x="640080" y="457200"/>
            <a:ext cx="10058400" cy="365760"/>
          </a:xfrm>
          <a:prstGeom prst="rect">
            <a:avLst/>
          </a:prstGeom>
          <a:noFill/>
          <a:ln/>
        </p:spPr>
        <p:txBody>
          <a:bodyPr wrap="square" lIns="0" tIns="0" rIns="0" bIns="0" rtlCol="0" anchor="ctr"/>
          <a:lstStyle/>
          <a:p>
            <a:pPr algn="l" indent="0" marL="0">
              <a:buNone/>
            </a:pPr>
            <a:r>
              <a:rPr lang="en-US" sz="1300" b="1" spc="300" kern="0" dirty="0">
                <a:solidFill>
                  <a:srgbClr val="FF8A3D"/>
                </a:solidFill>
                <a:latin typeface="Calibri" pitchFamily="34" charset="0"/>
                <a:ea typeface="Calibri" pitchFamily="34" charset="-122"/>
                <a:cs typeface="Calibri" pitchFamily="34" charset="-120"/>
              </a:rPr>
              <a:t>CRUD: UPDATE</a:t>
            </a:r>
            <a:endParaRPr lang="en-US" sz="1300" dirty="0"/>
          </a:p>
        </p:txBody>
      </p:sp>
      <p:sp>
        <p:nvSpPr>
          <p:cNvPr id="3" name="Text 1"/>
          <p:cNvSpPr txBox="1"/>
          <p:nvPr/>
        </p:nvSpPr>
        <p:spPr>
          <a:xfrm>
            <a:off x="640080" y="841248"/>
            <a:ext cx="10881360" cy="914400"/>
          </a:xfrm>
          <a:prstGeom prst="rect">
            <a:avLst/>
          </a:prstGeom>
          <a:noFill/>
          <a:ln/>
        </p:spPr>
        <p:txBody>
          <a:bodyPr wrap="square" lIns="0" tIns="0" rIns="0" bIns="0" rtlCol="0" anchor="ctr"/>
          <a:lstStyle/>
          <a:p>
            <a:pPr algn="l" indent="0" marL="0">
              <a:buNone/>
            </a:pPr>
            <a:r>
              <a:rPr lang="en-US" sz="3400" b="1" dirty="0">
                <a:solidFill>
                  <a:srgbClr val="2B2B7A"/>
                </a:solidFill>
                <a:latin typeface="Cambria" pitchFamily="34" charset="0"/>
                <a:ea typeface="Cambria" pitchFamily="34" charset="-122"/>
                <a:cs typeface="Cambria" pitchFamily="34" charset="-120"/>
              </a:rPr>
              <a:t>Updating Documents</a:t>
            </a:r>
            <a:endParaRPr lang="en-US" sz="3400" dirty="0"/>
          </a:p>
        </p:txBody>
      </p:sp>
      <p:sp>
        <p:nvSpPr>
          <p:cNvPr id="4" name="Shape 2"/>
          <p:cNvSpPr/>
          <p:nvPr/>
        </p:nvSpPr>
        <p:spPr>
          <a:xfrm>
            <a:off x="640080" y="1965960"/>
            <a:ext cx="10911535" cy="2948940"/>
          </a:xfrm>
          <a:prstGeom prst="roundRect">
            <a:avLst>
              <a:gd name="adj" fmla="val 2481"/>
            </a:avLst>
          </a:prstGeom>
          <a:solidFill>
            <a:srgbClr val="F7F8F9"/>
          </a:solidFill>
          <a:ln w="9525">
            <a:solidFill>
              <a:srgbClr val="D0D5DD"/>
            </a:solidFill>
          </a:ln>
        </p:spPr>
        <p:txBody>
          <a:bodyPr/>
          <a:p/>
        </p:txBody>
      </p:sp>
      <p:sp>
        <p:nvSpPr>
          <p:cNvPr id="5" name="Text 3"/>
          <p:cNvSpPr txBox="1"/>
          <p:nvPr/>
        </p:nvSpPr>
        <p:spPr>
          <a:xfrm>
            <a:off x="960120" y="2194560"/>
            <a:ext cx="10271455" cy="2491740"/>
          </a:xfrm>
          <a:prstGeom prst="rect">
            <a:avLst/>
          </a:prstGeom>
          <a:noFill/>
          <a:ln/>
        </p:spPr>
        <p:txBody>
          <a:bodyPr wrap="square" lIns="0" tIns="0" rIns="0" bIns="0" rtlCol="0" anchor="t"/>
          <a:lstStyle/>
          <a:p>
            <a:pPr indent="0" marL="0">
              <a:lnSpc>
                <a:spcPct val="125000"/>
              </a:lnSpc>
              <a:buNone/>
            </a:pPr>
            <a:r>
              <a:rPr lang="en-US" sz="1400" dirty="0">
                <a:solidFill>
                  <a:srgbClr val="1F2429"/>
                </a:solidFill>
                <a:latin typeface="Courier New" pitchFamily="34" charset="0"/>
                <a:ea typeface="Courier New" pitchFamily="34" charset="-122"/>
                <a:cs typeface="Courier New" pitchFamily="34" charset="-120"/>
              </a:rPr>
              <a:t>// Update one document and get the updated version back</a:t>
            </a:r>
            <a:endParaRPr lang="en-US" sz="1400" dirty="0"/>
          </a:p>
          <a:p>
            <a:pPr indent="0" marL="0">
              <a:lnSpc>
                <a:spcPct val="125000"/>
              </a:lnSpc>
              <a:buNone/>
            </a:pPr>
            <a:r>
              <a:rPr lang="en-US" sz="1400" dirty="0">
                <a:solidFill>
                  <a:srgbClr val="1F2429"/>
                </a:solidFill>
                <a:latin typeface="Courier New" pitchFamily="34" charset="0"/>
                <a:ea typeface="Courier New" pitchFamily="34" charset="-122"/>
                <a:cs typeface="Courier New" pitchFamily="34" charset="-120"/>
              </a:rPr>
              <a:t>const updated = await User.findByIdAndUpdate(</a:t>
            </a:r>
            <a:endParaRPr lang="en-US" sz="1400" dirty="0"/>
          </a:p>
          <a:p>
            <a:pPr indent="0" marL="0">
              <a:lnSpc>
                <a:spcPct val="125000"/>
              </a:lnSpc>
              <a:buNone/>
            </a:pPr>
            <a:r>
              <a:rPr lang="en-US" sz="1400" dirty="0">
                <a:solidFill>
                  <a:srgbClr val="1F2429"/>
                </a:solidFill>
                <a:latin typeface="Courier New" pitchFamily="34" charset="0"/>
                <a:ea typeface="Courier New" pitchFamily="34" charset="-122"/>
                <a:cs typeface="Courier New" pitchFamily="34" charset="-120"/>
              </a:rPr>
              <a:t>  "64f1a2b3c4d5e6f7a8b9c0d1",</a:t>
            </a:r>
            <a:endParaRPr lang="en-US" sz="1400" dirty="0"/>
          </a:p>
          <a:p>
            <a:pPr indent="0" marL="0">
              <a:lnSpc>
                <a:spcPct val="125000"/>
              </a:lnSpc>
              <a:buNone/>
            </a:pPr>
            <a:r>
              <a:rPr lang="en-US" sz="1400" dirty="0">
                <a:solidFill>
                  <a:srgbClr val="1F2429"/>
                </a:solidFill>
                <a:latin typeface="Courier New" pitchFamily="34" charset="0"/>
                <a:ea typeface="Courier New" pitchFamily="34" charset="-122"/>
                <a:cs typeface="Courier New" pitchFamily="34" charset="-120"/>
              </a:rPr>
              <a:t>  { age: 23 },</a:t>
            </a:r>
            <a:endParaRPr lang="en-US" sz="1400" dirty="0"/>
          </a:p>
          <a:p>
            <a:pPr indent="0" marL="0">
              <a:lnSpc>
                <a:spcPct val="125000"/>
              </a:lnSpc>
              <a:buNone/>
            </a:pPr>
            <a:r>
              <a:rPr lang="en-US" sz="1400" dirty="0">
                <a:solidFill>
                  <a:srgbClr val="1F2429"/>
                </a:solidFill>
                <a:latin typeface="Courier New" pitchFamily="34" charset="0"/>
                <a:ea typeface="Courier New" pitchFamily="34" charset="-122"/>
                <a:cs typeface="Courier New" pitchFamily="34" charset="-120"/>
              </a:rPr>
              <a:t>  { new: true, runValidators: true }</a:t>
            </a:r>
            <a:endParaRPr lang="en-US" sz="1400" dirty="0"/>
          </a:p>
          <a:p>
            <a:pPr indent="0" marL="0">
              <a:lnSpc>
                <a:spcPct val="125000"/>
              </a:lnSpc>
              <a:buNone/>
            </a:pPr>
            <a:r>
              <a:rPr lang="en-US" sz="1400" dirty="0">
                <a:solidFill>
                  <a:srgbClr val="1F2429"/>
                </a:solidFill>
                <a:latin typeface="Courier New" pitchFamily="34" charset="0"/>
                <a:ea typeface="Courier New" pitchFamily="34" charset="-122"/>
                <a:cs typeface="Courier New" pitchFamily="34" charset="-120"/>
              </a:rPr>
              <a:t>);</a:t>
            </a:r>
            <a:endParaRPr lang="en-US" sz="1400" dirty="0"/>
          </a:p>
          <a:p>
            <a:pPr indent="0" marL="0">
              <a:lnSpc>
                <a:spcPct val="125000"/>
              </a:lnSpc>
              <a:buNone/>
            </a:pPr>
            <a:endParaRPr lang="en-US" sz="1400" dirty="0"/>
          </a:p>
          <a:p>
            <a:pPr indent="0" marL="0">
              <a:lnSpc>
                <a:spcPct val="125000"/>
              </a:lnSpc>
              <a:buNone/>
            </a:pPr>
            <a:r>
              <a:rPr lang="en-US" sz="1400" dirty="0">
                <a:solidFill>
                  <a:srgbClr val="1F2429"/>
                </a:solidFill>
                <a:latin typeface="Courier New" pitchFamily="34" charset="0"/>
                <a:ea typeface="Courier New" pitchFamily="34" charset="-122"/>
                <a:cs typeface="Courier New" pitchFamily="34" charset="-120"/>
              </a:rPr>
              <a:t>// Update many at once</a:t>
            </a:r>
            <a:endParaRPr lang="en-US" sz="1400" dirty="0"/>
          </a:p>
          <a:p>
            <a:pPr indent="0" marL="0">
              <a:lnSpc>
                <a:spcPct val="125000"/>
              </a:lnSpc>
              <a:buNone/>
            </a:pPr>
            <a:r>
              <a:rPr lang="en-US" sz="1400" dirty="0">
                <a:solidFill>
                  <a:srgbClr val="1F2429"/>
                </a:solidFill>
                <a:latin typeface="Courier New" pitchFamily="34" charset="0"/>
                <a:ea typeface="Courier New" pitchFamily="34" charset="-122"/>
                <a:cs typeface="Courier New" pitchFamily="34" charset="-120"/>
              </a:rPr>
              <a:t>await User.updateMany({ role: "student" }, { $set: { active: true } });</a:t>
            </a:r>
            <a:endParaRPr lang="en-US" sz="1400" dirty="0"/>
          </a:p>
        </p:txBody>
      </p:sp>
      <p:sp>
        <p:nvSpPr>
          <p:cNvPr id="8" name="cuinotes-footer-mark"/>
          <p:cNvSpPr txBox="1"/>
          <p:nvPr/>
        </p:nvSpPr>
        <p:spPr>
          <a:xfrm>
            <a:off x="9951720" y="6455664"/>
            <a:ext cx="2011680" cy="292608"/>
          </a:xfrm>
          <a:prstGeom prst="rect">
            <a:avLst/>
          </a:prstGeom>
          <a:noFill/>
        </p:spPr>
        <p:txBody>
          <a:bodyPr wrap="none" lIns="0" rIns="0" tIns="0" bIns="0">
            <a:spAutoFit/>
          </a:bodyPr>
          <a:lstStyle/>
          <a:p>
            <a:pPr algn="r"/>
            <a:r>
              <a:rPr sz="1000">
                <a:solidFill>
                  <a:srgbClr val="8A939B"/>
                </a:solidFill>
                <a:hlinkClick r:id="rId3"/>
              </a:rPr>
              <a:t>cuinotes.com</a:t>
            </a:r>
            <a:r>
              <a:rPr sz="1000">
                <a:solidFill>
                  <a:srgbClr val="8A939B"/>
                </a:solidFill>
              </a:rPr>
              <a:t>  ·  17</a:t>
            </a:r>
          </a:p>
        </p:txBody>
      </p:sp>
    </p:spTree>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name="Slide 18">
    <p:bg>
      <p:bgPr>
        <a:solidFill>
          <a:srgbClr val="FFFFFF"/>
        </a:solidFill>
      </p:bgPr>
    </p:bg>
    <p:spTree>
      <p:nvGrpSpPr>
        <p:cNvPr id="1" name=""/>
        <p:cNvGrpSpPr/>
        <p:nvPr/>
      </p:nvGrpSpPr>
      <p:grpSpPr>
        <a:xfrm>
          <a:off x="0" y="0"/>
          <a:ext cx="0" cy="0"/>
          <a:chOff x="0" y="0"/>
          <a:chExt cx="0" cy="0"/>
        </a:xfrm>
      </p:grpSpPr>
      <p:sp>
        <p:nvSpPr>
          <p:cNvPr id="2" name="Text 0"/>
          <p:cNvSpPr txBox="1"/>
          <p:nvPr/>
        </p:nvSpPr>
        <p:spPr>
          <a:xfrm>
            <a:off x="640080" y="457200"/>
            <a:ext cx="10058400" cy="365760"/>
          </a:xfrm>
          <a:prstGeom prst="rect">
            <a:avLst/>
          </a:prstGeom>
          <a:noFill/>
          <a:ln/>
        </p:spPr>
        <p:txBody>
          <a:bodyPr wrap="square" lIns="0" tIns="0" rIns="0" bIns="0" rtlCol="0" anchor="ctr"/>
          <a:lstStyle/>
          <a:p>
            <a:pPr algn="l" indent="0" marL="0">
              <a:buNone/>
            </a:pPr>
            <a:r>
              <a:rPr lang="en-US" sz="1300" b="1" spc="300" kern="0" dirty="0">
                <a:solidFill>
                  <a:srgbClr val="FF8A3D"/>
                </a:solidFill>
                <a:latin typeface="Calibri" pitchFamily="34" charset="0"/>
                <a:ea typeface="Calibri" pitchFamily="34" charset="-122"/>
                <a:cs typeface="Calibri" pitchFamily="34" charset="-120"/>
              </a:rPr>
              <a:t>CRUD: UPDATE</a:t>
            </a:r>
            <a:endParaRPr lang="en-US" sz="1300" dirty="0"/>
          </a:p>
        </p:txBody>
      </p:sp>
      <p:sp>
        <p:nvSpPr>
          <p:cNvPr id="3" name="Text 1"/>
          <p:cNvSpPr txBox="1"/>
          <p:nvPr/>
        </p:nvSpPr>
        <p:spPr>
          <a:xfrm>
            <a:off x="640080" y="841248"/>
            <a:ext cx="10881360" cy="914400"/>
          </a:xfrm>
          <a:prstGeom prst="rect">
            <a:avLst/>
          </a:prstGeom>
          <a:noFill/>
          <a:ln/>
        </p:spPr>
        <p:txBody>
          <a:bodyPr wrap="square" lIns="0" tIns="0" rIns="0" bIns="0" rtlCol="0" anchor="ctr"/>
          <a:lstStyle/>
          <a:p>
            <a:pPr algn="l" indent="0" marL="0">
              <a:buNone/>
            </a:pPr>
            <a:r>
              <a:rPr lang="en-US" sz="3400" b="1" dirty="0">
                <a:solidFill>
                  <a:srgbClr val="2B2B7A"/>
                </a:solidFill>
                <a:latin typeface="Cambria" pitchFamily="34" charset="0"/>
                <a:ea typeface="Cambria" pitchFamily="34" charset="-122"/>
                <a:cs typeface="Cambria" pitchFamily="34" charset="-120"/>
              </a:rPr>
              <a:t>Validators Are Opt-In on Update</a:t>
            </a:r>
            <a:endParaRPr lang="en-US" sz="3400" dirty="0"/>
          </a:p>
        </p:txBody>
      </p:sp>
      <p:sp>
        <p:nvSpPr>
          <p:cNvPr id="4" name="Shape 2"/>
          <p:cNvSpPr/>
          <p:nvPr/>
        </p:nvSpPr>
        <p:spPr>
          <a:xfrm>
            <a:off x="640080" y="1965960"/>
            <a:ext cx="10911535" cy="3657600"/>
          </a:xfrm>
          <a:prstGeom prst="roundRect">
            <a:avLst>
              <a:gd name="adj" fmla="val 3158"/>
            </a:avLst>
          </a:prstGeom>
          <a:solidFill>
            <a:srgbClr val="FDECE0"/>
          </a:solidFill>
          <a:ln w="12700">
            <a:solidFill>
              <a:srgbClr val="FF8A3D"/>
            </a:solidFill>
            <a:prstDash val="solid"/>
          </a:ln>
        </p:spPr>
        <p:txBody>
          <a:bodyPr/>
          <a:p/>
        </p:txBody>
      </p:sp>
      <p:sp>
        <p:nvSpPr>
          <p:cNvPr id="5" name="Text 3"/>
          <p:cNvSpPr txBox="1"/>
          <p:nvPr/>
        </p:nvSpPr>
        <p:spPr>
          <a:xfrm>
            <a:off x="868680" y="2103120"/>
            <a:ext cx="10454335" cy="400000"/>
          </a:xfrm>
          <a:prstGeom prst="rect">
            <a:avLst/>
          </a:prstGeom>
          <a:noFill/>
          <a:ln/>
        </p:spPr>
        <p:txBody>
          <a:bodyPr wrap="square" lIns="0" tIns="0" rIns="0" bIns="0" rtlCol="0" anchor="ctr"/>
          <a:lstStyle/>
          <a:p>
            <a:pPr indent="0" marL="0">
              <a:buNone/>
            </a:pPr>
            <a:r>
              <a:rPr lang="en-US" sz="1800" b="1" spc="200" kern="0" dirty="0">
                <a:solidFill>
                  <a:srgbClr val="8A3A12"/>
                </a:solidFill>
                <a:latin typeface="Calibri" pitchFamily="34" charset="0"/>
                <a:ea typeface="Calibri" pitchFamily="34" charset="-122"/>
                <a:cs typeface="Calibri" pitchFamily="34" charset="-120"/>
              </a:rPr>
              <a:t>WARNING</a:t>
            </a:r>
            <a:endParaRPr lang="en-US" sz="1800" dirty="0"/>
          </a:p>
        </p:txBody>
      </p:sp>
      <p:sp>
        <p:nvSpPr>
          <p:cNvPr id="6" name="Text 4"/>
          <p:cNvSpPr txBox="1"/>
          <p:nvPr/>
        </p:nvSpPr>
        <p:spPr>
          <a:xfrm>
            <a:off x="868680" y="2795960"/>
            <a:ext cx="10454335" cy="2500000"/>
          </a:xfrm>
          <a:prstGeom prst="rect">
            <a:avLst/>
          </a:prstGeom>
          <a:noFill/>
          <a:ln/>
        </p:spPr>
        <p:txBody>
          <a:bodyPr wrap="square" lIns="0" tIns="0" rIns="0" bIns="0" rtlCol="0" anchor="ctr"/>
          <a:lstStyle/>
          <a:p>
            <a:pPr indent="0" marL="0">
              <a:buNone/>
            </a:pPr>
            <a:r>
              <a:rPr lang="en-US" sz="2800" dirty="0">
                <a:solidFill>
                  <a:srgbClr val="26262F"/>
                </a:solidFill>
                <a:latin typeface="Calibri" pitchFamily="34" charset="0"/>
                <a:ea typeface="Calibri" pitchFamily="34" charset="-122"/>
                <a:cs typeface="Calibri" pitchFamily="34" charset="-120"/>
              </a:rPr>
              <a:t>By default, findByIdAndUpdate does NOT run your schema's validation rules. Always pass { runValidators: true } if you want Mongoose to check required or enum fields during an update, not just during creation.</a:t>
            </a:r>
            <a:endParaRPr lang="en-US" sz="2800" dirty="0"/>
          </a:p>
        </p:txBody>
      </p:sp>
      <p:sp>
        <p:nvSpPr>
          <p:cNvPr id="9" name="cuinotes-footer-mark"/>
          <p:cNvSpPr txBox="1"/>
          <p:nvPr/>
        </p:nvSpPr>
        <p:spPr>
          <a:xfrm>
            <a:off x="9951720" y="6455664"/>
            <a:ext cx="2011680" cy="292608"/>
          </a:xfrm>
          <a:prstGeom prst="rect">
            <a:avLst/>
          </a:prstGeom>
          <a:noFill/>
        </p:spPr>
        <p:txBody>
          <a:bodyPr wrap="none" lIns="0" rIns="0" tIns="0" bIns="0">
            <a:spAutoFit/>
          </a:bodyPr>
          <a:lstStyle/>
          <a:p>
            <a:pPr algn="r"/>
            <a:r>
              <a:rPr sz="1000">
                <a:solidFill>
                  <a:srgbClr val="8A939B"/>
                </a:solidFill>
                <a:hlinkClick r:id="rId3"/>
              </a:rPr>
              <a:t>cuinotes.com</a:t>
            </a:r>
            <a:r>
              <a:rPr sz="1000">
                <a:solidFill>
                  <a:srgbClr val="8A939B"/>
                </a:solidFill>
              </a:rPr>
              <a:t>  ·  18</a:t>
            </a:r>
          </a:p>
        </p:txBody>
      </p:sp>
    </p:spTree>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name="Slide 19">
    <p:bg>
      <p:bgPr>
        <a:solidFill>
          <a:srgbClr val="FFFFFF"/>
        </a:solidFill>
      </p:bgPr>
    </p:bg>
    <p:spTree>
      <p:nvGrpSpPr>
        <p:cNvPr id="1" name=""/>
        <p:cNvGrpSpPr/>
        <p:nvPr/>
      </p:nvGrpSpPr>
      <p:grpSpPr>
        <a:xfrm>
          <a:off x="0" y="0"/>
          <a:ext cx="0" cy="0"/>
          <a:chOff x="0" y="0"/>
          <a:chExt cx="0" cy="0"/>
        </a:xfrm>
      </p:grpSpPr>
      <p:sp>
        <p:nvSpPr>
          <p:cNvPr id="2" name="Text 0"/>
          <p:cNvSpPr txBox="1"/>
          <p:nvPr/>
        </p:nvSpPr>
        <p:spPr>
          <a:xfrm>
            <a:off x="640080" y="457200"/>
            <a:ext cx="10058400" cy="365760"/>
          </a:xfrm>
          <a:prstGeom prst="rect">
            <a:avLst/>
          </a:prstGeom>
          <a:noFill/>
          <a:ln/>
        </p:spPr>
        <p:txBody>
          <a:bodyPr wrap="square" lIns="0" tIns="0" rIns="0" bIns="0" rtlCol="0" anchor="ctr"/>
          <a:lstStyle/>
          <a:p>
            <a:pPr algn="l" indent="0" marL="0">
              <a:buNone/>
            </a:pPr>
            <a:r>
              <a:rPr lang="en-US" sz="1300" b="1" spc="300" kern="0" dirty="0">
                <a:solidFill>
                  <a:srgbClr val="FF8A3D"/>
                </a:solidFill>
                <a:latin typeface="Calibri" pitchFamily="34" charset="0"/>
                <a:ea typeface="Calibri" pitchFamily="34" charset="-122"/>
                <a:cs typeface="Calibri" pitchFamily="34" charset="-120"/>
              </a:rPr>
              <a:t>CRUD: DELETE</a:t>
            </a:r>
            <a:endParaRPr lang="en-US" sz="1300" dirty="0"/>
          </a:p>
        </p:txBody>
      </p:sp>
      <p:sp>
        <p:nvSpPr>
          <p:cNvPr id="3" name="Text 1"/>
          <p:cNvSpPr txBox="1"/>
          <p:nvPr/>
        </p:nvSpPr>
        <p:spPr>
          <a:xfrm>
            <a:off x="640080" y="841248"/>
            <a:ext cx="10881360" cy="914400"/>
          </a:xfrm>
          <a:prstGeom prst="rect">
            <a:avLst/>
          </a:prstGeom>
          <a:noFill/>
          <a:ln/>
        </p:spPr>
        <p:txBody>
          <a:bodyPr wrap="square" lIns="0" tIns="0" rIns="0" bIns="0" rtlCol="0" anchor="ctr"/>
          <a:lstStyle/>
          <a:p>
            <a:pPr algn="l" indent="0" marL="0">
              <a:buNone/>
            </a:pPr>
            <a:r>
              <a:rPr lang="en-US" sz="3400" b="1" dirty="0">
                <a:solidFill>
                  <a:srgbClr val="2B2B7A"/>
                </a:solidFill>
                <a:latin typeface="Cambria" pitchFamily="34" charset="0"/>
                <a:ea typeface="Cambria" pitchFamily="34" charset="-122"/>
                <a:cs typeface="Cambria" pitchFamily="34" charset="-120"/>
              </a:rPr>
              <a:t>Deleting Documents</a:t>
            </a:r>
            <a:endParaRPr lang="en-US" sz="3400" dirty="0"/>
          </a:p>
        </p:txBody>
      </p:sp>
      <p:sp>
        <p:nvSpPr>
          <p:cNvPr id="4" name="Shape 2"/>
          <p:cNvSpPr/>
          <p:nvPr/>
        </p:nvSpPr>
        <p:spPr>
          <a:xfrm>
            <a:off x="640080" y="1965960"/>
            <a:ext cx="10911535" cy="1082040"/>
          </a:xfrm>
          <a:prstGeom prst="roundRect">
            <a:avLst>
              <a:gd name="adj" fmla="val 6761"/>
            </a:avLst>
          </a:prstGeom>
          <a:solidFill>
            <a:srgbClr val="F7F8F9"/>
          </a:solidFill>
          <a:ln w="9525">
            <a:solidFill>
              <a:srgbClr val="D0D5DD"/>
            </a:solidFill>
          </a:ln>
        </p:spPr>
        <p:txBody>
          <a:bodyPr/>
          <a:p/>
        </p:txBody>
      </p:sp>
      <p:sp>
        <p:nvSpPr>
          <p:cNvPr id="5" name="Text 3"/>
          <p:cNvSpPr txBox="1"/>
          <p:nvPr/>
        </p:nvSpPr>
        <p:spPr>
          <a:xfrm>
            <a:off x="960120" y="2194560"/>
            <a:ext cx="10271455" cy="624840"/>
          </a:xfrm>
          <a:prstGeom prst="rect">
            <a:avLst/>
          </a:prstGeom>
          <a:noFill/>
          <a:ln/>
        </p:spPr>
        <p:txBody>
          <a:bodyPr wrap="square" lIns="0" tIns="0" rIns="0" bIns="0" rtlCol="0" anchor="t"/>
          <a:lstStyle/>
          <a:p>
            <a:pPr indent="0" marL="0">
              <a:lnSpc>
                <a:spcPct val="125000"/>
              </a:lnSpc>
              <a:buNone/>
            </a:pPr>
            <a:r>
              <a:rPr lang="en-US" sz="1400" dirty="0">
                <a:solidFill>
                  <a:srgbClr val="1F2429"/>
                </a:solidFill>
                <a:latin typeface="Courier New" pitchFamily="34" charset="0"/>
                <a:ea typeface="Courier New" pitchFamily="34" charset="-122"/>
                <a:cs typeface="Courier New" pitchFamily="34" charset="-120"/>
              </a:rPr>
              <a:t>await User.findByIdAndDelete("64f1a2b3c4d5e6f7a8b9c0d1");</a:t>
            </a:r>
            <a:endParaRPr lang="en-US" sz="1400" dirty="0"/>
          </a:p>
          <a:p>
            <a:pPr indent="0" marL="0">
              <a:lnSpc>
                <a:spcPct val="125000"/>
              </a:lnSpc>
              <a:buNone/>
            </a:pPr>
            <a:r>
              <a:rPr lang="en-US" sz="1400" dirty="0">
                <a:solidFill>
                  <a:srgbClr val="1F2429"/>
                </a:solidFill>
                <a:latin typeface="Courier New" pitchFamily="34" charset="0"/>
                <a:ea typeface="Courier New" pitchFamily="34" charset="-122"/>
                <a:cs typeface="Courier New" pitchFamily="34" charset="-120"/>
              </a:rPr>
              <a:t>await User.deleteMany({ role: "guest" });</a:t>
            </a:r>
            <a:endParaRPr lang="en-US" sz="1400" dirty="0"/>
          </a:p>
        </p:txBody>
      </p:sp>
      <p:sp>
        <p:nvSpPr>
          <p:cNvPr id="8" name="cuinotes-footer-mark"/>
          <p:cNvSpPr txBox="1"/>
          <p:nvPr/>
        </p:nvSpPr>
        <p:spPr>
          <a:xfrm>
            <a:off x="9951720" y="6455664"/>
            <a:ext cx="2011680" cy="292608"/>
          </a:xfrm>
          <a:prstGeom prst="rect">
            <a:avLst/>
          </a:prstGeom>
          <a:noFill/>
        </p:spPr>
        <p:txBody>
          <a:bodyPr wrap="none" lIns="0" rIns="0" tIns="0" bIns="0">
            <a:spAutoFit/>
          </a:bodyPr>
          <a:lstStyle/>
          <a:p>
            <a:pPr algn="r"/>
            <a:r>
              <a:rPr sz="1000">
                <a:solidFill>
                  <a:srgbClr val="8A939B"/>
                </a:solidFill>
                <a:hlinkClick r:id="rId3"/>
              </a:rPr>
              <a:t>cuinotes.com</a:t>
            </a:r>
            <a:r>
              <a:rPr sz="1000">
                <a:solidFill>
                  <a:srgbClr val="8A939B"/>
                </a:solidFill>
              </a:rPr>
              <a:t>  ·  19</a:t>
            </a:r>
          </a:p>
        </p:txBody>
      </p:sp>
    </p:spTree>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name="Slide 20">
    <p:bg>
      <p:bgPr>
        <a:solidFill>
          <a:srgbClr val="FFFFFF"/>
        </a:solidFill>
      </p:bgPr>
    </p:bg>
    <p:spTree>
      <p:nvGrpSpPr>
        <p:cNvPr id="1" name=""/>
        <p:cNvGrpSpPr/>
        <p:nvPr/>
      </p:nvGrpSpPr>
      <p:grpSpPr>
        <a:xfrm>
          <a:off x="0" y="0"/>
          <a:ext cx="0" cy="0"/>
          <a:chOff x="0" y="0"/>
          <a:chExt cx="0" cy="0"/>
        </a:xfrm>
      </p:grpSpPr>
      <p:sp>
        <p:nvSpPr>
          <p:cNvPr id="2" name="Text 0"/>
          <p:cNvSpPr txBox="1"/>
          <p:nvPr/>
        </p:nvSpPr>
        <p:spPr>
          <a:xfrm>
            <a:off x="640080" y="457200"/>
            <a:ext cx="10058400" cy="365760"/>
          </a:xfrm>
          <a:prstGeom prst="rect">
            <a:avLst/>
          </a:prstGeom>
          <a:noFill/>
          <a:ln/>
        </p:spPr>
        <p:txBody>
          <a:bodyPr wrap="square" lIns="0" tIns="0" rIns="0" bIns="0" rtlCol="0" anchor="ctr"/>
          <a:lstStyle/>
          <a:p>
            <a:pPr algn="l" indent="0" marL="0">
              <a:buNone/>
            </a:pPr>
            <a:r>
              <a:rPr lang="en-US" sz="1300" b="1" spc="300" kern="0" dirty="0">
                <a:solidFill>
                  <a:srgbClr val="FF8A3D"/>
                </a:solidFill>
                <a:latin typeface="Calibri" pitchFamily="34" charset="0"/>
                <a:ea typeface="Calibri" pitchFamily="34" charset="-122"/>
                <a:cs typeface="Calibri" pitchFamily="34" charset="-120"/>
              </a:rPr>
              <a:t>ASSOCIATIONS</a:t>
            </a:r>
            <a:endParaRPr lang="en-US" sz="1300" dirty="0"/>
          </a:p>
        </p:txBody>
      </p:sp>
      <p:sp>
        <p:nvSpPr>
          <p:cNvPr id="3" name="Text 1"/>
          <p:cNvSpPr txBox="1"/>
          <p:nvPr/>
        </p:nvSpPr>
        <p:spPr>
          <a:xfrm>
            <a:off x="640080" y="841248"/>
            <a:ext cx="10881360" cy="914400"/>
          </a:xfrm>
          <a:prstGeom prst="rect">
            <a:avLst/>
          </a:prstGeom>
          <a:noFill/>
          <a:ln/>
        </p:spPr>
        <p:txBody>
          <a:bodyPr wrap="square" lIns="0" tIns="0" rIns="0" bIns="0" rtlCol="0" anchor="ctr"/>
          <a:lstStyle/>
          <a:p>
            <a:pPr algn="l" indent="0" marL="0">
              <a:buNone/>
            </a:pPr>
            <a:r>
              <a:rPr lang="en-US" sz="3400" b="1" dirty="0">
                <a:solidFill>
                  <a:srgbClr val="2B2B7A"/>
                </a:solidFill>
                <a:latin typeface="Cambria" pitchFamily="34" charset="0"/>
                <a:ea typeface="Cambria" pitchFamily="34" charset="-122"/>
                <a:cs typeface="Cambria" pitchFamily="34" charset="-120"/>
              </a:rPr>
              <a:t>Population in Mongoose</a:t>
            </a:r>
            <a:endParaRPr lang="en-US" sz="3400" dirty="0"/>
          </a:p>
        </p:txBody>
      </p:sp>
      <p:sp>
        <p:nvSpPr>
          <p:cNvPr id="4" name="Shape 2"/>
          <p:cNvSpPr/>
          <p:nvPr/>
        </p:nvSpPr>
        <p:spPr>
          <a:xfrm>
            <a:off x="685800" y="1965960"/>
            <a:ext cx="457200" cy="457200"/>
          </a:xfrm>
          <a:prstGeom prst="ellipse">
            <a:avLst/>
          </a:prstGeom>
          <a:solidFill>
            <a:srgbClr val="FF8A3D"/>
          </a:solidFill>
          <a:ln/>
        </p:spPr>
        <p:txBody>
          <a:bodyPr/>
          <a:p/>
        </p:txBody>
      </p:sp>
      <p:sp>
        <p:nvSpPr>
          <p:cNvPr id="5" name="Text 3"/>
          <p:cNvSpPr txBox="1"/>
          <p:nvPr/>
        </p:nvSpPr>
        <p:spPr>
          <a:xfrm>
            <a:off x="685800" y="1965960"/>
            <a:ext cx="457200" cy="457200"/>
          </a:xfrm>
          <a:prstGeom prst="rect">
            <a:avLst/>
          </a:prstGeom>
          <a:noFill/>
          <a:ln/>
        </p:spPr>
        <p:txBody>
          <a:bodyPr wrap="square" lIns="0" tIns="0" rIns="0" bIns="0" rtlCol="0" anchor="ctr"/>
          <a:lstStyle/>
          <a:p>
            <a:pPr algn="ctr" indent="0" marL="0">
              <a:buNone/>
            </a:pPr>
            <a:r>
              <a:rPr lang="en-US" sz="1500" b="1" dirty="0">
                <a:solidFill>
                  <a:srgbClr val="FFFFFF"/>
                </a:solidFill>
                <a:latin typeface="Calibri" pitchFamily="34" charset="0"/>
                <a:ea typeface="Calibri" pitchFamily="34" charset="-122"/>
                <a:cs typeface="Calibri" pitchFamily="34" charset="-120"/>
              </a:rPr>
              <a:t>1</a:t>
            </a:r>
            <a:endParaRPr lang="en-US" sz="1500" dirty="0"/>
          </a:p>
        </p:txBody>
      </p:sp>
      <p:sp>
        <p:nvSpPr>
          <p:cNvPr id="6" name="Text 4"/>
          <p:cNvSpPr txBox="1"/>
          <p:nvPr/>
        </p:nvSpPr>
        <p:spPr>
          <a:xfrm>
            <a:off x="1371600" y="1892808"/>
            <a:ext cx="10180015" cy="640080"/>
          </a:xfrm>
          <a:prstGeom prst="rect">
            <a:avLst/>
          </a:prstGeom>
          <a:noFill/>
          <a:ln/>
        </p:spPr>
        <p:txBody>
          <a:bodyPr wrap="square" lIns="0" tIns="0" rIns="0" bIns="0" rtlCol="0" anchor="ctr"/>
          <a:lstStyle/>
          <a:p>
            <a:pPr indent="0" marL="0">
              <a:buNone/>
            </a:pPr>
            <a:r>
              <a:rPr lang="en-US" sz="1500" dirty="0">
                <a:solidFill>
                  <a:srgbClr val="26262F"/>
                </a:solidFill>
                <a:latin typeface="Calibri" pitchFamily="34" charset="0"/>
                <a:ea typeface="Calibri" pitchFamily="34" charset="-122"/>
                <a:cs typeface="Calibri" pitchFamily="34" charset="-120"/>
              </a:rPr>
              <a:t>MongoDB documents can embed related data directly — but a Post shouldn't embed a full copy of its author</a:t>
            </a:r>
            <a:endParaRPr lang="en-US" sz="1500" dirty="0"/>
          </a:p>
        </p:txBody>
      </p:sp>
      <p:sp>
        <p:nvSpPr>
          <p:cNvPr id="7" name="Shape 5"/>
          <p:cNvSpPr/>
          <p:nvPr/>
        </p:nvSpPr>
        <p:spPr>
          <a:xfrm>
            <a:off x="685800" y="2788920"/>
            <a:ext cx="457200" cy="457200"/>
          </a:xfrm>
          <a:prstGeom prst="ellipse">
            <a:avLst/>
          </a:prstGeom>
          <a:solidFill>
            <a:srgbClr val="FF8A3D"/>
          </a:solidFill>
          <a:ln/>
        </p:spPr>
        <p:txBody>
          <a:bodyPr/>
          <a:p/>
        </p:txBody>
      </p:sp>
      <p:sp>
        <p:nvSpPr>
          <p:cNvPr id="8" name="Text 6"/>
          <p:cNvSpPr txBox="1"/>
          <p:nvPr/>
        </p:nvSpPr>
        <p:spPr>
          <a:xfrm>
            <a:off x="685800" y="2788920"/>
            <a:ext cx="457200" cy="457200"/>
          </a:xfrm>
          <a:prstGeom prst="rect">
            <a:avLst/>
          </a:prstGeom>
          <a:noFill/>
          <a:ln/>
        </p:spPr>
        <p:txBody>
          <a:bodyPr wrap="square" lIns="0" tIns="0" rIns="0" bIns="0" rtlCol="0" anchor="ctr"/>
          <a:lstStyle/>
          <a:p>
            <a:pPr algn="ctr" indent="0" marL="0">
              <a:buNone/>
            </a:pPr>
            <a:r>
              <a:rPr lang="en-US" sz="1500" b="1" dirty="0">
                <a:solidFill>
                  <a:srgbClr val="FFFFFF"/>
                </a:solidFill>
                <a:latin typeface="Calibri" pitchFamily="34" charset="0"/>
                <a:ea typeface="Calibri" pitchFamily="34" charset="-122"/>
                <a:cs typeface="Calibri" pitchFamily="34" charset="-120"/>
              </a:rPr>
              <a:t>2</a:t>
            </a:r>
            <a:endParaRPr lang="en-US" sz="1500" dirty="0"/>
          </a:p>
        </p:txBody>
      </p:sp>
      <p:sp>
        <p:nvSpPr>
          <p:cNvPr id="9" name="Text 7"/>
          <p:cNvSpPr txBox="1"/>
          <p:nvPr/>
        </p:nvSpPr>
        <p:spPr>
          <a:xfrm>
            <a:off x="1371600" y="2715768"/>
            <a:ext cx="10180015" cy="640080"/>
          </a:xfrm>
          <a:prstGeom prst="rect">
            <a:avLst/>
          </a:prstGeom>
          <a:noFill/>
          <a:ln/>
        </p:spPr>
        <p:txBody>
          <a:bodyPr wrap="square" lIns="0" tIns="0" rIns="0" bIns="0" rtlCol="0" anchor="ctr"/>
          <a:lstStyle/>
          <a:p>
            <a:pPr indent="0" marL="0">
              <a:buNone/>
            </a:pPr>
            <a:r>
              <a:rPr lang="en-US" sz="1500" dirty="0">
                <a:solidFill>
                  <a:srgbClr val="26262F"/>
                </a:solidFill>
                <a:latin typeface="Calibri" pitchFamily="34" charset="0"/>
                <a:ea typeface="Calibri" pitchFamily="34" charset="-122"/>
                <a:cs typeface="Calibri" pitchFamily="34" charset="-120"/>
              </a:rPr>
              <a:t>Instead, reference another document by its _id, then populate that reference to pull in the full related document</a:t>
            </a:r>
            <a:endParaRPr lang="en-US" sz="1500" dirty="0"/>
          </a:p>
        </p:txBody>
      </p:sp>
      <p:sp>
        <p:nvSpPr>
          <p:cNvPr id="10" name="Shape 8"/>
          <p:cNvSpPr/>
          <p:nvPr/>
        </p:nvSpPr>
        <p:spPr>
          <a:xfrm>
            <a:off x="685800" y="3611880"/>
            <a:ext cx="457200" cy="457200"/>
          </a:xfrm>
          <a:prstGeom prst="ellipse">
            <a:avLst/>
          </a:prstGeom>
          <a:solidFill>
            <a:srgbClr val="FF8A3D"/>
          </a:solidFill>
          <a:ln/>
        </p:spPr>
        <p:txBody>
          <a:bodyPr/>
          <a:p/>
        </p:txBody>
      </p:sp>
      <p:sp>
        <p:nvSpPr>
          <p:cNvPr id="11" name="Text 9"/>
          <p:cNvSpPr txBox="1"/>
          <p:nvPr/>
        </p:nvSpPr>
        <p:spPr>
          <a:xfrm>
            <a:off x="685800" y="3611880"/>
            <a:ext cx="457200" cy="457200"/>
          </a:xfrm>
          <a:prstGeom prst="rect">
            <a:avLst/>
          </a:prstGeom>
          <a:noFill/>
          <a:ln/>
        </p:spPr>
        <p:txBody>
          <a:bodyPr wrap="square" lIns="0" tIns="0" rIns="0" bIns="0" rtlCol="0" anchor="ctr"/>
          <a:lstStyle/>
          <a:p>
            <a:pPr algn="ctr" indent="0" marL="0">
              <a:buNone/>
            </a:pPr>
            <a:r>
              <a:rPr lang="en-US" sz="1500" b="1" dirty="0">
                <a:solidFill>
                  <a:srgbClr val="FFFFFF"/>
                </a:solidFill>
                <a:latin typeface="Calibri" pitchFamily="34" charset="0"/>
                <a:ea typeface="Calibri" pitchFamily="34" charset="-122"/>
                <a:cs typeface="Calibri" pitchFamily="34" charset="-120"/>
              </a:rPr>
              <a:t>3</a:t>
            </a:r>
            <a:endParaRPr lang="en-US" sz="1500" dirty="0"/>
          </a:p>
        </p:txBody>
      </p:sp>
      <p:sp>
        <p:nvSpPr>
          <p:cNvPr id="12" name="Text 10"/>
          <p:cNvSpPr txBox="1"/>
          <p:nvPr/>
        </p:nvSpPr>
        <p:spPr>
          <a:xfrm>
            <a:off x="1371600" y="3538728"/>
            <a:ext cx="10180015" cy="640080"/>
          </a:xfrm>
          <a:prstGeom prst="rect">
            <a:avLst/>
          </a:prstGeom>
          <a:noFill/>
          <a:ln/>
        </p:spPr>
        <p:txBody>
          <a:bodyPr wrap="square" lIns="0" tIns="0" rIns="0" bIns="0" rtlCol="0" anchor="ctr"/>
          <a:lstStyle/>
          <a:p>
            <a:pPr indent="0" marL="0">
              <a:buNone/>
            </a:pPr>
            <a:r>
              <a:rPr lang="en-US" sz="1500" dirty="0">
                <a:solidFill>
                  <a:srgbClr val="26262F"/>
                </a:solidFill>
                <a:latin typeface="Calibri" pitchFamily="34" charset="0"/>
                <a:ea typeface="Calibri" pitchFamily="34" charset="-122"/>
                <a:cs typeface="Calibri" pitchFamily="34" charset="-120"/>
              </a:rPr>
              <a:t>Conceptually similar to a SQL JOIN, though implemented as a separate query behind the scenes</a:t>
            </a:r>
            <a:endParaRPr lang="en-US" sz="1500" dirty="0"/>
          </a:p>
        </p:txBody>
      </p:sp>
      <p:sp>
        <p:nvSpPr>
          <p:cNvPr id="15" name="cuinotes-footer-mark"/>
          <p:cNvSpPr txBox="1"/>
          <p:nvPr/>
        </p:nvSpPr>
        <p:spPr>
          <a:xfrm>
            <a:off x="9951720" y="6455664"/>
            <a:ext cx="2011680" cy="292608"/>
          </a:xfrm>
          <a:prstGeom prst="rect">
            <a:avLst/>
          </a:prstGeom>
          <a:noFill/>
        </p:spPr>
        <p:txBody>
          <a:bodyPr wrap="none" lIns="0" rIns="0" tIns="0" bIns="0">
            <a:spAutoFit/>
          </a:bodyPr>
          <a:lstStyle/>
          <a:p>
            <a:pPr algn="r"/>
            <a:r>
              <a:rPr sz="1000">
                <a:solidFill>
                  <a:srgbClr val="8A939B"/>
                </a:solidFill>
                <a:hlinkClick r:id="rId3"/>
              </a:rPr>
              <a:t>cuinotes.com</a:t>
            </a:r>
            <a:r>
              <a:rPr sz="1000">
                <a:solidFill>
                  <a:srgbClr val="8A939B"/>
                </a:solidFill>
              </a:rPr>
              <a:t>  ·  20</a:t>
            </a:r>
          </a:p>
        </p:txBody>
      </p:sp>
    </p:spTree>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name="Slide 21">
    <p:bg>
      <p:bgPr>
        <a:solidFill>
          <a:srgbClr val="FFFFFF"/>
        </a:solidFill>
      </p:bgPr>
    </p:bg>
    <p:spTree>
      <p:nvGrpSpPr>
        <p:cNvPr id="1" name=""/>
        <p:cNvGrpSpPr/>
        <p:nvPr/>
      </p:nvGrpSpPr>
      <p:grpSpPr>
        <a:xfrm>
          <a:off x="0" y="0"/>
          <a:ext cx="0" cy="0"/>
          <a:chOff x="0" y="0"/>
          <a:chExt cx="0" cy="0"/>
        </a:xfrm>
      </p:grpSpPr>
      <p:sp>
        <p:nvSpPr>
          <p:cNvPr id="2" name="Text 0"/>
          <p:cNvSpPr txBox="1"/>
          <p:nvPr/>
        </p:nvSpPr>
        <p:spPr>
          <a:xfrm>
            <a:off x="640080" y="457200"/>
            <a:ext cx="10058400" cy="365760"/>
          </a:xfrm>
          <a:prstGeom prst="rect">
            <a:avLst/>
          </a:prstGeom>
          <a:noFill/>
          <a:ln/>
        </p:spPr>
        <p:txBody>
          <a:bodyPr wrap="square" lIns="0" tIns="0" rIns="0" bIns="0" rtlCol="0" anchor="ctr"/>
          <a:lstStyle/>
          <a:p>
            <a:pPr algn="l" indent="0" marL="0">
              <a:buNone/>
            </a:pPr>
            <a:r>
              <a:rPr lang="en-US" sz="1300" b="1" spc="300" kern="0" dirty="0">
                <a:solidFill>
                  <a:srgbClr val="FF8A3D"/>
                </a:solidFill>
                <a:latin typeface="Calibri" pitchFamily="34" charset="0"/>
                <a:ea typeface="Calibri" pitchFamily="34" charset="-122"/>
                <a:cs typeface="Calibri" pitchFamily="34" charset="-120"/>
              </a:rPr>
              <a:t>ASSOCIATIONS</a:t>
            </a:r>
            <a:endParaRPr lang="en-US" sz="1300" dirty="0"/>
          </a:p>
        </p:txBody>
      </p:sp>
      <p:sp>
        <p:nvSpPr>
          <p:cNvPr id="3" name="Text 1"/>
          <p:cNvSpPr txBox="1"/>
          <p:nvPr/>
        </p:nvSpPr>
        <p:spPr>
          <a:xfrm>
            <a:off x="640080" y="841248"/>
            <a:ext cx="10881360" cy="914400"/>
          </a:xfrm>
          <a:prstGeom prst="rect">
            <a:avLst/>
          </a:prstGeom>
          <a:noFill/>
          <a:ln/>
        </p:spPr>
        <p:txBody>
          <a:bodyPr wrap="square" lIns="0" tIns="0" rIns="0" bIns="0" rtlCol="0" anchor="ctr"/>
          <a:lstStyle/>
          <a:p>
            <a:pPr algn="l" indent="0" marL="0">
              <a:buNone/>
            </a:pPr>
            <a:r>
              <a:rPr lang="en-US" sz="3400" b="1" dirty="0">
                <a:solidFill>
                  <a:srgbClr val="2B2B7A"/>
                </a:solidFill>
                <a:latin typeface="Cambria" pitchFamily="34" charset="0"/>
                <a:ea typeface="Cambria" pitchFamily="34" charset="-122"/>
                <a:cs typeface="Cambria" pitchFamily="34" charset="-120"/>
              </a:rPr>
              <a:t>Referencing and Populating</a:t>
            </a:r>
            <a:endParaRPr lang="en-US" sz="3400" dirty="0"/>
          </a:p>
        </p:txBody>
      </p:sp>
      <p:sp>
        <p:nvSpPr>
          <p:cNvPr id="4" name="Shape 2"/>
          <p:cNvSpPr/>
          <p:nvPr/>
        </p:nvSpPr>
        <p:spPr>
          <a:xfrm>
            <a:off x="640080" y="1965960"/>
            <a:ext cx="10911535" cy="3482340"/>
          </a:xfrm>
          <a:prstGeom prst="roundRect">
            <a:avLst>
              <a:gd name="adj" fmla="val 2101"/>
            </a:avLst>
          </a:prstGeom>
          <a:solidFill>
            <a:srgbClr val="F7F8F9"/>
          </a:solidFill>
          <a:ln w="9525">
            <a:solidFill>
              <a:srgbClr val="D0D5DD"/>
            </a:solidFill>
          </a:ln>
        </p:spPr>
        <p:txBody>
          <a:bodyPr/>
          <a:p/>
        </p:txBody>
      </p:sp>
      <p:sp>
        <p:nvSpPr>
          <p:cNvPr id="5" name="Text 3"/>
          <p:cNvSpPr txBox="1"/>
          <p:nvPr/>
        </p:nvSpPr>
        <p:spPr>
          <a:xfrm>
            <a:off x="960120" y="2194560"/>
            <a:ext cx="10271455" cy="3025140"/>
          </a:xfrm>
          <a:prstGeom prst="rect">
            <a:avLst/>
          </a:prstGeom>
          <a:noFill/>
          <a:ln/>
        </p:spPr>
        <p:txBody>
          <a:bodyPr wrap="square" lIns="0" tIns="0" rIns="0" bIns="0" rtlCol="0" anchor="t"/>
          <a:lstStyle/>
          <a:p>
            <a:pPr indent="0" marL="0">
              <a:lnSpc>
                <a:spcPct val="125000"/>
              </a:lnSpc>
              <a:buNone/>
            </a:pPr>
            <a:r>
              <a:rPr lang="en-US" sz="1400" dirty="0">
                <a:solidFill>
                  <a:srgbClr val="1F2429"/>
                </a:solidFill>
                <a:latin typeface="Courier New" pitchFamily="34" charset="0"/>
                <a:ea typeface="Courier New" pitchFamily="34" charset="-122"/>
                <a:cs typeface="Courier New" pitchFamily="34" charset="-120"/>
              </a:rPr>
              <a:t>const postSchema = new Schema({</a:t>
            </a:r>
            <a:endParaRPr lang="en-US" sz="1400" dirty="0"/>
          </a:p>
          <a:p>
            <a:pPr indent="0" marL="0">
              <a:lnSpc>
                <a:spcPct val="125000"/>
              </a:lnSpc>
              <a:buNone/>
            </a:pPr>
            <a:r>
              <a:rPr lang="en-US" sz="1400" dirty="0">
                <a:solidFill>
                  <a:srgbClr val="1F2429"/>
                </a:solidFill>
                <a:latin typeface="Courier New" pitchFamily="34" charset="0"/>
                <a:ea typeface="Courier New" pitchFamily="34" charset="-122"/>
                <a:cs typeface="Courier New" pitchFamily="34" charset="-120"/>
              </a:rPr>
              <a:t>  title: { type: String, required: true },</a:t>
            </a:r>
            <a:endParaRPr lang="en-US" sz="1400" dirty="0"/>
          </a:p>
          <a:p>
            <a:pPr indent="0" marL="0">
              <a:lnSpc>
                <a:spcPct val="125000"/>
              </a:lnSpc>
              <a:buNone/>
            </a:pPr>
            <a:r>
              <a:rPr lang="en-US" sz="1400" dirty="0">
                <a:solidFill>
                  <a:srgbClr val="1F2429"/>
                </a:solidFill>
                <a:latin typeface="Courier New" pitchFamily="34" charset="0"/>
                <a:ea typeface="Courier New" pitchFamily="34" charset="-122"/>
                <a:cs typeface="Courier New" pitchFamily="34" charset="-120"/>
              </a:rPr>
              <a:t>  content: String,</a:t>
            </a:r>
            <a:endParaRPr lang="en-US" sz="1400" dirty="0"/>
          </a:p>
          <a:p>
            <a:pPr indent="0" marL="0">
              <a:lnSpc>
                <a:spcPct val="125000"/>
              </a:lnSpc>
              <a:buNone/>
            </a:pPr>
            <a:r>
              <a:rPr lang="en-US" sz="1400" dirty="0">
                <a:solidFill>
                  <a:srgbClr val="1F2429"/>
                </a:solidFill>
                <a:latin typeface="Courier New" pitchFamily="34" charset="0"/>
                <a:ea typeface="Courier New" pitchFamily="34" charset="-122"/>
                <a:cs typeface="Courier New" pitchFamily="34" charset="-120"/>
              </a:rPr>
              <a:t>  author: { type: Schema.Types.ObjectId, ref: "User" },</a:t>
            </a:r>
            <a:endParaRPr lang="en-US" sz="1400" dirty="0"/>
          </a:p>
          <a:p>
            <a:pPr indent="0" marL="0">
              <a:lnSpc>
                <a:spcPct val="125000"/>
              </a:lnSpc>
              <a:buNone/>
            </a:pPr>
            <a:r>
              <a:rPr lang="en-US" sz="1400" dirty="0">
                <a:solidFill>
                  <a:srgbClr val="1F2429"/>
                </a:solidFill>
                <a:latin typeface="Courier New" pitchFamily="34" charset="0"/>
                <a:ea typeface="Courier New" pitchFamily="34" charset="-122"/>
                <a:cs typeface="Courier New" pitchFamily="34" charset="-120"/>
              </a:rPr>
              <a:t>});</a:t>
            </a:r>
            <a:endParaRPr lang="en-US" sz="1400" dirty="0"/>
          </a:p>
          <a:p>
            <a:pPr indent="0" marL="0">
              <a:lnSpc>
                <a:spcPct val="125000"/>
              </a:lnSpc>
              <a:buNone/>
            </a:pPr>
            <a:r>
              <a:rPr lang="en-US" sz="1400" dirty="0">
                <a:solidFill>
                  <a:srgbClr val="1F2429"/>
                </a:solidFill>
                <a:latin typeface="Courier New" pitchFamily="34" charset="0"/>
                <a:ea typeface="Courier New" pitchFamily="34" charset="-122"/>
                <a:cs typeface="Courier New" pitchFamily="34" charset="-120"/>
              </a:rPr>
              <a:t>const Post = model("Post", postSchema);</a:t>
            </a:r>
            <a:endParaRPr lang="en-US" sz="1400" dirty="0"/>
          </a:p>
          <a:p>
            <a:pPr indent="0" marL="0">
              <a:lnSpc>
                <a:spcPct val="125000"/>
              </a:lnSpc>
              <a:buNone/>
            </a:pPr>
            <a:endParaRPr lang="en-US" sz="1400" dirty="0"/>
          </a:p>
          <a:p>
            <a:pPr indent="0" marL="0">
              <a:lnSpc>
                <a:spcPct val="125000"/>
              </a:lnSpc>
              <a:buNone/>
            </a:pPr>
            <a:r>
              <a:rPr lang="en-US" sz="1400" dirty="0">
                <a:solidFill>
                  <a:srgbClr val="1F2429"/>
                </a:solidFill>
                <a:latin typeface="Courier New" pitchFamily="34" charset="0"/>
                <a:ea typeface="Courier New" pitchFamily="34" charset="-122"/>
                <a:cs typeface="Courier New" pitchFamily="34" charset="-120"/>
              </a:rPr>
              <a:t>// Fetch the post WITH the full author document</a:t>
            </a:r>
            <a:endParaRPr lang="en-US" sz="1400" dirty="0"/>
          </a:p>
          <a:p>
            <a:pPr indent="0" marL="0">
              <a:lnSpc>
                <a:spcPct val="125000"/>
              </a:lnSpc>
              <a:buNone/>
            </a:pPr>
            <a:r>
              <a:rPr lang="en-US" sz="1400" dirty="0">
                <a:solidFill>
                  <a:srgbClr val="1F2429"/>
                </a:solidFill>
                <a:latin typeface="Courier New" pitchFamily="34" charset="0"/>
                <a:ea typeface="Courier New" pitchFamily="34" charset="-122"/>
                <a:cs typeface="Courier New" pitchFamily="34" charset="-120"/>
              </a:rPr>
              <a:t>const post = await Post.findOne({ title: "Learning Mongoose" })</a:t>
            </a:r>
            <a:endParaRPr lang="en-US" sz="1400" dirty="0"/>
          </a:p>
          <a:p>
            <a:pPr indent="0" marL="0">
              <a:lnSpc>
                <a:spcPct val="125000"/>
              </a:lnSpc>
              <a:buNone/>
            </a:pPr>
            <a:r>
              <a:rPr lang="en-US" sz="1400" dirty="0">
                <a:solidFill>
                  <a:srgbClr val="1F2429"/>
                </a:solidFill>
                <a:latin typeface="Courier New" pitchFamily="34" charset="0"/>
                <a:ea typeface="Courier New" pitchFamily="34" charset="-122"/>
                <a:cs typeface="Courier New" pitchFamily="34" charset="-120"/>
              </a:rPr>
              <a:t>  .populate("author");</a:t>
            </a:r>
            <a:endParaRPr lang="en-US" sz="1400" dirty="0"/>
          </a:p>
          <a:p>
            <a:pPr indent="0" marL="0">
              <a:lnSpc>
                <a:spcPct val="125000"/>
              </a:lnSpc>
              <a:buNone/>
            </a:pPr>
            <a:r>
              <a:rPr lang="en-US" sz="1400" dirty="0">
                <a:solidFill>
                  <a:srgbClr val="1F2429"/>
                </a:solidFill>
                <a:latin typeface="Courier New" pitchFamily="34" charset="0"/>
                <a:ea typeface="Courier New" pitchFamily="34" charset="-122"/>
                <a:cs typeface="Courier New" pitchFamily="34" charset="-120"/>
              </a:rPr>
              <a:t>console.log(post.author.name); // "Bilal"</a:t>
            </a:r>
            <a:endParaRPr lang="en-US" sz="1400" dirty="0"/>
          </a:p>
        </p:txBody>
      </p:sp>
      <p:sp>
        <p:nvSpPr>
          <p:cNvPr id="8" name="cuinotes-footer-mark"/>
          <p:cNvSpPr txBox="1"/>
          <p:nvPr/>
        </p:nvSpPr>
        <p:spPr>
          <a:xfrm>
            <a:off x="9951720" y="6455664"/>
            <a:ext cx="2011680" cy="292608"/>
          </a:xfrm>
          <a:prstGeom prst="rect">
            <a:avLst/>
          </a:prstGeom>
          <a:noFill/>
        </p:spPr>
        <p:txBody>
          <a:bodyPr wrap="none" lIns="0" rIns="0" tIns="0" bIns="0">
            <a:spAutoFit/>
          </a:bodyPr>
          <a:lstStyle/>
          <a:p>
            <a:pPr algn="r"/>
            <a:r>
              <a:rPr sz="1000">
                <a:solidFill>
                  <a:srgbClr val="8A939B"/>
                </a:solidFill>
                <a:hlinkClick r:id="rId3"/>
              </a:rPr>
              <a:t>cuinotes.com</a:t>
            </a:r>
            <a:r>
              <a:rPr sz="1000">
                <a:solidFill>
                  <a:srgbClr val="8A939B"/>
                </a:solidFill>
              </a:rPr>
              <a:t>  ·  21</a:t>
            </a:r>
          </a:p>
        </p:txBody>
      </p:sp>
    </p:spTree>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name="Slide 22">
    <p:bg>
      <p:bgPr>
        <a:solidFill>
          <a:srgbClr val="FFFFFF"/>
        </a:solidFill>
      </p:bgPr>
    </p:bg>
    <p:spTree>
      <p:nvGrpSpPr>
        <p:cNvPr id="1" name=""/>
        <p:cNvGrpSpPr/>
        <p:nvPr/>
      </p:nvGrpSpPr>
      <p:grpSpPr>
        <a:xfrm>
          <a:off x="0" y="0"/>
          <a:ext cx="0" cy="0"/>
          <a:chOff x="0" y="0"/>
          <a:chExt cx="0" cy="0"/>
        </a:xfrm>
      </p:grpSpPr>
      <p:sp>
        <p:nvSpPr>
          <p:cNvPr id="2" name="Text 0"/>
          <p:cNvSpPr txBox="1"/>
          <p:nvPr/>
        </p:nvSpPr>
        <p:spPr>
          <a:xfrm>
            <a:off x="640080" y="457200"/>
            <a:ext cx="10058400" cy="365760"/>
          </a:xfrm>
          <a:prstGeom prst="rect">
            <a:avLst/>
          </a:prstGeom>
          <a:noFill/>
          <a:ln/>
        </p:spPr>
        <p:txBody>
          <a:bodyPr wrap="square" lIns="0" tIns="0" rIns="0" bIns="0" rtlCol="0" anchor="ctr"/>
          <a:lstStyle/>
          <a:p>
            <a:pPr algn="l" indent="0" marL="0">
              <a:buNone/>
            </a:pPr>
            <a:r>
              <a:rPr lang="en-US" sz="1300" b="1" spc="300" kern="0" dirty="0">
                <a:solidFill>
                  <a:srgbClr val="FF8A3D"/>
                </a:solidFill>
                <a:latin typeface="Calibri" pitchFamily="34" charset="0"/>
                <a:ea typeface="Calibri" pitchFamily="34" charset="-122"/>
                <a:cs typeface="Calibri" pitchFamily="34" charset="-120"/>
              </a:rPr>
              <a:t>ASSOCIATIONS</a:t>
            </a:r>
            <a:endParaRPr lang="en-US" sz="1300" dirty="0"/>
          </a:p>
        </p:txBody>
      </p:sp>
      <p:sp>
        <p:nvSpPr>
          <p:cNvPr id="3" name="Text 1"/>
          <p:cNvSpPr txBox="1"/>
          <p:nvPr/>
        </p:nvSpPr>
        <p:spPr>
          <a:xfrm>
            <a:off x="640080" y="841248"/>
            <a:ext cx="10881360" cy="914400"/>
          </a:xfrm>
          <a:prstGeom prst="rect">
            <a:avLst/>
          </a:prstGeom>
          <a:noFill/>
          <a:ln/>
        </p:spPr>
        <p:txBody>
          <a:bodyPr wrap="square" lIns="0" tIns="0" rIns="0" bIns="0" rtlCol="0" anchor="ctr"/>
          <a:lstStyle/>
          <a:p>
            <a:pPr algn="l" indent="0" marL="0">
              <a:buNone/>
            </a:pPr>
            <a:r>
              <a:rPr lang="en-US" sz="3400" b="1" dirty="0">
                <a:solidFill>
                  <a:srgbClr val="2B2B7A"/>
                </a:solidFill>
                <a:latin typeface="Cambria" pitchFamily="34" charset="0"/>
                <a:ea typeface="Cambria" pitchFamily="34" charset="-122"/>
                <a:cs typeface="Cambria" pitchFamily="34" charset="-120"/>
              </a:rPr>
              <a:t>A User Referenced by Many Posts</a:t>
            </a:r>
            <a:endParaRPr lang="en-US" sz="3400" dirty="0"/>
          </a:p>
        </p:txBody>
      </p:sp>
      <p:sp>
        <p:nvSpPr>
          <p:cNvPr id="4" name="Shape 2"/>
          <p:cNvSpPr/>
          <p:nvPr/>
        </p:nvSpPr>
        <p:spPr>
          <a:xfrm>
            <a:off x="4663440" y="3474720"/>
            <a:ext cx="2834640" cy="9144"/>
          </a:xfrm>
          <a:prstGeom prst="line">
            <a:avLst/>
          </a:prstGeom>
          <a:noFill/>
          <a:ln w="25400">
            <a:solidFill>
              <a:srgbClr val="5D5D72"/>
            </a:solidFill>
            <a:prstDash val="solid"/>
            <a:tailEnd type="triangle"/>
          </a:ln>
        </p:spPr>
        <p:txBody>
          <a:bodyPr/>
          <a:p/>
        </p:txBody>
      </p:sp>
      <p:sp>
        <p:nvSpPr>
          <p:cNvPr id="5" name="Text 3"/>
          <p:cNvSpPr txBox="1"/>
          <p:nvPr/>
        </p:nvSpPr>
        <p:spPr>
          <a:xfrm>
            <a:off x="5166360" y="3328416"/>
            <a:ext cx="1828800" cy="292608"/>
          </a:xfrm>
          <a:prstGeom prst="rect">
            <a:avLst/>
          </a:prstGeom>
          <a:solidFill>
            <a:srgbClr val="FFFFFF"/>
          </a:solidFill>
          <a:ln/>
        </p:spPr>
        <p:txBody>
          <a:bodyPr wrap="square" lIns="0" tIns="0" rIns="0" bIns="0" rtlCol="0" anchor="ctr"/>
          <a:lstStyle/>
          <a:p>
            <a:pPr algn="ctr" indent="0" marL="0">
              <a:buNone/>
            </a:pPr>
            <a:r>
              <a:rPr lang="en-US" sz="1050" i="1" dirty="0">
                <a:solidFill>
                  <a:srgbClr val="5D5D72"/>
                </a:solidFill>
                <a:latin typeface="Calibri" pitchFamily="34" charset="0"/>
                <a:ea typeface="Calibri" pitchFamily="34" charset="-122"/>
                <a:cs typeface="Calibri" pitchFamily="34" charset="-120"/>
              </a:rPr>
              <a:t>author of</a:t>
            </a:r>
            <a:endParaRPr lang="en-US" sz="1050" dirty="0"/>
          </a:p>
          <a:p>
            <a:pPr algn="ctr" indent="0" marL="0">
              <a:buNone/>
            </a:pPr>
            <a:r>
              <a:rPr lang="en-US" sz="1050" i="1" dirty="0">
                <a:solidFill>
                  <a:srgbClr val="5D5D72"/>
                </a:solidFill>
                <a:latin typeface="Calibri" pitchFamily="34" charset="0"/>
                <a:ea typeface="Calibri" pitchFamily="34" charset="-122"/>
                <a:cs typeface="Calibri" pitchFamily="34" charset="-120"/>
              </a:rPr>
              <a:t>(1 : many)</a:t>
            </a:r>
            <a:endParaRPr lang="en-US" sz="1050" dirty="0"/>
          </a:p>
        </p:txBody>
      </p:sp>
      <p:sp>
        <p:nvSpPr>
          <p:cNvPr id="6" name="Shape 4"/>
          <p:cNvSpPr/>
          <p:nvPr/>
        </p:nvSpPr>
        <p:spPr>
          <a:xfrm>
            <a:off x="1371600" y="2377440"/>
            <a:ext cx="3291840" cy="2194560"/>
          </a:xfrm>
          <a:prstGeom prst="rect">
            <a:avLst/>
          </a:prstGeom>
          <a:solidFill>
            <a:srgbClr val="2B2B7A"/>
          </a:solidFill>
          <a:ln/>
        </p:spPr>
        <p:txBody>
          <a:bodyPr/>
          <a:p/>
        </p:txBody>
      </p:sp>
      <p:sp>
        <p:nvSpPr>
          <p:cNvPr id="7" name="Text 5"/>
          <p:cNvSpPr txBox="1"/>
          <p:nvPr/>
        </p:nvSpPr>
        <p:spPr>
          <a:xfrm>
            <a:off x="1426464" y="2377440"/>
            <a:ext cx="3182112" cy="2194560"/>
          </a:xfrm>
          <a:prstGeom prst="rect">
            <a:avLst/>
          </a:prstGeom>
          <a:noFill/>
          <a:ln/>
        </p:spPr>
        <p:txBody>
          <a:bodyPr wrap="square" lIns="0" tIns="0" rIns="0" bIns="0" rtlCol="0" anchor="ctr"/>
          <a:lstStyle/>
          <a:p>
            <a:pPr algn="ctr" indent="0" marL="0">
              <a:lnSpc>
                <a:spcPct val="105000"/>
              </a:lnSpc>
              <a:buNone/>
            </a:pPr>
            <a:r>
              <a:rPr lang="en-US" sz="1300" b="1" dirty="0">
                <a:solidFill>
                  <a:srgbClr val="FFFFFF"/>
                </a:solidFill>
                <a:latin typeface="Calibri" pitchFamily="34" charset="0"/>
                <a:ea typeface="Calibri" pitchFamily="34" charset="-122"/>
                <a:cs typeface="Calibri" pitchFamily="34" charset="-120"/>
              </a:rPr>
              <a:t>USER</a:t>
            </a:r>
            <a:endParaRPr lang="en-US" sz="1300" dirty="0"/>
          </a:p>
          <a:p>
            <a:pPr algn="ctr" indent="0" marL="0">
              <a:lnSpc>
                <a:spcPct val="105000"/>
              </a:lnSpc>
              <a:buNone/>
            </a:pPr>
            <a:endParaRPr lang="en-US" sz="1300" dirty="0"/>
          </a:p>
          <a:p>
            <a:pPr algn="ctr" indent="0" marL="0">
              <a:lnSpc>
                <a:spcPct val="105000"/>
              </a:lnSpc>
              <a:buNone/>
            </a:pPr>
            <a:r>
              <a:rPr lang="en-US" sz="1300" b="1" dirty="0">
                <a:solidFill>
                  <a:srgbClr val="FFFFFF"/>
                </a:solidFill>
                <a:latin typeface="Calibri" pitchFamily="34" charset="0"/>
                <a:ea typeface="Calibri" pitchFamily="34" charset="-122"/>
                <a:cs typeface="Calibri" pitchFamily="34" charset="-120"/>
              </a:rPr>
              <a:t>_id: ObjectId</a:t>
            </a:r>
            <a:endParaRPr lang="en-US" sz="1300" dirty="0"/>
          </a:p>
          <a:p>
            <a:pPr algn="ctr" indent="0" marL="0">
              <a:lnSpc>
                <a:spcPct val="105000"/>
              </a:lnSpc>
              <a:buNone/>
            </a:pPr>
            <a:r>
              <a:rPr lang="en-US" sz="1300" b="1" dirty="0">
                <a:solidFill>
                  <a:srgbClr val="FFFFFF"/>
                </a:solidFill>
                <a:latin typeface="Calibri" pitchFamily="34" charset="0"/>
                <a:ea typeface="Calibri" pitchFamily="34" charset="-122"/>
                <a:cs typeface="Calibri" pitchFamily="34" charset="-120"/>
              </a:rPr>
              <a:t>name: String</a:t>
            </a:r>
            <a:endParaRPr lang="en-US" sz="1300" dirty="0"/>
          </a:p>
          <a:p>
            <a:pPr algn="ctr" indent="0" marL="0">
              <a:lnSpc>
                <a:spcPct val="105000"/>
              </a:lnSpc>
              <a:buNone/>
            </a:pPr>
            <a:r>
              <a:rPr lang="en-US" sz="1300" b="1" dirty="0">
                <a:solidFill>
                  <a:srgbClr val="FFFFFF"/>
                </a:solidFill>
                <a:latin typeface="Calibri" pitchFamily="34" charset="0"/>
                <a:ea typeface="Calibri" pitchFamily="34" charset="-122"/>
                <a:cs typeface="Calibri" pitchFamily="34" charset="-120"/>
              </a:rPr>
              <a:t>email: String</a:t>
            </a:r>
            <a:endParaRPr lang="en-US" sz="1300" dirty="0"/>
          </a:p>
        </p:txBody>
      </p:sp>
      <p:sp>
        <p:nvSpPr>
          <p:cNvPr id="8" name="Shape 6"/>
          <p:cNvSpPr/>
          <p:nvPr/>
        </p:nvSpPr>
        <p:spPr>
          <a:xfrm>
            <a:off x="7498080" y="2377440"/>
            <a:ext cx="3291840" cy="2194560"/>
          </a:xfrm>
          <a:prstGeom prst="rect">
            <a:avLst/>
          </a:prstGeom>
          <a:solidFill>
            <a:srgbClr val="E67528"/>
          </a:solidFill>
          <a:ln/>
        </p:spPr>
        <p:txBody>
          <a:bodyPr/>
          <a:p/>
        </p:txBody>
      </p:sp>
      <p:sp>
        <p:nvSpPr>
          <p:cNvPr id="9" name="Text 7"/>
          <p:cNvSpPr txBox="1"/>
          <p:nvPr/>
        </p:nvSpPr>
        <p:spPr>
          <a:xfrm>
            <a:off x="7552944" y="2377440"/>
            <a:ext cx="3182112" cy="2194560"/>
          </a:xfrm>
          <a:prstGeom prst="rect">
            <a:avLst/>
          </a:prstGeom>
          <a:noFill/>
          <a:ln/>
        </p:spPr>
        <p:txBody>
          <a:bodyPr wrap="square" lIns="0" tIns="0" rIns="0" bIns="0" rtlCol="0" anchor="ctr"/>
          <a:lstStyle/>
          <a:p>
            <a:pPr algn="ctr" indent="0" marL="0">
              <a:lnSpc>
                <a:spcPct val="105000"/>
              </a:lnSpc>
              <a:buNone/>
            </a:pPr>
            <a:r>
              <a:rPr lang="en-US" sz="1300" b="1" dirty="0">
                <a:solidFill>
                  <a:srgbClr val="FFFFFF"/>
                </a:solidFill>
                <a:latin typeface="Calibri" pitchFamily="34" charset="0"/>
                <a:ea typeface="Calibri" pitchFamily="34" charset="-122"/>
                <a:cs typeface="Calibri" pitchFamily="34" charset="-120"/>
              </a:rPr>
              <a:t>POST</a:t>
            </a:r>
            <a:endParaRPr lang="en-US" sz="1300" dirty="0"/>
          </a:p>
          <a:p>
            <a:pPr algn="ctr" indent="0" marL="0">
              <a:lnSpc>
                <a:spcPct val="105000"/>
              </a:lnSpc>
              <a:buNone/>
            </a:pPr>
            <a:endParaRPr lang="en-US" sz="1300" dirty="0"/>
          </a:p>
          <a:p>
            <a:pPr algn="ctr" indent="0" marL="0">
              <a:lnSpc>
                <a:spcPct val="105000"/>
              </a:lnSpc>
              <a:buNone/>
            </a:pPr>
            <a:r>
              <a:rPr lang="en-US" sz="1300" b="1" dirty="0">
                <a:solidFill>
                  <a:srgbClr val="FFFFFF"/>
                </a:solidFill>
                <a:latin typeface="Calibri" pitchFamily="34" charset="0"/>
                <a:ea typeface="Calibri" pitchFamily="34" charset="-122"/>
                <a:cs typeface="Calibri" pitchFamily="34" charset="-120"/>
              </a:rPr>
              <a:t>_id: ObjectId</a:t>
            </a:r>
            <a:endParaRPr lang="en-US" sz="1300" dirty="0"/>
          </a:p>
          <a:p>
            <a:pPr algn="ctr" indent="0" marL="0">
              <a:lnSpc>
                <a:spcPct val="105000"/>
              </a:lnSpc>
              <a:buNone/>
            </a:pPr>
            <a:r>
              <a:rPr lang="en-US" sz="1300" b="1" dirty="0">
                <a:solidFill>
                  <a:srgbClr val="FFFFFF"/>
                </a:solidFill>
                <a:latin typeface="Calibri" pitchFamily="34" charset="0"/>
                <a:ea typeface="Calibri" pitchFamily="34" charset="-122"/>
                <a:cs typeface="Calibri" pitchFamily="34" charset="-120"/>
              </a:rPr>
              <a:t>title: String</a:t>
            </a:r>
            <a:endParaRPr lang="en-US" sz="1300" dirty="0"/>
          </a:p>
          <a:p>
            <a:pPr algn="ctr" indent="0" marL="0">
              <a:lnSpc>
                <a:spcPct val="105000"/>
              </a:lnSpc>
              <a:buNone/>
            </a:pPr>
            <a:r>
              <a:rPr lang="en-US" sz="1300" b="1" dirty="0">
                <a:solidFill>
                  <a:srgbClr val="FFFFFF"/>
                </a:solidFill>
                <a:latin typeface="Calibri" pitchFamily="34" charset="0"/>
                <a:ea typeface="Calibri" pitchFamily="34" charset="-122"/>
                <a:cs typeface="Calibri" pitchFamily="34" charset="-120"/>
              </a:rPr>
              <a:t>author: ObjectId</a:t>
            </a:r>
            <a:endParaRPr lang="en-US" sz="1300" dirty="0"/>
          </a:p>
          <a:p>
            <a:pPr algn="ctr" indent="0" marL="0">
              <a:lnSpc>
                <a:spcPct val="105000"/>
              </a:lnSpc>
              <a:buNone/>
            </a:pPr>
            <a:r>
              <a:rPr lang="en-US" sz="1300" b="1" dirty="0">
                <a:solidFill>
                  <a:srgbClr val="FFFFFF"/>
                </a:solidFill>
                <a:latin typeface="Calibri" pitchFamily="34" charset="0"/>
                <a:ea typeface="Calibri" pitchFamily="34" charset="-122"/>
                <a:cs typeface="Calibri" pitchFamily="34" charset="-120"/>
              </a:rPr>
              <a:t>(references User._id)</a:t>
            </a:r>
            <a:endParaRPr lang="en-US" sz="1300" dirty="0"/>
          </a:p>
        </p:txBody>
      </p:sp>
      <p:sp>
        <p:nvSpPr>
          <p:cNvPr id="10" name="Text 8"/>
          <p:cNvSpPr txBox="1"/>
          <p:nvPr/>
        </p:nvSpPr>
        <p:spPr>
          <a:xfrm>
            <a:off x="640080" y="5989320"/>
            <a:ext cx="10911535" cy="411480"/>
          </a:xfrm>
          <a:prstGeom prst="rect">
            <a:avLst/>
          </a:prstGeom>
          <a:noFill/>
          <a:ln/>
        </p:spPr>
        <p:txBody>
          <a:bodyPr wrap="square" lIns="0" tIns="0" rIns="0" bIns="0" rtlCol="0" anchor="t"/>
          <a:lstStyle/>
          <a:p>
            <a:pPr indent="0" marL="0">
              <a:buNone/>
            </a:pPr>
            <a:r>
              <a:rPr lang="en-US" sz="1250" i="1" dirty="0">
                <a:solidFill>
                  <a:srgbClr val="5D5D72"/>
                </a:solidFill>
                <a:latin typeface="Calibri" pitchFamily="34" charset="0"/>
                <a:ea typeface="Calibri" pitchFamily="34" charset="-122"/>
                <a:cs typeface="Calibri" pitchFamily="34" charset="-120"/>
              </a:rPr>
              <a:t>post.author stores just a User's ObjectId. .populate("author") runs a second query and swaps that ID for the full User document.</a:t>
            </a:r>
            <a:endParaRPr lang="en-US" sz="1250" dirty="0"/>
          </a:p>
        </p:txBody>
      </p:sp>
      <p:sp>
        <p:nvSpPr>
          <p:cNvPr id="13" name="cuinotes-footer-mark"/>
          <p:cNvSpPr txBox="1"/>
          <p:nvPr/>
        </p:nvSpPr>
        <p:spPr>
          <a:xfrm>
            <a:off x="9951720" y="6455664"/>
            <a:ext cx="2011680" cy="292608"/>
          </a:xfrm>
          <a:prstGeom prst="rect">
            <a:avLst/>
          </a:prstGeom>
          <a:noFill/>
        </p:spPr>
        <p:txBody>
          <a:bodyPr wrap="none" lIns="0" rIns="0" tIns="0" bIns="0">
            <a:spAutoFit/>
          </a:bodyPr>
          <a:lstStyle/>
          <a:p>
            <a:pPr algn="r"/>
            <a:r>
              <a:rPr sz="1000">
                <a:solidFill>
                  <a:srgbClr val="8A939B"/>
                </a:solidFill>
                <a:hlinkClick r:id="rId3"/>
              </a:rPr>
              <a:t>cuinotes.com</a:t>
            </a:r>
            <a:r>
              <a:rPr sz="1000">
                <a:solidFill>
                  <a:srgbClr val="8A939B"/>
                </a:solidFill>
              </a:rPr>
              <a:t>  ·  22</a:t>
            </a:r>
          </a:p>
        </p:txBody>
      </p:sp>
    </p:spTree>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name="Slide 23">
    <p:bg>
      <p:bgPr>
        <a:solidFill>
          <a:srgbClr val="FFFFFF"/>
        </a:solidFill>
      </p:bgPr>
    </p:bg>
    <p:spTree>
      <p:nvGrpSpPr>
        <p:cNvPr id="1" name=""/>
        <p:cNvGrpSpPr/>
        <p:nvPr/>
      </p:nvGrpSpPr>
      <p:grpSpPr>
        <a:xfrm>
          <a:off x="0" y="0"/>
          <a:ext cx="0" cy="0"/>
          <a:chOff x="0" y="0"/>
          <a:chExt cx="0" cy="0"/>
        </a:xfrm>
      </p:grpSpPr>
      <p:sp>
        <p:nvSpPr>
          <p:cNvPr id="2" name="Text 0"/>
          <p:cNvSpPr txBox="1"/>
          <p:nvPr/>
        </p:nvSpPr>
        <p:spPr>
          <a:xfrm>
            <a:off x="640080" y="457200"/>
            <a:ext cx="10058400" cy="365760"/>
          </a:xfrm>
          <a:prstGeom prst="rect">
            <a:avLst/>
          </a:prstGeom>
          <a:noFill/>
          <a:ln/>
        </p:spPr>
        <p:txBody>
          <a:bodyPr wrap="square" lIns="0" tIns="0" rIns="0" bIns="0" rtlCol="0" anchor="ctr"/>
          <a:lstStyle/>
          <a:p>
            <a:pPr algn="l" indent="0" marL="0">
              <a:buNone/>
            </a:pPr>
            <a:r>
              <a:rPr lang="en-US" sz="1300" b="1" spc="300" kern="0" dirty="0">
                <a:solidFill>
                  <a:srgbClr val="FF8A3D"/>
                </a:solidFill>
                <a:latin typeface="Calibri" pitchFamily="34" charset="0"/>
                <a:ea typeface="Calibri" pitchFamily="34" charset="-122"/>
                <a:cs typeface="Calibri" pitchFamily="34" charset="-120"/>
              </a:rPr>
              <a:t>ASSOCIATIONS</a:t>
            </a:r>
            <a:endParaRPr lang="en-US" sz="1300" dirty="0"/>
          </a:p>
        </p:txBody>
      </p:sp>
      <p:sp>
        <p:nvSpPr>
          <p:cNvPr id="3" name="Text 1"/>
          <p:cNvSpPr txBox="1"/>
          <p:nvPr/>
        </p:nvSpPr>
        <p:spPr>
          <a:xfrm>
            <a:off x="640080" y="841248"/>
            <a:ext cx="10881360" cy="914400"/>
          </a:xfrm>
          <a:prstGeom prst="rect">
            <a:avLst/>
          </a:prstGeom>
          <a:noFill/>
          <a:ln/>
        </p:spPr>
        <p:txBody>
          <a:bodyPr wrap="square" lIns="0" tIns="0" rIns="0" bIns="0" rtlCol="0" anchor="ctr"/>
          <a:lstStyle/>
          <a:p>
            <a:pPr algn="l" indent="0" marL="0">
              <a:buNone/>
            </a:pPr>
            <a:r>
              <a:rPr lang="en-US" sz="3400" b="1" dirty="0">
                <a:solidFill>
                  <a:srgbClr val="2B2B7A"/>
                </a:solidFill>
                <a:latin typeface="Cambria" pitchFamily="34" charset="0"/>
                <a:ea typeface="Cambria" pitchFamily="34" charset="-122"/>
                <a:cs typeface="Cambria" pitchFamily="34" charset="-120"/>
              </a:rPr>
              <a:t>The SQL Equivalent: Associations</a:t>
            </a:r>
            <a:endParaRPr lang="en-US" sz="3400" dirty="0"/>
          </a:p>
        </p:txBody>
      </p:sp>
      <p:sp>
        <p:nvSpPr>
          <p:cNvPr id="4" name="Shape 2"/>
          <p:cNvSpPr/>
          <p:nvPr/>
        </p:nvSpPr>
        <p:spPr>
          <a:xfrm>
            <a:off x="640080" y="1965960"/>
            <a:ext cx="10911535" cy="3657600"/>
          </a:xfrm>
          <a:prstGeom prst="roundRect">
            <a:avLst>
              <a:gd name="adj" fmla="val 3158"/>
            </a:avLst>
          </a:prstGeom>
          <a:solidFill>
            <a:srgbClr val="E9EDFB"/>
          </a:solidFill>
          <a:ln w="12700">
            <a:solidFill>
              <a:srgbClr val="6C7FD6"/>
            </a:solidFill>
            <a:prstDash val="solid"/>
          </a:ln>
        </p:spPr>
        <p:txBody>
          <a:bodyPr/>
          <a:p/>
        </p:txBody>
      </p:sp>
      <p:sp>
        <p:nvSpPr>
          <p:cNvPr id="5" name="Text 3"/>
          <p:cNvSpPr txBox="1"/>
          <p:nvPr/>
        </p:nvSpPr>
        <p:spPr>
          <a:xfrm>
            <a:off x="868680" y="2103120"/>
            <a:ext cx="10454335" cy="400000"/>
          </a:xfrm>
          <a:prstGeom prst="rect">
            <a:avLst/>
          </a:prstGeom>
          <a:noFill/>
          <a:ln/>
        </p:spPr>
        <p:txBody>
          <a:bodyPr wrap="square" lIns="0" tIns="0" rIns="0" bIns="0" rtlCol="0" anchor="ctr"/>
          <a:lstStyle/>
          <a:p>
            <a:pPr indent="0" marL="0">
              <a:buNone/>
            </a:pPr>
            <a:r>
              <a:rPr lang="en-US" sz="1800" b="1" spc="200" kern="0" dirty="0">
                <a:solidFill>
                  <a:srgbClr val="33459E"/>
                </a:solidFill>
                <a:latin typeface="Calibri" pitchFamily="34" charset="0"/>
                <a:ea typeface="Calibri" pitchFamily="34" charset="-122"/>
                <a:cs typeface="Calibri" pitchFamily="34" charset="-120"/>
              </a:rPr>
              <a:t>NOTE</a:t>
            </a:r>
            <a:endParaRPr lang="en-US" sz="1800" dirty="0"/>
          </a:p>
        </p:txBody>
      </p:sp>
      <p:sp>
        <p:nvSpPr>
          <p:cNvPr id="6" name="Text 4"/>
          <p:cNvSpPr txBox="1"/>
          <p:nvPr/>
        </p:nvSpPr>
        <p:spPr>
          <a:xfrm>
            <a:off x="868680" y="2795960"/>
            <a:ext cx="10454335" cy="2500000"/>
          </a:xfrm>
          <a:prstGeom prst="rect">
            <a:avLst/>
          </a:prstGeom>
          <a:noFill/>
          <a:ln/>
        </p:spPr>
        <p:txBody>
          <a:bodyPr wrap="square" lIns="0" tIns="0" rIns="0" bIns="0" rtlCol="0" anchor="ctr"/>
          <a:lstStyle/>
          <a:p>
            <a:pPr indent="0" marL="0">
              <a:buNone/>
            </a:pPr>
            <a:r>
              <a:rPr lang="en-US" sz="2800" dirty="0">
                <a:solidFill>
                  <a:srgbClr val="26262F"/>
                </a:solidFill>
                <a:latin typeface="Calibri" pitchFamily="34" charset="0"/>
                <a:ea typeface="Calibri" pitchFamily="34" charset="-122"/>
                <a:cs typeface="Calibri" pitchFamily="34" charset="-120"/>
              </a:rPr>
              <a:t>In a SQL ORM like Sequelize, the equivalent idea is called an association (User.hasMany(Post), Post.belongsTo(User)), and behind the scenes it generates actual SQL JOIN queries.</a:t>
            </a:r>
            <a:endParaRPr lang="en-US" sz="2800" dirty="0"/>
          </a:p>
        </p:txBody>
      </p:sp>
      <p:sp>
        <p:nvSpPr>
          <p:cNvPr id="9" name="cuinotes-footer-mark"/>
          <p:cNvSpPr txBox="1"/>
          <p:nvPr/>
        </p:nvSpPr>
        <p:spPr>
          <a:xfrm>
            <a:off x="9951720" y="6455664"/>
            <a:ext cx="2011680" cy="292608"/>
          </a:xfrm>
          <a:prstGeom prst="rect">
            <a:avLst/>
          </a:prstGeom>
          <a:noFill/>
        </p:spPr>
        <p:txBody>
          <a:bodyPr wrap="none" lIns="0" rIns="0" tIns="0" bIns="0">
            <a:spAutoFit/>
          </a:bodyPr>
          <a:lstStyle/>
          <a:p>
            <a:pPr algn="r"/>
            <a:r>
              <a:rPr sz="1000">
                <a:solidFill>
                  <a:srgbClr val="8A939B"/>
                </a:solidFill>
                <a:hlinkClick r:id="rId3"/>
              </a:rPr>
              <a:t>cuinotes.com</a:t>
            </a:r>
            <a:r>
              <a:rPr sz="1000">
                <a:solidFill>
                  <a:srgbClr val="8A939B"/>
                </a:solidFill>
              </a:rPr>
              <a:t>  ·  23</a:t>
            </a:r>
          </a:p>
        </p:txBody>
      </p:sp>
    </p:spTree>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name="Slide 24">
    <p:bg>
      <p:bgPr>
        <a:solidFill>
          <a:srgbClr val="FFFFFF"/>
        </a:solidFill>
      </p:bgPr>
    </p:bg>
    <p:spTree>
      <p:nvGrpSpPr>
        <p:cNvPr id="1" name=""/>
        <p:cNvGrpSpPr/>
        <p:nvPr/>
      </p:nvGrpSpPr>
      <p:grpSpPr>
        <a:xfrm>
          <a:off x="0" y="0"/>
          <a:ext cx="0" cy="0"/>
          <a:chOff x="0" y="0"/>
          <a:chExt cx="0" cy="0"/>
        </a:xfrm>
      </p:grpSpPr>
      <p:sp>
        <p:nvSpPr>
          <p:cNvPr id="2" name="Text 0"/>
          <p:cNvSpPr txBox="1"/>
          <p:nvPr/>
        </p:nvSpPr>
        <p:spPr>
          <a:xfrm>
            <a:off x="640080" y="457200"/>
            <a:ext cx="10058400" cy="365760"/>
          </a:xfrm>
          <a:prstGeom prst="rect">
            <a:avLst/>
          </a:prstGeom>
          <a:noFill/>
          <a:ln/>
        </p:spPr>
        <p:txBody>
          <a:bodyPr wrap="square" lIns="0" tIns="0" rIns="0" bIns="0" rtlCol="0" anchor="ctr"/>
          <a:lstStyle/>
          <a:p>
            <a:pPr algn="l" indent="0" marL="0">
              <a:buNone/>
            </a:pPr>
            <a:r>
              <a:rPr lang="en-US" sz="1300" b="1" spc="300" kern="0" dirty="0">
                <a:solidFill>
                  <a:srgbClr val="FF8A3D"/>
                </a:solidFill>
                <a:latin typeface="Calibri" pitchFamily="34" charset="0"/>
                <a:ea typeface="Calibri" pitchFamily="34" charset="-122"/>
                <a:cs typeface="Calibri" pitchFamily="34" charset="-120"/>
              </a:rPr>
              <a:t>MIGRATIONS &amp; SEEDING</a:t>
            </a:r>
            <a:endParaRPr lang="en-US" sz="1300" dirty="0"/>
          </a:p>
        </p:txBody>
      </p:sp>
      <p:sp>
        <p:nvSpPr>
          <p:cNvPr id="3" name="Text 1"/>
          <p:cNvSpPr txBox="1"/>
          <p:nvPr/>
        </p:nvSpPr>
        <p:spPr>
          <a:xfrm>
            <a:off x="640080" y="841248"/>
            <a:ext cx="10881360" cy="914400"/>
          </a:xfrm>
          <a:prstGeom prst="rect">
            <a:avLst/>
          </a:prstGeom>
          <a:noFill/>
          <a:ln/>
        </p:spPr>
        <p:txBody>
          <a:bodyPr wrap="square" lIns="0" tIns="0" rIns="0" bIns="0" rtlCol="0" anchor="ctr"/>
          <a:lstStyle/>
          <a:p>
            <a:pPr algn="l" indent="0" marL="0">
              <a:buNone/>
            </a:pPr>
            <a:r>
              <a:rPr lang="en-US" sz="3400" b="1" dirty="0">
                <a:solidFill>
                  <a:srgbClr val="2B2B7A"/>
                </a:solidFill>
                <a:latin typeface="Cambria" pitchFamily="34" charset="0"/>
                <a:ea typeface="Cambria" pitchFamily="34" charset="-122"/>
                <a:cs typeface="Cambria" pitchFamily="34" charset="-120"/>
              </a:rPr>
              <a:t>Migrations</a:t>
            </a:r>
            <a:endParaRPr lang="en-US" sz="3400" dirty="0"/>
          </a:p>
        </p:txBody>
      </p:sp>
      <p:sp>
        <p:nvSpPr>
          <p:cNvPr id="4" name="Shape 2"/>
          <p:cNvSpPr/>
          <p:nvPr/>
        </p:nvSpPr>
        <p:spPr>
          <a:xfrm>
            <a:off x="685800" y="1965960"/>
            <a:ext cx="457200" cy="457200"/>
          </a:xfrm>
          <a:prstGeom prst="ellipse">
            <a:avLst/>
          </a:prstGeom>
          <a:solidFill>
            <a:srgbClr val="FF8A3D"/>
          </a:solidFill>
          <a:ln/>
        </p:spPr>
        <p:txBody>
          <a:bodyPr/>
          <a:p/>
        </p:txBody>
      </p:sp>
      <p:sp>
        <p:nvSpPr>
          <p:cNvPr id="5" name="Text 3"/>
          <p:cNvSpPr txBox="1"/>
          <p:nvPr/>
        </p:nvSpPr>
        <p:spPr>
          <a:xfrm>
            <a:off x="685800" y="1965960"/>
            <a:ext cx="457200" cy="457200"/>
          </a:xfrm>
          <a:prstGeom prst="rect">
            <a:avLst/>
          </a:prstGeom>
          <a:noFill/>
          <a:ln/>
        </p:spPr>
        <p:txBody>
          <a:bodyPr wrap="square" lIns="0" tIns="0" rIns="0" bIns="0" rtlCol="0" anchor="ctr"/>
          <a:lstStyle/>
          <a:p>
            <a:pPr algn="ctr" indent="0" marL="0">
              <a:buNone/>
            </a:pPr>
            <a:r>
              <a:rPr lang="en-US" sz="1500" b="1" dirty="0">
                <a:solidFill>
                  <a:srgbClr val="FFFFFF"/>
                </a:solidFill>
                <a:latin typeface="Calibri" pitchFamily="34" charset="0"/>
                <a:ea typeface="Calibri" pitchFamily="34" charset="-122"/>
                <a:cs typeface="Calibri" pitchFamily="34" charset="-120"/>
              </a:rPr>
              <a:t>1</a:t>
            </a:r>
            <a:endParaRPr lang="en-US" sz="1500" dirty="0"/>
          </a:p>
        </p:txBody>
      </p:sp>
      <p:sp>
        <p:nvSpPr>
          <p:cNvPr id="6" name="Text 4"/>
          <p:cNvSpPr txBox="1"/>
          <p:nvPr/>
        </p:nvSpPr>
        <p:spPr>
          <a:xfrm>
            <a:off x="1371600" y="1892808"/>
            <a:ext cx="10180015" cy="640080"/>
          </a:xfrm>
          <a:prstGeom prst="rect">
            <a:avLst/>
          </a:prstGeom>
          <a:noFill/>
          <a:ln/>
        </p:spPr>
        <p:txBody>
          <a:bodyPr wrap="square" lIns="0" tIns="0" rIns="0" bIns="0" rtlCol="0" anchor="ctr"/>
          <a:lstStyle/>
          <a:p>
            <a:pPr indent="0" marL="0">
              <a:buNone/>
            </a:pPr>
            <a:r>
              <a:rPr lang="en-US" sz="1500" dirty="0">
                <a:solidFill>
                  <a:srgbClr val="26262F"/>
                </a:solidFill>
                <a:latin typeface="Calibri" pitchFamily="34" charset="0"/>
                <a:ea typeface="Calibri" pitchFamily="34" charset="-122"/>
                <a:cs typeface="Calibri" pitchFamily="34" charset="-120"/>
              </a:rPr>
              <a:t>A migration is a versioned, scripted change to your database's structure (adding a column, renaming a table)</a:t>
            </a:r>
            <a:endParaRPr lang="en-US" sz="1500" dirty="0"/>
          </a:p>
        </p:txBody>
      </p:sp>
      <p:sp>
        <p:nvSpPr>
          <p:cNvPr id="7" name="Shape 5"/>
          <p:cNvSpPr/>
          <p:nvPr/>
        </p:nvSpPr>
        <p:spPr>
          <a:xfrm>
            <a:off x="685800" y="2788920"/>
            <a:ext cx="457200" cy="457200"/>
          </a:xfrm>
          <a:prstGeom prst="ellipse">
            <a:avLst/>
          </a:prstGeom>
          <a:solidFill>
            <a:srgbClr val="FF8A3D"/>
          </a:solidFill>
          <a:ln/>
        </p:spPr>
        <p:txBody>
          <a:bodyPr/>
          <a:p/>
        </p:txBody>
      </p:sp>
      <p:sp>
        <p:nvSpPr>
          <p:cNvPr id="8" name="Text 6"/>
          <p:cNvSpPr txBox="1"/>
          <p:nvPr/>
        </p:nvSpPr>
        <p:spPr>
          <a:xfrm>
            <a:off x="685800" y="2788920"/>
            <a:ext cx="457200" cy="457200"/>
          </a:xfrm>
          <a:prstGeom prst="rect">
            <a:avLst/>
          </a:prstGeom>
          <a:noFill/>
          <a:ln/>
        </p:spPr>
        <p:txBody>
          <a:bodyPr wrap="square" lIns="0" tIns="0" rIns="0" bIns="0" rtlCol="0" anchor="ctr"/>
          <a:lstStyle/>
          <a:p>
            <a:pPr algn="ctr" indent="0" marL="0">
              <a:buNone/>
            </a:pPr>
            <a:r>
              <a:rPr lang="en-US" sz="1500" b="1" dirty="0">
                <a:solidFill>
                  <a:srgbClr val="FFFFFF"/>
                </a:solidFill>
                <a:latin typeface="Calibri" pitchFamily="34" charset="0"/>
                <a:ea typeface="Calibri" pitchFamily="34" charset="-122"/>
                <a:cs typeface="Calibri" pitchFamily="34" charset="-120"/>
              </a:rPr>
              <a:t>2</a:t>
            </a:r>
            <a:endParaRPr lang="en-US" sz="1500" dirty="0"/>
          </a:p>
        </p:txBody>
      </p:sp>
      <p:sp>
        <p:nvSpPr>
          <p:cNvPr id="9" name="Text 7"/>
          <p:cNvSpPr txBox="1"/>
          <p:nvPr/>
        </p:nvSpPr>
        <p:spPr>
          <a:xfrm>
            <a:off x="1371600" y="2715768"/>
            <a:ext cx="10180015" cy="640080"/>
          </a:xfrm>
          <a:prstGeom prst="rect">
            <a:avLst/>
          </a:prstGeom>
          <a:noFill/>
          <a:ln/>
        </p:spPr>
        <p:txBody>
          <a:bodyPr wrap="square" lIns="0" tIns="0" rIns="0" bIns="0" rtlCol="0" anchor="ctr"/>
          <a:lstStyle/>
          <a:p>
            <a:pPr indent="0" marL="0">
              <a:buNone/>
            </a:pPr>
            <a:r>
              <a:rPr lang="en-US" sz="1500" dirty="0">
                <a:solidFill>
                  <a:srgbClr val="26262F"/>
                </a:solidFill>
                <a:latin typeface="Calibri" pitchFamily="34" charset="0"/>
                <a:ea typeface="Calibri" pitchFamily="34" charset="-122"/>
                <a:cs typeface="Calibri" pitchFamily="34" charset="-120"/>
              </a:rPr>
              <a:t>Migrations can be applied — and ideally reversed — so every environment stays in sync over time</a:t>
            </a:r>
            <a:endParaRPr lang="en-US" sz="1500" dirty="0"/>
          </a:p>
        </p:txBody>
      </p:sp>
      <p:sp>
        <p:nvSpPr>
          <p:cNvPr id="10" name="Shape 8"/>
          <p:cNvSpPr/>
          <p:nvPr/>
        </p:nvSpPr>
        <p:spPr>
          <a:xfrm>
            <a:off x="685800" y="3611880"/>
            <a:ext cx="457200" cy="457200"/>
          </a:xfrm>
          <a:prstGeom prst="ellipse">
            <a:avLst/>
          </a:prstGeom>
          <a:solidFill>
            <a:srgbClr val="FF8A3D"/>
          </a:solidFill>
          <a:ln/>
        </p:spPr>
        <p:txBody>
          <a:bodyPr/>
          <a:p/>
        </p:txBody>
      </p:sp>
      <p:sp>
        <p:nvSpPr>
          <p:cNvPr id="11" name="Text 9"/>
          <p:cNvSpPr txBox="1"/>
          <p:nvPr/>
        </p:nvSpPr>
        <p:spPr>
          <a:xfrm>
            <a:off x="685800" y="3611880"/>
            <a:ext cx="457200" cy="457200"/>
          </a:xfrm>
          <a:prstGeom prst="rect">
            <a:avLst/>
          </a:prstGeom>
          <a:noFill/>
          <a:ln/>
        </p:spPr>
        <p:txBody>
          <a:bodyPr wrap="square" lIns="0" tIns="0" rIns="0" bIns="0" rtlCol="0" anchor="ctr"/>
          <a:lstStyle/>
          <a:p>
            <a:pPr algn="ctr" indent="0" marL="0">
              <a:buNone/>
            </a:pPr>
            <a:r>
              <a:rPr lang="en-US" sz="1500" b="1" dirty="0">
                <a:solidFill>
                  <a:srgbClr val="FFFFFF"/>
                </a:solidFill>
                <a:latin typeface="Calibri" pitchFamily="34" charset="0"/>
                <a:ea typeface="Calibri" pitchFamily="34" charset="-122"/>
                <a:cs typeface="Calibri" pitchFamily="34" charset="-120"/>
              </a:rPr>
              <a:t>3</a:t>
            </a:r>
            <a:endParaRPr lang="en-US" sz="1500" dirty="0"/>
          </a:p>
        </p:txBody>
      </p:sp>
      <p:sp>
        <p:nvSpPr>
          <p:cNvPr id="12" name="Text 10"/>
          <p:cNvSpPr txBox="1"/>
          <p:nvPr/>
        </p:nvSpPr>
        <p:spPr>
          <a:xfrm>
            <a:off x="1371600" y="3538728"/>
            <a:ext cx="10180015" cy="640080"/>
          </a:xfrm>
          <a:prstGeom prst="rect">
            <a:avLst/>
          </a:prstGeom>
          <a:noFill/>
          <a:ln/>
        </p:spPr>
        <p:txBody>
          <a:bodyPr wrap="square" lIns="0" tIns="0" rIns="0" bIns="0" rtlCol="0" anchor="ctr"/>
          <a:lstStyle/>
          <a:p>
            <a:pPr indent="0" marL="0">
              <a:buNone/>
            </a:pPr>
            <a:r>
              <a:rPr lang="en-US" sz="1500" dirty="0">
                <a:solidFill>
                  <a:srgbClr val="26262F"/>
                </a:solidFill>
                <a:latin typeface="Calibri" pitchFamily="34" charset="0"/>
                <a:ea typeface="Calibri" pitchFamily="34" charset="-122"/>
                <a:cs typeface="Calibri" pitchFamily="34" charset="-120"/>
              </a:rPr>
              <a:t>Central to SQL ORMs like Sequelize; MongoDB's flexible documents mean Mongoose doesn't require them formally</a:t>
            </a:r>
            <a:endParaRPr lang="en-US" sz="1500" dirty="0"/>
          </a:p>
        </p:txBody>
      </p:sp>
      <p:sp>
        <p:nvSpPr>
          <p:cNvPr id="13" name="Shape 11"/>
          <p:cNvSpPr/>
          <p:nvPr/>
        </p:nvSpPr>
        <p:spPr>
          <a:xfrm>
            <a:off x="685800" y="4434840"/>
            <a:ext cx="457200" cy="457200"/>
          </a:xfrm>
          <a:prstGeom prst="ellipse">
            <a:avLst/>
          </a:prstGeom>
          <a:solidFill>
            <a:srgbClr val="FF8A3D"/>
          </a:solidFill>
          <a:ln/>
        </p:spPr>
        <p:txBody>
          <a:bodyPr/>
          <a:p/>
        </p:txBody>
      </p:sp>
      <p:sp>
        <p:nvSpPr>
          <p:cNvPr id="14" name="Text 12"/>
          <p:cNvSpPr txBox="1"/>
          <p:nvPr/>
        </p:nvSpPr>
        <p:spPr>
          <a:xfrm>
            <a:off x="685800" y="4434840"/>
            <a:ext cx="457200" cy="457200"/>
          </a:xfrm>
          <a:prstGeom prst="rect">
            <a:avLst/>
          </a:prstGeom>
          <a:noFill/>
          <a:ln/>
        </p:spPr>
        <p:txBody>
          <a:bodyPr wrap="square" lIns="0" tIns="0" rIns="0" bIns="0" rtlCol="0" anchor="ctr"/>
          <a:lstStyle/>
          <a:p>
            <a:pPr algn="ctr" indent="0" marL="0">
              <a:buNone/>
            </a:pPr>
            <a:r>
              <a:rPr lang="en-US" sz="1500" b="1" dirty="0">
                <a:solidFill>
                  <a:srgbClr val="FFFFFF"/>
                </a:solidFill>
                <a:latin typeface="Calibri" pitchFamily="34" charset="0"/>
                <a:ea typeface="Calibri" pitchFamily="34" charset="-122"/>
                <a:cs typeface="Calibri" pitchFamily="34" charset="-120"/>
              </a:rPr>
              <a:t>4</a:t>
            </a:r>
            <a:endParaRPr lang="en-US" sz="1500" dirty="0"/>
          </a:p>
        </p:txBody>
      </p:sp>
      <p:sp>
        <p:nvSpPr>
          <p:cNvPr id="15" name="Text 13"/>
          <p:cNvSpPr txBox="1"/>
          <p:nvPr/>
        </p:nvSpPr>
        <p:spPr>
          <a:xfrm>
            <a:off x="1371600" y="4361688"/>
            <a:ext cx="10180015" cy="640080"/>
          </a:xfrm>
          <a:prstGeom prst="rect">
            <a:avLst/>
          </a:prstGeom>
          <a:noFill/>
          <a:ln/>
        </p:spPr>
        <p:txBody>
          <a:bodyPr wrap="square" lIns="0" tIns="0" rIns="0" bIns="0" rtlCol="0" anchor="ctr"/>
          <a:lstStyle/>
          <a:p>
            <a:pPr indent="0" marL="0">
              <a:buNone/>
            </a:pPr>
            <a:r>
              <a:rPr lang="en-US" sz="1500" dirty="0">
                <a:solidFill>
                  <a:srgbClr val="26262F"/>
                </a:solidFill>
                <a:latin typeface="Calibri" pitchFamily="34" charset="0"/>
                <a:ea typeface="Calibri" pitchFamily="34" charset="-122"/>
                <a:cs typeface="Calibri" pitchFamily="34" charset="-120"/>
              </a:rPr>
              <a:t>Larger MongoDB projects often still use a dedicated tool (like migrate-mongo) for one-off schema-evolution scripts</a:t>
            </a:r>
            <a:endParaRPr lang="en-US" sz="1500" dirty="0"/>
          </a:p>
        </p:txBody>
      </p:sp>
      <p:sp>
        <p:nvSpPr>
          <p:cNvPr id="18" name="cuinotes-footer-mark"/>
          <p:cNvSpPr txBox="1"/>
          <p:nvPr/>
        </p:nvSpPr>
        <p:spPr>
          <a:xfrm>
            <a:off x="9951720" y="6455664"/>
            <a:ext cx="2011680" cy="292608"/>
          </a:xfrm>
          <a:prstGeom prst="rect">
            <a:avLst/>
          </a:prstGeom>
          <a:noFill/>
        </p:spPr>
        <p:txBody>
          <a:bodyPr wrap="none" lIns="0" rIns="0" tIns="0" bIns="0">
            <a:spAutoFit/>
          </a:bodyPr>
          <a:lstStyle/>
          <a:p>
            <a:pPr algn="r"/>
            <a:r>
              <a:rPr sz="1000">
                <a:solidFill>
                  <a:srgbClr val="8A939B"/>
                </a:solidFill>
                <a:hlinkClick r:id="rId3"/>
              </a:rPr>
              <a:t>cuinotes.com</a:t>
            </a:r>
            <a:r>
              <a:rPr sz="1000">
                <a:solidFill>
                  <a:srgbClr val="8A939B"/>
                </a:solidFill>
              </a:rPr>
              <a:t>  ·  24</a:t>
            </a:r>
          </a:p>
        </p:txBody>
      </p:sp>
    </p:spTree>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name="Slide 25">
    <p:bg>
      <p:bgPr>
        <a:solidFill>
          <a:srgbClr val="FFFFFF"/>
        </a:solidFill>
      </p:bgPr>
    </p:bg>
    <p:spTree>
      <p:nvGrpSpPr>
        <p:cNvPr id="1" name=""/>
        <p:cNvGrpSpPr/>
        <p:nvPr/>
      </p:nvGrpSpPr>
      <p:grpSpPr>
        <a:xfrm>
          <a:off x="0" y="0"/>
          <a:ext cx="0" cy="0"/>
          <a:chOff x="0" y="0"/>
          <a:chExt cx="0" cy="0"/>
        </a:xfrm>
      </p:grpSpPr>
      <p:sp>
        <p:nvSpPr>
          <p:cNvPr id="2" name="Text 0"/>
          <p:cNvSpPr txBox="1"/>
          <p:nvPr/>
        </p:nvSpPr>
        <p:spPr>
          <a:xfrm>
            <a:off x="640080" y="457200"/>
            <a:ext cx="10058400" cy="365760"/>
          </a:xfrm>
          <a:prstGeom prst="rect">
            <a:avLst/>
          </a:prstGeom>
          <a:noFill/>
          <a:ln/>
        </p:spPr>
        <p:txBody>
          <a:bodyPr wrap="square" lIns="0" tIns="0" rIns="0" bIns="0" rtlCol="0" anchor="ctr"/>
          <a:lstStyle/>
          <a:p>
            <a:pPr algn="l" indent="0" marL="0">
              <a:buNone/>
            </a:pPr>
            <a:r>
              <a:rPr lang="en-US" sz="1300" b="1" spc="300" kern="0" dirty="0">
                <a:solidFill>
                  <a:srgbClr val="FF8A3D"/>
                </a:solidFill>
                <a:latin typeface="Calibri" pitchFamily="34" charset="0"/>
                <a:ea typeface="Calibri" pitchFamily="34" charset="-122"/>
                <a:cs typeface="Calibri" pitchFamily="34" charset="-120"/>
              </a:rPr>
              <a:t>MIGRATIONS &amp; SEEDING</a:t>
            </a:r>
            <a:endParaRPr lang="en-US" sz="1300" dirty="0"/>
          </a:p>
        </p:txBody>
      </p:sp>
      <p:sp>
        <p:nvSpPr>
          <p:cNvPr id="3" name="Text 1"/>
          <p:cNvSpPr txBox="1"/>
          <p:nvPr/>
        </p:nvSpPr>
        <p:spPr>
          <a:xfrm>
            <a:off x="640080" y="841248"/>
            <a:ext cx="10881360" cy="914400"/>
          </a:xfrm>
          <a:prstGeom prst="rect">
            <a:avLst/>
          </a:prstGeom>
          <a:noFill/>
          <a:ln/>
        </p:spPr>
        <p:txBody>
          <a:bodyPr wrap="square" lIns="0" tIns="0" rIns="0" bIns="0" rtlCol="0" anchor="ctr"/>
          <a:lstStyle/>
          <a:p>
            <a:pPr algn="l" indent="0" marL="0">
              <a:buNone/>
            </a:pPr>
            <a:r>
              <a:rPr lang="en-US" sz="3400" b="1" dirty="0">
                <a:solidFill>
                  <a:srgbClr val="2B2B7A"/>
                </a:solidFill>
                <a:latin typeface="Cambria" pitchFamily="34" charset="0"/>
                <a:ea typeface="Cambria" pitchFamily="34" charset="-122"/>
                <a:cs typeface="Cambria" pitchFamily="34" charset="-120"/>
              </a:rPr>
              <a:t>Running a Sequelize Migration</a:t>
            </a:r>
            <a:endParaRPr lang="en-US" sz="3400" dirty="0"/>
          </a:p>
        </p:txBody>
      </p:sp>
      <p:sp>
        <p:nvSpPr>
          <p:cNvPr id="4" name="Shape 2"/>
          <p:cNvSpPr/>
          <p:nvPr/>
        </p:nvSpPr>
        <p:spPr>
          <a:xfrm>
            <a:off x="640080" y="1965960"/>
            <a:ext cx="10911535" cy="1082040"/>
          </a:xfrm>
          <a:prstGeom prst="roundRect">
            <a:avLst>
              <a:gd name="adj" fmla="val 6761"/>
            </a:avLst>
          </a:prstGeom>
          <a:solidFill>
            <a:srgbClr val="F7F8F9"/>
          </a:solidFill>
          <a:ln w="9525">
            <a:solidFill>
              <a:srgbClr val="D0D5DD"/>
            </a:solidFill>
          </a:ln>
        </p:spPr>
        <p:txBody>
          <a:bodyPr/>
          <a:p/>
        </p:txBody>
      </p:sp>
      <p:sp>
        <p:nvSpPr>
          <p:cNvPr id="5" name="Text 3"/>
          <p:cNvSpPr txBox="1"/>
          <p:nvPr/>
        </p:nvSpPr>
        <p:spPr>
          <a:xfrm>
            <a:off x="960120" y="2194560"/>
            <a:ext cx="10271455" cy="624840"/>
          </a:xfrm>
          <a:prstGeom prst="rect">
            <a:avLst/>
          </a:prstGeom>
          <a:noFill/>
          <a:ln/>
        </p:spPr>
        <p:txBody>
          <a:bodyPr wrap="square" lIns="0" tIns="0" rIns="0" bIns="0" rtlCol="0" anchor="t"/>
          <a:lstStyle/>
          <a:p>
            <a:pPr indent="0" marL="0">
              <a:lnSpc>
                <a:spcPct val="125000"/>
              </a:lnSpc>
              <a:buNone/>
            </a:pPr>
            <a:r>
              <a:rPr lang="en-US" sz="1400" dirty="0">
                <a:solidFill>
                  <a:srgbClr val="1F2429"/>
                </a:solidFill>
                <a:latin typeface="Courier New" pitchFamily="34" charset="0"/>
                <a:ea typeface="Courier New" pitchFamily="34" charset="-122"/>
                <a:cs typeface="Courier New" pitchFamily="34" charset="-120"/>
              </a:rPr>
              <a:t>npx sequelize-cli migration:generate --name add-age-to-users</a:t>
            </a:r>
            <a:endParaRPr lang="en-US" sz="1400" dirty="0"/>
          </a:p>
          <a:p>
            <a:pPr indent="0" marL="0">
              <a:lnSpc>
                <a:spcPct val="125000"/>
              </a:lnSpc>
              <a:buNone/>
            </a:pPr>
            <a:r>
              <a:rPr lang="en-US" sz="1400" dirty="0">
                <a:solidFill>
                  <a:srgbClr val="1F2429"/>
                </a:solidFill>
                <a:latin typeface="Courier New" pitchFamily="34" charset="0"/>
                <a:ea typeface="Courier New" pitchFamily="34" charset="-122"/>
                <a:cs typeface="Courier New" pitchFamily="34" charset="-120"/>
              </a:rPr>
              <a:t>npx sequelize-cli db:migrate</a:t>
            </a:r>
            <a:endParaRPr lang="en-US" sz="1400" dirty="0"/>
          </a:p>
        </p:txBody>
      </p:sp>
      <p:sp>
        <p:nvSpPr>
          <p:cNvPr id="8" name="cuinotes-footer-mark"/>
          <p:cNvSpPr txBox="1"/>
          <p:nvPr/>
        </p:nvSpPr>
        <p:spPr>
          <a:xfrm>
            <a:off x="9951720" y="6455664"/>
            <a:ext cx="2011680" cy="292608"/>
          </a:xfrm>
          <a:prstGeom prst="rect">
            <a:avLst/>
          </a:prstGeom>
          <a:noFill/>
        </p:spPr>
        <p:txBody>
          <a:bodyPr wrap="none" lIns="0" rIns="0" tIns="0" bIns="0">
            <a:spAutoFit/>
          </a:bodyPr>
          <a:lstStyle/>
          <a:p>
            <a:pPr algn="r"/>
            <a:r>
              <a:rPr sz="1000">
                <a:solidFill>
                  <a:srgbClr val="8A939B"/>
                </a:solidFill>
                <a:hlinkClick r:id="rId3"/>
              </a:rPr>
              <a:t>cuinotes.com</a:t>
            </a:r>
            <a:r>
              <a:rPr sz="1000">
                <a:solidFill>
                  <a:srgbClr val="8A939B"/>
                </a:solidFill>
              </a:rPr>
              <a:t>  ·  25</a:t>
            </a:r>
          </a:p>
        </p:txBody>
      </p:sp>
    </p:spTree>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name="Slide 26">
    <p:bg>
      <p:bgPr>
        <a:solidFill>
          <a:srgbClr val="FFFFFF"/>
        </a:solidFill>
      </p:bgPr>
    </p:bg>
    <p:spTree>
      <p:nvGrpSpPr>
        <p:cNvPr id="1" name=""/>
        <p:cNvGrpSpPr/>
        <p:nvPr/>
      </p:nvGrpSpPr>
      <p:grpSpPr>
        <a:xfrm>
          <a:off x="0" y="0"/>
          <a:ext cx="0" cy="0"/>
          <a:chOff x="0" y="0"/>
          <a:chExt cx="0" cy="0"/>
        </a:xfrm>
      </p:grpSpPr>
      <p:sp>
        <p:nvSpPr>
          <p:cNvPr id="2" name="Text 0"/>
          <p:cNvSpPr txBox="1"/>
          <p:nvPr/>
        </p:nvSpPr>
        <p:spPr>
          <a:xfrm>
            <a:off x="640080" y="457200"/>
            <a:ext cx="10058400" cy="365760"/>
          </a:xfrm>
          <a:prstGeom prst="rect">
            <a:avLst/>
          </a:prstGeom>
          <a:noFill/>
          <a:ln/>
        </p:spPr>
        <p:txBody>
          <a:bodyPr wrap="square" lIns="0" tIns="0" rIns="0" bIns="0" rtlCol="0" anchor="ctr"/>
          <a:lstStyle/>
          <a:p>
            <a:pPr algn="l" indent="0" marL="0">
              <a:buNone/>
            </a:pPr>
            <a:r>
              <a:rPr lang="en-US" sz="1300" b="1" spc="300" kern="0" dirty="0">
                <a:solidFill>
                  <a:srgbClr val="FF8A3D"/>
                </a:solidFill>
                <a:latin typeface="Calibri" pitchFamily="34" charset="0"/>
                <a:ea typeface="Calibri" pitchFamily="34" charset="-122"/>
                <a:cs typeface="Calibri" pitchFamily="34" charset="-120"/>
              </a:rPr>
              <a:t>MIGRATIONS &amp; SEEDING</a:t>
            </a:r>
            <a:endParaRPr lang="en-US" sz="1300" dirty="0"/>
          </a:p>
        </p:txBody>
      </p:sp>
      <p:sp>
        <p:nvSpPr>
          <p:cNvPr id="3" name="Text 1"/>
          <p:cNvSpPr txBox="1"/>
          <p:nvPr/>
        </p:nvSpPr>
        <p:spPr>
          <a:xfrm>
            <a:off x="640080" y="841248"/>
            <a:ext cx="10881360" cy="914400"/>
          </a:xfrm>
          <a:prstGeom prst="rect">
            <a:avLst/>
          </a:prstGeom>
          <a:noFill/>
          <a:ln/>
        </p:spPr>
        <p:txBody>
          <a:bodyPr wrap="square" lIns="0" tIns="0" rIns="0" bIns="0" rtlCol="0" anchor="ctr"/>
          <a:lstStyle/>
          <a:p>
            <a:pPr algn="l" indent="0" marL="0">
              <a:buNone/>
            </a:pPr>
            <a:r>
              <a:rPr lang="en-US" sz="3400" b="1" dirty="0">
                <a:solidFill>
                  <a:srgbClr val="2B2B7A"/>
                </a:solidFill>
                <a:latin typeface="Cambria" pitchFamily="34" charset="0"/>
                <a:ea typeface="Cambria" pitchFamily="34" charset="-122"/>
                <a:cs typeface="Cambria" pitchFamily="34" charset="-120"/>
              </a:rPr>
              <a:t>Seeding: Loading Sample Data</a:t>
            </a:r>
            <a:endParaRPr lang="en-US" sz="3400" dirty="0"/>
          </a:p>
        </p:txBody>
      </p:sp>
      <p:sp>
        <p:nvSpPr>
          <p:cNvPr id="4" name="Shape 2"/>
          <p:cNvSpPr/>
          <p:nvPr/>
        </p:nvSpPr>
        <p:spPr>
          <a:xfrm>
            <a:off x="640080" y="1965960"/>
            <a:ext cx="10911535" cy="3749040"/>
          </a:xfrm>
          <a:prstGeom prst="roundRect">
            <a:avLst>
              <a:gd name="adj" fmla="val 1951"/>
            </a:avLst>
          </a:prstGeom>
          <a:solidFill>
            <a:srgbClr val="F7F8F9"/>
          </a:solidFill>
          <a:ln w="9525">
            <a:solidFill>
              <a:srgbClr val="D0D5DD"/>
            </a:solidFill>
          </a:ln>
        </p:spPr>
        <p:txBody>
          <a:bodyPr/>
          <a:p/>
        </p:txBody>
      </p:sp>
      <p:sp>
        <p:nvSpPr>
          <p:cNvPr id="5" name="Text 3"/>
          <p:cNvSpPr txBox="1"/>
          <p:nvPr/>
        </p:nvSpPr>
        <p:spPr>
          <a:xfrm>
            <a:off x="960120" y="2194560"/>
            <a:ext cx="10271455" cy="3291840"/>
          </a:xfrm>
          <a:prstGeom prst="rect">
            <a:avLst/>
          </a:prstGeom>
          <a:noFill/>
          <a:ln/>
        </p:spPr>
        <p:txBody>
          <a:bodyPr wrap="square" lIns="0" tIns="0" rIns="0" bIns="0" rtlCol="0" anchor="t"/>
          <a:lstStyle/>
          <a:p>
            <a:pPr indent="0" marL="0">
              <a:lnSpc>
                <a:spcPct val="125000"/>
              </a:lnSpc>
              <a:buNone/>
            </a:pPr>
            <a:r>
              <a:rPr lang="en-US" sz="1400" dirty="0">
                <a:solidFill>
                  <a:srgbClr val="1F2429"/>
                </a:solidFill>
                <a:latin typeface="Courier New" pitchFamily="34" charset="0"/>
                <a:ea typeface="Courier New" pitchFamily="34" charset="-122"/>
                <a:cs typeface="Courier New" pitchFamily="34" charset="-120"/>
              </a:rPr>
              <a:t>// seed.js</a:t>
            </a:r>
            <a:endParaRPr lang="en-US" sz="1400" dirty="0"/>
          </a:p>
          <a:p>
            <a:pPr indent="0" marL="0">
              <a:lnSpc>
                <a:spcPct val="125000"/>
              </a:lnSpc>
              <a:buNone/>
            </a:pPr>
            <a:r>
              <a:rPr lang="en-US" sz="1400" dirty="0">
                <a:solidFill>
                  <a:srgbClr val="1F2429"/>
                </a:solidFill>
                <a:latin typeface="Courier New" pitchFamily="34" charset="0"/>
                <a:ea typeface="Courier New" pitchFamily="34" charset="-122"/>
                <a:cs typeface="Courier New" pitchFamily="34" charset="-120"/>
              </a:rPr>
              <a:t>async function seed() {</a:t>
            </a:r>
            <a:endParaRPr lang="en-US" sz="1400" dirty="0"/>
          </a:p>
          <a:p>
            <a:pPr indent="0" marL="0">
              <a:lnSpc>
                <a:spcPct val="125000"/>
              </a:lnSpc>
              <a:buNone/>
            </a:pPr>
            <a:r>
              <a:rPr lang="en-US" sz="1400" dirty="0">
                <a:solidFill>
                  <a:srgbClr val="1F2429"/>
                </a:solidFill>
                <a:latin typeface="Courier New" pitchFamily="34" charset="0"/>
                <a:ea typeface="Courier New" pitchFamily="34" charset="-122"/>
                <a:cs typeface="Courier New" pitchFamily="34" charset="-120"/>
              </a:rPr>
              <a:t>  await mongoose.connect(process.env.MONGO_URI);</a:t>
            </a:r>
            <a:endParaRPr lang="en-US" sz="1400" dirty="0"/>
          </a:p>
          <a:p>
            <a:pPr indent="0" marL="0">
              <a:lnSpc>
                <a:spcPct val="125000"/>
              </a:lnSpc>
              <a:buNone/>
            </a:pPr>
            <a:r>
              <a:rPr lang="en-US" sz="1400" dirty="0">
                <a:solidFill>
                  <a:srgbClr val="1F2429"/>
                </a:solidFill>
                <a:latin typeface="Courier New" pitchFamily="34" charset="0"/>
                <a:ea typeface="Courier New" pitchFamily="34" charset="-122"/>
                <a:cs typeface="Courier New" pitchFamily="34" charset="-120"/>
              </a:rPr>
              <a:t>  await User.deleteMany({}); // clear existing data</a:t>
            </a:r>
            <a:endParaRPr lang="en-US" sz="1400" dirty="0"/>
          </a:p>
          <a:p>
            <a:pPr indent="0" marL="0">
              <a:lnSpc>
                <a:spcPct val="125000"/>
              </a:lnSpc>
              <a:buNone/>
            </a:pPr>
            <a:r>
              <a:rPr lang="en-US" sz="1400" dirty="0">
                <a:solidFill>
                  <a:srgbClr val="1F2429"/>
                </a:solidFill>
                <a:latin typeface="Courier New" pitchFamily="34" charset="0"/>
                <a:ea typeface="Courier New" pitchFamily="34" charset="-122"/>
                <a:cs typeface="Courier New" pitchFamily="34" charset="-120"/>
              </a:rPr>
              <a:t>  await User.insertMany([</a:t>
            </a:r>
            <a:endParaRPr lang="en-US" sz="1400" dirty="0"/>
          </a:p>
          <a:p>
            <a:pPr indent="0" marL="0">
              <a:lnSpc>
                <a:spcPct val="125000"/>
              </a:lnSpc>
              <a:buNone/>
            </a:pPr>
            <a:r>
              <a:rPr lang="en-US" sz="1400" dirty="0">
                <a:solidFill>
                  <a:srgbClr val="1F2429"/>
                </a:solidFill>
                <a:latin typeface="Courier New" pitchFamily="34" charset="0"/>
                <a:ea typeface="Courier New" pitchFamily="34" charset="-122"/>
                <a:cs typeface="Courier New" pitchFamily="34" charset="-120"/>
              </a:rPr>
              <a:t>    { name: "Ayesha", email: "ayesha@email.com", role: "admin" },</a:t>
            </a:r>
            <a:endParaRPr lang="en-US" sz="1400" dirty="0"/>
          </a:p>
          <a:p>
            <a:pPr indent="0" marL="0">
              <a:lnSpc>
                <a:spcPct val="125000"/>
              </a:lnSpc>
              <a:buNone/>
            </a:pPr>
            <a:r>
              <a:rPr lang="en-US" sz="1400" dirty="0">
                <a:solidFill>
                  <a:srgbClr val="1F2429"/>
                </a:solidFill>
                <a:latin typeface="Courier New" pitchFamily="34" charset="0"/>
                <a:ea typeface="Courier New" pitchFamily="34" charset="-122"/>
                <a:cs typeface="Courier New" pitchFamily="34" charset="-120"/>
              </a:rPr>
              <a:t>    { name: "Bilal", email: "bilal@email.com", role: "student" },</a:t>
            </a:r>
            <a:endParaRPr lang="en-US" sz="1400" dirty="0"/>
          </a:p>
          <a:p>
            <a:pPr indent="0" marL="0">
              <a:lnSpc>
                <a:spcPct val="125000"/>
              </a:lnSpc>
              <a:buNone/>
            </a:pPr>
            <a:r>
              <a:rPr lang="en-US" sz="1400" dirty="0">
                <a:solidFill>
                  <a:srgbClr val="1F2429"/>
                </a:solidFill>
                <a:latin typeface="Courier New" pitchFamily="34" charset="0"/>
                <a:ea typeface="Courier New" pitchFamily="34" charset="-122"/>
                <a:cs typeface="Courier New" pitchFamily="34" charset="-120"/>
              </a:rPr>
              <a:t>  ]);</a:t>
            </a:r>
            <a:endParaRPr lang="en-US" sz="1400" dirty="0"/>
          </a:p>
          <a:p>
            <a:pPr indent="0" marL="0">
              <a:lnSpc>
                <a:spcPct val="125000"/>
              </a:lnSpc>
              <a:buNone/>
            </a:pPr>
            <a:r>
              <a:rPr lang="en-US" sz="1400" dirty="0">
                <a:solidFill>
                  <a:srgbClr val="1F2429"/>
                </a:solidFill>
                <a:latin typeface="Courier New" pitchFamily="34" charset="0"/>
                <a:ea typeface="Courier New" pitchFamily="34" charset="-122"/>
                <a:cs typeface="Courier New" pitchFamily="34" charset="-120"/>
              </a:rPr>
              <a:t>  console.log("Database seeded!");</a:t>
            </a:r>
            <a:endParaRPr lang="en-US" sz="1400" dirty="0"/>
          </a:p>
          <a:p>
            <a:pPr indent="0" marL="0">
              <a:lnSpc>
                <a:spcPct val="125000"/>
              </a:lnSpc>
              <a:buNone/>
            </a:pPr>
            <a:r>
              <a:rPr lang="en-US" sz="1400" dirty="0">
                <a:solidFill>
                  <a:srgbClr val="1F2429"/>
                </a:solidFill>
                <a:latin typeface="Courier New" pitchFamily="34" charset="0"/>
                <a:ea typeface="Courier New" pitchFamily="34" charset="-122"/>
                <a:cs typeface="Courier New" pitchFamily="34" charset="-120"/>
              </a:rPr>
              <a:t>  await mongoose.disconnect();</a:t>
            </a:r>
            <a:endParaRPr lang="en-US" sz="1400" dirty="0"/>
          </a:p>
          <a:p>
            <a:pPr indent="0" marL="0">
              <a:lnSpc>
                <a:spcPct val="125000"/>
              </a:lnSpc>
              <a:buNone/>
            </a:pPr>
            <a:r>
              <a:rPr lang="en-US" sz="1400" dirty="0">
                <a:solidFill>
                  <a:srgbClr val="1F2429"/>
                </a:solidFill>
                <a:latin typeface="Courier New" pitchFamily="34" charset="0"/>
                <a:ea typeface="Courier New" pitchFamily="34" charset="-122"/>
                <a:cs typeface="Courier New" pitchFamily="34" charset="-120"/>
              </a:rPr>
              <a:t>}</a:t>
            </a:r>
            <a:endParaRPr lang="en-US" sz="1400" dirty="0"/>
          </a:p>
          <a:p>
            <a:pPr indent="0" marL="0">
              <a:lnSpc>
                <a:spcPct val="125000"/>
              </a:lnSpc>
              <a:buNone/>
            </a:pPr>
            <a:r>
              <a:rPr lang="en-US" sz="1400" dirty="0">
                <a:solidFill>
                  <a:srgbClr val="1F2429"/>
                </a:solidFill>
                <a:latin typeface="Courier New" pitchFamily="34" charset="0"/>
                <a:ea typeface="Courier New" pitchFamily="34" charset="-122"/>
                <a:cs typeface="Courier New" pitchFamily="34" charset="-120"/>
              </a:rPr>
              <a:t>seed();</a:t>
            </a:r>
            <a:endParaRPr lang="en-US" sz="1400" dirty="0"/>
          </a:p>
        </p:txBody>
      </p:sp>
      <p:sp>
        <p:nvSpPr>
          <p:cNvPr id="8" name="cuinotes-footer-mark"/>
          <p:cNvSpPr txBox="1"/>
          <p:nvPr/>
        </p:nvSpPr>
        <p:spPr>
          <a:xfrm>
            <a:off x="9951720" y="6455664"/>
            <a:ext cx="2011680" cy="292608"/>
          </a:xfrm>
          <a:prstGeom prst="rect">
            <a:avLst/>
          </a:prstGeom>
          <a:noFill/>
        </p:spPr>
        <p:txBody>
          <a:bodyPr wrap="none" lIns="0" rIns="0" tIns="0" bIns="0">
            <a:spAutoFit/>
          </a:bodyPr>
          <a:lstStyle/>
          <a:p>
            <a:pPr algn="r"/>
            <a:r>
              <a:rPr sz="1000">
                <a:solidFill>
                  <a:srgbClr val="8A939B"/>
                </a:solidFill>
                <a:hlinkClick r:id="rId3"/>
              </a:rPr>
              <a:t>cuinotes.com</a:t>
            </a:r>
            <a:r>
              <a:rPr sz="1000">
                <a:solidFill>
                  <a:srgbClr val="8A939B"/>
                </a:solidFill>
              </a:rPr>
              <a:t>  ·  26</a:t>
            </a:r>
          </a:p>
        </p:txBody>
      </p:sp>
    </p:spTree>
  </p:cSld>
  <p:clrMapOvr>
    <a:masterClrMapping/>
  </p:clrMapOvr>
</p:sld>
</file>

<file path=ppt/slides/slide27.xml><?xml version="1.0" encoding="utf-8"?>
<p:sld xmlns:a="http://schemas.openxmlformats.org/drawingml/2006/main" xmlns:r="http://schemas.openxmlformats.org/officeDocument/2006/relationships" xmlns:p="http://schemas.openxmlformats.org/presentationml/2006/main">
  <p:cSld name="Slide 27">
    <p:bg>
      <p:bgPr>
        <a:solidFill>
          <a:srgbClr val="FFFFFF"/>
        </a:solidFill>
      </p:bgPr>
    </p:bg>
    <p:spTree>
      <p:nvGrpSpPr>
        <p:cNvPr id="1" name=""/>
        <p:cNvGrpSpPr/>
        <p:nvPr/>
      </p:nvGrpSpPr>
      <p:grpSpPr>
        <a:xfrm>
          <a:off x="0" y="0"/>
          <a:ext cx="0" cy="0"/>
          <a:chOff x="0" y="0"/>
          <a:chExt cx="0" cy="0"/>
        </a:xfrm>
      </p:grpSpPr>
      <p:sp>
        <p:nvSpPr>
          <p:cNvPr id="2" name="Text 0"/>
          <p:cNvSpPr txBox="1"/>
          <p:nvPr/>
        </p:nvSpPr>
        <p:spPr>
          <a:xfrm>
            <a:off x="640080" y="457200"/>
            <a:ext cx="10058400" cy="365760"/>
          </a:xfrm>
          <a:prstGeom prst="rect">
            <a:avLst/>
          </a:prstGeom>
          <a:noFill/>
          <a:ln/>
        </p:spPr>
        <p:txBody>
          <a:bodyPr wrap="square" lIns="0" tIns="0" rIns="0" bIns="0" rtlCol="0" anchor="ctr"/>
          <a:lstStyle/>
          <a:p>
            <a:pPr algn="l" indent="0" marL="0">
              <a:buNone/>
            </a:pPr>
            <a:r>
              <a:rPr lang="en-US" sz="1300" b="1" spc="300" kern="0" dirty="0">
                <a:solidFill>
                  <a:srgbClr val="FF8A3D"/>
                </a:solidFill>
                <a:latin typeface="Calibri" pitchFamily="34" charset="0"/>
                <a:ea typeface="Calibri" pitchFamily="34" charset="-122"/>
                <a:cs typeface="Calibri" pitchFamily="34" charset="-120"/>
              </a:rPr>
              <a:t>TRADE-OFFS</a:t>
            </a:r>
            <a:endParaRPr lang="en-US" sz="1300" dirty="0"/>
          </a:p>
        </p:txBody>
      </p:sp>
      <p:sp>
        <p:nvSpPr>
          <p:cNvPr id="3" name="Text 1"/>
          <p:cNvSpPr txBox="1"/>
          <p:nvPr/>
        </p:nvSpPr>
        <p:spPr>
          <a:xfrm>
            <a:off x="640080" y="841248"/>
            <a:ext cx="10881360" cy="914400"/>
          </a:xfrm>
          <a:prstGeom prst="rect">
            <a:avLst/>
          </a:prstGeom>
          <a:noFill/>
          <a:ln/>
        </p:spPr>
        <p:txBody>
          <a:bodyPr wrap="square" lIns="0" tIns="0" rIns="0" bIns="0" rtlCol="0" anchor="ctr"/>
          <a:lstStyle/>
          <a:p>
            <a:pPr algn="l" indent="0" marL="0">
              <a:buNone/>
            </a:pPr>
            <a:r>
              <a:rPr lang="en-US" sz="3400" b="1" dirty="0">
                <a:solidFill>
                  <a:srgbClr val="2B2B7A"/>
                </a:solidFill>
                <a:latin typeface="Cambria" pitchFamily="34" charset="0"/>
                <a:ea typeface="Cambria" pitchFamily="34" charset="-122"/>
                <a:cs typeface="Cambria" pitchFamily="34" charset="-120"/>
              </a:rPr>
              <a:t>Convenience vs. Control</a:t>
            </a:r>
            <a:endParaRPr lang="en-US" sz="3400" dirty="0"/>
          </a:p>
        </p:txBody>
      </p:sp>
      <p:graphicFrame>
        <p:nvGraphicFramePr>
          <p:cNvPr id="28" name="Table 0"/>
          <p:cNvGraphicFramePr>
            <a:graphicFrameLocks noGrp="1"/>
          </p:cNvGraphicFramePr>
          <p:nvPr>
            <p:extLst>
              <p:ext uri="{D42A27DB-BD31-4B8C-83A1-F6EECF244321}">
                <p14:modId xmlns:p14="http://schemas.microsoft.com/office/powerpoint/2010/main" val="1579011935"/>
              </p:ext>
            </p:extLst>
          </p:nvPr>
        </p:nvGraphicFramePr>
        <p:xfrm>
          <a:off x="640080" y="1965960"/>
          <a:ext cx="10911535" cy="914400"/>
        </p:xfrm>
        <a:graphic>
          <a:graphicData uri="http://schemas.openxmlformats.org/drawingml/2006/table">
            <a:tbl>
              <a:tblPr/>
              <a:tblGrid>
                <a:gridCol w="5394960"/>
                <a:gridCol w="5394960"/>
              </a:tblGrid>
              <a:tr h="777240">
                <a:tc>
                  <a:txBody>
                    <a:bodyPr/>
                    <a:lstStyle/>
                    <a:p>
                      <a:pPr algn="ctr" indent="0" marL="0">
                        <a:buNone/>
                      </a:pPr>
                      <a:r>
                        <a:rPr lang="en-US" sz="1200" b="1" dirty="0">
                          <a:solidFill>
                            <a:srgbClr val="FFFFFF"/>
                          </a:solidFill>
                          <a:latin typeface="Calibri" pitchFamily="34" charset="0"/>
                          <a:ea typeface="Calibri" pitchFamily="34" charset="-122"/>
                          <a:cs typeface="Calibri" pitchFamily="34" charset="-120"/>
                        </a:rPr>
                        <a:t>Benefit</a:t>
                      </a:r>
                      <a:endParaRPr lang="en-US" sz="1200" dirty="0">
                        <a:latin typeface="Calibri" charset="0"/>
                        <a:ea typeface="Calibri" charset="0"/>
                        <a:cs typeface="Calibri" charset="0"/>
                      </a:endParaRPr>
                    </a:p>
                  </a:txBody>
                  <a:tcPr marL="91440" marR="91440" marT="45720" marB="45720" anchor="ctr">
                    <a:lnL w="12700" cap="flat" cmpd="sng" algn="ctr">
                      <a:solidFill>
                        <a:srgbClr val="D8D8E6"/>
                      </a:solidFill>
                      <a:prstDash val="solid"/>
                      <a:round/>
                      <a:headEnd type="none" w="med" len="med"/>
                      <a:tailEnd type="none" w="med" len="med"/>
                    </a:lnL>
                    <a:lnR w="12700" cap="flat" cmpd="sng" algn="ctr">
                      <a:solidFill>
                        <a:srgbClr val="D8D8E6"/>
                      </a:solidFill>
                      <a:prstDash val="solid"/>
                      <a:round/>
                      <a:headEnd type="none" w="med" len="med"/>
                      <a:tailEnd type="none" w="med" len="med"/>
                    </a:lnR>
                    <a:lnT w="12700" cap="flat" cmpd="sng" algn="ctr">
                      <a:solidFill>
                        <a:srgbClr val="D8D8E6"/>
                      </a:solidFill>
                      <a:prstDash val="solid"/>
                      <a:round/>
                      <a:headEnd type="none" w="med" len="med"/>
                      <a:tailEnd type="none" w="med" len="med"/>
                    </a:lnT>
                    <a:lnB w="12700" cap="flat" cmpd="sng" algn="ctr">
                      <a:solidFill>
                        <a:srgbClr val="D8D8E6"/>
                      </a:solidFill>
                      <a:prstDash val="solid"/>
                      <a:round/>
                      <a:headEnd type="none" w="med" len="med"/>
                      <a:tailEnd type="none" w="med" len="med"/>
                    </a:lnB>
                    <a:solidFill>
                      <a:srgbClr val="2B2B7A"/>
                    </a:solidFill>
                  </a:tcPr>
                </a:tc>
                <a:tc>
                  <a:txBody>
                    <a:bodyPr/>
                    <a:lstStyle/>
                    <a:p>
                      <a:pPr algn="ctr" indent="0" marL="0">
                        <a:buNone/>
                      </a:pPr>
                      <a:r>
                        <a:rPr lang="en-US" sz="1200" b="1" dirty="0">
                          <a:solidFill>
                            <a:srgbClr val="FFFFFF"/>
                          </a:solidFill>
                          <a:latin typeface="Calibri" pitchFamily="34" charset="0"/>
                          <a:ea typeface="Calibri" pitchFamily="34" charset="-122"/>
                          <a:cs typeface="Calibri" pitchFamily="34" charset="-120"/>
                        </a:rPr>
                        <a:t>Cost</a:t>
                      </a:r>
                      <a:endParaRPr lang="en-US" sz="1200" dirty="0">
                        <a:latin typeface="Calibri" charset="0"/>
                        <a:ea typeface="Calibri" charset="0"/>
                        <a:cs typeface="Calibri" charset="0"/>
                      </a:endParaRPr>
                    </a:p>
                  </a:txBody>
                  <a:tcPr marL="91440" marR="91440" marT="45720" marB="45720" anchor="ctr">
                    <a:lnL w="12700" cap="flat" cmpd="sng" algn="ctr">
                      <a:solidFill>
                        <a:srgbClr val="D8D8E6"/>
                      </a:solidFill>
                      <a:prstDash val="solid"/>
                      <a:round/>
                      <a:headEnd type="none" w="med" len="med"/>
                      <a:tailEnd type="none" w="med" len="med"/>
                    </a:lnL>
                    <a:lnR w="12700" cap="flat" cmpd="sng" algn="ctr">
                      <a:solidFill>
                        <a:srgbClr val="D8D8E6"/>
                      </a:solidFill>
                      <a:prstDash val="solid"/>
                      <a:round/>
                      <a:headEnd type="none" w="med" len="med"/>
                      <a:tailEnd type="none" w="med" len="med"/>
                    </a:lnR>
                    <a:lnT w="12700" cap="flat" cmpd="sng" algn="ctr">
                      <a:solidFill>
                        <a:srgbClr val="D8D8E6"/>
                      </a:solidFill>
                      <a:prstDash val="solid"/>
                      <a:round/>
                      <a:headEnd type="none" w="med" len="med"/>
                      <a:tailEnd type="none" w="med" len="med"/>
                    </a:lnT>
                    <a:lnB w="12700" cap="flat" cmpd="sng" algn="ctr">
                      <a:solidFill>
                        <a:srgbClr val="D8D8E6"/>
                      </a:solidFill>
                      <a:prstDash val="solid"/>
                      <a:round/>
                      <a:headEnd type="none" w="med" len="med"/>
                      <a:tailEnd type="none" w="med" len="med"/>
                    </a:lnB>
                    <a:solidFill>
                      <a:srgbClr val="2B2B7A"/>
                    </a:solidFill>
                  </a:tcPr>
                </a:tc>
              </a:tr>
              <a:tr h="777240">
                <a:tc>
                  <a:txBody>
                    <a:bodyPr/>
                    <a:lstStyle/>
                    <a:p>
                      <a:pPr algn="ctr" indent="0" marL="0">
                        <a:buNone/>
                      </a:pPr>
                      <a:r>
                        <a:rPr lang="en-US" sz="1200" dirty="0">
                          <a:solidFill>
                            <a:srgbClr val="26262F"/>
                          </a:solidFill>
                          <a:latin typeface="Calibri" pitchFamily="34" charset="0"/>
                          <a:ea typeface="Calibri" pitchFamily="34" charset="-122"/>
                          <a:cs typeface="Calibri" pitchFamily="34" charset="-120"/>
                        </a:rPr>
                        <a:t>Less boilerplate, faster development</a:t>
                      </a:r>
                      <a:endParaRPr lang="en-US" sz="1200" dirty="0">
                        <a:latin typeface="Calibri" charset="0"/>
                        <a:ea typeface="Calibri" charset="0"/>
                        <a:cs typeface="Calibri" charset="0"/>
                      </a:endParaRPr>
                    </a:p>
                  </a:txBody>
                  <a:tcPr marL="91440" marR="91440" marT="45720" marB="45720" anchor="ctr">
                    <a:lnL w="12700" cap="flat" cmpd="sng" algn="ctr">
                      <a:solidFill>
                        <a:srgbClr val="D8D8E6"/>
                      </a:solidFill>
                      <a:prstDash val="solid"/>
                      <a:round/>
                      <a:headEnd type="none" w="med" len="med"/>
                      <a:tailEnd type="none" w="med" len="med"/>
                    </a:lnL>
                    <a:lnR w="12700" cap="flat" cmpd="sng" algn="ctr">
                      <a:solidFill>
                        <a:srgbClr val="D8D8E6"/>
                      </a:solidFill>
                      <a:prstDash val="solid"/>
                      <a:round/>
                      <a:headEnd type="none" w="med" len="med"/>
                      <a:tailEnd type="none" w="med" len="med"/>
                    </a:lnR>
                    <a:lnT w="12700" cap="flat" cmpd="sng" algn="ctr">
                      <a:solidFill>
                        <a:srgbClr val="D8D8E6"/>
                      </a:solidFill>
                      <a:prstDash val="solid"/>
                      <a:round/>
                      <a:headEnd type="none" w="med" len="med"/>
                      <a:tailEnd type="none" w="med" len="med"/>
                    </a:lnT>
                    <a:lnB w="12700" cap="flat" cmpd="sng" algn="ctr">
                      <a:solidFill>
                        <a:srgbClr val="D8D8E6"/>
                      </a:solidFill>
                      <a:prstDash val="solid"/>
                      <a:round/>
                      <a:headEnd type="none" w="med" len="med"/>
                      <a:tailEnd type="none" w="med" len="med"/>
                    </a:lnB>
                    <a:solidFill>
                      <a:srgbClr val="FFFFFF"/>
                    </a:solidFill>
                  </a:tcPr>
                </a:tc>
                <a:tc>
                  <a:txBody>
                    <a:bodyPr/>
                    <a:lstStyle/>
                    <a:p>
                      <a:pPr algn="ctr" indent="0" marL="0">
                        <a:buNone/>
                      </a:pPr>
                      <a:r>
                        <a:rPr lang="en-US" sz="1200" dirty="0">
                          <a:solidFill>
                            <a:srgbClr val="26262F"/>
                          </a:solidFill>
                          <a:latin typeface="Calibri" pitchFamily="34" charset="0"/>
                          <a:ea typeface="Calibri" pitchFamily="34" charset="-122"/>
                          <a:cs typeface="Calibri" pitchFamily="34" charset="-120"/>
                        </a:rPr>
                        <a:t>An extra layer to learn, on top of the database itself</a:t>
                      </a:r>
                      <a:endParaRPr lang="en-US" sz="1200" dirty="0">
                        <a:latin typeface="Calibri" charset="0"/>
                        <a:ea typeface="Calibri" charset="0"/>
                        <a:cs typeface="Calibri" charset="0"/>
                      </a:endParaRPr>
                    </a:p>
                  </a:txBody>
                  <a:tcPr marL="91440" marR="91440" marT="45720" marB="45720" anchor="ctr">
                    <a:lnL w="12700" cap="flat" cmpd="sng" algn="ctr">
                      <a:solidFill>
                        <a:srgbClr val="D8D8E6"/>
                      </a:solidFill>
                      <a:prstDash val="solid"/>
                      <a:round/>
                      <a:headEnd type="none" w="med" len="med"/>
                      <a:tailEnd type="none" w="med" len="med"/>
                    </a:lnL>
                    <a:lnR w="12700" cap="flat" cmpd="sng" algn="ctr">
                      <a:solidFill>
                        <a:srgbClr val="D8D8E6"/>
                      </a:solidFill>
                      <a:prstDash val="solid"/>
                      <a:round/>
                      <a:headEnd type="none" w="med" len="med"/>
                      <a:tailEnd type="none" w="med" len="med"/>
                    </a:lnR>
                    <a:lnT w="12700" cap="flat" cmpd="sng" algn="ctr">
                      <a:solidFill>
                        <a:srgbClr val="D8D8E6"/>
                      </a:solidFill>
                      <a:prstDash val="solid"/>
                      <a:round/>
                      <a:headEnd type="none" w="med" len="med"/>
                      <a:tailEnd type="none" w="med" len="med"/>
                    </a:lnT>
                    <a:lnB w="12700" cap="flat" cmpd="sng" algn="ctr">
                      <a:solidFill>
                        <a:srgbClr val="D8D8E6"/>
                      </a:solidFill>
                      <a:prstDash val="solid"/>
                      <a:round/>
                      <a:headEnd type="none" w="med" len="med"/>
                      <a:tailEnd type="none" w="med" len="med"/>
                    </a:lnB>
                    <a:solidFill>
                      <a:srgbClr val="FFFFFF"/>
                    </a:solidFill>
                  </a:tcPr>
                </a:tc>
              </a:tr>
              <a:tr h="777240">
                <a:tc>
                  <a:txBody>
                    <a:bodyPr/>
                    <a:lstStyle/>
                    <a:p>
                      <a:pPr algn="ctr" indent="0" marL="0">
                        <a:buNone/>
                      </a:pPr>
                      <a:r>
                        <a:rPr lang="en-US" sz="1200" dirty="0">
                          <a:solidFill>
                            <a:srgbClr val="26262F"/>
                          </a:solidFill>
                          <a:latin typeface="Calibri" pitchFamily="34" charset="0"/>
                          <a:ea typeface="Calibri" pitchFamily="34" charset="-122"/>
                          <a:cs typeface="Calibri" pitchFamily="34" charset="-120"/>
                        </a:rPr>
                        <a:t>Built-in validation and structure</a:t>
                      </a:r>
                      <a:endParaRPr lang="en-US" sz="1200" dirty="0">
                        <a:latin typeface="Calibri" charset="0"/>
                        <a:ea typeface="Calibri" charset="0"/>
                        <a:cs typeface="Calibri" charset="0"/>
                      </a:endParaRPr>
                    </a:p>
                  </a:txBody>
                  <a:tcPr marL="91440" marR="91440" marT="45720" marB="45720" anchor="ctr">
                    <a:lnL w="12700" cap="flat" cmpd="sng" algn="ctr">
                      <a:solidFill>
                        <a:srgbClr val="D8D8E6"/>
                      </a:solidFill>
                      <a:prstDash val="solid"/>
                      <a:round/>
                      <a:headEnd type="none" w="med" len="med"/>
                      <a:tailEnd type="none" w="med" len="med"/>
                    </a:lnL>
                    <a:lnR w="12700" cap="flat" cmpd="sng" algn="ctr">
                      <a:solidFill>
                        <a:srgbClr val="D8D8E6"/>
                      </a:solidFill>
                      <a:prstDash val="solid"/>
                      <a:round/>
                      <a:headEnd type="none" w="med" len="med"/>
                      <a:tailEnd type="none" w="med" len="med"/>
                    </a:lnR>
                    <a:lnT w="12700" cap="flat" cmpd="sng" algn="ctr">
                      <a:solidFill>
                        <a:srgbClr val="D8D8E6"/>
                      </a:solidFill>
                      <a:prstDash val="solid"/>
                      <a:round/>
                      <a:headEnd type="none" w="med" len="med"/>
                      <a:tailEnd type="none" w="med" len="med"/>
                    </a:lnT>
                    <a:lnB w="12700" cap="flat" cmpd="sng" algn="ctr">
                      <a:solidFill>
                        <a:srgbClr val="D8D8E6"/>
                      </a:solidFill>
                      <a:prstDash val="solid"/>
                      <a:round/>
                      <a:headEnd type="none" w="med" len="med"/>
                      <a:tailEnd type="none" w="med" len="med"/>
                    </a:lnB>
                    <a:solidFill>
                      <a:srgbClr val="FFFFFF"/>
                    </a:solidFill>
                  </a:tcPr>
                </a:tc>
                <a:tc>
                  <a:txBody>
                    <a:bodyPr/>
                    <a:lstStyle/>
                    <a:p>
                      <a:pPr algn="ctr" indent="0" marL="0">
                        <a:buNone/>
                      </a:pPr>
                      <a:r>
                        <a:rPr lang="en-US" sz="1200" dirty="0">
                          <a:solidFill>
                            <a:srgbClr val="26262F"/>
                          </a:solidFill>
                          <a:latin typeface="Calibri" pitchFamily="34" charset="0"/>
                          <a:ea typeface="Calibri" pitchFamily="34" charset="-122"/>
                          <a:cs typeface="Calibri" pitchFamily="34" charset="-120"/>
                        </a:rPr>
                        <a:t>Generated queries can be less efficient for complex cases</a:t>
                      </a:r>
                      <a:endParaRPr lang="en-US" sz="1200" dirty="0">
                        <a:latin typeface="Calibri" charset="0"/>
                        <a:ea typeface="Calibri" charset="0"/>
                        <a:cs typeface="Calibri" charset="0"/>
                      </a:endParaRPr>
                    </a:p>
                  </a:txBody>
                  <a:tcPr marL="91440" marR="91440" marT="45720" marB="45720" anchor="ctr">
                    <a:lnL w="12700" cap="flat" cmpd="sng" algn="ctr">
                      <a:solidFill>
                        <a:srgbClr val="D8D8E6"/>
                      </a:solidFill>
                      <a:prstDash val="solid"/>
                      <a:round/>
                      <a:headEnd type="none" w="med" len="med"/>
                      <a:tailEnd type="none" w="med" len="med"/>
                    </a:lnL>
                    <a:lnR w="12700" cap="flat" cmpd="sng" algn="ctr">
                      <a:solidFill>
                        <a:srgbClr val="D8D8E6"/>
                      </a:solidFill>
                      <a:prstDash val="solid"/>
                      <a:round/>
                      <a:headEnd type="none" w="med" len="med"/>
                      <a:tailEnd type="none" w="med" len="med"/>
                    </a:lnR>
                    <a:lnT w="12700" cap="flat" cmpd="sng" algn="ctr">
                      <a:solidFill>
                        <a:srgbClr val="D8D8E6"/>
                      </a:solidFill>
                      <a:prstDash val="solid"/>
                      <a:round/>
                      <a:headEnd type="none" w="med" len="med"/>
                      <a:tailEnd type="none" w="med" len="med"/>
                    </a:lnT>
                    <a:lnB w="12700" cap="flat" cmpd="sng" algn="ctr">
                      <a:solidFill>
                        <a:srgbClr val="D8D8E6"/>
                      </a:solidFill>
                      <a:prstDash val="solid"/>
                      <a:round/>
                      <a:headEnd type="none" w="med" len="med"/>
                      <a:tailEnd type="none" w="med" len="med"/>
                    </a:lnB>
                    <a:solidFill>
                      <a:srgbClr val="FFFFFF"/>
                    </a:solidFill>
                  </a:tcPr>
                </a:tc>
              </a:tr>
              <a:tr h="777240">
                <a:tc>
                  <a:txBody>
                    <a:bodyPr/>
                    <a:lstStyle/>
                    <a:p>
                      <a:pPr algn="ctr" indent="0" marL="0">
                        <a:buNone/>
                      </a:pPr>
                      <a:r>
                        <a:rPr lang="en-US" sz="1200" dirty="0">
                          <a:solidFill>
                            <a:srgbClr val="26262F"/>
                          </a:solidFill>
                          <a:latin typeface="Calibri" pitchFamily="34" charset="0"/>
                          <a:ea typeface="Calibri" pitchFamily="34" charset="-122"/>
                          <a:cs typeface="Calibri" pitchFamily="34" charset="-120"/>
                        </a:rPr>
                        <a:t>Easier to reason about relationships</a:t>
                      </a:r>
                      <a:endParaRPr lang="en-US" sz="1200" dirty="0">
                        <a:latin typeface="Calibri" charset="0"/>
                        <a:ea typeface="Calibri" charset="0"/>
                        <a:cs typeface="Calibri" charset="0"/>
                      </a:endParaRPr>
                    </a:p>
                  </a:txBody>
                  <a:tcPr marL="91440" marR="91440" marT="45720" marB="45720" anchor="ctr">
                    <a:lnL w="12700" cap="flat" cmpd="sng" algn="ctr">
                      <a:solidFill>
                        <a:srgbClr val="D8D8E6"/>
                      </a:solidFill>
                      <a:prstDash val="solid"/>
                      <a:round/>
                      <a:headEnd type="none" w="med" len="med"/>
                      <a:tailEnd type="none" w="med" len="med"/>
                    </a:lnL>
                    <a:lnR w="12700" cap="flat" cmpd="sng" algn="ctr">
                      <a:solidFill>
                        <a:srgbClr val="D8D8E6"/>
                      </a:solidFill>
                      <a:prstDash val="solid"/>
                      <a:round/>
                      <a:headEnd type="none" w="med" len="med"/>
                      <a:tailEnd type="none" w="med" len="med"/>
                    </a:lnR>
                    <a:lnT w="12700" cap="flat" cmpd="sng" algn="ctr">
                      <a:solidFill>
                        <a:srgbClr val="D8D8E6"/>
                      </a:solidFill>
                      <a:prstDash val="solid"/>
                      <a:round/>
                      <a:headEnd type="none" w="med" len="med"/>
                      <a:tailEnd type="none" w="med" len="med"/>
                    </a:lnT>
                    <a:lnB w="12700" cap="flat" cmpd="sng" algn="ctr">
                      <a:solidFill>
                        <a:srgbClr val="D8D8E6"/>
                      </a:solidFill>
                      <a:prstDash val="solid"/>
                      <a:round/>
                      <a:headEnd type="none" w="med" len="med"/>
                      <a:tailEnd type="none" w="med" len="med"/>
                    </a:lnB>
                    <a:solidFill>
                      <a:srgbClr val="FFFFFF"/>
                    </a:solidFill>
                  </a:tcPr>
                </a:tc>
                <a:tc>
                  <a:txBody>
                    <a:bodyPr/>
                    <a:lstStyle/>
                    <a:p>
                      <a:pPr algn="ctr" indent="0" marL="0">
                        <a:buNone/>
                      </a:pPr>
                      <a:r>
                        <a:rPr lang="en-US" sz="1200" dirty="0">
                          <a:solidFill>
                            <a:srgbClr val="26262F"/>
                          </a:solidFill>
                          <a:latin typeface="Calibri" pitchFamily="34" charset="0"/>
                          <a:ea typeface="Calibri" pitchFamily="34" charset="-122"/>
                          <a:cs typeface="Calibri" pitchFamily="34" charset="-120"/>
                        </a:rPr>
                        <a:t>"Magic" behavior can hide what's really happening</a:t>
                      </a:r>
                      <a:endParaRPr lang="en-US" sz="1200" dirty="0">
                        <a:latin typeface="Calibri" charset="0"/>
                        <a:ea typeface="Calibri" charset="0"/>
                        <a:cs typeface="Calibri" charset="0"/>
                      </a:endParaRPr>
                    </a:p>
                  </a:txBody>
                  <a:tcPr marL="91440" marR="91440" marT="45720" marB="45720" anchor="ctr">
                    <a:lnL w="12700" cap="flat" cmpd="sng" algn="ctr">
                      <a:solidFill>
                        <a:srgbClr val="D8D8E6"/>
                      </a:solidFill>
                      <a:prstDash val="solid"/>
                      <a:round/>
                      <a:headEnd type="none" w="med" len="med"/>
                      <a:tailEnd type="none" w="med" len="med"/>
                    </a:lnL>
                    <a:lnR w="12700" cap="flat" cmpd="sng" algn="ctr">
                      <a:solidFill>
                        <a:srgbClr val="D8D8E6"/>
                      </a:solidFill>
                      <a:prstDash val="solid"/>
                      <a:round/>
                      <a:headEnd type="none" w="med" len="med"/>
                      <a:tailEnd type="none" w="med" len="med"/>
                    </a:lnR>
                    <a:lnT w="12700" cap="flat" cmpd="sng" algn="ctr">
                      <a:solidFill>
                        <a:srgbClr val="D8D8E6"/>
                      </a:solidFill>
                      <a:prstDash val="solid"/>
                      <a:round/>
                      <a:headEnd type="none" w="med" len="med"/>
                      <a:tailEnd type="none" w="med" len="med"/>
                    </a:lnT>
                    <a:lnB w="12700" cap="flat" cmpd="sng" algn="ctr">
                      <a:solidFill>
                        <a:srgbClr val="D8D8E6"/>
                      </a:solidFill>
                      <a:prstDash val="solid"/>
                      <a:round/>
                      <a:headEnd type="none" w="med" len="med"/>
                      <a:tailEnd type="none" w="med" len="med"/>
                    </a:lnB>
                    <a:solidFill>
                      <a:srgbClr val="FFFFFF"/>
                    </a:solidFill>
                  </a:tcPr>
                </a:tc>
              </a:tr>
              <a:tr h="777240">
                <a:tc>
                  <a:txBody>
                    <a:bodyPr/>
                    <a:lstStyle/>
                    <a:p>
                      <a:pPr algn="ctr" indent="0" marL="0">
                        <a:buNone/>
                      </a:pPr>
                      <a:r>
                        <a:rPr lang="en-US" sz="1200" dirty="0">
                          <a:solidFill>
                            <a:srgbClr val="26262F"/>
                          </a:solidFill>
                          <a:latin typeface="Calibri" pitchFamily="34" charset="0"/>
                          <a:ea typeface="Calibri" pitchFamily="34" charset="-122"/>
                          <a:cs typeface="Calibri" pitchFamily="34" charset="-120"/>
                        </a:rPr>
                        <a:t>Consistent patterns across a codebase</a:t>
                      </a:r>
                      <a:endParaRPr lang="en-US" sz="1200" dirty="0">
                        <a:latin typeface="Calibri" charset="0"/>
                        <a:ea typeface="Calibri" charset="0"/>
                        <a:cs typeface="Calibri" charset="0"/>
                      </a:endParaRPr>
                    </a:p>
                  </a:txBody>
                  <a:tcPr marL="91440" marR="91440" marT="45720" marB="45720" anchor="ctr">
                    <a:lnL w="12700" cap="flat" cmpd="sng" algn="ctr">
                      <a:solidFill>
                        <a:srgbClr val="D8D8E6"/>
                      </a:solidFill>
                      <a:prstDash val="solid"/>
                      <a:round/>
                      <a:headEnd type="none" w="med" len="med"/>
                      <a:tailEnd type="none" w="med" len="med"/>
                    </a:lnL>
                    <a:lnR w="12700" cap="flat" cmpd="sng" algn="ctr">
                      <a:solidFill>
                        <a:srgbClr val="D8D8E6"/>
                      </a:solidFill>
                      <a:prstDash val="solid"/>
                      <a:round/>
                      <a:headEnd type="none" w="med" len="med"/>
                      <a:tailEnd type="none" w="med" len="med"/>
                    </a:lnR>
                    <a:lnT w="12700" cap="flat" cmpd="sng" algn="ctr">
                      <a:solidFill>
                        <a:srgbClr val="D8D8E6"/>
                      </a:solidFill>
                      <a:prstDash val="solid"/>
                      <a:round/>
                      <a:headEnd type="none" w="med" len="med"/>
                      <a:tailEnd type="none" w="med" len="med"/>
                    </a:lnT>
                    <a:lnB w="12700" cap="flat" cmpd="sng" algn="ctr">
                      <a:solidFill>
                        <a:srgbClr val="D8D8E6"/>
                      </a:solidFill>
                      <a:prstDash val="solid"/>
                      <a:round/>
                      <a:headEnd type="none" w="med" len="med"/>
                      <a:tailEnd type="none" w="med" len="med"/>
                    </a:lnB>
                    <a:solidFill>
                      <a:srgbClr val="FFFFFF"/>
                    </a:solidFill>
                  </a:tcPr>
                </a:tc>
                <a:tc>
                  <a:txBody>
                    <a:bodyPr/>
                    <a:lstStyle/>
                    <a:p>
                      <a:pPr algn="ctr" indent="0" marL="0">
                        <a:buNone/>
                      </a:pPr>
                      <a:r>
                        <a:rPr lang="en-US" sz="1200" dirty="0">
                          <a:solidFill>
                            <a:srgbClr val="26262F"/>
                          </a:solidFill>
                          <a:latin typeface="Calibri" pitchFamily="34" charset="0"/>
                          <a:ea typeface="Calibri" pitchFamily="34" charset="-122"/>
                          <a:cs typeface="Calibri" pitchFamily="34" charset="-120"/>
                        </a:rPr>
                        <a:t>Sometimes you still need raw queries the ORM doesn't expose</a:t>
                      </a:r>
                      <a:endParaRPr lang="en-US" sz="1200" dirty="0">
                        <a:latin typeface="Calibri" charset="0"/>
                        <a:ea typeface="Calibri" charset="0"/>
                        <a:cs typeface="Calibri" charset="0"/>
                      </a:endParaRPr>
                    </a:p>
                  </a:txBody>
                  <a:tcPr marL="91440" marR="91440" marT="45720" marB="45720" anchor="ctr">
                    <a:lnL w="12700" cap="flat" cmpd="sng" algn="ctr">
                      <a:solidFill>
                        <a:srgbClr val="D8D8E6"/>
                      </a:solidFill>
                      <a:prstDash val="solid"/>
                      <a:round/>
                      <a:headEnd type="none" w="med" len="med"/>
                      <a:tailEnd type="none" w="med" len="med"/>
                    </a:lnL>
                    <a:lnR w="12700" cap="flat" cmpd="sng" algn="ctr">
                      <a:solidFill>
                        <a:srgbClr val="D8D8E6"/>
                      </a:solidFill>
                      <a:prstDash val="solid"/>
                      <a:round/>
                      <a:headEnd type="none" w="med" len="med"/>
                      <a:tailEnd type="none" w="med" len="med"/>
                    </a:lnR>
                    <a:lnT w="12700" cap="flat" cmpd="sng" algn="ctr">
                      <a:solidFill>
                        <a:srgbClr val="D8D8E6"/>
                      </a:solidFill>
                      <a:prstDash val="solid"/>
                      <a:round/>
                      <a:headEnd type="none" w="med" len="med"/>
                      <a:tailEnd type="none" w="med" len="med"/>
                    </a:lnT>
                    <a:lnB w="12700" cap="flat" cmpd="sng" algn="ctr">
                      <a:solidFill>
                        <a:srgbClr val="D8D8E6"/>
                      </a:solidFill>
                      <a:prstDash val="solid"/>
                      <a:round/>
                      <a:headEnd type="none" w="med" len="med"/>
                      <a:tailEnd type="none" w="med" len="med"/>
                    </a:lnB>
                    <a:solidFill>
                      <a:srgbClr val="FFFFFF"/>
                    </a:solidFill>
                  </a:tcPr>
                </a:tc>
              </a:tr>
            </a:tbl>
          </a:graphicData>
        </a:graphic>
      </p:graphicFrame>
      <p:sp>
        <p:nvSpPr>
          <p:cNvPr id="29" name="cuinotes-footer-mark"/>
          <p:cNvSpPr txBox="1"/>
          <p:nvPr/>
        </p:nvSpPr>
        <p:spPr>
          <a:xfrm>
            <a:off x="9951720" y="6455664"/>
            <a:ext cx="2011680" cy="292608"/>
          </a:xfrm>
          <a:prstGeom prst="rect">
            <a:avLst/>
          </a:prstGeom>
          <a:noFill/>
        </p:spPr>
        <p:txBody>
          <a:bodyPr wrap="none" lIns="0" rIns="0" tIns="0" bIns="0">
            <a:spAutoFit/>
          </a:bodyPr>
          <a:lstStyle/>
          <a:p>
            <a:pPr algn="r"/>
            <a:r>
              <a:rPr sz="1000">
                <a:solidFill>
                  <a:srgbClr val="8A939B"/>
                </a:solidFill>
                <a:hlinkClick r:id="rId3"/>
              </a:rPr>
              <a:t>cuinotes.com</a:t>
            </a:r>
            <a:r>
              <a:rPr sz="1000">
                <a:solidFill>
                  <a:srgbClr val="8A939B"/>
                </a:solidFill>
              </a:rPr>
              <a:t>  ·  27</a:t>
            </a:r>
          </a:p>
        </p:txBody>
      </p:sp>
    </p:spTree>
  </p:cSld>
  <p:clrMapOvr>
    <a:masterClrMapping/>
  </p:clrMapOvr>
</p:sld>
</file>

<file path=ppt/slides/slide28.xml><?xml version="1.0" encoding="utf-8"?>
<p:sld xmlns:a="http://schemas.openxmlformats.org/drawingml/2006/main" xmlns:r="http://schemas.openxmlformats.org/officeDocument/2006/relationships" xmlns:p="http://schemas.openxmlformats.org/presentationml/2006/main">
  <p:cSld name="Slide 28">
    <p:bg>
      <p:bgPr>
        <a:solidFill>
          <a:srgbClr val="FFFFFF"/>
        </a:solidFill>
      </p:bgPr>
    </p:bg>
    <p:spTree>
      <p:nvGrpSpPr>
        <p:cNvPr id="1" name=""/>
        <p:cNvGrpSpPr/>
        <p:nvPr/>
      </p:nvGrpSpPr>
      <p:grpSpPr>
        <a:xfrm>
          <a:off x="0" y="0"/>
          <a:ext cx="0" cy="0"/>
          <a:chOff x="0" y="0"/>
          <a:chExt cx="0" cy="0"/>
        </a:xfrm>
      </p:grpSpPr>
      <p:sp>
        <p:nvSpPr>
          <p:cNvPr id="2" name="Text 0"/>
          <p:cNvSpPr txBox="1"/>
          <p:nvPr/>
        </p:nvSpPr>
        <p:spPr>
          <a:xfrm>
            <a:off x="640080" y="457200"/>
            <a:ext cx="10058400" cy="365760"/>
          </a:xfrm>
          <a:prstGeom prst="rect">
            <a:avLst/>
          </a:prstGeom>
          <a:noFill/>
          <a:ln/>
        </p:spPr>
        <p:txBody>
          <a:bodyPr wrap="square" lIns="0" tIns="0" rIns="0" bIns="0" rtlCol="0" anchor="ctr"/>
          <a:lstStyle/>
          <a:p>
            <a:pPr algn="l" indent="0" marL="0">
              <a:buNone/>
            </a:pPr>
            <a:r>
              <a:rPr lang="en-US" sz="1300" b="1" spc="300" kern="0" dirty="0">
                <a:solidFill>
                  <a:srgbClr val="FF8A3D"/>
                </a:solidFill>
                <a:latin typeface="Calibri" pitchFamily="34" charset="0"/>
                <a:ea typeface="Calibri" pitchFamily="34" charset="-122"/>
                <a:cs typeface="Calibri" pitchFamily="34" charset="-120"/>
              </a:rPr>
              <a:t>TRADE-OFFS</a:t>
            </a:r>
            <a:endParaRPr lang="en-US" sz="1300" dirty="0"/>
          </a:p>
        </p:txBody>
      </p:sp>
      <p:sp>
        <p:nvSpPr>
          <p:cNvPr id="3" name="Text 1"/>
          <p:cNvSpPr txBox="1"/>
          <p:nvPr/>
        </p:nvSpPr>
        <p:spPr>
          <a:xfrm>
            <a:off x="640080" y="841248"/>
            <a:ext cx="10881360" cy="914400"/>
          </a:xfrm>
          <a:prstGeom prst="rect">
            <a:avLst/>
          </a:prstGeom>
          <a:noFill/>
          <a:ln/>
        </p:spPr>
        <p:txBody>
          <a:bodyPr wrap="square" lIns="0" tIns="0" rIns="0" bIns="0" rtlCol="0" anchor="ctr"/>
          <a:lstStyle/>
          <a:p>
            <a:pPr algn="l" indent="0" marL="0">
              <a:buNone/>
            </a:pPr>
            <a:r>
              <a:rPr lang="en-US" sz="3400" b="1" dirty="0">
                <a:solidFill>
                  <a:srgbClr val="2B2B7A"/>
                </a:solidFill>
                <a:latin typeface="Cambria" pitchFamily="34" charset="0"/>
                <a:ea typeface="Cambria" pitchFamily="34" charset="-122"/>
                <a:cs typeface="Cambria" pitchFamily="34" charset="-120"/>
              </a:rPr>
              <a:t>You Don't Have to Pick One Approach</a:t>
            </a:r>
            <a:endParaRPr lang="en-US" sz="3400" dirty="0"/>
          </a:p>
        </p:txBody>
      </p:sp>
      <p:sp>
        <p:nvSpPr>
          <p:cNvPr id="4" name="Shape 2"/>
          <p:cNvSpPr/>
          <p:nvPr/>
        </p:nvSpPr>
        <p:spPr>
          <a:xfrm>
            <a:off x="640080" y="1965960"/>
            <a:ext cx="10911535" cy="3657600"/>
          </a:xfrm>
          <a:prstGeom prst="roundRect">
            <a:avLst>
              <a:gd name="adj" fmla="val 3158"/>
            </a:avLst>
          </a:prstGeom>
          <a:solidFill>
            <a:srgbClr val="E6F6EE"/>
          </a:solidFill>
          <a:ln w="12700">
            <a:solidFill>
              <a:srgbClr val="3FA66B"/>
            </a:solidFill>
            <a:prstDash val="solid"/>
          </a:ln>
        </p:spPr>
        <p:txBody>
          <a:bodyPr/>
          <a:p/>
        </p:txBody>
      </p:sp>
      <p:sp>
        <p:nvSpPr>
          <p:cNvPr id="5" name="Text 3"/>
          <p:cNvSpPr txBox="1"/>
          <p:nvPr/>
        </p:nvSpPr>
        <p:spPr>
          <a:xfrm>
            <a:off x="868680" y="2103120"/>
            <a:ext cx="10454335" cy="400000"/>
          </a:xfrm>
          <a:prstGeom prst="rect">
            <a:avLst/>
          </a:prstGeom>
          <a:noFill/>
          <a:ln/>
        </p:spPr>
        <p:txBody>
          <a:bodyPr wrap="square" lIns="0" tIns="0" rIns="0" bIns="0" rtlCol="0" anchor="ctr"/>
          <a:lstStyle/>
          <a:p>
            <a:pPr indent="0" marL="0">
              <a:buNone/>
            </a:pPr>
            <a:r>
              <a:rPr lang="en-US" sz="1800" b="1" spc="200" kern="0" dirty="0">
                <a:solidFill>
                  <a:srgbClr val="1F7A46"/>
                </a:solidFill>
                <a:latin typeface="Calibri" pitchFamily="34" charset="0"/>
                <a:ea typeface="Calibri" pitchFamily="34" charset="-122"/>
                <a:cs typeface="Calibri" pitchFamily="34" charset="-120"/>
              </a:rPr>
              <a:t>TIP</a:t>
            </a:r>
            <a:endParaRPr lang="en-US" sz="1800" dirty="0"/>
          </a:p>
        </p:txBody>
      </p:sp>
      <p:sp>
        <p:nvSpPr>
          <p:cNvPr id="6" name="Text 4"/>
          <p:cNvSpPr txBox="1"/>
          <p:nvPr/>
        </p:nvSpPr>
        <p:spPr>
          <a:xfrm>
            <a:off x="868680" y="2795960"/>
            <a:ext cx="10454335" cy="2500000"/>
          </a:xfrm>
          <a:prstGeom prst="rect">
            <a:avLst/>
          </a:prstGeom>
          <a:noFill/>
          <a:ln/>
        </p:spPr>
        <p:txBody>
          <a:bodyPr wrap="square" lIns="0" tIns="0" rIns="0" bIns="0" rtlCol="0" anchor="ctr"/>
          <a:lstStyle/>
          <a:p>
            <a:pPr indent="0" marL="0">
              <a:buNone/>
            </a:pPr>
            <a:r>
              <a:rPr lang="en-US" sz="2800" dirty="0">
                <a:solidFill>
                  <a:srgbClr val="26262F"/>
                </a:solidFill>
                <a:latin typeface="Calibri" pitchFamily="34" charset="0"/>
                <a:ea typeface="Calibri" pitchFamily="34" charset="-122"/>
                <a:cs typeface="Calibri" pitchFamily="34" charset="-120"/>
              </a:rPr>
              <a:t>Most ORMs/ODMs, including Mongoose, let you drop to raw queries when you need to (.aggregate() for MongoDB's pipeline, for example). Use the ORM for everyday CRUD and drop to raw queries for the rare complex case.</a:t>
            </a:r>
            <a:endParaRPr lang="en-US" sz="2800" dirty="0"/>
          </a:p>
        </p:txBody>
      </p:sp>
      <p:sp>
        <p:nvSpPr>
          <p:cNvPr id="9" name="cuinotes-footer-mark"/>
          <p:cNvSpPr txBox="1"/>
          <p:nvPr/>
        </p:nvSpPr>
        <p:spPr>
          <a:xfrm>
            <a:off x="9951720" y="6455664"/>
            <a:ext cx="2011680" cy="292608"/>
          </a:xfrm>
          <a:prstGeom prst="rect">
            <a:avLst/>
          </a:prstGeom>
          <a:noFill/>
        </p:spPr>
        <p:txBody>
          <a:bodyPr wrap="none" lIns="0" rIns="0" tIns="0" bIns="0">
            <a:spAutoFit/>
          </a:bodyPr>
          <a:lstStyle/>
          <a:p>
            <a:pPr algn="r"/>
            <a:r>
              <a:rPr sz="1000">
                <a:solidFill>
                  <a:srgbClr val="8A939B"/>
                </a:solidFill>
                <a:hlinkClick r:id="rId3"/>
              </a:rPr>
              <a:t>cuinotes.com</a:t>
            </a:r>
            <a:r>
              <a:rPr sz="1000">
                <a:solidFill>
                  <a:srgbClr val="8A939B"/>
                </a:solidFill>
              </a:rPr>
              <a:t>  ·  28</a:t>
            </a:r>
          </a:p>
        </p:txBody>
      </p:sp>
    </p:spTree>
  </p:cSld>
  <p:clrMapOvr>
    <a:masterClrMapping/>
  </p:clrMapOvr>
</p:sld>
</file>

<file path=ppt/slides/slide29.xml><?xml version="1.0" encoding="utf-8"?>
<p:sld xmlns:a="http://schemas.openxmlformats.org/drawingml/2006/main" xmlns:r="http://schemas.openxmlformats.org/officeDocument/2006/relationships" xmlns:p="http://schemas.openxmlformats.org/presentationml/2006/main">
  <p:cSld name="Slide 29">
    <p:bg>
      <p:bgPr>
        <a:solidFill>
          <a:srgbClr val="2B2B7A"/>
        </a:solidFill>
      </p:bgPr>
    </p:bg>
    <p:spTree>
      <p:nvGrpSpPr>
        <p:cNvPr id="1" name=""/>
        <p:cNvGrpSpPr/>
        <p:nvPr/>
      </p:nvGrpSpPr>
      <p:grpSpPr>
        <a:xfrm>
          <a:off x="0" y="0"/>
          <a:ext cx="0" cy="0"/>
          <a:chOff x="0" y="0"/>
          <a:chExt cx="0" cy="0"/>
        </a:xfrm>
      </p:grpSpPr>
      <p:sp>
        <p:nvSpPr>
          <p:cNvPr id="2" name="Text 0"/>
          <p:cNvSpPr txBox="1"/>
          <p:nvPr/>
        </p:nvSpPr>
        <p:spPr>
          <a:xfrm>
            <a:off x="822960" y="731520"/>
            <a:ext cx="9144000" cy="457200"/>
          </a:xfrm>
          <a:prstGeom prst="rect">
            <a:avLst/>
          </a:prstGeom>
          <a:noFill/>
          <a:ln/>
        </p:spPr>
        <p:txBody>
          <a:bodyPr wrap="square" lIns="0" tIns="0" rIns="0" bIns="0" rtlCol="0" anchor="ctr"/>
          <a:lstStyle/>
          <a:p>
            <a:pPr indent="0" marL="0">
              <a:buNone/>
            </a:pPr>
            <a:r>
              <a:rPr lang="en-US" sz="1500" b="1" spc="400" kern="0" dirty="0">
                <a:solidFill>
                  <a:srgbClr val="FF8A3D"/>
                </a:solidFill>
                <a:latin typeface="Calibri" pitchFamily="34" charset="0"/>
                <a:ea typeface="Calibri" pitchFamily="34" charset="-122"/>
                <a:cs typeface="Calibri" pitchFamily="34" charset="-120"/>
              </a:rPr>
              <a:t>KEY TAKEAWAYS</a:t>
            </a:r>
            <a:endParaRPr lang="en-US" sz="1500" dirty="0"/>
          </a:p>
        </p:txBody>
      </p:sp>
      <p:sp>
        <p:nvSpPr>
          <p:cNvPr id="3" name="Text 1"/>
          <p:cNvSpPr txBox="1"/>
          <p:nvPr/>
        </p:nvSpPr>
        <p:spPr>
          <a:xfrm>
            <a:off x="777240" y="1188720"/>
            <a:ext cx="10515600" cy="822960"/>
          </a:xfrm>
          <a:prstGeom prst="rect">
            <a:avLst/>
          </a:prstGeom>
          <a:noFill/>
          <a:ln/>
        </p:spPr>
        <p:txBody>
          <a:bodyPr wrap="square" lIns="0" tIns="0" rIns="0" bIns="0" rtlCol="0" anchor="ctr"/>
          <a:lstStyle/>
          <a:p>
            <a:pPr indent="0" marL="0">
              <a:buNone/>
            </a:pPr>
            <a:r>
              <a:rPr lang="en-US" sz="3400" b="1" dirty="0">
                <a:solidFill>
                  <a:srgbClr val="FFFFFF"/>
                </a:solidFill>
                <a:latin typeface="Cambria" pitchFamily="34" charset="0"/>
                <a:ea typeface="Cambria" pitchFamily="34" charset="-122"/>
                <a:cs typeface="Cambria" pitchFamily="34" charset="-120"/>
              </a:rPr>
              <a:t>Lecture 23 in Six Points</a:t>
            </a:r>
            <a:endParaRPr lang="en-US" sz="3400" dirty="0"/>
          </a:p>
        </p:txBody>
      </p:sp>
      <p:sp>
        <p:nvSpPr>
          <p:cNvPr id="4" name="Shape 2"/>
          <p:cNvSpPr/>
          <p:nvPr/>
        </p:nvSpPr>
        <p:spPr>
          <a:xfrm>
            <a:off x="822960" y="2286000"/>
            <a:ext cx="438912" cy="438912"/>
          </a:xfrm>
          <a:prstGeom prst="ellipse">
            <a:avLst/>
          </a:prstGeom>
          <a:solidFill>
            <a:srgbClr val="FF8A3D"/>
          </a:solidFill>
          <a:ln/>
        </p:spPr>
        <p:txBody>
          <a:bodyPr/>
          <a:p/>
        </p:txBody>
      </p:sp>
      <p:sp>
        <p:nvSpPr>
          <p:cNvPr id="5" name="Text 3"/>
          <p:cNvSpPr txBox="1"/>
          <p:nvPr/>
        </p:nvSpPr>
        <p:spPr>
          <a:xfrm>
            <a:off x="822960" y="2286000"/>
            <a:ext cx="438912" cy="438912"/>
          </a:xfrm>
          <a:prstGeom prst="rect">
            <a:avLst/>
          </a:prstGeom>
          <a:noFill/>
          <a:ln/>
        </p:spPr>
        <p:txBody>
          <a:bodyPr wrap="square" lIns="0" tIns="0" rIns="0" bIns="0" rtlCol="0" anchor="ctr"/>
          <a:lstStyle/>
          <a:p>
            <a:pPr algn="ctr" indent="0" marL="0">
              <a:buNone/>
            </a:pPr>
            <a:r>
              <a:rPr lang="en-US" sz="1500" b="1" dirty="0">
                <a:solidFill>
                  <a:srgbClr val="FFFFFF"/>
                </a:solidFill>
                <a:latin typeface="Calibri" pitchFamily="34" charset="0"/>
                <a:ea typeface="Calibri" pitchFamily="34" charset="-122"/>
                <a:cs typeface="Calibri" pitchFamily="34" charset="-120"/>
              </a:rPr>
              <a:t>1</a:t>
            </a:r>
            <a:endParaRPr lang="en-US" sz="1500" dirty="0"/>
          </a:p>
        </p:txBody>
      </p:sp>
      <p:sp>
        <p:nvSpPr>
          <p:cNvPr id="6" name="Text 4"/>
          <p:cNvSpPr txBox="1"/>
          <p:nvPr/>
        </p:nvSpPr>
        <p:spPr>
          <a:xfrm>
            <a:off x="1463040" y="2194560"/>
            <a:ext cx="10058400" cy="624840"/>
          </a:xfrm>
          <a:prstGeom prst="rect">
            <a:avLst/>
          </a:prstGeom>
          <a:noFill/>
          <a:ln/>
        </p:spPr>
        <p:txBody>
          <a:bodyPr wrap="square" lIns="0" tIns="0" rIns="0" bIns="0" rtlCol="0" anchor="ctr"/>
          <a:lstStyle/>
          <a:p>
            <a:pPr indent="0" marL="0">
              <a:buNone/>
            </a:pPr>
            <a:r>
              <a:rPr lang="en-US" sz="1250" dirty="0">
                <a:solidFill>
                  <a:srgbClr val="C9D3F5"/>
                </a:solidFill>
                <a:latin typeface="Calibri" pitchFamily="34" charset="0"/>
                <a:ea typeface="Calibri" pitchFamily="34" charset="-122"/>
                <a:cs typeface="Calibri" pitchFamily="34" charset="-120"/>
              </a:rPr>
              <a:t>An ORM (relational) or ODM (document, e.g. Mongoose) maps your database's data onto objects and methods, cutting repetitive query-writing.</a:t>
            </a:r>
            <a:endParaRPr lang="en-US" sz="1250" dirty="0"/>
          </a:p>
        </p:txBody>
      </p:sp>
      <p:sp>
        <p:nvSpPr>
          <p:cNvPr id="7" name="Shape 5"/>
          <p:cNvSpPr/>
          <p:nvPr/>
        </p:nvSpPr>
        <p:spPr>
          <a:xfrm>
            <a:off x="822960" y="2956560"/>
            <a:ext cx="438912" cy="438912"/>
          </a:xfrm>
          <a:prstGeom prst="ellipse">
            <a:avLst/>
          </a:prstGeom>
          <a:solidFill>
            <a:srgbClr val="FF8A3D"/>
          </a:solidFill>
          <a:ln/>
        </p:spPr>
        <p:txBody>
          <a:bodyPr/>
          <a:p/>
        </p:txBody>
      </p:sp>
      <p:sp>
        <p:nvSpPr>
          <p:cNvPr id="8" name="Text 6"/>
          <p:cNvSpPr txBox="1"/>
          <p:nvPr/>
        </p:nvSpPr>
        <p:spPr>
          <a:xfrm>
            <a:off x="822960" y="2956560"/>
            <a:ext cx="438912" cy="438912"/>
          </a:xfrm>
          <a:prstGeom prst="rect">
            <a:avLst/>
          </a:prstGeom>
          <a:noFill/>
          <a:ln/>
        </p:spPr>
        <p:txBody>
          <a:bodyPr wrap="square" lIns="0" tIns="0" rIns="0" bIns="0" rtlCol="0" anchor="ctr"/>
          <a:lstStyle/>
          <a:p>
            <a:pPr algn="ctr" indent="0" marL="0">
              <a:buNone/>
            </a:pPr>
            <a:r>
              <a:rPr lang="en-US" sz="1500" b="1" dirty="0">
                <a:solidFill>
                  <a:srgbClr val="FFFFFF"/>
                </a:solidFill>
                <a:latin typeface="Calibri" pitchFamily="34" charset="0"/>
                <a:ea typeface="Calibri" pitchFamily="34" charset="-122"/>
                <a:cs typeface="Calibri" pitchFamily="34" charset="-120"/>
              </a:rPr>
              <a:t>2</a:t>
            </a:r>
            <a:endParaRPr lang="en-US" sz="1500" dirty="0"/>
          </a:p>
        </p:txBody>
      </p:sp>
      <p:sp>
        <p:nvSpPr>
          <p:cNvPr id="9" name="Text 7"/>
          <p:cNvSpPr txBox="1"/>
          <p:nvPr/>
        </p:nvSpPr>
        <p:spPr>
          <a:xfrm>
            <a:off x="1463040" y="2865120"/>
            <a:ext cx="10058400" cy="624840"/>
          </a:xfrm>
          <a:prstGeom prst="rect">
            <a:avLst/>
          </a:prstGeom>
          <a:noFill/>
          <a:ln/>
        </p:spPr>
        <p:txBody>
          <a:bodyPr wrap="square" lIns="0" tIns="0" rIns="0" bIns="0" rtlCol="0" anchor="ctr"/>
          <a:lstStyle/>
          <a:p>
            <a:pPr indent="0" marL="0">
              <a:buNone/>
            </a:pPr>
            <a:r>
              <a:rPr lang="en-US" sz="1250" dirty="0">
                <a:solidFill>
                  <a:srgbClr val="C9D3F5"/>
                </a:solidFill>
                <a:latin typeface="Calibri" pitchFamily="34" charset="0"/>
                <a:ea typeface="Calibri" pitchFamily="34" charset="-122"/>
                <a:cs typeface="Calibri" pitchFamily="34" charset="-120"/>
              </a:rPr>
              <a:t>Mongoose schemas define fields, data types, validation rules, and defaults; a model compiled from a schema is what you actually query with.</a:t>
            </a:r>
            <a:endParaRPr lang="en-US" sz="1250" dirty="0"/>
          </a:p>
        </p:txBody>
      </p:sp>
      <p:sp>
        <p:nvSpPr>
          <p:cNvPr id="10" name="Shape 8"/>
          <p:cNvSpPr/>
          <p:nvPr/>
        </p:nvSpPr>
        <p:spPr>
          <a:xfrm>
            <a:off x="822960" y="3627120"/>
            <a:ext cx="438912" cy="438912"/>
          </a:xfrm>
          <a:prstGeom prst="ellipse">
            <a:avLst/>
          </a:prstGeom>
          <a:solidFill>
            <a:srgbClr val="FF8A3D"/>
          </a:solidFill>
          <a:ln/>
        </p:spPr>
        <p:txBody>
          <a:bodyPr/>
          <a:p/>
        </p:txBody>
      </p:sp>
      <p:sp>
        <p:nvSpPr>
          <p:cNvPr id="11" name="Text 9"/>
          <p:cNvSpPr txBox="1"/>
          <p:nvPr/>
        </p:nvSpPr>
        <p:spPr>
          <a:xfrm>
            <a:off x="822960" y="3627120"/>
            <a:ext cx="438912" cy="438912"/>
          </a:xfrm>
          <a:prstGeom prst="rect">
            <a:avLst/>
          </a:prstGeom>
          <a:noFill/>
          <a:ln/>
        </p:spPr>
        <p:txBody>
          <a:bodyPr wrap="square" lIns="0" tIns="0" rIns="0" bIns="0" rtlCol="0" anchor="ctr"/>
          <a:lstStyle/>
          <a:p>
            <a:pPr algn="ctr" indent="0" marL="0">
              <a:buNone/>
            </a:pPr>
            <a:r>
              <a:rPr lang="en-US" sz="1500" b="1" dirty="0">
                <a:solidFill>
                  <a:srgbClr val="FFFFFF"/>
                </a:solidFill>
                <a:latin typeface="Calibri" pitchFamily="34" charset="0"/>
                <a:ea typeface="Calibri" pitchFamily="34" charset="-122"/>
                <a:cs typeface="Calibri" pitchFamily="34" charset="-120"/>
              </a:rPr>
              <a:t>3</a:t>
            </a:r>
            <a:endParaRPr lang="en-US" sz="1500" dirty="0"/>
          </a:p>
        </p:txBody>
      </p:sp>
      <p:sp>
        <p:nvSpPr>
          <p:cNvPr id="12" name="Text 10"/>
          <p:cNvSpPr txBox="1"/>
          <p:nvPr/>
        </p:nvSpPr>
        <p:spPr>
          <a:xfrm>
            <a:off x="1463040" y="3535680"/>
            <a:ext cx="10058400" cy="624840"/>
          </a:xfrm>
          <a:prstGeom prst="rect">
            <a:avLst/>
          </a:prstGeom>
          <a:noFill/>
          <a:ln/>
        </p:spPr>
        <p:txBody>
          <a:bodyPr wrap="square" lIns="0" tIns="0" rIns="0" bIns="0" rtlCol="0" anchor="ctr"/>
          <a:lstStyle/>
          <a:p>
            <a:pPr indent="0" marL="0">
              <a:buNone/>
            </a:pPr>
            <a:r>
              <a:rPr lang="en-US" sz="1250" dirty="0">
                <a:solidFill>
                  <a:srgbClr val="C9D3F5"/>
                </a:solidFill>
                <a:latin typeface="Calibri" pitchFamily="34" charset="0"/>
                <a:ea typeface="Calibri" pitchFamily="34" charset="-122"/>
                <a:cs typeface="Calibri" pitchFamily="34" charset="-120"/>
              </a:rPr>
              <a:t>CRUD through Mongoose uses create, find, findByIdAndUpdate, and findByIdAndDelete, plus filtering, projection, and pagination.</a:t>
            </a:r>
            <a:endParaRPr lang="en-US" sz="1250" dirty="0"/>
          </a:p>
        </p:txBody>
      </p:sp>
      <p:sp>
        <p:nvSpPr>
          <p:cNvPr id="13" name="Shape 11"/>
          <p:cNvSpPr/>
          <p:nvPr/>
        </p:nvSpPr>
        <p:spPr>
          <a:xfrm>
            <a:off x="822960" y="4297680"/>
            <a:ext cx="438912" cy="438912"/>
          </a:xfrm>
          <a:prstGeom prst="ellipse">
            <a:avLst/>
          </a:prstGeom>
          <a:solidFill>
            <a:srgbClr val="FF8A3D"/>
          </a:solidFill>
          <a:ln/>
        </p:spPr>
        <p:txBody>
          <a:bodyPr/>
          <a:p/>
        </p:txBody>
      </p:sp>
      <p:sp>
        <p:nvSpPr>
          <p:cNvPr id="14" name="Text 12"/>
          <p:cNvSpPr txBox="1"/>
          <p:nvPr/>
        </p:nvSpPr>
        <p:spPr>
          <a:xfrm>
            <a:off x="822960" y="4297680"/>
            <a:ext cx="438912" cy="438912"/>
          </a:xfrm>
          <a:prstGeom prst="rect">
            <a:avLst/>
          </a:prstGeom>
          <a:noFill/>
          <a:ln/>
        </p:spPr>
        <p:txBody>
          <a:bodyPr wrap="square" lIns="0" tIns="0" rIns="0" bIns="0" rtlCol="0" anchor="ctr"/>
          <a:lstStyle/>
          <a:p>
            <a:pPr algn="ctr" indent="0" marL="0">
              <a:buNone/>
            </a:pPr>
            <a:r>
              <a:rPr lang="en-US" sz="1500" b="1" dirty="0">
                <a:solidFill>
                  <a:srgbClr val="FFFFFF"/>
                </a:solidFill>
                <a:latin typeface="Calibri" pitchFamily="34" charset="0"/>
                <a:ea typeface="Calibri" pitchFamily="34" charset="-122"/>
                <a:cs typeface="Calibri" pitchFamily="34" charset="-120"/>
              </a:rPr>
              <a:t>4</a:t>
            </a:r>
            <a:endParaRPr lang="en-US" sz="1500" dirty="0"/>
          </a:p>
        </p:txBody>
      </p:sp>
      <p:sp>
        <p:nvSpPr>
          <p:cNvPr id="15" name="Text 13"/>
          <p:cNvSpPr txBox="1"/>
          <p:nvPr/>
        </p:nvSpPr>
        <p:spPr>
          <a:xfrm>
            <a:off x="1463040" y="4206240"/>
            <a:ext cx="10058400" cy="624840"/>
          </a:xfrm>
          <a:prstGeom prst="rect">
            <a:avLst/>
          </a:prstGeom>
          <a:noFill/>
          <a:ln/>
        </p:spPr>
        <p:txBody>
          <a:bodyPr wrap="square" lIns="0" tIns="0" rIns="0" bIns="0" rtlCol="0" anchor="ctr"/>
          <a:lstStyle/>
          <a:p>
            <a:pPr indent="0" marL="0">
              <a:buNone/>
            </a:pPr>
            <a:r>
              <a:rPr lang="en-US" sz="1250" dirty="0">
                <a:solidFill>
                  <a:srgbClr val="C9D3F5"/>
                </a:solidFill>
                <a:latin typeface="Calibri" pitchFamily="34" charset="0"/>
                <a:ea typeface="Calibri" pitchFamily="34" charset="-122"/>
                <a:cs typeface="Calibri" pitchFamily="34" charset="-120"/>
              </a:rPr>
              <a:t>Population (.populate()) resolves a referenced ObjectId into the full related document — Mongoose's answer to SQL joins.</a:t>
            </a:r>
            <a:endParaRPr lang="en-US" sz="1250" dirty="0"/>
          </a:p>
        </p:txBody>
      </p:sp>
      <p:sp>
        <p:nvSpPr>
          <p:cNvPr id="16" name="Shape 14"/>
          <p:cNvSpPr/>
          <p:nvPr/>
        </p:nvSpPr>
        <p:spPr>
          <a:xfrm>
            <a:off x="822960" y="4968240"/>
            <a:ext cx="438912" cy="438912"/>
          </a:xfrm>
          <a:prstGeom prst="ellipse">
            <a:avLst/>
          </a:prstGeom>
          <a:solidFill>
            <a:srgbClr val="FF8A3D"/>
          </a:solidFill>
          <a:ln/>
        </p:spPr>
        <p:txBody>
          <a:bodyPr/>
          <a:p/>
        </p:txBody>
      </p:sp>
      <p:sp>
        <p:nvSpPr>
          <p:cNvPr id="17" name="Text 15"/>
          <p:cNvSpPr txBox="1"/>
          <p:nvPr/>
        </p:nvSpPr>
        <p:spPr>
          <a:xfrm>
            <a:off x="822960" y="4968240"/>
            <a:ext cx="438912" cy="438912"/>
          </a:xfrm>
          <a:prstGeom prst="rect">
            <a:avLst/>
          </a:prstGeom>
          <a:noFill/>
          <a:ln/>
        </p:spPr>
        <p:txBody>
          <a:bodyPr wrap="square" lIns="0" tIns="0" rIns="0" bIns="0" rtlCol="0" anchor="ctr"/>
          <a:lstStyle/>
          <a:p>
            <a:pPr algn="ctr" indent="0" marL="0">
              <a:buNone/>
            </a:pPr>
            <a:r>
              <a:rPr lang="en-US" sz="1500" b="1" dirty="0">
                <a:solidFill>
                  <a:srgbClr val="FFFFFF"/>
                </a:solidFill>
                <a:latin typeface="Calibri" pitchFamily="34" charset="0"/>
                <a:ea typeface="Calibri" pitchFamily="34" charset="-122"/>
                <a:cs typeface="Calibri" pitchFamily="34" charset="-120"/>
              </a:rPr>
              <a:t>5</a:t>
            </a:r>
            <a:endParaRPr lang="en-US" sz="1500" dirty="0"/>
          </a:p>
        </p:txBody>
      </p:sp>
      <p:sp>
        <p:nvSpPr>
          <p:cNvPr id="18" name="Text 16"/>
          <p:cNvSpPr txBox="1"/>
          <p:nvPr/>
        </p:nvSpPr>
        <p:spPr>
          <a:xfrm>
            <a:off x="1463040" y="4876800"/>
            <a:ext cx="10058400" cy="624840"/>
          </a:xfrm>
          <a:prstGeom prst="rect">
            <a:avLst/>
          </a:prstGeom>
          <a:noFill/>
          <a:ln/>
        </p:spPr>
        <p:txBody>
          <a:bodyPr wrap="square" lIns="0" tIns="0" rIns="0" bIns="0" rtlCol="0" anchor="ctr"/>
          <a:lstStyle/>
          <a:p>
            <a:pPr indent="0" marL="0">
              <a:buNone/>
            </a:pPr>
            <a:r>
              <a:rPr lang="en-US" sz="1250" dirty="0">
                <a:solidFill>
                  <a:srgbClr val="C9D3F5"/>
                </a:solidFill>
                <a:latin typeface="Calibri" pitchFamily="34" charset="0"/>
                <a:ea typeface="Calibri" pitchFamily="34" charset="-122"/>
                <a:cs typeface="Calibri" pitchFamily="34" charset="-120"/>
              </a:rPr>
              <a:t>Migrations version your database structure over time (central to SQL ORMs like Sequelize); seeding loads initial or sample data.</a:t>
            </a:r>
            <a:endParaRPr lang="en-US" sz="1250" dirty="0"/>
          </a:p>
        </p:txBody>
      </p:sp>
      <p:sp>
        <p:nvSpPr>
          <p:cNvPr id="19" name="Shape 17"/>
          <p:cNvSpPr/>
          <p:nvPr/>
        </p:nvSpPr>
        <p:spPr>
          <a:xfrm>
            <a:off x="822960" y="5638800"/>
            <a:ext cx="438912" cy="438912"/>
          </a:xfrm>
          <a:prstGeom prst="ellipse">
            <a:avLst/>
          </a:prstGeom>
          <a:solidFill>
            <a:srgbClr val="FF8A3D"/>
          </a:solidFill>
          <a:ln/>
        </p:spPr>
        <p:txBody>
          <a:bodyPr/>
          <a:p/>
        </p:txBody>
      </p:sp>
      <p:sp>
        <p:nvSpPr>
          <p:cNvPr id="20" name="Text 18"/>
          <p:cNvSpPr txBox="1"/>
          <p:nvPr/>
        </p:nvSpPr>
        <p:spPr>
          <a:xfrm>
            <a:off x="822960" y="5638800"/>
            <a:ext cx="438912" cy="438912"/>
          </a:xfrm>
          <a:prstGeom prst="rect">
            <a:avLst/>
          </a:prstGeom>
          <a:noFill/>
          <a:ln/>
        </p:spPr>
        <p:txBody>
          <a:bodyPr wrap="square" lIns="0" tIns="0" rIns="0" bIns="0" rtlCol="0" anchor="ctr"/>
          <a:lstStyle/>
          <a:p>
            <a:pPr algn="ctr" indent="0" marL="0">
              <a:buNone/>
            </a:pPr>
            <a:r>
              <a:rPr lang="en-US" sz="1500" b="1" dirty="0">
                <a:solidFill>
                  <a:srgbClr val="FFFFFF"/>
                </a:solidFill>
                <a:latin typeface="Calibri" pitchFamily="34" charset="0"/>
                <a:ea typeface="Calibri" pitchFamily="34" charset="-122"/>
                <a:cs typeface="Calibri" pitchFamily="34" charset="-120"/>
              </a:rPr>
              <a:t>6</a:t>
            </a:r>
            <a:endParaRPr lang="en-US" sz="1500" dirty="0"/>
          </a:p>
        </p:txBody>
      </p:sp>
      <p:sp>
        <p:nvSpPr>
          <p:cNvPr id="21" name="Text 19"/>
          <p:cNvSpPr txBox="1"/>
          <p:nvPr/>
        </p:nvSpPr>
        <p:spPr>
          <a:xfrm>
            <a:off x="1463040" y="5547360"/>
            <a:ext cx="10058400" cy="624840"/>
          </a:xfrm>
          <a:prstGeom prst="rect">
            <a:avLst/>
          </a:prstGeom>
          <a:noFill/>
          <a:ln/>
        </p:spPr>
        <p:txBody>
          <a:bodyPr wrap="square" lIns="0" tIns="0" rIns="0" bIns="0" rtlCol="0" anchor="ctr"/>
          <a:lstStyle/>
          <a:p>
            <a:pPr indent="0" marL="0">
              <a:buNone/>
            </a:pPr>
            <a:r>
              <a:rPr lang="en-US" sz="1250" dirty="0">
                <a:solidFill>
                  <a:srgbClr val="C9D3F5"/>
                </a:solidFill>
                <a:latin typeface="Calibri" pitchFamily="34" charset="0"/>
                <a:ea typeface="Calibri" pitchFamily="34" charset="-122"/>
                <a:cs typeface="Calibri" pitchFamily="34" charset="-120"/>
              </a:rPr>
              <a:t>ORMs/ODMs trade some control and query efficiency for convenience, validation, and consistency — and you can still write raw queries when needed.</a:t>
            </a:r>
            <a:endParaRPr lang="en-US" sz="1250" dirty="0"/>
          </a:p>
        </p:txBody>
      </p:sp>
      <p:sp>
        <p:nvSpPr>
          <p:cNvPr id="24" name="cuinotes-footer-mark"/>
          <p:cNvSpPr txBox="1"/>
          <p:nvPr/>
        </p:nvSpPr>
        <p:spPr>
          <a:xfrm>
            <a:off x="9951720" y="6455664"/>
            <a:ext cx="2011680" cy="292608"/>
          </a:xfrm>
          <a:prstGeom prst="rect">
            <a:avLst/>
          </a:prstGeom>
          <a:noFill/>
        </p:spPr>
        <p:txBody>
          <a:bodyPr wrap="none" lIns="0" rIns="0" tIns="0" bIns="0">
            <a:spAutoFit/>
          </a:bodyPr>
          <a:lstStyle/>
          <a:p>
            <a:pPr algn="r"/>
            <a:r>
              <a:rPr sz="1000">
                <a:solidFill>
                  <a:srgbClr val="8A939B"/>
                </a:solidFill>
                <a:hlinkClick r:id="rId3"/>
              </a:rPr>
              <a:t>cuinotes.com</a:t>
            </a:r>
            <a:r>
              <a:rPr sz="1000">
                <a:solidFill>
                  <a:srgbClr val="8A939B"/>
                </a:solidFill>
              </a:rPr>
              <a:t>  ·  29</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0</Words>
  <Application>Microsoft Office PowerPoint</Application>
  <PresentationFormat>On-screen Show (16:9)</PresentationFormat>
  <Paragraphs>0</Paragraphs>
  <Slides>29</Slides>
  <Notes>29</Notes>
  <HiddenSlides>0</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29</vt:i4>
      </vt:variant>
    </vt:vector>
  </HeadingPairs>
  <TitlesOfParts>
    <vt:vector size="32" baseType="lpstr">
      <vt:lpstr>Arial</vt:lpstr>
      <vt:lpstr>Calibri</vt:lpstr>
      <vt:lpstr>Office Theme</vt:lpstr>
      <vt:lpstr>Slide 1</vt:lpstr>
      <vt:lpstr>Slide 2</vt:lpstr>
      <vt:lpstr>Slide 3</vt:lpstr>
      <vt:lpstr>Slide 4</vt:lpstr>
      <vt:lpstr>Slide 5</vt:lpstr>
      <vt:lpstr>Slide 6</vt:lpstr>
      <vt:lpstr>Slide 7</vt:lpstr>
      <vt:lpstr>Slide 8</vt:lpstr>
      <vt:lpstr>Slide 9</vt:lpstr>
      <vt:lpstr>Slide 10</vt:lpstr>
      <vt:lpstr>Slide 11</vt:lpstr>
      <vt:lpstr>Slide 12</vt:lpstr>
      <vt:lpstr>Slide 13</vt:lpstr>
      <vt:lpstr>Slide 14</vt:lpstr>
      <vt:lpstr>Slide 15</vt:lpstr>
      <vt:lpstr>Slide 16</vt:lpstr>
      <vt:lpstr>Slide 17</vt:lpstr>
      <vt:lpstr>Slide 18</vt:lpstr>
      <vt:lpstr>Slide 19</vt:lpstr>
      <vt:lpstr>Slide 20</vt:lpstr>
      <vt:lpstr>Slide 21</vt:lpstr>
      <vt:lpstr>Slide 22</vt:lpstr>
      <vt:lpstr>Slide 23</vt:lpstr>
      <vt:lpstr>Slide 24</vt:lpstr>
      <vt:lpstr>Slide 25</vt:lpstr>
      <vt:lpstr>Slide 26</vt:lpstr>
      <vt:lpstr>Slide 27</vt:lpstr>
      <vt:lpstr>Slide 28</vt:lpstr>
      <vt:lpstr>Slide 29</vt:lpstr>
    </vt:vector>
  </TitlesOfParts>
  <Company>COMSATS University Islamabad</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Lecture 23: Object Relational Mapping (ORM / ODM)</dc:title>
  <dc:subject>CSC336 Web Technologies</dc:subject>
  <dc:creator>Usman Akram</dc:creator>
  <cp:lastModifiedBy>Usman Akram</cp:lastModifiedBy>
  <cp:revision>1</cp:revision>
  <dcterms:created xsi:type="dcterms:W3CDTF">2026-09-22T05:49:18Z</dcterms:created>
  <dcterms:modified xsi:type="dcterms:W3CDTF">2026-09-22T05:49:18Z</dcterms:modified>
</cp:coreProperties>
</file>
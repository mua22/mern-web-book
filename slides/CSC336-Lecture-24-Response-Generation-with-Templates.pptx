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inotes.com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uinotes.com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uinotes.co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uinotes.com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uinotes.co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uinotes.com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4" Type="http://schemas.openxmlformats.org/officeDocument/2006/relationships/hyperlink" Target="https://cuinotes.com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uinotes.com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uinotes.com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uinotes.com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24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Generation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Templates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real HTML on the server by filling reusable views with data — EJS, loops, partials, and the XSS trap to avoid.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vs. client-side rendering — a quick recap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template engine is, and EJS in action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data from an Express route into a view, and interpolating it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Loops, conditionals, partials/includes, and layouts inside templates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18464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escaping (XSS prevention), form redisplay, and flash messages</a:t>
            </a:r>
            <a:endParaRPr lang="en-US" sz="15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SSR vs. Client-Side Rendering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rendering (SSR): the server builds the complete HTML page — including the data — and sends it ready to display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rendering (CSR): the server sends a near-empty page + JavaScript; the browser builds the visible content after load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is how single-page apps built with React work — covered later in this course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is entirely about the SSR side: Express + a template engine</a:t>
            </a:r>
            <a:endParaRPr lang="en-US" sz="15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SSR vs. CSR, Side by Side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383280" y="3246120"/>
            <a:ext cx="9144" cy="18288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383280" y="4023360"/>
            <a:ext cx="9144" cy="18288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83280" y="4800600"/>
            <a:ext cx="9144" cy="18288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823960" y="3246120"/>
            <a:ext cx="9144" cy="18288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823960" y="4023360"/>
            <a:ext cx="9144" cy="18288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823960" y="4800600"/>
            <a:ext cx="9144" cy="18288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22960" y="2057400"/>
            <a:ext cx="5120640" cy="41148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77824" y="205740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RENDERING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651760"/>
            <a:ext cx="5120640" cy="594360"/>
          </a:xfrm>
          <a:prstGeom prst="rect">
            <a:avLst/>
          </a:prstGeom>
          <a:solidFill>
            <a:srgbClr val="1E1E4C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77824" y="2651760"/>
            <a:ext cx="5010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requests page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429000"/>
            <a:ext cx="5120640" cy="594360"/>
          </a:xfrm>
          <a:prstGeom prst="rect">
            <a:avLst/>
          </a:prstGeom>
          <a:solidFill>
            <a:srgbClr val="1E1E4C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77824" y="3429000"/>
            <a:ext cx="5010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fetches data from database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206240"/>
            <a:ext cx="5120640" cy="594360"/>
          </a:xfrm>
          <a:prstGeom prst="rect">
            <a:avLst/>
          </a:prstGeom>
          <a:solidFill>
            <a:srgbClr val="1E1E4C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77824" y="4206240"/>
            <a:ext cx="5010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fills template with data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983480"/>
            <a:ext cx="5120640" cy="594360"/>
          </a:xfrm>
          <a:prstGeom prst="rect">
            <a:avLst/>
          </a:prstGeom>
          <a:solidFill>
            <a:srgbClr val="3FA66B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877824" y="4983480"/>
            <a:ext cx="5010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HTML sent to browser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2057400"/>
            <a:ext cx="5120640" cy="411480"/>
          </a:xfrm>
          <a:prstGeom prst="rect">
            <a:avLst/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318504" y="205740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RENDERING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2651760"/>
            <a:ext cx="5120640" cy="594360"/>
          </a:xfrm>
          <a:prstGeom prst="rect">
            <a:avLst/>
          </a:prstGeom>
          <a:solidFill>
            <a:srgbClr val="8A3A12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318504" y="2651760"/>
            <a:ext cx="5010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requests page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3429000"/>
            <a:ext cx="5120640" cy="594360"/>
          </a:xfrm>
          <a:prstGeom prst="rect">
            <a:avLst/>
          </a:prstGeom>
          <a:solidFill>
            <a:srgbClr val="8A3A12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6318504" y="3429000"/>
            <a:ext cx="5010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sends near-empty HTML + JS bundle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4206240"/>
            <a:ext cx="5120640" cy="594360"/>
          </a:xfrm>
          <a:prstGeom prst="rect">
            <a:avLst/>
          </a:prstGeom>
          <a:solidFill>
            <a:srgbClr val="8A3A12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318504" y="4206240"/>
            <a:ext cx="5010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runs JS, fetches data from API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4983480"/>
            <a:ext cx="5120640" cy="594360"/>
          </a:xfrm>
          <a:prstGeom prst="rect">
            <a:avLst/>
          </a:prstGeom>
          <a:solidFill>
            <a:srgbClr val="3FA66B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6318504" y="4983480"/>
            <a:ext cx="5010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builds HTML in the browser</a:t>
            </a:r>
            <a:endParaRPr lang="en-US" sz="1150" dirty="0"/>
          </a:p>
        </p:txBody>
      </p:sp>
      <p:sp>
        <p:nvSpPr>
          <p:cNvPr id="3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ENGINES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Template Engine?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for writing HTML files with placeholders and logic (loops, conditionals) embedded inside them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request time, it combines your template file with real data and produces plain HTML — a template file is called a view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EJS (Embedded JavaScript) — real JavaScript inside &lt;% %&gt; tags, right alongside HTML — our primary example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Pug (indentation-based), Handlebars ("logic-light"), Django templates — same idea, different ecosystems</a:t>
            </a:r>
            <a:endParaRPr lang="en-US" sz="15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EJS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Installing and Configuring EJS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15540"/>
          </a:xfrm>
          <a:prstGeom prst="roundRect">
            <a:avLst>
              <a:gd name="adj" fmla="val 30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5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ejs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express = require("express");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= express();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app.set("view engine", "ejs"); // tells Express to use EJS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app.set("views", "./views");   // folder where .ejs files live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10100"/>
            <a:ext cx="10911535" cy="165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now looks for files ending in .ejs inside the views folder whenever you call res.render().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res.render(view, data)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148840"/>
          </a:xfrm>
          <a:prstGeom prst="roundRect">
            <a:avLst>
              <a:gd name="adj" fmla="val 340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app.get("/profile",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res.render("profile",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username: "Ayesha",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joinYear: 2023,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profile.ejs,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872740"/>
            <a:ext cx="5272888" cy="2529840"/>
          </a:xfrm>
          <a:prstGeom prst="roundRect">
            <a:avLst>
              <a:gd name="adj" fmla="val 289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3101340"/>
            <a:ext cx="4632808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views/profile.ejs --&gt;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&lt;h1&gt;Welcome,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&lt;%= username %&gt;!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Member since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&lt;%= joinYear %&gt;.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69000" y="1947672"/>
            <a:ext cx="5492344" cy="4379976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24/profile-re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8728" y="3527013"/>
            <a:ext cx="5272888" cy="1221294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&lt;%= %&gt; Escapes by Default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529"/>
            </a:avLst>
          </a:prstGeom>
          <a:solidFill>
            <a:srgbClr val="E9EDFB"/>
          </a:solidFill>
          <a:ln w="12700">
            <a:solidFill>
              <a:srgbClr val="6C7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3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&lt;%= expression %&gt; is interpolation — it evaluates the JavaScript expression and inserts the result into the HTML, automatically escaping it (why that matters comes up shortly).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&amp; CONDITIONALS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From the Route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682240"/>
          </a:xfrm>
          <a:prstGeom prst="roundRect">
            <a:avLst>
              <a:gd name="adj" fmla="val 272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22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app.get("/products",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res.render("products",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products: [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name: "Notebook", price: 3.5, inStock: true },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name: "Pen", price: 1.0, inStock: false },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&amp; CONDITIONALS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&lt;% %&gt; Runs Raw JavaScript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31920"/>
          </a:xfrm>
          <a:prstGeom prst="roundRect">
            <a:avLst>
              <a:gd name="adj" fmla="val 1860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&lt;% if (products.length === 0) { %&gt;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&lt;p&gt;No products available.&lt;/p&gt;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&lt;% } else { %&gt;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&lt;ul&gt;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&lt;% products.forEach(function(product) { %&gt;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&lt;%= product.name %&gt; — $&lt;%= product.price.toFixed(2) %&gt;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&lt;% if (product.inStock) { %&gt;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&lt;span class="in-stock"&gt;In Stock&lt;/span&gt;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&lt;% } else { %&gt;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&lt;span class="out-of-stock"&gt;Out of Stock&lt;/span&gt;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&lt;% } %&gt;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&lt;/li&gt;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&lt;% }) %&gt;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&lt;/ul&gt;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&lt;% } %&gt;</a:t>
            </a:r>
            <a:endParaRPr lang="en-US" sz="111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&amp; CONDITIONALS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products.ejs,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272888" cy="3520440"/>
          </a:xfrm>
          <a:prstGeom prst="roundRect">
            <a:avLst>
              <a:gd name="adj" fmla="val 207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606040"/>
            <a:ext cx="46328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&lt;% products.forEach(p =&gt; { %&gt;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&lt;%= p.name %&gt; —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$&lt;%= p.price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.toFixed(2) %&gt;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&lt;% if (p.inStock) { %&gt;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 Stock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&lt;% } else { %&gt;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Out of Stock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&lt;% } %&gt;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&lt;/li&gt;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&lt;% }) %&gt;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69000" y="1947672"/>
            <a:ext cx="5492344" cy="4379976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24/products-re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8728" y="3226536"/>
            <a:ext cx="5272888" cy="1822248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PARTIALS &amp; LAYOUTS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Partials / Includes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reusable template fragment inserted into other templates — a header, nav bar, or footer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repeating the same markup in every single template file as pages grow</a:t>
            </a:r>
            <a:endParaRPr lang="en-US" sz="15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PARTIALS &amp; LAYOUTS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and Including a Partial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15640"/>
          </a:xfrm>
          <a:prstGeom prst="roundRect">
            <a:avLst>
              <a:gd name="adj" fmla="val 2275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views/partials/header.ejs --&gt;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&lt;h1&gt;My Website&lt;/h1&gt;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&lt;nav&gt;&lt;a href="/"&gt;Home&lt;/a&gt; | &lt;a href="/products"&gt;Products&lt;/a&gt;&lt;/nav&gt;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views/products.ejs --&gt;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&lt;%- include('partials/header') %&gt;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&lt;h1&gt;Our Products&lt;/h1&gt;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&lt;%- include('partials/footer') %&gt;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PARTIALS &amp; LAYOUTS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&lt;%- %&gt; Here, Not &lt;%= %&gt;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80000"/>
          </a:xfrm>
          <a:prstGeom prst="roundRect">
            <a:avLst>
              <a:gd name="adj" fmla="val 3158"/>
            </a:avLst>
          </a:prstGeom>
          <a:solidFill>
            <a:srgbClr val="E9EDFB"/>
          </a:solidFill>
          <a:ln w="12700">
            <a:solidFill>
              <a:srgbClr val="6C7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3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3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include() returns raw HTML, so we use &lt;%- %&gt; (the unescaped output tag) instead of &lt;%= %&gt; — otherwise the header's own HTML tags would show up as literal text like &amp;lt;header&amp;gt; instead of being rendered.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PARTIALS &amp; LAYOUTS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Layouts: A Shared Page Shell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layout takes partials a step further: one "shell" template (&lt;html&gt;, &lt;head&gt;, header, footer already in place) wrapping each page's unique content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EJS has no built-in layout support like some engines — achieve the same effect with includes, or the express-ejs-layouts package</a:t>
            </a:r>
            <a:endParaRPr lang="en-US" sz="15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PARTIALS &amp; LAYOUTS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express-ejs-layouts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15640"/>
          </a:xfrm>
          <a:prstGeom prst="roundRect">
            <a:avLst>
              <a:gd name="adj" fmla="val 2275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expressLayouts = require("express-ejs-layouts");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app.use(expressLayouts);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app.set("layout", "layout"); // uses views/layout.ejs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views/layout.ejs --&gt;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&lt;%- include('partials/header') %&gt;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&lt;%- body %&gt;  &lt;!-- each page's unique content injected here --&gt;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&lt;%- include('partials/footer') %&gt;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PREVENTION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Cross-Site Scripting (XSS)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 where an attacker gets their own JavaScript to run inside your page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via submitted text (a comment, a username) inserted directly into HTML without being cleaned up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comment contains &lt;script&gt;stealCookies()&lt;/script&gt; and your template inserts it unescaped, that script runs in every visitor's browser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PREVENTION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Escaped vs. Unescaped Output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15540"/>
          </a:xfrm>
          <a:prstGeom prst="roundRect">
            <a:avLst>
              <a:gd name="adj" fmla="val 30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5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comment.text is: &lt;script&gt;alert('hacked')&lt;/script&gt; --&gt;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&lt;p&gt;&lt;%= comment.text %&gt;&lt;/p&gt;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Renders SAFELY as visible text --&gt;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&lt;p&gt;&lt;%- comment.text %&gt;&lt;/p&gt;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DANGEROUS: actually executes the script --&gt;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10100"/>
            <a:ext cx="10911535" cy="165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&lt;%= %&gt; converts &lt;, &gt;, &amp;, " into safe HTML entities (&amp;lt;, &amp;gt;, ...) so the browser displays them as text instead of running them.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PREVENTION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Use &lt;%- %&gt; on User Data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80000"/>
          </a:xfrm>
          <a:prstGeom prst="roundRect">
            <a:avLst>
              <a:gd name="adj" fmla="val 3000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3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use the unescaped &lt;%- %&gt; tag for content you trust completely — your own partials, or HTML you've deliberately sanitized. Default to escaped output (&lt;%= %&gt;) and treat unescaped output as an exception that needs a specific reason.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REDISPLAY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Redisplaying an Invalid Submission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91840"/>
          </a:xfrm>
          <a:prstGeom prst="roundRect">
            <a:avLst>
              <a:gd name="adj" fmla="val 222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app.post("/signup", (req, res) =&gt;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username, email } = req.body;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(!email)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res.render("signup",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error: "Email is required.",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username, // send back what they already typed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email,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 otherwise, save the user and redirect ...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86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to show the form again with what the user already typed than to make them start over from a blank form.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REDISPLAY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signup.ejs, Rendered With an Error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01265"/>
            <a:ext cx="5272888" cy="3272790"/>
          </a:xfrm>
          <a:prstGeom prst="roundRect">
            <a:avLst>
              <a:gd name="adj" fmla="val 2235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729865"/>
            <a:ext cx="4632808" cy="2815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&lt;% if (typeof error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!== 'undefined') { %&gt;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 class="error"&gt;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&lt;%= error %&gt;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&lt;/p&gt;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&lt;% } %&gt;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name="username"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value="&lt;%= username %&gt;"&gt;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name="email"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value="&lt;%= email %&gt;"&gt;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69000" y="1947672"/>
            <a:ext cx="5492344" cy="4379976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24/signup-re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8728" y="2981600"/>
            <a:ext cx="5272888" cy="2312119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MESSAGES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One-Time Messages After a Redirect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flash message is a short message ("Login successful", "Item deleted") shown immediately after an action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right after a redirect, then automatically discarded so it doesn't reappear on refresh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sessions to temporarily hold the message across the redirect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MESSAGES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connect-flash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482340"/>
          </a:xfrm>
          <a:prstGeom prst="roundRect">
            <a:avLst>
              <a:gd name="adj" fmla="val 210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025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connect-flash express-session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app.use(session({ secret: "some-secret-key", resave: false, saveUninitialized: false }));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app.use(flash());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Make flash messages available to every template automatically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app.use((req, res, next)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res.locals.successMessage = req.flash("success");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res.locals.errorMessage = req.flash("error");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next();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MESSAGES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and Reading the Message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15640"/>
          </a:xfrm>
          <a:prstGeom prst="roundRect">
            <a:avLst>
              <a:gd name="adj" fmla="val 2275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app.post("/items/:id/delete",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 delete the item ...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req.flash("success", "Item deleted successfully.");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res.redirect("/items");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views/items.ejs --&gt;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&lt;% if (successMessage.length &gt; 0) { %&gt;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 class="flash-success"&gt;&lt;%= successMessage[0] %&gt;&lt;/p&gt;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&lt;% } %&gt;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10200"/>
            <a:ext cx="10911535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is stored when req.flash() is called, read (and removed) on the very next render, then gone — refreshing /items again shows nothing.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24 in Six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builds complete HTML on the server before sending it; client-side rendering sends a near-empty page and builds content with JavaScript in the browser.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5656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956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6512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 engine (EJS, Pug, Handlebars, Django templates) fills HTML views with real data at request time via res.render().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2712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627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53568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EJS uses &lt;%= %&gt; for escaped interpolation, &lt;% %&gt; for control flow, and &lt;%- %&gt; for unescaped raw HTML output.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20624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Partials/includes avoid repeating shared markup; layouts wrap a shared page shell around each view's unique content.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96824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4968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7680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Escaping output by default is your main defense against XSS — never render untrusted, user-submitted data with the unescaped tag.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6388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563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5473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redisplay shows a submitted form again with the user's input and an error; flash messages show a one-time message after a redirect, then discard it.</a:t>
            </a:r>
            <a:endParaRPr lang="en-US" sz="12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24: Response Generation using Templates</dc:title>
  <dc:subject>CSC336 Web Technologies</dc:subject>
  <dc:creator>Usman Akram</dc:creator>
  <cp:lastModifiedBy>Usman Akram</cp:lastModifiedBy>
  <cp:revision>1</cp:revision>
  <dcterms:created xsi:type="dcterms:W3CDTF">2026-09-22T05:49:18Z</dcterms:created>
  <dcterms:modified xsi:type="dcterms:W3CDTF">2026-09-22T05:49:18Z</dcterms:modified>
</cp:coreProperties>
</file>
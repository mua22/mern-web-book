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B2B7A"/>
        </a:solidFill>
      </p:bgPr>
    </p:bg>
    <p:spTree>
      <p:nvGrpSpPr>
        <p:cNvPr id="1" name=""/>
        <p:cNvGrpSpPr/>
        <p:nvPr/>
      </p:nvGrpSpPr>
      <p:grpSpPr>
        <a:xfrm>
          <a:off x="0" y="0"/>
          <a:ext cx="0" cy="0"/>
          <a:chOff x="0" y="0"/>
          <a:chExt cx="0" cy="0"/>
        </a:xfrm>
      </p:grpSpPr>
      <p:sp>
        <p:nvSpPr>
          <p:cNvPr id="2" name="Text 0"/>
          <p:cNvSpPr txBox="1"/>
          <p:nvPr/>
        </p:nvSpPr>
        <p:spPr>
          <a:xfrm>
            <a:off x="822960" y="1965960"/>
            <a:ext cx="7315200" cy="457200"/>
          </a:xfrm>
          <a:prstGeom prst="rect">
            <a:avLst/>
          </a:prstGeom>
          <a:noFill/>
          <a:ln/>
        </p:spPr>
        <p:txBody>
          <a:bodyPr wrap="square" lIns="0" tIns="0" rIns="0" bIns="0" rtlCol="0" anchor="ctr"/>
          <a:lstStyle/>
          <a:p>
            <a:pPr indent="0" marL="0">
              <a:buNone/>
            </a:pPr>
            <a:r>
              <a:rPr lang="en-US" sz="1500" b="1" spc="400" kern="0" dirty="0">
                <a:solidFill>
                  <a:srgbClr val="FF8A3D"/>
                </a:solidFill>
                <a:latin typeface="Calibri" pitchFamily="34" charset="0"/>
                <a:ea typeface="Calibri" pitchFamily="34" charset="-122"/>
                <a:cs typeface="Calibri" pitchFamily="34" charset="-120"/>
              </a:rPr>
              <a:t>LECTURE 26</a:t>
            </a:r>
            <a:endParaRPr lang="en-US" sz="1500" dirty="0"/>
          </a:p>
        </p:txBody>
      </p:sp>
      <p:sp>
        <p:nvSpPr>
          <p:cNvPr id="3" name="Text 1"/>
          <p:cNvSpPr txBox="1"/>
          <p:nvPr/>
        </p:nvSpPr>
        <p:spPr>
          <a:xfrm>
            <a:off x="777240" y="2377440"/>
            <a:ext cx="8686800" cy="1920240"/>
          </a:xfrm>
          <a:prstGeom prst="rect">
            <a:avLst/>
          </a:prstGeom>
          <a:noFill/>
          <a:ln/>
        </p:spPr>
        <p:txBody>
          <a:bodyPr wrap="square" lIns="0" tIns="0" rIns="0" bIns="0" rtlCol="0" anchor="ctr"/>
          <a:lstStyle/>
          <a:p>
            <a:pPr indent="0" marL="0">
              <a:lnSpc>
                <a:spcPct val="105000"/>
              </a:lnSpc>
              <a:buNone/>
            </a:pPr>
            <a:r>
              <a:rPr lang="en-US" sz="4000" b="1" dirty="0">
                <a:solidFill>
                  <a:srgbClr val="FFFFFF"/>
                </a:solidFill>
                <a:latin typeface="Cambria" pitchFamily="34" charset="0"/>
                <a:ea typeface="Cambria" pitchFamily="34" charset="-122"/>
                <a:cs typeface="Cambria" pitchFamily="34" charset="-120"/>
              </a:rPr>
              <a:t>Introduction to React.js</a:t>
            </a:r>
            <a:endParaRPr lang="en-US" sz="4000" dirty="0"/>
          </a:p>
          <a:p>
            <a:pPr indent="0" marL="0">
              <a:lnSpc>
                <a:spcPct val="105000"/>
              </a:lnSpc>
              <a:buNone/>
            </a:pPr>
            <a:r>
              <a:rPr lang="en-US" sz="4000" b="1" dirty="0">
                <a:solidFill>
                  <a:srgbClr val="FFFFFF"/>
                </a:solidFill>
                <a:latin typeface="Cambria" pitchFamily="34" charset="0"/>
                <a:ea typeface="Cambria" pitchFamily="34" charset="-122"/>
                <a:cs typeface="Cambria" pitchFamily="34" charset="-120"/>
              </a:rPr>
              <a:t>and Rendering Approaches</a:t>
            </a:r>
            <a:endParaRPr lang="en-US" sz="4000" dirty="0"/>
          </a:p>
        </p:txBody>
      </p:sp>
      <p:sp>
        <p:nvSpPr>
          <p:cNvPr id="4" name="Text 2"/>
          <p:cNvSpPr txBox="1"/>
          <p:nvPr/>
        </p:nvSpPr>
        <p:spPr>
          <a:xfrm>
            <a:off x="822960" y="4389120"/>
            <a:ext cx="8961120" cy="822960"/>
          </a:xfrm>
          <a:prstGeom prst="rect">
            <a:avLst/>
          </a:prstGeom>
          <a:noFill/>
          <a:ln/>
        </p:spPr>
        <p:txBody>
          <a:bodyPr wrap="square" lIns="0" tIns="0" rIns="0" bIns="0" rtlCol="0" anchor="ctr"/>
          <a:lstStyle/>
          <a:p>
            <a:pPr indent="0" marL="0">
              <a:buNone/>
            </a:pPr>
            <a:r>
              <a:rPr lang="en-US" sz="1500" dirty="0">
                <a:solidFill>
                  <a:srgbClr val="C9D3F5"/>
                </a:solidFill>
                <a:latin typeface="Calibri" pitchFamily="34" charset="0"/>
                <a:ea typeface="Calibri" pitchFamily="34" charset="-122"/>
                <a:cs typeface="Calibri" pitchFamily="34" charset="-120"/>
              </a:rPr>
              <a:t>From imperative DOM-poking to describing what the page should look like — and letting React figure out the rest.</a:t>
            </a:r>
            <a:endParaRPr lang="en-US" sz="1500" dirty="0"/>
          </a:p>
        </p:txBody>
      </p:sp>
      <p:sp>
        <p:nvSpPr>
          <p:cNvPr id="5" name="Text 3"/>
          <p:cNvSpPr txBox="1"/>
          <p:nvPr/>
        </p:nvSpPr>
        <p:spPr>
          <a:xfrm>
            <a:off x="822960" y="5943600"/>
            <a:ext cx="8229600" cy="365760"/>
          </a:xfrm>
          <a:prstGeom prst="rect">
            <a:avLst/>
          </a:prstGeom>
          <a:noFill/>
          <a:ln/>
        </p:spPr>
        <p:txBody>
          <a:bodyPr wrap="square" lIns="0" tIns="0" rIns="0" bIns="0" rtlCol="0" anchor="ctr"/>
          <a:lstStyle/>
          <a:p>
            <a:pPr indent="0" marL="0">
              <a:buNone/>
            </a:pPr>
            <a:r>
              <a:rPr lang="en-US" sz="1200" dirty="0">
                <a:solidFill>
                  <a:srgbClr val="9AA3D8"/>
                </a:solidFill>
                <a:latin typeface="Calibri" pitchFamily="34" charset="0"/>
                <a:ea typeface="Calibri" pitchFamily="34" charset="-122"/>
                <a:cs typeface="Calibri" pitchFamily="34" charset="-120"/>
              </a:rPr>
              <a:t>CSC336 Web Technologies</a:t>
            </a:r>
            <a:endParaRPr lang="en-US" sz="1200" dirty="0"/>
          </a:p>
        </p:txBody>
      </p:sp>
      <p:sp>
        <p:nvSpPr>
          <p:cNvPr id="6" name="Text 4"/>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9AA3D8"/>
                </a:solidFill>
                <a:latin typeface="Calibri" pitchFamily="34" charset="0"/>
                <a:ea typeface="Calibri" pitchFamily="34" charset="-122"/>
                <a:cs typeface="Calibri" pitchFamily="34" charset="-120"/>
              </a:rPr>
              <a:t>Usman Akram  •  COMSATS University Islamabad</a:t>
            </a:r>
            <a:endParaRPr lang="en-US" sz="900" dirty="0"/>
          </a:p>
        </p:txBody>
      </p:sp>
      <p:sp>
        <p:nvSpPr>
          <p:cNvPr id="7" name="Text 5"/>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9AA3D8"/>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OVERVIEW</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In This Lecture</a:t>
            </a:r>
            <a:endParaRPr lang="en-US" sz="3400" dirty="0"/>
          </a:p>
        </p:txBody>
      </p:sp>
      <p:sp>
        <p:nvSpPr>
          <p:cNvPr id="4" name="Shape 2"/>
          <p:cNvSpPr/>
          <p:nvPr/>
        </p:nvSpPr>
        <p:spPr>
          <a:xfrm>
            <a:off x="685800" y="1965960"/>
            <a:ext cx="457200" cy="457200"/>
          </a:xfrm>
          <a:prstGeom prst="ellipse">
            <a:avLst/>
          </a:prstGeom>
          <a:solidFill>
            <a:srgbClr val="FF8A3D"/>
          </a:solidFill>
          <a:ln/>
        </p:spPr>
      </p:sp>
      <p:sp>
        <p:nvSpPr>
          <p:cNvPr id="5" name="Text 3"/>
          <p:cNvSpPr txBox="1"/>
          <p:nvPr/>
        </p:nvSpPr>
        <p:spPr>
          <a:xfrm>
            <a:off x="685800" y="19659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71600" y="18928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Why React exists: single-page applications, declarative UI, and components</a:t>
            </a:r>
            <a:endParaRPr lang="en-US" sz="1500" dirty="0"/>
          </a:p>
        </p:txBody>
      </p:sp>
      <p:sp>
        <p:nvSpPr>
          <p:cNvPr id="7" name="Shape 5"/>
          <p:cNvSpPr/>
          <p:nvPr/>
        </p:nvSpPr>
        <p:spPr>
          <a:xfrm>
            <a:off x="685800" y="2788920"/>
            <a:ext cx="457200" cy="457200"/>
          </a:xfrm>
          <a:prstGeom prst="ellipse">
            <a:avLst/>
          </a:prstGeom>
          <a:solidFill>
            <a:srgbClr val="FF8A3D"/>
          </a:solidFill>
          <a:ln/>
        </p:spPr>
      </p:sp>
      <p:sp>
        <p:nvSpPr>
          <p:cNvPr id="8" name="Text 6"/>
          <p:cNvSpPr txBox="1"/>
          <p:nvPr/>
        </p:nvSpPr>
        <p:spPr>
          <a:xfrm>
            <a:off x="685800" y="27889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371600" y="271576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The Virtual DOM and how React's reconciliation process updates the real page</a:t>
            </a:r>
            <a:endParaRPr lang="en-US" sz="1500" dirty="0"/>
          </a:p>
        </p:txBody>
      </p:sp>
      <p:sp>
        <p:nvSpPr>
          <p:cNvPr id="10" name="Shape 8"/>
          <p:cNvSpPr/>
          <p:nvPr/>
        </p:nvSpPr>
        <p:spPr>
          <a:xfrm>
            <a:off x="685800" y="3611880"/>
            <a:ext cx="457200" cy="457200"/>
          </a:xfrm>
          <a:prstGeom prst="ellipse">
            <a:avLst/>
          </a:prstGeom>
          <a:solidFill>
            <a:srgbClr val="FF8A3D"/>
          </a:solidFill>
          <a:ln/>
        </p:spPr>
      </p:sp>
      <p:sp>
        <p:nvSpPr>
          <p:cNvPr id="11" name="Text 9"/>
          <p:cNvSpPr txBox="1"/>
          <p:nvPr/>
        </p:nvSpPr>
        <p:spPr>
          <a:xfrm>
            <a:off x="685800" y="36118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371600" y="353872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Setting up a React project with Vite, and the folder structure</a:t>
            </a:r>
            <a:endParaRPr lang="en-US" sz="1500" dirty="0"/>
          </a:p>
        </p:txBody>
      </p:sp>
      <p:sp>
        <p:nvSpPr>
          <p:cNvPr id="13" name="Shape 11"/>
          <p:cNvSpPr/>
          <p:nvPr/>
        </p:nvSpPr>
        <p:spPr>
          <a:xfrm>
            <a:off x="685800" y="4434840"/>
            <a:ext cx="457200" cy="457200"/>
          </a:xfrm>
          <a:prstGeom prst="ellipse">
            <a:avLst/>
          </a:prstGeom>
          <a:solidFill>
            <a:srgbClr val="FF8A3D"/>
          </a:solidFill>
          <a:ln/>
        </p:spPr>
      </p:sp>
      <p:sp>
        <p:nvSpPr>
          <p:cNvPr id="14" name="Text 12"/>
          <p:cNvSpPr txBox="1"/>
          <p:nvPr/>
        </p:nvSpPr>
        <p:spPr>
          <a:xfrm>
            <a:off x="685800" y="443484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5" name="Text 13"/>
          <p:cNvSpPr txBox="1"/>
          <p:nvPr/>
        </p:nvSpPr>
        <p:spPr>
          <a:xfrm>
            <a:off x="1371600" y="436168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JSX: embedding expressions, conditional rendering, and rendering lists with key</a:t>
            </a:r>
            <a:endParaRPr lang="en-US" sz="1500" dirty="0"/>
          </a:p>
        </p:txBody>
      </p:sp>
      <p:sp>
        <p:nvSpPr>
          <p:cNvPr id="16" name="Shape 14"/>
          <p:cNvSpPr/>
          <p:nvPr/>
        </p:nvSpPr>
        <p:spPr>
          <a:xfrm>
            <a:off x="685800" y="5257800"/>
            <a:ext cx="457200" cy="457200"/>
          </a:xfrm>
          <a:prstGeom prst="ellipse">
            <a:avLst/>
          </a:prstGeom>
          <a:solidFill>
            <a:srgbClr val="FF8A3D"/>
          </a:solidFill>
          <a:ln/>
        </p:spPr>
      </p:sp>
      <p:sp>
        <p:nvSpPr>
          <p:cNvPr id="17" name="Text 15"/>
          <p:cNvSpPr txBox="1"/>
          <p:nvPr/>
        </p:nvSpPr>
        <p:spPr>
          <a:xfrm>
            <a:off x="685800" y="525780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8" name="Text 16"/>
          <p:cNvSpPr txBox="1"/>
          <p:nvPr/>
        </p:nvSpPr>
        <p:spPr>
          <a:xfrm>
            <a:off x="1371600" y="518464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A conceptual overview of rendering approaches: CSR, SSR, SSG, and hydration</a:t>
            </a:r>
            <a:endParaRPr lang="en-US" sz="1500" dirty="0"/>
          </a:p>
        </p:txBody>
      </p:sp>
      <p:sp>
        <p:nvSpPr>
          <p:cNvPr id="19" name="Text 17"/>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20" name="Text 18"/>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WHY REACT?</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Multi-Page Sites vs. Single-Page Apps</a:t>
            </a:r>
            <a:endParaRPr lang="en-US" sz="3400" dirty="0"/>
          </a:p>
        </p:txBody>
      </p:sp>
      <p:sp>
        <p:nvSpPr>
          <p:cNvPr id="4" name="Shape 2"/>
          <p:cNvSpPr/>
          <p:nvPr/>
        </p:nvSpPr>
        <p:spPr>
          <a:xfrm>
            <a:off x="685800" y="1965960"/>
            <a:ext cx="457200" cy="457200"/>
          </a:xfrm>
          <a:prstGeom prst="ellipse">
            <a:avLst/>
          </a:prstGeom>
          <a:solidFill>
            <a:srgbClr val="FF8A3D"/>
          </a:solidFill>
          <a:ln/>
        </p:spPr>
      </p:sp>
      <p:sp>
        <p:nvSpPr>
          <p:cNvPr id="5" name="Text 3"/>
          <p:cNvSpPr txBox="1"/>
          <p:nvPr/>
        </p:nvSpPr>
        <p:spPr>
          <a:xfrm>
            <a:off x="685800" y="19659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71600" y="18928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Multi-page app (MPA): click a link, the browser throws away the page and requests a brand-new one — even the unchanged navbar re-renders</a:t>
            </a:r>
            <a:endParaRPr lang="en-US" sz="1500" dirty="0"/>
          </a:p>
        </p:txBody>
      </p:sp>
      <p:sp>
        <p:nvSpPr>
          <p:cNvPr id="7" name="Shape 5"/>
          <p:cNvSpPr/>
          <p:nvPr/>
        </p:nvSpPr>
        <p:spPr>
          <a:xfrm>
            <a:off x="685800" y="2788920"/>
            <a:ext cx="457200" cy="457200"/>
          </a:xfrm>
          <a:prstGeom prst="ellipse">
            <a:avLst/>
          </a:prstGeom>
          <a:solidFill>
            <a:srgbClr val="FF8A3D"/>
          </a:solidFill>
          <a:ln/>
        </p:spPr>
      </p:sp>
      <p:sp>
        <p:nvSpPr>
          <p:cNvPr id="8" name="Text 6"/>
          <p:cNvSpPr txBox="1"/>
          <p:nvPr/>
        </p:nvSpPr>
        <p:spPr>
          <a:xfrm>
            <a:off x="685800" y="27889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371600" y="271576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Single-page app (SPA): the browser loads one HTML page + a JS bundle; JavaScript swaps content in and out without a full reload</a:t>
            </a:r>
            <a:endParaRPr lang="en-US" sz="1500" dirty="0"/>
          </a:p>
        </p:txBody>
      </p:sp>
      <p:sp>
        <p:nvSpPr>
          <p:cNvPr id="10" name="Shape 8"/>
          <p:cNvSpPr/>
          <p:nvPr/>
        </p:nvSpPr>
        <p:spPr>
          <a:xfrm>
            <a:off x="685800" y="3611880"/>
            <a:ext cx="457200" cy="457200"/>
          </a:xfrm>
          <a:prstGeom prst="ellipse">
            <a:avLst/>
          </a:prstGeom>
          <a:solidFill>
            <a:srgbClr val="FF8A3D"/>
          </a:solidFill>
          <a:ln/>
        </p:spPr>
      </p:sp>
      <p:sp>
        <p:nvSpPr>
          <p:cNvPr id="11" name="Text 9"/>
          <p:cNvSpPr txBox="1"/>
          <p:nvPr/>
        </p:nvSpPr>
        <p:spPr>
          <a:xfrm>
            <a:off x="685800" y="36118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371600" y="353872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Only the data that changed travels over the network, and only the parts of the page that need to change update — navigation feels instant</a:t>
            </a:r>
            <a:endParaRPr lang="en-US" sz="1500" dirty="0"/>
          </a:p>
        </p:txBody>
      </p:sp>
      <p:sp>
        <p:nvSpPr>
          <p:cNvPr id="13" name="Shape 11"/>
          <p:cNvSpPr/>
          <p:nvPr/>
        </p:nvSpPr>
        <p:spPr>
          <a:xfrm>
            <a:off x="685800" y="4434840"/>
            <a:ext cx="457200" cy="457200"/>
          </a:xfrm>
          <a:prstGeom prst="ellipse">
            <a:avLst/>
          </a:prstGeom>
          <a:solidFill>
            <a:srgbClr val="FF8A3D"/>
          </a:solidFill>
          <a:ln/>
        </p:spPr>
      </p:sp>
      <p:sp>
        <p:nvSpPr>
          <p:cNvPr id="14" name="Text 12"/>
          <p:cNvSpPr txBox="1"/>
          <p:nvPr/>
        </p:nvSpPr>
        <p:spPr>
          <a:xfrm>
            <a:off x="685800" y="443484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5" name="Text 13"/>
          <p:cNvSpPr txBox="1"/>
          <p:nvPr/>
        </p:nvSpPr>
        <p:spPr>
          <a:xfrm>
            <a:off x="1371600" y="436168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React is the most widely used SPA library, maintained by Meta and a large open-source community</a:t>
            </a:r>
            <a:endParaRPr lang="en-US" sz="1500" dirty="0"/>
          </a:p>
        </p:txBody>
      </p:sp>
      <p:sp>
        <p:nvSpPr>
          <p:cNvPr id="16" name="Text 14"/>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17" name="Text 15"/>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WHY REACT?</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React Is a Library, Not a Framework</a:t>
            </a:r>
            <a:endParaRPr lang="en-US" sz="3400" dirty="0"/>
          </a:p>
        </p:txBody>
      </p:sp>
      <p:sp>
        <p:nvSpPr>
          <p:cNvPr id="4" name="Shape 2"/>
          <p:cNvSpPr/>
          <p:nvPr/>
        </p:nvSpPr>
        <p:spPr>
          <a:xfrm>
            <a:off x="640080" y="1965960"/>
            <a:ext cx="10911535" cy="1737360"/>
          </a:xfrm>
          <a:prstGeom prst="roundRect">
            <a:avLst>
              <a:gd name="adj" fmla="val 3158"/>
            </a:avLst>
          </a:prstGeom>
          <a:solidFill>
            <a:srgbClr val="E9EDFB"/>
          </a:solidFill>
          <a:ln w="12700">
            <a:solidFill>
              <a:srgbClr val="6C7FD6"/>
            </a:solidFill>
            <a:prstDash val="solid"/>
          </a:ln>
        </p:spPr>
      </p:sp>
      <p:sp>
        <p:nvSpPr>
          <p:cNvPr id="5" name="Text 3"/>
          <p:cNvSpPr txBox="1"/>
          <p:nvPr/>
        </p:nvSpPr>
        <p:spPr>
          <a:xfrm>
            <a:off x="868680" y="2103120"/>
            <a:ext cx="10454335" cy="274320"/>
          </a:xfrm>
          <a:prstGeom prst="rect">
            <a:avLst/>
          </a:prstGeom>
          <a:noFill/>
          <a:ln/>
        </p:spPr>
        <p:txBody>
          <a:bodyPr wrap="square" lIns="0" tIns="0" rIns="0" bIns="0" rtlCol="0" anchor="ctr"/>
          <a:lstStyle/>
          <a:p>
            <a:pPr indent="0" marL="0">
              <a:buNone/>
            </a:pPr>
            <a:r>
              <a:rPr lang="en-US" sz="1000" b="1" spc="200" kern="0" dirty="0">
                <a:solidFill>
                  <a:srgbClr val="33459E"/>
                </a:solidFill>
                <a:latin typeface="Calibri" pitchFamily="34" charset="0"/>
                <a:ea typeface="Calibri" pitchFamily="34" charset="-122"/>
                <a:cs typeface="Calibri" pitchFamily="34" charset="-120"/>
              </a:rPr>
              <a:t>NOTE</a:t>
            </a:r>
            <a:endParaRPr lang="en-US" sz="1000" dirty="0"/>
          </a:p>
        </p:txBody>
      </p:sp>
      <p:sp>
        <p:nvSpPr>
          <p:cNvPr id="6" name="Text 4"/>
          <p:cNvSpPr txBox="1"/>
          <p:nvPr/>
        </p:nvSpPr>
        <p:spPr>
          <a:xfrm>
            <a:off x="868680" y="2404872"/>
            <a:ext cx="10454335" cy="1143000"/>
          </a:xfrm>
          <a:prstGeom prst="rect">
            <a:avLst/>
          </a:prstGeom>
          <a:noFill/>
          <a:ln/>
        </p:spPr>
        <p:txBody>
          <a:bodyPr wrap="square" lIns="0" tIns="0" rIns="0" bIns="0" rtlCol="0" anchor="t"/>
          <a:lstStyle/>
          <a:p>
            <a:pPr indent="0" marL="0">
              <a:buNone/>
            </a:pPr>
            <a:r>
              <a:rPr lang="en-US" sz="1250" dirty="0">
                <a:solidFill>
                  <a:srgbClr val="26262F"/>
                </a:solidFill>
                <a:latin typeface="Calibri" pitchFamily="34" charset="0"/>
                <a:ea typeface="Calibri" pitchFamily="34" charset="-122"/>
                <a:cs typeface="Calibri" pitchFamily="34" charset="-120"/>
              </a:rPr>
              <a:t>React only handles the "view" layer — turning data into UI. Routing and global state management are added separately, unlike a full framework like Angular that bundles everything out of the box.</a:t>
            </a:r>
            <a:endParaRPr lang="en-US" sz="1250" dirty="0"/>
          </a:p>
        </p:txBody>
      </p:sp>
      <p:sp>
        <p:nvSpPr>
          <p:cNvPr id="7"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WHY REACT?</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The Problem With Manual DOM Manipulation</a:t>
            </a:r>
            <a:endParaRPr lang="en-US" sz="3400" dirty="0"/>
          </a:p>
        </p:txBody>
      </p:sp>
      <p:sp>
        <p:nvSpPr>
          <p:cNvPr id="4" name="Shape 2"/>
          <p:cNvSpPr/>
          <p:nvPr/>
        </p:nvSpPr>
        <p:spPr>
          <a:xfrm>
            <a:off x="685800" y="1965960"/>
            <a:ext cx="457200" cy="457200"/>
          </a:xfrm>
          <a:prstGeom prst="ellipse">
            <a:avLst/>
          </a:prstGeom>
          <a:solidFill>
            <a:srgbClr val="FF8A3D"/>
          </a:solidFill>
          <a:ln/>
        </p:spPr>
      </p:sp>
      <p:sp>
        <p:nvSpPr>
          <p:cNvPr id="5" name="Text 3"/>
          <p:cNvSpPr txBox="1"/>
          <p:nvPr/>
        </p:nvSpPr>
        <p:spPr>
          <a:xfrm>
            <a:off x="685800" y="19659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71600" y="18928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A shopping cart: every time an item is added or removed you must remember to update the array, find/add-or-remove the &lt;li&gt;, recalculate the total, and update the total's text</a:t>
            </a:r>
            <a:endParaRPr lang="en-US" sz="1500" dirty="0"/>
          </a:p>
        </p:txBody>
      </p:sp>
      <p:sp>
        <p:nvSpPr>
          <p:cNvPr id="7" name="Shape 5"/>
          <p:cNvSpPr/>
          <p:nvPr/>
        </p:nvSpPr>
        <p:spPr>
          <a:xfrm>
            <a:off x="685800" y="2788920"/>
            <a:ext cx="457200" cy="457200"/>
          </a:xfrm>
          <a:prstGeom prst="ellipse">
            <a:avLst/>
          </a:prstGeom>
          <a:solidFill>
            <a:srgbClr val="FF8A3D"/>
          </a:solidFill>
          <a:ln/>
        </p:spPr>
      </p:sp>
      <p:sp>
        <p:nvSpPr>
          <p:cNvPr id="8" name="Text 6"/>
          <p:cNvSpPr txBox="1"/>
          <p:nvPr/>
        </p:nvSpPr>
        <p:spPr>
          <a:xfrm>
            <a:off x="685800" y="27889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371600" y="271576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Every one of these is a manual, imperative instruction: "go find this element, then change it this way"</a:t>
            </a:r>
            <a:endParaRPr lang="en-US" sz="1500" dirty="0"/>
          </a:p>
        </p:txBody>
      </p:sp>
      <p:sp>
        <p:nvSpPr>
          <p:cNvPr id="10" name="Shape 8"/>
          <p:cNvSpPr/>
          <p:nvPr/>
        </p:nvSpPr>
        <p:spPr>
          <a:xfrm>
            <a:off x="685800" y="3611880"/>
            <a:ext cx="457200" cy="457200"/>
          </a:xfrm>
          <a:prstGeom prst="ellipse">
            <a:avLst/>
          </a:prstGeom>
          <a:solidFill>
            <a:srgbClr val="FF8A3D"/>
          </a:solidFill>
          <a:ln/>
        </p:spPr>
      </p:sp>
      <p:sp>
        <p:nvSpPr>
          <p:cNvPr id="11" name="Text 9"/>
          <p:cNvSpPr txBox="1"/>
          <p:nvPr/>
        </p:nvSpPr>
        <p:spPr>
          <a:xfrm>
            <a:off x="685800" y="36118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371600" y="353872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As an app grows, keeping the DOM in sync with data by hand becomes error-prone — easy to forget a step</a:t>
            </a:r>
            <a:endParaRPr lang="en-US" sz="1500" dirty="0"/>
          </a:p>
        </p:txBody>
      </p:sp>
      <p:sp>
        <p:nvSpPr>
          <p:cNvPr id="13" name="Text 11"/>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14" name="Text 12"/>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DECLARATIVE UI</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Describe the What, Not the How</a:t>
            </a:r>
            <a:endParaRPr lang="en-US" sz="3400" dirty="0"/>
          </a:p>
        </p:txBody>
      </p:sp>
      <p:sp>
        <p:nvSpPr>
          <p:cNvPr id="4" name="Shape 2"/>
          <p:cNvSpPr/>
          <p:nvPr/>
        </p:nvSpPr>
        <p:spPr>
          <a:xfrm>
            <a:off x="640080" y="2872740"/>
            <a:ext cx="5272888" cy="2529840"/>
          </a:xfrm>
          <a:prstGeom prst="roundRect">
            <a:avLst>
              <a:gd name="adj" fmla="val 2892"/>
            </a:avLst>
          </a:prstGeom>
          <a:solidFill>
            <a:srgbClr val="1E1E4C"/>
          </a:solidFill>
          <a:ln/>
        </p:spPr>
      </p:sp>
      <p:sp>
        <p:nvSpPr>
          <p:cNvPr id="5" name="Text 3"/>
          <p:cNvSpPr txBox="1"/>
          <p:nvPr/>
        </p:nvSpPr>
        <p:spPr>
          <a:xfrm>
            <a:off x="960120" y="3101340"/>
            <a:ext cx="4632808" cy="2072640"/>
          </a:xfrm>
          <a:prstGeom prst="rect">
            <a:avLst/>
          </a:prstGeom>
          <a:noFill/>
          <a:ln/>
        </p:spPr>
        <p:txBody>
          <a:bodyPr wrap="square" lIns="0" tIns="0" rIns="0" bIns="0" rtlCol="0" anchor="t"/>
          <a:lstStyle/>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function CartTotal({ items }) {</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const total = items.reduce(</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(sum, item) =&gt; sum + item.price, 0</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return (</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&lt;p&gt;Total: ${total.toFixed(2)}&lt;/p&gt;</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a:t>
            </a:r>
            <a:endParaRPr lang="en-US" sz="1300" dirty="0"/>
          </a:p>
        </p:txBody>
      </p:sp>
      <p:sp>
        <p:nvSpPr>
          <p:cNvPr id="6" name="Shape 4"/>
          <p:cNvSpPr/>
          <p:nvPr/>
        </p:nvSpPr>
        <p:spPr>
          <a:xfrm>
            <a:off x="6169000" y="1947672"/>
            <a:ext cx="5492344" cy="4379976"/>
          </a:xfrm>
          <a:prstGeom prst="roundRect">
            <a:avLst>
              <a:gd name="adj" fmla="val 1253"/>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sp>
      <p:pic>
        <p:nvPicPr>
          <p:cNvPr id="7" name="Image 0" descr="D:/GitHub/mern-web-book/docs/assets/img/lecture-26/cart-total-render.png">    </p:cNvPr>
          <p:cNvPicPr>
            <a:picLocks noChangeAspect="1"/>
          </p:cNvPicPr>
          <p:nvPr/>
        </p:nvPicPr>
        <p:blipFill>
          <a:blip r:embed="rId1"/>
          <a:stretch>
            <a:fillRect/>
          </a:stretch>
        </p:blipFill>
        <p:spPr>
          <a:xfrm>
            <a:off x="6278728" y="3622926"/>
            <a:ext cx="5272888" cy="1029469"/>
          </a:xfrm>
          <a:prstGeom prst="rect">
            <a:avLst/>
          </a:prstGeom>
        </p:spPr>
      </p:pic>
      <p:sp>
        <p:nvSpPr>
          <p:cNvPr id="8"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9"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COMPONENTS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A Component Is Just a Function</a:t>
            </a:r>
            <a:endParaRPr lang="en-US" sz="3400" dirty="0"/>
          </a:p>
        </p:txBody>
      </p:sp>
      <p:sp>
        <p:nvSpPr>
          <p:cNvPr id="4" name="Shape 2"/>
          <p:cNvSpPr/>
          <p:nvPr/>
        </p:nvSpPr>
        <p:spPr>
          <a:xfrm>
            <a:off x="640080" y="2872740"/>
            <a:ext cx="5272888" cy="2529840"/>
          </a:xfrm>
          <a:prstGeom prst="roundRect">
            <a:avLst>
              <a:gd name="adj" fmla="val 2892"/>
            </a:avLst>
          </a:prstGeom>
          <a:solidFill>
            <a:srgbClr val="1E1E4C"/>
          </a:solidFill>
          <a:ln/>
        </p:spPr>
      </p:sp>
      <p:sp>
        <p:nvSpPr>
          <p:cNvPr id="5" name="Text 3"/>
          <p:cNvSpPr txBox="1"/>
          <p:nvPr/>
        </p:nvSpPr>
        <p:spPr>
          <a:xfrm>
            <a:off x="960120" y="3101340"/>
            <a:ext cx="4632808" cy="2072640"/>
          </a:xfrm>
          <a:prstGeom prst="rect">
            <a:avLst/>
          </a:prstGeom>
          <a:noFill/>
          <a:ln/>
        </p:spPr>
        <p:txBody>
          <a:bodyPr wrap="square" lIns="0" tIns="0" rIns="0" bIns="0" rtlCol="0" anchor="t"/>
          <a:lstStyle/>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function Greeting() {</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return (</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&lt;h1&gt;</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Hello, welcome</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to the store!</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&lt;/h1&gt;</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a:t>
            </a:r>
            <a:endParaRPr lang="en-US" sz="1300" dirty="0"/>
          </a:p>
        </p:txBody>
      </p:sp>
      <p:sp>
        <p:nvSpPr>
          <p:cNvPr id="6" name="Shape 4"/>
          <p:cNvSpPr/>
          <p:nvPr/>
        </p:nvSpPr>
        <p:spPr>
          <a:xfrm>
            <a:off x="6169000" y="1947672"/>
            <a:ext cx="5492344" cy="4379976"/>
          </a:xfrm>
          <a:prstGeom prst="roundRect">
            <a:avLst>
              <a:gd name="adj" fmla="val 1253"/>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sp>
      <p:pic>
        <p:nvPicPr>
          <p:cNvPr id="7" name="Image 0" descr="D:/GitHub/mern-web-book/docs/assets/img/lecture-26/greeting-render.png">    </p:cNvPr>
          <p:cNvPicPr>
            <a:picLocks noChangeAspect="1"/>
          </p:cNvPicPr>
          <p:nvPr/>
        </p:nvPicPr>
        <p:blipFill>
          <a:blip r:embed="rId1"/>
          <a:stretch>
            <a:fillRect/>
          </a:stretch>
        </p:blipFill>
        <p:spPr>
          <a:xfrm>
            <a:off x="6278728" y="3676282"/>
            <a:ext cx="5272888" cy="922755"/>
          </a:xfrm>
          <a:prstGeom prst="rect">
            <a:avLst/>
          </a:prstGeom>
        </p:spPr>
      </p:pic>
      <p:sp>
        <p:nvSpPr>
          <p:cNvPr id="8"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9"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COMPONENTS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Components Combine Like Building Blocks</a:t>
            </a:r>
            <a:endParaRPr lang="en-US" sz="3400" dirty="0"/>
          </a:p>
        </p:txBody>
      </p:sp>
      <p:sp>
        <p:nvSpPr>
          <p:cNvPr id="4" name="Shape 2"/>
          <p:cNvSpPr/>
          <p:nvPr/>
        </p:nvSpPr>
        <p:spPr>
          <a:xfrm>
            <a:off x="685800" y="1965960"/>
            <a:ext cx="457200" cy="457200"/>
          </a:xfrm>
          <a:prstGeom prst="ellipse">
            <a:avLst/>
          </a:prstGeom>
          <a:solidFill>
            <a:srgbClr val="FF8A3D"/>
          </a:solidFill>
          <a:ln/>
        </p:spPr>
      </p:sp>
      <p:sp>
        <p:nvSpPr>
          <p:cNvPr id="5" name="Text 3"/>
          <p:cNvSpPr txBox="1"/>
          <p:nvPr/>
        </p:nvSpPr>
        <p:spPr>
          <a:xfrm>
            <a:off x="685800" y="19659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71600" y="18928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Components are small, self-contained, reusable pieces of UI, each responsible for one part of the page</a:t>
            </a:r>
            <a:endParaRPr lang="en-US" sz="1500" dirty="0"/>
          </a:p>
        </p:txBody>
      </p:sp>
      <p:sp>
        <p:nvSpPr>
          <p:cNvPr id="7" name="Shape 5"/>
          <p:cNvSpPr/>
          <p:nvPr/>
        </p:nvSpPr>
        <p:spPr>
          <a:xfrm>
            <a:off x="685800" y="2788920"/>
            <a:ext cx="457200" cy="457200"/>
          </a:xfrm>
          <a:prstGeom prst="ellipse">
            <a:avLst/>
          </a:prstGeom>
          <a:solidFill>
            <a:srgbClr val="FF8A3D"/>
          </a:solidFill>
          <a:ln/>
        </p:spPr>
      </p:sp>
      <p:sp>
        <p:nvSpPr>
          <p:cNvPr id="8" name="Text 6"/>
          <p:cNvSpPr txBox="1"/>
          <p:nvPr/>
        </p:nvSpPr>
        <p:spPr>
          <a:xfrm>
            <a:off x="685800" y="27889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371600" y="271576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A Navbar, ProductList, ProductCard, and Footer component can all be assembled inside a single App component</a:t>
            </a:r>
            <a:endParaRPr lang="en-US" sz="1500" dirty="0"/>
          </a:p>
        </p:txBody>
      </p:sp>
      <p:sp>
        <p:nvSpPr>
          <p:cNvPr id="10" name="Shape 8"/>
          <p:cNvSpPr/>
          <p:nvPr/>
        </p:nvSpPr>
        <p:spPr>
          <a:xfrm>
            <a:off x="685800" y="3611880"/>
            <a:ext cx="457200" cy="457200"/>
          </a:xfrm>
          <a:prstGeom prst="ellipse">
            <a:avLst/>
          </a:prstGeom>
          <a:solidFill>
            <a:srgbClr val="FF8A3D"/>
          </a:solidFill>
          <a:ln/>
        </p:spPr>
      </p:sp>
      <p:sp>
        <p:nvSpPr>
          <p:cNvPr id="11" name="Text 9"/>
          <p:cNvSpPr txBox="1"/>
          <p:nvPr/>
        </p:nvSpPr>
        <p:spPr>
          <a:xfrm>
            <a:off x="685800" y="36118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371600" y="353872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Mirrors how you already think about HTML — a page made of sections — but each section is reusable, testable JavaScript</a:t>
            </a:r>
            <a:endParaRPr lang="en-US" sz="1500" dirty="0"/>
          </a:p>
        </p:txBody>
      </p:sp>
      <p:sp>
        <p:nvSpPr>
          <p:cNvPr id="13" name="Shape 11"/>
          <p:cNvSpPr/>
          <p:nvPr/>
        </p:nvSpPr>
        <p:spPr>
          <a:xfrm>
            <a:off x="685800" y="4434840"/>
            <a:ext cx="457200" cy="457200"/>
          </a:xfrm>
          <a:prstGeom prst="ellipse">
            <a:avLst/>
          </a:prstGeom>
          <a:solidFill>
            <a:srgbClr val="FF8A3D"/>
          </a:solidFill>
          <a:ln/>
        </p:spPr>
      </p:sp>
      <p:sp>
        <p:nvSpPr>
          <p:cNvPr id="14" name="Text 12"/>
          <p:cNvSpPr txBox="1"/>
          <p:nvPr/>
        </p:nvSpPr>
        <p:spPr>
          <a:xfrm>
            <a:off x="685800" y="443484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5" name="Text 13"/>
          <p:cNvSpPr txBox="1"/>
          <p:nvPr/>
        </p:nvSpPr>
        <p:spPr>
          <a:xfrm>
            <a:off x="1371600" y="436168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Components, props, and composition are studied in depth in Lecture 27</a:t>
            </a:r>
            <a:endParaRPr lang="en-US" sz="1500" dirty="0"/>
          </a:p>
        </p:txBody>
      </p:sp>
      <p:sp>
        <p:nvSpPr>
          <p:cNvPr id="16" name="Text 14"/>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17" name="Text 15"/>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THE VIRTUAL DOM</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Why React Avoids Touching the Real DOM</a:t>
            </a:r>
            <a:endParaRPr lang="en-US" sz="3400" dirty="0"/>
          </a:p>
        </p:txBody>
      </p:sp>
      <p:sp>
        <p:nvSpPr>
          <p:cNvPr id="4" name="Shape 2"/>
          <p:cNvSpPr/>
          <p:nvPr/>
        </p:nvSpPr>
        <p:spPr>
          <a:xfrm>
            <a:off x="685800" y="1965960"/>
            <a:ext cx="457200" cy="457200"/>
          </a:xfrm>
          <a:prstGeom prst="ellipse">
            <a:avLst/>
          </a:prstGeom>
          <a:solidFill>
            <a:srgbClr val="FF8A3D"/>
          </a:solidFill>
          <a:ln/>
        </p:spPr>
      </p:sp>
      <p:sp>
        <p:nvSpPr>
          <p:cNvPr id="5" name="Text 3"/>
          <p:cNvSpPr txBox="1"/>
          <p:nvPr/>
        </p:nvSpPr>
        <p:spPr>
          <a:xfrm>
            <a:off x="685800" y="19659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71600" y="18928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Direct changes to the real DOM are relatively expensive — layout recalculation, repainting, and more</a:t>
            </a:r>
            <a:endParaRPr lang="en-US" sz="1500" dirty="0"/>
          </a:p>
        </p:txBody>
      </p:sp>
      <p:sp>
        <p:nvSpPr>
          <p:cNvPr id="7" name="Shape 5"/>
          <p:cNvSpPr/>
          <p:nvPr/>
        </p:nvSpPr>
        <p:spPr>
          <a:xfrm>
            <a:off x="685800" y="2788920"/>
            <a:ext cx="457200" cy="457200"/>
          </a:xfrm>
          <a:prstGeom prst="ellipse">
            <a:avLst/>
          </a:prstGeom>
          <a:solidFill>
            <a:srgbClr val="FF8A3D"/>
          </a:solidFill>
          <a:ln/>
        </p:spPr>
      </p:sp>
      <p:sp>
        <p:nvSpPr>
          <p:cNvPr id="8" name="Text 6"/>
          <p:cNvSpPr txBox="1"/>
          <p:nvPr/>
        </p:nvSpPr>
        <p:spPr>
          <a:xfrm>
            <a:off x="685800" y="27889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371600" y="271576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The Virtual DOM (VDOM) is a lightweight, in-memory JavaScript object tree that mirrors your UI's structure</a:t>
            </a:r>
            <a:endParaRPr lang="en-US" sz="1500" dirty="0"/>
          </a:p>
        </p:txBody>
      </p:sp>
      <p:sp>
        <p:nvSpPr>
          <p:cNvPr id="10" name="Shape 8"/>
          <p:cNvSpPr/>
          <p:nvPr/>
        </p:nvSpPr>
        <p:spPr>
          <a:xfrm>
            <a:off x="685800" y="3611880"/>
            <a:ext cx="457200" cy="457200"/>
          </a:xfrm>
          <a:prstGeom prst="ellipse">
            <a:avLst/>
          </a:prstGeom>
          <a:solidFill>
            <a:srgbClr val="FF8A3D"/>
          </a:solidFill>
          <a:ln/>
        </p:spPr>
      </p:sp>
      <p:sp>
        <p:nvSpPr>
          <p:cNvPr id="11" name="Text 9"/>
          <p:cNvSpPr txBox="1"/>
          <p:nvPr/>
        </p:nvSpPr>
        <p:spPr>
          <a:xfrm>
            <a:off x="685800" y="36118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371600" y="353872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When data changes, React builds a new VDOM tree, diffs it against the previous one, and computes the smallest set of real DOM changes needed</a:t>
            </a:r>
            <a:endParaRPr lang="en-US" sz="1500" dirty="0"/>
          </a:p>
        </p:txBody>
      </p:sp>
      <p:sp>
        <p:nvSpPr>
          <p:cNvPr id="13" name="Shape 11"/>
          <p:cNvSpPr/>
          <p:nvPr/>
        </p:nvSpPr>
        <p:spPr>
          <a:xfrm>
            <a:off x="685800" y="4434840"/>
            <a:ext cx="457200" cy="457200"/>
          </a:xfrm>
          <a:prstGeom prst="ellipse">
            <a:avLst/>
          </a:prstGeom>
          <a:solidFill>
            <a:srgbClr val="FF8A3D"/>
          </a:solidFill>
          <a:ln/>
        </p:spPr>
      </p:sp>
      <p:sp>
        <p:nvSpPr>
          <p:cNvPr id="14" name="Text 12"/>
          <p:cNvSpPr txBox="1"/>
          <p:nvPr/>
        </p:nvSpPr>
        <p:spPr>
          <a:xfrm>
            <a:off x="685800" y="443484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5" name="Text 13"/>
          <p:cNvSpPr txBox="1"/>
          <p:nvPr/>
        </p:nvSpPr>
        <p:spPr>
          <a:xfrm>
            <a:off x="1371600" y="436168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Comparing plain JS objects in memory is much faster than repeatedly touching the real DOM</a:t>
            </a:r>
            <a:endParaRPr lang="en-US" sz="1500" dirty="0"/>
          </a:p>
        </p:txBody>
      </p:sp>
      <p:sp>
        <p:nvSpPr>
          <p:cNvPr id="16" name="Text 14"/>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17" name="Text 15"/>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THE VIRTUAL DOM</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Reconciliation, Step by Step</a:t>
            </a:r>
            <a:endParaRPr lang="en-US" sz="3400" dirty="0"/>
          </a:p>
        </p:txBody>
      </p:sp>
      <p:sp>
        <p:nvSpPr>
          <p:cNvPr id="4" name="Shape 2"/>
          <p:cNvSpPr/>
          <p:nvPr/>
        </p:nvSpPr>
        <p:spPr>
          <a:xfrm>
            <a:off x="6080760" y="2560320"/>
            <a:ext cx="9144" cy="182880"/>
          </a:xfrm>
          <a:prstGeom prst="line">
            <a:avLst/>
          </a:prstGeom>
          <a:noFill/>
          <a:ln w="25400">
            <a:solidFill>
              <a:srgbClr val="5D5D72"/>
            </a:solidFill>
            <a:prstDash val="solid"/>
            <a:tailEnd type="triangle"/>
          </a:ln>
        </p:spPr>
      </p:sp>
      <p:sp>
        <p:nvSpPr>
          <p:cNvPr id="5" name="Shape 3"/>
          <p:cNvSpPr/>
          <p:nvPr/>
        </p:nvSpPr>
        <p:spPr>
          <a:xfrm>
            <a:off x="6080760" y="3246120"/>
            <a:ext cx="9144" cy="182880"/>
          </a:xfrm>
          <a:prstGeom prst="line">
            <a:avLst/>
          </a:prstGeom>
          <a:noFill/>
          <a:ln w="25400">
            <a:solidFill>
              <a:srgbClr val="5D5D72"/>
            </a:solidFill>
            <a:prstDash val="solid"/>
            <a:tailEnd type="triangle"/>
          </a:ln>
        </p:spPr>
      </p:sp>
      <p:sp>
        <p:nvSpPr>
          <p:cNvPr id="6" name="Shape 4"/>
          <p:cNvSpPr/>
          <p:nvPr/>
        </p:nvSpPr>
        <p:spPr>
          <a:xfrm flipH="1">
            <a:off x="2468880" y="3931920"/>
            <a:ext cx="2377440" cy="640080"/>
          </a:xfrm>
          <a:prstGeom prst="line">
            <a:avLst/>
          </a:prstGeom>
          <a:noFill/>
          <a:ln w="25400">
            <a:solidFill>
              <a:srgbClr val="5D5D72"/>
            </a:solidFill>
            <a:prstDash val="solid"/>
            <a:tailEnd type="triangle"/>
          </a:ln>
        </p:spPr>
      </p:sp>
      <p:sp>
        <p:nvSpPr>
          <p:cNvPr id="7" name="Text 5"/>
          <p:cNvSpPr txBox="1"/>
          <p:nvPr/>
        </p:nvSpPr>
        <p:spPr>
          <a:xfrm>
            <a:off x="2743200" y="4105656"/>
            <a:ext cx="1828800" cy="292608"/>
          </a:xfrm>
          <a:prstGeom prst="rect">
            <a:avLst/>
          </a:prstGeom>
          <a:solidFill>
            <a:srgbClr val="FFFFFF"/>
          </a:solidFill>
          <a:ln/>
        </p:spPr>
        <p:txBody>
          <a:bodyPr wrap="square" lIns="0" tIns="0" rIns="0" bIns="0" rtlCol="0" anchor="ctr"/>
          <a:lstStyle/>
          <a:p>
            <a:pPr algn="ctr" indent="0" marL="0">
              <a:buNone/>
            </a:pPr>
            <a:r>
              <a:rPr lang="en-US" sz="1050" i="1" dirty="0">
                <a:solidFill>
                  <a:srgbClr val="5D5D72"/>
                </a:solidFill>
                <a:latin typeface="Calibri" pitchFamily="34" charset="0"/>
                <a:ea typeface="Calibri" pitchFamily="34" charset="-122"/>
                <a:cs typeface="Calibri" pitchFamily="34" charset="-120"/>
              </a:rPr>
              <a:t>No differences</a:t>
            </a:r>
            <a:endParaRPr lang="en-US" sz="1050" dirty="0"/>
          </a:p>
        </p:txBody>
      </p:sp>
      <p:sp>
        <p:nvSpPr>
          <p:cNvPr id="8" name="Shape 6"/>
          <p:cNvSpPr/>
          <p:nvPr/>
        </p:nvSpPr>
        <p:spPr>
          <a:xfrm>
            <a:off x="6675120" y="4160520"/>
            <a:ext cx="91440" cy="411480"/>
          </a:xfrm>
          <a:prstGeom prst="line">
            <a:avLst/>
          </a:prstGeom>
          <a:noFill/>
          <a:ln w="25400">
            <a:solidFill>
              <a:srgbClr val="5D5D72"/>
            </a:solidFill>
            <a:prstDash val="solid"/>
            <a:tailEnd type="triangle"/>
          </a:ln>
        </p:spPr>
      </p:sp>
      <p:sp>
        <p:nvSpPr>
          <p:cNvPr id="9" name="Text 7"/>
          <p:cNvSpPr txBox="1"/>
          <p:nvPr/>
        </p:nvSpPr>
        <p:spPr>
          <a:xfrm>
            <a:off x="5806440" y="4219956"/>
            <a:ext cx="1828800" cy="292608"/>
          </a:xfrm>
          <a:prstGeom prst="rect">
            <a:avLst/>
          </a:prstGeom>
          <a:solidFill>
            <a:srgbClr val="FFFFFF"/>
          </a:solidFill>
          <a:ln/>
        </p:spPr>
        <p:txBody>
          <a:bodyPr wrap="square" lIns="0" tIns="0" rIns="0" bIns="0" rtlCol="0" anchor="ctr"/>
          <a:lstStyle/>
          <a:p>
            <a:pPr algn="ctr" indent="0" marL="0">
              <a:buNone/>
            </a:pPr>
            <a:r>
              <a:rPr lang="en-US" sz="1050" i="1" dirty="0">
                <a:solidFill>
                  <a:srgbClr val="5D5D72"/>
                </a:solidFill>
                <a:latin typeface="Calibri" pitchFamily="34" charset="0"/>
                <a:ea typeface="Calibri" pitchFamily="34" charset="-122"/>
                <a:cs typeface="Calibri" pitchFamily="34" charset="-120"/>
              </a:rPr>
              <a:t>Differences found</a:t>
            </a:r>
            <a:endParaRPr lang="en-US" sz="1050" dirty="0"/>
          </a:p>
        </p:txBody>
      </p:sp>
      <p:sp>
        <p:nvSpPr>
          <p:cNvPr id="10" name="Shape 8"/>
          <p:cNvSpPr/>
          <p:nvPr/>
        </p:nvSpPr>
        <p:spPr>
          <a:xfrm>
            <a:off x="6812280" y="5120640"/>
            <a:ext cx="45720" cy="228600"/>
          </a:xfrm>
          <a:prstGeom prst="line">
            <a:avLst/>
          </a:prstGeom>
          <a:noFill/>
          <a:ln w="25400">
            <a:solidFill>
              <a:srgbClr val="5D5D72"/>
            </a:solidFill>
            <a:prstDash val="solid"/>
            <a:tailEnd type="triangle"/>
          </a:ln>
        </p:spPr>
      </p:sp>
      <p:sp>
        <p:nvSpPr>
          <p:cNvPr id="11" name="Shape 9"/>
          <p:cNvSpPr/>
          <p:nvPr/>
        </p:nvSpPr>
        <p:spPr>
          <a:xfrm>
            <a:off x="6858000" y="5897880"/>
            <a:ext cx="9144" cy="182880"/>
          </a:xfrm>
          <a:prstGeom prst="line">
            <a:avLst/>
          </a:prstGeom>
          <a:noFill/>
          <a:ln w="25400">
            <a:solidFill>
              <a:srgbClr val="5D5D72"/>
            </a:solidFill>
            <a:prstDash val="solid"/>
            <a:tailEnd type="triangle"/>
          </a:ln>
        </p:spPr>
      </p:sp>
      <p:sp>
        <p:nvSpPr>
          <p:cNvPr id="12" name="Shape 10"/>
          <p:cNvSpPr/>
          <p:nvPr/>
        </p:nvSpPr>
        <p:spPr>
          <a:xfrm>
            <a:off x="4206240" y="2057400"/>
            <a:ext cx="3749040" cy="502920"/>
          </a:xfrm>
          <a:prstGeom prst="rect">
            <a:avLst/>
          </a:prstGeom>
          <a:solidFill>
            <a:srgbClr val="1E1E4C"/>
          </a:solidFill>
          <a:ln/>
        </p:spPr>
      </p:sp>
      <p:sp>
        <p:nvSpPr>
          <p:cNvPr id="13" name="Text 11"/>
          <p:cNvSpPr txBox="1"/>
          <p:nvPr/>
        </p:nvSpPr>
        <p:spPr>
          <a:xfrm>
            <a:off x="4261104" y="2057400"/>
            <a:ext cx="3639312" cy="502920"/>
          </a:xfrm>
          <a:prstGeom prst="rect">
            <a:avLst/>
          </a:prstGeom>
          <a:noFill/>
          <a:ln/>
        </p:spPr>
        <p:txBody>
          <a:bodyPr wrap="square" lIns="0" tIns="0" rIns="0" bIns="0" rtlCol="0" anchor="ctr"/>
          <a:lstStyle/>
          <a:p>
            <a:pPr algn="ctr" indent="0" marL="0">
              <a:lnSpc>
                <a:spcPct val="105000"/>
              </a:lnSpc>
              <a:buNone/>
            </a:pPr>
            <a:r>
              <a:rPr lang="en-US" sz="1200" b="1" dirty="0">
                <a:solidFill>
                  <a:srgbClr val="FFFFFF"/>
                </a:solidFill>
                <a:latin typeface="Calibri" pitchFamily="34" charset="0"/>
                <a:ea typeface="Calibri" pitchFamily="34" charset="-122"/>
                <a:cs typeface="Calibri" pitchFamily="34" charset="-120"/>
              </a:rPr>
              <a:t>State or props change</a:t>
            </a:r>
            <a:endParaRPr lang="en-US" sz="1200" dirty="0"/>
          </a:p>
        </p:txBody>
      </p:sp>
      <p:sp>
        <p:nvSpPr>
          <p:cNvPr id="14" name="Shape 12"/>
          <p:cNvSpPr/>
          <p:nvPr/>
        </p:nvSpPr>
        <p:spPr>
          <a:xfrm>
            <a:off x="4023360" y="2743200"/>
            <a:ext cx="4114800" cy="502920"/>
          </a:xfrm>
          <a:prstGeom prst="rect">
            <a:avLst/>
          </a:prstGeom>
          <a:solidFill>
            <a:srgbClr val="2B2B7A"/>
          </a:solidFill>
          <a:ln/>
        </p:spPr>
      </p:sp>
      <p:sp>
        <p:nvSpPr>
          <p:cNvPr id="15" name="Text 13"/>
          <p:cNvSpPr txBox="1"/>
          <p:nvPr/>
        </p:nvSpPr>
        <p:spPr>
          <a:xfrm>
            <a:off x="4078224" y="2743200"/>
            <a:ext cx="4005072" cy="502920"/>
          </a:xfrm>
          <a:prstGeom prst="rect">
            <a:avLst/>
          </a:prstGeom>
          <a:noFill/>
          <a:ln/>
        </p:spPr>
        <p:txBody>
          <a:bodyPr wrap="square" lIns="0" tIns="0" rIns="0" bIns="0" rtlCol="0" anchor="ctr"/>
          <a:lstStyle/>
          <a:p>
            <a:pPr algn="ctr" indent="0" marL="0">
              <a:lnSpc>
                <a:spcPct val="105000"/>
              </a:lnSpc>
              <a:buNone/>
            </a:pPr>
            <a:r>
              <a:rPr lang="en-US" sz="1150" b="1" dirty="0">
                <a:solidFill>
                  <a:srgbClr val="FFFFFF"/>
                </a:solidFill>
                <a:latin typeface="Calibri" pitchFamily="34" charset="0"/>
                <a:ea typeface="Calibri" pitchFamily="34" charset="-122"/>
                <a:cs typeface="Calibri" pitchFamily="34" charset="-120"/>
              </a:rPr>
              <a:t>React builds a new Virtual DOM tree</a:t>
            </a:r>
            <a:endParaRPr lang="en-US" sz="1150" dirty="0"/>
          </a:p>
        </p:txBody>
      </p:sp>
      <p:sp>
        <p:nvSpPr>
          <p:cNvPr id="16" name="Shape 14"/>
          <p:cNvSpPr/>
          <p:nvPr/>
        </p:nvSpPr>
        <p:spPr>
          <a:xfrm>
            <a:off x="4160520" y="3429000"/>
            <a:ext cx="3840480" cy="731520"/>
          </a:xfrm>
          <a:prstGeom prst="diamond">
            <a:avLst/>
          </a:prstGeom>
          <a:solidFill>
            <a:srgbClr val="FF8A3D"/>
          </a:solidFill>
          <a:ln/>
        </p:spPr>
      </p:sp>
      <p:sp>
        <p:nvSpPr>
          <p:cNvPr id="17" name="Text 15"/>
          <p:cNvSpPr txBox="1"/>
          <p:nvPr/>
        </p:nvSpPr>
        <p:spPr>
          <a:xfrm>
            <a:off x="4215384" y="3429000"/>
            <a:ext cx="3730752" cy="731520"/>
          </a:xfrm>
          <a:prstGeom prst="rect">
            <a:avLst/>
          </a:prstGeom>
          <a:noFill/>
          <a:ln/>
        </p:spPr>
        <p:txBody>
          <a:bodyPr wrap="square" lIns="0" tIns="0" rIns="0" bIns="0" rtlCol="0" anchor="ctr"/>
          <a:lstStyle/>
          <a:p>
            <a:pPr algn="ctr" indent="0" marL="0">
              <a:lnSpc>
                <a:spcPct val="105000"/>
              </a:lnSpc>
              <a:buNone/>
            </a:pPr>
            <a:r>
              <a:rPr lang="en-US" sz="1150" b="1" dirty="0">
                <a:solidFill>
                  <a:srgbClr val="FFFFFF"/>
                </a:solidFill>
                <a:latin typeface="Calibri" pitchFamily="34" charset="0"/>
                <a:ea typeface="Calibri" pitchFamily="34" charset="-122"/>
                <a:cs typeface="Calibri" pitchFamily="34" charset="-120"/>
              </a:rPr>
              <a:t>Diff against previous</a:t>
            </a:r>
            <a:endParaRPr lang="en-US" sz="1150" dirty="0"/>
          </a:p>
          <a:p>
            <a:pPr algn="ctr" indent="0" marL="0">
              <a:lnSpc>
                <a:spcPct val="105000"/>
              </a:lnSpc>
              <a:buNone/>
            </a:pPr>
            <a:r>
              <a:rPr lang="en-US" sz="1150" b="1" dirty="0">
                <a:solidFill>
                  <a:srgbClr val="FFFFFF"/>
                </a:solidFill>
                <a:latin typeface="Calibri" pitchFamily="34" charset="0"/>
                <a:ea typeface="Calibri" pitchFamily="34" charset="-122"/>
                <a:cs typeface="Calibri" pitchFamily="34" charset="-120"/>
              </a:rPr>
              <a:t>Virtual DOM tree</a:t>
            </a:r>
            <a:endParaRPr lang="en-US" sz="1150" dirty="0"/>
          </a:p>
        </p:txBody>
      </p:sp>
      <p:sp>
        <p:nvSpPr>
          <p:cNvPr id="18" name="Shape 16"/>
          <p:cNvSpPr/>
          <p:nvPr/>
        </p:nvSpPr>
        <p:spPr>
          <a:xfrm>
            <a:off x="822960" y="4572000"/>
            <a:ext cx="3291840" cy="548640"/>
          </a:xfrm>
          <a:prstGeom prst="rect">
            <a:avLst/>
          </a:prstGeom>
          <a:solidFill>
            <a:srgbClr val="5D5D72"/>
          </a:solidFill>
          <a:ln/>
        </p:spPr>
      </p:sp>
      <p:sp>
        <p:nvSpPr>
          <p:cNvPr id="19" name="Text 17"/>
          <p:cNvSpPr txBox="1"/>
          <p:nvPr/>
        </p:nvSpPr>
        <p:spPr>
          <a:xfrm>
            <a:off x="877824" y="4572000"/>
            <a:ext cx="3182112" cy="548640"/>
          </a:xfrm>
          <a:prstGeom prst="rect">
            <a:avLst/>
          </a:prstGeom>
          <a:noFill/>
          <a:ln/>
        </p:spPr>
        <p:txBody>
          <a:bodyPr wrap="square" lIns="0" tIns="0" rIns="0" bIns="0" rtlCol="0" anchor="ctr"/>
          <a:lstStyle/>
          <a:p>
            <a:pPr algn="ctr" indent="0" marL="0">
              <a:lnSpc>
                <a:spcPct val="105000"/>
              </a:lnSpc>
              <a:buNone/>
            </a:pPr>
            <a:r>
              <a:rPr lang="en-US" sz="1200" b="1" dirty="0">
                <a:solidFill>
                  <a:srgbClr val="FFFFFF"/>
                </a:solidFill>
                <a:latin typeface="Calibri" pitchFamily="34" charset="0"/>
                <a:ea typeface="Calibri" pitchFamily="34" charset="-122"/>
                <a:cs typeface="Calibri" pitchFamily="34" charset="-120"/>
              </a:rPr>
              <a:t>Skip DOM update</a:t>
            </a:r>
            <a:endParaRPr lang="en-US" sz="1200" dirty="0"/>
          </a:p>
        </p:txBody>
      </p:sp>
      <p:sp>
        <p:nvSpPr>
          <p:cNvPr id="20" name="Shape 18"/>
          <p:cNvSpPr/>
          <p:nvPr/>
        </p:nvSpPr>
        <p:spPr>
          <a:xfrm>
            <a:off x="4846320" y="4572000"/>
            <a:ext cx="3931920" cy="548640"/>
          </a:xfrm>
          <a:prstGeom prst="rect">
            <a:avLst/>
          </a:prstGeom>
          <a:solidFill>
            <a:srgbClr val="2B2B7A"/>
          </a:solidFill>
          <a:ln/>
        </p:spPr>
      </p:sp>
      <p:sp>
        <p:nvSpPr>
          <p:cNvPr id="21" name="Text 19"/>
          <p:cNvSpPr txBox="1"/>
          <p:nvPr/>
        </p:nvSpPr>
        <p:spPr>
          <a:xfrm>
            <a:off x="4901184" y="4572000"/>
            <a:ext cx="3822192" cy="548640"/>
          </a:xfrm>
          <a:prstGeom prst="rect">
            <a:avLst/>
          </a:prstGeom>
          <a:noFill/>
          <a:ln/>
        </p:spPr>
        <p:txBody>
          <a:bodyPr wrap="square" lIns="0" tIns="0" rIns="0" bIns="0" rtlCol="0" anchor="ctr"/>
          <a:lstStyle/>
          <a:p>
            <a:pPr algn="ctr" indent="0" marL="0">
              <a:lnSpc>
                <a:spcPct val="105000"/>
              </a:lnSpc>
              <a:buNone/>
            </a:pPr>
            <a:r>
              <a:rPr lang="en-US" sz="1100" b="1" dirty="0">
                <a:solidFill>
                  <a:srgbClr val="FFFFFF"/>
                </a:solidFill>
                <a:latin typeface="Calibri" pitchFamily="34" charset="0"/>
                <a:ea typeface="Calibri" pitchFamily="34" charset="-122"/>
                <a:cs typeface="Calibri" pitchFamily="34" charset="-120"/>
              </a:rPr>
              <a:t>Compute minimal set of real DOM operations</a:t>
            </a:r>
            <a:endParaRPr lang="en-US" sz="1100" dirty="0"/>
          </a:p>
        </p:txBody>
      </p:sp>
      <p:sp>
        <p:nvSpPr>
          <p:cNvPr id="22" name="Shape 20"/>
          <p:cNvSpPr/>
          <p:nvPr/>
        </p:nvSpPr>
        <p:spPr>
          <a:xfrm>
            <a:off x="5120640" y="5349240"/>
            <a:ext cx="3474720" cy="548640"/>
          </a:xfrm>
          <a:prstGeom prst="rect">
            <a:avLst/>
          </a:prstGeom>
          <a:solidFill>
            <a:srgbClr val="2B2B7A"/>
          </a:solidFill>
          <a:ln/>
        </p:spPr>
      </p:sp>
      <p:sp>
        <p:nvSpPr>
          <p:cNvPr id="23" name="Text 21"/>
          <p:cNvSpPr txBox="1"/>
          <p:nvPr/>
        </p:nvSpPr>
        <p:spPr>
          <a:xfrm>
            <a:off x="5175504" y="5349240"/>
            <a:ext cx="3364992" cy="548640"/>
          </a:xfrm>
          <a:prstGeom prst="rect">
            <a:avLst/>
          </a:prstGeom>
          <a:noFill/>
          <a:ln/>
        </p:spPr>
        <p:txBody>
          <a:bodyPr wrap="square" lIns="0" tIns="0" rIns="0" bIns="0" rtlCol="0" anchor="ctr"/>
          <a:lstStyle/>
          <a:p>
            <a:pPr algn="ctr" indent="0" marL="0">
              <a:lnSpc>
                <a:spcPct val="105000"/>
              </a:lnSpc>
              <a:buNone/>
            </a:pPr>
            <a:r>
              <a:rPr lang="en-US" sz="1050" b="1" dirty="0">
                <a:solidFill>
                  <a:srgbClr val="FFFFFF"/>
                </a:solidFill>
                <a:latin typeface="Calibri" pitchFamily="34" charset="0"/>
                <a:ea typeface="Calibri" pitchFamily="34" charset="-122"/>
                <a:cs typeface="Calibri" pitchFamily="34" charset="-120"/>
              </a:rPr>
              <a:t>Reconciliation: apply changes to the real DOM</a:t>
            </a:r>
            <a:endParaRPr lang="en-US" sz="1050" dirty="0"/>
          </a:p>
        </p:txBody>
      </p:sp>
      <p:sp>
        <p:nvSpPr>
          <p:cNvPr id="24" name="Shape 22"/>
          <p:cNvSpPr/>
          <p:nvPr/>
        </p:nvSpPr>
        <p:spPr>
          <a:xfrm>
            <a:off x="5394960" y="6080760"/>
            <a:ext cx="2926080" cy="502920"/>
          </a:xfrm>
          <a:prstGeom prst="rect">
            <a:avLst/>
          </a:prstGeom>
          <a:solidFill>
            <a:srgbClr val="3FA66B"/>
          </a:solidFill>
          <a:ln/>
        </p:spPr>
      </p:sp>
      <p:sp>
        <p:nvSpPr>
          <p:cNvPr id="25" name="Text 23"/>
          <p:cNvSpPr txBox="1"/>
          <p:nvPr/>
        </p:nvSpPr>
        <p:spPr>
          <a:xfrm>
            <a:off x="5449824" y="6080760"/>
            <a:ext cx="2816352" cy="502920"/>
          </a:xfrm>
          <a:prstGeom prst="rect">
            <a:avLst/>
          </a:prstGeom>
          <a:noFill/>
          <a:ln/>
        </p:spPr>
        <p:txBody>
          <a:bodyPr wrap="square" lIns="0" tIns="0" rIns="0" bIns="0" rtlCol="0" anchor="ctr"/>
          <a:lstStyle/>
          <a:p>
            <a:pPr algn="ctr" indent="0" marL="0">
              <a:lnSpc>
                <a:spcPct val="105000"/>
              </a:lnSpc>
              <a:buNone/>
            </a:pPr>
            <a:r>
              <a:rPr lang="en-US" sz="1100" b="1" dirty="0">
                <a:solidFill>
                  <a:srgbClr val="FFFFFF"/>
                </a:solidFill>
                <a:latin typeface="Calibri" pitchFamily="34" charset="0"/>
                <a:ea typeface="Calibri" pitchFamily="34" charset="-122"/>
                <a:cs typeface="Calibri" pitchFamily="34" charset="-120"/>
              </a:rPr>
              <a:t>Browser repaints changed parts only</a:t>
            </a:r>
            <a:endParaRPr lang="en-US" sz="1100" dirty="0"/>
          </a:p>
        </p:txBody>
      </p:sp>
      <p:sp>
        <p:nvSpPr>
          <p:cNvPr id="26" name="Text 24"/>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27" name="Text 25"/>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THE VIRTUAL DOM</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You Rarely Think About This Directly</a:t>
            </a:r>
            <a:endParaRPr lang="en-US" sz="3400" dirty="0"/>
          </a:p>
        </p:txBody>
      </p:sp>
      <p:sp>
        <p:nvSpPr>
          <p:cNvPr id="4" name="Shape 2"/>
          <p:cNvSpPr/>
          <p:nvPr/>
        </p:nvSpPr>
        <p:spPr>
          <a:xfrm>
            <a:off x="640080" y="1965960"/>
            <a:ext cx="10911535" cy="1554480"/>
          </a:xfrm>
          <a:prstGeom prst="roundRect">
            <a:avLst>
              <a:gd name="adj" fmla="val 3529"/>
            </a:avLst>
          </a:prstGeom>
          <a:solidFill>
            <a:srgbClr val="E6F6EE"/>
          </a:solidFill>
          <a:ln w="12700">
            <a:solidFill>
              <a:srgbClr val="3FA66B"/>
            </a:solidFill>
            <a:prstDash val="solid"/>
          </a:ln>
        </p:spPr>
      </p:sp>
      <p:sp>
        <p:nvSpPr>
          <p:cNvPr id="5" name="Text 3"/>
          <p:cNvSpPr txBox="1"/>
          <p:nvPr/>
        </p:nvSpPr>
        <p:spPr>
          <a:xfrm>
            <a:off x="868680" y="2103120"/>
            <a:ext cx="10454335" cy="274320"/>
          </a:xfrm>
          <a:prstGeom prst="rect">
            <a:avLst/>
          </a:prstGeom>
          <a:noFill/>
          <a:ln/>
        </p:spPr>
        <p:txBody>
          <a:bodyPr wrap="square" lIns="0" tIns="0" rIns="0" bIns="0" rtlCol="0" anchor="ctr"/>
          <a:lstStyle/>
          <a:p>
            <a:pPr indent="0" marL="0">
              <a:buNone/>
            </a:pPr>
            <a:r>
              <a:rPr lang="en-US" sz="1000" b="1" spc="200" kern="0" dirty="0">
                <a:solidFill>
                  <a:srgbClr val="1F7A46"/>
                </a:solidFill>
                <a:latin typeface="Calibri" pitchFamily="34" charset="0"/>
                <a:ea typeface="Calibri" pitchFamily="34" charset="-122"/>
                <a:cs typeface="Calibri" pitchFamily="34" charset="-120"/>
              </a:rPr>
              <a:t>TIP</a:t>
            </a:r>
            <a:endParaRPr lang="en-US" sz="1000" dirty="0"/>
          </a:p>
        </p:txBody>
      </p:sp>
      <p:sp>
        <p:nvSpPr>
          <p:cNvPr id="6" name="Text 4"/>
          <p:cNvSpPr txBox="1"/>
          <p:nvPr/>
        </p:nvSpPr>
        <p:spPr>
          <a:xfrm>
            <a:off x="868680" y="2404872"/>
            <a:ext cx="10454335" cy="960120"/>
          </a:xfrm>
          <a:prstGeom prst="rect">
            <a:avLst/>
          </a:prstGeom>
          <a:noFill/>
          <a:ln/>
        </p:spPr>
        <p:txBody>
          <a:bodyPr wrap="square" lIns="0" tIns="0" rIns="0" bIns="0" rtlCol="0" anchor="t"/>
          <a:lstStyle/>
          <a:p>
            <a:pPr indent="0" marL="0">
              <a:buNone/>
            </a:pPr>
            <a:r>
              <a:rPr lang="en-US" sz="1250" dirty="0">
                <a:solidFill>
                  <a:srgbClr val="26262F"/>
                </a:solidFill>
                <a:latin typeface="Calibri" pitchFamily="34" charset="0"/>
                <a:ea typeface="Calibri" pitchFamily="34" charset="-122"/>
                <a:cs typeface="Calibri" pitchFamily="34" charset="-120"/>
              </a:rPr>
              <a:t>As a React developer, you almost never interact with the Virtual DOM yourself. You write components that describe the UI for the current data, and reconciliation handles the rest.</a:t>
            </a:r>
            <a:endParaRPr lang="en-US" sz="1250" dirty="0"/>
          </a:p>
        </p:txBody>
      </p:sp>
      <p:sp>
        <p:nvSpPr>
          <p:cNvPr id="7"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SETTING UP VITE</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Vite: The Modern Build Tool</a:t>
            </a:r>
            <a:endParaRPr lang="en-US" sz="3400" dirty="0"/>
          </a:p>
        </p:txBody>
      </p:sp>
      <p:sp>
        <p:nvSpPr>
          <p:cNvPr id="4" name="Shape 2"/>
          <p:cNvSpPr/>
          <p:nvPr/>
        </p:nvSpPr>
        <p:spPr>
          <a:xfrm>
            <a:off x="685800" y="1965960"/>
            <a:ext cx="457200" cy="457200"/>
          </a:xfrm>
          <a:prstGeom prst="ellipse">
            <a:avLst/>
          </a:prstGeom>
          <a:solidFill>
            <a:srgbClr val="FF8A3D"/>
          </a:solidFill>
          <a:ln/>
        </p:spPr>
      </p:sp>
      <p:sp>
        <p:nvSpPr>
          <p:cNvPr id="5" name="Text 3"/>
          <p:cNvSpPr txBox="1"/>
          <p:nvPr/>
        </p:nvSpPr>
        <p:spPr>
          <a:xfrm>
            <a:off x="685800" y="19659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71600" y="18928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A build tool takes your JSX and modern JavaScript and bundles it into files browsers can run, plus a local dev server with fast reloading</a:t>
            </a:r>
            <a:endParaRPr lang="en-US" sz="1500" dirty="0"/>
          </a:p>
        </p:txBody>
      </p:sp>
      <p:sp>
        <p:nvSpPr>
          <p:cNvPr id="7" name="Shape 5"/>
          <p:cNvSpPr/>
          <p:nvPr/>
        </p:nvSpPr>
        <p:spPr>
          <a:xfrm>
            <a:off x="685800" y="2788920"/>
            <a:ext cx="457200" cy="457200"/>
          </a:xfrm>
          <a:prstGeom prst="ellipse">
            <a:avLst/>
          </a:prstGeom>
          <a:solidFill>
            <a:srgbClr val="FF8A3D"/>
          </a:solidFill>
          <a:ln/>
        </p:spPr>
      </p:sp>
      <p:sp>
        <p:nvSpPr>
          <p:cNvPr id="8" name="Text 6"/>
          <p:cNvSpPr txBox="1"/>
          <p:nvPr/>
        </p:nvSpPr>
        <p:spPr>
          <a:xfrm>
            <a:off x="685800" y="27889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371600" y="271576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Vite ("veet") is the modern standard — fast because it uses native ES modules during development instead of bundling the whole app on every change</a:t>
            </a:r>
            <a:endParaRPr lang="en-US" sz="1500" dirty="0"/>
          </a:p>
        </p:txBody>
      </p:sp>
      <p:sp>
        <p:nvSpPr>
          <p:cNvPr id="10" name="Shape 8"/>
          <p:cNvSpPr/>
          <p:nvPr/>
        </p:nvSpPr>
        <p:spPr>
          <a:xfrm>
            <a:off x="685800" y="3611880"/>
            <a:ext cx="457200" cy="457200"/>
          </a:xfrm>
          <a:prstGeom prst="ellipse">
            <a:avLst/>
          </a:prstGeom>
          <a:solidFill>
            <a:srgbClr val="FF8A3D"/>
          </a:solidFill>
          <a:ln/>
        </p:spPr>
      </p:sp>
      <p:sp>
        <p:nvSpPr>
          <p:cNvPr id="11" name="Text 9"/>
          <p:cNvSpPr txBox="1"/>
          <p:nvPr/>
        </p:nvSpPr>
        <p:spPr>
          <a:xfrm>
            <a:off x="685800" y="36118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371600" y="353872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Create React App (CRA) was the old official way to start a project — no longer actively maintained, noticeably slower than Vite</a:t>
            </a:r>
            <a:endParaRPr lang="en-US" sz="1500" dirty="0"/>
          </a:p>
        </p:txBody>
      </p:sp>
      <p:sp>
        <p:nvSpPr>
          <p:cNvPr id="13" name="Text 11"/>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14" name="Text 12"/>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SETTING UP VITE</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Creating a New Project</a:t>
            </a:r>
            <a:endParaRPr lang="en-US" sz="3400" dirty="0"/>
          </a:p>
        </p:txBody>
      </p:sp>
      <p:sp>
        <p:nvSpPr>
          <p:cNvPr id="4" name="Shape 2"/>
          <p:cNvSpPr/>
          <p:nvPr/>
        </p:nvSpPr>
        <p:spPr>
          <a:xfrm>
            <a:off x="640080" y="1965960"/>
            <a:ext cx="10911535" cy="1615440"/>
          </a:xfrm>
          <a:prstGeom prst="roundRect">
            <a:avLst>
              <a:gd name="adj" fmla="val 4528"/>
            </a:avLst>
          </a:prstGeom>
          <a:solidFill>
            <a:srgbClr val="1E1E4C"/>
          </a:solidFill>
          <a:ln/>
        </p:spPr>
      </p:sp>
      <p:sp>
        <p:nvSpPr>
          <p:cNvPr id="5" name="Text 3"/>
          <p:cNvSpPr txBox="1"/>
          <p:nvPr/>
        </p:nvSpPr>
        <p:spPr>
          <a:xfrm>
            <a:off x="960120" y="2194560"/>
            <a:ext cx="10271455" cy="1158240"/>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npm create vite@latest my-react-app -- --template react</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cd my-react-app</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npm install</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npm run dev</a:t>
            </a:r>
            <a:endParaRPr lang="en-US" sz="1400" dirty="0"/>
          </a:p>
        </p:txBody>
      </p:sp>
      <p:sp>
        <p:nvSpPr>
          <p:cNvPr id="6" name="Text 4"/>
          <p:cNvSpPr txBox="1"/>
          <p:nvPr/>
        </p:nvSpPr>
        <p:spPr>
          <a:xfrm>
            <a:off x="640080" y="3810000"/>
            <a:ext cx="10911535" cy="2453640"/>
          </a:xfrm>
          <a:prstGeom prst="rect">
            <a:avLst/>
          </a:prstGeom>
          <a:noFill/>
          <a:ln/>
        </p:spPr>
        <p:txBody>
          <a:bodyPr wrap="square" lIns="0" tIns="0" rIns="0" bIns="0" rtlCol="0" anchor="t"/>
          <a:lstStyle/>
          <a:p>
            <a:pPr indent="0" marL="0">
              <a:buNone/>
            </a:pPr>
            <a:r>
              <a:rPr lang="en-US" sz="1300" dirty="0">
                <a:solidFill>
                  <a:srgbClr val="26262F"/>
                </a:solidFill>
                <a:latin typeface="Calibri" pitchFamily="34" charset="0"/>
                <a:ea typeface="Calibri" pitchFamily="34" charset="-122"/>
                <a:cs typeface="Calibri" pitchFamily="34" charset="-120"/>
              </a:rPr>
              <a:t>Starts a local dev server (usually http://localhost:5173) with hot module replacement (HMR) — saving a file updates the browser instantly, without a full page reload.</a:t>
            </a:r>
            <a:endParaRPr lang="en-US" sz="1300" dirty="0"/>
          </a:p>
        </p:txBody>
      </p:sp>
      <p:sp>
        <p:nvSpPr>
          <p:cNvPr id="7"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SETTING UP VITE</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A Freshly Created Project's Folder Structure</a:t>
            </a:r>
            <a:endParaRPr lang="en-US" sz="3400" dirty="0"/>
          </a:p>
        </p:txBody>
      </p:sp>
      <p:sp>
        <p:nvSpPr>
          <p:cNvPr id="4" name="Shape 2"/>
          <p:cNvSpPr/>
          <p:nvPr/>
        </p:nvSpPr>
        <p:spPr>
          <a:xfrm>
            <a:off x="640080" y="1965960"/>
            <a:ext cx="10911535" cy="3215640"/>
          </a:xfrm>
          <a:prstGeom prst="roundRect">
            <a:avLst>
              <a:gd name="adj" fmla="val 2275"/>
            </a:avLst>
          </a:prstGeom>
          <a:solidFill>
            <a:srgbClr val="1E1E4C"/>
          </a:solidFill>
          <a:ln/>
        </p:spPr>
      </p:sp>
      <p:sp>
        <p:nvSpPr>
          <p:cNvPr id="5" name="Text 3"/>
          <p:cNvSpPr txBox="1"/>
          <p:nvPr/>
        </p:nvSpPr>
        <p:spPr>
          <a:xfrm>
            <a:off x="960120" y="2194560"/>
            <a:ext cx="10271455" cy="2758440"/>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my-react-app/</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index.html          # the single HTML page the app is injected into</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package.json         # project metadata and dependencies</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vite.config.js       # Vite's configuration file</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public/               # static assets copied as-is</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src/</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 main.jsx          # entry point: mounts &lt;App /&gt; into index.html</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 App.jsx            # the root component</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 App.css</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 index.css</a:t>
            </a:r>
            <a:endParaRPr lang="en-US" sz="1400" dirty="0"/>
          </a:p>
        </p:txBody>
      </p:sp>
      <p:sp>
        <p:nvSpPr>
          <p:cNvPr id="6" name="Text 4"/>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7" name="Text 5"/>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SETTING UP VITE</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main.jsx: Mounting the App</a:t>
            </a:r>
            <a:endParaRPr lang="en-US" sz="3400" dirty="0"/>
          </a:p>
        </p:txBody>
      </p:sp>
      <p:sp>
        <p:nvSpPr>
          <p:cNvPr id="4" name="Shape 2"/>
          <p:cNvSpPr/>
          <p:nvPr/>
        </p:nvSpPr>
        <p:spPr>
          <a:xfrm>
            <a:off x="640080" y="1965960"/>
            <a:ext cx="10911535" cy="2948940"/>
          </a:xfrm>
          <a:prstGeom prst="roundRect">
            <a:avLst>
              <a:gd name="adj" fmla="val 2481"/>
            </a:avLst>
          </a:prstGeom>
          <a:solidFill>
            <a:srgbClr val="1E1E4C"/>
          </a:solidFill>
          <a:ln/>
        </p:spPr>
      </p:sp>
      <p:sp>
        <p:nvSpPr>
          <p:cNvPr id="5" name="Text 3"/>
          <p:cNvSpPr txBox="1"/>
          <p:nvPr/>
        </p:nvSpPr>
        <p:spPr>
          <a:xfrm>
            <a:off x="960120" y="2194560"/>
            <a:ext cx="10271455" cy="2491740"/>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import { StrictMode } from "react";</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import { createRoot } from "react-dom/client";</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import App from "./App.jsx";</a:t>
            </a:r>
            <a:endParaRPr lang="en-US" sz="1400" dirty="0"/>
          </a:p>
          <a:p>
            <a:pPr indent="0" marL="0">
              <a:lnSpc>
                <a:spcPct val="125000"/>
              </a:lnSpc>
              <a:buNone/>
            </a:pP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createRoot(document.getElementById("root")).render(</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&lt;StrictMode&gt;</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&lt;App /&gt;</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&lt;/StrictMode&gt;</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a:t>
            </a:r>
            <a:endParaRPr lang="en-US" sz="1400" dirty="0"/>
          </a:p>
        </p:txBody>
      </p:sp>
      <p:sp>
        <p:nvSpPr>
          <p:cNvPr id="6" name="Text 4"/>
          <p:cNvSpPr txBox="1"/>
          <p:nvPr/>
        </p:nvSpPr>
        <p:spPr>
          <a:xfrm>
            <a:off x="640080" y="5143500"/>
            <a:ext cx="10911535" cy="1120140"/>
          </a:xfrm>
          <a:prstGeom prst="rect">
            <a:avLst/>
          </a:prstGeom>
          <a:noFill/>
          <a:ln/>
        </p:spPr>
        <p:txBody>
          <a:bodyPr wrap="square" lIns="0" tIns="0" rIns="0" bIns="0" rtlCol="0" anchor="t"/>
          <a:lstStyle/>
          <a:p>
            <a:pPr indent="0" marL="0">
              <a:buNone/>
            </a:pPr>
            <a:r>
              <a:rPr lang="en-US" sz="1300" dirty="0">
                <a:solidFill>
                  <a:srgbClr val="26262F"/>
                </a:solidFill>
                <a:latin typeface="Calibri" pitchFamily="34" charset="0"/>
                <a:ea typeface="Calibri" pitchFamily="34" charset="-122"/>
                <a:cs typeface="Calibri" pitchFamily="34" charset="-120"/>
              </a:rPr>
              <a:t>index.html contains one empty container, &lt;div id="root"&gt;. Everything your users see is ultimately rendered inside that single div — the essence of a single-page application.</a:t>
            </a:r>
            <a:endParaRPr lang="en-US" sz="1300" dirty="0"/>
          </a:p>
        </p:txBody>
      </p:sp>
      <p:sp>
        <p:nvSpPr>
          <p:cNvPr id="7"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JSX</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What Is JSX?</a:t>
            </a:r>
            <a:endParaRPr lang="en-US" sz="3400" dirty="0"/>
          </a:p>
        </p:txBody>
      </p:sp>
      <p:sp>
        <p:nvSpPr>
          <p:cNvPr id="4" name="Shape 2"/>
          <p:cNvSpPr/>
          <p:nvPr/>
        </p:nvSpPr>
        <p:spPr>
          <a:xfrm>
            <a:off x="685800" y="1965960"/>
            <a:ext cx="457200" cy="457200"/>
          </a:xfrm>
          <a:prstGeom prst="ellipse">
            <a:avLst/>
          </a:prstGeom>
          <a:solidFill>
            <a:srgbClr val="FF8A3D"/>
          </a:solidFill>
          <a:ln/>
        </p:spPr>
      </p:sp>
      <p:sp>
        <p:nvSpPr>
          <p:cNvPr id="5" name="Text 3"/>
          <p:cNvSpPr txBox="1"/>
          <p:nvPr/>
        </p:nvSpPr>
        <p:spPr>
          <a:xfrm>
            <a:off x="685800" y="19659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71600" y="18928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JSX (JavaScript XML): a syntax extension letting you write HTML-like markup directly inside JavaScript</a:t>
            </a:r>
            <a:endParaRPr lang="en-US" sz="1500" dirty="0"/>
          </a:p>
        </p:txBody>
      </p:sp>
      <p:sp>
        <p:nvSpPr>
          <p:cNvPr id="7" name="Shape 5"/>
          <p:cNvSpPr/>
          <p:nvPr/>
        </p:nvSpPr>
        <p:spPr>
          <a:xfrm>
            <a:off x="685800" y="2788920"/>
            <a:ext cx="457200" cy="457200"/>
          </a:xfrm>
          <a:prstGeom prst="ellipse">
            <a:avLst/>
          </a:prstGeom>
          <a:solidFill>
            <a:srgbClr val="FF8A3D"/>
          </a:solidFill>
          <a:ln/>
        </p:spPr>
      </p:sp>
      <p:sp>
        <p:nvSpPr>
          <p:cNvPr id="8" name="Text 6"/>
          <p:cNvSpPr txBox="1"/>
          <p:nvPr/>
        </p:nvSpPr>
        <p:spPr>
          <a:xfrm>
            <a:off x="685800" y="27889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371600" y="271576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Browsers cannot run JSX directly — Vite transforms it into React.createElement(...) calls before the code reaches the browser</a:t>
            </a:r>
            <a:endParaRPr lang="en-US" sz="1500" dirty="0"/>
          </a:p>
        </p:txBody>
      </p:sp>
      <p:sp>
        <p:nvSpPr>
          <p:cNvPr id="10" name="Shape 8"/>
          <p:cNvSpPr/>
          <p:nvPr/>
        </p:nvSpPr>
        <p:spPr>
          <a:xfrm>
            <a:off x="685800" y="3611880"/>
            <a:ext cx="457200" cy="457200"/>
          </a:xfrm>
          <a:prstGeom prst="ellipse">
            <a:avLst/>
          </a:prstGeom>
          <a:solidFill>
            <a:srgbClr val="FF8A3D"/>
          </a:solidFill>
          <a:ln/>
        </p:spPr>
      </p:sp>
      <p:sp>
        <p:nvSpPr>
          <p:cNvPr id="11" name="Text 9"/>
          <p:cNvSpPr txBox="1"/>
          <p:nvPr/>
        </p:nvSpPr>
        <p:spPr>
          <a:xfrm>
            <a:off x="685800" y="36118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371600" y="353872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You write JSX because it reads much closer to the HTML you already know, while still being plain JavaScript underneath</a:t>
            </a:r>
            <a:endParaRPr lang="en-US" sz="1500" dirty="0"/>
          </a:p>
        </p:txBody>
      </p:sp>
      <p:sp>
        <p:nvSpPr>
          <p:cNvPr id="13" name="Text 11"/>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14" name="Text 12"/>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JSX</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What JSX Compiles To</a:t>
            </a:r>
            <a:endParaRPr lang="en-US" sz="3400" dirty="0"/>
          </a:p>
        </p:txBody>
      </p:sp>
      <p:sp>
        <p:nvSpPr>
          <p:cNvPr id="4" name="Shape 2"/>
          <p:cNvSpPr/>
          <p:nvPr/>
        </p:nvSpPr>
        <p:spPr>
          <a:xfrm>
            <a:off x="640080" y="1965960"/>
            <a:ext cx="10911535" cy="1615440"/>
          </a:xfrm>
          <a:prstGeom prst="roundRect">
            <a:avLst>
              <a:gd name="adj" fmla="val 4528"/>
            </a:avLst>
          </a:prstGeom>
          <a:solidFill>
            <a:srgbClr val="1E1E4C"/>
          </a:solidFill>
          <a:ln/>
        </p:spPr>
      </p:sp>
      <p:sp>
        <p:nvSpPr>
          <p:cNvPr id="5" name="Text 3"/>
          <p:cNvSpPr txBox="1"/>
          <p:nvPr/>
        </p:nvSpPr>
        <p:spPr>
          <a:xfrm>
            <a:off x="960120" y="2194560"/>
            <a:ext cx="10271455" cy="1158240"/>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const element = &lt;h1&gt;Hello, world!&lt;/h1&gt;;</a:t>
            </a:r>
            <a:endParaRPr lang="en-US" sz="1400" dirty="0"/>
          </a:p>
          <a:p>
            <a:pPr indent="0" marL="0">
              <a:lnSpc>
                <a:spcPct val="125000"/>
              </a:lnSpc>
              <a:buNone/>
            </a:pP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Vite/Babel transforms the line above into approximately:</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const element2 = React.createElement("h1", null, "Hello, world!");</a:t>
            </a:r>
            <a:endParaRPr lang="en-US" sz="1400" dirty="0"/>
          </a:p>
        </p:txBody>
      </p:sp>
      <p:sp>
        <p:nvSpPr>
          <p:cNvPr id="6" name="Text 4"/>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7" name="Text 5"/>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JSX</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Embedding Expressions With { }</a:t>
            </a:r>
            <a:endParaRPr lang="en-US" sz="3400" dirty="0"/>
          </a:p>
        </p:txBody>
      </p:sp>
      <p:sp>
        <p:nvSpPr>
          <p:cNvPr id="4" name="Shape 2"/>
          <p:cNvSpPr/>
          <p:nvPr/>
        </p:nvSpPr>
        <p:spPr>
          <a:xfrm>
            <a:off x="640080" y="2501265"/>
            <a:ext cx="5272888" cy="3272790"/>
          </a:xfrm>
          <a:prstGeom prst="roundRect">
            <a:avLst>
              <a:gd name="adj" fmla="val 2235"/>
            </a:avLst>
          </a:prstGeom>
          <a:solidFill>
            <a:srgbClr val="1E1E4C"/>
          </a:solidFill>
          <a:ln/>
        </p:spPr>
      </p:sp>
      <p:sp>
        <p:nvSpPr>
          <p:cNvPr id="5" name="Text 3"/>
          <p:cNvSpPr txBox="1"/>
          <p:nvPr/>
        </p:nvSpPr>
        <p:spPr>
          <a:xfrm>
            <a:off x="960120" y="2729865"/>
            <a:ext cx="4632808" cy="2815590"/>
          </a:xfrm>
          <a:prstGeom prst="rect">
            <a:avLst/>
          </a:prstGeom>
          <a:noFill/>
          <a:ln/>
        </p:spPr>
        <p:txBody>
          <a:bodyPr wrap="square" lIns="0" tIns="0" rIns="0" bIns="0" rtlCol="0" anchor="t"/>
          <a:lstStyle/>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function UserGreeting({ name }) {</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const hour = new Date().getHours();</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const timeOfDay = hour &lt; 12</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 "morning" : "afternoon";</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return (</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&lt;p&gt;</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Good {timeOfDay},</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{name.toUpperCase()}!</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&lt;/p&gt;</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a:t>
            </a:r>
            <a:endParaRPr lang="en-US" sz="1300" dirty="0"/>
          </a:p>
        </p:txBody>
      </p:sp>
      <p:sp>
        <p:nvSpPr>
          <p:cNvPr id="6" name="Shape 4"/>
          <p:cNvSpPr/>
          <p:nvPr/>
        </p:nvSpPr>
        <p:spPr>
          <a:xfrm>
            <a:off x="6169000" y="1947672"/>
            <a:ext cx="5492344" cy="4379976"/>
          </a:xfrm>
          <a:prstGeom prst="roundRect">
            <a:avLst>
              <a:gd name="adj" fmla="val 1253"/>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sp>
      <p:pic>
        <p:nvPicPr>
          <p:cNvPr id="7" name="Image 0" descr="D:/GitHub/mern-web-book/docs/assets/img/lecture-26/user-greeting-render.png">    </p:cNvPr>
          <p:cNvPicPr>
            <a:picLocks noChangeAspect="1"/>
          </p:cNvPicPr>
          <p:nvPr/>
        </p:nvPicPr>
        <p:blipFill>
          <a:blip r:embed="rId1"/>
          <a:stretch>
            <a:fillRect/>
          </a:stretch>
        </p:blipFill>
        <p:spPr>
          <a:xfrm>
            <a:off x="6278728" y="3703745"/>
            <a:ext cx="5272888" cy="867829"/>
          </a:xfrm>
          <a:prstGeom prst="rect">
            <a:avLst/>
          </a:prstGeom>
        </p:spPr>
      </p:pic>
      <p:sp>
        <p:nvSpPr>
          <p:cNvPr id="8"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9"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JSX</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JSX Rules to Remember</a:t>
            </a:r>
            <a:endParaRPr lang="en-US" sz="3400" dirty="0"/>
          </a:p>
        </p:txBody>
      </p:sp>
      <p:sp>
        <p:nvSpPr>
          <p:cNvPr id="4" name="Shape 2"/>
          <p:cNvSpPr/>
          <p:nvPr/>
        </p:nvSpPr>
        <p:spPr>
          <a:xfrm>
            <a:off x="640080" y="1965960"/>
            <a:ext cx="10911535" cy="1920240"/>
          </a:xfrm>
          <a:prstGeom prst="roundRect">
            <a:avLst>
              <a:gd name="adj" fmla="val 2857"/>
            </a:avLst>
          </a:prstGeom>
          <a:solidFill>
            <a:srgbClr val="FDECE0"/>
          </a:solidFill>
          <a:ln w="12700">
            <a:solidFill>
              <a:srgbClr val="FF8A3D"/>
            </a:solidFill>
            <a:prstDash val="solid"/>
          </a:ln>
        </p:spPr>
      </p:sp>
      <p:sp>
        <p:nvSpPr>
          <p:cNvPr id="5" name="Text 3"/>
          <p:cNvSpPr txBox="1"/>
          <p:nvPr/>
        </p:nvSpPr>
        <p:spPr>
          <a:xfrm>
            <a:off x="868680" y="2103120"/>
            <a:ext cx="10454335" cy="274320"/>
          </a:xfrm>
          <a:prstGeom prst="rect">
            <a:avLst/>
          </a:prstGeom>
          <a:noFill/>
          <a:ln/>
        </p:spPr>
        <p:txBody>
          <a:bodyPr wrap="square" lIns="0" tIns="0" rIns="0" bIns="0" rtlCol="0" anchor="ctr"/>
          <a:lstStyle/>
          <a:p>
            <a:pPr indent="0" marL="0">
              <a:buNone/>
            </a:pPr>
            <a:r>
              <a:rPr lang="en-US" sz="1000" b="1" spc="200" kern="0" dirty="0">
                <a:solidFill>
                  <a:srgbClr val="8A3A12"/>
                </a:solidFill>
                <a:latin typeface="Calibri" pitchFamily="34" charset="0"/>
                <a:ea typeface="Calibri" pitchFamily="34" charset="-122"/>
                <a:cs typeface="Calibri" pitchFamily="34" charset="-120"/>
              </a:rPr>
              <a:t>WARNING</a:t>
            </a:r>
            <a:endParaRPr lang="en-US" sz="1000" dirty="0"/>
          </a:p>
        </p:txBody>
      </p:sp>
      <p:sp>
        <p:nvSpPr>
          <p:cNvPr id="6" name="Text 4"/>
          <p:cNvSpPr txBox="1"/>
          <p:nvPr/>
        </p:nvSpPr>
        <p:spPr>
          <a:xfrm>
            <a:off x="868680" y="2404872"/>
            <a:ext cx="10454335" cy="1325880"/>
          </a:xfrm>
          <a:prstGeom prst="rect">
            <a:avLst/>
          </a:prstGeom>
          <a:noFill/>
          <a:ln/>
        </p:spPr>
        <p:txBody>
          <a:bodyPr wrap="square" lIns="0" tIns="0" rIns="0" bIns="0" rtlCol="0" anchor="t"/>
          <a:lstStyle/>
          <a:p>
            <a:pPr indent="0" marL="0">
              <a:buNone/>
            </a:pPr>
            <a:r>
              <a:rPr lang="en-US" sz="1250" dirty="0">
                <a:solidFill>
                  <a:srgbClr val="26262F"/>
                </a:solidFill>
                <a:latin typeface="Calibri" pitchFamily="34" charset="0"/>
                <a:ea typeface="Calibri" pitchFamily="34" charset="-122"/>
                <a:cs typeface="Calibri" pitchFamily="34" charset="-120"/>
              </a:rPr>
              <a:t>A component must return a single root element (or a Fragment). Use className instead of class. Every tag must be closed, including self-closing tags like &lt;img /&gt;. Curly braces { } can only hold expressions, not statements like if or for.</a:t>
            </a:r>
            <a:endParaRPr lang="en-US" sz="1250" dirty="0"/>
          </a:p>
        </p:txBody>
      </p:sp>
      <p:sp>
        <p:nvSpPr>
          <p:cNvPr id="7"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CONDITIONAL RENDERING</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Expressions That Evaluate to JSX</a:t>
            </a:r>
            <a:endParaRPr lang="en-US" sz="3400" dirty="0"/>
          </a:p>
        </p:txBody>
      </p:sp>
      <p:sp>
        <p:nvSpPr>
          <p:cNvPr id="4" name="Shape 2"/>
          <p:cNvSpPr/>
          <p:nvPr/>
        </p:nvSpPr>
        <p:spPr>
          <a:xfrm>
            <a:off x="640080" y="1965960"/>
            <a:ext cx="10911535" cy="3291840"/>
          </a:xfrm>
          <a:prstGeom prst="roundRect">
            <a:avLst>
              <a:gd name="adj" fmla="val 2222"/>
            </a:avLst>
          </a:prstGeom>
          <a:solidFill>
            <a:srgbClr val="1E1E4C"/>
          </a:solidFill>
          <a:ln/>
        </p:spPr>
      </p:sp>
      <p:sp>
        <p:nvSpPr>
          <p:cNvPr id="5" name="Text 3"/>
          <p:cNvSpPr txBox="1"/>
          <p:nvPr/>
        </p:nvSpPr>
        <p:spPr>
          <a:xfrm>
            <a:off x="960120" y="2194560"/>
            <a:ext cx="10271455" cy="2834640"/>
          </a:xfrm>
          <a:prstGeom prst="rect">
            <a:avLst/>
          </a:prstGeom>
          <a:noFill/>
          <a:ln/>
        </p:spPr>
        <p:txBody>
          <a:bodyPr wrap="square" lIns="0" tIns="0" rIns="0" bIns="0" rtlCol="0" anchor="t"/>
          <a:lstStyle/>
          <a:p>
            <a:pPr indent="0" marL="0">
              <a:lnSpc>
                <a:spcPct val="125000"/>
              </a:lnSpc>
              <a:buNone/>
            </a:pPr>
            <a:r>
              <a:rPr lang="en-US" sz="1108" dirty="0">
                <a:solidFill>
                  <a:srgbClr val="C9D3F5"/>
                </a:solidFill>
                <a:latin typeface="Courier New" pitchFamily="34" charset="0"/>
                <a:ea typeface="Courier New" pitchFamily="34" charset="-122"/>
                <a:cs typeface="Courier New" pitchFamily="34" charset="-120"/>
              </a:rPr>
              <a:t>function LoginStatus({ isLoggedIn }) {</a:t>
            </a:r>
            <a:endParaRPr lang="en-US" sz="1108" dirty="0"/>
          </a:p>
          <a:p>
            <a:pPr indent="0" marL="0">
              <a:lnSpc>
                <a:spcPct val="125000"/>
              </a:lnSpc>
              <a:buNone/>
            </a:pPr>
            <a:r>
              <a:rPr lang="en-US" sz="1108" dirty="0">
                <a:solidFill>
                  <a:srgbClr val="C9D3F5"/>
                </a:solidFill>
                <a:latin typeface="Courier New" pitchFamily="34" charset="0"/>
                <a:ea typeface="Courier New" pitchFamily="34" charset="-122"/>
                <a:cs typeface="Courier New" pitchFamily="34" charset="-120"/>
              </a:rPr>
              <a:t>  if (isLoggedIn) return &lt;p&gt;Welcome back!&lt;/p&gt;;</a:t>
            </a:r>
            <a:endParaRPr lang="en-US" sz="1108" dirty="0"/>
          </a:p>
          <a:p>
            <a:pPr indent="0" marL="0">
              <a:lnSpc>
                <a:spcPct val="125000"/>
              </a:lnSpc>
              <a:buNone/>
            </a:pPr>
            <a:r>
              <a:rPr lang="en-US" sz="1108" dirty="0">
                <a:solidFill>
                  <a:srgbClr val="C9D3F5"/>
                </a:solidFill>
                <a:latin typeface="Courier New" pitchFamily="34" charset="0"/>
                <a:ea typeface="Courier New" pitchFamily="34" charset="-122"/>
                <a:cs typeface="Courier New" pitchFamily="34" charset="-120"/>
              </a:rPr>
              <a:t>  return &lt;p&gt;Please log in.&lt;/p&gt;;</a:t>
            </a:r>
            <a:endParaRPr lang="en-US" sz="1108" dirty="0"/>
          </a:p>
          <a:p>
            <a:pPr indent="0" marL="0">
              <a:lnSpc>
                <a:spcPct val="125000"/>
              </a:lnSpc>
              <a:buNone/>
            </a:pPr>
            <a:r>
              <a:rPr lang="en-US" sz="1108" dirty="0">
                <a:solidFill>
                  <a:srgbClr val="C9D3F5"/>
                </a:solidFill>
                <a:latin typeface="Courier New" pitchFamily="34" charset="0"/>
                <a:ea typeface="Courier New" pitchFamily="34" charset="-122"/>
                <a:cs typeface="Courier New" pitchFamily="34" charset="-120"/>
              </a:rPr>
              <a:t>}</a:t>
            </a:r>
            <a:endParaRPr lang="en-US" sz="1108" dirty="0"/>
          </a:p>
          <a:p>
            <a:pPr indent="0" marL="0">
              <a:lnSpc>
                <a:spcPct val="125000"/>
              </a:lnSpc>
              <a:buNone/>
            </a:pPr>
            <a:endParaRPr lang="en-US" sz="1108" dirty="0"/>
          </a:p>
          <a:p>
            <a:pPr indent="0" marL="0">
              <a:lnSpc>
                <a:spcPct val="125000"/>
              </a:lnSpc>
              <a:buNone/>
            </a:pPr>
            <a:r>
              <a:rPr lang="en-US" sz="1108" dirty="0">
                <a:solidFill>
                  <a:srgbClr val="C9D3F5"/>
                </a:solidFill>
                <a:latin typeface="Courier New" pitchFamily="34" charset="0"/>
                <a:ea typeface="Courier New" pitchFamily="34" charset="-122"/>
                <a:cs typeface="Courier New" pitchFamily="34" charset="-120"/>
              </a:rPr>
              <a:t>function Notification({ count }) {</a:t>
            </a:r>
            <a:endParaRPr lang="en-US" sz="1108" dirty="0"/>
          </a:p>
          <a:p>
            <a:pPr indent="0" marL="0">
              <a:lnSpc>
                <a:spcPct val="125000"/>
              </a:lnSpc>
              <a:buNone/>
            </a:pPr>
            <a:r>
              <a:rPr lang="en-US" sz="1108" dirty="0">
                <a:solidFill>
                  <a:srgbClr val="C9D3F5"/>
                </a:solidFill>
                <a:latin typeface="Courier New" pitchFamily="34" charset="0"/>
                <a:ea typeface="Courier New" pitchFamily="34" charset="-122"/>
                <a:cs typeface="Courier New" pitchFamily="34" charset="-120"/>
              </a:rPr>
              <a:t>  return (</a:t>
            </a:r>
            <a:endParaRPr lang="en-US" sz="1108" dirty="0"/>
          </a:p>
          <a:p>
            <a:pPr indent="0" marL="0">
              <a:lnSpc>
                <a:spcPct val="125000"/>
              </a:lnSpc>
              <a:buNone/>
            </a:pPr>
            <a:r>
              <a:rPr lang="en-US" sz="1108" dirty="0">
                <a:solidFill>
                  <a:srgbClr val="C9D3F5"/>
                </a:solidFill>
                <a:latin typeface="Courier New" pitchFamily="34" charset="0"/>
                <a:ea typeface="Courier New" pitchFamily="34" charset="-122"/>
                <a:cs typeface="Courier New" pitchFamily="34" charset="-120"/>
              </a:rPr>
              <a:t>    &lt;div&gt;</a:t>
            </a:r>
            <a:endParaRPr lang="en-US" sz="1108" dirty="0"/>
          </a:p>
          <a:p>
            <a:pPr indent="0" marL="0">
              <a:lnSpc>
                <a:spcPct val="125000"/>
              </a:lnSpc>
              <a:buNone/>
            </a:pPr>
            <a:r>
              <a:rPr lang="en-US" sz="1108" dirty="0">
                <a:solidFill>
                  <a:srgbClr val="C9D3F5"/>
                </a:solidFill>
                <a:latin typeface="Courier New" pitchFamily="34" charset="0"/>
                <a:ea typeface="Courier New" pitchFamily="34" charset="-122"/>
                <a:cs typeface="Courier New" pitchFamily="34" charset="-120"/>
              </a:rPr>
              <a:t>      {count &gt; 0 &amp;&amp; &lt;span className="badge"&gt;{count} new&lt;/span&gt;}</a:t>
            </a:r>
            <a:endParaRPr lang="en-US" sz="1108" dirty="0"/>
          </a:p>
          <a:p>
            <a:pPr indent="0" marL="0">
              <a:lnSpc>
                <a:spcPct val="125000"/>
              </a:lnSpc>
              <a:buNone/>
            </a:pPr>
            <a:r>
              <a:rPr lang="en-US" sz="1108" dirty="0">
                <a:solidFill>
                  <a:srgbClr val="C9D3F5"/>
                </a:solidFill>
                <a:latin typeface="Courier New" pitchFamily="34" charset="0"/>
                <a:ea typeface="Courier New" pitchFamily="34" charset="-122"/>
                <a:cs typeface="Courier New" pitchFamily="34" charset="-120"/>
              </a:rPr>
              <a:t>      {count === 0 ? &lt;span&gt;No notifications&lt;/span&gt; : null}</a:t>
            </a:r>
            <a:endParaRPr lang="en-US" sz="1108" dirty="0"/>
          </a:p>
          <a:p>
            <a:pPr indent="0" marL="0">
              <a:lnSpc>
                <a:spcPct val="125000"/>
              </a:lnSpc>
              <a:buNone/>
            </a:pPr>
            <a:r>
              <a:rPr lang="en-US" sz="1108" dirty="0">
                <a:solidFill>
                  <a:srgbClr val="C9D3F5"/>
                </a:solidFill>
                <a:latin typeface="Courier New" pitchFamily="34" charset="0"/>
                <a:ea typeface="Courier New" pitchFamily="34" charset="-122"/>
                <a:cs typeface="Courier New" pitchFamily="34" charset="-120"/>
              </a:rPr>
              <a:t>    &lt;/div&gt;</a:t>
            </a:r>
            <a:endParaRPr lang="en-US" sz="1108" dirty="0"/>
          </a:p>
          <a:p>
            <a:pPr indent="0" marL="0">
              <a:lnSpc>
                <a:spcPct val="125000"/>
              </a:lnSpc>
              <a:buNone/>
            </a:pPr>
            <a:r>
              <a:rPr lang="en-US" sz="1108" dirty="0">
                <a:solidFill>
                  <a:srgbClr val="C9D3F5"/>
                </a:solidFill>
                <a:latin typeface="Courier New" pitchFamily="34" charset="0"/>
                <a:ea typeface="Courier New" pitchFamily="34" charset="-122"/>
                <a:cs typeface="Courier New" pitchFamily="34" charset="-120"/>
              </a:rPr>
              <a:t>  );</a:t>
            </a:r>
            <a:endParaRPr lang="en-US" sz="1108" dirty="0"/>
          </a:p>
          <a:p>
            <a:pPr indent="0" marL="0">
              <a:lnSpc>
                <a:spcPct val="125000"/>
              </a:lnSpc>
              <a:buNone/>
            </a:pPr>
            <a:r>
              <a:rPr lang="en-US" sz="1108" dirty="0">
                <a:solidFill>
                  <a:srgbClr val="C9D3F5"/>
                </a:solidFill>
                <a:latin typeface="Courier New" pitchFamily="34" charset="0"/>
                <a:ea typeface="Courier New" pitchFamily="34" charset="-122"/>
                <a:cs typeface="Courier New" pitchFamily="34" charset="-120"/>
              </a:rPr>
              <a:t>}</a:t>
            </a:r>
            <a:endParaRPr lang="en-US" sz="1108" dirty="0"/>
          </a:p>
        </p:txBody>
      </p:sp>
      <p:sp>
        <p:nvSpPr>
          <p:cNvPr id="6" name="Text 4"/>
          <p:cNvSpPr txBox="1"/>
          <p:nvPr/>
        </p:nvSpPr>
        <p:spPr>
          <a:xfrm>
            <a:off x="640080" y="5486400"/>
            <a:ext cx="10911535" cy="777240"/>
          </a:xfrm>
          <a:prstGeom prst="rect">
            <a:avLst/>
          </a:prstGeom>
          <a:noFill/>
          <a:ln/>
        </p:spPr>
        <p:txBody>
          <a:bodyPr wrap="square" lIns="0" tIns="0" rIns="0" bIns="0" rtlCol="0" anchor="t"/>
          <a:lstStyle/>
          <a:p>
            <a:pPr indent="0" marL="0">
              <a:buNone/>
            </a:pPr>
            <a:r>
              <a:rPr lang="en-US" sz="1300" dirty="0">
                <a:solidFill>
                  <a:srgbClr val="26262F"/>
                </a:solidFill>
                <a:latin typeface="Calibri" pitchFamily="34" charset="0"/>
                <a:ea typeface="Calibri" pitchFamily="34" charset="-122"/>
                <a:cs typeface="Calibri" pitchFamily="34" charset="-120"/>
              </a:rPr>
              <a:t>count &gt; 0 &amp;&amp; &lt;span&gt;...&lt;/span&gt; renders the span only when truthy, otherwise nothing. The ternary chooses between two different pieces of UI.</a:t>
            </a:r>
            <a:endParaRPr lang="en-US" sz="1300" dirty="0"/>
          </a:p>
        </p:txBody>
      </p:sp>
      <p:sp>
        <p:nvSpPr>
          <p:cNvPr id="7"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CONDITIONAL RENDERING</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Notification, Two States</a:t>
            </a:r>
            <a:endParaRPr lang="en-US" sz="3400" dirty="0"/>
          </a:p>
        </p:txBody>
      </p:sp>
      <p:sp>
        <p:nvSpPr>
          <p:cNvPr id="4" name="Text 2"/>
          <p:cNvSpPr txBox="1"/>
          <p:nvPr/>
        </p:nvSpPr>
        <p:spPr>
          <a:xfrm>
            <a:off x="640080" y="1965960"/>
            <a:ext cx="5272888" cy="365760"/>
          </a:xfrm>
          <a:prstGeom prst="rect">
            <a:avLst/>
          </a:prstGeom>
          <a:noFill/>
          <a:ln/>
        </p:spPr>
        <p:txBody>
          <a:bodyPr wrap="square" lIns="0" tIns="0" rIns="0" bIns="0" rtlCol="0" anchor="ctr"/>
          <a:lstStyle/>
          <a:p>
            <a:pPr algn="ctr" indent="0" marL="0">
              <a:buNone/>
            </a:pPr>
            <a:r>
              <a:rPr lang="en-US" sz="1100" b="1" spc="150" kern="0" dirty="0">
                <a:solidFill>
                  <a:srgbClr val="E67528"/>
                </a:solidFill>
                <a:latin typeface="Calibri" pitchFamily="34" charset="0"/>
                <a:ea typeface="Calibri" pitchFamily="34" charset="-122"/>
                <a:cs typeface="Calibri" pitchFamily="34" charset="-120"/>
              </a:rPr>
              <a:t>COUNT = 3</a:t>
            </a:r>
            <a:endParaRPr lang="en-US" sz="1100" dirty="0"/>
          </a:p>
        </p:txBody>
      </p:sp>
      <p:sp>
        <p:nvSpPr>
          <p:cNvPr id="5" name="Shape 3"/>
          <p:cNvSpPr/>
          <p:nvPr/>
        </p:nvSpPr>
        <p:spPr>
          <a:xfrm>
            <a:off x="530352" y="2313432"/>
            <a:ext cx="5492344" cy="3831336"/>
          </a:xfrm>
          <a:prstGeom prst="roundRect">
            <a:avLst>
              <a:gd name="adj" fmla="val 1432"/>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sp>
      <p:pic>
        <p:nvPicPr>
          <p:cNvPr id="6" name="Image 0" descr="D:/GitHub/mern-web-book/docs/assets/img/lecture-26/notification-badge-render.png">    </p:cNvPr>
          <p:cNvPicPr>
            <a:picLocks noChangeAspect="1"/>
          </p:cNvPicPr>
          <p:nvPr/>
        </p:nvPicPr>
        <p:blipFill>
          <a:blip r:embed="rId1"/>
          <a:stretch>
            <a:fillRect/>
          </a:stretch>
        </p:blipFill>
        <p:spPr>
          <a:xfrm>
            <a:off x="640080" y="3635900"/>
            <a:ext cx="5272888" cy="1186400"/>
          </a:xfrm>
          <a:prstGeom prst="rect">
            <a:avLst/>
          </a:prstGeom>
        </p:spPr>
      </p:pic>
      <p:sp>
        <p:nvSpPr>
          <p:cNvPr id="7" name="Text 4"/>
          <p:cNvSpPr txBox="1"/>
          <p:nvPr/>
        </p:nvSpPr>
        <p:spPr>
          <a:xfrm>
            <a:off x="6278728" y="1965960"/>
            <a:ext cx="5272888" cy="365760"/>
          </a:xfrm>
          <a:prstGeom prst="rect">
            <a:avLst/>
          </a:prstGeom>
          <a:noFill/>
          <a:ln/>
        </p:spPr>
        <p:txBody>
          <a:bodyPr wrap="square" lIns="0" tIns="0" rIns="0" bIns="0" rtlCol="0" anchor="ctr"/>
          <a:lstStyle/>
          <a:p>
            <a:pPr algn="ctr" indent="0" marL="0">
              <a:buNone/>
            </a:pPr>
            <a:r>
              <a:rPr lang="en-US" sz="1100" b="1" spc="150" kern="0" dirty="0">
                <a:solidFill>
                  <a:srgbClr val="E67528"/>
                </a:solidFill>
                <a:latin typeface="Calibri" pitchFamily="34" charset="0"/>
                <a:ea typeface="Calibri" pitchFamily="34" charset="-122"/>
                <a:cs typeface="Calibri" pitchFamily="34" charset="-120"/>
              </a:rPr>
              <a:t>COUNT = 0</a:t>
            </a:r>
            <a:endParaRPr lang="en-US" sz="1100" dirty="0"/>
          </a:p>
        </p:txBody>
      </p:sp>
      <p:sp>
        <p:nvSpPr>
          <p:cNvPr id="8" name="Shape 5"/>
          <p:cNvSpPr/>
          <p:nvPr/>
        </p:nvSpPr>
        <p:spPr>
          <a:xfrm>
            <a:off x="6169000" y="2313432"/>
            <a:ext cx="5492344" cy="3831336"/>
          </a:xfrm>
          <a:prstGeom prst="roundRect">
            <a:avLst>
              <a:gd name="adj" fmla="val 1432"/>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sp>
      <p:pic>
        <p:nvPicPr>
          <p:cNvPr id="9" name="Image 1" descr="D:/GitHub/mern-web-book/docs/assets/img/lecture-26/notification-none-render.png">    </p:cNvPr>
          <p:cNvPicPr>
            <a:picLocks noChangeAspect="1"/>
          </p:cNvPicPr>
          <p:nvPr/>
        </p:nvPicPr>
        <p:blipFill>
          <a:blip r:embed="rId2"/>
          <a:stretch>
            <a:fillRect/>
          </a:stretch>
        </p:blipFill>
        <p:spPr>
          <a:xfrm>
            <a:off x="6278728" y="3635900"/>
            <a:ext cx="5272888" cy="1186400"/>
          </a:xfrm>
          <a:prstGeom prst="rect">
            <a:avLst/>
          </a:prstGeom>
        </p:spPr>
      </p:pic>
      <p:sp>
        <p:nvSpPr>
          <p:cNvPr id="10" name="Text 6"/>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11" name="Text 7"/>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RENDERING LISTS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.map() and the key Prop</a:t>
            </a:r>
            <a:endParaRPr lang="en-US" sz="3400" dirty="0"/>
          </a:p>
        </p:txBody>
      </p:sp>
      <p:sp>
        <p:nvSpPr>
          <p:cNvPr id="4" name="Shape 2"/>
          <p:cNvSpPr/>
          <p:nvPr/>
        </p:nvSpPr>
        <p:spPr>
          <a:xfrm>
            <a:off x="640080" y="2501265"/>
            <a:ext cx="5272888" cy="3272790"/>
          </a:xfrm>
          <a:prstGeom prst="roundRect">
            <a:avLst>
              <a:gd name="adj" fmla="val 2235"/>
            </a:avLst>
          </a:prstGeom>
          <a:solidFill>
            <a:srgbClr val="1E1E4C"/>
          </a:solidFill>
          <a:ln/>
        </p:spPr>
      </p:sp>
      <p:sp>
        <p:nvSpPr>
          <p:cNvPr id="5" name="Text 3"/>
          <p:cNvSpPr txBox="1"/>
          <p:nvPr/>
        </p:nvSpPr>
        <p:spPr>
          <a:xfrm>
            <a:off x="960120" y="2729865"/>
            <a:ext cx="4632808" cy="2815590"/>
          </a:xfrm>
          <a:prstGeom prst="rect">
            <a:avLst/>
          </a:prstGeom>
          <a:noFill/>
          <a:ln/>
        </p:spPr>
        <p:txBody>
          <a:bodyPr wrap="square" lIns="0" tIns="0" rIns="0" bIns="0" rtlCol="0" anchor="t"/>
          <a:lstStyle/>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function ProductList({ products }) {</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return (</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&lt;ul&gt;</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{products.map((p) =&gt; (</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&lt;li key={p.id}&gt;</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{p.name} — ${p.price}</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&lt;/li&gt;</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&lt;/ul&gt;</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a:t>
            </a:r>
            <a:endParaRPr lang="en-US" sz="1300" dirty="0"/>
          </a:p>
        </p:txBody>
      </p:sp>
      <p:sp>
        <p:nvSpPr>
          <p:cNvPr id="6" name="Shape 4"/>
          <p:cNvSpPr/>
          <p:nvPr/>
        </p:nvSpPr>
        <p:spPr>
          <a:xfrm>
            <a:off x="6169000" y="1947672"/>
            <a:ext cx="5492344" cy="4379976"/>
          </a:xfrm>
          <a:prstGeom prst="roundRect">
            <a:avLst>
              <a:gd name="adj" fmla="val 1253"/>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sp>
      <p:pic>
        <p:nvPicPr>
          <p:cNvPr id="7" name="Image 0" descr="D:/GitHub/mern-web-book/docs/assets/img/lecture-26/product-list-render.png">    </p:cNvPr>
          <p:cNvPicPr>
            <a:picLocks noChangeAspect="1"/>
          </p:cNvPicPr>
          <p:nvPr/>
        </p:nvPicPr>
        <p:blipFill>
          <a:blip r:embed="rId1"/>
          <a:stretch>
            <a:fillRect/>
          </a:stretch>
        </p:blipFill>
        <p:spPr>
          <a:xfrm>
            <a:off x="6278728" y="3232880"/>
            <a:ext cx="5272888" cy="1809559"/>
          </a:xfrm>
          <a:prstGeom prst="rect">
            <a:avLst/>
          </a:prstGeom>
        </p:spPr>
      </p:pic>
      <p:sp>
        <p:nvSpPr>
          <p:cNvPr id="8"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9"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RENDERING LISTS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Don't Use the Array Index as a Key</a:t>
            </a:r>
            <a:endParaRPr lang="en-US" sz="3400" dirty="0"/>
          </a:p>
        </p:txBody>
      </p:sp>
      <p:sp>
        <p:nvSpPr>
          <p:cNvPr id="4" name="Shape 2"/>
          <p:cNvSpPr/>
          <p:nvPr/>
        </p:nvSpPr>
        <p:spPr>
          <a:xfrm>
            <a:off x="640080" y="1965960"/>
            <a:ext cx="10911535" cy="1828800"/>
          </a:xfrm>
          <a:prstGeom prst="roundRect">
            <a:avLst>
              <a:gd name="adj" fmla="val 3000"/>
            </a:avLst>
          </a:prstGeom>
          <a:solidFill>
            <a:srgbClr val="FDECE0"/>
          </a:solidFill>
          <a:ln w="12700">
            <a:solidFill>
              <a:srgbClr val="FF8A3D"/>
            </a:solidFill>
            <a:prstDash val="solid"/>
          </a:ln>
        </p:spPr>
      </p:sp>
      <p:sp>
        <p:nvSpPr>
          <p:cNvPr id="5" name="Text 3"/>
          <p:cNvSpPr txBox="1"/>
          <p:nvPr/>
        </p:nvSpPr>
        <p:spPr>
          <a:xfrm>
            <a:off x="868680" y="2103120"/>
            <a:ext cx="10454335" cy="274320"/>
          </a:xfrm>
          <a:prstGeom prst="rect">
            <a:avLst/>
          </a:prstGeom>
          <a:noFill/>
          <a:ln/>
        </p:spPr>
        <p:txBody>
          <a:bodyPr wrap="square" lIns="0" tIns="0" rIns="0" bIns="0" rtlCol="0" anchor="ctr"/>
          <a:lstStyle/>
          <a:p>
            <a:pPr indent="0" marL="0">
              <a:buNone/>
            </a:pPr>
            <a:r>
              <a:rPr lang="en-US" sz="1000" b="1" spc="200" kern="0" dirty="0">
                <a:solidFill>
                  <a:srgbClr val="8A3A12"/>
                </a:solidFill>
                <a:latin typeface="Calibri" pitchFamily="34" charset="0"/>
                <a:ea typeface="Calibri" pitchFamily="34" charset="-122"/>
                <a:cs typeface="Calibri" pitchFamily="34" charset="-120"/>
              </a:rPr>
              <a:t>WARNING</a:t>
            </a:r>
            <a:endParaRPr lang="en-US" sz="1000" dirty="0"/>
          </a:p>
        </p:txBody>
      </p:sp>
      <p:sp>
        <p:nvSpPr>
          <p:cNvPr id="6" name="Text 4"/>
          <p:cNvSpPr txBox="1"/>
          <p:nvPr/>
        </p:nvSpPr>
        <p:spPr>
          <a:xfrm>
            <a:off x="868680" y="2404872"/>
            <a:ext cx="10454335" cy="1234440"/>
          </a:xfrm>
          <a:prstGeom prst="rect">
            <a:avLst/>
          </a:prstGeom>
          <a:noFill/>
          <a:ln/>
        </p:spPr>
        <p:txBody>
          <a:bodyPr wrap="square" lIns="0" tIns="0" rIns="0" bIns="0" rtlCol="0" anchor="t"/>
          <a:lstStyle/>
          <a:p>
            <a:pPr indent="0" marL="0">
              <a:buNone/>
            </a:pPr>
            <a:r>
              <a:rPr lang="en-US" sz="1250" dirty="0">
                <a:solidFill>
                  <a:srgbClr val="26262F"/>
                </a:solidFill>
                <a:latin typeface="Calibri" pitchFamily="34" charset="0"/>
                <a:ea typeface="Calibri" pitchFamily="34" charset="-122"/>
                <a:cs typeface="Calibri" pitchFamily="34" charset="-120"/>
              </a:rPr>
              <a:t>It's tempting to write key={index} — fine for static lists that never reorder. But if the list CAN change, using the index can mix up which DOM element belongs to which data (subtle bugs like inputs showing the wrong value). Prefer a stable, unique identifier from your data, such as a database id.</a:t>
            </a:r>
            <a:endParaRPr lang="en-US" sz="1250" dirty="0"/>
          </a:p>
        </p:txBody>
      </p:sp>
      <p:sp>
        <p:nvSpPr>
          <p:cNvPr id="7"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RENDERING APPROACHES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CSR, SSR, SSG, and Hydration</a:t>
            </a:r>
            <a:endParaRPr lang="en-US" sz="34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911535" cy="914400"/>
        </p:xfrm>
        <a:graphic>
          <a:graphicData uri="http://schemas.openxmlformats.org/drawingml/2006/table">
            <a:tbl>
              <a:tblPr/>
              <a:tblGrid>
                <a:gridCol w="2377440"/>
                <a:gridCol w="4023360"/>
                <a:gridCol w="4572000"/>
              </a:tblGrid>
              <a:tr h="658368">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Approach</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When HTML Is Generated</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Typical Use Case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r>
              <a:tr h="658368">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CSR</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In the browser, after JS downloads and runs</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Dashboards, apps behind a login</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658368">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SSR</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On the server, for each request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Fast first load, SEO-friendly content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658368">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SSG</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At build time, before deployment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Blogs, documentation, marketing pages</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658368">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Hydration</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A step after SSR/SSG delivers HTML</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Making pre-rendered HTML interactive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6" name="Text 3"/>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RENDERING APPROACHES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CSR, SSR, and SSG in Plain Terms</a:t>
            </a:r>
            <a:endParaRPr lang="en-US" sz="3400" dirty="0"/>
          </a:p>
        </p:txBody>
      </p:sp>
      <p:sp>
        <p:nvSpPr>
          <p:cNvPr id="4" name="Shape 2"/>
          <p:cNvSpPr/>
          <p:nvPr/>
        </p:nvSpPr>
        <p:spPr>
          <a:xfrm>
            <a:off x="685800" y="1965960"/>
            <a:ext cx="457200" cy="457200"/>
          </a:xfrm>
          <a:prstGeom prst="ellipse">
            <a:avLst/>
          </a:prstGeom>
          <a:solidFill>
            <a:srgbClr val="FF8A3D"/>
          </a:solidFill>
          <a:ln/>
        </p:spPr>
      </p:sp>
      <p:sp>
        <p:nvSpPr>
          <p:cNvPr id="5" name="Text 3"/>
          <p:cNvSpPr txBox="1"/>
          <p:nvPr/>
        </p:nvSpPr>
        <p:spPr>
          <a:xfrm>
            <a:off x="685800" y="19659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71600" y="18928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CSR: what a plain Vite + React app does by default — first paint can be slow, but navigation is fast once loaded</a:t>
            </a:r>
            <a:endParaRPr lang="en-US" sz="1500" dirty="0"/>
          </a:p>
        </p:txBody>
      </p:sp>
      <p:sp>
        <p:nvSpPr>
          <p:cNvPr id="7" name="Shape 5"/>
          <p:cNvSpPr/>
          <p:nvPr/>
        </p:nvSpPr>
        <p:spPr>
          <a:xfrm>
            <a:off x="685800" y="2788920"/>
            <a:ext cx="457200" cy="457200"/>
          </a:xfrm>
          <a:prstGeom prst="ellipse">
            <a:avLst/>
          </a:prstGeom>
          <a:solidFill>
            <a:srgbClr val="FF8A3D"/>
          </a:solidFill>
          <a:ln/>
        </p:spPr>
      </p:sp>
      <p:sp>
        <p:nvSpPr>
          <p:cNvPr id="8" name="Text 6"/>
          <p:cNvSpPr txBox="1"/>
          <p:nvPr/>
        </p:nvSpPr>
        <p:spPr>
          <a:xfrm>
            <a:off x="685800" y="27889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371600" y="271576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SSR: runs React components on the server (Node.js) per request, producing HTML the browser can show immediately</a:t>
            </a:r>
            <a:endParaRPr lang="en-US" sz="1500" dirty="0"/>
          </a:p>
        </p:txBody>
      </p:sp>
      <p:sp>
        <p:nvSpPr>
          <p:cNvPr id="10" name="Shape 8"/>
          <p:cNvSpPr/>
          <p:nvPr/>
        </p:nvSpPr>
        <p:spPr>
          <a:xfrm>
            <a:off x="685800" y="3611880"/>
            <a:ext cx="457200" cy="457200"/>
          </a:xfrm>
          <a:prstGeom prst="ellipse">
            <a:avLst/>
          </a:prstGeom>
          <a:solidFill>
            <a:srgbClr val="FF8A3D"/>
          </a:solidFill>
          <a:ln/>
        </p:spPr>
      </p:sp>
      <p:sp>
        <p:nvSpPr>
          <p:cNvPr id="11" name="Text 9"/>
          <p:cNvSpPr txBox="1"/>
          <p:nvPr/>
        </p:nvSpPr>
        <p:spPr>
          <a:xfrm>
            <a:off x="685800" y="36118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371600" y="353872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SSG: produces full HTML once, at build time — served instantly from a CDN, no per-visitor server computation</a:t>
            </a:r>
            <a:endParaRPr lang="en-US" sz="1500" dirty="0"/>
          </a:p>
        </p:txBody>
      </p:sp>
      <p:sp>
        <p:nvSpPr>
          <p:cNvPr id="13" name="Text 11"/>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14" name="Text 12"/>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HYDRATION</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SSR + Hydration, in Sequence</a:t>
            </a:r>
            <a:endParaRPr lang="en-US" sz="3400" dirty="0"/>
          </a:p>
        </p:txBody>
      </p:sp>
      <p:sp>
        <p:nvSpPr>
          <p:cNvPr id="4" name="Shape 2"/>
          <p:cNvSpPr/>
          <p:nvPr/>
        </p:nvSpPr>
        <p:spPr>
          <a:xfrm>
            <a:off x="640080" y="2514600"/>
            <a:ext cx="1779971" cy="1371600"/>
          </a:xfrm>
          <a:prstGeom prst="roundRect">
            <a:avLst>
              <a:gd name="adj" fmla="val 5333"/>
            </a:avLst>
          </a:prstGeom>
          <a:solidFill>
            <a:srgbClr val="2B2B7A"/>
          </a:solidFill>
          <a:ln/>
        </p:spPr>
      </p:sp>
      <p:sp>
        <p:nvSpPr>
          <p:cNvPr id="5" name="Text 3"/>
          <p:cNvSpPr txBox="1"/>
          <p:nvPr/>
        </p:nvSpPr>
        <p:spPr>
          <a:xfrm>
            <a:off x="731520" y="2624328"/>
            <a:ext cx="1597091" cy="115214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Browser</a:t>
            </a:r>
            <a:endParaRPr lang="en-US" sz="1250" dirty="0"/>
          </a:p>
          <a:p>
            <a:pPr algn="ctr" indent="0" marL="0">
              <a:buNone/>
            </a:pPr>
            <a:r>
              <a:rPr lang="en-US" sz="1250" b="1" dirty="0">
                <a:solidFill>
                  <a:srgbClr val="FFFFFF"/>
                </a:solidFill>
                <a:latin typeface="Calibri" pitchFamily="34" charset="0"/>
                <a:ea typeface="Calibri" pitchFamily="34" charset="-122"/>
                <a:cs typeface="Calibri" pitchFamily="34" charset="-120"/>
              </a:rPr>
              <a:t>requests page</a:t>
            </a:r>
            <a:endParaRPr lang="en-US" sz="1250" dirty="0"/>
          </a:p>
        </p:txBody>
      </p:sp>
      <p:sp>
        <p:nvSpPr>
          <p:cNvPr id="6" name="Shape 4"/>
          <p:cNvSpPr/>
          <p:nvPr/>
        </p:nvSpPr>
        <p:spPr>
          <a:xfrm>
            <a:off x="2420051" y="3200400"/>
            <a:ext cx="502920" cy="0"/>
          </a:xfrm>
          <a:prstGeom prst="line">
            <a:avLst/>
          </a:prstGeom>
          <a:noFill/>
          <a:ln w="25400">
            <a:solidFill>
              <a:srgbClr val="5D5D72"/>
            </a:solidFill>
            <a:prstDash val="solid"/>
            <a:tailEnd type="triangle"/>
          </a:ln>
        </p:spPr>
      </p:sp>
      <p:sp>
        <p:nvSpPr>
          <p:cNvPr id="7" name="Shape 5"/>
          <p:cNvSpPr/>
          <p:nvPr/>
        </p:nvSpPr>
        <p:spPr>
          <a:xfrm>
            <a:off x="2922971" y="2514600"/>
            <a:ext cx="1779971" cy="1371600"/>
          </a:xfrm>
          <a:prstGeom prst="roundRect">
            <a:avLst>
              <a:gd name="adj" fmla="val 5333"/>
            </a:avLst>
          </a:prstGeom>
          <a:solidFill>
            <a:srgbClr val="2B2B7A"/>
          </a:solidFill>
          <a:ln/>
        </p:spPr>
      </p:sp>
      <p:sp>
        <p:nvSpPr>
          <p:cNvPr id="8" name="Text 6"/>
          <p:cNvSpPr txBox="1"/>
          <p:nvPr/>
        </p:nvSpPr>
        <p:spPr>
          <a:xfrm>
            <a:off x="3014411" y="2624328"/>
            <a:ext cx="1597091" cy="115214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Server renders</a:t>
            </a:r>
            <a:endParaRPr lang="en-US" sz="1250" dirty="0"/>
          </a:p>
          <a:p>
            <a:pPr algn="ctr" indent="0" marL="0">
              <a:buNone/>
            </a:pPr>
            <a:r>
              <a:rPr lang="en-US" sz="1250" b="1" dirty="0">
                <a:solidFill>
                  <a:srgbClr val="FFFFFF"/>
                </a:solidFill>
                <a:latin typeface="Calibri" pitchFamily="34" charset="0"/>
                <a:ea typeface="Calibri" pitchFamily="34" charset="-122"/>
                <a:cs typeface="Calibri" pitchFamily="34" charset="-120"/>
              </a:rPr>
              <a:t>React to HTML</a:t>
            </a:r>
            <a:endParaRPr lang="en-US" sz="1250" dirty="0"/>
          </a:p>
        </p:txBody>
      </p:sp>
      <p:sp>
        <p:nvSpPr>
          <p:cNvPr id="9" name="Shape 7"/>
          <p:cNvSpPr/>
          <p:nvPr/>
        </p:nvSpPr>
        <p:spPr>
          <a:xfrm>
            <a:off x="4702942" y="3200400"/>
            <a:ext cx="502920" cy="0"/>
          </a:xfrm>
          <a:prstGeom prst="line">
            <a:avLst/>
          </a:prstGeom>
          <a:noFill/>
          <a:ln w="25400">
            <a:solidFill>
              <a:srgbClr val="5D5D72"/>
            </a:solidFill>
            <a:prstDash val="solid"/>
            <a:tailEnd type="triangle"/>
          </a:ln>
        </p:spPr>
      </p:sp>
      <p:sp>
        <p:nvSpPr>
          <p:cNvPr id="10" name="Shape 8"/>
          <p:cNvSpPr/>
          <p:nvPr/>
        </p:nvSpPr>
        <p:spPr>
          <a:xfrm>
            <a:off x="5205862" y="2514600"/>
            <a:ext cx="1779971" cy="1371600"/>
          </a:xfrm>
          <a:prstGeom prst="roundRect">
            <a:avLst>
              <a:gd name="adj" fmla="val 5333"/>
            </a:avLst>
          </a:prstGeom>
          <a:solidFill>
            <a:srgbClr val="2B2B7A"/>
          </a:solidFill>
          <a:ln/>
        </p:spPr>
      </p:sp>
      <p:sp>
        <p:nvSpPr>
          <p:cNvPr id="11" name="Text 9"/>
          <p:cNvSpPr txBox="1"/>
          <p:nvPr/>
        </p:nvSpPr>
        <p:spPr>
          <a:xfrm>
            <a:off x="5297302" y="2624328"/>
            <a:ext cx="1597091" cy="115214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HTML sent —</a:t>
            </a:r>
            <a:endParaRPr lang="en-US" sz="1250" dirty="0"/>
          </a:p>
          <a:p>
            <a:pPr algn="ctr" indent="0" marL="0">
              <a:buNone/>
            </a:pPr>
            <a:r>
              <a:rPr lang="en-US" sz="1250" b="1" dirty="0">
                <a:solidFill>
                  <a:srgbClr val="FFFFFF"/>
                </a:solidFill>
                <a:latin typeface="Calibri" pitchFamily="34" charset="0"/>
                <a:ea typeface="Calibri" pitchFamily="34" charset="-122"/>
                <a:cs typeface="Calibri" pitchFamily="34" charset="-120"/>
              </a:rPr>
              <a:t>visible immediately</a:t>
            </a:r>
            <a:endParaRPr lang="en-US" sz="1250" dirty="0"/>
          </a:p>
        </p:txBody>
      </p:sp>
      <p:sp>
        <p:nvSpPr>
          <p:cNvPr id="12" name="Shape 10"/>
          <p:cNvSpPr/>
          <p:nvPr/>
        </p:nvSpPr>
        <p:spPr>
          <a:xfrm>
            <a:off x="6985833" y="3200400"/>
            <a:ext cx="502920" cy="0"/>
          </a:xfrm>
          <a:prstGeom prst="line">
            <a:avLst/>
          </a:prstGeom>
          <a:noFill/>
          <a:ln w="25400">
            <a:solidFill>
              <a:srgbClr val="5D5D72"/>
            </a:solidFill>
            <a:prstDash val="solid"/>
            <a:tailEnd type="triangle"/>
          </a:ln>
        </p:spPr>
      </p:sp>
      <p:sp>
        <p:nvSpPr>
          <p:cNvPr id="13" name="Shape 11"/>
          <p:cNvSpPr/>
          <p:nvPr/>
        </p:nvSpPr>
        <p:spPr>
          <a:xfrm>
            <a:off x="7488753" y="2514600"/>
            <a:ext cx="1779971" cy="1371600"/>
          </a:xfrm>
          <a:prstGeom prst="roundRect">
            <a:avLst>
              <a:gd name="adj" fmla="val 5333"/>
            </a:avLst>
          </a:prstGeom>
          <a:solidFill>
            <a:srgbClr val="2B2B7A"/>
          </a:solidFill>
          <a:ln/>
        </p:spPr>
      </p:sp>
      <p:sp>
        <p:nvSpPr>
          <p:cNvPr id="14" name="Text 12"/>
          <p:cNvSpPr txBox="1"/>
          <p:nvPr/>
        </p:nvSpPr>
        <p:spPr>
          <a:xfrm>
            <a:off x="7580193" y="2624328"/>
            <a:ext cx="1597091" cy="115214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Browser downloads</a:t>
            </a:r>
            <a:endParaRPr lang="en-US" sz="1250" dirty="0"/>
          </a:p>
          <a:p>
            <a:pPr algn="ctr" indent="0" marL="0">
              <a:buNone/>
            </a:pPr>
            <a:r>
              <a:rPr lang="en-US" sz="1250" b="1" dirty="0">
                <a:solidFill>
                  <a:srgbClr val="FFFFFF"/>
                </a:solidFill>
                <a:latin typeface="Calibri" pitchFamily="34" charset="0"/>
                <a:ea typeface="Calibri" pitchFamily="34" charset="-122"/>
                <a:cs typeface="Calibri" pitchFamily="34" charset="-120"/>
              </a:rPr>
              <a:t>JS bundle</a:t>
            </a:r>
            <a:endParaRPr lang="en-US" sz="1250" dirty="0"/>
          </a:p>
        </p:txBody>
      </p:sp>
      <p:sp>
        <p:nvSpPr>
          <p:cNvPr id="15" name="Shape 13"/>
          <p:cNvSpPr/>
          <p:nvPr/>
        </p:nvSpPr>
        <p:spPr>
          <a:xfrm>
            <a:off x="9268724" y="3200400"/>
            <a:ext cx="502920" cy="0"/>
          </a:xfrm>
          <a:prstGeom prst="line">
            <a:avLst/>
          </a:prstGeom>
          <a:noFill/>
          <a:ln w="25400">
            <a:solidFill>
              <a:srgbClr val="5D5D72"/>
            </a:solidFill>
            <a:prstDash val="solid"/>
            <a:tailEnd type="triangle"/>
          </a:ln>
        </p:spPr>
      </p:sp>
      <p:sp>
        <p:nvSpPr>
          <p:cNvPr id="16" name="Shape 14"/>
          <p:cNvSpPr/>
          <p:nvPr/>
        </p:nvSpPr>
        <p:spPr>
          <a:xfrm>
            <a:off x="9771644" y="2514600"/>
            <a:ext cx="1779971" cy="1371600"/>
          </a:xfrm>
          <a:prstGeom prst="roundRect">
            <a:avLst>
              <a:gd name="adj" fmla="val 5333"/>
            </a:avLst>
          </a:prstGeom>
          <a:solidFill>
            <a:srgbClr val="E67528"/>
          </a:solidFill>
          <a:ln/>
        </p:spPr>
      </p:sp>
      <p:sp>
        <p:nvSpPr>
          <p:cNvPr id="17" name="Text 15"/>
          <p:cNvSpPr txBox="1"/>
          <p:nvPr/>
        </p:nvSpPr>
        <p:spPr>
          <a:xfrm>
            <a:off x="9863084" y="2624328"/>
            <a:ext cx="1597091" cy="115214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React hydrates:</a:t>
            </a:r>
            <a:endParaRPr lang="en-US" sz="1250" dirty="0"/>
          </a:p>
          <a:p>
            <a:pPr algn="ctr" indent="0" marL="0">
              <a:buNone/>
            </a:pPr>
            <a:r>
              <a:rPr lang="en-US" sz="1250" b="1" dirty="0">
                <a:solidFill>
                  <a:srgbClr val="FFFFFF"/>
                </a:solidFill>
                <a:latin typeface="Calibri" pitchFamily="34" charset="0"/>
                <a:ea typeface="Calibri" pitchFamily="34" charset="-122"/>
                <a:cs typeface="Calibri" pitchFamily="34" charset="-120"/>
              </a:rPr>
              <a:t>attaches handlers</a:t>
            </a:r>
            <a:endParaRPr lang="en-US" sz="1250" dirty="0"/>
          </a:p>
        </p:txBody>
      </p:sp>
      <p:sp>
        <p:nvSpPr>
          <p:cNvPr id="18" name="Text 16"/>
          <p:cNvSpPr txBox="1"/>
          <p:nvPr/>
        </p:nvSpPr>
        <p:spPr>
          <a:xfrm>
            <a:off x="640080" y="4343400"/>
            <a:ext cx="10911535" cy="1371600"/>
          </a:xfrm>
          <a:prstGeom prst="rect">
            <a:avLst/>
          </a:prstGeom>
          <a:noFill/>
          <a:ln/>
        </p:spPr>
        <p:txBody>
          <a:bodyPr wrap="square" lIns="0" tIns="0" rIns="0" bIns="0" rtlCol="0" anchor="t"/>
          <a:lstStyle/>
          <a:p>
            <a:pPr indent="0" marL="0">
              <a:buNone/>
            </a:pPr>
            <a:r>
              <a:rPr lang="en-US" sz="1300" dirty="0">
                <a:solidFill>
                  <a:srgbClr val="26262F"/>
                </a:solidFill>
                <a:latin typeface="Calibri" pitchFamily="34" charset="0"/>
                <a:ea typeface="Calibri" pitchFamily="34" charset="-122"/>
                <a:cs typeface="Calibri" pitchFamily="34" charset="-120"/>
              </a:rPr>
              <a:t>Hydration connects SSR/SSG HTML to React on the client: the HTML appears instantly, but has no event listeners until React "wakes it up" by attaching them, without re-creating any DOM nodes.</a:t>
            </a:r>
            <a:endParaRPr lang="en-US" sz="1300" dirty="0"/>
          </a:p>
        </p:txBody>
      </p:sp>
      <p:sp>
        <p:nvSpPr>
          <p:cNvPr id="19" name="Text 17"/>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20" name="Text 18"/>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RENDERING APPROACHES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This Course Focuses on CSR</a:t>
            </a:r>
            <a:endParaRPr lang="en-US" sz="3400" dirty="0"/>
          </a:p>
        </p:txBody>
      </p:sp>
      <p:sp>
        <p:nvSpPr>
          <p:cNvPr id="4" name="Shape 2"/>
          <p:cNvSpPr/>
          <p:nvPr/>
        </p:nvSpPr>
        <p:spPr>
          <a:xfrm>
            <a:off x="640080" y="1965960"/>
            <a:ext cx="10911535" cy="1737360"/>
          </a:xfrm>
          <a:prstGeom prst="roundRect">
            <a:avLst>
              <a:gd name="adj" fmla="val 3158"/>
            </a:avLst>
          </a:prstGeom>
          <a:solidFill>
            <a:srgbClr val="E9EDFB"/>
          </a:solidFill>
          <a:ln w="12700">
            <a:solidFill>
              <a:srgbClr val="6C7FD6"/>
            </a:solidFill>
            <a:prstDash val="solid"/>
          </a:ln>
        </p:spPr>
      </p:sp>
      <p:sp>
        <p:nvSpPr>
          <p:cNvPr id="5" name="Text 3"/>
          <p:cNvSpPr txBox="1"/>
          <p:nvPr/>
        </p:nvSpPr>
        <p:spPr>
          <a:xfrm>
            <a:off x="868680" y="2103120"/>
            <a:ext cx="10454335" cy="274320"/>
          </a:xfrm>
          <a:prstGeom prst="rect">
            <a:avLst/>
          </a:prstGeom>
          <a:noFill/>
          <a:ln/>
        </p:spPr>
        <p:txBody>
          <a:bodyPr wrap="square" lIns="0" tIns="0" rIns="0" bIns="0" rtlCol="0" anchor="ctr"/>
          <a:lstStyle/>
          <a:p>
            <a:pPr indent="0" marL="0">
              <a:buNone/>
            </a:pPr>
            <a:r>
              <a:rPr lang="en-US" sz="1000" b="1" spc="200" kern="0" dirty="0">
                <a:solidFill>
                  <a:srgbClr val="33459E"/>
                </a:solidFill>
                <a:latin typeface="Calibri" pitchFamily="34" charset="0"/>
                <a:ea typeface="Calibri" pitchFamily="34" charset="-122"/>
                <a:cs typeface="Calibri" pitchFamily="34" charset="-120"/>
              </a:rPr>
              <a:t>NOTE</a:t>
            </a:r>
            <a:endParaRPr lang="en-US" sz="1000" dirty="0"/>
          </a:p>
        </p:txBody>
      </p:sp>
      <p:sp>
        <p:nvSpPr>
          <p:cNvPr id="6" name="Text 4"/>
          <p:cNvSpPr txBox="1"/>
          <p:nvPr/>
        </p:nvSpPr>
        <p:spPr>
          <a:xfrm>
            <a:off x="868680" y="2404872"/>
            <a:ext cx="10454335" cy="1143000"/>
          </a:xfrm>
          <a:prstGeom prst="rect">
            <a:avLst/>
          </a:prstGeom>
          <a:noFill/>
          <a:ln/>
        </p:spPr>
        <p:txBody>
          <a:bodyPr wrap="square" lIns="0" tIns="0" rIns="0" bIns="0" rtlCol="0" anchor="t"/>
          <a:lstStyle/>
          <a:p>
            <a:pPr indent="0" marL="0">
              <a:buNone/>
            </a:pPr>
            <a:r>
              <a:rPr lang="en-US" sz="1250" dirty="0">
                <a:solidFill>
                  <a:srgbClr val="26262F"/>
                </a:solidFill>
                <a:latin typeface="Calibri" pitchFamily="34" charset="0"/>
                <a:ea typeface="Calibri" pitchFamily="34" charset="-122"/>
                <a:cs typeface="Calibri" pitchFamily="34" charset="-120"/>
              </a:rPr>
              <a:t>In this course you will build a client-side-rendered SPA with Vite, talking to the Express REST API from Lecture 25. SSR, SSG, and frameworks like Next.js are covered in depth in the Advanced Web Technologies course.</a:t>
            </a:r>
            <a:endParaRPr lang="en-US" sz="1250" dirty="0"/>
          </a:p>
        </p:txBody>
      </p:sp>
      <p:sp>
        <p:nvSpPr>
          <p:cNvPr id="7"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2B2B7A"/>
        </a:solidFill>
      </p:bgPr>
    </p:bg>
    <p:spTree>
      <p:nvGrpSpPr>
        <p:cNvPr id="1" name=""/>
        <p:cNvGrpSpPr/>
        <p:nvPr/>
      </p:nvGrpSpPr>
      <p:grpSpPr>
        <a:xfrm>
          <a:off x="0" y="0"/>
          <a:ext cx="0" cy="0"/>
          <a:chOff x="0" y="0"/>
          <a:chExt cx="0" cy="0"/>
        </a:xfrm>
      </p:grpSpPr>
      <p:sp>
        <p:nvSpPr>
          <p:cNvPr id="2" name="Text 0"/>
          <p:cNvSpPr txBox="1"/>
          <p:nvPr/>
        </p:nvSpPr>
        <p:spPr>
          <a:xfrm>
            <a:off x="822960" y="731520"/>
            <a:ext cx="9144000" cy="457200"/>
          </a:xfrm>
          <a:prstGeom prst="rect">
            <a:avLst/>
          </a:prstGeom>
          <a:noFill/>
          <a:ln/>
        </p:spPr>
        <p:txBody>
          <a:bodyPr wrap="square" lIns="0" tIns="0" rIns="0" bIns="0" rtlCol="0" anchor="ctr"/>
          <a:lstStyle/>
          <a:p>
            <a:pPr indent="0" marL="0">
              <a:buNone/>
            </a:pPr>
            <a:r>
              <a:rPr lang="en-US" sz="1500" b="1" spc="400" kern="0" dirty="0">
                <a:solidFill>
                  <a:srgbClr val="FF8A3D"/>
                </a:solidFill>
                <a:latin typeface="Calibri" pitchFamily="34" charset="0"/>
                <a:ea typeface="Calibri" pitchFamily="34" charset="-122"/>
                <a:cs typeface="Calibri" pitchFamily="34" charset="-120"/>
              </a:rPr>
              <a:t>KEY TAKEAWAYS</a:t>
            </a:r>
            <a:endParaRPr lang="en-US" sz="1500" dirty="0"/>
          </a:p>
        </p:txBody>
      </p:sp>
      <p:sp>
        <p:nvSpPr>
          <p:cNvPr id="3" name="Text 1"/>
          <p:cNvSpPr txBox="1"/>
          <p:nvPr/>
        </p:nvSpPr>
        <p:spPr>
          <a:xfrm>
            <a:off x="777240" y="1188720"/>
            <a:ext cx="10515600" cy="82296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Lecture 26 in Six Points</a:t>
            </a:r>
            <a:endParaRPr lang="en-US" sz="3400" dirty="0"/>
          </a:p>
        </p:txBody>
      </p:sp>
      <p:sp>
        <p:nvSpPr>
          <p:cNvPr id="4" name="Shape 2"/>
          <p:cNvSpPr/>
          <p:nvPr/>
        </p:nvSpPr>
        <p:spPr>
          <a:xfrm>
            <a:off x="822960" y="2286000"/>
            <a:ext cx="438912" cy="438912"/>
          </a:xfrm>
          <a:prstGeom prst="ellipse">
            <a:avLst/>
          </a:prstGeom>
          <a:solidFill>
            <a:srgbClr val="FF8A3D"/>
          </a:solidFill>
          <a:ln/>
        </p:spPr>
      </p:sp>
      <p:sp>
        <p:nvSpPr>
          <p:cNvPr id="5" name="Text 3"/>
          <p:cNvSpPr txBox="1"/>
          <p:nvPr/>
        </p:nvSpPr>
        <p:spPr>
          <a:xfrm>
            <a:off x="822960" y="22860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463040" y="2194560"/>
            <a:ext cx="10058400" cy="62484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React builds single-page applications using a declarative style: describe what the UI should look like, instead of manually updating the DOM.</a:t>
            </a:r>
            <a:endParaRPr lang="en-US" sz="1250" dirty="0"/>
          </a:p>
        </p:txBody>
      </p:sp>
      <p:sp>
        <p:nvSpPr>
          <p:cNvPr id="7" name="Shape 5"/>
          <p:cNvSpPr/>
          <p:nvPr/>
        </p:nvSpPr>
        <p:spPr>
          <a:xfrm>
            <a:off x="822960" y="2956560"/>
            <a:ext cx="438912" cy="438912"/>
          </a:xfrm>
          <a:prstGeom prst="ellipse">
            <a:avLst/>
          </a:prstGeom>
          <a:solidFill>
            <a:srgbClr val="FF8A3D"/>
          </a:solidFill>
          <a:ln/>
        </p:spPr>
      </p:sp>
      <p:sp>
        <p:nvSpPr>
          <p:cNvPr id="8" name="Text 6"/>
          <p:cNvSpPr txBox="1"/>
          <p:nvPr/>
        </p:nvSpPr>
        <p:spPr>
          <a:xfrm>
            <a:off x="822960" y="295656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463040" y="2865120"/>
            <a:ext cx="10058400" cy="62484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UIs are built from components — reusable functions that return JSX.</a:t>
            </a:r>
            <a:endParaRPr lang="en-US" sz="1250" dirty="0"/>
          </a:p>
        </p:txBody>
      </p:sp>
      <p:sp>
        <p:nvSpPr>
          <p:cNvPr id="10" name="Shape 8"/>
          <p:cNvSpPr/>
          <p:nvPr/>
        </p:nvSpPr>
        <p:spPr>
          <a:xfrm>
            <a:off x="822960" y="3627120"/>
            <a:ext cx="438912" cy="438912"/>
          </a:xfrm>
          <a:prstGeom prst="ellipse">
            <a:avLst/>
          </a:prstGeom>
          <a:solidFill>
            <a:srgbClr val="FF8A3D"/>
          </a:solidFill>
          <a:ln/>
        </p:spPr>
      </p:sp>
      <p:sp>
        <p:nvSpPr>
          <p:cNvPr id="11" name="Text 9"/>
          <p:cNvSpPr txBox="1"/>
          <p:nvPr/>
        </p:nvSpPr>
        <p:spPr>
          <a:xfrm>
            <a:off x="822960" y="362712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463040" y="3535680"/>
            <a:ext cx="10058400" cy="62484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The Virtual DOM is an in-memory copy of the UI tree; React diffs it against the previous version and applies only minimal changes — reconciliation.</a:t>
            </a:r>
            <a:endParaRPr lang="en-US" sz="1250" dirty="0"/>
          </a:p>
        </p:txBody>
      </p:sp>
      <p:sp>
        <p:nvSpPr>
          <p:cNvPr id="13" name="Shape 11"/>
          <p:cNvSpPr/>
          <p:nvPr/>
        </p:nvSpPr>
        <p:spPr>
          <a:xfrm>
            <a:off x="822960" y="4297680"/>
            <a:ext cx="438912" cy="438912"/>
          </a:xfrm>
          <a:prstGeom prst="ellipse">
            <a:avLst/>
          </a:prstGeom>
          <a:solidFill>
            <a:srgbClr val="FF8A3D"/>
          </a:solidFill>
          <a:ln/>
        </p:spPr>
      </p:sp>
      <p:sp>
        <p:nvSpPr>
          <p:cNvPr id="14" name="Text 12"/>
          <p:cNvSpPr txBox="1"/>
          <p:nvPr/>
        </p:nvSpPr>
        <p:spPr>
          <a:xfrm>
            <a:off x="822960" y="429768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5" name="Text 13"/>
          <p:cNvSpPr txBox="1"/>
          <p:nvPr/>
        </p:nvSpPr>
        <p:spPr>
          <a:xfrm>
            <a:off x="1463040" y="4206240"/>
            <a:ext cx="10058400" cy="62484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Vite is the modern tool for creating and running React projects, replacing the older Create React App.</a:t>
            </a:r>
            <a:endParaRPr lang="en-US" sz="1250" dirty="0"/>
          </a:p>
        </p:txBody>
      </p:sp>
      <p:sp>
        <p:nvSpPr>
          <p:cNvPr id="16" name="Shape 14"/>
          <p:cNvSpPr/>
          <p:nvPr/>
        </p:nvSpPr>
        <p:spPr>
          <a:xfrm>
            <a:off x="822960" y="4968240"/>
            <a:ext cx="438912" cy="438912"/>
          </a:xfrm>
          <a:prstGeom prst="ellipse">
            <a:avLst/>
          </a:prstGeom>
          <a:solidFill>
            <a:srgbClr val="FF8A3D"/>
          </a:solidFill>
          <a:ln/>
        </p:spPr>
      </p:sp>
      <p:sp>
        <p:nvSpPr>
          <p:cNvPr id="17" name="Text 15"/>
          <p:cNvSpPr txBox="1"/>
          <p:nvPr/>
        </p:nvSpPr>
        <p:spPr>
          <a:xfrm>
            <a:off x="822960" y="496824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8" name="Text 16"/>
          <p:cNvSpPr txBox="1"/>
          <p:nvPr/>
        </p:nvSpPr>
        <p:spPr>
          <a:xfrm>
            <a:off x="1463040" y="4876800"/>
            <a:ext cx="10058400" cy="62484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JSX lets you write HTML-like syntax in JavaScript; use { } for expressions, className instead of class, and a stable, unique key for list items.</a:t>
            </a:r>
            <a:endParaRPr lang="en-US" sz="1250" dirty="0"/>
          </a:p>
        </p:txBody>
      </p:sp>
      <p:sp>
        <p:nvSpPr>
          <p:cNvPr id="19" name="Shape 17"/>
          <p:cNvSpPr/>
          <p:nvPr/>
        </p:nvSpPr>
        <p:spPr>
          <a:xfrm>
            <a:off x="822960" y="5638800"/>
            <a:ext cx="438912" cy="438912"/>
          </a:xfrm>
          <a:prstGeom prst="ellipse">
            <a:avLst/>
          </a:prstGeom>
          <a:solidFill>
            <a:srgbClr val="FF8A3D"/>
          </a:solidFill>
          <a:ln/>
        </p:spPr>
      </p:sp>
      <p:sp>
        <p:nvSpPr>
          <p:cNvPr id="20" name="Text 18"/>
          <p:cNvSpPr txBox="1"/>
          <p:nvPr/>
        </p:nvSpPr>
        <p:spPr>
          <a:xfrm>
            <a:off x="822960" y="56388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21" name="Text 19"/>
          <p:cNvSpPr txBox="1"/>
          <p:nvPr/>
        </p:nvSpPr>
        <p:spPr>
          <a:xfrm>
            <a:off x="1463040" y="5547360"/>
            <a:ext cx="10058400" cy="62484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CSR, SSR, and SSG are different strategies for turning components into HTML; hydration makes server-delivered HTML interactive in the browser.</a:t>
            </a:r>
            <a:endParaRPr lang="en-US" sz="1250" dirty="0"/>
          </a:p>
        </p:txBody>
      </p:sp>
      <p:sp>
        <p:nvSpPr>
          <p:cNvPr id="22" name="Text 20"/>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9AA3D8"/>
                </a:solidFill>
                <a:latin typeface="Calibri" pitchFamily="34" charset="0"/>
                <a:ea typeface="Calibri" pitchFamily="34" charset="-122"/>
                <a:cs typeface="Calibri" pitchFamily="34" charset="-120"/>
              </a:rPr>
              <a:t>Usman Akram  •  COMSATS University Islamabad</a:t>
            </a:r>
            <a:endParaRPr lang="en-US" sz="900" dirty="0"/>
          </a:p>
        </p:txBody>
      </p:sp>
      <p:sp>
        <p:nvSpPr>
          <p:cNvPr id="23" name="Text 21"/>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9AA3D8"/>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COMSATS University Islamabad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26: Introduction to React.js and Rendering Approaches</dc:title>
  <dc:subject>CSC336 Web Technologies</dc:subject>
  <dc:creator>Usman Akram</dc:creator>
  <cp:lastModifiedBy>Usman Akram</cp:lastModifiedBy>
  <cp:revision>1</cp:revision>
  <dcterms:created xsi:type="dcterms:W3CDTF">2026-09-22T05:49:19Z</dcterms:created>
  <dcterms:modified xsi:type="dcterms:W3CDTF">2026-09-22T05:49:19Z</dcterms:modified>
</cp:coreProperties>
</file>
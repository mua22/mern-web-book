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cuinotes.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cuinote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cuinote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cuinotes.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cuinotes.com" TargetMode="Externa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hyperlink" Target="https://cuinotes.com" TargetMode="Externa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hyperlink" Target="https://cuinotes.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cuinotes.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s://cuinotes.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cuinotes.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cuinotes.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cuinote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cuinotes.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cuinotes.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cuinotes.co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cuinotes.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cuinotes.com" TargetMode="Externa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 Id="rId4" Type="http://schemas.openxmlformats.org/officeDocument/2006/relationships/hyperlink" Target="https://cuinotes.co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cuinotes.co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uinotes.com" TargetMode="Externa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 Id="rId5" Type="http://schemas.openxmlformats.org/officeDocument/2006/relationships/hyperlink" Target="https://cuinotes.com" TargetMode="Externa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 Id="rId4" Type="http://schemas.openxmlformats.org/officeDocument/2006/relationships/hyperlink" Target="https://cuinotes.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cuinotes.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hyperlink" Target="https://cuinotes.com"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cuinotes.com"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cuinotes.co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cuinotes.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cuinote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1965960"/>
            <a:ext cx="73152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LECTURE 26</a:t>
            </a:r>
            <a:endParaRPr lang="en-US" sz="1500" dirty="0"/>
          </a:p>
        </p:txBody>
      </p:sp>
      <p:sp>
        <p:nvSpPr>
          <p:cNvPr id="3" name="Text 1"/>
          <p:cNvSpPr txBox="1"/>
          <p:nvPr/>
        </p:nvSpPr>
        <p:spPr>
          <a:xfrm>
            <a:off x="777240" y="2377440"/>
            <a:ext cx="868680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Introduction to React.js</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and Rendering Approaches</a:t>
            </a:r>
            <a:endParaRPr lang="en-US" sz="4000" dirty="0"/>
          </a:p>
        </p:txBody>
      </p:sp>
      <p:sp>
        <p:nvSpPr>
          <p:cNvPr id="4" name="Text 2"/>
          <p:cNvSpPr txBox="1"/>
          <p:nvPr/>
        </p:nvSpPr>
        <p:spPr>
          <a:xfrm>
            <a:off x="822960" y="4389120"/>
            <a:ext cx="8961120" cy="822960"/>
          </a:xfrm>
          <a:prstGeom prst="rect">
            <a:avLst/>
          </a:prstGeom>
          <a:noFill/>
          <a:ln/>
        </p:spPr>
        <p:txBody>
          <a:bodyPr wrap="square" lIns="0" tIns="0" rIns="0" bIns="0" rtlCol="0" anchor="ctr"/>
          <a:lstStyle/>
          <a:p>
            <a:pPr indent="0" marL="0">
              <a:buNone/>
            </a:pPr>
            <a:r>
              <a:rPr lang="en-US" sz="1500" dirty="0">
                <a:solidFill>
                  <a:srgbClr val="C9D3F5"/>
                </a:solidFill>
                <a:latin typeface="Calibri" pitchFamily="34" charset="0"/>
                <a:ea typeface="Calibri" pitchFamily="34" charset="-122"/>
                <a:cs typeface="Calibri" pitchFamily="34" charset="-120"/>
              </a:rPr>
              <a:t>From imperative DOM-poking to describing what the page should look like — and letting React figure out the rest.</a:t>
            </a:r>
            <a:endParaRPr lang="en-US" sz="1500" dirty="0"/>
          </a:p>
        </p:txBody>
      </p:sp>
      <p:sp>
        <p:nvSpPr>
          <p:cNvPr id="5" name="Text 3"/>
          <p:cNvSpPr txBox="1"/>
          <p:nvPr/>
        </p:nvSpPr>
        <p:spPr>
          <a:xfrm>
            <a:off x="822960" y="5943600"/>
            <a:ext cx="8229600" cy="365760"/>
          </a:xfrm>
          <a:prstGeom prst="rect">
            <a:avLst/>
          </a:prstGeom>
          <a:noFill/>
          <a:ln/>
        </p:spPr>
        <p:txBody>
          <a:bodyPr wrap="square" lIns="0" tIns="0" rIns="0" bIns="0" rtlCol="0" anchor="ctr"/>
          <a:lstStyle/>
          <a:p>
            <a:pPr indent="0" marL="0">
              <a:buNone/>
            </a:pPr>
            <a:r>
              <a:rPr lang="en-US" sz="1200" dirty="0">
                <a:solidFill>
                  <a:srgbClr val="9AA3D8"/>
                </a:solidFill>
                <a:latin typeface="Calibri" pitchFamily="34" charset="0"/>
                <a:ea typeface="Calibri" pitchFamily="34" charset="-122"/>
                <a:cs typeface="Calibri" pitchFamily="34" charset="-120"/>
              </a:rPr>
              <a:t>CSC336 Web Technologies</a:t>
            </a:r>
            <a:endParaRPr lang="en-US" sz="12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OVERVIEW</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In This Lecture</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Why React exists: single-page applications, declarative UI, and components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Virtual DOM and how React's reconciliation process updates the real page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Setting up a React project with Vite, and the folder structure</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JSX: embedding expressions, conditional rendering, and rendering lists with key</a:t>
            </a:r>
            <a:endParaRPr lang="en-US" sz="1500" dirty="0"/>
          </a:p>
        </p:txBody>
      </p:sp>
      <p:sp>
        <p:nvSpPr>
          <p:cNvPr id="16" name="Shape 14"/>
          <p:cNvSpPr/>
          <p:nvPr/>
        </p:nvSpPr>
        <p:spPr>
          <a:xfrm>
            <a:off x="685800" y="5257800"/>
            <a:ext cx="457200" cy="457200"/>
          </a:xfrm>
          <a:prstGeom prst="ellipse">
            <a:avLst/>
          </a:prstGeom>
          <a:solidFill>
            <a:srgbClr val="FF8A3D"/>
          </a:solidFill>
          <a:ln/>
        </p:spPr>
        <p:txBody>
          <a:bodyPr/>
          <a:p/>
        </p:txBody>
      </p:sp>
      <p:sp>
        <p:nvSpPr>
          <p:cNvPr id="17" name="Text 15"/>
          <p:cNvSpPr txBox="1"/>
          <p:nvPr/>
        </p:nvSpPr>
        <p:spPr>
          <a:xfrm>
            <a:off x="685800" y="5257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371600" y="518464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conceptual overview of rendering approaches: CSR, SSR, SSG, and hydration</a:t>
            </a:r>
            <a:endParaRPr lang="en-US" sz="15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WHY REACT?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Multi-Page Sites vs. Single-Page Apps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Multi-page app (MPA): click a link, the browser throws away the page and requests a brand-new one — even the unchanged navbar re-renders</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Single-page app (SPA): the browser loads one HTML page + a JS bundle; JavaScript swaps content in and out without a full reload</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Only the data that changed travels over the network, and only the parts of the page that need to change update — navigation feels instant</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React is the most widely used SPA library, maintained by Meta and a large open-source community</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WHY REACT?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React Is a Library, Not a Framework</a:t>
            </a:r>
            <a:endParaRPr lang="en-US" sz="3400" dirty="0"/>
          </a:p>
        </p:txBody>
      </p:sp>
      <p:sp>
        <p:nvSpPr>
          <p:cNvPr id="4" name="Shape 2"/>
          <p:cNvSpPr/>
          <p:nvPr/>
        </p:nvSpPr>
        <p:spPr>
          <a:xfrm>
            <a:off x="640080" y="1965960"/>
            <a:ext cx="10911535" cy="3657600"/>
          </a:xfrm>
          <a:prstGeom prst="roundRect">
            <a:avLst>
              <a:gd name="adj" fmla="val 3158"/>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React only handles the "view" layer — turning data into UI. Routing and global state management are added separately, unlike a full framework like Angular that bundles everything out of the box.</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WHY REACT?</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The Problem With Manual DOM Manipulation</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shopping cart: every time an item is added or removed you must remember to update the array, find/add-or-remove the &lt;li&gt;, recalculate the total, and update the total's text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Every one of these is a manual, imperative instruction: "go find this element, then change it this way"</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As an app grows, keeping the DOM in sync with data by hand becomes error-prone — easy to forget a step</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DECLARATIVE UI</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Describe the What, Not the How</a:t>
            </a:r>
            <a:endParaRPr lang="en-US" sz="3400" dirty="0"/>
          </a:p>
        </p:txBody>
      </p:sp>
      <p:sp>
        <p:nvSpPr>
          <p:cNvPr id="4" name="Shape 2"/>
          <p:cNvSpPr/>
          <p:nvPr/>
        </p:nvSpPr>
        <p:spPr>
          <a:xfrm>
            <a:off x="640080" y="2872740"/>
            <a:ext cx="5272888" cy="2529840"/>
          </a:xfrm>
          <a:prstGeom prst="roundRect">
            <a:avLst>
              <a:gd name="adj" fmla="val 2892"/>
            </a:avLst>
          </a:prstGeom>
          <a:solidFill>
            <a:srgbClr val="F7F8F9"/>
          </a:solidFill>
          <a:ln w="9525">
            <a:solidFill>
              <a:srgbClr val="D0D5DD"/>
            </a:solidFill>
          </a:ln>
        </p:spPr>
        <p:txBody>
          <a:bodyPr/>
          <a:p/>
        </p:txBody>
      </p:sp>
      <p:sp>
        <p:nvSpPr>
          <p:cNvPr id="5" name="Text 3"/>
          <p:cNvSpPr txBox="1"/>
          <p:nvPr/>
        </p:nvSpPr>
        <p:spPr>
          <a:xfrm>
            <a:off x="960120" y="3101340"/>
            <a:ext cx="4632808" cy="207264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function CartTotal({ items })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const total = items.reduce(</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(sum, item) =&gt; sum + item.price, 0</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return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&lt;p&gt;Total: ${total.toFixed(2)}&lt;/p&gt;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26/cart-total-render.png">    </p:cNvPr>
          <p:cNvPicPr>
            <a:picLocks noChangeAspect="1"/>
          </p:cNvPicPr>
          <p:nvPr/>
        </p:nvPicPr>
        <p:blipFill>
          <a:blip r:embed="rId1"/>
          <a:stretch>
            <a:fillRect/>
          </a:stretch>
        </p:blipFill>
        <p:spPr>
          <a:xfrm>
            <a:off x="6278728" y="3622926"/>
            <a:ext cx="5272888" cy="1029469"/>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COMPONENTS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Component Is Just a Function</a:t>
            </a:r>
            <a:endParaRPr lang="en-US" sz="3400" dirty="0"/>
          </a:p>
        </p:txBody>
      </p:sp>
      <p:sp>
        <p:nvSpPr>
          <p:cNvPr id="4" name="Shape 2"/>
          <p:cNvSpPr/>
          <p:nvPr/>
        </p:nvSpPr>
        <p:spPr>
          <a:xfrm>
            <a:off x="640080" y="2872740"/>
            <a:ext cx="5272888" cy="2529840"/>
          </a:xfrm>
          <a:prstGeom prst="roundRect">
            <a:avLst>
              <a:gd name="adj" fmla="val 2892"/>
            </a:avLst>
          </a:prstGeom>
          <a:solidFill>
            <a:srgbClr val="F7F8F9"/>
          </a:solidFill>
          <a:ln w="9525">
            <a:solidFill>
              <a:srgbClr val="D0D5DD"/>
            </a:solidFill>
          </a:ln>
        </p:spPr>
        <p:txBody>
          <a:bodyPr/>
          <a:p/>
        </p:txBody>
      </p:sp>
      <p:sp>
        <p:nvSpPr>
          <p:cNvPr id="5" name="Text 3"/>
          <p:cNvSpPr txBox="1"/>
          <p:nvPr/>
        </p:nvSpPr>
        <p:spPr>
          <a:xfrm>
            <a:off x="960120" y="3101340"/>
            <a:ext cx="4632808" cy="207264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function Greeting()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return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&lt;h1&gt;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Hello, welcome</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to the store!</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&lt;/h1&gt;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26/greeting-render.png">    </p:cNvPr>
          <p:cNvPicPr>
            <a:picLocks noChangeAspect="1"/>
          </p:cNvPicPr>
          <p:nvPr/>
        </p:nvPicPr>
        <p:blipFill>
          <a:blip r:embed="rId1"/>
          <a:stretch>
            <a:fillRect/>
          </a:stretch>
        </p:blipFill>
        <p:spPr>
          <a:xfrm>
            <a:off x="6278728" y="3676282"/>
            <a:ext cx="5272888" cy="922755"/>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COMPONENTS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Components Combine Like Building Blocks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Components are small, self-contained, reusable pieces of UI, each responsible for one part of the page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Navbar, ProductList, ProductCard, and Footer component can all be assembled inside a single App component</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Mirrors how you already think about HTML — a page made of sections — but each section is reusable, testable JavaScript</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Components, props, and composition are studied in depth in Lecture 27</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VIRTUAL DOM</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Why React Avoids Touching the Real DOM</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Direct changes to the real DOM are relatively expensive — layout recalculation, repainting, and more</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The Virtual DOM (VDOM) is a lightweight, in-memory JavaScript object tree that mirrors your UI's structure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When data changes, React builds a new VDOM tree, diffs it against the previous one, and computes the smallest set of real DOM changes needed</a:t>
            </a:r>
            <a:endParaRPr lang="en-US" sz="1500" dirty="0"/>
          </a:p>
        </p:txBody>
      </p:sp>
      <p:sp>
        <p:nvSpPr>
          <p:cNvPr id="13" name="Shape 11"/>
          <p:cNvSpPr/>
          <p:nvPr/>
        </p:nvSpPr>
        <p:spPr>
          <a:xfrm>
            <a:off x="685800" y="4434840"/>
            <a:ext cx="457200" cy="457200"/>
          </a:xfrm>
          <a:prstGeom prst="ellipse">
            <a:avLst/>
          </a:prstGeom>
          <a:solidFill>
            <a:srgbClr val="FF8A3D"/>
          </a:solidFill>
          <a:ln/>
        </p:spPr>
        <p:txBody>
          <a:bodyPr/>
          <a:p/>
        </p:txBody>
      </p:sp>
      <p:sp>
        <p:nvSpPr>
          <p:cNvPr id="14" name="Text 12"/>
          <p:cNvSpPr txBox="1"/>
          <p:nvPr/>
        </p:nvSpPr>
        <p:spPr>
          <a:xfrm>
            <a:off x="6858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371600" y="436168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Comparing plain JS objects in memory is much faster than repeatedly touching the real DOM</a:t>
            </a:r>
            <a:endParaRPr lang="en-US" sz="1500" dirty="0"/>
          </a:p>
        </p:txBody>
      </p:sp>
      <p:sp>
        <p:nvSpPr>
          <p:cNvPr id="1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VIRTUAL DOM</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Reconciliation, Step by Step</a:t>
            </a:r>
            <a:endParaRPr lang="en-US" sz="3400" dirty="0"/>
          </a:p>
        </p:txBody>
      </p:sp>
      <p:sp>
        <p:nvSpPr>
          <p:cNvPr id="4" name="Shape 2"/>
          <p:cNvSpPr/>
          <p:nvPr/>
        </p:nvSpPr>
        <p:spPr>
          <a:xfrm>
            <a:off x="6080760" y="2560320"/>
            <a:ext cx="9144" cy="182880"/>
          </a:xfrm>
          <a:prstGeom prst="line">
            <a:avLst/>
          </a:prstGeom>
          <a:noFill/>
          <a:ln w="25400">
            <a:solidFill>
              <a:srgbClr val="5D5D72"/>
            </a:solidFill>
            <a:prstDash val="solid"/>
            <a:tailEnd type="triangle"/>
          </a:ln>
        </p:spPr>
        <p:txBody>
          <a:bodyPr/>
          <a:p/>
        </p:txBody>
      </p:sp>
      <p:sp>
        <p:nvSpPr>
          <p:cNvPr id="5" name="Shape 3"/>
          <p:cNvSpPr/>
          <p:nvPr/>
        </p:nvSpPr>
        <p:spPr>
          <a:xfrm>
            <a:off x="6080760" y="3246120"/>
            <a:ext cx="9144" cy="182880"/>
          </a:xfrm>
          <a:prstGeom prst="line">
            <a:avLst/>
          </a:prstGeom>
          <a:noFill/>
          <a:ln w="25400">
            <a:solidFill>
              <a:srgbClr val="5D5D72"/>
            </a:solidFill>
            <a:prstDash val="solid"/>
            <a:tailEnd type="triangle"/>
          </a:ln>
        </p:spPr>
        <p:txBody>
          <a:bodyPr/>
          <a:p/>
        </p:txBody>
      </p:sp>
      <p:sp>
        <p:nvSpPr>
          <p:cNvPr id="6" name="Shape 4"/>
          <p:cNvSpPr/>
          <p:nvPr/>
        </p:nvSpPr>
        <p:spPr>
          <a:xfrm flipH="1">
            <a:off x="2468880" y="3931920"/>
            <a:ext cx="2377440" cy="640080"/>
          </a:xfrm>
          <a:prstGeom prst="line">
            <a:avLst/>
          </a:prstGeom>
          <a:noFill/>
          <a:ln w="25400">
            <a:solidFill>
              <a:srgbClr val="5D5D72"/>
            </a:solidFill>
            <a:prstDash val="solid"/>
            <a:tailEnd type="triangle"/>
          </a:ln>
        </p:spPr>
        <p:txBody>
          <a:bodyPr/>
          <a:p/>
        </p:txBody>
      </p:sp>
      <p:sp>
        <p:nvSpPr>
          <p:cNvPr id="7" name="Text 5"/>
          <p:cNvSpPr txBox="1"/>
          <p:nvPr/>
        </p:nvSpPr>
        <p:spPr>
          <a:xfrm>
            <a:off x="2743200" y="410565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No differences</a:t>
            </a:r>
            <a:endParaRPr lang="en-US" sz="1050" dirty="0"/>
          </a:p>
        </p:txBody>
      </p:sp>
      <p:sp>
        <p:nvSpPr>
          <p:cNvPr id="8" name="Shape 6"/>
          <p:cNvSpPr/>
          <p:nvPr/>
        </p:nvSpPr>
        <p:spPr>
          <a:xfrm>
            <a:off x="6675120" y="4160520"/>
            <a:ext cx="91440" cy="411480"/>
          </a:xfrm>
          <a:prstGeom prst="line">
            <a:avLst/>
          </a:prstGeom>
          <a:noFill/>
          <a:ln w="25400">
            <a:solidFill>
              <a:srgbClr val="5D5D72"/>
            </a:solidFill>
            <a:prstDash val="solid"/>
            <a:tailEnd type="triangle"/>
          </a:ln>
        </p:spPr>
        <p:txBody>
          <a:bodyPr/>
          <a:p/>
        </p:txBody>
      </p:sp>
      <p:sp>
        <p:nvSpPr>
          <p:cNvPr id="9" name="Text 7"/>
          <p:cNvSpPr txBox="1"/>
          <p:nvPr/>
        </p:nvSpPr>
        <p:spPr>
          <a:xfrm>
            <a:off x="5806440" y="4219956"/>
            <a:ext cx="1828800" cy="292608"/>
          </a:xfrm>
          <a:prstGeom prst="rect">
            <a:avLst/>
          </a:prstGeom>
          <a:solidFill>
            <a:srgbClr val="FFFFFF"/>
          </a:solidFill>
          <a:ln/>
        </p:spPr>
        <p:txBody>
          <a:bodyPr wrap="square" lIns="0" tIns="0" rIns="0" bIns="0" rtlCol="0" anchor="ctr"/>
          <a:lstStyle/>
          <a:p>
            <a:pPr algn="ctr" indent="0" marL="0">
              <a:buNone/>
            </a:pPr>
            <a:r>
              <a:rPr lang="en-US" sz="1050" i="1" dirty="0">
                <a:solidFill>
                  <a:srgbClr val="5D5D72"/>
                </a:solidFill>
                <a:latin typeface="Calibri" pitchFamily="34" charset="0"/>
                <a:ea typeface="Calibri" pitchFamily="34" charset="-122"/>
                <a:cs typeface="Calibri" pitchFamily="34" charset="-120"/>
              </a:rPr>
              <a:t>Differences found</a:t>
            </a:r>
            <a:endParaRPr lang="en-US" sz="1050" dirty="0"/>
          </a:p>
        </p:txBody>
      </p:sp>
      <p:sp>
        <p:nvSpPr>
          <p:cNvPr id="10" name="Shape 8"/>
          <p:cNvSpPr/>
          <p:nvPr/>
        </p:nvSpPr>
        <p:spPr>
          <a:xfrm>
            <a:off x="6812280" y="5120640"/>
            <a:ext cx="45720" cy="228600"/>
          </a:xfrm>
          <a:prstGeom prst="line">
            <a:avLst/>
          </a:prstGeom>
          <a:noFill/>
          <a:ln w="25400">
            <a:solidFill>
              <a:srgbClr val="5D5D72"/>
            </a:solidFill>
            <a:prstDash val="solid"/>
            <a:tailEnd type="triangle"/>
          </a:ln>
        </p:spPr>
        <p:txBody>
          <a:bodyPr/>
          <a:p/>
        </p:txBody>
      </p:sp>
      <p:sp>
        <p:nvSpPr>
          <p:cNvPr id="11" name="Shape 9"/>
          <p:cNvSpPr/>
          <p:nvPr/>
        </p:nvSpPr>
        <p:spPr>
          <a:xfrm>
            <a:off x="6858000" y="5897880"/>
            <a:ext cx="9144" cy="182880"/>
          </a:xfrm>
          <a:prstGeom prst="line">
            <a:avLst/>
          </a:prstGeom>
          <a:noFill/>
          <a:ln w="25400">
            <a:solidFill>
              <a:srgbClr val="5D5D72"/>
            </a:solidFill>
            <a:prstDash val="solid"/>
            <a:tailEnd type="triangle"/>
          </a:ln>
        </p:spPr>
        <p:txBody>
          <a:bodyPr/>
          <a:p/>
        </p:txBody>
      </p:sp>
      <p:sp>
        <p:nvSpPr>
          <p:cNvPr id="12" name="Shape 10"/>
          <p:cNvSpPr/>
          <p:nvPr/>
        </p:nvSpPr>
        <p:spPr>
          <a:xfrm>
            <a:off x="4206240" y="2057400"/>
            <a:ext cx="3749040" cy="502920"/>
          </a:xfrm>
          <a:prstGeom prst="rect">
            <a:avLst/>
          </a:prstGeom>
          <a:solidFill>
            <a:srgbClr val="1E1E4C"/>
          </a:solidFill>
          <a:ln/>
        </p:spPr>
        <p:txBody>
          <a:bodyPr/>
          <a:p/>
        </p:txBody>
      </p:sp>
      <p:sp>
        <p:nvSpPr>
          <p:cNvPr id="13" name="Text 11"/>
          <p:cNvSpPr txBox="1"/>
          <p:nvPr/>
        </p:nvSpPr>
        <p:spPr>
          <a:xfrm>
            <a:off x="4261104" y="2057400"/>
            <a:ext cx="3639312" cy="50292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State or props change</a:t>
            </a:r>
            <a:endParaRPr lang="en-US" sz="1200" dirty="0"/>
          </a:p>
        </p:txBody>
      </p:sp>
      <p:sp>
        <p:nvSpPr>
          <p:cNvPr id="14" name="Shape 12"/>
          <p:cNvSpPr/>
          <p:nvPr/>
        </p:nvSpPr>
        <p:spPr>
          <a:xfrm>
            <a:off x="4023360" y="2743200"/>
            <a:ext cx="4114800" cy="502920"/>
          </a:xfrm>
          <a:prstGeom prst="rect">
            <a:avLst/>
          </a:prstGeom>
          <a:solidFill>
            <a:srgbClr val="2B2B7A"/>
          </a:solidFill>
          <a:ln/>
        </p:spPr>
        <p:txBody>
          <a:bodyPr/>
          <a:p/>
        </p:txBody>
      </p:sp>
      <p:sp>
        <p:nvSpPr>
          <p:cNvPr id="15" name="Text 13"/>
          <p:cNvSpPr txBox="1"/>
          <p:nvPr/>
        </p:nvSpPr>
        <p:spPr>
          <a:xfrm>
            <a:off x="4078224" y="2743200"/>
            <a:ext cx="4005072" cy="50292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React builds a new Virtual DOM tree</a:t>
            </a:r>
            <a:endParaRPr lang="en-US" sz="1150" dirty="0"/>
          </a:p>
        </p:txBody>
      </p:sp>
      <p:sp>
        <p:nvSpPr>
          <p:cNvPr id="16" name="Shape 14"/>
          <p:cNvSpPr/>
          <p:nvPr/>
        </p:nvSpPr>
        <p:spPr>
          <a:xfrm>
            <a:off x="4160520" y="3429000"/>
            <a:ext cx="3840480" cy="731520"/>
          </a:xfrm>
          <a:prstGeom prst="diamond">
            <a:avLst/>
          </a:prstGeom>
          <a:solidFill>
            <a:srgbClr val="FF8A3D"/>
          </a:solidFill>
          <a:ln/>
        </p:spPr>
        <p:txBody>
          <a:bodyPr/>
          <a:p/>
        </p:txBody>
      </p:sp>
      <p:sp>
        <p:nvSpPr>
          <p:cNvPr id="17" name="Text 15"/>
          <p:cNvSpPr txBox="1"/>
          <p:nvPr/>
        </p:nvSpPr>
        <p:spPr>
          <a:xfrm>
            <a:off x="4215384" y="3429000"/>
            <a:ext cx="3730752" cy="731520"/>
          </a:xfrm>
          <a:prstGeom prst="rect">
            <a:avLst/>
          </a:prstGeom>
          <a:noFill/>
          <a:ln/>
        </p:spPr>
        <p:txBody>
          <a:bodyPr wrap="square" lIns="0" tIns="0" rIns="0" bIns="0" rtlCol="0" anchor="ctr"/>
          <a:lstStyle/>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Diff against previous</a:t>
            </a:r>
            <a:endParaRPr lang="en-US" sz="1150" dirty="0"/>
          </a:p>
          <a:p>
            <a:pPr algn="ctr" indent="0" marL="0">
              <a:lnSpc>
                <a:spcPct val="105000"/>
              </a:lnSpc>
              <a:buNone/>
            </a:pPr>
            <a:r>
              <a:rPr lang="en-US" sz="1150" b="1" dirty="0">
                <a:solidFill>
                  <a:srgbClr val="FFFFFF"/>
                </a:solidFill>
                <a:latin typeface="Calibri" pitchFamily="34" charset="0"/>
                <a:ea typeface="Calibri" pitchFamily="34" charset="-122"/>
                <a:cs typeface="Calibri" pitchFamily="34" charset="-120"/>
              </a:rPr>
              <a:t>Virtual DOM tree</a:t>
            </a:r>
            <a:endParaRPr lang="en-US" sz="1150" dirty="0"/>
          </a:p>
        </p:txBody>
      </p:sp>
      <p:sp>
        <p:nvSpPr>
          <p:cNvPr id="18" name="Shape 16"/>
          <p:cNvSpPr/>
          <p:nvPr/>
        </p:nvSpPr>
        <p:spPr>
          <a:xfrm>
            <a:off x="822960" y="4572000"/>
            <a:ext cx="3291840" cy="548640"/>
          </a:xfrm>
          <a:prstGeom prst="rect">
            <a:avLst/>
          </a:prstGeom>
          <a:solidFill>
            <a:srgbClr val="5D5D72"/>
          </a:solidFill>
          <a:ln/>
        </p:spPr>
        <p:txBody>
          <a:bodyPr/>
          <a:p/>
        </p:txBody>
      </p:sp>
      <p:sp>
        <p:nvSpPr>
          <p:cNvPr id="19" name="Text 17"/>
          <p:cNvSpPr txBox="1"/>
          <p:nvPr/>
        </p:nvSpPr>
        <p:spPr>
          <a:xfrm>
            <a:off x="877824" y="4572000"/>
            <a:ext cx="3182112" cy="548640"/>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Skip DOM update</a:t>
            </a:r>
            <a:endParaRPr lang="en-US" sz="1200" dirty="0"/>
          </a:p>
        </p:txBody>
      </p:sp>
      <p:sp>
        <p:nvSpPr>
          <p:cNvPr id="20" name="Shape 18"/>
          <p:cNvSpPr/>
          <p:nvPr/>
        </p:nvSpPr>
        <p:spPr>
          <a:xfrm>
            <a:off x="4846320" y="4572000"/>
            <a:ext cx="3931920" cy="548640"/>
          </a:xfrm>
          <a:prstGeom prst="rect">
            <a:avLst/>
          </a:prstGeom>
          <a:solidFill>
            <a:srgbClr val="2B2B7A"/>
          </a:solidFill>
          <a:ln/>
        </p:spPr>
        <p:txBody>
          <a:bodyPr/>
          <a:p/>
        </p:txBody>
      </p:sp>
      <p:sp>
        <p:nvSpPr>
          <p:cNvPr id="21" name="Text 19"/>
          <p:cNvSpPr txBox="1"/>
          <p:nvPr/>
        </p:nvSpPr>
        <p:spPr>
          <a:xfrm>
            <a:off x="4901184" y="4572000"/>
            <a:ext cx="3822192" cy="54864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Compute minimal set of real DOM operations</a:t>
            </a:r>
            <a:endParaRPr lang="en-US" sz="1100" dirty="0"/>
          </a:p>
        </p:txBody>
      </p:sp>
      <p:sp>
        <p:nvSpPr>
          <p:cNvPr id="22" name="Shape 20"/>
          <p:cNvSpPr/>
          <p:nvPr/>
        </p:nvSpPr>
        <p:spPr>
          <a:xfrm>
            <a:off x="5120640" y="5349240"/>
            <a:ext cx="3474720" cy="548640"/>
          </a:xfrm>
          <a:prstGeom prst="rect">
            <a:avLst/>
          </a:prstGeom>
          <a:solidFill>
            <a:srgbClr val="2B2B7A"/>
          </a:solidFill>
          <a:ln/>
        </p:spPr>
        <p:txBody>
          <a:bodyPr/>
          <a:p/>
        </p:txBody>
      </p:sp>
      <p:sp>
        <p:nvSpPr>
          <p:cNvPr id="23" name="Text 21"/>
          <p:cNvSpPr txBox="1"/>
          <p:nvPr/>
        </p:nvSpPr>
        <p:spPr>
          <a:xfrm>
            <a:off x="5175504" y="5349240"/>
            <a:ext cx="3364992" cy="548640"/>
          </a:xfrm>
          <a:prstGeom prst="rect">
            <a:avLst/>
          </a:prstGeom>
          <a:noFill/>
          <a:ln/>
        </p:spPr>
        <p:txBody>
          <a:bodyPr wrap="square" lIns="0" tIns="0" rIns="0" bIns="0" rtlCol="0" anchor="ctr"/>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Reconciliation: apply changes to the real DOM</a:t>
            </a:r>
            <a:endParaRPr lang="en-US" sz="1050" dirty="0"/>
          </a:p>
        </p:txBody>
      </p:sp>
      <p:sp>
        <p:nvSpPr>
          <p:cNvPr id="24" name="Shape 22"/>
          <p:cNvSpPr/>
          <p:nvPr/>
        </p:nvSpPr>
        <p:spPr>
          <a:xfrm>
            <a:off x="5394960" y="6080760"/>
            <a:ext cx="2926080" cy="502920"/>
          </a:xfrm>
          <a:prstGeom prst="rect">
            <a:avLst/>
          </a:prstGeom>
          <a:solidFill>
            <a:srgbClr val="3FA66B"/>
          </a:solidFill>
          <a:ln/>
        </p:spPr>
        <p:txBody>
          <a:bodyPr/>
          <a:p/>
        </p:txBody>
      </p:sp>
      <p:sp>
        <p:nvSpPr>
          <p:cNvPr id="25" name="Text 23"/>
          <p:cNvSpPr txBox="1"/>
          <p:nvPr/>
        </p:nvSpPr>
        <p:spPr>
          <a:xfrm>
            <a:off x="5449824" y="6080760"/>
            <a:ext cx="2816352" cy="502920"/>
          </a:xfrm>
          <a:prstGeom prst="rect">
            <a:avLst/>
          </a:prstGeom>
          <a:noFill/>
          <a:ln/>
        </p:spPr>
        <p:txBody>
          <a:bodyPr wrap="square" lIns="0" tIns="0" rIns="0" bIns="0" rtlCol="0" anchor="ctr"/>
          <a:lstStyle/>
          <a:p>
            <a:pPr algn="ctr" indent="0" marL="0">
              <a:lnSpc>
                <a:spcPct val="105000"/>
              </a:lnSpc>
              <a:buNone/>
            </a:pPr>
            <a:r>
              <a:rPr lang="en-US" sz="1100" b="1" dirty="0">
                <a:solidFill>
                  <a:srgbClr val="FFFFFF"/>
                </a:solidFill>
                <a:latin typeface="Calibri" pitchFamily="34" charset="0"/>
                <a:ea typeface="Calibri" pitchFamily="34" charset="-122"/>
                <a:cs typeface="Calibri" pitchFamily="34" charset="-120"/>
              </a:rPr>
              <a:t>Browser repaints changed parts only</a:t>
            </a:r>
            <a:endParaRPr lang="en-US" sz="1100" dirty="0"/>
          </a:p>
        </p:txBody>
      </p:sp>
      <p:sp>
        <p:nvSpPr>
          <p:cNvPr id="2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THE VIRTUAL DOM</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You Rarely Think About This Directly</a:t>
            </a:r>
            <a:endParaRPr lang="en-US" sz="3400" dirty="0"/>
          </a:p>
        </p:txBody>
      </p:sp>
      <p:sp>
        <p:nvSpPr>
          <p:cNvPr id="4" name="Shape 2"/>
          <p:cNvSpPr/>
          <p:nvPr/>
        </p:nvSpPr>
        <p:spPr>
          <a:xfrm>
            <a:off x="640080" y="1965960"/>
            <a:ext cx="10911535" cy="3657600"/>
          </a:xfrm>
          <a:prstGeom prst="roundRect">
            <a:avLst>
              <a:gd name="adj" fmla="val 3529"/>
            </a:avLst>
          </a:prstGeom>
          <a:solidFill>
            <a:srgbClr val="E6F6EE"/>
          </a:solidFill>
          <a:ln w="12700">
            <a:solidFill>
              <a:srgbClr val="3FA66B"/>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1F7A46"/>
                </a:solidFill>
                <a:latin typeface="Calibri" pitchFamily="34" charset="0"/>
                <a:ea typeface="Calibri" pitchFamily="34" charset="-122"/>
                <a:cs typeface="Calibri" pitchFamily="34" charset="-120"/>
              </a:rPr>
              <a:t>TIP</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As a React developer, you almost never interact with the Virtual DOM yourself. You write components that describe the UI for the current data, and reconciliation handles the rest.</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SETTING UP VITE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Vite: The Modern Build Tool</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A build tool takes your JSX and modern JavaScript and bundles it into files browsers can run, plus a local dev server with fast reloading</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Vite ("veet") is the modern standard — fast because it uses native ES modules during development instead of bundling the whole app on every change</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Create React App (CRA) was the old official way to start a project — no longer actively maintained, noticeably slower than Vite</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SETTING UP VITE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Creating a New Project</a:t>
            </a:r>
            <a:endParaRPr lang="en-US" sz="3400" dirty="0"/>
          </a:p>
        </p:txBody>
      </p:sp>
      <p:sp>
        <p:nvSpPr>
          <p:cNvPr id="4" name="Shape 2"/>
          <p:cNvSpPr/>
          <p:nvPr/>
        </p:nvSpPr>
        <p:spPr>
          <a:xfrm>
            <a:off x="640080" y="1965960"/>
            <a:ext cx="10911535" cy="1615440"/>
          </a:xfrm>
          <a:prstGeom prst="roundRect">
            <a:avLst>
              <a:gd name="adj" fmla="val 4528"/>
            </a:avLst>
          </a:prstGeom>
          <a:solidFill>
            <a:srgbClr val="F7F8F9"/>
          </a:solidFill>
          <a:ln w="9525">
            <a:solidFill>
              <a:srgbClr val="D0D5DD"/>
            </a:solidFill>
          </a:ln>
        </p:spPr>
        <p:txBody>
          <a:bodyPr/>
          <a:p/>
        </p:txBody>
      </p:sp>
      <p:sp>
        <p:nvSpPr>
          <p:cNvPr id="5" name="Text 3"/>
          <p:cNvSpPr txBox="1"/>
          <p:nvPr/>
        </p:nvSpPr>
        <p:spPr>
          <a:xfrm>
            <a:off x="960120" y="2194560"/>
            <a:ext cx="10271455" cy="11582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npm create vite@latest my-react-app -- --template react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cd my-react-app</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npm install</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npm run dev</a:t>
            </a:r>
            <a:endParaRPr lang="en-US" sz="1400" dirty="0"/>
          </a:p>
        </p:txBody>
      </p:sp>
      <p:sp>
        <p:nvSpPr>
          <p:cNvPr id="6" name="Text 4"/>
          <p:cNvSpPr txBox="1"/>
          <p:nvPr/>
        </p:nvSpPr>
        <p:spPr>
          <a:xfrm>
            <a:off x="640080" y="3810000"/>
            <a:ext cx="10911535" cy="24536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Starts a local dev server (usually http://localhost:5173) with hot module replacement (HMR) — saving a file updates the browser instantly, without a full page reload.</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SETTING UP VITE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A Freshly Created Project's Folder Structure</a:t>
            </a:r>
            <a:endParaRPr lang="en-US" sz="3400" dirty="0"/>
          </a:p>
        </p:txBody>
      </p:sp>
      <p:sp>
        <p:nvSpPr>
          <p:cNvPr id="4" name="Shape 2"/>
          <p:cNvSpPr/>
          <p:nvPr/>
        </p:nvSpPr>
        <p:spPr>
          <a:xfrm>
            <a:off x="640080" y="1965960"/>
            <a:ext cx="10911535" cy="3215640"/>
          </a:xfrm>
          <a:prstGeom prst="roundRect">
            <a:avLst>
              <a:gd name="adj" fmla="val 2275"/>
            </a:avLst>
          </a:prstGeom>
          <a:solidFill>
            <a:srgbClr val="F7F8F9"/>
          </a:solidFill>
          <a:ln w="9525">
            <a:solidFill>
              <a:srgbClr val="D0D5DD"/>
            </a:solidFill>
          </a:ln>
        </p:spPr>
        <p:txBody>
          <a:bodyPr/>
          <a:p/>
        </p:txBody>
      </p:sp>
      <p:sp>
        <p:nvSpPr>
          <p:cNvPr id="5" name="Text 3"/>
          <p:cNvSpPr txBox="1"/>
          <p:nvPr/>
        </p:nvSpPr>
        <p:spPr>
          <a:xfrm>
            <a:off x="960120" y="2194560"/>
            <a:ext cx="10271455" cy="27584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my-react-app/</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index.html          # the single HTML page the app is injected into</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package.json         # project metadata and dependencies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vite.config.js       # Vite's configuration file</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public/               # static assets copied as-is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src/</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main.jsx          # entry point: mounts &lt;App /&gt; into index.html</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App.jsx            # the root component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App.css</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 index.css</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SETTING UP VITE</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main.jsx: Mounting the App</a:t>
            </a:r>
            <a:endParaRPr lang="en-US" sz="3400" dirty="0"/>
          </a:p>
        </p:txBody>
      </p:sp>
      <p:sp>
        <p:nvSpPr>
          <p:cNvPr id="4" name="Shape 2"/>
          <p:cNvSpPr/>
          <p:nvPr/>
        </p:nvSpPr>
        <p:spPr>
          <a:xfrm>
            <a:off x="640080" y="1965960"/>
            <a:ext cx="10911535" cy="2948940"/>
          </a:xfrm>
          <a:prstGeom prst="roundRect">
            <a:avLst>
              <a:gd name="adj" fmla="val 2481"/>
            </a:avLst>
          </a:prstGeom>
          <a:solidFill>
            <a:srgbClr val="F7F8F9"/>
          </a:solidFill>
          <a:ln w="9525">
            <a:solidFill>
              <a:srgbClr val="D0D5DD"/>
            </a:solidFill>
          </a:ln>
        </p:spPr>
        <p:txBody>
          <a:bodyPr/>
          <a:p/>
        </p:txBody>
      </p:sp>
      <p:sp>
        <p:nvSpPr>
          <p:cNvPr id="5" name="Text 3"/>
          <p:cNvSpPr txBox="1"/>
          <p:nvPr/>
        </p:nvSpPr>
        <p:spPr>
          <a:xfrm>
            <a:off x="960120" y="2194560"/>
            <a:ext cx="10271455" cy="24917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import { StrictMode } from "react";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import { createRoot } from "react-dom/client";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import App from "./App.jsx";</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createRoot(document.getElementById("root")).render(</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&lt;StrictMode&gt;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&lt;App /&gt;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&lt;/StrictMode&gt;</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a:t>
            </a:r>
            <a:endParaRPr lang="en-US" sz="1400" dirty="0"/>
          </a:p>
        </p:txBody>
      </p:sp>
      <p:sp>
        <p:nvSpPr>
          <p:cNvPr id="6" name="Text 4"/>
          <p:cNvSpPr txBox="1"/>
          <p:nvPr/>
        </p:nvSpPr>
        <p:spPr>
          <a:xfrm>
            <a:off x="640080" y="5143500"/>
            <a:ext cx="10911535" cy="11201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index.html contains one empty container, &lt;div id="root"&gt;. Everything your users see is ultimately rendered inside that single div — the essence of a single-page application.</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JSX</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Is JSX?</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JSX (JavaScript XML): a syntax extension letting you write HTML-like markup directly inside JavaScript</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Browsers cannot run JSX directly — Vite transforms it into React.createElement(...) calls before the code reaches the browser</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You write JSX because it reads much closer to the HTML you already know, while still being plain JavaScript underneath</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JSX</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What JSX Compiles To</a:t>
            </a:r>
            <a:endParaRPr lang="en-US" sz="3400" dirty="0"/>
          </a:p>
        </p:txBody>
      </p:sp>
      <p:sp>
        <p:nvSpPr>
          <p:cNvPr id="4" name="Shape 2"/>
          <p:cNvSpPr/>
          <p:nvPr/>
        </p:nvSpPr>
        <p:spPr>
          <a:xfrm>
            <a:off x="640080" y="1965960"/>
            <a:ext cx="10911535" cy="1615440"/>
          </a:xfrm>
          <a:prstGeom prst="roundRect">
            <a:avLst>
              <a:gd name="adj" fmla="val 4528"/>
            </a:avLst>
          </a:prstGeom>
          <a:solidFill>
            <a:srgbClr val="F7F8F9"/>
          </a:solidFill>
          <a:ln w="9525">
            <a:solidFill>
              <a:srgbClr val="D0D5DD"/>
            </a:solidFill>
          </a:ln>
        </p:spPr>
        <p:txBody>
          <a:bodyPr/>
          <a:p/>
        </p:txBody>
      </p:sp>
      <p:sp>
        <p:nvSpPr>
          <p:cNvPr id="5" name="Text 3"/>
          <p:cNvSpPr txBox="1"/>
          <p:nvPr/>
        </p:nvSpPr>
        <p:spPr>
          <a:xfrm>
            <a:off x="960120" y="2194560"/>
            <a:ext cx="10271455" cy="1158240"/>
          </a:xfrm>
          <a:prstGeom prst="rect">
            <a:avLst/>
          </a:prstGeom>
          <a:noFill/>
          <a:ln/>
        </p:spPr>
        <p:txBody>
          <a:bodyPr wrap="square" lIns="0" tIns="0" rIns="0" bIns="0" rtlCol="0" anchor="t"/>
          <a:lstStyle/>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element = &lt;h1&gt;Hello, world!&lt;/h1&gt;;</a:t>
            </a:r>
            <a:endParaRPr lang="en-US" sz="1400" dirty="0"/>
          </a:p>
          <a:p>
            <a:pPr indent="0" marL="0">
              <a:lnSpc>
                <a:spcPct val="125000"/>
              </a:lnSpc>
              <a:buNone/>
            </a:pP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 Vite/Babel transforms the line above into approximately:</a:t>
            </a:r>
            <a:endParaRPr lang="en-US" sz="1400" dirty="0"/>
          </a:p>
          <a:p>
            <a:pPr indent="0" marL="0">
              <a:lnSpc>
                <a:spcPct val="125000"/>
              </a:lnSpc>
              <a:buNone/>
            </a:pPr>
            <a:r>
              <a:rPr lang="en-US" sz="1400" dirty="0">
                <a:solidFill>
                  <a:srgbClr val="1F2429"/>
                </a:solidFill>
                <a:latin typeface="Courier New" pitchFamily="34" charset="0"/>
                <a:ea typeface="Courier New" pitchFamily="34" charset="-122"/>
                <a:cs typeface="Courier New" pitchFamily="34" charset="-120"/>
              </a:rPr>
              <a:t>const element2 = React.createElement("h1", null, "Hello, world!");</a:t>
            </a:r>
            <a:endParaRPr lang="en-US" sz="1400" dirty="0"/>
          </a:p>
        </p:txBody>
      </p:sp>
      <p:sp>
        <p:nvSpPr>
          <p:cNvPr id="8"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JSX</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Embedding Expressions With { }</a:t>
            </a:r>
            <a:endParaRPr lang="en-US" sz="3400" dirty="0"/>
          </a:p>
        </p:txBody>
      </p:sp>
      <p:sp>
        <p:nvSpPr>
          <p:cNvPr id="4" name="Shape 2"/>
          <p:cNvSpPr/>
          <p:nvPr/>
        </p:nvSpPr>
        <p:spPr>
          <a:xfrm>
            <a:off x="640080" y="2501265"/>
            <a:ext cx="5272888" cy="3272790"/>
          </a:xfrm>
          <a:prstGeom prst="roundRect">
            <a:avLst>
              <a:gd name="adj" fmla="val 2235"/>
            </a:avLst>
          </a:prstGeom>
          <a:solidFill>
            <a:srgbClr val="F7F8F9"/>
          </a:solidFill>
          <a:ln w="9525">
            <a:solidFill>
              <a:srgbClr val="D0D5DD"/>
            </a:solidFill>
          </a:ln>
        </p:spPr>
        <p:txBody>
          <a:bodyPr/>
          <a:p/>
        </p:txBody>
      </p:sp>
      <p:sp>
        <p:nvSpPr>
          <p:cNvPr id="5" name="Text 3"/>
          <p:cNvSpPr txBox="1"/>
          <p:nvPr/>
        </p:nvSpPr>
        <p:spPr>
          <a:xfrm>
            <a:off x="960120" y="2729865"/>
            <a:ext cx="4632808" cy="281559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function UserGreeting({ name })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const hour = new Date().getHours();</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const timeOfDay = hour &lt; 12</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 "morning" : "afternoon";</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return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&lt;p&gt;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Good {timeOfDay},</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{name.toUpperCase()}!</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&lt;/p&gt;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26/user-greeting-render.png">    </p:cNvPr>
          <p:cNvPicPr>
            <a:picLocks noChangeAspect="1"/>
          </p:cNvPicPr>
          <p:nvPr/>
        </p:nvPicPr>
        <p:blipFill>
          <a:blip r:embed="rId1"/>
          <a:stretch>
            <a:fillRect/>
          </a:stretch>
        </p:blipFill>
        <p:spPr>
          <a:xfrm>
            <a:off x="6278728" y="3703745"/>
            <a:ext cx="5272888" cy="867829"/>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JSX</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JSX Rules to Remember</a:t>
            </a:r>
            <a:endParaRPr lang="en-US" sz="3400" dirty="0"/>
          </a:p>
        </p:txBody>
      </p:sp>
      <p:sp>
        <p:nvSpPr>
          <p:cNvPr id="4" name="Shape 2"/>
          <p:cNvSpPr/>
          <p:nvPr/>
        </p:nvSpPr>
        <p:spPr>
          <a:xfrm>
            <a:off x="640080" y="1965960"/>
            <a:ext cx="10911535" cy="3657600"/>
          </a:xfrm>
          <a:prstGeom prst="roundRect">
            <a:avLst>
              <a:gd name="adj" fmla="val 2857"/>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A component must return a single root element (or a Fragment). Use className instead of class. Every tag must be closed, including self-closing tags like &lt;img /&gt;. Curly braces { } can only hold expressions, not statements like if or for.</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CONDITIONAL RENDERING</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Expressions That Evaluate to JSX</a:t>
            </a:r>
            <a:endParaRPr lang="en-US" sz="3400" dirty="0"/>
          </a:p>
        </p:txBody>
      </p:sp>
      <p:sp>
        <p:nvSpPr>
          <p:cNvPr id="4" name="Shape 2"/>
          <p:cNvSpPr/>
          <p:nvPr/>
        </p:nvSpPr>
        <p:spPr>
          <a:xfrm>
            <a:off x="640080" y="1965960"/>
            <a:ext cx="10911535" cy="3291840"/>
          </a:xfrm>
          <a:prstGeom prst="roundRect">
            <a:avLst>
              <a:gd name="adj" fmla="val 2222"/>
            </a:avLst>
          </a:prstGeom>
          <a:solidFill>
            <a:srgbClr val="F7F8F9"/>
          </a:solidFill>
          <a:ln w="9525">
            <a:solidFill>
              <a:srgbClr val="D0D5DD"/>
            </a:solidFill>
          </a:ln>
        </p:spPr>
        <p:txBody>
          <a:bodyPr/>
          <a:p/>
        </p:txBody>
      </p:sp>
      <p:sp>
        <p:nvSpPr>
          <p:cNvPr id="5" name="Text 3"/>
          <p:cNvSpPr txBox="1"/>
          <p:nvPr/>
        </p:nvSpPr>
        <p:spPr>
          <a:xfrm>
            <a:off x="960120" y="2194560"/>
            <a:ext cx="10271455" cy="2834640"/>
          </a:xfrm>
          <a:prstGeom prst="rect">
            <a:avLst/>
          </a:prstGeom>
          <a:noFill/>
          <a:ln/>
        </p:spPr>
        <p:txBody>
          <a:bodyPr wrap="square" lIns="0" tIns="0" rIns="0" bIns="0" rtlCol="0" anchor="t"/>
          <a:lstStyle/>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function LoginStatus({ isLoggedIn }) {</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if (isLoggedIn) return &lt;p&gt;Welcome back!&lt;/p&gt;;</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return &lt;p&gt;Please log in.&lt;/p&gt;;</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a:t>
            </a:r>
            <a:endParaRPr lang="en-US" sz="1108" dirty="0"/>
          </a:p>
          <a:p>
            <a:pPr indent="0" marL="0">
              <a:lnSpc>
                <a:spcPct val="125000"/>
              </a:lnSpc>
              <a:buNone/>
            </a:pP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function Notification({ count }) {</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return (</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&lt;div&gt;</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{count &gt; 0 &amp;&amp; &lt;span className="badge"&gt;{count} new&lt;/span&gt;}</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{count === 0 ? &lt;span&gt;No notifications&lt;/span&gt; : null}</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&lt;/div&gt;</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  );</a:t>
            </a:r>
            <a:endParaRPr lang="en-US" sz="1108" dirty="0"/>
          </a:p>
          <a:p>
            <a:pPr indent="0" marL="0">
              <a:lnSpc>
                <a:spcPct val="125000"/>
              </a:lnSpc>
              <a:buNone/>
            </a:pPr>
            <a:r>
              <a:rPr lang="en-US" sz="1108" dirty="0">
                <a:solidFill>
                  <a:srgbClr val="1F2429"/>
                </a:solidFill>
                <a:latin typeface="Courier New" pitchFamily="34" charset="0"/>
                <a:ea typeface="Courier New" pitchFamily="34" charset="-122"/>
                <a:cs typeface="Courier New" pitchFamily="34" charset="-120"/>
              </a:rPr>
              <a:t>}</a:t>
            </a:r>
            <a:endParaRPr lang="en-US" sz="1108" dirty="0"/>
          </a:p>
        </p:txBody>
      </p:sp>
      <p:sp>
        <p:nvSpPr>
          <p:cNvPr id="6" name="Text 4"/>
          <p:cNvSpPr txBox="1"/>
          <p:nvPr/>
        </p:nvSpPr>
        <p:spPr>
          <a:xfrm>
            <a:off x="640080" y="5486400"/>
            <a:ext cx="10911535" cy="77724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count &gt; 0 &amp;&amp; &lt;span&gt;...&lt;/span&gt; renders the span only when truthy, otherwise nothing. The ternary chooses between two different pieces of UI.</a:t>
            </a:r>
            <a:endParaRPr lang="en-US" sz="13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CONDITIONAL RENDERING</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Notification, Two States</a:t>
            </a:r>
            <a:endParaRPr lang="en-US" sz="3400" dirty="0"/>
          </a:p>
        </p:txBody>
      </p:sp>
      <p:sp>
        <p:nvSpPr>
          <p:cNvPr id="4" name="Text 2"/>
          <p:cNvSpPr txBox="1"/>
          <p:nvPr/>
        </p:nvSpPr>
        <p:spPr>
          <a:xfrm>
            <a:off x="640080" y="1965960"/>
            <a:ext cx="5272888" cy="365760"/>
          </a:xfrm>
          <a:prstGeom prst="rect">
            <a:avLst/>
          </a:prstGeom>
          <a:noFill/>
          <a:ln/>
        </p:spPr>
        <p:txBody>
          <a:bodyPr wrap="square" lIns="0" tIns="0" rIns="0" bIns="0" rtlCol="0" anchor="ctr"/>
          <a:lstStyle/>
          <a:p>
            <a:pPr algn="ctr" indent="0" marL="0">
              <a:buNone/>
            </a:pPr>
            <a:r>
              <a:rPr lang="en-US" sz="1100" b="1" spc="150" kern="0" dirty="0">
                <a:solidFill>
                  <a:srgbClr val="E67528"/>
                </a:solidFill>
                <a:latin typeface="Calibri" pitchFamily="34" charset="0"/>
                <a:ea typeface="Calibri" pitchFamily="34" charset="-122"/>
                <a:cs typeface="Calibri" pitchFamily="34" charset="-120"/>
              </a:rPr>
              <a:t>COUNT = 3</a:t>
            </a:r>
            <a:endParaRPr lang="en-US" sz="1100" dirty="0"/>
          </a:p>
        </p:txBody>
      </p:sp>
      <p:sp>
        <p:nvSpPr>
          <p:cNvPr id="5" name="Shape 3"/>
          <p:cNvSpPr/>
          <p:nvPr/>
        </p:nvSpPr>
        <p:spPr>
          <a:xfrm>
            <a:off x="530352" y="2313432"/>
            <a:ext cx="5492344" cy="3831336"/>
          </a:xfrm>
          <a:prstGeom prst="roundRect">
            <a:avLst>
              <a:gd name="adj" fmla="val 1432"/>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6" name="Image 0" descr="D:/GitHub/mern-web-book/docs/assets/img/lecture-26/notification-badge-render.png">    </p:cNvPr>
          <p:cNvPicPr>
            <a:picLocks noChangeAspect="1"/>
          </p:cNvPicPr>
          <p:nvPr/>
        </p:nvPicPr>
        <p:blipFill>
          <a:blip r:embed="rId1"/>
          <a:stretch>
            <a:fillRect/>
          </a:stretch>
        </p:blipFill>
        <p:spPr>
          <a:xfrm>
            <a:off x="640080" y="3635900"/>
            <a:ext cx="5272888" cy="1186400"/>
          </a:xfrm>
          <a:prstGeom prst="rect">
            <a:avLst/>
          </a:prstGeom>
        </p:spPr>
      </p:pic>
      <p:sp>
        <p:nvSpPr>
          <p:cNvPr id="7" name="Text 4"/>
          <p:cNvSpPr txBox="1"/>
          <p:nvPr/>
        </p:nvSpPr>
        <p:spPr>
          <a:xfrm>
            <a:off x="6278728" y="1965960"/>
            <a:ext cx="5272888" cy="365760"/>
          </a:xfrm>
          <a:prstGeom prst="rect">
            <a:avLst/>
          </a:prstGeom>
          <a:noFill/>
          <a:ln/>
        </p:spPr>
        <p:txBody>
          <a:bodyPr wrap="square" lIns="0" tIns="0" rIns="0" bIns="0" rtlCol="0" anchor="ctr"/>
          <a:lstStyle/>
          <a:p>
            <a:pPr algn="ctr" indent="0" marL="0">
              <a:buNone/>
            </a:pPr>
            <a:r>
              <a:rPr lang="en-US" sz="1100" b="1" spc="150" kern="0" dirty="0">
                <a:solidFill>
                  <a:srgbClr val="E67528"/>
                </a:solidFill>
                <a:latin typeface="Calibri" pitchFamily="34" charset="0"/>
                <a:ea typeface="Calibri" pitchFamily="34" charset="-122"/>
                <a:cs typeface="Calibri" pitchFamily="34" charset="-120"/>
              </a:rPr>
              <a:t>COUNT = 0</a:t>
            </a:r>
            <a:endParaRPr lang="en-US" sz="1100" dirty="0"/>
          </a:p>
        </p:txBody>
      </p:sp>
      <p:sp>
        <p:nvSpPr>
          <p:cNvPr id="8" name="Shape 5"/>
          <p:cNvSpPr/>
          <p:nvPr/>
        </p:nvSpPr>
        <p:spPr>
          <a:xfrm>
            <a:off x="6169000" y="2313432"/>
            <a:ext cx="5492344" cy="3831336"/>
          </a:xfrm>
          <a:prstGeom prst="roundRect">
            <a:avLst>
              <a:gd name="adj" fmla="val 1432"/>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9" name="Image 1" descr="D:/GitHub/mern-web-book/docs/assets/img/lecture-26/notification-none-render.png">    </p:cNvPr>
          <p:cNvPicPr>
            <a:picLocks noChangeAspect="1"/>
          </p:cNvPicPr>
          <p:nvPr/>
        </p:nvPicPr>
        <p:blipFill>
          <a:blip r:embed="rId2"/>
          <a:stretch>
            <a:fillRect/>
          </a:stretch>
        </p:blipFill>
        <p:spPr>
          <a:xfrm>
            <a:off x="6278728" y="3635900"/>
            <a:ext cx="5272888" cy="1186400"/>
          </a:xfrm>
          <a:prstGeom prst="rect">
            <a:avLst/>
          </a:prstGeom>
        </p:spPr>
      </p:pic>
      <p:sp>
        <p:nvSpPr>
          <p:cNvPr id="12"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5"/>
              </a:rPr>
              <a:t>cuinotes.com</a:t>
            </a:r>
            <a:r>
              <a:rPr sz="1000">
                <a:solidFill>
                  <a:srgbClr val="8A939B"/>
                </a:solidFill>
              </a:rPr>
              <a:t>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RENDERING LISTS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.map() and the key Prop</a:t>
            </a:r>
            <a:endParaRPr lang="en-US" sz="3400" dirty="0"/>
          </a:p>
        </p:txBody>
      </p:sp>
      <p:sp>
        <p:nvSpPr>
          <p:cNvPr id="4" name="Shape 2"/>
          <p:cNvSpPr/>
          <p:nvPr/>
        </p:nvSpPr>
        <p:spPr>
          <a:xfrm>
            <a:off x="640080" y="2501265"/>
            <a:ext cx="5272888" cy="3272790"/>
          </a:xfrm>
          <a:prstGeom prst="roundRect">
            <a:avLst>
              <a:gd name="adj" fmla="val 2235"/>
            </a:avLst>
          </a:prstGeom>
          <a:solidFill>
            <a:srgbClr val="F7F8F9"/>
          </a:solidFill>
          <a:ln w="9525">
            <a:solidFill>
              <a:srgbClr val="D0D5DD"/>
            </a:solidFill>
          </a:ln>
        </p:spPr>
        <p:txBody>
          <a:bodyPr/>
          <a:p/>
        </p:txBody>
      </p:sp>
      <p:sp>
        <p:nvSpPr>
          <p:cNvPr id="5" name="Text 3"/>
          <p:cNvSpPr txBox="1"/>
          <p:nvPr/>
        </p:nvSpPr>
        <p:spPr>
          <a:xfrm>
            <a:off x="960120" y="2729865"/>
            <a:ext cx="4632808" cy="2815590"/>
          </a:xfrm>
          <a:prstGeom prst="rect">
            <a:avLst/>
          </a:prstGeom>
          <a:noFill/>
          <a:ln/>
        </p:spPr>
        <p:txBody>
          <a:bodyPr wrap="square" lIns="0" tIns="0" rIns="0" bIns="0" rtlCol="0" anchor="t"/>
          <a:lstStyle/>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function ProductList({ products })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return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&lt;ul&gt;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{products.map((p) =&gt;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&lt;li key={p.id}&gt;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{p.name} — ${p.price}</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&lt;/li&gt;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&lt;/ul&gt;</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  );</a:t>
            </a:r>
            <a:endParaRPr lang="en-US" sz="1300" dirty="0"/>
          </a:p>
          <a:p>
            <a:pPr indent="0" marL="0">
              <a:lnSpc>
                <a:spcPct val="125000"/>
              </a:lnSpc>
              <a:buNone/>
            </a:pPr>
            <a:r>
              <a:rPr lang="en-US" sz="1300" dirty="0">
                <a:solidFill>
                  <a:srgbClr val="1F2429"/>
                </a:solidFill>
                <a:latin typeface="Courier New" pitchFamily="34" charset="0"/>
                <a:ea typeface="Courier New" pitchFamily="34" charset="-122"/>
                <a:cs typeface="Courier New" pitchFamily="34" charset="-120"/>
              </a:rPr>
              <a:t>}</a:t>
            </a:r>
            <a:endParaRPr lang="en-US" sz="1300" dirty="0"/>
          </a:p>
        </p:txBody>
      </p:sp>
      <p:sp>
        <p:nvSpPr>
          <p:cNvPr id="6" name="Shape 4"/>
          <p:cNvSpPr/>
          <p:nvPr/>
        </p:nvSpPr>
        <p:spPr>
          <a:xfrm>
            <a:off x="6169000" y="1947672"/>
            <a:ext cx="5492344" cy="4379976"/>
          </a:xfrm>
          <a:prstGeom prst="roundRect">
            <a:avLst>
              <a:gd name="adj" fmla="val 1253"/>
            </a:avLst>
          </a:prstGeom>
          <a:solidFill>
            <a:srgbClr val="FFFFFF"/>
          </a:solidFill>
          <a:ln w="12700">
            <a:solidFill>
              <a:srgbClr val="E2E2EE"/>
            </a:solidFill>
            <a:prstDash val="solid"/>
          </a:ln>
          <a:effectLst>
            <a:outerShdw sx="100000" sy="100000" kx="0" ky="0" algn="bl" rotWithShape="0" blurRad="101600" dist="38100" dir="5400000">
              <a:srgbClr val="000000">
                <a:alpha val="12000"/>
              </a:srgbClr>
            </a:outerShdw>
          </a:effectLst>
        </p:spPr>
        <p:txBody>
          <a:bodyPr/>
          <a:p/>
        </p:txBody>
      </p:sp>
      <p:pic>
        <p:nvPicPr>
          <p:cNvPr id="7" name="Image 0" descr="D:/GitHub/mern-web-book/docs/assets/img/lecture-26/product-list-render.png">    </p:cNvPr>
          <p:cNvPicPr>
            <a:picLocks noChangeAspect="1"/>
          </p:cNvPicPr>
          <p:nvPr/>
        </p:nvPicPr>
        <p:blipFill>
          <a:blip r:embed="rId1"/>
          <a:stretch>
            <a:fillRect/>
          </a:stretch>
        </p:blipFill>
        <p:spPr>
          <a:xfrm>
            <a:off x="6278728" y="3232880"/>
            <a:ext cx="5272888" cy="1809559"/>
          </a:xfrm>
          <a:prstGeom prst="rect">
            <a:avLst/>
          </a:prstGeom>
        </p:spPr>
      </p:pic>
      <p:sp>
        <p:nvSpPr>
          <p:cNvPr id="10"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4"/>
              </a:rPr>
              <a:t>cuinotes.com</a:t>
            </a:r>
            <a:r>
              <a:rPr sz="1000">
                <a:solidFill>
                  <a:srgbClr val="8A939B"/>
                </a:solidFill>
              </a:rPr>
              <a:t>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RENDERING LISTS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Don't Use the Array Index as a Key</a:t>
            </a:r>
            <a:endParaRPr lang="en-US" sz="3400" dirty="0"/>
          </a:p>
        </p:txBody>
      </p:sp>
      <p:sp>
        <p:nvSpPr>
          <p:cNvPr id="4" name="Shape 2"/>
          <p:cNvSpPr/>
          <p:nvPr/>
        </p:nvSpPr>
        <p:spPr>
          <a:xfrm>
            <a:off x="640080" y="1965960"/>
            <a:ext cx="10911535" cy="3657600"/>
          </a:xfrm>
          <a:prstGeom prst="roundRect">
            <a:avLst>
              <a:gd name="adj" fmla="val 3000"/>
            </a:avLst>
          </a:prstGeom>
          <a:solidFill>
            <a:srgbClr val="FDECE0"/>
          </a:solidFill>
          <a:ln w="12700">
            <a:solidFill>
              <a:srgbClr val="FF8A3D"/>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8A3A12"/>
                </a:solidFill>
                <a:latin typeface="Calibri" pitchFamily="34" charset="0"/>
                <a:ea typeface="Calibri" pitchFamily="34" charset="-122"/>
                <a:cs typeface="Calibri" pitchFamily="34" charset="-120"/>
              </a:rPr>
              <a:t>WARNING</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It's tempting to write key={index} — fine for static lists that never reorder. But if the list CAN change, using the index can mix up which DOM element belongs to which data (subtle bugs like inputs showing the wrong value). Prefer a stable, unique identifier from your data, such as a database id.</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RENDERING APPROACHES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CSR, SSR, SSG, and Hydration</a:t>
            </a:r>
            <a:endParaRPr lang="en-US" sz="3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11535" cy="914400"/>
        </p:xfrm>
        <a:graphic>
          <a:graphicData uri="http://schemas.openxmlformats.org/drawingml/2006/table">
            <a:tbl>
              <a:tblPr/>
              <a:tblGrid>
                <a:gridCol w="2377440"/>
                <a:gridCol w="4023360"/>
                <a:gridCol w="4572000"/>
              </a:tblGrid>
              <a:tr h="65836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When HTML Is Generated</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Typical Use Case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2B2B7A"/>
                    </a:solidFill>
                  </a:tcPr>
                </a:tc>
              </a:tr>
              <a:tr h="658368">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CSR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In the browser, after JS downloads and runs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Dashboards, apps behind a login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658368">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SSR</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On the server, for each request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Fast first load, SEO-friendly content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658368">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SSG</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At build time, before deployment</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Blogs, documentation, marketing pages</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r h="658368">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Hydration</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A step after SSR/SSG delivers HTML</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62F"/>
                          </a:solidFill>
                          <a:latin typeface="Calibri" pitchFamily="34" charset="0"/>
                          <a:ea typeface="Calibri" pitchFamily="34" charset="-122"/>
                          <a:cs typeface="Calibri" pitchFamily="34" charset="-120"/>
                        </a:rPr>
                        <a:t>Making pre-rendered HTML interactive</a:t>
                      </a:r>
                      <a:endParaRPr lang="en-US" sz="1200" dirty="0">
                        <a:latin typeface="Calibri" charset="0"/>
                        <a:ea typeface="Calibri" charset="0"/>
                        <a:cs typeface="Calibri" charset="0"/>
                      </a:endParaRPr>
                    </a:p>
                  </a:txBody>
                  <a:tcPr marL="91440" marR="91440" marT="45720" marB="45720" anchor="ctr">
                    <a:lnL w="12700" cap="flat" cmpd="sng" algn="ctr">
                      <a:solidFill>
                        <a:srgbClr val="D8D8E6"/>
                      </a:solidFill>
                      <a:prstDash val="solid"/>
                      <a:round/>
                      <a:headEnd type="none" w="med" len="med"/>
                      <a:tailEnd type="none" w="med" len="med"/>
                    </a:lnL>
                    <a:lnR w="12700" cap="flat" cmpd="sng" algn="ctr">
                      <a:solidFill>
                        <a:srgbClr val="D8D8E6"/>
                      </a:solidFill>
                      <a:prstDash val="solid"/>
                      <a:round/>
                      <a:headEnd type="none" w="med" len="med"/>
                      <a:tailEnd type="none" w="med" len="med"/>
                    </a:lnR>
                    <a:lnT w="12700" cap="flat" cmpd="sng" algn="ctr">
                      <a:solidFill>
                        <a:srgbClr val="D8D8E6"/>
                      </a:solidFill>
                      <a:prstDash val="solid"/>
                      <a:round/>
                      <a:headEnd type="none" w="med" len="med"/>
                      <a:tailEnd type="none" w="med" len="med"/>
                    </a:lnT>
                    <a:lnB w="12700" cap="flat" cmpd="sng" algn="ctr">
                      <a:solidFill>
                        <a:srgbClr val="D8D8E6"/>
                      </a:solidFill>
                      <a:prstDash val="solid"/>
                      <a:round/>
                      <a:headEnd type="none" w="med" len="med"/>
                      <a:tailEnd type="none" w="med" len="med"/>
                    </a:lnB>
                    <a:solidFill>
                      <a:srgbClr val="FFFFFF"/>
                    </a:solidFill>
                  </a:tcPr>
                </a:tc>
              </a:tr>
            </a:tbl>
          </a:graphicData>
        </a:graphic>
      </p:graphicFrame>
      <p:sp>
        <p:nvSpPr>
          <p:cNvPr id="26"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RENDERING APPROACHES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CSR, SSR, and SSG in Plain Terms</a:t>
            </a:r>
            <a:endParaRPr lang="en-US" sz="3400" dirty="0"/>
          </a:p>
        </p:txBody>
      </p:sp>
      <p:sp>
        <p:nvSpPr>
          <p:cNvPr id="4" name="Shape 2"/>
          <p:cNvSpPr/>
          <p:nvPr/>
        </p:nvSpPr>
        <p:spPr>
          <a:xfrm>
            <a:off x="685800" y="1965960"/>
            <a:ext cx="457200" cy="457200"/>
          </a:xfrm>
          <a:prstGeom prst="ellipse">
            <a:avLst/>
          </a:prstGeom>
          <a:solidFill>
            <a:srgbClr val="FF8A3D"/>
          </a:solidFill>
          <a:ln/>
        </p:spPr>
        <p:txBody>
          <a:bodyPr/>
          <a:p/>
        </p:txBody>
      </p:sp>
      <p:sp>
        <p:nvSpPr>
          <p:cNvPr id="5" name="Text 3"/>
          <p:cNvSpPr txBox="1"/>
          <p:nvPr/>
        </p:nvSpPr>
        <p:spPr>
          <a:xfrm>
            <a:off x="68580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89280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CSR: what a plain Vite + React app does by default — first paint can be slow, but navigation is fast once loaded</a:t>
            </a:r>
            <a:endParaRPr lang="en-US" sz="1500" dirty="0"/>
          </a:p>
        </p:txBody>
      </p:sp>
      <p:sp>
        <p:nvSpPr>
          <p:cNvPr id="7" name="Shape 5"/>
          <p:cNvSpPr/>
          <p:nvPr/>
        </p:nvSpPr>
        <p:spPr>
          <a:xfrm>
            <a:off x="685800" y="2788920"/>
            <a:ext cx="457200" cy="457200"/>
          </a:xfrm>
          <a:prstGeom prst="ellipse">
            <a:avLst/>
          </a:prstGeom>
          <a:solidFill>
            <a:srgbClr val="FF8A3D"/>
          </a:solidFill>
          <a:ln/>
        </p:spPr>
        <p:txBody>
          <a:bodyPr/>
          <a:p/>
        </p:txBody>
      </p:sp>
      <p:sp>
        <p:nvSpPr>
          <p:cNvPr id="8" name="Text 6"/>
          <p:cNvSpPr txBox="1"/>
          <p:nvPr/>
        </p:nvSpPr>
        <p:spPr>
          <a:xfrm>
            <a:off x="685800" y="2788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371600" y="271576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SSR: runs React components on the server (Node.js) per request, producing HTML the browser can show immediately</a:t>
            </a:r>
            <a:endParaRPr lang="en-US" sz="1500" dirty="0"/>
          </a:p>
        </p:txBody>
      </p:sp>
      <p:sp>
        <p:nvSpPr>
          <p:cNvPr id="10" name="Shape 8"/>
          <p:cNvSpPr/>
          <p:nvPr/>
        </p:nvSpPr>
        <p:spPr>
          <a:xfrm>
            <a:off x="685800" y="3611880"/>
            <a:ext cx="457200" cy="457200"/>
          </a:xfrm>
          <a:prstGeom prst="ellipse">
            <a:avLst/>
          </a:prstGeom>
          <a:solidFill>
            <a:srgbClr val="FF8A3D"/>
          </a:solidFill>
          <a:ln/>
        </p:spPr>
        <p:txBody>
          <a:bodyPr/>
          <a:p/>
        </p:txBody>
      </p:sp>
      <p:sp>
        <p:nvSpPr>
          <p:cNvPr id="11" name="Text 9"/>
          <p:cNvSpPr txBox="1"/>
          <p:nvPr/>
        </p:nvSpPr>
        <p:spPr>
          <a:xfrm>
            <a:off x="685800" y="3611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371600" y="3538728"/>
            <a:ext cx="10180015" cy="640080"/>
          </a:xfrm>
          <a:prstGeom prst="rect">
            <a:avLst/>
          </a:prstGeom>
          <a:noFill/>
          <a:ln/>
        </p:spPr>
        <p:txBody>
          <a:bodyPr wrap="square" lIns="0" tIns="0" rIns="0" bIns="0" rtlCol="0" anchor="ctr"/>
          <a:lstStyle/>
          <a:p>
            <a:pPr indent="0" marL="0">
              <a:buNone/>
            </a:pPr>
            <a:r>
              <a:rPr lang="en-US" sz="1500" dirty="0">
                <a:solidFill>
                  <a:srgbClr val="26262F"/>
                </a:solidFill>
                <a:latin typeface="Calibri" pitchFamily="34" charset="0"/>
                <a:ea typeface="Calibri" pitchFamily="34" charset="-122"/>
                <a:cs typeface="Calibri" pitchFamily="34" charset="-120"/>
              </a:rPr>
              <a:t>SSG: produces full HTML once, at build time — served instantly from a CDN, no per-visitor server computation</a:t>
            </a:r>
            <a:endParaRPr lang="en-US" sz="1500" dirty="0"/>
          </a:p>
        </p:txBody>
      </p:sp>
      <p:sp>
        <p:nvSpPr>
          <p:cNvPr id="15"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HYDRATION</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SSR + Hydration, in Sequence</a:t>
            </a:r>
            <a:endParaRPr lang="en-US" sz="3400" dirty="0"/>
          </a:p>
        </p:txBody>
      </p:sp>
      <p:sp>
        <p:nvSpPr>
          <p:cNvPr id="4" name="Shape 2"/>
          <p:cNvSpPr/>
          <p:nvPr/>
        </p:nvSpPr>
        <p:spPr>
          <a:xfrm>
            <a:off x="640080" y="2514600"/>
            <a:ext cx="1779971" cy="1371600"/>
          </a:xfrm>
          <a:prstGeom prst="roundRect">
            <a:avLst>
              <a:gd name="adj" fmla="val 5333"/>
            </a:avLst>
          </a:prstGeom>
          <a:solidFill>
            <a:srgbClr val="2B2B7A"/>
          </a:solidFill>
          <a:ln/>
        </p:spPr>
        <p:txBody>
          <a:bodyPr/>
          <a:p/>
        </p:txBody>
      </p:sp>
      <p:sp>
        <p:nvSpPr>
          <p:cNvPr id="5" name="Text 3"/>
          <p:cNvSpPr txBox="1"/>
          <p:nvPr/>
        </p:nvSpPr>
        <p:spPr>
          <a:xfrm>
            <a:off x="731520"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Browser</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requests page</a:t>
            </a:r>
            <a:endParaRPr lang="en-US" sz="1250" dirty="0"/>
          </a:p>
        </p:txBody>
      </p:sp>
      <p:sp>
        <p:nvSpPr>
          <p:cNvPr id="6" name="Shape 4"/>
          <p:cNvSpPr/>
          <p:nvPr/>
        </p:nvSpPr>
        <p:spPr>
          <a:xfrm>
            <a:off x="2420051" y="3200400"/>
            <a:ext cx="502920" cy="0"/>
          </a:xfrm>
          <a:prstGeom prst="line">
            <a:avLst/>
          </a:prstGeom>
          <a:noFill/>
          <a:ln w="25400">
            <a:solidFill>
              <a:srgbClr val="5D5D72"/>
            </a:solidFill>
            <a:prstDash val="solid"/>
            <a:tailEnd type="triangle"/>
          </a:ln>
        </p:spPr>
        <p:txBody>
          <a:bodyPr/>
          <a:p/>
        </p:txBody>
      </p:sp>
      <p:sp>
        <p:nvSpPr>
          <p:cNvPr id="7" name="Shape 5"/>
          <p:cNvSpPr/>
          <p:nvPr/>
        </p:nvSpPr>
        <p:spPr>
          <a:xfrm>
            <a:off x="2922971" y="2514600"/>
            <a:ext cx="1779971" cy="1371600"/>
          </a:xfrm>
          <a:prstGeom prst="roundRect">
            <a:avLst>
              <a:gd name="adj" fmla="val 5333"/>
            </a:avLst>
          </a:prstGeom>
          <a:solidFill>
            <a:srgbClr val="2B2B7A"/>
          </a:solidFill>
          <a:ln/>
        </p:spPr>
        <p:txBody>
          <a:bodyPr/>
          <a:p/>
        </p:txBody>
      </p:sp>
      <p:sp>
        <p:nvSpPr>
          <p:cNvPr id="8" name="Text 6"/>
          <p:cNvSpPr txBox="1"/>
          <p:nvPr/>
        </p:nvSpPr>
        <p:spPr>
          <a:xfrm>
            <a:off x="3014411"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Server renders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React to HTML</a:t>
            </a:r>
            <a:endParaRPr lang="en-US" sz="1250" dirty="0"/>
          </a:p>
        </p:txBody>
      </p:sp>
      <p:sp>
        <p:nvSpPr>
          <p:cNvPr id="9" name="Shape 7"/>
          <p:cNvSpPr/>
          <p:nvPr/>
        </p:nvSpPr>
        <p:spPr>
          <a:xfrm>
            <a:off x="4702942" y="3200400"/>
            <a:ext cx="502920" cy="0"/>
          </a:xfrm>
          <a:prstGeom prst="line">
            <a:avLst/>
          </a:prstGeom>
          <a:noFill/>
          <a:ln w="25400">
            <a:solidFill>
              <a:srgbClr val="5D5D72"/>
            </a:solidFill>
            <a:prstDash val="solid"/>
            <a:tailEnd type="triangle"/>
          </a:ln>
        </p:spPr>
        <p:txBody>
          <a:bodyPr/>
          <a:p/>
        </p:txBody>
      </p:sp>
      <p:sp>
        <p:nvSpPr>
          <p:cNvPr id="10" name="Shape 8"/>
          <p:cNvSpPr/>
          <p:nvPr/>
        </p:nvSpPr>
        <p:spPr>
          <a:xfrm>
            <a:off x="5205862" y="2514600"/>
            <a:ext cx="1779971" cy="1371600"/>
          </a:xfrm>
          <a:prstGeom prst="roundRect">
            <a:avLst>
              <a:gd name="adj" fmla="val 5333"/>
            </a:avLst>
          </a:prstGeom>
          <a:solidFill>
            <a:srgbClr val="2B2B7A"/>
          </a:solidFill>
          <a:ln/>
        </p:spPr>
        <p:txBody>
          <a:bodyPr/>
          <a:p/>
        </p:txBody>
      </p:sp>
      <p:sp>
        <p:nvSpPr>
          <p:cNvPr id="11" name="Text 9"/>
          <p:cNvSpPr txBox="1"/>
          <p:nvPr/>
        </p:nvSpPr>
        <p:spPr>
          <a:xfrm>
            <a:off x="5297302"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HTML sent —</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visible immediately</a:t>
            </a:r>
            <a:endParaRPr lang="en-US" sz="1250" dirty="0"/>
          </a:p>
        </p:txBody>
      </p:sp>
      <p:sp>
        <p:nvSpPr>
          <p:cNvPr id="12" name="Shape 10"/>
          <p:cNvSpPr/>
          <p:nvPr/>
        </p:nvSpPr>
        <p:spPr>
          <a:xfrm>
            <a:off x="6985833" y="3200400"/>
            <a:ext cx="502920" cy="0"/>
          </a:xfrm>
          <a:prstGeom prst="line">
            <a:avLst/>
          </a:prstGeom>
          <a:noFill/>
          <a:ln w="25400">
            <a:solidFill>
              <a:srgbClr val="5D5D72"/>
            </a:solidFill>
            <a:prstDash val="solid"/>
            <a:tailEnd type="triangle"/>
          </a:ln>
        </p:spPr>
        <p:txBody>
          <a:bodyPr/>
          <a:p/>
        </p:txBody>
      </p:sp>
      <p:sp>
        <p:nvSpPr>
          <p:cNvPr id="13" name="Shape 11"/>
          <p:cNvSpPr/>
          <p:nvPr/>
        </p:nvSpPr>
        <p:spPr>
          <a:xfrm>
            <a:off x="7488753" y="2514600"/>
            <a:ext cx="1779971" cy="1371600"/>
          </a:xfrm>
          <a:prstGeom prst="roundRect">
            <a:avLst>
              <a:gd name="adj" fmla="val 5333"/>
            </a:avLst>
          </a:prstGeom>
          <a:solidFill>
            <a:srgbClr val="2B2B7A"/>
          </a:solidFill>
          <a:ln/>
        </p:spPr>
        <p:txBody>
          <a:bodyPr/>
          <a:p/>
        </p:txBody>
      </p:sp>
      <p:sp>
        <p:nvSpPr>
          <p:cNvPr id="14" name="Text 12"/>
          <p:cNvSpPr txBox="1"/>
          <p:nvPr/>
        </p:nvSpPr>
        <p:spPr>
          <a:xfrm>
            <a:off x="7580193"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Browser downloads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JS bundle</a:t>
            </a:r>
            <a:endParaRPr lang="en-US" sz="1250" dirty="0"/>
          </a:p>
        </p:txBody>
      </p:sp>
      <p:sp>
        <p:nvSpPr>
          <p:cNvPr id="15" name="Shape 13"/>
          <p:cNvSpPr/>
          <p:nvPr/>
        </p:nvSpPr>
        <p:spPr>
          <a:xfrm>
            <a:off x="9268724" y="3200400"/>
            <a:ext cx="502920" cy="0"/>
          </a:xfrm>
          <a:prstGeom prst="line">
            <a:avLst/>
          </a:prstGeom>
          <a:noFill/>
          <a:ln w="25400">
            <a:solidFill>
              <a:srgbClr val="5D5D72"/>
            </a:solidFill>
            <a:prstDash val="solid"/>
            <a:tailEnd type="triangle"/>
          </a:ln>
        </p:spPr>
        <p:txBody>
          <a:bodyPr/>
          <a:p/>
        </p:txBody>
      </p:sp>
      <p:sp>
        <p:nvSpPr>
          <p:cNvPr id="16" name="Shape 14"/>
          <p:cNvSpPr/>
          <p:nvPr/>
        </p:nvSpPr>
        <p:spPr>
          <a:xfrm>
            <a:off x="9771644" y="2514600"/>
            <a:ext cx="1779971" cy="1371600"/>
          </a:xfrm>
          <a:prstGeom prst="roundRect">
            <a:avLst>
              <a:gd name="adj" fmla="val 5333"/>
            </a:avLst>
          </a:prstGeom>
          <a:solidFill>
            <a:srgbClr val="E67528"/>
          </a:solidFill>
          <a:ln/>
        </p:spPr>
        <p:txBody>
          <a:bodyPr/>
          <a:p/>
        </p:txBody>
      </p:sp>
      <p:sp>
        <p:nvSpPr>
          <p:cNvPr id="17" name="Text 15"/>
          <p:cNvSpPr txBox="1"/>
          <p:nvPr/>
        </p:nvSpPr>
        <p:spPr>
          <a:xfrm>
            <a:off x="9863084" y="2624328"/>
            <a:ext cx="1597091"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React hydrates:</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attaches handlers</a:t>
            </a:r>
            <a:endParaRPr lang="en-US" sz="1250" dirty="0"/>
          </a:p>
        </p:txBody>
      </p:sp>
      <p:sp>
        <p:nvSpPr>
          <p:cNvPr id="18" name="Text 16"/>
          <p:cNvSpPr txBox="1"/>
          <p:nvPr/>
        </p:nvSpPr>
        <p:spPr>
          <a:xfrm>
            <a:off x="640080" y="4343400"/>
            <a:ext cx="10911535" cy="1371600"/>
          </a:xfrm>
          <a:prstGeom prst="rect">
            <a:avLst/>
          </a:prstGeom>
          <a:noFill/>
          <a:ln/>
        </p:spPr>
        <p:txBody>
          <a:bodyPr wrap="square" lIns="0" tIns="0" rIns="0" bIns="0" rtlCol="0" anchor="t"/>
          <a:lstStyle/>
          <a:p>
            <a:pPr indent="0" marL="0">
              <a:buNone/>
            </a:pPr>
            <a:r>
              <a:rPr lang="en-US" sz="1300" dirty="0">
                <a:solidFill>
                  <a:srgbClr val="26262F"/>
                </a:solidFill>
                <a:latin typeface="Calibri" pitchFamily="34" charset="0"/>
                <a:ea typeface="Calibri" pitchFamily="34" charset="-122"/>
                <a:cs typeface="Calibri" pitchFamily="34" charset="-120"/>
              </a:rPr>
              <a:t>Hydration connects SSR/SSG HTML to React on the client: the HTML appears instantly, but has no event listeners until React "wakes it up" by attaching them, without re-creating any DOM nodes.</a:t>
            </a:r>
            <a:endParaRPr lang="en-US" sz="1300" dirty="0"/>
          </a:p>
        </p:txBody>
      </p:sp>
      <p:sp>
        <p:nvSpPr>
          <p:cNvPr id="21"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365760"/>
          </a:xfrm>
          <a:prstGeom prst="rect">
            <a:avLst/>
          </a:prstGeom>
          <a:noFill/>
          <a:ln/>
        </p:spPr>
        <p:txBody>
          <a:bodyPr wrap="square" lIns="0" tIns="0" rIns="0" bIns="0" rtlCol="0" anchor="ctr"/>
          <a:lstStyle/>
          <a:p>
            <a:pPr algn="l" indent="0" marL="0">
              <a:buNone/>
            </a:pPr>
            <a:r>
              <a:rPr lang="en-US" sz="1300" b="1" spc="300" kern="0" dirty="0">
                <a:solidFill>
                  <a:srgbClr val="FF8A3D"/>
                </a:solidFill>
                <a:latin typeface="Calibri" pitchFamily="34" charset="0"/>
                <a:ea typeface="Calibri" pitchFamily="34" charset="-122"/>
                <a:cs typeface="Calibri" pitchFamily="34" charset="-120"/>
              </a:rPr>
              <a:t>RENDERING APPROACHES</a:t>
            </a:r>
            <a:endParaRPr lang="en-US" sz="1300" dirty="0"/>
          </a:p>
        </p:txBody>
      </p:sp>
      <p:sp>
        <p:nvSpPr>
          <p:cNvPr id="3" name="Text 1"/>
          <p:cNvSpPr txBox="1"/>
          <p:nvPr/>
        </p:nvSpPr>
        <p:spPr>
          <a:xfrm>
            <a:off x="640080" y="841248"/>
            <a:ext cx="10881360" cy="914400"/>
          </a:xfrm>
          <a:prstGeom prst="rect">
            <a:avLst/>
          </a:prstGeom>
          <a:noFill/>
          <a:ln/>
        </p:spPr>
        <p:txBody>
          <a:bodyPr wrap="square" lIns="0" tIns="0" rIns="0" bIns="0" rtlCol="0" anchor="ctr"/>
          <a:lstStyle/>
          <a:p>
            <a:pPr algn="l" indent="0" marL="0">
              <a:buNone/>
            </a:pPr>
            <a:r>
              <a:rPr lang="en-US" sz="3400" b="1" dirty="0">
                <a:solidFill>
                  <a:srgbClr val="2B2B7A"/>
                </a:solidFill>
                <a:latin typeface="Cambria" pitchFamily="34" charset="0"/>
                <a:ea typeface="Cambria" pitchFamily="34" charset="-122"/>
                <a:cs typeface="Cambria" pitchFamily="34" charset="-120"/>
              </a:rPr>
              <a:t>This Course Focuses on CSR</a:t>
            </a:r>
            <a:endParaRPr lang="en-US" sz="3400" dirty="0"/>
          </a:p>
        </p:txBody>
      </p:sp>
      <p:sp>
        <p:nvSpPr>
          <p:cNvPr id="4" name="Shape 2"/>
          <p:cNvSpPr/>
          <p:nvPr/>
        </p:nvSpPr>
        <p:spPr>
          <a:xfrm>
            <a:off x="640080" y="1965960"/>
            <a:ext cx="10911535" cy="3657600"/>
          </a:xfrm>
          <a:prstGeom prst="roundRect">
            <a:avLst>
              <a:gd name="adj" fmla="val 3158"/>
            </a:avLst>
          </a:prstGeom>
          <a:solidFill>
            <a:srgbClr val="E9EDFB"/>
          </a:solidFill>
          <a:ln w="12700">
            <a:solidFill>
              <a:srgbClr val="6C7FD6"/>
            </a:solidFill>
            <a:prstDash val="solid"/>
          </a:ln>
        </p:spPr>
        <p:txBody>
          <a:bodyPr/>
          <a:p/>
        </p:txBody>
      </p:sp>
      <p:sp>
        <p:nvSpPr>
          <p:cNvPr id="5" name="Text 3"/>
          <p:cNvSpPr txBox="1"/>
          <p:nvPr/>
        </p:nvSpPr>
        <p:spPr>
          <a:xfrm>
            <a:off x="868680" y="2103120"/>
            <a:ext cx="10454335" cy="400000"/>
          </a:xfrm>
          <a:prstGeom prst="rect">
            <a:avLst/>
          </a:prstGeom>
          <a:noFill/>
          <a:ln/>
        </p:spPr>
        <p:txBody>
          <a:bodyPr wrap="square" lIns="0" tIns="0" rIns="0" bIns="0" rtlCol="0" anchor="ctr"/>
          <a:lstStyle/>
          <a:p>
            <a:pPr indent="0" marL="0">
              <a:buNone/>
            </a:pPr>
            <a:r>
              <a:rPr lang="en-US" sz="1800" b="1" spc="200" kern="0" dirty="0">
                <a:solidFill>
                  <a:srgbClr val="33459E"/>
                </a:solidFill>
                <a:latin typeface="Calibri" pitchFamily="34" charset="0"/>
                <a:ea typeface="Calibri" pitchFamily="34" charset="-122"/>
                <a:cs typeface="Calibri" pitchFamily="34" charset="-120"/>
              </a:rPr>
              <a:t>NOTE</a:t>
            </a:r>
            <a:endParaRPr lang="en-US" sz="1800" dirty="0"/>
          </a:p>
        </p:txBody>
      </p:sp>
      <p:sp>
        <p:nvSpPr>
          <p:cNvPr id="6" name="Text 4"/>
          <p:cNvSpPr txBox="1"/>
          <p:nvPr/>
        </p:nvSpPr>
        <p:spPr>
          <a:xfrm>
            <a:off x="868680" y="2795960"/>
            <a:ext cx="10454335" cy="2500000"/>
          </a:xfrm>
          <a:prstGeom prst="rect">
            <a:avLst/>
          </a:prstGeom>
          <a:noFill/>
          <a:ln/>
        </p:spPr>
        <p:txBody>
          <a:bodyPr wrap="square" lIns="0" tIns="0" rIns="0" bIns="0" rtlCol="0" anchor="ctr"/>
          <a:lstStyle/>
          <a:p>
            <a:pPr indent="0" marL="0">
              <a:buNone/>
            </a:pPr>
            <a:r>
              <a:rPr lang="en-US" sz="2800" dirty="0">
                <a:solidFill>
                  <a:srgbClr val="26262F"/>
                </a:solidFill>
                <a:latin typeface="Calibri" pitchFamily="34" charset="0"/>
                <a:ea typeface="Calibri" pitchFamily="34" charset="-122"/>
                <a:cs typeface="Calibri" pitchFamily="34" charset="-120"/>
              </a:rPr>
              <a:t>In this course you will build a client-side-rendered SPA with Vite, talking to the Express REST API from Lecture 25. SSR, SSG, and frameworks like Next.js are covered in depth in the Advanced Web Technologies course.</a:t>
            </a:r>
            <a:endParaRPr lang="en-US" sz="2800" dirty="0"/>
          </a:p>
        </p:txBody>
      </p:sp>
      <p:sp>
        <p:nvSpPr>
          <p:cNvPr id="9"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B2B7A"/>
        </a:solidFill>
      </p:bgPr>
    </p:bg>
    <p:spTree>
      <p:nvGrpSpPr>
        <p:cNvPr id="1" name=""/>
        <p:cNvGrpSpPr/>
        <p:nvPr/>
      </p:nvGrpSpPr>
      <p:grpSpPr>
        <a:xfrm>
          <a:off x="0" y="0"/>
          <a:ext cx="0" cy="0"/>
          <a:chOff x="0" y="0"/>
          <a:chExt cx="0" cy="0"/>
        </a:xfrm>
      </p:grpSpPr>
      <p:sp>
        <p:nvSpPr>
          <p:cNvPr id="2" name="Text 0"/>
          <p:cNvSpPr txBox="1"/>
          <p:nvPr/>
        </p:nvSpPr>
        <p:spPr>
          <a:xfrm>
            <a:off x="822960" y="731520"/>
            <a:ext cx="9144000" cy="457200"/>
          </a:xfrm>
          <a:prstGeom prst="rect">
            <a:avLst/>
          </a:prstGeom>
          <a:noFill/>
          <a:ln/>
        </p:spPr>
        <p:txBody>
          <a:bodyPr wrap="square" lIns="0" tIns="0" rIns="0" bIns="0" rtlCol="0" anchor="ctr"/>
          <a:lstStyle/>
          <a:p>
            <a:pPr indent="0" marL="0">
              <a:buNone/>
            </a:pPr>
            <a:r>
              <a:rPr lang="en-US" sz="1500" b="1" spc="400" kern="0" dirty="0">
                <a:solidFill>
                  <a:srgbClr val="FF8A3D"/>
                </a:solidFill>
                <a:latin typeface="Calibri" pitchFamily="34" charset="0"/>
                <a:ea typeface="Calibri" pitchFamily="34" charset="-122"/>
                <a:cs typeface="Calibri" pitchFamily="34" charset="-120"/>
              </a:rPr>
              <a:t>KEY TAKEAWAYS</a:t>
            </a:r>
            <a:endParaRPr lang="en-US" sz="1500" dirty="0"/>
          </a:p>
        </p:txBody>
      </p:sp>
      <p:sp>
        <p:nvSpPr>
          <p:cNvPr id="3" name="Text 1"/>
          <p:cNvSpPr txBox="1"/>
          <p:nvPr/>
        </p:nvSpPr>
        <p:spPr>
          <a:xfrm>
            <a:off x="777240" y="118872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Lecture 26 in Six Points</a:t>
            </a:r>
            <a:endParaRPr lang="en-US" sz="3400" dirty="0"/>
          </a:p>
        </p:txBody>
      </p:sp>
      <p:sp>
        <p:nvSpPr>
          <p:cNvPr id="4" name="Shape 2"/>
          <p:cNvSpPr/>
          <p:nvPr/>
        </p:nvSpPr>
        <p:spPr>
          <a:xfrm>
            <a:off x="822960" y="2286000"/>
            <a:ext cx="438912" cy="438912"/>
          </a:xfrm>
          <a:prstGeom prst="ellipse">
            <a:avLst/>
          </a:prstGeom>
          <a:solidFill>
            <a:srgbClr val="FF8A3D"/>
          </a:solidFill>
          <a:ln/>
        </p:spPr>
        <p:txBody>
          <a:bodyPr/>
          <a:p/>
        </p:txBody>
      </p:sp>
      <p:sp>
        <p:nvSpPr>
          <p:cNvPr id="5" name="Text 3"/>
          <p:cNvSpPr txBox="1"/>
          <p:nvPr/>
        </p:nvSpPr>
        <p:spPr>
          <a:xfrm>
            <a:off x="822960" y="22860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463040" y="21945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React builds single-page applications using a declarative style: describe what the UI should look like, instead of manually updating the DOM.</a:t>
            </a:r>
            <a:endParaRPr lang="en-US" sz="1250" dirty="0"/>
          </a:p>
        </p:txBody>
      </p:sp>
      <p:sp>
        <p:nvSpPr>
          <p:cNvPr id="7" name="Shape 5"/>
          <p:cNvSpPr/>
          <p:nvPr/>
        </p:nvSpPr>
        <p:spPr>
          <a:xfrm>
            <a:off x="822960" y="2956560"/>
            <a:ext cx="438912" cy="438912"/>
          </a:xfrm>
          <a:prstGeom prst="ellipse">
            <a:avLst/>
          </a:prstGeom>
          <a:solidFill>
            <a:srgbClr val="FF8A3D"/>
          </a:solidFill>
          <a:ln/>
        </p:spPr>
        <p:txBody>
          <a:bodyPr/>
          <a:p/>
        </p:txBody>
      </p:sp>
      <p:sp>
        <p:nvSpPr>
          <p:cNvPr id="8" name="Text 6"/>
          <p:cNvSpPr txBox="1"/>
          <p:nvPr/>
        </p:nvSpPr>
        <p:spPr>
          <a:xfrm>
            <a:off x="822960" y="29565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463040" y="286512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UIs are built from components — reusable functions that return JSX.</a:t>
            </a:r>
            <a:endParaRPr lang="en-US" sz="1250" dirty="0"/>
          </a:p>
        </p:txBody>
      </p:sp>
      <p:sp>
        <p:nvSpPr>
          <p:cNvPr id="10" name="Shape 8"/>
          <p:cNvSpPr/>
          <p:nvPr/>
        </p:nvSpPr>
        <p:spPr>
          <a:xfrm>
            <a:off x="822960" y="3627120"/>
            <a:ext cx="438912" cy="438912"/>
          </a:xfrm>
          <a:prstGeom prst="ellipse">
            <a:avLst/>
          </a:prstGeom>
          <a:solidFill>
            <a:srgbClr val="FF8A3D"/>
          </a:solidFill>
          <a:ln/>
        </p:spPr>
        <p:txBody>
          <a:bodyPr/>
          <a:p/>
        </p:txBody>
      </p:sp>
      <p:sp>
        <p:nvSpPr>
          <p:cNvPr id="11" name="Text 9"/>
          <p:cNvSpPr txBox="1"/>
          <p:nvPr/>
        </p:nvSpPr>
        <p:spPr>
          <a:xfrm>
            <a:off x="822960" y="36271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463040" y="353568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The Virtual DOM is an in-memory copy of the UI tree; React diffs it against the previous version and applies only minimal changes — reconciliation.</a:t>
            </a:r>
            <a:endParaRPr lang="en-US" sz="1250" dirty="0"/>
          </a:p>
        </p:txBody>
      </p:sp>
      <p:sp>
        <p:nvSpPr>
          <p:cNvPr id="13" name="Shape 11"/>
          <p:cNvSpPr/>
          <p:nvPr/>
        </p:nvSpPr>
        <p:spPr>
          <a:xfrm>
            <a:off x="822960" y="4297680"/>
            <a:ext cx="438912" cy="438912"/>
          </a:xfrm>
          <a:prstGeom prst="ellipse">
            <a:avLst/>
          </a:prstGeom>
          <a:solidFill>
            <a:srgbClr val="FF8A3D"/>
          </a:solidFill>
          <a:ln/>
        </p:spPr>
        <p:txBody>
          <a:bodyPr/>
          <a:p/>
        </p:txBody>
      </p:sp>
      <p:sp>
        <p:nvSpPr>
          <p:cNvPr id="14" name="Text 12"/>
          <p:cNvSpPr txBox="1"/>
          <p:nvPr/>
        </p:nvSpPr>
        <p:spPr>
          <a:xfrm>
            <a:off x="822960" y="4297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463040" y="420624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Vite is the modern tool for creating and running React projects, replacing the older Create React App.</a:t>
            </a:r>
            <a:endParaRPr lang="en-US" sz="1250" dirty="0"/>
          </a:p>
        </p:txBody>
      </p:sp>
      <p:sp>
        <p:nvSpPr>
          <p:cNvPr id="16" name="Shape 14"/>
          <p:cNvSpPr/>
          <p:nvPr/>
        </p:nvSpPr>
        <p:spPr>
          <a:xfrm>
            <a:off x="822960" y="4968240"/>
            <a:ext cx="438912" cy="438912"/>
          </a:xfrm>
          <a:prstGeom prst="ellipse">
            <a:avLst/>
          </a:prstGeom>
          <a:solidFill>
            <a:srgbClr val="FF8A3D"/>
          </a:solidFill>
          <a:ln/>
        </p:spPr>
        <p:txBody>
          <a:bodyPr/>
          <a:p/>
        </p:txBody>
      </p:sp>
      <p:sp>
        <p:nvSpPr>
          <p:cNvPr id="17" name="Text 15"/>
          <p:cNvSpPr txBox="1"/>
          <p:nvPr/>
        </p:nvSpPr>
        <p:spPr>
          <a:xfrm>
            <a:off x="822960" y="49682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463040" y="487680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JSX lets you write HTML-like syntax in JavaScript; use { } for expressions, className instead of class, and a stable, unique key for list items.</a:t>
            </a:r>
            <a:endParaRPr lang="en-US" sz="1250" dirty="0"/>
          </a:p>
        </p:txBody>
      </p:sp>
      <p:sp>
        <p:nvSpPr>
          <p:cNvPr id="19" name="Shape 17"/>
          <p:cNvSpPr/>
          <p:nvPr/>
        </p:nvSpPr>
        <p:spPr>
          <a:xfrm>
            <a:off x="822960" y="5638800"/>
            <a:ext cx="438912" cy="438912"/>
          </a:xfrm>
          <a:prstGeom prst="ellipse">
            <a:avLst/>
          </a:prstGeom>
          <a:solidFill>
            <a:srgbClr val="FF8A3D"/>
          </a:solidFill>
          <a:ln/>
        </p:spPr>
        <p:txBody>
          <a:bodyPr/>
          <a:p/>
        </p:txBody>
      </p:sp>
      <p:sp>
        <p:nvSpPr>
          <p:cNvPr id="20" name="Text 18"/>
          <p:cNvSpPr txBox="1"/>
          <p:nvPr/>
        </p:nvSpPr>
        <p:spPr>
          <a:xfrm>
            <a:off x="822960" y="563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463040" y="5547360"/>
            <a:ext cx="10058400" cy="624840"/>
          </a:xfrm>
          <a:prstGeom prst="rect">
            <a:avLst/>
          </a:prstGeom>
          <a:noFill/>
          <a:ln/>
        </p:spPr>
        <p:txBody>
          <a:bodyPr wrap="square" lIns="0" tIns="0" rIns="0" bIns="0" rtlCol="0" anchor="ctr"/>
          <a:lstStyle/>
          <a:p>
            <a:pPr indent="0" marL="0">
              <a:buNone/>
            </a:pPr>
            <a:r>
              <a:rPr lang="en-US" sz="1250" dirty="0">
                <a:solidFill>
                  <a:srgbClr val="C9D3F5"/>
                </a:solidFill>
                <a:latin typeface="Calibri" pitchFamily="34" charset="0"/>
                <a:ea typeface="Calibri" pitchFamily="34" charset="-122"/>
                <a:cs typeface="Calibri" pitchFamily="34" charset="-120"/>
              </a:rPr>
              <a:t>CSR, SSR, and SSG are different strategies for turning components into HTML; hydration makes server-delivered HTML interactive in the browser.</a:t>
            </a:r>
            <a:endParaRPr lang="en-US" sz="1250" dirty="0"/>
          </a:p>
        </p:txBody>
      </p:sp>
      <p:sp>
        <p:nvSpPr>
          <p:cNvPr id="24" name="cuinotes-footer-mark"/>
          <p:cNvSpPr txBox="1"/>
          <p:nvPr/>
        </p:nvSpPr>
        <p:spPr>
          <a:xfrm>
            <a:off x="9951720" y="6455664"/>
            <a:ext cx="2011680" cy="292608"/>
          </a:xfrm>
          <a:prstGeom prst="rect">
            <a:avLst/>
          </a:prstGeom>
          <a:noFill/>
        </p:spPr>
        <p:txBody>
          <a:bodyPr wrap="none" lIns="0" rIns="0" tIns="0" bIns="0">
            <a:spAutoFit/>
          </a:bodyPr>
          <a:lstStyle/>
          <a:p>
            <a:pPr algn="r"/>
            <a:r>
              <a:rPr sz="1000">
                <a:solidFill>
                  <a:srgbClr val="8A939B"/>
                </a:solidFill>
                <a:hlinkClick r:id="rId3"/>
              </a:rPr>
              <a:t>cuinotes.com</a:t>
            </a:r>
            <a:r>
              <a:rPr sz="1000">
                <a:solidFill>
                  <a:srgbClr val="8A939B"/>
                </a:solidFill>
              </a:rPr>
              <a:t>  ·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COMSATS University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26: Introduction to React.js and Rendering Approaches</dc:title>
  <dc:subject>CSC336 Web Technologies</dc:subject>
  <dc:creator>Usman Akram</dc:creator>
  <cp:lastModifiedBy>Usman Akram</cp:lastModifiedBy>
  <cp:revision>1</cp:revision>
  <dcterms:created xsi:type="dcterms:W3CDTF">2026-09-22T05:49:19Z</dcterms:created>
  <dcterms:modified xsi:type="dcterms:W3CDTF">2026-09-22T05:49:19Z</dcterms:modified>
</cp:coreProperties>
</file>
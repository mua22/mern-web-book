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cuinotes.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cuinotes.co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s://cuinotes.com"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cuinotes.com"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hyperlink" Target="https://cuinotes.co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s://cuinotes.com" TargetMode="Externa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 Id="rId4" Type="http://schemas.openxmlformats.org/officeDocument/2006/relationships/hyperlink" Target="https://cuinotes.co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s://cuinotes.com"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hyperlink" Target="https://cuinotes.com"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hyperlink" Target="https://cuinotes.com"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s://cuinotes.com"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s://cuinotes.com"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s://cuinotes.com"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hyperlink" Target="https://cuinotes.com"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cuinotes.com"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hyperlink" Target="https://cuinotes.com"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hyperlink" Target="https://cuinotes.com" TargetMode="Externa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 Id="rId4" Type="http://schemas.openxmlformats.org/officeDocument/2006/relationships/hyperlink" Target="https://cuinotes.com"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hyperlink" Target="https://cuinotes.com"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hyperlink" Target="https://cuinotes.com"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hyperlink" Target="https://cuinotes.com"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hyperlink" Target="https://cuinotes.com"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hyperlink" Target="https://cuinotes.com" TargetMode="Externa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 Id="rId4" Type="http://schemas.openxmlformats.org/officeDocument/2006/relationships/hyperlink" Target="https://cuinotes.com"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hyperlink" Target="https://cuinotes.com"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hyperlink" Target="https://cuinotes.com"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hyperlink" Target="https://cuinotes.com"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hyperlink" Target="https://cuinotes.com"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hyperlink" Target="https://cuinotes.com"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hyperlink" Target="https://cuinotes.com"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hyperlink" Target="https://cuinotes.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B7A"/>
        </a:solidFill>
      </p:bgPr>
    </p:bg>
    <p:spTree>
      <p:nvGrpSpPr>
        <p:cNvPr id="1" name=""/>
        <p:cNvGrpSpPr/>
        <p:nvPr/>
      </p:nvGrpSpPr>
      <p:grpSpPr>
        <a:xfrm>
          <a:off x="0" y="0"/>
          <a:ext cx="0" cy="0"/>
          <a:chOff x="0" y="0"/>
          <a:chExt cx="0" cy="0"/>
        </a:xfrm>
      </p:grpSpPr>
      <p:sp>
        <p:nvSpPr>
          <p:cNvPr id="2" name="Text 0"/>
          <p:cNvSpPr txBox="1"/>
          <p:nvPr/>
        </p:nvSpPr>
        <p:spPr>
          <a:xfrm>
            <a:off x="822960" y="1965960"/>
            <a:ext cx="7315200" cy="457200"/>
          </a:xfrm>
          <a:prstGeom prst="rect">
            <a:avLst/>
          </a:prstGeom>
          <a:noFill/>
          <a:ln/>
        </p:spPr>
        <p:txBody>
          <a:bodyPr wrap="square" lIns="0" tIns="0" rIns="0" bIns="0" rtlCol="0" anchor="ctr"/>
          <a:lstStyle/>
          <a:p>
            <a:pPr indent="0" marL="0">
              <a:buNone/>
            </a:pPr>
            <a:r>
              <a:rPr lang="en-US" sz="1500" b="1" spc="400" kern="0" dirty="0">
                <a:solidFill>
                  <a:srgbClr val="FF8A3D"/>
                </a:solidFill>
                <a:latin typeface="Calibri" pitchFamily="34" charset="0"/>
                <a:ea typeface="Calibri" pitchFamily="34" charset="-122"/>
                <a:cs typeface="Calibri" pitchFamily="34" charset="-120"/>
              </a:rPr>
              <a:t>LECTURE 28</a:t>
            </a:r>
            <a:endParaRPr lang="en-US" sz="1500" dirty="0"/>
          </a:p>
        </p:txBody>
      </p:sp>
      <p:sp>
        <p:nvSpPr>
          <p:cNvPr id="3" name="Text 1"/>
          <p:cNvSpPr txBox="1"/>
          <p:nvPr/>
        </p:nvSpPr>
        <p:spPr>
          <a:xfrm>
            <a:off x="777240" y="2377440"/>
            <a:ext cx="8686800" cy="192024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Hooks and</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State Management</a:t>
            </a:r>
            <a:endParaRPr lang="en-US" sz="4000" dirty="0"/>
          </a:p>
        </p:txBody>
      </p:sp>
      <p:sp>
        <p:nvSpPr>
          <p:cNvPr id="4" name="Text 2"/>
          <p:cNvSpPr txBox="1"/>
          <p:nvPr/>
        </p:nvSpPr>
        <p:spPr>
          <a:xfrm>
            <a:off x="822960" y="4389120"/>
            <a:ext cx="8961120" cy="822960"/>
          </a:xfrm>
          <a:prstGeom prst="rect">
            <a:avLst/>
          </a:prstGeom>
          <a:noFill/>
          <a:ln/>
        </p:spPr>
        <p:txBody>
          <a:bodyPr wrap="square" lIns="0" tIns="0" rIns="0" bIns="0" rtlCol="0" anchor="ctr"/>
          <a:lstStyle/>
          <a:p>
            <a:pPr indent="0" marL="0">
              <a:buNone/>
            </a:pPr>
            <a:r>
              <a:rPr lang="en-US" sz="1500" dirty="0">
                <a:solidFill>
                  <a:srgbClr val="C9D3F5"/>
                </a:solidFill>
                <a:latin typeface="Calibri" pitchFamily="34" charset="0"/>
                <a:ea typeface="Calibri" pitchFamily="34" charset="-122"/>
                <a:cs typeface="Calibri" pitchFamily="34" charset="-120"/>
              </a:rPr>
              <a:t>Giving function components memory and side effects — and sharing that state across a whole app.</a:t>
            </a:r>
            <a:endParaRPr lang="en-US" sz="1500" dirty="0"/>
          </a:p>
        </p:txBody>
      </p:sp>
      <p:sp>
        <p:nvSpPr>
          <p:cNvPr id="5" name="Text 3"/>
          <p:cNvSpPr txBox="1"/>
          <p:nvPr/>
        </p:nvSpPr>
        <p:spPr>
          <a:xfrm>
            <a:off x="822960" y="5943600"/>
            <a:ext cx="8229600" cy="365760"/>
          </a:xfrm>
          <a:prstGeom prst="rect">
            <a:avLst/>
          </a:prstGeom>
          <a:noFill/>
          <a:ln/>
        </p:spPr>
        <p:txBody>
          <a:bodyPr wrap="square" lIns="0" tIns="0" rIns="0" bIns="0" rtlCol="0" anchor="ctr"/>
          <a:lstStyle/>
          <a:p>
            <a:pPr indent="0" marL="0">
              <a:buNone/>
            </a:pPr>
            <a:r>
              <a:rPr lang="en-US" sz="1200" dirty="0">
                <a:solidFill>
                  <a:srgbClr val="9AA3D8"/>
                </a:solidFill>
                <a:latin typeface="Calibri" pitchFamily="34" charset="0"/>
                <a:ea typeface="Calibri" pitchFamily="34" charset="-122"/>
                <a:cs typeface="Calibri" pitchFamily="34" charset="-120"/>
              </a:rPr>
              <a:t>CSC336 Web Technologies</a:t>
            </a:r>
            <a:endParaRPr lang="en-US" sz="1200" dirty="0"/>
          </a:p>
        </p:txBody>
      </p:sp>
      <p:sp>
        <p:nvSpPr>
          <p:cNvPr id="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OVERVIEW</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In This Lecture</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The rules of hooks, and useState for local component state</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useEffect for side effects: the dependency array and cleanup functions</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useRef, useMemo, and useCallback for references and performance</a:t>
            </a:r>
            <a:endParaRPr lang="en-US" sz="1500" dirty="0"/>
          </a:p>
        </p:txBody>
      </p:sp>
      <p:sp>
        <p:nvSpPr>
          <p:cNvPr id="13" name="Shape 11"/>
          <p:cNvSpPr/>
          <p:nvPr/>
        </p:nvSpPr>
        <p:spPr>
          <a:xfrm>
            <a:off x="685800" y="4434840"/>
            <a:ext cx="457200" cy="457200"/>
          </a:xfrm>
          <a:prstGeom prst="ellipse">
            <a:avLst/>
          </a:prstGeom>
          <a:solidFill>
            <a:srgbClr val="FF8A3D"/>
          </a:solidFill>
          <a:ln/>
        </p:spPr>
        <p:txBody>
          <a:bodyPr/>
          <a:p/>
        </p:txBody>
      </p:sp>
      <p:sp>
        <p:nvSpPr>
          <p:cNvPr id="14" name="Text 12"/>
          <p:cNvSpPr txBox="1"/>
          <p:nvPr/>
        </p:nvSpPr>
        <p:spPr>
          <a:xfrm>
            <a:off x="685800" y="44348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 13"/>
          <p:cNvSpPr txBox="1"/>
          <p:nvPr/>
        </p:nvSpPr>
        <p:spPr>
          <a:xfrm>
            <a:off x="1371600" y="436168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Lifting state up, the Context API and useContext, and custom hooks</a:t>
            </a:r>
            <a:endParaRPr lang="en-US" sz="1500" dirty="0"/>
          </a:p>
        </p:txBody>
      </p:sp>
      <p:sp>
        <p:nvSpPr>
          <p:cNvPr id="16" name="Shape 14"/>
          <p:cNvSpPr/>
          <p:nvPr/>
        </p:nvSpPr>
        <p:spPr>
          <a:xfrm>
            <a:off x="685800" y="5257800"/>
            <a:ext cx="457200" cy="457200"/>
          </a:xfrm>
          <a:prstGeom prst="ellipse">
            <a:avLst/>
          </a:prstGeom>
          <a:solidFill>
            <a:srgbClr val="FF8A3D"/>
          </a:solidFill>
          <a:ln/>
        </p:spPr>
        <p:txBody>
          <a:bodyPr/>
          <a:p/>
        </p:txBody>
      </p:sp>
      <p:sp>
        <p:nvSpPr>
          <p:cNvPr id="17" name="Text 15"/>
          <p:cNvSpPr txBox="1"/>
          <p:nvPr/>
        </p:nvSpPr>
        <p:spPr>
          <a:xfrm>
            <a:off x="685800" y="5257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8" name="Text 16"/>
          <p:cNvSpPr txBox="1"/>
          <p:nvPr/>
        </p:nvSpPr>
        <p:spPr>
          <a:xfrm>
            <a:off x="1371600" y="518464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A conceptual overview of external state managers: Redux and Zustand</a:t>
            </a:r>
            <a:endParaRPr lang="en-US" sz="1500" dirty="0"/>
          </a:p>
        </p:txBody>
      </p:sp>
      <p:sp>
        <p:nvSpPr>
          <p:cNvPr id="21"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HOOKS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The Rules of Hooks</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Hooks are special functions that let a function component "hook into" React features like local memory and side effects</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Every built-in hook starts with use (useState, useEffect...) — custom hooks follow the same convention</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Rule 1: only call hooks at the top level — never in a loop, condition, or nested function</a:t>
            </a:r>
            <a:endParaRPr lang="en-US" sz="1500" dirty="0"/>
          </a:p>
        </p:txBody>
      </p:sp>
      <p:sp>
        <p:nvSpPr>
          <p:cNvPr id="13" name="Shape 11"/>
          <p:cNvSpPr/>
          <p:nvPr/>
        </p:nvSpPr>
        <p:spPr>
          <a:xfrm>
            <a:off x="685800" y="4434840"/>
            <a:ext cx="457200" cy="457200"/>
          </a:xfrm>
          <a:prstGeom prst="ellipse">
            <a:avLst/>
          </a:prstGeom>
          <a:solidFill>
            <a:srgbClr val="FF8A3D"/>
          </a:solidFill>
          <a:ln/>
        </p:spPr>
        <p:txBody>
          <a:bodyPr/>
          <a:p/>
        </p:txBody>
      </p:sp>
      <p:sp>
        <p:nvSpPr>
          <p:cNvPr id="14" name="Text 12"/>
          <p:cNvSpPr txBox="1"/>
          <p:nvPr/>
        </p:nvSpPr>
        <p:spPr>
          <a:xfrm>
            <a:off x="685800" y="44348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 13"/>
          <p:cNvSpPr txBox="1"/>
          <p:nvPr/>
        </p:nvSpPr>
        <p:spPr>
          <a:xfrm>
            <a:off x="1371600" y="436168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Rule 2: only call hooks from React function components or other custom hooks</a:t>
            </a:r>
            <a:endParaRPr lang="en-US" sz="1500" dirty="0"/>
          </a:p>
        </p:txBody>
      </p:sp>
      <p:sp>
        <p:nvSpPr>
          <p:cNvPr id="1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HOOKS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Conditional Hook Calls Break the Rules</a:t>
            </a:r>
            <a:endParaRPr lang="en-US" sz="3400" dirty="0"/>
          </a:p>
        </p:txBody>
      </p:sp>
      <p:sp>
        <p:nvSpPr>
          <p:cNvPr id="4" name="Shape 2"/>
          <p:cNvSpPr/>
          <p:nvPr/>
        </p:nvSpPr>
        <p:spPr>
          <a:xfrm>
            <a:off x="640080" y="1965960"/>
            <a:ext cx="10911535" cy="3749040"/>
          </a:xfrm>
          <a:prstGeom prst="roundRect">
            <a:avLst>
              <a:gd name="adj" fmla="val 1951"/>
            </a:avLst>
          </a:prstGeom>
          <a:solidFill>
            <a:srgbClr val="F7F8F9"/>
          </a:solidFill>
          <a:ln w="9525">
            <a:solidFill>
              <a:srgbClr val="D0D5DD"/>
            </a:solidFill>
          </a:ln>
        </p:spPr>
        <p:txBody>
          <a:bodyPr/>
          <a:p/>
        </p:txBody>
      </p:sp>
      <p:sp>
        <p:nvSpPr>
          <p:cNvPr id="5" name="Text 3"/>
          <p:cNvSpPr txBox="1"/>
          <p:nvPr/>
        </p:nvSpPr>
        <p:spPr>
          <a:xfrm>
            <a:off x="960120" y="2194560"/>
            <a:ext cx="10271455" cy="32918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Wrong: hook called conditionally</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function Profile({ isLoggedIn })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if (isLoggedIn)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const [name, setName] = useState("");</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t>
            </a:r>
            <a:endParaRPr lang="en-US" sz="1400" dirty="0"/>
          </a:p>
          <a:p>
            <a:pPr indent="0" marL="0">
              <a:lnSpc>
                <a:spcPct val="125000"/>
              </a:lnSpc>
              <a:buNone/>
            </a:pP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Correct: always called</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function Profile({ isLoggedIn })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const [name, setName] = useState("");</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if (!isLoggedIn) return null;</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t>
            </a:r>
            <a:endParaRPr lang="en-US" sz="1400" dirty="0"/>
          </a:p>
        </p:txBody>
      </p:sp>
      <p:sp>
        <p:nvSpPr>
          <p:cNvPr id="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HOOKS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Why This Rule Exists</a:t>
            </a:r>
            <a:endParaRPr lang="en-US" sz="3400" dirty="0"/>
          </a:p>
        </p:txBody>
      </p:sp>
      <p:sp>
        <p:nvSpPr>
          <p:cNvPr id="4" name="Shape 2"/>
          <p:cNvSpPr/>
          <p:nvPr/>
        </p:nvSpPr>
        <p:spPr>
          <a:xfrm>
            <a:off x="640080" y="1965960"/>
            <a:ext cx="10911535" cy="3657600"/>
          </a:xfrm>
          <a:prstGeom prst="roundRect">
            <a:avLst>
              <a:gd name="adj" fmla="val 3000"/>
            </a:avLst>
          </a:prstGeom>
          <a:solidFill>
            <a:srgbClr val="FDECE0"/>
          </a:solidFill>
          <a:ln w="12700">
            <a:solidFill>
              <a:srgbClr val="FF8A3D"/>
            </a:solidFill>
            <a:prstDash val="solid"/>
          </a:ln>
        </p:spPr>
        <p:txBody>
          <a:bodyPr/>
          <a:p/>
        </p:txBody>
      </p:sp>
      <p:sp>
        <p:nvSpPr>
          <p:cNvPr id="5" name="Text 3"/>
          <p:cNvSpPr txBox="1"/>
          <p:nvPr/>
        </p:nvSpPr>
        <p:spPr>
          <a:xfrm>
            <a:off x="868680" y="2103120"/>
            <a:ext cx="10454335" cy="400000"/>
          </a:xfrm>
          <a:prstGeom prst="rect">
            <a:avLst/>
          </a:prstGeom>
          <a:noFill/>
          <a:ln/>
        </p:spPr>
        <p:txBody>
          <a:bodyPr wrap="square" lIns="0" tIns="0" rIns="0" bIns="0" rtlCol="0" anchor="ctr"/>
          <a:lstStyle/>
          <a:p>
            <a:pPr indent="0" marL="0">
              <a:buNone/>
            </a:pPr>
            <a:r>
              <a:rPr lang="en-US" sz="1800" b="1" spc="200" kern="0" dirty="0">
                <a:solidFill>
                  <a:srgbClr val="8A3A12"/>
                </a:solidFill>
                <a:latin typeface="Calibri" pitchFamily="34" charset="0"/>
                <a:ea typeface="Calibri" pitchFamily="34" charset="-122"/>
                <a:cs typeface="Calibri" pitchFamily="34" charset="-120"/>
              </a:rPr>
              <a:t>WARNING</a:t>
            </a:r>
            <a:endParaRPr lang="en-US" sz="1800" dirty="0"/>
          </a:p>
        </p:txBody>
      </p:sp>
      <p:sp>
        <p:nvSpPr>
          <p:cNvPr id="6" name="Text 4"/>
          <p:cNvSpPr txBox="1"/>
          <p:nvPr/>
        </p:nvSpPr>
        <p:spPr>
          <a:xfrm>
            <a:off x="868680" y="2795960"/>
            <a:ext cx="10454335" cy="2500000"/>
          </a:xfrm>
          <a:prstGeom prst="rect">
            <a:avLst/>
          </a:prstGeom>
          <a:noFill/>
          <a:ln/>
        </p:spPr>
        <p:txBody>
          <a:bodyPr wrap="square" lIns="0" tIns="0" rIns="0" bIns="0" rtlCol="0" anchor="ctr"/>
          <a:lstStyle/>
          <a:p>
            <a:pPr indent="0" marL="0">
              <a:buNone/>
            </a:pPr>
            <a:r>
              <a:rPr lang="en-US" sz="2800" dirty="0">
                <a:solidFill>
                  <a:srgbClr val="26262F"/>
                </a:solidFill>
                <a:latin typeface="Calibri" pitchFamily="34" charset="0"/>
                <a:ea typeface="Calibri" pitchFamily="34" charset="-122"/>
                <a:cs typeface="Calibri" pitchFamily="34" charset="-120"/>
              </a:rPr>
              <a:t>React tracks each hook call by the ORDER it was called in during a render, not by name. If a hook is skipped conditionally, the order shifts, and React can attach the wrong stored value to the wrong hook next render. Calling hooks unconditionally keeps that order stable every time.</a:t>
            </a:r>
            <a:endParaRPr lang="en-US" sz="28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USESTATE</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Local Component State</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State is data a component tracks over time that can change in response to user actions, triggering a re-render</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useState(initialValue) returns an array of exactly two elements: the current value and a setter function</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Destructured by convention as [thing, setThing]</a:t>
            </a:r>
            <a:endParaRPr lang="en-US" sz="1500" dirty="0"/>
          </a:p>
        </p:txBody>
      </p:sp>
      <p:sp>
        <p:nvSpPr>
          <p:cNvPr id="15"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USESTATE</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A Counter</a:t>
            </a:r>
            <a:endParaRPr lang="en-US" sz="3400" dirty="0"/>
          </a:p>
        </p:txBody>
      </p:sp>
      <p:sp>
        <p:nvSpPr>
          <p:cNvPr id="4" name="Shape 2"/>
          <p:cNvSpPr/>
          <p:nvPr/>
        </p:nvSpPr>
        <p:spPr>
          <a:xfrm>
            <a:off x="640080" y="2129790"/>
            <a:ext cx="5272888" cy="4015740"/>
          </a:xfrm>
          <a:prstGeom prst="roundRect">
            <a:avLst>
              <a:gd name="adj" fmla="val 1822"/>
            </a:avLst>
          </a:prstGeom>
          <a:solidFill>
            <a:srgbClr val="F7F8F9"/>
          </a:solidFill>
          <a:ln w="9525">
            <a:solidFill>
              <a:srgbClr val="D0D5DD"/>
            </a:solidFill>
          </a:ln>
        </p:spPr>
        <p:txBody>
          <a:bodyPr/>
          <a:p/>
        </p:txBody>
      </p:sp>
      <p:sp>
        <p:nvSpPr>
          <p:cNvPr id="5" name="Text 3"/>
          <p:cNvSpPr txBox="1"/>
          <p:nvPr/>
        </p:nvSpPr>
        <p:spPr>
          <a:xfrm>
            <a:off x="960120" y="2358390"/>
            <a:ext cx="4632808" cy="3558540"/>
          </a:xfrm>
          <a:prstGeom prst="rect">
            <a:avLst/>
          </a:prstGeom>
          <a:noFill/>
          <a:ln/>
        </p:spPr>
        <p:txBody>
          <a:bodyPr wrap="square" lIns="0" tIns="0" rIns="0" bIns="0" rtlCol="0" anchor="t"/>
          <a:lstStyle/>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function Counter() {</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const [count, setCount] =</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useState(0);</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return (</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&lt;div&gt;</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&lt;p&gt;Count: {count}&lt;/p&gt;</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&lt;button onClick={</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 =&gt; setCount(count + 1)</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}&gt;</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+1</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&lt;/button&gt;</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&lt;/div&gt;</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a:t>
            </a:r>
            <a:endParaRPr lang="en-US" sz="1300" dirty="0"/>
          </a:p>
        </p:txBody>
      </p:sp>
      <p:sp>
        <p:nvSpPr>
          <p:cNvPr id="6" name="Shape 4"/>
          <p:cNvSpPr/>
          <p:nvPr/>
        </p:nvSpPr>
        <p:spPr>
          <a:xfrm>
            <a:off x="6169000" y="1947672"/>
            <a:ext cx="5492344" cy="4379976"/>
          </a:xfrm>
          <a:prstGeom prst="roundRect">
            <a:avLst>
              <a:gd name="adj" fmla="val 1253"/>
            </a:avLst>
          </a:prstGeom>
          <a:solidFill>
            <a:srgbClr val="FFFFFF"/>
          </a:solidFill>
          <a:ln w="12700">
            <a:solidFill>
              <a:srgbClr val="E2E2EE"/>
            </a:solidFill>
            <a:prstDash val="solid"/>
          </a:ln>
          <a:effectLst>
            <a:outerShdw sx="100000" sy="100000" kx="0" ky="0" algn="bl" rotWithShape="0" blurRad="101600" dist="38100" dir="5400000">
              <a:srgbClr val="000000">
                <a:alpha val="12000"/>
              </a:srgbClr>
            </a:outerShdw>
          </a:effectLst>
        </p:spPr>
        <p:txBody>
          <a:bodyPr/>
          <a:p/>
        </p:txBody>
      </p:sp>
      <p:pic>
        <p:nvPicPr>
          <p:cNvPr id="7" name="Image 0" descr="D:/GitHub/mern-web-book/docs/assets/img/lecture-28/counter-demo.png">    </p:cNvPr>
          <p:cNvPicPr>
            <a:picLocks noChangeAspect="1"/>
          </p:cNvPicPr>
          <p:nvPr/>
        </p:nvPicPr>
        <p:blipFill>
          <a:blip r:embed="rId1"/>
          <a:stretch>
            <a:fillRect/>
          </a:stretch>
        </p:blipFill>
        <p:spPr>
          <a:xfrm>
            <a:off x="6933971" y="3025140"/>
            <a:ext cx="3962400" cy="2225040"/>
          </a:xfrm>
          <a:prstGeom prst="rect">
            <a:avLst/>
          </a:prstGeom>
        </p:spPr>
      </p:pic>
      <p:sp>
        <p:nvSpPr>
          <p:cNvPr id="10"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4"/>
              </a:rPr>
              <a:t>cuinotes.com</a:t>
            </a:r>
            <a:r>
              <a:rPr sz="1000">
                <a:solidFill>
                  <a:srgbClr val="8A939B"/>
                </a:solidFill>
              </a:rPr>
              <a:t>  ·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USESTATE</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Never Mutate State Directly</a:t>
            </a:r>
            <a:endParaRPr lang="en-US" sz="3400" dirty="0"/>
          </a:p>
        </p:txBody>
      </p:sp>
      <p:sp>
        <p:nvSpPr>
          <p:cNvPr id="4" name="Shape 2"/>
          <p:cNvSpPr/>
          <p:nvPr/>
        </p:nvSpPr>
        <p:spPr>
          <a:xfrm>
            <a:off x="640080" y="1965960"/>
            <a:ext cx="10911535" cy="3657600"/>
          </a:xfrm>
          <a:prstGeom prst="roundRect">
            <a:avLst>
              <a:gd name="adj" fmla="val 3158"/>
            </a:avLst>
          </a:prstGeom>
          <a:solidFill>
            <a:srgbClr val="FDECE0"/>
          </a:solidFill>
          <a:ln w="12700">
            <a:solidFill>
              <a:srgbClr val="FF8A3D"/>
            </a:solidFill>
            <a:prstDash val="solid"/>
          </a:ln>
        </p:spPr>
        <p:txBody>
          <a:bodyPr/>
          <a:p/>
        </p:txBody>
      </p:sp>
      <p:sp>
        <p:nvSpPr>
          <p:cNvPr id="5" name="Text 3"/>
          <p:cNvSpPr txBox="1"/>
          <p:nvPr/>
        </p:nvSpPr>
        <p:spPr>
          <a:xfrm>
            <a:off x="868680" y="2103120"/>
            <a:ext cx="10454335" cy="400000"/>
          </a:xfrm>
          <a:prstGeom prst="rect">
            <a:avLst/>
          </a:prstGeom>
          <a:noFill/>
          <a:ln/>
        </p:spPr>
        <p:txBody>
          <a:bodyPr wrap="square" lIns="0" tIns="0" rIns="0" bIns="0" rtlCol="0" anchor="ctr"/>
          <a:lstStyle/>
          <a:p>
            <a:pPr indent="0" marL="0">
              <a:buNone/>
            </a:pPr>
            <a:r>
              <a:rPr lang="en-US" sz="1800" b="1" spc="200" kern="0" dirty="0">
                <a:solidFill>
                  <a:srgbClr val="8A3A12"/>
                </a:solidFill>
                <a:latin typeface="Calibri" pitchFamily="34" charset="0"/>
                <a:ea typeface="Calibri" pitchFamily="34" charset="-122"/>
                <a:cs typeface="Calibri" pitchFamily="34" charset="-120"/>
              </a:rPr>
              <a:t>WARNING</a:t>
            </a:r>
            <a:endParaRPr lang="en-US" sz="1800" dirty="0"/>
          </a:p>
        </p:txBody>
      </p:sp>
      <p:sp>
        <p:nvSpPr>
          <p:cNvPr id="6" name="Text 4"/>
          <p:cNvSpPr txBox="1"/>
          <p:nvPr/>
        </p:nvSpPr>
        <p:spPr>
          <a:xfrm>
            <a:off x="868680" y="2795960"/>
            <a:ext cx="10454335" cy="2500000"/>
          </a:xfrm>
          <a:prstGeom prst="rect">
            <a:avLst/>
          </a:prstGeom>
          <a:noFill/>
          <a:ln/>
        </p:spPr>
        <p:txBody>
          <a:bodyPr wrap="square" lIns="0" tIns="0" rIns="0" bIns="0" rtlCol="0" anchor="ctr"/>
          <a:lstStyle/>
          <a:p>
            <a:pPr indent="0" marL="0">
              <a:buNone/>
            </a:pPr>
            <a:r>
              <a:rPr lang="en-US" sz="2800" dirty="0">
                <a:solidFill>
                  <a:srgbClr val="26262F"/>
                </a:solidFill>
                <a:latin typeface="Calibri" pitchFamily="34" charset="0"/>
                <a:ea typeface="Calibri" pitchFamily="34" charset="-122"/>
                <a:cs typeface="Calibri" pitchFamily="34" charset="-120"/>
              </a:rPr>
              <a:t>Writing count++ or items.push(newItem) will NOT trigger a re-render — React only detects a change when you call the setter with a new value. Always create a new value instead of mutating the old one.</a:t>
            </a:r>
            <a:endParaRPr lang="en-US" sz="28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USESTATE</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Mutating vs. Replacing an Array</a:t>
            </a:r>
            <a:endParaRPr lang="en-US" sz="3400" dirty="0"/>
          </a:p>
        </p:txBody>
      </p:sp>
      <p:sp>
        <p:nvSpPr>
          <p:cNvPr id="4" name="Shape 2"/>
          <p:cNvSpPr/>
          <p:nvPr/>
        </p:nvSpPr>
        <p:spPr>
          <a:xfrm>
            <a:off x="640080" y="1965960"/>
            <a:ext cx="10911535" cy="3215640"/>
          </a:xfrm>
          <a:prstGeom prst="roundRect">
            <a:avLst>
              <a:gd name="adj" fmla="val 2275"/>
            </a:avLst>
          </a:prstGeom>
          <a:solidFill>
            <a:srgbClr val="F7F8F9"/>
          </a:solidFill>
          <a:ln w="9525">
            <a:solidFill>
              <a:srgbClr val="D0D5DD"/>
            </a:solidFill>
          </a:ln>
        </p:spPr>
        <p:txBody>
          <a:bodyPr/>
          <a:p/>
        </p:txBody>
      </p:sp>
      <p:sp>
        <p:nvSpPr>
          <p:cNvPr id="5" name="Text 3"/>
          <p:cNvSpPr txBox="1"/>
          <p:nvPr/>
        </p:nvSpPr>
        <p:spPr>
          <a:xfrm>
            <a:off x="960120" y="2194560"/>
            <a:ext cx="10271455" cy="27584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Wrong: mutates the existing array</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function addItem(item)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items.push(item);</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setItems(items);</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t>
            </a:r>
            <a:endParaRPr lang="en-US" sz="1400" dirty="0"/>
          </a:p>
          <a:p>
            <a:pPr indent="0" marL="0">
              <a:lnSpc>
                <a:spcPct val="125000"/>
              </a:lnSpc>
              <a:buNone/>
            </a:pP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Correct: creates a new array</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function addItem(item)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setItems([...items, item]);</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t>
            </a:r>
            <a:endParaRPr lang="en-US" sz="1400" dirty="0"/>
          </a:p>
        </p:txBody>
      </p:sp>
      <p:sp>
        <p:nvSpPr>
          <p:cNvPr id="6" name="Text 4"/>
          <p:cNvSpPr txBox="1"/>
          <p:nvPr/>
        </p:nvSpPr>
        <p:spPr>
          <a:xfrm>
            <a:off x="640080" y="5410200"/>
            <a:ext cx="10911535" cy="85344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When new state depends on old state inside a handler, pass a function to the setter instead: setCount((prev) =&gt; prev + 1).</a:t>
            </a:r>
            <a:endParaRPr lang="en-US" sz="13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USEEFFECT</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useEffect: Side Effects</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A side effect reaches OUTSIDE of simply computing and returning JSX: fetching data, subscribing to a browser event, a timer, direct DOM manipulation</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useEffect(effectFn, dependencyArray) runs this code in response to rendering</a:t>
            </a:r>
            <a:endParaRPr lang="en-US" sz="1500" dirty="0"/>
          </a:p>
        </p:txBody>
      </p:sp>
      <p:sp>
        <p:nvSpPr>
          <p:cNvPr id="12"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USEEFFECT</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A Clock, With Cleanup</a:t>
            </a:r>
            <a:endParaRPr lang="en-US" sz="3400" dirty="0"/>
          </a:p>
        </p:txBody>
      </p:sp>
      <p:sp>
        <p:nvSpPr>
          <p:cNvPr id="4" name="Shape 2"/>
          <p:cNvSpPr/>
          <p:nvPr/>
        </p:nvSpPr>
        <p:spPr>
          <a:xfrm>
            <a:off x="640080" y="1965960"/>
            <a:ext cx="10911535" cy="3931920"/>
          </a:xfrm>
          <a:prstGeom prst="roundRect">
            <a:avLst>
              <a:gd name="adj" fmla="val 1860"/>
            </a:avLst>
          </a:prstGeom>
          <a:solidFill>
            <a:srgbClr val="F7F8F9"/>
          </a:solidFill>
          <a:ln w="9525">
            <a:solidFill>
              <a:srgbClr val="D0D5DD"/>
            </a:solidFill>
          </a:ln>
        </p:spPr>
        <p:txBody>
          <a:bodyPr/>
          <a:p/>
        </p:txBody>
      </p:sp>
      <p:sp>
        <p:nvSpPr>
          <p:cNvPr id="5" name="Text 3"/>
          <p:cNvSpPr txBox="1"/>
          <p:nvPr/>
        </p:nvSpPr>
        <p:spPr>
          <a:xfrm>
            <a:off x="960120" y="2194560"/>
            <a:ext cx="10271455" cy="3474720"/>
          </a:xfrm>
          <a:prstGeom prst="rect">
            <a:avLst/>
          </a:prstGeom>
          <a:noFill/>
          <a:ln/>
        </p:spPr>
        <p:txBody>
          <a:bodyPr wrap="square" lIns="0" tIns="0" rIns="0" bIns="0" rtlCol="0" anchor="t"/>
          <a:lstStyle/>
          <a:p>
            <a:pPr indent="0" marL="0">
              <a:lnSpc>
                <a:spcPct val="125000"/>
              </a:lnSpc>
              <a:buNone/>
            </a:pPr>
            <a:r>
              <a:rPr lang="en-US" sz="1045" dirty="0">
                <a:solidFill>
                  <a:srgbClr val="1F2429"/>
                </a:solidFill>
                <a:latin typeface="Courier New" pitchFamily="34" charset="0"/>
                <a:ea typeface="Courier New" pitchFamily="34" charset="-122"/>
                <a:cs typeface="Courier New" pitchFamily="34" charset="-120"/>
              </a:rPr>
              <a:t>function Clock() {</a:t>
            </a:r>
            <a:endParaRPr lang="en-US" sz="1045" dirty="0"/>
          </a:p>
          <a:p>
            <a:pPr indent="0" marL="0">
              <a:lnSpc>
                <a:spcPct val="125000"/>
              </a:lnSpc>
              <a:buNone/>
            </a:pPr>
            <a:r>
              <a:rPr lang="en-US" sz="1045" dirty="0">
                <a:solidFill>
                  <a:srgbClr val="1F2429"/>
                </a:solidFill>
                <a:latin typeface="Courier New" pitchFamily="34" charset="0"/>
                <a:ea typeface="Courier New" pitchFamily="34" charset="-122"/>
                <a:cs typeface="Courier New" pitchFamily="34" charset="-120"/>
              </a:rPr>
              <a:t>  const [time, setTime] =</a:t>
            </a:r>
            <a:endParaRPr lang="en-US" sz="1045" dirty="0"/>
          </a:p>
          <a:p>
            <a:pPr indent="0" marL="0">
              <a:lnSpc>
                <a:spcPct val="125000"/>
              </a:lnSpc>
              <a:buNone/>
            </a:pPr>
            <a:r>
              <a:rPr lang="en-US" sz="1045" dirty="0">
                <a:solidFill>
                  <a:srgbClr val="1F2429"/>
                </a:solidFill>
                <a:latin typeface="Courier New" pitchFamily="34" charset="0"/>
                <a:ea typeface="Courier New" pitchFamily="34" charset="-122"/>
                <a:cs typeface="Courier New" pitchFamily="34" charset="-120"/>
              </a:rPr>
              <a:t>    useState(new Date());</a:t>
            </a:r>
            <a:endParaRPr lang="en-US" sz="1045" dirty="0"/>
          </a:p>
          <a:p>
            <a:pPr indent="0" marL="0">
              <a:lnSpc>
                <a:spcPct val="125000"/>
              </a:lnSpc>
              <a:buNone/>
            </a:pPr>
            <a:r>
              <a:rPr lang="en-US" sz="1045" dirty="0">
                <a:solidFill>
                  <a:srgbClr val="1F2429"/>
                </a:solidFill>
                <a:latin typeface="Courier New" pitchFamily="34" charset="0"/>
                <a:ea typeface="Courier New" pitchFamily="34" charset="-122"/>
                <a:cs typeface="Courier New" pitchFamily="34" charset="-120"/>
              </a:rPr>
              <a:t>  useEffect(() =&gt; {</a:t>
            </a:r>
            <a:endParaRPr lang="en-US" sz="1045" dirty="0"/>
          </a:p>
          <a:p>
            <a:pPr indent="0" marL="0">
              <a:lnSpc>
                <a:spcPct val="125000"/>
              </a:lnSpc>
              <a:buNone/>
            </a:pPr>
            <a:r>
              <a:rPr lang="en-US" sz="1045" dirty="0">
                <a:solidFill>
                  <a:srgbClr val="1F2429"/>
                </a:solidFill>
                <a:latin typeface="Courier New" pitchFamily="34" charset="0"/>
                <a:ea typeface="Courier New" pitchFamily="34" charset="-122"/>
                <a:cs typeface="Courier New" pitchFamily="34" charset="-120"/>
              </a:rPr>
              <a:t>    const id = setInterval(</a:t>
            </a:r>
            <a:endParaRPr lang="en-US" sz="1045" dirty="0"/>
          </a:p>
          <a:p>
            <a:pPr indent="0" marL="0">
              <a:lnSpc>
                <a:spcPct val="125000"/>
              </a:lnSpc>
              <a:buNone/>
            </a:pPr>
            <a:r>
              <a:rPr lang="en-US" sz="1045" dirty="0">
                <a:solidFill>
                  <a:srgbClr val="1F2429"/>
                </a:solidFill>
                <a:latin typeface="Courier New" pitchFamily="34" charset="0"/>
                <a:ea typeface="Courier New" pitchFamily="34" charset="-122"/>
                <a:cs typeface="Courier New" pitchFamily="34" charset="-120"/>
              </a:rPr>
              <a:t>      () =&gt; setTime(new Date()),</a:t>
            </a:r>
            <a:endParaRPr lang="en-US" sz="1045" dirty="0"/>
          </a:p>
          <a:p>
            <a:pPr indent="0" marL="0">
              <a:lnSpc>
                <a:spcPct val="125000"/>
              </a:lnSpc>
              <a:buNone/>
            </a:pPr>
            <a:r>
              <a:rPr lang="en-US" sz="1045" dirty="0">
                <a:solidFill>
                  <a:srgbClr val="1F2429"/>
                </a:solidFill>
                <a:latin typeface="Courier New" pitchFamily="34" charset="0"/>
                <a:ea typeface="Courier New" pitchFamily="34" charset="-122"/>
                <a:cs typeface="Courier New" pitchFamily="34" charset="-120"/>
              </a:rPr>
              <a:t>      1000</a:t>
            </a:r>
            <a:endParaRPr lang="en-US" sz="1045" dirty="0"/>
          </a:p>
          <a:p>
            <a:pPr indent="0" marL="0">
              <a:lnSpc>
                <a:spcPct val="125000"/>
              </a:lnSpc>
              <a:buNone/>
            </a:pPr>
            <a:r>
              <a:rPr lang="en-US" sz="1045" dirty="0">
                <a:solidFill>
                  <a:srgbClr val="1F2429"/>
                </a:solidFill>
                <a:latin typeface="Courier New" pitchFamily="34" charset="0"/>
                <a:ea typeface="Courier New" pitchFamily="34" charset="-122"/>
                <a:cs typeface="Courier New" pitchFamily="34" charset="-120"/>
              </a:rPr>
              <a:t>    );</a:t>
            </a:r>
            <a:endParaRPr lang="en-US" sz="1045" dirty="0"/>
          </a:p>
          <a:p>
            <a:pPr indent="0" marL="0">
              <a:lnSpc>
                <a:spcPct val="125000"/>
              </a:lnSpc>
              <a:buNone/>
            </a:pPr>
            <a:r>
              <a:rPr lang="en-US" sz="1045" dirty="0">
                <a:solidFill>
                  <a:srgbClr val="1F2429"/>
                </a:solidFill>
                <a:latin typeface="Courier New" pitchFamily="34" charset="0"/>
                <a:ea typeface="Courier New" pitchFamily="34" charset="-122"/>
                <a:cs typeface="Courier New" pitchFamily="34" charset="-120"/>
              </a:rPr>
              <a:t>    return () =&gt; clearInterval(id);</a:t>
            </a:r>
            <a:endParaRPr lang="en-US" sz="1045" dirty="0"/>
          </a:p>
          <a:p>
            <a:pPr indent="0" marL="0">
              <a:lnSpc>
                <a:spcPct val="125000"/>
              </a:lnSpc>
              <a:buNone/>
            </a:pPr>
            <a:r>
              <a:rPr lang="en-US" sz="1045" dirty="0">
                <a:solidFill>
                  <a:srgbClr val="1F2429"/>
                </a:solidFill>
                <a:latin typeface="Courier New" pitchFamily="34" charset="0"/>
                <a:ea typeface="Courier New" pitchFamily="34" charset="-122"/>
                <a:cs typeface="Courier New" pitchFamily="34" charset="-120"/>
              </a:rPr>
              <a:t>  }, []);</a:t>
            </a:r>
            <a:endParaRPr lang="en-US" sz="1045" dirty="0"/>
          </a:p>
          <a:p>
            <a:pPr indent="0" marL="0">
              <a:lnSpc>
                <a:spcPct val="125000"/>
              </a:lnSpc>
              <a:buNone/>
            </a:pPr>
            <a:r>
              <a:rPr lang="en-US" sz="1045" dirty="0">
                <a:solidFill>
                  <a:srgbClr val="1F2429"/>
                </a:solidFill>
                <a:latin typeface="Courier New" pitchFamily="34" charset="0"/>
                <a:ea typeface="Courier New" pitchFamily="34" charset="-122"/>
                <a:cs typeface="Courier New" pitchFamily="34" charset="-120"/>
              </a:rPr>
              <a:t>  return (</a:t>
            </a:r>
            <a:endParaRPr lang="en-US" sz="1045" dirty="0"/>
          </a:p>
          <a:p>
            <a:pPr indent="0" marL="0">
              <a:lnSpc>
                <a:spcPct val="125000"/>
              </a:lnSpc>
              <a:buNone/>
            </a:pPr>
            <a:r>
              <a:rPr lang="en-US" sz="1045" dirty="0">
                <a:solidFill>
                  <a:srgbClr val="1F2429"/>
                </a:solidFill>
                <a:latin typeface="Courier New" pitchFamily="34" charset="0"/>
                <a:ea typeface="Courier New" pitchFamily="34" charset="-122"/>
                <a:cs typeface="Courier New" pitchFamily="34" charset="-120"/>
              </a:rPr>
              <a:t>    &lt;p&gt;</a:t>
            </a:r>
            <a:endParaRPr lang="en-US" sz="1045" dirty="0"/>
          </a:p>
          <a:p>
            <a:pPr indent="0" marL="0">
              <a:lnSpc>
                <a:spcPct val="125000"/>
              </a:lnSpc>
              <a:buNone/>
            </a:pPr>
            <a:r>
              <a:rPr lang="en-US" sz="1045" dirty="0">
                <a:solidFill>
                  <a:srgbClr val="1F2429"/>
                </a:solidFill>
                <a:latin typeface="Courier New" pitchFamily="34" charset="0"/>
                <a:ea typeface="Courier New" pitchFamily="34" charset="-122"/>
                <a:cs typeface="Courier New" pitchFamily="34" charset="-120"/>
              </a:rPr>
              <a:t>      Current time:</a:t>
            </a:r>
            <a:endParaRPr lang="en-US" sz="1045" dirty="0"/>
          </a:p>
          <a:p>
            <a:pPr indent="0" marL="0">
              <a:lnSpc>
                <a:spcPct val="125000"/>
              </a:lnSpc>
              <a:buNone/>
            </a:pPr>
            <a:r>
              <a:rPr lang="en-US" sz="1045" dirty="0">
                <a:solidFill>
                  <a:srgbClr val="1F2429"/>
                </a:solidFill>
                <a:latin typeface="Courier New" pitchFamily="34" charset="0"/>
                <a:ea typeface="Courier New" pitchFamily="34" charset="-122"/>
                <a:cs typeface="Courier New" pitchFamily="34" charset="-120"/>
              </a:rPr>
              <a:t>      {time.toLocaleTimeString()}</a:t>
            </a:r>
            <a:endParaRPr lang="en-US" sz="1045" dirty="0"/>
          </a:p>
          <a:p>
            <a:pPr indent="0" marL="0">
              <a:lnSpc>
                <a:spcPct val="125000"/>
              </a:lnSpc>
              <a:buNone/>
            </a:pPr>
            <a:r>
              <a:rPr lang="en-US" sz="1045" dirty="0">
                <a:solidFill>
                  <a:srgbClr val="1F2429"/>
                </a:solidFill>
                <a:latin typeface="Courier New" pitchFamily="34" charset="0"/>
                <a:ea typeface="Courier New" pitchFamily="34" charset="-122"/>
                <a:cs typeface="Courier New" pitchFamily="34" charset="-120"/>
              </a:rPr>
              <a:t>    &lt;/p&gt;</a:t>
            </a:r>
            <a:endParaRPr lang="en-US" sz="1045" dirty="0"/>
          </a:p>
          <a:p>
            <a:pPr indent="0" marL="0">
              <a:lnSpc>
                <a:spcPct val="125000"/>
              </a:lnSpc>
              <a:buNone/>
            </a:pPr>
            <a:r>
              <a:rPr lang="en-US" sz="1045" dirty="0">
                <a:solidFill>
                  <a:srgbClr val="1F2429"/>
                </a:solidFill>
                <a:latin typeface="Courier New" pitchFamily="34" charset="0"/>
                <a:ea typeface="Courier New" pitchFamily="34" charset="-122"/>
                <a:cs typeface="Courier New" pitchFamily="34" charset="-120"/>
              </a:rPr>
              <a:t>  );</a:t>
            </a:r>
            <a:endParaRPr lang="en-US" sz="1045" dirty="0"/>
          </a:p>
          <a:p>
            <a:pPr indent="0" marL="0">
              <a:lnSpc>
                <a:spcPct val="125000"/>
              </a:lnSpc>
              <a:buNone/>
            </a:pPr>
            <a:r>
              <a:rPr lang="en-US" sz="1045" dirty="0">
                <a:solidFill>
                  <a:srgbClr val="1F2429"/>
                </a:solidFill>
                <a:latin typeface="Courier New" pitchFamily="34" charset="0"/>
                <a:ea typeface="Courier New" pitchFamily="34" charset="-122"/>
                <a:cs typeface="Courier New" pitchFamily="34" charset="-120"/>
              </a:rPr>
              <a:t>}</a:t>
            </a:r>
            <a:endParaRPr lang="en-US" sz="1045" dirty="0"/>
          </a:p>
        </p:txBody>
      </p:sp>
      <p:sp>
        <p:nvSpPr>
          <p:cNvPr id="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USEEFFECT</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The Dependency Array Controls WHEN</a:t>
            </a:r>
            <a:endParaRPr lang="en-US" sz="3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911535" cy="914400"/>
        </p:xfrm>
        <a:graphic>
          <a:graphicData uri="http://schemas.openxmlformats.org/drawingml/2006/table">
            <a:tbl>
              <a:tblPr/>
              <a:tblGrid>
                <a:gridCol w="3840480"/>
                <a:gridCol w="7040880"/>
              </a:tblGrid>
              <a:tr h="77724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Dependency Array</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2B2B7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Effect Runs</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2B2B7A"/>
                    </a:solidFill>
                  </a:tcPr>
                </a:tc>
              </a:tr>
              <a:tr h="777240">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Omitted entirely</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After every render</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777240">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 (empty array)</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Only once, right after the first render</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777240">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[a, b]</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After the first render, and again whenever a or b changes</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bl>
          </a:graphicData>
        </a:graphic>
      </p:graphicFrame>
      <p:sp>
        <p:nvSpPr>
          <p:cNvPr id="14"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USEEFFECT</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Include Everything the Effect Uses</a:t>
            </a:r>
            <a:endParaRPr lang="en-US" sz="3400" dirty="0"/>
          </a:p>
        </p:txBody>
      </p:sp>
      <p:sp>
        <p:nvSpPr>
          <p:cNvPr id="4" name="Shape 2"/>
          <p:cNvSpPr/>
          <p:nvPr/>
        </p:nvSpPr>
        <p:spPr>
          <a:xfrm>
            <a:off x="640080" y="1965960"/>
            <a:ext cx="10911535" cy="3657600"/>
          </a:xfrm>
          <a:prstGeom prst="roundRect">
            <a:avLst>
              <a:gd name="adj" fmla="val 3000"/>
            </a:avLst>
          </a:prstGeom>
          <a:solidFill>
            <a:srgbClr val="FDECE0"/>
          </a:solidFill>
          <a:ln w="12700">
            <a:solidFill>
              <a:srgbClr val="FF8A3D"/>
            </a:solidFill>
            <a:prstDash val="solid"/>
          </a:ln>
        </p:spPr>
        <p:txBody>
          <a:bodyPr/>
          <a:p/>
        </p:txBody>
      </p:sp>
      <p:sp>
        <p:nvSpPr>
          <p:cNvPr id="5" name="Text 3"/>
          <p:cNvSpPr txBox="1"/>
          <p:nvPr/>
        </p:nvSpPr>
        <p:spPr>
          <a:xfrm>
            <a:off x="868680" y="2103120"/>
            <a:ext cx="10454335" cy="400000"/>
          </a:xfrm>
          <a:prstGeom prst="rect">
            <a:avLst/>
          </a:prstGeom>
          <a:noFill/>
          <a:ln/>
        </p:spPr>
        <p:txBody>
          <a:bodyPr wrap="square" lIns="0" tIns="0" rIns="0" bIns="0" rtlCol="0" anchor="ctr"/>
          <a:lstStyle/>
          <a:p>
            <a:pPr indent="0" marL="0">
              <a:buNone/>
            </a:pPr>
            <a:r>
              <a:rPr lang="en-US" sz="1800" b="1" spc="200" kern="0" dirty="0">
                <a:solidFill>
                  <a:srgbClr val="8A3A12"/>
                </a:solidFill>
                <a:latin typeface="Calibri" pitchFamily="34" charset="0"/>
                <a:ea typeface="Calibri" pitchFamily="34" charset="-122"/>
                <a:cs typeface="Calibri" pitchFamily="34" charset="-120"/>
              </a:rPr>
              <a:t>WARNING</a:t>
            </a:r>
            <a:endParaRPr lang="en-US" sz="1800" dirty="0"/>
          </a:p>
        </p:txBody>
      </p:sp>
      <p:sp>
        <p:nvSpPr>
          <p:cNvPr id="6" name="Text 4"/>
          <p:cNvSpPr txBox="1"/>
          <p:nvPr/>
        </p:nvSpPr>
        <p:spPr>
          <a:xfrm>
            <a:off x="868680" y="2795960"/>
            <a:ext cx="10454335" cy="2500000"/>
          </a:xfrm>
          <a:prstGeom prst="rect">
            <a:avLst/>
          </a:prstGeom>
          <a:noFill/>
          <a:ln/>
        </p:spPr>
        <p:txBody>
          <a:bodyPr wrap="square" lIns="0" tIns="0" rIns="0" bIns="0" rtlCol="0" anchor="ctr"/>
          <a:lstStyle/>
          <a:p>
            <a:pPr indent="0" marL="0">
              <a:buNone/>
            </a:pPr>
            <a:r>
              <a:rPr lang="en-US" sz="2800" dirty="0">
                <a:solidFill>
                  <a:srgbClr val="26262F"/>
                </a:solidFill>
                <a:latin typeface="Calibri" pitchFamily="34" charset="0"/>
                <a:ea typeface="Calibri" pitchFamily="34" charset="-122"/>
                <a:cs typeface="Calibri" pitchFamily="34" charset="-120"/>
              </a:rPr>
              <a:t>Any prop or state variable the effect reads should generally be listed in the dependency array. Leaving one out is a common source of bugs where the effect keeps using a stale, outdated value — most ESLint React setups warn about this.</a:t>
            </a:r>
            <a:endParaRPr lang="en-US" sz="28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CLEANUP FUNCTIONS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What Cleanup Functions Do</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If the function passed to useEffect RETURNS another function, React treats it as a cleanup function</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React calls it right before running the effect again, and when the component unmounts</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Essential for anything that would otherwise leak: timers, subscriptions, event listeners</a:t>
            </a:r>
            <a:endParaRPr lang="en-US" sz="1500" dirty="0"/>
          </a:p>
        </p:txBody>
      </p:sp>
      <p:sp>
        <p:nvSpPr>
          <p:cNvPr id="15"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CLEANUP FUNCTIONS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Removing an Event Listener</a:t>
            </a:r>
            <a:endParaRPr lang="en-US" sz="3400" dirty="0"/>
          </a:p>
        </p:txBody>
      </p:sp>
      <p:sp>
        <p:nvSpPr>
          <p:cNvPr id="4" name="Shape 2"/>
          <p:cNvSpPr/>
          <p:nvPr/>
        </p:nvSpPr>
        <p:spPr>
          <a:xfrm>
            <a:off x="640080" y="1965960"/>
            <a:ext cx="10911535" cy="3482340"/>
          </a:xfrm>
          <a:prstGeom prst="roundRect">
            <a:avLst>
              <a:gd name="adj" fmla="val 2101"/>
            </a:avLst>
          </a:prstGeom>
          <a:solidFill>
            <a:srgbClr val="F7F8F9"/>
          </a:solidFill>
          <a:ln w="9525">
            <a:solidFill>
              <a:srgbClr val="D0D5DD"/>
            </a:solidFill>
          </a:ln>
        </p:spPr>
        <p:txBody>
          <a:bodyPr/>
          <a:p/>
        </p:txBody>
      </p:sp>
      <p:sp>
        <p:nvSpPr>
          <p:cNvPr id="5" name="Text 3"/>
          <p:cNvSpPr txBox="1"/>
          <p:nvPr/>
        </p:nvSpPr>
        <p:spPr>
          <a:xfrm>
            <a:off x="960120" y="2194560"/>
            <a:ext cx="10271455" cy="30251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useEffect(() =&gt;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function handleResize()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console.log("window resized");</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window.addEventListener(</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"resize", handleResize</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return () =&gt; window.removeEventListener(</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"resize", handleResize</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a:t>
            </a:r>
            <a:endParaRPr lang="en-US" sz="1400" dirty="0"/>
          </a:p>
        </p:txBody>
      </p:sp>
      <p:sp>
        <p:nvSpPr>
          <p:cNvPr id="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CLEANUP FUNCTIONS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The Mount / Effect / Cleanup Lifecycle</a:t>
            </a:r>
            <a:endParaRPr lang="en-US" sz="3400" dirty="0"/>
          </a:p>
        </p:txBody>
      </p:sp>
      <p:sp>
        <p:nvSpPr>
          <p:cNvPr id="4" name="Shape 2"/>
          <p:cNvSpPr/>
          <p:nvPr/>
        </p:nvSpPr>
        <p:spPr>
          <a:xfrm>
            <a:off x="3108960" y="2400300"/>
            <a:ext cx="365760" cy="9144"/>
          </a:xfrm>
          <a:prstGeom prst="line">
            <a:avLst/>
          </a:prstGeom>
          <a:noFill/>
          <a:ln w="25400">
            <a:solidFill>
              <a:srgbClr val="5D5D72"/>
            </a:solidFill>
            <a:prstDash val="solid"/>
            <a:tailEnd type="triangle"/>
          </a:ln>
        </p:spPr>
        <p:txBody>
          <a:bodyPr/>
          <a:p/>
        </p:txBody>
      </p:sp>
      <p:sp>
        <p:nvSpPr>
          <p:cNvPr id="5" name="Shape 3"/>
          <p:cNvSpPr/>
          <p:nvPr/>
        </p:nvSpPr>
        <p:spPr>
          <a:xfrm>
            <a:off x="6126480" y="2400300"/>
            <a:ext cx="365760" cy="9144"/>
          </a:xfrm>
          <a:prstGeom prst="line">
            <a:avLst/>
          </a:prstGeom>
          <a:noFill/>
          <a:ln w="25400">
            <a:solidFill>
              <a:srgbClr val="5D5D72"/>
            </a:solidFill>
            <a:prstDash val="solid"/>
            <a:tailEnd type="triangle"/>
          </a:ln>
        </p:spPr>
        <p:txBody>
          <a:bodyPr/>
          <a:p/>
        </p:txBody>
      </p:sp>
      <p:sp>
        <p:nvSpPr>
          <p:cNvPr id="6" name="Shape 4"/>
          <p:cNvSpPr/>
          <p:nvPr/>
        </p:nvSpPr>
        <p:spPr>
          <a:xfrm>
            <a:off x="7406640" y="2697480"/>
            <a:ext cx="9144" cy="1005840"/>
          </a:xfrm>
          <a:prstGeom prst="line">
            <a:avLst/>
          </a:prstGeom>
          <a:noFill/>
          <a:ln w="25400">
            <a:solidFill>
              <a:srgbClr val="5D5D72"/>
            </a:solidFill>
            <a:prstDash val="solid"/>
            <a:tailEnd type="triangle"/>
          </a:ln>
        </p:spPr>
        <p:txBody>
          <a:bodyPr/>
          <a:p/>
        </p:txBody>
      </p:sp>
      <p:sp>
        <p:nvSpPr>
          <p:cNvPr id="7" name="Text 5"/>
          <p:cNvSpPr txBox="1"/>
          <p:nvPr/>
        </p:nvSpPr>
        <p:spPr>
          <a:xfrm>
            <a:off x="6492240" y="3054096"/>
            <a:ext cx="1828800" cy="292608"/>
          </a:xfrm>
          <a:prstGeom prst="rect">
            <a:avLst/>
          </a:prstGeom>
          <a:solidFill>
            <a:srgbClr val="FFFFFF"/>
          </a:solidFill>
          <a:ln/>
        </p:spPr>
        <p:txBody>
          <a:bodyPr wrap="square" lIns="0" tIns="0" rIns="0" bIns="0" rtlCol="0" anchor="ctr"/>
          <a:lstStyle/>
          <a:p>
            <a:pPr algn="ctr" indent="0" marL="0">
              <a:buNone/>
            </a:pPr>
            <a:r>
              <a:rPr lang="en-US" sz="1050" i="1" dirty="0">
                <a:solidFill>
                  <a:srgbClr val="5D5D72"/>
                </a:solidFill>
                <a:latin typeface="Calibri" pitchFamily="34" charset="0"/>
                <a:ea typeface="Calibri" pitchFamily="34" charset="-122"/>
                <a:cs typeface="Calibri" pitchFamily="34" charset="-120"/>
              </a:rPr>
              <a:t>deps changed</a:t>
            </a:r>
            <a:endParaRPr lang="en-US" sz="1050" dirty="0"/>
          </a:p>
        </p:txBody>
      </p:sp>
      <p:sp>
        <p:nvSpPr>
          <p:cNvPr id="8" name="Shape 6"/>
          <p:cNvSpPr/>
          <p:nvPr/>
        </p:nvSpPr>
        <p:spPr>
          <a:xfrm flipH="1" flipV="1">
            <a:off x="4754880" y="2697480"/>
            <a:ext cx="1371600" cy="1097280"/>
          </a:xfrm>
          <a:prstGeom prst="line">
            <a:avLst/>
          </a:prstGeom>
          <a:noFill/>
          <a:ln w="25400">
            <a:solidFill>
              <a:srgbClr val="5D5D72"/>
            </a:solidFill>
            <a:prstDash val="solid"/>
            <a:tailEnd type="triangle"/>
          </a:ln>
        </p:spPr>
        <p:txBody>
          <a:bodyPr/>
          <a:p/>
        </p:txBody>
      </p:sp>
      <p:sp>
        <p:nvSpPr>
          <p:cNvPr id="9" name="Text 7"/>
          <p:cNvSpPr txBox="1"/>
          <p:nvPr/>
        </p:nvSpPr>
        <p:spPr>
          <a:xfrm>
            <a:off x="4526280" y="3099816"/>
            <a:ext cx="1828800" cy="292608"/>
          </a:xfrm>
          <a:prstGeom prst="rect">
            <a:avLst/>
          </a:prstGeom>
          <a:solidFill>
            <a:srgbClr val="FFFFFF"/>
          </a:solidFill>
          <a:ln/>
        </p:spPr>
        <p:txBody>
          <a:bodyPr wrap="square" lIns="0" tIns="0" rIns="0" bIns="0" rtlCol="0" anchor="ctr"/>
          <a:lstStyle/>
          <a:p>
            <a:pPr algn="ctr" indent="0" marL="0">
              <a:buNone/>
            </a:pPr>
            <a:r>
              <a:rPr lang="en-US" sz="1050" i="1" dirty="0">
                <a:solidFill>
                  <a:srgbClr val="5D5D72"/>
                </a:solidFill>
                <a:latin typeface="Calibri" pitchFamily="34" charset="0"/>
                <a:ea typeface="Calibri" pitchFamily="34" charset="-122"/>
                <a:cs typeface="Calibri" pitchFamily="34" charset="-120"/>
              </a:rPr>
              <a:t>effect re-runs</a:t>
            </a:r>
            <a:endParaRPr lang="en-US" sz="1050" dirty="0"/>
          </a:p>
        </p:txBody>
      </p:sp>
      <p:sp>
        <p:nvSpPr>
          <p:cNvPr id="10" name="Shape 8"/>
          <p:cNvSpPr/>
          <p:nvPr/>
        </p:nvSpPr>
        <p:spPr>
          <a:xfrm>
            <a:off x="8412480" y="2697480"/>
            <a:ext cx="1554480" cy="1005840"/>
          </a:xfrm>
          <a:prstGeom prst="line">
            <a:avLst/>
          </a:prstGeom>
          <a:noFill/>
          <a:ln w="25400">
            <a:solidFill>
              <a:srgbClr val="5D5D72"/>
            </a:solidFill>
            <a:prstDash val="solid"/>
            <a:tailEnd type="triangle"/>
          </a:ln>
        </p:spPr>
        <p:txBody>
          <a:bodyPr/>
          <a:p/>
        </p:txBody>
      </p:sp>
      <p:sp>
        <p:nvSpPr>
          <p:cNvPr id="11" name="Text 9"/>
          <p:cNvSpPr txBox="1"/>
          <p:nvPr/>
        </p:nvSpPr>
        <p:spPr>
          <a:xfrm>
            <a:off x="8275320" y="3054096"/>
            <a:ext cx="1828800" cy="292608"/>
          </a:xfrm>
          <a:prstGeom prst="rect">
            <a:avLst/>
          </a:prstGeom>
          <a:solidFill>
            <a:srgbClr val="FFFFFF"/>
          </a:solidFill>
          <a:ln/>
        </p:spPr>
        <p:txBody>
          <a:bodyPr wrap="square" lIns="0" tIns="0" rIns="0" bIns="0" rtlCol="0" anchor="ctr"/>
          <a:lstStyle/>
          <a:p>
            <a:pPr algn="ctr" indent="0" marL="0">
              <a:buNone/>
            </a:pPr>
            <a:r>
              <a:rPr lang="en-US" sz="1050" i="1" dirty="0">
                <a:solidFill>
                  <a:srgbClr val="5D5D72"/>
                </a:solidFill>
                <a:latin typeface="Calibri" pitchFamily="34" charset="0"/>
                <a:ea typeface="Calibri" pitchFamily="34" charset="-122"/>
                <a:cs typeface="Calibri" pitchFamily="34" charset="-120"/>
              </a:rPr>
              <a:t>unmounts</a:t>
            </a:r>
            <a:endParaRPr lang="en-US" sz="1050" dirty="0"/>
          </a:p>
        </p:txBody>
      </p:sp>
      <p:sp>
        <p:nvSpPr>
          <p:cNvPr id="12" name="Shape 10"/>
          <p:cNvSpPr/>
          <p:nvPr/>
        </p:nvSpPr>
        <p:spPr>
          <a:xfrm>
            <a:off x="822960" y="2103120"/>
            <a:ext cx="2286000" cy="594360"/>
          </a:xfrm>
          <a:prstGeom prst="rect">
            <a:avLst/>
          </a:prstGeom>
          <a:solidFill>
            <a:srgbClr val="2B2B7A"/>
          </a:solidFill>
          <a:ln/>
        </p:spPr>
        <p:txBody>
          <a:bodyPr/>
          <a:p/>
        </p:txBody>
      </p:sp>
      <p:sp>
        <p:nvSpPr>
          <p:cNvPr id="13" name="Text 11"/>
          <p:cNvSpPr txBox="1"/>
          <p:nvPr/>
        </p:nvSpPr>
        <p:spPr>
          <a:xfrm>
            <a:off x="877824" y="2103120"/>
            <a:ext cx="2176272" cy="594360"/>
          </a:xfrm>
          <a:prstGeom prst="rect">
            <a:avLst/>
          </a:prstGeom>
          <a:noFill/>
          <a:ln/>
        </p:spPr>
        <p:txBody>
          <a:bodyPr wrap="square" lIns="0" tIns="0" rIns="0" bIns="0" rtlCol="0" anchor="ctr"/>
          <a:lstStyle/>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Mounted</a:t>
            </a:r>
            <a:endParaRPr lang="en-US" sz="1200" dirty="0"/>
          </a:p>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(first render)</a:t>
            </a:r>
            <a:endParaRPr lang="en-US" sz="1200" dirty="0"/>
          </a:p>
        </p:txBody>
      </p:sp>
      <p:sp>
        <p:nvSpPr>
          <p:cNvPr id="14" name="Shape 12"/>
          <p:cNvSpPr/>
          <p:nvPr/>
        </p:nvSpPr>
        <p:spPr>
          <a:xfrm>
            <a:off x="3474720" y="2103120"/>
            <a:ext cx="2651760" cy="594360"/>
          </a:xfrm>
          <a:prstGeom prst="rect">
            <a:avLst/>
          </a:prstGeom>
          <a:solidFill>
            <a:srgbClr val="3A3A78"/>
          </a:solidFill>
          <a:ln/>
        </p:spPr>
        <p:txBody>
          <a:bodyPr/>
          <a:p/>
        </p:txBody>
      </p:sp>
      <p:sp>
        <p:nvSpPr>
          <p:cNvPr id="15" name="Text 13"/>
          <p:cNvSpPr txBox="1"/>
          <p:nvPr/>
        </p:nvSpPr>
        <p:spPr>
          <a:xfrm>
            <a:off x="3529584" y="2103120"/>
            <a:ext cx="2542032" cy="594360"/>
          </a:xfrm>
          <a:prstGeom prst="rect">
            <a:avLst/>
          </a:prstGeom>
          <a:noFill/>
          <a:ln/>
        </p:spPr>
        <p:txBody>
          <a:bodyPr wrap="square" lIns="0" tIns="0" rIns="0" bIns="0" rtlCol="0" anchor="ctr"/>
          <a:lstStyle/>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useEffect callback</a:t>
            </a:r>
            <a:endParaRPr lang="en-US" sz="1200" dirty="0"/>
          </a:p>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runs</a:t>
            </a:r>
            <a:endParaRPr lang="en-US" sz="1200" dirty="0"/>
          </a:p>
        </p:txBody>
      </p:sp>
      <p:sp>
        <p:nvSpPr>
          <p:cNvPr id="16" name="Shape 14"/>
          <p:cNvSpPr/>
          <p:nvPr/>
        </p:nvSpPr>
        <p:spPr>
          <a:xfrm>
            <a:off x="6492240" y="2103120"/>
            <a:ext cx="1920240" cy="594360"/>
          </a:xfrm>
          <a:prstGeom prst="rect">
            <a:avLst/>
          </a:prstGeom>
          <a:solidFill>
            <a:srgbClr val="3A3A78"/>
          </a:solidFill>
          <a:ln/>
        </p:spPr>
        <p:txBody>
          <a:bodyPr/>
          <a:p/>
        </p:txBody>
      </p:sp>
      <p:sp>
        <p:nvSpPr>
          <p:cNvPr id="17" name="Text 15"/>
          <p:cNvSpPr txBox="1"/>
          <p:nvPr/>
        </p:nvSpPr>
        <p:spPr>
          <a:xfrm>
            <a:off x="6547104" y="2103120"/>
            <a:ext cx="1810512" cy="594360"/>
          </a:xfrm>
          <a:prstGeom prst="rect">
            <a:avLst/>
          </a:prstGeom>
          <a:noFill/>
          <a:ln/>
        </p:spPr>
        <p:txBody>
          <a:bodyPr wrap="square" lIns="0" tIns="0" rIns="0" bIns="0" rtlCol="0" anchor="ctr"/>
          <a:lstStyle/>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Idle</a:t>
            </a:r>
            <a:endParaRPr lang="en-US" sz="1200" dirty="0"/>
          </a:p>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(waiting)</a:t>
            </a:r>
            <a:endParaRPr lang="en-US" sz="1200" dirty="0"/>
          </a:p>
        </p:txBody>
      </p:sp>
      <p:sp>
        <p:nvSpPr>
          <p:cNvPr id="18" name="Shape 16"/>
          <p:cNvSpPr/>
          <p:nvPr/>
        </p:nvSpPr>
        <p:spPr>
          <a:xfrm>
            <a:off x="6126480" y="3703320"/>
            <a:ext cx="2651760" cy="594360"/>
          </a:xfrm>
          <a:prstGeom prst="rect">
            <a:avLst/>
          </a:prstGeom>
          <a:solidFill>
            <a:srgbClr val="FF8A3D"/>
          </a:solidFill>
          <a:ln/>
        </p:spPr>
        <p:txBody>
          <a:bodyPr/>
          <a:p/>
        </p:txBody>
      </p:sp>
      <p:sp>
        <p:nvSpPr>
          <p:cNvPr id="19" name="Text 17"/>
          <p:cNvSpPr txBox="1"/>
          <p:nvPr/>
        </p:nvSpPr>
        <p:spPr>
          <a:xfrm>
            <a:off x="6181344" y="3703320"/>
            <a:ext cx="2542032" cy="594360"/>
          </a:xfrm>
          <a:prstGeom prst="rect">
            <a:avLst/>
          </a:prstGeom>
          <a:noFill/>
          <a:ln/>
        </p:spPr>
        <p:txBody>
          <a:bodyPr wrap="square" lIns="0" tIns="0" rIns="0" bIns="0" rtlCol="0" anchor="ctr"/>
          <a:lstStyle/>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Cleanup runs</a:t>
            </a:r>
            <a:endParaRPr lang="en-US" sz="1200" dirty="0"/>
          </a:p>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(deps changed)</a:t>
            </a:r>
            <a:endParaRPr lang="en-US" sz="1200" dirty="0"/>
          </a:p>
        </p:txBody>
      </p:sp>
      <p:sp>
        <p:nvSpPr>
          <p:cNvPr id="20" name="Shape 18"/>
          <p:cNvSpPr/>
          <p:nvPr/>
        </p:nvSpPr>
        <p:spPr>
          <a:xfrm>
            <a:off x="9052560" y="3703320"/>
            <a:ext cx="2103120" cy="594360"/>
          </a:xfrm>
          <a:prstGeom prst="rect">
            <a:avLst/>
          </a:prstGeom>
          <a:solidFill>
            <a:srgbClr val="8A3A12"/>
          </a:solidFill>
          <a:ln/>
        </p:spPr>
        <p:txBody>
          <a:bodyPr/>
          <a:p/>
        </p:txBody>
      </p:sp>
      <p:sp>
        <p:nvSpPr>
          <p:cNvPr id="21" name="Text 19"/>
          <p:cNvSpPr txBox="1"/>
          <p:nvPr/>
        </p:nvSpPr>
        <p:spPr>
          <a:xfrm>
            <a:off x="9107424" y="3703320"/>
            <a:ext cx="1993392" cy="594360"/>
          </a:xfrm>
          <a:prstGeom prst="rect">
            <a:avLst/>
          </a:prstGeom>
          <a:noFill/>
          <a:ln/>
        </p:spPr>
        <p:txBody>
          <a:bodyPr wrap="square" lIns="0" tIns="0" rIns="0" bIns="0" rtlCol="0" anchor="ctr"/>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Unmounted</a:t>
            </a:r>
            <a:endParaRPr lang="en-US" sz="1050" dirty="0"/>
          </a:p>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(cleanup runs once more)</a:t>
            </a:r>
            <a:endParaRPr lang="en-US" sz="1050" dirty="0"/>
          </a:p>
        </p:txBody>
      </p:sp>
      <p:sp>
        <p:nvSpPr>
          <p:cNvPr id="22" name="Text 20"/>
          <p:cNvSpPr txBox="1"/>
          <p:nvPr/>
        </p:nvSpPr>
        <p:spPr>
          <a:xfrm>
            <a:off x="640080" y="5989320"/>
            <a:ext cx="10911535" cy="411480"/>
          </a:xfrm>
          <a:prstGeom prst="rect">
            <a:avLst/>
          </a:prstGeom>
          <a:noFill/>
          <a:ln/>
        </p:spPr>
        <p:txBody>
          <a:bodyPr wrap="square" lIns="0" tIns="0" rIns="0" bIns="0" rtlCol="0" anchor="t"/>
          <a:lstStyle/>
          <a:p>
            <a:pPr indent="0" marL="0">
              <a:buNone/>
            </a:pPr>
            <a:r>
              <a:rPr lang="en-US" sz="1250" i="1" dirty="0">
                <a:solidFill>
                  <a:srgbClr val="5D5D72"/>
                </a:solidFill>
                <a:latin typeface="Calibri" pitchFamily="34" charset="0"/>
                <a:ea typeface="Calibri" pitchFamily="34" charset="-122"/>
                <a:cs typeface="Calibri" pitchFamily="34" charset="-120"/>
              </a:rPr>
              <a:t>React calls cleanup before every subsequent effect run AND once more when the component unmounts — the same function handles both cases.</a:t>
            </a:r>
            <a:endParaRPr lang="en-US" sz="1250" dirty="0"/>
          </a:p>
        </p:txBody>
      </p:sp>
      <p:sp>
        <p:nvSpPr>
          <p:cNvPr id="25"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USEREF</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useRef: A Value That Survives, Silently</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Creates a mutable object that persists across renders WITHOUT causing a re-render when it changes</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Has one property, .current, freely readable and writable</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Two common uses: (1) accessing a real DOM element directly, (2) storing a mutable value that shouldn't trigger a render, like a timer ID</a:t>
            </a:r>
            <a:endParaRPr lang="en-US" sz="1500" dirty="0"/>
          </a:p>
        </p:txBody>
      </p:sp>
      <p:sp>
        <p:nvSpPr>
          <p:cNvPr id="15"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USEREF</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Auto-Focusing an Input</a:t>
            </a:r>
            <a:endParaRPr lang="en-US" sz="3400" dirty="0"/>
          </a:p>
        </p:txBody>
      </p:sp>
      <p:sp>
        <p:nvSpPr>
          <p:cNvPr id="4" name="Shape 2"/>
          <p:cNvSpPr/>
          <p:nvPr/>
        </p:nvSpPr>
        <p:spPr>
          <a:xfrm>
            <a:off x="640080" y="2501265"/>
            <a:ext cx="5272888" cy="3272790"/>
          </a:xfrm>
          <a:prstGeom prst="roundRect">
            <a:avLst>
              <a:gd name="adj" fmla="val 2235"/>
            </a:avLst>
          </a:prstGeom>
          <a:solidFill>
            <a:srgbClr val="F7F8F9"/>
          </a:solidFill>
          <a:ln w="9525">
            <a:solidFill>
              <a:srgbClr val="D0D5DD"/>
            </a:solidFill>
          </a:ln>
        </p:spPr>
        <p:txBody>
          <a:bodyPr/>
          <a:p/>
        </p:txBody>
      </p:sp>
      <p:sp>
        <p:nvSpPr>
          <p:cNvPr id="5" name="Text 3"/>
          <p:cNvSpPr txBox="1"/>
          <p:nvPr/>
        </p:nvSpPr>
        <p:spPr>
          <a:xfrm>
            <a:off x="960120" y="2729865"/>
            <a:ext cx="4632808" cy="2815590"/>
          </a:xfrm>
          <a:prstGeom prst="rect">
            <a:avLst/>
          </a:prstGeom>
          <a:noFill/>
          <a:ln/>
        </p:spPr>
        <p:txBody>
          <a:bodyPr wrap="square" lIns="0" tIns="0" rIns="0" bIns="0" rtlCol="0" anchor="t"/>
          <a:lstStyle/>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function AutoFocusInput() {</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const inputRef = useRef(null);</a:t>
            </a:r>
            <a:endParaRPr lang="en-US" sz="1300" dirty="0"/>
          </a:p>
          <a:p>
            <a:pPr indent="0" marL="0">
              <a:lnSpc>
                <a:spcPct val="125000"/>
              </a:lnSpc>
              <a:buNone/>
            </a:pP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useEffect(() =&gt; {</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inputRef.current.focus();</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 []);</a:t>
            </a:r>
            <a:endParaRPr lang="en-US" sz="1300" dirty="0"/>
          </a:p>
          <a:p>
            <a:pPr indent="0" marL="0">
              <a:lnSpc>
                <a:spcPct val="125000"/>
              </a:lnSpc>
              <a:buNone/>
            </a:pP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return (</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&lt;input ref={inputRef} /&gt;</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a:t>
            </a:r>
            <a:endParaRPr lang="en-US" sz="1300" dirty="0"/>
          </a:p>
        </p:txBody>
      </p:sp>
      <p:sp>
        <p:nvSpPr>
          <p:cNvPr id="6" name="Shape 4"/>
          <p:cNvSpPr/>
          <p:nvPr/>
        </p:nvSpPr>
        <p:spPr>
          <a:xfrm>
            <a:off x="6169000" y="1947672"/>
            <a:ext cx="5492344" cy="4379976"/>
          </a:xfrm>
          <a:prstGeom prst="roundRect">
            <a:avLst>
              <a:gd name="adj" fmla="val 1253"/>
            </a:avLst>
          </a:prstGeom>
          <a:solidFill>
            <a:srgbClr val="FFFFFF"/>
          </a:solidFill>
          <a:ln w="12700">
            <a:solidFill>
              <a:srgbClr val="E2E2EE"/>
            </a:solidFill>
            <a:prstDash val="solid"/>
          </a:ln>
          <a:effectLst>
            <a:outerShdw sx="100000" sy="100000" kx="0" ky="0" algn="bl" rotWithShape="0" blurRad="101600" dist="38100" dir="5400000">
              <a:srgbClr val="000000">
                <a:alpha val="12000"/>
              </a:srgbClr>
            </a:outerShdw>
          </a:effectLst>
        </p:spPr>
        <p:txBody>
          <a:bodyPr/>
          <a:p/>
        </p:txBody>
      </p:sp>
      <p:pic>
        <p:nvPicPr>
          <p:cNvPr id="7" name="Image 0" descr="D:/GitHub/mern-web-book/docs/assets/img/lecture-28/autofocus-input-demo.png">    </p:cNvPr>
          <p:cNvPicPr>
            <a:picLocks noChangeAspect="1"/>
          </p:cNvPicPr>
          <p:nvPr/>
        </p:nvPicPr>
        <p:blipFill>
          <a:blip r:embed="rId1"/>
          <a:stretch>
            <a:fillRect/>
          </a:stretch>
        </p:blipFill>
        <p:spPr>
          <a:xfrm>
            <a:off x="6476771" y="3238500"/>
            <a:ext cx="4876800" cy="1798320"/>
          </a:xfrm>
          <a:prstGeom prst="rect">
            <a:avLst/>
          </a:prstGeom>
        </p:spPr>
      </p:pic>
      <p:sp>
        <p:nvSpPr>
          <p:cNvPr id="10"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4"/>
              </a:rPr>
              <a:t>cuinotes.com</a:t>
            </a:r>
            <a:r>
              <a:rPr sz="1000">
                <a:solidFill>
                  <a:srgbClr val="8A939B"/>
                </a:solidFill>
              </a:rPr>
              <a:t>  ·  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MEMOIZATION</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useMemo and useCallback</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Both avoid unnecessary, expensive recalculation on every render — a technique called memoization</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useMemo caches the RESULT of a calculation, recomputing only when a listed dependency changes</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useCallback does the same for FUNCTIONS — it returns the same function reference between renders unless its dependencies change</a:t>
            </a:r>
            <a:endParaRPr lang="en-US" sz="1500" dirty="0"/>
          </a:p>
        </p:txBody>
      </p:sp>
      <p:sp>
        <p:nvSpPr>
          <p:cNvPr id="15"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USEMEMO</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Caching a Filtered List</a:t>
            </a:r>
            <a:endParaRPr lang="en-US" sz="3400" dirty="0"/>
          </a:p>
        </p:txBody>
      </p:sp>
      <p:sp>
        <p:nvSpPr>
          <p:cNvPr id="4" name="Shape 2"/>
          <p:cNvSpPr/>
          <p:nvPr/>
        </p:nvSpPr>
        <p:spPr>
          <a:xfrm>
            <a:off x="640080" y="1965960"/>
            <a:ext cx="10911535" cy="3931920"/>
          </a:xfrm>
          <a:prstGeom prst="roundRect">
            <a:avLst>
              <a:gd name="adj" fmla="val 1860"/>
            </a:avLst>
          </a:prstGeom>
          <a:solidFill>
            <a:srgbClr val="F7F8F9"/>
          </a:solidFill>
          <a:ln w="9525">
            <a:solidFill>
              <a:srgbClr val="D0D5DD"/>
            </a:solidFill>
          </a:ln>
        </p:spPr>
        <p:txBody>
          <a:bodyPr/>
          <a:p/>
        </p:txBody>
      </p:sp>
      <p:sp>
        <p:nvSpPr>
          <p:cNvPr id="5" name="Text 3"/>
          <p:cNvSpPr txBox="1"/>
          <p:nvPr/>
        </p:nvSpPr>
        <p:spPr>
          <a:xfrm>
            <a:off x="960120" y="2194560"/>
            <a:ext cx="10271455" cy="3474720"/>
          </a:xfrm>
          <a:prstGeom prst="rect">
            <a:avLst/>
          </a:prstGeom>
          <a:noFill/>
          <a:ln/>
        </p:spPr>
        <p:txBody>
          <a:bodyPr wrap="square" lIns="0" tIns="0" rIns="0" bIns="0" rtlCol="0" anchor="t"/>
          <a:lstStyle/>
          <a:p>
            <a:pPr indent="0" marL="0">
              <a:lnSpc>
                <a:spcPct val="125000"/>
              </a:lnSpc>
              <a:buNone/>
            </a:pPr>
            <a:r>
              <a:rPr lang="en-US" sz="1110" dirty="0">
                <a:solidFill>
                  <a:srgbClr val="1F2429"/>
                </a:solidFill>
                <a:latin typeface="Courier New" pitchFamily="34" charset="0"/>
                <a:ea typeface="Courier New" pitchFamily="34" charset="-122"/>
                <a:cs typeface="Courier New" pitchFamily="34" charset="-120"/>
              </a:rPr>
              <a:t>function ProductList({ products, searchTerm }) {</a:t>
            </a:r>
            <a:endParaRPr lang="en-US" sz="1110" dirty="0"/>
          </a:p>
          <a:p>
            <a:pPr indent="0" marL="0">
              <a:lnSpc>
                <a:spcPct val="125000"/>
              </a:lnSpc>
              <a:buNone/>
            </a:pPr>
            <a:r>
              <a:rPr lang="en-US" sz="1110" dirty="0">
                <a:solidFill>
                  <a:srgbClr val="1F2429"/>
                </a:solidFill>
                <a:latin typeface="Courier New" pitchFamily="34" charset="0"/>
                <a:ea typeface="Courier New" pitchFamily="34" charset="-122"/>
                <a:cs typeface="Courier New" pitchFamily="34" charset="-120"/>
              </a:rPr>
              <a:t>  const filtered = useMemo(() =&gt; {</a:t>
            </a:r>
            <a:endParaRPr lang="en-US" sz="1110" dirty="0"/>
          </a:p>
          <a:p>
            <a:pPr indent="0" marL="0">
              <a:lnSpc>
                <a:spcPct val="125000"/>
              </a:lnSpc>
              <a:buNone/>
            </a:pPr>
            <a:r>
              <a:rPr lang="en-US" sz="1110" dirty="0">
                <a:solidFill>
                  <a:srgbClr val="1F2429"/>
                </a:solidFill>
                <a:latin typeface="Courier New" pitchFamily="34" charset="0"/>
                <a:ea typeface="Courier New" pitchFamily="34" charset="-122"/>
                <a:cs typeface="Courier New" pitchFamily="34" charset="-120"/>
              </a:rPr>
              <a:t>    return products.filter((p) =&gt;</a:t>
            </a:r>
            <a:endParaRPr lang="en-US" sz="1110" dirty="0"/>
          </a:p>
          <a:p>
            <a:pPr indent="0" marL="0">
              <a:lnSpc>
                <a:spcPct val="125000"/>
              </a:lnSpc>
              <a:buNone/>
            </a:pPr>
            <a:r>
              <a:rPr lang="en-US" sz="1110" dirty="0">
                <a:solidFill>
                  <a:srgbClr val="1F2429"/>
                </a:solidFill>
                <a:latin typeface="Courier New" pitchFamily="34" charset="0"/>
                <a:ea typeface="Courier New" pitchFamily="34" charset="-122"/>
                <a:cs typeface="Courier New" pitchFamily="34" charset="-120"/>
              </a:rPr>
              <a:t>      p.name.toLowerCase()</a:t>
            </a:r>
            <a:endParaRPr lang="en-US" sz="1110" dirty="0"/>
          </a:p>
          <a:p>
            <a:pPr indent="0" marL="0">
              <a:lnSpc>
                <a:spcPct val="125000"/>
              </a:lnSpc>
              <a:buNone/>
            </a:pPr>
            <a:r>
              <a:rPr lang="en-US" sz="1110" dirty="0">
                <a:solidFill>
                  <a:srgbClr val="1F2429"/>
                </a:solidFill>
                <a:latin typeface="Courier New" pitchFamily="34" charset="0"/>
                <a:ea typeface="Courier New" pitchFamily="34" charset="-122"/>
                <a:cs typeface="Courier New" pitchFamily="34" charset="-120"/>
              </a:rPr>
              <a:t>        .includes(searchTerm.toLowerCase())</a:t>
            </a:r>
            <a:endParaRPr lang="en-US" sz="1110" dirty="0"/>
          </a:p>
          <a:p>
            <a:pPr indent="0" marL="0">
              <a:lnSpc>
                <a:spcPct val="125000"/>
              </a:lnSpc>
              <a:buNone/>
            </a:pPr>
            <a:r>
              <a:rPr lang="en-US" sz="1110" dirty="0">
                <a:solidFill>
                  <a:srgbClr val="1F2429"/>
                </a:solidFill>
                <a:latin typeface="Courier New" pitchFamily="34" charset="0"/>
                <a:ea typeface="Courier New" pitchFamily="34" charset="-122"/>
                <a:cs typeface="Courier New" pitchFamily="34" charset="-120"/>
              </a:rPr>
              <a:t>    );</a:t>
            </a:r>
            <a:endParaRPr lang="en-US" sz="1110" dirty="0"/>
          </a:p>
          <a:p>
            <a:pPr indent="0" marL="0">
              <a:lnSpc>
                <a:spcPct val="125000"/>
              </a:lnSpc>
              <a:buNone/>
            </a:pPr>
            <a:r>
              <a:rPr lang="en-US" sz="1110" dirty="0">
                <a:solidFill>
                  <a:srgbClr val="1F2429"/>
                </a:solidFill>
                <a:latin typeface="Courier New" pitchFamily="34" charset="0"/>
                <a:ea typeface="Courier New" pitchFamily="34" charset="-122"/>
                <a:cs typeface="Courier New" pitchFamily="34" charset="-120"/>
              </a:rPr>
              <a:t>  }, [products, searchTerm]);</a:t>
            </a:r>
            <a:endParaRPr lang="en-US" sz="1110" dirty="0"/>
          </a:p>
          <a:p>
            <a:pPr indent="0" marL="0">
              <a:lnSpc>
                <a:spcPct val="125000"/>
              </a:lnSpc>
              <a:buNone/>
            </a:pPr>
            <a:endParaRPr lang="en-US" sz="1110" dirty="0"/>
          </a:p>
          <a:p>
            <a:pPr indent="0" marL="0">
              <a:lnSpc>
                <a:spcPct val="125000"/>
              </a:lnSpc>
              <a:buNone/>
            </a:pPr>
            <a:r>
              <a:rPr lang="en-US" sz="1110" dirty="0">
                <a:solidFill>
                  <a:srgbClr val="1F2429"/>
                </a:solidFill>
                <a:latin typeface="Courier New" pitchFamily="34" charset="0"/>
                <a:ea typeface="Courier New" pitchFamily="34" charset="-122"/>
                <a:cs typeface="Courier New" pitchFamily="34" charset="-120"/>
              </a:rPr>
              <a:t>  return (</a:t>
            </a:r>
            <a:endParaRPr lang="en-US" sz="1110" dirty="0"/>
          </a:p>
          <a:p>
            <a:pPr indent="0" marL="0">
              <a:lnSpc>
                <a:spcPct val="125000"/>
              </a:lnSpc>
              <a:buNone/>
            </a:pPr>
            <a:r>
              <a:rPr lang="en-US" sz="1110" dirty="0">
                <a:solidFill>
                  <a:srgbClr val="1F2429"/>
                </a:solidFill>
                <a:latin typeface="Courier New" pitchFamily="34" charset="0"/>
                <a:ea typeface="Courier New" pitchFamily="34" charset="-122"/>
                <a:cs typeface="Courier New" pitchFamily="34" charset="-120"/>
              </a:rPr>
              <a:t>    &lt;ul&gt;</a:t>
            </a:r>
            <a:endParaRPr lang="en-US" sz="1110" dirty="0"/>
          </a:p>
          <a:p>
            <a:pPr indent="0" marL="0">
              <a:lnSpc>
                <a:spcPct val="125000"/>
              </a:lnSpc>
              <a:buNone/>
            </a:pPr>
            <a:r>
              <a:rPr lang="en-US" sz="1110" dirty="0">
                <a:solidFill>
                  <a:srgbClr val="1F2429"/>
                </a:solidFill>
                <a:latin typeface="Courier New" pitchFamily="34" charset="0"/>
                <a:ea typeface="Courier New" pitchFamily="34" charset="-122"/>
                <a:cs typeface="Courier New" pitchFamily="34" charset="-120"/>
              </a:rPr>
              <a:t>      {filtered.map((p) =&gt; (</a:t>
            </a:r>
            <a:endParaRPr lang="en-US" sz="1110" dirty="0"/>
          </a:p>
          <a:p>
            <a:pPr indent="0" marL="0">
              <a:lnSpc>
                <a:spcPct val="125000"/>
              </a:lnSpc>
              <a:buNone/>
            </a:pPr>
            <a:r>
              <a:rPr lang="en-US" sz="1110" dirty="0">
                <a:solidFill>
                  <a:srgbClr val="1F2429"/>
                </a:solidFill>
                <a:latin typeface="Courier New" pitchFamily="34" charset="0"/>
                <a:ea typeface="Courier New" pitchFamily="34" charset="-122"/>
                <a:cs typeface="Courier New" pitchFamily="34" charset="-120"/>
              </a:rPr>
              <a:t>        &lt;li key={p.id}&gt;{p.name}&lt;/li&gt;</a:t>
            </a:r>
            <a:endParaRPr lang="en-US" sz="1110" dirty="0"/>
          </a:p>
          <a:p>
            <a:pPr indent="0" marL="0">
              <a:lnSpc>
                <a:spcPct val="125000"/>
              </a:lnSpc>
              <a:buNone/>
            </a:pPr>
            <a:r>
              <a:rPr lang="en-US" sz="1110" dirty="0">
                <a:solidFill>
                  <a:srgbClr val="1F2429"/>
                </a:solidFill>
                <a:latin typeface="Courier New" pitchFamily="34" charset="0"/>
                <a:ea typeface="Courier New" pitchFamily="34" charset="-122"/>
                <a:cs typeface="Courier New" pitchFamily="34" charset="-120"/>
              </a:rPr>
              <a:t>      ))}</a:t>
            </a:r>
            <a:endParaRPr lang="en-US" sz="1110" dirty="0"/>
          </a:p>
          <a:p>
            <a:pPr indent="0" marL="0">
              <a:lnSpc>
                <a:spcPct val="125000"/>
              </a:lnSpc>
              <a:buNone/>
            </a:pPr>
            <a:r>
              <a:rPr lang="en-US" sz="1110" dirty="0">
                <a:solidFill>
                  <a:srgbClr val="1F2429"/>
                </a:solidFill>
                <a:latin typeface="Courier New" pitchFamily="34" charset="0"/>
                <a:ea typeface="Courier New" pitchFamily="34" charset="-122"/>
                <a:cs typeface="Courier New" pitchFamily="34" charset="-120"/>
              </a:rPr>
              <a:t>    &lt;/ul&gt;</a:t>
            </a:r>
            <a:endParaRPr lang="en-US" sz="1110" dirty="0"/>
          </a:p>
          <a:p>
            <a:pPr indent="0" marL="0">
              <a:lnSpc>
                <a:spcPct val="125000"/>
              </a:lnSpc>
              <a:buNone/>
            </a:pPr>
            <a:r>
              <a:rPr lang="en-US" sz="1110" dirty="0">
                <a:solidFill>
                  <a:srgbClr val="1F2429"/>
                </a:solidFill>
                <a:latin typeface="Courier New" pitchFamily="34" charset="0"/>
                <a:ea typeface="Courier New" pitchFamily="34" charset="-122"/>
                <a:cs typeface="Courier New" pitchFamily="34" charset="-120"/>
              </a:rPr>
              <a:t>  );</a:t>
            </a:r>
            <a:endParaRPr lang="en-US" sz="1110" dirty="0"/>
          </a:p>
          <a:p>
            <a:pPr indent="0" marL="0">
              <a:lnSpc>
                <a:spcPct val="125000"/>
              </a:lnSpc>
              <a:buNone/>
            </a:pPr>
            <a:r>
              <a:rPr lang="en-US" sz="1110" dirty="0">
                <a:solidFill>
                  <a:srgbClr val="1F2429"/>
                </a:solidFill>
                <a:latin typeface="Courier New" pitchFamily="34" charset="0"/>
                <a:ea typeface="Courier New" pitchFamily="34" charset="-122"/>
                <a:cs typeface="Courier New" pitchFamily="34" charset="-120"/>
              </a:rPr>
              <a:t>}</a:t>
            </a:r>
            <a:endParaRPr lang="en-US" sz="1110" dirty="0"/>
          </a:p>
        </p:txBody>
      </p:sp>
      <p:sp>
        <p:nvSpPr>
          <p:cNvPr id="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USECALLBACK</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A Stable Function Reference</a:t>
            </a:r>
            <a:endParaRPr lang="en-US" sz="3400" dirty="0"/>
          </a:p>
        </p:txBody>
      </p:sp>
      <p:sp>
        <p:nvSpPr>
          <p:cNvPr id="4" name="Shape 2"/>
          <p:cNvSpPr/>
          <p:nvPr/>
        </p:nvSpPr>
        <p:spPr>
          <a:xfrm>
            <a:off x="640080" y="1965960"/>
            <a:ext cx="10911535" cy="3215640"/>
          </a:xfrm>
          <a:prstGeom prst="roundRect">
            <a:avLst>
              <a:gd name="adj" fmla="val 2275"/>
            </a:avLst>
          </a:prstGeom>
          <a:solidFill>
            <a:srgbClr val="F7F8F9"/>
          </a:solidFill>
          <a:ln w="9525">
            <a:solidFill>
              <a:srgbClr val="D0D5DD"/>
            </a:solidFill>
          </a:ln>
        </p:spPr>
        <p:txBody>
          <a:bodyPr/>
          <a:p/>
        </p:txBody>
      </p:sp>
      <p:sp>
        <p:nvSpPr>
          <p:cNvPr id="5" name="Text 3"/>
          <p:cNvSpPr txBox="1"/>
          <p:nvPr/>
        </p:nvSpPr>
        <p:spPr>
          <a:xfrm>
            <a:off x="960120" y="2194560"/>
            <a:ext cx="10271455" cy="27584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function ProductList({ products, onAddToCart })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const handleAdd = useCallback(</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(id) =&gt;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onAddToCart(id);</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[onAddToCart]</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 same reference between renders</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 unless onAddToCart changes</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t>
            </a:r>
            <a:endParaRPr lang="en-US" sz="1400" dirty="0"/>
          </a:p>
        </p:txBody>
      </p:sp>
      <p:sp>
        <p:nvSpPr>
          <p:cNvPr id="6" name="Text 4"/>
          <p:cNvSpPr txBox="1"/>
          <p:nvPr/>
        </p:nvSpPr>
        <p:spPr>
          <a:xfrm>
            <a:off x="640080" y="5410200"/>
            <a:ext cx="10911535" cy="85344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Matters mainly when passing a callback to a child optimized with React.memo — a brand-new reference every render would defeat that optimization.</a:t>
            </a:r>
            <a:endParaRPr lang="en-US" sz="13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MEMOIZATION</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Don't Over-Optimize</a:t>
            </a:r>
            <a:endParaRPr lang="en-US" sz="3400" dirty="0"/>
          </a:p>
        </p:txBody>
      </p:sp>
      <p:sp>
        <p:nvSpPr>
          <p:cNvPr id="4" name="Shape 2"/>
          <p:cNvSpPr/>
          <p:nvPr/>
        </p:nvSpPr>
        <p:spPr>
          <a:xfrm>
            <a:off x="640080" y="1965960"/>
            <a:ext cx="10911535" cy="3657600"/>
          </a:xfrm>
          <a:prstGeom prst="roundRect">
            <a:avLst>
              <a:gd name="adj" fmla="val 3158"/>
            </a:avLst>
          </a:prstGeom>
          <a:solidFill>
            <a:srgbClr val="E6F6EE"/>
          </a:solidFill>
          <a:ln w="12700">
            <a:solidFill>
              <a:srgbClr val="3FA66B"/>
            </a:solidFill>
            <a:prstDash val="solid"/>
          </a:ln>
        </p:spPr>
        <p:txBody>
          <a:bodyPr/>
          <a:p/>
        </p:txBody>
      </p:sp>
      <p:sp>
        <p:nvSpPr>
          <p:cNvPr id="5" name="Text 3"/>
          <p:cNvSpPr txBox="1"/>
          <p:nvPr/>
        </p:nvSpPr>
        <p:spPr>
          <a:xfrm>
            <a:off x="868680" y="2103120"/>
            <a:ext cx="10454335" cy="400000"/>
          </a:xfrm>
          <a:prstGeom prst="rect">
            <a:avLst/>
          </a:prstGeom>
          <a:noFill/>
          <a:ln/>
        </p:spPr>
        <p:txBody>
          <a:bodyPr wrap="square" lIns="0" tIns="0" rIns="0" bIns="0" rtlCol="0" anchor="ctr"/>
          <a:lstStyle/>
          <a:p>
            <a:pPr indent="0" marL="0">
              <a:buNone/>
            </a:pPr>
            <a:r>
              <a:rPr lang="en-US" sz="1800" b="1" spc="200" kern="0" dirty="0">
                <a:solidFill>
                  <a:srgbClr val="1F7A46"/>
                </a:solidFill>
                <a:latin typeface="Calibri" pitchFamily="34" charset="0"/>
                <a:ea typeface="Calibri" pitchFamily="34" charset="-122"/>
                <a:cs typeface="Calibri" pitchFamily="34" charset="-120"/>
              </a:rPr>
              <a:t>TIP</a:t>
            </a:r>
            <a:endParaRPr lang="en-US" sz="1800" dirty="0"/>
          </a:p>
        </p:txBody>
      </p:sp>
      <p:sp>
        <p:nvSpPr>
          <p:cNvPr id="6" name="Text 4"/>
          <p:cNvSpPr txBox="1"/>
          <p:nvPr/>
        </p:nvSpPr>
        <p:spPr>
          <a:xfrm>
            <a:off x="868680" y="2795960"/>
            <a:ext cx="10454335" cy="2500000"/>
          </a:xfrm>
          <a:prstGeom prst="rect">
            <a:avLst/>
          </a:prstGeom>
          <a:noFill/>
          <a:ln/>
        </p:spPr>
        <p:txBody>
          <a:bodyPr wrap="square" lIns="0" tIns="0" rIns="0" bIns="0" rtlCol="0" anchor="ctr"/>
          <a:lstStyle/>
          <a:p>
            <a:pPr indent="0" marL="0">
              <a:buNone/>
            </a:pPr>
            <a:r>
              <a:rPr lang="en-US" sz="2800" dirty="0">
                <a:solidFill>
                  <a:srgbClr val="26262F"/>
                </a:solidFill>
                <a:latin typeface="Calibri" pitchFamily="34" charset="0"/>
                <a:ea typeface="Calibri" pitchFamily="34" charset="-122"/>
                <a:cs typeface="Calibri" pitchFamily="34" charset="-120"/>
              </a:rPr>
              <a:t>useMemo and useCallback are optimization tools, not something you need on every value or function — they add a small overhead themselves. Reach for them for a genuinely expensive calculation or a measured performance problem, not by default.</a:t>
            </a:r>
            <a:endParaRPr lang="en-US" sz="28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LIFTING STATE UP</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Sharing State Between Siblings</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Moving a piece of state from a child component up to their closest common PARENT</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Lets multiple sibling components share and stay in sync with the same data</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Neither sibling owns the state itself — the shared parent does</a:t>
            </a:r>
            <a:endParaRPr lang="en-US" sz="1500" dirty="0"/>
          </a:p>
        </p:txBody>
      </p:sp>
      <p:sp>
        <p:nvSpPr>
          <p:cNvPr id="15"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LIFTING STATE UP</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A Shared celsius Value</a:t>
            </a:r>
            <a:endParaRPr lang="en-US" sz="3400" dirty="0"/>
          </a:p>
        </p:txBody>
      </p:sp>
      <p:sp>
        <p:nvSpPr>
          <p:cNvPr id="4" name="Shape 2"/>
          <p:cNvSpPr/>
          <p:nvPr/>
        </p:nvSpPr>
        <p:spPr>
          <a:xfrm>
            <a:off x="640080" y="2057400"/>
            <a:ext cx="5272888" cy="4160520"/>
          </a:xfrm>
          <a:prstGeom prst="roundRect">
            <a:avLst>
              <a:gd name="adj" fmla="val 1758"/>
            </a:avLst>
          </a:prstGeom>
          <a:solidFill>
            <a:srgbClr val="F7F8F9"/>
          </a:solidFill>
          <a:ln w="9525">
            <a:solidFill>
              <a:srgbClr val="D0D5DD"/>
            </a:solidFill>
          </a:ln>
        </p:spPr>
        <p:txBody>
          <a:bodyPr/>
          <a:p/>
        </p:txBody>
      </p:sp>
      <p:sp>
        <p:nvSpPr>
          <p:cNvPr id="5" name="Text 3"/>
          <p:cNvSpPr txBox="1"/>
          <p:nvPr/>
        </p:nvSpPr>
        <p:spPr>
          <a:xfrm>
            <a:off x="960120" y="2286000"/>
            <a:ext cx="4632808" cy="3703320"/>
          </a:xfrm>
          <a:prstGeom prst="rect">
            <a:avLst/>
          </a:prstGeom>
          <a:noFill/>
          <a:ln/>
        </p:spPr>
        <p:txBody>
          <a:bodyPr wrap="square" lIns="0" tIns="0" rIns="0" bIns="0" rtlCol="0" anchor="t"/>
          <a:lstStyle/>
          <a:p>
            <a:pPr indent="0" marL="0">
              <a:lnSpc>
                <a:spcPct val="125000"/>
              </a:lnSpc>
              <a:buNone/>
            </a:pPr>
            <a:r>
              <a:rPr lang="en-US" sz="1264" dirty="0">
                <a:solidFill>
                  <a:srgbClr val="1F2429"/>
                </a:solidFill>
                <a:latin typeface="Courier New" pitchFamily="34" charset="0"/>
                <a:ea typeface="Courier New" pitchFamily="34" charset="-122"/>
                <a:cs typeface="Courier New" pitchFamily="34" charset="-120"/>
              </a:rPr>
              <a:t>function TemperatureConverter() {</a:t>
            </a:r>
            <a:endParaRPr lang="en-US" sz="1264" dirty="0"/>
          </a:p>
          <a:p>
            <a:pPr indent="0" marL="0">
              <a:lnSpc>
                <a:spcPct val="125000"/>
              </a:lnSpc>
              <a:buNone/>
            </a:pPr>
            <a:r>
              <a:rPr lang="en-US" sz="1264" dirty="0">
                <a:solidFill>
                  <a:srgbClr val="1F2429"/>
                </a:solidFill>
                <a:latin typeface="Courier New" pitchFamily="34" charset="0"/>
                <a:ea typeface="Courier New" pitchFamily="34" charset="-122"/>
                <a:cs typeface="Courier New" pitchFamily="34" charset="-120"/>
              </a:rPr>
              <a:t>  const [celsius, setCelsius] =</a:t>
            </a:r>
            <a:endParaRPr lang="en-US" sz="1264" dirty="0"/>
          </a:p>
          <a:p>
            <a:pPr indent="0" marL="0">
              <a:lnSpc>
                <a:spcPct val="125000"/>
              </a:lnSpc>
              <a:buNone/>
            </a:pPr>
            <a:r>
              <a:rPr lang="en-US" sz="1264" dirty="0">
                <a:solidFill>
                  <a:srgbClr val="1F2429"/>
                </a:solidFill>
                <a:latin typeface="Courier New" pitchFamily="34" charset="0"/>
                <a:ea typeface="Courier New" pitchFamily="34" charset="-122"/>
                <a:cs typeface="Courier New" pitchFamily="34" charset="-120"/>
              </a:rPr>
              <a:t>    useState(0);</a:t>
            </a:r>
            <a:endParaRPr lang="en-US" sz="1264" dirty="0"/>
          </a:p>
          <a:p>
            <a:pPr indent="0" marL="0">
              <a:lnSpc>
                <a:spcPct val="125000"/>
              </a:lnSpc>
              <a:buNone/>
            </a:pPr>
            <a:r>
              <a:rPr lang="en-US" sz="1264" dirty="0">
                <a:solidFill>
                  <a:srgbClr val="1F2429"/>
                </a:solidFill>
                <a:latin typeface="Courier New" pitchFamily="34" charset="0"/>
                <a:ea typeface="Courier New" pitchFamily="34" charset="-122"/>
                <a:cs typeface="Courier New" pitchFamily="34" charset="-120"/>
              </a:rPr>
              <a:t>  return (</a:t>
            </a:r>
            <a:endParaRPr lang="en-US" sz="1264" dirty="0"/>
          </a:p>
          <a:p>
            <a:pPr indent="0" marL="0">
              <a:lnSpc>
                <a:spcPct val="125000"/>
              </a:lnSpc>
              <a:buNone/>
            </a:pPr>
            <a:r>
              <a:rPr lang="en-US" sz="1264" dirty="0">
                <a:solidFill>
                  <a:srgbClr val="1F2429"/>
                </a:solidFill>
                <a:latin typeface="Courier New" pitchFamily="34" charset="0"/>
                <a:ea typeface="Courier New" pitchFamily="34" charset="-122"/>
                <a:cs typeface="Courier New" pitchFamily="34" charset="-120"/>
              </a:rPr>
              <a:t>    &lt;div&gt;</a:t>
            </a:r>
            <a:endParaRPr lang="en-US" sz="1264" dirty="0"/>
          </a:p>
          <a:p>
            <a:pPr indent="0" marL="0">
              <a:lnSpc>
                <a:spcPct val="125000"/>
              </a:lnSpc>
              <a:buNone/>
            </a:pPr>
            <a:r>
              <a:rPr lang="en-US" sz="1264" dirty="0">
                <a:solidFill>
                  <a:srgbClr val="1F2429"/>
                </a:solidFill>
                <a:latin typeface="Courier New" pitchFamily="34" charset="0"/>
                <a:ea typeface="Courier New" pitchFamily="34" charset="-122"/>
                <a:cs typeface="Courier New" pitchFamily="34" charset="-120"/>
              </a:rPr>
              <a:t>      &lt;CelsiusInput</a:t>
            </a:r>
            <a:endParaRPr lang="en-US" sz="1264" dirty="0"/>
          </a:p>
          <a:p>
            <a:pPr indent="0" marL="0">
              <a:lnSpc>
                <a:spcPct val="125000"/>
              </a:lnSpc>
              <a:buNone/>
            </a:pPr>
            <a:r>
              <a:rPr lang="en-US" sz="1264" dirty="0">
                <a:solidFill>
                  <a:srgbClr val="1F2429"/>
                </a:solidFill>
                <a:latin typeface="Courier New" pitchFamily="34" charset="0"/>
                <a:ea typeface="Courier New" pitchFamily="34" charset="-122"/>
                <a:cs typeface="Courier New" pitchFamily="34" charset="-120"/>
              </a:rPr>
              <a:t>        value={celsius}</a:t>
            </a:r>
            <a:endParaRPr lang="en-US" sz="1264" dirty="0"/>
          </a:p>
          <a:p>
            <a:pPr indent="0" marL="0">
              <a:lnSpc>
                <a:spcPct val="125000"/>
              </a:lnSpc>
              <a:buNone/>
            </a:pPr>
            <a:r>
              <a:rPr lang="en-US" sz="1264" dirty="0">
                <a:solidFill>
                  <a:srgbClr val="1F2429"/>
                </a:solidFill>
                <a:latin typeface="Courier New" pitchFamily="34" charset="0"/>
                <a:ea typeface="Courier New" pitchFamily="34" charset="-122"/>
                <a:cs typeface="Courier New" pitchFamily="34" charset="-120"/>
              </a:rPr>
              <a:t>        onChange={setCelsius}</a:t>
            </a:r>
            <a:endParaRPr lang="en-US" sz="1264" dirty="0"/>
          </a:p>
          <a:p>
            <a:pPr indent="0" marL="0">
              <a:lnSpc>
                <a:spcPct val="125000"/>
              </a:lnSpc>
              <a:buNone/>
            </a:pPr>
            <a:r>
              <a:rPr lang="en-US" sz="1264" dirty="0">
                <a:solidFill>
                  <a:srgbClr val="1F2429"/>
                </a:solidFill>
                <a:latin typeface="Courier New" pitchFamily="34" charset="0"/>
                <a:ea typeface="Courier New" pitchFamily="34" charset="-122"/>
                <a:cs typeface="Courier New" pitchFamily="34" charset="-120"/>
              </a:rPr>
              <a:t>      /&gt;</a:t>
            </a:r>
            <a:endParaRPr lang="en-US" sz="1264" dirty="0"/>
          </a:p>
          <a:p>
            <a:pPr indent="0" marL="0">
              <a:lnSpc>
                <a:spcPct val="125000"/>
              </a:lnSpc>
              <a:buNone/>
            </a:pPr>
            <a:r>
              <a:rPr lang="en-US" sz="1264" dirty="0">
                <a:solidFill>
                  <a:srgbClr val="1F2429"/>
                </a:solidFill>
                <a:latin typeface="Courier New" pitchFamily="34" charset="0"/>
                <a:ea typeface="Courier New" pitchFamily="34" charset="-122"/>
                <a:cs typeface="Courier New" pitchFamily="34" charset="-120"/>
              </a:rPr>
              <a:t>      &lt;FahrenheitDisplay</a:t>
            </a:r>
            <a:endParaRPr lang="en-US" sz="1264" dirty="0"/>
          </a:p>
          <a:p>
            <a:pPr indent="0" marL="0">
              <a:lnSpc>
                <a:spcPct val="125000"/>
              </a:lnSpc>
              <a:buNone/>
            </a:pPr>
            <a:r>
              <a:rPr lang="en-US" sz="1264" dirty="0">
                <a:solidFill>
                  <a:srgbClr val="1F2429"/>
                </a:solidFill>
                <a:latin typeface="Courier New" pitchFamily="34" charset="0"/>
                <a:ea typeface="Courier New" pitchFamily="34" charset="-122"/>
                <a:cs typeface="Courier New" pitchFamily="34" charset="-120"/>
              </a:rPr>
              <a:t>        celsius={celsius}</a:t>
            </a:r>
            <a:endParaRPr lang="en-US" sz="1264" dirty="0"/>
          </a:p>
          <a:p>
            <a:pPr indent="0" marL="0">
              <a:lnSpc>
                <a:spcPct val="125000"/>
              </a:lnSpc>
              <a:buNone/>
            </a:pPr>
            <a:r>
              <a:rPr lang="en-US" sz="1264" dirty="0">
                <a:solidFill>
                  <a:srgbClr val="1F2429"/>
                </a:solidFill>
                <a:latin typeface="Courier New" pitchFamily="34" charset="0"/>
                <a:ea typeface="Courier New" pitchFamily="34" charset="-122"/>
                <a:cs typeface="Courier New" pitchFamily="34" charset="-120"/>
              </a:rPr>
              <a:t>      /&gt;</a:t>
            </a:r>
            <a:endParaRPr lang="en-US" sz="1264" dirty="0"/>
          </a:p>
          <a:p>
            <a:pPr indent="0" marL="0">
              <a:lnSpc>
                <a:spcPct val="125000"/>
              </a:lnSpc>
              <a:buNone/>
            </a:pPr>
            <a:r>
              <a:rPr lang="en-US" sz="1264" dirty="0">
                <a:solidFill>
                  <a:srgbClr val="1F2429"/>
                </a:solidFill>
                <a:latin typeface="Courier New" pitchFamily="34" charset="0"/>
                <a:ea typeface="Courier New" pitchFamily="34" charset="-122"/>
                <a:cs typeface="Courier New" pitchFamily="34" charset="-120"/>
              </a:rPr>
              <a:t>    &lt;/div&gt;</a:t>
            </a:r>
            <a:endParaRPr lang="en-US" sz="1264" dirty="0"/>
          </a:p>
          <a:p>
            <a:pPr indent="0" marL="0">
              <a:lnSpc>
                <a:spcPct val="125000"/>
              </a:lnSpc>
              <a:buNone/>
            </a:pPr>
            <a:r>
              <a:rPr lang="en-US" sz="1264" dirty="0">
                <a:solidFill>
                  <a:srgbClr val="1F2429"/>
                </a:solidFill>
                <a:latin typeface="Courier New" pitchFamily="34" charset="0"/>
                <a:ea typeface="Courier New" pitchFamily="34" charset="-122"/>
                <a:cs typeface="Courier New" pitchFamily="34" charset="-120"/>
              </a:rPr>
              <a:t>  );</a:t>
            </a:r>
            <a:endParaRPr lang="en-US" sz="1264" dirty="0"/>
          </a:p>
          <a:p>
            <a:pPr indent="0" marL="0">
              <a:lnSpc>
                <a:spcPct val="125000"/>
              </a:lnSpc>
              <a:buNone/>
            </a:pPr>
            <a:r>
              <a:rPr lang="en-US" sz="1264" dirty="0">
                <a:solidFill>
                  <a:srgbClr val="1F2429"/>
                </a:solidFill>
                <a:latin typeface="Courier New" pitchFamily="34" charset="0"/>
                <a:ea typeface="Courier New" pitchFamily="34" charset="-122"/>
                <a:cs typeface="Courier New" pitchFamily="34" charset="-120"/>
              </a:rPr>
              <a:t>}</a:t>
            </a:r>
            <a:endParaRPr lang="en-US" sz="1264" dirty="0"/>
          </a:p>
        </p:txBody>
      </p:sp>
      <p:sp>
        <p:nvSpPr>
          <p:cNvPr id="6" name="Shape 4"/>
          <p:cNvSpPr/>
          <p:nvPr/>
        </p:nvSpPr>
        <p:spPr>
          <a:xfrm>
            <a:off x="6169000" y="1947672"/>
            <a:ext cx="5492344" cy="4379976"/>
          </a:xfrm>
          <a:prstGeom prst="roundRect">
            <a:avLst>
              <a:gd name="adj" fmla="val 1253"/>
            </a:avLst>
          </a:prstGeom>
          <a:solidFill>
            <a:srgbClr val="FFFFFF"/>
          </a:solidFill>
          <a:ln w="12700">
            <a:solidFill>
              <a:srgbClr val="E2E2EE"/>
            </a:solidFill>
            <a:prstDash val="solid"/>
          </a:ln>
          <a:effectLst>
            <a:outerShdw sx="100000" sy="100000" kx="0" ky="0" algn="bl" rotWithShape="0" blurRad="101600" dist="38100" dir="5400000">
              <a:srgbClr val="000000">
                <a:alpha val="12000"/>
              </a:srgbClr>
            </a:outerShdw>
          </a:effectLst>
        </p:spPr>
        <p:txBody>
          <a:bodyPr/>
          <a:p/>
        </p:txBody>
      </p:sp>
      <p:pic>
        <p:nvPicPr>
          <p:cNvPr id="7" name="Image 0" descr="D:/GitHub/mern-web-book/docs/assets/img/lecture-28/temperature-converter-demo.png">    </p:cNvPr>
          <p:cNvPicPr>
            <a:picLocks noChangeAspect="1"/>
          </p:cNvPicPr>
          <p:nvPr/>
        </p:nvPicPr>
        <p:blipFill>
          <a:blip r:embed="rId1"/>
          <a:stretch>
            <a:fillRect/>
          </a:stretch>
        </p:blipFill>
        <p:spPr>
          <a:xfrm>
            <a:off x="6476771" y="2872740"/>
            <a:ext cx="4876800" cy="2529840"/>
          </a:xfrm>
          <a:prstGeom prst="rect">
            <a:avLst/>
          </a:prstGeom>
        </p:spPr>
      </p:pic>
      <p:sp>
        <p:nvSpPr>
          <p:cNvPr id="10"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4"/>
              </a:rPr>
              <a:t>cuinotes.com</a:t>
            </a:r>
            <a:r>
              <a:rPr sz="1000">
                <a:solidFill>
                  <a:srgbClr val="8A939B"/>
                </a:solidFill>
              </a:rPr>
              <a:t>  ·  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CONTEXT API</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Solving Prop Drilling</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Lifting state up works well for a few levels; deeply nested trees make prop drilling (Lecture 27) painful</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The Context API lets a parent make a value available to ANY descendant, no matter how deeply nested</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Three steps: createContext, provide a value with &lt;Context.Provider&gt;, consume it anywhere below with useContext</a:t>
            </a:r>
            <a:endParaRPr lang="en-US" sz="1500" dirty="0"/>
          </a:p>
        </p:txBody>
      </p:sp>
      <p:sp>
        <p:nvSpPr>
          <p:cNvPr id="15"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CONTEXT API</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Skipping Straight to the Data</a:t>
            </a:r>
            <a:endParaRPr lang="en-US" sz="3400" dirty="0"/>
          </a:p>
        </p:txBody>
      </p:sp>
      <p:sp>
        <p:nvSpPr>
          <p:cNvPr id="4" name="Text 2"/>
          <p:cNvSpPr txBox="1"/>
          <p:nvPr/>
        </p:nvSpPr>
        <p:spPr>
          <a:xfrm>
            <a:off x="640080" y="1691640"/>
            <a:ext cx="10911535" cy="411480"/>
          </a:xfrm>
          <a:prstGeom prst="rect">
            <a:avLst/>
          </a:prstGeom>
          <a:noFill/>
          <a:ln/>
        </p:spPr>
        <p:txBody>
          <a:bodyPr wrap="square" lIns="0" tIns="0" rIns="0" bIns="0" rtlCol="0" anchor="ctr"/>
          <a:lstStyle/>
          <a:p>
            <a:pPr indent="0" marL="0">
              <a:buNone/>
            </a:pPr>
            <a:r>
              <a:rPr lang="en-US" sz="1350" i="1" dirty="0">
                <a:solidFill>
                  <a:srgbClr val="5D5D72"/>
                </a:solidFill>
                <a:latin typeface="Calibri" pitchFamily="34" charset="0"/>
                <a:ea typeface="Calibri" pitchFamily="34" charset="-122"/>
                <a:cs typeface="Calibri" pitchFamily="34" charset="-120"/>
              </a:rPr>
              <a:t>UserBadge reads user directly with useContext -- completely skipping Page and Sidebar, no matter how deep.</a:t>
            </a:r>
            <a:endParaRPr lang="en-US" sz="1350" dirty="0"/>
          </a:p>
        </p:txBody>
      </p:sp>
      <p:sp>
        <p:nvSpPr>
          <p:cNvPr id="5" name="Shape 3"/>
          <p:cNvSpPr/>
          <p:nvPr/>
        </p:nvSpPr>
        <p:spPr>
          <a:xfrm>
            <a:off x="640080" y="2240280"/>
            <a:ext cx="10911535" cy="3931920"/>
          </a:xfrm>
          <a:prstGeom prst="roundRect">
            <a:avLst>
              <a:gd name="adj" fmla="val 1860"/>
            </a:avLst>
          </a:prstGeom>
          <a:solidFill>
            <a:srgbClr val="F7F8F9"/>
          </a:solidFill>
          <a:ln w="9525">
            <a:solidFill>
              <a:srgbClr val="D0D5DD"/>
            </a:solidFill>
          </a:ln>
        </p:spPr>
        <p:txBody>
          <a:bodyPr/>
          <a:p/>
        </p:txBody>
      </p:sp>
      <p:sp>
        <p:nvSpPr>
          <p:cNvPr id="6" name="Text 4"/>
          <p:cNvSpPr txBox="1"/>
          <p:nvPr/>
        </p:nvSpPr>
        <p:spPr>
          <a:xfrm>
            <a:off x="960120" y="2468880"/>
            <a:ext cx="10271455" cy="3474720"/>
          </a:xfrm>
          <a:prstGeom prst="rect">
            <a:avLst/>
          </a:prstGeom>
          <a:noFill/>
          <a:ln/>
        </p:spPr>
        <p:txBody>
          <a:bodyPr wrap="square" lIns="0" tIns="0" rIns="0" bIns="0" rtlCol="0" anchor="t"/>
          <a:lstStyle/>
          <a:p>
            <a:pPr indent="0" marL="0">
              <a:lnSpc>
                <a:spcPct val="125000"/>
              </a:lnSpc>
              <a:buNone/>
            </a:pPr>
            <a:r>
              <a:rPr lang="en-US" sz="1366" dirty="0">
                <a:solidFill>
                  <a:srgbClr val="1F2429"/>
                </a:solidFill>
                <a:latin typeface="Courier New" pitchFamily="34" charset="0"/>
                <a:ea typeface="Courier New" pitchFamily="34" charset="-122"/>
                <a:cs typeface="Courier New" pitchFamily="34" charset="-120"/>
              </a:rPr>
              <a:t>const UserContext = createContext(null);</a:t>
            </a:r>
            <a:endParaRPr lang="en-US" sz="1366" dirty="0"/>
          </a:p>
          <a:p>
            <a:pPr indent="0" marL="0">
              <a:lnSpc>
                <a:spcPct val="125000"/>
              </a:lnSpc>
              <a:buNone/>
            </a:pPr>
            <a:r>
              <a:rPr lang="en-US" sz="1366" dirty="0">
                <a:solidFill>
                  <a:srgbClr val="1F2429"/>
                </a:solidFill>
                <a:latin typeface="Courier New" pitchFamily="34" charset="0"/>
                <a:ea typeface="Courier New" pitchFamily="34" charset="-122"/>
                <a:cs typeface="Courier New" pitchFamily="34" charset="-120"/>
              </a:rPr>
              <a:t>function App() {</a:t>
            </a:r>
            <a:endParaRPr lang="en-US" sz="1366" dirty="0"/>
          </a:p>
          <a:p>
            <a:pPr indent="0" marL="0">
              <a:lnSpc>
                <a:spcPct val="125000"/>
              </a:lnSpc>
              <a:buNone/>
            </a:pPr>
            <a:r>
              <a:rPr lang="en-US" sz="1366" dirty="0">
                <a:solidFill>
                  <a:srgbClr val="1F2429"/>
                </a:solidFill>
                <a:latin typeface="Courier New" pitchFamily="34" charset="0"/>
                <a:ea typeface="Courier New" pitchFamily="34" charset="-122"/>
                <a:cs typeface="Courier New" pitchFamily="34" charset="-120"/>
              </a:rPr>
              <a:t>  const [user] = useState({ name: "Ayesha" });</a:t>
            </a:r>
            <a:endParaRPr lang="en-US" sz="1366" dirty="0"/>
          </a:p>
          <a:p>
            <a:pPr indent="0" marL="0">
              <a:lnSpc>
                <a:spcPct val="125000"/>
              </a:lnSpc>
              <a:buNone/>
            </a:pPr>
            <a:r>
              <a:rPr lang="en-US" sz="1366" dirty="0">
                <a:solidFill>
                  <a:srgbClr val="1F2429"/>
                </a:solidFill>
                <a:latin typeface="Courier New" pitchFamily="34" charset="0"/>
                <a:ea typeface="Courier New" pitchFamily="34" charset="-122"/>
                <a:cs typeface="Courier New" pitchFamily="34" charset="-120"/>
              </a:rPr>
              <a:t>  return (</a:t>
            </a:r>
            <a:endParaRPr lang="en-US" sz="1366" dirty="0"/>
          </a:p>
          <a:p>
            <a:pPr indent="0" marL="0">
              <a:lnSpc>
                <a:spcPct val="125000"/>
              </a:lnSpc>
              <a:buNone/>
            </a:pPr>
            <a:r>
              <a:rPr lang="en-US" sz="1366" dirty="0">
                <a:solidFill>
                  <a:srgbClr val="1F2429"/>
                </a:solidFill>
                <a:latin typeface="Courier New" pitchFamily="34" charset="0"/>
                <a:ea typeface="Courier New" pitchFamily="34" charset="-122"/>
                <a:cs typeface="Courier New" pitchFamily="34" charset="-120"/>
              </a:rPr>
              <a:t>    &lt;UserContext.Provider value={user}&gt;</a:t>
            </a:r>
            <a:endParaRPr lang="en-US" sz="1366" dirty="0"/>
          </a:p>
          <a:p>
            <a:pPr indent="0" marL="0">
              <a:lnSpc>
                <a:spcPct val="125000"/>
              </a:lnSpc>
              <a:buNone/>
            </a:pPr>
            <a:r>
              <a:rPr lang="en-US" sz="1366" dirty="0">
                <a:solidFill>
                  <a:srgbClr val="1F2429"/>
                </a:solidFill>
                <a:latin typeface="Courier New" pitchFamily="34" charset="0"/>
                <a:ea typeface="Courier New" pitchFamily="34" charset="-122"/>
                <a:cs typeface="Courier New" pitchFamily="34" charset="-120"/>
              </a:rPr>
              <a:t>      &lt;Page /&gt;</a:t>
            </a:r>
            <a:endParaRPr lang="en-US" sz="1366" dirty="0"/>
          </a:p>
          <a:p>
            <a:pPr indent="0" marL="0">
              <a:lnSpc>
                <a:spcPct val="125000"/>
              </a:lnSpc>
              <a:buNone/>
            </a:pPr>
            <a:r>
              <a:rPr lang="en-US" sz="1366" dirty="0">
                <a:solidFill>
                  <a:srgbClr val="1F2429"/>
                </a:solidFill>
                <a:latin typeface="Courier New" pitchFamily="34" charset="0"/>
                <a:ea typeface="Courier New" pitchFamily="34" charset="-122"/>
                <a:cs typeface="Courier New" pitchFamily="34" charset="-120"/>
              </a:rPr>
              <a:t>    &lt;/UserContext.Provider&gt;</a:t>
            </a:r>
            <a:endParaRPr lang="en-US" sz="1366" dirty="0"/>
          </a:p>
          <a:p>
            <a:pPr indent="0" marL="0">
              <a:lnSpc>
                <a:spcPct val="125000"/>
              </a:lnSpc>
              <a:buNone/>
            </a:pPr>
            <a:r>
              <a:rPr lang="en-US" sz="1366" dirty="0">
                <a:solidFill>
                  <a:srgbClr val="1F2429"/>
                </a:solidFill>
                <a:latin typeface="Courier New" pitchFamily="34" charset="0"/>
                <a:ea typeface="Courier New" pitchFamily="34" charset="-122"/>
                <a:cs typeface="Courier New" pitchFamily="34" charset="-120"/>
              </a:rPr>
              <a:t>  );</a:t>
            </a:r>
            <a:endParaRPr lang="en-US" sz="1366" dirty="0"/>
          </a:p>
          <a:p>
            <a:pPr indent="0" marL="0">
              <a:lnSpc>
                <a:spcPct val="125000"/>
              </a:lnSpc>
              <a:buNone/>
            </a:pPr>
            <a:r>
              <a:rPr lang="en-US" sz="1366" dirty="0">
                <a:solidFill>
                  <a:srgbClr val="1F2429"/>
                </a:solidFill>
                <a:latin typeface="Courier New" pitchFamily="34" charset="0"/>
                <a:ea typeface="Courier New" pitchFamily="34" charset="-122"/>
                <a:cs typeface="Courier New" pitchFamily="34" charset="-120"/>
              </a:rPr>
              <a:t>}</a:t>
            </a:r>
            <a:endParaRPr lang="en-US" sz="1366" dirty="0"/>
          </a:p>
          <a:p>
            <a:pPr indent="0" marL="0">
              <a:lnSpc>
                <a:spcPct val="125000"/>
              </a:lnSpc>
              <a:buNone/>
            </a:pPr>
            <a:r>
              <a:rPr lang="en-US" sz="1366" dirty="0">
                <a:solidFill>
                  <a:srgbClr val="1F2429"/>
                </a:solidFill>
                <a:latin typeface="Courier New" pitchFamily="34" charset="0"/>
                <a:ea typeface="Courier New" pitchFamily="34" charset="-122"/>
                <a:cs typeface="Courier New" pitchFamily="34" charset="-120"/>
              </a:rPr>
              <a:t>function UserBadge() {</a:t>
            </a:r>
            <a:endParaRPr lang="en-US" sz="1366" dirty="0"/>
          </a:p>
          <a:p>
            <a:pPr indent="0" marL="0">
              <a:lnSpc>
                <a:spcPct val="125000"/>
              </a:lnSpc>
              <a:buNone/>
            </a:pPr>
            <a:r>
              <a:rPr lang="en-US" sz="1366" dirty="0">
                <a:solidFill>
                  <a:srgbClr val="1F2429"/>
                </a:solidFill>
                <a:latin typeface="Courier New" pitchFamily="34" charset="0"/>
                <a:ea typeface="Courier New" pitchFamily="34" charset="-122"/>
                <a:cs typeface="Courier New" pitchFamily="34" charset="-120"/>
              </a:rPr>
              <a:t>  const user = useContext(UserContext);</a:t>
            </a:r>
            <a:endParaRPr lang="en-US" sz="1366" dirty="0"/>
          </a:p>
          <a:p>
            <a:pPr indent="0" marL="0">
              <a:lnSpc>
                <a:spcPct val="125000"/>
              </a:lnSpc>
              <a:buNone/>
            </a:pPr>
            <a:r>
              <a:rPr lang="en-US" sz="1366" dirty="0">
                <a:solidFill>
                  <a:srgbClr val="1F2429"/>
                </a:solidFill>
                <a:latin typeface="Courier New" pitchFamily="34" charset="0"/>
                <a:ea typeface="Courier New" pitchFamily="34" charset="-122"/>
                <a:cs typeface="Courier New" pitchFamily="34" charset="-120"/>
              </a:rPr>
              <a:t>  return &lt;p&gt;Logged in as {user.name}&lt;/p&gt;;</a:t>
            </a:r>
            <a:endParaRPr lang="en-US" sz="1366" dirty="0"/>
          </a:p>
          <a:p>
            <a:pPr indent="0" marL="0">
              <a:lnSpc>
                <a:spcPct val="125000"/>
              </a:lnSpc>
              <a:buNone/>
            </a:pPr>
            <a:r>
              <a:rPr lang="en-US" sz="1366" dirty="0">
                <a:solidFill>
                  <a:srgbClr val="1F2429"/>
                </a:solidFill>
                <a:latin typeface="Courier New" pitchFamily="34" charset="0"/>
                <a:ea typeface="Courier New" pitchFamily="34" charset="-122"/>
                <a:cs typeface="Courier New" pitchFamily="34" charset="-120"/>
              </a:rPr>
              <a:t>}</a:t>
            </a:r>
            <a:endParaRPr lang="en-US" sz="1366"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CUSTOM HOOKS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Extracting Reusable Stateful Logic</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A custom hook is a JavaScript function whose name starts with use and that calls other hooks inside it</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Lets you extract and reuse stateful logic between components, the same way a regular function reuses plain logic</a:t>
            </a:r>
            <a:endParaRPr lang="en-US" sz="1500" dirty="0"/>
          </a:p>
        </p:txBody>
      </p:sp>
      <p:sp>
        <p:nvSpPr>
          <p:cNvPr id="12"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CUSTOM HOOKS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useWindowWidth</a:t>
            </a:r>
            <a:endParaRPr lang="en-US" sz="3400" dirty="0"/>
          </a:p>
        </p:txBody>
      </p:sp>
      <p:sp>
        <p:nvSpPr>
          <p:cNvPr id="4" name="Shape 2"/>
          <p:cNvSpPr/>
          <p:nvPr/>
        </p:nvSpPr>
        <p:spPr>
          <a:xfrm>
            <a:off x="640080" y="1965960"/>
            <a:ext cx="10911535" cy="3931920"/>
          </a:xfrm>
          <a:prstGeom prst="roundRect">
            <a:avLst>
              <a:gd name="adj" fmla="val 1860"/>
            </a:avLst>
          </a:prstGeom>
          <a:solidFill>
            <a:srgbClr val="F7F8F9"/>
          </a:solidFill>
          <a:ln w="9525">
            <a:solidFill>
              <a:srgbClr val="D0D5DD"/>
            </a:solidFill>
          </a:ln>
        </p:spPr>
        <p:txBody>
          <a:bodyPr/>
          <a:p/>
        </p:txBody>
      </p:sp>
      <p:sp>
        <p:nvSpPr>
          <p:cNvPr id="5" name="Text 3"/>
          <p:cNvSpPr txBox="1"/>
          <p:nvPr/>
        </p:nvSpPr>
        <p:spPr>
          <a:xfrm>
            <a:off x="960120" y="2194560"/>
            <a:ext cx="10271455" cy="3474720"/>
          </a:xfrm>
          <a:prstGeom prst="rect">
            <a:avLst/>
          </a:prstGeom>
          <a:noFill/>
          <a:ln/>
        </p:spPr>
        <p:txBody>
          <a:bodyPr wrap="square" lIns="0" tIns="0" rIns="0" bIns="0" rtlCol="0" anchor="t"/>
          <a:lstStyle/>
          <a:p>
            <a:pPr indent="0" marL="0">
              <a:lnSpc>
                <a:spcPct val="125000"/>
              </a:lnSpc>
              <a:buNone/>
            </a:pPr>
            <a:r>
              <a:rPr lang="en-US" sz="1045" dirty="0">
                <a:solidFill>
                  <a:srgbClr val="1F2429"/>
                </a:solidFill>
                <a:latin typeface="Courier New" pitchFamily="34" charset="0"/>
                <a:ea typeface="Courier New" pitchFamily="34" charset="-122"/>
                <a:cs typeface="Courier New" pitchFamily="34" charset="-120"/>
              </a:rPr>
              <a:t>function useWindowWidth() {</a:t>
            </a:r>
            <a:endParaRPr lang="en-US" sz="1045" dirty="0"/>
          </a:p>
          <a:p>
            <a:pPr indent="0" marL="0">
              <a:lnSpc>
                <a:spcPct val="125000"/>
              </a:lnSpc>
              <a:buNone/>
            </a:pPr>
            <a:r>
              <a:rPr lang="en-US" sz="1045" dirty="0">
                <a:solidFill>
                  <a:srgbClr val="1F2429"/>
                </a:solidFill>
                <a:latin typeface="Courier New" pitchFamily="34" charset="0"/>
                <a:ea typeface="Courier New" pitchFamily="34" charset="-122"/>
                <a:cs typeface="Courier New" pitchFamily="34" charset="-120"/>
              </a:rPr>
              <a:t>  const [width, setWidth] =</a:t>
            </a:r>
            <a:endParaRPr lang="en-US" sz="1045" dirty="0"/>
          </a:p>
          <a:p>
            <a:pPr indent="0" marL="0">
              <a:lnSpc>
                <a:spcPct val="125000"/>
              </a:lnSpc>
              <a:buNone/>
            </a:pPr>
            <a:r>
              <a:rPr lang="en-US" sz="1045" dirty="0">
                <a:solidFill>
                  <a:srgbClr val="1F2429"/>
                </a:solidFill>
                <a:latin typeface="Courier New" pitchFamily="34" charset="0"/>
                <a:ea typeface="Courier New" pitchFamily="34" charset="-122"/>
                <a:cs typeface="Courier New" pitchFamily="34" charset="-120"/>
              </a:rPr>
              <a:t>    useState(window.innerWidth);</a:t>
            </a:r>
            <a:endParaRPr lang="en-US" sz="1045" dirty="0"/>
          </a:p>
          <a:p>
            <a:pPr indent="0" marL="0">
              <a:lnSpc>
                <a:spcPct val="125000"/>
              </a:lnSpc>
              <a:buNone/>
            </a:pPr>
            <a:r>
              <a:rPr lang="en-US" sz="1045" dirty="0">
                <a:solidFill>
                  <a:srgbClr val="1F2429"/>
                </a:solidFill>
                <a:latin typeface="Courier New" pitchFamily="34" charset="0"/>
                <a:ea typeface="Courier New" pitchFamily="34" charset="-122"/>
                <a:cs typeface="Courier New" pitchFamily="34" charset="-120"/>
              </a:rPr>
              <a:t>  useEffect(() =&gt; {</a:t>
            </a:r>
            <a:endParaRPr lang="en-US" sz="1045" dirty="0"/>
          </a:p>
          <a:p>
            <a:pPr indent="0" marL="0">
              <a:lnSpc>
                <a:spcPct val="125000"/>
              </a:lnSpc>
              <a:buNone/>
            </a:pPr>
            <a:r>
              <a:rPr lang="en-US" sz="1045" dirty="0">
                <a:solidFill>
                  <a:srgbClr val="1F2429"/>
                </a:solidFill>
                <a:latin typeface="Courier New" pitchFamily="34" charset="0"/>
                <a:ea typeface="Courier New" pitchFamily="34" charset="-122"/>
                <a:cs typeface="Courier New" pitchFamily="34" charset="-120"/>
              </a:rPr>
              <a:t>    function onResize() {</a:t>
            </a:r>
            <a:endParaRPr lang="en-US" sz="1045" dirty="0"/>
          </a:p>
          <a:p>
            <a:pPr indent="0" marL="0">
              <a:lnSpc>
                <a:spcPct val="125000"/>
              </a:lnSpc>
              <a:buNone/>
            </a:pPr>
            <a:r>
              <a:rPr lang="en-US" sz="1045" dirty="0">
                <a:solidFill>
                  <a:srgbClr val="1F2429"/>
                </a:solidFill>
                <a:latin typeface="Courier New" pitchFamily="34" charset="0"/>
                <a:ea typeface="Courier New" pitchFamily="34" charset="-122"/>
                <a:cs typeface="Courier New" pitchFamily="34" charset="-120"/>
              </a:rPr>
              <a:t>      setWidth(window.innerWidth);</a:t>
            </a:r>
            <a:endParaRPr lang="en-US" sz="1045" dirty="0"/>
          </a:p>
          <a:p>
            <a:pPr indent="0" marL="0">
              <a:lnSpc>
                <a:spcPct val="125000"/>
              </a:lnSpc>
              <a:buNone/>
            </a:pPr>
            <a:r>
              <a:rPr lang="en-US" sz="1045" dirty="0">
                <a:solidFill>
                  <a:srgbClr val="1F2429"/>
                </a:solidFill>
                <a:latin typeface="Courier New" pitchFamily="34" charset="0"/>
                <a:ea typeface="Courier New" pitchFamily="34" charset="-122"/>
                <a:cs typeface="Courier New" pitchFamily="34" charset="-120"/>
              </a:rPr>
              <a:t>    }</a:t>
            </a:r>
            <a:endParaRPr lang="en-US" sz="1045" dirty="0"/>
          </a:p>
          <a:p>
            <a:pPr indent="0" marL="0">
              <a:lnSpc>
                <a:spcPct val="125000"/>
              </a:lnSpc>
              <a:buNone/>
            </a:pPr>
            <a:r>
              <a:rPr lang="en-US" sz="1045" dirty="0">
                <a:solidFill>
                  <a:srgbClr val="1F2429"/>
                </a:solidFill>
                <a:latin typeface="Courier New" pitchFamily="34" charset="0"/>
                <a:ea typeface="Courier New" pitchFamily="34" charset="-122"/>
                <a:cs typeface="Courier New" pitchFamily="34" charset="-120"/>
              </a:rPr>
              <a:t>    window.addEventListener("resize", onResize);</a:t>
            </a:r>
            <a:endParaRPr lang="en-US" sz="1045" dirty="0"/>
          </a:p>
          <a:p>
            <a:pPr indent="0" marL="0">
              <a:lnSpc>
                <a:spcPct val="125000"/>
              </a:lnSpc>
              <a:buNone/>
            </a:pPr>
            <a:r>
              <a:rPr lang="en-US" sz="1045" dirty="0">
                <a:solidFill>
                  <a:srgbClr val="1F2429"/>
                </a:solidFill>
                <a:latin typeface="Courier New" pitchFamily="34" charset="0"/>
                <a:ea typeface="Courier New" pitchFamily="34" charset="-122"/>
                <a:cs typeface="Courier New" pitchFamily="34" charset="-120"/>
              </a:rPr>
              <a:t>    return () =&gt;</a:t>
            </a:r>
            <a:endParaRPr lang="en-US" sz="1045" dirty="0"/>
          </a:p>
          <a:p>
            <a:pPr indent="0" marL="0">
              <a:lnSpc>
                <a:spcPct val="125000"/>
              </a:lnSpc>
              <a:buNone/>
            </a:pPr>
            <a:r>
              <a:rPr lang="en-US" sz="1045" dirty="0">
                <a:solidFill>
                  <a:srgbClr val="1F2429"/>
                </a:solidFill>
                <a:latin typeface="Courier New" pitchFamily="34" charset="0"/>
                <a:ea typeface="Courier New" pitchFamily="34" charset="-122"/>
                <a:cs typeface="Courier New" pitchFamily="34" charset="-120"/>
              </a:rPr>
              <a:t>      window.removeEventListener("resize", onResize);</a:t>
            </a:r>
            <a:endParaRPr lang="en-US" sz="1045" dirty="0"/>
          </a:p>
          <a:p>
            <a:pPr indent="0" marL="0">
              <a:lnSpc>
                <a:spcPct val="125000"/>
              </a:lnSpc>
              <a:buNone/>
            </a:pPr>
            <a:r>
              <a:rPr lang="en-US" sz="1045" dirty="0">
                <a:solidFill>
                  <a:srgbClr val="1F2429"/>
                </a:solidFill>
                <a:latin typeface="Courier New" pitchFamily="34" charset="0"/>
                <a:ea typeface="Courier New" pitchFamily="34" charset="-122"/>
                <a:cs typeface="Courier New" pitchFamily="34" charset="-120"/>
              </a:rPr>
              <a:t>  }, []);</a:t>
            </a:r>
            <a:endParaRPr lang="en-US" sz="1045" dirty="0"/>
          </a:p>
          <a:p>
            <a:pPr indent="0" marL="0">
              <a:lnSpc>
                <a:spcPct val="125000"/>
              </a:lnSpc>
              <a:buNone/>
            </a:pPr>
            <a:r>
              <a:rPr lang="en-US" sz="1045" dirty="0">
                <a:solidFill>
                  <a:srgbClr val="1F2429"/>
                </a:solidFill>
                <a:latin typeface="Courier New" pitchFamily="34" charset="0"/>
                <a:ea typeface="Courier New" pitchFamily="34" charset="-122"/>
                <a:cs typeface="Courier New" pitchFamily="34" charset="-120"/>
              </a:rPr>
              <a:t>  return width;</a:t>
            </a:r>
            <a:endParaRPr lang="en-US" sz="1045" dirty="0"/>
          </a:p>
          <a:p>
            <a:pPr indent="0" marL="0">
              <a:lnSpc>
                <a:spcPct val="125000"/>
              </a:lnSpc>
              <a:buNone/>
            </a:pPr>
            <a:r>
              <a:rPr lang="en-US" sz="1045" dirty="0">
                <a:solidFill>
                  <a:srgbClr val="1F2429"/>
                </a:solidFill>
                <a:latin typeface="Courier New" pitchFamily="34" charset="0"/>
                <a:ea typeface="Courier New" pitchFamily="34" charset="-122"/>
                <a:cs typeface="Courier New" pitchFamily="34" charset="-120"/>
              </a:rPr>
              <a:t>}</a:t>
            </a:r>
            <a:endParaRPr lang="en-US" sz="1045" dirty="0"/>
          </a:p>
          <a:p>
            <a:pPr indent="0" marL="0">
              <a:lnSpc>
                <a:spcPct val="125000"/>
              </a:lnSpc>
              <a:buNone/>
            </a:pPr>
            <a:r>
              <a:rPr lang="en-US" sz="1045" dirty="0">
                <a:solidFill>
                  <a:srgbClr val="1F2429"/>
                </a:solidFill>
                <a:latin typeface="Courier New" pitchFamily="34" charset="0"/>
                <a:ea typeface="Courier New" pitchFamily="34" charset="-122"/>
                <a:cs typeface="Courier New" pitchFamily="34" charset="-120"/>
              </a:rPr>
              <a:t>function ResponsiveMessage() {</a:t>
            </a:r>
            <a:endParaRPr lang="en-US" sz="1045" dirty="0"/>
          </a:p>
          <a:p>
            <a:pPr indent="0" marL="0">
              <a:lnSpc>
                <a:spcPct val="125000"/>
              </a:lnSpc>
              <a:buNone/>
            </a:pPr>
            <a:r>
              <a:rPr lang="en-US" sz="1045" dirty="0">
                <a:solidFill>
                  <a:srgbClr val="1F2429"/>
                </a:solidFill>
                <a:latin typeface="Courier New" pitchFamily="34" charset="0"/>
                <a:ea typeface="Courier New" pitchFamily="34" charset="-122"/>
                <a:cs typeface="Courier New" pitchFamily="34" charset="-120"/>
              </a:rPr>
              <a:t>  const width = useWindowWidth();</a:t>
            </a:r>
            <a:endParaRPr lang="en-US" sz="1045" dirty="0"/>
          </a:p>
          <a:p>
            <a:pPr indent="0" marL="0">
              <a:lnSpc>
                <a:spcPct val="125000"/>
              </a:lnSpc>
              <a:buNone/>
            </a:pPr>
            <a:r>
              <a:rPr lang="en-US" sz="1045" dirty="0">
                <a:solidFill>
                  <a:srgbClr val="1F2429"/>
                </a:solidFill>
                <a:latin typeface="Courier New" pitchFamily="34" charset="0"/>
                <a:ea typeface="Courier New" pitchFamily="34" charset="-122"/>
                <a:cs typeface="Courier New" pitchFamily="34" charset="-120"/>
              </a:rPr>
              <a:t>  return &lt;p&gt;{width &lt; 600 ? "Mobile" : "Desktop"}&lt;/p&gt;;</a:t>
            </a:r>
            <a:endParaRPr lang="en-US" sz="1045" dirty="0"/>
          </a:p>
          <a:p>
            <a:pPr indent="0" marL="0">
              <a:lnSpc>
                <a:spcPct val="125000"/>
              </a:lnSpc>
              <a:buNone/>
            </a:pPr>
            <a:r>
              <a:rPr lang="en-US" sz="1045" dirty="0">
                <a:solidFill>
                  <a:srgbClr val="1F2429"/>
                </a:solidFill>
                <a:latin typeface="Courier New" pitchFamily="34" charset="0"/>
                <a:ea typeface="Courier New" pitchFamily="34" charset="-122"/>
                <a:cs typeface="Courier New" pitchFamily="34" charset="-120"/>
              </a:rPr>
              <a:t>}</a:t>
            </a:r>
            <a:endParaRPr lang="en-US" sz="1045" dirty="0"/>
          </a:p>
        </p:txBody>
      </p:sp>
      <p:sp>
        <p:nvSpPr>
          <p:cNvPr id="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EXTERNAL STATE MANAGERS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Redux vs. Zustand, Conceptually</a:t>
            </a:r>
            <a:endParaRPr lang="en-US" sz="34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911535" cy="914400"/>
        </p:xfrm>
        <a:graphic>
          <a:graphicData uri="http://schemas.openxmlformats.org/drawingml/2006/table">
            <a:tbl>
              <a:tblPr/>
              <a:tblGrid>
                <a:gridCol w="2377440"/>
                <a:gridCol w="4297680"/>
                <a:gridCol w="4206240"/>
              </a:tblGrid>
              <a:tr h="777240">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2B2B7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Redux</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2B2B7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Zustand</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2B2B7A"/>
                    </a:solidFill>
                  </a:tcPr>
                </a:tc>
              </a:tr>
              <a:tr h="777240">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Store</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One single global store object</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A small, hook-based store</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777240">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State changes via</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Actions processed by reducers</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Direct function calls</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777240">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Boilerplate</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More — powerful and predictable</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Very little</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777240">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Setup</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Wraps the app in a &lt;Provider&gt;</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No Provider needed — used as a hook</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bl>
          </a:graphicData>
        </a:graphic>
      </p:graphicFrame>
      <p:sp>
        <p:nvSpPr>
          <p:cNvPr id="31"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EXTERNAL STATE MANAGERS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You Do Not Need These Yet</a:t>
            </a:r>
            <a:endParaRPr lang="en-US" sz="3400" dirty="0"/>
          </a:p>
        </p:txBody>
      </p:sp>
      <p:sp>
        <p:nvSpPr>
          <p:cNvPr id="4" name="Shape 2"/>
          <p:cNvSpPr/>
          <p:nvPr/>
        </p:nvSpPr>
        <p:spPr>
          <a:xfrm>
            <a:off x="640080" y="1965960"/>
            <a:ext cx="10911535" cy="3657600"/>
          </a:xfrm>
          <a:prstGeom prst="roundRect">
            <a:avLst>
              <a:gd name="adj" fmla="val 3000"/>
            </a:avLst>
          </a:prstGeom>
          <a:solidFill>
            <a:srgbClr val="E9EDFB"/>
          </a:solidFill>
          <a:ln w="12700">
            <a:solidFill>
              <a:srgbClr val="6C7FD6"/>
            </a:solidFill>
            <a:prstDash val="solid"/>
          </a:ln>
        </p:spPr>
        <p:txBody>
          <a:bodyPr/>
          <a:p/>
        </p:txBody>
      </p:sp>
      <p:sp>
        <p:nvSpPr>
          <p:cNvPr id="5" name="Text 3"/>
          <p:cNvSpPr txBox="1"/>
          <p:nvPr/>
        </p:nvSpPr>
        <p:spPr>
          <a:xfrm>
            <a:off x="868680" y="2103120"/>
            <a:ext cx="10454335" cy="400000"/>
          </a:xfrm>
          <a:prstGeom prst="rect">
            <a:avLst/>
          </a:prstGeom>
          <a:noFill/>
          <a:ln/>
        </p:spPr>
        <p:txBody>
          <a:bodyPr wrap="square" lIns="0" tIns="0" rIns="0" bIns="0" rtlCol="0" anchor="ctr"/>
          <a:lstStyle/>
          <a:p>
            <a:pPr indent="0" marL="0">
              <a:buNone/>
            </a:pPr>
            <a:r>
              <a:rPr lang="en-US" sz="1800" b="1" spc="200" kern="0" dirty="0">
                <a:solidFill>
                  <a:srgbClr val="33459E"/>
                </a:solidFill>
                <a:latin typeface="Calibri" pitchFamily="34" charset="0"/>
                <a:ea typeface="Calibri" pitchFamily="34" charset="-122"/>
                <a:cs typeface="Calibri" pitchFamily="34" charset="-120"/>
              </a:rPr>
              <a:t>NOTE</a:t>
            </a:r>
            <a:endParaRPr lang="en-US" sz="1800" dirty="0"/>
          </a:p>
        </p:txBody>
      </p:sp>
      <p:sp>
        <p:nvSpPr>
          <p:cNvPr id="6" name="Text 4"/>
          <p:cNvSpPr txBox="1"/>
          <p:nvPr/>
        </p:nvSpPr>
        <p:spPr>
          <a:xfrm>
            <a:off x="868680" y="2795960"/>
            <a:ext cx="10454335" cy="2500000"/>
          </a:xfrm>
          <a:prstGeom prst="rect">
            <a:avLst/>
          </a:prstGeom>
          <a:noFill/>
          <a:ln/>
        </p:spPr>
        <p:txBody>
          <a:bodyPr wrap="square" lIns="0" tIns="0" rIns="0" bIns="0" rtlCol="0" anchor="ctr"/>
          <a:lstStyle/>
          <a:p>
            <a:pPr indent="0" marL="0">
              <a:buNone/>
            </a:pPr>
            <a:r>
              <a:rPr lang="en-US" sz="2800" dirty="0">
                <a:solidFill>
                  <a:srgbClr val="26262F"/>
                </a:solidFill>
                <a:latin typeface="Calibri" pitchFamily="34" charset="0"/>
                <a:ea typeface="Calibri" pitchFamily="34" charset="-122"/>
                <a:cs typeface="Calibri" pitchFamily="34" charset="-120"/>
              </a:rPr>
              <a:t>This course does not require Redux or Zustand -- useState, lifting state up, and the Context API are enough for everything you build here. Still worth knowing these names, since you will very likely meet them in real codebases and the advanced course.</a:t>
            </a:r>
            <a:endParaRPr lang="en-US" sz="28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2B2B7A"/>
        </a:solidFill>
      </p:bgPr>
    </p:bg>
    <p:spTree>
      <p:nvGrpSpPr>
        <p:cNvPr id="1" name=""/>
        <p:cNvGrpSpPr/>
        <p:nvPr/>
      </p:nvGrpSpPr>
      <p:grpSpPr>
        <a:xfrm>
          <a:off x="0" y="0"/>
          <a:ext cx="0" cy="0"/>
          <a:chOff x="0" y="0"/>
          <a:chExt cx="0" cy="0"/>
        </a:xfrm>
      </p:grpSpPr>
      <p:sp>
        <p:nvSpPr>
          <p:cNvPr id="2" name="Text 0"/>
          <p:cNvSpPr txBox="1"/>
          <p:nvPr/>
        </p:nvSpPr>
        <p:spPr>
          <a:xfrm>
            <a:off x="822960" y="731520"/>
            <a:ext cx="9144000" cy="457200"/>
          </a:xfrm>
          <a:prstGeom prst="rect">
            <a:avLst/>
          </a:prstGeom>
          <a:noFill/>
          <a:ln/>
        </p:spPr>
        <p:txBody>
          <a:bodyPr wrap="square" lIns="0" tIns="0" rIns="0" bIns="0" rtlCol="0" anchor="ctr"/>
          <a:lstStyle/>
          <a:p>
            <a:pPr indent="0" marL="0">
              <a:buNone/>
            </a:pPr>
            <a:r>
              <a:rPr lang="en-US" sz="1500" b="1" spc="400" kern="0" dirty="0">
                <a:solidFill>
                  <a:srgbClr val="FF8A3D"/>
                </a:solidFill>
                <a:latin typeface="Calibri" pitchFamily="34" charset="0"/>
                <a:ea typeface="Calibri" pitchFamily="34" charset="-122"/>
                <a:cs typeface="Calibri" pitchFamily="34" charset="-120"/>
              </a:rPr>
              <a:t>KEY TAKEAWAYS</a:t>
            </a:r>
            <a:endParaRPr lang="en-US" sz="1500" dirty="0"/>
          </a:p>
        </p:txBody>
      </p:sp>
      <p:sp>
        <p:nvSpPr>
          <p:cNvPr id="3" name="Text 1"/>
          <p:cNvSpPr txBox="1"/>
          <p:nvPr/>
        </p:nvSpPr>
        <p:spPr>
          <a:xfrm>
            <a:off x="777240" y="1188720"/>
            <a:ext cx="1051560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Lecture 28 in Six Points</a:t>
            </a:r>
            <a:endParaRPr lang="en-US" sz="3400" dirty="0"/>
          </a:p>
        </p:txBody>
      </p:sp>
      <p:sp>
        <p:nvSpPr>
          <p:cNvPr id="4" name="Shape 2"/>
          <p:cNvSpPr/>
          <p:nvPr/>
        </p:nvSpPr>
        <p:spPr>
          <a:xfrm>
            <a:off x="822960" y="2286000"/>
            <a:ext cx="438912" cy="438912"/>
          </a:xfrm>
          <a:prstGeom prst="ellipse">
            <a:avLst/>
          </a:prstGeom>
          <a:solidFill>
            <a:srgbClr val="FF8A3D"/>
          </a:solidFill>
          <a:ln/>
        </p:spPr>
        <p:txBody>
          <a:bodyPr/>
          <a:p/>
        </p:txBody>
      </p:sp>
      <p:sp>
        <p:nvSpPr>
          <p:cNvPr id="5" name="Text 3"/>
          <p:cNvSpPr txBox="1"/>
          <p:nvPr/>
        </p:nvSpPr>
        <p:spPr>
          <a:xfrm>
            <a:off x="822960" y="22860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463040" y="2194560"/>
            <a:ext cx="10058400" cy="62484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Hooks must be called unconditionally, at the top level of a function component or custom hook — never in loops or conditions.</a:t>
            </a:r>
            <a:endParaRPr lang="en-US" sz="1250" dirty="0"/>
          </a:p>
        </p:txBody>
      </p:sp>
      <p:sp>
        <p:nvSpPr>
          <p:cNvPr id="7" name="Shape 5"/>
          <p:cNvSpPr/>
          <p:nvPr/>
        </p:nvSpPr>
        <p:spPr>
          <a:xfrm>
            <a:off x="822960" y="2956560"/>
            <a:ext cx="438912" cy="438912"/>
          </a:xfrm>
          <a:prstGeom prst="ellipse">
            <a:avLst/>
          </a:prstGeom>
          <a:solidFill>
            <a:srgbClr val="FF8A3D"/>
          </a:solidFill>
          <a:ln/>
        </p:spPr>
        <p:txBody>
          <a:bodyPr/>
          <a:p/>
        </p:txBody>
      </p:sp>
      <p:sp>
        <p:nvSpPr>
          <p:cNvPr id="8" name="Text 6"/>
          <p:cNvSpPr txBox="1"/>
          <p:nvPr/>
        </p:nvSpPr>
        <p:spPr>
          <a:xfrm>
            <a:off x="822960" y="29565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463040" y="2865120"/>
            <a:ext cx="10058400" cy="62484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useState gives a component memory across renders; always update state through its setter, never by mutating the previous value.</a:t>
            </a:r>
            <a:endParaRPr lang="en-US" sz="1250" dirty="0"/>
          </a:p>
        </p:txBody>
      </p:sp>
      <p:sp>
        <p:nvSpPr>
          <p:cNvPr id="10" name="Shape 8"/>
          <p:cNvSpPr/>
          <p:nvPr/>
        </p:nvSpPr>
        <p:spPr>
          <a:xfrm>
            <a:off x="822960" y="3627120"/>
            <a:ext cx="438912" cy="438912"/>
          </a:xfrm>
          <a:prstGeom prst="ellipse">
            <a:avLst/>
          </a:prstGeom>
          <a:solidFill>
            <a:srgbClr val="FF8A3D"/>
          </a:solidFill>
          <a:ln/>
        </p:spPr>
        <p:txBody>
          <a:bodyPr/>
          <a:p/>
        </p:txBody>
      </p:sp>
      <p:sp>
        <p:nvSpPr>
          <p:cNvPr id="11" name="Text 9"/>
          <p:cNvSpPr txBox="1"/>
          <p:nvPr/>
        </p:nvSpPr>
        <p:spPr>
          <a:xfrm>
            <a:off x="822960" y="362712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463040" y="3535680"/>
            <a:ext cx="10058400" cy="62484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useEffect runs side effects after rendering; its dependency array controls timing, and a returned cleanup function prevents leaks.</a:t>
            </a:r>
            <a:endParaRPr lang="en-US" sz="1250" dirty="0"/>
          </a:p>
        </p:txBody>
      </p:sp>
      <p:sp>
        <p:nvSpPr>
          <p:cNvPr id="13" name="Shape 11"/>
          <p:cNvSpPr/>
          <p:nvPr/>
        </p:nvSpPr>
        <p:spPr>
          <a:xfrm>
            <a:off x="822960" y="4297680"/>
            <a:ext cx="438912" cy="438912"/>
          </a:xfrm>
          <a:prstGeom prst="ellipse">
            <a:avLst/>
          </a:prstGeom>
          <a:solidFill>
            <a:srgbClr val="FF8A3D"/>
          </a:solidFill>
          <a:ln/>
        </p:spPr>
        <p:txBody>
          <a:bodyPr/>
          <a:p/>
        </p:txBody>
      </p:sp>
      <p:sp>
        <p:nvSpPr>
          <p:cNvPr id="14" name="Text 12"/>
          <p:cNvSpPr txBox="1"/>
          <p:nvPr/>
        </p:nvSpPr>
        <p:spPr>
          <a:xfrm>
            <a:off x="822960" y="429768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 13"/>
          <p:cNvSpPr txBox="1"/>
          <p:nvPr/>
        </p:nvSpPr>
        <p:spPr>
          <a:xfrm>
            <a:off x="1463040" y="4206240"/>
            <a:ext cx="10058400" cy="62484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useRef persists a value or DOM reference without triggering a render; useMemo/useCallback memoize values and functions.</a:t>
            </a:r>
            <a:endParaRPr lang="en-US" sz="1250" dirty="0"/>
          </a:p>
        </p:txBody>
      </p:sp>
      <p:sp>
        <p:nvSpPr>
          <p:cNvPr id="16" name="Shape 14"/>
          <p:cNvSpPr/>
          <p:nvPr/>
        </p:nvSpPr>
        <p:spPr>
          <a:xfrm>
            <a:off x="822960" y="4968240"/>
            <a:ext cx="438912" cy="438912"/>
          </a:xfrm>
          <a:prstGeom prst="ellipse">
            <a:avLst/>
          </a:prstGeom>
          <a:solidFill>
            <a:srgbClr val="FF8A3D"/>
          </a:solidFill>
          <a:ln/>
        </p:spPr>
        <p:txBody>
          <a:bodyPr/>
          <a:p/>
        </p:txBody>
      </p:sp>
      <p:sp>
        <p:nvSpPr>
          <p:cNvPr id="17" name="Text 15"/>
          <p:cNvSpPr txBox="1"/>
          <p:nvPr/>
        </p:nvSpPr>
        <p:spPr>
          <a:xfrm>
            <a:off x="822960" y="496824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8" name="Text 16"/>
          <p:cNvSpPr txBox="1"/>
          <p:nvPr/>
        </p:nvSpPr>
        <p:spPr>
          <a:xfrm>
            <a:off x="1463040" y="4876800"/>
            <a:ext cx="10058400" cy="62484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Lifting state up shares state via a common parent; the Context API with useContext avoids deep prop drilling.</a:t>
            </a:r>
            <a:endParaRPr lang="en-US" sz="1250" dirty="0"/>
          </a:p>
        </p:txBody>
      </p:sp>
      <p:sp>
        <p:nvSpPr>
          <p:cNvPr id="19" name="Shape 17"/>
          <p:cNvSpPr/>
          <p:nvPr/>
        </p:nvSpPr>
        <p:spPr>
          <a:xfrm>
            <a:off x="822960" y="5638800"/>
            <a:ext cx="438912" cy="438912"/>
          </a:xfrm>
          <a:prstGeom prst="ellipse">
            <a:avLst/>
          </a:prstGeom>
          <a:solidFill>
            <a:srgbClr val="FF8A3D"/>
          </a:solidFill>
          <a:ln/>
        </p:spPr>
        <p:txBody>
          <a:bodyPr/>
          <a:p/>
        </p:txBody>
      </p:sp>
      <p:sp>
        <p:nvSpPr>
          <p:cNvPr id="20" name="Text 18"/>
          <p:cNvSpPr txBox="1"/>
          <p:nvPr/>
        </p:nvSpPr>
        <p:spPr>
          <a:xfrm>
            <a:off x="822960" y="56388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1" name="Text 19"/>
          <p:cNvSpPr txBox="1"/>
          <p:nvPr/>
        </p:nvSpPr>
        <p:spPr>
          <a:xfrm>
            <a:off x="1463040" y="5547360"/>
            <a:ext cx="10058400" cy="62484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Custom hooks (functions starting with use) let you extract and reuse stateful logic; Redux and Zustand centralize state at scale.</a:t>
            </a:r>
            <a:endParaRPr lang="en-US" sz="1250" dirty="0"/>
          </a:p>
        </p:txBody>
      </p:sp>
      <p:sp>
        <p:nvSpPr>
          <p:cNvPr id="24"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COMSATS University Islamabad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28: Hooks and State Management</dc:title>
  <dc:subject>CSC336 Web Technologies</dc:subject>
  <dc:creator>Usman Akram</dc:creator>
  <cp:lastModifiedBy>Usman Akram</cp:lastModifiedBy>
  <cp:revision>1</cp:revision>
  <dcterms:created xsi:type="dcterms:W3CDTF">2026-09-22T05:49:19Z</dcterms:created>
  <dcterms:modified xsi:type="dcterms:W3CDTF">2026-09-22T05:49:19Z</dcterms:modified>
</cp:coreProperties>
</file>
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cuinotes.com"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hyperlink" Target="https://cuinotes.com"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hyperlink" Target="https://cuinotes.com"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hyperlink" Target="https://cuinotes.com"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hyperlink" Target="https://cuinotes.com"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hyperlink" Target="https://cuinotes.com"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hyperlink" Target="https://cuinotes.com"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hyperlink" Target="https://cuinotes.co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hyperlink" Target="https://cuinotes.com"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hyperlink" Target="https://cuinotes.com"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hyperlink" Target="https://cuinotes.com"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hyperlink" Target="https://cuinotes.com"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hyperlink" Target="https://cuinotes.com"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hyperlink" Target="https://cuinotes.com"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hyperlink" Target="https://cuinotes.com"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hyperlink" Target="https://cuinotes.com"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hyperlink" Target="https://cuinotes.com"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hyperlink" Target="https://cuinotes.com"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hyperlink" Target="https://cuinotes.com"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hyperlink" Target="https://cuinotes.com"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hyperlink" Target="https://cuinotes.com"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hyperlink" Target="https://cuinotes.com"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hyperlink" Target="https://cuinotes.com"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hyperlink" Target="https://cuinotes.com"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hyperlink" Target="https://cuinotes.com"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hyperlink" Target="https://cuinotes.com"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hyperlink" Target="https://cuinotes.com"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hyperlink" Target="https://cuinotes.com"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hyperlink" Target="https://cuinotes.com"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2B7A"/>
        </a:solidFill>
      </p:bgPr>
    </p:bg>
    <p:spTree>
      <p:nvGrpSpPr>
        <p:cNvPr id="1" name=""/>
        <p:cNvGrpSpPr/>
        <p:nvPr/>
      </p:nvGrpSpPr>
      <p:grpSpPr>
        <a:xfrm>
          <a:off x="0" y="0"/>
          <a:ext cx="0" cy="0"/>
          <a:chOff x="0" y="0"/>
          <a:chExt cx="0" cy="0"/>
        </a:xfrm>
      </p:grpSpPr>
      <p:sp>
        <p:nvSpPr>
          <p:cNvPr id="2" name="Text 0"/>
          <p:cNvSpPr txBox="1"/>
          <p:nvPr/>
        </p:nvSpPr>
        <p:spPr>
          <a:xfrm>
            <a:off x="822960" y="1965960"/>
            <a:ext cx="7315200" cy="457200"/>
          </a:xfrm>
          <a:prstGeom prst="rect">
            <a:avLst/>
          </a:prstGeom>
          <a:noFill/>
          <a:ln/>
        </p:spPr>
        <p:txBody>
          <a:bodyPr wrap="square" lIns="0" tIns="0" rIns="0" bIns="0" rtlCol="0" anchor="ctr"/>
          <a:lstStyle/>
          <a:p>
            <a:pPr indent="0" marL="0">
              <a:buNone/>
            </a:pPr>
            <a:r>
              <a:rPr lang="en-US" sz="1500" b="1" spc="400" kern="0" dirty="0">
                <a:solidFill>
                  <a:srgbClr val="FF8A3D"/>
                </a:solidFill>
                <a:latin typeface="Calibri" pitchFamily="34" charset="0"/>
                <a:ea typeface="Calibri" pitchFamily="34" charset="-122"/>
                <a:cs typeface="Calibri" pitchFamily="34" charset="-120"/>
              </a:rPr>
              <a:t>LECTURE 30</a:t>
            </a:r>
            <a:endParaRPr lang="en-US" sz="1500" dirty="0"/>
          </a:p>
        </p:txBody>
      </p:sp>
      <p:sp>
        <p:nvSpPr>
          <p:cNvPr id="3" name="Text 1"/>
          <p:cNvSpPr txBox="1"/>
          <p:nvPr/>
        </p:nvSpPr>
        <p:spPr>
          <a:xfrm>
            <a:off x="777240" y="2377440"/>
            <a:ext cx="8686800" cy="1920240"/>
          </a:xfrm>
          <a:prstGeom prst="rect">
            <a:avLst/>
          </a:prstGeom>
          <a:noFill/>
          <a:ln/>
        </p:spPr>
        <p:txBody>
          <a:bodyPr wrap="square" lIns="0" tIns="0" rIns="0" bIns="0" rtlCol="0" anchor="ctr"/>
          <a:lstStyle/>
          <a:p>
            <a:pPr indent="0" marL="0">
              <a:lnSpc>
                <a:spcPct val="105000"/>
              </a:lnSpc>
              <a:buNone/>
            </a:pPr>
            <a:r>
              <a:rPr lang="en-US" sz="4000" b="1" dirty="0">
                <a:solidFill>
                  <a:srgbClr val="FFFFFF"/>
                </a:solidFill>
                <a:latin typeface="Cambria" pitchFamily="34" charset="0"/>
                <a:ea typeface="Cambria" pitchFamily="34" charset="-122"/>
                <a:cs typeface="Cambria" pitchFamily="34" charset="-120"/>
              </a:rPr>
              <a:t>Application</a:t>
            </a:r>
            <a:endParaRPr lang="en-US" sz="4000" dirty="0"/>
          </a:p>
          <a:p>
            <a:pPr indent="0" marL="0">
              <a:lnSpc>
                <a:spcPct val="105000"/>
              </a:lnSpc>
              <a:buNone/>
            </a:pPr>
            <a:r>
              <a:rPr lang="en-US" sz="4000" b="1" dirty="0">
                <a:solidFill>
                  <a:srgbClr val="FFFFFF"/>
                </a:solidFill>
                <a:latin typeface="Cambria" pitchFamily="34" charset="0"/>
                <a:ea typeface="Cambria" pitchFamily="34" charset="-122"/>
                <a:cs typeface="Cambria" pitchFamily="34" charset="-120"/>
              </a:rPr>
              <a:t>Security Basics</a:t>
            </a:r>
            <a:endParaRPr lang="en-US" sz="4000" dirty="0"/>
          </a:p>
        </p:txBody>
      </p:sp>
      <p:sp>
        <p:nvSpPr>
          <p:cNvPr id="4" name="Text 2"/>
          <p:cNvSpPr txBox="1"/>
          <p:nvPr/>
        </p:nvSpPr>
        <p:spPr>
          <a:xfrm>
            <a:off x="822960" y="4389120"/>
            <a:ext cx="8961120" cy="822960"/>
          </a:xfrm>
          <a:prstGeom prst="rect">
            <a:avLst/>
          </a:prstGeom>
          <a:noFill/>
          <a:ln/>
        </p:spPr>
        <p:txBody>
          <a:bodyPr wrap="square" lIns="0" tIns="0" rIns="0" bIns="0" rtlCol="0" anchor="ctr"/>
          <a:lstStyle/>
          <a:p>
            <a:pPr indent="0" marL="0">
              <a:buNone/>
            </a:pPr>
            <a:r>
              <a:rPr lang="en-US" sz="1500" dirty="0">
                <a:solidFill>
                  <a:srgbClr val="C9D3F5"/>
                </a:solidFill>
                <a:latin typeface="Calibri" pitchFamily="34" charset="0"/>
                <a:ea typeface="Calibri" pitchFamily="34" charset="-122"/>
                <a:cs typeface="Calibri" pitchFamily="34" charset="-120"/>
              </a:rPr>
              <a:t>Your app is about to meet the Internet — here's how to keep it, and its users, safe.</a:t>
            </a:r>
            <a:endParaRPr lang="en-US" sz="1500" dirty="0"/>
          </a:p>
        </p:txBody>
      </p:sp>
      <p:sp>
        <p:nvSpPr>
          <p:cNvPr id="5" name="Text 3"/>
          <p:cNvSpPr txBox="1"/>
          <p:nvPr/>
        </p:nvSpPr>
        <p:spPr>
          <a:xfrm>
            <a:off x="822960" y="5943600"/>
            <a:ext cx="8229600" cy="365760"/>
          </a:xfrm>
          <a:prstGeom prst="rect">
            <a:avLst/>
          </a:prstGeom>
          <a:noFill/>
          <a:ln/>
        </p:spPr>
        <p:txBody>
          <a:bodyPr wrap="square" lIns="0" tIns="0" rIns="0" bIns="0" rtlCol="0" anchor="ctr"/>
          <a:lstStyle/>
          <a:p>
            <a:pPr indent="0" marL="0">
              <a:buNone/>
            </a:pPr>
            <a:r>
              <a:rPr lang="en-US" sz="1200" dirty="0">
                <a:solidFill>
                  <a:srgbClr val="9AA3D8"/>
                </a:solidFill>
                <a:latin typeface="Calibri" pitchFamily="34" charset="0"/>
                <a:ea typeface="Calibri" pitchFamily="34" charset="-122"/>
                <a:cs typeface="Calibri" pitchFamily="34" charset="-120"/>
              </a:rPr>
              <a:t>CSC336 Web Technologies</a:t>
            </a:r>
            <a:endParaRPr lang="en-US" sz="1200" dirty="0"/>
          </a:p>
        </p:txBody>
      </p:sp>
      <p:sp>
        <p:nvSpPr>
          <p:cNvPr id="8"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OVERVIEW</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In This Lecture</a:t>
            </a:r>
            <a:endParaRPr lang="en-US" sz="3400" dirty="0"/>
          </a:p>
        </p:txBody>
      </p:sp>
      <p:sp>
        <p:nvSpPr>
          <p:cNvPr id="4" name="Shape 2"/>
          <p:cNvSpPr/>
          <p:nvPr/>
        </p:nvSpPr>
        <p:spPr>
          <a:xfrm>
            <a:off x="685800" y="1965960"/>
            <a:ext cx="457200" cy="457200"/>
          </a:xfrm>
          <a:prstGeom prst="ellipse">
            <a:avLst/>
          </a:prstGeom>
          <a:solidFill>
            <a:srgbClr val="FF8A3D"/>
          </a:solidFill>
          <a:ln/>
        </p:spPr>
        <p:txBody>
          <a:bodyPr/>
          <a:p/>
        </p:txBody>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The CIA triad — confidentiality, integrity, availability</a:t>
            </a:r>
            <a:endParaRPr lang="en-US" sz="1500" dirty="0"/>
          </a:p>
        </p:txBody>
      </p:sp>
      <p:sp>
        <p:nvSpPr>
          <p:cNvPr id="7" name="Shape 5"/>
          <p:cNvSpPr/>
          <p:nvPr/>
        </p:nvSpPr>
        <p:spPr>
          <a:xfrm>
            <a:off x="685800" y="2788920"/>
            <a:ext cx="457200" cy="457200"/>
          </a:xfrm>
          <a:prstGeom prst="ellipse">
            <a:avLst/>
          </a:prstGeom>
          <a:solidFill>
            <a:srgbClr val="FF8A3D"/>
          </a:solidFill>
          <a:ln/>
        </p:spPr>
        <p:txBody>
          <a:bodyPr/>
          <a:p/>
        </p:txBody>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Two guiding principles: least privilege and defence in depth</a:t>
            </a:r>
            <a:endParaRPr lang="en-US" sz="1500" dirty="0"/>
          </a:p>
        </p:txBody>
      </p:sp>
      <p:sp>
        <p:nvSpPr>
          <p:cNvPr id="10" name="Shape 8"/>
          <p:cNvSpPr/>
          <p:nvPr/>
        </p:nvSpPr>
        <p:spPr>
          <a:xfrm>
            <a:off x="685800" y="3611880"/>
            <a:ext cx="457200" cy="457200"/>
          </a:xfrm>
          <a:prstGeom prst="ellipse">
            <a:avLst/>
          </a:prstGeom>
          <a:solidFill>
            <a:srgbClr val="FF8A3D"/>
          </a:solidFill>
          <a:ln/>
        </p:spPr>
        <p:txBody>
          <a:bodyPr/>
          <a:p/>
        </p:txBody>
      </p:sp>
      <p:sp>
        <p:nvSpPr>
          <p:cNvPr id="11" name="Text 9"/>
          <p:cNvSpPr txBox="1"/>
          <p:nvPr/>
        </p:nvSpPr>
        <p:spPr>
          <a:xfrm>
            <a:off x="685800" y="3611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53872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HTTPS/TLS, certificates, and security-related response headers</a:t>
            </a:r>
            <a:endParaRPr lang="en-US" sz="1500" dirty="0"/>
          </a:p>
        </p:txBody>
      </p:sp>
      <p:sp>
        <p:nvSpPr>
          <p:cNvPr id="13" name="Shape 11"/>
          <p:cNvSpPr/>
          <p:nvPr/>
        </p:nvSpPr>
        <p:spPr>
          <a:xfrm>
            <a:off x="685800" y="4434840"/>
            <a:ext cx="457200" cy="457200"/>
          </a:xfrm>
          <a:prstGeom prst="ellipse">
            <a:avLst/>
          </a:prstGeom>
          <a:solidFill>
            <a:srgbClr val="FF8A3D"/>
          </a:solidFill>
          <a:ln/>
        </p:spPr>
        <p:txBody>
          <a:bodyPr/>
          <a:p/>
        </p:txBody>
      </p:sp>
      <p:sp>
        <p:nvSpPr>
          <p:cNvPr id="14" name="Text 12"/>
          <p:cNvSpPr txBox="1"/>
          <p:nvPr/>
        </p:nvSpPr>
        <p:spPr>
          <a:xfrm>
            <a:off x="685800" y="443484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5" name="Text 13"/>
          <p:cNvSpPr txBox="1"/>
          <p:nvPr/>
        </p:nvSpPr>
        <p:spPr>
          <a:xfrm>
            <a:off x="1371600" y="436168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Authentication vs. authorization, revisited</a:t>
            </a:r>
            <a:endParaRPr lang="en-US" sz="1500" dirty="0"/>
          </a:p>
        </p:txBody>
      </p:sp>
      <p:sp>
        <p:nvSpPr>
          <p:cNvPr id="16" name="Shape 14"/>
          <p:cNvSpPr/>
          <p:nvPr/>
        </p:nvSpPr>
        <p:spPr>
          <a:xfrm>
            <a:off x="685800" y="5257800"/>
            <a:ext cx="457200" cy="457200"/>
          </a:xfrm>
          <a:prstGeom prst="ellipse">
            <a:avLst/>
          </a:prstGeom>
          <a:solidFill>
            <a:srgbClr val="FF8A3D"/>
          </a:solidFill>
          <a:ln/>
        </p:spPr>
        <p:txBody>
          <a:bodyPr/>
          <a:p/>
        </p:txBody>
      </p:sp>
      <p:sp>
        <p:nvSpPr>
          <p:cNvPr id="17" name="Text 15"/>
          <p:cNvSpPr txBox="1"/>
          <p:nvPr/>
        </p:nvSpPr>
        <p:spPr>
          <a:xfrm>
            <a:off x="685800" y="52578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8" name="Text 16"/>
          <p:cNvSpPr txBox="1"/>
          <p:nvPr/>
        </p:nvSpPr>
        <p:spPr>
          <a:xfrm>
            <a:off x="1371600" y="518464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Input validation, output encoding, and secrets management</a:t>
            </a:r>
            <a:endParaRPr lang="en-US" sz="1500" dirty="0"/>
          </a:p>
        </p:txBody>
      </p:sp>
      <p:sp>
        <p:nvSpPr>
          <p:cNvPr id="21"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WHY IT MATTERS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Security for a Class Project?</a:t>
            </a:r>
            <a:endParaRPr lang="en-US" sz="3400" dirty="0"/>
          </a:p>
        </p:txBody>
      </p:sp>
      <p:sp>
        <p:nvSpPr>
          <p:cNvPr id="4" name="Shape 2"/>
          <p:cNvSpPr/>
          <p:nvPr/>
        </p:nvSpPr>
        <p:spPr>
          <a:xfrm>
            <a:off x="685800" y="1965960"/>
            <a:ext cx="457200" cy="457200"/>
          </a:xfrm>
          <a:prstGeom prst="ellipse">
            <a:avLst/>
          </a:prstGeom>
          <a:solidFill>
            <a:srgbClr val="FF8A3D"/>
          </a:solidFill>
          <a:ln/>
        </p:spPr>
        <p:txBody>
          <a:bodyPr/>
          <a:p/>
        </p:txBody>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"Security is for big companies, not my class project" — this is a mistake</a:t>
            </a:r>
            <a:endParaRPr lang="en-US" sz="1500" dirty="0"/>
          </a:p>
        </p:txBody>
      </p:sp>
      <p:sp>
        <p:nvSpPr>
          <p:cNvPr id="7" name="Shape 5"/>
          <p:cNvSpPr/>
          <p:nvPr/>
        </p:nvSpPr>
        <p:spPr>
          <a:xfrm>
            <a:off x="685800" y="2788920"/>
            <a:ext cx="457200" cy="457200"/>
          </a:xfrm>
          <a:prstGeom prst="ellipse">
            <a:avLst/>
          </a:prstGeom>
          <a:solidFill>
            <a:srgbClr val="FF8A3D"/>
          </a:solidFill>
          <a:ln/>
        </p:spPr>
        <p:txBody>
          <a:bodyPr/>
          <a:p/>
        </p:txBody>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The moment an app is reachable on the Internet, automated bots probe it 24/7 for common weaknesses</a:t>
            </a:r>
            <a:endParaRPr lang="en-US" sz="1500" dirty="0"/>
          </a:p>
        </p:txBody>
      </p:sp>
      <p:sp>
        <p:nvSpPr>
          <p:cNvPr id="10" name="Shape 8"/>
          <p:cNvSpPr/>
          <p:nvPr/>
        </p:nvSpPr>
        <p:spPr>
          <a:xfrm>
            <a:off x="685800" y="3611880"/>
            <a:ext cx="457200" cy="457200"/>
          </a:xfrm>
          <a:prstGeom prst="ellipse">
            <a:avLst/>
          </a:prstGeom>
          <a:solidFill>
            <a:srgbClr val="FF8A3D"/>
          </a:solidFill>
          <a:ln/>
        </p:spPr>
        <p:txBody>
          <a:bodyPr/>
          <a:p/>
        </p:txBody>
      </p:sp>
      <p:sp>
        <p:nvSpPr>
          <p:cNvPr id="11" name="Text 9"/>
          <p:cNvSpPr txBox="1"/>
          <p:nvPr/>
        </p:nvSpPr>
        <p:spPr>
          <a:xfrm>
            <a:off x="685800" y="3611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53872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Security is not a bolt-on at the end — it's a way of thinking throughout development</a:t>
            </a:r>
            <a:endParaRPr lang="en-US" sz="1500" dirty="0"/>
          </a:p>
        </p:txBody>
      </p:sp>
      <p:sp>
        <p:nvSpPr>
          <p:cNvPr id="15"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WHY IT MATTERS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Security Is a Process, Not a Checklist</a:t>
            </a:r>
            <a:endParaRPr lang="en-US" sz="3400" dirty="0"/>
          </a:p>
        </p:txBody>
      </p:sp>
      <p:sp>
        <p:nvSpPr>
          <p:cNvPr id="4" name="Shape 2"/>
          <p:cNvSpPr/>
          <p:nvPr/>
        </p:nvSpPr>
        <p:spPr>
          <a:xfrm>
            <a:off x="640080" y="1965960"/>
            <a:ext cx="10911535" cy="1645920"/>
          </a:xfrm>
          <a:prstGeom prst="roundRect">
            <a:avLst>
              <a:gd name="adj" fmla="val 3333"/>
            </a:avLst>
          </a:prstGeom>
          <a:solidFill>
            <a:srgbClr val="E9EDFB"/>
          </a:solidFill>
          <a:ln w="12700">
            <a:solidFill>
              <a:srgbClr val="6C7FD6"/>
            </a:solidFill>
            <a:prstDash val="solid"/>
          </a:ln>
        </p:spPr>
        <p:txBody>
          <a:bodyPr/>
          <a:p/>
        </p:txBody>
      </p:sp>
      <p:sp>
        <p:nvSpPr>
          <p:cNvPr id="5" name="Text 3"/>
          <p:cNvSpPr txBox="1"/>
          <p:nvPr/>
        </p:nvSpPr>
        <p:spPr>
          <a:xfrm>
            <a:off x="868680" y="2103120"/>
            <a:ext cx="10454335" cy="274320"/>
          </a:xfrm>
          <a:prstGeom prst="rect">
            <a:avLst/>
          </a:prstGeom>
          <a:noFill/>
          <a:ln/>
        </p:spPr>
        <p:txBody>
          <a:bodyPr wrap="square" lIns="0" tIns="0" rIns="0" bIns="0" rtlCol="0" anchor="ctr"/>
          <a:lstStyle/>
          <a:p>
            <a:pPr indent="0" marL="0">
              <a:buNone/>
            </a:pPr>
            <a:r>
              <a:rPr lang="en-US" sz="1000" b="1" spc="200" kern="0" dirty="0">
                <a:solidFill>
                  <a:srgbClr val="33459E"/>
                </a:solidFill>
                <a:latin typeface="Calibri" pitchFamily="34" charset="0"/>
                <a:ea typeface="Calibri" pitchFamily="34" charset="-122"/>
                <a:cs typeface="Calibri" pitchFamily="34" charset="-120"/>
              </a:rPr>
              <a:t>NOTE</a:t>
            </a:r>
            <a:endParaRPr lang="en-US" sz="1000" dirty="0"/>
          </a:p>
        </p:txBody>
      </p:sp>
      <p:sp>
        <p:nvSpPr>
          <p:cNvPr id="6" name="Text 4"/>
          <p:cNvSpPr txBox="1"/>
          <p:nvPr/>
        </p:nvSpPr>
        <p:spPr>
          <a:xfrm>
            <a:off x="868680" y="2404872"/>
            <a:ext cx="10454335" cy="1051560"/>
          </a:xfrm>
          <a:prstGeom prst="rect">
            <a:avLst/>
          </a:prstGeom>
          <a:noFill/>
          <a:ln/>
        </p:spPr>
        <p:txBody>
          <a:bodyPr wrap="square" lIns="0" tIns="0" rIns="0" bIns="0" rtlCol="0" anchor="t"/>
          <a:lstStyle/>
          <a:p>
            <a:pPr indent="0" marL="0">
              <a:buNone/>
            </a:pPr>
            <a:r>
              <a:rPr lang="en-US" sz="1250" dirty="0">
                <a:solidFill>
                  <a:srgbClr val="26262F"/>
                </a:solidFill>
                <a:latin typeface="Calibri" pitchFamily="34" charset="0"/>
                <a:ea typeface="Calibri" pitchFamily="34" charset="-122"/>
                <a:cs typeface="Calibri" pitchFamily="34" charset="-120"/>
              </a:rPr>
              <a:t>You cannot make an application "100% secure." Security is about reducing risk to an acceptable level and reacting quickly when something goes wrong — not reaching some finish line where you are "done."</a:t>
            </a:r>
            <a:endParaRPr lang="en-US" sz="1250" dirty="0"/>
          </a:p>
        </p:txBody>
      </p:sp>
      <p:sp>
        <p:nvSpPr>
          <p:cNvPr id="9"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THE CIA TRIAD</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Three Goals of a Secure System</a:t>
            </a:r>
            <a:endParaRPr lang="en-US" sz="3400" dirty="0"/>
          </a:p>
        </p:txBody>
      </p:sp>
      <p:sp>
        <p:nvSpPr>
          <p:cNvPr id="4" name="Shape 2"/>
          <p:cNvSpPr/>
          <p:nvPr/>
        </p:nvSpPr>
        <p:spPr>
          <a:xfrm flipH="1">
            <a:off x="2514600" y="3017520"/>
            <a:ext cx="2514600" cy="1005840"/>
          </a:xfrm>
          <a:prstGeom prst="line">
            <a:avLst/>
          </a:prstGeom>
          <a:noFill/>
          <a:ln w="25400">
            <a:solidFill>
              <a:srgbClr val="5D5D72"/>
            </a:solidFill>
            <a:prstDash val="solid"/>
            <a:tailEnd type="triangle"/>
          </a:ln>
        </p:spPr>
        <p:txBody>
          <a:bodyPr/>
          <a:p/>
        </p:txBody>
      </p:sp>
      <p:sp>
        <p:nvSpPr>
          <p:cNvPr id="5" name="Shape 3"/>
          <p:cNvSpPr/>
          <p:nvPr/>
        </p:nvSpPr>
        <p:spPr>
          <a:xfrm>
            <a:off x="6080760" y="3017520"/>
            <a:ext cx="9144" cy="1005840"/>
          </a:xfrm>
          <a:prstGeom prst="line">
            <a:avLst/>
          </a:prstGeom>
          <a:noFill/>
          <a:ln w="25400">
            <a:solidFill>
              <a:srgbClr val="5D5D72"/>
            </a:solidFill>
            <a:prstDash val="solid"/>
            <a:tailEnd type="triangle"/>
          </a:ln>
        </p:spPr>
        <p:txBody>
          <a:bodyPr/>
          <a:p/>
        </p:txBody>
      </p:sp>
      <p:sp>
        <p:nvSpPr>
          <p:cNvPr id="6" name="Shape 4"/>
          <p:cNvSpPr/>
          <p:nvPr/>
        </p:nvSpPr>
        <p:spPr>
          <a:xfrm>
            <a:off x="7132320" y="3017520"/>
            <a:ext cx="2514600" cy="1005840"/>
          </a:xfrm>
          <a:prstGeom prst="line">
            <a:avLst/>
          </a:prstGeom>
          <a:noFill/>
          <a:ln w="25400">
            <a:solidFill>
              <a:srgbClr val="5D5D72"/>
            </a:solidFill>
            <a:prstDash val="solid"/>
            <a:tailEnd type="triangle"/>
          </a:ln>
        </p:spPr>
        <p:txBody>
          <a:bodyPr/>
          <a:p/>
        </p:txBody>
      </p:sp>
      <p:sp>
        <p:nvSpPr>
          <p:cNvPr id="7" name="Shape 5"/>
          <p:cNvSpPr/>
          <p:nvPr/>
        </p:nvSpPr>
        <p:spPr>
          <a:xfrm>
            <a:off x="4480560" y="2286000"/>
            <a:ext cx="3200400" cy="731520"/>
          </a:xfrm>
          <a:prstGeom prst="rect">
            <a:avLst/>
          </a:prstGeom>
          <a:solidFill>
            <a:srgbClr val="1E1E4C"/>
          </a:solidFill>
          <a:ln/>
        </p:spPr>
        <p:txBody>
          <a:bodyPr/>
          <a:p/>
        </p:txBody>
      </p:sp>
      <p:sp>
        <p:nvSpPr>
          <p:cNvPr id="8" name="Text 6"/>
          <p:cNvSpPr txBox="1"/>
          <p:nvPr/>
        </p:nvSpPr>
        <p:spPr>
          <a:xfrm>
            <a:off x="4535424" y="2286000"/>
            <a:ext cx="3090672" cy="731520"/>
          </a:xfrm>
          <a:prstGeom prst="rect">
            <a:avLst/>
          </a:prstGeom>
          <a:noFill/>
          <a:ln/>
        </p:spPr>
        <p:txBody>
          <a:bodyPr wrap="square" lIns="0" tIns="0" rIns="0" bIns="0" rtlCol="0" anchor="ctr"/>
          <a:lstStyle/>
          <a:p>
            <a:pPr algn="ctr" indent="0" marL="0">
              <a:lnSpc>
                <a:spcPct val="105000"/>
              </a:lnSpc>
              <a:buNone/>
            </a:pPr>
            <a:r>
              <a:rPr lang="en-US" sz="1500" b="1" dirty="0">
                <a:solidFill>
                  <a:srgbClr val="FFFFFF"/>
                </a:solidFill>
                <a:latin typeface="Calibri" pitchFamily="34" charset="0"/>
                <a:ea typeface="Calibri" pitchFamily="34" charset="-122"/>
                <a:cs typeface="Calibri" pitchFamily="34" charset="-120"/>
              </a:rPr>
              <a:t>CIA Triad</a:t>
            </a:r>
            <a:endParaRPr lang="en-US" sz="1500" dirty="0"/>
          </a:p>
        </p:txBody>
      </p:sp>
      <p:sp>
        <p:nvSpPr>
          <p:cNvPr id="9" name="Shape 7"/>
          <p:cNvSpPr/>
          <p:nvPr/>
        </p:nvSpPr>
        <p:spPr>
          <a:xfrm>
            <a:off x="1005840" y="4023360"/>
            <a:ext cx="3017520" cy="1097280"/>
          </a:xfrm>
          <a:prstGeom prst="rect">
            <a:avLst/>
          </a:prstGeom>
          <a:solidFill>
            <a:srgbClr val="2B2B7A"/>
          </a:solidFill>
          <a:ln/>
        </p:spPr>
        <p:txBody>
          <a:bodyPr/>
          <a:p/>
        </p:txBody>
      </p:sp>
      <p:sp>
        <p:nvSpPr>
          <p:cNvPr id="10" name="Text 8"/>
          <p:cNvSpPr txBox="1"/>
          <p:nvPr/>
        </p:nvSpPr>
        <p:spPr>
          <a:xfrm>
            <a:off x="1060704" y="4023360"/>
            <a:ext cx="2907792" cy="1097280"/>
          </a:xfrm>
          <a:prstGeom prst="rect">
            <a:avLst/>
          </a:prstGeom>
          <a:noFill/>
          <a:ln/>
        </p:spPr>
        <p:txBody>
          <a:bodyPr wrap="square" lIns="0" tIns="0" rIns="0" bIns="0" rtlCol="0" anchor="ctr"/>
          <a:lstStyle/>
          <a:p>
            <a:pPr algn="ctr" indent="0" marL="0">
              <a:lnSpc>
                <a:spcPct val="105000"/>
              </a:lnSpc>
              <a:buNone/>
            </a:pPr>
            <a:r>
              <a:rPr lang="en-US" sz="1200" b="1" dirty="0">
                <a:solidFill>
                  <a:srgbClr val="FFFFFF"/>
                </a:solidFill>
                <a:latin typeface="Calibri" pitchFamily="34" charset="0"/>
                <a:ea typeface="Calibri" pitchFamily="34" charset="-122"/>
                <a:cs typeface="Calibri" pitchFamily="34" charset="-120"/>
              </a:rPr>
              <a:t>Confidentiality</a:t>
            </a:r>
            <a:endParaRPr lang="en-US" sz="1200" dirty="0"/>
          </a:p>
          <a:p>
            <a:pPr algn="ctr" indent="0" marL="0">
              <a:lnSpc>
                <a:spcPct val="105000"/>
              </a:lnSpc>
              <a:buNone/>
            </a:pPr>
            <a:r>
              <a:rPr lang="en-US" sz="1200" b="1" dirty="0">
                <a:solidFill>
                  <a:srgbClr val="FFFFFF"/>
                </a:solidFill>
                <a:latin typeface="Calibri" pitchFamily="34" charset="0"/>
                <a:ea typeface="Calibri" pitchFamily="34" charset="-122"/>
                <a:cs typeface="Calibri" pitchFamily="34" charset="-120"/>
              </a:rPr>
              <a:t>Only the right people</a:t>
            </a:r>
            <a:endParaRPr lang="en-US" sz="1200" dirty="0"/>
          </a:p>
          <a:p>
            <a:pPr algn="ctr" indent="0" marL="0">
              <a:lnSpc>
                <a:spcPct val="105000"/>
              </a:lnSpc>
              <a:buNone/>
            </a:pPr>
            <a:r>
              <a:rPr lang="en-US" sz="1200" b="1" dirty="0">
                <a:solidFill>
                  <a:srgbClr val="FFFFFF"/>
                </a:solidFill>
                <a:latin typeface="Calibri" pitchFamily="34" charset="0"/>
                <a:ea typeface="Calibri" pitchFamily="34" charset="-122"/>
                <a:cs typeface="Calibri" pitchFamily="34" charset="-120"/>
              </a:rPr>
              <a:t>can see data</a:t>
            </a:r>
            <a:endParaRPr lang="en-US" sz="1200" dirty="0"/>
          </a:p>
        </p:txBody>
      </p:sp>
      <p:sp>
        <p:nvSpPr>
          <p:cNvPr id="11" name="Shape 9"/>
          <p:cNvSpPr/>
          <p:nvPr/>
        </p:nvSpPr>
        <p:spPr>
          <a:xfrm>
            <a:off x="4572000" y="4023360"/>
            <a:ext cx="3017520" cy="1097280"/>
          </a:xfrm>
          <a:prstGeom prst="rect">
            <a:avLst/>
          </a:prstGeom>
          <a:solidFill>
            <a:srgbClr val="2B2B7A"/>
          </a:solidFill>
          <a:ln/>
        </p:spPr>
        <p:txBody>
          <a:bodyPr/>
          <a:p/>
        </p:txBody>
      </p:sp>
      <p:sp>
        <p:nvSpPr>
          <p:cNvPr id="12" name="Text 10"/>
          <p:cNvSpPr txBox="1"/>
          <p:nvPr/>
        </p:nvSpPr>
        <p:spPr>
          <a:xfrm>
            <a:off x="4626864" y="4023360"/>
            <a:ext cx="2907792" cy="1097280"/>
          </a:xfrm>
          <a:prstGeom prst="rect">
            <a:avLst/>
          </a:prstGeom>
          <a:noFill/>
          <a:ln/>
        </p:spPr>
        <p:txBody>
          <a:bodyPr wrap="square" lIns="0" tIns="0" rIns="0" bIns="0" rtlCol="0" anchor="ctr"/>
          <a:lstStyle/>
          <a:p>
            <a:pPr algn="ctr" indent="0" marL="0">
              <a:lnSpc>
                <a:spcPct val="105000"/>
              </a:lnSpc>
              <a:buNone/>
            </a:pPr>
            <a:r>
              <a:rPr lang="en-US" sz="1200" b="1" dirty="0">
                <a:solidFill>
                  <a:srgbClr val="FFFFFF"/>
                </a:solidFill>
                <a:latin typeface="Calibri" pitchFamily="34" charset="0"/>
                <a:ea typeface="Calibri" pitchFamily="34" charset="-122"/>
                <a:cs typeface="Calibri" pitchFamily="34" charset="-120"/>
              </a:rPr>
              <a:t>Integrity</a:t>
            </a:r>
            <a:endParaRPr lang="en-US" sz="1200" dirty="0"/>
          </a:p>
          <a:p>
            <a:pPr algn="ctr" indent="0" marL="0">
              <a:lnSpc>
                <a:spcPct val="105000"/>
              </a:lnSpc>
              <a:buNone/>
            </a:pPr>
            <a:r>
              <a:rPr lang="en-US" sz="1200" b="1" dirty="0">
                <a:solidFill>
                  <a:srgbClr val="FFFFFF"/>
                </a:solidFill>
                <a:latin typeface="Calibri" pitchFamily="34" charset="0"/>
                <a:ea typeface="Calibri" pitchFamily="34" charset="-122"/>
                <a:cs typeface="Calibri" pitchFamily="34" charset="-120"/>
              </a:rPr>
              <a:t>Data can't change</a:t>
            </a:r>
            <a:endParaRPr lang="en-US" sz="1200" dirty="0"/>
          </a:p>
          <a:p>
            <a:pPr algn="ctr" indent="0" marL="0">
              <a:lnSpc>
                <a:spcPct val="105000"/>
              </a:lnSpc>
              <a:buNone/>
            </a:pPr>
            <a:r>
              <a:rPr lang="en-US" sz="1200" b="1" dirty="0">
                <a:solidFill>
                  <a:srgbClr val="FFFFFF"/>
                </a:solidFill>
                <a:latin typeface="Calibri" pitchFamily="34" charset="0"/>
                <a:ea typeface="Calibri" pitchFamily="34" charset="-122"/>
                <a:cs typeface="Calibri" pitchFamily="34" charset="-120"/>
              </a:rPr>
              <a:t>without permission</a:t>
            </a:r>
            <a:endParaRPr lang="en-US" sz="1200" dirty="0"/>
          </a:p>
        </p:txBody>
      </p:sp>
      <p:sp>
        <p:nvSpPr>
          <p:cNvPr id="13" name="Shape 11"/>
          <p:cNvSpPr/>
          <p:nvPr/>
        </p:nvSpPr>
        <p:spPr>
          <a:xfrm>
            <a:off x="8138160" y="4023360"/>
            <a:ext cx="3017520" cy="1097280"/>
          </a:xfrm>
          <a:prstGeom prst="rect">
            <a:avLst/>
          </a:prstGeom>
          <a:solidFill>
            <a:srgbClr val="2B2B7A"/>
          </a:solidFill>
          <a:ln/>
        </p:spPr>
        <p:txBody>
          <a:bodyPr/>
          <a:p/>
        </p:txBody>
      </p:sp>
      <p:sp>
        <p:nvSpPr>
          <p:cNvPr id="14" name="Text 12"/>
          <p:cNvSpPr txBox="1"/>
          <p:nvPr/>
        </p:nvSpPr>
        <p:spPr>
          <a:xfrm>
            <a:off x="8193024" y="4023360"/>
            <a:ext cx="2907792" cy="1097280"/>
          </a:xfrm>
          <a:prstGeom prst="rect">
            <a:avLst/>
          </a:prstGeom>
          <a:noFill/>
          <a:ln/>
        </p:spPr>
        <p:txBody>
          <a:bodyPr wrap="square" lIns="0" tIns="0" rIns="0" bIns="0" rtlCol="0" anchor="ctr"/>
          <a:lstStyle/>
          <a:p>
            <a:pPr algn="ctr" indent="0" marL="0">
              <a:lnSpc>
                <a:spcPct val="105000"/>
              </a:lnSpc>
              <a:buNone/>
            </a:pPr>
            <a:r>
              <a:rPr lang="en-US" sz="1200" b="1" dirty="0">
                <a:solidFill>
                  <a:srgbClr val="FFFFFF"/>
                </a:solidFill>
                <a:latin typeface="Calibri" pitchFamily="34" charset="0"/>
                <a:ea typeface="Calibri" pitchFamily="34" charset="-122"/>
                <a:cs typeface="Calibri" pitchFamily="34" charset="-120"/>
              </a:rPr>
              <a:t>Availability</a:t>
            </a:r>
            <a:endParaRPr lang="en-US" sz="1200" dirty="0"/>
          </a:p>
          <a:p>
            <a:pPr algn="ctr" indent="0" marL="0">
              <a:lnSpc>
                <a:spcPct val="105000"/>
              </a:lnSpc>
              <a:buNone/>
            </a:pPr>
            <a:r>
              <a:rPr lang="en-US" sz="1200" b="1" dirty="0">
                <a:solidFill>
                  <a:srgbClr val="FFFFFF"/>
                </a:solidFill>
                <a:latin typeface="Calibri" pitchFamily="34" charset="0"/>
                <a:ea typeface="Calibri" pitchFamily="34" charset="-122"/>
                <a:cs typeface="Calibri" pitchFamily="34" charset="-120"/>
              </a:rPr>
              <a:t>The system stays up</a:t>
            </a:r>
            <a:endParaRPr lang="en-US" sz="1200" dirty="0"/>
          </a:p>
          <a:p>
            <a:pPr algn="ctr" indent="0" marL="0">
              <a:lnSpc>
                <a:spcPct val="105000"/>
              </a:lnSpc>
              <a:buNone/>
            </a:pPr>
            <a:r>
              <a:rPr lang="en-US" sz="1200" b="1" dirty="0">
                <a:solidFill>
                  <a:srgbClr val="FFFFFF"/>
                </a:solidFill>
                <a:latin typeface="Calibri" pitchFamily="34" charset="0"/>
                <a:ea typeface="Calibri" pitchFamily="34" charset="-122"/>
                <a:cs typeface="Calibri" pitchFamily="34" charset="-120"/>
              </a:rPr>
              <a:t>and usable</a:t>
            </a:r>
            <a:endParaRPr lang="en-US" sz="1200" dirty="0"/>
          </a:p>
        </p:txBody>
      </p:sp>
      <p:sp>
        <p:nvSpPr>
          <p:cNvPr id="15" name="Text 13"/>
          <p:cNvSpPr txBox="1"/>
          <p:nvPr/>
        </p:nvSpPr>
        <p:spPr>
          <a:xfrm>
            <a:off x="640080" y="5989320"/>
            <a:ext cx="10911535" cy="411480"/>
          </a:xfrm>
          <a:prstGeom prst="rect">
            <a:avLst/>
          </a:prstGeom>
          <a:noFill/>
          <a:ln/>
        </p:spPr>
        <p:txBody>
          <a:bodyPr wrap="square" lIns="0" tIns="0" rIns="0" bIns="0" rtlCol="0" anchor="t"/>
          <a:lstStyle/>
          <a:p>
            <a:pPr indent="0" marL="0">
              <a:buNone/>
            </a:pPr>
            <a:r>
              <a:rPr lang="en-US" sz="1250" i="1" dirty="0">
                <a:solidFill>
                  <a:srgbClr val="5D5D72"/>
                </a:solidFill>
                <a:latin typeface="Calibri" pitchFamily="34" charset="0"/>
                <a:ea typeface="Calibri" pitchFamily="34" charset="-122"/>
                <a:cs typeface="Calibri" pitchFamily="34" charset="-120"/>
              </a:rPr>
              <a:t>Nothing to do with the intelligence agency — every security decision maps back to protecting one (or more) of these three properties.</a:t>
            </a:r>
            <a:endParaRPr lang="en-US" sz="1250" dirty="0"/>
          </a:p>
        </p:txBody>
      </p:sp>
      <p:sp>
        <p:nvSpPr>
          <p:cNvPr id="18"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THE CIA TRIAD</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What Each Property Actually Means</a:t>
            </a:r>
            <a:endParaRPr lang="en-US" sz="3400" dirty="0"/>
          </a:p>
        </p:txBody>
      </p:sp>
      <p:sp>
        <p:nvSpPr>
          <p:cNvPr id="4" name="Shape 2"/>
          <p:cNvSpPr/>
          <p:nvPr/>
        </p:nvSpPr>
        <p:spPr>
          <a:xfrm>
            <a:off x="640080" y="1965960"/>
            <a:ext cx="3484778" cy="4114800"/>
          </a:xfrm>
          <a:prstGeom prst="roundRect">
            <a:avLst>
              <a:gd name="adj" fmla="val 2362"/>
            </a:avLst>
          </a:prstGeom>
          <a:solidFill>
            <a:srgbClr val="F1F1F8"/>
          </a:solidFill>
          <a:ln w="12700">
            <a:solidFill>
              <a:srgbClr val="E2E2EE"/>
            </a:solidFill>
            <a:prstDash val="solid"/>
          </a:ln>
        </p:spPr>
        <p:txBody>
          <a:bodyPr/>
          <a:p/>
        </p:txBody>
      </p:sp>
      <p:sp>
        <p:nvSpPr>
          <p:cNvPr id="5" name="Text 3"/>
          <p:cNvSpPr txBox="1"/>
          <p:nvPr/>
        </p:nvSpPr>
        <p:spPr>
          <a:xfrm>
            <a:off x="896112" y="2194560"/>
            <a:ext cx="2972714" cy="365760"/>
          </a:xfrm>
          <a:prstGeom prst="rect">
            <a:avLst/>
          </a:prstGeom>
          <a:noFill/>
          <a:ln/>
        </p:spPr>
        <p:txBody>
          <a:bodyPr wrap="square" lIns="0" tIns="0" rIns="0" bIns="0" rtlCol="0" anchor="ctr"/>
          <a:lstStyle/>
          <a:p>
            <a:pPr indent="0" marL="0">
              <a:buNone/>
            </a:pPr>
            <a:r>
              <a:rPr lang="en-US" sz="1250" b="1" spc="150" kern="0" dirty="0">
                <a:solidFill>
                  <a:srgbClr val="2B2B7A"/>
                </a:solidFill>
                <a:latin typeface="Calibri" pitchFamily="34" charset="0"/>
                <a:ea typeface="Calibri" pitchFamily="34" charset="-122"/>
                <a:cs typeface="Calibri" pitchFamily="34" charset="-120"/>
              </a:rPr>
              <a:t>CONFIDENTIALITY</a:t>
            </a:r>
            <a:endParaRPr lang="en-US" sz="1250" dirty="0"/>
          </a:p>
        </p:txBody>
      </p:sp>
      <p:sp>
        <p:nvSpPr>
          <p:cNvPr id="6" name="Text 4"/>
          <p:cNvSpPr txBox="1"/>
          <p:nvPr/>
        </p:nvSpPr>
        <p:spPr>
          <a:xfrm>
            <a:off x="896112" y="2651760"/>
            <a:ext cx="2972714" cy="32004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Information is only visible to people supposed to see it</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A password database should not be readable by an outside attacker</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Main tools: encryption and access control</a:t>
            </a:r>
            <a:endParaRPr lang="en-US" sz="1200" dirty="0"/>
          </a:p>
        </p:txBody>
      </p:sp>
      <p:sp>
        <p:nvSpPr>
          <p:cNvPr id="7" name="Shape 5"/>
          <p:cNvSpPr/>
          <p:nvPr/>
        </p:nvSpPr>
        <p:spPr>
          <a:xfrm>
            <a:off x="4353458" y="1965960"/>
            <a:ext cx="3484778" cy="4114800"/>
          </a:xfrm>
          <a:prstGeom prst="roundRect">
            <a:avLst>
              <a:gd name="adj" fmla="val 2362"/>
            </a:avLst>
          </a:prstGeom>
          <a:solidFill>
            <a:srgbClr val="F1F1F8"/>
          </a:solidFill>
          <a:ln w="12700">
            <a:solidFill>
              <a:srgbClr val="E2E2EE"/>
            </a:solidFill>
            <a:prstDash val="solid"/>
          </a:ln>
        </p:spPr>
        <p:txBody>
          <a:bodyPr/>
          <a:p/>
        </p:txBody>
      </p:sp>
      <p:sp>
        <p:nvSpPr>
          <p:cNvPr id="8" name="Text 6"/>
          <p:cNvSpPr txBox="1"/>
          <p:nvPr/>
        </p:nvSpPr>
        <p:spPr>
          <a:xfrm>
            <a:off x="4609490" y="2194560"/>
            <a:ext cx="2972714" cy="365760"/>
          </a:xfrm>
          <a:prstGeom prst="rect">
            <a:avLst/>
          </a:prstGeom>
          <a:noFill/>
          <a:ln/>
        </p:spPr>
        <p:txBody>
          <a:bodyPr wrap="square" lIns="0" tIns="0" rIns="0" bIns="0" rtlCol="0" anchor="ctr"/>
          <a:lstStyle/>
          <a:p>
            <a:pPr indent="0" marL="0">
              <a:buNone/>
            </a:pPr>
            <a:r>
              <a:rPr lang="en-US" sz="1250" b="1" spc="150" kern="0" dirty="0">
                <a:solidFill>
                  <a:srgbClr val="2B2B7A"/>
                </a:solidFill>
                <a:latin typeface="Calibri" pitchFamily="34" charset="0"/>
                <a:ea typeface="Calibri" pitchFamily="34" charset="-122"/>
                <a:cs typeface="Calibri" pitchFamily="34" charset="-120"/>
              </a:rPr>
              <a:t>INTEGRITY</a:t>
            </a:r>
            <a:endParaRPr lang="en-US" sz="1250" dirty="0"/>
          </a:p>
        </p:txBody>
      </p:sp>
      <p:sp>
        <p:nvSpPr>
          <p:cNvPr id="9" name="Text 7"/>
          <p:cNvSpPr txBox="1"/>
          <p:nvPr/>
        </p:nvSpPr>
        <p:spPr>
          <a:xfrm>
            <a:off x="4609490" y="2651760"/>
            <a:ext cx="2972714" cy="32004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Data can't be changed without authorization — and changes are detectable</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Nobody quietly edits a stored grade without a trace</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Main tools: checksums, digital signatures, access control</a:t>
            </a:r>
            <a:endParaRPr lang="en-US" sz="1200" dirty="0"/>
          </a:p>
        </p:txBody>
      </p:sp>
      <p:sp>
        <p:nvSpPr>
          <p:cNvPr id="10" name="Shape 8"/>
          <p:cNvSpPr/>
          <p:nvPr/>
        </p:nvSpPr>
        <p:spPr>
          <a:xfrm>
            <a:off x="8066837" y="1965960"/>
            <a:ext cx="3484778" cy="4114800"/>
          </a:xfrm>
          <a:prstGeom prst="roundRect">
            <a:avLst>
              <a:gd name="adj" fmla="val 2362"/>
            </a:avLst>
          </a:prstGeom>
          <a:solidFill>
            <a:srgbClr val="F1F1F8"/>
          </a:solidFill>
          <a:ln w="12700">
            <a:solidFill>
              <a:srgbClr val="E2E2EE"/>
            </a:solidFill>
            <a:prstDash val="solid"/>
          </a:ln>
        </p:spPr>
        <p:txBody>
          <a:bodyPr/>
          <a:p/>
        </p:txBody>
      </p:sp>
      <p:sp>
        <p:nvSpPr>
          <p:cNvPr id="11" name="Text 9"/>
          <p:cNvSpPr txBox="1"/>
          <p:nvPr/>
        </p:nvSpPr>
        <p:spPr>
          <a:xfrm>
            <a:off x="8322869" y="2194560"/>
            <a:ext cx="2972714" cy="365760"/>
          </a:xfrm>
          <a:prstGeom prst="rect">
            <a:avLst/>
          </a:prstGeom>
          <a:noFill/>
          <a:ln/>
        </p:spPr>
        <p:txBody>
          <a:bodyPr wrap="square" lIns="0" tIns="0" rIns="0" bIns="0" rtlCol="0" anchor="ctr"/>
          <a:lstStyle/>
          <a:p>
            <a:pPr indent="0" marL="0">
              <a:buNone/>
            </a:pPr>
            <a:r>
              <a:rPr lang="en-US" sz="1250" b="1" spc="150" kern="0" dirty="0">
                <a:solidFill>
                  <a:srgbClr val="E67528"/>
                </a:solidFill>
                <a:latin typeface="Calibri" pitchFamily="34" charset="0"/>
                <a:ea typeface="Calibri" pitchFamily="34" charset="-122"/>
                <a:cs typeface="Calibri" pitchFamily="34" charset="-120"/>
              </a:rPr>
              <a:t>AVAILABILITY</a:t>
            </a:r>
            <a:endParaRPr lang="en-US" sz="1250" dirty="0"/>
          </a:p>
        </p:txBody>
      </p:sp>
      <p:sp>
        <p:nvSpPr>
          <p:cNvPr id="12" name="Text 10"/>
          <p:cNvSpPr txBox="1"/>
          <p:nvPr/>
        </p:nvSpPr>
        <p:spPr>
          <a:xfrm>
            <a:off x="8322869" y="2651760"/>
            <a:ext cx="2972714" cy="32004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The system stays up and usable for legitimate users</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A denial-of-service attack floods a server to knock it offline</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Attacks availability without ever reading or changing data</a:t>
            </a:r>
            <a:endParaRPr lang="en-US" sz="1200" dirty="0"/>
          </a:p>
        </p:txBody>
      </p:sp>
      <p:sp>
        <p:nvSpPr>
          <p:cNvPr id="15"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LEAST PRIVILEGE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Give Only the Access That's Needed</a:t>
            </a:r>
            <a:endParaRPr lang="en-US" sz="3400" dirty="0"/>
          </a:p>
        </p:txBody>
      </p:sp>
      <p:sp>
        <p:nvSpPr>
          <p:cNvPr id="4" name="Shape 2"/>
          <p:cNvSpPr/>
          <p:nvPr/>
        </p:nvSpPr>
        <p:spPr>
          <a:xfrm>
            <a:off x="685800" y="1965960"/>
            <a:ext cx="457200" cy="457200"/>
          </a:xfrm>
          <a:prstGeom prst="ellipse">
            <a:avLst/>
          </a:prstGeom>
          <a:solidFill>
            <a:srgbClr val="FF8A3D"/>
          </a:solidFill>
          <a:ln/>
        </p:spPr>
        <p:txBody>
          <a:bodyPr/>
          <a:p/>
        </p:txBody>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Every user, process, or piece of code should have ONLY the permissions it strictly needs — nothing more</a:t>
            </a:r>
            <a:endParaRPr lang="en-US" sz="1500" dirty="0"/>
          </a:p>
        </p:txBody>
      </p:sp>
      <p:sp>
        <p:nvSpPr>
          <p:cNvPr id="7" name="Shape 5"/>
          <p:cNvSpPr/>
          <p:nvPr/>
        </p:nvSpPr>
        <p:spPr>
          <a:xfrm>
            <a:off x="685800" y="2788920"/>
            <a:ext cx="457200" cy="457200"/>
          </a:xfrm>
          <a:prstGeom prst="ellipse">
            <a:avLst/>
          </a:prstGeom>
          <a:solidFill>
            <a:srgbClr val="FF8A3D"/>
          </a:solidFill>
          <a:ln/>
        </p:spPr>
        <p:txBody>
          <a:bodyPr/>
          <a:p/>
        </p:txBody>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Example: if your API only reads/writes one collection, its DB user shouldn't be able to drop the whole database</a:t>
            </a:r>
            <a:endParaRPr lang="en-US" sz="1500" dirty="0"/>
          </a:p>
        </p:txBody>
      </p:sp>
      <p:sp>
        <p:nvSpPr>
          <p:cNvPr id="10" name="Shape 8"/>
          <p:cNvSpPr/>
          <p:nvPr/>
        </p:nvSpPr>
        <p:spPr>
          <a:xfrm>
            <a:off x="685800" y="3611880"/>
            <a:ext cx="457200" cy="457200"/>
          </a:xfrm>
          <a:prstGeom prst="ellipse">
            <a:avLst/>
          </a:prstGeom>
          <a:solidFill>
            <a:srgbClr val="FF8A3D"/>
          </a:solidFill>
          <a:ln/>
        </p:spPr>
        <p:txBody>
          <a:bodyPr/>
          <a:p/>
        </p:txBody>
      </p:sp>
      <p:sp>
        <p:nvSpPr>
          <p:cNvPr id="11" name="Text 9"/>
          <p:cNvSpPr txBox="1"/>
          <p:nvPr/>
        </p:nvSpPr>
        <p:spPr>
          <a:xfrm>
            <a:off x="685800" y="3611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53872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If an attacker compromises that account, least privilege limits how much damage they can do</a:t>
            </a:r>
            <a:endParaRPr lang="en-US" sz="1500" dirty="0"/>
          </a:p>
        </p:txBody>
      </p:sp>
      <p:sp>
        <p:nvSpPr>
          <p:cNvPr id="15"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LEAST PRIVILEGE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It Applies at Every Level</a:t>
            </a:r>
            <a:endParaRPr lang="en-US" sz="34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911535" cy="914400"/>
        </p:xfrm>
        <a:graphic>
          <a:graphicData uri="http://schemas.openxmlformats.org/drawingml/2006/table">
            <a:tbl>
              <a:tblPr/>
              <a:tblGrid>
                <a:gridCol w="2743200"/>
                <a:gridCol w="8229600"/>
              </a:tblGrid>
              <a:tr h="777240">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Level</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What Least Privilege Looks Like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r>
              <a:tr h="777240">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Operating system</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A web server process should not run as root / Administrator</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777240">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Database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The app's DB user gets only the read/write it actually needs</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777240">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Application</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A regular user can't reach admin-only actions; a read-only key can't write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777240">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Team</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Only developers who genuinely need production DB credentials get them</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bl>
          </a:graphicData>
        </a:graphic>
      </p:graphicFrame>
      <p:sp>
        <p:nvSpPr>
          <p:cNvPr id="10"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LEAST PRIVILEGE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The Question to Always Ask</a:t>
            </a:r>
            <a:endParaRPr lang="en-US" sz="3400" dirty="0"/>
          </a:p>
        </p:txBody>
      </p:sp>
      <p:sp>
        <p:nvSpPr>
          <p:cNvPr id="4" name="Shape 2"/>
          <p:cNvSpPr/>
          <p:nvPr/>
        </p:nvSpPr>
        <p:spPr>
          <a:xfrm>
            <a:off x="640080" y="1965960"/>
            <a:ext cx="10911535" cy="1554480"/>
          </a:xfrm>
          <a:prstGeom prst="roundRect">
            <a:avLst>
              <a:gd name="adj" fmla="val 3529"/>
            </a:avLst>
          </a:prstGeom>
          <a:solidFill>
            <a:srgbClr val="E6F6EE"/>
          </a:solidFill>
          <a:ln w="12700">
            <a:solidFill>
              <a:srgbClr val="3FA66B"/>
            </a:solidFill>
            <a:prstDash val="solid"/>
          </a:ln>
        </p:spPr>
        <p:txBody>
          <a:bodyPr/>
          <a:p/>
        </p:txBody>
      </p:sp>
      <p:sp>
        <p:nvSpPr>
          <p:cNvPr id="5" name="Text 3"/>
          <p:cNvSpPr txBox="1"/>
          <p:nvPr/>
        </p:nvSpPr>
        <p:spPr>
          <a:xfrm>
            <a:off x="868680" y="2103120"/>
            <a:ext cx="10454335" cy="274320"/>
          </a:xfrm>
          <a:prstGeom prst="rect">
            <a:avLst/>
          </a:prstGeom>
          <a:noFill/>
          <a:ln/>
        </p:spPr>
        <p:txBody>
          <a:bodyPr wrap="square" lIns="0" tIns="0" rIns="0" bIns="0" rtlCol="0" anchor="ctr"/>
          <a:lstStyle/>
          <a:p>
            <a:pPr indent="0" marL="0">
              <a:buNone/>
            </a:pPr>
            <a:r>
              <a:rPr lang="en-US" sz="1000" b="1" spc="200" kern="0" dirty="0">
                <a:solidFill>
                  <a:srgbClr val="1F7A46"/>
                </a:solidFill>
                <a:latin typeface="Calibri" pitchFamily="34" charset="0"/>
                <a:ea typeface="Calibri" pitchFamily="34" charset="-122"/>
                <a:cs typeface="Calibri" pitchFamily="34" charset="-120"/>
              </a:rPr>
              <a:t>TIP</a:t>
            </a:r>
            <a:endParaRPr lang="en-US" sz="1000" dirty="0"/>
          </a:p>
        </p:txBody>
      </p:sp>
      <p:sp>
        <p:nvSpPr>
          <p:cNvPr id="6" name="Text 4"/>
          <p:cNvSpPr txBox="1"/>
          <p:nvPr/>
        </p:nvSpPr>
        <p:spPr>
          <a:xfrm>
            <a:off x="868680" y="2404872"/>
            <a:ext cx="10454335" cy="960120"/>
          </a:xfrm>
          <a:prstGeom prst="rect">
            <a:avLst/>
          </a:prstGeom>
          <a:noFill/>
          <a:ln/>
        </p:spPr>
        <p:txBody>
          <a:bodyPr wrap="square" lIns="0" tIns="0" rIns="0" bIns="0" rtlCol="0" anchor="t"/>
          <a:lstStyle/>
          <a:p>
            <a:pPr indent="0" marL="0">
              <a:buNone/>
            </a:pPr>
            <a:r>
              <a:rPr lang="en-US" sz="1250" dirty="0">
                <a:solidFill>
                  <a:srgbClr val="26262F"/>
                </a:solidFill>
                <a:latin typeface="Calibri" pitchFamily="34" charset="0"/>
                <a:ea typeface="Calibri" pitchFamily="34" charset="-122"/>
                <a:cs typeface="Calibri" pitchFamily="34" charset="-120"/>
              </a:rPr>
              <a:t>"What is the SMALLEST set of permissions this needs to do its job?" Grant that, not more. It is much easier to add a permission later than to clean up after a breach caused by over-broad access.</a:t>
            </a:r>
            <a:endParaRPr lang="en-US" sz="1250" dirty="0"/>
          </a:p>
        </p:txBody>
      </p:sp>
      <p:sp>
        <p:nvSpPr>
          <p:cNvPr id="9"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DEFENCE IN DEPTH</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Never Rely on One Layer</a:t>
            </a:r>
            <a:endParaRPr lang="en-US" sz="3400" dirty="0"/>
          </a:p>
        </p:txBody>
      </p:sp>
      <p:sp>
        <p:nvSpPr>
          <p:cNvPr id="4" name="Shape 2"/>
          <p:cNvSpPr/>
          <p:nvPr/>
        </p:nvSpPr>
        <p:spPr>
          <a:xfrm>
            <a:off x="685800" y="1965960"/>
            <a:ext cx="457200" cy="457200"/>
          </a:xfrm>
          <a:prstGeom prst="ellipse">
            <a:avLst/>
          </a:prstGeom>
          <a:solidFill>
            <a:srgbClr val="FF8A3D"/>
          </a:solidFill>
          <a:ln/>
        </p:spPr>
        <p:txBody>
          <a:bodyPr/>
          <a:p/>
        </p:txBody>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Layer multiple, independent defences so that if one fails, others are still standing</a:t>
            </a:r>
            <a:endParaRPr lang="en-US" sz="1500" dirty="0"/>
          </a:p>
        </p:txBody>
      </p:sp>
      <p:sp>
        <p:nvSpPr>
          <p:cNvPr id="7" name="Shape 5"/>
          <p:cNvSpPr/>
          <p:nvPr/>
        </p:nvSpPr>
        <p:spPr>
          <a:xfrm>
            <a:off x="685800" y="2788920"/>
            <a:ext cx="457200" cy="457200"/>
          </a:xfrm>
          <a:prstGeom prst="ellipse">
            <a:avLst/>
          </a:prstGeom>
          <a:solidFill>
            <a:srgbClr val="FF8A3D"/>
          </a:solidFill>
          <a:ln/>
        </p:spPr>
        <p:txBody>
          <a:bodyPr/>
          <a:p/>
        </p:txBody>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Like a castle: not just a tall wall — also a moat, a drawbridge, guards, an inner keep</a:t>
            </a:r>
            <a:endParaRPr lang="en-US" sz="1500" dirty="0"/>
          </a:p>
        </p:txBody>
      </p:sp>
      <p:sp>
        <p:nvSpPr>
          <p:cNvPr id="10" name="Shape 8"/>
          <p:cNvSpPr/>
          <p:nvPr/>
        </p:nvSpPr>
        <p:spPr>
          <a:xfrm>
            <a:off x="685800" y="3611880"/>
            <a:ext cx="457200" cy="457200"/>
          </a:xfrm>
          <a:prstGeom prst="ellipse">
            <a:avLst/>
          </a:prstGeom>
          <a:solidFill>
            <a:srgbClr val="FF8A3D"/>
          </a:solidFill>
          <a:ln/>
        </p:spPr>
        <p:txBody>
          <a:bodyPr/>
          <a:p/>
        </p:txBody>
      </p:sp>
      <p:sp>
        <p:nvSpPr>
          <p:cNvPr id="11" name="Text 9"/>
          <p:cNvSpPr txBox="1"/>
          <p:nvPr/>
        </p:nvSpPr>
        <p:spPr>
          <a:xfrm>
            <a:off x="685800" y="3611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53872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If authentication alone had a bug, one flaw would expose your entire system</a:t>
            </a:r>
            <a:endParaRPr lang="en-US" sz="1500" dirty="0"/>
          </a:p>
        </p:txBody>
      </p:sp>
      <p:sp>
        <p:nvSpPr>
          <p:cNvPr id="15"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DEFENCE IN DEPTH</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Six Layers in a Web Application</a:t>
            </a:r>
            <a:endParaRPr lang="en-US" sz="3400" dirty="0"/>
          </a:p>
        </p:txBody>
      </p:sp>
      <p:sp>
        <p:nvSpPr>
          <p:cNvPr id="4" name="Shape 2"/>
          <p:cNvSpPr/>
          <p:nvPr/>
        </p:nvSpPr>
        <p:spPr>
          <a:xfrm>
            <a:off x="640080" y="2514600"/>
            <a:ext cx="1399489" cy="1371600"/>
          </a:xfrm>
          <a:prstGeom prst="roundRect">
            <a:avLst>
              <a:gd name="adj" fmla="val 5333"/>
            </a:avLst>
          </a:prstGeom>
          <a:solidFill>
            <a:srgbClr val="2B2B7A"/>
          </a:solidFill>
          <a:ln/>
        </p:spPr>
        <p:txBody>
          <a:bodyPr/>
          <a:p/>
        </p:txBody>
      </p:sp>
      <p:sp>
        <p:nvSpPr>
          <p:cNvPr id="5" name="Text 3"/>
          <p:cNvSpPr txBox="1"/>
          <p:nvPr/>
        </p:nvSpPr>
        <p:spPr>
          <a:xfrm>
            <a:off x="731520" y="2624328"/>
            <a:ext cx="1216609" cy="115214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Attacker</a:t>
            </a:r>
            <a:endParaRPr lang="en-US" sz="1250" dirty="0"/>
          </a:p>
        </p:txBody>
      </p:sp>
      <p:sp>
        <p:nvSpPr>
          <p:cNvPr id="6" name="Shape 4"/>
          <p:cNvSpPr/>
          <p:nvPr/>
        </p:nvSpPr>
        <p:spPr>
          <a:xfrm>
            <a:off x="2039569" y="3200400"/>
            <a:ext cx="502920" cy="0"/>
          </a:xfrm>
          <a:prstGeom prst="line">
            <a:avLst/>
          </a:prstGeom>
          <a:noFill/>
          <a:ln w="25400">
            <a:solidFill>
              <a:srgbClr val="5D5D72"/>
            </a:solidFill>
            <a:prstDash val="solid"/>
            <a:tailEnd type="triangle"/>
          </a:ln>
        </p:spPr>
        <p:txBody>
          <a:bodyPr/>
          <a:p/>
        </p:txBody>
      </p:sp>
      <p:sp>
        <p:nvSpPr>
          <p:cNvPr id="7" name="Shape 5"/>
          <p:cNvSpPr/>
          <p:nvPr/>
        </p:nvSpPr>
        <p:spPr>
          <a:xfrm>
            <a:off x="2542489" y="2514600"/>
            <a:ext cx="1399489" cy="1371600"/>
          </a:xfrm>
          <a:prstGeom prst="roundRect">
            <a:avLst>
              <a:gd name="adj" fmla="val 5333"/>
            </a:avLst>
          </a:prstGeom>
          <a:solidFill>
            <a:srgbClr val="2B2B7A"/>
          </a:solidFill>
          <a:ln/>
        </p:spPr>
        <p:txBody>
          <a:bodyPr/>
          <a:p/>
        </p:txBody>
      </p:sp>
      <p:sp>
        <p:nvSpPr>
          <p:cNvPr id="8" name="Text 6"/>
          <p:cNvSpPr txBox="1"/>
          <p:nvPr/>
        </p:nvSpPr>
        <p:spPr>
          <a:xfrm>
            <a:off x="2633929" y="2624328"/>
            <a:ext cx="1216609" cy="115214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1. HTTPS +</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firewall</a:t>
            </a:r>
            <a:endParaRPr lang="en-US" sz="1250" dirty="0"/>
          </a:p>
        </p:txBody>
      </p:sp>
      <p:sp>
        <p:nvSpPr>
          <p:cNvPr id="9" name="Shape 7"/>
          <p:cNvSpPr/>
          <p:nvPr/>
        </p:nvSpPr>
        <p:spPr>
          <a:xfrm>
            <a:off x="3941978" y="3200400"/>
            <a:ext cx="502920" cy="0"/>
          </a:xfrm>
          <a:prstGeom prst="line">
            <a:avLst/>
          </a:prstGeom>
          <a:noFill/>
          <a:ln w="25400">
            <a:solidFill>
              <a:srgbClr val="5D5D72"/>
            </a:solidFill>
            <a:prstDash val="solid"/>
            <a:tailEnd type="triangle"/>
          </a:ln>
        </p:spPr>
        <p:txBody>
          <a:bodyPr/>
          <a:p/>
        </p:txBody>
      </p:sp>
      <p:sp>
        <p:nvSpPr>
          <p:cNvPr id="10" name="Shape 8"/>
          <p:cNvSpPr/>
          <p:nvPr/>
        </p:nvSpPr>
        <p:spPr>
          <a:xfrm>
            <a:off x="4444898" y="2514600"/>
            <a:ext cx="1399489" cy="1371600"/>
          </a:xfrm>
          <a:prstGeom prst="roundRect">
            <a:avLst>
              <a:gd name="adj" fmla="val 5333"/>
            </a:avLst>
          </a:prstGeom>
          <a:solidFill>
            <a:srgbClr val="2B2B7A"/>
          </a:solidFill>
          <a:ln/>
        </p:spPr>
        <p:txBody>
          <a:bodyPr/>
          <a:p/>
        </p:txBody>
      </p:sp>
      <p:sp>
        <p:nvSpPr>
          <p:cNvPr id="11" name="Text 9"/>
          <p:cNvSpPr txBox="1"/>
          <p:nvPr/>
        </p:nvSpPr>
        <p:spPr>
          <a:xfrm>
            <a:off x="4536338" y="2624328"/>
            <a:ext cx="1216609" cy="115214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2. Input</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validation</a:t>
            </a:r>
            <a:endParaRPr lang="en-US" sz="1250" dirty="0"/>
          </a:p>
        </p:txBody>
      </p:sp>
      <p:sp>
        <p:nvSpPr>
          <p:cNvPr id="12" name="Shape 10"/>
          <p:cNvSpPr/>
          <p:nvPr/>
        </p:nvSpPr>
        <p:spPr>
          <a:xfrm>
            <a:off x="5844388" y="3200400"/>
            <a:ext cx="502920" cy="0"/>
          </a:xfrm>
          <a:prstGeom prst="line">
            <a:avLst/>
          </a:prstGeom>
          <a:noFill/>
          <a:ln w="25400">
            <a:solidFill>
              <a:srgbClr val="5D5D72"/>
            </a:solidFill>
            <a:prstDash val="solid"/>
            <a:tailEnd type="triangle"/>
          </a:ln>
        </p:spPr>
        <p:txBody>
          <a:bodyPr/>
          <a:p/>
        </p:txBody>
      </p:sp>
      <p:sp>
        <p:nvSpPr>
          <p:cNvPr id="13" name="Shape 11"/>
          <p:cNvSpPr/>
          <p:nvPr/>
        </p:nvSpPr>
        <p:spPr>
          <a:xfrm>
            <a:off x="6347308" y="2514600"/>
            <a:ext cx="1399489" cy="1371600"/>
          </a:xfrm>
          <a:prstGeom prst="roundRect">
            <a:avLst>
              <a:gd name="adj" fmla="val 5333"/>
            </a:avLst>
          </a:prstGeom>
          <a:solidFill>
            <a:srgbClr val="2B2B7A"/>
          </a:solidFill>
          <a:ln/>
        </p:spPr>
        <p:txBody>
          <a:bodyPr/>
          <a:p/>
        </p:txBody>
      </p:sp>
      <p:sp>
        <p:nvSpPr>
          <p:cNvPr id="14" name="Text 12"/>
          <p:cNvSpPr txBox="1"/>
          <p:nvPr/>
        </p:nvSpPr>
        <p:spPr>
          <a:xfrm>
            <a:off x="6438748" y="2624328"/>
            <a:ext cx="1216609" cy="115214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3. Authn &amp;</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authz</a:t>
            </a:r>
            <a:endParaRPr lang="en-US" sz="1250" dirty="0"/>
          </a:p>
        </p:txBody>
      </p:sp>
      <p:sp>
        <p:nvSpPr>
          <p:cNvPr id="15" name="Shape 13"/>
          <p:cNvSpPr/>
          <p:nvPr/>
        </p:nvSpPr>
        <p:spPr>
          <a:xfrm>
            <a:off x="7746797" y="3200400"/>
            <a:ext cx="502920" cy="0"/>
          </a:xfrm>
          <a:prstGeom prst="line">
            <a:avLst/>
          </a:prstGeom>
          <a:noFill/>
          <a:ln w="25400">
            <a:solidFill>
              <a:srgbClr val="5D5D72"/>
            </a:solidFill>
            <a:prstDash val="solid"/>
            <a:tailEnd type="triangle"/>
          </a:ln>
        </p:spPr>
        <p:txBody>
          <a:bodyPr/>
          <a:p/>
        </p:txBody>
      </p:sp>
      <p:sp>
        <p:nvSpPr>
          <p:cNvPr id="16" name="Shape 14"/>
          <p:cNvSpPr/>
          <p:nvPr/>
        </p:nvSpPr>
        <p:spPr>
          <a:xfrm>
            <a:off x="8249717" y="2514600"/>
            <a:ext cx="1399489" cy="1371600"/>
          </a:xfrm>
          <a:prstGeom prst="roundRect">
            <a:avLst>
              <a:gd name="adj" fmla="val 5333"/>
            </a:avLst>
          </a:prstGeom>
          <a:solidFill>
            <a:srgbClr val="2B2B7A"/>
          </a:solidFill>
          <a:ln/>
        </p:spPr>
        <p:txBody>
          <a:bodyPr/>
          <a:p/>
        </p:txBody>
      </p:sp>
      <p:sp>
        <p:nvSpPr>
          <p:cNvPr id="17" name="Text 15"/>
          <p:cNvSpPr txBox="1"/>
          <p:nvPr/>
        </p:nvSpPr>
        <p:spPr>
          <a:xfrm>
            <a:off x="8341157" y="2624328"/>
            <a:ext cx="1216609" cy="115214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4. Least-priv.</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DB user</a:t>
            </a:r>
            <a:endParaRPr lang="en-US" sz="1250" dirty="0"/>
          </a:p>
        </p:txBody>
      </p:sp>
      <p:sp>
        <p:nvSpPr>
          <p:cNvPr id="18" name="Shape 16"/>
          <p:cNvSpPr/>
          <p:nvPr/>
        </p:nvSpPr>
        <p:spPr>
          <a:xfrm>
            <a:off x="9649206" y="3200400"/>
            <a:ext cx="502920" cy="0"/>
          </a:xfrm>
          <a:prstGeom prst="line">
            <a:avLst/>
          </a:prstGeom>
          <a:noFill/>
          <a:ln w="25400">
            <a:solidFill>
              <a:srgbClr val="5D5D72"/>
            </a:solidFill>
            <a:prstDash val="solid"/>
            <a:tailEnd type="triangle"/>
          </a:ln>
        </p:spPr>
        <p:txBody>
          <a:bodyPr/>
          <a:p/>
        </p:txBody>
      </p:sp>
      <p:sp>
        <p:nvSpPr>
          <p:cNvPr id="19" name="Shape 17"/>
          <p:cNvSpPr/>
          <p:nvPr/>
        </p:nvSpPr>
        <p:spPr>
          <a:xfrm>
            <a:off x="10152126" y="2514600"/>
            <a:ext cx="1399489" cy="1371600"/>
          </a:xfrm>
          <a:prstGeom prst="roundRect">
            <a:avLst>
              <a:gd name="adj" fmla="val 5333"/>
            </a:avLst>
          </a:prstGeom>
          <a:solidFill>
            <a:srgbClr val="E67528"/>
          </a:solidFill>
          <a:ln/>
        </p:spPr>
        <p:txBody>
          <a:bodyPr/>
          <a:p/>
        </p:txBody>
      </p:sp>
      <p:sp>
        <p:nvSpPr>
          <p:cNvPr id="20" name="Text 18"/>
          <p:cNvSpPr txBox="1"/>
          <p:nvPr/>
        </p:nvSpPr>
        <p:spPr>
          <a:xfrm>
            <a:off x="10243566" y="2624328"/>
            <a:ext cx="1216609" cy="115214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5. Encrypted,</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backed-up data</a:t>
            </a:r>
            <a:endParaRPr lang="en-US" sz="1250" dirty="0"/>
          </a:p>
        </p:txBody>
      </p:sp>
      <p:sp>
        <p:nvSpPr>
          <p:cNvPr id="21" name="Text 19"/>
          <p:cNvSpPr txBox="1"/>
          <p:nvPr/>
        </p:nvSpPr>
        <p:spPr>
          <a:xfrm>
            <a:off x="640080" y="4343400"/>
            <a:ext cx="10911535" cy="137160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With only step 3 (authentication) and nothing else, one login bug could expose everything. With defence in depth, one failure does not mean total compromise.</a:t>
            </a:r>
            <a:endParaRPr lang="en-US" sz="1300" dirty="0"/>
          </a:p>
        </p:txBody>
      </p:sp>
      <p:sp>
        <p:nvSpPr>
          <p:cNvPr id="24"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HTTPS &amp; TLS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Plain HTTP Is Not Safe</a:t>
            </a:r>
            <a:endParaRPr lang="en-US" sz="3400" dirty="0"/>
          </a:p>
        </p:txBody>
      </p:sp>
      <p:sp>
        <p:nvSpPr>
          <p:cNvPr id="4" name="Shape 2"/>
          <p:cNvSpPr/>
          <p:nvPr/>
        </p:nvSpPr>
        <p:spPr>
          <a:xfrm>
            <a:off x="685800" y="1965960"/>
            <a:ext cx="457200" cy="457200"/>
          </a:xfrm>
          <a:prstGeom prst="ellipse">
            <a:avLst/>
          </a:prstGeom>
          <a:solidFill>
            <a:srgbClr val="FF8A3D"/>
          </a:solidFill>
          <a:ln/>
        </p:spPr>
        <p:txBody>
          <a:bodyPr/>
          <a:p/>
        </p:txBody>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HTTP sends data as plain text — anyone intercepting traffic (shared Wi-Fi, your ISP) can read it, including passwords</a:t>
            </a:r>
            <a:endParaRPr lang="en-US" sz="1500" dirty="0"/>
          </a:p>
        </p:txBody>
      </p:sp>
      <p:sp>
        <p:nvSpPr>
          <p:cNvPr id="7" name="Shape 5"/>
          <p:cNvSpPr/>
          <p:nvPr/>
        </p:nvSpPr>
        <p:spPr>
          <a:xfrm>
            <a:off x="685800" y="2788920"/>
            <a:ext cx="457200" cy="457200"/>
          </a:xfrm>
          <a:prstGeom prst="ellipse">
            <a:avLst/>
          </a:prstGeom>
          <a:solidFill>
            <a:srgbClr val="FF8A3D"/>
          </a:solidFill>
          <a:ln/>
        </p:spPr>
        <p:txBody>
          <a:bodyPr/>
          <a:p/>
        </p:txBody>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HTTPS = HTTP layered on top of TLS (Transport Layer Security), which encrypts the connection</a:t>
            </a:r>
            <a:endParaRPr lang="en-US" sz="1500" dirty="0"/>
          </a:p>
        </p:txBody>
      </p:sp>
      <p:sp>
        <p:nvSpPr>
          <p:cNvPr id="10" name="Shape 8"/>
          <p:cNvSpPr/>
          <p:nvPr/>
        </p:nvSpPr>
        <p:spPr>
          <a:xfrm>
            <a:off x="685800" y="3611880"/>
            <a:ext cx="457200" cy="457200"/>
          </a:xfrm>
          <a:prstGeom prst="ellipse">
            <a:avLst/>
          </a:prstGeom>
          <a:solidFill>
            <a:srgbClr val="FF8A3D"/>
          </a:solidFill>
          <a:ln/>
        </p:spPr>
        <p:txBody>
          <a:bodyPr/>
          <a:p/>
        </p:txBody>
      </p:sp>
      <p:sp>
        <p:nvSpPr>
          <p:cNvPr id="11" name="Text 9"/>
          <p:cNvSpPr txBox="1"/>
          <p:nvPr/>
        </p:nvSpPr>
        <p:spPr>
          <a:xfrm>
            <a:off x="685800" y="3611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53872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TLS is the modern successor to SSL — people still say "SSL" out of habit, though SSL itself is obsolete</a:t>
            </a:r>
            <a:endParaRPr lang="en-US" sz="1500" dirty="0"/>
          </a:p>
        </p:txBody>
      </p:sp>
      <p:sp>
        <p:nvSpPr>
          <p:cNvPr id="15"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HTTPS &amp; TLS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What HTTPS Gives You — Mapped to CIA</a:t>
            </a:r>
            <a:endParaRPr lang="en-US" sz="34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911535" cy="914400"/>
        </p:xfrm>
        <a:graphic>
          <a:graphicData uri="http://schemas.openxmlformats.org/drawingml/2006/table">
            <a:tbl>
              <a:tblPr/>
              <a:tblGrid>
                <a:gridCol w="4572000"/>
                <a:gridCol w="6400800"/>
              </a:tblGrid>
              <a:tr h="777240">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HTTPS Provides</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CIA Property Protected</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r>
              <a:tr h="777240">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Encryption — nobody eavesdropping can read the traffic</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Confidentiality</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777240">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Integrity — data can't be silently modified in transit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Integrity</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777240">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Authentication of the server via a certificate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(Confirms identity, backs both)</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bl>
          </a:graphicData>
        </a:graphic>
      </p:graphicFrame>
      <p:sp>
        <p:nvSpPr>
          <p:cNvPr id="15"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HTTPS &amp; TLS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Certificates and Certificate Authorities</a:t>
            </a:r>
            <a:endParaRPr lang="en-US" sz="3400" dirty="0"/>
          </a:p>
        </p:txBody>
      </p:sp>
      <p:sp>
        <p:nvSpPr>
          <p:cNvPr id="4" name="Shape 2"/>
          <p:cNvSpPr/>
          <p:nvPr/>
        </p:nvSpPr>
        <p:spPr>
          <a:xfrm>
            <a:off x="685800" y="1965960"/>
            <a:ext cx="457200" cy="457200"/>
          </a:xfrm>
          <a:prstGeom prst="ellipse">
            <a:avLst/>
          </a:prstGeom>
          <a:solidFill>
            <a:srgbClr val="FF8A3D"/>
          </a:solidFill>
          <a:ln/>
        </p:spPr>
        <p:txBody>
          <a:bodyPr/>
          <a:p/>
        </p:txBody>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A TLS certificate is a digital document proving a server's identity + its public key</a:t>
            </a:r>
            <a:endParaRPr lang="en-US" sz="1500" dirty="0"/>
          </a:p>
        </p:txBody>
      </p:sp>
      <p:sp>
        <p:nvSpPr>
          <p:cNvPr id="7" name="Shape 5"/>
          <p:cNvSpPr/>
          <p:nvPr/>
        </p:nvSpPr>
        <p:spPr>
          <a:xfrm>
            <a:off x="685800" y="2788920"/>
            <a:ext cx="457200" cy="457200"/>
          </a:xfrm>
          <a:prstGeom prst="ellipse">
            <a:avLst/>
          </a:prstGeom>
          <a:solidFill>
            <a:srgbClr val="FF8A3D"/>
          </a:solidFill>
          <a:ln/>
        </p:spPr>
        <p:txBody>
          <a:bodyPr/>
          <a:p/>
        </p:txBody>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Issued by trusted organizations called Certificate Authorities (CAs)</a:t>
            </a:r>
            <a:endParaRPr lang="en-US" sz="1500" dirty="0"/>
          </a:p>
        </p:txBody>
      </p:sp>
      <p:sp>
        <p:nvSpPr>
          <p:cNvPr id="10" name="Shape 8"/>
          <p:cNvSpPr/>
          <p:nvPr/>
        </p:nvSpPr>
        <p:spPr>
          <a:xfrm>
            <a:off x="685800" y="3611880"/>
            <a:ext cx="457200" cy="457200"/>
          </a:xfrm>
          <a:prstGeom prst="ellipse">
            <a:avLst/>
          </a:prstGeom>
          <a:solidFill>
            <a:srgbClr val="FF8A3D"/>
          </a:solidFill>
          <a:ln/>
        </p:spPr>
        <p:txBody>
          <a:bodyPr/>
          <a:p/>
        </p:txBody>
      </p:sp>
      <p:sp>
        <p:nvSpPr>
          <p:cNvPr id="11" name="Text 9"/>
          <p:cNvSpPr txBox="1"/>
          <p:nvPr/>
        </p:nvSpPr>
        <p:spPr>
          <a:xfrm>
            <a:off x="685800" y="3611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53872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If a certificate is missing, expired, or doesn't match the domain, the browser warns instead of loading the page</a:t>
            </a:r>
            <a:endParaRPr lang="en-US" sz="1500" dirty="0"/>
          </a:p>
        </p:txBody>
      </p:sp>
      <p:sp>
        <p:nvSpPr>
          <p:cNvPr id="15"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14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HTTPS &amp; TLS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The TLS Handshake</a:t>
            </a:r>
            <a:endParaRPr lang="en-US" sz="3400" dirty="0"/>
          </a:p>
        </p:txBody>
      </p:sp>
      <p:sp>
        <p:nvSpPr>
          <p:cNvPr id="4" name="Shape 2"/>
          <p:cNvSpPr/>
          <p:nvPr/>
        </p:nvSpPr>
        <p:spPr>
          <a:xfrm>
            <a:off x="640080" y="2514600"/>
            <a:ext cx="1779971" cy="1371600"/>
          </a:xfrm>
          <a:prstGeom prst="roundRect">
            <a:avLst>
              <a:gd name="adj" fmla="val 5333"/>
            </a:avLst>
          </a:prstGeom>
          <a:solidFill>
            <a:srgbClr val="2B2B7A"/>
          </a:solidFill>
          <a:ln/>
        </p:spPr>
        <p:txBody>
          <a:bodyPr/>
          <a:p/>
        </p:txBody>
      </p:sp>
      <p:sp>
        <p:nvSpPr>
          <p:cNvPr id="5" name="Text 3"/>
          <p:cNvSpPr txBox="1"/>
          <p:nvPr/>
        </p:nvSpPr>
        <p:spPr>
          <a:xfrm>
            <a:off x="731520" y="2624328"/>
            <a:ext cx="1597091" cy="115214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Browser: "let's</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connect securely"</a:t>
            </a:r>
            <a:endParaRPr lang="en-US" sz="1250" dirty="0"/>
          </a:p>
        </p:txBody>
      </p:sp>
      <p:sp>
        <p:nvSpPr>
          <p:cNvPr id="6" name="Shape 4"/>
          <p:cNvSpPr/>
          <p:nvPr/>
        </p:nvSpPr>
        <p:spPr>
          <a:xfrm>
            <a:off x="2420051" y="3200400"/>
            <a:ext cx="502920" cy="0"/>
          </a:xfrm>
          <a:prstGeom prst="line">
            <a:avLst/>
          </a:prstGeom>
          <a:noFill/>
          <a:ln w="25400">
            <a:solidFill>
              <a:srgbClr val="5D5D72"/>
            </a:solidFill>
            <a:prstDash val="solid"/>
            <a:tailEnd type="triangle"/>
          </a:ln>
        </p:spPr>
        <p:txBody>
          <a:bodyPr/>
          <a:p/>
        </p:txBody>
      </p:sp>
      <p:sp>
        <p:nvSpPr>
          <p:cNvPr id="7" name="Shape 5"/>
          <p:cNvSpPr/>
          <p:nvPr/>
        </p:nvSpPr>
        <p:spPr>
          <a:xfrm>
            <a:off x="2922971" y="2514600"/>
            <a:ext cx="1779971" cy="1371600"/>
          </a:xfrm>
          <a:prstGeom prst="roundRect">
            <a:avLst>
              <a:gd name="adj" fmla="val 5333"/>
            </a:avLst>
          </a:prstGeom>
          <a:solidFill>
            <a:srgbClr val="2B2B7A"/>
          </a:solidFill>
          <a:ln/>
        </p:spPr>
        <p:txBody>
          <a:bodyPr/>
          <a:p/>
        </p:txBody>
      </p:sp>
      <p:sp>
        <p:nvSpPr>
          <p:cNvPr id="8" name="Text 6"/>
          <p:cNvSpPr txBox="1"/>
          <p:nvPr/>
        </p:nvSpPr>
        <p:spPr>
          <a:xfrm>
            <a:off x="3014411" y="2624328"/>
            <a:ext cx="1597091" cy="115214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Server sends</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its certificate</a:t>
            </a:r>
            <a:endParaRPr lang="en-US" sz="1250" dirty="0"/>
          </a:p>
        </p:txBody>
      </p:sp>
      <p:sp>
        <p:nvSpPr>
          <p:cNvPr id="9" name="Shape 7"/>
          <p:cNvSpPr/>
          <p:nvPr/>
        </p:nvSpPr>
        <p:spPr>
          <a:xfrm>
            <a:off x="4702942" y="3200400"/>
            <a:ext cx="502920" cy="0"/>
          </a:xfrm>
          <a:prstGeom prst="line">
            <a:avLst/>
          </a:prstGeom>
          <a:noFill/>
          <a:ln w="25400">
            <a:solidFill>
              <a:srgbClr val="5D5D72"/>
            </a:solidFill>
            <a:prstDash val="solid"/>
            <a:tailEnd type="triangle"/>
          </a:ln>
        </p:spPr>
        <p:txBody>
          <a:bodyPr/>
          <a:p/>
        </p:txBody>
      </p:sp>
      <p:sp>
        <p:nvSpPr>
          <p:cNvPr id="10" name="Shape 8"/>
          <p:cNvSpPr/>
          <p:nvPr/>
        </p:nvSpPr>
        <p:spPr>
          <a:xfrm>
            <a:off x="5205862" y="2514600"/>
            <a:ext cx="1779971" cy="1371600"/>
          </a:xfrm>
          <a:prstGeom prst="roundRect">
            <a:avLst>
              <a:gd name="adj" fmla="val 5333"/>
            </a:avLst>
          </a:prstGeom>
          <a:solidFill>
            <a:srgbClr val="2B2B7A"/>
          </a:solidFill>
          <a:ln/>
        </p:spPr>
        <p:txBody>
          <a:bodyPr/>
          <a:p/>
        </p:txBody>
      </p:sp>
      <p:sp>
        <p:nvSpPr>
          <p:cNvPr id="11" name="Text 9"/>
          <p:cNvSpPr txBox="1"/>
          <p:nvPr/>
        </p:nvSpPr>
        <p:spPr>
          <a:xfrm>
            <a:off x="5297302" y="2624328"/>
            <a:ext cx="1597091" cy="115214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Browser checks</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CA + domain match</a:t>
            </a:r>
            <a:endParaRPr lang="en-US" sz="1250" dirty="0"/>
          </a:p>
        </p:txBody>
      </p:sp>
      <p:sp>
        <p:nvSpPr>
          <p:cNvPr id="12" name="Shape 10"/>
          <p:cNvSpPr/>
          <p:nvPr/>
        </p:nvSpPr>
        <p:spPr>
          <a:xfrm>
            <a:off x="6985833" y="3200400"/>
            <a:ext cx="502920" cy="0"/>
          </a:xfrm>
          <a:prstGeom prst="line">
            <a:avLst/>
          </a:prstGeom>
          <a:noFill/>
          <a:ln w="25400">
            <a:solidFill>
              <a:srgbClr val="5D5D72"/>
            </a:solidFill>
            <a:prstDash val="solid"/>
            <a:tailEnd type="triangle"/>
          </a:ln>
        </p:spPr>
        <p:txBody>
          <a:bodyPr/>
          <a:p/>
        </p:txBody>
      </p:sp>
      <p:sp>
        <p:nvSpPr>
          <p:cNvPr id="13" name="Shape 11"/>
          <p:cNvSpPr/>
          <p:nvPr/>
        </p:nvSpPr>
        <p:spPr>
          <a:xfrm>
            <a:off x="7488753" y="2514600"/>
            <a:ext cx="1779971" cy="1371600"/>
          </a:xfrm>
          <a:prstGeom prst="roundRect">
            <a:avLst>
              <a:gd name="adj" fmla="val 5333"/>
            </a:avLst>
          </a:prstGeom>
          <a:solidFill>
            <a:srgbClr val="2B2B7A"/>
          </a:solidFill>
          <a:ln/>
        </p:spPr>
        <p:txBody>
          <a:bodyPr/>
          <a:p/>
        </p:txBody>
      </p:sp>
      <p:sp>
        <p:nvSpPr>
          <p:cNvPr id="14" name="Text 12"/>
          <p:cNvSpPr txBox="1"/>
          <p:nvPr/>
        </p:nvSpPr>
        <p:spPr>
          <a:xfrm>
            <a:off x="7580193" y="2624328"/>
            <a:ext cx="1597091" cy="115214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Both negotiate</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an encryption key</a:t>
            </a:r>
            <a:endParaRPr lang="en-US" sz="1250" dirty="0"/>
          </a:p>
        </p:txBody>
      </p:sp>
      <p:sp>
        <p:nvSpPr>
          <p:cNvPr id="15" name="Shape 13"/>
          <p:cNvSpPr/>
          <p:nvPr/>
        </p:nvSpPr>
        <p:spPr>
          <a:xfrm>
            <a:off x="9268724" y="3200400"/>
            <a:ext cx="502920" cy="0"/>
          </a:xfrm>
          <a:prstGeom prst="line">
            <a:avLst/>
          </a:prstGeom>
          <a:noFill/>
          <a:ln w="25400">
            <a:solidFill>
              <a:srgbClr val="5D5D72"/>
            </a:solidFill>
            <a:prstDash val="solid"/>
            <a:tailEnd type="triangle"/>
          </a:ln>
        </p:spPr>
        <p:txBody>
          <a:bodyPr/>
          <a:p/>
        </p:txBody>
      </p:sp>
      <p:sp>
        <p:nvSpPr>
          <p:cNvPr id="16" name="Shape 14"/>
          <p:cNvSpPr/>
          <p:nvPr/>
        </p:nvSpPr>
        <p:spPr>
          <a:xfrm>
            <a:off x="9771644" y="2514600"/>
            <a:ext cx="1779971" cy="1371600"/>
          </a:xfrm>
          <a:prstGeom prst="roundRect">
            <a:avLst>
              <a:gd name="adj" fmla="val 5333"/>
            </a:avLst>
          </a:prstGeom>
          <a:solidFill>
            <a:srgbClr val="E67528"/>
          </a:solidFill>
          <a:ln/>
        </p:spPr>
        <p:txBody>
          <a:bodyPr/>
          <a:p/>
        </p:txBody>
      </p:sp>
      <p:sp>
        <p:nvSpPr>
          <p:cNvPr id="17" name="Text 15"/>
          <p:cNvSpPr txBox="1"/>
          <p:nvPr/>
        </p:nvSpPr>
        <p:spPr>
          <a:xfrm>
            <a:off x="9863084" y="2624328"/>
            <a:ext cx="1597091" cy="115214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All further</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traffic encrypted</a:t>
            </a:r>
            <a:endParaRPr lang="en-US" sz="1250" dirty="0"/>
          </a:p>
        </p:txBody>
      </p:sp>
      <p:sp>
        <p:nvSpPr>
          <p:cNvPr id="18" name="Text 16"/>
          <p:cNvSpPr txBox="1"/>
          <p:nvPr/>
        </p:nvSpPr>
        <p:spPr>
          <a:xfrm>
            <a:off x="640080" y="4343400"/>
            <a:ext cx="10911535" cy="137160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The server obtained its certificate from a CA in advance — the browser only has to verify it, not request one on the spot.</a:t>
            </a:r>
            <a:endParaRPr lang="en-US" sz="1300" dirty="0"/>
          </a:p>
        </p:txBody>
      </p:sp>
      <p:sp>
        <p:nvSpPr>
          <p:cNvPr id="21"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15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HTTPS &amp; TLS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HTTPS Got Easy</a:t>
            </a:r>
            <a:endParaRPr lang="en-US" sz="3400" dirty="0"/>
          </a:p>
        </p:txBody>
      </p:sp>
      <p:sp>
        <p:nvSpPr>
          <p:cNvPr id="4" name="Shape 2"/>
          <p:cNvSpPr/>
          <p:nvPr/>
        </p:nvSpPr>
        <p:spPr>
          <a:xfrm>
            <a:off x="640080" y="1965960"/>
            <a:ext cx="10911535" cy="1645920"/>
          </a:xfrm>
          <a:prstGeom prst="roundRect">
            <a:avLst>
              <a:gd name="adj" fmla="val 3333"/>
            </a:avLst>
          </a:prstGeom>
          <a:solidFill>
            <a:srgbClr val="E6F6EE"/>
          </a:solidFill>
          <a:ln w="12700">
            <a:solidFill>
              <a:srgbClr val="3FA66B"/>
            </a:solidFill>
            <a:prstDash val="solid"/>
          </a:ln>
        </p:spPr>
        <p:txBody>
          <a:bodyPr/>
          <a:p/>
        </p:txBody>
      </p:sp>
      <p:sp>
        <p:nvSpPr>
          <p:cNvPr id="5" name="Text 3"/>
          <p:cNvSpPr txBox="1"/>
          <p:nvPr/>
        </p:nvSpPr>
        <p:spPr>
          <a:xfrm>
            <a:off x="868680" y="2103120"/>
            <a:ext cx="10454335" cy="274320"/>
          </a:xfrm>
          <a:prstGeom prst="rect">
            <a:avLst/>
          </a:prstGeom>
          <a:noFill/>
          <a:ln/>
        </p:spPr>
        <p:txBody>
          <a:bodyPr wrap="square" lIns="0" tIns="0" rIns="0" bIns="0" rtlCol="0" anchor="ctr"/>
          <a:lstStyle/>
          <a:p>
            <a:pPr indent="0" marL="0">
              <a:buNone/>
            </a:pPr>
            <a:r>
              <a:rPr lang="en-US" sz="1000" b="1" spc="200" kern="0" dirty="0">
                <a:solidFill>
                  <a:srgbClr val="1F7A46"/>
                </a:solidFill>
                <a:latin typeface="Calibri" pitchFamily="34" charset="0"/>
                <a:ea typeface="Calibri" pitchFamily="34" charset="-122"/>
                <a:cs typeface="Calibri" pitchFamily="34" charset="-120"/>
              </a:rPr>
              <a:t>TIP</a:t>
            </a:r>
            <a:endParaRPr lang="en-US" sz="1000" dirty="0"/>
          </a:p>
        </p:txBody>
      </p:sp>
      <p:sp>
        <p:nvSpPr>
          <p:cNvPr id="6" name="Text 4"/>
          <p:cNvSpPr txBox="1"/>
          <p:nvPr/>
        </p:nvSpPr>
        <p:spPr>
          <a:xfrm>
            <a:off x="868680" y="2404872"/>
            <a:ext cx="10454335" cy="1051560"/>
          </a:xfrm>
          <a:prstGeom prst="rect">
            <a:avLst/>
          </a:prstGeom>
          <a:noFill/>
          <a:ln/>
        </p:spPr>
        <p:txBody>
          <a:bodyPr wrap="square" lIns="0" tIns="0" rIns="0" bIns="0" rtlCol="0" anchor="t"/>
          <a:lstStyle/>
          <a:p>
            <a:pPr indent="0" marL="0">
              <a:buNone/>
            </a:pPr>
            <a:r>
              <a:rPr lang="en-US" sz="1250" dirty="0">
                <a:solidFill>
                  <a:srgbClr val="26262F"/>
                </a:solidFill>
                <a:latin typeface="Calibri" pitchFamily="34" charset="0"/>
                <a:ea typeface="Calibri" pitchFamily="34" charset="-122"/>
                <a:cs typeface="Calibri" pitchFamily="34" charset="-120"/>
              </a:rPr>
              <a:t>Free, automated certificate services like Let's Encrypt made HTTPS free and easy, which is why almost the entire web uses it by default. Most hosting platforms (Lecture 32) issue and renew certificates for you automatically.</a:t>
            </a:r>
            <a:endParaRPr lang="en-US" sz="1250" dirty="0"/>
          </a:p>
        </p:txBody>
      </p:sp>
      <p:sp>
        <p:nvSpPr>
          <p:cNvPr id="9"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16</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RESPONSE HEADERS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Security-Related HTTP Response Headers</a:t>
            </a:r>
            <a:endParaRPr lang="en-US" sz="34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911535" cy="914400"/>
        </p:xfrm>
        <a:graphic>
          <a:graphicData uri="http://schemas.openxmlformats.org/drawingml/2006/table">
            <a:tbl>
              <a:tblPr/>
              <a:tblGrid>
                <a:gridCol w="3657600"/>
                <a:gridCol w="7315200"/>
              </a:tblGrid>
              <a:tr h="777240">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Header</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What It Does</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r>
              <a:tr h="777240">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Strict-Transport-Security</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"Always use HTTPS for this site" — even if the user types http://</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777240">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X-Content-Type-Options: nosniff</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Stops the browser guessing a file's type — blocks disguised malicious files</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777240">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X-Frame-Options</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Controls whether your page can load inside an &lt;iframe&gt; — prevents clickjacking</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777240">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Content-Security-Policy</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Restricts what sources of scripts/styles/resources a page can load</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bl>
          </a:graphicData>
        </a:graphic>
      </p:graphicFrame>
      <p:sp>
        <p:nvSpPr>
          <p:cNvPr id="19"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17</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RESPONSE HEADERS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A Shortcut: the helmet Middleware</a:t>
            </a:r>
            <a:endParaRPr lang="en-US" sz="3400" dirty="0"/>
          </a:p>
        </p:txBody>
      </p:sp>
      <p:sp>
        <p:nvSpPr>
          <p:cNvPr id="4" name="Shape 2"/>
          <p:cNvSpPr/>
          <p:nvPr/>
        </p:nvSpPr>
        <p:spPr>
          <a:xfrm>
            <a:off x="640080" y="1965960"/>
            <a:ext cx="10911535" cy="1882140"/>
          </a:xfrm>
          <a:prstGeom prst="roundRect">
            <a:avLst>
              <a:gd name="adj" fmla="val 3887"/>
            </a:avLst>
          </a:prstGeom>
          <a:solidFill>
            <a:srgbClr val="1E1E4C"/>
          </a:solidFill>
          <a:ln/>
        </p:spPr>
        <p:txBody>
          <a:bodyPr/>
          <a:p/>
        </p:txBody>
      </p:sp>
      <p:sp>
        <p:nvSpPr>
          <p:cNvPr id="5" name="Text 3"/>
          <p:cNvSpPr txBox="1"/>
          <p:nvPr/>
        </p:nvSpPr>
        <p:spPr>
          <a:xfrm>
            <a:off x="960120" y="2194560"/>
            <a:ext cx="10271455" cy="14249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const express = require("express");</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const helmet = require("helmet");</a:t>
            </a:r>
            <a:endParaRPr lang="en-US" sz="1400" dirty="0"/>
          </a:p>
          <a:p>
            <a:pPr indent="0" marL="0">
              <a:lnSpc>
                <a:spcPct val="125000"/>
              </a:lnSpc>
              <a:buNone/>
            </a:pP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const app = express();</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app.use(helmet()); // sets several security headers with good defaults</a:t>
            </a:r>
            <a:endParaRPr lang="en-US" sz="1400" dirty="0"/>
          </a:p>
        </p:txBody>
      </p:sp>
      <p:sp>
        <p:nvSpPr>
          <p:cNvPr id="8"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18</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AUTHN VS. AUTHZ</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Two Different Questions</a:t>
            </a:r>
            <a:endParaRPr lang="en-US" sz="3400" dirty="0"/>
          </a:p>
        </p:txBody>
      </p:sp>
      <p:sp>
        <p:nvSpPr>
          <p:cNvPr id="4" name="Shape 2"/>
          <p:cNvSpPr/>
          <p:nvPr/>
        </p:nvSpPr>
        <p:spPr>
          <a:xfrm>
            <a:off x="640080" y="1965960"/>
            <a:ext cx="5341468" cy="4114800"/>
          </a:xfrm>
          <a:prstGeom prst="roundRect">
            <a:avLst>
              <a:gd name="adj" fmla="val 2000"/>
            </a:avLst>
          </a:prstGeom>
          <a:solidFill>
            <a:srgbClr val="F1F1F8"/>
          </a:solidFill>
          <a:ln w="12700">
            <a:solidFill>
              <a:srgbClr val="E2E2EE"/>
            </a:solidFill>
            <a:prstDash val="solid"/>
          </a:ln>
        </p:spPr>
        <p:txBody>
          <a:bodyPr/>
          <a:p/>
        </p:txBody>
      </p:sp>
      <p:sp>
        <p:nvSpPr>
          <p:cNvPr id="5" name="Text 3"/>
          <p:cNvSpPr txBox="1"/>
          <p:nvPr/>
        </p:nvSpPr>
        <p:spPr>
          <a:xfrm>
            <a:off x="896112" y="2194560"/>
            <a:ext cx="4829404" cy="365760"/>
          </a:xfrm>
          <a:prstGeom prst="rect">
            <a:avLst/>
          </a:prstGeom>
          <a:noFill/>
          <a:ln/>
        </p:spPr>
        <p:txBody>
          <a:bodyPr wrap="square" lIns="0" tIns="0" rIns="0" bIns="0" rtlCol="0" anchor="ctr"/>
          <a:lstStyle/>
          <a:p>
            <a:pPr indent="0" marL="0">
              <a:buNone/>
            </a:pPr>
            <a:r>
              <a:rPr lang="en-US" sz="1250" b="1" spc="150" kern="0" dirty="0">
                <a:solidFill>
                  <a:srgbClr val="2B2B7A"/>
                </a:solidFill>
                <a:latin typeface="Calibri" pitchFamily="34" charset="0"/>
                <a:ea typeface="Calibri" pitchFamily="34" charset="-122"/>
                <a:cs typeface="Calibri" pitchFamily="34" charset="-120"/>
              </a:rPr>
              <a:t>AUTHENTICATION</a:t>
            </a:r>
            <a:endParaRPr lang="en-US" sz="1250" dirty="0"/>
          </a:p>
        </p:txBody>
      </p:sp>
      <p:sp>
        <p:nvSpPr>
          <p:cNvPr id="6" name="Text 4"/>
          <p:cNvSpPr txBox="1"/>
          <p:nvPr/>
        </p:nvSpPr>
        <p:spPr>
          <a:xfrm>
            <a:off x="896112" y="2651760"/>
            <a:ext cx="4829404" cy="32004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"Who are you?"</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Verifying an identity — a password, a token, a proof</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Like showing your student ID at the university gate</a:t>
            </a:r>
            <a:endParaRPr lang="en-US" sz="1200" dirty="0"/>
          </a:p>
        </p:txBody>
      </p:sp>
      <p:sp>
        <p:nvSpPr>
          <p:cNvPr id="7" name="Shape 5"/>
          <p:cNvSpPr/>
          <p:nvPr/>
        </p:nvSpPr>
        <p:spPr>
          <a:xfrm>
            <a:off x="6210148" y="1965960"/>
            <a:ext cx="5341468" cy="4114800"/>
          </a:xfrm>
          <a:prstGeom prst="roundRect">
            <a:avLst>
              <a:gd name="adj" fmla="val 2000"/>
            </a:avLst>
          </a:prstGeom>
          <a:solidFill>
            <a:srgbClr val="F1F1F8"/>
          </a:solidFill>
          <a:ln w="12700">
            <a:solidFill>
              <a:srgbClr val="E2E2EE"/>
            </a:solidFill>
            <a:prstDash val="solid"/>
          </a:ln>
        </p:spPr>
        <p:txBody>
          <a:bodyPr/>
          <a:p/>
        </p:txBody>
      </p:sp>
      <p:sp>
        <p:nvSpPr>
          <p:cNvPr id="8" name="Text 6"/>
          <p:cNvSpPr txBox="1"/>
          <p:nvPr/>
        </p:nvSpPr>
        <p:spPr>
          <a:xfrm>
            <a:off x="6466180" y="2194560"/>
            <a:ext cx="4829404" cy="365760"/>
          </a:xfrm>
          <a:prstGeom prst="rect">
            <a:avLst/>
          </a:prstGeom>
          <a:noFill/>
          <a:ln/>
        </p:spPr>
        <p:txBody>
          <a:bodyPr wrap="square" lIns="0" tIns="0" rIns="0" bIns="0" rtlCol="0" anchor="ctr"/>
          <a:lstStyle/>
          <a:p>
            <a:pPr indent="0" marL="0">
              <a:buNone/>
            </a:pPr>
            <a:r>
              <a:rPr lang="en-US" sz="1250" b="1" spc="150" kern="0" dirty="0">
                <a:solidFill>
                  <a:srgbClr val="E67528"/>
                </a:solidFill>
                <a:latin typeface="Calibri" pitchFamily="34" charset="0"/>
                <a:ea typeface="Calibri" pitchFamily="34" charset="-122"/>
                <a:cs typeface="Calibri" pitchFamily="34" charset="-120"/>
              </a:rPr>
              <a:t>AUTHORIZATION</a:t>
            </a:r>
            <a:endParaRPr lang="en-US" sz="1250" dirty="0"/>
          </a:p>
        </p:txBody>
      </p:sp>
      <p:sp>
        <p:nvSpPr>
          <p:cNvPr id="9" name="Text 7"/>
          <p:cNvSpPr txBox="1"/>
          <p:nvPr/>
        </p:nvSpPr>
        <p:spPr>
          <a:xfrm>
            <a:off x="6466180" y="2651760"/>
            <a:ext cx="4829404" cy="32004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"What are you allowed to do?"</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Happens AFTER authentication — decides if this action is permitted</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Like your ID having (or not having) access to a specific lab</a:t>
            </a:r>
            <a:endParaRPr lang="en-US" sz="1200" dirty="0"/>
          </a:p>
        </p:txBody>
      </p:sp>
      <p:sp>
        <p:nvSpPr>
          <p:cNvPr id="12"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19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AUTHN VS. AUTHZ</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Every Request Answers Both Questions</a:t>
            </a:r>
            <a:endParaRPr lang="en-US" sz="3400" dirty="0"/>
          </a:p>
        </p:txBody>
      </p:sp>
      <p:sp>
        <p:nvSpPr>
          <p:cNvPr id="4" name="Shape 2"/>
          <p:cNvSpPr/>
          <p:nvPr/>
        </p:nvSpPr>
        <p:spPr>
          <a:xfrm>
            <a:off x="2560320" y="3154680"/>
            <a:ext cx="457200" cy="9144"/>
          </a:xfrm>
          <a:prstGeom prst="line">
            <a:avLst/>
          </a:prstGeom>
          <a:noFill/>
          <a:ln w="25400">
            <a:solidFill>
              <a:srgbClr val="5D5D72"/>
            </a:solidFill>
            <a:prstDash val="solid"/>
            <a:tailEnd type="triangle"/>
          </a:ln>
        </p:spPr>
        <p:txBody>
          <a:bodyPr/>
          <a:p/>
        </p:txBody>
      </p:sp>
      <p:sp>
        <p:nvSpPr>
          <p:cNvPr id="5" name="Shape 3"/>
          <p:cNvSpPr/>
          <p:nvPr/>
        </p:nvSpPr>
        <p:spPr>
          <a:xfrm>
            <a:off x="4114800" y="3657600"/>
            <a:ext cx="9144" cy="822960"/>
          </a:xfrm>
          <a:prstGeom prst="line">
            <a:avLst/>
          </a:prstGeom>
          <a:noFill/>
          <a:ln w="25400">
            <a:solidFill>
              <a:srgbClr val="5D5D72"/>
            </a:solidFill>
            <a:prstDash val="solid"/>
            <a:tailEnd type="triangle"/>
          </a:ln>
        </p:spPr>
        <p:txBody>
          <a:bodyPr/>
          <a:p/>
        </p:txBody>
      </p:sp>
      <p:sp>
        <p:nvSpPr>
          <p:cNvPr id="6" name="Text 4"/>
          <p:cNvSpPr txBox="1"/>
          <p:nvPr/>
        </p:nvSpPr>
        <p:spPr>
          <a:xfrm>
            <a:off x="3200400" y="3922776"/>
            <a:ext cx="1828800" cy="292608"/>
          </a:xfrm>
          <a:prstGeom prst="rect">
            <a:avLst/>
          </a:prstGeom>
          <a:solidFill>
            <a:srgbClr val="FFFFFF"/>
          </a:solidFill>
          <a:ln/>
        </p:spPr>
        <p:txBody>
          <a:bodyPr wrap="square" lIns="0" tIns="0" rIns="0" bIns="0" rtlCol="0" anchor="ctr"/>
          <a:lstStyle/>
          <a:p>
            <a:pPr algn="ctr" indent="0" marL="0">
              <a:buNone/>
            </a:pPr>
            <a:r>
              <a:rPr lang="en-US" sz="1050" i="1" dirty="0">
                <a:solidFill>
                  <a:srgbClr val="5D5D72"/>
                </a:solidFill>
                <a:latin typeface="Calibri" pitchFamily="34" charset="0"/>
                <a:ea typeface="Calibri" pitchFamily="34" charset="-122"/>
                <a:cs typeface="Calibri" pitchFamily="34" charset="-120"/>
              </a:rPr>
              <a:t>Not verified</a:t>
            </a:r>
            <a:endParaRPr lang="en-US" sz="1050" dirty="0"/>
          </a:p>
        </p:txBody>
      </p:sp>
      <p:sp>
        <p:nvSpPr>
          <p:cNvPr id="7" name="Shape 5"/>
          <p:cNvSpPr/>
          <p:nvPr/>
        </p:nvSpPr>
        <p:spPr>
          <a:xfrm>
            <a:off x="6035040" y="3154680"/>
            <a:ext cx="914400" cy="9144"/>
          </a:xfrm>
          <a:prstGeom prst="line">
            <a:avLst/>
          </a:prstGeom>
          <a:noFill/>
          <a:ln w="25400">
            <a:solidFill>
              <a:srgbClr val="5D5D72"/>
            </a:solidFill>
            <a:prstDash val="solid"/>
            <a:tailEnd type="triangle"/>
          </a:ln>
        </p:spPr>
        <p:txBody>
          <a:bodyPr/>
          <a:p/>
        </p:txBody>
      </p:sp>
      <p:sp>
        <p:nvSpPr>
          <p:cNvPr id="8" name="Text 6"/>
          <p:cNvSpPr txBox="1"/>
          <p:nvPr/>
        </p:nvSpPr>
        <p:spPr>
          <a:xfrm>
            <a:off x="5577840" y="3008376"/>
            <a:ext cx="1828800" cy="292608"/>
          </a:xfrm>
          <a:prstGeom prst="rect">
            <a:avLst/>
          </a:prstGeom>
          <a:solidFill>
            <a:srgbClr val="FFFFFF"/>
          </a:solidFill>
          <a:ln/>
        </p:spPr>
        <p:txBody>
          <a:bodyPr wrap="square" lIns="0" tIns="0" rIns="0" bIns="0" rtlCol="0" anchor="ctr"/>
          <a:lstStyle/>
          <a:p>
            <a:pPr algn="ctr" indent="0" marL="0">
              <a:buNone/>
            </a:pPr>
            <a:r>
              <a:rPr lang="en-US" sz="1050" i="1" dirty="0">
                <a:solidFill>
                  <a:srgbClr val="5D5D72"/>
                </a:solidFill>
                <a:latin typeface="Calibri" pitchFamily="34" charset="0"/>
                <a:ea typeface="Calibri" pitchFamily="34" charset="-122"/>
                <a:cs typeface="Calibri" pitchFamily="34" charset="-120"/>
              </a:rPr>
              <a:t>Verified</a:t>
            </a:r>
            <a:endParaRPr lang="en-US" sz="1050" dirty="0"/>
          </a:p>
        </p:txBody>
      </p:sp>
      <p:sp>
        <p:nvSpPr>
          <p:cNvPr id="9" name="Shape 7"/>
          <p:cNvSpPr/>
          <p:nvPr/>
        </p:nvSpPr>
        <p:spPr>
          <a:xfrm>
            <a:off x="8229600" y="3657600"/>
            <a:ext cx="9144" cy="822960"/>
          </a:xfrm>
          <a:prstGeom prst="line">
            <a:avLst/>
          </a:prstGeom>
          <a:noFill/>
          <a:ln w="25400">
            <a:solidFill>
              <a:srgbClr val="5D5D72"/>
            </a:solidFill>
            <a:prstDash val="solid"/>
            <a:tailEnd type="triangle"/>
          </a:ln>
        </p:spPr>
        <p:txBody>
          <a:bodyPr/>
          <a:p/>
        </p:txBody>
      </p:sp>
      <p:sp>
        <p:nvSpPr>
          <p:cNvPr id="10" name="Text 8"/>
          <p:cNvSpPr txBox="1"/>
          <p:nvPr/>
        </p:nvSpPr>
        <p:spPr>
          <a:xfrm>
            <a:off x="7315200" y="3922776"/>
            <a:ext cx="1828800" cy="292608"/>
          </a:xfrm>
          <a:prstGeom prst="rect">
            <a:avLst/>
          </a:prstGeom>
          <a:solidFill>
            <a:srgbClr val="FFFFFF"/>
          </a:solidFill>
          <a:ln/>
        </p:spPr>
        <p:txBody>
          <a:bodyPr wrap="square" lIns="0" tIns="0" rIns="0" bIns="0" rtlCol="0" anchor="ctr"/>
          <a:lstStyle/>
          <a:p>
            <a:pPr algn="ctr" indent="0" marL="0">
              <a:buNone/>
            </a:pPr>
            <a:r>
              <a:rPr lang="en-US" sz="1050" i="1" dirty="0">
                <a:solidFill>
                  <a:srgbClr val="5D5D72"/>
                </a:solidFill>
                <a:latin typeface="Calibri" pitchFamily="34" charset="0"/>
                <a:ea typeface="Calibri" pitchFamily="34" charset="-122"/>
                <a:cs typeface="Calibri" pitchFamily="34" charset="-120"/>
              </a:rPr>
              <a:t>Not permitted</a:t>
            </a:r>
            <a:endParaRPr lang="en-US" sz="1050" dirty="0"/>
          </a:p>
        </p:txBody>
      </p:sp>
      <p:sp>
        <p:nvSpPr>
          <p:cNvPr id="11" name="Shape 9"/>
          <p:cNvSpPr/>
          <p:nvPr/>
        </p:nvSpPr>
        <p:spPr>
          <a:xfrm>
            <a:off x="10149840" y="3154680"/>
            <a:ext cx="182880" cy="9144"/>
          </a:xfrm>
          <a:prstGeom prst="line">
            <a:avLst/>
          </a:prstGeom>
          <a:noFill/>
          <a:ln w="25400">
            <a:solidFill>
              <a:srgbClr val="5D5D72"/>
            </a:solidFill>
            <a:prstDash val="solid"/>
            <a:tailEnd type="triangle"/>
          </a:ln>
        </p:spPr>
        <p:txBody>
          <a:bodyPr/>
          <a:p/>
        </p:txBody>
      </p:sp>
      <p:sp>
        <p:nvSpPr>
          <p:cNvPr id="12" name="Text 10"/>
          <p:cNvSpPr txBox="1"/>
          <p:nvPr/>
        </p:nvSpPr>
        <p:spPr>
          <a:xfrm>
            <a:off x="9326880" y="3008376"/>
            <a:ext cx="1828800" cy="292608"/>
          </a:xfrm>
          <a:prstGeom prst="rect">
            <a:avLst/>
          </a:prstGeom>
          <a:solidFill>
            <a:srgbClr val="FFFFFF"/>
          </a:solidFill>
          <a:ln/>
        </p:spPr>
        <p:txBody>
          <a:bodyPr wrap="square" lIns="0" tIns="0" rIns="0" bIns="0" rtlCol="0" anchor="ctr"/>
          <a:lstStyle/>
          <a:p>
            <a:pPr algn="ctr" indent="0" marL="0">
              <a:buNone/>
            </a:pPr>
            <a:r>
              <a:rPr lang="en-US" sz="1050" i="1" dirty="0">
                <a:solidFill>
                  <a:srgbClr val="5D5D72"/>
                </a:solidFill>
                <a:latin typeface="Calibri" pitchFamily="34" charset="0"/>
                <a:ea typeface="Calibri" pitchFamily="34" charset="-122"/>
                <a:cs typeface="Calibri" pitchFamily="34" charset="-120"/>
              </a:rPr>
              <a:t>Permitted</a:t>
            </a:r>
            <a:endParaRPr lang="en-US" sz="1050" dirty="0"/>
          </a:p>
        </p:txBody>
      </p:sp>
      <p:sp>
        <p:nvSpPr>
          <p:cNvPr id="13" name="Shape 11"/>
          <p:cNvSpPr/>
          <p:nvPr/>
        </p:nvSpPr>
        <p:spPr>
          <a:xfrm>
            <a:off x="640080" y="2834640"/>
            <a:ext cx="1920240" cy="640080"/>
          </a:xfrm>
          <a:prstGeom prst="rect">
            <a:avLst/>
          </a:prstGeom>
          <a:solidFill>
            <a:srgbClr val="1E1E4C"/>
          </a:solidFill>
          <a:ln/>
        </p:spPr>
        <p:txBody>
          <a:bodyPr/>
          <a:p/>
        </p:txBody>
      </p:sp>
      <p:sp>
        <p:nvSpPr>
          <p:cNvPr id="14" name="Text 12"/>
          <p:cNvSpPr txBox="1"/>
          <p:nvPr/>
        </p:nvSpPr>
        <p:spPr>
          <a:xfrm>
            <a:off x="694944" y="2834640"/>
            <a:ext cx="1810512" cy="640080"/>
          </a:xfrm>
          <a:prstGeom prst="rect">
            <a:avLst/>
          </a:prstGeom>
          <a:noFill/>
          <a:ln/>
        </p:spPr>
        <p:txBody>
          <a:bodyPr wrap="square" lIns="0" tIns="0" rIns="0" bIns="0" rtlCol="0" anchor="ctr"/>
          <a:lstStyle/>
          <a:p>
            <a:pPr algn="ctr" indent="0" marL="0">
              <a:lnSpc>
                <a:spcPct val="105000"/>
              </a:lnSpc>
              <a:buNone/>
            </a:pPr>
            <a:r>
              <a:rPr lang="en-US" sz="1200" b="1" dirty="0">
                <a:solidFill>
                  <a:srgbClr val="FFFFFF"/>
                </a:solidFill>
                <a:latin typeface="Calibri" pitchFamily="34" charset="0"/>
                <a:ea typeface="Calibri" pitchFamily="34" charset="-122"/>
                <a:cs typeface="Calibri" pitchFamily="34" charset="-120"/>
              </a:rPr>
              <a:t>Incoming</a:t>
            </a:r>
            <a:endParaRPr lang="en-US" sz="1200" dirty="0"/>
          </a:p>
          <a:p>
            <a:pPr algn="ctr" indent="0" marL="0">
              <a:lnSpc>
                <a:spcPct val="105000"/>
              </a:lnSpc>
              <a:buNone/>
            </a:pPr>
            <a:r>
              <a:rPr lang="en-US" sz="1200" b="1" dirty="0">
                <a:solidFill>
                  <a:srgbClr val="FFFFFF"/>
                </a:solidFill>
                <a:latin typeface="Calibri" pitchFamily="34" charset="0"/>
                <a:ea typeface="Calibri" pitchFamily="34" charset="-122"/>
                <a:cs typeface="Calibri" pitchFamily="34" charset="-120"/>
              </a:rPr>
              <a:t>request</a:t>
            </a:r>
            <a:endParaRPr lang="en-US" sz="1200" dirty="0"/>
          </a:p>
        </p:txBody>
      </p:sp>
      <p:sp>
        <p:nvSpPr>
          <p:cNvPr id="15" name="Shape 13"/>
          <p:cNvSpPr/>
          <p:nvPr/>
        </p:nvSpPr>
        <p:spPr>
          <a:xfrm>
            <a:off x="3017520" y="2651760"/>
            <a:ext cx="3017520" cy="1005840"/>
          </a:xfrm>
          <a:prstGeom prst="diamond">
            <a:avLst/>
          </a:prstGeom>
          <a:solidFill>
            <a:srgbClr val="FF8A3D"/>
          </a:solidFill>
          <a:ln/>
        </p:spPr>
        <p:txBody>
          <a:bodyPr/>
          <a:p/>
        </p:txBody>
      </p:sp>
      <p:sp>
        <p:nvSpPr>
          <p:cNvPr id="16" name="Text 14"/>
          <p:cNvSpPr txBox="1"/>
          <p:nvPr/>
        </p:nvSpPr>
        <p:spPr>
          <a:xfrm>
            <a:off x="3072384" y="2651760"/>
            <a:ext cx="2907792" cy="1005840"/>
          </a:xfrm>
          <a:prstGeom prst="rect">
            <a:avLst/>
          </a:prstGeom>
          <a:noFill/>
          <a:ln/>
        </p:spPr>
        <p:txBody>
          <a:bodyPr wrap="square" lIns="0" tIns="0" rIns="0" bIns="0" rtlCol="0" anchor="ctr"/>
          <a:lstStyle/>
          <a:p>
            <a:pPr algn="ctr" indent="0" marL="0">
              <a:lnSpc>
                <a:spcPct val="105000"/>
              </a:lnSpc>
              <a:buNone/>
            </a:pPr>
            <a:r>
              <a:rPr lang="en-US" sz="1150" b="1" dirty="0">
                <a:solidFill>
                  <a:srgbClr val="FFFFFF"/>
                </a:solidFill>
                <a:latin typeface="Calibri" pitchFamily="34" charset="0"/>
                <a:ea typeface="Calibri" pitchFamily="34" charset="-122"/>
                <a:cs typeface="Calibri" pitchFamily="34" charset="-120"/>
              </a:rPr>
              <a:t>Authentication:</a:t>
            </a:r>
            <a:endParaRPr lang="en-US" sz="1150" dirty="0"/>
          </a:p>
          <a:p>
            <a:pPr algn="ctr" indent="0" marL="0">
              <a:lnSpc>
                <a:spcPct val="105000"/>
              </a:lnSpc>
              <a:buNone/>
            </a:pPr>
            <a:r>
              <a:rPr lang="en-US" sz="1150" b="1" dirty="0">
                <a:solidFill>
                  <a:srgbClr val="FFFFFF"/>
                </a:solidFill>
                <a:latin typeface="Calibri" pitchFamily="34" charset="0"/>
                <a:ea typeface="Calibri" pitchFamily="34" charset="-122"/>
                <a:cs typeface="Calibri" pitchFamily="34" charset="-120"/>
              </a:rPr>
              <a:t>Who are you?</a:t>
            </a:r>
            <a:endParaRPr lang="en-US" sz="1150" dirty="0"/>
          </a:p>
        </p:txBody>
      </p:sp>
      <p:sp>
        <p:nvSpPr>
          <p:cNvPr id="17" name="Shape 15"/>
          <p:cNvSpPr/>
          <p:nvPr/>
        </p:nvSpPr>
        <p:spPr>
          <a:xfrm>
            <a:off x="3200400" y="4480560"/>
            <a:ext cx="2651760" cy="640080"/>
          </a:xfrm>
          <a:prstGeom prst="rect">
            <a:avLst/>
          </a:prstGeom>
          <a:solidFill>
            <a:srgbClr val="E67528"/>
          </a:solidFill>
          <a:ln/>
        </p:spPr>
        <p:txBody>
          <a:bodyPr/>
          <a:p/>
        </p:txBody>
      </p:sp>
      <p:sp>
        <p:nvSpPr>
          <p:cNvPr id="18" name="Text 16"/>
          <p:cNvSpPr txBox="1"/>
          <p:nvPr/>
        </p:nvSpPr>
        <p:spPr>
          <a:xfrm>
            <a:off x="3255264" y="4480560"/>
            <a:ext cx="2542032" cy="640080"/>
          </a:xfrm>
          <a:prstGeom prst="rect">
            <a:avLst/>
          </a:prstGeom>
          <a:noFill/>
          <a:ln/>
        </p:spPr>
        <p:txBody>
          <a:bodyPr wrap="square" lIns="0" tIns="0" rIns="0" bIns="0" rtlCol="0" anchor="ctr"/>
          <a:lstStyle/>
          <a:p>
            <a:pPr algn="ctr" indent="0" marL="0">
              <a:lnSpc>
                <a:spcPct val="105000"/>
              </a:lnSpc>
              <a:buNone/>
            </a:pPr>
            <a:r>
              <a:rPr lang="en-US" sz="1200" b="1" dirty="0">
                <a:solidFill>
                  <a:srgbClr val="FFFFFF"/>
                </a:solidFill>
                <a:latin typeface="Calibri" pitchFamily="34" charset="0"/>
                <a:ea typeface="Calibri" pitchFamily="34" charset="-122"/>
                <a:cs typeface="Calibri" pitchFamily="34" charset="-120"/>
              </a:rPr>
              <a:t>401 Unauthorized</a:t>
            </a:r>
            <a:endParaRPr lang="en-US" sz="1200" dirty="0"/>
          </a:p>
        </p:txBody>
      </p:sp>
      <p:sp>
        <p:nvSpPr>
          <p:cNvPr id="19" name="Shape 17"/>
          <p:cNvSpPr/>
          <p:nvPr/>
        </p:nvSpPr>
        <p:spPr>
          <a:xfrm>
            <a:off x="6949440" y="2651760"/>
            <a:ext cx="3200400" cy="1005840"/>
          </a:xfrm>
          <a:prstGeom prst="diamond">
            <a:avLst/>
          </a:prstGeom>
          <a:solidFill>
            <a:srgbClr val="FF8A3D"/>
          </a:solidFill>
          <a:ln/>
        </p:spPr>
        <p:txBody>
          <a:bodyPr/>
          <a:p/>
        </p:txBody>
      </p:sp>
      <p:sp>
        <p:nvSpPr>
          <p:cNvPr id="20" name="Text 18"/>
          <p:cNvSpPr txBox="1"/>
          <p:nvPr/>
        </p:nvSpPr>
        <p:spPr>
          <a:xfrm>
            <a:off x="7004304" y="2651760"/>
            <a:ext cx="3090672" cy="1005840"/>
          </a:xfrm>
          <a:prstGeom prst="rect">
            <a:avLst/>
          </a:prstGeom>
          <a:noFill/>
          <a:ln/>
        </p:spPr>
        <p:txBody>
          <a:bodyPr wrap="square" lIns="0" tIns="0" rIns="0" bIns="0" rtlCol="0" anchor="ctr"/>
          <a:lstStyle/>
          <a:p>
            <a:pPr algn="ctr" indent="0" marL="0">
              <a:lnSpc>
                <a:spcPct val="105000"/>
              </a:lnSpc>
              <a:buNone/>
            </a:pPr>
            <a:r>
              <a:rPr lang="en-US" sz="1150" b="1" dirty="0">
                <a:solidFill>
                  <a:srgbClr val="FFFFFF"/>
                </a:solidFill>
                <a:latin typeface="Calibri" pitchFamily="34" charset="0"/>
                <a:ea typeface="Calibri" pitchFamily="34" charset="-122"/>
                <a:cs typeface="Calibri" pitchFamily="34" charset="-120"/>
              </a:rPr>
              <a:t>Authorization:</a:t>
            </a:r>
            <a:endParaRPr lang="en-US" sz="1150" dirty="0"/>
          </a:p>
          <a:p>
            <a:pPr algn="ctr" indent="0" marL="0">
              <a:lnSpc>
                <a:spcPct val="105000"/>
              </a:lnSpc>
              <a:buNone/>
            </a:pPr>
            <a:r>
              <a:rPr lang="en-US" sz="1150" b="1" dirty="0">
                <a:solidFill>
                  <a:srgbClr val="FFFFFF"/>
                </a:solidFill>
                <a:latin typeface="Calibri" pitchFamily="34" charset="0"/>
                <a:ea typeface="Calibri" pitchFamily="34" charset="-122"/>
                <a:cs typeface="Calibri" pitchFamily="34" charset="-120"/>
              </a:rPr>
              <a:t>Are you allowed</a:t>
            </a:r>
            <a:endParaRPr lang="en-US" sz="1150" dirty="0"/>
          </a:p>
          <a:p>
            <a:pPr algn="ctr" indent="0" marL="0">
              <a:lnSpc>
                <a:spcPct val="105000"/>
              </a:lnSpc>
              <a:buNone/>
            </a:pPr>
            <a:r>
              <a:rPr lang="en-US" sz="1150" b="1" dirty="0">
                <a:solidFill>
                  <a:srgbClr val="FFFFFF"/>
                </a:solidFill>
                <a:latin typeface="Calibri" pitchFamily="34" charset="0"/>
                <a:ea typeface="Calibri" pitchFamily="34" charset="-122"/>
                <a:cs typeface="Calibri" pitchFamily="34" charset="-120"/>
              </a:rPr>
              <a:t>to do this?</a:t>
            </a:r>
            <a:endParaRPr lang="en-US" sz="1150" dirty="0"/>
          </a:p>
        </p:txBody>
      </p:sp>
      <p:sp>
        <p:nvSpPr>
          <p:cNvPr id="21" name="Shape 19"/>
          <p:cNvSpPr/>
          <p:nvPr/>
        </p:nvSpPr>
        <p:spPr>
          <a:xfrm>
            <a:off x="7223760" y="4480560"/>
            <a:ext cx="2651760" cy="640080"/>
          </a:xfrm>
          <a:prstGeom prst="rect">
            <a:avLst/>
          </a:prstGeom>
          <a:solidFill>
            <a:srgbClr val="E67528"/>
          </a:solidFill>
          <a:ln/>
        </p:spPr>
        <p:txBody>
          <a:bodyPr/>
          <a:p/>
        </p:txBody>
      </p:sp>
      <p:sp>
        <p:nvSpPr>
          <p:cNvPr id="22" name="Text 20"/>
          <p:cNvSpPr txBox="1"/>
          <p:nvPr/>
        </p:nvSpPr>
        <p:spPr>
          <a:xfrm>
            <a:off x="7278624" y="4480560"/>
            <a:ext cx="2542032" cy="640080"/>
          </a:xfrm>
          <a:prstGeom prst="rect">
            <a:avLst/>
          </a:prstGeom>
          <a:noFill/>
          <a:ln/>
        </p:spPr>
        <p:txBody>
          <a:bodyPr wrap="square" lIns="0" tIns="0" rIns="0" bIns="0" rtlCol="0" anchor="ctr"/>
          <a:lstStyle/>
          <a:p>
            <a:pPr algn="ctr" indent="0" marL="0">
              <a:lnSpc>
                <a:spcPct val="105000"/>
              </a:lnSpc>
              <a:buNone/>
            </a:pPr>
            <a:r>
              <a:rPr lang="en-US" sz="1200" b="1" dirty="0">
                <a:solidFill>
                  <a:srgbClr val="FFFFFF"/>
                </a:solidFill>
                <a:latin typeface="Calibri" pitchFamily="34" charset="0"/>
                <a:ea typeface="Calibri" pitchFamily="34" charset="-122"/>
                <a:cs typeface="Calibri" pitchFamily="34" charset="-120"/>
              </a:rPr>
              <a:t>403 Forbidden</a:t>
            </a:r>
            <a:endParaRPr lang="en-US" sz="1200" dirty="0"/>
          </a:p>
        </p:txBody>
      </p:sp>
      <p:sp>
        <p:nvSpPr>
          <p:cNvPr id="23" name="Shape 21"/>
          <p:cNvSpPr/>
          <p:nvPr/>
        </p:nvSpPr>
        <p:spPr>
          <a:xfrm>
            <a:off x="10332720" y="2651760"/>
            <a:ext cx="1371600" cy="1005840"/>
          </a:xfrm>
          <a:prstGeom prst="rect">
            <a:avLst/>
          </a:prstGeom>
          <a:solidFill>
            <a:srgbClr val="3FA66B"/>
          </a:solidFill>
          <a:ln/>
        </p:spPr>
        <p:txBody>
          <a:bodyPr/>
          <a:p/>
        </p:txBody>
      </p:sp>
      <p:sp>
        <p:nvSpPr>
          <p:cNvPr id="24" name="Text 22"/>
          <p:cNvSpPr txBox="1"/>
          <p:nvPr/>
        </p:nvSpPr>
        <p:spPr>
          <a:xfrm>
            <a:off x="10387584" y="2651760"/>
            <a:ext cx="1261872" cy="1005840"/>
          </a:xfrm>
          <a:prstGeom prst="rect">
            <a:avLst/>
          </a:prstGeom>
          <a:noFill/>
          <a:ln/>
        </p:spPr>
        <p:txBody>
          <a:bodyPr wrap="square" lIns="0" tIns="0" rIns="0" bIns="0" rtlCol="0" anchor="ctr"/>
          <a:lstStyle/>
          <a:p>
            <a:pPr algn="ctr" indent="0" marL="0">
              <a:lnSpc>
                <a:spcPct val="105000"/>
              </a:lnSpc>
              <a:buNone/>
            </a:pPr>
            <a:r>
              <a:rPr lang="en-US" sz="1150" b="1" dirty="0">
                <a:solidFill>
                  <a:srgbClr val="FFFFFF"/>
                </a:solidFill>
                <a:latin typeface="Calibri" pitchFamily="34" charset="0"/>
                <a:ea typeface="Calibri" pitchFamily="34" charset="-122"/>
                <a:cs typeface="Calibri" pitchFamily="34" charset="-120"/>
              </a:rPr>
              <a:t>Request</a:t>
            </a:r>
            <a:endParaRPr lang="en-US" sz="1150" dirty="0"/>
          </a:p>
          <a:p>
            <a:pPr algn="ctr" indent="0" marL="0">
              <a:lnSpc>
                <a:spcPct val="105000"/>
              </a:lnSpc>
              <a:buNone/>
            </a:pPr>
            <a:r>
              <a:rPr lang="en-US" sz="1150" b="1" dirty="0">
                <a:solidFill>
                  <a:srgbClr val="FFFFFF"/>
                </a:solidFill>
                <a:latin typeface="Calibri" pitchFamily="34" charset="0"/>
                <a:ea typeface="Calibri" pitchFamily="34" charset="-122"/>
                <a:cs typeface="Calibri" pitchFamily="34" charset="-120"/>
              </a:rPr>
              <a:t>proceeds</a:t>
            </a:r>
            <a:endParaRPr lang="en-US" sz="1150" dirty="0"/>
          </a:p>
        </p:txBody>
      </p:sp>
      <p:sp>
        <p:nvSpPr>
          <p:cNvPr id="25" name="Text 23"/>
          <p:cNvSpPr txBox="1"/>
          <p:nvPr/>
        </p:nvSpPr>
        <p:spPr>
          <a:xfrm>
            <a:off x="640080" y="5989320"/>
            <a:ext cx="10911535" cy="411480"/>
          </a:xfrm>
          <a:prstGeom prst="rect">
            <a:avLst/>
          </a:prstGeom>
          <a:noFill/>
          <a:ln/>
        </p:spPr>
        <p:txBody>
          <a:bodyPr wrap="square" lIns="0" tIns="0" rIns="0" bIns="0" rtlCol="0" anchor="t"/>
          <a:lstStyle/>
          <a:p>
            <a:pPr indent="0" marL="0">
              <a:buNone/>
            </a:pPr>
            <a:r>
              <a:rPr lang="en-US" sz="1250" i="1" dirty="0">
                <a:solidFill>
                  <a:srgbClr val="5D5D72"/>
                </a:solidFill>
                <a:latin typeface="Calibri" pitchFamily="34" charset="0"/>
                <a:ea typeface="Calibri" pitchFamily="34" charset="-122"/>
                <a:cs typeface="Calibri" pitchFamily="34" charset="-120"/>
              </a:rPr>
              <a:t>A very common bug: checking authentication but forgetting authorization — e.g. GET /api/orders/:id rejects anonymous users, but returns ANY order to ANY logged-in user.</a:t>
            </a:r>
            <a:endParaRPr lang="en-US" sz="1250" dirty="0"/>
          </a:p>
        </p:txBody>
      </p:sp>
      <p:sp>
        <p:nvSpPr>
          <p:cNvPr id="28"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20</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AUTHN VS. AUTHZ</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Two Checks, Not One</a:t>
            </a:r>
            <a:endParaRPr lang="en-US" sz="3400" dirty="0"/>
          </a:p>
        </p:txBody>
      </p:sp>
      <p:sp>
        <p:nvSpPr>
          <p:cNvPr id="4" name="Shape 2"/>
          <p:cNvSpPr/>
          <p:nvPr/>
        </p:nvSpPr>
        <p:spPr>
          <a:xfrm>
            <a:off x="640080" y="1965960"/>
            <a:ext cx="10911535" cy="1371600"/>
          </a:xfrm>
          <a:prstGeom prst="roundRect">
            <a:avLst>
              <a:gd name="adj" fmla="val 4000"/>
            </a:avLst>
          </a:prstGeom>
          <a:solidFill>
            <a:srgbClr val="FDECE0"/>
          </a:solidFill>
          <a:ln w="12700">
            <a:solidFill>
              <a:srgbClr val="FF8A3D"/>
            </a:solidFill>
            <a:prstDash val="solid"/>
          </a:ln>
        </p:spPr>
        <p:txBody>
          <a:bodyPr/>
          <a:p/>
        </p:txBody>
      </p:sp>
      <p:sp>
        <p:nvSpPr>
          <p:cNvPr id="5" name="Text 3"/>
          <p:cNvSpPr txBox="1"/>
          <p:nvPr/>
        </p:nvSpPr>
        <p:spPr>
          <a:xfrm>
            <a:off x="868680" y="2103120"/>
            <a:ext cx="10454335" cy="274320"/>
          </a:xfrm>
          <a:prstGeom prst="rect">
            <a:avLst/>
          </a:prstGeom>
          <a:noFill/>
          <a:ln/>
        </p:spPr>
        <p:txBody>
          <a:bodyPr wrap="square" lIns="0" tIns="0" rIns="0" bIns="0" rtlCol="0" anchor="ctr"/>
          <a:lstStyle/>
          <a:p>
            <a:pPr indent="0" marL="0">
              <a:buNone/>
            </a:pPr>
            <a:r>
              <a:rPr lang="en-US" sz="1000" b="1" spc="200" kern="0" dirty="0">
                <a:solidFill>
                  <a:srgbClr val="8A3A12"/>
                </a:solidFill>
                <a:latin typeface="Calibri" pitchFamily="34" charset="0"/>
                <a:ea typeface="Calibri" pitchFamily="34" charset="-122"/>
                <a:cs typeface="Calibri" pitchFamily="34" charset="-120"/>
              </a:rPr>
              <a:t>WARNING</a:t>
            </a:r>
            <a:endParaRPr lang="en-US" sz="1000" dirty="0"/>
          </a:p>
        </p:txBody>
      </p:sp>
      <p:sp>
        <p:nvSpPr>
          <p:cNvPr id="6" name="Text 4"/>
          <p:cNvSpPr txBox="1"/>
          <p:nvPr/>
        </p:nvSpPr>
        <p:spPr>
          <a:xfrm>
            <a:off x="868680" y="2404872"/>
            <a:ext cx="10454335" cy="777240"/>
          </a:xfrm>
          <a:prstGeom prst="rect">
            <a:avLst/>
          </a:prstGeom>
          <a:noFill/>
          <a:ln/>
        </p:spPr>
        <p:txBody>
          <a:bodyPr wrap="square" lIns="0" tIns="0" rIns="0" bIns="0" rtlCol="0" anchor="t"/>
          <a:lstStyle/>
          <a:p>
            <a:pPr indent="0" marL="0">
              <a:buNone/>
            </a:pPr>
            <a:r>
              <a:rPr lang="en-US" sz="1250" dirty="0">
                <a:solidFill>
                  <a:srgbClr val="26262F"/>
                </a:solidFill>
                <a:latin typeface="Calibri" pitchFamily="34" charset="0"/>
                <a:ea typeface="Calibri" pitchFamily="34" charset="-122"/>
                <a:cs typeface="Calibri" pitchFamily="34" charset="-120"/>
              </a:rPr>
              <a:t>This exact mistake — authenticated but not authorized — is common enough to have its own name: broken access control, covered in Lecture 31.</a:t>
            </a:r>
            <a:endParaRPr lang="en-US" sz="1250" dirty="0"/>
          </a:p>
        </p:txBody>
      </p:sp>
      <p:sp>
        <p:nvSpPr>
          <p:cNvPr id="7" name="Text 5"/>
          <p:cNvSpPr txBox="1"/>
          <p:nvPr/>
        </p:nvSpPr>
        <p:spPr>
          <a:xfrm>
            <a:off x="640080" y="3611880"/>
            <a:ext cx="10911535" cy="228600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401 Unauthorized really means "you haven't proven who you are" (an authentication failure). 403 Forbidden means "I know who you are, but you're not allowed to do this" (an authorization failure). Always ask both questions.</a:t>
            </a:r>
            <a:endParaRPr lang="en-US" sz="1300" dirty="0"/>
          </a:p>
        </p:txBody>
      </p:sp>
      <p:sp>
        <p:nvSpPr>
          <p:cNvPr id="10"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21</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INPUT VALIDATION</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Never Trust Data Coming In</a:t>
            </a:r>
            <a:endParaRPr lang="en-US" sz="3400" dirty="0"/>
          </a:p>
        </p:txBody>
      </p:sp>
      <p:sp>
        <p:nvSpPr>
          <p:cNvPr id="4" name="Shape 2"/>
          <p:cNvSpPr/>
          <p:nvPr/>
        </p:nvSpPr>
        <p:spPr>
          <a:xfrm>
            <a:off x="685800" y="1965960"/>
            <a:ext cx="457200" cy="457200"/>
          </a:xfrm>
          <a:prstGeom prst="ellipse">
            <a:avLst/>
          </a:prstGeom>
          <a:solidFill>
            <a:srgbClr val="FF8A3D"/>
          </a:solidFill>
          <a:ln/>
        </p:spPr>
        <p:txBody>
          <a:bodyPr/>
          <a:p/>
        </p:txBody>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Check that data from a form, URL parameter, upload, or request body matches what you expect — before using it</a:t>
            </a:r>
            <a:endParaRPr lang="en-US" sz="1500" dirty="0"/>
          </a:p>
        </p:txBody>
      </p:sp>
      <p:sp>
        <p:nvSpPr>
          <p:cNvPr id="7" name="Shape 5"/>
          <p:cNvSpPr/>
          <p:nvPr/>
        </p:nvSpPr>
        <p:spPr>
          <a:xfrm>
            <a:off x="685800" y="2788920"/>
            <a:ext cx="457200" cy="457200"/>
          </a:xfrm>
          <a:prstGeom prst="ellipse">
            <a:avLst/>
          </a:prstGeom>
          <a:solidFill>
            <a:srgbClr val="FF8A3D"/>
          </a:solidFill>
          <a:ln/>
        </p:spPr>
        <p:txBody>
          <a:bodyPr/>
          <a:p/>
        </p:txBody>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Never trust data just because it came from your own frontend</a:t>
            </a:r>
            <a:endParaRPr lang="en-US" sz="1500" dirty="0"/>
          </a:p>
        </p:txBody>
      </p:sp>
      <p:sp>
        <p:nvSpPr>
          <p:cNvPr id="10" name="Shape 8"/>
          <p:cNvSpPr/>
          <p:nvPr/>
        </p:nvSpPr>
        <p:spPr>
          <a:xfrm>
            <a:off x="685800" y="3611880"/>
            <a:ext cx="457200" cy="457200"/>
          </a:xfrm>
          <a:prstGeom prst="ellipse">
            <a:avLst/>
          </a:prstGeom>
          <a:solidFill>
            <a:srgbClr val="FF8A3D"/>
          </a:solidFill>
          <a:ln/>
        </p:spPr>
        <p:txBody>
          <a:bodyPr/>
          <a:p/>
        </p:txBody>
      </p:sp>
      <p:sp>
        <p:nvSpPr>
          <p:cNvPr id="11" name="Text 9"/>
          <p:cNvSpPr txBox="1"/>
          <p:nvPr/>
        </p:nvSpPr>
        <p:spPr>
          <a:xfrm>
            <a:off x="685800" y="3611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53872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An attacker can send requests straight to your API with curl or Postman, bypassing your React forms entirely</a:t>
            </a:r>
            <a:endParaRPr lang="en-US" sz="1500" dirty="0"/>
          </a:p>
        </p:txBody>
      </p:sp>
      <p:sp>
        <p:nvSpPr>
          <p:cNvPr id="15"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22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INPUT VALIDATION</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Basic Server-Side Validation</a:t>
            </a:r>
            <a:endParaRPr lang="en-US" sz="3400" dirty="0"/>
          </a:p>
        </p:txBody>
      </p:sp>
      <p:sp>
        <p:nvSpPr>
          <p:cNvPr id="4" name="Shape 2"/>
          <p:cNvSpPr/>
          <p:nvPr/>
        </p:nvSpPr>
        <p:spPr>
          <a:xfrm>
            <a:off x="640080" y="1965960"/>
            <a:ext cx="10911535" cy="3291840"/>
          </a:xfrm>
          <a:prstGeom prst="roundRect">
            <a:avLst>
              <a:gd name="adj" fmla="val 2222"/>
            </a:avLst>
          </a:prstGeom>
          <a:solidFill>
            <a:srgbClr val="1E1E4C"/>
          </a:solidFill>
          <a:ln/>
        </p:spPr>
        <p:txBody>
          <a:bodyPr/>
          <a:p/>
        </p:txBody>
      </p:sp>
      <p:sp>
        <p:nvSpPr>
          <p:cNvPr id="5" name="Text 3"/>
          <p:cNvSpPr txBox="1"/>
          <p:nvPr/>
        </p:nvSpPr>
        <p:spPr>
          <a:xfrm>
            <a:off x="960120" y="2194560"/>
            <a:ext cx="10271455" cy="2834640"/>
          </a:xfrm>
          <a:prstGeom prst="rect">
            <a:avLst/>
          </a:prstGeom>
          <a:noFill/>
          <a:ln/>
        </p:spPr>
        <p:txBody>
          <a:bodyPr wrap="square" lIns="0" tIns="0" rIns="0" bIns="0" rtlCol="0" anchor="t"/>
          <a:lstStyle/>
          <a:p>
            <a:pPr indent="0" marL="0">
              <a:lnSpc>
                <a:spcPct val="125000"/>
              </a:lnSpc>
              <a:buNone/>
            </a:pPr>
            <a:r>
              <a:rPr lang="en-US" sz="1029" dirty="0">
                <a:solidFill>
                  <a:srgbClr val="C9D3F5"/>
                </a:solidFill>
                <a:latin typeface="Courier New" pitchFamily="34" charset="0"/>
                <a:ea typeface="Courier New" pitchFamily="34" charset="-122"/>
                <a:cs typeface="Courier New" pitchFamily="34" charset="-120"/>
              </a:rPr>
              <a:t>app.post("/api/signup", (req, res) =&gt; {</a:t>
            </a:r>
            <a:endParaRPr lang="en-US" sz="1029" dirty="0"/>
          </a:p>
          <a:p>
            <a:pPr indent="0" marL="0">
              <a:lnSpc>
                <a:spcPct val="125000"/>
              </a:lnSpc>
              <a:buNone/>
            </a:pPr>
            <a:r>
              <a:rPr lang="en-US" sz="1029" dirty="0">
                <a:solidFill>
                  <a:srgbClr val="C9D3F5"/>
                </a:solidFill>
                <a:latin typeface="Courier New" pitchFamily="34" charset="0"/>
                <a:ea typeface="Courier New" pitchFamily="34" charset="-122"/>
                <a:cs typeface="Courier New" pitchFamily="34" charset="-120"/>
              </a:rPr>
              <a:t>  const { email, age } = req.body;</a:t>
            </a:r>
            <a:endParaRPr lang="en-US" sz="1029" dirty="0"/>
          </a:p>
          <a:p>
            <a:pPr indent="0" marL="0">
              <a:lnSpc>
                <a:spcPct val="125000"/>
              </a:lnSpc>
              <a:buNone/>
            </a:pPr>
            <a:endParaRPr lang="en-US" sz="1029" dirty="0"/>
          </a:p>
          <a:p>
            <a:pPr indent="0" marL="0">
              <a:lnSpc>
                <a:spcPct val="125000"/>
              </a:lnSpc>
              <a:buNone/>
            </a:pPr>
            <a:r>
              <a:rPr lang="en-US" sz="1029" dirty="0">
                <a:solidFill>
                  <a:srgbClr val="C9D3F5"/>
                </a:solidFill>
                <a:latin typeface="Courier New" pitchFamily="34" charset="0"/>
                <a:ea typeface="Courier New" pitchFamily="34" charset="-122"/>
                <a:cs typeface="Courier New" pitchFamily="34" charset="-120"/>
              </a:rPr>
              <a:t>  if (typeof email !== "string" || !email.includes("@")) {</a:t>
            </a:r>
            <a:endParaRPr lang="en-US" sz="1029" dirty="0"/>
          </a:p>
          <a:p>
            <a:pPr indent="0" marL="0">
              <a:lnSpc>
                <a:spcPct val="125000"/>
              </a:lnSpc>
              <a:buNone/>
            </a:pPr>
            <a:r>
              <a:rPr lang="en-US" sz="1029" dirty="0">
                <a:solidFill>
                  <a:srgbClr val="C9D3F5"/>
                </a:solidFill>
                <a:latin typeface="Courier New" pitchFamily="34" charset="0"/>
                <a:ea typeface="Courier New" pitchFamily="34" charset="-122"/>
                <a:cs typeface="Courier New" pitchFamily="34" charset="-120"/>
              </a:rPr>
              <a:t>    return res.status(400).json({ error: "A valid email is required." });</a:t>
            </a:r>
            <a:endParaRPr lang="en-US" sz="1029" dirty="0"/>
          </a:p>
          <a:p>
            <a:pPr indent="0" marL="0">
              <a:lnSpc>
                <a:spcPct val="125000"/>
              </a:lnSpc>
              <a:buNone/>
            </a:pPr>
            <a:r>
              <a:rPr lang="en-US" sz="1029" dirty="0">
                <a:solidFill>
                  <a:srgbClr val="C9D3F5"/>
                </a:solidFill>
                <a:latin typeface="Courier New" pitchFamily="34" charset="0"/>
                <a:ea typeface="Courier New" pitchFamily="34" charset="-122"/>
                <a:cs typeface="Courier New" pitchFamily="34" charset="-120"/>
              </a:rPr>
              <a:t>  }</a:t>
            </a:r>
            <a:endParaRPr lang="en-US" sz="1029" dirty="0"/>
          </a:p>
          <a:p>
            <a:pPr indent="0" marL="0">
              <a:lnSpc>
                <a:spcPct val="125000"/>
              </a:lnSpc>
              <a:buNone/>
            </a:pPr>
            <a:endParaRPr lang="en-US" sz="1029" dirty="0"/>
          </a:p>
          <a:p>
            <a:pPr indent="0" marL="0">
              <a:lnSpc>
                <a:spcPct val="125000"/>
              </a:lnSpc>
              <a:buNone/>
            </a:pPr>
            <a:r>
              <a:rPr lang="en-US" sz="1029" dirty="0">
                <a:solidFill>
                  <a:srgbClr val="C9D3F5"/>
                </a:solidFill>
                <a:latin typeface="Courier New" pitchFamily="34" charset="0"/>
                <a:ea typeface="Courier New" pitchFamily="34" charset="-122"/>
                <a:cs typeface="Courier New" pitchFamily="34" charset="-120"/>
              </a:rPr>
              <a:t>  const numericAge = Number(age);</a:t>
            </a:r>
            <a:endParaRPr lang="en-US" sz="1029" dirty="0"/>
          </a:p>
          <a:p>
            <a:pPr indent="0" marL="0">
              <a:lnSpc>
                <a:spcPct val="125000"/>
              </a:lnSpc>
              <a:buNone/>
            </a:pPr>
            <a:r>
              <a:rPr lang="en-US" sz="1029" dirty="0">
                <a:solidFill>
                  <a:srgbClr val="C9D3F5"/>
                </a:solidFill>
                <a:latin typeface="Courier New" pitchFamily="34" charset="0"/>
                <a:ea typeface="Courier New" pitchFamily="34" charset="-122"/>
                <a:cs typeface="Courier New" pitchFamily="34" charset="-120"/>
              </a:rPr>
              <a:t>  if (!Number.isInteger(numericAge) || numericAge &lt; 13 || numericAge &gt; 120) {</a:t>
            </a:r>
            <a:endParaRPr lang="en-US" sz="1029" dirty="0"/>
          </a:p>
          <a:p>
            <a:pPr indent="0" marL="0">
              <a:lnSpc>
                <a:spcPct val="125000"/>
              </a:lnSpc>
              <a:buNone/>
            </a:pPr>
            <a:r>
              <a:rPr lang="en-US" sz="1029" dirty="0">
                <a:solidFill>
                  <a:srgbClr val="C9D3F5"/>
                </a:solidFill>
                <a:latin typeface="Courier New" pitchFamily="34" charset="0"/>
                <a:ea typeface="Courier New" pitchFamily="34" charset="-122"/>
                <a:cs typeface="Courier New" pitchFamily="34" charset="-120"/>
              </a:rPr>
              <a:t>    return res.status(400).json({ error: "Age must be 13-120." });</a:t>
            </a:r>
            <a:endParaRPr lang="en-US" sz="1029" dirty="0"/>
          </a:p>
          <a:p>
            <a:pPr indent="0" marL="0">
              <a:lnSpc>
                <a:spcPct val="125000"/>
              </a:lnSpc>
              <a:buNone/>
            </a:pPr>
            <a:r>
              <a:rPr lang="en-US" sz="1029" dirty="0">
                <a:solidFill>
                  <a:srgbClr val="C9D3F5"/>
                </a:solidFill>
                <a:latin typeface="Courier New" pitchFamily="34" charset="0"/>
                <a:ea typeface="Courier New" pitchFamily="34" charset="-122"/>
                <a:cs typeface="Courier New" pitchFamily="34" charset="-120"/>
              </a:rPr>
              <a:t>  }</a:t>
            </a:r>
            <a:endParaRPr lang="en-US" sz="1029" dirty="0"/>
          </a:p>
          <a:p>
            <a:pPr indent="0" marL="0">
              <a:lnSpc>
                <a:spcPct val="125000"/>
              </a:lnSpc>
              <a:buNone/>
            </a:pPr>
            <a:endParaRPr lang="en-US" sz="1029" dirty="0"/>
          </a:p>
          <a:p>
            <a:pPr indent="0" marL="0">
              <a:lnSpc>
                <a:spcPct val="125000"/>
              </a:lnSpc>
              <a:buNone/>
            </a:pPr>
            <a:r>
              <a:rPr lang="en-US" sz="1029" dirty="0">
                <a:solidFill>
                  <a:srgbClr val="C9D3F5"/>
                </a:solidFill>
                <a:latin typeface="Courier New" pitchFamily="34" charset="0"/>
                <a:ea typeface="Courier New" pitchFamily="34" charset="-122"/>
                <a:cs typeface="Courier New" pitchFamily="34" charset="-120"/>
              </a:rPr>
              <a:t>  res.status(201).json({ message: "Account created." });</a:t>
            </a:r>
            <a:endParaRPr lang="en-US" sz="1029" dirty="0"/>
          </a:p>
          <a:p>
            <a:pPr indent="0" marL="0">
              <a:lnSpc>
                <a:spcPct val="125000"/>
              </a:lnSpc>
              <a:buNone/>
            </a:pPr>
            <a:r>
              <a:rPr lang="en-US" sz="1029" dirty="0">
                <a:solidFill>
                  <a:srgbClr val="C9D3F5"/>
                </a:solidFill>
                <a:latin typeface="Courier New" pitchFamily="34" charset="0"/>
                <a:ea typeface="Courier New" pitchFamily="34" charset="-122"/>
                <a:cs typeface="Courier New" pitchFamily="34" charset="-120"/>
              </a:rPr>
              <a:t>});</a:t>
            </a:r>
            <a:endParaRPr lang="en-US" sz="1029" dirty="0"/>
          </a:p>
        </p:txBody>
      </p:sp>
      <p:sp>
        <p:nvSpPr>
          <p:cNvPr id="6" name="Text 4"/>
          <p:cNvSpPr txBox="1"/>
          <p:nvPr/>
        </p:nvSpPr>
        <p:spPr>
          <a:xfrm>
            <a:off x="640080" y="5486400"/>
            <a:ext cx="10911535" cy="77724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Libraries like joi, zod, or express-validator define these rules once instead of writing manual if checks per field.</a:t>
            </a:r>
            <a:endParaRPr lang="en-US" sz="1300" dirty="0"/>
          </a:p>
        </p:txBody>
      </p:sp>
      <p:sp>
        <p:nvSpPr>
          <p:cNvPr id="9"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23</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INPUT VALIDATION</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Client-Side Validation Is Convenience, Not Security</a:t>
            </a:r>
            <a:endParaRPr lang="en-US" sz="3400" dirty="0"/>
          </a:p>
        </p:txBody>
      </p:sp>
      <p:sp>
        <p:nvSpPr>
          <p:cNvPr id="4" name="Shape 2"/>
          <p:cNvSpPr/>
          <p:nvPr/>
        </p:nvSpPr>
        <p:spPr>
          <a:xfrm>
            <a:off x="640080" y="1965960"/>
            <a:ext cx="10911535" cy="1737360"/>
          </a:xfrm>
          <a:prstGeom prst="roundRect">
            <a:avLst>
              <a:gd name="adj" fmla="val 3158"/>
            </a:avLst>
          </a:prstGeom>
          <a:solidFill>
            <a:srgbClr val="FDECE0"/>
          </a:solidFill>
          <a:ln w="12700">
            <a:solidFill>
              <a:srgbClr val="FF8A3D"/>
            </a:solidFill>
            <a:prstDash val="solid"/>
          </a:ln>
        </p:spPr>
        <p:txBody>
          <a:bodyPr/>
          <a:p/>
        </p:txBody>
      </p:sp>
      <p:sp>
        <p:nvSpPr>
          <p:cNvPr id="5" name="Text 3"/>
          <p:cNvSpPr txBox="1"/>
          <p:nvPr/>
        </p:nvSpPr>
        <p:spPr>
          <a:xfrm>
            <a:off x="868680" y="2103120"/>
            <a:ext cx="10454335" cy="274320"/>
          </a:xfrm>
          <a:prstGeom prst="rect">
            <a:avLst/>
          </a:prstGeom>
          <a:noFill/>
          <a:ln/>
        </p:spPr>
        <p:txBody>
          <a:bodyPr wrap="square" lIns="0" tIns="0" rIns="0" bIns="0" rtlCol="0" anchor="ctr"/>
          <a:lstStyle/>
          <a:p>
            <a:pPr indent="0" marL="0">
              <a:buNone/>
            </a:pPr>
            <a:r>
              <a:rPr lang="en-US" sz="1000" b="1" spc="200" kern="0" dirty="0">
                <a:solidFill>
                  <a:srgbClr val="8A3A12"/>
                </a:solidFill>
                <a:latin typeface="Calibri" pitchFamily="34" charset="0"/>
                <a:ea typeface="Calibri" pitchFamily="34" charset="-122"/>
                <a:cs typeface="Calibri" pitchFamily="34" charset="-120"/>
              </a:rPr>
              <a:t>WARNING</a:t>
            </a:r>
            <a:endParaRPr lang="en-US" sz="1000" dirty="0"/>
          </a:p>
        </p:txBody>
      </p:sp>
      <p:sp>
        <p:nvSpPr>
          <p:cNvPr id="6" name="Text 4"/>
          <p:cNvSpPr txBox="1"/>
          <p:nvPr/>
        </p:nvSpPr>
        <p:spPr>
          <a:xfrm>
            <a:off x="868680" y="2404872"/>
            <a:ext cx="10454335" cy="1143000"/>
          </a:xfrm>
          <a:prstGeom prst="rect">
            <a:avLst/>
          </a:prstGeom>
          <a:noFill/>
          <a:ln/>
        </p:spPr>
        <p:txBody>
          <a:bodyPr wrap="square" lIns="0" tIns="0" rIns="0" bIns="0" rtlCol="0" anchor="t"/>
          <a:lstStyle/>
          <a:p>
            <a:pPr indent="0" marL="0">
              <a:buNone/>
            </a:pPr>
            <a:r>
              <a:rPr lang="en-US" sz="1250" dirty="0">
                <a:solidFill>
                  <a:srgbClr val="26262F"/>
                </a:solidFill>
                <a:latin typeface="Calibri" pitchFamily="34" charset="0"/>
                <a:ea typeface="Calibri" pitchFamily="34" charset="-122"/>
                <a:cs typeface="Calibri" pitchFamily="34" charset="-120"/>
              </a:rPr>
              <a:t>React form validation gives instant feedback with zero network round trip — but it runs on the attacker's own computer, where they can disable or bypass it entirely. Always re-validate on the server too. Server-side validation is the real security boundary.</a:t>
            </a:r>
            <a:endParaRPr lang="en-US" sz="1250" dirty="0"/>
          </a:p>
        </p:txBody>
      </p:sp>
      <p:sp>
        <p:nvSpPr>
          <p:cNvPr id="9"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24</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OUTPUT ENCODING</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The Mirror Image of Input Validation</a:t>
            </a:r>
            <a:endParaRPr lang="en-US" sz="3400" dirty="0"/>
          </a:p>
        </p:txBody>
      </p:sp>
      <p:sp>
        <p:nvSpPr>
          <p:cNvPr id="4" name="Shape 2"/>
          <p:cNvSpPr/>
          <p:nvPr/>
        </p:nvSpPr>
        <p:spPr>
          <a:xfrm>
            <a:off x="685800" y="1965960"/>
            <a:ext cx="457200" cy="457200"/>
          </a:xfrm>
          <a:prstGeom prst="ellipse">
            <a:avLst/>
          </a:prstGeom>
          <a:solidFill>
            <a:srgbClr val="FF8A3D"/>
          </a:solidFill>
          <a:ln/>
        </p:spPr>
        <p:txBody>
          <a:bodyPr/>
          <a:p/>
        </p:txBody>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Transform data right before displaying/using it, so it can't be misread as code in that new context</a:t>
            </a:r>
            <a:endParaRPr lang="en-US" sz="1500" dirty="0"/>
          </a:p>
        </p:txBody>
      </p:sp>
      <p:sp>
        <p:nvSpPr>
          <p:cNvPr id="7" name="Shape 5"/>
          <p:cNvSpPr/>
          <p:nvPr/>
        </p:nvSpPr>
        <p:spPr>
          <a:xfrm>
            <a:off x="685800" y="2788920"/>
            <a:ext cx="457200" cy="457200"/>
          </a:xfrm>
          <a:prstGeom prst="ellipse">
            <a:avLst/>
          </a:prstGeom>
          <a:solidFill>
            <a:srgbClr val="FF8A3D"/>
          </a:solidFill>
          <a:ln/>
        </p:spPr>
        <p:txBody>
          <a:bodyPr/>
          <a:p/>
        </p:txBody>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If a user's name is literally &lt;script&gt;alert('hi')&lt;/script&gt; and you insert it into HTML unencoded, the browser runs it — this is Cross-Site Scripting (Lecture 31)</a:t>
            </a:r>
            <a:endParaRPr lang="en-US" sz="1500" dirty="0"/>
          </a:p>
        </p:txBody>
      </p:sp>
      <p:sp>
        <p:nvSpPr>
          <p:cNvPr id="10" name="Shape 8"/>
          <p:cNvSpPr/>
          <p:nvPr/>
        </p:nvSpPr>
        <p:spPr>
          <a:xfrm>
            <a:off x="685800" y="3611880"/>
            <a:ext cx="457200" cy="457200"/>
          </a:xfrm>
          <a:prstGeom prst="ellipse">
            <a:avLst/>
          </a:prstGeom>
          <a:solidFill>
            <a:srgbClr val="FF8A3D"/>
          </a:solidFill>
          <a:ln/>
        </p:spPr>
        <p:txBody>
          <a:bodyPr/>
          <a:p/>
        </p:txBody>
      </p:sp>
      <p:sp>
        <p:nvSpPr>
          <p:cNvPr id="11" name="Text 9"/>
          <p:cNvSpPr txBox="1"/>
          <p:nvPr/>
        </p:nvSpPr>
        <p:spPr>
          <a:xfrm>
            <a:off x="685800" y="3611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53872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React encodes {userName} in JSX automatically — the danger is deliberately bypassing that with dangerouslySetInnerHTML</a:t>
            </a:r>
            <a:endParaRPr lang="en-US" sz="1500" dirty="0"/>
          </a:p>
        </p:txBody>
      </p:sp>
      <p:sp>
        <p:nvSpPr>
          <p:cNvPr id="15"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25</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SECRETS MANAGEMENT</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What Counts as a Secret</a:t>
            </a:r>
            <a:endParaRPr lang="en-US" sz="3400" dirty="0"/>
          </a:p>
        </p:txBody>
      </p:sp>
      <p:sp>
        <p:nvSpPr>
          <p:cNvPr id="4" name="Shape 2"/>
          <p:cNvSpPr/>
          <p:nvPr/>
        </p:nvSpPr>
        <p:spPr>
          <a:xfrm>
            <a:off x="685800" y="1965960"/>
            <a:ext cx="457200" cy="457200"/>
          </a:xfrm>
          <a:prstGeom prst="ellipse">
            <a:avLst/>
          </a:prstGeom>
          <a:solidFill>
            <a:srgbClr val="FF8A3D"/>
          </a:solidFill>
          <a:ln/>
        </p:spPr>
        <p:txBody>
          <a:bodyPr/>
          <a:p/>
        </p:txBody>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Any information that must stay private for your system to remain secure</a:t>
            </a:r>
            <a:endParaRPr lang="en-US" sz="1500" dirty="0"/>
          </a:p>
        </p:txBody>
      </p:sp>
      <p:sp>
        <p:nvSpPr>
          <p:cNvPr id="7" name="Shape 5"/>
          <p:cNvSpPr/>
          <p:nvPr/>
        </p:nvSpPr>
        <p:spPr>
          <a:xfrm>
            <a:off x="685800" y="2788920"/>
            <a:ext cx="457200" cy="457200"/>
          </a:xfrm>
          <a:prstGeom prst="ellipse">
            <a:avLst/>
          </a:prstGeom>
          <a:solidFill>
            <a:srgbClr val="FF8A3D"/>
          </a:solidFill>
          <a:ln/>
        </p:spPr>
        <p:txBody>
          <a:bodyPr/>
          <a:p/>
        </p:txBody>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Database passwords, third-party API keys, JWT signing keys, cloud credentials — all secrets</a:t>
            </a:r>
            <a:endParaRPr lang="en-US" sz="1500" dirty="0"/>
          </a:p>
        </p:txBody>
      </p:sp>
      <p:sp>
        <p:nvSpPr>
          <p:cNvPr id="10" name="Shape 8"/>
          <p:cNvSpPr/>
          <p:nvPr/>
        </p:nvSpPr>
        <p:spPr>
          <a:xfrm>
            <a:off x="685800" y="3611880"/>
            <a:ext cx="457200" cy="457200"/>
          </a:xfrm>
          <a:prstGeom prst="ellipse">
            <a:avLst/>
          </a:prstGeom>
          <a:solidFill>
            <a:srgbClr val="FF8A3D"/>
          </a:solidFill>
          <a:ln/>
        </p:spPr>
        <p:txBody>
          <a:bodyPr/>
          <a:p/>
        </p:txBody>
      </p:sp>
      <p:sp>
        <p:nvSpPr>
          <p:cNvPr id="11" name="Text 9"/>
          <p:cNvSpPr txBox="1"/>
          <p:nvPr/>
        </p:nvSpPr>
        <p:spPr>
          <a:xfrm>
            <a:off x="685800" y="3611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53872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Once pushed to a public Git repo, a secret is permanently compromised — even if you delete it later, it's still in the history</a:t>
            </a:r>
            <a:endParaRPr lang="en-US" sz="1500" dirty="0"/>
          </a:p>
        </p:txBody>
      </p:sp>
      <p:sp>
        <p:nvSpPr>
          <p:cNvPr id="15"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26</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SECRETS MANAGEMENT</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Never Commit Secrets to Git</a:t>
            </a:r>
            <a:endParaRPr lang="en-US" sz="3400" dirty="0"/>
          </a:p>
        </p:txBody>
      </p:sp>
      <p:sp>
        <p:nvSpPr>
          <p:cNvPr id="4" name="Shape 2"/>
          <p:cNvSpPr/>
          <p:nvPr/>
        </p:nvSpPr>
        <p:spPr>
          <a:xfrm>
            <a:off x="640080" y="1965960"/>
            <a:ext cx="10911535" cy="1737360"/>
          </a:xfrm>
          <a:prstGeom prst="roundRect">
            <a:avLst>
              <a:gd name="adj" fmla="val 3158"/>
            </a:avLst>
          </a:prstGeom>
          <a:solidFill>
            <a:srgbClr val="FDECE0"/>
          </a:solidFill>
          <a:ln w="12700">
            <a:solidFill>
              <a:srgbClr val="FF8A3D"/>
            </a:solidFill>
            <a:prstDash val="solid"/>
          </a:ln>
        </p:spPr>
        <p:txBody>
          <a:bodyPr/>
          <a:p/>
        </p:txBody>
      </p:sp>
      <p:sp>
        <p:nvSpPr>
          <p:cNvPr id="5" name="Text 3"/>
          <p:cNvSpPr txBox="1"/>
          <p:nvPr/>
        </p:nvSpPr>
        <p:spPr>
          <a:xfrm>
            <a:off x="868680" y="2103120"/>
            <a:ext cx="10454335" cy="274320"/>
          </a:xfrm>
          <a:prstGeom prst="rect">
            <a:avLst/>
          </a:prstGeom>
          <a:noFill/>
          <a:ln/>
        </p:spPr>
        <p:txBody>
          <a:bodyPr wrap="square" lIns="0" tIns="0" rIns="0" bIns="0" rtlCol="0" anchor="ctr"/>
          <a:lstStyle/>
          <a:p>
            <a:pPr indent="0" marL="0">
              <a:buNone/>
            </a:pPr>
            <a:r>
              <a:rPr lang="en-US" sz="1000" b="1" spc="200" kern="0" dirty="0">
                <a:solidFill>
                  <a:srgbClr val="8A3A12"/>
                </a:solidFill>
                <a:latin typeface="Calibri" pitchFamily="34" charset="0"/>
                <a:ea typeface="Calibri" pitchFamily="34" charset="-122"/>
                <a:cs typeface="Calibri" pitchFamily="34" charset="-120"/>
              </a:rPr>
              <a:t>WARNING</a:t>
            </a:r>
            <a:endParaRPr lang="en-US" sz="1000" dirty="0"/>
          </a:p>
        </p:txBody>
      </p:sp>
      <p:sp>
        <p:nvSpPr>
          <p:cNvPr id="6" name="Text 4"/>
          <p:cNvSpPr txBox="1"/>
          <p:nvPr/>
        </p:nvSpPr>
        <p:spPr>
          <a:xfrm>
            <a:off x="868680" y="2404872"/>
            <a:ext cx="10454335" cy="1143000"/>
          </a:xfrm>
          <a:prstGeom prst="rect">
            <a:avLst/>
          </a:prstGeom>
          <a:noFill/>
          <a:ln/>
        </p:spPr>
        <p:txBody>
          <a:bodyPr wrap="square" lIns="0" tIns="0" rIns="0" bIns="0" rtlCol="0" anchor="t"/>
          <a:lstStyle/>
          <a:p>
            <a:pPr indent="0" marL="0">
              <a:buNone/>
            </a:pPr>
            <a:r>
              <a:rPr lang="en-US" sz="1250" dirty="0">
                <a:solidFill>
                  <a:srgbClr val="26262F"/>
                </a:solidFill>
                <a:latin typeface="Calibri" pitchFamily="34" charset="0"/>
                <a:ea typeface="Calibri" pitchFamily="34" charset="-122"/>
                <a:cs typeface="Calibri" pitchFamily="34" charset="-120"/>
              </a:rPr>
              <a:t>One of the most common and damaging mistakes: committing a .env file or hard-coded API key, especially to a public GitHub repo. Automated bots scan public repos for exposed keys within minutes of a push. If one leaks, rotate it — generate a brand-new secret and revoke the old one.</a:t>
            </a:r>
            <a:endParaRPr lang="en-US" sz="1250" dirty="0"/>
          </a:p>
        </p:txBody>
      </p:sp>
      <p:sp>
        <p:nvSpPr>
          <p:cNvPr id="9"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27</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SECRETS MANAGEMENT</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The Standard Practice</a:t>
            </a:r>
            <a:endParaRPr lang="en-US" sz="3400" dirty="0"/>
          </a:p>
        </p:txBody>
      </p:sp>
      <p:sp>
        <p:nvSpPr>
          <p:cNvPr id="4" name="Shape 2"/>
          <p:cNvSpPr/>
          <p:nvPr/>
        </p:nvSpPr>
        <p:spPr>
          <a:xfrm>
            <a:off x="640080" y="1965960"/>
            <a:ext cx="10911535" cy="2682240"/>
          </a:xfrm>
          <a:prstGeom prst="roundRect">
            <a:avLst>
              <a:gd name="adj" fmla="val 2727"/>
            </a:avLst>
          </a:prstGeom>
          <a:solidFill>
            <a:srgbClr val="1E1E4C"/>
          </a:solidFill>
          <a:ln/>
        </p:spPr>
        <p:txBody>
          <a:bodyPr/>
          <a:p/>
        </p:txBody>
      </p:sp>
      <p:sp>
        <p:nvSpPr>
          <p:cNvPr id="5" name="Text 3"/>
          <p:cNvSpPr txBox="1"/>
          <p:nvPr/>
        </p:nvSpPr>
        <p:spPr>
          <a:xfrm>
            <a:off x="960120" y="2194560"/>
            <a:ext cx="10271455" cy="22250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.gitignore</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node_modules/</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.env</a:t>
            </a:r>
            <a:endParaRPr lang="en-US" sz="1400" dirty="0"/>
          </a:p>
          <a:p>
            <a:pPr indent="0" marL="0">
              <a:lnSpc>
                <a:spcPct val="125000"/>
              </a:lnSpc>
              <a:buNone/>
            </a:pP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.env.example  (safe to commit — no real secrets)</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DATABASE_URL=your-mongodb-connection-string-here</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JWT_SECRET=your-jwt-signing-secret-here</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STRIPE_API_KEY=your-stripe-key-here</a:t>
            </a:r>
            <a:endParaRPr lang="en-US" sz="1400" dirty="0"/>
          </a:p>
        </p:txBody>
      </p:sp>
      <p:sp>
        <p:nvSpPr>
          <p:cNvPr id="6" name="Text 4"/>
          <p:cNvSpPr txBox="1"/>
          <p:nvPr/>
        </p:nvSpPr>
        <p:spPr>
          <a:xfrm>
            <a:off x="640080" y="4876800"/>
            <a:ext cx="10911535" cy="138684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Commit .env.example so teammates know what to set up. On your hosting platform (Lecture 32), set real values through its own environment variable settings — never by uploading a .env file.</a:t>
            </a:r>
            <a:endParaRPr lang="en-US" sz="1300" dirty="0"/>
          </a:p>
        </p:txBody>
      </p:sp>
      <p:sp>
        <p:nvSpPr>
          <p:cNvPr id="9"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28</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2B2B7A"/>
        </a:solidFill>
      </p:bgPr>
    </p:bg>
    <p:spTree>
      <p:nvGrpSpPr>
        <p:cNvPr id="1" name=""/>
        <p:cNvGrpSpPr/>
        <p:nvPr/>
      </p:nvGrpSpPr>
      <p:grpSpPr>
        <a:xfrm>
          <a:off x="0" y="0"/>
          <a:ext cx="0" cy="0"/>
          <a:chOff x="0" y="0"/>
          <a:chExt cx="0" cy="0"/>
        </a:xfrm>
      </p:grpSpPr>
      <p:sp>
        <p:nvSpPr>
          <p:cNvPr id="2" name="Text 0"/>
          <p:cNvSpPr txBox="1"/>
          <p:nvPr/>
        </p:nvSpPr>
        <p:spPr>
          <a:xfrm>
            <a:off x="822960" y="731520"/>
            <a:ext cx="9144000" cy="457200"/>
          </a:xfrm>
          <a:prstGeom prst="rect">
            <a:avLst/>
          </a:prstGeom>
          <a:noFill/>
          <a:ln/>
        </p:spPr>
        <p:txBody>
          <a:bodyPr wrap="square" lIns="0" tIns="0" rIns="0" bIns="0" rtlCol="0" anchor="ctr"/>
          <a:lstStyle/>
          <a:p>
            <a:pPr indent="0" marL="0">
              <a:buNone/>
            </a:pPr>
            <a:r>
              <a:rPr lang="en-US" sz="1500" b="1" spc="400" kern="0" dirty="0">
                <a:solidFill>
                  <a:srgbClr val="FF8A3D"/>
                </a:solidFill>
                <a:latin typeface="Calibri" pitchFamily="34" charset="0"/>
                <a:ea typeface="Calibri" pitchFamily="34" charset="-122"/>
                <a:cs typeface="Calibri" pitchFamily="34" charset="-120"/>
              </a:rPr>
              <a:t>KEY TAKEAWAYS</a:t>
            </a:r>
            <a:endParaRPr lang="en-US" sz="1500" dirty="0"/>
          </a:p>
        </p:txBody>
      </p:sp>
      <p:sp>
        <p:nvSpPr>
          <p:cNvPr id="3" name="Text 1"/>
          <p:cNvSpPr txBox="1"/>
          <p:nvPr/>
        </p:nvSpPr>
        <p:spPr>
          <a:xfrm>
            <a:off x="777240" y="1188720"/>
            <a:ext cx="10515600" cy="82296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Lecture 30 in Six Points</a:t>
            </a:r>
            <a:endParaRPr lang="en-US" sz="3400" dirty="0"/>
          </a:p>
        </p:txBody>
      </p:sp>
      <p:sp>
        <p:nvSpPr>
          <p:cNvPr id="4" name="Shape 2"/>
          <p:cNvSpPr/>
          <p:nvPr/>
        </p:nvSpPr>
        <p:spPr>
          <a:xfrm>
            <a:off x="822960" y="2286000"/>
            <a:ext cx="438912" cy="438912"/>
          </a:xfrm>
          <a:prstGeom prst="ellipse">
            <a:avLst/>
          </a:prstGeom>
          <a:solidFill>
            <a:srgbClr val="FF8A3D"/>
          </a:solidFill>
          <a:ln/>
        </p:spPr>
        <p:txBody>
          <a:bodyPr/>
          <a:p/>
        </p:txBody>
      </p:sp>
      <p:sp>
        <p:nvSpPr>
          <p:cNvPr id="5" name="Text 3"/>
          <p:cNvSpPr txBox="1"/>
          <p:nvPr/>
        </p:nvSpPr>
        <p:spPr>
          <a:xfrm>
            <a:off x="822960" y="22860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463040" y="2194560"/>
            <a:ext cx="10058400" cy="62484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The CIA triad — Confidentiality, Integrity, Availability — describes the three goals every security control protects.</a:t>
            </a:r>
            <a:endParaRPr lang="en-US" sz="1250" dirty="0"/>
          </a:p>
        </p:txBody>
      </p:sp>
      <p:sp>
        <p:nvSpPr>
          <p:cNvPr id="7" name="Shape 5"/>
          <p:cNvSpPr/>
          <p:nvPr/>
        </p:nvSpPr>
        <p:spPr>
          <a:xfrm>
            <a:off x="822960" y="2956560"/>
            <a:ext cx="438912" cy="438912"/>
          </a:xfrm>
          <a:prstGeom prst="ellipse">
            <a:avLst/>
          </a:prstGeom>
          <a:solidFill>
            <a:srgbClr val="FF8A3D"/>
          </a:solidFill>
          <a:ln/>
        </p:spPr>
        <p:txBody>
          <a:bodyPr/>
          <a:p/>
        </p:txBody>
      </p:sp>
      <p:sp>
        <p:nvSpPr>
          <p:cNvPr id="8" name="Text 6"/>
          <p:cNvSpPr txBox="1"/>
          <p:nvPr/>
        </p:nvSpPr>
        <p:spPr>
          <a:xfrm>
            <a:off x="822960" y="295656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463040" y="2865120"/>
            <a:ext cx="10058400" cy="62484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Least privilege: give every account, process, and piece of code only the permissions it strictly needs.</a:t>
            </a:r>
            <a:endParaRPr lang="en-US" sz="1250" dirty="0"/>
          </a:p>
        </p:txBody>
      </p:sp>
      <p:sp>
        <p:nvSpPr>
          <p:cNvPr id="10" name="Shape 8"/>
          <p:cNvSpPr/>
          <p:nvPr/>
        </p:nvSpPr>
        <p:spPr>
          <a:xfrm>
            <a:off x="822960" y="3627120"/>
            <a:ext cx="438912" cy="438912"/>
          </a:xfrm>
          <a:prstGeom prst="ellipse">
            <a:avLst/>
          </a:prstGeom>
          <a:solidFill>
            <a:srgbClr val="FF8A3D"/>
          </a:solidFill>
          <a:ln/>
        </p:spPr>
        <p:txBody>
          <a:bodyPr/>
          <a:p/>
        </p:txBody>
      </p:sp>
      <p:sp>
        <p:nvSpPr>
          <p:cNvPr id="11" name="Text 9"/>
          <p:cNvSpPr txBox="1"/>
          <p:nvPr/>
        </p:nvSpPr>
        <p:spPr>
          <a:xfrm>
            <a:off x="822960" y="362712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463040" y="3535680"/>
            <a:ext cx="10058400" cy="62484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Defence in depth: layer multiple independent controls so one failure doesn't mean total compromise.</a:t>
            </a:r>
            <a:endParaRPr lang="en-US" sz="1250" dirty="0"/>
          </a:p>
        </p:txBody>
      </p:sp>
      <p:sp>
        <p:nvSpPr>
          <p:cNvPr id="13" name="Shape 11"/>
          <p:cNvSpPr/>
          <p:nvPr/>
        </p:nvSpPr>
        <p:spPr>
          <a:xfrm>
            <a:off x="822960" y="4297680"/>
            <a:ext cx="438912" cy="438912"/>
          </a:xfrm>
          <a:prstGeom prst="ellipse">
            <a:avLst/>
          </a:prstGeom>
          <a:solidFill>
            <a:srgbClr val="FF8A3D"/>
          </a:solidFill>
          <a:ln/>
        </p:spPr>
        <p:txBody>
          <a:bodyPr/>
          <a:p/>
        </p:txBody>
      </p:sp>
      <p:sp>
        <p:nvSpPr>
          <p:cNvPr id="14" name="Text 12"/>
          <p:cNvSpPr txBox="1"/>
          <p:nvPr/>
        </p:nvSpPr>
        <p:spPr>
          <a:xfrm>
            <a:off x="822960" y="429768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5" name="Text 13"/>
          <p:cNvSpPr txBox="1"/>
          <p:nvPr/>
        </p:nvSpPr>
        <p:spPr>
          <a:xfrm>
            <a:off x="1463040" y="4206240"/>
            <a:ext cx="10058400" cy="62484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HTTPS/TLS encrypts traffic and lets the browser verify a server's identity via a CA-issued certificate.</a:t>
            </a:r>
            <a:endParaRPr lang="en-US" sz="1250" dirty="0"/>
          </a:p>
        </p:txBody>
      </p:sp>
      <p:sp>
        <p:nvSpPr>
          <p:cNvPr id="16" name="Shape 14"/>
          <p:cNvSpPr/>
          <p:nvPr/>
        </p:nvSpPr>
        <p:spPr>
          <a:xfrm>
            <a:off x="822960" y="4968240"/>
            <a:ext cx="438912" cy="438912"/>
          </a:xfrm>
          <a:prstGeom prst="ellipse">
            <a:avLst/>
          </a:prstGeom>
          <a:solidFill>
            <a:srgbClr val="FF8A3D"/>
          </a:solidFill>
          <a:ln/>
        </p:spPr>
        <p:txBody>
          <a:bodyPr/>
          <a:p/>
        </p:txBody>
      </p:sp>
      <p:sp>
        <p:nvSpPr>
          <p:cNvPr id="17" name="Text 15"/>
          <p:cNvSpPr txBox="1"/>
          <p:nvPr/>
        </p:nvSpPr>
        <p:spPr>
          <a:xfrm>
            <a:off x="822960" y="496824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8" name="Text 16"/>
          <p:cNvSpPr txBox="1"/>
          <p:nvPr/>
        </p:nvSpPr>
        <p:spPr>
          <a:xfrm>
            <a:off x="1463040" y="4876800"/>
            <a:ext cx="10058400" cy="62484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Authentication ("who are you?") and authorization ("what are you allowed to do?") are distinct — check both, every time.</a:t>
            </a:r>
            <a:endParaRPr lang="en-US" sz="1250" dirty="0"/>
          </a:p>
        </p:txBody>
      </p:sp>
      <p:sp>
        <p:nvSpPr>
          <p:cNvPr id="19" name="Shape 17"/>
          <p:cNvSpPr/>
          <p:nvPr/>
        </p:nvSpPr>
        <p:spPr>
          <a:xfrm>
            <a:off x="822960" y="5638800"/>
            <a:ext cx="438912" cy="438912"/>
          </a:xfrm>
          <a:prstGeom prst="ellipse">
            <a:avLst/>
          </a:prstGeom>
          <a:solidFill>
            <a:srgbClr val="FF8A3D"/>
          </a:solidFill>
          <a:ln/>
        </p:spPr>
        <p:txBody>
          <a:bodyPr/>
          <a:p/>
        </p:txBody>
      </p:sp>
      <p:sp>
        <p:nvSpPr>
          <p:cNvPr id="20" name="Text 18"/>
          <p:cNvSpPr txBox="1"/>
          <p:nvPr/>
        </p:nvSpPr>
        <p:spPr>
          <a:xfrm>
            <a:off x="822960" y="56388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21" name="Text 19"/>
          <p:cNvSpPr txBox="1"/>
          <p:nvPr/>
        </p:nvSpPr>
        <p:spPr>
          <a:xfrm>
            <a:off x="1463040" y="5547360"/>
            <a:ext cx="10058400" cy="62484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Validate input on the server, encode output on display, and never commit secrets to Git.</a:t>
            </a:r>
            <a:endParaRPr lang="en-US" sz="1250" dirty="0"/>
          </a:p>
        </p:txBody>
      </p:sp>
      <p:sp>
        <p:nvSpPr>
          <p:cNvPr id="24"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29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COMSATS University Islamabad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30: Application Security Basics</dc:title>
  <dc:subject>CSC336 Web Technologies</dc:subject>
  <dc:creator>Usman Akram</dc:creator>
  <cp:lastModifiedBy>Usman Akram</cp:lastModifiedBy>
  <cp:revision>1</cp:revision>
  <dcterms:created xsi:type="dcterms:W3CDTF">2026-09-22T05:49:20Z</dcterms:created>
  <dcterms:modified xsi:type="dcterms:W3CDTF">2026-09-22T05:49:20Z</dcterms:modified>
</cp:coreProperties>
</file>
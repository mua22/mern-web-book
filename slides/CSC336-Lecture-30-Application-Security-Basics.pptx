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30</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Application</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Security Basics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Your app is about to meet the Internet — here's how to keep it, and its users, safe.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CIA triad — confidentiality, integrity, availability</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Two guiding principles: least privilege and defence in depth</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HTTPS/TLS, certificates, and security-related response headers</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Authentication vs. authorization, revisited</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Input validation, output encoding, and secrets management</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 for a Class Project?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"Security is for big companies, not my class project" — this is a mistake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moment an app is reachable on the Internet, automated bots probe it 24/7 for common weaknesses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Security is not a bolt-on at the end — it's a way of thinking throughout development</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 Is a Process, Not a Checklist</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cannot make an application "100% secure." Security is about reducing risk to an acceptable level and reacting quickly when something goes wrong — not reaching some finish line where you are "done."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CIA TRIAD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Goals of a Secure System</a:t>
            </a:r>
            <a:endParaRPr lang="en-US" sz="3400" dirty="0"/>
          </a:p>
        </p:txBody>
      </p:sp>
      <p:sp>
        <p:nvSpPr>
          <p:cNvPr id="4" name="Shape 2"/>
          <p:cNvSpPr/>
          <p:nvPr/>
        </p:nvSpPr>
        <p:spPr>
          <a:xfrm flipH="1">
            <a:off x="2514600" y="3017520"/>
            <a:ext cx="2514600" cy="1005840"/>
          </a:xfrm>
          <a:prstGeom prst="line">
            <a:avLst/>
          </a:prstGeom>
          <a:noFill/>
          <a:ln w="25400">
            <a:solidFill>
              <a:srgbClr val="5D5D72"/>
            </a:solidFill>
            <a:prstDash val="solid"/>
            <a:tailEnd type="triangle"/>
          </a:ln>
        </p:spPr>
      </p:sp>
      <p:sp>
        <p:nvSpPr>
          <p:cNvPr id="5" name="Shape 3"/>
          <p:cNvSpPr/>
          <p:nvPr/>
        </p:nvSpPr>
        <p:spPr>
          <a:xfrm>
            <a:off x="6080760" y="3017520"/>
            <a:ext cx="9144" cy="1005840"/>
          </a:xfrm>
          <a:prstGeom prst="line">
            <a:avLst/>
          </a:prstGeom>
          <a:noFill/>
          <a:ln w="25400">
            <a:solidFill>
              <a:srgbClr val="5D5D72"/>
            </a:solidFill>
            <a:prstDash val="solid"/>
            <a:tailEnd type="triangle"/>
          </a:ln>
        </p:spPr>
      </p:sp>
      <p:sp>
        <p:nvSpPr>
          <p:cNvPr id="6" name="Shape 4"/>
          <p:cNvSpPr/>
          <p:nvPr/>
        </p:nvSpPr>
        <p:spPr>
          <a:xfrm>
            <a:off x="7132320" y="3017520"/>
            <a:ext cx="2514600" cy="1005840"/>
          </a:xfrm>
          <a:prstGeom prst="line">
            <a:avLst/>
          </a:prstGeom>
          <a:noFill/>
          <a:ln w="25400">
            <a:solidFill>
              <a:srgbClr val="5D5D72"/>
            </a:solidFill>
            <a:prstDash val="solid"/>
            <a:tailEnd type="triangle"/>
          </a:ln>
        </p:spPr>
      </p:sp>
      <p:sp>
        <p:nvSpPr>
          <p:cNvPr id="7" name="Shape 5"/>
          <p:cNvSpPr/>
          <p:nvPr/>
        </p:nvSpPr>
        <p:spPr>
          <a:xfrm>
            <a:off x="4480560" y="2286000"/>
            <a:ext cx="3200400" cy="731520"/>
          </a:xfrm>
          <a:prstGeom prst="rect">
            <a:avLst/>
          </a:prstGeom>
          <a:solidFill>
            <a:srgbClr val="1E1E4C"/>
          </a:solidFill>
          <a:ln/>
        </p:spPr>
      </p:sp>
      <p:sp>
        <p:nvSpPr>
          <p:cNvPr id="8" name="Text 6"/>
          <p:cNvSpPr txBox="1"/>
          <p:nvPr/>
        </p:nvSpPr>
        <p:spPr>
          <a:xfrm>
            <a:off x="4535424" y="2286000"/>
            <a:ext cx="3090672" cy="7315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CIA Triad</a:t>
            </a:r>
            <a:endParaRPr lang="en-US" sz="1500" dirty="0"/>
          </a:p>
        </p:txBody>
      </p:sp>
      <p:sp>
        <p:nvSpPr>
          <p:cNvPr id="9" name="Shape 7"/>
          <p:cNvSpPr/>
          <p:nvPr/>
        </p:nvSpPr>
        <p:spPr>
          <a:xfrm>
            <a:off x="1005840" y="4023360"/>
            <a:ext cx="3017520" cy="1097280"/>
          </a:xfrm>
          <a:prstGeom prst="rect">
            <a:avLst/>
          </a:prstGeom>
          <a:solidFill>
            <a:srgbClr val="2B2B7A"/>
          </a:solidFill>
          <a:ln/>
        </p:spPr>
      </p:sp>
      <p:sp>
        <p:nvSpPr>
          <p:cNvPr id="10" name="Text 8"/>
          <p:cNvSpPr txBox="1"/>
          <p:nvPr/>
        </p:nvSpPr>
        <p:spPr>
          <a:xfrm>
            <a:off x="106070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Confidentiality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Only the right people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can see data</a:t>
            </a:r>
            <a:endParaRPr lang="en-US" sz="1200" dirty="0"/>
          </a:p>
        </p:txBody>
      </p:sp>
      <p:sp>
        <p:nvSpPr>
          <p:cNvPr id="11" name="Shape 9"/>
          <p:cNvSpPr/>
          <p:nvPr/>
        </p:nvSpPr>
        <p:spPr>
          <a:xfrm>
            <a:off x="4572000" y="4023360"/>
            <a:ext cx="3017520" cy="1097280"/>
          </a:xfrm>
          <a:prstGeom prst="rect">
            <a:avLst/>
          </a:prstGeom>
          <a:solidFill>
            <a:srgbClr val="2B2B7A"/>
          </a:solidFill>
          <a:ln/>
        </p:spPr>
      </p:sp>
      <p:sp>
        <p:nvSpPr>
          <p:cNvPr id="12" name="Text 10"/>
          <p:cNvSpPr txBox="1"/>
          <p:nvPr/>
        </p:nvSpPr>
        <p:spPr>
          <a:xfrm>
            <a:off x="462686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Integrity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Data can't change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without permission</a:t>
            </a:r>
            <a:endParaRPr lang="en-US" sz="1200" dirty="0"/>
          </a:p>
        </p:txBody>
      </p:sp>
      <p:sp>
        <p:nvSpPr>
          <p:cNvPr id="13" name="Shape 11"/>
          <p:cNvSpPr/>
          <p:nvPr/>
        </p:nvSpPr>
        <p:spPr>
          <a:xfrm>
            <a:off x="8138160" y="4023360"/>
            <a:ext cx="3017520" cy="1097280"/>
          </a:xfrm>
          <a:prstGeom prst="rect">
            <a:avLst/>
          </a:prstGeom>
          <a:solidFill>
            <a:srgbClr val="2B2B7A"/>
          </a:solidFill>
          <a:ln/>
        </p:spPr>
      </p:sp>
      <p:sp>
        <p:nvSpPr>
          <p:cNvPr id="14" name="Text 12"/>
          <p:cNvSpPr txBox="1"/>
          <p:nvPr/>
        </p:nvSpPr>
        <p:spPr>
          <a:xfrm>
            <a:off x="819302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Availability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The system stays up</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and usable</a:t>
            </a:r>
            <a:endParaRPr lang="en-US" sz="1200" dirty="0"/>
          </a:p>
        </p:txBody>
      </p:sp>
      <p:sp>
        <p:nvSpPr>
          <p:cNvPr id="15" name="Text 1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Nothing to do with the intelligence agency — every security decision maps back to protecting one (or more) of these three properties.</a:t>
            </a:r>
            <a:endParaRPr lang="en-US" sz="125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CIA TRIAD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Each Property Actually Means</a:t>
            </a:r>
            <a:endParaRPr lang="en-US" sz="3400" dirty="0"/>
          </a:p>
        </p:txBody>
      </p:sp>
      <p:sp>
        <p:nvSpPr>
          <p:cNvPr id="4" name="Shape 2"/>
          <p:cNvSpPr/>
          <p:nvPr/>
        </p:nvSpPr>
        <p:spPr>
          <a:xfrm>
            <a:off x="640080" y="1965960"/>
            <a:ext cx="3484778" cy="4114800"/>
          </a:xfrm>
          <a:prstGeom prst="roundRect">
            <a:avLst>
              <a:gd name="adj" fmla="val 2362"/>
            </a:avLst>
          </a:prstGeom>
          <a:solidFill>
            <a:srgbClr val="F1F1F8"/>
          </a:solidFill>
          <a:ln w="12700">
            <a:solidFill>
              <a:srgbClr val="E2E2EE"/>
            </a:solidFill>
            <a:prstDash val="solid"/>
          </a:ln>
        </p:spPr>
      </p:sp>
      <p:sp>
        <p:nvSpPr>
          <p:cNvPr id="5" name="Text 3"/>
          <p:cNvSpPr txBox="1"/>
          <p:nvPr/>
        </p:nvSpPr>
        <p:spPr>
          <a:xfrm>
            <a:off x="896112"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CONFIDENTIALITY</a:t>
            </a:r>
            <a:endParaRPr lang="en-US" sz="1250" dirty="0"/>
          </a:p>
        </p:txBody>
      </p:sp>
      <p:sp>
        <p:nvSpPr>
          <p:cNvPr id="6" name="Text 4"/>
          <p:cNvSpPr txBox="1"/>
          <p:nvPr/>
        </p:nvSpPr>
        <p:spPr>
          <a:xfrm>
            <a:off x="896112"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Information is only visible to people supposed to see it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password database should not be readable by an outside attacker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Main tools: encryption and access control</a:t>
            </a:r>
            <a:endParaRPr lang="en-US" sz="1200" dirty="0"/>
          </a:p>
        </p:txBody>
      </p:sp>
      <p:sp>
        <p:nvSpPr>
          <p:cNvPr id="7" name="Shape 5"/>
          <p:cNvSpPr/>
          <p:nvPr/>
        </p:nvSpPr>
        <p:spPr>
          <a:xfrm>
            <a:off x="4353458" y="1965960"/>
            <a:ext cx="3484778" cy="4114800"/>
          </a:xfrm>
          <a:prstGeom prst="roundRect">
            <a:avLst>
              <a:gd name="adj" fmla="val 2362"/>
            </a:avLst>
          </a:prstGeom>
          <a:solidFill>
            <a:srgbClr val="F1F1F8"/>
          </a:solidFill>
          <a:ln w="12700">
            <a:solidFill>
              <a:srgbClr val="E2E2EE"/>
            </a:solidFill>
            <a:prstDash val="solid"/>
          </a:ln>
        </p:spPr>
      </p:sp>
      <p:sp>
        <p:nvSpPr>
          <p:cNvPr id="8" name="Text 6"/>
          <p:cNvSpPr txBox="1"/>
          <p:nvPr/>
        </p:nvSpPr>
        <p:spPr>
          <a:xfrm>
            <a:off x="4609490"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INTEGRITY</a:t>
            </a:r>
            <a:endParaRPr lang="en-US" sz="1250" dirty="0"/>
          </a:p>
        </p:txBody>
      </p:sp>
      <p:sp>
        <p:nvSpPr>
          <p:cNvPr id="9" name="Text 7"/>
          <p:cNvSpPr txBox="1"/>
          <p:nvPr/>
        </p:nvSpPr>
        <p:spPr>
          <a:xfrm>
            <a:off x="4609490"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Data can't be changed without authorization — and changes are detectable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Nobody quietly edits a stored grade without a trace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Main tools: checksums, digital signatures, access control</a:t>
            </a:r>
            <a:endParaRPr lang="en-US" sz="1200" dirty="0"/>
          </a:p>
        </p:txBody>
      </p:sp>
      <p:sp>
        <p:nvSpPr>
          <p:cNvPr id="10" name="Shape 8"/>
          <p:cNvSpPr/>
          <p:nvPr/>
        </p:nvSpPr>
        <p:spPr>
          <a:xfrm>
            <a:off x="8066837" y="1965960"/>
            <a:ext cx="3484778" cy="4114800"/>
          </a:xfrm>
          <a:prstGeom prst="roundRect">
            <a:avLst>
              <a:gd name="adj" fmla="val 2362"/>
            </a:avLst>
          </a:prstGeom>
          <a:solidFill>
            <a:srgbClr val="F1F1F8"/>
          </a:solidFill>
          <a:ln w="12700">
            <a:solidFill>
              <a:srgbClr val="E2E2EE"/>
            </a:solidFill>
            <a:prstDash val="solid"/>
          </a:ln>
        </p:spPr>
      </p:sp>
      <p:sp>
        <p:nvSpPr>
          <p:cNvPr id="11" name="Text 9"/>
          <p:cNvSpPr txBox="1"/>
          <p:nvPr/>
        </p:nvSpPr>
        <p:spPr>
          <a:xfrm>
            <a:off x="8322869" y="2194560"/>
            <a:ext cx="297271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AVAILABILITY</a:t>
            </a:r>
            <a:endParaRPr lang="en-US" sz="1250" dirty="0"/>
          </a:p>
        </p:txBody>
      </p:sp>
      <p:sp>
        <p:nvSpPr>
          <p:cNvPr id="12" name="Text 10"/>
          <p:cNvSpPr txBox="1"/>
          <p:nvPr/>
        </p:nvSpPr>
        <p:spPr>
          <a:xfrm>
            <a:off x="8322869"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The system stays up and usable for legitimate users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denial-of-service attack floods a server to knock it offline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Attacks availability without ever reading or changing data</a:t>
            </a:r>
            <a:endParaRPr lang="en-US" sz="12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Give Only the Access That's Needed</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user, process, or piece of code should have ONLY the permissions it strictly needs — nothing more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if your API only reads/writes one collection, its DB user shouldn't be able to drop the whole database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an attacker compromises that account, least privilege limits how much damage they can do</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It Applies at Every Level</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743200"/>
                <a:gridCol w="82296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What Least Privilege Looks Like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Operating system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web server process should not run as root / Administrator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app's DB user gets only the read/write it actually needs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user can't reach admin-only actions; a read-only key can't write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Only developers who genuinely need production DB credentials get them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Question to Always Ask</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"What is the SMALLEST set of permissions this needs to do its job?" Grant that, not more. It is much easier to add a permission later than to clean up after a breach caused by over-broad access.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DEFENCE IN DEPTH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Rely on One Layer</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Layer multiple, independent defences so that if one fails, others are still standing</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Like a castle: not just a tall wall — also a moat, a drawbridge, guards, an inner keep</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authentication alone had a bug, one flaw would expose your entire system</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DEFENCE IN DEPTH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Six Layers in a Web Application</a:t>
            </a:r>
            <a:endParaRPr lang="en-US" sz="3400" dirty="0"/>
          </a:p>
        </p:txBody>
      </p:sp>
      <p:sp>
        <p:nvSpPr>
          <p:cNvPr id="4" name="Shape 2"/>
          <p:cNvSpPr/>
          <p:nvPr/>
        </p:nvSpPr>
        <p:spPr>
          <a:xfrm>
            <a:off x="640080" y="2514600"/>
            <a:ext cx="1399489" cy="1371600"/>
          </a:xfrm>
          <a:prstGeom prst="roundRect">
            <a:avLst>
              <a:gd name="adj" fmla="val 5333"/>
            </a:avLst>
          </a:prstGeom>
          <a:solidFill>
            <a:srgbClr val="2B2B7A"/>
          </a:solidFill>
          <a:ln/>
        </p:spPr>
      </p:sp>
      <p:sp>
        <p:nvSpPr>
          <p:cNvPr id="5" name="Text 3"/>
          <p:cNvSpPr txBox="1"/>
          <p:nvPr/>
        </p:nvSpPr>
        <p:spPr>
          <a:xfrm>
            <a:off x="731520"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Attacker</a:t>
            </a:r>
            <a:endParaRPr lang="en-US" sz="1250" dirty="0"/>
          </a:p>
        </p:txBody>
      </p:sp>
      <p:sp>
        <p:nvSpPr>
          <p:cNvPr id="6" name="Shape 4"/>
          <p:cNvSpPr/>
          <p:nvPr/>
        </p:nvSpPr>
        <p:spPr>
          <a:xfrm>
            <a:off x="2039569" y="3200400"/>
            <a:ext cx="502920" cy="0"/>
          </a:xfrm>
          <a:prstGeom prst="line">
            <a:avLst/>
          </a:prstGeom>
          <a:noFill/>
          <a:ln w="25400">
            <a:solidFill>
              <a:srgbClr val="5D5D72"/>
            </a:solidFill>
            <a:prstDash val="solid"/>
            <a:tailEnd type="triangle"/>
          </a:ln>
        </p:spPr>
      </p:sp>
      <p:sp>
        <p:nvSpPr>
          <p:cNvPr id="7" name="Shape 5"/>
          <p:cNvSpPr/>
          <p:nvPr/>
        </p:nvSpPr>
        <p:spPr>
          <a:xfrm>
            <a:off x="2542489" y="2514600"/>
            <a:ext cx="1399489" cy="1371600"/>
          </a:xfrm>
          <a:prstGeom prst="roundRect">
            <a:avLst>
              <a:gd name="adj" fmla="val 5333"/>
            </a:avLst>
          </a:prstGeom>
          <a:solidFill>
            <a:srgbClr val="2B2B7A"/>
          </a:solidFill>
          <a:ln/>
        </p:spPr>
      </p:sp>
      <p:sp>
        <p:nvSpPr>
          <p:cNvPr id="8" name="Text 6"/>
          <p:cNvSpPr txBox="1"/>
          <p:nvPr/>
        </p:nvSpPr>
        <p:spPr>
          <a:xfrm>
            <a:off x="2633929"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 HTTPS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firewall</a:t>
            </a:r>
            <a:endParaRPr lang="en-US" sz="1250" dirty="0"/>
          </a:p>
        </p:txBody>
      </p:sp>
      <p:sp>
        <p:nvSpPr>
          <p:cNvPr id="9" name="Shape 7"/>
          <p:cNvSpPr/>
          <p:nvPr/>
        </p:nvSpPr>
        <p:spPr>
          <a:xfrm>
            <a:off x="3941978" y="3200400"/>
            <a:ext cx="502920" cy="0"/>
          </a:xfrm>
          <a:prstGeom prst="line">
            <a:avLst/>
          </a:prstGeom>
          <a:noFill/>
          <a:ln w="25400">
            <a:solidFill>
              <a:srgbClr val="5D5D72"/>
            </a:solidFill>
            <a:prstDash val="solid"/>
            <a:tailEnd type="triangle"/>
          </a:ln>
        </p:spPr>
      </p:sp>
      <p:sp>
        <p:nvSpPr>
          <p:cNvPr id="10" name="Shape 8"/>
          <p:cNvSpPr/>
          <p:nvPr/>
        </p:nvSpPr>
        <p:spPr>
          <a:xfrm>
            <a:off x="4444898" y="2514600"/>
            <a:ext cx="1399489" cy="1371600"/>
          </a:xfrm>
          <a:prstGeom prst="roundRect">
            <a:avLst>
              <a:gd name="adj" fmla="val 5333"/>
            </a:avLst>
          </a:prstGeom>
          <a:solidFill>
            <a:srgbClr val="2B2B7A"/>
          </a:solidFill>
          <a:ln/>
        </p:spPr>
      </p:sp>
      <p:sp>
        <p:nvSpPr>
          <p:cNvPr id="11" name="Text 9"/>
          <p:cNvSpPr txBox="1"/>
          <p:nvPr/>
        </p:nvSpPr>
        <p:spPr>
          <a:xfrm>
            <a:off x="4536338"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 Input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validation</a:t>
            </a:r>
            <a:endParaRPr lang="en-US" sz="1250" dirty="0"/>
          </a:p>
        </p:txBody>
      </p:sp>
      <p:sp>
        <p:nvSpPr>
          <p:cNvPr id="12" name="Shape 10"/>
          <p:cNvSpPr/>
          <p:nvPr/>
        </p:nvSpPr>
        <p:spPr>
          <a:xfrm>
            <a:off x="5844388" y="3200400"/>
            <a:ext cx="502920" cy="0"/>
          </a:xfrm>
          <a:prstGeom prst="line">
            <a:avLst/>
          </a:prstGeom>
          <a:noFill/>
          <a:ln w="25400">
            <a:solidFill>
              <a:srgbClr val="5D5D72"/>
            </a:solidFill>
            <a:prstDash val="solid"/>
            <a:tailEnd type="triangle"/>
          </a:ln>
        </p:spPr>
      </p:sp>
      <p:sp>
        <p:nvSpPr>
          <p:cNvPr id="13" name="Shape 11"/>
          <p:cNvSpPr/>
          <p:nvPr/>
        </p:nvSpPr>
        <p:spPr>
          <a:xfrm>
            <a:off x="6347308" y="2514600"/>
            <a:ext cx="1399489" cy="1371600"/>
          </a:xfrm>
          <a:prstGeom prst="roundRect">
            <a:avLst>
              <a:gd name="adj" fmla="val 5333"/>
            </a:avLst>
          </a:prstGeom>
          <a:solidFill>
            <a:srgbClr val="2B2B7A"/>
          </a:solidFill>
          <a:ln/>
        </p:spPr>
      </p:sp>
      <p:sp>
        <p:nvSpPr>
          <p:cNvPr id="14" name="Text 12"/>
          <p:cNvSpPr txBox="1"/>
          <p:nvPr/>
        </p:nvSpPr>
        <p:spPr>
          <a:xfrm>
            <a:off x="6438748"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Authn &amp;</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authz</a:t>
            </a:r>
            <a:endParaRPr lang="en-US" sz="1250" dirty="0"/>
          </a:p>
        </p:txBody>
      </p:sp>
      <p:sp>
        <p:nvSpPr>
          <p:cNvPr id="15" name="Shape 13"/>
          <p:cNvSpPr/>
          <p:nvPr/>
        </p:nvSpPr>
        <p:spPr>
          <a:xfrm>
            <a:off x="7746797" y="3200400"/>
            <a:ext cx="502920" cy="0"/>
          </a:xfrm>
          <a:prstGeom prst="line">
            <a:avLst/>
          </a:prstGeom>
          <a:noFill/>
          <a:ln w="25400">
            <a:solidFill>
              <a:srgbClr val="5D5D72"/>
            </a:solidFill>
            <a:prstDash val="solid"/>
            <a:tailEnd type="triangle"/>
          </a:ln>
        </p:spPr>
      </p:sp>
      <p:sp>
        <p:nvSpPr>
          <p:cNvPr id="16" name="Shape 14"/>
          <p:cNvSpPr/>
          <p:nvPr/>
        </p:nvSpPr>
        <p:spPr>
          <a:xfrm>
            <a:off x="8249717" y="2514600"/>
            <a:ext cx="1399489" cy="1371600"/>
          </a:xfrm>
          <a:prstGeom prst="roundRect">
            <a:avLst>
              <a:gd name="adj" fmla="val 5333"/>
            </a:avLst>
          </a:prstGeom>
          <a:solidFill>
            <a:srgbClr val="2B2B7A"/>
          </a:solidFill>
          <a:ln/>
        </p:spPr>
      </p:sp>
      <p:sp>
        <p:nvSpPr>
          <p:cNvPr id="17" name="Text 15"/>
          <p:cNvSpPr txBox="1"/>
          <p:nvPr/>
        </p:nvSpPr>
        <p:spPr>
          <a:xfrm>
            <a:off x="8341157"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 Least-priv.</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DB user</a:t>
            </a:r>
            <a:endParaRPr lang="en-US" sz="1250" dirty="0"/>
          </a:p>
        </p:txBody>
      </p:sp>
      <p:sp>
        <p:nvSpPr>
          <p:cNvPr id="18" name="Shape 16"/>
          <p:cNvSpPr/>
          <p:nvPr/>
        </p:nvSpPr>
        <p:spPr>
          <a:xfrm>
            <a:off x="9649206" y="3200400"/>
            <a:ext cx="502920" cy="0"/>
          </a:xfrm>
          <a:prstGeom prst="line">
            <a:avLst/>
          </a:prstGeom>
          <a:noFill/>
          <a:ln w="25400">
            <a:solidFill>
              <a:srgbClr val="5D5D72"/>
            </a:solidFill>
            <a:prstDash val="solid"/>
            <a:tailEnd type="triangle"/>
          </a:ln>
        </p:spPr>
      </p:sp>
      <p:sp>
        <p:nvSpPr>
          <p:cNvPr id="19" name="Shape 17"/>
          <p:cNvSpPr/>
          <p:nvPr/>
        </p:nvSpPr>
        <p:spPr>
          <a:xfrm>
            <a:off x="10152126" y="2514600"/>
            <a:ext cx="1399489" cy="1371600"/>
          </a:xfrm>
          <a:prstGeom prst="roundRect">
            <a:avLst>
              <a:gd name="adj" fmla="val 5333"/>
            </a:avLst>
          </a:prstGeom>
          <a:solidFill>
            <a:srgbClr val="E67528"/>
          </a:solidFill>
          <a:ln/>
        </p:spPr>
      </p:sp>
      <p:sp>
        <p:nvSpPr>
          <p:cNvPr id="20" name="Text 18"/>
          <p:cNvSpPr txBox="1"/>
          <p:nvPr/>
        </p:nvSpPr>
        <p:spPr>
          <a:xfrm>
            <a:off x="10243566"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 Encrypted,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backed-up data</a:t>
            </a:r>
            <a:endParaRPr lang="en-US" sz="1250" dirty="0"/>
          </a:p>
        </p:txBody>
      </p:sp>
      <p:sp>
        <p:nvSpPr>
          <p:cNvPr id="21" name="Text 19"/>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 only step 3 (authentication) and nothing else, one login bug could expose everything. With defence in depth, one failure does not mean total compromise.</a:t>
            </a:r>
            <a:endParaRPr lang="en-US" sz="13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Plain HTTP Is Not Safe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 sends data as plain text — anyone intercepting traffic (shared Wi-Fi, your ISP) can read it, including passwords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HTTPS = HTTP layered on top of TLS (Transport Layer Security), which encrypts the connection</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TLS is the modern successor to SSL — people still say "SSL" out of habit, though SSL itself is obsolete</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HTTPS Gives You — Mapped to CIA</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572000"/>
                <a:gridCol w="64008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HTTPS Provides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CIA Property Protected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Encryption — nobody eavesdropping can read the traffic</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Confidentiality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Integrity — data can't be silently modified in transit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Integrity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Authentication of the server via a certificate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(Confirms identity, backs both)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Certificates and Certificate Authorities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TLS certificate is a digital document proving a server's identity + its public key</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Issued by trusted organizations called Certificate Authorities (CAs)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 certificate is missing, expired, or doesn't match the domain, the browser warns instead of loading the page</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TLS Handshake</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"let's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connect securely"</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sp>
      <p:sp>
        <p:nvSpPr>
          <p:cNvPr id="7" name="Shape 5"/>
          <p:cNvSpPr/>
          <p:nvPr/>
        </p:nvSpPr>
        <p:spPr>
          <a:xfrm>
            <a:off x="2922971" y="2514600"/>
            <a:ext cx="1779971" cy="1371600"/>
          </a:xfrm>
          <a:prstGeom prst="roundRect">
            <a:avLst>
              <a:gd name="adj" fmla="val 5333"/>
            </a:avLst>
          </a:prstGeom>
          <a:solidFill>
            <a:srgbClr val="2B2B7A"/>
          </a:solidFill>
          <a:ln/>
        </p:spPr>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sends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its certificate</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sp>
      <p:sp>
        <p:nvSpPr>
          <p:cNvPr id="10" name="Shape 8"/>
          <p:cNvSpPr/>
          <p:nvPr/>
        </p:nvSpPr>
        <p:spPr>
          <a:xfrm>
            <a:off x="5205862" y="2514600"/>
            <a:ext cx="1779971" cy="1371600"/>
          </a:xfrm>
          <a:prstGeom prst="roundRect">
            <a:avLst>
              <a:gd name="adj" fmla="val 5333"/>
            </a:avLst>
          </a:prstGeom>
          <a:solidFill>
            <a:srgbClr val="2B2B7A"/>
          </a:solidFill>
          <a:ln/>
        </p:spPr>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checks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 + domain match</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sp>
      <p:sp>
        <p:nvSpPr>
          <p:cNvPr id="13" name="Shape 11"/>
          <p:cNvSpPr/>
          <p:nvPr/>
        </p:nvSpPr>
        <p:spPr>
          <a:xfrm>
            <a:off x="7488753" y="2514600"/>
            <a:ext cx="1779971" cy="1371600"/>
          </a:xfrm>
          <a:prstGeom prst="roundRect">
            <a:avLst>
              <a:gd name="adj" fmla="val 5333"/>
            </a:avLst>
          </a:prstGeom>
          <a:solidFill>
            <a:srgbClr val="2B2B7A"/>
          </a:solidFill>
          <a:ln/>
        </p:spPr>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Both negotiate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an encryption key</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sp>
      <p:sp>
        <p:nvSpPr>
          <p:cNvPr id="16" name="Shape 14"/>
          <p:cNvSpPr/>
          <p:nvPr/>
        </p:nvSpPr>
        <p:spPr>
          <a:xfrm>
            <a:off x="9771644" y="2514600"/>
            <a:ext cx="1779971" cy="1371600"/>
          </a:xfrm>
          <a:prstGeom prst="roundRect">
            <a:avLst>
              <a:gd name="adj" fmla="val 5333"/>
            </a:avLst>
          </a:prstGeom>
          <a:solidFill>
            <a:srgbClr val="E67528"/>
          </a:solidFill>
          <a:ln/>
        </p:spPr>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All further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traffic encrypted</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server obtained its certificate from a CA in advance — the browser only has to verify it, not request one on the spot.</a:t>
            </a:r>
            <a:endParaRPr lang="en-US" sz="13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HTTPS Got Easy</a:t>
            </a:r>
            <a:endParaRPr lang="en-US" sz="3400" dirty="0"/>
          </a:p>
        </p:txBody>
      </p:sp>
      <p:sp>
        <p:nvSpPr>
          <p:cNvPr id="4" name="Shape 2"/>
          <p:cNvSpPr/>
          <p:nvPr/>
        </p:nvSpPr>
        <p:spPr>
          <a:xfrm>
            <a:off x="640080" y="1965960"/>
            <a:ext cx="10911535" cy="1645920"/>
          </a:xfrm>
          <a:prstGeom prst="roundRect">
            <a:avLst>
              <a:gd name="adj" fmla="val 3333"/>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Free, automated certificate services like Let's Encrypt made HTTPS free and easy, which is why almost the entire web uses it by default. Most hosting platforms (Lecture 32) issue and renew certificates for you automatically.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RESPONSE HEADERS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Security-Related HTTP Response Headers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657600"/>
                <a:gridCol w="73152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Strict-Transport-Security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"Always use HTTPS for this site" — even if the user types http://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X-Content-Type-Options: nosniff</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Stops the browser guessing a file's type — blocks disguised malicious files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X-Frame-Options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Controls whether your page can load inside an &lt;iframe&gt; — prevents clickjacking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Content-Security-Policy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Restricts what sources of scripts/styles/resources a page can 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RESPONSE HEADERS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Shortcut: the helmet Middleware</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express = require("express");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helmet = require("helmet");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app = 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app.use(helmet()); // sets several security headers with good defaults</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Different Questions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AUTHENTICATION</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"Who are you?"</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Verifying an identity — a password, a token, a proof</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Like showing your student ID at the university gate</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AUTHORIZATION</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"What are you allowed to do?"</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Happens AFTER authentication — decides if this action is permitted</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Like your ID having (or not having) access to a specific lab</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Request Answers Both Questions</a:t>
            </a:r>
            <a:endParaRPr lang="en-US" sz="3400" dirty="0"/>
          </a:p>
        </p:txBody>
      </p:sp>
      <p:sp>
        <p:nvSpPr>
          <p:cNvPr id="4" name="Shape 2"/>
          <p:cNvSpPr/>
          <p:nvPr/>
        </p:nvSpPr>
        <p:spPr>
          <a:xfrm>
            <a:off x="2560320" y="3154680"/>
            <a:ext cx="457200" cy="9144"/>
          </a:xfrm>
          <a:prstGeom prst="line">
            <a:avLst/>
          </a:prstGeom>
          <a:noFill/>
          <a:ln w="25400">
            <a:solidFill>
              <a:srgbClr val="5D5D72"/>
            </a:solidFill>
            <a:prstDash val="solid"/>
            <a:tailEnd type="triangle"/>
          </a:ln>
        </p:spPr>
      </p:sp>
      <p:sp>
        <p:nvSpPr>
          <p:cNvPr id="5" name="Shape 3"/>
          <p:cNvSpPr/>
          <p:nvPr/>
        </p:nvSpPr>
        <p:spPr>
          <a:xfrm>
            <a:off x="4114800" y="3657600"/>
            <a:ext cx="9144" cy="822960"/>
          </a:xfrm>
          <a:prstGeom prst="line">
            <a:avLst/>
          </a:prstGeom>
          <a:noFill/>
          <a:ln w="25400">
            <a:solidFill>
              <a:srgbClr val="5D5D72"/>
            </a:solidFill>
            <a:prstDash val="solid"/>
            <a:tailEnd type="triangle"/>
          </a:ln>
        </p:spPr>
      </p:sp>
      <p:sp>
        <p:nvSpPr>
          <p:cNvPr id="6" name="Text 4"/>
          <p:cNvSpPr txBox="1"/>
          <p:nvPr/>
        </p:nvSpPr>
        <p:spPr>
          <a:xfrm>
            <a:off x="3200400" y="39227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Not verified</a:t>
            </a:r>
            <a:endParaRPr lang="en-US" sz="1050" dirty="0"/>
          </a:p>
        </p:txBody>
      </p:sp>
      <p:sp>
        <p:nvSpPr>
          <p:cNvPr id="7" name="Shape 5"/>
          <p:cNvSpPr/>
          <p:nvPr/>
        </p:nvSpPr>
        <p:spPr>
          <a:xfrm>
            <a:off x="6035040" y="3154680"/>
            <a:ext cx="914400" cy="9144"/>
          </a:xfrm>
          <a:prstGeom prst="line">
            <a:avLst/>
          </a:prstGeom>
          <a:noFill/>
          <a:ln w="25400">
            <a:solidFill>
              <a:srgbClr val="5D5D72"/>
            </a:solidFill>
            <a:prstDash val="solid"/>
            <a:tailEnd type="triangle"/>
          </a:ln>
        </p:spPr>
      </p:sp>
      <p:sp>
        <p:nvSpPr>
          <p:cNvPr id="8" name="Text 6"/>
          <p:cNvSpPr txBox="1"/>
          <p:nvPr/>
        </p:nvSpPr>
        <p:spPr>
          <a:xfrm>
            <a:off x="5577840" y="30083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Verified</a:t>
            </a:r>
            <a:endParaRPr lang="en-US" sz="1050" dirty="0"/>
          </a:p>
        </p:txBody>
      </p:sp>
      <p:sp>
        <p:nvSpPr>
          <p:cNvPr id="9" name="Shape 7"/>
          <p:cNvSpPr/>
          <p:nvPr/>
        </p:nvSpPr>
        <p:spPr>
          <a:xfrm>
            <a:off x="8229600" y="3657600"/>
            <a:ext cx="9144" cy="822960"/>
          </a:xfrm>
          <a:prstGeom prst="line">
            <a:avLst/>
          </a:prstGeom>
          <a:noFill/>
          <a:ln w="25400">
            <a:solidFill>
              <a:srgbClr val="5D5D72"/>
            </a:solidFill>
            <a:prstDash val="solid"/>
            <a:tailEnd type="triangle"/>
          </a:ln>
        </p:spPr>
      </p:sp>
      <p:sp>
        <p:nvSpPr>
          <p:cNvPr id="10" name="Text 8"/>
          <p:cNvSpPr txBox="1"/>
          <p:nvPr/>
        </p:nvSpPr>
        <p:spPr>
          <a:xfrm>
            <a:off x="7315200" y="39227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Not permitted</a:t>
            </a:r>
            <a:endParaRPr lang="en-US" sz="1050" dirty="0"/>
          </a:p>
        </p:txBody>
      </p:sp>
      <p:sp>
        <p:nvSpPr>
          <p:cNvPr id="11" name="Shape 9"/>
          <p:cNvSpPr/>
          <p:nvPr/>
        </p:nvSpPr>
        <p:spPr>
          <a:xfrm>
            <a:off x="10149840" y="3154680"/>
            <a:ext cx="182880" cy="9144"/>
          </a:xfrm>
          <a:prstGeom prst="line">
            <a:avLst/>
          </a:prstGeom>
          <a:noFill/>
          <a:ln w="25400">
            <a:solidFill>
              <a:srgbClr val="5D5D72"/>
            </a:solidFill>
            <a:prstDash val="solid"/>
            <a:tailEnd type="triangle"/>
          </a:ln>
        </p:spPr>
      </p:sp>
      <p:sp>
        <p:nvSpPr>
          <p:cNvPr id="12" name="Text 10"/>
          <p:cNvSpPr txBox="1"/>
          <p:nvPr/>
        </p:nvSpPr>
        <p:spPr>
          <a:xfrm>
            <a:off x="9326880" y="30083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Permitted</a:t>
            </a:r>
            <a:endParaRPr lang="en-US" sz="1050" dirty="0"/>
          </a:p>
        </p:txBody>
      </p:sp>
      <p:sp>
        <p:nvSpPr>
          <p:cNvPr id="13" name="Shape 11"/>
          <p:cNvSpPr/>
          <p:nvPr/>
        </p:nvSpPr>
        <p:spPr>
          <a:xfrm>
            <a:off x="640080" y="2834640"/>
            <a:ext cx="1920240" cy="640080"/>
          </a:xfrm>
          <a:prstGeom prst="rect">
            <a:avLst/>
          </a:prstGeom>
          <a:solidFill>
            <a:srgbClr val="1E1E4C"/>
          </a:solidFill>
          <a:ln/>
        </p:spPr>
      </p:sp>
      <p:sp>
        <p:nvSpPr>
          <p:cNvPr id="14" name="Text 12"/>
          <p:cNvSpPr txBox="1"/>
          <p:nvPr/>
        </p:nvSpPr>
        <p:spPr>
          <a:xfrm>
            <a:off x="694944" y="2834640"/>
            <a:ext cx="181051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Incoming</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15" name="Shape 13"/>
          <p:cNvSpPr/>
          <p:nvPr/>
        </p:nvSpPr>
        <p:spPr>
          <a:xfrm>
            <a:off x="3017520" y="2651760"/>
            <a:ext cx="3017520" cy="1005840"/>
          </a:xfrm>
          <a:prstGeom prst="diamond">
            <a:avLst/>
          </a:prstGeom>
          <a:solidFill>
            <a:srgbClr val="FF8A3D"/>
          </a:solidFill>
          <a:ln/>
        </p:spPr>
      </p:sp>
      <p:sp>
        <p:nvSpPr>
          <p:cNvPr id="16" name="Text 14"/>
          <p:cNvSpPr txBox="1"/>
          <p:nvPr/>
        </p:nvSpPr>
        <p:spPr>
          <a:xfrm>
            <a:off x="3072384" y="2651760"/>
            <a:ext cx="290779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Authentication: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Who are you?</a:t>
            </a:r>
            <a:endParaRPr lang="en-US" sz="1150" dirty="0"/>
          </a:p>
        </p:txBody>
      </p:sp>
      <p:sp>
        <p:nvSpPr>
          <p:cNvPr id="17" name="Shape 15"/>
          <p:cNvSpPr/>
          <p:nvPr/>
        </p:nvSpPr>
        <p:spPr>
          <a:xfrm>
            <a:off x="3200400" y="4480560"/>
            <a:ext cx="2651760" cy="640080"/>
          </a:xfrm>
          <a:prstGeom prst="rect">
            <a:avLst/>
          </a:prstGeom>
          <a:solidFill>
            <a:srgbClr val="E67528"/>
          </a:solidFill>
          <a:ln/>
        </p:spPr>
      </p:sp>
      <p:sp>
        <p:nvSpPr>
          <p:cNvPr id="18" name="Text 16"/>
          <p:cNvSpPr txBox="1"/>
          <p:nvPr/>
        </p:nvSpPr>
        <p:spPr>
          <a:xfrm>
            <a:off x="3255264" y="4480560"/>
            <a:ext cx="254203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401 Unauthorized</a:t>
            </a:r>
            <a:endParaRPr lang="en-US" sz="1200" dirty="0"/>
          </a:p>
        </p:txBody>
      </p:sp>
      <p:sp>
        <p:nvSpPr>
          <p:cNvPr id="19" name="Shape 17"/>
          <p:cNvSpPr/>
          <p:nvPr/>
        </p:nvSpPr>
        <p:spPr>
          <a:xfrm>
            <a:off x="6949440" y="2651760"/>
            <a:ext cx="3200400" cy="1005840"/>
          </a:xfrm>
          <a:prstGeom prst="diamond">
            <a:avLst/>
          </a:prstGeom>
          <a:solidFill>
            <a:srgbClr val="FF8A3D"/>
          </a:solidFill>
          <a:ln/>
        </p:spPr>
      </p:sp>
      <p:sp>
        <p:nvSpPr>
          <p:cNvPr id="20" name="Text 18"/>
          <p:cNvSpPr txBox="1"/>
          <p:nvPr/>
        </p:nvSpPr>
        <p:spPr>
          <a:xfrm>
            <a:off x="7004304" y="2651760"/>
            <a:ext cx="309067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Authorization: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Are you allowed</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to do this?</a:t>
            </a:r>
            <a:endParaRPr lang="en-US" sz="1150" dirty="0"/>
          </a:p>
        </p:txBody>
      </p:sp>
      <p:sp>
        <p:nvSpPr>
          <p:cNvPr id="21" name="Shape 19"/>
          <p:cNvSpPr/>
          <p:nvPr/>
        </p:nvSpPr>
        <p:spPr>
          <a:xfrm>
            <a:off x="7223760" y="4480560"/>
            <a:ext cx="2651760" cy="640080"/>
          </a:xfrm>
          <a:prstGeom prst="rect">
            <a:avLst/>
          </a:prstGeom>
          <a:solidFill>
            <a:srgbClr val="E67528"/>
          </a:solidFill>
          <a:ln/>
        </p:spPr>
      </p:sp>
      <p:sp>
        <p:nvSpPr>
          <p:cNvPr id="22" name="Text 20"/>
          <p:cNvSpPr txBox="1"/>
          <p:nvPr/>
        </p:nvSpPr>
        <p:spPr>
          <a:xfrm>
            <a:off x="7278624" y="4480560"/>
            <a:ext cx="254203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403 Forbidden</a:t>
            </a:r>
            <a:endParaRPr lang="en-US" sz="1200" dirty="0"/>
          </a:p>
        </p:txBody>
      </p:sp>
      <p:sp>
        <p:nvSpPr>
          <p:cNvPr id="23" name="Shape 21"/>
          <p:cNvSpPr/>
          <p:nvPr/>
        </p:nvSpPr>
        <p:spPr>
          <a:xfrm>
            <a:off x="10332720" y="2651760"/>
            <a:ext cx="1371600" cy="1005840"/>
          </a:xfrm>
          <a:prstGeom prst="rect">
            <a:avLst/>
          </a:prstGeom>
          <a:solidFill>
            <a:srgbClr val="3FA66B"/>
          </a:solidFill>
          <a:ln/>
        </p:spPr>
      </p:sp>
      <p:sp>
        <p:nvSpPr>
          <p:cNvPr id="24" name="Text 22"/>
          <p:cNvSpPr txBox="1"/>
          <p:nvPr/>
        </p:nvSpPr>
        <p:spPr>
          <a:xfrm>
            <a:off x="10387584" y="2651760"/>
            <a:ext cx="126187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Request</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proceeds</a:t>
            </a:r>
            <a:endParaRPr lang="en-US" sz="1150" dirty="0"/>
          </a:p>
        </p:txBody>
      </p:sp>
      <p:sp>
        <p:nvSpPr>
          <p:cNvPr id="25" name="Text 2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very common bug: checking authentication but forgetting authorization — e.g. GET /api/orders/:id rejects anonymous users, but returns ANY order to ANY logged-in user.</a:t>
            </a:r>
            <a:endParaRPr lang="en-US" sz="1250" dirty="0"/>
          </a:p>
        </p:txBody>
      </p:sp>
      <p:sp>
        <p:nvSpPr>
          <p:cNvPr id="26" name="Text 2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7" name="Text 2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Checks, Not One</a:t>
            </a:r>
            <a:endParaRPr lang="en-US" sz="3400" dirty="0"/>
          </a:p>
        </p:txBody>
      </p:sp>
      <p:sp>
        <p:nvSpPr>
          <p:cNvPr id="4" name="Shape 2"/>
          <p:cNvSpPr/>
          <p:nvPr/>
        </p:nvSpPr>
        <p:spPr>
          <a:xfrm>
            <a:off x="640080" y="1965960"/>
            <a:ext cx="10911535" cy="1371600"/>
          </a:xfrm>
          <a:prstGeom prst="roundRect">
            <a:avLst>
              <a:gd name="adj" fmla="val 4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7772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exact mistake — authenticated but not authorized — is common enough to have its own name: broken access control, covered in Lecture 31.</a:t>
            </a:r>
            <a:endParaRPr lang="en-US" sz="1250" dirty="0"/>
          </a:p>
        </p:txBody>
      </p:sp>
      <p:sp>
        <p:nvSpPr>
          <p:cNvPr id="7" name="Text 5"/>
          <p:cNvSpPr txBox="1"/>
          <p:nvPr/>
        </p:nvSpPr>
        <p:spPr>
          <a:xfrm>
            <a:off x="640080" y="3611880"/>
            <a:ext cx="10911535" cy="2286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401 Unauthorized really means "you haven't proven who you are" (an authentication failure). 403 Forbidden means "I know who you are, but you're not allowed to do this" (an authorization failure). Always ask both questions.</a:t>
            </a:r>
            <a:endParaRPr lang="en-US" sz="1300" dirty="0"/>
          </a:p>
        </p:txBody>
      </p:sp>
      <p:sp>
        <p:nvSpPr>
          <p:cNvPr id="8"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Trust Data Coming In</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Check that data from a form, URL parameter, upload, or request body matches what you expect — before using it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Never trust data just because it came from your own frontend</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attacker can send requests straight to your API with curl or Postman, bypassing your React forms entirely</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Basic Server-Side Validation</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app.post("/api/signup", (req, res) =&gt;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const { email, age } = req.body;</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if (typeof email !== "string" || !email.includes("@"))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return res.status(400).json({ error: "A valid email is required."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const numericAge = Number(age);</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if (!Number.isInteger(numericAge) || numericAge &lt; 13 || numericAge &gt; 120)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return res.status(400).json({ error: "Age must be 13-120."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res.status(201).json({ message: "Account created."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a:t>
            </a:r>
            <a:endParaRPr lang="en-US" sz="1029"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Libraries like joi, zod, or express-validator define these rules once instead of writing manual if checks per field.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Convenience, Not Security</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form validation gives instant feedback with zero network round trip — but it runs on the attacker's own computer, where they can disable or bypass it entirely. Always re-validate on the server too. Server-side validation is the real security boundary.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OUTPUT ENCODING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Mirror Image of Input Validation</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Transform data right before displaying/using it, so it can't be misread as code in that new context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 user's name is literally &lt;script&gt;alert('hi')&lt;/script&gt; and you insert it into HTML unencoded, the browser runs it — this is Cross-Site Scripting (Lecture 31)</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encodes {userName} in JSX automatically — the danger is deliberately bypassing that with dangerouslySetInnerHTML</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Counts as a Secret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Any information that must stay private for your system to remain secure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Database passwords, third-party API keys, JWT signing keys, cloud credentials — all secrets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Once pushed to a public Git repo, a secret is permanently compromised — even if you delete it later, it's still in the history</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Commit Secrets to Git</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of the most common and damaging mistakes: committing a .env file or hard-coded API key, especially to a public GitHub repo. Automated bots scan public repos for exposed keys within minutes of a push. If one leaks, rotate it — generate a brand-new secret and revoke the old one.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Standard Practice</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.gitignore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node_modules/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.env</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.env.example  (safe to commit — no real secrets)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DATABASE_URL=your-mongodb-connection-string-here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JWT_SECRET=your-jwt-signing-secret-here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STRIPE_API_KEY=your-stripe-key-here</a:t>
            </a:r>
            <a:endParaRPr lang="en-US" sz="1400" dirty="0"/>
          </a:p>
        </p:txBody>
      </p:sp>
      <p:sp>
        <p:nvSpPr>
          <p:cNvPr id="6" name="Text 4"/>
          <p:cNvSpPr txBox="1"/>
          <p:nvPr/>
        </p:nvSpPr>
        <p:spPr>
          <a:xfrm>
            <a:off x="640080" y="4876800"/>
            <a:ext cx="10911535" cy="13868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Commit .env.example so teammates know what to set up. On your hosting platform (Lecture 32), set real values through its own environment variable settings — never by uploading a .env file.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30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CIA triad — Confidentiality, Integrity, Availability — describes the three goals every security control protects.</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Least privilege: give every account, process, and piece of code only the permissions it strictly needs.</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Defence in depth: layer multiple independent controls so one failure doesn't mean total compromise.</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HTTPS/TLS encrypts traffic and lets the browser verify a server's identity via a CA-issued certificate.</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Authentication ("who are you?") and authorization ("what are you allowed to do?") are distinct — check both, every time.</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Validate input on the server, encode output on display, and never commit secrets to Git.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30: Application Security Basics</dc:title>
  <dc:subject>CSC336 Web Technologies</dc:subject>
  <dc:creator>Usman Akram</dc:creator>
  <cp:lastModifiedBy>Usman Akram</cp:lastModifiedBy>
  <cp:revision>1</cp:revision>
  <dcterms:created xsi:type="dcterms:W3CDTF">2026-09-22T05:49:20Z</dcterms:created>
  <dcterms:modified xsi:type="dcterms:W3CDTF">2026-09-22T05:49:20Z</dcterms:modified>
</cp:coreProperties>
</file>